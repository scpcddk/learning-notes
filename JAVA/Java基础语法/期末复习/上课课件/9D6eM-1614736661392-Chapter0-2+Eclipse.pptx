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89"/>
  </p:notesMasterIdLst>
  <p:sldIdLst>
    <p:sldId id="275" r:id="rId4"/>
    <p:sldId id="277" r:id="rId5"/>
    <p:sldId id="279" r:id="rId6"/>
    <p:sldId id="280" r:id="rId7"/>
    <p:sldId id="281" r:id="rId8"/>
    <p:sldId id="282" r:id="rId9"/>
    <p:sldId id="283" r:id="rId10"/>
    <p:sldId id="311" r:id="rId11"/>
    <p:sldId id="312" r:id="rId12"/>
    <p:sldId id="313" r:id="rId13"/>
    <p:sldId id="314" r:id="rId14"/>
    <p:sldId id="316" r:id="rId15"/>
    <p:sldId id="317" r:id="rId16"/>
    <p:sldId id="318" r:id="rId17"/>
    <p:sldId id="319" r:id="rId18"/>
    <p:sldId id="320" r:id="rId19"/>
    <p:sldId id="417" r:id="rId20"/>
    <p:sldId id="321" r:id="rId21"/>
    <p:sldId id="322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7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3" r:id="rId56"/>
    <p:sldId id="364" r:id="rId57"/>
    <p:sldId id="365" r:id="rId58"/>
    <p:sldId id="366" r:id="rId59"/>
    <p:sldId id="368" r:id="rId60"/>
    <p:sldId id="370" r:id="rId61"/>
    <p:sldId id="371" r:id="rId62"/>
    <p:sldId id="372" r:id="rId63"/>
    <p:sldId id="373" r:id="rId64"/>
    <p:sldId id="374" r:id="rId65"/>
    <p:sldId id="376" r:id="rId66"/>
    <p:sldId id="377" r:id="rId67"/>
    <p:sldId id="380" r:id="rId68"/>
    <p:sldId id="390" r:id="rId69"/>
    <p:sldId id="391" r:id="rId70"/>
    <p:sldId id="392" r:id="rId71"/>
    <p:sldId id="393" r:id="rId72"/>
    <p:sldId id="394" r:id="rId73"/>
    <p:sldId id="395" r:id="rId74"/>
    <p:sldId id="396" r:id="rId75"/>
    <p:sldId id="397" r:id="rId76"/>
    <p:sldId id="398" r:id="rId77"/>
    <p:sldId id="399" r:id="rId78"/>
    <p:sldId id="400" r:id="rId79"/>
    <p:sldId id="401" r:id="rId80"/>
    <p:sldId id="402" r:id="rId81"/>
    <p:sldId id="403" r:id="rId82"/>
    <p:sldId id="404" r:id="rId83"/>
    <p:sldId id="405" r:id="rId84"/>
    <p:sldId id="406" r:id="rId85"/>
    <p:sldId id="407" r:id="rId86"/>
    <p:sldId id="408" r:id="rId87"/>
    <p:sldId id="409" r:id="rId8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ECFF"/>
    <a:srgbClr val="66CCFF"/>
    <a:srgbClr val="CC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35" autoAdjust="0"/>
  </p:normalViewPr>
  <p:slideViewPr>
    <p:cSldViewPr>
      <p:cViewPr varScale="1">
        <p:scale>
          <a:sx n="72" d="100"/>
          <a:sy n="72" d="100"/>
        </p:scale>
        <p:origin x="-132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slide" Target="slides/slide81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8AFB23-79A6-481D-BDB5-07758E4573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4A778B1B-F7C2-4099-AF83-4E60F2B52339}">
      <dgm:prSet/>
      <dgm:spPr/>
      <dgm:t>
        <a:bodyPr/>
        <a:lstStyle/>
        <a:p>
          <a:pPr rtl="0"/>
          <a:r>
            <a:rPr lang="en-GB" dirty="0" smtClean="0"/>
            <a:t>Perl Program</a:t>
          </a:r>
          <a:endParaRPr lang="en-GB" dirty="0"/>
        </a:p>
      </dgm:t>
    </dgm:pt>
    <dgm:pt modelId="{8AEEDBE1-43CE-4731-B1FA-3EE6BB4278F3}" type="parTrans" cxnId="{DB9C3281-614E-4724-9562-A06DAFF4949B}">
      <dgm:prSet/>
      <dgm:spPr/>
      <dgm:t>
        <a:bodyPr/>
        <a:lstStyle/>
        <a:p>
          <a:endParaRPr lang="en-GB"/>
        </a:p>
      </dgm:t>
    </dgm:pt>
    <dgm:pt modelId="{DA1AD5F7-1196-4580-9889-848EAB556178}" type="sibTrans" cxnId="{DB9C3281-614E-4724-9562-A06DAFF4949B}">
      <dgm:prSet/>
      <dgm:spPr/>
      <dgm:t>
        <a:bodyPr/>
        <a:lstStyle/>
        <a:p>
          <a:endParaRPr lang="en-GB"/>
        </a:p>
      </dgm:t>
    </dgm:pt>
    <dgm:pt modelId="{07E27E42-BBBB-4539-B820-970D3BE615C0}" type="pres">
      <dgm:prSet presAssocID="{CC8AFB23-79A6-481D-BDB5-07758E45738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62513BA-5C50-480A-8AE1-2C703F39505C}" type="pres">
      <dgm:prSet presAssocID="{4A778B1B-F7C2-4099-AF83-4E60F2B5233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806232A-BC44-4C01-BB70-DFFED0136A56}" type="presOf" srcId="{CC8AFB23-79A6-481D-BDB5-07758E45738D}" destId="{07E27E42-BBBB-4539-B820-970D3BE615C0}" srcOrd="0" destOrd="0" presId="urn:microsoft.com/office/officeart/2005/8/layout/vList2"/>
    <dgm:cxn modelId="{D0C19739-2D43-4A89-8DB2-7E137208C470}" type="presOf" srcId="{4A778B1B-F7C2-4099-AF83-4E60F2B52339}" destId="{662513BA-5C50-480A-8AE1-2C703F39505C}" srcOrd="0" destOrd="0" presId="urn:microsoft.com/office/officeart/2005/8/layout/vList2"/>
    <dgm:cxn modelId="{DB9C3281-614E-4724-9562-A06DAFF4949B}" srcId="{CC8AFB23-79A6-481D-BDB5-07758E45738D}" destId="{4A778B1B-F7C2-4099-AF83-4E60F2B52339}" srcOrd="0" destOrd="0" parTransId="{8AEEDBE1-43CE-4731-B1FA-3EE6BB4278F3}" sibTransId="{DA1AD5F7-1196-4580-9889-848EAB556178}"/>
    <dgm:cxn modelId="{35C593AB-F315-4CDF-B789-B828E878484D}" type="presParOf" srcId="{07E27E42-BBBB-4539-B820-970D3BE615C0}" destId="{662513BA-5C50-480A-8AE1-2C703F3950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2513BA-5C50-480A-8AE1-2C703F39505C}">
      <dsp:nvSpPr>
        <dsp:cNvPr id="0" name=""/>
        <dsp:cNvSpPr/>
      </dsp:nvSpPr>
      <dsp:spPr>
        <a:xfrm>
          <a:off x="0" y="9166"/>
          <a:ext cx="1571634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Perl Program</a:t>
          </a:r>
          <a:endParaRPr lang="en-GB" sz="1500" kern="1200" dirty="0"/>
        </a:p>
      </dsp:txBody>
      <dsp:txXfrm>
        <a:off x="0" y="9166"/>
        <a:ext cx="1571634" cy="351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7F775-89D1-4C36-B546-C9B68B544087}" type="datetimeFigureOut">
              <a:rPr lang="zh-CN" altLang="en-US" smtClean="0"/>
              <a:pPr/>
              <a:t>2020/2/18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217FA-E171-4655-B1DD-A0257C1131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5290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Java_Platform,_Enterprise_Edition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en.wikipedia.org/wiki/Java_Platform,_Standard_Edition" TargetMode="External"/><Relationship Id="rId4" Type="http://schemas.openxmlformats.org/officeDocument/2006/relationships/hyperlink" Target="http://en.wikipedia.org/wiki/Java_Platform,_Micro_Edition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37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DD827B0-7302-45AE-BE4B-17FCF8468F33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3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>
                <a:latin typeface="Arial" charset="0"/>
              </a:rPr>
              <a:t>for marketing purposes, Sun renamed new </a:t>
            </a:r>
            <a:r>
              <a:rPr lang="en-US" altLang="zh-CN" i="1" smtClean="0">
                <a:latin typeface="Arial" charset="0"/>
              </a:rPr>
              <a:t>J2</a:t>
            </a:r>
            <a:r>
              <a:rPr lang="en-US" altLang="zh-CN" smtClean="0">
                <a:latin typeface="Arial" charset="0"/>
              </a:rPr>
              <a:t> versions as </a:t>
            </a:r>
            <a:r>
              <a:rPr lang="en-US" altLang="zh-CN" i="1" smtClean="0">
                <a:latin typeface="Arial" charset="0"/>
                <a:hlinkClick r:id="rId3" tooltip="Java Platform, Enterprise Edition"/>
              </a:rPr>
              <a:t>Java EE</a:t>
            </a:r>
            <a:r>
              <a:rPr lang="en-US" altLang="zh-CN" smtClean="0">
                <a:latin typeface="Arial" charset="0"/>
              </a:rPr>
              <a:t>, </a:t>
            </a:r>
            <a:r>
              <a:rPr lang="en-US" altLang="zh-CN" i="1" smtClean="0">
                <a:latin typeface="Arial" charset="0"/>
                <a:hlinkClick r:id="rId4" tooltip="Java Platform, Micro Edition"/>
              </a:rPr>
              <a:t>Java ME</a:t>
            </a:r>
            <a:r>
              <a:rPr lang="en-US" altLang="zh-CN" smtClean="0">
                <a:latin typeface="Arial" charset="0"/>
              </a:rPr>
              <a:t>, and </a:t>
            </a:r>
            <a:r>
              <a:rPr lang="en-US" altLang="zh-CN" i="1" smtClean="0">
                <a:latin typeface="Arial" charset="0"/>
                <a:hlinkClick r:id="rId5" tooltip="Java Platform, Standard Edition"/>
              </a:rPr>
              <a:t>Java SE</a:t>
            </a:r>
            <a:r>
              <a:rPr lang="en-US" altLang="zh-CN" smtClean="0">
                <a:latin typeface="Arial" charset="0"/>
              </a:rPr>
              <a:t>, respectively.</a:t>
            </a:r>
            <a:endParaRPr lang="zh-CN" altLang="en-US" smtClean="0">
              <a:latin typeface="Arial" charset="0"/>
            </a:endParaRPr>
          </a:p>
        </p:txBody>
      </p:sp>
      <p:sp>
        <p:nvSpPr>
          <p:cNvPr id="138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02BBBD6-1728-40A6-8098-C4650266CB56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 smtClean="0">
                <a:latin typeface="Arial" charset="0"/>
              </a:rPr>
              <a:t>1.</a:t>
            </a:r>
            <a:r>
              <a:rPr lang="zh-CN" altLang="en-US" dirty="0" smtClean="0">
                <a:latin typeface="Arial" charset="0"/>
              </a:rPr>
              <a:t>简单性：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丢弃了</a:t>
            </a:r>
            <a:r>
              <a:rPr lang="en-US" altLang="zh-CN" dirty="0" smtClean="0">
                <a:latin typeface="Arial" charset="0"/>
              </a:rPr>
              <a:t>C++</a:t>
            </a:r>
            <a:r>
              <a:rPr lang="zh-CN" altLang="en-US" dirty="0" smtClean="0">
                <a:latin typeface="Arial" charset="0"/>
              </a:rPr>
              <a:t>中很少使用的，很难理解的，令人迷惑的特性，操作符重载，多继承，自动的强制类型转换，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不使用指针，并提供自动的废料收集，使得程序员不必为内存管理而担忧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2.</a:t>
            </a:r>
            <a:r>
              <a:rPr lang="zh-CN" altLang="en-US" dirty="0" smtClean="0">
                <a:latin typeface="Arial" charset="0"/>
              </a:rPr>
              <a:t>纯粹的面向对象：类，接口和继承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语言全面支持动态绑定，而</a:t>
            </a:r>
            <a:r>
              <a:rPr lang="en-US" altLang="zh-CN" dirty="0" err="1" smtClean="0">
                <a:latin typeface="Arial" charset="0"/>
              </a:rPr>
              <a:t>c++</a:t>
            </a:r>
            <a:r>
              <a:rPr lang="zh-CN" altLang="en-US" dirty="0" smtClean="0">
                <a:latin typeface="Arial" charset="0"/>
              </a:rPr>
              <a:t>语言只对虚函数使用动态绑定。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3.</a:t>
            </a:r>
            <a:r>
              <a:rPr lang="zh-CN" altLang="en-US" dirty="0" smtClean="0">
                <a:latin typeface="Arial" charset="0"/>
              </a:rPr>
              <a:t>可移植性：</a:t>
            </a:r>
          </a:p>
          <a:p>
            <a:pPr eaLnBrk="1" hangingPunct="1"/>
            <a:r>
              <a:rPr lang="zh-CN" altLang="en-US" dirty="0" smtClean="0">
                <a:latin typeface="Arial" charset="0"/>
              </a:rPr>
              <a:t>体系结构中立性，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语言中严格规定了各个基本数据类型的长度；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系统本身具有很强的移植性，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编译器用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实现的，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的运行环境是用</a:t>
            </a:r>
            <a:r>
              <a:rPr lang="en-US" altLang="zh-CN" dirty="0" smtClean="0">
                <a:latin typeface="Arial" charset="0"/>
              </a:rPr>
              <a:t>ANSI C</a:t>
            </a:r>
            <a:r>
              <a:rPr lang="zh-CN" altLang="en-US" dirty="0" smtClean="0">
                <a:latin typeface="Arial" charset="0"/>
              </a:rPr>
              <a:t>实现的。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4.</a:t>
            </a:r>
            <a:r>
              <a:rPr lang="zh-CN" altLang="en-US" dirty="0" smtClean="0">
                <a:latin typeface="宋体" pitchFamily="2" charset="-122"/>
              </a:rPr>
              <a:t>半编译半解释</a:t>
            </a:r>
            <a:r>
              <a:rPr lang="en-US" altLang="zh-CN" dirty="0" smtClean="0">
                <a:latin typeface="宋体" pitchFamily="2" charset="-122"/>
              </a:rPr>
              <a:t>——Java</a:t>
            </a:r>
            <a:r>
              <a:rPr lang="zh-CN" altLang="en-US" dirty="0" smtClean="0">
                <a:latin typeface="宋体" pitchFamily="2" charset="-122"/>
              </a:rPr>
              <a:t>程序在</a:t>
            </a:r>
            <a:r>
              <a:rPr lang="en-US" altLang="zh-CN" dirty="0" smtClean="0">
                <a:latin typeface="宋体" pitchFamily="2" charset="-122"/>
              </a:rPr>
              <a:t>Java</a:t>
            </a:r>
            <a:r>
              <a:rPr lang="zh-CN" altLang="en-US" dirty="0" smtClean="0">
                <a:latin typeface="宋体" pitchFamily="2" charset="-122"/>
              </a:rPr>
              <a:t>平台上先被编译， 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编译器对字节码进行解释执行</a:t>
            </a:r>
            <a:endParaRPr lang="en-US" altLang="zh-CN" dirty="0" smtClean="0">
              <a:latin typeface="Arial" charset="0"/>
            </a:endParaRPr>
          </a:p>
          <a:p>
            <a:pPr eaLnBrk="1" hangingPunct="1"/>
            <a:r>
              <a:rPr lang="en-US" altLang="zh-CN" dirty="0" smtClean="0">
                <a:latin typeface="Arial" charset="0"/>
              </a:rPr>
              <a:t>5.</a:t>
            </a:r>
            <a:r>
              <a:rPr lang="zh-CN" altLang="en-US" dirty="0" smtClean="0">
                <a:latin typeface="Arial" charset="0"/>
              </a:rPr>
              <a:t>具有多线程处理能力</a:t>
            </a:r>
            <a:endParaRPr lang="en-US" altLang="zh-CN" dirty="0" smtClean="0">
              <a:latin typeface="Arial" charset="0"/>
            </a:endParaRPr>
          </a:p>
          <a:p>
            <a:pPr eaLnBrk="1" hangingPunct="1"/>
            <a:r>
              <a:rPr lang="en-US" altLang="zh-CN" dirty="0" smtClean="0">
                <a:latin typeface="Arial" charset="0"/>
              </a:rPr>
              <a:t>6.</a:t>
            </a:r>
            <a:r>
              <a:rPr lang="zh-CN" altLang="en-US" dirty="0" smtClean="0">
                <a:latin typeface="Arial" charset="0"/>
              </a:rPr>
              <a:t>具有较高的安全性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通常被用在网络环境中，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提供了一个安全机制防止恶意代码的攻击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7.</a:t>
            </a:r>
            <a:r>
              <a:rPr lang="zh-CN" altLang="en-US" dirty="0" smtClean="0">
                <a:latin typeface="Arial" charset="0"/>
              </a:rPr>
              <a:t>健壮性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有强类型机制，异常处理，废料的自动收集，</a:t>
            </a:r>
            <a:r>
              <a:rPr lang="en-US" altLang="zh-CN" dirty="0" smtClean="0">
                <a:latin typeface="Arial" charset="0"/>
              </a:rPr>
              <a:t>Java</a:t>
            </a:r>
            <a:r>
              <a:rPr lang="zh-CN" altLang="en-US" dirty="0" smtClean="0">
                <a:latin typeface="Arial" charset="0"/>
              </a:rPr>
              <a:t>的安全检查机制</a:t>
            </a:r>
          </a:p>
          <a:p>
            <a:pPr eaLnBrk="1" hangingPunct="1"/>
            <a:r>
              <a:rPr lang="en-US" altLang="zh-CN" dirty="0" smtClean="0">
                <a:latin typeface="Arial" charset="0"/>
              </a:rPr>
              <a:t>8.</a:t>
            </a:r>
            <a:r>
              <a:rPr lang="zh-CN" altLang="en-US" dirty="0" smtClean="0">
                <a:latin typeface="Arial" charset="0"/>
              </a:rPr>
              <a:t>可扩展性</a:t>
            </a:r>
            <a:endParaRPr lang="en-US" altLang="zh-CN" dirty="0" smtClean="0">
              <a:latin typeface="Arial" charset="0"/>
            </a:endParaRPr>
          </a:p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E8786C0-3511-4DEE-BABD-B617EB6B3118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3169C4A-7B85-4438-8C40-2CA0E9578017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9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r>
              <a:rPr lang="en-GB" altLang="zh-CN" smtClean="0">
                <a:latin typeface="Arial" charset="0"/>
              </a:rPr>
              <a:t>This is usually less efficient…</a:t>
            </a:r>
            <a:endParaRPr lang="zh-CN" altLang="en-US" smtClean="0">
              <a:latin typeface="Arial" charset="0"/>
            </a:endParaRPr>
          </a:p>
          <a:p>
            <a:pPr eaLnBrk="1" hangingPunct="1"/>
            <a:endParaRPr lang="zh-CN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41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6D7BFBC-C10B-4EA5-8150-5117E830F3DA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10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 smtClean="0">
              <a:latin typeface="Arial" charset="0"/>
            </a:endParaRPr>
          </a:p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1B37A877-E4A4-4B60-9E40-B0D7A7748491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11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43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78CB2382-DC70-4159-A0FD-AB8834285FC1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12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44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0DA8A9C-A588-467B-A29E-91B60FF1532C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13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>
              <a:latin typeface="Arial" charset="0"/>
            </a:endParaRPr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F194E8CF-3A1D-40DE-BD84-87B4D5DB7143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16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6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>
                <a:latin typeface="Arial" charset="0"/>
              </a:rPr>
              <a:t>D:\Program Files\Java\jdk1.8.0_25\</a:t>
            </a:r>
            <a:endParaRPr lang="zh-CN" altLang="en-US" smtClean="0">
              <a:latin typeface="Arial" charset="0"/>
            </a:endParaRPr>
          </a:p>
        </p:txBody>
      </p:sp>
      <p:sp>
        <p:nvSpPr>
          <p:cNvPr id="146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B1F0379-49DF-48BC-860E-B1978A1716B1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36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291E767-B460-4C70-8A43-3739418D377E}" type="slidenum">
              <a:rPr lang="zh-CN" altLang="en-US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59</a:t>
            </a:fld>
            <a:endParaRPr lang="en-US" altLang="zh-CN" sz="1200" b="0" smtClean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6336991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/>
              <a:t>Object-Oriented Programming and Design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2986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38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9647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39993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48679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5430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0794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72402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1641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7648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17602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 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66899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5149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1664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27108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27920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31066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9431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467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43716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2731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2634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 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328061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9924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70387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45985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23856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27183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22038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401002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79396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809187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366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6336991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/>
              <a:t>Object-Oriented Programming and Design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012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6909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5113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4.jpeg"/><Relationship Id="rId4" Type="http://schemas.openxmlformats.org/officeDocument/2006/relationships/diagramData" Target="../diagrams/data1.xml"/><Relationship Id="rId9" Type="http://schemas.openxmlformats.org/officeDocument/2006/relationships/hyperlink" Target="http://images.google.com/imgres?imgurl=http://physics.kenyon.edu/EarlyApparatus/Static_Electricity/Induction_Machine/Induction_Machine_Picture.JPG&amp;imgrefurl=http://physics.kenyon.edu/EarlyApparatus/Static_Electricity/Induction_Machine/Induction_Machine.html&amp;usg=__Pj8AmEmtVeMtYdnQr5tg2_Js_jc=&amp;h=400&amp;w=344&amp;sz=18&amp;hl=en&amp;start=13&amp;sig2=T3P6kuO5uoB6XadcX8t5Sw&amp;tbnid=NcwRaO9mTBmG2M:&amp;tbnh=124&amp;tbnw=107&amp;prev=/images?q=machine&amp;gbv=2&amp;hl=en&amp;ei=I6-CSpiAD8W8jAez7eGFC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504" y="1916113"/>
            <a:ext cx="9144000" cy="1600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Chapter </a:t>
            </a:r>
            <a:r>
              <a:rPr lang="en-US" altLang="zh-CN" sz="48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0-2 </a:t>
            </a:r>
            <a:br>
              <a:rPr lang="en-US" altLang="zh-CN" sz="48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</a:br>
            <a:r>
              <a:rPr lang="en-US" altLang="zh-CN" sz="48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JDK &amp; Eclipse Setup</a:t>
            </a:r>
            <a:endParaRPr lang="zh-CN" altLang="en-US" sz="4800" dirty="0" smtClean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行楷" pitchFamily="2" charset="-122"/>
            </a:endParaRP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3041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What Is the Java™ Technology?</a:t>
            </a:r>
            <a:endParaRPr lang="zh-CN" altLang="en-US" smtClean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Java technology is:</a:t>
            </a:r>
          </a:p>
          <a:p>
            <a:pPr lvl="1"/>
            <a:r>
              <a:rPr lang="en-US" altLang="zh-CN" smtClean="0"/>
              <a:t>A programming language</a:t>
            </a:r>
          </a:p>
          <a:p>
            <a:pPr lvl="1"/>
            <a:r>
              <a:rPr lang="en-US" altLang="zh-CN" smtClean="0"/>
              <a:t>A development environment</a:t>
            </a:r>
          </a:p>
          <a:p>
            <a:pPr lvl="1"/>
            <a:r>
              <a:rPr lang="en-US" altLang="zh-CN" smtClean="0"/>
              <a:t>An application environment</a:t>
            </a:r>
          </a:p>
          <a:p>
            <a:pPr lvl="1"/>
            <a:r>
              <a:rPr lang="en-US" altLang="zh-CN" smtClean="0"/>
              <a:t>A deployment environment</a:t>
            </a:r>
          </a:p>
          <a:p>
            <a:pPr lvl="1"/>
            <a:r>
              <a:rPr lang="en-US" altLang="zh-CN" smtClean="0"/>
              <a:t>It is similar in syntax to C++.</a:t>
            </a:r>
          </a:p>
          <a:p>
            <a:pPr lvl="1"/>
            <a:r>
              <a:rPr lang="en-US" altLang="zh-CN" smtClean="0"/>
              <a:t>It is used for developing both </a:t>
            </a:r>
            <a:r>
              <a:rPr lang="en-US" altLang="zh-CN" i="1" smtClean="0"/>
              <a:t>applets </a:t>
            </a:r>
            <a:r>
              <a:rPr lang="en-US" altLang="zh-CN" smtClean="0"/>
              <a:t>and </a:t>
            </a:r>
            <a:r>
              <a:rPr lang="en-US" altLang="zh-CN" i="1" smtClean="0"/>
              <a:t>applications</a:t>
            </a:r>
            <a:r>
              <a:rPr lang="en-US" altLang="zh-CN" smtClean="0"/>
              <a:t>.</a:t>
            </a: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1872363-FAF1-4A0E-BAB2-F018A9D93541}" type="slidenum">
              <a:rPr lang="zh-CN" altLang="en-US" sz="1400" b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pPr eaLnBrk="1" hangingPunct="1"/>
              <a:t>2</a:t>
            </a:fld>
            <a:endParaRPr lang="en-US" altLang="zh-CN" sz="1400" b="0" smtClean="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24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History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zh-CN" dirty="0" smtClean="0"/>
              <a:t>Interactive </a:t>
            </a:r>
            <a:r>
              <a:rPr lang="en-US" altLang="zh-CN" dirty="0"/>
              <a:t>T</a:t>
            </a:r>
            <a:r>
              <a:rPr lang="en-US" altLang="zh-CN" dirty="0" smtClean="0"/>
              <a:t>elevision Project</a:t>
            </a:r>
          </a:p>
          <a:p>
            <a:pPr lvl="1">
              <a:defRPr/>
            </a:pPr>
            <a:r>
              <a:rPr lang="en-US" altLang="zh-CN" dirty="0" smtClean="0"/>
              <a:t>James Gosling, Mike Sheridan, and Patrick Naughton initiated the Java language project in June 1991</a:t>
            </a:r>
          </a:p>
          <a:p>
            <a:pPr lvl="1">
              <a:defRPr/>
            </a:pPr>
            <a:r>
              <a:rPr lang="en-US" altLang="zh-CN" b="1" i="1" dirty="0" smtClean="0"/>
              <a:t>Oak</a:t>
            </a:r>
            <a:r>
              <a:rPr lang="en-US" altLang="zh-CN" dirty="0" smtClean="0"/>
              <a:t> after an oak tree that stood outside Gosling's office</a:t>
            </a:r>
          </a:p>
          <a:p>
            <a:pPr lvl="1">
              <a:defRPr/>
            </a:pPr>
            <a:r>
              <a:rPr lang="en-US" altLang="zh-CN" dirty="0" smtClean="0"/>
              <a:t>Later the project went by the name </a:t>
            </a:r>
            <a:r>
              <a:rPr lang="en-US" altLang="zh-CN" b="1" i="1" dirty="0" smtClean="0"/>
              <a:t>Green</a:t>
            </a:r>
            <a:r>
              <a:rPr lang="en-US" altLang="zh-CN" dirty="0" smtClean="0"/>
              <a:t> and was finally renamed </a:t>
            </a:r>
            <a:r>
              <a:rPr lang="en-US" altLang="zh-CN" b="1" i="1" dirty="0" smtClean="0"/>
              <a:t>Java</a:t>
            </a:r>
            <a:endParaRPr lang="zh-CN" altLang="en-US" b="1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B89151A-6381-4E31-96B4-9894DF6363C0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644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History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693738" y="1947863"/>
            <a:ext cx="7812087" cy="4114800"/>
          </a:xfrm>
        </p:spPr>
        <p:txBody>
          <a:bodyPr/>
          <a:lstStyle/>
          <a:p>
            <a:r>
              <a:rPr lang="en-US" altLang="zh-CN" smtClean="0"/>
              <a:t>Java </a:t>
            </a:r>
          </a:p>
          <a:p>
            <a:pPr lvl="1"/>
            <a:r>
              <a:rPr lang="en-US" altLang="zh-CN" smtClean="0"/>
              <a:t>Sun Microsystems released the first public implementation as Java 1.0 in 1995</a:t>
            </a:r>
          </a:p>
          <a:p>
            <a:pPr lvl="2"/>
            <a:r>
              <a:rPr lang="en-US" altLang="zh-CN" smtClean="0"/>
              <a:t>It promised "Write Once, Run Anywhere"</a:t>
            </a:r>
          </a:p>
          <a:p>
            <a:pPr lvl="1"/>
            <a:r>
              <a:rPr lang="en-US" altLang="zh-CN" smtClean="0"/>
              <a:t>released initially as J2SE 1.2 in December 1998 – 1999 </a:t>
            </a:r>
          </a:p>
          <a:p>
            <a:pPr lvl="2"/>
            <a:r>
              <a:rPr lang="en-US" altLang="zh-CN" smtClean="0"/>
              <a:t>new versions had multiple configurations built for different types of platforms</a:t>
            </a:r>
            <a:endParaRPr lang="zh-CN" altLang="en-US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133E427A-22CF-439A-9C24-19C03BE6DAF2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23557" name="Picture 4" descr="65d4930a4c3cf93ab0351d5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3" y="-100013"/>
            <a:ext cx="2376487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45664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History</a:t>
            </a:r>
            <a:endParaRPr lang="zh-CN" altLang="en-US" smtClean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684213" y="1989138"/>
            <a:ext cx="7812087" cy="4114800"/>
          </a:xfrm>
        </p:spPr>
        <p:txBody>
          <a:bodyPr/>
          <a:lstStyle/>
          <a:p>
            <a:r>
              <a:rPr lang="en-US" altLang="zh-CN" smtClean="0"/>
              <a:t>Different  types of platforms</a:t>
            </a:r>
            <a:endParaRPr lang="zh-CN" altLang="en-US" smtClean="0"/>
          </a:p>
          <a:p>
            <a:pPr lvl="1"/>
            <a:r>
              <a:rPr lang="en-US" altLang="zh-CN" smtClean="0"/>
              <a:t>JAVA EE</a:t>
            </a:r>
          </a:p>
          <a:p>
            <a:pPr lvl="2"/>
            <a:r>
              <a:rPr lang="en-US" altLang="zh-CN" i="1" smtClean="0"/>
              <a:t>J2EE</a:t>
            </a:r>
            <a:r>
              <a:rPr lang="en-US" altLang="zh-CN" smtClean="0"/>
              <a:t> included technologies and APIs for enterprise applications typically run in server environments</a:t>
            </a:r>
          </a:p>
          <a:p>
            <a:pPr lvl="1"/>
            <a:r>
              <a:rPr lang="en-US" altLang="zh-CN" i="1" smtClean="0"/>
              <a:t>Java ME</a:t>
            </a:r>
          </a:p>
          <a:p>
            <a:pPr lvl="2"/>
            <a:r>
              <a:rPr lang="en-US" altLang="zh-CN" i="1" smtClean="0"/>
              <a:t>J2ME</a:t>
            </a:r>
            <a:r>
              <a:rPr lang="en-US" altLang="zh-CN" smtClean="0"/>
              <a:t> featured APIs optimized for mobile applications</a:t>
            </a:r>
          </a:p>
          <a:p>
            <a:pPr lvl="1"/>
            <a:r>
              <a:rPr lang="en-US" altLang="zh-CN" smtClean="0"/>
              <a:t>Java SE</a:t>
            </a:r>
          </a:p>
          <a:p>
            <a:pPr lvl="2"/>
            <a:r>
              <a:rPr lang="en-US" altLang="zh-CN" smtClean="0"/>
              <a:t>The desktop version was renamed </a:t>
            </a:r>
            <a:r>
              <a:rPr lang="en-US" altLang="zh-CN" i="1" smtClean="0"/>
              <a:t>J2SE</a:t>
            </a:r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21488C9C-47FA-4283-B7FD-C7A59FB19196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027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Principles</a:t>
            </a:r>
            <a:endParaRPr lang="zh-CN" altLang="en-US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95288" y="2057400"/>
            <a:ext cx="8569325" cy="4114800"/>
          </a:xfrm>
        </p:spPr>
        <p:txBody>
          <a:bodyPr/>
          <a:lstStyle/>
          <a:p>
            <a:r>
              <a:rPr lang="en-US" altLang="zh-CN" dirty="0" smtClean="0"/>
              <a:t>There were five primary goals in the creation of the Java language</a:t>
            </a:r>
          </a:p>
          <a:p>
            <a:pPr lvl="1"/>
            <a:r>
              <a:rPr lang="en-US" altLang="zh-CN" dirty="0" smtClean="0"/>
              <a:t>It must be "simple, object-oriented and familiar"</a:t>
            </a:r>
          </a:p>
          <a:p>
            <a:pPr lvl="1"/>
            <a:r>
              <a:rPr lang="en-US" altLang="zh-CN" dirty="0" smtClean="0"/>
              <a:t>It must be "robust and secure"</a:t>
            </a:r>
          </a:p>
          <a:p>
            <a:pPr lvl="1"/>
            <a:r>
              <a:rPr lang="en-US" altLang="zh-CN" dirty="0" smtClean="0"/>
              <a:t>It must be "architecture-neutral and portable"</a:t>
            </a:r>
          </a:p>
          <a:p>
            <a:pPr lvl="1"/>
            <a:r>
              <a:rPr lang="en-US" altLang="zh-CN" dirty="0" smtClean="0"/>
              <a:t>It must execute with "high performance"</a:t>
            </a:r>
          </a:p>
          <a:p>
            <a:pPr lvl="1"/>
            <a:r>
              <a:rPr lang="en-US" altLang="zh-CN" dirty="0" smtClean="0"/>
              <a:t>It must be "interpreted, threaded, and dynamic"</a:t>
            </a:r>
          </a:p>
          <a:p>
            <a:pPr lvl="1"/>
            <a:endParaRPr lang="zh-CN" altLang="en-US" dirty="0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F4E312D-DCC1-410D-A98A-196A9EF4179A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</a:t>
            </a:fld>
            <a:endParaRPr lang="en-US" altLang="zh-CN" sz="1400" b="0" dirty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895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Versions</a:t>
            </a:r>
            <a:endParaRPr lang="zh-CN" altLang="en-US" smtClean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755650" y="1916113"/>
            <a:ext cx="7812088" cy="4114800"/>
          </a:xfrm>
        </p:spPr>
        <p:txBody>
          <a:bodyPr/>
          <a:lstStyle/>
          <a:p>
            <a:r>
              <a:rPr lang="en-US" altLang="zh-CN" dirty="0" smtClean="0"/>
              <a:t>Major release versions of Java</a:t>
            </a:r>
          </a:p>
          <a:p>
            <a:pPr lvl="1"/>
            <a:r>
              <a:rPr lang="en-US" altLang="zh-CN" sz="2400" dirty="0" smtClean="0"/>
              <a:t>JDK 1.0 (January 21, 1996)</a:t>
            </a:r>
          </a:p>
          <a:p>
            <a:pPr lvl="1"/>
            <a:r>
              <a:rPr lang="en-US" altLang="zh-CN" sz="2400" dirty="0" smtClean="0"/>
              <a:t>JDK 1.1 (February 19, 1997)</a:t>
            </a:r>
          </a:p>
          <a:p>
            <a:pPr lvl="1"/>
            <a:r>
              <a:rPr lang="en-US" altLang="zh-CN" sz="2400" dirty="0" smtClean="0"/>
              <a:t>J2SE 1.2 (December 8, 1998)</a:t>
            </a:r>
          </a:p>
          <a:p>
            <a:pPr lvl="1"/>
            <a:r>
              <a:rPr lang="en-US" altLang="zh-CN" sz="2400" dirty="0" smtClean="0"/>
              <a:t>J2SE 1.3 (May 8, 2000)</a:t>
            </a:r>
          </a:p>
          <a:p>
            <a:pPr lvl="1"/>
            <a:r>
              <a:rPr lang="en-US" altLang="zh-CN" sz="2400" dirty="0" smtClean="0"/>
              <a:t>J2SE 1.4 (February 6, 2002)</a:t>
            </a:r>
          </a:p>
          <a:p>
            <a:pPr lvl="1"/>
            <a:r>
              <a:rPr lang="en-US" altLang="zh-CN" sz="2400" dirty="0" smtClean="0"/>
              <a:t>J2SE 5.0 (September 30, 2004)</a:t>
            </a:r>
          </a:p>
          <a:p>
            <a:pPr lvl="1"/>
            <a:r>
              <a:rPr lang="en-US" altLang="zh-CN" sz="2400" dirty="0" smtClean="0"/>
              <a:t>Java SE 6 (December 11, 2006)</a:t>
            </a:r>
          </a:p>
          <a:p>
            <a:pPr lvl="1"/>
            <a:r>
              <a:rPr lang="en-US" altLang="zh-CN" sz="2400" dirty="0" smtClean="0"/>
              <a:t>Java SE 7 (July 28, 2011)</a:t>
            </a:r>
          </a:p>
          <a:p>
            <a:pPr lvl="1"/>
            <a:r>
              <a:rPr lang="en-US" altLang="zh-CN" sz="2400" dirty="0" smtClean="0"/>
              <a:t>Java SE 8 (March 18, 2014)</a:t>
            </a:r>
          </a:p>
          <a:p>
            <a:endParaRPr lang="zh-CN" altLang="en-US" dirty="0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F04D262-C6E8-4ECC-BB91-6B69F268820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5752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1CA334CB-7656-4024-9526-8B656190C23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850" y="1844675"/>
            <a:ext cx="8008938" cy="4327525"/>
          </a:xfrm>
        </p:spPr>
        <p:txBody>
          <a:bodyPr/>
          <a:lstStyle/>
          <a:p>
            <a:pPr eaLnBrk="1" hangingPunct="1"/>
            <a:r>
              <a:rPr lang="en-US" altLang="zh-CN" b="1" smtClean="0"/>
              <a:t>Compiled Language</a:t>
            </a:r>
          </a:p>
          <a:p>
            <a:pPr lvl="1" eaLnBrk="1" hangingPunct="1"/>
            <a:r>
              <a:rPr lang="en-US" altLang="zh-CN" smtClean="0"/>
              <a:t>C</a:t>
            </a:r>
          </a:p>
          <a:p>
            <a:pPr lvl="1" eaLnBrk="1" hangingPunct="1"/>
            <a:r>
              <a:rPr lang="zh-CN" altLang="en-US" smtClean="0"/>
              <a:t>通过编译器一次将源代码翻译成机器可以识别的目标代码，今后运行的都为目标代码</a:t>
            </a:r>
          </a:p>
          <a:p>
            <a:pPr lvl="1" eaLnBrk="1" hangingPunct="1"/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86865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78CA16CE-4373-4C50-956B-D21163D62C3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zh-CN" b="1" dirty="0" smtClean="0"/>
              <a:t>Interpreted language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Basic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Perl</a:t>
            </a:r>
          </a:p>
          <a:p>
            <a:pPr lvl="1" eaLnBrk="1" hangingPunct="1"/>
            <a:r>
              <a:rPr lang="zh-CN" altLang="en-US" dirty="0" smtClean="0"/>
              <a:t>代码每次运行时由解释器将其翻译成目标代码，一边解释一边运行</a:t>
            </a:r>
          </a:p>
        </p:txBody>
      </p:sp>
      <p:pic>
        <p:nvPicPr>
          <p:cNvPr id="1026" name="Picture 2" descr="C:\Documents and Settings\ltt\My Documents\My Pictures\Microsoft Clip Organizer\j042258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2251" r="30617"/>
          <a:stretch>
            <a:fillRect/>
          </a:stretch>
        </p:blipFill>
        <p:spPr bwMode="auto">
          <a:xfrm>
            <a:off x="431800" y="4124325"/>
            <a:ext cx="2428875" cy="20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Diagram 7"/>
          <p:cNvGraphicFramePr/>
          <p:nvPr/>
        </p:nvGraphicFramePr>
        <p:xfrm>
          <a:off x="4218359" y="4481393"/>
          <a:ext cx="15716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Right Arrow 8"/>
          <p:cNvSpPr/>
          <p:nvPr/>
        </p:nvSpPr>
        <p:spPr>
          <a:xfrm rot="19188506">
            <a:off x="2830513" y="4829175"/>
            <a:ext cx="1111250" cy="500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GB" sz="1800" b="0">
              <a:solidFill>
                <a:srgbClr val="FFFFFF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63600" y="6140450"/>
            <a:ext cx="142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b="0">
                <a:solidFill>
                  <a:schemeClr val="tx1"/>
                </a:solidFill>
                <a:latin typeface="Calibri" pitchFamily="34" charset="0"/>
                <a:ea typeface="MS PGothic" pitchFamily="34" charset="-128"/>
              </a:rPr>
              <a:t>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2205306">
            <a:off x="3179763" y="5286375"/>
            <a:ext cx="142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b="0">
                <a:solidFill>
                  <a:schemeClr val="tx1"/>
                </a:solidFill>
                <a:latin typeface="Calibri" pitchFamily="34" charset="0"/>
                <a:ea typeface="MS PGothic" pitchFamily="34" charset="-128"/>
              </a:rPr>
              <a:t>write</a:t>
            </a:r>
          </a:p>
        </p:txBody>
      </p:sp>
      <p:pic>
        <p:nvPicPr>
          <p:cNvPr id="1028" name="Picture 4" descr="http://tbn1.google.com/images?q=tbn:NcwRaO9mTBmG2M:http://physics.kenyon.edu/EarlyApparatus/Static_Electricity/Induction_Machine/Induction_Machine_Picture.JPG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0" y="4981575"/>
            <a:ext cx="10191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321175" y="6140450"/>
            <a:ext cx="4643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b="0">
                <a:solidFill>
                  <a:schemeClr val="tx1"/>
                </a:solidFill>
                <a:latin typeface="Calibri" pitchFamily="34" charset="0"/>
                <a:ea typeface="MS PGothic" pitchFamily="34" charset="-128"/>
              </a:rPr>
              <a:t>Perl interpreter runs it – things happen</a:t>
            </a:r>
          </a:p>
        </p:txBody>
      </p:sp>
    </p:spTree>
    <p:extLst>
      <p:ext uri="{BB962C8B-B14F-4D97-AF65-F5344CB8AC3E}">
        <p14:creationId xmlns="" xmlns:p14="http://schemas.microsoft.com/office/powerpoint/2010/main" val="31206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 animBg="1"/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323850" y="2057400"/>
            <a:ext cx="8712200" cy="4114800"/>
          </a:xfrm>
        </p:spPr>
        <p:txBody>
          <a:bodyPr/>
          <a:lstStyle/>
          <a:p>
            <a:r>
              <a:rPr lang="en-US" altLang="zh-CN" smtClean="0"/>
              <a:t>Cross-platform computing environment</a:t>
            </a:r>
          </a:p>
          <a:p>
            <a:pPr lvl="1"/>
            <a:r>
              <a:rPr lang="en-US" altLang="zh-CN" smtClean="0"/>
              <a:t>programs written for the Java platform must run similarly on any combination of hardware and operating system with adequate runtime support</a:t>
            </a:r>
          </a:p>
          <a:p>
            <a:pPr lvl="1"/>
            <a:r>
              <a:rPr lang="en-US" altLang="zh-CN" b="1" smtClean="0"/>
              <a:t>Semi-Compiled</a:t>
            </a:r>
            <a:endParaRPr lang="fr-FR" altLang="zh-CN" b="1" smtClean="0"/>
          </a:p>
          <a:p>
            <a:pPr lvl="2"/>
            <a:r>
              <a:rPr lang="fr-FR" altLang="zh-CN" smtClean="0"/>
              <a:t>converts </a:t>
            </a:r>
            <a:r>
              <a:rPr lang="fr-FR" altLang="zh-CN" b="1" i="1" smtClean="0"/>
              <a:t>Java source code </a:t>
            </a:r>
            <a:r>
              <a:rPr lang="fr-FR" altLang="zh-CN" smtClean="0"/>
              <a:t>into </a:t>
            </a:r>
            <a:r>
              <a:rPr lang="fr-FR" altLang="zh-CN" b="1" i="1" smtClean="0">
                <a:solidFill>
                  <a:srgbClr val="FF0000"/>
                </a:solidFill>
              </a:rPr>
              <a:t>Java bytecode</a:t>
            </a:r>
            <a:r>
              <a:rPr lang="fr-FR" altLang="zh-CN" smtClean="0"/>
              <a:t> </a:t>
            </a:r>
          </a:p>
          <a:p>
            <a:pPr lvl="1"/>
            <a:r>
              <a:rPr lang="en-GB" altLang="zh-CN" b="1" smtClean="0"/>
              <a:t>Semi-Interpreted </a:t>
            </a:r>
            <a:endParaRPr lang="fr-FR" altLang="zh-CN" smtClean="0"/>
          </a:p>
          <a:p>
            <a:pPr lvl="2"/>
            <a:r>
              <a:rPr lang="en-US" altLang="zh-CN" b="1" i="1" smtClean="0">
                <a:solidFill>
                  <a:srgbClr val="FF0000"/>
                </a:solidFill>
              </a:rPr>
              <a:t>a "virtual machine" </a:t>
            </a:r>
            <a:r>
              <a:rPr lang="en-US" altLang="zh-CN" smtClean="0"/>
              <a:t>that executes </a:t>
            </a:r>
            <a:r>
              <a:rPr lang="en-US" altLang="zh-CN" b="1" i="1" smtClean="0"/>
              <a:t>Java bytecode programs</a:t>
            </a:r>
            <a:endParaRPr lang="zh-CN" altLang="en-US" b="1" i="1" smtClean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F1E4CBB-BE88-47DE-BB80-E37B837A43EE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874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Java bytecode</a:t>
            </a:r>
          </a:p>
          <a:p>
            <a:pPr lvl="1"/>
            <a:r>
              <a:rPr lang="en-US" altLang="zh-CN" smtClean="0"/>
              <a:t>analogous to machine code</a:t>
            </a:r>
          </a:p>
          <a:p>
            <a:pPr lvl="1"/>
            <a:r>
              <a:rPr lang="en-US" altLang="zh-CN" smtClean="0"/>
              <a:t>be executed by a virtual machine</a:t>
            </a:r>
          </a:p>
          <a:p>
            <a:r>
              <a:rPr lang="en-US" altLang="zh-CN" smtClean="0"/>
              <a:t>Machine code</a:t>
            </a:r>
          </a:p>
          <a:p>
            <a:pPr lvl="1"/>
            <a:r>
              <a:rPr lang="en-US" altLang="zh-CN" smtClean="0"/>
              <a:t>architecture-specific </a:t>
            </a: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7D1914C2-0019-4625-B7A3-571841D4712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832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zh-CN" b="1" dirty="0" smtClean="0"/>
              <a:t>Java Virtual Machine(JVM)</a:t>
            </a:r>
          </a:p>
          <a:p>
            <a:pPr lvl="1">
              <a:defRPr/>
            </a:pPr>
            <a:r>
              <a:rPr lang="en-US" altLang="zh-CN" dirty="0"/>
              <a:t>The heart of the Java </a:t>
            </a:r>
            <a:r>
              <a:rPr lang="en-US" altLang="zh-CN" dirty="0" smtClean="0"/>
              <a:t>platform</a:t>
            </a:r>
          </a:p>
          <a:p>
            <a:pPr lvl="1">
              <a:defRPr/>
            </a:pPr>
            <a:r>
              <a:rPr lang="en-US" altLang="zh-CN" dirty="0"/>
              <a:t>The JVM has the following major </a:t>
            </a:r>
            <a:r>
              <a:rPr lang="en-US" altLang="zh-CN" dirty="0" smtClean="0"/>
              <a:t>subsystems</a:t>
            </a:r>
          </a:p>
          <a:p>
            <a:pPr lvl="2">
              <a:defRPr/>
            </a:pPr>
            <a:r>
              <a:rPr lang="en-US" altLang="zh-CN" b="1" dirty="0" smtClean="0"/>
              <a:t>Class loader</a:t>
            </a:r>
          </a:p>
          <a:p>
            <a:pPr lvl="2">
              <a:defRPr/>
            </a:pPr>
            <a:r>
              <a:rPr lang="en-US" altLang="zh-CN" b="1" dirty="0"/>
              <a:t>Execution </a:t>
            </a:r>
            <a:r>
              <a:rPr lang="en-US" altLang="zh-CN" b="1" dirty="0" smtClean="0"/>
              <a:t>Engine</a:t>
            </a:r>
            <a:endParaRPr lang="en-US" altLang="zh-CN" b="1" dirty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6B4FBDE-1D7C-4CBB-B6F3-70C3ED313AD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7001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smtClean="0"/>
              <a:t>Class</a:t>
            </a:r>
            <a:r>
              <a:rPr lang="zh-CN" altLang="en-US" b="1" smtClean="0"/>
              <a:t> </a:t>
            </a:r>
            <a:r>
              <a:rPr lang="en-US" altLang="zh-CN" b="1" smtClean="0"/>
              <a:t>loader</a:t>
            </a:r>
          </a:p>
          <a:p>
            <a:pPr lvl="1"/>
            <a:r>
              <a:rPr lang="en-US" altLang="zh-CN" smtClean="0"/>
              <a:t>Responsible for loading all classes necessary for the execution of a program into the data areas.</a:t>
            </a:r>
          </a:p>
          <a:p>
            <a:r>
              <a:rPr lang="en-US" altLang="zh-CN" b="1" smtClean="0"/>
              <a:t>Execution Engine</a:t>
            </a:r>
          </a:p>
          <a:p>
            <a:pPr lvl="1"/>
            <a:r>
              <a:rPr lang="en-US" altLang="zh-CN" smtClean="0"/>
              <a:t>Responsible for executing instructions from the data areas.</a:t>
            </a:r>
          </a:p>
          <a:p>
            <a:pPr lvl="2"/>
            <a:r>
              <a:rPr lang="en-US" altLang="zh-CN" b="1" smtClean="0"/>
              <a:t>Bytecode interpreter </a:t>
            </a:r>
          </a:p>
          <a:p>
            <a:pPr lvl="2"/>
            <a:r>
              <a:rPr lang="en-US" altLang="zh-CN" b="1" smtClean="0"/>
              <a:t>(JIT)just-in-time compiler</a:t>
            </a:r>
            <a:endParaRPr lang="zh-CN" altLang="en-US" smtClean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148FD09-465A-4647-A412-DA3F30C5B83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555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03E5830-D92E-4982-925A-DD84756E8FA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35844" name="Picture 2" descr="java-code-execution-proces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060575"/>
            <a:ext cx="4535488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1571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The Java application environment performs as follows:</a:t>
            </a:r>
            <a:endParaRPr lang="zh-CN" altLang="en-US" smtClean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29B77FF-CB7C-408C-ADF1-DBC59116D4A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3686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997200"/>
            <a:ext cx="5945188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11855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platform</a:t>
            </a:r>
            <a:endParaRPr lang="zh-CN" altLang="en-US" dirty="0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Programs written in Java have a reputation for being slower and requiring more memory than those written in C++.</a:t>
            </a:r>
          </a:p>
          <a:p>
            <a:r>
              <a:rPr lang="en-US" altLang="zh-CN" dirty="0" smtClean="0"/>
              <a:t>Java was designed to run based on a virtual machine separated from a physical machine for implementing </a:t>
            </a:r>
            <a:r>
              <a:rPr lang="en-US" altLang="zh-CN" b="1" dirty="0" smtClean="0"/>
              <a:t>WORA</a:t>
            </a:r>
            <a:r>
              <a:rPr lang="en-US" altLang="zh-CN" dirty="0" smtClean="0"/>
              <a:t> (</a:t>
            </a:r>
            <a:r>
              <a:rPr lang="en-US" altLang="zh-CN" i="1" dirty="0" smtClean="0"/>
              <a:t>Write Once Run Anywhere</a:t>
            </a:r>
            <a:r>
              <a:rPr lang="en-US" altLang="zh-CN" dirty="0" smtClean="0"/>
              <a:t>)</a:t>
            </a: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2E949B0-F179-46F8-924D-25294310E32C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9074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B3625DB-D833-4D0E-B847-45E763A6ADA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 platform</a:t>
            </a:r>
            <a:endParaRPr lang="zh-CN" altLang="en-US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916832"/>
            <a:ext cx="78390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09127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JIT(Just In time) Complier</a:t>
            </a:r>
          </a:p>
          <a:p>
            <a:pPr lvl="1"/>
            <a:r>
              <a:rPr lang="en-US" altLang="zh-CN" smtClean="0"/>
              <a:t>translates the Java bytecode into native processor instructions at run-time and caches the native code in memory during execution </a:t>
            </a:r>
            <a:endParaRPr lang="zh-CN" altLang="en-US" smtClean="0"/>
          </a:p>
          <a:p>
            <a:pPr lvl="1"/>
            <a:endParaRPr lang="zh-CN" altLang="en-US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90051EE1-A202-4503-8508-35C598D0CFA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38917" name="Picture 2" descr="java-compiler-and-jit-compil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311650"/>
            <a:ext cx="38100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02074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 platform</a:t>
            </a:r>
            <a:endParaRPr lang="zh-CN" altLang="en-US" smtClean="0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DEE532D-5AF2-4BE7-AFD3-0F4078D23F1F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989138"/>
            <a:ext cx="69246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39046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JDK</a:t>
            </a:r>
            <a:endParaRPr lang="zh-CN" altLang="en-US" smtClean="0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684213" y="1916113"/>
            <a:ext cx="8205787" cy="4114800"/>
          </a:xfrm>
        </p:spPr>
        <p:txBody>
          <a:bodyPr/>
          <a:lstStyle/>
          <a:p>
            <a:r>
              <a:rPr lang="en-US" altLang="zh-CN" b="1" smtClean="0"/>
              <a:t>Java Development Kit</a:t>
            </a:r>
            <a:r>
              <a:rPr lang="en-US" altLang="zh-CN" smtClean="0"/>
              <a:t> (</a:t>
            </a:r>
            <a:r>
              <a:rPr lang="en-US" altLang="zh-CN" b="1" smtClean="0"/>
              <a:t>JDK</a:t>
            </a:r>
            <a:r>
              <a:rPr lang="en-US" altLang="zh-CN" smtClean="0"/>
              <a:t>) </a:t>
            </a:r>
          </a:p>
          <a:p>
            <a:pPr lvl="1"/>
            <a:r>
              <a:rPr lang="en-US" altLang="zh-CN" smtClean="0"/>
              <a:t>An implementation of either one of the Java SE, Java EE or Java ME platforms</a:t>
            </a:r>
          </a:p>
          <a:p>
            <a:pPr lvl="2"/>
            <a:r>
              <a:rPr lang="en-US" altLang="zh-CN" smtClean="0"/>
              <a:t>a complete Java Runtime Environment(JRE)</a:t>
            </a:r>
          </a:p>
          <a:p>
            <a:pPr lvl="2"/>
            <a:r>
              <a:rPr lang="en-US" altLang="zh-CN" smtClean="0"/>
              <a:t>a collection of programming tools</a:t>
            </a:r>
          </a:p>
          <a:p>
            <a:pPr lvl="2"/>
            <a:r>
              <a:rPr lang="en-US" altLang="zh-CN" smtClean="0"/>
              <a:t>a wide selection of example programs demonstrating the use of almost all portions of the Java API</a:t>
            </a:r>
          </a:p>
          <a:p>
            <a:pPr lvl="1"/>
            <a:endParaRPr lang="en-US" altLang="zh-CN" smtClean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3374515-E15A-4F5A-9F3B-E579E82A15B4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0688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JRE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 indent="-342900">
              <a:buSzPct val="60000"/>
              <a:defRPr/>
            </a:pPr>
            <a:r>
              <a:rPr lang="en-US" altLang="zh-CN" sz="3200" dirty="0" smtClean="0">
                <a:cs typeface="+mn-cs"/>
              </a:rPr>
              <a:t>JRE(Java </a:t>
            </a:r>
            <a:r>
              <a:rPr lang="en-US" altLang="zh-CN" sz="3200" dirty="0">
                <a:cs typeface="+mn-cs"/>
              </a:rPr>
              <a:t>Runtime </a:t>
            </a:r>
            <a:r>
              <a:rPr lang="en-US" altLang="zh-CN" sz="3200" dirty="0" smtClean="0">
                <a:cs typeface="+mn-cs"/>
              </a:rPr>
              <a:t>Environment)</a:t>
            </a:r>
            <a:endParaRPr lang="en-US" altLang="zh-CN" sz="3200" dirty="0">
              <a:cs typeface="+mn-cs"/>
            </a:endParaRPr>
          </a:p>
          <a:p>
            <a:pPr lvl="1">
              <a:defRPr/>
            </a:pPr>
            <a:r>
              <a:rPr lang="en-US" altLang="zh-CN" dirty="0" smtClean="0"/>
              <a:t>consists of a </a:t>
            </a:r>
            <a:r>
              <a:rPr lang="en-US" altLang="zh-CN" b="1" dirty="0" smtClean="0"/>
              <a:t>Java Virtual Machine </a:t>
            </a:r>
            <a:endParaRPr lang="en-US" altLang="zh-CN" dirty="0"/>
          </a:p>
          <a:p>
            <a:pPr lvl="1">
              <a:defRPr/>
            </a:pPr>
            <a:r>
              <a:rPr lang="en-US" altLang="zh-CN" dirty="0" smtClean="0"/>
              <a:t>all of the </a:t>
            </a:r>
            <a:r>
              <a:rPr lang="en-US" altLang="zh-CN" b="1" dirty="0" smtClean="0"/>
              <a:t>class libraries </a:t>
            </a:r>
            <a:r>
              <a:rPr lang="en-US" altLang="zh-CN" dirty="0" smtClean="0"/>
              <a:t>present in the production environment, as well as </a:t>
            </a:r>
            <a:r>
              <a:rPr lang="en-US" altLang="zh-CN" b="1" dirty="0" smtClean="0"/>
              <a:t>additional libraries </a:t>
            </a:r>
            <a:r>
              <a:rPr lang="en-US" altLang="zh-CN" dirty="0" smtClean="0"/>
              <a:t>only useful to developers</a:t>
            </a:r>
            <a:endParaRPr lang="zh-CN" altLang="en-US" dirty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758A1C1-0626-429D-9C36-F1EA38E693EE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632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287DA88D-F78F-48FA-8188-093C8C92045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 Download</a:t>
            </a:r>
            <a:endParaRPr lang="zh-CN" altLang="en-US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Download</a:t>
            </a:r>
            <a:endParaRPr lang="zh-CN" altLang="en-US" smtClean="0"/>
          </a:p>
          <a:p>
            <a:pPr lvl="1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zh-CN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deployment</a:t>
            </a:r>
            <a:endParaRPr lang="zh-CN" altLang="en-US" smtClean="0"/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28575" y="2565400"/>
            <a:ext cx="9007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>
                <a:solidFill>
                  <a:schemeClr val="tx1"/>
                </a:solidFill>
              </a:rPr>
              <a:t>http://www.oracle.com/technetwork/java/javase/downloads/index-jsp-138363.html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auto">
          <a:xfrm>
            <a:off x="2930525" y="4097338"/>
            <a:ext cx="52482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jdk-8u31-windows-x64.exe(window 64 bit)</a:t>
            </a:r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2930525" y="4652963"/>
            <a:ext cx="53197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jdk-8u31-windows-i586.exe(window 32 bit)</a:t>
            </a:r>
          </a:p>
        </p:txBody>
      </p:sp>
      <p:sp>
        <p:nvSpPr>
          <p:cNvPr id="45064" name="Rectangle 7"/>
          <p:cNvSpPr>
            <a:spLocks noChangeArrowheads="1"/>
          </p:cNvSpPr>
          <p:nvPr/>
        </p:nvSpPr>
        <p:spPr bwMode="auto">
          <a:xfrm>
            <a:off x="1801813" y="3140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r>
              <a:rPr lang="zh-CN" altLang="zh-CN"/>
              <a:t/>
            </a:r>
            <a:br>
              <a:rPr lang="zh-CN" altLang="zh-CN"/>
            </a:br>
            <a:endParaRPr lang="zh-CN" altLang="zh-CN"/>
          </a:p>
        </p:txBody>
      </p:sp>
    </p:spTree>
    <p:extLst>
      <p:ext uri="{BB962C8B-B14F-4D97-AF65-F5344CB8AC3E}">
        <p14:creationId xmlns="" xmlns:p14="http://schemas.microsoft.com/office/powerpoint/2010/main" val="315123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CE6DF2B-10A4-43BF-A0A4-BC331415540F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 Download</a:t>
            </a:r>
            <a:endParaRPr lang="zh-CN" altLang="en-US" smtClean="0"/>
          </a:p>
        </p:txBody>
      </p:sp>
      <p:pic>
        <p:nvPicPr>
          <p:cNvPr id="4608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9738"/>
            <a:ext cx="90360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18367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04775"/>
            <a:ext cx="8856663" cy="675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6964A057-D0D1-46D8-A6BF-E705E743D6EA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5456238" y="6337300"/>
            <a:ext cx="3003550" cy="433388"/>
          </a:xfrm>
          <a:prstGeom prst="rect">
            <a:avLst/>
          </a:prstGeom>
          <a:noFill/>
          <a:ln w="76200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5568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78AA31F-0D48-4237-AB78-036122E99DC4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运行</a:t>
            </a:r>
            <a:r>
              <a:rPr lang="en-US" altLang="zh-CN" smtClean="0"/>
              <a:t>JDK</a:t>
            </a:r>
            <a:r>
              <a:rPr lang="zh-CN" altLang="en-US" smtClean="0"/>
              <a:t>安装程序，进入安装过程</a:t>
            </a:r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636838"/>
            <a:ext cx="4895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3669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565400"/>
            <a:ext cx="4895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844675"/>
            <a:ext cx="8585200" cy="4327525"/>
          </a:xfrm>
        </p:spPr>
        <p:txBody>
          <a:bodyPr/>
          <a:lstStyle/>
          <a:p>
            <a:pPr eaLnBrk="1" hangingPunct="1"/>
            <a:r>
              <a:rPr lang="zh-CN" altLang="en-US" smtClean="0"/>
              <a:t>选择安装目录 </a:t>
            </a: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5DB9399-F9B2-4FD3-8CA8-5BB6F01AD4B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49158" name="Oval 5"/>
          <p:cNvSpPr>
            <a:spLocks noChangeArrowheads="1"/>
          </p:cNvSpPr>
          <p:nvPr/>
        </p:nvSpPr>
        <p:spPr bwMode="auto">
          <a:xfrm>
            <a:off x="5580063" y="5157788"/>
            <a:ext cx="1727200" cy="649287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159" name="Rectangle 6"/>
          <p:cNvSpPr>
            <a:spLocks noChangeArrowheads="1"/>
          </p:cNvSpPr>
          <p:nvPr/>
        </p:nvSpPr>
        <p:spPr bwMode="auto">
          <a:xfrm>
            <a:off x="2051050" y="5157788"/>
            <a:ext cx="2520950" cy="5762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8226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636838"/>
            <a:ext cx="4895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585200" cy="4327525"/>
          </a:xfrm>
        </p:spPr>
        <p:txBody>
          <a:bodyPr/>
          <a:lstStyle/>
          <a:p>
            <a:pPr eaLnBrk="1" hangingPunct="1"/>
            <a:r>
              <a:rPr lang="zh-CN" altLang="en-US" smtClean="0"/>
              <a:t>更改安装目录</a:t>
            </a:r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4AF557A-A20E-48B6-8B3A-72067A5DC731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0182" name="Oval 5"/>
          <p:cNvSpPr>
            <a:spLocks noChangeArrowheads="1"/>
          </p:cNvSpPr>
          <p:nvPr/>
        </p:nvSpPr>
        <p:spPr bwMode="auto">
          <a:xfrm>
            <a:off x="2124075" y="5230813"/>
            <a:ext cx="3095625" cy="719137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287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782007D-9659-45A4-9B59-6D5609A05D91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安装进行中</a:t>
            </a:r>
          </a:p>
        </p:txBody>
      </p:sp>
      <p:pic>
        <p:nvPicPr>
          <p:cNvPr id="5120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636838"/>
            <a:ext cx="4895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07511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781300"/>
            <a:ext cx="49149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94C14E39-CB8C-4A3F-979C-D87FFB1A651C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Install JRE</a:t>
            </a:r>
            <a:endParaRPr lang="zh-CN" altLang="en-US" smtClean="0"/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5376863" y="4502150"/>
            <a:ext cx="1727200" cy="719138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1979613" y="4648200"/>
            <a:ext cx="2520950" cy="576263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6463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6CEBF5F1-FE85-443E-AF0E-A0CF6C0DCF06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850" y="1844675"/>
            <a:ext cx="8585200" cy="2016125"/>
          </a:xfrm>
        </p:spPr>
        <p:txBody>
          <a:bodyPr/>
          <a:lstStyle/>
          <a:p>
            <a:pPr eaLnBrk="1" hangingPunct="1"/>
            <a:r>
              <a:rPr lang="zh-CN" altLang="en-US" smtClean="0"/>
              <a:t>选择安装目录 </a:t>
            </a:r>
          </a:p>
        </p:txBody>
      </p:sp>
      <p:pic>
        <p:nvPicPr>
          <p:cNvPr id="53253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2781300"/>
            <a:ext cx="49149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Oval 5"/>
          <p:cNvSpPr>
            <a:spLocks noChangeArrowheads="1"/>
          </p:cNvSpPr>
          <p:nvPr/>
        </p:nvSpPr>
        <p:spPr bwMode="auto">
          <a:xfrm>
            <a:off x="1711325" y="4643438"/>
            <a:ext cx="3095625" cy="719137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0214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7326A64-1E91-4E00-A67F-0E4DD932243E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安装进行中</a:t>
            </a:r>
          </a:p>
          <a:p>
            <a:pPr eaLnBrk="1" hangingPunct="1"/>
            <a:endParaRPr lang="zh-CN" altLang="en-US" smtClean="0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8" y="2781300"/>
            <a:ext cx="49149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881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CB495CE-9E72-441D-AD78-0417355CB81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Install</a:t>
            </a:r>
            <a:endParaRPr lang="zh-CN" altLang="en-US" smtClean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完成安装 </a:t>
            </a:r>
          </a:p>
        </p:txBody>
      </p:sp>
      <p:pic>
        <p:nvPicPr>
          <p:cNvPr id="55301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636838"/>
            <a:ext cx="4895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85114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9AF1865-CDD6-4155-A527-7CF26211D414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Deployment</a:t>
            </a:r>
            <a:endParaRPr lang="zh-CN" altLang="en-US" smtClean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右键单击“我的电脑”，选择“属性”</a:t>
            </a:r>
          </a:p>
        </p:txBody>
      </p:sp>
      <p:pic>
        <p:nvPicPr>
          <p:cNvPr id="5632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2781300"/>
            <a:ext cx="287972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32913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967D4D3-3ECA-44B6-8B79-CF56485FC21B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412875"/>
            <a:ext cx="8064500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Rectangle 7"/>
          <p:cNvSpPr>
            <a:spLocks noChangeArrowheads="1"/>
          </p:cNvSpPr>
          <p:nvPr/>
        </p:nvSpPr>
        <p:spPr bwMode="auto">
          <a:xfrm>
            <a:off x="323850" y="3357563"/>
            <a:ext cx="1944688" cy="5762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4481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9179496-1115-47F7-805C-23FCE4F142E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Deployment</a:t>
            </a:r>
            <a:endParaRPr lang="zh-CN" altLang="en-US" smtClean="0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06588"/>
            <a:ext cx="8682038" cy="4114800"/>
          </a:xfrm>
        </p:spPr>
        <p:txBody>
          <a:bodyPr/>
          <a:lstStyle/>
          <a:p>
            <a:pPr eaLnBrk="1" hangingPunct="1"/>
            <a:r>
              <a:rPr lang="zh-CN" altLang="en-US" smtClean="0"/>
              <a:t>选择“高级”选项卡，单击“环境变量”按钮</a:t>
            </a:r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81300"/>
            <a:ext cx="39909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1330325" y="5229225"/>
            <a:ext cx="1584325" cy="792163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1619250" y="2708275"/>
            <a:ext cx="1223963" cy="792163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8376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781300"/>
            <a:ext cx="3657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7" name="Oval 9"/>
          <p:cNvSpPr>
            <a:spLocks noChangeArrowheads="1"/>
          </p:cNvSpPr>
          <p:nvPr/>
        </p:nvSpPr>
        <p:spPr bwMode="auto">
          <a:xfrm>
            <a:off x="5795963" y="3933825"/>
            <a:ext cx="1584325" cy="792163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3119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BD79147-2117-4281-A5A1-821C48C4B32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Deployment</a:t>
            </a:r>
            <a:endParaRPr lang="zh-CN" altLang="en-US" smtClean="0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新建</a:t>
            </a:r>
            <a:r>
              <a:rPr lang="en-US" altLang="zh-CN" smtClean="0"/>
              <a:t>path</a:t>
            </a:r>
            <a:r>
              <a:rPr lang="zh-CN" altLang="en-US" smtClean="0"/>
              <a:t>变量</a:t>
            </a:r>
          </a:p>
          <a:p>
            <a:pPr eaLnBrk="1" hangingPunct="1"/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sp>
        <p:nvSpPr>
          <p:cNvPr id="59397" name="Rectangle 6"/>
          <p:cNvSpPr>
            <a:spLocks noChangeArrowheads="1"/>
          </p:cNvSpPr>
          <p:nvPr/>
        </p:nvSpPr>
        <p:spPr bwMode="auto">
          <a:xfrm>
            <a:off x="900113" y="3141663"/>
            <a:ext cx="7947025" cy="5889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itchFamily="2" charset="-122"/>
              </a:rPr>
              <a:t>.; </a:t>
            </a:r>
            <a:r>
              <a:rPr lang="en-US" altLang="zh-CN" sz="3200" dirty="0">
                <a:solidFill>
                  <a:schemeClr val="tx1"/>
                </a:solidFill>
              </a:rPr>
              <a:t>D:\Program Files\Java\jdk1.8.0_25\bin;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59398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925" y="4292600"/>
            <a:ext cx="34004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01841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F336AC92-0445-468D-A42A-E7BD9CA61FEA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JDK</a:t>
            </a:r>
            <a:r>
              <a:rPr lang="zh-CN" altLang="en-US" smtClean="0"/>
              <a:t> </a:t>
            </a:r>
            <a:r>
              <a:rPr lang="en-US" altLang="zh-CN" smtClean="0"/>
              <a:t>Deployment</a:t>
            </a:r>
            <a:endParaRPr lang="zh-CN" altLang="en-US" smtClean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新建</a:t>
            </a:r>
            <a:r>
              <a:rPr lang="en-US" altLang="zh-CN" smtClean="0"/>
              <a:t>classpath</a:t>
            </a:r>
            <a:r>
              <a:rPr lang="zh-CN" altLang="en-US" smtClean="0"/>
              <a:t>变量</a:t>
            </a:r>
          </a:p>
          <a:p>
            <a:pPr eaLnBrk="1" hangingPunct="1"/>
            <a:endParaRPr lang="zh-CN" altLang="en-US" smtClean="0"/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539750" y="3068638"/>
            <a:ext cx="8359775" cy="52863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.; </a:t>
            </a:r>
            <a:r>
              <a:rPr lang="en-US" altLang="zh-CN" sz="2800">
                <a:solidFill>
                  <a:schemeClr val="tx1"/>
                </a:solidFill>
              </a:rPr>
              <a:t>D:\Program Files\Java\jdk1.8.0_25\lib\tools.jar;</a:t>
            </a:r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6042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4292600"/>
            <a:ext cx="34004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69796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4CFF793C-F6F8-488B-AE70-0E7F67AC4A1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Environment Test</a:t>
            </a:r>
            <a:endParaRPr lang="zh-CN" altLang="en-US" smtClean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安装后，检测是否安装成功</a:t>
            </a:r>
          </a:p>
          <a:p>
            <a:pPr eaLnBrk="1" hangingPunct="1"/>
            <a:r>
              <a:rPr lang="en-US" altLang="zh-CN" smtClean="0"/>
              <a:t>【</a:t>
            </a:r>
            <a:r>
              <a:rPr lang="zh-CN" altLang="en-US" smtClean="0"/>
              <a:t>开始</a:t>
            </a:r>
            <a:r>
              <a:rPr lang="en-US" altLang="zh-CN" smtClean="0"/>
              <a:t>】</a:t>
            </a:r>
            <a:r>
              <a:rPr lang="en-US" altLang="zh-CN" smtClean="0">
                <a:sym typeface="Wingdings" pitchFamily="2" charset="2"/>
              </a:rPr>
              <a:t></a:t>
            </a:r>
            <a:r>
              <a:rPr lang="en-US" altLang="zh-CN" smtClean="0"/>
              <a:t>【</a:t>
            </a:r>
            <a:r>
              <a:rPr lang="zh-CN" altLang="en-US" smtClean="0"/>
              <a:t>运行</a:t>
            </a:r>
            <a:r>
              <a:rPr lang="en-US" altLang="zh-CN" smtClean="0"/>
              <a:t>】</a:t>
            </a:r>
            <a:r>
              <a:rPr lang="zh-CN" altLang="en-US" smtClean="0"/>
              <a:t>菜单</a:t>
            </a:r>
          </a:p>
          <a:p>
            <a:pPr eaLnBrk="1" hangingPunct="1"/>
            <a:r>
              <a:rPr lang="zh-CN" altLang="en-US" smtClean="0"/>
              <a:t>在运行框中输入</a:t>
            </a:r>
            <a:r>
              <a:rPr lang="en-US" altLang="zh-CN" smtClean="0"/>
              <a:t>cmd </a:t>
            </a:r>
            <a:r>
              <a:rPr lang="zh-CN" altLang="en-US" smtClean="0"/>
              <a:t>并按下回车键</a:t>
            </a:r>
          </a:p>
          <a:p>
            <a:pPr eaLnBrk="1" hangingPunct="1"/>
            <a:endParaRPr lang="zh-CN" altLang="en-US" smtClean="0"/>
          </a:p>
        </p:txBody>
      </p:sp>
      <p:pic>
        <p:nvPicPr>
          <p:cNvPr id="6144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076700"/>
            <a:ext cx="33051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3171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3933825"/>
            <a:ext cx="57626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在打开的</a:t>
            </a:r>
            <a:r>
              <a:rPr lang="en-US" altLang="zh-CN" smtClean="0"/>
              <a:t>CMD</a:t>
            </a:r>
            <a:r>
              <a:rPr lang="zh-CN" altLang="en-US" smtClean="0"/>
              <a:t>窗口中输入命令</a:t>
            </a:r>
          </a:p>
        </p:txBody>
      </p:sp>
      <p:sp>
        <p:nvSpPr>
          <p:cNvPr id="624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054AAE2-28BD-456E-9AC5-CDF91AFA67E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Environment Test</a:t>
            </a:r>
            <a:endParaRPr lang="zh-CN" altLang="en-US" smtClean="0"/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1690688" y="4652963"/>
            <a:ext cx="2413000" cy="360362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1" name="Rectangle 6"/>
          <p:cNvSpPr>
            <a:spLocks noChangeArrowheads="1"/>
          </p:cNvSpPr>
          <p:nvPr/>
        </p:nvSpPr>
        <p:spPr bwMode="auto">
          <a:xfrm>
            <a:off x="3419475" y="2997200"/>
            <a:ext cx="2984500" cy="65087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</a:rPr>
              <a:t>java -version</a:t>
            </a:r>
          </a:p>
        </p:txBody>
      </p:sp>
    </p:spTree>
    <p:extLst>
      <p:ext uri="{BB962C8B-B14F-4D97-AF65-F5344CB8AC3E}">
        <p14:creationId xmlns="" xmlns:p14="http://schemas.microsoft.com/office/powerpoint/2010/main" val="164227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1BB6E42A-B807-4A8E-8F59-3CF6AF03BD3F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Your turn: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After class  repeat what I just did and some more.</a:t>
            </a:r>
          </a:p>
        </p:txBody>
      </p:sp>
    </p:spTree>
    <p:extLst>
      <p:ext uri="{BB962C8B-B14F-4D97-AF65-F5344CB8AC3E}">
        <p14:creationId xmlns="" xmlns:p14="http://schemas.microsoft.com/office/powerpoint/2010/main" val="99626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3BA1B63-7FF6-4AD4-96DE-F09BEADB579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Prepared work</a:t>
            </a:r>
            <a:endParaRPr lang="zh-CN" altLang="en-US" smtClean="0"/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2492375"/>
            <a:ext cx="68770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08884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8E54D55B-72DE-4276-9BED-FA3AAF337EDB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Prepared work</a:t>
            </a:r>
            <a:endParaRPr lang="zh-CN" altLang="en-US" smtClean="0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884987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62177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C6B0237-57CE-46A3-9C46-E8E86D642871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Prepared work</a:t>
            </a:r>
            <a:endParaRPr lang="zh-CN" altLang="en-US" smtClean="0"/>
          </a:p>
        </p:txBody>
      </p:sp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773238"/>
            <a:ext cx="367665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2771775" y="4005263"/>
            <a:ext cx="2520950" cy="503237"/>
          </a:xfrm>
          <a:prstGeom prst="ellipse">
            <a:avLst/>
          </a:prstGeom>
          <a:noFill/>
          <a:ln w="762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26061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91FE231-4FBF-4010-907B-749CC5889CC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Your first Java program </a:t>
            </a:r>
            <a:endParaRPr lang="zh-CN" altLang="en-US" smtClean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Create a new file using notepad</a:t>
            </a:r>
            <a:endParaRPr lang="zh-CN" altLang="en-US" smtClean="0"/>
          </a:p>
        </p:txBody>
      </p:sp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924175"/>
            <a:ext cx="7416800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34060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E59760C-EACD-4676-8DC3-776CADC760D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Your first Java program </a:t>
            </a:r>
            <a:endParaRPr lang="zh-CN" altLang="en-US" smtClean="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Choose “file"</a:t>
            </a:r>
            <a:r>
              <a:rPr lang="en-US" altLang="zh-CN" smtClean="0">
                <a:sym typeface="Wingdings" pitchFamily="2" charset="2"/>
              </a:rPr>
              <a:t>"save as"</a:t>
            </a:r>
            <a:endParaRPr lang="zh-CN" altLang="en-US" smtClean="0">
              <a:sym typeface="Wingdings" pitchFamily="2" charset="2"/>
            </a:endParaRPr>
          </a:p>
          <a:p>
            <a:pPr eaLnBrk="1" hangingPunct="1"/>
            <a:r>
              <a:rPr lang="en-US" altLang="zh-CN" smtClean="0">
                <a:sym typeface="Wingdings" pitchFamily="2" charset="2"/>
              </a:rPr>
              <a:t>Rename the file as </a:t>
            </a:r>
            <a:r>
              <a:rPr lang="en-US" altLang="zh-CN" b="1" smtClean="0">
                <a:sym typeface="Wingdings" pitchFamily="2" charset="2"/>
              </a:rPr>
              <a:t>HelloWorld.java</a:t>
            </a:r>
            <a:endParaRPr lang="zh-CN" altLang="en-US" smtClean="0"/>
          </a:p>
        </p:txBody>
      </p:sp>
      <p:pic>
        <p:nvPicPr>
          <p:cNvPr id="7168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573463"/>
            <a:ext cx="6191250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Rectangle 5"/>
          <p:cNvSpPr>
            <a:spLocks noChangeArrowheads="1"/>
          </p:cNvSpPr>
          <p:nvPr/>
        </p:nvSpPr>
        <p:spPr bwMode="auto">
          <a:xfrm>
            <a:off x="1908175" y="3429000"/>
            <a:ext cx="1871663" cy="647700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3155950" y="4581525"/>
            <a:ext cx="1439863" cy="360363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3507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49724884-D15A-4362-869F-93FA41C25701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Your first Java program </a:t>
            </a:r>
            <a:endParaRPr lang="zh-CN" altLang="en-US" smtClean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file name must be the class name followed by the “.java” file-name extension.</a:t>
            </a:r>
          </a:p>
        </p:txBody>
      </p:sp>
      <p:pic>
        <p:nvPicPr>
          <p:cNvPr id="7270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63" y="3500438"/>
            <a:ext cx="42672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09063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1949990-45DF-470C-8587-E10378F16E1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781300"/>
            <a:ext cx="614362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42791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F0F0F3DE-2F34-467C-919D-205DBE29EE34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57400"/>
            <a:ext cx="84963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Compile Java Source code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 </a:t>
            </a:r>
            <a:endParaRPr lang="zh-CN" altLang="en-US" dirty="0" smtClean="0"/>
          </a:p>
          <a:p>
            <a:pPr lvl="1" eaLnBrk="1" hangingPunct="1">
              <a:defRPr/>
            </a:pPr>
            <a:endParaRPr lang="zh-CN" altLang="en-US" dirty="0" smtClean="0"/>
          </a:p>
          <a:p>
            <a:pPr lvl="1" eaLnBrk="1" hangingPunct="1">
              <a:defRPr/>
            </a:pPr>
            <a:endParaRPr lang="en-US" altLang="zh-CN" sz="3200" dirty="0" smtClean="0"/>
          </a:p>
          <a:p>
            <a:pPr lvl="1" eaLnBrk="1" hangingPunct="1">
              <a:defRPr/>
            </a:pPr>
            <a:r>
              <a:rPr lang="zh-CN" altLang="en-US" sz="3200" dirty="0" smtClean="0"/>
              <a:t>打开命令行窗口，进入程序所在目录</a:t>
            </a:r>
          </a:p>
          <a:p>
            <a:pPr lvl="1" eaLnBrk="1" hangingPunct="1">
              <a:defRPr/>
            </a:pPr>
            <a:r>
              <a:rPr lang="zh-CN" altLang="en-US" sz="3200" dirty="0" smtClean="0"/>
              <a:t>输入命令进行编译</a:t>
            </a:r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2395538" y="2886075"/>
            <a:ext cx="4552950" cy="538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sz="3200"/>
              <a:t>javac </a:t>
            </a:r>
            <a:r>
              <a:rPr lang="en-US" altLang="zh-CN" sz="3200">
                <a:solidFill>
                  <a:schemeClr val="tx1"/>
                </a:solidFill>
              </a:rPr>
              <a:t>class_name.java</a:t>
            </a:r>
            <a:endParaRPr lang="zh-CN" altLang="en-US" sz="3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4753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6EBF08B-96C0-49CC-A4FE-184E06A4182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输入</a:t>
            </a:r>
            <a:r>
              <a:rPr lang="en-US" altLang="zh-CN" smtClean="0"/>
              <a:t>javac</a:t>
            </a:r>
            <a:r>
              <a:rPr lang="zh-CN" altLang="en-US" smtClean="0"/>
              <a:t>命令，将源文件进行编译</a:t>
            </a:r>
          </a:p>
        </p:txBody>
      </p:sp>
      <p:pic>
        <p:nvPicPr>
          <p:cNvPr id="7578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2968625"/>
            <a:ext cx="3744912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288" y="2968625"/>
            <a:ext cx="41243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Rectangle 6"/>
          <p:cNvSpPr>
            <a:spLocks noChangeArrowheads="1"/>
          </p:cNvSpPr>
          <p:nvPr/>
        </p:nvSpPr>
        <p:spPr bwMode="auto">
          <a:xfrm>
            <a:off x="881063" y="4121150"/>
            <a:ext cx="1511300" cy="360363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auto">
          <a:xfrm>
            <a:off x="6784975" y="4552950"/>
            <a:ext cx="1728788" cy="649288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15340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16F88E8-F207-4F1D-8731-9C2A265D134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</a:t>
            </a:r>
            <a:r>
              <a:rPr lang="zh-CN" altLang="en-US" smtClean="0"/>
              <a:t>解释程序</a:t>
            </a:r>
          </a:p>
          <a:p>
            <a:pPr lvl="1" eaLnBrk="1" hangingPunct="1"/>
            <a:r>
              <a:rPr lang="en-US" altLang="zh-CN" sz="3200" smtClean="0"/>
              <a:t>java</a:t>
            </a:r>
            <a:r>
              <a:rPr lang="zh-CN" altLang="en-US" sz="3200" smtClean="0"/>
              <a:t>解释</a:t>
            </a:r>
            <a:r>
              <a:rPr lang="en-US" altLang="zh-CN" sz="3200" smtClean="0"/>
              <a:t>javac</a:t>
            </a:r>
            <a:r>
              <a:rPr lang="zh-CN" altLang="en-US" sz="3200" smtClean="0"/>
              <a:t>所编译的字节代码</a:t>
            </a:r>
          </a:p>
          <a:p>
            <a:pPr lvl="1" eaLnBrk="1" hangingPunct="1"/>
            <a:endParaRPr lang="zh-CN" altLang="en-US" sz="3200" smtClean="0"/>
          </a:p>
          <a:p>
            <a:pPr lvl="1" eaLnBrk="1" hangingPunct="1"/>
            <a:endParaRPr lang="zh-CN" altLang="en-US" sz="3200" smtClean="0"/>
          </a:p>
          <a:p>
            <a:pPr eaLnBrk="1" hangingPunct="1"/>
            <a:r>
              <a:rPr lang="zh-CN" altLang="en-US" smtClean="0"/>
              <a:t>运行</a:t>
            </a:r>
            <a:r>
              <a:rPr lang="en-US" altLang="zh-CN" smtClean="0"/>
              <a:t>(run)</a:t>
            </a:r>
          </a:p>
          <a:p>
            <a:pPr lvl="1" eaLnBrk="1" hangingPunct="1"/>
            <a:r>
              <a:rPr lang="zh-CN" altLang="en-US" sz="3200" smtClean="0"/>
              <a:t>输入命令运行程序</a:t>
            </a:r>
          </a:p>
          <a:p>
            <a:pPr lvl="1" eaLnBrk="1" hangingPunct="1"/>
            <a:r>
              <a:rPr lang="zh-CN" altLang="en-US" sz="3200" smtClean="0"/>
              <a:t>观察程序运行结果</a:t>
            </a:r>
          </a:p>
        </p:txBody>
      </p:sp>
      <p:sp>
        <p:nvSpPr>
          <p:cNvPr id="76805" name="Rectangle 4"/>
          <p:cNvSpPr>
            <a:spLocks noChangeArrowheads="1"/>
          </p:cNvSpPr>
          <p:nvPr/>
        </p:nvSpPr>
        <p:spPr bwMode="auto">
          <a:xfrm>
            <a:off x="1166813" y="3357563"/>
            <a:ext cx="6921500" cy="59531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/>
              <a:t>java</a:t>
            </a:r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zh-CN" altLang="en-US">
                <a:solidFill>
                  <a:schemeClr val="tx1"/>
                </a:solidFill>
              </a:rPr>
              <a:t>类文件名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不带扩展名</a:t>
            </a:r>
            <a:r>
              <a:rPr lang="en-US" altLang="zh-CN">
                <a:solidFill>
                  <a:schemeClr val="tx1"/>
                </a:solidFill>
              </a:rPr>
              <a:t>)  </a:t>
            </a:r>
            <a:r>
              <a:rPr lang="zh-CN" altLang="en-US">
                <a:solidFill>
                  <a:schemeClr val="folHlink"/>
                </a:solidFill>
              </a:rPr>
              <a:t>参数</a:t>
            </a:r>
          </a:p>
        </p:txBody>
      </p:sp>
    </p:spTree>
    <p:extLst>
      <p:ext uri="{BB962C8B-B14F-4D97-AF65-F5344CB8AC3E}">
        <p14:creationId xmlns="" xmlns:p14="http://schemas.microsoft.com/office/powerpoint/2010/main" val="309802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9B3516C9-2531-40A7-916A-380991B06A5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输入</a:t>
            </a:r>
            <a:r>
              <a:rPr lang="en-US" altLang="zh-CN" smtClean="0"/>
              <a:t>java</a:t>
            </a:r>
            <a:r>
              <a:rPr lang="zh-CN" altLang="en-US" smtClean="0"/>
              <a:t>命令，执行程序</a:t>
            </a:r>
          </a:p>
        </p:txBody>
      </p:sp>
      <p:pic>
        <p:nvPicPr>
          <p:cNvPr id="7782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284538"/>
            <a:ext cx="52292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6709" name="Rectangle 5"/>
          <p:cNvSpPr>
            <a:spLocks noChangeArrowheads="1"/>
          </p:cNvSpPr>
          <p:nvPr/>
        </p:nvSpPr>
        <p:spPr bwMode="auto">
          <a:xfrm>
            <a:off x="2484438" y="4292600"/>
            <a:ext cx="1511300" cy="288925"/>
          </a:xfrm>
          <a:prstGeom prst="rect">
            <a:avLst/>
          </a:prstGeom>
          <a:noFill/>
          <a:ln w="5715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15139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0533550-1526-4EE8-B43A-CFB512E94E6C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操作很复杂</a:t>
            </a:r>
          </a:p>
          <a:p>
            <a:pPr lvl="1" eaLnBrk="1" hangingPunct="1"/>
            <a:r>
              <a:rPr lang="zh-CN" altLang="en-US" smtClean="0"/>
              <a:t>编写源代码</a:t>
            </a:r>
          </a:p>
          <a:p>
            <a:pPr lvl="1" eaLnBrk="1" hangingPunct="1"/>
            <a:endParaRPr lang="zh-CN" altLang="en-US" smtClean="0"/>
          </a:p>
          <a:p>
            <a:pPr lvl="1" eaLnBrk="1" hangingPunct="1"/>
            <a:r>
              <a:rPr lang="zh-CN" altLang="en-US" smtClean="0"/>
              <a:t>编译源代码 </a:t>
            </a:r>
            <a:r>
              <a:rPr lang="en-US" altLang="zh-CN" smtClean="0">
                <a:sym typeface="Wingdings" pitchFamily="2" charset="2"/>
              </a:rPr>
              <a:t></a:t>
            </a:r>
            <a:r>
              <a:rPr lang="en-US" altLang="zh-CN" smtClean="0"/>
              <a:t>javac</a:t>
            </a:r>
            <a:r>
              <a:rPr lang="zh-CN" altLang="en-US" smtClean="0"/>
              <a:t>命令</a:t>
            </a:r>
          </a:p>
          <a:p>
            <a:pPr lvl="1" eaLnBrk="1" hangingPunct="1"/>
            <a:endParaRPr lang="zh-CN" altLang="en-US" smtClean="0"/>
          </a:p>
          <a:p>
            <a:pPr lvl="1" eaLnBrk="1" hangingPunct="1"/>
            <a:r>
              <a:rPr lang="zh-CN" altLang="en-US" smtClean="0"/>
              <a:t>运行程序</a:t>
            </a:r>
            <a:r>
              <a:rPr lang="en-US" altLang="zh-CN" smtClean="0">
                <a:sym typeface="Wingdings" pitchFamily="2" charset="2"/>
              </a:rPr>
              <a:t></a:t>
            </a:r>
            <a:r>
              <a:rPr lang="en-US" altLang="zh-CN" smtClean="0"/>
              <a:t>java</a:t>
            </a:r>
            <a:r>
              <a:rPr lang="zh-CN" altLang="en-US" smtClean="0"/>
              <a:t>命令</a:t>
            </a:r>
          </a:p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286086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A4706719-0BE4-4AF6-B6BA-76C6B707CEC6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Analysis the HelloWorld Program</a:t>
            </a:r>
            <a:endParaRPr lang="zh-CN" altLang="en-US" smtClean="0"/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System.out.println("Hello world!");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195664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7B74017-7A30-4391-9246-BFE102C94AE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Declaring Java Technology Classes</a:t>
            </a:r>
            <a:endParaRPr lang="zh-CN" altLang="en-US" smtClean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hlink"/>
                </a:solidFill>
              </a:rPr>
              <a:t>public class </a:t>
            </a:r>
            <a:r>
              <a:rPr lang="en-US" altLang="zh-CN" b="1" smtClean="0">
                <a:solidFill>
                  <a:schemeClr val="folHlink"/>
                </a:solidFill>
              </a:rPr>
              <a:t>HelloWorld</a:t>
            </a:r>
            <a:r>
              <a:rPr lang="en-US" altLang="zh-CN" b="1" smtClean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System.out.println("Hello world!");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56336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8DE7ACCB-1379-44B1-ADEF-088A07D0C10E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Declaring Java Technology Classes</a:t>
            </a:r>
            <a:endParaRPr lang="zh-CN" altLang="en-US" smtClean="0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zh-CN" sz="2800" smtClean="0"/>
              <a:t>Java is </a:t>
            </a:r>
            <a:r>
              <a:rPr lang="en-GB" altLang="zh-CN" sz="2800" b="1" smtClean="0"/>
              <a:t>object-oriented</a:t>
            </a:r>
          </a:p>
          <a:p>
            <a:pPr lvl="1" eaLnBrk="1" hangingPunct="1"/>
            <a:r>
              <a:rPr lang="en-US" altLang="zh-CN" smtClean="0"/>
              <a:t>Everything is object.</a:t>
            </a:r>
          </a:p>
          <a:p>
            <a:pPr lvl="1" eaLnBrk="1" hangingPunct="1"/>
            <a:r>
              <a:rPr lang="en-GB" altLang="zh-CN" smtClean="0"/>
              <a:t>Objects are the things in a program</a:t>
            </a:r>
          </a:p>
          <a:p>
            <a:pPr lvl="1" eaLnBrk="1" hangingPunct="1"/>
            <a:r>
              <a:rPr lang="en-GB" altLang="zh-CN" smtClean="0"/>
              <a:t>Classes are BLUEPRINTS for designing these things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Declaring Java Technology Classes</a:t>
            </a:r>
          </a:p>
          <a:p>
            <a:pPr lvl="1" eaLnBrk="1" hangingPunct="1"/>
            <a:r>
              <a:rPr lang="en-US" altLang="zh-CN" smtClean="0"/>
              <a:t>Java</a:t>
            </a:r>
            <a:r>
              <a:rPr lang="zh-CN" altLang="en-US" smtClean="0"/>
              <a:t>的程序最少必须包含一个您所声明的类</a:t>
            </a:r>
          </a:p>
          <a:p>
            <a:pPr eaLnBrk="1" hangingPunct="1"/>
            <a:endParaRPr lang="zh-CN" altLang="en-US" smtClean="0"/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auto">
          <a:xfrm>
            <a:off x="2771775" y="5805488"/>
            <a:ext cx="5329238" cy="5873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/>
              <a:t>public</a:t>
            </a:r>
            <a:r>
              <a:rPr lang="en-US" altLang="zh-CN" sz="3200">
                <a:solidFill>
                  <a:schemeClr val="tx1"/>
                </a:solidFill>
              </a:rPr>
              <a:t> </a:t>
            </a:r>
            <a:r>
              <a:rPr lang="en-US" altLang="zh-CN" sz="3200">
                <a:solidFill>
                  <a:schemeClr val="folHlink"/>
                </a:solidFill>
              </a:rPr>
              <a:t>class</a:t>
            </a:r>
            <a:r>
              <a:rPr lang="en-US" altLang="zh-CN" sz="3200">
                <a:solidFill>
                  <a:schemeClr val="tx1"/>
                </a:solidFill>
              </a:rPr>
              <a:t> &lt;class name&gt;</a:t>
            </a:r>
          </a:p>
        </p:txBody>
      </p:sp>
    </p:spTree>
    <p:extLst>
      <p:ext uri="{BB962C8B-B14F-4D97-AF65-F5344CB8AC3E}">
        <p14:creationId xmlns="" xmlns:p14="http://schemas.microsoft.com/office/powerpoint/2010/main" val="297378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D9DAD54-0A0F-459C-9251-24475A4243B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Declaring Java Technology Classes</a:t>
            </a:r>
            <a:endParaRPr lang="zh-CN" altLang="en-US" smtClean="0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78025"/>
            <a:ext cx="7812088" cy="41148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a public </a:t>
            </a:r>
            <a:r>
              <a:rPr lang="en-US" altLang="zh-CN" dirty="0"/>
              <a:t>C</a:t>
            </a:r>
            <a:r>
              <a:rPr lang="en-US" altLang="zh-CN" dirty="0" smtClean="0"/>
              <a:t>lass</a:t>
            </a:r>
            <a:r>
              <a:rPr lang="en-US" altLang="zh-CN" b="1" dirty="0" smtClean="0"/>
              <a:t> </a:t>
            </a:r>
            <a:r>
              <a:rPr lang="en-US" altLang="zh-CN" dirty="0"/>
              <a:t>Definition</a:t>
            </a:r>
          </a:p>
          <a:p>
            <a:pPr eaLnBrk="1" hangingPunct="1"/>
            <a:endParaRPr lang="zh-CN" altLang="en-US" dirty="0" smtClean="0"/>
          </a:p>
          <a:p>
            <a:pPr eaLnBrk="1" hangingPunct="1">
              <a:buFont typeface="Wingdings" pitchFamily="2" charset="2"/>
              <a:buNone/>
            </a:pP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类名称必须与源文件名称一致</a:t>
            </a:r>
          </a:p>
          <a:p>
            <a:pPr eaLnBrk="1" hangingPunct="1"/>
            <a:endParaRPr lang="zh-CN" altLang="en-US" dirty="0" smtClean="0"/>
          </a:p>
        </p:txBody>
      </p:sp>
      <p:sp>
        <p:nvSpPr>
          <p:cNvPr id="84997" name="Rectangle 4"/>
          <p:cNvSpPr>
            <a:spLocks noChangeArrowheads="1"/>
          </p:cNvSpPr>
          <p:nvPr/>
        </p:nvSpPr>
        <p:spPr bwMode="auto">
          <a:xfrm>
            <a:off x="2555875" y="2840038"/>
            <a:ext cx="3709968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/>
              <a:t>public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folHlink"/>
                </a:solidFill>
              </a:rPr>
              <a:t>class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 smtClean="0">
                <a:solidFill>
                  <a:schemeClr val="tx1"/>
                </a:solidFill>
              </a:rPr>
              <a:t>name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1403350" y="4498975"/>
            <a:ext cx="4519613" cy="18097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public</a:t>
            </a:r>
            <a:r>
              <a:rPr lang="en-US" altLang="zh-CN" sz="2800">
                <a:solidFill>
                  <a:schemeClr val="tx1"/>
                </a:solidFill>
              </a:rPr>
              <a:t> class </a:t>
            </a:r>
            <a:r>
              <a:rPr lang="en-US" altLang="zh-CN" sz="2800"/>
              <a:t>HelloWorld</a:t>
            </a:r>
            <a:r>
              <a:rPr lang="en-US" altLang="zh-CN" sz="2800">
                <a:solidFill>
                  <a:schemeClr val="tx1"/>
                </a:solidFill>
              </a:rPr>
              <a:t>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tx1"/>
                </a:solidFill>
              </a:rPr>
              <a:t>	……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6138863" y="5360988"/>
            <a:ext cx="2849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宋体" pitchFamily="2" charset="-122"/>
              </a:rPr>
              <a:t>HelloWorld.java</a:t>
            </a:r>
          </a:p>
        </p:txBody>
      </p:sp>
      <p:grpSp>
        <p:nvGrpSpPr>
          <p:cNvPr id="85000" name="Group 8"/>
          <p:cNvGrpSpPr>
            <a:grpSpLocks/>
          </p:cNvGrpSpPr>
          <p:nvPr/>
        </p:nvGrpSpPr>
        <p:grpSpPr bwMode="auto">
          <a:xfrm>
            <a:off x="4787900" y="5003800"/>
            <a:ext cx="1295400" cy="647700"/>
            <a:chOff x="0" y="0"/>
            <a:chExt cx="816" cy="408"/>
          </a:xfrm>
        </p:grpSpPr>
        <p:sp>
          <p:nvSpPr>
            <p:cNvPr id="85001" name="Line 9"/>
            <p:cNvSpPr>
              <a:spLocks noChangeShapeType="1"/>
            </p:cNvSpPr>
            <p:nvPr/>
          </p:nvSpPr>
          <p:spPr bwMode="auto">
            <a:xfrm>
              <a:off x="0" y="0"/>
              <a:ext cx="0" cy="40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02" name="Line 10"/>
            <p:cNvSpPr>
              <a:spLocks noChangeShapeType="1"/>
            </p:cNvSpPr>
            <p:nvPr/>
          </p:nvSpPr>
          <p:spPr bwMode="auto">
            <a:xfrm>
              <a:off x="0" y="408"/>
              <a:ext cx="81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379407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98362771-5C4A-4A34-8985-EC5CE03B9DA0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Code block</a:t>
            </a:r>
            <a:endParaRPr lang="zh-CN" altLang="en-US" dirty="0" smtClean="0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public class HelloWorld</a:t>
            </a:r>
            <a:r>
              <a:rPr lang="en-US" altLang="zh-CN" b="1" dirty="0" smtClean="0">
                <a:solidFill>
                  <a:schemeClr val="hlink"/>
                </a:solidFill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	public static void main(String[ ] </a:t>
            </a:r>
            <a:r>
              <a:rPr lang="en-US" altLang="zh-CN" b="1" dirty="0" err="1" smtClean="0"/>
              <a:t>args</a:t>
            </a:r>
            <a:r>
              <a:rPr lang="en-US" altLang="zh-CN" b="1" dirty="0" smtClean="0"/>
              <a:t>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		</a:t>
            </a:r>
            <a:r>
              <a:rPr lang="en-US" altLang="zh-CN" b="1" dirty="0" err="1" smtClean="0"/>
              <a:t>System.out.println</a:t>
            </a:r>
            <a:r>
              <a:rPr lang="en-US" altLang="zh-CN" b="1" dirty="0" smtClean="0"/>
              <a:t>("Hello world!");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 smtClean="0">
                <a:solidFill>
                  <a:schemeClr val="hlink"/>
                </a:solidFill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281712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629F464D-FDFD-474A-844F-2FF0F74D8E34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 main Method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</a:t>
            </a:r>
            <a:r>
              <a:rPr lang="en-US" altLang="zh-CN" b="1" smtClean="0">
                <a:solidFill>
                  <a:schemeClr val="hlink"/>
                </a:solidFill>
              </a:rPr>
              <a:t>public static void main(String[ ] args)</a:t>
            </a:r>
            <a:r>
              <a:rPr lang="en-US" altLang="zh-CN" b="1" smtClean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System.out.println("Hello world!");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235578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FC5E449-76A5-442E-BF25-0CBAD92349C5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The main Method</a:t>
            </a:r>
            <a:endParaRPr lang="zh-CN" altLang="en-US" dirty="0" smtClean="0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The main Method</a:t>
            </a:r>
            <a:endParaRPr lang="zh-CN" altLang="en-US" dirty="0" smtClean="0"/>
          </a:p>
          <a:p>
            <a:pPr lvl="1" eaLnBrk="1" hangingPunct="1"/>
            <a:endParaRPr lang="en-US" altLang="zh-CN" sz="1000" dirty="0" smtClean="0"/>
          </a:p>
          <a:p>
            <a:pPr lvl="1" eaLnBrk="1" hangingPunct="1"/>
            <a:endParaRPr lang="en-US" altLang="zh-CN" sz="1000" dirty="0"/>
          </a:p>
          <a:p>
            <a:pPr lvl="1" eaLnBrk="1" hangingPunct="1"/>
            <a:endParaRPr lang="en-US" altLang="zh-CN" sz="1000" dirty="0" smtClean="0"/>
          </a:p>
          <a:p>
            <a:pPr marL="457200" lvl="1" indent="0" eaLnBrk="1" hangingPunct="1">
              <a:buNone/>
            </a:pPr>
            <a:endParaRPr lang="zh-CN" altLang="en-US" sz="1000" dirty="0" smtClean="0"/>
          </a:p>
          <a:p>
            <a:pPr lvl="1" eaLnBrk="1" hangingPunct="1"/>
            <a:r>
              <a:rPr lang="en-US" altLang="zh-CN" dirty="0"/>
              <a:t> it's the entry point for your application and will subsequently invoke all the other methods required by your </a:t>
            </a:r>
            <a:r>
              <a:rPr lang="en-US" altLang="zh-CN" dirty="0" smtClean="0"/>
              <a:t>program</a:t>
            </a:r>
          </a:p>
        </p:txBody>
      </p:sp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1266824" y="2401093"/>
            <a:ext cx="7358063" cy="5889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ea typeface="宋体" pitchFamily="2" charset="-122"/>
              </a:rPr>
              <a:t>public static void main(String[ ] </a:t>
            </a:r>
            <a:r>
              <a:rPr lang="en-US" altLang="zh-CN" sz="3200" dirty="0" err="1">
                <a:solidFill>
                  <a:schemeClr val="tx1"/>
                </a:solidFill>
                <a:ea typeface="宋体" pitchFamily="2" charset="-122"/>
              </a:rPr>
              <a:t>args</a:t>
            </a:r>
            <a:r>
              <a:rPr lang="en-US" altLang="zh-CN" sz="3200" dirty="0">
                <a:solidFill>
                  <a:schemeClr val="tx1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90118" name="Rectangle 5"/>
          <p:cNvSpPr>
            <a:spLocks noChangeArrowheads="1"/>
          </p:cNvSpPr>
          <p:nvPr/>
        </p:nvSpPr>
        <p:spPr bwMode="auto">
          <a:xfrm>
            <a:off x="1119951" y="4941168"/>
            <a:ext cx="7516813" cy="11731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public static void main(String[ ] args)</a:t>
            </a:r>
            <a:r>
              <a:rPr lang="en-US" altLang="zh-CN" sz="3200">
                <a:ea typeface="宋体" pitchFamily="2" charset="-122"/>
              </a:rPr>
              <a:t>{</a:t>
            </a:r>
          </a:p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07933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C24E3B5-C60E-4329-AD2B-21B0329578DC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Statements</a:t>
            </a:r>
            <a:endParaRPr lang="zh-CN" altLang="en-US" dirty="0" smtClean="0"/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</a:t>
            </a:r>
            <a:r>
              <a:rPr lang="en-US" altLang="zh-CN" b="1" smtClean="0">
                <a:solidFill>
                  <a:schemeClr val="hlink"/>
                </a:solidFill>
              </a:rPr>
              <a:t>System.out.println(</a:t>
            </a:r>
            <a:r>
              <a:rPr lang="en-US" altLang="zh-CN" b="1" smtClean="0">
                <a:solidFill>
                  <a:schemeClr val="folHlink"/>
                </a:solidFill>
              </a:rPr>
              <a:t>"Hello world!"</a:t>
            </a:r>
            <a:r>
              <a:rPr lang="en-US" altLang="zh-CN" b="1" smtClean="0">
                <a:solidFill>
                  <a:schemeClr val="hlink"/>
                </a:solidFill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hlink"/>
                </a:solidFill>
              </a:rPr>
              <a:t>	</a:t>
            </a:r>
            <a:r>
              <a:rPr lang="en-US" altLang="zh-CN" b="1" smtClean="0"/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417493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701433A5-2CA8-41D5-9E32-6D35FB31496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Statements</a:t>
            </a:r>
            <a:endParaRPr lang="zh-CN" altLang="en-US" dirty="0" smtClean="0"/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standard output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92165" name="Rectangle 4"/>
          <p:cNvSpPr>
            <a:spLocks noChangeArrowheads="1"/>
          </p:cNvSpPr>
          <p:nvPr/>
        </p:nvSpPr>
        <p:spPr bwMode="auto">
          <a:xfrm>
            <a:off x="2771775" y="3068638"/>
            <a:ext cx="4157663" cy="5889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System.out.println();</a:t>
            </a:r>
            <a:endParaRPr lang="zh-CN" altLang="en-US" sz="3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2166" name="Rectangle 5"/>
          <p:cNvSpPr>
            <a:spLocks noChangeArrowheads="1"/>
          </p:cNvSpPr>
          <p:nvPr/>
        </p:nvSpPr>
        <p:spPr bwMode="auto">
          <a:xfrm>
            <a:off x="2916238" y="4076700"/>
            <a:ext cx="3797300" cy="5889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System.out.print();</a:t>
            </a:r>
          </a:p>
        </p:txBody>
      </p:sp>
    </p:spTree>
    <p:extLst>
      <p:ext uri="{BB962C8B-B14F-4D97-AF65-F5344CB8AC3E}">
        <p14:creationId xmlns="" xmlns:p14="http://schemas.microsoft.com/office/powerpoint/2010/main" val="21130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A6D5C13-AA0D-4A6B-AB77-CF888A91967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String</a:t>
            </a:r>
            <a:endParaRPr lang="zh-CN" altLang="en-US" dirty="0" smtClean="0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System.out.println(</a:t>
            </a:r>
            <a:r>
              <a:rPr lang="en-US" altLang="zh-CN" b="1" smtClean="0">
                <a:solidFill>
                  <a:schemeClr val="hlink"/>
                </a:solidFill>
              </a:rPr>
              <a:t>"Hello world!"</a:t>
            </a:r>
            <a:r>
              <a:rPr lang="en-US" altLang="zh-CN" b="1" smtClean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6103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C65771E-1297-462F-8381-A458450942EB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String </a:t>
            </a:r>
            <a:endParaRPr lang="zh-CN" altLang="en-US" dirty="0" smtClean="0"/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496300" cy="4232275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</a:t>
            </a:r>
            <a:r>
              <a:rPr lang="en-US" altLang="zh-CN" b="1" smtClean="0">
                <a:solidFill>
                  <a:schemeClr val="hlink"/>
                </a:solidFill>
              </a:rPr>
              <a:t>System.out.println(</a:t>
            </a:r>
            <a:r>
              <a:rPr lang="en-US" altLang="zh-CN" b="1" smtClean="0">
                <a:solidFill>
                  <a:schemeClr val="folHlink"/>
                </a:solidFill>
              </a:rPr>
              <a:t>"Hello world!"</a:t>
            </a:r>
            <a:r>
              <a:rPr lang="en-US" altLang="zh-CN" b="1" smtClean="0">
                <a:solidFill>
                  <a:schemeClr val="hlink"/>
                </a:solidFill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hlink"/>
                </a:solidFill>
              </a:rPr>
              <a:t>		</a:t>
            </a:r>
            <a:r>
              <a:rPr lang="en-US" altLang="zh-CN" b="1" smtClean="0"/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  <p:sp>
        <p:nvSpPr>
          <p:cNvPr id="489476" name="Rectangle 4"/>
          <p:cNvSpPr>
            <a:spLocks noChangeArrowheads="1"/>
          </p:cNvSpPr>
          <p:nvPr/>
        </p:nvSpPr>
        <p:spPr bwMode="auto">
          <a:xfrm>
            <a:off x="1085850" y="4405313"/>
            <a:ext cx="7589838" cy="5794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3200"/>
              <a:t>System.out.println("Hello"+"  world!");</a:t>
            </a:r>
          </a:p>
        </p:txBody>
      </p:sp>
    </p:spTree>
    <p:extLst>
      <p:ext uri="{BB962C8B-B14F-4D97-AF65-F5344CB8AC3E}">
        <p14:creationId xmlns="" xmlns:p14="http://schemas.microsoft.com/office/powerpoint/2010/main" val="352628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6F5EBF30-E186-42AC-A4FF-543A78615FE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Source Code Comments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005013"/>
            <a:ext cx="8675688" cy="4160837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hlink"/>
                </a:solidFill>
              </a:rPr>
              <a:t>//HelloWorld.java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hlink"/>
                </a:solidFill>
              </a:rPr>
              <a:t>//This is a demo for a simple java program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public class HelloWorld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public static void main(String[ ] args){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	System.out.println("Hello world!");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207286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8CD26BC9-DAF0-42E2-8924-FFA4B75CE680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statement</a:t>
            </a:r>
            <a:endParaRPr lang="zh-CN" altLang="en-US" dirty="0" smtClean="0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statement</a:t>
            </a:r>
          </a:p>
          <a:p>
            <a:pPr lvl="1" eaLnBrk="1" hangingPunct="1"/>
            <a:r>
              <a:rPr lang="zh-CN" altLang="en-US" dirty="0" smtClean="0"/>
              <a:t>以分号</a:t>
            </a:r>
            <a:r>
              <a:rPr lang="en-US" altLang="zh-CN" dirty="0" smtClean="0"/>
              <a:t>(;)</a:t>
            </a:r>
            <a:r>
              <a:rPr lang="zh-CN" altLang="en-US" dirty="0" smtClean="0"/>
              <a:t>结束的一行或多行代码</a:t>
            </a:r>
          </a:p>
          <a:p>
            <a:pPr lvl="1" eaLnBrk="1" hangingPunct="1"/>
            <a:r>
              <a:rPr lang="zh-CN" altLang="en-US" dirty="0" smtClean="0"/>
              <a:t>一条语句可以实现一个特定功能</a:t>
            </a:r>
          </a:p>
        </p:txBody>
      </p:sp>
      <p:sp>
        <p:nvSpPr>
          <p:cNvPr id="99333" name="Rectangle 4"/>
          <p:cNvSpPr>
            <a:spLocks noChangeArrowheads="1"/>
          </p:cNvSpPr>
          <p:nvPr/>
        </p:nvSpPr>
        <p:spPr bwMode="auto">
          <a:xfrm>
            <a:off x="1547813" y="4149725"/>
            <a:ext cx="6932612" cy="5889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System.out.</a:t>
            </a:r>
            <a:r>
              <a:rPr lang="en-US" altLang="zh-CN" sz="3200">
                <a:solidFill>
                  <a:schemeClr val="folHlink"/>
                </a:solidFill>
                <a:ea typeface="宋体" pitchFamily="2" charset="-122"/>
              </a:rPr>
              <a:t>println</a:t>
            </a: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("Hello World!");</a:t>
            </a:r>
            <a:endParaRPr lang="zh-CN" altLang="en-US" sz="3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9334" name="Rectangle 5"/>
          <p:cNvSpPr>
            <a:spLocks noChangeArrowheads="1"/>
          </p:cNvSpPr>
          <p:nvPr/>
        </p:nvSpPr>
        <p:spPr bwMode="auto">
          <a:xfrm>
            <a:off x="1547813" y="5167313"/>
            <a:ext cx="7045325" cy="5889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System.out.</a:t>
            </a:r>
            <a:r>
              <a:rPr lang="en-US" altLang="zh-CN" sz="3200">
                <a:solidFill>
                  <a:schemeClr val="folHlink"/>
                </a:solidFill>
                <a:ea typeface="宋体" pitchFamily="2" charset="-122"/>
              </a:rPr>
              <a:t>print</a:t>
            </a:r>
            <a:r>
              <a:rPr lang="en-US" altLang="zh-CN" sz="320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3200">
                <a:solidFill>
                  <a:schemeClr val="tx1"/>
                </a:solidFill>
              </a:rPr>
              <a:t>("Hello World!</a:t>
            </a:r>
            <a:r>
              <a:rPr lang="en-US" altLang="zh-CN" sz="3200"/>
              <a:t>\n</a:t>
            </a:r>
            <a:r>
              <a:rPr lang="en-US" altLang="zh-CN" sz="3200">
                <a:solidFill>
                  <a:schemeClr val="tx1"/>
                </a:solidFill>
              </a:rPr>
              <a:t>");</a:t>
            </a:r>
          </a:p>
        </p:txBody>
      </p:sp>
    </p:spTree>
    <p:extLst>
      <p:ext uri="{BB962C8B-B14F-4D97-AF65-F5344CB8AC3E}">
        <p14:creationId xmlns="" xmlns:p14="http://schemas.microsoft.com/office/powerpoint/2010/main" val="306045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B0153BF-2738-4757-A7EA-8F374B80033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Eclipse</a:t>
            </a:r>
            <a:r>
              <a:rPr lang="zh-CN" altLang="en-US" dirty="0"/>
              <a:t> </a:t>
            </a:r>
            <a:r>
              <a:rPr lang="en-US" altLang="zh-CN" dirty="0" smtClean="0"/>
              <a:t>World</a:t>
            </a:r>
            <a:endParaRPr lang="zh-CN" altLang="en-US" dirty="0" smtClean="0"/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Eclipse</a:t>
            </a:r>
          </a:p>
          <a:p>
            <a:pPr lvl="1" eaLnBrk="1" hangingPunct="1"/>
            <a:r>
              <a:rPr lang="zh-CN" altLang="en-US" smtClean="0"/>
              <a:t>为高度集成的工具开发提供一个全功能的、具有商业品质的工业平台</a:t>
            </a:r>
          </a:p>
          <a:p>
            <a:pPr lvl="1" eaLnBrk="1" hangingPunct="1"/>
            <a:r>
              <a:rPr lang="en-US" altLang="zh-CN" smtClean="0"/>
              <a:t>Eclipse</a:t>
            </a:r>
            <a:r>
              <a:rPr lang="zh-CN" altLang="en-US" smtClean="0"/>
              <a:t>项目</a:t>
            </a:r>
          </a:p>
          <a:p>
            <a:pPr lvl="1" eaLnBrk="1" hangingPunct="1"/>
            <a:r>
              <a:rPr lang="en-US" altLang="zh-CN" smtClean="0"/>
              <a:t>Eclispe</a:t>
            </a:r>
            <a:r>
              <a:rPr lang="zh-CN" altLang="en-US" smtClean="0"/>
              <a:t>工具开发</a:t>
            </a:r>
          </a:p>
          <a:p>
            <a:pPr lvl="1" eaLnBrk="1" hangingPunct="1"/>
            <a:r>
              <a:rPr lang="en-US" altLang="zh-CN" smtClean="0"/>
              <a:t>Eclispe</a:t>
            </a:r>
            <a:r>
              <a:rPr lang="zh-CN" altLang="en-US" smtClean="0"/>
              <a:t>技术项目</a:t>
            </a:r>
          </a:p>
          <a:p>
            <a:pPr lvl="1" eaLnBrk="1" hangingPunct="1"/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290732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B68002A7-0E8A-4829-B91D-C01E7E4311E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Download and install Eclipse</a:t>
            </a:r>
            <a:endParaRPr lang="zh-CN" altLang="en-US" dirty="0" smtClean="0"/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Download Eclipse</a:t>
            </a:r>
          </a:p>
        </p:txBody>
      </p:sp>
      <p:sp>
        <p:nvSpPr>
          <p:cNvPr id="110597" name="Rectangle 4"/>
          <p:cNvSpPr>
            <a:spLocks noChangeArrowheads="1"/>
          </p:cNvSpPr>
          <p:nvPr/>
        </p:nvSpPr>
        <p:spPr bwMode="auto">
          <a:xfrm>
            <a:off x="1908175" y="2636838"/>
            <a:ext cx="6032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sz="2800"/>
              <a:t>http://www.eclipse.org/downloads/</a:t>
            </a:r>
            <a:endParaRPr lang="zh-CN" altLang="en-US" sz="2800"/>
          </a:p>
        </p:txBody>
      </p:sp>
      <p:pic>
        <p:nvPicPr>
          <p:cNvPr id="11059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213100"/>
            <a:ext cx="6769100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9" name="Rectangle 6"/>
          <p:cNvSpPr>
            <a:spLocks noChangeArrowheads="1"/>
          </p:cNvSpPr>
          <p:nvPr/>
        </p:nvSpPr>
        <p:spPr bwMode="auto">
          <a:xfrm>
            <a:off x="1187450" y="5084763"/>
            <a:ext cx="3313113" cy="431800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3515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726B8C8D-AFC9-43D0-B7E8-8DB919C3D3B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Download and install </a:t>
            </a:r>
            <a:r>
              <a:rPr lang="en-US" altLang="zh-CN" dirty="0" smtClean="0"/>
              <a:t>Eclipse</a:t>
            </a:r>
            <a:endParaRPr lang="zh-CN" altLang="en-US" dirty="0" smtClean="0"/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Download Compression package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Eclipse</a:t>
            </a:r>
            <a:r>
              <a:rPr lang="zh-CN" altLang="en-US" dirty="0" smtClean="0"/>
              <a:t>绿色的</a:t>
            </a:r>
          </a:p>
          <a:p>
            <a:pPr lvl="1" eaLnBrk="1" hangingPunct="1"/>
            <a:r>
              <a:rPr lang="zh-CN" altLang="en-US" dirty="0" smtClean="0"/>
              <a:t>无须执行安装程序，解压压缩文件就可以用</a:t>
            </a:r>
          </a:p>
          <a:p>
            <a:pPr lvl="1" eaLnBrk="1" hangingPunct="1"/>
            <a:r>
              <a:rPr lang="zh-CN" altLang="en-US" dirty="0" smtClean="0"/>
              <a:t>不过一定要先安装</a:t>
            </a:r>
            <a:r>
              <a:rPr lang="en-US" altLang="zh-CN" dirty="0" smtClean="0"/>
              <a:t>JDK</a:t>
            </a:r>
          </a:p>
        </p:txBody>
      </p:sp>
      <p:sp>
        <p:nvSpPr>
          <p:cNvPr id="111621" name="Rectangle 4"/>
          <p:cNvSpPr>
            <a:spLocks noChangeArrowheads="1"/>
          </p:cNvSpPr>
          <p:nvPr/>
        </p:nvSpPr>
        <p:spPr bwMode="auto">
          <a:xfrm>
            <a:off x="2051050" y="2636838"/>
            <a:ext cx="50879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1"/>
                </a:solidFill>
              </a:rPr>
              <a:t>eclipse-java-indigo-win32.zip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578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C4C1CDC-0ABE-46BE-A945-01D412DD8200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69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2195513"/>
            <a:ext cx="6429375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3132138" y="3929063"/>
            <a:ext cx="1655762" cy="7921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8086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E271F1B-981A-484F-87D9-9F689D65C29A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70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136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916113"/>
            <a:ext cx="43338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508500"/>
            <a:ext cx="58578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70" name="Rectangle 6"/>
          <p:cNvSpPr>
            <a:spLocks noChangeArrowheads="1"/>
          </p:cNvSpPr>
          <p:nvPr/>
        </p:nvSpPr>
        <p:spPr bwMode="auto">
          <a:xfrm>
            <a:off x="6227763" y="5300663"/>
            <a:ext cx="1439862" cy="5762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0814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D7BF0372-C3E6-431A-BC68-CDDF9CA5346D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Select a workspace</a:t>
            </a:r>
            <a:endParaRPr lang="zh-CN" altLang="en-US" dirty="0" smtClean="0"/>
          </a:p>
        </p:txBody>
      </p:sp>
      <p:pic>
        <p:nvPicPr>
          <p:cNvPr id="11469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213100"/>
            <a:ext cx="58578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6367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40D5CFC-AC5F-48C4-BEA5-AD12C0EFDC96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87550"/>
            <a:ext cx="732472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6227763" y="3211513"/>
            <a:ext cx="2305050" cy="1512887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0744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CC48E36-29F0-4627-9C14-8F97399A368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6113"/>
            <a:ext cx="6029325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06256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4CBB634-6B75-4B3C-9B9B-2FD5850258E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Create a new Project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单击</a:t>
            </a:r>
            <a:r>
              <a:rPr lang="en-US" altLang="zh-CN" dirty="0" smtClean="0"/>
              <a:t>"</a:t>
            </a:r>
            <a:r>
              <a:rPr lang="en-US" altLang="zh-CN" dirty="0" err="1" smtClean="0"/>
              <a:t>File"</a:t>
            </a:r>
            <a:r>
              <a:rPr lang="en-US" altLang="zh-CN" dirty="0" err="1" smtClean="0">
                <a:sym typeface="Wingdings" pitchFamily="2" charset="2"/>
              </a:rPr>
              <a:t>"New</a:t>
            </a:r>
            <a:r>
              <a:rPr lang="en-US" altLang="zh-CN" dirty="0" smtClean="0">
                <a:sym typeface="Wingdings" pitchFamily="2" charset="2"/>
              </a:rPr>
              <a:t>" "Project"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</p:txBody>
      </p:sp>
      <p:pic>
        <p:nvPicPr>
          <p:cNvPr id="11776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473450"/>
            <a:ext cx="6964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86939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F8B5F87-5CD2-45C8-8D13-D84867921D00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3240088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179388" y="3500438"/>
            <a:ext cx="1152525" cy="3603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1879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773238"/>
            <a:ext cx="500062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33120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E1741916-7F20-4049-AE71-AAF8962E900B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76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“Project name”</a:t>
            </a:r>
            <a:r>
              <a:rPr lang="zh-CN" altLang="en-US" smtClean="0"/>
              <a:t>中输入项目名称，单击</a:t>
            </a:r>
            <a:r>
              <a:rPr lang="en-US" altLang="zh-CN" smtClean="0"/>
              <a:t>Finish</a:t>
            </a:r>
          </a:p>
        </p:txBody>
      </p:sp>
      <p:pic>
        <p:nvPicPr>
          <p:cNvPr id="11981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708275"/>
            <a:ext cx="424815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4" name="Rectangle 5"/>
          <p:cNvSpPr>
            <a:spLocks noChangeArrowheads="1"/>
          </p:cNvSpPr>
          <p:nvPr/>
        </p:nvSpPr>
        <p:spPr bwMode="auto">
          <a:xfrm>
            <a:off x="2771775" y="3213100"/>
            <a:ext cx="1944688" cy="792163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24883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6162107-92F8-4BF4-A5A0-60A44C2A544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77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324725" cy="47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539750" y="2349500"/>
            <a:ext cx="2160588" cy="935038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3884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4D3D2FF-B418-45AD-8681-947188F222E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78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创建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源文件</a:t>
            </a:r>
          </a:p>
          <a:p>
            <a:pPr lvl="1" eaLnBrk="1" hangingPunct="1"/>
            <a:r>
              <a:rPr lang="zh-CN" altLang="en-US" dirty="0" smtClean="0"/>
              <a:t>类</a:t>
            </a:r>
          </a:p>
          <a:p>
            <a:pPr eaLnBrk="1" hangingPunct="1"/>
            <a:r>
              <a:rPr lang="zh-CN" altLang="en-US" dirty="0" smtClean="0"/>
              <a:t>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的左侧双击”</a:t>
            </a:r>
            <a:r>
              <a:rPr lang="en-US" altLang="zh-CN" dirty="0" smtClean="0"/>
              <a:t>ch01”</a:t>
            </a:r>
            <a:r>
              <a:rPr lang="zh-CN" altLang="en-US" dirty="0" smtClean="0"/>
              <a:t>项目，选择“</a:t>
            </a:r>
            <a:r>
              <a:rPr lang="en-US" altLang="zh-CN" dirty="0" err="1" smtClean="0"/>
              <a:t>src</a:t>
            </a:r>
            <a:r>
              <a:rPr lang="en-US" altLang="zh-CN" dirty="0" smtClean="0"/>
              <a:t>”</a:t>
            </a:r>
            <a:r>
              <a:rPr lang="zh-CN" altLang="en-US" dirty="0" smtClean="0"/>
              <a:t>选项，单击鼠标右键，在弹出的快捷菜单中选择“</a:t>
            </a:r>
            <a:r>
              <a:rPr lang="en-US" altLang="zh-CN" dirty="0" err="1" smtClean="0"/>
              <a:t>New”</a:t>
            </a:r>
            <a:r>
              <a:rPr lang="en-US" altLang="zh-CN" dirty="0" err="1" smtClean="0">
                <a:sym typeface="Wingdings" pitchFamily="2" charset="2"/>
              </a:rPr>
              <a:t>”Class</a:t>
            </a:r>
            <a:r>
              <a:rPr lang="en-US" altLang="zh-CN" dirty="0" smtClean="0">
                <a:sym typeface="Wingdings" pitchFamily="2" charset="2"/>
              </a:rPr>
              <a:t>”</a:t>
            </a:r>
            <a:r>
              <a:rPr lang="zh-CN" altLang="en-US" dirty="0" smtClean="0">
                <a:sym typeface="Wingdings" pitchFamily="2" charset="2"/>
              </a:rPr>
              <a:t>命令</a:t>
            </a: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96273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9BD48D57-8AAB-474F-9311-899C8F2C228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79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Run Eclipse</a:t>
            </a:r>
            <a:endParaRPr lang="zh-CN" altLang="en-US" dirty="0" smtClean="0"/>
          </a:p>
        </p:txBody>
      </p:sp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00213"/>
            <a:ext cx="761365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83310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700213"/>
            <a:ext cx="52959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07" name="Rectangle 6"/>
          <p:cNvSpPr>
            <a:spLocks noChangeArrowheads="1"/>
          </p:cNvSpPr>
          <p:nvPr/>
        </p:nvSpPr>
        <p:spPr bwMode="auto">
          <a:xfrm>
            <a:off x="1979613" y="3213100"/>
            <a:ext cx="4464050" cy="720725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908" name="Rectangle 7"/>
          <p:cNvSpPr>
            <a:spLocks noChangeArrowheads="1"/>
          </p:cNvSpPr>
          <p:nvPr/>
        </p:nvSpPr>
        <p:spPr bwMode="auto">
          <a:xfrm>
            <a:off x="3132138" y="4724400"/>
            <a:ext cx="2808287" cy="504825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909" name="Rectangle 8"/>
          <p:cNvSpPr>
            <a:spLocks noChangeArrowheads="1"/>
          </p:cNvSpPr>
          <p:nvPr/>
        </p:nvSpPr>
        <p:spPr bwMode="auto">
          <a:xfrm>
            <a:off x="2777331" y="915194"/>
            <a:ext cx="3709968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/>
              <a:t>public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folHlink"/>
                </a:solidFill>
              </a:rPr>
              <a:t>class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 smtClean="0">
                <a:solidFill>
                  <a:schemeClr val="tx1"/>
                </a:solidFill>
              </a:rPr>
              <a:t>name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9992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36E5FD5D-5B0B-4305-998E-D9D12F4D273E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81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 </a:t>
            </a:r>
            <a:r>
              <a:rPr lang="zh-CN" altLang="en-US" dirty="0" smtClean="0"/>
              <a:t> </a:t>
            </a:r>
            <a:r>
              <a:rPr lang="en-US" altLang="zh-CN" dirty="0" smtClean="0"/>
              <a:t>write HelloWorld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program</a:t>
            </a:r>
            <a:endParaRPr lang="zh-CN" altLang="en-US" dirty="0" smtClean="0"/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89138"/>
            <a:ext cx="84772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1721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599DE5B8-D84F-4945-9A0F-1D00DA42A3B8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 </a:t>
            </a:r>
            <a:r>
              <a:rPr lang="en-US" altLang="zh-CN" dirty="0"/>
              <a:t>write HelloWorld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endParaRPr lang="zh-CN" altLang="en-US" dirty="0" smtClean="0"/>
          </a:p>
        </p:txBody>
      </p:sp>
      <p:pic>
        <p:nvPicPr>
          <p:cNvPr id="12595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89138"/>
            <a:ext cx="84772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3419475" y="4437063"/>
            <a:ext cx="3240088" cy="360362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17978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176CC9D1-54FB-4F49-A70C-BECEDF9FA7B7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83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 Java</a:t>
            </a:r>
            <a:r>
              <a:rPr lang="zh-CN" altLang="en-US" smtClean="0"/>
              <a:t> </a:t>
            </a:r>
            <a:r>
              <a:rPr lang="en-US" altLang="zh-CN" smtClean="0"/>
              <a:t>source file</a:t>
            </a:r>
            <a:endParaRPr lang="zh-CN" altLang="en-US" smtClean="0"/>
          </a:p>
        </p:txBody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  <a:p>
            <a:pPr eaLnBrk="1" hangingPunct="1"/>
            <a:r>
              <a:rPr lang="en-US" altLang="zh-CN" smtClean="0"/>
              <a:t>Compile</a:t>
            </a:r>
          </a:p>
          <a:p>
            <a:pPr lvl="1" eaLnBrk="1" hangingPunct="1"/>
            <a:r>
              <a:rPr lang="en-US" altLang="zh-CN" smtClean="0"/>
              <a:t>Save the program</a:t>
            </a:r>
            <a:endParaRPr lang="zh-CN" altLang="en-US" smtClean="0"/>
          </a:p>
          <a:p>
            <a:pPr lvl="1" eaLnBrk="1" hangingPunct="1"/>
            <a:endParaRPr lang="zh-CN" altLang="en-US" smtClean="0"/>
          </a:p>
          <a:p>
            <a:pPr eaLnBrk="1" hangingPunct="1"/>
            <a:r>
              <a:rPr lang="en-US" altLang="zh-CN" smtClean="0"/>
              <a:t>Run 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Press the run button</a:t>
            </a:r>
          </a:p>
          <a:p>
            <a:pPr lvl="1" eaLnBrk="1" hangingPunct="1"/>
            <a:r>
              <a:rPr lang="en-US" altLang="zh-CN" smtClean="0"/>
              <a:t>ctrl+F11</a:t>
            </a:r>
            <a:endParaRPr lang="zh-CN" altLang="en-US" smtClean="0"/>
          </a:p>
        </p:txBody>
      </p:sp>
      <p:pic>
        <p:nvPicPr>
          <p:cNvPr id="12698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4598988"/>
            <a:ext cx="581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56613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CB61CEEA-DC11-4BC7-9E93-298911D08EF3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84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Compile and run</a:t>
            </a:r>
            <a:endParaRPr lang="zh-CN" altLang="en-US" smtClean="0"/>
          </a:p>
        </p:txBody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2800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76425"/>
            <a:ext cx="847725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6" name="Rectangle 5"/>
          <p:cNvSpPr>
            <a:spLocks noChangeArrowheads="1"/>
          </p:cNvSpPr>
          <p:nvPr/>
        </p:nvSpPr>
        <p:spPr bwMode="auto">
          <a:xfrm>
            <a:off x="3059113" y="2276475"/>
            <a:ext cx="649287" cy="504825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8007" name="Rectangle 6"/>
          <p:cNvSpPr>
            <a:spLocks noChangeArrowheads="1"/>
          </p:cNvSpPr>
          <p:nvPr/>
        </p:nvSpPr>
        <p:spPr bwMode="auto">
          <a:xfrm>
            <a:off x="5148263" y="5229225"/>
            <a:ext cx="1079500" cy="504825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8008" name="Rectangle 7"/>
          <p:cNvSpPr>
            <a:spLocks noChangeArrowheads="1"/>
          </p:cNvSpPr>
          <p:nvPr/>
        </p:nvSpPr>
        <p:spPr bwMode="auto">
          <a:xfrm>
            <a:off x="2843213" y="5805488"/>
            <a:ext cx="1152525" cy="504825"/>
          </a:xfrm>
          <a:prstGeom prst="rect">
            <a:avLst/>
          </a:prstGeom>
          <a:noFill/>
          <a:ln w="762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76821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D9C4BE2-D12C-4867-AC22-8A63990728E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85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aims of this session</a:t>
            </a:r>
            <a:endParaRPr lang="zh-CN" altLang="en-US" smtClean="0"/>
          </a:p>
        </p:txBody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Write and run your first programs!</a:t>
            </a:r>
          </a:p>
          <a:p>
            <a:pPr eaLnBrk="1" hangingPunct="1"/>
            <a:r>
              <a:rPr lang="en-US" altLang="zh-CN" smtClean="0"/>
              <a:t>Use an integrated development environment (IDE) called Eclipse to help you do this…</a:t>
            </a:r>
          </a:p>
          <a:p>
            <a:pPr lvl="1" eaLnBrk="1" hangingPunct="1"/>
            <a:r>
              <a:rPr lang="en-US" altLang="zh-CN" smtClean="0"/>
              <a:t>I will talk a bit and then you have a go…</a:t>
            </a:r>
          </a:p>
          <a:p>
            <a:pPr lvl="1" eaLnBrk="1" hangingPunct="1"/>
            <a:r>
              <a:rPr lang="en-US" altLang="zh-CN" smtClean="0"/>
              <a:t>Demonstrators are here to help…</a:t>
            </a:r>
          </a:p>
          <a:p>
            <a:pPr lvl="1" eaLnBrk="1" hangingPunct="1"/>
            <a:r>
              <a:rPr lang="en-US" altLang="zh-CN" smtClean="0"/>
              <a:t>Work in pairs to help each other…</a:t>
            </a:r>
            <a:endParaRPr lang="zh-CN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43674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6291</TotalTime>
  <Words>1829</Words>
  <Application>Microsoft Office PowerPoint</Application>
  <PresentationFormat>全屏显示(4:3)</PresentationFormat>
  <Paragraphs>464</Paragraphs>
  <Slides>85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88" baseType="lpstr">
      <vt:lpstr>Blends</vt:lpstr>
      <vt:lpstr>1_Blends</vt:lpstr>
      <vt:lpstr>2_Blends</vt:lpstr>
      <vt:lpstr>Chapter 0-2  JDK &amp; Eclipse Setup</vt:lpstr>
      <vt:lpstr>What Is the Java™ Technology?</vt:lpstr>
      <vt:lpstr>History</vt:lpstr>
      <vt:lpstr>History</vt:lpstr>
      <vt:lpstr>History</vt:lpstr>
      <vt:lpstr>Principles</vt:lpstr>
      <vt:lpstr>Versions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Java platform</vt:lpstr>
      <vt:lpstr>JDK</vt:lpstr>
      <vt:lpstr>JRE</vt:lpstr>
      <vt:lpstr>JDK Download</vt:lpstr>
      <vt:lpstr>JDK Download</vt:lpstr>
      <vt:lpstr>幻灯片 24</vt:lpstr>
      <vt:lpstr>JDK Install</vt:lpstr>
      <vt:lpstr>JDK Install</vt:lpstr>
      <vt:lpstr>JDK Install</vt:lpstr>
      <vt:lpstr>JDK Install</vt:lpstr>
      <vt:lpstr>JDK Install</vt:lpstr>
      <vt:lpstr>JDK Install</vt:lpstr>
      <vt:lpstr>JDK Install</vt:lpstr>
      <vt:lpstr>JDK Install</vt:lpstr>
      <vt:lpstr>JDK Deployment</vt:lpstr>
      <vt:lpstr>幻灯片 34</vt:lpstr>
      <vt:lpstr>JDK Deployment</vt:lpstr>
      <vt:lpstr>JDK Deployment</vt:lpstr>
      <vt:lpstr>JDK Deployment</vt:lpstr>
      <vt:lpstr>Environment Test</vt:lpstr>
      <vt:lpstr>Environment Test</vt:lpstr>
      <vt:lpstr>Your turn:</vt:lpstr>
      <vt:lpstr>Prepared work</vt:lpstr>
      <vt:lpstr>Prepared work</vt:lpstr>
      <vt:lpstr>Prepared work</vt:lpstr>
      <vt:lpstr>Your first Java program </vt:lpstr>
      <vt:lpstr>Your first Java program </vt:lpstr>
      <vt:lpstr>Your first Java program </vt:lpstr>
      <vt:lpstr>Compile and run Java source file</vt:lpstr>
      <vt:lpstr>Compile and run Java source file</vt:lpstr>
      <vt:lpstr>Compile and run Java source file</vt:lpstr>
      <vt:lpstr>Compile and run Java source file</vt:lpstr>
      <vt:lpstr>Compile and run Java source file</vt:lpstr>
      <vt:lpstr>Compile and run Java source file</vt:lpstr>
      <vt:lpstr>Analysis the HelloWorld Program</vt:lpstr>
      <vt:lpstr>Declaring Java Technology Classes</vt:lpstr>
      <vt:lpstr>Declaring Java Technology Classes</vt:lpstr>
      <vt:lpstr>Declaring Java Technology Classes</vt:lpstr>
      <vt:lpstr>Code block</vt:lpstr>
      <vt:lpstr>The main Method</vt:lpstr>
      <vt:lpstr>The main Method</vt:lpstr>
      <vt:lpstr>Statements</vt:lpstr>
      <vt:lpstr>Statements</vt:lpstr>
      <vt:lpstr>String</vt:lpstr>
      <vt:lpstr>String </vt:lpstr>
      <vt:lpstr>Source Code Comments</vt:lpstr>
      <vt:lpstr>statement</vt:lpstr>
      <vt:lpstr>Eclipse World</vt:lpstr>
      <vt:lpstr>Download and install Eclipse</vt:lpstr>
      <vt:lpstr>Download and install Eclipse</vt:lpstr>
      <vt:lpstr>Run Eclipse</vt:lpstr>
      <vt:lpstr>Run Eclipse</vt:lpstr>
      <vt:lpstr>Run Eclipse</vt:lpstr>
      <vt:lpstr>Run Eclipse</vt:lpstr>
      <vt:lpstr>Run Eclipse</vt:lpstr>
      <vt:lpstr>Run Eclipse</vt:lpstr>
      <vt:lpstr>Run Eclipse</vt:lpstr>
      <vt:lpstr>Run Eclipse</vt:lpstr>
      <vt:lpstr>Run Eclipse</vt:lpstr>
      <vt:lpstr>Run Eclipse</vt:lpstr>
      <vt:lpstr>Run Eclipse</vt:lpstr>
      <vt:lpstr>幻灯片 80</vt:lpstr>
      <vt:lpstr>  write HelloWorld program</vt:lpstr>
      <vt:lpstr> write HelloWorld program</vt:lpstr>
      <vt:lpstr>Compile and run Java source file</vt:lpstr>
      <vt:lpstr>Compile and run</vt:lpstr>
      <vt:lpstr>The aims of this session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and Design</dc:title>
  <dc:creator>lenovo</dc:creator>
  <cp:lastModifiedBy>huangliping</cp:lastModifiedBy>
  <cp:revision>420</cp:revision>
  <dcterms:created xsi:type="dcterms:W3CDTF">2017-02-21T01:28:03Z</dcterms:created>
  <dcterms:modified xsi:type="dcterms:W3CDTF">2020-02-18T06:47:48Z</dcterms:modified>
</cp:coreProperties>
</file>