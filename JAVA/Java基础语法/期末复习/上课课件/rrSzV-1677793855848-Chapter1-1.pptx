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56"/>
  </p:notesMasterIdLst>
  <p:sldIdLst>
    <p:sldId id="422" r:id="rId4"/>
    <p:sldId id="425" r:id="rId5"/>
    <p:sldId id="426" r:id="rId6"/>
    <p:sldId id="430" r:id="rId7"/>
    <p:sldId id="427" r:id="rId8"/>
    <p:sldId id="428" r:id="rId9"/>
    <p:sldId id="431" r:id="rId10"/>
    <p:sldId id="433" r:id="rId11"/>
    <p:sldId id="435" r:id="rId12"/>
    <p:sldId id="439" r:id="rId13"/>
    <p:sldId id="434" r:id="rId14"/>
    <p:sldId id="438" r:id="rId15"/>
    <p:sldId id="449" r:id="rId16"/>
    <p:sldId id="441" r:id="rId17"/>
    <p:sldId id="443" r:id="rId18"/>
    <p:sldId id="445" r:id="rId19"/>
    <p:sldId id="453" r:id="rId20"/>
    <p:sldId id="457" r:id="rId21"/>
    <p:sldId id="458" r:id="rId22"/>
    <p:sldId id="456" r:id="rId23"/>
    <p:sldId id="459" r:id="rId24"/>
    <p:sldId id="460" r:id="rId25"/>
    <p:sldId id="461" r:id="rId26"/>
    <p:sldId id="463" r:id="rId27"/>
    <p:sldId id="464" r:id="rId28"/>
    <p:sldId id="467" r:id="rId29"/>
    <p:sldId id="468" r:id="rId30"/>
    <p:sldId id="469" r:id="rId31"/>
    <p:sldId id="473" r:id="rId32"/>
    <p:sldId id="474" r:id="rId33"/>
    <p:sldId id="475" r:id="rId34"/>
    <p:sldId id="493" r:id="rId35"/>
    <p:sldId id="494" r:id="rId36"/>
    <p:sldId id="495" r:id="rId37"/>
    <p:sldId id="496" r:id="rId38"/>
    <p:sldId id="518" r:id="rId39"/>
    <p:sldId id="526" r:id="rId40"/>
    <p:sldId id="497" r:id="rId41"/>
    <p:sldId id="498" r:id="rId42"/>
    <p:sldId id="499" r:id="rId43"/>
    <p:sldId id="500" r:id="rId44"/>
    <p:sldId id="501" r:id="rId45"/>
    <p:sldId id="502" r:id="rId46"/>
    <p:sldId id="503" r:id="rId47"/>
    <p:sldId id="507" r:id="rId48"/>
    <p:sldId id="510" r:id="rId49"/>
    <p:sldId id="512" r:id="rId50"/>
    <p:sldId id="513" r:id="rId51"/>
    <p:sldId id="514" r:id="rId52"/>
    <p:sldId id="515" r:id="rId53"/>
    <p:sldId id="516" r:id="rId54"/>
    <p:sldId id="527" r:id="rId5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ECFF"/>
    <a:srgbClr val="66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635" autoAdjust="0"/>
  </p:normalViewPr>
  <p:slideViewPr>
    <p:cSldViewPr>
      <p:cViewPr varScale="1">
        <p:scale>
          <a:sx n="60" d="100"/>
          <a:sy n="60" d="100"/>
        </p:scale>
        <p:origin x="-16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7F775-89D1-4C36-B546-C9B68B544087}" type="datetimeFigureOut">
              <a:rPr lang="zh-CN" altLang="en-US" smtClean="0"/>
              <a:pPr/>
              <a:t>2023/3/3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217FA-E171-4655-B1DD-A0257C1131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90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you've learned how to declare and initialize variables, you probably want to know how to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something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them.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217FA-E171-4655-B1DD-A0257C1131EA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432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217FA-E171-4655-B1DD-A0257C1131EA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511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9877A18B-F3F1-4D88-A34C-73272C827C7A}" type="slidenum">
              <a:rPr lang="zh-CN" altLang="en-US" sz="120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25</a:t>
            </a:fld>
            <a:endParaRPr lang="en-US" altLang="zh-CN" sz="1200" smtClean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A0366320-1873-4CBF-A543-6F2CC3EA13E1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32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3252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51549A74-C225-4810-9AE9-1C5CFF790126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33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4276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>
                <a:latin typeface="Arial" pitchFamily="34" charset="0"/>
              </a:rPr>
              <a:t>conditional operator</a:t>
            </a:r>
            <a:endParaRPr lang="zh-CN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83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mtClean="0">
                <a:latin typeface="Arial" pitchFamily="34" charset="0"/>
              </a:rPr>
              <a:t>break</a:t>
            </a:r>
            <a:r>
              <a:rPr lang="zh-CN" altLang="en-US" smtClean="0">
                <a:latin typeface="Arial" pitchFamily="34" charset="0"/>
              </a:rPr>
              <a:t>语句</a:t>
            </a:r>
          </a:p>
          <a:p>
            <a:pPr lvl="1" eaLnBrk="1" hangingPunct="1"/>
            <a:r>
              <a:rPr lang="zh-CN" altLang="en-US" smtClean="0">
                <a:latin typeface="Arial" pitchFamily="34" charset="0"/>
              </a:rPr>
              <a:t>使用</a:t>
            </a:r>
            <a:r>
              <a:rPr lang="en-US" altLang="zh-CN" smtClean="0">
                <a:latin typeface="Arial" pitchFamily="34" charset="0"/>
              </a:rPr>
              <a:t>break</a:t>
            </a:r>
            <a:r>
              <a:rPr lang="zh-CN" altLang="en-US" smtClean="0">
                <a:latin typeface="Arial" pitchFamily="34" charset="0"/>
              </a:rPr>
              <a:t>语句使得循环从</a:t>
            </a:r>
            <a:r>
              <a:rPr lang="en-US" altLang="zh-CN" smtClean="0">
                <a:latin typeface="Arial" pitchFamily="34" charset="0"/>
              </a:rPr>
              <a:t>For</a:t>
            </a:r>
            <a:r>
              <a:rPr lang="zh-CN" altLang="en-US" smtClean="0">
                <a:latin typeface="Arial" pitchFamily="34" charset="0"/>
              </a:rPr>
              <a:t>或</a:t>
            </a:r>
            <a:r>
              <a:rPr lang="en-US" altLang="zh-CN" smtClean="0">
                <a:latin typeface="Arial" pitchFamily="34" charset="0"/>
              </a:rPr>
              <a:t>while</a:t>
            </a:r>
            <a:r>
              <a:rPr lang="zh-CN" altLang="en-US" smtClean="0">
                <a:latin typeface="Arial" pitchFamily="34" charset="0"/>
              </a:rPr>
              <a:t>中跳出</a:t>
            </a:r>
            <a:r>
              <a:rPr lang="en-US" altLang="zh-CN" smtClean="0">
                <a:latin typeface="Arial" pitchFamily="34" charset="0"/>
              </a:rPr>
              <a:t>;</a:t>
            </a:r>
          </a:p>
          <a:p>
            <a:pPr eaLnBrk="1" hangingPunct="1"/>
            <a:r>
              <a:rPr lang="en-US" altLang="zh-CN" smtClean="0">
                <a:latin typeface="Arial" pitchFamily="34" charset="0"/>
              </a:rPr>
              <a:t>continue</a:t>
            </a:r>
            <a:r>
              <a:rPr lang="zh-CN" altLang="en-US" smtClean="0">
                <a:latin typeface="Arial" pitchFamily="34" charset="0"/>
              </a:rPr>
              <a:t>语句</a:t>
            </a:r>
          </a:p>
          <a:p>
            <a:pPr lvl="1" eaLnBrk="1" hangingPunct="1"/>
            <a:r>
              <a:rPr lang="en-US" altLang="zh-CN" smtClean="0">
                <a:latin typeface="Arial" pitchFamily="34" charset="0"/>
              </a:rPr>
              <a:t>continue</a:t>
            </a:r>
            <a:r>
              <a:rPr lang="zh-CN" altLang="en-US" smtClean="0">
                <a:latin typeface="Arial" pitchFamily="34" charset="0"/>
              </a:rPr>
              <a:t>使得跳过循环内剩余的语句而进入下一次循环；</a:t>
            </a:r>
          </a:p>
          <a:p>
            <a:pPr eaLnBrk="1" hangingPunct="1"/>
            <a:endParaRPr lang="zh-CN" altLang="en-US" smtClean="0">
              <a:latin typeface="Arial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973E02A0-5575-4FA3-9870-40DEE5604252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45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9396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B7FF1B72-F15F-4510-8EC6-6ABE858FC959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46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0420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Arial" pitchFamily="34" charset="0"/>
              </a:rPr>
              <a:t>尽管在</a:t>
            </a:r>
            <a:r>
              <a:rPr lang="en-US" altLang="zh-CN" smtClean="0">
                <a:latin typeface="Arial" pitchFamily="34" charset="0"/>
              </a:rPr>
              <a:t>C</a:t>
            </a:r>
            <a:r>
              <a:rPr lang="zh-CN" altLang="en-US" smtClean="0">
                <a:latin typeface="Arial" pitchFamily="34" charset="0"/>
              </a:rPr>
              <a:t>和</a:t>
            </a:r>
            <a:r>
              <a:rPr lang="en-US" altLang="zh-CN" smtClean="0">
                <a:latin typeface="Arial" pitchFamily="34" charset="0"/>
              </a:rPr>
              <a:t>C++</a:t>
            </a:r>
            <a:r>
              <a:rPr lang="zh-CN" altLang="en-US" smtClean="0">
                <a:latin typeface="Arial" pitchFamily="34" charset="0"/>
              </a:rPr>
              <a:t>中是合法的，但是在</a:t>
            </a:r>
            <a:r>
              <a:rPr lang="en-US" altLang="zh-CN" smtClean="0">
                <a:latin typeface="Arial" pitchFamily="34" charset="0"/>
              </a:rPr>
              <a:t>Java</a:t>
            </a:r>
            <a:r>
              <a:rPr lang="zh-CN" altLang="en-US" smtClean="0">
                <a:latin typeface="Arial" pitchFamily="34" charset="0"/>
              </a:rPr>
              <a:t>中却不能像下面这样做：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1CC4B7EF-0EDE-492A-9EA3-391ABB43109C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48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1444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solidFill>
                <a:schemeClr val="hlink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06738EC8-F914-45EC-BE2D-346A14BF8ABE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49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2468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8C6CDE96-E3F1-4F04-8E99-46485A55497B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50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3492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685817" indent="-263776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055103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477145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1899186" indent="-211021" defTabSz="914423" eaLnBrk="0" hangingPunct="0"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321227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743269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165310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587351" indent="-211021" algn="ctr" defTabSz="91442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3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EC5AD181-21E9-4932-ABC0-91CAD17C17BD}" type="slidenum">
              <a:rPr lang="zh-CN" altLang="en-US" sz="1200">
                <a:solidFill>
                  <a:schemeClr val="tx1"/>
                </a:solidFill>
                <a:ea typeface="宋体" pitchFamily="2" charset="-122"/>
              </a:rPr>
              <a:pPr eaLnBrk="1" hangingPunct="1"/>
              <a:t>51</a:t>
            </a:fld>
            <a:endParaRPr lang="en-US" altLang="zh-CN" sz="12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4516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6336991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/>
              <a:t>Object-Oriented Programming and Design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86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38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647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9932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796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30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94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402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641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648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602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54000"/>
            <a:ext cx="9144000" cy="14620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2057400"/>
            <a:ext cx="7812088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63A930C-3848-4D9D-937C-4FCE1AF3F6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518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 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899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149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664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08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20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66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431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67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371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731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634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 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42A8D4D-11C9-4CFE-99B3-23BAB530494C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8061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EB49F-9CF1-4A24-B525-7403DAD410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9247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47278-D9A4-4AD5-8183-568989878A3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387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290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2057400"/>
            <a:ext cx="38306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0CE36-8430-4850-87F8-FFD0C5E5936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598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C4F32-0A06-42C1-AF50-781346C932B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3856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D22D96-FFA3-43E4-96BB-00F3050E02F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1833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1A9E1-55F6-4753-A0B8-D0D7FB08A49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38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F6D36-87C4-44A5-8D51-7239CA9A039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1002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C122F-6473-4C61-BFA1-4095A497925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9396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7C777-33AF-4624-B3C7-8D54E5F64BB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187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54000"/>
            <a:ext cx="2286000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54000"/>
            <a:ext cx="6705600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6CD5D-5E2D-46AD-834E-22614771232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66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6336991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 smtClean="0"/>
              <a:t>Object-Oriented Programming and Design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012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96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909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54000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844675"/>
            <a:ext cx="858520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algn="ctr" fontAlgn="base"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A859B4DF-DE08-457D-940C-6696A89893D8}" type="slidenum">
              <a:rPr lang="zh-CN" altLang="en-US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 flipV="1">
            <a:off x="450850" y="858838"/>
            <a:ext cx="8693150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zh-CN" altLang="en-US" sz="3600" b="1">
              <a:solidFill>
                <a:srgbClr val="FF000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1447800" y="317500"/>
            <a:ext cx="2770188" cy="461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Programming</a:t>
            </a:r>
            <a:endParaRPr lang="zh-CN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13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504" y="1916113"/>
            <a:ext cx="9144000" cy="1600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Chapter 1 Java Language Overview</a:t>
            </a:r>
            <a:endParaRPr lang="zh-CN" altLang="en-US" sz="4800" dirty="0" smtClean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行楷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652963"/>
            <a:ext cx="6032500" cy="1282700"/>
          </a:xfrm>
        </p:spPr>
        <p:txBody>
          <a:bodyPr/>
          <a:lstStyle/>
          <a:p>
            <a:pPr eaLnBrk="1" hangingPunct="1"/>
            <a:r>
              <a:rPr lang="zh-CN" altLang="en-US" sz="4400" smtClean="0">
                <a:latin typeface="华文行楷" pitchFamily="2" charset="-122"/>
                <a:ea typeface="华文行楷" pitchFamily="2" charset="-122"/>
              </a:rPr>
              <a:t>杨巍</a:t>
            </a:r>
          </a:p>
          <a:p>
            <a:pPr eaLnBrk="1" hangingPunct="1"/>
            <a:r>
              <a:rPr lang="en-US" altLang="zh-CN" sz="2800" smtClean="0">
                <a:ea typeface="华文行楷" pitchFamily="2" charset="-122"/>
              </a:rPr>
              <a:t>yangwei@mail.neu.edu.cn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219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P3310008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47" y="4362669"/>
            <a:ext cx="216058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3716338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Ch1.</a:t>
            </a:r>
            <a:r>
              <a:rPr lang="en-US" altLang="zh-CN" sz="3600" dirty="0"/>
              <a:t>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Language Basics (2)</a:t>
            </a:r>
            <a:endParaRPr lang="en-US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013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Variables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declaring a local </a:t>
            </a:r>
            <a:r>
              <a:rPr lang="en-US" altLang="zh-CN" dirty="0" smtClean="0"/>
              <a:t>variable</a:t>
            </a:r>
          </a:p>
          <a:p>
            <a:pPr lvl="1"/>
            <a:r>
              <a:rPr lang="en-US" altLang="zh-CN" dirty="0"/>
              <a:t> A</a:t>
            </a:r>
            <a:r>
              <a:rPr lang="en-US" altLang="zh-CN" dirty="0" smtClean="0"/>
              <a:t>ll variables </a:t>
            </a:r>
            <a:r>
              <a:rPr lang="en-US" altLang="zh-CN" dirty="0"/>
              <a:t>must first be declared before they can be used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91713" y="3497733"/>
            <a:ext cx="5487698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buClr>
                <a:srgbClr val="003366"/>
              </a:buClr>
            </a:pPr>
            <a:r>
              <a:rPr lang="en-US" altLang="zh-CN" sz="3200" b="0" dirty="0" smtClean="0"/>
              <a:t>Data-types</a:t>
            </a:r>
            <a:r>
              <a:rPr lang="en-US" altLang="zh-CN" sz="3200" b="0" dirty="0"/>
              <a:t> </a:t>
            </a:r>
            <a:r>
              <a:rPr lang="zh-CN" altLang="en-US" sz="3200" dirty="0" smtClean="0">
                <a:solidFill>
                  <a:srgbClr val="000000"/>
                </a:solidFill>
              </a:rPr>
              <a:t> </a:t>
            </a:r>
            <a:r>
              <a:rPr lang="en-US" altLang="zh-CN" sz="3200" dirty="0" smtClean="0">
                <a:solidFill>
                  <a:srgbClr val="000000"/>
                </a:solidFill>
              </a:rPr>
              <a:t>variable-name;  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763631" y="4496271"/>
            <a:ext cx="2139025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 err="1">
                <a:solidFill>
                  <a:srgbClr val="3333CC"/>
                </a:solidFill>
              </a:rPr>
              <a:t>int</a:t>
            </a:r>
            <a:r>
              <a:rPr lang="en-US" altLang="zh-CN" sz="3200" dirty="0">
                <a:solidFill>
                  <a:srgbClr val="000000"/>
                </a:solidFill>
              </a:rPr>
              <a:t>   </a:t>
            </a:r>
            <a:r>
              <a:rPr lang="en-US" altLang="zh-CN" sz="3200" dirty="0" err="1">
                <a:solidFill>
                  <a:srgbClr val="000000"/>
                </a:solidFill>
              </a:rPr>
              <a:t>num</a:t>
            </a:r>
            <a:r>
              <a:rPr lang="en-US" altLang="zh-CN" sz="3200" dirty="0">
                <a:solidFill>
                  <a:srgbClr val="000000"/>
                </a:solidFill>
              </a:rPr>
              <a:t>; 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573338" y="5504334"/>
            <a:ext cx="4519612" cy="5889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>
                <a:solidFill>
                  <a:srgbClr val="3333CC"/>
                </a:solidFill>
              </a:rPr>
              <a:t>int</a:t>
            </a:r>
            <a:r>
              <a:rPr lang="en-US" altLang="zh-CN" sz="3200">
                <a:solidFill>
                  <a:srgbClr val="000000"/>
                </a:solidFill>
              </a:rPr>
              <a:t>   num,num1,num2; </a:t>
            </a:r>
          </a:p>
        </p:txBody>
      </p:sp>
    </p:spTree>
    <p:extLst>
      <p:ext uri="{BB962C8B-B14F-4D97-AF65-F5344CB8AC3E}">
        <p14:creationId xmlns:p14="http://schemas.microsoft.com/office/powerpoint/2010/main" val="84893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Naming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Always begin </a:t>
            </a:r>
            <a:r>
              <a:rPr lang="en-US" altLang="zh-CN" dirty="0"/>
              <a:t>your variable names with a letter, not "$" or </a:t>
            </a:r>
            <a:r>
              <a:rPr lang="en-US" altLang="zh-CN" dirty="0" smtClean="0"/>
              <a:t>"_“</a:t>
            </a:r>
          </a:p>
          <a:p>
            <a:r>
              <a:rPr lang="en-US" altLang="zh-CN" dirty="0"/>
              <a:t>Subsequent characters may be letters, digits, dollar signs, or underscore </a:t>
            </a:r>
            <a:r>
              <a:rPr lang="en-US" altLang="zh-CN" dirty="0" smtClean="0"/>
              <a:t>characters.</a:t>
            </a:r>
          </a:p>
          <a:p>
            <a:r>
              <a:rPr lang="en-US" altLang="zh-CN" dirty="0"/>
              <a:t>Variable names are case-sensitive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Avoid using keywords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74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0D8E9178-0493-4785-8257-1BFA65FC2319}" type="slidenum">
              <a:rPr lang="zh-CN" altLang="en-US" sz="140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pPr eaLnBrk="1" hangingPunct="1"/>
              <a:t>4</a:t>
            </a:fld>
            <a:endParaRPr lang="en-US" altLang="zh-CN" sz="1400" smtClean="0">
              <a:solidFill>
                <a:srgbClr val="000000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0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Key words</a:t>
            </a:r>
            <a:endParaRPr lang="zh-CN" altLang="en-US" dirty="0" smtClean="0"/>
          </a:p>
        </p:txBody>
      </p:sp>
      <p:graphicFrame>
        <p:nvGraphicFramePr>
          <p:cNvPr id="575491" name="Group 3"/>
          <p:cNvGraphicFramePr>
            <a:graphicFrameLocks noGrp="1"/>
          </p:cNvGraphicFramePr>
          <p:nvPr>
            <p:ph idx="1"/>
          </p:nvPr>
        </p:nvGraphicFramePr>
        <p:xfrm>
          <a:off x="755650" y="1773238"/>
          <a:ext cx="7812088" cy="4683126"/>
        </p:xfrm>
        <a:graphic>
          <a:graphicData uri="http://schemas.openxmlformats.org/drawingml/2006/table">
            <a:tbl>
              <a:tblPr/>
              <a:tblGrid>
                <a:gridCol w="1565275"/>
                <a:gridCol w="1301750"/>
                <a:gridCol w="1636713"/>
                <a:gridCol w="1905000"/>
                <a:gridCol w="1403350"/>
              </a:tblGrid>
              <a:tr h="3962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abstract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default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if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protected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throws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2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assert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do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implements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public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transient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46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boolean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double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import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return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try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9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break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else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instanceof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short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void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9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byte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extends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int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static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volatile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2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case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enum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interface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synchronized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while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9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catch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final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long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super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46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char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fianlly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native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strictfp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9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class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float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new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switch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175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continue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for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package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this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969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const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goto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private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华文新魏" pitchFamily="2" charset="-122"/>
                        </a:rPr>
                        <a:t>throw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新魏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51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Naming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the name you choose consists of only one word, spell that word in all lowercase letters. 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smtClean="0"/>
              <a:t>If </a:t>
            </a:r>
            <a:r>
              <a:rPr lang="en-US" altLang="zh-CN" dirty="0"/>
              <a:t>it consists of more than one word, capitalize the first letter of each subsequent word.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96886" y="5550919"/>
            <a:ext cx="3278759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003366"/>
              </a:buClr>
            </a:pPr>
            <a:r>
              <a:rPr lang="en-US" altLang="zh-CN" sz="3200" b="1" dirty="0" err="1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int</a:t>
            </a:r>
            <a:r>
              <a:rPr lang="en-US" altLang="zh-CN" sz="3200" b="1" dirty="0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 </a:t>
            </a:r>
            <a:r>
              <a:rPr lang="en-US" altLang="zh-CN" sz="3200" b="1" dirty="0" err="1" smtClean="0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currentGear</a:t>
            </a:r>
            <a:r>
              <a:rPr lang="en-US" altLang="zh-CN" sz="3200" b="1" dirty="0" smtClean="0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;</a:t>
            </a:r>
            <a:endParaRPr lang="zh-CN" altLang="en-US" sz="3200" b="1" dirty="0">
              <a:solidFill>
                <a:srgbClr val="3333CC"/>
              </a:solidFill>
              <a:latin typeface="Arial" pitchFamily="34" charset="0"/>
              <a:ea typeface="华文新魏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72921" y="3140968"/>
            <a:ext cx="1775143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003366"/>
              </a:buClr>
            </a:pPr>
            <a:r>
              <a:rPr lang="en-US" altLang="zh-CN" sz="3200" b="1" dirty="0" err="1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int</a:t>
            </a:r>
            <a:r>
              <a:rPr lang="en-US" altLang="zh-CN" sz="3200" b="1" dirty="0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 </a:t>
            </a:r>
            <a:r>
              <a:rPr lang="en-US" altLang="zh-CN" sz="3200" b="1" dirty="0" smtClean="0">
                <a:solidFill>
                  <a:srgbClr val="3333CC"/>
                </a:solidFill>
                <a:latin typeface="Arial" pitchFamily="34" charset="0"/>
                <a:ea typeface="华文新魏" pitchFamily="2" charset="-122"/>
              </a:rPr>
              <a:t>year;</a:t>
            </a:r>
            <a:endParaRPr lang="zh-CN" altLang="en-US" sz="3200" b="1" dirty="0">
              <a:solidFill>
                <a:srgbClr val="3333CC"/>
              </a:solidFill>
              <a:latin typeface="Arial" pitchFamily="34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49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Initializing declaration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Initializing declaration </a:t>
            </a:r>
          </a:p>
          <a:p>
            <a:pPr lvl="1"/>
            <a:r>
              <a:rPr lang="en-US" altLang="zh-CN" dirty="0" smtClean="0"/>
              <a:t>Declaration that also assigns an initial value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87500" y="3130298"/>
            <a:ext cx="5793872" cy="1079399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buClr>
                <a:srgbClr val="003366"/>
              </a:buClr>
            </a:pPr>
            <a:r>
              <a:rPr lang="en-US" altLang="zh-CN" sz="3200" b="0" dirty="0"/>
              <a:t>Data-types </a:t>
            </a:r>
            <a:r>
              <a:rPr lang="zh-CN" altLang="en-US" sz="3200" dirty="0">
                <a:solidFill>
                  <a:srgbClr val="000000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</a:rPr>
              <a:t>variable-name;  </a:t>
            </a:r>
            <a:endParaRPr lang="en-US" altLang="zh-CN" sz="32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 smtClean="0">
                <a:solidFill>
                  <a:srgbClr val="000000"/>
                </a:solidFill>
              </a:rPr>
              <a:t>variable-name</a:t>
            </a:r>
            <a:r>
              <a:rPr lang="en-US" altLang="zh-CN" sz="3200" dirty="0" smtClean="0">
                <a:solidFill>
                  <a:srgbClr val="FF0000"/>
                </a:solidFill>
              </a:rPr>
              <a:t>=</a:t>
            </a:r>
            <a:r>
              <a:rPr lang="en-US" altLang="zh-CN" sz="3200" dirty="0" smtClean="0">
                <a:solidFill>
                  <a:srgbClr val="000000"/>
                </a:solidFill>
              </a:rPr>
              <a:t>initial-value;  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249681" y="4570533"/>
            <a:ext cx="2139025" cy="1079399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 err="1">
                <a:solidFill>
                  <a:srgbClr val="3333CC"/>
                </a:solidFill>
              </a:rPr>
              <a:t>int</a:t>
            </a:r>
            <a:r>
              <a:rPr lang="en-US" altLang="zh-CN" sz="3200" dirty="0">
                <a:solidFill>
                  <a:srgbClr val="3333CC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</a:rPr>
              <a:t>  </a:t>
            </a:r>
            <a:r>
              <a:rPr lang="en-US" altLang="zh-CN" sz="3200" dirty="0" err="1">
                <a:solidFill>
                  <a:srgbClr val="000000"/>
                </a:solidFill>
              </a:rPr>
              <a:t>num</a:t>
            </a:r>
            <a:r>
              <a:rPr lang="en-US" altLang="zh-CN" sz="3200" dirty="0">
                <a:solidFill>
                  <a:srgbClr val="000000"/>
                </a:solidFill>
              </a:rPr>
              <a:t>; </a:t>
            </a:r>
            <a:endParaRPr lang="zh-CN" altLang="en-US" sz="32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 err="1" smtClean="0">
                <a:solidFill>
                  <a:srgbClr val="000000"/>
                </a:solidFill>
              </a:rPr>
              <a:t>num</a:t>
            </a:r>
            <a:r>
              <a:rPr lang="en-US" altLang="zh-CN" sz="3200" dirty="0" smtClean="0">
                <a:solidFill>
                  <a:srgbClr val="000000"/>
                </a:solidFill>
              </a:rPr>
              <a:t>=9;</a:t>
            </a:r>
            <a:r>
              <a:rPr lang="zh-CN" altLang="en-US" sz="3200" dirty="0" smtClean="0">
                <a:solidFill>
                  <a:srgbClr val="000000"/>
                </a:solidFill>
              </a:rPr>
              <a:t> 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89034" y="6010395"/>
            <a:ext cx="2607102" cy="58695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>
                <a:srgbClr val="003366"/>
              </a:buClr>
              <a:buSzTx/>
              <a:buFontTx/>
              <a:buNone/>
            </a:pPr>
            <a:r>
              <a:rPr lang="en-US" altLang="zh-CN" sz="3200" dirty="0" err="1">
                <a:solidFill>
                  <a:srgbClr val="3333CC"/>
                </a:solidFill>
              </a:rPr>
              <a:t>int</a:t>
            </a:r>
            <a:r>
              <a:rPr lang="en-US" altLang="zh-CN" sz="3200" dirty="0">
                <a:solidFill>
                  <a:srgbClr val="000000"/>
                </a:solidFill>
              </a:rPr>
              <a:t>   </a:t>
            </a:r>
            <a:r>
              <a:rPr lang="en-US" altLang="zh-CN" sz="3200" dirty="0" err="1">
                <a:solidFill>
                  <a:srgbClr val="000000"/>
                </a:solidFill>
              </a:rPr>
              <a:t>num</a:t>
            </a:r>
            <a:r>
              <a:rPr lang="en-US" altLang="zh-CN" sz="3200" dirty="0">
                <a:solidFill>
                  <a:srgbClr val="000000"/>
                </a:solidFill>
              </a:rPr>
              <a:t>=9</a:t>
            </a:r>
            <a:r>
              <a:rPr lang="en-US" altLang="zh-CN" sz="3200" dirty="0" smtClean="0">
                <a:solidFill>
                  <a:srgbClr val="000000"/>
                </a:solidFill>
              </a:rPr>
              <a:t>;</a:t>
            </a:r>
            <a:r>
              <a:rPr lang="zh-CN" altLang="en-US" sz="3200" dirty="0" smtClean="0">
                <a:solidFill>
                  <a:srgbClr val="000000"/>
                </a:solidFill>
              </a:rPr>
              <a:t> 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8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type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 A variable's data type determines the values it may contain, plus the operations that may be performed on it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Data type</a:t>
            </a:r>
            <a:endParaRPr lang="en-US" altLang="zh-CN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primitive </a:t>
            </a:r>
            <a:r>
              <a:rPr lang="en-US" altLang="zh-CN" dirty="0" smtClean="0"/>
              <a:t>types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 smtClean="0"/>
              <a:t>Integral number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f</a:t>
            </a:r>
            <a:r>
              <a:rPr lang="en-US" altLang="zh-CN" dirty="0" smtClean="0"/>
              <a:t>loating point number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 smtClean="0"/>
              <a:t>char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 err="1"/>
              <a:t>b</a:t>
            </a:r>
            <a:r>
              <a:rPr lang="en-US" altLang="zh-CN" dirty="0" err="1" smtClean="0"/>
              <a:t>oolean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 smtClean="0"/>
              <a:t>reference types</a:t>
            </a:r>
            <a:r>
              <a:rPr lang="zh-CN" altLang="en-US" dirty="0" smtClean="0"/>
              <a:t>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93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Primitive  </a:t>
            </a:r>
            <a:r>
              <a:rPr lang="en-US" altLang="zh-CN" dirty="0"/>
              <a:t>types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Integral number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836295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47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Integer </a:t>
            </a:r>
            <a:r>
              <a:rPr lang="en-US" altLang="zh-CN" b="1" dirty="0" smtClean="0"/>
              <a:t>Literals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Integer Literals</a:t>
            </a:r>
          </a:p>
          <a:p>
            <a:pPr lvl="1"/>
            <a:r>
              <a:rPr lang="en-US" altLang="zh-CN" dirty="0"/>
              <a:t>An integer literal is of type long if it ends with the letter L or l;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otherwise </a:t>
            </a:r>
            <a:r>
              <a:rPr lang="en-US" altLang="zh-CN" dirty="0"/>
              <a:t>it is of type int. </a:t>
            </a:r>
            <a:endParaRPr lang="en-US" altLang="zh-CN" dirty="0" smtClean="0"/>
          </a:p>
          <a:p>
            <a:pPr lvl="1"/>
            <a:r>
              <a:rPr lang="en-US" altLang="zh-CN" dirty="0"/>
              <a:t>Values of the integral types byte, short, </a:t>
            </a:r>
            <a:r>
              <a:rPr lang="en-US" altLang="zh-CN" dirty="0" err="1"/>
              <a:t>int</a:t>
            </a:r>
            <a:r>
              <a:rPr lang="en-US" altLang="zh-CN" dirty="0"/>
              <a:t>, and long can be created from </a:t>
            </a:r>
            <a:r>
              <a:rPr lang="en-US" altLang="zh-CN" dirty="0" err="1"/>
              <a:t>int</a:t>
            </a:r>
            <a:r>
              <a:rPr lang="en-US" altLang="zh-CN" dirty="0"/>
              <a:t> literals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 smtClean="0"/>
              <a:t>Values </a:t>
            </a:r>
            <a:r>
              <a:rPr lang="en-US" altLang="zh-CN" dirty="0"/>
              <a:t>of type long that exceed the range of </a:t>
            </a:r>
            <a:r>
              <a:rPr lang="en-US" altLang="zh-CN" dirty="0" err="1"/>
              <a:t>int</a:t>
            </a:r>
            <a:r>
              <a:rPr lang="en-US" altLang="zh-CN" dirty="0"/>
              <a:t> can be created from long literals.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16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Integer Literals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Integer literals can be expressed by these number </a:t>
            </a:r>
            <a:r>
              <a:rPr lang="en-US" altLang="zh-CN" dirty="0" smtClean="0"/>
              <a:t>systems</a:t>
            </a:r>
            <a:endParaRPr lang="en-US" altLang="zh-CN" dirty="0"/>
          </a:p>
          <a:p>
            <a:pPr lvl="1"/>
            <a:r>
              <a:rPr lang="en-US" altLang="zh-CN" dirty="0" smtClean="0"/>
              <a:t>Decimal</a:t>
            </a:r>
            <a:endParaRPr lang="en-US" altLang="zh-CN" dirty="0"/>
          </a:p>
          <a:p>
            <a:pPr lvl="2"/>
            <a:r>
              <a:rPr lang="en-US" altLang="zh-CN" dirty="0" smtClean="0"/>
              <a:t> </a:t>
            </a:r>
            <a:r>
              <a:rPr lang="en-US" altLang="zh-CN" dirty="0"/>
              <a:t>Base </a:t>
            </a:r>
            <a:r>
              <a:rPr lang="en-US" altLang="zh-CN" dirty="0" smtClean="0"/>
              <a:t>10</a:t>
            </a:r>
          </a:p>
          <a:p>
            <a:pPr lvl="1"/>
            <a:r>
              <a:rPr lang="en-US" altLang="zh-CN" dirty="0" smtClean="0"/>
              <a:t>Hexadecimal</a:t>
            </a:r>
          </a:p>
          <a:p>
            <a:pPr lvl="2"/>
            <a:r>
              <a:rPr lang="en-US" altLang="zh-CN" dirty="0" smtClean="0"/>
              <a:t>Base 16</a:t>
            </a:r>
          </a:p>
          <a:p>
            <a:pPr lvl="1"/>
            <a:r>
              <a:rPr lang="en-US" altLang="zh-CN" dirty="0" smtClean="0"/>
              <a:t>Binary</a:t>
            </a:r>
          </a:p>
          <a:p>
            <a:pPr lvl="2"/>
            <a:r>
              <a:rPr lang="en-US" altLang="zh-CN" dirty="0" smtClean="0"/>
              <a:t>Base 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5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Primitive  types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Floating point number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0" y="3429000"/>
            <a:ext cx="78581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94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Floating-Point Literals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Floating-Point Literals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floating-point literal is of type </a:t>
            </a:r>
            <a:r>
              <a:rPr lang="en-US" altLang="zh-CN" b="1" dirty="0">
                <a:solidFill>
                  <a:srgbClr val="FF0000"/>
                </a:solidFill>
              </a:rPr>
              <a:t>float </a:t>
            </a:r>
            <a:r>
              <a:rPr lang="en-US" altLang="zh-CN" dirty="0"/>
              <a:t>if it ends with the letter F or f;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otherwise </a:t>
            </a:r>
            <a:r>
              <a:rPr lang="en-US" altLang="zh-CN" dirty="0"/>
              <a:t>its type is</a:t>
            </a:r>
            <a:r>
              <a:rPr lang="en-US" altLang="zh-CN" dirty="0">
                <a:solidFill>
                  <a:srgbClr val="FF0000"/>
                </a:solidFill>
              </a:rPr>
              <a:t> </a:t>
            </a:r>
            <a:r>
              <a:rPr lang="en-US" altLang="zh-CN" b="1" dirty="0">
                <a:solidFill>
                  <a:srgbClr val="FF0000"/>
                </a:solidFill>
              </a:rPr>
              <a:t>double</a:t>
            </a:r>
            <a:r>
              <a:rPr lang="en-US" altLang="zh-CN" dirty="0"/>
              <a:t> and it can optionally end with the letter D or 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487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Floating-Point Literals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628800"/>
            <a:ext cx="8585200" cy="4327525"/>
          </a:xfrm>
        </p:spPr>
        <p:txBody>
          <a:bodyPr/>
          <a:lstStyle/>
          <a:p>
            <a:r>
              <a:rPr lang="en-US" altLang="zh-CN" dirty="0"/>
              <a:t>Floating-Point Literals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For scientific </a:t>
            </a:r>
            <a:r>
              <a:rPr lang="en-US" altLang="zh-CN" dirty="0"/>
              <a:t>notation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The </a:t>
            </a:r>
            <a:r>
              <a:rPr lang="en-US" altLang="zh-CN" dirty="0"/>
              <a:t>floating point types (float and double) can also be expressed using E or </a:t>
            </a:r>
            <a:r>
              <a:rPr lang="en-US" altLang="zh-CN" dirty="0" smtClean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11560" y="3717032"/>
            <a:ext cx="8007527" cy="2679837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public </a:t>
            </a: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class </a:t>
            </a:r>
            <a:r>
              <a:rPr lang="en-US" altLang="zh-CN" sz="2800" b="1" dirty="0" err="1" smtClean="0">
                <a:solidFill>
                  <a:schemeClr val="tx1"/>
                </a:solidFill>
                <a:ea typeface="宋体" pitchFamily="2" charset="-122"/>
              </a:rPr>
              <a:t>DataDemo</a:t>
            </a: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{</a:t>
            </a:r>
            <a:endParaRPr lang="en-US" altLang="zh-CN" sz="2800" b="1" dirty="0">
              <a:solidFill>
                <a:schemeClr val="tx1"/>
              </a:solidFill>
              <a:ea typeface="宋体" pitchFamily="2" charset="-122"/>
            </a:endParaRP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	public static void main(String[ ] </a:t>
            </a:r>
            <a:r>
              <a:rPr lang="en-US" altLang="zh-CN" sz="2800" b="1" dirty="0" err="1">
                <a:solidFill>
                  <a:schemeClr val="tx1"/>
                </a:solidFill>
                <a:ea typeface="宋体" pitchFamily="2" charset="-122"/>
              </a:rPr>
              <a:t>args</a:t>
            </a: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){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		double </a:t>
            </a:r>
            <a:r>
              <a:rPr lang="en-US" altLang="zh-CN" sz="2800" b="1" dirty="0">
                <a:solidFill>
                  <a:srgbClr val="FF0000"/>
                </a:solidFill>
                <a:ea typeface="宋体" pitchFamily="2" charset="-122"/>
              </a:rPr>
              <a:t>d1</a:t>
            </a: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 = 123.4;	</a:t>
            </a: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               double </a:t>
            </a:r>
            <a:r>
              <a:rPr lang="en-US" altLang="zh-CN" sz="2800" b="1" dirty="0" smtClean="0"/>
              <a:t>d2</a:t>
            </a: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=1.234e2;</a:t>
            </a: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	</a:t>
            </a:r>
            <a:endParaRPr lang="en-US" altLang="zh-CN" sz="2800" b="1" dirty="0" smtClean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ea typeface="宋体" pitchFamily="2" charset="-122"/>
              </a:rPr>
              <a:t>       }</a:t>
            </a:r>
            <a:endParaRPr lang="en-US" altLang="zh-CN" sz="2800" b="1" dirty="0">
              <a:solidFill>
                <a:schemeClr val="tx1"/>
              </a:solidFill>
              <a:ea typeface="宋体" pitchFamily="2" charset="-122"/>
            </a:endParaRP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3598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boolean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 </a:t>
            </a:r>
            <a:r>
              <a:rPr lang="en-US" altLang="zh-CN" dirty="0" err="1"/>
              <a:t>boolean</a:t>
            </a:r>
            <a:r>
              <a:rPr lang="en-US" altLang="zh-CN" dirty="0"/>
              <a:t> data type has only two possible </a:t>
            </a:r>
            <a:r>
              <a:rPr lang="en-US" altLang="zh-CN" dirty="0" smtClean="0"/>
              <a:t>values</a:t>
            </a:r>
          </a:p>
          <a:p>
            <a:pPr lvl="1"/>
            <a:r>
              <a:rPr lang="en-US" altLang="zh-CN" dirty="0" smtClean="0"/>
              <a:t>true</a:t>
            </a:r>
            <a:r>
              <a:rPr lang="en-US" altLang="zh-CN" dirty="0"/>
              <a:t> and </a:t>
            </a:r>
            <a:r>
              <a:rPr lang="en-US" altLang="zh-CN" dirty="0" smtClean="0"/>
              <a:t>false</a:t>
            </a:r>
          </a:p>
          <a:p>
            <a:pPr lvl="1"/>
            <a:r>
              <a:rPr lang="en-US" altLang="zh-CN" dirty="0" smtClean="0"/>
              <a:t>Use </a:t>
            </a:r>
            <a:r>
              <a:rPr lang="en-US" altLang="zh-CN" dirty="0"/>
              <a:t>this data type for simple flags that track true/false conditions</a:t>
            </a:r>
            <a:r>
              <a:rPr lang="en-US" altLang="zh-CN" dirty="0" smtClean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358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char</a:t>
            </a:r>
          </a:p>
          <a:p>
            <a:pPr lvl="1"/>
            <a:r>
              <a:rPr lang="en-US" altLang="zh-CN" dirty="0"/>
              <a:t>The char data type is a single 16-bit Unicode character. </a:t>
            </a:r>
            <a:endParaRPr lang="en-US" altLang="zh-CN" dirty="0" smtClean="0"/>
          </a:p>
          <a:p>
            <a:pPr lvl="1" eaLnBrk="1" hangingPunct="1"/>
            <a:r>
              <a:rPr lang="en-US" altLang="zh-CN" dirty="0"/>
              <a:t>Java</a:t>
            </a:r>
            <a:r>
              <a:rPr lang="zh-CN" altLang="en-US" dirty="0"/>
              <a:t>采用</a:t>
            </a:r>
            <a:r>
              <a:rPr lang="en-US" altLang="zh-CN" dirty="0"/>
              <a:t>Unicode</a:t>
            </a:r>
            <a:r>
              <a:rPr lang="zh-CN" altLang="en-US" dirty="0"/>
              <a:t>字符码系统</a:t>
            </a:r>
          </a:p>
          <a:p>
            <a:pPr lvl="1" eaLnBrk="1" hangingPunct="1"/>
            <a:r>
              <a:rPr lang="en-US" altLang="zh-CN" dirty="0"/>
              <a:t>Unicode</a:t>
            </a:r>
            <a:r>
              <a:rPr lang="zh-CN" altLang="en-US" dirty="0"/>
              <a:t>为每个字符制订了一个唯一的</a:t>
            </a:r>
            <a:r>
              <a:rPr lang="zh-CN" altLang="en-US" dirty="0" smtClean="0"/>
              <a:t>数值</a:t>
            </a:r>
            <a:endParaRPr lang="en-US" altLang="zh-CN" dirty="0" smtClean="0"/>
          </a:p>
          <a:p>
            <a:pPr lvl="1"/>
            <a:r>
              <a:rPr lang="en-US" altLang="zh-CN" dirty="0"/>
              <a:t>Always use 'single quotes' for char literals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673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Unicode escape sequences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2420888"/>
            <a:ext cx="656272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605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Summary of </a:t>
            </a:r>
            <a:r>
              <a:rPr lang="en-US" altLang="zh-CN" b="1" dirty="0" smtClean="0"/>
              <a:t>Variables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eight primitive data types </a:t>
            </a:r>
            <a:r>
              <a:rPr lang="en-US" altLang="zh-CN" dirty="0" smtClean="0"/>
              <a:t>are</a:t>
            </a:r>
          </a:p>
          <a:p>
            <a:pPr lvl="1"/>
            <a:r>
              <a:rPr lang="en-US" altLang="zh-CN" dirty="0" smtClean="0"/>
              <a:t>byte</a:t>
            </a:r>
            <a:r>
              <a:rPr lang="en-US" altLang="zh-CN" dirty="0"/>
              <a:t>, short, </a:t>
            </a:r>
            <a:r>
              <a:rPr lang="en-US" altLang="zh-CN" dirty="0" err="1"/>
              <a:t>int</a:t>
            </a:r>
            <a:r>
              <a:rPr lang="en-US" altLang="zh-CN" dirty="0"/>
              <a:t>, </a:t>
            </a:r>
            <a:r>
              <a:rPr lang="en-US" altLang="zh-CN" dirty="0" smtClean="0"/>
              <a:t>long</a:t>
            </a:r>
          </a:p>
          <a:p>
            <a:pPr lvl="1"/>
            <a:r>
              <a:rPr lang="en-US" altLang="zh-CN" dirty="0" smtClean="0"/>
              <a:t>float</a:t>
            </a:r>
            <a:r>
              <a:rPr lang="en-US" altLang="zh-CN" dirty="0"/>
              <a:t>, </a:t>
            </a:r>
            <a:r>
              <a:rPr lang="en-US" altLang="zh-CN" dirty="0" smtClean="0"/>
              <a:t>double</a:t>
            </a:r>
          </a:p>
          <a:p>
            <a:pPr lvl="1"/>
            <a:r>
              <a:rPr lang="en-US" altLang="zh-CN" dirty="0" err="1" smtClean="0"/>
              <a:t>boolean</a:t>
            </a:r>
            <a:r>
              <a:rPr lang="en-US" altLang="zh-CN" dirty="0"/>
              <a:t>, and char. </a:t>
            </a:r>
            <a:endParaRPr lang="en-US" altLang="zh-CN" dirty="0" smtClean="0"/>
          </a:p>
          <a:p>
            <a:r>
              <a:rPr lang="en-US" altLang="zh-CN" dirty="0"/>
              <a:t>A literal is the source code representation of a fixed value.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26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56898D52-ECF7-4934-B06E-6D177E4354A5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18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Operators</a:t>
            </a:r>
            <a:endParaRPr lang="zh-CN" altLang="en-US" dirty="0" smtClean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Java was inherited from C++, most of these operators will be familiar to C and C++ programmers. </a:t>
            </a:r>
          </a:p>
          <a:p>
            <a:pPr eaLnBrk="1" hangingPunct="1"/>
            <a:r>
              <a:rPr lang="en-US" altLang="zh-CN" smtClean="0"/>
              <a:t>Java has also added some improvements and simplifications.</a:t>
            </a:r>
          </a:p>
          <a:p>
            <a:pPr eaLnBrk="1" hangingPunct="1"/>
            <a:r>
              <a:rPr lang="en-US" altLang="zh-CN" smtClean="0"/>
              <a:t>An operator takes one or more arguments and produces a new value.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06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850" y="1628800"/>
            <a:ext cx="8585200" cy="4327525"/>
          </a:xfrm>
        </p:spPr>
        <p:txBody>
          <a:bodyPr/>
          <a:lstStyle/>
          <a:p>
            <a:r>
              <a:rPr lang="en-US" altLang="zh-CN" b="1" dirty="0"/>
              <a:t>Assignment Operator</a:t>
            </a:r>
          </a:p>
          <a:p>
            <a:pPr lvl="1"/>
            <a:r>
              <a:rPr lang="en-US" altLang="zh-CN" dirty="0" smtClean="0"/>
              <a:t>=</a:t>
            </a:r>
          </a:p>
          <a:p>
            <a:r>
              <a:rPr lang="en-US" altLang="zh-CN" b="1" dirty="0"/>
              <a:t>The Arithmetic Operators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15" y="3356992"/>
            <a:ext cx="793432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740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The Equality and Relational Operators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643" y="2852936"/>
            <a:ext cx="66294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2832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The Conditional </a:t>
            </a:r>
            <a:r>
              <a:rPr lang="en-US" altLang="zh-CN" b="1" dirty="0" smtClean="0"/>
              <a:t>Operators</a:t>
            </a:r>
          </a:p>
          <a:p>
            <a:endParaRPr lang="en-US" altLang="zh-CN" b="1" dirty="0"/>
          </a:p>
          <a:p>
            <a:endParaRPr lang="en-US" altLang="zh-CN" b="1" dirty="0" smtClean="0"/>
          </a:p>
          <a:p>
            <a:endParaRPr lang="en-US" altLang="zh-CN" b="1" dirty="0"/>
          </a:p>
          <a:p>
            <a:endParaRPr lang="en-US" altLang="zh-CN" b="1" dirty="0"/>
          </a:p>
          <a:p>
            <a:pPr lvl="1"/>
            <a:r>
              <a:rPr lang="en-US" altLang="zh-CN" dirty="0"/>
              <a:t>These operators exhibit "short-circuiting" behavior, which means that the second operand is evaluated only if needed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52713"/>
            <a:ext cx="56292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486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Bitwise and Bit Shift Operators</a:t>
            </a:r>
          </a:p>
          <a:p>
            <a:pPr lvl="1"/>
            <a:r>
              <a:rPr lang="en-US" altLang="zh-CN" dirty="0"/>
              <a:t>perform bitwise and bit shift operations on integral types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operators discussed in this section are less commonly used. 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intent </a:t>
            </a:r>
            <a:r>
              <a:rPr lang="en-US" altLang="zh-CN" dirty="0"/>
              <a:t>is to simply make you aware that these </a:t>
            </a:r>
            <a:r>
              <a:rPr lang="en-US" altLang="zh-CN" dirty="0" smtClean="0"/>
              <a:t>operators exist.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096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Bitwise and Bit Shift Operators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068960"/>
            <a:ext cx="6629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9173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DEED723C-570A-4FE1-B845-01BBA40D4CFC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24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Operators</a:t>
            </a:r>
            <a:endParaRPr lang="zh-CN" altLang="en-US" dirty="0" smtClean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Type conversion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Numbers are automatically promoted to a more inclusive type if no information is lost.</a:t>
            </a:r>
            <a:endParaRPr lang="zh-CN" altLang="en-US" dirty="0" smtClean="0"/>
          </a:p>
          <a:p>
            <a:pPr lvl="1" eaLnBrk="1" hangingPunct="1"/>
            <a:endParaRPr lang="zh-CN" altLang="en-US" dirty="0" smtClean="0"/>
          </a:p>
        </p:txBody>
      </p:sp>
      <p:pic>
        <p:nvPicPr>
          <p:cNvPr id="614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11" y="3789040"/>
            <a:ext cx="828040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33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AF0D9562-B3D5-402D-A2AC-ADB060FA8DC2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25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Operators</a:t>
            </a:r>
            <a:endParaRPr lang="zh-CN" altLang="en-US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98" y="2060848"/>
            <a:ext cx="7772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38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CADF83B1-659E-44A5-BFA2-CE9A9AEE5AF1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26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Operators</a:t>
            </a:r>
            <a:endParaRPr lang="zh-CN" altLang="en-US" dirty="0" smtClean="0"/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989888" cy="41148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Casting  operator</a:t>
            </a:r>
          </a:p>
          <a:p>
            <a:pPr lvl="1" eaLnBrk="1" hangingPunct="1"/>
            <a:r>
              <a:rPr lang="en-US" altLang="zh-CN" dirty="0" smtClean="0"/>
              <a:t>Casting allows you to make this type conversion explicit, or to force it when it wouldn’t normally happen.</a:t>
            </a:r>
          </a:p>
          <a:p>
            <a:pPr lvl="1" eaLnBrk="1" hangingPunct="1"/>
            <a:r>
              <a:rPr lang="en-US" altLang="zh-CN" dirty="0" smtClean="0"/>
              <a:t>Cast should be used sparingly and with care.</a:t>
            </a:r>
            <a:endParaRPr lang="zh-CN" altLang="en-US" dirty="0" smtClean="0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1907704" y="4790282"/>
            <a:ext cx="5545138" cy="5889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 smtClean="0">
                <a:solidFill>
                  <a:schemeClr val="tx1"/>
                </a:solidFill>
              </a:rPr>
              <a:t>(converted-type)variable;</a:t>
            </a:r>
            <a:endParaRPr lang="en-US" altLang="zh-CN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54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2812F683-FB5B-4974-85C3-DCFFEC806AC0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27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Operators</a:t>
            </a:r>
            <a:endParaRPr lang="zh-CN" altLang="en-US" dirty="0" smtClean="0"/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395288" y="2349500"/>
            <a:ext cx="8353425" cy="35179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//Casting.java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public class Casting{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	public static void main(String[ ] args){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		int x=10;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		int y=3;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		System.out.println("x/y="+ </a:t>
            </a:r>
            <a:r>
              <a:rPr lang="en-US" altLang="zh-CN" sz="2800" b="1">
                <a:ea typeface="宋体" pitchFamily="2" charset="-122"/>
              </a:rPr>
              <a:t>(float)x/y</a:t>
            </a: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 );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	}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770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68FB7940-A4B1-4A62-A341-3CB2796DBCE9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28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Operators</a:t>
            </a:r>
            <a:endParaRPr lang="zh-CN" altLang="en-US" dirty="0" smtClean="0"/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Casting  operator</a:t>
            </a:r>
          </a:p>
          <a:p>
            <a:pPr lvl="1" eaLnBrk="1" hangingPunct="1"/>
            <a:r>
              <a:rPr lang="en-US" altLang="zh-CN" dirty="0" smtClean="0"/>
              <a:t>Java allows you to cast any primitive type to any other primitive type, except for 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, which doesn’t allow any casting at all.</a:t>
            </a:r>
          </a:p>
          <a:p>
            <a:pPr lvl="1" eaLnBrk="1" hangingPunct="1"/>
            <a:r>
              <a:rPr lang="en-US" altLang="zh-CN" dirty="0" smtClean="0"/>
              <a:t>Class types do not allow casting.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6314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Operators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Precedence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defines how an expression evaluates when several operators are present.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Java has specific rules that determine the order of evaluation.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multiplication and division happen before addition and subtraction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use parentheses to make the order of evaluation explicit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439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6C3612AC-14FE-4249-A63F-6DA8FA1C4B7A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30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Summary </a:t>
            </a:r>
          </a:p>
        </p:txBody>
      </p:sp>
      <p:pic>
        <p:nvPicPr>
          <p:cNvPr id="7270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060575"/>
            <a:ext cx="77724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27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085DF3DC-92F5-4A59-A3B0-83C2337608D5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31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Summary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Promotion</a:t>
            </a:r>
            <a:endParaRPr lang="zh-CN" altLang="en-US" dirty="0"/>
          </a:p>
          <a:p>
            <a:pPr lvl="1" eaLnBrk="1" hangingPunct="1"/>
            <a:r>
              <a:rPr lang="en-US" altLang="zh-CN" dirty="0" smtClean="0"/>
              <a:t>Automatic </a:t>
            </a:r>
            <a:endParaRPr lang="zh-CN" altLang="en-US" dirty="0" smtClean="0"/>
          </a:p>
          <a:p>
            <a:pPr lvl="2" eaLnBrk="1" hangingPunct="1"/>
            <a:endParaRPr lang="zh-CN" altLang="en-US" dirty="0" smtClean="0"/>
          </a:p>
          <a:p>
            <a:pPr lvl="2" eaLnBrk="1" hangingPunct="1"/>
            <a:endParaRPr lang="zh-CN" altLang="en-US" dirty="0" smtClean="0"/>
          </a:p>
          <a:p>
            <a:pPr lvl="2" eaLnBrk="1" hangingPunct="1"/>
            <a:endParaRPr lang="zh-CN" altLang="en-US" dirty="0" smtClean="0"/>
          </a:p>
          <a:p>
            <a:pPr lvl="2" eaLnBrk="1" hangingPunct="1"/>
            <a:endParaRPr lang="zh-CN" altLang="en-US" dirty="0" smtClean="0"/>
          </a:p>
          <a:p>
            <a:pPr lvl="2" eaLnBrk="1" hangingPunct="1"/>
            <a:endParaRPr lang="zh-CN" altLang="en-US" dirty="0" smtClean="0"/>
          </a:p>
          <a:p>
            <a:pPr lvl="1" eaLnBrk="1" hangingPunct="1"/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Casting operator</a:t>
            </a:r>
            <a:endParaRPr lang="zh-CN" altLang="en-US" dirty="0" smtClean="0"/>
          </a:p>
        </p:txBody>
      </p:sp>
      <p:pic>
        <p:nvPicPr>
          <p:cNvPr id="7373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84538"/>
            <a:ext cx="8280400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35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EBC01EDE-C1A9-4AA4-B99C-E7B95D9EEDDD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32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if Statements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1805915"/>
            <a:ext cx="80071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itchFamily="34" charset="0"/>
              </a:rPr>
              <a:t>Note that Java doesn’t allow you to use a number as a </a:t>
            </a:r>
            <a:r>
              <a:rPr lang="en-US" altLang="zh-CN" sz="2400" b="1" dirty="0" err="1" smtClean="0">
                <a:latin typeface="Arial" pitchFamily="34" charset="0"/>
              </a:rPr>
              <a:t>boolean</a:t>
            </a:r>
            <a:r>
              <a:rPr lang="en-US" altLang="zh-CN" sz="2400" b="1" dirty="0" smtClean="0">
                <a:latin typeface="Arial" pitchFamily="34" charset="0"/>
              </a:rPr>
              <a:t>.</a:t>
            </a:r>
            <a:endParaRPr lang="zh-CN" altLang="en-US" sz="2400" b="1" dirty="0">
              <a:latin typeface="Arial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36912"/>
            <a:ext cx="8886825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0924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1DB41D40-2FBA-4380-88F1-D5E7E4915852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33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if Statements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Ternary if-else operator</a:t>
            </a:r>
            <a:endParaRPr lang="zh-CN" altLang="en-US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53" y="2708920"/>
            <a:ext cx="698182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963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91F2224E-7D49-4015-B871-08602BE2C8A1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34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switch Statements</a:t>
            </a:r>
            <a:endParaRPr lang="zh-CN" altLang="en-US" dirty="0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switch Statements</a:t>
            </a:r>
          </a:p>
          <a:p>
            <a:pPr lvl="1" eaLnBrk="1" hangingPunct="1"/>
            <a:r>
              <a:rPr lang="en-US" altLang="zh-CN" dirty="0" smtClean="0"/>
              <a:t>selection statement</a:t>
            </a:r>
            <a:endParaRPr lang="zh-CN" altLang="en-US" dirty="0" smtClean="0"/>
          </a:p>
          <a:p>
            <a:pPr lvl="1" eaLnBrk="1" hangingPunct="1"/>
            <a:r>
              <a:rPr lang="en-US" altLang="zh-CN" dirty="0"/>
              <a:t>have a number of possible execution paths</a:t>
            </a:r>
            <a:r>
              <a:rPr lang="en-US" altLang="zh-CN" dirty="0" smtClean="0"/>
              <a:t>.</a:t>
            </a:r>
          </a:p>
          <a:p>
            <a:pPr lvl="1" eaLnBrk="1" hangingPunct="1"/>
            <a:r>
              <a:rPr lang="en-US" altLang="zh-CN" dirty="0" smtClean="0"/>
              <a:t>Switch</a:t>
            </a:r>
            <a:r>
              <a:rPr lang="zh-CN" altLang="en-US" dirty="0" smtClean="0"/>
              <a:t>语句中选择值只能是字符或整形常量</a:t>
            </a:r>
          </a:p>
          <a:p>
            <a:pPr lvl="1" eaLnBrk="1" hangingPunct="1"/>
            <a:r>
              <a:rPr lang="en-US" altLang="zh-CN" dirty="0" smtClean="0"/>
              <a:t>each case ends with a break</a:t>
            </a:r>
          </a:p>
          <a:p>
            <a:pPr lvl="1" eaLnBrk="1" hangingPunct="1"/>
            <a:r>
              <a:rPr lang="en-US" altLang="zh-CN" dirty="0" smtClean="0"/>
              <a:t>But the break is optional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7388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AFE6F096-D2E8-4B3C-92DD-BAE8B3D799ED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35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switch Statements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844824"/>
            <a:ext cx="54197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017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switch </a:t>
            </a:r>
            <a:r>
              <a:rPr lang="en-US" altLang="zh-CN" dirty="0"/>
              <a:t>Statements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Using Strings in switch Statements</a:t>
            </a:r>
          </a:p>
          <a:p>
            <a:pPr lvl="1"/>
            <a:r>
              <a:rPr lang="en-US" altLang="zh-CN" dirty="0"/>
              <a:t>In Java SE 7 and later, you can use a String object in the switch statement's expression.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B49F-9CF1-4A24-B525-7403DAD410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585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77AC4236-72C0-4D3E-886B-762E71D28964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37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46" y="446128"/>
            <a:ext cx="8896350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508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ADDB0C69-FAD6-49F2-A0BF-9558E09651E0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38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while Statements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事先不知道循环该执行多少次</a:t>
            </a:r>
          </a:p>
          <a:p>
            <a:pPr eaLnBrk="1" hangingPunct="1"/>
            <a:r>
              <a:rPr lang="en-US" altLang="zh-CN" smtClean="0"/>
              <a:t>While</a:t>
            </a:r>
            <a:r>
              <a:rPr lang="zh-CN" altLang="en-US" smtClean="0"/>
              <a:t>语句先判断，后执行</a:t>
            </a: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763713" y="3860800"/>
            <a:ext cx="5795962" cy="1562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while (Boolean-expression){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           increment/decrement counter;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966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3"/>
          <p:cNvSpPr>
            <a:spLocks noChangeArrowheads="1"/>
          </p:cNvSpPr>
          <p:nvPr/>
        </p:nvSpPr>
        <p:spPr bwMode="auto">
          <a:xfrm>
            <a:off x="3779838" y="2935288"/>
            <a:ext cx="2159000" cy="539750"/>
          </a:xfrm>
          <a:prstGeom prst="diamond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smtClean="0">
                <a:solidFill>
                  <a:schemeClr val="tx1"/>
                </a:solidFill>
              </a:rPr>
              <a:t>Boolean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smtClean="0">
                <a:solidFill>
                  <a:schemeClr val="tx1"/>
                </a:solidFill>
              </a:rPr>
              <a:t>expression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3795713" y="3943350"/>
            <a:ext cx="2159000" cy="539750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</a:rPr>
              <a:t>statement or block</a:t>
            </a:r>
          </a:p>
        </p:txBody>
      </p:sp>
      <p:sp>
        <p:nvSpPr>
          <p:cNvPr id="24580" name="Line 5"/>
          <p:cNvSpPr>
            <a:spLocks noChangeShapeType="1"/>
          </p:cNvSpPr>
          <p:nvPr/>
        </p:nvSpPr>
        <p:spPr bwMode="auto">
          <a:xfrm>
            <a:off x="4859338" y="2422525"/>
            <a:ext cx="0" cy="504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Line 6"/>
          <p:cNvSpPr>
            <a:spLocks noChangeShapeType="1"/>
          </p:cNvSpPr>
          <p:nvPr/>
        </p:nvSpPr>
        <p:spPr bwMode="auto">
          <a:xfrm>
            <a:off x="4859338" y="3487738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2" name="Line 7"/>
          <p:cNvSpPr>
            <a:spLocks noChangeShapeType="1"/>
          </p:cNvSpPr>
          <p:nvPr/>
        </p:nvSpPr>
        <p:spPr bwMode="auto">
          <a:xfrm>
            <a:off x="4859338" y="4479925"/>
            <a:ext cx="0" cy="390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Line 8"/>
          <p:cNvSpPr>
            <a:spLocks noChangeShapeType="1"/>
          </p:cNvSpPr>
          <p:nvPr/>
        </p:nvSpPr>
        <p:spPr bwMode="auto">
          <a:xfrm>
            <a:off x="3203575" y="5086350"/>
            <a:ext cx="16557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Line 9"/>
          <p:cNvSpPr>
            <a:spLocks noChangeShapeType="1"/>
          </p:cNvSpPr>
          <p:nvPr/>
        </p:nvSpPr>
        <p:spPr bwMode="auto">
          <a:xfrm>
            <a:off x="3203575" y="2709863"/>
            <a:ext cx="0" cy="23764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3203575" y="2676525"/>
            <a:ext cx="16557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1"/>
          <p:cNvSpPr>
            <a:spLocks noChangeShapeType="1"/>
          </p:cNvSpPr>
          <p:nvPr/>
        </p:nvSpPr>
        <p:spPr bwMode="auto">
          <a:xfrm>
            <a:off x="5938838" y="3208338"/>
            <a:ext cx="7921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2"/>
          <p:cNvSpPr>
            <a:spLocks noChangeShapeType="1"/>
          </p:cNvSpPr>
          <p:nvPr/>
        </p:nvSpPr>
        <p:spPr bwMode="auto">
          <a:xfrm>
            <a:off x="6731000" y="3208338"/>
            <a:ext cx="0" cy="2597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Line 13"/>
          <p:cNvSpPr>
            <a:spLocks noChangeShapeType="1"/>
          </p:cNvSpPr>
          <p:nvPr/>
        </p:nvSpPr>
        <p:spPr bwMode="auto">
          <a:xfrm>
            <a:off x="4859338" y="5805488"/>
            <a:ext cx="18716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14"/>
          <p:cNvSpPr>
            <a:spLocks noChangeShapeType="1"/>
          </p:cNvSpPr>
          <p:nvPr/>
        </p:nvSpPr>
        <p:spPr bwMode="auto">
          <a:xfrm>
            <a:off x="4859338" y="5805488"/>
            <a:ext cx="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Text Box 15"/>
          <p:cNvSpPr txBox="1">
            <a:spLocks noChangeArrowheads="1"/>
          </p:cNvSpPr>
          <p:nvPr/>
        </p:nvSpPr>
        <p:spPr bwMode="auto">
          <a:xfrm>
            <a:off x="4859338" y="3455988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24591" name="Text Box 16"/>
          <p:cNvSpPr txBox="1">
            <a:spLocks noChangeArrowheads="1"/>
          </p:cNvSpPr>
          <p:nvPr/>
        </p:nvSpPr>
        <p:spPr bwMode="auto">
          <a:xfrm>
            <a:off x="5868988" y="2879725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F</a:t>
            </a:r>
          </a:p>
        </p:txBody>
      </p:sp>
      <p:sp>
        <p:nvSpPr>
          <p:cNvPr id="24592" name="Rectangle 17"/>
          <p:cNvSpPr>
            <a:spLocks noChangeArrowheads="1"/>
          </p:cNvSpPr>
          <p:nvPr/>
        </p:nvSpPr>
        <p:spPr bwMode="auto">
          <a:xfrm>
            <a:off x="3779837" y="4916488"/>
            <a:ext cx="2555081" cy="360362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smtClean="0">
                <a:solidFill>
                  <a:schemeClr val="tx1"/>
                </a:solidFill>
              </a:rPr>
              <a:t>Increment/decrement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4593" name="Rectangle 18"/>
          <p:cNvSpPr>
            <a:spLocks noChangeArrowheads="1"/>
          </p:cNvSpPr>
          <p:nvPr/>
        </p:nvSpPr>
        <p:spPr bwMode="auto">
          <a:xfrm>
            <a:off x="3851275" y="2062163"/>
            <a:ext cx="2159000" cy="360362"/>
          </a:xfrm>
          <a:prstGeom prst="rect">
            <a:avLst/>
          </a:prstGeom>
          <a:solidFill>
            <a:srgbClr val="CC99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smtClean="0">
                <a:solidFill>
                  <a:schemeClr val="tx1"/>
                </a:solidFill>
              </a:rPr>
              <a:t>initialize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4594" name="Rectangle 19"/>
          <p:cNvSpPr>
            <a:spLocks noChangeArrowheads="1"/>
          </p:cNvSpPr>
          <p:nvPr/>
        </p:nvSpPr>
        <p:spPr bwMode="auto">
          <a:xfrm>
            <a:off x="2484438" y="2565400"/>
            <a:ext cx="4824412" cy="2879725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5" name="Rectangle 20"/>
          <p:cNvSpPr>
            <a:spLocks noChangeArrowheads="1"/>
          </p:cNvSpPr>
          <p:nvPr/>
        </p:nvSpPr>
        <p:spPr bwMode="auto">
          <a:xfrm>
            <a:off x="2051050" y="188913"/>
            <a:ext cx="5795963" cy="1562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while (Boolean-expression){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           increment/decrement counter;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2186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13824493-1B6D-47C6-A86B-476BAF2B2B8C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40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do…while Statements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do…while</a:t>
            </a:r>
          </a:p>
          <a:p>
            <a:pPr lvl="1" eaLnBrk="1" hangingPunct="1"/>
            <a:r>
              <a:rPr lang="en-US" altLang="zh-CN" smtClean="0"/>
              <a:t>The sole difference between while and do-while is that the statement of the do-while always executes at least once, even if the expression evaluates to false the first time</a:t>
            </a:r>
            <a:endParaRPr lang="zh-CN" altLang="en-US" smtClean="0"/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2051050" y="4581525"/>
            <a:ext cx="5576888" cy="1562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do {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increment/decrement counter;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 while (Boolean-expression); </a:t>
            </a:r>
          </a:p>
        </p:txBody>
      </p:sp>
    </p:spTree>
    <p:extLst>
      <p:ext uri="{BB962C8B-B14F-4D97-AF65-F5344CB8AC3E}">
        <p14:creationId xmlns:p14="http://schemas.microsoft.com/office/powerpoint/2010/main" val="2141439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979613" y="260350"/>
            <a:ext cx="5576887" cy="1562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do {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increment/decrement counter;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 while (Boolean-expression); </a:t>
            </a:r>
          </a:p>
        </p:txBody>
      </p:sp>
      <p:sp>
        <p:nvSpPr>
          <p:cNvPr id="28675" name="AutoShape 3"/>
          <p:cNvSpPr>
            <a:spLocks noChangeArrowheads="1"/>
          </p:cNvSpPr>
          <p:nvPr/>
        </p:nvSpPr>
        <p:spPr bwMode="auto">
          <a:xfrm>
            <a:off x="3851275" y="5156200"/>
            <a:ext cx="2159000" cy="539750"/>
          </a:xfrm>
          <a:prstGeom prst="diamond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Boolean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smtClean="0">
                <a:solidFill>
                  <a:schemeClr val="tx1"/>
                </a:solidFill>
              </a:rPr>
              <a:t>expression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779838" y="3284538"/>
            <a:ext cx="2159000" cy="539750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</a:rPr>
              <a:t>statement or block</a:t>
            </a:r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4932363" y="2779713"/>
            <a:ext cx="0" cy="504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4932363" y="3856038"/>
            <a:ext cx="0" cy="390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>
            <a:off x="3203575" y="3140968"/>
            <a:ext cx="1799736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3203575" y="3140968"/>
            <a:ext cx="0" cy="230415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3203575" y="5445125"/>
            <a:ext cx="6477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 flipH="1">
            <a:off x="4932363" y="5734050"/>
            <a:ext cx="1587" cy="792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4932363" y="4652963"/>
            <a:ext cx="0" cy="5032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3348038" y="494030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5003800" y="5614988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F</a:t>
            </a:r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3491880" y="4292600"/>
            <a:ext cx="2952402" cy="360363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Increment/decrement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3851275" y="2420938"/>
            <a:ext cx="2159000" cy="360362"/>
          </a:xfrm>
          <a:prstGeom prst="rect">
            <a:avLst/>
          </a:prstGeom>
          <a:solidFill>
            <a:srgbClr val="CC99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initialize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2484438" y="3070225"/>
            <a:ext cx="4824412" cy="2879725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591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EC8A30EF-4FEE-4FE1-8DB7-2A01D25F055E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42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for Statements</a:t>
            </a: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395288" y="3284538"/>
            <a:ext cx="8656637" cy="11969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for (initialize; Boolean-expression; increment/decrement) 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 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1187450" y="1916113"/>
            <a:ext cx="6645275" cy="11969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for(Expression1;Expression2;Expression3) 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statements;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2987675" y="4652963"/>
            <a:ext cx="3422650" cy="19272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Expression1;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while( Expression2 ) {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Block;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	Expression3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ea typeface="宋体" pitchFamily="2" charset="-122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426569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FDF1F486-8F79-4F6C-8EFE-442780F9AD53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43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for Statements</a:t>
            </a:r>
          </a:p>
        </p:txBody>
      </p:sp>
      <p:sp>
        <p:nvSpPr>
          <p:cNvPr id="31748" name="AutoShape 3"/>
          <p:cNvSpPr>
            <a:spLocks noChangeArrowheads="1"/>
          </p:cNvSpPr>
          <p:nvPr/>
        </p:nvSpPr>
        <p:spPr bwMode="auto">
          <a:xfrm>
            <a:off x="3779838" y="3079750"/>
            <a:ext cx="2159000" cy="539750"/>
          </a:xfrm>
          <a:prstGeom prst="diamond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Boolean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expression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3795713" y="4087813"/>
            <a:ext cx="2159000" cy="539750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</a:rPr>
              <a:t>statement or block</a:t>
            </a:r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>
            <a:off x="4859338" y="2566988"/>
            <a:ext cx="0" cy="504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4859338" y="3632200"/>
            <a:ext cx="0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4859338" y="4624388"/>
            <a:ext cx="0" cy="390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>
            <a:off x="3203575" y="5230813"/>
            <a:ext cx="16557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3203575" y="2854325"/>
            <a:ext cx="0" cy="23764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3203575" y="2820988"/>
            <a:ext cx="16557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>
            <a:off x="5938838" y="3352800"/>
            <a:ext cx="7921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6731000" y="3352800"/>
            <a:ext cx="0" cy="2597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13"/>
          <p:cNvSpPr>
            <a:spLocks noChangeShapeType="1"/>
          </p:cNvSpPr>
          <p:nvPr/>
        </p:nvSpPr>
        <p:spPr bwMode="auto">
          <a:xfrm>
            <a:off x="4859338" y="5949950"/>
            <a:ext cx="18716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14"/>
          <p:cNvSpPr>
            <a:spLocks noChangeShapeType="1"/>
          </p:cNvSpPr>
          <p:nvPr/>
        </p:nvSpPr>
        <p:spPr bwMode="auto">
          <a:xfrm>
            <a:off x="4859338" y="5949950"/>
            <a:ext cx="0" cy="7921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0" name="Text Box 15"/>
          <p:cNvSpPr txBox="1">
            <a:spLocks noChangeArrowheads="1"/>
          </p:cNvSpPr>
          <p:nvPr/>
        </p:nvSpPr>
        <p:spPr bwMode="auto">
          <a:xfrm>
            <a:off x="4859338" y="360045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31761" name="Text Box 16"/>
          <p:cNvSpPr txBox="1">
            <a:spLocks noChangeArrowheads="1"/>
          </p:cNvSpPr>
          <p:nvPr/>
        </p:nvSpPr>
        <p:spPr bwMode="auto">
          <a:xfrm>
            <a:off x="5868988" y="3024188"/>
            <a:ext cx="504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chemeClr val="tx1"/>
                </a:solidFill>
                <a:ea typeface="宋体" pitchFamily="2" charset="-122"/>
              </a:rPr>
              <a:t>F</a:t>
            </a:r>
          </a:p>
        </p:txBody>
      </p:sp>
      <p:sp>
        <p:nvSpPr>
          <p:cNvPr id="31762" name="Rectangle 17"/>
          <p:cNvSpPr>
            <a:spLocks noChangeArrowheads="1"/>
          </p:cNvSpPr>
          <p:nvPr/>
        </p:nvSpPr>
        <p:spPr bwMode="auto">
          <a:xfrm>
            <a:off x="3779838" y="5060950"/>
            <a:ext cx="2808386" cy="360363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1800" b="1" dirty="0" smtClean="0">
                <a:solidFill>
                  <a:schemeClr val="tx1"/>
                </a:solidFill>
              </a:rPr>
              <a:t>Increment/decrement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1763" name="Rectangle 18"/>
          <p:cNvSpPr>
            <a:spLocks noChangeArrowheads="1"/>
          </p:cNvSpPr>
          <p:nvPr/>
        </p:nvSpPr>
        <p:spPr bwMode="auto">
          <a:xfrm>
            <a:off x="3851275" y="2206625"/>
            <a:ext cx="2159000" cy="360363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initialize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1764" name="Rectangle 19"/>
          <p:cNvSpPr>
            <a:spLocks noChangeArrowheads="1"/>
          </p:cNvSpPr>
          <p:nvPr/>
        </p:nvSpPr>
        <p:spPr bwMode="auto">
          <a:xfrm>
            <a:off x="2484438" y="1989138"/>
            <a:ext cx="4824412" cy="3600450"/>
          </a:xfrm>
          <a:prstGeom prst="rect">
            <a:avLst/>
          </a:prstGeom>
          <a:noFill/>
          <a:ln w="571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220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8BE5F867-78DC-454D-ADB7-86E3B9EC5CBA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44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Break and continue</a:t>
            </a:r>
            <a:endParaRPr lang="zh-CN" altLang="en-US" dirty="0" smtClean="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Break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statement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Immediately exits the loops</a:t>
            </a:r>
            <a:endParaRPr lang="zh-CN" altLang="en-US" dirty="0" smtClean="0"/>
          </a:p>
          <a:p>
            <a:pPr lvl="1" eaLnBrk="1" hangingPunct="1"/>
            <a:endParaRPr lang="zh-CN" altLang="en-US" dirty="0" smtClean="0"/>
          </a:p>
          <a:p>
            <a:pPr eaLnBrk="1" hangingPunct="1"/>
            <a:r>
              <a:rPr lang="en-US" altLang="zh-CN" dirty="0" smtClean="0"/>
              <a:t>Continue </a:t>
            </a:r>
            <a:r>
              <a:rPr lang="en-US" altLang="zh-CN" dirty="0"/>
              <a:t>statement</a:t>
            </a:r>
            <a:endParaRPr lang="zh-CN" altLang="en-US" dirty="0"/>
          </a:p>
          <a:p>
            <a:pPr lvl="1" eaLnBrk="1" hangingPunct="1"/>
            <a:r>
              <a:rPr lang="en-US" altLang="zh-CN" dirty="0" smtClean="0"/>
              <a:t>Immediately begins the next iteration of the loop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6450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A44C8480-8BDD-4278-A4F1-E83BC4B1DA9A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45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Scoping </a:t>
            </a:r>
            <a:endParaRPr lang="zh-CN" altLang="en-US" dirty="0" smtClean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Scoping</a:t>
            </a:r>
          </a:p>
          <a:p>
            <a:pPr lvl="1" eaLnBrk="1" hangingPunct="1"/>
            <a:r>
              <a:rPr lang="en-US" altLang="zh-CN" dirty="0" smtClean="0">
                <a:latin typeface="Arial" pitchFamily="34" charset="0"/>
              </a:rPr>
              <a:t>Determines both </a:t>
            </a:r>
            <a:r>
              <a:rPr lang="en-US" altLang="zh-CN" dirty="0">
                <a:latin typeface="Arial" pitchFamily="34" charset="0"/>
              </a:rPr>
              <a:t>the visibility and lifetime of the names defined within that scope. </a:t>
            </a:r>
          </a:p>
          <a:p>
            <a:pPr lvl="1" eaLnBrk="1" hangingPunct="1"/>
            <a:r>
              <a:rPr lang="en-US" altLang="zh-CN" dirty="0">
                <a:latin typeface="Arial" pitchFamily="34" charset="0"/>
              </a:rPr>
              <a:t>In C, C++, and Java, scope is determined by the placement of curly braces {}</a:t>
            </a:r>
            <a:endParaRPr lang="zh-CN" altLang="en-US" dirty="0">
              <a:latin typeface="Arial" pitchFamily="34" charset="0"/>
            </a:endParaRPr>
          </a:p>
          <a:p>
            <a:pPr lvl="1" eaLnBrk="1" hangingPunct="1"/>
            <a:r>
              <a:rPr lang="en-US" altLang="zh-CN" dirty="0" smtClean="0"/>
              <a:t>Determination comes </a:t>
            </a:r>
            <a:r>
              <a:rPr lang="en-US" altLang="zh-CN" dirty="0"/>
              <a:t>entirely from the location in which the variable is declared — which is between the opening and closing braces of a method.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6679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40AC89BD-9024-43B3-9918-B84969D065B8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46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Scoping </a:t>
            </a:r>
            <a:endParaRPr lang="zh-CN" altLang="en-US" dirty="0" smtClean="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051050" y="2349500"/>
            <a:ext cx="5688013" cy="2292350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	int x = 12;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	{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		int x = 96; // Illegal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	}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}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1403350" y="5084763"/>
            <a:ext cx="6973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sz="2000" b="1"/>
              <a:t>The compiler will announce that the variable x has already been defined.</a:t>
            </a:r>
            <a:endParaRPr lang="zh-CN" altLang="en-US" sz="2000" b="1"/>
          </a:p>
        </p:txBody>
      </p:sp>
    </p:spTree>
    <p:extLst>
      <p:ext uri="{BB962C8B-B14F-4D97-AF65-F5344CB8AC3E}">
        <p14:creationId xmlns:p14="http://schemas.microsoft.com/office/powerpoint/2010/main" val="244589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77A9FE14-7760-4A75-9F4A-9651DB1AECFD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47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</a:p>
          <a:p>
            <a:pPr lvl="1" eaLnBrk="1" hangingPunct="1"/>
            <a:r>
              <a:rPr lang="en-US" altLang="zh-CN" dirty="0"/>
              <a:t>Comments are ignored by the compiler but are useful to other programmers. </a:t>
            </a:r>
            <a:endParaRPr lang="en-US" altLang="zh-CN" dirty="0" smtClean="0"/>
          </a:p>
          <a:p>
            <a:pPr lvl="1" eaLnBrk="1" hangingPunct="1"/>
            <a:r>
              <a:rPr lang="en-US" altLang="zh-CN" dirty="0"/>
              <a:t> The Java programming language supports three kinds of </a:t>
            </a:r>
            <a:r>
              <a:rPr lang="en-US" altLang="zh-CN" dirty="0" smtClean="0"/>
              <a:t>comments</a:t>
            </a:r>
          </a:p>
          <a:p>
            <a:pPr lvl="2" eaLnBrk="1" hangingPunct="1"/>
            <a:r>
              <a:rPr lang="en-US" altLang="zh-CN" dirty="0"/>
              <a:t>Comments on one line</a:t>
            </a:r>
          </a:p>
          <a:p>
            <a:pPr lvl="2" eaLnBrk="1" hangingPunct="1"/>
            <a:r>
              <a:rPr lang="en-US" altLang="zh-CN" dirty="0"/>
              <a:t>Comments on one or more lines</a:t>
            </a:r>
          </a:p>
          <a:p>
            <a:pPr lvl="2" eaLnBrk="1" hangingPunct="1"/>
            <a:r>
              <a:rPr lang="en-US" altLang="zh-CN" dirty="0"/>
              <a:t>Documentation comments</a:t>
            </a:r>
          </a:p>
          <a:p>
            <a:pPr marL="914400" lvl="2" indent="0" eaLnBrk="1" hangingPunct="1"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1096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F56A6084-6063-4D9D-9E05-5636C406DAEF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48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  <a:endParaRPr lang="zh-CN" altLang="en-US" dirty="0" smtClean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 on one line</a:t>
            </a:r>
          </a:p>
          <a:p>
            <a:pPr lvl="1" eaLnBrk="1" hangingPunct="1"/>
            <a:r>
              <a:rPr lang="en-US" altLang="zh-CN" dirty="0"/>
              <a:t>The compiler ignores everything from // to the end of the line.</a:t>
            </a:r>
            <a:endParaRPr lang="zh-CN" altLang="en-US" dirty="0" smtClean="0"/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611560" y="3717032"/>
            <a:ext cx="8139064" cy="9562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// T</a:t>
            </a:r>
            <a:r>
              <a:rPr lang="en-US" altLang="zh-CN" sz="2800" b="1" dirty="0" smtClean="0"/>
              <a:t>his is comment on one line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 err="1">
                <a:solidFill>
                  <a:schemeClr val="tx1"/>
                </a:solidFill>
              </a:rPr>
              <a:t>int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dirty="0" err="1">
                <a:solidFill>
                  <a:schemeClr val="tx1"/>
                </a:solidFill>
              </a:rPr>
              <a:t>num</a:t>
            </a:r>
            <a:r>
              <a:rPr lang="en-US" altLang="zh-CN" sz="2800" b="1" dirty="0">
                <a:solidFill>
                  <a:schemeClr val="tx1"/>
                </a:solidFill>
              </a:rPr>
              <a:t> = 10;   </a:t>
            </a:r>
            <a:r>
              <a:rPr lang="en-US" altLang="zh-CN" sz="2800" b="1" dirty="0"/>
              <a:t>// </a:t>
            </a:r>
            <a:r>
              <a:rPr lang="en-US" altLang="zh-CN" sz="2800" b="1" dirty="0" smtClean="0"/>
              <a:t>declare a variable named </a:t>
            </a:r>
            <a:r>
              <a:rPr lang="en-US" altLang="zh-CN" sz="2800" b="1" dirty="0" err="1" smtClean="0"/>
              <a:t>num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4400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2AE0ECAF-6310-4FFA-95F4-4FC8E10D551B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49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  <a:endParaRPr lang="zh-CN" altLang="en-US" dirty="0" smtClean="0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 on one or more lines</a:t>
            </a:r>
          </a:p>
          <a:p>
            <a:pPr lvl="1" eaLnBrk="1" hangingPunct="1"/>
            <a:r>
              <a:rPr lang="en-US" altLang="zh-CN" dirty="0"/>
              <a:t>The compiler ignores everything from /* to */.</a:t>
            </a:r>
            <a:endParaRPr lang="zh-CN" altLang="en-US" dirty="0" smtClean="0"/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2915816" y="3501008"/>
            <a:ext cx="2970983" cy="18180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/*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	</a:t>
            </a:r>
            <a:r>
              <a:rPr lang="en-US" altLang="zh-CN" sz="2800" b="1" dirty="0" err="1">
                <a:solidFill>
                  <a:schemeClr val="tx1"/>
                </a:solidFill>
              </a:rPr>
              <a:t>int</a:t>
            </a:r>
            <a:r>
              <a:rPr lang="en-US" altLang="zh-CN" sz="2800" b="1" dirty="0">
                <a:solidFill>
                  <a:schemeClr val="tx1"/>
                </a:solidFill>
              </a:rPr>
              <a:t> 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= </a:t>
            </a:r>
            <a:r>
              <a:rPr lang="en-US" altLang="zh-CN" sz="2800" b="1" dirty="0">
                <a:solidFill>
                  <a:schemeClr val="tx1"/>
                </a:solidFill>
              </a:rPr>
              <a:t>10; </a:t>
            </a:r>
            <a:r>
              <a:rPr lang="en-US" altLang="zh-CN" sz="2800" b="1" dirty="0">
                <a:solidFill>
                  <a:schemeClr val="folHlink"/>
                </a:solidFill>
              </a:rPr>
              <a:t>// 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	</a:t>
            </a:r>
            <a:r>
              <a:rPr lang="en-US" altLang="zh-CN" sz="2800" b="1" dirty="0" err="1">
                <a:solidFill>
                  <a:schemeClr val="tx1"/>
                </a:solidFill>
              </a:rPr>
              <a:t>int</a:t>
            </a:r>
            <a:r>
              <a:rPr lang="en-US" altLang="zh-CN" sz="2800" b="1" dirty="0">
                <a:solidFill>
                  <a:schemeClr val="tx1"/>
                </a:solidFill>
              </a:rPr>
              <a:t> x=5;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19076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39127F3A-8252-4C4F-B264-9755A3B43793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50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57400"/>
            <a:ext cx="8496300" cy="41148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Documentation comments</a:t>
            </a:r>
          </a:p>
          <a:p>
            <a:pPr lvl="1" eaLnBrk="1" hangingPunct="1"/>
            <a:r>
              <a:rPr lang="zh-CN" altLang="en-US" dirty="0" smtClean="0"/>
              <a:t>以</a:t>
            </a:r>
            <a:r>
              <a:rPr lang="en-US" altLang="zh-CN" dirty="0" smtClean="0"/>
              <a:t>/**</a:t>
            </a:r>
            <a:r>
              <a:rPr lang="zh-CN" altLang="en-US" dirty="0" smtClean="0"/>
              <a:t>开头，以*</a:t>
            </a:r>
            <a:r>
              <a:rPr lang="en-US" altLang="zh-CN" dirty="0" smtClean="0"/>
              <a:t>/</a:t>
            </a:r>
            <a:r>
              <a:rPr lang="zh-CN" altLang="en-US" dirty="0" smtClean="0"/>
              <a:t>结尾，中间可以加入特殊的指令</a:t>
            </a:r>
          </a:p>
          <a:p>
            <a:pPr lvl="1" eaLnBrk="1" hangingPunct="1"/>
            <a:r>
              <a:rPr lang="zh-CN" altLang="en-US" dirty="0" smtClean="0"/>
              <a:t>文档注释放在类、变量和方法之前，说明其作用</a:t>
            </a: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3779838" y="4076700"/>
            <a:ext cx="2366962" cy="19272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/**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* Title: test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* </a:t>
            </a:r>
            <a:r>
              <a:rPr lang="en-US" altLang="zh-CN" sz="2400" b="1"/>
              <a:t>@author</a:t>
            </a:r>
            <a:r>
              <a:rPr lang="en-US" altLang="zh-CN" sz="2400" b="1">
                <a:solidFill>
                  <a:schemeClr val="tx1"/>
                </a:solidFill>
              </a:rPr>
              <a:t> yw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* </a:t>
            </a:r>
            <a:r>
              <a:rPr lang="en-US" altLang="zh-CN" sz="2400" b="1"/>
              <a:t>@version</a:t>
            </a:r>
            <a:r>
              <a:rPr lang="en-US" altLang="zh-CN" sz="2400" b="1">
                <a:solidFill>
                  <a:schemeClr val="tx1"/>
                </a:solidFill>
              </a:rPr>
              <a:t> 1.0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259925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fld id="{EFB3E879-FBD0-4887-8273-56DB56CA54C3}" type="slidenum">
              <a:rPr lang="zh-CN" altLang="en-US" sz="140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51</a:t>
            </a:fld>
            <a:endParaRPr lang="en-US" altLang="zh-CN" sz="140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Comments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Documentation </a:t>
            </a:r>
            <a:r>
              <a:rPr lang="en-US" altLang="zh-CN" dirty="0" smtClean="0"/>
              <a:t>comments(</a:t>
            </a:r>
            <a:r>
              <a:rPr lang="en-US" altLang="zh-CN" i="1" dirty="0"/>
              <a:t>doc </a:t>
            </a:r>
            <a:r>
              <a:rPr lang="en-US" altLang="zh-CN" i="1" dirty="0" smtClean="0"/>
              <a:t>comment)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The </a:t>
            </a:r>
            <a:r>
              <a:rPr lang="en-US" altLang="zh-CN" dirty="0"/>
              <a:t>compiler ignores this kind of comment, just like it ignores comments that use /* and */. </a:t>
            </a:r>
            <a:endParaRPr lang="en-US" altLang="zh-CN" dirty="0" smtClean="0"/>
          </a:p>
          <a:p>
            <a:pPr lvl="1" eaLnBrk="1" hangingPunct="1"/>
            <a:r>
              <a:rPr lang="en-US" altLang="zh-CN" dirty="0"/>
              <a:t>The </a:t>
            </a:r>
            <a:r>
              <a:rPr lang="en-US" altLang="zh-CN" dirty="0" err="1"/>
              <a:t>javadoc</a:t>
            </a:r>
            <a:r>
              <a:rPr lang="en-US" altLang="zh-CN" dirty="0"/>
              <a:t> tool uses doc comments when preparing automatically generated documentation.</a:t>
            </a:r>
            <a:endParaRPr lang="zh-CN" altLang="en-US" dirty="0" smtClean="0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2123728" y="5086350"/>
            <a:ext cx="5040312" cy="539750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1pPr>
            <a:lvl2pPr marL="742950" indent="-28575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2pPr>
            <a:lvl3pPr marL="11430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3pPr>
            <a:lvl4pPr marL="16002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4pPr>
            <a:lvl5pPr marL="2057400" indent="-228600" eaLnBrk="0" hangingPunct="0"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>
                <a:solidFill>
                  <a:schemeClr val="hlink"/>
                </a:solidFill>
                <a:latin typeface="Arial" pitchFamily="34" charset="0"/>
                <a:ea typeface="华文新魏" pitchFamily="2" charset="-122"/>
              </a:defRPr>
            </a:lvl9pPr>
          </a:lstStyle>
          <a:p>
            <a:pPr eaLnBrk="1" hangingPunct="1"/>
            <a:r>
              <a:rPr lang="en-US" altLang="zh-CN" sz="3200" b="1" dirty="0" err="1"/>
              <a:t>javadoc</a:t>
            </a:r>
            <a:r>
              <a:rPr lang="en-US" altLang="zh-CN" sz="3200" b="1" dirty="0">
                <a:solidFill>
                  <a:schemeClr val="tx1"/>
                </a:solidFill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</a:rPr>
              <a:t>类文件</a:t>
            </a:r>
            <a:r>
              <a:rPr lang="en-US" altLang="zh-CN" sz="3200" b="1" dirty="0">
                <a:solidFill>
                  <a:schemeClr val="tx1"/>
                </a:solidFill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</a:rPr>
              <a:t>带扩展名</a:t>
            </a:r>
            <a:r>
              <a:rPr lang="en-US" altLang="zh-CN" sz="3200" b="1" dirty="0">
                <a:solidFill>
                  <a:schemeClr val="tx1"/>
                </a:solidFill>
              </a:rPr>
              <a:t>)</a:t>
            </a:r>
            <a:endParaRPr lang="zh-CN" altLang="en-US" sz="3200" b="1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43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1pPr>
            <a:lvl2pPr marL="742950" indent="-28575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2pPr>
            <a:lvl3pPr marL="11430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3pPr>
            <a:lvl4pPr marL="16002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4pPr>
            <a:lvl5pPr marL="2057400" indent="-228600" eaLnBrk="0" hangingPunct="0"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defRPr sz="3600" b="1">
                <a:solidFill>
                  <a:schemeClr val="hlink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/>
            <a:fld id="{0D9C4BE2-D12C-4867-AC22-8A63990728E9}" type="slidenum">
              <a:rPr lang="zh-CN" altLang="en-US" sz="1400" b="0" smtClean="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pPr eaLnBrk="1" hangingPunct="1"/>
              <a:t>52</a:t>
            </a:fld>
            <a:endParaRPr lang="en-US" altLang="zh-CN" sz="1400" b="0" smtClean="0">
              <a:solidFill>
                <a:schemeClr val="tx1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aims of this session</a:t>
            </a:r>
            <a:endParaRPr lang="zh-CN" altLang="en-US" smtClean="0"/>
          </a:p>
        </p:txBody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Java basic</a:t>
            </a:r>
          </a:p>
          <a:p>
            <a:pPr lvl="1" eaLnBrk="1" hangingPunct="1"/>
            <a:r>
              <a:rPr lang="en-US" altLang="zh-CN" dirty="0" smtClean="0"/>
              <a:t>Variable</a:t>
            </a:r>
          </a:p>
          <a:p>
            <a:pPr lvl="1" eaLnBrk="1" hangingPunct="1"/>
            <a:r>
              <a:rPr lang="en-US" altLang="zh-CN" dirty="0" err="1" smtClean="0"/>
              <a:t>Datatype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Operators</a:t>
            </a:r>
          </a:p>
          <a:p>
            <a:pPr lvl="1" eaLnBrk="1" hangingPunct="1"/>
            <a:r>
              <a:rPr lang="en-US" altLang="zh-CN" dirty="0" smtClean="0"/>
              <a:t>Control structure</a:t>
            </a:r>
          </a:p>
          <a:p>
            <a:pPr lvl="1" eaLnBrk="1" hangingPunct="1"/>
            <a:r>
              <a:rPr lang="en-US" altLang="zh-CN" dirty="0" smtClean="0"/>
              <a:t>Comments</a:t>
            </a:r>
          </a:p>
          <a:p>
            <a:pPr marL="457200" lvl="1" indent="0" eaLnBrk="1" hangingPunct="1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4896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sz="36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Arial" pitchFamily="34" charset="0"/>
            <a:ea typeface="华文新魏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6283</TotalTime>
  <Words>1150</Words>
  <Application>Microsoft Office PowerPoint</Application>
  <PresentationFormat>全屏显示(4:3)</PresentationFormat>
  <Paragraphs>400</Paragraphs>
  <Slides>52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52</vt:i4>
      </vt:variant>
    </vt:vector>
  </HeadingPairs>
  <TitlesOfParts>
    <vt:vector size="55" baseType="lpstr">
      <vt:lpstr>Blends</vt:lpstr>
      <vt:lpstr>1_Blends</vt:lpstr>
      <vt:lpstr>2_Blends</vt:lpstr>
      <vt:lpstr>Chapter 1 Java Language Overview</vt:lpstr>
      <vt:lpstr>Variables </vt:lpstr>
      <vt:lpstr>Naming </vt:lpstr>
      <vt:lpstr>Key words</vt:lpstr>
      <vt:lpstr>Naming</vt:lpstr>
      <vt:lpstr>Initializing declaration </vt:lpstr>
      <vt:lpstr>Data type</vt:lpstr>
      <vt:lpstr>Primitive  types</vt:lpstr>
      <vt:lpstr>Integer Literals</vt:lpstr>
      <vt:lpstr>Integer Literals</vt:lpstr>
      <vt:lpstr>Primitive  types</vt:lpstr>
      <vt:lpstr>Floating-Point Literals</vt:lpstr>
      <vt:lpstr>Floating-Point Literals</vt:lpstr>
      <vt:lpstr>boolean</vt:lpstr>
      <vt:lpstr>char</vt:lpstr>
      <vt:lpstr>char</vt:lpstr>
      <vt:lpstr>Summary of Variables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Summary </vt:lpstr>
      <vt:lpstr>Summary</vt:lpstr>
      <vt:lpstr>if Statements</vt:lpstr>
      <vt:lpstr>if Statements</vt:lpstr>
      <vt:lpstr>switch Statements</vt:lpstr>
      <vt:lpstr>switch Statements</vt:lpstr>
      <vt:lpstr>switch Statements</vt:lpstr>
      <vt:lpstr>PowerPoint 演示文稿</vt:lpstr>
      <vt:lpstr>while Statements</vt:lpstr>
      <vt:lpstr>PowerPoint 演示文稿</vt:lpstr>
      <vt:lpstr>do…while Statements</vt:lpstr>
      <vt:lpstr>PowerPoint 演示文稿</vt:lpstr>
      <vt:lpstr>for Statements</vt:lpstr>
      <vt:lpstr>for Statements</vt:lpstr>
      <vt:lpstr>Break and continue</vt:lpstr>
      <vt:lpstr>Scoping </vt:lpstr>
      <vt:lpstr>Scoping </vt:lpstr>
      <vt:lpstr>Comments</vt:lpstr>
      <vt:lpstr>Comments</vt:lpstr>
      <vt:lpstr>Comments</vt:lpstr>
      <vt:lpstr>Comments</vt:lpstr>
      <vt:lpstr>Comments</vt:lpstr>
      <vt:lpstr>The aims of this session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and Design</dc:title>
  <dc:creator>lenovo</dc:creator>
  <cp:lastModifiedBy>xb21cn</cp:lastModifiedBy>
  <cp:revision>420</cp:revision>
  <dcterms:created xsi:type="dcterms:W3CDTF">2017-02-21T01:28:03Z</dcterms:created>
  <dcterms:modified xsi:type="dcterms:W3CDTF">2023-03-02T21:45:47Z</dcterms:modified>
</cp:coreProperties>
</file>