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17"/>
  </p:notesMasterIdLst>
  <p:handoutMasterIdLst>
    <p:handoutMasterId r:id="rId18"/>
  </p:handoutMasterIdLst>
  <p:sldIdLst>
    <p:sldId id="611" r:id="rId4"/>
    <p:sldId id="612" r:id="rId5"/>
    <p:sldId id="613" r:id="rId6"/>
    <p:sldId id="614" r:id="rId7"/>
    <p:sldId id="615" r:id="rId8"/>
    <p:sldId id="616" r:id="rId9"/>
    <p:sldId id="617" r:id="rId10"/>
    <p:sldId id="618" r:id="rId11"/>
    <p:sldId id="619" r:id="rId12"/>
    <p:sldId id="620" r:id="rId13"/>
    <p:sldId id="621" r:id="rId14"/>
    <p:sldId id="622" r:id="rId15"/>
    <p:sldId id="623" r:id="rId16"/>
  </p:sldIdLst>
  <p:sldSz cx="9144000" cy="6858000" type="screen4x3"/>
  <p:notesSz cx="7099300" cy="10234295"/>
  <p:custDataLst>
    <p:tags r:id="rId2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114" d="100"/>
          <a:sy n="114" d="100"/>
        </p:scale>
        <p:origin x="1572" y="13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224"/>
        <p:guide pos="22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sz="12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668344" y="659735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东北大学 谭振华</a:t>
            </a:r>
            <a:endParaRPr lang="zh-CN" altLang="en-US" sz="1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48CE6-7D3F-4032-A803-4EB3672EAC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2F29D-960B-49FE-8CF9-49C6CEED0F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29274-EED2-494F-8235-1077992D22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D221-176E-4D83-B6DD-3A093663A5E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A74AD-CE4B-48F6-A6BD-E27308C5C6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852F5-6E93-43F3-B9B7-0A01A823F4A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71500-27E1-4031-9BEC-1847BD0B14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17516-FA64-4EE0-BBEF-E6E68DC0D5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B73A1-A0DE-48E6-B217-78662009B1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3302F-574B-495E-BBAF-42821389479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DB281-2699-4FE6-9EBC-7B7C3E4C66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1" y="1600201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7C46C-BCDF-4A02-B554-EE9A6B55BC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508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A2096EF-62DF-48D5-A20B-BCC7AC4CB16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1-3 </a:t>
            </a: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命题公式及命题符号化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r>
              <a:rPr lang="zh-CN" altLang="en-US" dirty="0"/>
              <a:t>一</a:t>
            </a:r>
            <a:r>
              <a:rPr lang="en-US" altLang="zh-CN" dirty="0"/>
              <a:t>.</a:t>
            </a:r>
            <a:r>
              <a:rPr lang="zh-CN" altLang="en-US" dirty="0"/>
              <a:t>常值命题与命题变元</a:t>
            </a:r>
            <a:endParaRPr lang="zh-CN" alt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i="1" dirty="0">
                <a:ea typeface="黑体" panose="02010609060101010101" pitchFamily="49" charset="-122"/>
              </a:rPr>
              <a:t>一</a:t>
            </a:r>
            <a:r>
              <a:rPr lang="en-US" altLang="zh-CN" sz="2800" i="1" dirty="0">
                <a:ea typeface="黑体" panose="02010609060101010101" pitchFamily="49" charset="-122"/>
              </a:rPr>
              <a:t>.</a:t>
            </a:r>
            <a:r>
              <a:rPr lang="zh-CN" altLang="en-US" sz="2800" i="1" dirty="0">
                <a:ea typeface="黑体" panose="02010609060101010101" pitchFamily="49" charset="-122"/>
              </a:rPr>
              <a:t>常值命题与命题变元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黑体" panose="02010609060101010101" pitchFamily="49" charset="-122"/>
              </a:rPr>
              <a:t>常值命题</a:t>
            </a:r>
            <a:r>
              <a:rPr lang="zh-CN" altLang="en-US" sz="2800" dirty="0"/>
              <a:t>：即是我们前面所说的命题。它是有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具体含义 </a:t>
            </a:r>
            <a:r>
              <a:rPr lang="en-US" altLang="zh-CN" sz="2800" dirty="0"/>
              <a:t>(</a:t>
            </a:r>
            <a:r>
              <a:rPr lang="zh-CN" altLang="en-US" sz="2800" dirty="0"/>
              <a:t>真值</a:t>
            </a:r>
            <a:r>
              <a:rPr lang="en-US" altLang="zh-CN" sz="2800" dirty="0"/>
              <a:t>)</a:t>
            </a:r>
            <a:r>
              <a:rPr lang="zh-CN" altLang="en-US" sz="2800" dirty="0"/>
              <a:t>的。例如：“</a:t>
            </a:r>
            <a:r>
              <a:rPr lang="en-US" altLang="zh-CN" sz="2800" dirty="0"/>
              <a:t>3</a:t>
            </a:r>
            <a:r>
              <a:rPr lang="zh-CN" altLang="en-US" sz="2800" dirty="0"/>
              <a:t>是素数。”就是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常值命题。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黑体" panose="02010609060101010101" pitchFamily="49" charset="-122"/>
              </a:rPr>
              <a:t>命题变元</a:t>
            </a:r>
            <a:r>
              <a:rPr lang="zh-CN" altLang="en-US" sz="2800" dirty="0"/>
              <a:t>：用大写的英字母如</a:t>
            </a:r>
            <a:r>
              <a:rPr lang="en-US" altLang="zh-CN" sz="2800" dirty="0"/>
              <a:t>P</a:t>
            </a:r>
            <a:r>
              <a:rPr lang="zh-CN" altLang="en-US" sz="2800" dirty="0"/>
              <a:t>、</a:t>
            </a:r>
            <a:r>
              <a:rPr lang="en-US" altLang="zh-CN" sz="2800" dirty="0"/>
              <a:t>Q</a:t>
            </a:r>
            <a:r>
              <a:rPr lang="zh-CN" altLang="en-US" sz="2800" dirty="0"/>
              <a:t>等表示任何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命题。称这些字母为命题变元。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对命题变元作</a:t>
            </a:r>
            <a:r>
              <a:rPr lang="zh-CN" altLang="en-US" sz="2800" dirty="0">
                <a:ea typeface="黑体" panose="02010609060101010101" pitchFamily="49" charset="-122"/>
              </a:rPr>
              <a:t>指派</a:t>
            </a:r>
            <a:r>
              <a:rPr lang="en-US" altLang="zh-CN" sz="2800" dirty="0"/>
              <a:t>(</a:t>
            </a:r>
            <a:r>
              <a:rPr lang="zh-CN" altLang="en-US" sz="2800" dirty="0"/>
              <a:t>给命题变元一个</a:t>
            </a:r>
            <a:r>
              <a:rPr lang="zh-CN" altLang="en-US" sz="2800" dirty="0">
                <a:ea typeface="黑体" panose="02010609060101010101" pitchFamily="49" charset="-122"/>
              </a:rPr>
              <a:t>解释</a:t>
            </a:r>
            <a:r>
              <a:rPr lang="en-US" altLang="zh-CN" sz="2800" dirty="0"/>
              <a:t>)</a:t>
            </a:r>
            <a:r>
              <a:rPr lang="zh-CN" altLang="en-US" sz="2800" dirty="0"/>
              <a:t>：将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一个常值命题赋予命题变元的过程，或者是直接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赋给命题变元真值“</a:t>
            </a:r>
            <a:r>
              <a:rPr lang="en-US" altLang="zh-CN" sz="2800" dirty="0"/>
              <a:t>T”</a:t>
            </a:r>
            <a:r>
              <a:rPr lang="zh-CN" altLang="en-US" sz="2800" dirty="0"/>
              <a:t>或“</a:t>
            </a:r>
            <a:r>
              <a:rPr lang="en-US" altLang="zh-CN" sz="2800" dirty="0"/>
              <a:t>F”</a:t>
            </a:r>
            <a:r>
              <a:rPr lang="zh-CN" altLang="en-US" sz="2800" dirty="0"/>
              <a:t>的过程。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注意</a:t>
            </a:r>
            <a:r>
              <a:rPr lang="zh-CN" altLang="en-US" sz="2800" dirty="0"/>
              <a:t>：命题变元本身不是命题，只有给它一个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解释，才变成命题。</a:t>
            </a:r>
            <a:endParaRPr lang="zh-CN" altLang="en-US" sz="2800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</a:t>
            </a:r>
            <a:r>
              <a:rPr lang="en-US" altLang="zh-CN" dirty="0"/>
              <a:t>.</a:t>
            </a:r>
            <a:r>
              <a:rPr lang="zh-CN" altLang="en-US" dirty="0"/>
              <a:t>合式公式 </a:t>
            </a:r>
            <a:r>
              <a:rPr lang="en-US" altLang="zh-CN" dirty="0"/>
              <a:t>( </a:t>
            </a:r>
            <a:r>
              <a:rPr lang="en-US" altLang="zh-CN" dirty="0" err="1"/>
              <a:t>wff</a:t>
            </a:r>
            <a:r>
              <a:rPr lang="en-US" altLang="zh-CN" dirty="0"/>
              <a:t> ) (well formed formulas)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定义：</a:t>
            </a:r>
            <a:endParaRPr lang="zh-CN" altLang="en-US" sz="2800" dirty="0"/>
          </a:p>
          <a:p>
            <a:pPr eaLnBrk="1" hangingPunct="1">
              <a:buFontTx/>
              <a:buNone/>
            </a:pPr>
            <a:r>
              <a:rPr lang="zh-CN" altLang="en-US" sz="2800" dirty="0"/>
              <a:t>    ⑴ 单个命题变元是个合式公式。</a:t>
            </a:r>
            <a:endParaRPr lang="zh-CN" altLang="en-US" sz="2800" dirty="0"/>
          </a:p>
          <a:p>
            <a:pPr eaLnBrk="1" hangingPunct="1">
              <a:buFontTx/>
              <a:buNone/>
            </a:pPr>
            <a:r>
              <a:rPr lang="zh-CN" altLang="en-US" sz="2800" dirty="0"/>
              <a:t>    ⑵ 若</a:t>
            </a:r>
            <a:r>
              <a:rPr lang="en-US" altLang="zh-CN" sz="2800" dirty="0"/>
              <a:t>A</a:t>
            </a:r>
            <a:r>
              <a:rPr lang="zh-CN" altLang="en-US" sz="2800" dirty="0"/>
              <a:t>是合式公式，则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solidFill>
                  <a:srgbClr val="FF0000"/>
                </a:solidFill>
              </a:rPr>
              <a:t>A</a:t>
            </a:r>
            <a:r>
              <a:rPr lang="zh-CN" altLang="en-US" sz="2800" dirty="0"/>
              <a:t>是合式公式。</a:t>
            </a:r>
            <a:endParaRPr lang="zh-CN" altLang="en-US" sz="2800" dirty="0"/>
          </a:p>
          <a:p>
            <a:pPr eaLnBrk="1" hangingPunct="1">
              <a:buFontTx/>
              <a:buNone/>
            </a:pPr>
            <a:r>
              <a:rPr lang="zh-CN" altLang="en-US" sz="2800" dirty="0"/>
              <a:t>    ⑶</a:t>
            </a:r>
            <a:r>
              <a:rPr lang="zh-CN" altLang="en-US" sz="2800" dirty="0">
                <a:sym typeface="Symbol" panose="05050102010706020507" pitchFamily="18" charset="2"/>
              </a:rPr>
              <a:t> 若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和</a:t>
            </a:r>
            <a:r>
              <a:rPr lang="en-US" altLang="zh-CN" sz="2800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是</a:t>
            </a:r>
            <a:r>
              <a:rPr lang="zh-CN" altLang="en-US" sz="2800" dirty="0"/>
              <a:t>合式公式，则</a:t>
            </a:r>
            <a:r>
              <a:rPr lang="en-US" altLang="zh-CN" sz="2800" dirty="0">
                <a:solidFill>
                  <a:srgbClr val="FF0000"/>
                </a:solidFill>
              </a:rPr>
              <a:t>(A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olidFill>
                  <a:srgbClr val="FF0000"/>
                </a:solidFill>
              </a:rPr>
              <a:t>B)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rgbClr val="FF0000"/>
                </a:solidFill>
              </a:rPr>
              <a:t>(A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olidFill>
                  <a:srgbClr val="FF0000"/>
                </a:solidFill>
              </a:rPr>
              <a:t>B)</a:t>
            </a:r>
            <a:r>
              <a:rPr lang="zh-CN" altLang="en-US" sz="2800" dirty="0"/>
              <a:t>，</a:t>
            </a:r>
            <a:endParaRPr lang="zh-CN" altLang="en-US" sz="2800" dirty="0"/>
          </a:p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         </a:t>
            </a:r>
            <a:r>
              <a:rPr lang="en-US" altLang="zh-CN" sz="2800" dirty="0">
                <a:solidFill>
                  <a:srgbClr val="FF0000"/>
                </a:solidFill>
              </a:rPr>
              <a:t>(A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solidFill>
                  <a:srgbClr val="FF0000"/>
                </a:solidFill>
              </a:rPr>
              <a:t>B)</a:t>
            </a:r>
            <a:r>
              <a:rPr lang="zh-CN" altLang="en-US" sz="2800" dirty="0"/>
              <a:t>和</a:t>
            </a:r>
            <a:r>
              <a:rPr lang="en-US" altLang="zh-CN" sz="2800" dirty="0">
                <a:solidFill>
                  <a:srgbClr val="FF0000"/>
                </a:solidFill>
              </a:rPr>
              <a:t>(A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 </a:t>
            </a:r>
            <a:r>
              <a:rPr lang="en-US" altLang="zh-CN" sz="2800" dirty="0">
                <a:solidFill>
                  <a:srgbClr val="FF0000"/>
                </a:solidFill>
              </a:rPr>
              <a:t>B)</a:t>
            </a:r>
            <a:r>
              <a:rPr lang="zh-CN" altLang="en-US" sz="2800" dirty="0"/>
              <a:t>都是合式公式。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/>
              <a:t>    ⑷</a:t>
            </a:r>
            <a:r>
              <a:rPr lang="zh-CN" altLang="en-US" sz="2800" dirty="0">
                <a:sym typeface="Symbol" panose="05050102010706020507" pitchFamily="18" charset="2"/>
              </a:rPr>
              <a:t> 当且仅当有限次地应用⑴，⑵，⑶所得到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     的含有命题变元、联结词和括号的符号串是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ea typeface="黑体" panose="02010609060101010101" pitchFamily="49" charset="-122"/>
              </a:rPr>
              <a:t>        合式公式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 注意这个定义是递归的。</a:t>
            </a:r>
            <a:r>
              <a:rPr lang="en-US" altLang="zh-CN" sz="2800" dirty="0">
                <a:sym typeface="Symbol" panose="05050102010706020507" pitchFamily="18" charset="2"/>
              </a:rPr>
              <a:t>(1)</a:t>
            </a:r>
            <a:r>
              <a:rPr lang="zh-CN" altLang="en-US" sz="2800" dirty="0">
                <a:sym typeface="Symbol" panose="05050102010706020507" pitchFamily="18" charset="2"/>
              </a:rPr>
              <a:t>是递归的基础，由</a:t>
            </a:r>
            <a:r>
              <a:rPr lang="en-US" altLang="zh-CN" sz="2800" dirty="0">
                <a:sym typeface="Symbol" panose="05050102010706020507" pitchFamily="18" charset="2"/>
              </a:rPr>
              <a:t>(1)</a:t>
            </a:r>
            <a:r>
              <a:rPr lang="zh-CN" altLang="en-US" sz="2800" dirty="0">
                <a:sym typeface="Symbol" panose="05050102010706020507" pitchFamily="18" charset="2"/>
              </a:rPr>
              <a:t>开始，使用</a:t>
            </a:r>
            <a:r>
              <a:rPr lang="en-US" altLang="zh-CN" sz="2800" dirty="0">
                <a:sym typeface="Symbol" panose="05050102010706020507" pitchFamily="18" charset="2"/>
              </a:rPr>
              <a:t>(2)(3)</a:t>
            </a:r>
            <a:r>
              <a:rPr lang="zh-CN" altLang="en-US" sz="2800" dirty="0">
                <a:sym typeface="Symbol" panose="05050102010706020507" pitchFamily="18" charset="2"/>
              </a:rPr>
              <a:t>规则，可以得到任意的合式公式。</a:t>
            </a:r>
            <a:endParaRPr lang="zh-CN" altLang="en-US" sz="2800" dirty="0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ym typeface="Symbol" panose="05050102010706020507" pitchFamily="18" charset="2"/>
              </a:rPr>
              <a:t>这里所谓的合式公式可以解释为合法的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命题公式之意，也称之为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命题公式</a:t>
            </a:r>
            <a:r>
              <a:rPr lang="zh-CN" altLang="en-US">
                <a:sym typeface="Symbol" panose="05050102010706020507" pitchFamily="18" charset="2"/>
              </a:rPr>
              <a:t>，有时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也简称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公式</a:t>
            </a:r>
            <a:r>
              <a:rPr lang="zh-CN" altLang="en-US">
                <a:sym typeface="Symbol" panose="05050102010706020507" pitchFamily="18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ym typeface="Symbol" panose="05050102010706020507" pitchFamily="18" charset="2"/>
              </a:rPr>
              <a:t>下面的式子不是合式公式：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 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∧Q</a:t>
            </a:r>
            <a:r>
              <a:rPr lang="zh-CN" altLang="en-US">
                <a:sym typeface="Symbol" panose="05050102010706020507" pitchFamily="18" charset="2"/>
              </a:rPr>
              <a:t>，  </a:t>
            </a:r>
            <a:r>
              <a:rPr lang="en-US" altLang="zh-CN">
                <a:sym typeface="Symbol" panose="05050102010706020507" pitchFamily="18" charset="2"/>
              </a:rPr>
              <a:t>P</a:t>
            </a:r>
            <a:r>
              <a:rPr lang="en-US" altLang="zh-CN">
                <a:sym typeface="Kingsoft Phonetic Plain" pitchFamily="2" charset="2"/>
              </a:rPr>
              <a:t>R</a:t>
            </a:r>
            <a:r>
              <a:rPr lang="zh-CN" altLang="en-US">
                <a:sym typeface="Kingsoft Phonetic Plain" pitchFamily="2" charset="2"/>
              </a:rPr>
              <a:t>，  </a:t>
            </a:r>
            <a:r>
              <a:rPr lang="en-US" altLang="zh-CN">
                <a:sym typeface="Kingsoft Phonetic Plain" pitchFamily="2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∨Q∧R</a:t>
            </a:r>
            <a:endParaRPr lang="en-US" altLang="zh-CN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ym typeface="Symbol" panose="05050102010706020507" pitchFamily="18" charset="2"/>
              </a:rPr>
              <a:t>下面的式子才是合式公式：</a:t>
            </a:r>
            <a:r>
              <a:rPr lang="zh-CN" altLang="en-US">
                <a:sym typeface="Kingsoft Phonetic Plain" pitchFamily="2" charset="2"/>
              </a:rPr>
              <a:t> 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 </a:t>
            </a:r>
            <a:r>
              <a:rPr lang="en-US" altLang="zh-CN">
                <a:sym typeface="Symbol" panose="05050102010706020507" pitchFamily="18" charset="2"/>
              </a:rPr>
              <a:t>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∧Q)</a:t>
            </a:r>
            <a:r>
              <a:rPr lang="zh-CN" altLang="en-US">
                <a:sym typeface="Symbol" panose="05050102010706020507" pitchFamily="18" charset="2"/>
              </a:rPr>
              <a:t>，</a:t>
            </a:r>
            <a:r>
              <a:rPr lang="en-US" altLang="zh-CN">
                <a:sym typeface="Symbol" panose="05050102010706020507" pitchFamily="18" charset="2"/>
              </a:rPr>
              <a:t>(P</a:t>
            </a:r>
            <a:r>
              <a:rPr lang="en-US" altLang="zh-CN">
                <a:sym typeface="Kingsoft Phonetic Plain" pitchFamily="2" charset="2"/>
              </a:rPr>
              <a:t>R)</a:t>
            </a:r>
            <a:r>
              <a:rPr lang="zh-CN" altLang="en-US">
                <a:sym typeface="Kingsoft Phonetic Plain" pitchFamily="2" charset="2"/>
              </a:rPr>
              <a:t>，</a:t>
            </a:r>
            <a:r>
              <a:rPr lang="en-US" altLang="zh-CN">
                <a:sym typeface="Kingsoft Phonetic Plain" pitchFamily="2" charset="2"/>
              </a:rPr>
              <a:t>((P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∨Q)∧R)</a:t>
            </a:r>
            <a:endParaRPr lang="en-US" altLang="zh-CN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ym typeface="Kingsoft Phonetic Plain" pitchFamily="2" charset="2"/>
              </a:rPr>
              <a:t>按照</a:t>
            </a:r>
            <a:r>
              <a:rPr lang="zh-CN" altLang="en-US">
                <a:sym typeface="Symbol" panose="05050102010706020507" pitchFamily="18" charset="2"/>
              </a:rPr>
              <a:t>合式公式定义最外层括号必须写。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>
                <a:solidFill>
                  <a:srgbClr val="FF0000"/>
                </a:solidFill>
                <a:sym typeface="Symbol" panose="05050102010706020507" pitchFamily="18" charset="2"/>
              </a:rPr>
              <a:t>约定</a:t>
            </a:r>
            <a:r>
              <a:rPr lang="zh-CN" altLang="en-US">
                <a:sym typeface="Symbol" panose="05050102010706020507" pitchFamily="18" charset="2"/>
              </a:rPr>
              <a:t>：为方便，最外层括号可以不写，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上面的合式公式可以写成：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∧Q</a:t>
            </a:r>
            <a:r>
              <a:rPr lang="zh-CN" altLang="en-US">
                <a:sym typeface="Symbol" panose="05050102010706020507" pitchFamily="18" charset="2"/>
              </a:rPr>
              <a:t>，</a:t>
            </a:r>
            <a:r>
              <a:rPr lang="en-US" altLang="zh-CN">
                <a:sym typeface="Symbol" panose="05050102010706020507" pitchFamily="18" charset="2"/>
              </a:rPr>
              <a:t>P</a:t>
            </a:r>
            <a:r>
              <a:rPr lang="en-US" altLang="zh-CN">
                <a:sym typeface="Kingsoft Phonetic Plain" pitchFamily="2" charset="2"/>
              </a:rPr>
              <a:t>R</a:t>
            </a:r>
            <a:r>
              <a:rPr lang="zh-CN" altLang="en-US">
                <a:sym typeface="Kingsoft Phonetic Plain" pitchFamily="2" charset="2"/>
              </a:rPr>
              <a:t>，</a:t>
            </a:r>
            <a:r>
              <a:rPr lang="en-US" altLang="zh-CN">
                <a:sym typeface="Kingsoft Phonetic Plain" pitchFamily="2" charset="2"/>
              </a:rPr>
              <a:t>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∨Q)∧R</a:t>
            </a:r>
            <a:endParaRPr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764704"/>
            <a:ext cx="8712968" cy="5904656"/>
          </a:xfrm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2.</a:t>
            </a:r>
            <a:r>
              <a:rPr lang="zh-CN" altLang="en-US" dirty="0"/>
              <a:t>命题公式的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真值表</a:t>
            </a:r>
            <a:endParaRPr lang="zh-CN" altLang="en-US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zh-CN" altLang="en-US" dirty="0"/>
              <a:t>一个命题公式不是复合命题，所以它没有真值，但是给其中的所有命题变元作</a:t>
            </a:r>
            <a:r>
              <a:rPr lang="zh-CN" altLang="en-US" dirty="0">
                <a:solidFill>
                  <a:srgbClr val="FF0000"/>
                </a:solidFill>
              </a:rPr>
              <a:t>指派</a:t>
            </a:r>
            <a:r>
              <a:rPr lang="zh-CN" altLang="en-US" dirty="0"/>
              <a:t>以后它就有了真值。可以以表的形式反应它的真值情况，例如命题公式：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P</a:t>
            </a:r>
            <a:r>
              <a:rPr lang="en-US" altLang="zh-CN" dirty="0"/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 </a:t>
            </a:r>
            <a:r>
              <a:rPr lang="zh-CN" altLang="en-US" dirty="0"/>
              <a:t>的真值表如下：</a:t>
            </a:r>
            <a:endParaRPr lang="zh-CN" altLang="en-US" dirty="0"/>
          </a:p>
        </p:txBody>
      </p:sp>
      <p:graphicFrame>
        <p:nvGraphicFramePr>
          <p:cNvPr id="65620" name="Group 84"/>
          <p:cNvGraphicFramePr>
            <a:graphicFrameLocks noGrp="1"/>
          </p:cNvGraphicFramePr>
          <p:nvPr/>
        </p:nvGraphicFramePr>
        <p:xfrm>
          <a:off x="1295400" y="3810000"/>
          <a:ext cx="7086600" cy="2733674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990600"/>
                <a:gridCol w="1447800"/>
                <a:gridCol w="2667000"/>
              </a:tblGrid>
              <a:tr h="5181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Q)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3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3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3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3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sz="2800" b="1"/>
              <a:t>由于对每个命题变元可以有两个真值</a:t>
            </a:r>
            <a:r>
              <a:rPr lang="en-US" altLang="zh-CN" sz="2800" b="1"/>
              <a:t>(T,F)</a:t>
            </a:r>
            <a:r>
              <a:rPr lang="zh-CN" altLang="en-US" sz="2800" b="1"/>
              <a:t>被指</a:t>
            </a:r>
            <a:endParaRPr lang="zh-CN" altLang="en-US" sz="2800" b="1"/>
          </a:p>
          <a:p>
            <a:pPr eaLnBrk="1" hangingPunct="1">
              <a:buFontTx/>
              <a:buNone/>
            </a:pPr>
            <a:r>
              <a:rPr lang="zh-CN" altLang="en-US" sz="2800" b="1"/>
              <a:t>派，所以有</a:t>
            </a:r>
            <a:r>
              <a:rPr lang="en-US" altLang="zh-CN" sz="2800" b="1">
                <a:solidFill>
                  <a:srgbClr val="FF0000"/>
                </a:solidFill>
              </a:rPr>
              <a:t>n</a:t>
            </a:r>
            <a:r>
              <a:rPr lang="zh-CN" altLang="en-US" sz="2800" b="1"/>
              <a:t>个命题变元的命题公式 </a:t>
            </a:r>
            <a:r>
              <a:rPr lang="en-US" altLang="zh-CN" sz="2800" b="1"/>
              <a:t>A(P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,…,P</a:t>
            </a:r>
            <a:r>
              <a:rPr lang="en-US" altLang="zh-CN" sz="2800" b="1" baseline="-25000"/>
              <a:t>n</a:t>
            </a:r>
            <a:r>
              <a:rPr lang="en-US" altLang="zh-CN" sz="2800" b="1"/>
              <a:t>) </a:t>
            </a:r>
            <a:endParaRPr lang="en-US" altLang="zh-CN" sz="2800" b="1"/>
          </a:p>
          <a:p>
            <a:pPr eaLnBrk="1" hangingPunct="1">
              <a:buFontTx/>
              <a:buNone/>
            </a:pPr>
            <a:r>
              <a:rPr lang="zh-CN" altLang="en-US" sz="2800" b="1"/>
              <a:t>的</a:t>
            </a:r>
            <a:r>
              <a:rPr lang="zh-CN" altLang="en-US" sz="2800" b="1">
                <a:solidFill>
                  <a:srgbClr val="FF0000"/>
                </a:solidFill>
              </a:rPr>
              <a:t>真值表有</a:t>
            </a:r>
            <a:r>
              <a:rPr lang="en-US" altLang="zh-CN" sz="2800" b="1">
                <a:solidFill>
                  <a:srgbClr val="FF0000"/>
                </a:solidFill>
              </a:rPr>
              <a:t>2</a:t>
            </a:r>
            <a:r>
              <a:rPr lang="en-US" altLang="zh-CN" sz="2800" b="1" baseline="30000">
                <a:solidFill>
                  <a:srgbClr val="FF0000"/>
                </a:solidFill>
              </a:rPr>
              <a:t>n</a:t>
            </a:r>
            <a:r>
              <a:rPr lang="zh-CN" altLang="en-US" sz="2800" b="1">
                <a:solidFill>
                  <a:srgbClr val="FF0000"/>
                </a:solidFill>
              </a:rPr>
              <a:t>行</a:t>
            </a:r>
            <a:r>
              <a:rPr lang="zh-CN" altLang="en-US" sz="2800" b="1"/>
              <a:t>。</a:t>
            </a:r>
            <a:endParaRPr lang="zh-CN" altLang="en-US" sz="2800" b="1"/>
          </a:p>
          <a:p>
            <a:pPr eaLnBrk="1" hangingPunct="1"/>
            <a:r>
              <a:rPr lang="zh-CN" altLang="en-US" sz="2800" b="1"/>
              <a:t>为</a:t>
            </a:r>
            <a:r>
              <a:rPr lang="zh-CN" altLang="en-US" sz="2800" b="1">
                <a:solidFill>
                  <a:srgbClr val="FF0000"/>
                </a:solidFill>
              </a:rPr>
              <a:t>有序地列出</a:t>
            </a:r>
            <a:r>
              <a:rPr lang="en-US" altLang="zh-CN" sz="2800" b="1"/>
              <a:t>A(P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,…,P</a:t>
            </a:r>
            <a:r>
              <a:rPr lang="en-US" altLang="zh-CN" sz="2800" b="1" baseline="-25000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的真值表，可将</a:t>
            </a:r>
            <a:r>
              <a:rPr lang="en-US" altLang="zh-CN" sz="2800" b="1"/>
              <a:t>F</a:t>
            </a:r>
            <a:r>
              <a:rPr lang="zh-CN" altLang="en-US" sz="2800" b="1"/>
              <a:t>看</a:t>
            </a:r>
            <a:endParaRPr lang="zh-CN" altLang="en-US" sz="2800" b="1"/>
          </a:p>
          <a:p>
            <a:pPr eaLnBrk="1" hangingPunct="1">
              <a:buFontTx/>
              <a:buNone/>
            </a:pPr>
            <a:r>
              <a:rPr lang="zh-CN" altLang="en-US" sz="2800" b="1"/>
              <a:t>成</a:t>
            </a:r>
            <a:r>
              <a:rPr lang="en-US" altLang="zh-CN" sz="2800" b="1"/>
              <a:t>0</a:t>
            </a:r>
            <a:r>
              <a:rPr lang="zh-CN" altLang="en-US" sz="2800" b="1"/>
              <a:t>、</a:t>
            </a:r>
            <a:r>
              <a:rPr lang="en-US" altLang="zh-CN" sz="2800" b="1"/>
              <a:t>T</a:t>
            </a:r>
            <a:r>
              <a:rPr lang="zh-CN" altLang="en-US" sz="2800" b="1"/>
              <a:t>看成</a:t>
            </a:r>
            <a:r>
              <a:rPr lang="en-US" altLang="zh-CN" sz="2800" b="1"/>
              <a:t>1</a:t>
            </a:r>
            <a:r>
              <a:rPr lang="zh-CN" altLang="en-US" sz="2800" b="1"/>
              <a:t>，按</a:t>
            </a:r>
            <a:r>
              <a:rPr lang="zh-CN" altLang="en-US" sz="2800" b="1">
                <a:solidFill>
                  <a:srgbClr val="FF0000"/>
                </a:solidFill>
              </a:rPr>
              <a:t>二进制数次序列表。</a:t>
            </a:r>
            <a:endParaRPr lang="zh-CN" altLang="en-US" sz="2800" b="1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r>
              <a:rPr kumimoji="1" lang="zh-CN" altLang="en-US" sz="2800" b="1">
                <a:latin typeface="Times New Roman" panose="02020603050405020304" pitchFamily="18" charset="0"/>
              </a:rPr>
              <a:t>如</a:t>
            </a:r>
            <a:r>
              <a:rPr kumimoji="1" lang="en-US" altLang="zh-CN" sz="2800" b="1">
                <a:latin typeface="Times New Roman" panose="02020603050405020304" pitchFamily="18" charset="0"/>
              </a:rPr>
              <a:t>A(P,Q)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的真值表可按照如下次序指派：</a:t>
            </a:r>
            <a:endParaRPr kumimoji="1" lang="zh-CN" altLang="en-US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00(FF)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</a:rPr>
              <a:t>01(FT)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10(TF)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11(TT)</a:t>
            </a:r>
            <a:endParaRPr kumimoji="1"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r>
              <a:rPr kumimoji="1" lang="zh-CN" altLang="en-US" sz="2800" b="1">
                <a:latin typeface="Times New Roman" panose="02020603050405020304" pitchFamily="18" charset="0"/>
              </a:rPr>
              <a:t>如</a:t>
            </a:r>
            <a:r>
              <a:rPr kumimoji="1" lang="en-US" altLang="zh-CN" sz="2800" b="1">
                <a:latin typeface="Times New Roman" panose="02020603050405020304" pitchFamily="18" charset="0"/>
              </a:rPr>
              <a:t>A(P,Q,R)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的真值表可按照如下次序指派：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66630" name="Group 70"/>
          <p:cNvGraphicFramePr>
            <a:graphicFrameLocks noGrp="1"/>
          </p:cNvGraphicFramePr>
          <p:nvPr/>
        </p:nvGraphicFramePr>
        <p:xfrm>
          <a:off x="827584" y="4941168"/>
          <a:ext cx="7620000" cy="1676400"/>
        </p:xfrm>
        <a:graphic>
          <a:graphicData uri="http://schemas.openxmlformats.org/drawingml/2006/table">
            <a:tbl>
              <a:tblPr/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FFF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FFT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FTF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FTT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TFF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TFT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TTF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TTT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353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r>
              <a:rPr kumimoji="1" lang="en-US" altLang="zh-CN">
                <a:latin typeface="Times New Roman" panose="02020603050405020304" pitchFamily="18" charset="0"/>
              </a:rPr>
              <a:t>A(P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</a:rPr>
              <a:t>,P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</a:rPr>
              <a:t>,…,P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latin typeface="Times New Roman" panose="02020603050405020304" pitchFamily="18" charset="0"/>
              </a:rPr>
              <a:t>的真值表，按照</a:t>
            </a:r>
            <a:r>
              <a:rPr kumimoji="1"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二进制数</a:t>
            </a:r>
            <a:endParaRPr kumimoji="1" lang="zh-CN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endParaRPr kumimoji="1" lang="zh-CN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endParaRPr kumimoji="1" lang="zh-CN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endParaRPr kumimoji="1"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r>
              <a:rPr kumimoji="1" lang="en-US" altLang="zh-CN">
                <a:latin typeface="Times New Roman" panose="02020603050405020304" pitchFamily="18" charset="0"/>
              </a:rPr>
              <a:t>(</a:t>
            </a:r>
            <a:r>
              <a:rPr kumimoji="1" lang="zh-CN" altLang="en-US">
                <a:latin typeface="Times New Roman" panose="02020603050405020304" pitchFamily="18" charset="0"/>
              </a:rPr>
              <a:t>即按照十进制的</a:t>
            </a:r>
            <a:r>
              <a:rPr kumimoji="1" lang="en-US" altLang="zh-CN">
                <a:latin typeface="Times New Roman" panose="02020603050405020304" pitchFamily="18" charset="0"/>
              </a:rPr>
              <a:t>0,1,2,…. ,2</a:t>
            </a:r>
            <a:r>
              <a:rPr kumimoji="1" lang="en-US" altLang="zh-CN" baseline="30000"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latin typeface="Times New Roman" panose="02020603050405020304" pitchFamily="18" charset="0"/>
              </a:rPr>
              <a:t> -1</a:t>
            </a:r>
            <a:r>
              <a:rPr kumimoji="1" lang="zh-CN" altLang="en-US">
                <a:latin typeface="Times New Roman" panose="02020603050405020304" pitchFamily="18" charset="0"/>
              </a:rPr>
              <a:t>的次序进行指派列真值表</a:t>
            </a:r>
            <a:r>
              <a:rPr kumimoji="1" lang="en-US" altLang="zh-CN">
                <a:latin typeface="Times New Roman" panose="02020603050405020304" pitchFamily="18" charset="0"/>
              </a:rPr>
              <a:t>) </a:t>
            </a:r>
            <a:r>
              <a:rPr kumimoji="1" lang="zh-CN" altLang="en-US">
                <a:latin typeface="Times New Roman" panose="02020603050405020304" pitchFamily="18" charset="0"/>
              </a:rPr>
              <a:t>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</a:t>
            </a:r>
            <a:endParaRPr lang="zh-CN" altLang="en-US"/>
          </a:p>
        </p:txBody>
      </p:sp>
      <p:graphicFrame>
        <p:nvGraphicFramePr>
          <p:cNvPr id="193596" name="Group 60"/>
          <p:cNvGraphicFramePr>
            <a:graphicFrameLocks noGrp="1"/>
          </p:cNvGraphicFramePr>
          <p:nvPr/>
        </p:nvGraphicFramePr>
        <p:xfrm>
          <a:off x="685800" y="1412776"/>
          <a:ext cx="7772400" cy="1346200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673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0…000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0…001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0…010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1…110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1…111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32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-2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3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-1</a:t>
                      </a:r>
                      <a:endParaRPr kumimoji="1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35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3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3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7772400" cy="6248400"/>
          </a:xfrm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b="1"/>
              <a:t>例如列出</a:t>
            </a:r>
            <a:r>
              <a:rPr lang="en-US" altLang="zh-CN" b="1"/>
              <a:t>P</a:t>
            </a:r>
            <a:r>
              <a:rPr lang="en-US" altLang="zh-CN" b="1">
                <a:sym typeface="Symbol" panose="05050102010706020507" pitchFamily="18" charset="2"/>
              </a:rPr>
              <a:t>(</a:t>
            </a:r>
            <a:r>
              <a:rPr lang="en-US" altLang="zh-CN" b="1"/>
              <a:t>Q</a:t>
            </a:r>
            <a:r>
              <a:rPr lang="en-US" altLang="zh-CN" b="1">
                <a:sym typeface="Symbol" panose="05050102010706020507" pitchFamily="18" charset="2"/>
              </a:rPr>
              <a:t></a:t>
            </a:r>
            <a:r>
              <a:rPr lang="en-US" altLang="zh-CN" b="1"/>
              <a:t>R)</a:t>
            </a:r>
            <a:r>
              <a:rPr lang="zh-CN" altLang="en-US" b="1"/>
              <a:t>的真值表</a:t>
            </a:r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>
              <a:buFontTx/>
              <a:buNone/>
            </a:pPr>
            <a:r>
              <a:rPr lang="en-US" altLang="zh-CN"/>
              <a:t>000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001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010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011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100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101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110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111</a:t>
            </a:r>
            <a:endParaRPr lang="en-US" altLang="zh-CN"/>
          </a:p>
        </p:txBody>
      </p:sp>
      <p:graphicFrame>
        <p:nvGraphicFramePr>
          <p:cNvPr id="150950" name="Group 422"/>
          <p:cNvGraphicFramePr>
            <a:graphicFrameLocks noGrp="1"/>
          </p:cNvGraphicFramePr>
          <p:nvPr/>
        </p:nvGraphicFramePr>
        <p:xfrm>
          <a:off x="1676400" y="990601"/>
          <a:ext cx="6477000" cy="5334003"/>
        </p:xfrm>
        <a:graphic>
          <a:graphicData uri="http://schemas.openxmlformats.org/drawingml/2006/table">
            <a:tbl>
              <a:tblPr/>
              <a:tblGrid>
                <a:gridCol w="1066800"/>
                <a:gridCol w="1219200"/>
                <a:gridCol w="1219200"/>
                <a:gridCol w="1219200"/>
                <a:gridCol w="1752600"/>
              </a:tblGrid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(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0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0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0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0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animBg="1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</a:t>
            </a:r>
            <a:r>
              <a:rPr lang="en-US" altLang="zh-CN" dirty="0"/>
              <a:t>.</a:t>
            </a:r>
            <a:r>
              <a:rPr lang="zh-CN" altLang="en-US" dirty="0"/>
              <a:t>命题符号化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所谓命题符号化，就是用命题公式的符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号串来表示给定的命题。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命题符号化的方法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</a:t>
            </a:r>
            <a:r>
              <a:rPr lang="en-US" altLang="zh-CN" dirty="0">
                <a:solidFill>
                  <a:srgbClr val="FF0000"/>
                </a:solidFill>
              </a:rPr>
              <a:t>1.</a:t>
            </a:r>
            <a:r>
              <a:rPr lang="zh-CN" altLang="en-US" dirty="0">
                <a:solidFill>
                  <a:srgbClr val="FF0000"/>
                </a:solidFill>
              </a:rPr>
              <a:t>（理解）</a:t>
            </a:r>
            <a:r>
              <a:rPr lang="zh-CN" altLang="en-US" dirty="0"/>
              <a:t>首先要明确给定命题的含义。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</a:t>
            </a:r>
            <a:r>
              <a:rPr lang="en-US" altLang="zh-CN" dirty="0">
                <a:solidFill>
                  <a:srgbClr val="FF0000"/>
                </a:solidFill>
              </a:rPr>
              <a:t>2.</a:t>
            </a:r>
            <a:r>
              <a:rPr lang="zh-CN" altLang="en-US" dirty="0">
                <a:solidFill>
                  <a:srgbClr val="FF0000"/>
                </a:solidFill>
              </a:rPr>
              <a:t>（分解）</a:t>
            </a:r>
            <a:r>
              <a:rPr lang="zh-CN" altLang="en-US" dirty="0"/>
              <a:t>对于复合命题，找联结词，用联结词断句，分解出各个原子命题。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</a:t>
            </a:r>
            <a:r>
              <a:rPr lang="en-US" altLang="zh-CN" dirty="0">
                <a:solidFill>
                  <a:srgbClr val="FF0000"/>
                </a:solidFill>
              </a:rPr>
              <a:t>3.</a:t>
            </a:r>
            <a:r>
              <a:rPr lang="zh-CN" altLang="en-US" dirty="0">
                <a:solidFill>
                  <a:srgbClr val="FF0000"/>
                </a:solidFill>
              </a:rPr>
              <a:t>（连接）</a:t>
            </a:r>
            <a:r>
              <a:rPr lang="zh-CN" altLang="en-US" dirty="0"/>
              <a:t>设原子命题符号，并用逻辑联结词联结原子命题符号，构成给定命题的符号表达式。</a:t>
            </a:r>
            <a:endParaRPr lang="zh-CN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/>
              <a:t>例</a:t>
            </a:r>
            <a:r>
              <a:rPr lang="en-US" altLang="zh-CN" dirty="0"/>
              <a:t>1.</a:t>
            </a:r>
            <a:r>
              <a:rPr lang="zh-CN" altLang="en-US" dirty="0"/>
              <a:t>说离散数学无用且枯燥无味是不对的。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 </a:t>
            </a:r>
            <a:r>
              <a:rPr lang="en-US" altLang="zh-CN" dirty="0"/>
              <a:t>P</a:t>
            </a:r>
            <a:r>
              <a:rPr lang="zh-CN" altLang="en-US" dirty="0"/>
              <a:t>：离散数学是有用的。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 </a:t>
            </a:r>
            <a:r>
              <a:rPr lang="en-US" altLang="zh-CN" dirty="0"/>
              <a:t>Q</a:t>
            </a:r>
            <a:r>
              <a:rPr lang="zh-CN" altLang="en-US" dirty="0"/>
              <a:t>：离散数学是枯燥无味的。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该命题可写成： 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zh-CN" altLang="en-US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∧Q)</a:t>
            </a: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例</a:t>
            </a:r>
            <a:r>
              <a:rPr lang="en-US" altLang="zh-CN" dirty="0">
                <a:sym typeface="Symbol" panose="05050102010706020507" pitchFamily="18" charset="2"/>
              </a:rPr>
              <a:t>2.</a:t>
            </a:r>
            <a:r>
              <a:rPr lang="zh-CN" altLang="en-US" dirty="0">
                <a:sym typeface="Symbol" panose="05050102010706020507" pitchFamily="18" charset="2"/>
              </a:rPr>
              <a:t>如果小张与小王都不去，则小李去。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  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：小张去。   </a:t>
            </a:r>
            <a:r>
              <a:rPr lang="en-US" altLang="zh-CN" dirty="0">
                <a:sym typeface="Symbol" panose="05050102010706020507" pitchFamily="18" charset="2"/>
              </a:rPr>
              <a:t>Q</a:t>
            </a:r>
            <a:r>
              <a:rPr lang="zh-CN" altLang="en-US" dirty="0">
                <a:sym typeface="Symbol" panose="05050102010706020507" pitchFamily="18" charset="2"/>
              </a:rPr>
              <a:t>：小王去。   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：小李去。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该命题可写成： </a:t>
            </a:r>
            <a:r>
              <a:rPr lang="en-US" altLang="zh-CN" dirty="0">
                <a:sym typeface="Symbol" panose="05050102010706020507" pitchFamily="18" charset="2"/>
              </a:rPr>
              <a:t>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>
                <a:sym typeface="Kingsoft Phonetic Plain" pitchFamily="2" charset="2"/>
              </a:rPr>
              <a:t>R</a:t>
            </a:r>
            <a:endParaRPr lang="en-US" altLang="zh-CN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</a:t>
            </a:r>
            <a:r>
              <a:rPr lang="zh-CN" altLang="en-US" dirty="0">
                <a:sym typeface="Symbol" panose="05050102010706020507" pitchFamily="18" charset="2"/>
              </a:rPr>
              <a:t>如果小张与小王不都去，则小李去。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 </a:t>
            </a:r>
            <a:r>
              <a:rPr lang="zh-CN" altLang="en-US" dirty="0"/>
              <a:t>该命题可写成： 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sym typeface="Symbol" panose="05050102010706020507" pitchFamily="18" charset="2"/>
              </a:rPr>
              <a:t>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∧Q)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>
                <a:sym typeface="Kingsoft Phonetic Plain" pitchFamily="2" charset="2"/>
              </a:rPr>
              <a:t>R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  </a:t>
            </a:r>
            <a:r>
              <a:rPr lang="zh-CN" altLang="en-US" dirty="0"/>
              <a:t>也可以写成： </a:t>
            </a:r>
            <a:r>
              <a:rPr lang="en-US" altLang="zh-CN" dirty="0">
                <a:sym typeface="Symbol" panose="05050102010706020507" pitchFamily="18" charset="2"/>
              </a:rPr>
              <a:t>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>
                <a:sym typeface="Kingsoft Phonetic Plain" pitchFamily="2" charset="2"/>
              </a:rPr>
              <a:t>R</a:t>
            </a:r>
            <a:endParaRPr lang="en-US" altLang="zh-CN" dirty="0">
              <a:sym typeface="Kingsoft Phonetic Plain" pitchFamily="2" charset="2"/>
            </a:endParaRPr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animBg="1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1" y="152400"/>
            <a:ext cx="8062913" cy="6477000"/>
          </a:xfrm>
          <a:ln>
            <a:solidFill>
              <a:schemeClr val="accent1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例3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仅当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天不下雨且我有时间，才上街。</a:t>
            </a:r>
            <a:endParaRPr lang="zh-CN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天下雨。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我有时间。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我上街。</a:t>
            </a:r>
            <a:endParaRPr lang="zh-CN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：由于“仅当”是表示“必要条件”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的，既“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天不下雨且我有时间”，是“我上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街”的必要条件。所以  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该命题可写成：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R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(P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∧Q)   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4.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人不犯我，我不犯人；人若犯我，我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必犯人。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：人犯我。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：我犯人。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该命题可写成：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P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Q)∧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(P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Q)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   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636" name="Line 4"/>
          <p:cNvSpPr>
            <a:spLocks noChangeShapeType="1"/>
          </p:cNvSpPr>
          <p:nvPr/>
        </p:nvSpPr>
        <p:spPr bwMode="auto">
          <a:xfrm>
            <a:off x="4263752" y="56388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7" name="Line 5"/>
          <p:cNvSpPr>
            <a:spLocks noChangeShapeType="1"/>
          </p:cNvSpPr>
          <p:nvPr/>
        </p:nvSpPr>
        <p:spPr bwMode="auto">
          <a:xfrm>
            <a:off x="6449144" y="56388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8" name="Line 6"/>
          <p:cNvSpPr>
            <a:spLocks noChangeShapeType="1"/>
          </p:cNvSpPr>
          <p:nvPr/>
        </p:nvSpPr>
        <p:spPr bwMode="auto">
          <a:xfrm flipH="1">
            <a:off x="6400800" y="56388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9" name="Line 7"/>
          <p:cNvSpPr>
            <a:spLocks noChangeShapeType="1"/>
          </p:cNvSpPr>
          <p:nvPr/>
        </p:nvSpPr>
        <p:spPr bwMode="auto">
          <a:xfrm>
            <a:off x="6400800" y="60198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0" name="Line 8"/>
          <p:cNvSpPr>
            <a:spLocks noChangeShapeType="1"/>
          </p:cNvSpPr>
          <p:nvPr/>
        </p:nvSpPr>
        <p:spPr bwMode="auto">
          <a:xfrm flipH="1">
            <a:off x="4114800" y="5638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1" name="Line 9"/>
          <p:cNvSpPr>
            <a:spLocks noChangeShapeType="1"/>
          </p:cNvSpPr>
          <p:nvPr/>
        </p:nvSpPr>
        <p:spPr bwMode="auto">
          <a:xfrm>
            <a:off x="4114801" y="60198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2" name="Text Box 10"/>
          <p:cNvSpPr txBox="1">
            <a:spLocks noChangeArrowheads="1"/>
          </p:cNvSpPr>
          <p:nvPr/>
        </p:nvSpPr>
        <p:spPr bwMode="auto">
          <a:xfrm>
            <a:off x="6705600" y="5715001"/>
            <a:ext cx="1981200" cy="36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的充分条件</a:t>
            </a: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8" name="Text Box 11"/>
          <p:cNvSpPr txBox="1">
            <a:spLocks noChangeArrowheads="1"/>
          </p:cNvSpPr>
          <p:nvPr/>
        </p:nvSpPr>
        <p:spPr bwMode="auto">
          <a:xfrm>
            <a:off x="4191000" y="6019800"/>
            <a:ext cx="1981200" cy="602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4" name="Text Box 12"/>
          <p:cNvSpPr txBox="1">
            <a:spLocks noChangeArrowheads="1"/>
          </p:cNvSpPr>
          <p:nvPr/>
        </p:nvSpPr>
        <p:spPr bwMode="auto">
          <a:xfrm>
            <a:off x="4343400" y="5715001"/>
            <a:ext cx="1981200" cy="36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的必要条件</a:t>
            </a: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5" name="Line 13"/>
          <p:cNvSpPr>
            <a:spLocks noChangeShapeType="1"/>
          </p:cNvSpPr>
          <p:nvPr/>
        </p:nvSpPr>
        <p:spPr bwMode="auto">
          <a:xfrm flipH="1">
            <a:off x="2667000" y="6172201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6" name="Line 14"/>
          <p:cNvSpPr>
            <a:spLocks noChangeShapeType="1"/>
          </p:cNvSpPr>
          <p:nvPr/>
        </p:nvSpPr>
        <p:spPr bwMode="auto">
          <a:xfrm>
            <a:off x="2667000" y="64770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7" name="Text Box 15"/>
          <p:cNvSpPr txBox="1">
            <a:spLocks noChangeArrowheads="1"/>
          </p:cNvSpPr>
          <p:nvPr/>
        </p:nvSpPr>
        <p:spPr bwMode="auto">
          <a:xfrm>
            <a:off x="3124200" y="6172201"/>
            <a:ext cx="2590800" cy="36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的充分且必要条件</a:t>
            </a: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8" name="Line 16"/>
          <p:cNvSpPr>
            <a:spLocks noChangeShapeType="1"/>
          </p:cNvSpPr>
          <p:nvPr/>
        </p:nvSpPr>
        <p:spPr bwMode="auto">
          <a:xfrm>
            <a:off x="2667000" y="6172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9" name="Text Box 17"/>
          <p:cNvSpPr txBox="1">
            <a:spLocks noChangeArrowheads="1"/>
          </p:cNvSpPr>
          <p:nvPr/>
        </p:nvSpPr>
        <p:spPr bwMode="auto">
          <a:xfrm>
            <a:off x="914401" y="5638801"/>
            <a:ext cx="2895600" cy="602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或写成：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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Gothic" panose="020B0609070205080204" pitchFamily="49" charset="-128"/>
                <a:cs typeface="+mn-cs"/>
                <a:sym typeface="Kingsoft Phonetic Plain" pitchFamily="2" charset="2"/>
              </a:rPr>
              <a:t>Q</a:t>
            </a:r>
            <a:endParaRPr kumimoji="1" lang="en-US" altLang="zh-CN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Gothic" panose="020B0609070205080204" pitchFamily="49" charset="-128"/>
              <a:cs typeface="+mn-cs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9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9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9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69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utoUpdateAnimBg="0" build="p"/>
      <p:bldP spid="69636" grpId="0" bldLvl="0" animBg="1"/>
      <p:bldP spid="69637" grpId="0" bldLvl="0" animBg="1"/>
      <p:bldP spid="69638" grpId="0" bldLvl="0" animBg="1"/>
      <p:bldP spid="69639" grpId="0" bldLvl="0" animBg="1"/>
      <p:bldP spid="69640" grpId="0" bldLvl="0" animBg="1"/>
      <p:bldP spid="69641" grpId="0" bldLvl="0" animBg="1"/>
      <p:bldP spid="69642" grpId="0" autoUpdateAnimBg="0" build="p"/>
      <p:bldP spid="69644" grpId="0" autoUpdateAnimBg="0" build="p"/>
      <p:bldP spid="69645" grpId="0" bldLvl="0" animBg="1"/>
      <p:bldP spid="69646" grpId="0" bldLvl="0" animBg="1"/>
      <p:bldP spid="69647" grpId="0" autoUpdateAnimBg="0" build="p"/>
      <p:bldP spid="69648" grpId="0" bldLvl="0" animBg="1"/>
      <p:bldP spid="69649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8077200" cy="6096000"/>
          </a:xfrm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例5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若天不下雨，我就上街；否则在家。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 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：</a:t>
            </a: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天下雨。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Q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我上街。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：我在家。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该命题可写成：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P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Q)∧(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P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R)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：中间的联结词一定是“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∧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”，而不是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∨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”，也不是“</a:t>
            </a:r>
            <a:r>
              <a:rPr kumimoji="1"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⊽ 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”。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Clr>
                <a:schemeClr val="bg1"/>
              </a:buClr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因为原命题表示：“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天不下雨时我做什么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zh-CN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天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</a:t>
            </a:r>
            <a:endParaRPr kumimoji="1"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Clr>
                <a:schemeClr val="bg1"/>
              </a:buClr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雨我又做什么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”的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两种作法，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其中有一种作法是假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Clr>
                <a:schemeClr val="bg1"/>
              </a:buClr>
              <a:buFontTx/>
              <a:buNone/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的，则我说的就是假话，所以中间的联结词一定是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Clr>
                <a:schemeClr val="bg1"/>
              </a:buClr>
              <a:buFontTx/>
              <a:buNone/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∧ ”。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autoUpdateAnimBg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本节重点掌握：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/>
              <a:t>     列命题公式的真值表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 将给定命题符号化</a:t>
            </a:r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作业题：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/>
              <a:t>   第 </a:t>
            </a:r>
            <a:r>
              <a:rPr lang="en-US" altLang="zh-CN"/>
              <a:t>8 </a:t>
            </a:r>
            <a:r>
              <a:rPr lang="zh-CN" altLang="en-US"/>
              <a:t>页：（</a:t>
            </a:r>
            <a:r>
              <a:rPr lang="en-US" altLang="zh-CN"/>
              <a:t>3</a:t>
            </a:r>
            <a:r>
              <a:rPr lang="zh-CN" altLang="en-US"/>
              <a:t>）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第</a:t>
            </a:r>
            <a:r>
              <a:rPr lang="en-US" altLang="zh-CN"/>
              <a:t>12</a:t>
            </a:r>
            <a:r>
              <a:rPr lang="zh-CN" altLang="en-US"/>
              <a:t>页：（</a:t>
            </a:r>
            <a:r>
              <a:rPr lang="en-US" altLang="zh-CN"/>
              <a:t>5</a:t>
            </a:r>
            <a:r>
              <a:rPr lang="zh-CN" altLang="en-US"/>
              <a:t>）、（</a:t>
            </a:r>
            <a:r>
              <a:rPr lang="en-US" altLang="zh-CN"/>
              <a:t>7</a:t>
            </a:r>
            <a:r>
              <a:rPr lang="zh-CN" altLang="en-US"/>
              <a:t>）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第</a:t>
            </a:r>
            <a:r>
              <a:rPr lang="en-US" altLang="zh-CN"/>
              <a:t>17</a:t>
            </a:r>
            <a:r>
              <a:rPr lang="zh-CN" altLang="en-US"/>
              <a:t>页：（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a)</a:t>
            </a:r>
            <a:r>
              <a:rPr lang="zh-CN" altLang="en-US"/>
              <a:t>、</a:t>
            </a:r>
            <a:r>
              <a:rPr lang="en-US" altLang="zh-CN"/>
              <a:t>d)</a:t>
            </a:r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490113c0-b11b-4037-9597-43935bd0f194"/>
  <p:tag name="COMMONDATA" val="eyJoZGlkIjoiOTdlZWM4ZTkzMDQwNzlhMzliMmYyZDVlZGZhZjFmY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2053</Words>
  <Application>WPS 演示</Application>
  <PresentationFormat>全屏显示(4:3)</PresentationFormat>
  <Paragraphs>343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宋体</vt:lpstr>
      <vt:lpstr>Wingdings</vt:lpstr>
      <vt:lpstr>Candara</vt:lpstr>
      <vt:lpstr>华文楷体</vt:lpstr>
      <vt:lpstr>Calibri Light</vt:lpstr>
      <vt:lpstr>楷体</vt:lpstr>
      <vt:lpstr>黑体</vt:lpstr>
      <vt:lpstr>Times New Roman</vt:lpstr>
      <vt:lpstr>Symbol</vt:lpstr>
      <vt:lpstr>MS Gothic</vt:lpstr>
      <vt:lpstr>Kingsoft Phonetic Plain</vt:lpstr>
      <vt:lpstr>Segoe Print</vt:lpstr>
      <vt:lpstr>微软雅黑</vt:lpstr>
      <vt:lpstr>Arial Unicode MS</vt:lpstr>
      <vt:lpstr>Lucida Sans Unicode</vt:lpstr>
      <vt:lpstr>隶书</vt:lpstr>
      <vt:lpstr>Office 主题​​</vt:lpstr>
      <vt:lpstr>默认设计模板</vt:lpstr>
      <vt:lpstr>PowerPoint 演示文稿</vt:lpstr>
      <vt:lpstr>一.常值命题与命题变元</vt:lpstr>
      <vt:lpstr>二.合式公式 ( wff ) (well formed formulas)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三.命题符号化 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谭振华</cp:lastModifiedBy>
  <cp:revision>497</cp:revision>
  <dcterms:created xsi:type="dcterms:W3CDTF">2001-03-04T02:11:00Z</dcterms:created>
  <dcterms:modified xsi:type="dcterms:W3CDTF">2023-03-08T01:32:02Z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6FB4178F20794B608C1F0EFAD2DB9A2C</vt:lpwstr>
  </property>
  <property fmtid="{D5CDD505-2E9C-101B-9397-08002B2CF9AE}" pid="3" name="KSOProductBuildVer">
    <vt:lpwstr>2052-11.1.0.13703</vt:lpwstr>
  </property>
</Properties>
</file>