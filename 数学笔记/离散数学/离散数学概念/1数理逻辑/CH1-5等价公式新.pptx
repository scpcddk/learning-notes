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20"/>
  </p:notesMasterIdLst>
  <p:handoutMasterIdLst>
    <p:handoutMasterId r:id="rId21"/>
  </p:handoutMasterIdLst>
  <p:sldIdLst>
    <p:sldId id="588" r:id="rId4"/>
    <p:sldId id="589" r:id="rId5"/>
    <p:sldId id="590" r:id="rId6"/>
    <p:sldId id="591" r:id="rId7"/>
    <p:sldId id="592" r:id="rId8"/>
    <p:sldId id="593" r:id="rId9"/>
    <p:sldId id="594" r:id="rId10"/>
    <p:sldId id="595" r:id="rId11"/>
    <p:sldId id="596" r:id="rId12"/>
    <p:sldId id="597" r:id="rId13"/>
    <p:sldId id="598" r:id="rId14"/>
    <p:sldId id="599" r:id="rId15"/>
    <p:sldId id="600" r:id="rId16"/>
    <p:sldId id="601" r:id="rId17"/>
    <p:sldId id="602" r:id="rId18"/>
    <p:sldId id="603" r:id="rId19"/>
  </p:sldIdLst>
  <p:sldSz cx="9144000" cy="6858000" type="screen4x3"/>
  <p:notesSz cx="7099300" cy="10234295"/>
  <p:custDataLst>
    <p:tags r:id="rId25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CCFFCC"/>
    <a:srgbClr val="FF0000"/>
    <a:srgbClr val="800080"/>
    <a:srgbClr val="3333FF"/>
    <a:srgbClr val="99FFCC"/>
    <a:srgbClr val="993300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2" autoAdjust="0"/>
    <p:restoredTop sz="95205" autoAdjust="0"/>
  </p:normalViewPr>
  <p:slideViewPr>
    <p:cSldViewPr showGuides="1">
      <p:cViewPr varScale="1">
        <p:scale>
          <a:sx n="114" d="100"/>
          <a:sy n="114" d="100"/>
        </p:scale>
        <p:origin x="1572" y="114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318"/>
    </p:cViewPr>
  </p:sorterViewPr>
  <p:notesViewPr>
    <p:cSldViewPr>
      <p:cViewPr varScale="1">
        <p:scale>
          <a:sx n="37" d="100"/>
          <a:sy n="37" d="100"/>
        </p:scale>
        <p:origin x="-1090" y="-58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gs" Target="tags/tag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BB4B81F-A7D6-4015-B8B5-25709B6C0BE8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22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zh-CN" altLang="en-US" noProof="0"/>
              <a:t>单击以编辑母版文本样式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36B63D6-A577-4FFD-BDA7-6D48BE1130C1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 userDrawn="1"/>
        </p:nvSpPr>
        <p:spPr bwMode="auto">
          <a:xfrm>
            <a:off x="0" y="6237312"/>
            <a:ext cx="9144000" cy="63021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lIns="76786" tIns="38393" rIns="76786" bIns="38393" anchor="ctr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defTabSz="1024255">
              <a:defRPr/>
            </a:pPr>
            <a:endParaRPr lang="en-US" sz="1200" dirty="0">
              <a:solidFill>
                <a:prstClr val="white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766" y="0"/>
            <a:ext cx="9144000" cy="69269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lIns="76786" tIns="38393" rIns="76786" bIns="38393"/>
          <a:lstStyle>
            <a:lvl1pPr>
              <a:defRPr sz="36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764704"/>
            <a:ext cx="8496944" cy="5328592"/>
          </a:xfrm>
          <a:prstGeom prst="rect">
            <a:avLst/>
          </a:prstGeom>
        </p:spPr>
        <p:txBody>
          <a:bodyPr lIns="76786" tIns="38393" rIns="76786" bIns="38393"/>
          <a:lstStyle>
            <a:lvl1pPr>
              <a:defRPr sz="32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 sz="2800"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668344" y="6597352"/>
            <a:ext cx="15311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东北大学 谭振华</a:t>
            </a:r>
            <a:endParaRPr lang="zh-CN" altLang="en-US" sz="14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766" y="0"/>
            <a:ext cx="9144000" cy="69269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lIns="76786" tIns="38393" rIns="76786" bIns="38393"/>
          <a:lstStyle>
            <a:lvl1pPr>
              <a:defRPr sz="36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764704"/>
            <a:ext cx="8496944" cy="5904656"/>
          </a:xfrm>
          <a:prstGeom prst="rect">
            <a:avLst/>
          </a:prstGeom>
        </p:spPr>
        <p:txBody>
          <a:bodyPr lIns="76786" tIns="38393" rIns="76786" bIns="38393"/>
          <a:lstStyle>
            <a:lvl1pPr>
              <a:defRPr sz="32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 sz="2800"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A48CE6-7D3F-4032-A803-4EB3672EACB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E2F29D-960B-49FE-8CF9-49C6CEED0FA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429274-EED2-494F-8235-1077992D22C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5D221-176E-4D83-B6DD-3A093663A5E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6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6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1A74AD-CE4B-48F6-A6BD-E27308C5C66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7852F5-6E93-43F3-B9B7-0A01A823F4A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071500-27E1-4031-9BEC-1847BD0B145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617516-FA64-4EE0-BBEF-E6E68DC0D57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6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3B73A1-A0DE-48E6-B217-78662009B1A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23302F-574B-495E-BBAF-42821389479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1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3DB281-2699-4FE6-9EBC-7B7C3E4C66F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1" y="1600201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57C46C-BCDF-4A02-B554-EE9A6B55BC6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75000">
              <a:srgbClr val="FBFBFB"/>
            </a:gs>
            <a:gs pos="100000">
              <a:srgbClr val="D0D0D0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1024255" rtl="0" eaLnBrk="1" latinLnBrk="0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4175" indent="-38417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32485" indent="-320040" algn="l" defTabSz="1024255" rtl="0" eaLnBrk="1" latinLnBrk="0" hangingPunct="1">
        <a:spcBef>
          <a:spcPct val="20000"/>
        </a:spcBef>
        <a:buFont typeface="Arial" panose="020B0604020202020204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8079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9260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0505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1749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2930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4175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35356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18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489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3670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485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60955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7340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852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97655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3" tIns="45712" rIns="91423" bIns="45712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5088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3" tIns="45712" rIns="91423" bIns="45712" numCol="1" anchor="t" anchorCtr="0" compatLnSpc="1"/>
          <a:lstStyle>
            <a:lvl1pPr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088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3" tIns="45712" rIns="91423" bIns="45712" numCol="1" anchor="t" anchorCtr="0" compatLnSpc="1"/>
          <a:lstStyle>
            <a:lvl1pPr algn="ctr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088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3" tIns="45712" rIns="91423" bIns="45712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A2096EF-62DF-48D5-A20B-BCC7AC4CB16E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107504" y="44624"/>
            <a:ext cx="4528256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lIns="76772" tIns="38386" rIns="76772" bIns="38386" anchor="ctr"/>
          <a:lstStyle/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第一篇 数理逻辑</a:t>
            </a:r>
            <a:endParaRPr lang="en-US" altLang="zh-CN" sz="2800" dirty="0">
              <a:solidFill>
                <a:prstClr val="whit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1043608" y="2636912"/>
            <a:ext cx="7521824" cy="1378715"/>
          </a:xfrm>
          <a:prstGeom prst="rect">
            <a:avLst/>
          </a:prstGeom>
          <a:noFill/>
          <a:ln>
            <a:noFill/>
          </a:ln>
          <a:effectLst/>
        </p:spPr>
        <p:txBody>
          <a:bodyPr lIns="76772" tIns="38386" rIns="76772" bIns="38386" anchor="ctr"/>
          <a:lstStyle/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72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1-5 </a:t>
            </a:r>
            <a:r>
              <a:rPr lang="zh-CN" altLang="en-US" sz="72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等价公式</a:t>
            </a:r>
            <a:r>
              <a:rPr lang="en-US" altLang="zh-CN" sz="72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(Equivalent)</a:t>
            </a:r>
            <a:endParaRPr lang="en-US" altLang="zh-CN" sz="7200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 </a:t>
            </a:r>
            <a:r>
              <a:rPr lang="zh-CN" altLang="en-US" dirty="0">
                <a:ea typeface="黑体" panose="02010609060101010101" pitchFamily="49" charset="-122"/>
              </a:rPr>
              <a:t>例子</a:t>
            </a:r>
            <a:r>
              <a:rPr lang="zh-CN" altLang="en-US" dirty="0"/>
              <a:t> 看下面三个公式的真值表</a:t>
            </a:r>
            <a:endParaRPr lang="zh-CN" altLang="en-US" dirty="0"/>
          </a:p>
          <a:p>
            <a:pPr eaLnBrk="1" hangingPunct="1">
              <a:buFontTx/>
              <a:buNone/>
            </a:pPr>
            <a:endParaRPr lang="zh-CN" altLang="en-US" dirty="0"/>
          </a:p>
          <a:p>
            <a:pPr eaLnBrk="1" hangingPunct="1">
              <a:buFontTx/>
              <a:buNone/>
            </a:pPr>
            <a:endParaRPr lang="zh-CN" altLang="en-US" dirty="0"/>
          </a:p>
          <a:p>
            <a:pPr eaLnBrk="1" hangingPunct="1">
              <a:buFontTx/>
              <a:buNone/>
            </a:pPr>
            <a:endParaRPr lang="zh-CN" altLang="en-US" dirty="0"/>
          </a:p>
          <a:p>
            <a:pPr eaLnBrk="1" hangingPunct="1">
              <a:buFontTx/>
              <a:buNone/>
            </a:pPr>
            <a:endParaRPr lang="zh-CN" altLang="en-US" dirty="0"/>
          </a:p>
          <a:p>
            <a:pPr eaLnBrk="1" hangingPunct="1">
              <a:buFontTx/>
              <a:buNone/>
            </a:pPr>
            <a:endParaRPr lang="zh-CN" altLang="en-US" dirty="0"/>
          </a:p>
          <a:p>
            <a:pPr eaLnBrk="1" hangingPunct="1">
              <a:buFontTx/>
              <a:buNone/>
            </a:pPr>
            <a:r>
              <a:rPr lang="zh-CN" altLang="en-US" dirty="0"/>
              <a:t>    从真值表可以看出，不论对</a:t>
            </a:r>
            <a:r>
              <a:rPr lang="en-US" altLang="zh-CN" dirty="0"/>
              <a:t>P</a:t>
            </a:r>
            <a:r>
              <a:rPr lang="zh-CN" altLang="en-US" dirty="0"/>
              <a:t>、</a:t>
            </a:r>
            <a:r>
              <a:rPr lang="en-US" altLang="zh-CN" dirty="0"/>
              <a:t>Q</a:t>
            </a:r>
            <a:r>
              <a:rPr lang="zh-CN" altLang="en-US" dirty="0"/>
              <a:t>作何指派，都使得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</a:t>
            </a:r>
            <a:r>
              <a:rPr lang="zh-CN" altLang="en-US" dirty="0"/>
              <a:t>、</a:t>
            </a:r>
            <a:r>
              <a:rPr lang="zh-CN" altLang="en-US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Q</a:t>
            </a:r>
            <a:r>
              <a:rPr lang="zh-CN" altLang="en-US" dirty="0"/>
              <a:t>和</a:t>
            </a:r>
            <a:r>
              <a:rPr lang="zh-CN" altLang="en-US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Q</a:t>
            </a:r>
            <a:r>
              <a:rPr lang="en-US" altLang="zh-CN" dirty="0">
                <a:sym typeface="Symbol" panose="05050102010706020507" pitchFamily="18" charset="2"/>
              </a:rPr>
              <a:t></a:t>
            </a:r>
            <a:r>
              <a:rPr lang="en-US" altLang="zh-CN" dirty="0"/>
              <a:t>P</a:t>
            </a:r>
            <a:r>
              <a:rPr lang="zh-CN" altLang="en-US" dirty="0"/>
              <a:t>的真值相同，表明它们之间彼此等价。</a:t>
            </a:r>
            <a:endParaRPr lang="zh-CN" altLang="en-US" dirty="0"/>
          </a:p>
        </p:txBody>
      </p:sp>
      <p:graphicFrame>
        <p:nvGraphicFramePr>
          <p:cNvPr id="86073" name="Group 57"/>
          <p:cNvGraphicFramePr>
            <a:graphicFrameLocks noGrp="1"/>
          </p:cNvGraphicFramePr>
          <p:nvPr/>
        </p:nvGraphicFramePr>
        <p:xfrm>
          <a:off x="1259632" y="1484784"/>
          <a:ext cx="6858000" cy="2819402"/>
        </p:xfrm>
        <a:graphic>
          <a:graphicData uri="http://schemas.openxmlformats.org/drawingml/2006/table">
            <a:tbl>
              <a:tblPr/>
              <a:tblGrid>
                <a:gridCol w="1066800"/>
                <a:gridCol w="990600"/>
                <a:gridCol w="1219200"/>
                <a:gridCol w="1524000"/>
                <a:gridCol w="2057400"/>
              </a:tblGrid>
              <a:tr h="563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Gothic" panose="020B0609070205080204" pitchFamily="49" charset="-128"/>
                          <a:sym typeface="Kingsoft Phonetic Plain" pitchFamily="2" charset="2"/>
                        </a:rPr>
                        <a:t>∨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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3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3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3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01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01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6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6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6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6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9" grpId="0" animBg="1" autoUpdateAnimBg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6600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2. </a:t>
            </a:r>
            <a:r>
              <a:rPr lang="zh-CN" altLang="zh-CN">
                <a:solidFill>
                  <a:srgbClr val="FF0000"/>
                </a:solidFill>
                <a:ea typeface="黑体" panose="02010609060101010101" pitchFamily="49" charset="-122"/>
              </a:rPr>
              <a:t>定义</a:t>
            </a:r>
            <a:r>
              <a:rPr lang="zh-CN" altLang="zh-CN"/>
              <a:t>：</a:t>
            </a:r>
            <a:r>
              <a:rPr lang="en-US" altLang="zh-CN"/>
              <a:t>A</a:t>
            </a:r>
            <a:r>
              <a:rPr lang="zh-CN" altLang="en-US"/>
              <a:t>、</a:t>
            </a:r>
            <a:r>
              <a:rPr lang="en-US" altLang="zh-CN"/>
              <a:t>B</a:t>
            </a:r>
            <a:r>
              <a:rPr lang="zh-CN" altLang="zh-CN"/>
              <a:t>是含有命题变元</a:t>
            </a:r>
            <a:r>
              <a:rPr lang="en-US" altLang="zh-CN"/>
              <a:t>P</a:t>
            </a:r>
            <a:r>
              <a:rPr lang="en-US" altLang="zh-CN" baseline="-25000"/>
              <a:t>1</a:t>
            </a:r>
            <a:r>
              <a:rPr lang="en-US" altLang="zh-CN"/>
              <a:t>,P</a:t>
            </a:r>
            <a:r>
              <a:rPr lang="en-US" altLang="zh-CN" baseline="-25000"/>
              <a:t>2</a:t>
            </a:r>
            <a:r>
              <a:rPr lang="en-US" altLang="zh-CN"/>
              <a:t>,…,</a:t>
            </a:r>
            <a:r>
              <a:rPr lang="en-US" altLang="zh-CN" baseline="-25000"/>
              <a:t> </a:t>
            </a:r>
            <a:r>
              <a:rPr lang="en-US" altLang="zh-CN"/>
              <a:t>P</a:t>
            </a:r>
            <a:r>
              <a:rPr lang="en-US" altLang="zh-CN" baseline="-25000"/>
              <a:t>n</a:t>
            </a:r>
            <a:endParaRPr lang="en-US" altLang="zh-CN" baseline="-250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zh-CN"/>
              <a:t>的命题公式，如不论对</a:t>
            </a:r>
            <a:r>
              <a:rPr lang="en-US" altLang="zh-CN"/>
              <a:t>P</a:t>
            </a:r>
            <a:r>
              <a:rPr lang="en-US" altLang="zh-CN" baseline="-25000"/>
              <a:t>1</a:t>
            </a:r>
            <a:r>
              <a:rPr lang="en-US" altLang="zh-CN"/>
              <a:t>, P</a:t>
            </a:r>
            <a:r>
              <a:rPr lang="en-US" altLang="zh-CN" baseline="-25000"/>
              <a:t>2 </a:t>
            </a:r>
            <a:r>
              <a:rPr lang="en-US" altLang="zh-CN"/>
              <a:t>, …,</a:t>
            </a:r>
            <a:r>
              <a:rPr lang="en-US" altLang="zh-CN" baseline="-25000"/>
              <a:t> </a:t>
            </a:r>
            <a:r>
              <a:rPr lang="en-US" altLang="zh-CN"/>
              <a:t>P</a:t>
            </a:r>
            <a:r>
              <a:rPr lang="en-US" altLang="zh-CN" baseline="-25000"/>
              <a:t>n</a:t>
            </a:r>
            <a:r>
              <a:rPr lang="zh-CN" altLang="zh-CN"/>
              <a:t>作任何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zh-CN"/>
              <a:t>指派，都使得</a:t>
            </a:r>
            <a:r>
              <a:rPr lang="en-US" altLang="zh-CN"/>
              <a:t>A</a:t>
            </a:r>
            <a:r>
              <a:rPr lang="zh-CN" altLang="en-US"/>
              <a:t>和</a:t>
            </a:r>
            <a:r>
              <a:rPr lang="en-US" altLang="zh-CN"/>
              <a:t>B</a:t>
            </a:r>
            <a:r>
              <a:rPr lang="zh-CN" altLang="en-US"/>
              <a:t>的真值相同，则称之为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>
                <a:solidFill>
                  <a:srgbClr val="FF0000"/>
                </a:solidFill>
                <a:ea typeface="黑体" panose="02010609060101010101" pitchFamily="49" charset="-122"/>
              </a:rPr>
              <a:t>A</a:t>
            </a:r>
            <a:r>
              <a:rPr lang="zh-CN" altLang="en-US">
                <a:solidFill>
                  <a:srgbClr val="FF0000"/>
                </a:solidFill>
                <a:ea typeface="黑体" panose="02010609060101010101" pitchFamily="49" charset="-122"/>
              </a:rPr>
              <a:t>与</a:t>
            </a:r>
            <a:r>
              <a:rPr lang="en-US" altLang="zh-CN">
                <a:solidFill>
                  <a:srgbClr val="FF0000"/>
                </a:solidFill>
                <a:ea typeface="黑体" panose="02010609060101010101" pitchFamily="49" charset="-122"/>
              </a:rPr>
              <a:t>B</a:t>
            </a:r>
            <a:r>
              <a:rPr lang="zh-CN" altLang="en-US">
                <a:solidFill>
                  <a:srgbClr val="FF0000"/>
                </a:solidFill>
                <a:ea typeface="黑体" panose="02010609060101010101" pitchFamily="49" charset="-122"/>
              </a:rPr>
              <a:t>等价</a:t>
            </a:r>
            <a:r>
              <a:rPr lang="zh-CN" altLang="en-US"/>
              <a:t>，记作</a:t>
            </a:r>
            <a:r>
              <a:rPr lang="en-US" altLang="zh-CN">
                <a:solidFill>
                  <a:srgbClr val="FF0000"/>
                </a:solidFill>
                <a:ea typeface="黑体" panose="02010609060101010101" pitchFamily="49" charset="-122"/>
              </a:rPr>
              <a:t>A</a:t>
            </a:r>
            <a:r>
              <a:rPr lang="en-US" altLang="zh-CN">
                <a:solidFill>
                  <a:srgbClr val="FF00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</a:t>
            </a:r>
            <a:r>
              <a:rPr lang="en-US" altLang="zh-CN">
                <a:solidFill>
                  <a:srgbClr val="FF0000"/>
                </a:solidFill>
                <a:ea typeface="黑体" panose="02010609060101010101" pitchFamily="49" charset="-122"/>
              </a:rPr>
              <a:t>B</a:t>
            </a:r>
            <a:r>
              <a:rPr lang="zh-CN" altLang="en-US"/>
              <a:t>。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   显然     </a:t>
            </a:r>
            <a:r>
              <a:rPr lang="en-US" altLang="zh-CN"/>
              <a:t>P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Q</a:t>
            </a:r>
            <a:r>
              <a:rPr lang="en-US" altLang="zh-CN">
                <a:sym typeface="Symbol" panose="05050102010706020507" pitchFamily="18" charset="2"/>
              </a:rPr>
              <a:t></a:t>
            </a:r>
            <a:r>
              <a:rPr lang="en-US" altLang="zh-CN"/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Q</a:t>
            </a:r>
            <a:r>
              <a:rPr lang="en-US" altLang="zh-CN">
                <a:sym typeface="Symbol" panose="05050102010706020507" pitchFamily="18" charset="2"/>
              </a:rPr>
              <a:t></a:t>
            </a:r>
            <a:r>
              <a:rPr lang="en-US" altLang="zh-CN"/>
              <a:t>Q</a:t>
            </a:r>
            <a:r>
              <a:rPr lang="en-US" altLang="zh-CN">
                <a:sym typeface="Symbol" panose="05050102010706020507" pitchFamily="18" charset="2"/>
              </a:rPr>
              <a:t></a:t>
            </a:r>
            <a:r>
              <a:rPr lang="en-US" altLang="zh-CN"/>
              <a:t>P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3. </a:t>
            </a:r>
            <a:r>
              <a:rPr lang="zh-CN" altLang="zh-CN">
                <a:ea typeface="黑体" panose="02010609060101010101" pitchFamily="49" charset="-122"/>
              </a:rPr>
              <a:t>重要的等价公式</a:t>
            </a:r>
            <a:endParaRPr lang="zh-CN" altLang="zh-CN"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zh-CN"/>
              <a:t> </a:t>
            </a:r>
            <a:r>
              <a:rPr lang="zh-CN" altLang="en-US"/>
              <a:t>⑴ 对合律   </a:t>
            </a:r>
            <a:r>
              <a:rPr lang="zh-CN" altLang="en-US">
                <a:sym typeface="Symbol" panose="05050102010706020507" pitchFamily="18" charset="2"/>
              </a:rPr>
              <a:t></a:t>
            </a:r>
            <a:r>
              <a:rPr lang="en-US" altLang="zh-CN"/>
              <a:t>P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P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 ⑵ </a:t>
            </a:r>
            <a:r>
              <a:rPr lang="zh-CN" altLang="en-US"/>
              <a:t>幂等律   </a:t>
            </a:r>
            <a:r>
              <a:rPr lang="en-US" altLang="zh-CN"/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P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P        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/>
              <a:t>P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P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 ⑶ </a:t>
            </a:r>
            <a:r>
              <a:rPr lang="zh-CN" altLang="en-US"/>
              <a:t>结合律   </a:t>
            </a:r>
            <a:r>
              <a:rPr lang="en-US" altLang="zh-CN"/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∨(</a:t>
            </a:r>
            <a:r>
              <a:rPr lang="en-US" altLang="zh-CN"/>
              <a:t>Q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R)</a:t>
            </a:r>
            <a:r>
              <a:rPr lang="en-US" altLang="zh-CN">
                <a:sym typeface="Symbol" panose="05050102010706020507" pitchFamily="18" charset="2"/>
              </a:rPr>
              <a:t>(</a:t>
            </a:r>
            <a:r>
              <a:rPr lang="en-US" altLang="zh-CN"/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Q)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R 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                   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/>
              <a:t>Q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/>
              <a:t>R)</a:t>
            </a:r>
            <a:r>
              <a:rPr lang="en-US" altLang="zh-CN">
                <a:sym typeface="Symbol" panose="05050102010706020507" pitchFamily="18" charset="2"/>
              </a:rPr>
              <a:t>(</a:t>
            </a:r>
            <a:r>
              <a:rPr lang="en-US" altLang="zh-CN"/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/>
              <a:t>Q)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/>
              <a:t>R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 ⑷</a:t>
            </a:r>
            <a:r>
              <a:rPr lang="zh-CN" altLang="en-US"/>
              <a:t>交换律    </a:t>
            </a:r>
            <a:r>
              <a:rPr lang="en-US" altLang="zh-CN"/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Q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Q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P     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/>
              <a:t>Q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Q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/>
              <a:t>P</a:t>
            </a:r>
            <a:endParaRPr lang="en-US" altLang="zh-CN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06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8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80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80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80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autoUpdateAnimBg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9091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b="1" dirty="0"/>
              <a:t>⑸</a:t>
            </a:r>
            <a:r>
              <a:rPr lang="zh-CN" altLang="en-US" sz="2400" b="1" dirty="0"/>
              <a:t>分配律     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∨(</a:t>
            </a:r>
            <a:r>
              <a:rPr lang="en-US" altLang="zh-CN" sz="2400" b="1" dirty="0"/>
              <a:t>Q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/>
              <a:t>R)</a:t>
            </a:r>
            <a:r>
              <a:rPr lang="en-US" altLang="zh-CN" sz="2400" b="1" dirty="0">
                <a:sym typeface="Symbol" panose="05050102010706020507" pitchFamily="18" charset="2"/>
              </a:rPr>
              <a:t>(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400" b="1" dirty="0"/>
              <a:t>Q)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400" b="1" dirty="0"/>
              <a:t>R)   </a:t>
            </a:r>
            <a:endParaRPr lang="en-US" altLang="zh-CN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                    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 sz="2400" b="1" dirty="0"/>
              <a:t>Q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400" b="1" dirty="0"/>
              <a:t>R)</a:t>
            </a:r>
            <a:r>
              <a:rPr lang="en-US" altLang="zh-CN" sz="2400" b="1" dirty="0">
                <a:sym typeface="Symbol" panose="05050102010706020507" pitchFamily="18" charset="2"/>
              </a:rPr>
              <a:t>(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/>
              <a:t>Q)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∨(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/>
              <a:t>R)</a:t>
            </a:r>
            <a:endParaRPr lang="en-US" altLang="zh-CN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⑹ </a:t>
            </a:r>
            <a:r>
              <a:rPr lang="zh-CN" altLang="en-US" sz="2400" b="1" dirty="0">
                <a:highlight>
                  <a:srgbClr val="FFFF00"/>
                </a:highlight>
              </a:rPr>
              <a:t>吸收律    </a:t>
            </a:r>
            <a:r>
              <a:rPr lang="en-US" altLang="zh-CN" sz="2400" b="1" dirty="0">
                <a:highlight>
                  <a:srgbClr val="FFFF00"/>
                </a:highlight>
              </a:rPr>
              <a:t>P</a:t>
            </a:r>
            <a:r>
              <a:rPr lang="en-US" altLang="zh-CN" sz="2400" b="1" dirty="0">
                <a:highlight>
                  <a:srgbClr val="FFFF00"/>
                </a:highlight>
                <a:ea typeface="MS Gothic" panose="020B0609070205080204" pitchFamily="49" charset="-128"/>
                <a:sym typeface="Kingsoft Phonetic Plain" pitchFamily="2" charset="2"/>
              </a:rPr>
              <a:t>∨(</a:t>
            </a:r>
            <a:r>
              <a:rPr lang="en-US" altLang="zh-CN" sz="2400" b="1" dirty="0">
                <a:highlight>
                  <a:srgbClr val="FFFF00"/>
                </a:highlight>
              </a:rPr>
              <a:t>P</a:t>
            </a:r>
            <a:r>
              <a:rPr lang="en-US" altLang="zh-CN" sz="2400" b="1" dirty="0">
                <a:highlight>
                  <a:srgbClr val="FFFF00"/>
                </a:highlight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>
                <a:highlight>
                  <a:srgbClr val="FFFF00"/>
                </a:highlight>
              </a:rPr>
              <a:t>Q)</a:t>
            </a:r>
            <a:r>
              <a:rPr lang="en-US" altLang="zh-CN" sz="2400" b="1" dirty="0">
                <a:highlight>
                  <a:srgbClr val="FFFF00"/>
                </a:highlight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highlight>
                  <a:srgbClr val="FFFF00"/>
                </a:highlight>
              </a:rPr>
              <a:t>P       P</a:t>
            </a:r>
            <a:r>
              <a:rPr lang="en-US" altLang="zh-CN" sz="2400" b="1" dirty="0">
                <a:highlight>
                  <a:srgbClr val="FFFF00"/>
                </a:highlight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 sz="2400" b="1" dirty="0">
                <a:highlight>
                  <a:srgbClr val="FFFF00"/>
                </a:highlight>
              </a:rPr>
              <a:t>P</a:t>
            </a:r>
            <a:r>
              <a:rPr lang="en-US" altLang="zh-CN" sz="2400" b="1" dirty="0">
                <a:highlight>
                  <a:srgbClr val="FFFF00"/>
                </a:highlight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400" b="1" dirty="0">
                <a:highlight>
                  <a:srgbClr val="FFFF00"/>
                </a:highlight>
              </a:rPr>
              <a:t>Q)</a:t>
            </a:r>
            <a:r>
              <a:rPr lang="en-US" altLang="zh-CN" sz="2400" b="1" dirty="0">
                <a:highlight>
                  <a:srgbClr val="FFFF00"/>
                </a:highlight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highlight>
                  <a:srgbClr val="FFFF00"/>
                </a:highlight>
              </a:rPr>
              <a:t>P</a:t>
            </a:r>
            <a:endParaRPr lang="en-US" altLang="zh-CN" sz="2400" b="1" dirty="0">
              <a:highlight>
                <a:srgbClr val="FFFF00"/>
              </a:highlight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/>
              <a:t>⑺</a:t>
            </a:r>
            <a:r>
              <a:rPr lang="zh-CN" altLang="en-US" sz="2400" b="1" dirty="0"/>
              <a:t>底</a:t>
            </a:r>
            <a:r>
              <a:rPr lang="en-US" altLang="zh-CN" sz="2400" b="1" dirty="0"/>
              <a:t>-</a:t>
            </a:r>
            <a:r>
              <a:rPr lang="zh-CN" altLang="en-US" sz="2400" b="1" dirty="0"/>
              <a:t>摩根定律     </a:t>
            </a:r>
            <a:r>
              <a:rPr lang="zh-CN" altLang="en-US" sz="2400" b="1" dirty="0"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sym typeface="Symbol" panose="05050102010706020507" pitchFamily="18" charset="2"/>
              </a:rPr>
              <a:t>(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400" b="1" dirty="0"/>
              <a:t>Q)</a:t>
            </a:r>
            <a:r>
              <a:rPr lang="en-US" altLang="zh-CN" sz="2400" b="1" dirty="0">
                <a:sym typeface="Symbol" panose="05050102010706020507" pitchFamily="18" charset="2"/>
              </a:rPr>
              <a:t>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>
                <a:sym typeface="Symbol" panose="05050102010706020507" pitchFamily="18" charset="2"/>
              </a:rPr>
              <a:t></a:t>
            </a:r>
            <a:r>
              <a:rPr lang="en-US" altLang="zh-CN" sz="2400" b="1" dirty="0"/>
              <a:t>Q   </a:t>
            </a:r>
            <a:endParaRPr lang="en-US" altLang="zh-CN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                            </a:t>
            </a:r>
            <a:r>
              <a:rPr lang="en-US" altLang="zh-CN" sz="2400" b="1" dirty="0">
                <a:sym typeface="Symbol" panose="05050102010706020507" pitchFamily="18" charset="2"/>
              </a:rPr>
              <a:t>(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/>
              <a:t>Q)</a:t>
            </a:r>
            <a:r>
              <a:rPr lang="en-US" altLang="zh-CN" sz="2400" b="1" dirty="0">
                <a:sym typeface="Symbol" panose="05050102010706020507" pitchFamily="18" charset="2"/>
              </a:rPr>
              <a:t>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400" b="1" dirty="0">
                <a:sym typeface="Symbol" panose="05050102010706020507" pitchFamily="18" charset="2"/>
              </a:rPr>
              <a:t></a:t>
            </a:r>
            <a:r>
              <a:rPr lang="en-US" altLang="zh-CN" sz="2400" b="1" dirty="0"/>
              <a:t>Q</a:t>
            </a:r>
            <a:endParaRPr lang="en-US" altLang="zh-CN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⑻ </a:t>
            </a:r>
            <a:r>
              <a:rPr lang="zh-CN" altLang="en-US" sz="2400" b="1" dirty="0"/>
              <a:t>同一律    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400" b="1" dirty="0"/>
              <a:t>F</a:t>
            </a:r>
            <a:r>
              <a:rPr lang="en-US" altLang="zh-CN" sz="2400" b="1" dirty="0">
                <a:sym typeface="Symbol" panose="05050102010706020507" pitchFamily="18" charset="2"/>
              </a:rPr>
              <a:t></a:t>
            </a:r>
            <a:r>
              <a:rPr lang="en-US" altLang="zh-CN" sz="2400" b="1" dirty="0"/>
              <a:t>P                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/>
              <a:t>T</a:t>
            </a:r>
            <a:r>
              <a:rPr lang="en-US" altLang="zh-CN" sz="2400" b="1" dirty="0">
                <a:sym typeface="Symbol" panose="05050102010706020507" pitchFamily="18" charset="2"/>
              </a:rPr>
              <a:t></a:t>
            </a:r>
            <a:r>
              <a:rPr lang="en-US" altLang="zh-CN" sz="2400" b="1" dirty="0"/>
              <a:t>P</a:t>
            </a:r>
            <a:endParaRPr lang="en-US" altLang="zh-CN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⑼ </a:t>
            </a:r>
            <a:r>
              <a:rPr lang="zh-CN" altLang="en-US" sz="2400" b="1" dirty="0"/>
              <a:t>零律        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400" b="1" dirty="0"/>
              <a:t>T</a:t>
            </a:r>
            <a:r>
              <a:rPr lang="en-US" altLang="zh-CN" sz="2400" b="1" dirty="0">
                <a:sym typeface="Symbol" panose="05050102010706020507" pitchFamily="18" charset="2"/>
              </a:rPr>
              <a:t></a:t>
            </a:r>
            <a:r>
              <a:rPr lang="en-US" altLang="zh-CN" sz="2400" b="1" dirty="0"/>
              <a:t>T                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/>
              <a:t>F</a:t>
            </a:r>
            <a:r>
              <a:rPr lang="en-US" altLang="zh-CN" sz="2400" b="1" dirty="0">
                <a:sym typeface="Symbol" panose="05050102010706020507" pitchFamily="18" charset="2"/>
              </a:rPr>
              <a:t></a:t>
            </a:r>
            <a:r>
              <a:rPr lang="en-US" altLang="zh-CN" sz="2400" b="1" dirty="0"/>
              <a:t>F</a:t>
            </a:r>
            <a:endParaRPr lang="en-US" altLang="zh-CN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⑽ </a:t>
            </a:r>
            <a:r>
              <a:rPr lang="zh-CN" altLang="en-US" sz="2400" b="1" dirty="0"/>
              <a:t>互补律    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400" b="1" dirty="0">
                <a:sym typeface="Symbol" panose="05050102010706020507" pitchFamily="18" charset="2"/>
              </a:rPr>
              <a:t>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sym typeface="Symbol" panose="05050102010706020507" pitchFamily="18" charset="2"/>
              </a:rPr>
              <a:t>T</a:t>
            </a:r>
            <a:r>
              <a:rPr lang="en-US" altLang="zh-CN" sz="2400" b="1" dirty="0"/>
              <a:t>             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>
                <a:sym typeface="Symbol" panose="05050102010706020507" pitchFamily="18" charset="2"/>
              </a:rPr>
              <a:t>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sym typeface="Symbol" panose="05050102010706020507" pitchFamily="18" charset="2"/>
              </a:rPr>
              <a:t></a:t>
            </a:r>
            <a:r>
              <a:rPr lang="en-US" altLang="zh-CN" sz="2400" b="1" dirty="0"/>
              <a:t>F</a:t>
            </a:r>
            <a:endParaRPr lang="en-US" altLang="zh-CN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⑾  </a:t>
            </a:r>
            <a:r>
              <a:rPr lang="en-US" altLang="zh-CN" sz="2400" b="1" dirty="0">
                <a:highlight>
                  <a:srgbClr val="FFFF00"/>
                </a:highlight>
              </a:rPr>
              <a:t>P</a:t>
            </a:r>
            <a:r>
              <a:rPr lang="en-US" altLang="zh-CN" sz="2400" b="1" dirty="0">
                <a:highlight>
                  <a:srgbClr val="FFFF00"/>
                </a:highlight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highlight>
                  <a:srgbClr val="FFFF00"/>
                </a:highlight>
              </a:rPr>
              <a:t>Q </a:t>
            </a:r>
            <a:r>
              <a:rPr lang="en-US" altLang="zh-CN" sz="2400" b="1" dirty="0">
                <a:highlight>
                  <a:srgbClr val="FFFF00"/>
                </a:highlight>
                <a:sym typeface="Symbol" panose="05050102010706020507" pitchFamily="18" charset="2"/>
              </a:rPr>
              <a:t></a:t>
            </a:r>
            <a:r>
              <a:rPr lang="en-US" altLang="zh-CN" sz="2400" b="1" dirty="0">
                <a:highlight>
                  <a:srgbClr val="FFFF00"/>
                </a:highlight>
              </a:rPr>
              <a:t>P</a:t>
            </a:r>
            <a:r>
              <a:rPr lang="en-US" altLang="zh-CN" sz="2400" b="1" dirty="0">
                <a:highlight>
                  <a:srgbClr val="FFFF00"/>
                </a:highlight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400" b="1" dirty="0">
                <a:highlight>
                  <a:srgbClr val="FFFF00"/>
                </a:highlight>
              </a:rPr>
              <a:t>Q   </a:t>
            </a:r>
            <a:r>
              <a:rPr lang="en-US" altLang="zh-CN" sz="2400" b="1" dirty="0"/>
              <a:t>     </a:t>
            </a:r>
            <a:endParaRPr lang="en-US" altLang="zh-CN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⑿  </a:t>
            </a:r>
            <a:r>
              <a:rPr lang="en-US" altLang="zh-CN" sz="2400" b="1" dirty="0">
                <a:solidFill>
                  <a:srgbClr val="FF0000"/>
                </a:solidFill>
              </a:rPr>
              <a:t>P</a:t>
            </a:r>
            <a:r>
              <a:rPr lang="en-US" altLang="zh-CN" sz="2400" b="1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FF0000"/>
                </a:solidFill>
              </a:rPr>
              <a:t>Q </a:t>
            </a:r>
            <a:r>
              <a:rPr lang="en-US" altLang="zh-CN" sz="2400" b="1" dirty="0">
                <a:solidFill>
                  <a:srgbClr val="FF0000"/>
                </a:solidFill>
                <a:sym typeface="Symbol" panose="05050102010706020507" pitchFamily="18" charset="2"/>
              </a:rPr>
              <a:t></a:t>
            </a:r>
            <a:r>
              <a:rPr lang="en-US" altLang="zh-CN" sz="2400" b="1" dirty="0">
                <a:solidFill>
                  <a:srgbClr val="FF0000"/>
                </a:solidFill>
              </a:rPr>
              <a:t>Q</a:t>
            </a:r>
            <a:r>
              <a:rPr lang="en-US" altLang="zh-CN" sz="2400" b="1" dirty="0">
                <a:solidFill>
                  <a:srgbClr val="FF0000"/>
                </a:solidFill>
                <a:sym typeface="Symbol" panose="05050102010706020507" pitchFamily="18" charset="2"/>
              </a:rPr>
              <a:t></a:t>
            </a:r>
            <a:r>
              <a:rPr lang="en-US" altLang="zh-CN" sz="2400" b="1" dirty="0">
                <a:solidFill>
                  <a:srgbClr val="FF0000"/>
                </a:solidFill>
              </a:rPr>
              <a:t>P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/>
              <a:t>⒀  </a:t>
            </a:r>
            <a:r>
              <a:rPr lang="en-US" altLang="zh-CN" sz="2400" b="1" dirty="0">
                <a:solidFill>
                  <a:srgbClr val="FF0000"/>
                </a:solidFill>
              </a:rPr>
              <a:t>P</a:t>
            </a:r>
            <a:r>
              <a:rPr lang="en-US" altLang="zh-CN" sz="2400" b="1" dirty="0">
                <a:solidFill>
                  <a:srgbClr val="FF0000"/>
                </a:solidFill>
                <a:sym typeface="Symbol" panose="05050102010706020507" pitchFamily="18" charset="2"/>
              </a:rPr>
              <a:t>Q (</a:t>
            </a:r>
            <a:r>
              <a:rPr lang="en-US" altLang="zh-CN" sz="2400" b="1" dirty="0">
                <a:solidFill>
                  <a:srgbClr val="FF0000"/>
                </a:solidFill>
              </a:rPr>
              <a:t>P</a:t>
            </a:r>
            <a:r>
              <a:rPr lang="en-US" altLang="zh-CN" sz="2400" b="1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FF0000"/>
                </a:solidFill>
              </a:rPr>
              <a:t>Q)</a:t>
            </a:r>
            <a:r>
              <a:rPr lang="en-US" altLang="zh-CN" sz="2400" b="1" dirty="0">
                <a:solidFill>
                  <a:srgbClr val="FF0000"/>
                </a:solidFill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>
                <a:solidFill>
                  <a:srgbClr val="FF0000"/>
                </a:solidFill>
              </a:rPr>
              <a:t>(Q</a:t>
            </a:r>
            <a:r>
              <a:rPr lang="en-US" altLang="zh-CN" sz="2400" b="1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FF0000"/>
                </a:solidFill>
              </a:rPr>
              <a:t>P)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/>
              <a:t>⒁  P</a:t>
            </a:r>
            <a:r>
              <a:rPr lang="en-US" altLang="zh-CN" sz="2400" b="1" dirty="0">
                <a:sym typeface="Symbol" panose="05050102010706020507" pitchFamily="18" charset="2"/>
              </a:rPr>
              <a:t>Q (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400" b="1" dirty="0"/>
              <a:t>Q)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/>
              <a:t>(P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400" b="1" dirty="0">
                <a:sym typeface="Symbol" panose="05050102010706020507" pitchFamily="18" charset="2"/>
              </a:rPr>
              <a:t></a:t>
            </a:r>
            <a:r>
              <a:rPr lang="en-US" altLang="zh-CN" sz="2400" b="1" dirty="0"/>
              <a:t>Q) </a:t>
            </a:r>
            <a:endParaRPr lang="en-US" altLang="zh-CN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⒂  </a:t>
            </a:r>
            <a:r>
              <a:rPr lang="en-US" altLang="zh-CN" sz="2400" b="1" dirty="0">
                <a:highlight>
                  <a:srgbClr val="FFFF00"/>
                </a:highlight>
              </a:rPr>
              <a:t>P</a:t>
            </a:r>
            <a:r>
              <a:rPr lang="en-US" altLang="zh-CN" sz="2400" b="1" dirty="0">
                <a:highlight>
                  <a:srgbClr val="FFFF00"/>
                </a:highlight>
                <a:sym typeface="Symbol" panose="05050102010706020507" pitchFamily="18" charset="2"/>
              </a:rPr>
              <a:t>Q (</a:t>
            </a:r>
            <a:r>
              <a:rPr lang="en-US" altLang="zh-CN" sz="2400" b="1" dirty="0">
                <a:highlight>
                  <a:srgbClr val="FFFF00"/>
                </a:highlight>
              </a:rPr>
              <a:t>P</a:t>
            </a:r>
            <a:r>
              <a:rPr lang="en-US" altLang="zh-CN" sz="2400" b="1" dirty="0">
                <a:highlight>
                  <a:srgbClr val="FFFF00"/>
                </a:highlight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>
                <a:highlight>
                  <a:srgbClr val="FFFF00"/>
                </a:highlight>
              </a:rPr>
              <a:t>Q)</a:t>
            </a:r>
            <a:r>
              <a:rPr lang="en-US" altLang="zh-CN" sz="2400" b="1" dirty="0">
                <a:highlight>
                  <a:srgbClr val="FFFF00"/>
                </a:highlight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400" b="1" dirty="0">
                <a:highlight>
                  <a:srgbClr val="FFFF00"/>
                </a:highlight>
              </a:rPr>
              <a:t>(</a:t>
            </a:r>
            <a:r>
              <a:rPr lang="en-US" altLang="zh-CN" sz="2400" b="1" dirty="0">
                <a:highlight>
                  <a:srgbClr val="FFFF00"/>
                </a:highlight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highlight>
                  <a:srgbClr val="FFFF00"/>
                </a:highlight>
              </a:rPr>
              <a:t>P</a:t>
            </a:r>
            <a:r>
              <a:rPr lang="en-US" altLang="zh-CN" sz="2400" b="1" dirty="0">
                <a:highlight>
                  <a:srgbClr val="FFFF00"/>
                </a:highlight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>
                <a:highlight>
                  <a:srgbClr val="FFFF00"/>
                </a:highlight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highlight>
                  <a:srgbClr val="FFFF00"/>
                </a:highlight>
              </a:rPr>
              <a:t>Q )</a:t>
            </a:r>
            <a:endParaRPr lang="en-US" altLang="zh-CN" sz="24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09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909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9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9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9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9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9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90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90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90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90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90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" grpId="0" autoUpdateAnimBg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0"/>
            <a:ext cx="7772400" cy="6629400"/>
          </a:xfrm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 sz="2400" b="1"/>
              <a:t>为便于记忆，将等价公式</a:t>
            </a:r>
            <a:r>
              <a:rPr lang="en-US" altLang="zh-CN" sz="2400" b="1"/>
              <a:t>(</a:t>
            </a:r>
            <a:r>
              <a:rPr lang="zh-CN" altLang="en-US" sz="2400" b="1"/>
              <a:t>前</a:t>
            </a:r>
            <a:r>
              <a:rPr lang="en-US" altLang="zh-CN" sz="2400" b="1"/>
              <a:t>10</a:t>
            </a:r>
            <a:r>
              <a:rPr lang="zh-CN" altLang="en-US" sz="2400" b="1"/>
              <a:t>个</a:t>
            </a:r>
            <a:r>
              <a:rPr lang="en-US" altLang="zh-CN" sz="2400" b="1"/>
              <a:t>)</a:t>
            </a:r>
            <a:r>
              <a:rPr lang="zh-CN" altLang="en-US" sz="2400" b="1"/>
              <a:t>与集合论的公式比较，请看集合公式：</a:t>
            </a:r>
            <a:endParaRPr lang="zh-CN" altLang="en-US" sz="2400" b="1"/>
          </a:p>
          <a:p>
            <a:pPr eaLnBrk="1" hangingPunct="1">
              <a:buFontTx/>
              <a:buNone/>
            </a:pPr>
            <a:r>
              <a:rPr lang="zh-CN" altLang="en-US" sz="2400" b="1"/>
              <a:t>⑴ 对合律   </a:t>
            </a:r>
            <a:r>
              <a:rPr lang="en-US" altLang="zh-CN" sz="2400" b="1"/>
              <a:t>~~A</a:t>
            </a:r>
            <a:r>
              <a:rPr lang="en-US" altLang="zh-CN" sz="2400" b="1">
                <a:sym typeface="Symbol" panose="05050102010706020507" pitchFamily="18" charset="2"/>
              </a:rPr>
              <a:t></a:t>
            </a:r>
            <a:r>
              <a:rPr lang="en-US" altLang="zh-CN" sz="2400" b="1"/>
              <a:t>A       ~A</a:t>
            </a:r>
            <a:r>
              <a:rPr lang="zh-CN" altLang="en-US" sz="2400" b="1"/>
              <a:t>表示</a:t>
            </a:r>
            <a:r>
              <a:rPr lang="en-US" altLang="zh-CN" sz="2400" b="1"/>
              <a:t>A</a:t>
            </a:r>
            <a:r>
              <a:rPr lang="zh-CN" altLang="en-US" sz="2400" b="1"/>
              <a:t>的绝对补集</a:t>
            </a:r>
            <a:endParaRPr lang="zh-CN" altLang="en-US" sz="2400" b="1"/>
          </a:p>
          <a:p>
            <a:pPr eaLnBrk="1" hangingPunct="1">
              <a:buFontTx/>
              <a:buNone/>
            </a:pPr>
            <a:r>
              <a:rPr lang="zh-CN" altLang="en-US" sz="2400" b="1"/>
              <a:t>⑵ 幂等律   </a:t>
            </a:r>
            <a:r>
              <a:rPr lang="en-US" altLang="zh-CN" sz="2400" b="1"/>
              <a:t>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∪</a:t>
            </a:r>
            <a:r>
              <a:rPr lang="en-US" altLang="zh-CN" sz="2400" b="1"/>
              <a:t>A</a:t>
            </a:r>
            <a:r>
              <a:rPr lang="en-US" altLang="zh-CN" sz="2400" b="1">
                <a:sym typeface="Symbol" panose="05050102010706020507" pitchFamily="18" charset="2"/>
              </a:rPr>
              <a:t></a:t>
            </a:r>
            <a:r>
              <a:rPr lang="en-US" altLang="zh-CN" sz="2400" b="1"/>
              <a:t>A       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∩</a:t>
            </a:r>
            <a:r>
              <a:rPr lang="en-US" altLang="zh-CN" sz="2400" b="1"/>
              <a:t>A</a:t>
            </a:r>
            <a:r>
              <a:rPr lang="en-US" altLang="zh-CN" sz="2400" b="1">
                <a:sym typeface="Symbol" panose="05050102010706020507" pitchFamily="18" charset="2"/>
              </a:rPr>
              <a:t></a:t>
            </a:r>
            <a:r>
              <a:rPr lang="en-US" altLang="zh-CN" sz="2400" b="1"/>
              <a:t>A</a:t>
            </a:r>
            <a:endParaRPr lang="en-US" altLang="zh-CN" sz="2400" b="1"/>
          </a:p>
          <a:p>
            <a:pPr eaLnBrk="1" hangingPunct="1">
              <a:buFontTx/>
              <a:buNone/>
            </a:pPr>
            <a:r>
              <a:rPr lang="en-US" altLang="zh-CN" sz="2400" b="1"/>
              <a:t>⑶ </a:t>
            </a:r>
            <a:r>
              <a:rPr lang="zh-CN" altLang="en-US" sz="2400" b="1"/>
              <a:t>结合律   </a:t>
            </a:r>
            <a:r>
              <a:rPr lang="en-US" altLang="zh-CN" sz="2400" b="1"/>
              <a:t>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∪(</a:t>
            </a:r>
            <a:r>
              <a:rPr lang="en-US" altLang="zh-CN" sz="2400" b="1"/>
              <a:t>B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∪</a:t>
            </a:r>
            <a:r>
              <a:rPr lang="en-US" altLang="zh-CN" sz="2400" b="1"/>
              <a:t>C)</a:t>
            </a:r>
            <a:r>
              <a:rPr lang="en-US" altLang="zh-CN" sz="2400" b="1">
                <a:sym typeface="Symbol" panose="05050102010706020507" pitchFamily="18" charset="2"/>
              </a:rPr>
              <a:t>(</a:t>
            </a:r>
            <a:r>
              <a:rPr lang="en-US" altLang="zh-CN" sz="2400" b="1"/>
              <a:t>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∪</a:t>
            </a:r>
            <a:r>
              <a:rPr lang="en-US" altLang="zh-CN" sz="2400" b="1"/>
              <a:t>B)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∪</a:t>
            </a:r>
            <a:r>
              <a:rPr lang="en-US" altLang="zh-CN" sz="2400" b="1"/>
              <a:t>C </a:t>
            </a:r>
            <a:endParaRPr lang="en-US" altLang="zh-CN" sz="2400" b="1"/>
          </a:p>
          <a:p>
            <a:pPr eaLnBrk="1" hangingPunct="1">
              <a:buFontTx/>
              <a:buNone/>
            </a:pPr>
            <a:r>
              <a:rPr lang="en-US" altLang="zh-CN" sz="2400" b="1"/>
              <a:t>                  A 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∩ (</a:t>
            </a:r>
            <a:r>
              <a:rPr lang="en-US" altLang="zh-CN" sz="2400" b="1"/>
              <a:t>B 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∩ </a:t>
            </a:r>
            <a:r>
              <a:rPr lang="en-US" altLang="zh-CN" sz="2400" b="1"/>
              <a:t>C)</a:t>
            </a:r>
            <a:r>
              <a:rPr lang="en-US" altLang="zh-CN" sz="2400" b="1">
                <a:sym typeface="Symbol" panose="05050102010706020507" pitchFamily="18" charset="2"/>
              </a:rPr>
              <a:t>(</a:t>
            </a:r>
            <a:r>
              <a:rPr lang="en-US" altLang="zh-CN" sz="2400" b="1"/>
              <a:t>A 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∩ </a:t>
            </a:r>
            <a:r>
              <a:rPr lang="en-US" altLang="zh-CN" sz="2400" b="1"/>
              <a:t>B) 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∩ </a:t>
            </a:r>
            <a:r>
              <a:rPr lang="en-US" altLang="zh-CN" sz="2400" b="1"/>
              <a:t>C</a:t>
            </a:r>
            <a:endParaRPr lang="en-US" altLang="zh-CN" sz="2400" b="1"/>
          </a:p>
          <a:p>
            <a:pPr eaLnBrk="1" hangingPunct="1">
              <a:buFontTx/>
              <a:buNone/>
            </a:pPr>
            <a:r>
              <a:rPr lang="en-US" altLang="zh-CN" sz="2400" b="1"/>
              <a:t>⑷ </a:t>
            </a:r>
            <a:r>
              <a:rPr lang="zh-CN" altLang="en-US" sz="2400" b="1"/>
              <a:t>交换律   </a:t>
            </a:r>
            <a:r>
              <a:rPr lang="en-US" altLang="zh-CN" sz="2400" b="1"/>
              <a:t>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∪</a:t>
            </a:r>
            <a:r>
              <a:rPr lang="en-US" altLang="zh-CN" sz="2400" b="1"/>
              <a:t>B</a:t>
            </a:r>
            <a:r>
              <a:rPr lang="en-US" altLang="zh-CN" sz="2400" b="1">
                <a:sym typeface="Symbol" panose="05050102010706020507" pitchFamily="18" charset="2"/>
              </a:rPr>
              <a:t></a:t>
            </a:r>
            <a:r>
              <a:rPr lang="en-US" altLang="zh-CN" sz="2400" b="1"/>
              <a:t>B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∪</a:t>
            </a:r>
            <a:r>
              <a:rPr lang="en-US" altLang="zh-CN" sz="2400" b="1"/>
              <a:t>A     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∩</a:t>
            </a:r>
            <a:r>
              <a:rPr lang="en-US" altLang="zh-CN" sz="2400" b="1"/>
              <a:t>B</a:t>
            </a:r>
            <a:r>
              <a:rPr lang="en-US" altLang="zh-CN" sz="2400" b="1">
                <a:sym typeface="Symbol" panose="05050102010706020507" pitchFamily="18" charset="2"/>
              </a:rPr>
              <a:t></a:t>
            </a:r>
            <a:r>
              <a:rPr lang="en-US" altLang="zh-CN" sz="2400" b="1"/>
              <a:t>B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∩</a:t>
            </a:r>
            <a:r>
              <a:rPr lang="en-US" altLang="zh-CN" sz="2400" b="1"/>
              <a:t>A</a:t>
            </a:r>
            <a:endParaRPr lang="en-US" altLang="zh-CN" sz="2400" b="1"/>
          </a:p>
          <a:p>
            <a:pPr eaLnBrk="1" hangingPunct="1">
              <a:buFontTx/>
              <a:buNone/>
            </a:pPr>
            <a:r>
              <a:rPr lang="en-US" altLang="zh-CN" sz="2400" b="1"/>
              <a:t>⑸ </a:t>
            </a:r>
            <a:r>
              <a:rPr lang="zh-CN" altLang="en-US" sz="2400" b="1"/>
              <a:t>分配律   </a:t>
            </a:r>
            <a:r>
              <a:rPr lang="en-US" altLang="zh-CN" sz="2400" b="1"/>
              <a:t>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∪(</a:t>
            </a:r>
            <a:r>
              <a:rPr lang="en-US" altLang="zh-CN" sz="2400" b="1"/>
              <a:t>B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∩</a:t>
            </a:r>
            <a:r>
              <a:rPr lang="en-US" altLang="zh-CN" sz="2400" b="1"/>
              <a:t>C)</a:t>
            </a:r>
            <a:r>
              <a:rPr lang="en-US" altLang="zh-CN" sz="2400" b="1">
                <a:sym typeface="Symbol" panose="05050102010706020507" pitchFamily="18" charset="2"/>
              </a:rPr>
              <a:t>(</a:t>
            </a:r>
            <a:r>
              <a:rPr lang="en-US" altLang="zh-CN" sz="2400" b="1"/>
              <a:t>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∪</a:t>
            </a:r>
            <a:r>
              <a:rPr lang="en-US" altLang="zh-CN" sz="2400" b="1"/>
              <a:t>B)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∩(</a:t>
            </a:r>
            <a:r>
              <a:rPr lang="en-US" altLang="zh-CN" sz="2400" b="1"/>
              <a:t>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∪</a:t>
            </a:r>
            <a:r>
              <a:rPr lang="en-US" altLang="zh-CN" sz="2400" b="1"/>
              <a:t>C)   </a:t>
            </a:r>
            <a:endParaRPr lang="en-US" altLang="zh-CN" sz="2400" b="1"/>
          </a:p>
          <a:p>
            <a:pPr eaLnBrk="1" hangingPunct="1">
              <a:buFontTx/>
              <a:buNone/>
            </a:pPr>
            <a:r>
              <a:rPr lang="en-US" altLang="zh-CN" sz="2400" b="1"/>
              <a:t>                   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∩(</a:t>
            </a:r>
            <a:r>
              <a:rPr lang="en-US" altLang="zh-CN" sz="2400" b="1"/>
              <a:t>B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∪</a:t>
            </a:r>
            <a:r>
              <a:rPr lang="en-US" altLang="zh-CN" sz="2400" b="1"/>
              <a:t>C)</a:t>
            </a:r>
            <a:r>
              <a:rPr lang="en-US" altLang="zh-CN" sz="2400" b="1">
                <a:sym typeface="Symbol" panose="05050102010706020507" pitchFamily="18" charset="2"/>
              </a:rPr>
              <a:t>(</a:t>
            </a:r>
            <a:r>
              <a:rPr lang="en-US" altLang="zh-CN" sz="2400" b="1"/>
              <a:t>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∩</a:t>
            </a:r>
            <a:r>
              <a:rPr lang="en-US" altLang="zh-CN" sz="2400" b="1"/>
              <a:t>B)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∪(</a:t>
            </a:r>
            <a:r>
              <a:rPr lang="en-US" altLang="zh-CN" sz="2400" b="1"/>
              <a:t>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∩</a:t>
            </a:r>
            <a:r>
              <a:rPr lang="en-US" altLang="zh-CN" sz="2400" b="1"/>
              <a:t>C)</a:t>
            </a:r>
            <a:endParaRPr lang="en-US" altLang="zh-CN" sz="2400" b="1"/>
          </a:p>
          <a:p>
            <a:pPr eaLnBrk="1" hangingPunct="1">
              <a:buFontTx/>
              <a:buNone/>
            </a:pPr>
            <a:r>
              <a:rPr lang="en-US" altLang="zh-CN" sz="2400" b="1"/>
              <a:t>⑹ </a:t>
            </a:r>
            <a:r>
              <a:rPr lang="zh-CN" altLang="en-US" sz="2400" b="1"/>
              <a:t>吸收律   </a:t>
            </a:r>
            <a:r>
              <a:rPr lang="en-US" altLang="zh-CN" sz="2400" b="1"/>
              <a:t>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∪(</a:t>
            </a:r>
            <a:r>
              <a:rPr lang="en-US" altLang="zh-CN" sz="2400" b="1"/>
              <a:t>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∩</a:t>
            </a:r>
            <a:r>
              <a:rPr lang="en-US" altLang="zh-CN" sz="2400" b="1"/>
              <a:t>B)</a:t>
            </a:r>
            <a:r>
              <a:rPr lang="en-US" altLang="zh-CN" sz="2400" b="1">
                <a:sym typeface="Symbol" panose="05050102010706020507" pitchFamily="18" charset="2"/>
              </a:rPr>
              <a:t></a:t>
            </a:r>
            <a:r>
              <a:rPr lang="en-US" altLang="zh-CN" sz="2400" b="1"/>
              <a:t>A   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∩(</a:t>
            </a:r>
            <a:r>
              <a:rPr lang="en-US" altLang="zh-CN" sz="2400" b="1"/>
              <a:t>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∪</a:t>
            </a:r>
            <a:r>
              <a:rPr lang="en-US" altLang="zh-CN" sz="2400" b="1"/>
              <a:t>B)</a:t>
            </a:r>
            <a:r>
              <a:rPr lang="en-US" altLang="zh-CN" sz="2400" b="1">
                <a:sym typeface="Symbol" panose="05050102010706020507" pitchFamily="18" charset="2"/>
              </a:rPr>
              <a:t></a:t>
            </a:r>
            <a:r>
              <a:rPr lang="en-US" altLang="zh-CN" sz="2400" b="1"/>
              <a:t>A</a:t>
            </a:r>
            <a:endParaRPr lang="en-US" altLang="zh-CN" sz="2400" b="1"/>
          </a:p>
          <a:p>
            <a:pPr eaLnBrk="1" hangingPunct="1">
              <a:buFontTx/>
              <a:buNone/>
            </a:pPr>
            <a:r>
              <a:rPr lang="en-US" altLang="zh-CN" sz="2400" b="1"/>
              <a:t>⑺ </a:t>
            </a:r>
            <a:r>
              <a:rPr lang="zh-CN" altLang="en-US" sz="2400" b="1"/>
              <a:t>底</a:t>
            </a:r>
            <a:r>
              <a:rPr lang="en-US" altLang="zh-CN" sz="2400" b="1"/>
              <a:t>-</a:t>
            </a:r>
            <a:r>
              <a:rPr lang="zh-CN" altLang="en-US" sz="2400" b="1"/>
              <a:t>摩根定律    </a:t>
            </a:r>
            <a:r>
              <a:rPr lang="en-US" altLang="zh-CN" sz="2400" b="1"/>
              <a:t>~</a:t>
            </a:r>
            <a:r>
              <a:rPr lang="en-US" altLang="zh-CN" sz="2400" b="1">
                <a:sym typeface="Symbol" panose="05050102010706020507" pitchFamily="18" charset="2"/>
              </a:rPr>
              <a:t>(</a:t>
            </a:r>
            <a:r>
              <a:rPr lang="en-US" altLang="zh-CN" sz="2400" b="1"/>
              <a:t>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∪</a:t>
            </a:r>
            <a:r>
              <a:rPr lang="en-US" altLang="zh-CN" sz="2400" b="1"/>
              <a:t>B)</a:t>
            </a:r>
            <a:r>
              <a:rPr lang="en-US" altLang="zh-CN" sz="2400" b="1">
                <a:sym typeface="Symbol" panose="05050102010706020507" pitchFamily="18" charset="2"/>
              </a:rPr>
              <a:t>~</a:t>
            </a:r>
            <a:r>
              <a:rPr lang="en-US" altLang="zh-CN" sz="2400" b="1"/>
              <a:t>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∩~</a:t>
            </a:r>
            <a:r>
              <a:rPr lang="en-US" altLang="zh-CN" sz="2400" b="1"/>
              <a:t>B   </a:t>
            </a:r>
            <a:endParaRPr lang="en-US" altLang="zh-CN" sz="2400" b="1"/>
          </a:p>
          <a:p>
            <a:pPr eaLnBrk="1" hangingPunct="1">
              <a:buFontTx/>
              <a:buNone/>
            </a:pPr>
            <a:r>
              <a:rPr lang="en-US" altLang="zh-CN" sz="2400" b="1"/>
              <a:t>                            ~</a:t>
            </a:r>
            <a:r>
              <a:rPr lang="en-US" altLang="zh-CN" sz="2400" b="1">
                <a:sym typeface="Symbol" panose="05050102010706020507" pitchFamily="18" charset="2"/>
              </a:rPr>
              <a:t>(</a:t>
            </a:r>
            <a:r>
              <a:rPr lang="en-US" altLang="zh-CN" sz="2400" b="1"/>
              <a:t>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∩</a:t>
            </a:r>
            <a:r>
              <a:rPr lang="en-US" altLang="zh-CN" sz="2400" b="1"/>
              <a:t>B)</a:t>
            </a:r>
            <a:r>
              <a:rPr lang="en-US" altLang="zh-CN" sz="2400" b="1">
                <a:sym typeface="Symbol" panose="05050102010706020507" pitchFamily="18" charset="2"/>
              </a:rPr>
              <a:t>~</a:t>
            </a:r>
            <a:r>
              <a:rPr lang="en-US" altLang="zh-CN" sz="2400" b="1"/>
              <a:t>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∪~</a:t>
            </a:r>
            <a:r>
              <a:rPr lang="en-US" altLang="zh-CN" sz="2400" b="1"/>
              <a:t>B</a:t>
            </a:r>
            <a:endParaRPr lang="en-US" altLang="zh-CN" sz="2400" b="1"/>
          </a:p>
          <a:p>
            <a:pPr eaLnBrk="1" hangingPunct="1">
              <a:buFontTx/>
              <a:buNone/>
            </a:pPr>
            <a:r>
              <a:rPr lang="en-US" altLang="zh-CN" sz="2400" b="1"/>
              <a:t>⑻ </a:t>
            </a:r>
            <a:r>
              <a:rPr lang="zh-CN" altLang="en-US" sz="2400" b="1"/>
              <a:t>同一律    </a:t>
            </a:r>
            <a:r>
              <a:rPr lang="en-US" altLang="zh-CN" sz="2400" b="1"/>
              <a:t>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∪</a:t>
            </a:r>
            <a:r>
              <a:rPr lang="en-US" altLang="zh-CN" sz="2400" b="1"/>
              <a:t>Φ</a:t>
            </a:r>
            <a:r>
              <a:rPr lang="en-US" altLang="zh-CN" sz="2400" b="1">
                <a:sym typeface="Symbol" panose="05050102010706020507" pitchFamily="18" charset="2"/>
              </a:rPr>
              <a:t></a:t>
            </a:r>
            <a:r>
              <a:rPr lang="en-US" altLang="zh-CN" sz="2400" b="1"/>
              <a:t>A         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∩</a:t>
            </a:r>
            <a:r>
              <a:rPr lang="en-US" altLang="zh-CN" sz="2400" b="1"/>
              <a:t>E</a:t>
            </a:r>
            <a:r>
              <a:rPr lang="en-US" altLang="zh-CN" sz="2400" b="1">
                <a:sym typeface="Symbol" panose="05050102010706020507" pitchFamily="18" charset="2"/>
              </a:rPr>
              <a:t></a:t>
            </a:r>
            <a:r>
              <a:rPr lang="en-US" altLang="zh-CN" sz="2400" b="1"/>
              <a:t>A       E</a:t>
            </a:r>
            <a:r>
              <a:rPr lang="zh-CN" altLang="en-US" sz="2400" b="1"/>
              <a:t>表示全集</a:t>
            </a:r>
            <a:endParaRPr lang="zh-CN" altLang="en-US" sz="2400" b="1"/>
          </a:p>
          <a:p>
            <a:pPr eaLnBrk="1" hangingPunct="1">
              <a:buFontTx/>
              <a:buNone/>
            </a:pPr>
            <a:r>
              <a:rPr lang="zh-CN" altLang="en-US" sz="2400" b="1"/>
              <a:t>⑼ 零律        </a:t>
            </a:r>
            <a:r>
              <a:rPr lang="en-US" altLang="zh-CN" sz="2400" b="1"/>
              <a:t>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∪</a:t>
            </a:r>
            <a:r>
              <a:rPr lang="en-US" altLang="zh-CN" sz="2400" b="1"/>
              <a:t>E</a:t>
            </a:r>
            <a:r>
              <a:rPr lang="en-US" altLang="zh-CN" sz="2400" b="1">
                <a:sym typeface="Symbol" panose="05050102010706020507" pitchFamily="18" charset="2"/>
              </a:rPr>
              <a:t></a:t>
            </a:r>
            <a:r>
              <a:rPr lang="en-US" altLang="zh-CN" sz="2400" b="1"/>
              <a:t>E          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∩</a:t>
            </a:r>
            <a:r>
              <a:rPr lang="en-US" altLang="zh-CN" sz="2400" b="1"/>
              <a:t>Φ</a:t>
            </a:r>
            <a:r>
              <a:rPr lang="en-US" altLang="zh-CN" sz="2400" b="1">
                <a:sym typeface="Symbol" panose="05050102010706020507" pitchFamily="18" charset="2"/>
              </a:rPr>
              <a:t></a:t>
            </a:r>
            <a:r>
              <a:rPr lang="en-US" altLang="zh-CN" sz="2400" b="1"/>
              <a:t>Φ</a:t>
            </a:r>
            <a:endParaRPr lang="en-US" altLang="zh-CN" sz="2400" b="1"/>
          </a:p>
          <a:p>
            <a:pPr eaLnBrk="1" hangingPunct="1">
              <a:buFontTx/>
              <a:buNone/>
            </a:pPr>
            <a:r>
              <a:rPr lang="en-US" altLang="zh-CN" sz="2400" b="1"/>
              <a:t>⑽ </a:t>
            </a:r>
            <a:r>
              <a:rPr lang="zh-CN" altLang="en-US" sz="2400" b="1"/>
              <a:t>否定律    </a:t>
            </a:r>
            <a:r>
              <a:rPr lang="en-US" altLang="zh-CN" sz="2400" b="1"/>
              <a:t>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∪~</a:t>
            </a:r>
            <a:r>
              <a:rPr lang="en-US" altLang="zh-CN" sz="2400" b="1"/>
              <a:t>A</a:t>
            </a:r>
            <a:r>
              <a:rPr lang="en-US" altLang="zh-CN" sz="2400" b="1">
                <a:sym typeface="Symbol" panose="05050102010706020507" pitchFamily="18" charset="2"/>
              </a:rPr>
              <a:t>E</a:t>
            </a:r>
            <a:r>
              <a:rPr lang="en-US" altLang="zh-CN" sz="2400" b="1"/>
              <a:t>        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∩~</a:t>
            </a:r>
            <a:r>
              <a:rPr lang="en-US" altLang="zh-CN" sz="2400" b="1"/>
              <a:t>A</a:t>
            </a:r>
            <a:r>
              <a:rPr lang="en-US" altLang="zh-CN" sz="2400" b="1">
                <a:sym typeface="Symbol" panose="05050102010706020507" pitchFamily="18" charset="2"/>
              </a:rPr>
              <a:t></a:t>
            </a:r>
            <a:r>
              <a:rPr lang="en-US" altLang="zh-CN" sz="2400" b="1"/>
              <a:t>Φ</a:t>
            </a:r>
            <a:endParaRPr lang="en-US" altLang="zh-CN" sz="2400" b="1"/>
          </a:p>
        </p:txBody>
      </p:sp>
    </p:spTree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6675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4. </a:t>
            </a:r>
            <a:r>
              <a:rPr lang="zh-CN" altLang="en-US">
                <a:ea typeface="黑体" panose="02010609060101010101" pitchFamily="49" charset="-122"/>
              </a:rPr>
              <a:t>等价公式的证明方法</a:t>
            </a:r>
            <a:endParaRPr lang="zh-CN" altLang="en-US"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/>
              <a:t>方法</a:t>
            </a:r>
            <a:r>
              <a:rPr lang="en-US" altLang="zh-CN"/>
              <a:t>1</a:t>
            </a:r>
            <a:r>
              <a:rPr lang="zh-CN" altLang="en-US"/>
              <a:t>：用列真值表。（不再举例）</a:t>
            </a:r>
            <a:endParaRPr lang="zh-CN" altLang="en-US"/>
          </a:p>
          <a:p>
            <a:pPr eaLnBrk="1" hangingPunct="1"/>
            <a:r>
              <a:rPr lang="zh-CN" altLang="en-US"/>
              <a:t>方法</a:t>
            </a:r>
            <a:r>
              <a:rPr lang="en-US" altLang="zh-CN"/>
              <a:t>2</a:t>
            </a:r>
            <a:r>
              <a:rPr lang="zh-CN" altLang="en-US"/>
              <a:t>：用公式的等价变换</a:t>
            </a:r>
            <a:r>
              <a:rPr lang="en-US" altLang="zh-CN"/>
              <a:t>.(</a:t>
            </a:r>
            <a:r>
              <a:rPr lang="zh-CN" altLang="en-US"/>
              <a:t>用置换定律</a:t>
            </a:r>
            <a:r>
              <a:rPr lang="en-US" altLang="zh-CN"/>
              <a:t>)</a:t>
            </a:r>
            <a:endParaRPr lang="en-US" altLang="zh-CN"/>
          </a:p>
          <a:p>
            <a:pPr eaLnBrk="1" hangingPunct="1"/>
            <a:r>
              <a:rPr lang="zh-CN" altLang="en-US">
                <a:solidFill>
                  <a:srgbClr val="FF0000"/>
                </a:solidFill>
                <a:ea typeface="黑体" panose="02010609060101010101" pitchFamily="49" charset="-122"/>
              </a:rPr>
              <a:t>置换定律</a:t>
            </a:r>
            <a:r>
              <a:rPr lang="en-US" altLang="zh-CN">
                <a:ea typeface="黑体" panose="02010609060101010101" pitchFamily="49" charset="-122"/>
              </a:rPr>
              <a:t>:</a:t>
            </a:r>
            <a:r>
              <a:rPr lang="en-US" altLang="zh-CN">
                <a:latin typeface="宋体" panose="02010600030101010101" pitchFamily="2" charset="-122"/>
              </a:rPr>
              <a:t>A</a:t>
            </a:r>
            <a:r>
              <a:rPr lang="zh-CN" altLang="en-US">
                <a:latin typeface="宋体" panose="02010600030101010101" pitchFamily="2" charset="-122"/>
              </a:rPr>
              <a:t>是一个命题公式，</a:t>
            </a:r>
            <a:r>
              <a:rPr lang="en-US" altLang="zh-CN">
                <a:latin typeface="宋体" panose="02010600030101010101" pitchFamily="2" charset="-122"/>
              </a:rPr>
              <a:t>X</a:t>
            </a:r>
            <a:r>
              <a:rPr lang="zh-CN" altLang="en-US">
                <a:latin typeface="宋体" panose="02010600030101010101" pitchFamily="2" charset="-122"/>
              </a:rPr>
              <a:t>是</a:t>
            </a:r>
            <a:r>
              <a:rPr lang="en-US" altLang="zh-CN">
                <a:latin typeface="宋体" panose="02010600030101010101" pitchFamily="2" charset="-122"/>
              </a:rPr>
              <a:t>A</a:t>
            </a:r>
            <a:r>
              <a:rPr lang="zh-CN" altLang="en-US">
                <a:latin typeface="宋体" panose="02010600030101010101" pitchFamily="2" charset="-122"/>
              </a:rPr>
              <a:t>中的一</a:t>
            </a:r>
            <a:endParaRPr lang="zh-CN" altLang="en-US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部分且也是合式公式，如果</a:t>
            </a:r>
            <a:r>
              <a:rPr lang="en-US" altLang="zh-CN">
                <a:latin typeface="宋体" panose="02010600030101010101" pitchFamily="2" charset="-122"/>
              </a:rPr>
              <a:t>X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>
                <a:latin typeface="宋体" panose="02010600030101010101" pitchFamily="2" charset="-122"/>
              </a:rPr>
              <a:t>Y</a:t>
            </a:r>
            <a:r>
              <a:rPr lang="zh-CN" altLang="en-US">
                <a:latin typeface="宋体" panose="02010600030101010101" pitchFamily="2" charset="-122"/>
              </a:rPr>
              <a:t>，用</a:t>
            </a:r>
            <a:r>
              <a:rPr lang="en-US" altLang="zh-CN">
                <a:latin typeface="宋体" panose="02010600030101010101" pitchFamily="2" charset="-122"/>
              </a:rPr>
              <a:t>Y</a:t>
            </a:r>
            <a:r>
              <a:rPr lang="zh-CN" altLang="en-US">
                <a:latin typeface="宋体" panose="02010600030101010101" pitchFamily="2" charset="-122"/>
              </a:rPr>
              <a:t>代替</a:t>
            </a:r>
            <a:endParaRPr lang="zh-CN" altLang="en-US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A</a:t>
            </a:r>
            <a:r>
              <a:rPr lang="zh-CN" altLang="en-US">
                <a:latin typeface="宋体" panose="02010600030101010101" pitchFamily="2" charset="-122"/>
              </a:rPr>
              <a:t>中的</a:t>
            </a:r>
            <a:r>
              <a:rPr lang="en-US" altLang="zh-CN">
                <a:latin typeface="宋体" panose="02010600030101010101" pitchFamily="2" charset="-122"/>
              </a:rPr>
              <a:t>X</a:t>
            </a:r>
            <a:r>
              <a:rPr lang="zh-CN" altLang="en-US">
                <a:latin typeface="宋体" panose="02010600030101010101" pitchFamily="2" charset="-122"/>
              </a:rPr>
              <a:t>得到公式</a:t>
            </a:r>
            <a:r>
              <a:rPr lang="en-US" altLang="zh-CN">
                <a:latin typeface="宋体" panose="02010600030101010101" pitchFamily="2" charset="-122"/>
              </a:rPr>
              <a:t>B</a:t>
            </a:r>
            <a:r>
              <a:rPr lang="zh-CN" altLang="en-US">
                <a:latin typeface="宋体" panose="02010600030101010101" pitchFamily="2" charset="-122"/>
              </a:rPr>
              <a:t>，则</a:t>
            </a:r>
            <a:r>
              <a:rPr lang="en-US" altLang="zh-CN">
                <a:latin typeface="宋体" panose="02010600030101010101" pitchFamily="2" charset="-122"/>
              </a:rPr>
              <a:t>A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>
                <a:latin typeface="宋体" panose="02010600030101010101" pitchFamily="2" charset="-122"/>
              </a:rPr>
              <a:t>B</a:t>
            </a:r>
            <a:r>
              <a:rPr lang="zh-CN" altLang="en-US">
                <a:latin typeface="宋体" panose="02010600030101010101" pitchFamily="2" charset="-122"/>
              </a:rPr>
              <a:t>。</a:t>
            </a:r>
            <a:endParaRPr lang="zh-CN" altLang="en-US"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/>
              <a:t>应用置换定律以及前面列出的等价公式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可以对给定公式进行等价变换。</a:t>
            </a:r>
            <a:endParaRPr lang="zh-CN" altLang="en-US"/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667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6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6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6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6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6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6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6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5" grpId="0" autoUpdateAnimBg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769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/>
              <a:t>例题</a:t>
            </a:r>
            <a:r>
              <a:rPr lang="en-US" altLang="zh-CN"/>
              <a:t>1. </a:t>
            </a:r>
            <a:r>
              <a:rPr lang="zh-CN" altLang="en-US"/>
              <a:t>求证吸收律  </a:t>
            </a:r>
            <a:r>
              <a:rPr lang="en-US" altLang="zh-CN"/>
              <a:t>P∧(P∨Q)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P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zh-CN" altLang="en-US"/>
              <a:t>证明 ： </a:t>
            </a:r>
            <a:r>
              <a:rPr lang="en-US" altLang="zh-CN"/>
              <a:t>P∧(P∨Q)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/>
              <a:t>        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(P∨F)∧(P∨Q)      (</a:t>
            </a:r>
            <a:r>
              <a:rPr lang="zh-CN" altLang="en-US"/>
              <a:t>同一律</a:t>
            </a:r>
            <a:r>
              <a:rPr lang="en-US" altLang="zh-CN"/>
              <a:t>)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/>
              <a:t>        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P∨(F∧Q)               (</a:t>
            </a:r>
            <a:r>
              <a:rPr lang="zh-CN" altLang="en-US"/>
              <a:t>分配律</a:t>
            </a:r>
            <a:r>
              <a:rPr lang="en-US" altLang="zh-CN"/>
              <a:t>)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/>
              <a:t>        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P∨F                        (</a:t>
            </a:r>
            <a:r>
              <a:rPr lang="zh-CN" altLang="en-US"/>
              <a:t>零律</a:t>
            </a:r>
            <a:r>
              <a:rPr lang="en-US" altLang="zh-CN"/>
              <a:t>)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/>
              <a:t>        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P                              (</a:t>
            </a:r>
            <a:r>
              <a:rPr lang="zh-CN" altLang="en-US"/>
              <a:t>同一律</a:t>
            </a:r>
            <a:r>
              <a:rPr lang="en-US" altLang="zh-CN"/>
              <a:t>)</a:t>
            </a:r>
            <a:endParaRPr lang="en-US" altLang="zh-CN"/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769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7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7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7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7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7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7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699" grpId="0" autoUpdateAnimBg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8723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dirty="0"/>
              <a:t>例题</a:t>
            </a:r>
            <a:r>
              <a:rPr lang="en-US" altLang="zh-CN" dirty="0"/>
              <a:t>2. </a:t>
            </a:r>
            <a:r>
              <a:rPr lang="zh-CN" altLang="en-US" dirty="0"/>
              <a:t>求证 </a:t>
            </a:r>
            <a:r>
              <a:rPr lang="en-US" altLang="zh-CN" dirty="0"/>
              <a:t>(</a:t>
            </a:r>
            <a:r>
              <a:rPr lang="en-US" altLang="zh-CN" dirty="0">
                <a:latin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dirty="0"/>
              <a:t>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Q)→(P∧Q)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P</a:t>
            </a:r>
            <a:endParaRPr lang="en-US" altLang="zh-CN" dirty="0"/>
          </a:p>
          <a:p>
            <a:pPr eaLnBrk="1" hangingPunct="1">
              <a:buFontTx/>
              <a:buNone/>
            </a:pPr>
            <a:r>
              <a:rPr lang="zh-CN" altLang="en-US" dirty="0"/>
              <a:t>证明 </a:t>
            </a:r>
            <a:r>
              <a:rPr lang="en-US" altLang="zh-CN" dirty="0"/>
              <a:t>(</a:t>
            </a:r>
            <a:r>
              <a:rPr lang="en-US" altLang="zh-CN" dirty="0">
                <a:latin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dirty="0"/>
              <a:t>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Q)→(P∧Q)</a:t>
            </a:r>
            <a:endParaRPr lang="en-US" altLang="zh-CN" dirty="0"/>
          </a:p>
          <a:p>
            <a:pPr eaLnBrk="1" hangingPunct="1">
              <a:buFontTx/>
              <a:buNone/>
            </a:pPr>
            <a:r>
              <a:rPr lang="en-US" altLang="zh-CN" dirty="0"/>
              <a:t>        </a:t>
            </a:r>
            <a:r>
              <a:rPr lang="en-US" altLang="zh-CN" dirty="0">
                <a:sym typeface="Symbol" panose="05050102010706020507" pitchFamily="18" charset="2"/>
              </a:rPr>
              <a:t></a:t>
            </a:r>
            <a:r>
              <a:rPr lang="en-US" altLang="zh-CN" dirty="0"/>
              <a:t>(</a:t>
            </a:r>
            <a:r>
              <a:rPr lang="en-US" altLang="zh-CN" dirty="0">
                <a:latin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dirty="0"/>
              <a:t>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Q)∨(P∧Q)    (</a:t>
            </a:r>
            <a:r>
              <a:rPr lang="zh-CN" altLang="en-US" dirty="0"/>
              <a:t>公式</a:t>
            </a:r>
            <a:r>
              <a:rPr lang="en-US" altLang="zh-CN" dirty="0"/>
              <a:t>E</a:t>
            </a:r>
            <a:r>
              <a:rPr lang="en-US" altLang="zh-CN" baseline="-25000" dirty="0"/>
              <a:t>16</a:t>
            </a:r>
            <a:r>
              <a:rPr lang="en-US" altLang="zh-CN" dirty="0"/>
              <a:t>)</a:t>
            </a:r>
            <a:endParaRPr lang="en-US" altLang="zh-CN" dirty="0"/>
          </a:p>
          <a:p>
            <a:pPr eaLnBrk="1" hangingPunct="1"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 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>
                <a:latin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dirty="0"/>
              <a:t>P∧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Q)∨(P∧Q) (</a:t>
            </a:r>
            <a:r>
              <a:rPr lang="zh-CN" altLang="en-US" dirty="0"/>
              <a:t>摩根定律</a:t>
            </a:r>
            <a:r>
              <a:rPr lang="en-US" altLang="zh-CN" dirty="0"/>
              <a:t>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 </a:t>
            </a:r>
            <a:r>
              <a:rPr lang="en-US" altLang="zh-CN" dirty="0"/>
              <a:t>(P∧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Q)∨(P∧Q)      (</a:t>
            </a:r>
            <a:r>
              <a:rPr lang="zh-CN" altLang="zh-CN" dirty="0"/>
              <a:t>对合律</a:t>
            </a:r>
            <a:r>
              <a:rPr lang="en-US" altLang="zh-CN" dirty="0"/>
              <a:t>)</a:t>
            </a:r>
            <a:endParaRPr lang="en-US" altLang="zh-CN" dirty="0"/>
          </a:p>
          <a:p>
            <a:pPr eaLnBrk="1" hangingPunct="1">
              <a:buFontTx/>
              <a:buNone/>
            </a:pPr>
            <a:r>
              <a:rPr lang="en-US" altLang="zh-CN" dirty="0"/>
              <a:t>       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P∧(</a:t>
            </a:r>
            <a:r>
              <a:rPr lang="en-US" altLang="zh-CN" dirty="0">
                <a:latin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dirty="0"/>
              <a:t>Q∨Q)               (</a:t>
            </a:r>
            <a:r>
              <a:rPr lang="zh-CN" altLang="en-US" dirty="0"/>
              <a:t>分配律</a:t>
            </a:r>
            <a:r>
              <a:rPr lang="en-US" altLang="zh-CN" dirty="0"/>
              <a:t>) </a:t>
            </a:r>
            <a:endParaRPr lang="en-US" altLang="zh-CN" dirty="0"/>
          </a:p>
          <a:p>
            <a:pPr eaLnBrk="1" hangingPunct="1">
              <a:buFontTx/>
              <a:buNone/>
            </a:pPr>
            <a:r>
              <a:rPr lang="en-US" altLang="zh-CN" dirty="0"/>
              <a:t>       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P∧T                           (</a:t>
            </a:r>
            <a:r>
              <a:rPr lang="zh-CN" altLang="en-US" dirty="0"/>
              <a:t>互补律</a:t>
            </a:r>
            <a:r>
              <a:rPr lang="en-US" altLang="zh-CN" dirty="0"/>
              <a:t>) </a:t>
            </a:r>
            <a:endParaRPr lang="en-US" altLang="zh-CN" dirty="0"/>
          </a:p>
          <a:p>
            <a:pPr eaLnBrk="1" hangingPunct="1">
              <a:buFontTx/>
              <a:buNone/>
            </a:pPr>
            <a:r>
              <a:rPr lang="en-US" altLang="zh-CN" dirty="0"/>
              <a:t>       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P                                 (</a:t>
            </a:r>
            <a:r>
              <a:rPr lang="zh-CN" altLang="en-US" dirty="0"/>
              <a:t>同一律</a:t>
            </a:r>
            <a:r>
              <a:rPr lang="en-US" altLang="zh-CN" dirty="0"/>
              <a:t>)</a:t>
            </a:r>
            <a:endParaRPr lang="en-US" altLang="zh-CN" dirty="0"/>
          </a:p>
          <a:p>
            <a:pPr eaLnBrk="1" hangingPunct="1">
              <a:buFontTx/>
              <a:buNone/>
            </a:pPr>
            <a:r>
              <a:rPr lang="zh-CN" altLang="en-US" dirty="0"/>
              <a:t>公式</a:t>
            </a:r>
            <a:r>
              <a:rPr lang="en-US" altLang="zh-CN" dirty="0"/>
              <a:t>E</a:t>
            </a:r>
            <a:r>
              <a:rPr lang="en-US" altLang="zh-CN" baseline="-25000" dirty="0"/>
              <a:t>16 </a:t>
            </a:r>
            <a:r>
              <a:rPr lang="zh-CN" altLang="en-US" dirty="0"/>
              <a:t>： 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</a:t>
            </a:r>
            <a:r>
              <a:rPr lang="en-US" altLang="zh-CN" dirty="0">
                <a:sym typeface="Symbol" panose="05050102010706020507" pitchFamily="18" charset="2"/>
              </a:rPr>
              <a:t></a:t>
            </a:r>
            <a:r>
              <a:rPr lang="en-US" altLang="zh-CN" dirty="0"/>
              <a:t>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Q </a:t>
            </a:r>
            <a:endParaRPr lang="en-US" altLang="zh-CN" dirty="0"/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872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8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8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8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8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8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8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3" grpId="0" autoUpdateAnimBg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等价变化过程中方法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去条件</a:t>
            </a:r>
            <a:r>
              <a:rPr lang="zh-CN" altLang="en-US" dirty="0"/>
              <a:t>（利用公式</a:t>
            </a:r>
            <a:r>
              <a:rPr lang="en-US" altLang="zh-CN" dirty="0"/>
              <a:t>E11</a:t>
            </a:r>
            <a:r>
              <a:rPr lang="zh-CN" altLang="en-US" dirty="0"/>
              <a:t>～</a:t>
            </a:r>
            <a:r>
              <a:rPr lang="en-US" altLang="zh-CN" dirty="0"/>
              <a:t>E15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否定深入</a:t>
            </a:r>
            <a:r>
              <a:rPr lang="zh-CN" altLang="en-US" dirty="0"/>
              <a:t>（德摩根定律）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整理</a:t>
            </a:r>
            <a:r>
              <a:rPr lang="zh-CN" altLang="en-US" dirty="0"/>
              <a:t>（分配律、结合律</a:t>
            </a:r>
            <a:r>
              <a:rPr lang="en-US" altLang="zh-CN" dirty="0"/>
              <a:t>……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277" y="2089368"/>
            <a:ext cx="2931644" cy="1452174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>
            <a:off x="5796136" y="1628800"/>
            <a:ext cx="1412253" cy="4605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621" y="4457379"/>
            <a:ext cx="3713281" cy="648072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>
            <a:off x="4812201" y="2257754"/>
            <a:ext cx="1271967" cy="21996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/>
              <a:t>例题</a:t>
            </a:r>
            <a:r>
              <a:rPr lang="en-US" altLang="zh-CN"/>
              <a:t>3.</a:t>
            </a:r>
            <a:r>
              <a:rPr lang="zh-CN" altLang="en-US"/>
              <a:t>化简</a:t>
            </a:r>
            <a:r>
              <a:rPr lang="zh-CN" altLang="en-US">
                <a:latin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/>
              <a:t>(P∧Q)→(</a:t>
            </a:r>
            <a:r>
              <a:rPr lang="en-US" altLang="zh-CN">
                <a:latin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/>
              <a:t>P∨(</a:t>
            </a:r>
            <a:r>
              <a:rPr lang="en-US" altLang="zh-CN">
                <a:latin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/>
              <a:t>P∨Q))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zh-CN" altLang="en-US"/>
              <a:t>解  原公式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>
                <a:sym typeface="Symbol" panose="05050102010706020507" pitchFamily="18" charset="2"/>
              </a:rPr>
              <a:t></a:t>
            </a:r>
            <a:r>
              <a:rPr lang="zh-CN" altLang="en-US">
                <a:latin typeface="宋体" panose="02010600030101010101" pitchFamily="2" charset="-122"/>
                <a:sym typeface="Symbol" panose="05050102010706020507" pitchFamily="18" charset="2"/>
              </a:rPr>
              <a:t></a:t>
            </a:r>
            <a:r>
              <a:rPr lang="en-US" altLang="zh-CN"/>
              <a:t>(P∧Q)∨((</a:t>
            </a:r>
            <a:r>
              <a:rPr lang="en-US" altLang="zh-CN">
                <a:latin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/>
              <a:t>P∨</a:t>
            </a:r>
            <a:r>
              <a:rPr lang="en-US" altLang="zh-CN">
                <a:latin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/>
              <a:t>P)∨Q)  (E</a:t>
            </a:r>
            <a:r>
              <a:rPr lang="en-US" altLang="zh-CN" baseline="-25000"/>
              <a:t>16</a:t>
            </a:r>
            <a:r>
              <a:rPr lang="en-US" altLang="zh-CN"/>
              <a:t>,</a:t>
            </a:r>
            <a:r>
              <a:rPr lang="zh-CN" altLang="en-US"/>
              <a:t>结合</a:t>
            </a:r>
            <a:r>
              <a:rPr lang="en-US" altLang="zh-CN"/>
              <a:t>)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(P∧Q)∨(</a:t>
            </a:r>
            <a:r>
              <a:rPr lang="en-US" altLang="zh-CN">
                <a:latin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/>
              <a:t>P∨Q)      (</a:t>
            </a:r>
            <a:r>
              <a:rPr lang="zh-CN" altLang="en-US"/>
              <a:t>对合律，幂等律</a:t>
            </a:r>
            <a:r>
              <a:rPr lang="en-US" altLang="zh-CN"/>
              <a:t>)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(P∧Q)∨(Q∨</a:t>
            </a:r>
            <a:r>
              <a:rPr lang="en-US" altLang="zh-CN">
                <a:latin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/>
              <a:t>P)      (</a:t>
            </a:r>
            <a:r>
              <a:rPr lang="zh-CN" altLang="en-US"/>
              <a:t>交换律</a:t>
            </a:r>
            <a:r>
              <a:rPr lang="en-US" altLang="zh-CN"/>
              <a:t>)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((P∧Q)∨Q)∨</a:t>
            </a:r>
            <a:r>
              <a:rPr lang="en-US" altLang="zh-CN">
                <a:latin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/>
              <a:t>P      (</a:t>
            </a:r>
            <a:r>
              <a:rPr lang="zh-CN" altLang="en-US"/>
              <a:t>结合律</a:t>
            </a:r>
            <a:r>
              <a:rPr lang="en-US" altLang="zh-CN"/>
              <a:t>)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Q∨</a:t>
            </a:r>
            <a:r>
              <a:rPr lang="en-US" altLang="zh-CN">
                <a:latin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/>
              <a:t>P                       (</a:t>
            </a:r>
            <a:r>
              <a:rPr lang="zh-CN" altLang="en-US"/>
              <a:t>吸收律</a:t>
            </a:r>
            <a:r>
              <a:rPr lang="en-US" altLang="zh-CN"/>
              <a:t>)</a:t>
            </a:r>
            <a:endParaRPr lang="en-US" altLang="zh-CN"/>
          </a:p>
          <a:p>
            <a:pPr eaLnBrk="1" hangingPunct="1"/>
            <a:endParaRPr lang="en-US" altLang="zh-CN"/>
          </a:p>
          <a:p>
            <a:pPr eaLnBrk="1" hangingPunct="1">
              <a:buFontTx/>
              <a:buNone/>
            </a:pPr>
            <a:r>
              <a:rPr lang="zh-CN" altLang="en-US"/>
              <a:t>公式</a:t>
            </a:r>
            <a:r>
              <a:rPr lang="en-US" altLang="zh-CN"/>
              <a:t>E</a:t>
            </a:r>
            <a:r>
              <a:rPr lang="en-US" altLang="zh-CN" baseline="-25000"/>
              <a:t>16 </a:t>
            </a:r>
            <a:r>
              <a:rPr lang="zh-CN" altLang="en-US"/>
              <a:t>： </a:t>
            </a:r>
            <a:r>
              <a:rPr lang="en-US" altLang="zh-CN"/>
              <a:t>P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Q</a:t>
            </a:r>
            <a:r>
              <a:rPr lang="en-US" altLang="zh-CN">
                <a:sym typeface="Symbol" panose="05050102010706020507" pitchFamily="18" charset="2"/>
              </a:rPr>
              <a:t></a:t>
            </a:r>
            <a:r>
              <a:rPr lang="en-US" altLang="zh-CN"/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Q </a:t>
            </a:r>
            <a:endParaRPr lang="en-US" altLang="zh-CN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974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9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9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9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9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9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9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7" grpId="0" autoUpdateAnimBg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0115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FF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5. </a:t>
            </a:r>
            <a:r>
              <a:rPr lang="zh-CN" altLang="zh-CN" dirty="0">
                <a:ea typeface="黑体" panose="02010609060101010101" pitchFamily="49" charset="-122"/>
              </a:rPr>
              <a:t>性质</a:t>
            </a:r>
            <a:endParaRPr lang="zh-CN" altLang="zh-CN" dirty="0"/>
          </a:p>
          <a:p>
            <a:pPr eaLnBrk="1" hangingPunct="1">
              <a:buFontTx/>
              <a:buNone/>
            </a:pPr>
            <a:r>
              <a:rPr lang="zh-CN" altLang="zh-CN" dirty="0"/>
              <a:t>  </a:t>
            </a:r>
            <a:r>
              <a:rPr lang="en-US" altLang="zh-CN" sz="2800" dirty="0"/>
              <a:t>1).</a:t>
            </a:r>
            <a:r>
              <a:rPr lang="zh-CN" altLang="en-US" sz="2800" dirty="0"/>
              <a:t>有自反性：任何命题公式</a:t>
            </a:r>
            <a:r>
              <a:rPr lang="en-US" altLang="zh-CN" sz="2800" dirty="0"/>
              <a:t>A</a:t>
            </a:r>
            <a:r>
              <a:rPr lang="zh-CN" altLang="en-US" sz="2800" dirty="0"/>
              <a:t>，有</a:t>
            </a:r>
            <a:r>
              <a:rPr lang="en-US" altLang="zh-CN" sz="2800" dirty="0"/>
              <a:t>A</a:t>
            </a:r>
            <a:r>
              <a:rPr lang="en-US" altLang="zh-CN" sz="2800" dirty="0">
                <a:sym typeface="Symbol" panose="05050102010706020507" pitchFamily="18" charset="2"/>
              </a:rPr>
              <a:t></a:t>
            </a:r>
            <a:r>
              <a:rPr lang="en-US" altLang="zh-CN" sz="2800" dirty="0"/>
              <a:t>A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 eaLnBrk="1" hangingPunct="1">
              <a:buFontTx/>
              <a:buNone/>
            </a:pPr>
            <a:r>
              <a:rPr lang="zh-CN" altLang="en-US" sz="2800" dirty="0"/>
              <a:t>  </a:t>
            </a:r>
            <a:r>
              <a:rPr lang="en-US" altLang="zh-CN" sz="2800" dirty="0"/>
              <a:t>2).</a:t>
            </a:r>
            <a:r>
              <a:rPr lang="zh-CN" altLang="zh-CN" sz="2800" dirty="0"/>
              <a:t>有对称性：若</a:t>
            </a:r>
            <a:r>
              <a:rPr lang="en-US" altLang="zh-CN" sz="2800" dirty="0"/>
              <a:t>A</a:t>
            </a:r>
            <a:r>
              <a:rPr lang="en-US" altLang="zh-CN" sz="2800" dirty="0">
                <a:sym typeface="Symbol" panose="05050102010706020507" pitchFamily="18" charset="2"/>
              </a:rPr>
              <a:t>B</a:t>
            </a:r>
            <a:r>
              <a:rPr lang="zh-CN" altLang="en-US" sz="2800" dirty="0">
                <a:sym typeface="Symbol" panose="05050102010706020507" pitchFamily="18" charset="2"/>
              </a:rPr>
              <a:t>，则</a:t>
            </a:r>
            <a:r>
              <a:rPr lang="en-US" altLang="zh-CN" sz="2800" dirty="0">
                <a:sym typeface="Symbol" panose="05050102010706020507" pitchFamily="18" charset="2"/>
              </a:rPr>
              <a:t>BA</a:t>
            </a:r>
            <a:endParaRPr lang="en-US" altLang="zh-CN" sz="2800" dirty="0"/>
          </a:p>
          <a:p>
            <a:pPr eaLnBrk="1" hangingPunct="1">
              <a:buFontTx/>
              <a:buNone/>
            </a:pPr>
            <a:r>
              <a:rPr lang="en-US" altLang="zh-CN" sz="2800" dirty="0"/>
              <a:t>  3).</a:t>
            </a:r>
            <a:r>
              <a:rPr lang="zh-CN" altLang="zh-CN" sz="2800" dirty="0"/>
              <a:t>有传递性：若</a:t>
            </a:r>
            <a:r>
              <a:rPr lang="en-US" altLang="zh-CN" sz="2800" dirty="0"/>
              <a:t>A</a:t>
            </a:r>
            <a:r>
              <a:rPr lang="en-US" altLang="zh-CN" sz="2800" dirty="0">
                <a:sym typeface="Symbol" panose="05050102010706020507" pitchFamily="18" charset="2"/>
              </a:rPr>
              <a:t>B</a:t>
            </a:r>
            <a:r>
              <a:rPr lang="zh-CN" altLang="en-US" sz="2800" dirty="0">
                <a:sym typeface="Symbol" panose="05050102010706020507" pitchFamily="18" charset="2"/>
              </a:rPr>
              <a:t>且</a:t>
            </a:r>
            <a:r>
              <a:rPr lang="en-US" altLang="zh-CN" sz="2800" dirty="0">
                <a:sym typeface="Symbol" panose="05050102010706020507" pitchFamily="18" charset="2"/>
              </a:rPr>
              <a:t>BC</a:t>
            </a:r>
            <a:r>
              <a:rPr lang="zh-CN" altLang="en-US" sz="2800" dirty="0">
                <a:sym typeface="Symbol" panose="05050102010706020507" pitchFamily="18" charset="2"/>
              </a:rPr>
              <a:t>，则</a:t>
            </a:r>
            <a:r>
              <a:rPr lang="en-US" altLang="zh-CN" sz="2800" dirty="0">
                <a:sym typeface="Symbol" panose="05050102010706020507" pitchFamily="18" charset="2"/>
              </a:rPr>
              <a:t>AC</a:t>
            </a:r>
            <a:endParaRPr lang="en-US" altLang="zh-CN" sz="2800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altLang="zh-CN" sz="2800" dirty="0"/>
              <a:t>  4).</a:t>
            </a:r>
            <a:r>
              <a:rPr lang="zh-CN" altLang="zh-CN" sz="2800" dirty="0"/>
              <a:t>如果</a:t>
            </a:r>
            <a:r>
              <a:rPr lang="en-US" altLang="zh-CN" sz="2800" dirty="0"/>
              <a:t>A(P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,P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,…,</a:t>
            </a:r>
            <a:r>
              <a:rPr lang="en-US" altLang="zh-CN" sz="2800" dirty="0" err="1"/>
              <a:t>P</a:t>
            </a:r>
            <a:r>
              <a:rPr lang="en-US" altLang="zh-CN" sz="2800" baseline="-25000" dirty="0" err="1"/>
              <a:t>n</a:t>
            </a:r>
            <a:r>
              <a:rPr lang="en-US" altLang="zh-CN" sz="2800" dirty="0"/>
              <a:t>)</a:t>
            </a:r>
            <a:r>
              <a:rPr lang="en-US" altLang="zh-CN" sz="2800" dirty="0">
                <a:sym typeface="Symbol" panose="05050102010706020507" pitchFamily="18" charset="2"/>
              </a:rPr>
              <a:t></a:t>
            </a:r>
            <a:r>
              <a:rPr lang="en-US" altLang="zh-CN" sz="2800" dirty="0"/>
              <a:t>B(P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,P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,…,</a:t>
            </a:r>
            <a:r>
              <a:rPr lang="en-US" altLang="zh-CN" sz="2800" dirty="0" err="1"/>
              <a:t>P</a:t>
            </a:r>
            <a:r>
              <a:rPr lang="en-US" altLang="zh-CN" sz="2800" baseline="-25000" dirty="0" err="1"/>
              <a:t>n</a:t>
            </a:r>
            <a:r>
              <a:rPr lang="en-US" altLang="zh-CN" sz="2800" dirty="0"/>
              <a:t>)</a:t>
            </a:r>
            <a:r>
              <a:rPr lang="zh-CN" altLang="en-US" sz="2800" dirty="0"/>
              <a:t>，则</a:t>
            </a:r>
            <a:endParaRPr lang="zh-CN" altLang="en-US" sz="2800" dirty="0"/>
          </a:p>
          <a:p>
            <a:pPr eaLnBrk="1" hangingPunct="1">
              <a:buFontTx/>
              <a:buNone/>
            </a:pPr>
            <a:r>
              <a:rPr lang="zh-CN" altLang="en-US" sz="2800" dirty="0"/>
              <a:t>    </a:t>
            </a:r>
            <a:r>
              <a:rPr lang="en-US" altLang="zh-CN" sz="2800" dirty="0"/>
              <a:t>A(</a:t>
            </a:r>
            <a:r>
              <a:rPr lang="en-US" altLang="zh-CN" sz="2800" dirty="0">
                <a:sym typeface="Symbol" panose="05050102010706020507" pitchFamily="18" charset="2"/>
              </a:rPr>
              <a:t></a:t>
            </a:r>
            <a:r>
              <a:rPr lang="en-US" altLang="zh-CN" sz="2800" dirty="0"/>
              <a:t>P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</a:t>
            </a:r>
            <a:r>
              <a:rPr lang="en-US" altLang="zh-CN" sz="2800" dirty="0">
                <a:sym typeface="Symbol" panose="05050102010706020507" pitchFamily="18" charset="2"/>
              </a:rPr>
              <a:t></a:t>
            </a:r>
            <a:r>
              <a:rPr lang="en-US" altLang="zh-CN" sz="2800" dirty="0"/>
              <a:t>P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,…,</a:t>
            </a:r>
            <a:r>
              <a:rPr lang="en-US" altLang="zh-CN" sz="2800" dirty="0">
                <a:sym typeface="Symbol" panose="05050102010706020507" pitchFamily="18" charset="2"/>
              </a:rPr>
              <a:t></a:t>
            </a:r>
            <a:r>
              <a:rPr lang="en-US" altLang="zh-CN" sz="2800" dirty="0" err="1"/>
              <a:t>P</a:t>
            </a:r>
            <a:r>
              <a:rPr lang="en-US" altLang="zh-CN" sz="2800" baseline="-25000" dirty="0" err="1"/>
              <a:t>n</a:t>
            </a:r>
            <a:r>
              <a:rPr lang="en-US" altLang="zh-CN" sz="2800" dirty="0"/>
              <a:t>)</a:t>
            </a:r>
            <a:r>
              <a:rPr lang="en-US" altLang="zh-CN" sz="2800" dirty="0">
                <a:sym typeface="Symbol" panose="05050102010706020507" pitchFamily="18" charset="2"/>
              </a:rPr>
              <a:t></a:t>
            </a:r>
            <a:r>
              <a:rPr lang="en-US" altLang="zh-CN" sz="2800" dirty="0"/>
              <a:t>B(</a:t>
            </a:r>
            <a:r>
              <a:rPr lang="en-US" altLang="zh-CN" sz="2800" dirty="0">
                <a:sym typeface="Symbol" panose="05050102010706020507" pitchFamily="18" charset="2"/>
              </a:rPr>
              <a:t></a:t>
            </a:r>
            <a:r>
              <a:rPr lang="en-US" altLang="zh-CN" sz="2800" dirty="0"/>
              <a:t>P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</a:t>
            </a:r>
            <a:r>
              <a:rPr lang="en-US" altLang="zh-CN" sz="2800" dirty="0">
                <a:sym typeface="Symbol" panose="05050102010706020507" pitchFamily="18" charset="2"/>
              </a:rPr>
              <a:t></a:t>
            </a:r>
            <a:r>
              <a:rPr lang="en-US" altLang="zh-CN" sz="2800" dirty="0"/>
              <a:t>P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,…,</a:t>
            </a:r>
            <a:r>
              <a:rPr lang="en-US" altLang="zh-CN" sz="2800" dirty="0">
                <a:sym typeface="Symbol" panose="05050102010706020507" pitchFamily="18" charset="2"/>
              </a:rPr>
              <a:t></a:t>
            </a:r>
            <a:r>
              <a:rPr lang="en-US" altLang="zh-CN" sz="2800" dirty="0" err="1"/>
              <a:t>P</a:t>
            </a:r>
            <a:r>
              <a:rPr lang="en-US" altLang="zh-CN" sz="2800" baseline="-25000" dirty="0" err="1"/>
              <a:t>n</a:t>
            </a:r>
            <a:r>
              <a:rPr lang="en-US" altLang="zh-CN" sz="2800" dirty="0"/>
              <a:t>) </a:t>
            </a:r>
            <a:endParaRPr lang="en-US" altLang="zh-CN" sz="2800" dirty="0"/>
          </a:p>
          <a:p>
            <a:pPr eaLnBrk="1" hangingPunct="1">
              <a:buFontTx/>
              <a:buNone/>
            </a:pPr>
            <a:r>
              <a:rPr lang="en-US" altLang="zh-CN" sz="2800" dirty="0"/>
              <a:t>  </a:t>
            </a:r>
            <a:r>
              <a:rPr lang="zh-CN" altLang="zh-CN" sz="2800" dirty="0"/>
              <a:t>例  </a:t>
            </a:r>
            <a:r>
              <a:rPr lang="en-US" altLang="zh-CN" sz="2800" dirty="0"/>
              <a:t>A(P,Q)</a:t>
            </a:r>
            <a:r>
              <a:rPr lang="en-US" altLang="zh-CN" sz="2800" dirty="0">
                <a:sym typeface="Symbol" panose="05050102010706020507" pitchFamily="18" charset="2"/>
              </a:rPr>
              <a:t></a:t>
            </a:r>
            <a:r>
              <a:rPr lang="en-US" altLang="zh-CN" sz="2800" dirty="0"/>
              <a:t>P→Q     B(P,Q)</a:t>
            </a:r>
            <a:r>
              <a:rPr lang="en-US" altLang="zh-CN" sz="2800" dirty="0">
                <a:sym typeface="Symbol" panose="05050102010706020507" pitchFamily="18" charset="2"/>
              </a:rPr>
              <a:t></a:t>
            </a:r>
            <a:r>
              <a:rPr lang="en-US" altLang="zh-CN" sz="2800" dirty="0"/>
              <a:t>P∨Q</a:t>
            </a:r>
            <a:endParaRPr lang="en-US" altLang="zh-CN" sz="2800" dirty="0"/>
          </a:p>
          <a:p>
            <a:pPr eaLnBrk="1" hangingPunct="1">
              <a:buFontTx/>
              <a:buNone/>
            </a:pPr>
            <a:r>
              <a:rPr lang="en-US" altLang="zh-CN" sz="2800" dirty="0"/>
              <a:t>  </a:t>
            </a:r>
            <a:r>
              <a:rPr lang="zh-CN" altLang="en-US" sz="2800" dirty="0"/>
              <a:t>有  </a:t>
            </a:r>
            <a:r>
              <a:rPr lang="en-US" altLang="zh-CN" sz="2800" dirty="0"/>
              <a:t>A(P,Q)</a:t>
            </a:r>
            <a:r>
              <a:rPr lang="en-US" altLang="zh-CN" sz="2800" dirty="0">
                <a:sym typeface="Symbol" panose="05050102010706020507" pitchFamily="18" charset="2"/>
              </a:rPr>
              <a:t></a:t>
            </a:r>
            <a:r>
              <a:rPr lang="en-US" altLang="zh-CN" sz="2800" dirty="0"/>
              <a:t>B(P,Q) </a:t>
            </a:r>
            <a:endParaRPr lang="en-US" altLang="zh-CN" sz="2800" dirty="0"/>
          </a:p>
          <a:p>
            <a:pPr eaLnBrk="1" hangingPunct="1">
              <a:buFontTx/>
              <a:buNone/>
            </a:pPr>
            <a:r>
              <a:rPr lang="en-US" altLang="zh-CN" sz="2800" dirty="0"/>
              <a:t>        A(</a:t>
            </a:r>
            <a:r>
              <a:rPr lang="en-US" altLang="zh-CN" sz="2800" dirty="0">
                <a:sym typeface="Symbol" panose="05050102010706020507" pitchFamily="18" charset="2"/>
              </a:rPr>
              <a:t></a:t>
            </a:r>
            <a:r>
              <a:rPr lang="en-US" altLang="zh-CN" sz="2800" dirty="0"/>
              <a:t>P,</a:t>
            </a:r>
            <a:r>
              <a:rPr lang="en-US" altLang="zh-CN" sz="2800" dirty="0">
                <a:sym typeface="Symbol" panose="05050102010706020507" pitchFamily="18" charset="2"/>
              </a:rPr>
              <a:t></a:t>
            </a:r>
            <a:r>
              <a:rPr lang="en-US" altLang="zh-CN" sz="2800" dirty="0"/>
              <a:t>Q)</a:t>
            </a:r>
            <a:r>
              <a:rPr lang="en-US" altLang="zh-CN" sz="2800" dirty="0">
                <a:sym typeface="Symbol" panose="05050102010706020507" pitchFamily="18" charset="2"/>
              </a:rPr>
              <a:t></a:t>
            </a:r>
            <a:r>
              <a:rPr lang="en-US" altLang="zh-CN" sz="2800" dirty="0"/>
              <a:t>P→</a:t>
            </a:r>
            <a:r>
              <a:rPr lang="en-US" altLang="zh-CN" sz="2800" dirty="0">
                <a:sym typeface="Symbol" panose="05050102010706020507" pitchFamily="18" charset="2"/>
              </a:rPr>
              <a:t></a:t>
            </a:r>
            <a:r>
              <a:rPr lang="en-US" altLang="zh-CN" sz="2800" dirty="0"/>
              <a:t>Q</a:t>
            </a:r>
            <a:endParaRPr lang="en-US" altLang="zh-CN" sz="2800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altLang="zh-CN" sz="2800" dirty="0"/>
              <a:t>        B(</a:t>
            </a:r>
            <a:r>
              <a:rPr lang="en-US" altLang="zh-CN" sz="2800" dirty="0">
                <a:sym typeface="Symbol" panose="05050102010706020507" pitchFamily="18" charset="2"/>
              </a:rPr>
              <a:t></a:t>
            </a:r>
            <a:r>
              <a:rPr lang="en-US" altLang="zh-CN" sz="2800" dirty="0"/>
              <a:t>P, </a:t>
            </a:r>
            <a:r>
              <a:rPr lang="en-US" altLang="zh-CN" sz="2800" dirty="0">
                <a:sym typeface="Symbol" panose="05050102010706020507" pitchFamily="18" charset="2"/>
              </a:rPr>
              <a:t></a:t>
            </a:r>
            <a:r>
              <a:rPr lang="en-US" altLang="zh-CN" sz="2800" dirty="0"/>
              <a:t>Q)</a:t>
            </a:r>
            <a:r>
              <a:rPr lang="en-US" altLang="zh-CN" sz="2800" dirty="0">
                <a:sym typeface="Symbol" panose="05050102010706020507" pitchFamily="18" charset="2"/>
              </a:rPr>
              <a:t></a:t>
            </a:r>
            <a:r>
              <a:rPr lang="en-US" altLang="zh-CN" sz="2800" dirty="0"/>
              <a:t>P∨</a:t>
            </a:r>
            <a:r>
              <a:rPr lang="en-US" altLang="zh-CN" sz="2800" dirty="0">
                <a:sym typeface="Symbol" panose="05050102010706020507" pitchFamily="18" charset="2"/>
              </a:rPr>
              <a:t></a:t>
            </a:r>
            <a:r>
              <a:rPr lang="en-US" altLang="zh-CN" sz="2800" dirty="0"/>
              <a:t>Q</a:t>
            </a:r>
            <a:endParaRPr lang="en-US" altLang="zh-CN" sz="2800" dirty="0"/>
          </a:p>
          <a:p>
            <a:pPr eaLnBrk="1" hangingPunct="1">
              <a:buFontTx/>
              <a:buNone/>
            </a:pPr>
            <a:r>
              <a:rPr lang="en-US" altLang="zh-CN" sz="2800" dirty="0"/>
              <a:t>  </a:t>
            </a:r>
            <a:r>
              <a:rPr lang="zh-CN" altLang="en-US" sz="2800" dirty="0"/>
              <a:t>可见</a:t>
            </a:r>
            <a:r>
              <a:rPr lang="en-US" altLang="zh-CN" sz="2800" dirty="0"/>
              <a:t>A(</a:t>
            </a:r>
            <a:r>
              <a:rPr lang="en-US" altLang="zh-CN" sz="2800" dirty="0">
                <a:sym typeface="Symbol" panose="05050102010706020507" pitchFamily="18" charset="2"/>
              </a:rPr>
              <a:t></a:t>
            </a:r>
            <a:r>
              <a:rPr lang="en-US" altLang="zh-CN" sz="2800" dirty="0"/>
              <a:t>P,</a:t>
            </a:r>
            <a:r>
              <a:rPr lang="en-US" altLang="zh-CN" sz="2800" dirty="0">
                <a:sym typeface="Symbol" panose="05050102010706020507" pitchFamily="18" charset="2"/>
              </a:rPr>
              <a:t></a:t>
            </a:r>
            <a:r>
              <a:rPr lang="en-US" altLang="zh-CN" sz="2800" dirty="0"/>
              <a:t>Q)</a:t>
            </a:r>
            <a:r>
              <a:rPr lang="en-US" altLang="zh-CN" sz="2800" dirty="0">
                <a:sym typeface="Symbol" panose="05050102010706020507" pitchFamily="18" charset="2"/>
              </a:rPr>
              <a:t></a:t>
            </a:r>
            <a:r>
              <a:rPr lang="en-US" altLang="zh-CN" sz="2800" dirty="0"/>
              <a:t>B(</a:t>
            </a:r>
            <a:r>
              <a:rPr lang="en-US" altLang="zh-CN" sz="2800" dirty="0">
                <a:sym typeface="Symbol" panose="05050102010706020507" pitchFamily="18" charset="2"/>
              </a:rPr>
              <a:t></a:t>
            </a:r>
            <a:r>
              <a:rPr lang="en-US" altLang="zh-CN" sz="2800" dirty="0"/>
              <a:t>P, </a:t>
            </a:r>
            <a:r>
              <a:rPr lang="en-US" altLang="zh-CN" sz="2800" dirty="0">
                <a:sym typeface="Symbol" panose="05050102010706020507" pitchFamily="18" charset="2"/>
              </a:rPr>
              <a:t></a:t>
            </a:r>
            <a:r>
              <a:rPr lang="en-US" altLang="zh-CN" sz="2800" dirty="0"/>
              <a:t>Q)</a:t>
            </a:r>
            <a:endParaRPr lang="en-US" altLang="zh-CN" sz="2800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1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0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0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0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0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0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0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01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5" grpId="0" animBg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113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6.</a:t>
            </a:r>
            <a:r>
              <a:rPr lang="zh-CN" altLang="en-US" dirty="0">
                <a:ea typeface="黑体" panose="02010609060101010101" pitchFamily="49" charset="-122"/>
              </a:rPr>
              <a:t>等价公式的对偶性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/>
              <a:t>    从前面列出的等价公式看出，有很多是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/>
              <a:t>成对出现的。这就是等价公式的对偶性。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/>
              <a:t>  ⑴</a:t>
            </a:r>
            <a:r>
              <a:rPr lang="zh-CN" altLang="en-US" dirty="0">
                <a:solidFill>
                  <a:srgbClr val="FF0000"/>
                </a:solidFill>
                <a:ea typeface="黑体" panose="02010609060101010101" pitchFamily="49" charset="-122"/>
              </a:rPr>
              <a:t>对偶式</a:t>
            </a:r>
            <a:r>
              <a:rPr lang="zh-CN" altLang="en-US" dirty="0"/>
              <a:t>：在一个只含有联结词 </a:t>
            </a:r>
            <a:r>
              <a:rPr lang="zh-CN" altLang="en-US" dirty="0">
                <a:sym typeface="Symbol" panose="05050102010706020507" pitchFamily="18" charset="2"/>
              </a:rPr>
              <a:t></a:t>
            </a:r>
            <a:r>
              <a:rPr lang="zh-CN" altLang="en-US" dirty="0"/>
              <a:t> 、</a:t>
            </a:r>
            <a:r>
              <a:rPr lang="zh-CN" altLang="en-US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zh-CN" altLang="en-US" dirty="0"/>
              <a:t>、</a:t>
            </a:r>
            <a:r>
              <a:rPr lang="zh-CN" altLang="en-US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zh-CN" altLang="en-US" dirty="0"/>
              <a:t>的公式</a:t>
            </a:r>
            <a:r>
              <a:rPr lang="en-US" altLang="zh-CN" dirty="0"/>
              <a:t>A</a:t>
            </a:r>
            <a:r>
              <a:rPr lang="zh-CN" altLang="en-US" dirty="0"/>
              <a:t>中，将</a:t>
            </a:r>
            <a:r>
              <a:rPr lang="zh-CN" altLang="en-US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zh-CN" altLang="en-US" dirty="0"/>
              <a:t>换成</a:t>
            </a:r>
            <a:r>
              <a:rPr lang="zh-CN" altLang="en-US" dirty="0">
                <a:ea typeface="MS Gothic" panose="020B0609070205080204" pitchFamily="49" charset="-128"/>
                <a:sym typeface="Kingsoft Phonetic Plain" pitchFamily="2" charset="2"/>
              </a:rPr>
              <a:t>∧，∧</a:t>
            </a:r>
            <a:r>
              <a:rPr lang="zh-CN" altLang="en-US" dirty="0"/>
              <a:t>换成</a:t>
            </a:r>
            <a:r>
              <a:rPr lang="zh-CN" altLang="en-US" dirty="0">
                <a:ea typeface="MS Gothic" panose="020B0609070205080204" pitchFamily="49" charset="-128"/>
                <a:sym typeface="Kingsoft Phonetic Plain" pitchFamily="2" charset="2"/>
              </a:rPr>
              <a:t>∨，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T</a:t>
            </a:r>
            <a:r>
              <a:rPr lang="zh-CN" altLang="en-US" dirty="0"/>
              <a:t>换成</a:t>
            </a:r>
            <a:r>
              <a:rPr lang="en-US" altLang="zh-CN" dirty="0"/>
              <a:t>F</a:t>
            </a:r>
            <a:r>
              <a:rPr lang="zh-CN" altLang="en-US" dirty="0"/>
              <a:t>，</a:t>
            </a:r>
            <a:r>
              <a:rPr lang="en-US" altLang="zh-CN" dirty="0"/>
              <a:t>F</a:t>
            </a:r>
            <a:r>
              <a:rPr lang="zh-CN" altLang="en-US" dirty="0"/>
              <a:t>换成</a:t>
            </a:r>
            <a:r>
              <a:rPr lang="en-US" altLang="zh-CN" dirty="0"/>
              <a:t>T</a:t>
            </a:r>
            <a:r>
              <a:rPr lang="zh-CN" altLang="en-US" dirty="0"/>
              <a:t>，其余部分不变，得到另一个公式</a:t>
            </a:r>
            <a:r>
              <a:rPr lang="en-US" altLang="zh-CN" dirty="0"/>
              <a:t>A*</a:t>
            </a:r>
            <a:r>
              <a:rPr lang="zh-CN" altLang="en-US" dirty="0"/>
              <a:t>，称</a:t>
            </a:r>
            <a:r>
              <a:rPr lang="en-US" altLang="zh-CN" dirty="0"/>
              <a:t>A</a:t>
            </a:r>
            <a:r>
              <a:rPr lang="zh-CN" altLang="en-US" dirty="0"/>
              <a:t>与</a:t>
            </a:r>
            <a:r>
              <a:rPr lang="en-US" altLang="zh-CN" dirty="0"/>
              <a:t>A*</a:t>
            </a:r>
            <a:r>
              <a:rPr lang="zh-CN" altLang="en-US" dirty="0"/>
              <a:t>互为对偶式。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/>
              <a:t>    例如：   </a:t>
            </a:r>
            <a:r>
              <a:rPr lang="en-US" altLang="zh-CN" dirty="0"/>
              <a:t>A                        A*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                 P                         </a:t>
            </a:r>
            <a:r>
              <a:rPr lang="en-US" altLang="zh-CN" dirty="0" err="1"/>
              <a:t>P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      Q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∧R               </a:t>
            </a:r>
            <a:r>
              <a:rPr lang="en-US" altLang="zh-CN" dirty="0">
                <a:sym typeface="Symbol" panose="05050102010706020507" pitchFamily="18" charset="2"/>
              </a:rPr>
              <a:t>Q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∨R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       (P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∨T</a:t>
            </a:r>
            <a:r>
              <a:rPr lang="en-US" altLang="zh-CN" dirty="0"/>
              <a:t>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>
                <a:sym typeface="Symbol" panose="05050102010706020507" pitchFamily="18" charset="2"/>
              </a:rPr>
              <a:t>Q        </a:t>
            </a:r>
            <a:r>
              <a:rPr lang="en-US" altLang="zh-CN" dirty="0"/>
              <a:t>(P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∧F</a:t>
            </a:r>
            <a:r>
              <a:rPr lang="en-US" altLang="zh-CN" dirty="0"/>
              <a:t>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>
                <a:sym typeface="Symbol" panose="05050102010706020507" pitchFamily="18" charset="2"/>
              </a:rPr>
              <a:t>Q</a:t>
            </a:r>
            <a:endParaRPr lang="en-US" altLang="zh-CN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13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113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1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1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1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1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1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9" grpId="0" autoUpdateAnimBg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⑵</a:t>
            </a:r>
            <a:r>
              <a:rPr lang="zh-CN" altLang="en-US"/>
              <a:t>用对偶式求公式的否定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   </a:t>
            </a:r>
            <a:r>
              <a:rPr lang="zh-CN" altLang="en-US">
                <a:solidFill>
                  <a:srgbClr val="FF0000"/>
                </a:solidFill>
              </a:rPr>
              <a:t>定理</a:t>
            </a:r>
            <a:r>
              <a:rPr lang="en-US" altLang="zh-CN">
                <a:solidFill>
                  <a:srgbClr val="FF0000"/>
                </a:solidFill>
              </a:rPr>
              <a:t>1-5.1</a:t>
            </a:r>
            <a:r>
              <a:rPr lang="en-US" altLang="zh-CN"/>
              <a:t> </a:t>
            </a:r>
            <a:r>
              <a:rPr lang="zh-CN" altLang="en-US"/>
              <a:t>令</a:t>
            </a:r>
            <a:r>
              <a:rPr lang="en-US" altLang="zh-CN"/>
              <a:t>A(P</a:t>
            </a:r>
            <a:r>
              <a:rPr lang="en-US" altLang="zh-CN" baseline="-25000"/>
              <a:t>1</a:t>
            </a:r>
            <a:r>
              <a:rPr lang="en-US" altLang="zh-CN"/>
              <a:t>,P</a:t>
            </a:r>
            <a:r>
              <a:rPr lang="en-US" altLang="zh-CN" baseline="-25000"/>
              <a:t>2</a:t>
            </a:r>
            <a:r>
              <a:rPr lang="en-US" altLang="zh-CN"/>
              <a:t>,…,P</a:t>
            </a:r>
            <a:r>
              <a:rPr lang="en-US" altLang="zh-CN" baseline="-25000"/>
              <a:t>n</a:t>
            </a:r>
            <a:r>
              <a:rPr lang="en-US" altLang="zh-CN"/>
              <a:t>)</a:t>
            </a:r>
            <a:r>
              <a:rPr lang="zh-CN" altLang="en-US"/>
              <a:t>是一个只含有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联结词 </a:t>
            </a:r>
            <a:r>
              <a:rPr lang="zh-CN" altLang="en-US">
                <a:sym typeface="Symbol" panose="05050102010706020507" pitchFamily="18" charset="2"/>
              </a:rPr>
              <a:t></a:t>
            </a:r>
            <a:r>
              <a:rPr lang="zh-CN" altLang="en-US"/>
              <a:t> 、</a:t>
            </a:r>
            <a:r>
              <a:rPr lang="zh-CN" altLang="en-US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zh-CN" altLang="en-US"/>
              <a:t>、</a:t>
            </a:r>
            <a:r>
              <a:rPr lang="zh-CN" altLang="en-US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zh-CN" altLang="en-US"/>
              <a:t>的命题公式，则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sym typeface="Symbol" panose="05050102010706020507" pitchFamily="18" charset="2"/>
              </a:rPr>
              <a:t>    </a:t>
            </a:r>
            <a:r>
              <a:rPr lang="en-US" altLang="zh-CN"/>
              <a:t>A(P</a:t>
            </a:r>
            <a:r>
              <a:rPr lang="en-US" altLang="zh-CN" baseline="-25000"/>
              <a:t>1</a:t>
            </a:r>
            <a:r>
              <a:rPr lang="en-US" altLang="zh-CN"/>
              <a:t>,P</a:t>
            </a:r>
            <a:r>
              <a:rPr lang="en-US" altLang="zh-CN" baseline="-25000"/>
              <a:t>2</a:t>
            </a:r>
            <a:r>
              <a:rPr lang="en-US" altLang="zh-CN"/>
              <a:t>,…,P</a:t>
            </a:r>
            <a:r>
              <a:rPr lang="en-US" altLang="zh-CN" baseline="-25000"/>
              <a:t>n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A*(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</a:t>
            </a:r>
            <a:r>
              <a:rPr lang="en-US" altLang="zh-CN" baseline="-25000"/>
              <a:t>1</a:t>
            </a:r>
            <a:r>
              <a:rPr lang="en-US" altLang="zh-CN"/>
              <a:t>,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</a:t>
            </a:r>
            <a:r>
              <a:rPr lang="en-US" altLang="zh-CN" baseline="-25000"/>
              <a:t>2</a:t>
            </a:r>
            <a:r>
              <a:rPr lang="en-US" altLang="zh-CN"/>
              <a:t>,…,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</a:t>
            </a:r>
            <a:r>
              <a:rPr lang="en-US" altLang="zh-CN" baseline="-25000"/>
              <a:t>n</a:t>
            </a:r>
            <a:r>
              <a:rPr lang="en-US" altLang="zh-CN"/>
              <a:t>) 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   </a:t>
            </a:r>
            <a:r>
              <a:rPr lang="zh-CN" altLang="en-US"/>
              <a:t>此定理可以反复地使用底</a:t>
            </a:r>
            <a:r>
              <a:rPr lang="en-US" altLang="zh-CN"/>
              <a:t>-</a:t>
            </a:r>
            <a:r>
              <a:rPr lang="zh-CN" altLang="en-US"/>
              <a:t>摩根定律得以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证明。</a:t>
            </a:r>
            <a:r>
              <a:rPr lang="zh-CN" altLang="en-US">
                <a:solidFill>
                  <a:srgbClr val="FF0000"/>
                </a:solidFill>
              </a:rPr>
              <a:t> </a:t>
            </a:r>
            <a:r>
              <a:rPr lang="zh-CN" altLang="en-US"/>
              <a:t>下面我们</a:t>
            </a:r>
            <a:r>
              <a:rPr lang="zh-CN" altLang="en-US">
                <a:solidFill>
                  <a:srgbClr val="FF0000"/>
                </a:solidFill>
              </a:rPr>
              <a:t>验证</a:t>
            </a:r>
            <a:r>
              <a:rPr lang="zh-CN" altLang="en-US"/>
              <a:t>一下。   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  令 </a:t>
            </a:r>
            <a:r>
              <a:rPr lang="en-US" altLang="zh-CN"/>
              <a:t>A(P,Q)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Q      A*(P,Q)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/>
              <a:t>Q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      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A(P,Q)</a:t>
            </a:r>
            <a:r>
              <a:rPr lang="en-US" altLang="zh-CN">
                <a:sym typeface="Symbol" panose="05050102010706020507" pitchFamily="18" charset="2"/>
              </a:rPr>
              <a:t>(</a:t>
            </a:r>
            <a:r>
              <a:rPr lang="en-US" altLang="zh-CN"/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Q) 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       A*(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P, 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Q)</a:t>
            </a:r>
            <a:r>
              <a:rPr lang="en-US" altLang="zh-CN">
                <a:sym typeface="Symbol" panose="05050102010706020507" pitchFamily="18" charset="2"/>
              </a:rPr>
              <a:t></a:t>
            </a:r>
            <a:r>
              <a:rPr lang="en-US" altLang="zh-CN"/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Q 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>
                <a:sym typeface="Symbol" panose="05050102010706020507" pitchFamily="18" charset="2"/>
              </a:rPr>
              <a:t>  </a:t>
            </a:r>
            <a:r>
              <a:rPr lang="zh-CN" altLang="en-US">
                <a:sym typeface="Symbol" panose="05050102010706020507" pitchFamily="18" charset="2"/>
              </a:rPr>
              <a:t>可见       </a:t>
            </a:r>
            <a:r>
              <a:rPr lang="en-US" altLang="zh-CN"/>
              <a:t>A(P,Q)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A*(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P,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Q)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推论</a:t>
            </a:r>
            <a:r>
              <a:rPr lang="en-US" altLang="zh-CN">
                <a:sym typeface="Symbol" panose="05050102010706020507" pitchFamily="18" charset="2"/>
              </a:rPr>
              <a:t>:</a:t>
            </a:r>
            <a:r>
              <a:rPr lang="en-US" altLang="zh-CN"/>
              <a:t>A(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</a:t>
            </a:r>
            <a:r>
              <a:rPr lang="en-US" altLang="zh-CN" baseline="-25000"/>
              <a:t>1</a:t>
            </a:r>
            <a:r>
              <a:rPr lang="en-US" altLang="zh-CN"/>
              <a:t>,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</a:t>
            </a:r>
            <a:r>
              <a:rPr lang="en-US" altLang="zh-CN" baseline="-25000"/>
              <a:t>2</a:t>
            </a:r>
            <a:r>
              <a:rPr lang="en-US" altLang="zh-CN"/>
              <a:t>,…,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</a:t>
            </a:r>
            <a:r>
              <a:rPr lang="en-US" altLang="zh-CN" baseline="-25000"/>
              <a:t>n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</a:t>
            </a:r>
            <a:r>
              <a:rPr lang="en-US" altLang="zh-CN"/>
              <a:t>A*(P</a:t>
            </a:r>
            <a:r>
              <a:rPr lang="en-US" altLang="zh-CN" baseline="-25000"/>
              <a:t>1</a:t>
            </a:r>
            <a:r>
              <a:rPr lang="en-US" altLang="zh-CN"/>
              <a:t>,P</a:t>
            </a:r>
            <a:r>
              <a:rPr lang="en-US" altLang="zh-CN" baseline="-25000"/>
              <a:t>2</a:t>
            </a:r>
            <a:r>
              <a:rPr lang="en-US" altLang="zh-CN"/>
              <a:t>,…,P</a:t>
            </a:r>
            <a:r>
              <a:rPr lang="en-US" altLang="zh-CN" baseline="-25000"/>
              <a:t>n</a:t>
            </a:r>
            <a:r>
              <a:rPr lang="en-US" altLang="zh-CN"/>
              <a:t>)</a:t>
            </a:r>
            <a:endParaRPr lang="en-US" altLang="zh-CN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6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2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2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2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2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21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21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3" grpId="0" autoUpdateAnimBg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4563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zh-CN">
                <a:sym typeface="Symbol" panose="05050102010706020507" pitchFamily="18" charset="2"/>
              </a:rPr>
              <a:t>例如，利用上述求公式的否定公式求</a:t>
            </a:r>
            <a:endParaRPr lang="zh-CN" altLang="zh-CN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>
                <a:sym typeface="Symbol" panose="05050102010706020507" pitchFamily="18" charset="2"/>
              </a:rPr>
              <a:t>     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zh-CN">
                <a:sym typeface="Symbol" panose="05050102010706020507" pitchFamily="18" charset="2"/>
              </a:rPr>
              <a:t>((P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>
                <a:sym typeface="Symbol" panose="05050102010706020507" pitchFamily="18" charset="2"/>
              </a:rPr>
              <a:t>Q)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∨(</a:t>
            </a:r>
            <a:r>
              <a:rPr lang="en-US" altLang="zh-CN">
                <a:sym typeface="Symbol" panose="05050102010706020507" pitchFamily="18" charset="2"/>
              </a:rPr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>
                <a:sym typeface="Symbol" panose="05050102010706020507" pitchFamily="18" charset="2"/>
              </a:rPr>
              <a:t>Q))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R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altLang="zh-CN">
                <a:sym typeface="Symbol" panose="05050102010706020507" pitchFamily="18" charset="2"/>
              </a:rPr>
              <a:t> ((P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Q)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>
                <a:sym typeface="Symbol" panose="05050102010706020507" pitchFamily="18" charset="2"/>
              </a:rPr>
              <a:t>P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Q))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>
                <a:sym typeface="Symbol" panose="05050102010706020507" pitchFamily="18" charset="2"/>
              </a:rPr>
              <a:t>R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endParaRPr lang="en-US" altLang="zh-CN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6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autoUpdateAnimBg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3187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0000FF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>
                <a:ea typeface="黑体" panose="02010609060101010101" pitchFamily="49" charset="-122"/>
              </a:rPr>
              <a:t>⑶</a:t>
            </a:r>
            <a:r>
              <a:rPr lang="zh-CN" altLang="en-US">
                <a:solidFill>
                  <a:srgbClr val="FF0000"/>
                </a:solidFill>
                <a:ea typeface="黑体" panose="02010609060101010101" pitchFamily="49" charset="-122"/>
              </a:rPr>
              <a:t>对偶原理</a:t>
            </a:r>
            <a:r>
              <a:rPr lang="en-US" altLang="zh-CN"/>
              <a:t>(</a:t>
            </a:r>
            <a:r>
              <a:rPr lang="zh-CN" altLang="en-US">
                <a:solidFill>
                  <a:srgbClr val="FF0000"/>
                </a:solidFill>
              </a:rPr>
              <a:t>定理</a:t>
            </a:r>
            <a:r>
              <a:rPr lang="en-US" altLang="zh-CN">
                <a:solidFill>
                  <a:srgbClr val="FF0000"/>
                </a:solidFill>
              </a:rPr>
              <a:t>1-5.2</a:t>
            </a:r>
            <a:r>
              <a:rPr lang="en-US" altLang="zh-CN"/>
              <a:t>)</a:t>
            </a:r>
            <a:r>
              <a:rPr lang="zh-CN" altLang="en-US"/>
              <a:t>：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  令</a:t>
            </a:r>
            <a:r>
              <a:rPr lang="en-US" altLang="zh-CN"/>
              <a:t>A(P</a:t>
            </a:r>
            <a:r>
              <a:rPr lang="en-US" altLang="zh-CN" baseline="-25000"/>
              <a:t>1</a:t>
            </a:r>
            <a:r>
              <a:rPr lang="en-US" altLang="zh-CN"/>
              <a:t>,P</a:t>
            </a:r>
            <a:r>
              <a:rPr lang="en-US" altLang="zh-CN" baseline="-25000"/>
              <a:t>2</a:t>
            </a:r>
            <a:r>
              <a:rPr lang="en-US" altLang="zh-CN"/>
              <a:t>,…,P</a:t>
            </a:r>
            <a:r>
              <a:rPr lang="en-US" altLang="zh-CN" baseline="-25000"/>
              <a:t>n</a:t>
            </a:r>
            <a:r>
              <a:rPr lang="en-US" altLang="zh-CN"/>
              <a:t>) </a:t>
            </a:r>
            <a:r>
              <a:rPr lang="zh-CN" altLang="en-US"/>
              <a:t>、</a:t>
            </a:r>
            <a:r>
              <a:rPr lang="en-US" altLang="zh-CN"/>
              <a:t>B(P</a:t>
            </a:r>
            <a:r>
              <a:rPr lang="en-US" altLang="zh-CN" baseline="-25000"/>
              <a:t>1</a:t>
            </a:r>
            <a:r>
              <a:rPr lang="en-US" altLang="zh-CN"/>
              <a:t>,P</a:t>
            </a:r>
            <a:r>
              <a:rPr lang="en-US" altLang="zh-CN" baseline="-25000"/>
              <a:t>2</a:t>
            </a:r>
            <a:r>
              <a:rPr lang="en-US" altLang="zh-CN"/>
              <a:t>,…,P</a:t>
            </a:r>
            <a:r>
              <a:rPr lang="en-US" altLang="zh-CN" baseline="-25000"/>
              <a:t>n</a:t>
            </a:r>
            <a:r>
              <a:rPr lang="en-US" altLang="zh-CN"/>
              <a:t>)</a:t>
            </a:r>
            <a:r>
              <a:rPr lang="zh-CN" altLang="en-US"/>
              <a:t>是只含有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联结词</a:t>
            </a:r>
            <a:r>
              <a:rPr lang="zh-CN" altLang="en-US">
                <a:sym typeface="Symbol" panose="05050102010706020507" pitchFamily="18" charset="2"/>
              </a:rPr>
              <a:t></a:t>
            </a:r>
            <a:r>
              <a:rPr lang="zh-CN" altLang="en-US"/>
              <a:t>、</a:t>
            </a:r>
            <a:r>
              <a:rPr lang="zh-CN" altLang="en-US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zh-CN" altLang="en-US"/>
              <a:t>、</a:t>
            </a:r>
            <a:r>
              <a:rPr lang="zh-CN" altLang="en-US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zh-CN" altLang="en-US"/>
              <a:t>的命题公式，则如果</a:t>
            </a:r>
            <a:endParaRPr lang="zh-CN" altLang="en-US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/>
              <a:t>      </a:t>
            </a:r>
            <a:r>
              <a:rPr lang="en-US" altLang="zh-CN"/>
              <a:t>A(P</a:t>
            </a:r>
            <a:r>
              <a:rPr lang="en-US" altLang="zh-CN" baseline="-25000"/>
              <a:t>1</a:t>
            </a:r>
            <a:r>
              <a:rPr lang="en-US" altLang="zh-CN"/>
              <a:t>,P</a:t>
            </a:r>
            <a:r>
              <a:rPr lang="en-US" altLang="zh-CN" baseline="-25000"/>
              <a:t>2</a:t>
            </a:r>
            <a:r>
              <a:rPr lang="en-US" altLang="zh-CN"/>
              <a:t>,…,P</a:t>
            </a:r>
            <a:r>
              <a:rPr lang="en-US" altLang="zh-CN" baseline="-25000"/>
              <a:t>n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B(P</a:t>
            </a:r>
            <a:r>
              <a:rPr lang="en-US" altLang="zh-CN" baseline="-25000"/>
              <a:t>1</a:t>
            </a:r>
            <a:r>
              <a:rPr lang="en-US" altLang="zh-CN"/>
              <a:t>,P</a:t>
            </a:r>
            <a:r>
              <a:rPr lang="en-US" altLang="zh-CN" baseline="-25000"/>
              <a:t>2</a:t>
            </a:r>
            <a:r>
              <a:rPr lang="en-US" altLang="zh-CN"/>
              <a:t>,…,P</a:t>
            </a:r>
            <a:r>
              <a:rPr lang="en-US" altLang="zh-CN" baseline="-25000"/>
              <a:t>n</a:t>
            </a:r>
            <a:r>
              <a:rPr lang="en-US" altLang="zh-CN"/>
              <a:t>)    </a:t>
            </a:r>
            <a:r>
              <a:rPr lang="zh-CN" altLang="en-US"/>
              <a:t>则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sym typeface="Symbol" panose="05050102010706020507" pitchFamily="18" charset="2"/>
              </a:rPr>
              <a:t>      </a:t>
            </a:r>
            <a:r>
              <a:rPr lang="en-US" altLang="zh-CN"/>
              <a:t>A*(P</a:t>
            </a:r>
            <a:r>
              <a:rPr lang="en-US" altLang="zh-CN" baseline="-25000"/>
              <a:t>1</a:t>
            </a:r>
            <a:r>
              <a:rPr lang="en-US" altLang="zh-CN"/>
              <a:t>,P</a:t>
            </a:r>
            <a:r>
              <a:rPr lang="en-US" altLang="zh-CN" baseline="-25000"/>
              <a:t>2</a:t>
            </a:r>
            <a:r>
              <a:rPr lang="en-US" altLang="zh-CN"/>
              <a:t>,…,P</a:t>
            </a:r>
            <a:r>
              <a:rPr lang="en-US" altLang="zh-CN" baseline="-25000"/>
              <a:t>n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B*(P</a:t>
            </a:r>
            <a:r>
              <a:rPr lang="en-US" altLang="zh-CN" baseline="-25000"/>
              <a:t>1</a:t>
            </a:r>
            <a:r>
              <a:rPr lang="en-US" altLang="zh-CN"/>
              <a:t>,P</a:t>
            </a:r>
            <a:r>
              <a:rPr lang="en-US" altLang="zh-CN" baseline="-25000"/>
              <a:t>2</a:t>
            </a:r>
            <a:r>
              <a:rPr lang="en-US" altLang="zh-CN"/>
              <a:t>,…,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en-US" altLang="zh-CN"/>
              <a:t>P</a:t>
            </a:r>
            <a:r>
              <a:rPr lang="en-US" altLang="zh-CN" baseline="-25000"/>
              <a:t>n</a:t>
            </a:r>
            <a:r>
              <a:rPr lang="en-US" altLang="zh-CN"/>
              <a:t>) 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zh-CN">
                <a:solidFill>
                  <a:srgbClr val="FF0000"/>
                </a:solidFill>
              </a:rPr>
              <a:t>证明</a:t>
            </a:r>
            <a:r>
              <a:rPr lang="zh-CN" altLang="zh-CN"/>
              <a:t>：因为 </a:t>
            </a:r>
            <a:r>
              <a:rPr lang="en-US" altLang="zh-CN"/>
              <a:t>A(P</a:t>
            </a:r>
            <a:r>
              <a:rPr lang="en-US" altLang="zh-CN" baseline="-25000"/>
              <a:t>1</a:t>
            </a:r>
            <a:r>
              <a:rPr lang="en-US" altLang="zh-CN"/>
              <a:t>,P</a:t>
            </a:r>
            <a:r>
              <a:rPr lang="en-US" altLang="zh-CN" baseline="-25000"/>
              <a:t>2</a:t>
            </a:r>
            <a:r>
              <a:rPr lang="en-US" altLang="zh-CN"/>
              <a:t>,…,P</a:t>
            </a:r>
            <a:r>
              <a:rPr lang="en-US" altLang="zh-CN" baseline="-25000"/>
              <a:t>n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B(P</a:t>
            </a:r>
            <a:r>
              <a:rPr lang="en-US" altLang="zh-CN" baseline="-25000"/>
              <a:t>1</a:t>
            </a:r>
            <a:r>
              <a:rPr lang="en-US" altLang="zh-CN"/>
              <a:t>,P</a:t>
            </a:r>
            <a:r>
              <a:rPr lang="en-US" altLang="zh-CN" baseline="-25000"/>
              <a:t>2</a:t>
            </a:r>
            <a:r>
              <a:rPr lang="en-US" altLang="zh-CN"/>
              <a:t>,…,P</a:t>
            </a:r>
            <a:r>
              <a:rPr lang="en-US" altLang="zh-CN" baseline="-25000"/>
              <a:t>n</a:t>
            </a:r>
            <a:r>
              <a:rPr lang="en-US" altLang="zh-CN"/>
              <a:t>) 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故 </a:t>
            </a:r>
            <a:r>
              <a:rPr lang="en-US" altLang="zh-CN"/>
              <a:t>A(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</a:t>
            </a:r>
            <a:r>
              <a:rPr lang="en-US" altLang="zh-CN" baseline="-25000"/>
              <a:t>1</a:t>
            </a:r>
            <a:r>
              <a:rPr lang="en-US" altLang="zh-CN"/>
              <a:t>,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</a:t>
            </a:r>
            <a:r>
              <a:rPr lang="en-US" altLang="zh-CN" baseline="-25000"/>
              <a:t>2</a:t>
            </a:r>
            <a:r>
              <a:rPr lang="en-US" altLang="zh-CN"/>
              <a:t>,…,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</a:t>
            </a:r>
            <a:r>
              <a:rPr lang="en-US" altLang="zh-CN" baseline="-25000"/>
              <a:t>n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B(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</a:t>
            </a:r>
            <a:r>
              <a:rPr lang="en-US" altLang="zh-CN" baseline="-25000"/>
              <a:t>1</a:t>
            </a:r>
            <a:r>
              <a:rPr lang="en-US" altLang="zh-CN"/>
              <a:t>,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</a:t>
            </a:r>
            <a:r>
              <a:rPr lang="en-US" altLang="zh-CN" baseline="-25000"/>
              <a:t>2</a:t>
            </a:r>
            <a:r>
              <a:rPr lang="en-US" altLang="zh-CN"/>
              <a:t>,…,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</a:t>
            </a:r>
            <a:r>
              <a:rPr lang="en-US" altLang="zh-CN" baseline="-25000"/>
              <a:t>n</a:t>
            </a:r>
            <a:r>
              <a:rPr lang="en-US" altLang="zh-CN"/>
              <a:t>) 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而 </a:t>
            </a:r>
            <a:r>
              <a:rPr lang="en-US" altLang="zh-CN"/>
              <a:t>A(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</a:t>
            </a:r>
            <a:r>
              <a:rPr lang="en-US" altLang="zh-CN" baseline="-25000"/>
              <a:t>1</a:t>
            </a:r>
            <a:r>
              <a:rPr lang="en-US" altLang="zh-CN"/>
              <a:t>,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</a:t>
            </a:r>
            <a:r>
              <a:rPr lang="en-US" altLang="zh-CN" baseline="-25000"/>
              <a:t>2</a:t>
            </a:r>
            <a:r>
              <a:rPr lang="en-US" altLang="zh-CN"/>
              <a:t>,…,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</a:t>
            </a:r>
            <a:r>
              <a:rPr lang="en-US" altLang="zh-CN" baseline="-25000"/>
              <a:t>n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</a:t>
            </a:r>
            <a:r>
              <a:rPr lang="en-US" altLang="zh-CN"/>
              <a:t>A*(P</a:t>
            </a:r>
            <a:r>
              <a:rPr lang="en-US" altLang="zh-CN" baseline="-25000"/>
              <a:t>1</a:t>
            </a:r>
            <a:r>
              <a:rPr lang="en-US" altLang="zh-CN"/>
              <a:t>,P</a:t>
            </a:r>
            <a:r>
              <a:rPr lang="en-US" altLang="zh-CN" baseline="-25000"/>
              <a:t>2</a:t>
            </a:r>
            <a:r>
              <a:rPr lang="en-US" altLang="zh-CN"/>
              <a:t>,…,P</a:t>
            </a:r>
            <a:r>
              <a:rPr lang="en-US" altLang="zh-CN" baseline="-25000"/>
              <a:t>n</a:t>
            </a:r>
            <a:r>
              <a:rPr lang="en-US" altLang="zh-CN"/>
              <a:t>)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     B(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</a:t>
            </a:r>
            <a:r>
              <a:rPr lang="en-US" altLang="zh-CN" baseline="-25000"/>
              <a:t>1</a:t>
            </a:r>
            <a:r>
              <a:rPr lang="en-US" altLang="zh-CN"/>
              <a:t>,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</a:t>
            </a:r>
            <a:r>
              <a:rPr lang="en-US" altLang="zh-CN" baseline="-25000"/>
              <a:t>2</a:t>
            </a:r>
            <a:r>
              <a:rPr lang="en-US" altLang="zh-CN"/>
              <a:t>,…,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</a:t>
            </a:r>
            <a:r>
              <a:rPr lang="en-US" altLang="zh-CN" baseline="-25000"/>
              <a:t>n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B</a:t>
            </a:r>
            <a:r>
              <a:rPr lang="en-US" altLang="zh-CN"/>
              <a:t>*(P</a:t>
            </a:r>
            <a:r>
              <a:rPr lang="en-US" altLang="zh-CN" baseline="-25000"/>
              <a:t>1</a:t>
            </a:r>
            <a:r>
              <a:rPr lang="en-US" altLang="zh-CN"/>
              <a:t>,P</a:t>
            </a:r>
            <a:r>
              <a:rPr lang="en-US" altLang="zh-CN" baseline="-25000"/>
              <a:t>2</a:t>
            </a:r>
            <a:r>
              <a:rPr lang="en-US" altLang="zh-CN"/>
              <a:t>,…,P</a:t>
            </a:r>
            <a:r>
              <a:rPr lang="en-US" altLang="zh-CN" baseline="-25000"/>
              <a:t>n</a:t>
            </a:r>
            <a:r>
              <a:rPr lang="en-US" altLang="zh-CN"/>
              <a:t>)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sym typeface="Symbol" panose="05050102010706020507" pitchFamily="18" charset="2"/>
              </a:rPr>
              <a:t>故      </a:t>
            </a:r>
            <a:r>
              <a:rPr lang="en-US" altLang="zh-CN"/>
              <a:t>A*(P</a:t>
            </a:r>
            <a:r>
              <a:rPr lang="en-US" altLang="zh-CN" baseline="-25000"/>
              <a:t>1</a:t>
            </a:r>
            <a:r>
              <a:rPr lang="en-US" altLang="zh-CN"/>
              <a:t>,P</a:t>
            </a:r>
            <a:r>
              <a:rPr lang="en-US" altLang="zh-CN" baseline="-25000"/>
              <a:t>2</a:t>
            </a:r>
            <a:r>
              <a:rPr lang="en-US" altLang="zh-CN"/>
              <a:t>,…,P</a:t>
            </a:r>
            <a:r>
              <a:rPr lang="en-US" altLang="zh-CN" baseline="-25000"/>
              <a:t>n</a:t>
            </a:r>
            <a:r>
              <a:rPr lang="en-US" altLang="zh-CN"/>
              <a:t>) </a:t>
            </a:r>
            <a:r>
              <a:rPr lang="en-US" altLang="zh-CN">
                <a:sym typeface="Symbol" panose="05050102010706020507" pitchFamily="18" charset="2"/>
              </a:rPr>
              <a:t>B</a:t>
            </a:r>
            <a:r>
              <a:rPr lang="en-US" altLang="zh-CN"/>
              <a:t>*(P</a:t>
            </a:r>
            <a:r>
              <a:rPr lang="en-US" altLang="zh-CN" baseline="-25000"/>
              <a:t>1</a:t>
            </a:r>
            <a:r>
              <a:rPr lang="en-US" altLang="zh-CN"/>
              <a:t>,P</a:t>
            </a:r>
            <a:r>
              <a:rPr lang="en-US" altLang="zh-CN" baseline="-25000"/>
              <a:t>2</a:t>
            </a:r>
            <a:r>
              <a:rPr lang="en-US" altLang="zh-CN"/>
              <a:t>,…,P</a:t>
            </a:r>
            <a:r>
              <a:rPr lang="en-US" altLang="zh-CN" baseline="-25000"/>
              <a:t>n</a:t>
            </a:r>
            <a:r>
              <a:rPr lang="en-US" altLang="zh-CN"/>
              <a:t>)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所以   </a:t>
            </a:r>
            <a:r>
              <a:rPr lang="en-US" altLang="zh-CN"/>
              <a:t>A*(P</a:t>
            </a:r>
            <a:r>
              <a:rPr lang="en-US" altLang="zh-CN" baseline="-25000"/>
              <a:t>1</a:t>
            </a:r>
            <a:r>
              <a:rPr lang="en-US" altLang="zh-CN"/>
              <a:t>,P</a:t>
            </a:r>
            <a:r>
              <a:rPr lang="en-US" altLang="zh-CN" baseline="-25000"/>
              <a:t>2</a:t>
            </a:r>
            <a:r>
              <a:rPr lang="en-US" altLang="zh-CN"/>
              <a:t>,…,P</a:t>
            </a:r>
            <a:r>
              <a:rPr lang="en-US" altLang="zh-CN" baseline="-25000"/>
              <a:t>n</a:t>
            </a:r>
            <a:r>
              <a:rPr lang="en-US" altLang="zh-CN"/>
              <a:t>) </a:t>
            </a:r>
            <a:r>
              <a:rPr lang="en-US" altLang="zh-CN">
                <a:sym typeface="Symbol" panose="05050102010706020507" pitchFamily="18" charset="2"/>
              </a:rPr>
              <a:t> </a:t>
            </a:r>
            <a:r>
              <a:rPr lang="en-US" altLang="zh-CN"/>
              <a:t>B*(P</a:t>
            </a:r>
            <a:r>
              <a:rPr lang="en-US" altLang="zh-CN" baseline="-25000"/>
              <a:t>1</a:t>
            </a:r>
            <a:r>
              <a:rPr lang="en-US" altLang="zh-CN"/>
              <a:t>,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en-US" altLang="zh-CN"/>
              <a:t>P</a:t>
            </a:r>
            <a:r>
              <a:rPr lang="en-US" altLang="zh-CN" baseline="-25000"/>
              <a:t>2</a:t>
            </a:r>
            <a:r>
              <a:rPr lang="en-US" altLang="zh-CN"/>
              <a:t>,…,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en-US" altLang="zh-CN"/>
              <a:t>P</a:t>
            </a:r>
            <a:r>
              <a:rPr lang="en-US" altLang="zh-CN" baseline="-25000"/>
              <a:t>n</a:t>
            </a:r>
            <a:r>
              <a:rPr lang="en-US" altLang="zh-CN"/>
              <a:t>)</a:t>
            </a:r>
            <a:endParaRPr lang="en-US" altLang="zh-CN"/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18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318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3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3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3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3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3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31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31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7" grpId="0" autoUpdateAnimBg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4211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hlink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sym typeface="Kingsoft Phonetic Plain" pitchFamily="2" charset="2"/>
              </a:rPr>
              <a:t>下面我们验证一下对偶原理：</a:t>
            </a:r>
            <a:endParaRPr lang="zh-CN" altLang="en-US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     </a:t>
            </a:r>
            <a:r>
              <a:rPr lang="en-US" altLang="zh-CN"/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∨(</a:t>
            </a:r>
            <a:r>
              <a:rPr lang="en-US" altLang="zh-CN"/>
              <a:t>Q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/>
              <a:t>R)</a:t>
            </a:r>
            <a:r>
              <a:rPr lang="en-US" altLang="zh-CN">
                <a:sym typeface="Symbol" panose="05050102010706020507" pitchFamily="18" charset="2"/>
              </a:rPr>
              <a:t>(</a:t>
            </a:r>
            <a:r>
              <a:rPr lang="en-US" altLang="zh-CN"/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Q)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/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R) 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            A                         B 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    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/>
              <a:t>Q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R)</a:t>
            </a:r>
            <a:r>
              <a:rPr lang="en-US" altLang="zh-CN">
                <a:sym typeface="Symbol" panose="05050102010706020507" pitchFamily="18" charset="2"/>
              </a:rPr>
              <a:t>(</a:t>
            </a:r>
            <a:r>
              <a:rPr lang="en-US" altLang="zh-CN"/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/>
              <a:t>Q)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∨(</a:t>
            </a:r>
            <a:r>
              <a:rPr lang="en-US" altLang="zh-CN"/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/>
              <a:t>R)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           A*                        B*</a:t>
            </a:r>
            <a:endParaRPr lang="en-US" altLang="zh-CN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           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T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T      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             A       B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           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/>
              <a:t>F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F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              A*    B*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本节要求</a:t>
            </a:r>
            <a:r>
              <a:rPr lang="zh-CN" altLang="en-US" sz="2800" b="1"/>
              <a:t>掌握等价公式的证明方法及记忆公式</a:t>
            </a:r>
            <a:r>
              <a:rPr lang="zh-CN" altLang="en-US"/>
              <a:t>。</a:t>
            </a:r>
            <a:endParaRPr lang="zh-CN" altLang="en-US" b="1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zh-CN" b="1">
                <a:solidFill>
                  <a:srgbClr val="FF0000"/>
                </a:solidFill>
              </a:rPr>
              <a:t>作业：</a:t>
            </a:r>
            <a:r>
              <a:rPr lang="zh-CN" altLang="en-US" b="1">
                <a:solidFill>
                  <a:srgbClr val="FF0000"/>
                </a:solidFill>
              </a:rPr>
              <a:t>第</a:t>
            </a:r>
            <a:r>
              <a:rPr lang="en-US" altLang="zh-CN" b="1">
                <a:solidFill>
                  <a:srgbClr val="FF0000"/>
                </a:solidFill>
              </a:rPr>
              <a:t>19</a:t>
            </a:r>
            <a:r>
              <a:rPr lang="zh-CN" altLang="en-US" b="1">
                <a:solidFill>
                  <a:srgbClr val="FF0000"/>
                </a:solidFill>
              </a:rPr>
              <a:t>页 </a:t>
            </a:r>
            <a:r>
              <a:rPr lang="en-US" altLang="zh-CN" b="1">
                <a:solidFill>
                  <a:srgbClr val="FF0000"/>
                </a:solidFill>
              </a:rPr>
              <a:t>(7) f)  g)  , (8) c)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92163" name="Line 4"/>
          <p:cNvSpPr>
            <a:spLocks noChangeShapeType="1"/>
          </p:cNvSpPr>
          <p:nvPr/>
        </p:nvSpPr>
        <p:spPr bwMode="auto">
          <a:xfrm>
            <a:off x="835967" y="1812776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64" name="Line 5"/>
          <p:cNvSpPr>
            <a:spLocks noChangeShapeType="1"/>
          </p:cNvSpPr>
          <p:nvPr/>
        </p:nvSpPr>
        <p:spPr bwMode="auto">
          <a:xfrm>
            <a:off x="3121967" y="1812776"/>
            <a:ext cx="259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65" name="Line 6"/>
          <p:cNvSpPr>
            <a:spLocks noChangeShapeType="1"/>
          </p:cNvSpPr>
          <p:nvPr/>
        </p:nvSpPr>
        <p:spPr bwMode="auto">
          <a:xfrm>
            <a:off x="683568" y="2879576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66" name="Line 7"/>
          <p:cNvSpPr>
            <a:spLocks noChangeShapeType="1"/>
          </p:cNvSpPr>
          <p:nvPr/>
        </p:nvSpPr>
        <p:spPr bwMode="auto">
          <a:xfrm>
            <a:off x="3198167" y="2879576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67" name="Line 8"/>
          <p:cNvSpPr>
            <a:spLocks noChangeShapeType="1"/>
          </p:cNvSpPr>
          <p:nvPr/>
        </p:nvSpPr>
        <p:spPr bwMode="auto">
          <a:xfrm>
            <a:off x="1597967" y="3870176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68" name="Line 10"/>
          <p:cNvSpPr>
            <a:spLocks noChangeShapeType="1"/>
          </p:cNvSpPr>
          <p:nvPr/>
        </p:nvSpPr>
        <p:spPr bwMode="auto">
          <a:xfrm>
            <a:off x="2817167" y="3870176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69" name="Line 11"/>
          <p:cNvSpPr>
            <a:spLocks noChangeShapeType="1"/>
          </p:cNvSpPr>
          <p:nvPr/>
        </p:nvSpPr>
        <p:spPr bwMode="auto">
          <a:xfrm>
            <a:off x="1597968" y="5013176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70" name="Line 12"/>
          <p:cNvSpPr>
            <a:spLocks noChangeShapeType="1"/>
          </p:cNvSpPr>
          <p:nvPr/>
        </p:nvSpPr>
        <p:spPr bwMode="auto">
          <a:xfrm>
            <a:off x="2817167" y="5013176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21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4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4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4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4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42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42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1" grpId="0" autoUpdateAnimBg="0" build="p"/>
    </p:bldLst>
  </p:timing>
</p:sld>
</file>

<file path=ppt/tags/tag1.xml><?xml version="1.0" encoding="utf-8"?>
<p:tagLst xmlns:p="http://schemas.openxmlformats.org/presentationml/2006/main">
  <p:tag name="KSO_WPP_MARK_KEY" val="2b627f03-20e1-4a09-9e4a-8ea3f79fd7d0"/>
  <p:tag name="COMMONDATA" val="eyJoZGlkIjoiOTdlZWM4ZTkzMDQwNzlhMzliMmYyZDVlZGZhZjFmYz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3552</Words>
  <Application>WPS 演示</Application>
  <PresentationFormat>全屏显示(4:3)</PresentationFormat>
  <Paragraphs>207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33" baseType="lpstr">
      <vt:lpstr>Arial</vt:lpstr>
      <vt:lpstr>宋体</vt:lpstr>
      <vt:lpstr>Wingdings</vt:lpstr>
      <vt:lpstr>Candara</vt:lpstr>
      <vt:lpstr>华文楷体</vt:lpstr>
      <vt:lpstr>Calibri Light</vt:lpstr>
      <vt:lpstr>楷体</vt:lpstr>
      <vt:lpstr>黑体</vt:lpstr>
      <vt:lpstr>Times New Roman</vt:lpstr>
      <vt:lpstr>Symbol</vt:lpstr>
      <vt:lpstr>MS Gothic</vt:lpstr>
      <vt:lpstr>Kingsoft Phonetic Plain</vt:lpstr>
      <vt:lpstr>Segoe Print</vt:lpstr>
      <vt:lpstr>微软雅黑</vt:lpstr>
      <vt:lpstr>Arial Unicode MS</vt:lpstr>
      <vt:lpstr>Office 主题​​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homg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离散数学</dc:title>
  <dc:creator>xuxf</dc:creator>
  <cp:lastModifiedBy>鲍建华</cp:lastModifiedBy>
  <cp:revision>511</cp:revision>
  <dcterms:created xsi:type="dcterms:W3CDTF">2001-03-04T02:11:00Z</dcterms:created>
  <dcterms:modified xsi:type="dcterms:W3CDTF">2026-07-05T11:47:45Z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66D12B94A4584EF59209EAF2FC3B55ED_12</vt:lpwstr>
  </property>
  <property fmtid="{D5CDD505-2E9C-101B-9397-08002B2CF9AE}" pid="3" name="KSOProductBuildVer">
    <vt:lpwstr>2052-12.1.0.22175</vt:lpwstr>
  </property>
</Properties>
</file>