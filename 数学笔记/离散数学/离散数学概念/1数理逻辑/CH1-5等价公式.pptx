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20"/>
  </p:notesMasterIdLst>
  <p:handoutMasterIdLst>
    <p:handoutMasterId r:id="rId21"/>
  </p:handoutMasterIdLst>
  <p:sldIdLst>
    <p:sldId id="588" r:id="rId4"/>
    <p:sldId id="589" r:id="rId5"/>
    <p:sldId id="590" r:id="rId6"/>
    <p:sldId id="591" r:id="rId7"/>
    <p:sldId id="592" r:id="rId8"/>
    <p:sldId id="593" r:id="rId9"/>
    <p:sldId id="594" r:id="rId10"/>
    <p:sldId id="595" r:id="rId11"/>
    <p:sldId id="596" r:id="rId12"/>
    <p:sldId id="597" r:id="rId13"/>
    <p:sldId id="598" r:id="rId14"/>
    <p:sldId id="599" r:id="rId15"/>
    <p:sldId id="600" r:id="rId16"/>
    <p:sldId id="601" r:id="rId17"/>
    <p:sldId id="602" r:id="rId18"/>
    <p:sldId id="603" r:id="rId19"/>
  </p:sldIdLst>
  <p:sldSz cx="9144000" cy="6858000" type="screen4x3"/>
  <p:notesSz cx="7099300" cy="10234295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114" d="100"/>
          <a:sy n="114" d="100"/>
        </p:scale>
        <p:origin x="1572" y="11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48CE6-7D3F-4032-A803-4EB3672EAC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2F29D-960B-49FE-8CF9-49C6CEED0F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29274-EED2-494F-8235-1077992D22C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5D221-176E-4D83-B6DD-3A093663A5E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6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A74AD-CE4B-48F6-A6BD-E27308C5C66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852F5-6E93-43F3-B9B7-0A01A823F4A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071500-27E1-4031-9BEC-1847BD0B14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17516-FA64-4EE0-BBEF-E6E68DC0D57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3B73A1-A0DE-48E6-B217-78662009B1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3302F-574B-495E-BBAF-42821389479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1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DB281-2699-4FE6-9EBC-7B7C3E4C66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1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7C46C-BCDF-4A02-B554-EE9A6B55BC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3" tIns="45712" rIns="91423" bIns="45712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5088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08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3" tIns="45712" rIns="91423" bIns="45712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A2096EF-62DF-48D5-A20B-BCC7AC4CB16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1-5 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等价公式</a:t>
            </a: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(Equivalent)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1. </a:t>
            </a:r>
            <a:r>
              <a:rPr lang="zh-CN" altLang="en-US" dirty="0">
                <a:ea typeface="黑体" panose="02010609060101010101" pitchFamily="49" charset="-122"/>
              </a:rPr>
              <a:t>例子</a:t>
            </a:r>
            <a:r>
              <a:rPr lang="zh-CN" altLang="en-US" dirty="0"/>
              <a:t> 看下面三个公式的真值表</a:t>
            </a: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endParaRPr lang="zh-CN" altLang="en-US" dirty="0"/>
          </a:p>
          <a:p>
            <a:pPr eaLnBrk="1" hangingPunct="1">
              <a:buFontTx/>
              <a:buNone/>
            </a:pPr>
            <a:r>
              <a:rPr lang="zh-CN" altLang="en-US" dirty="0"/>
              <a:t>    从真值表可以看出，不论对</a:t>
            </a:r>
            <a:r>
              <a:rPr lang="en-US" altLang="zh-CN" dirty="0"/>
              <a:t>P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作何指派，都使得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</a:t>
            </a:r>
            <a:r>
              <a:rPr lang="zh-CN" altLang="en-US" dirty="0"/>
              <a:t>和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</a:t>
            </a:r>
            <a:r>
              <a:rPr lang="en-US" altLang="zh-CN" dirty="0"/>
              <a:t>P</a:t>
            </a:r>
            <a:r>
              <a:rPr lang="zh-CN" altLang="en-US" dirty="0"/>
              <a:t>的真值相同，表明它们之间彼此等价。</a:t>
            </a:r>
            <a:endParaRPr lang="zh-CN" altLang="en-US" dirty="0"/>
          </a:p>
        </p:txBody>
      </p:sp>
      <p:graphicFrame>
        <p:nvGraphicFramePr>
          <p:cNvPr id="86073" name="Group 57"/>
          <p:cNvGraphicFramePr>
            <a:graphicFrameLocks noGrp="1"/>
          </p:cNvGraphicFramePr>
          <p:nvPr/>
        </p:nvGraphicFramePr>
        <p:xfrm>
          <a:off x="1259632" y="1484784"/>
          <a:ext cx="6858000" cy="2819402"/>
        </p:xfrm>
        <a:graphic>
          <a:graphicData uri="http://schemas.openxmlformats.org/drawingml/2006/table">
            <a:tbl>
              <a:tblPr/>
              <a:tblGrid>
                <a:gridCol w="1066800"/>
                <a:gridCol w="990600"/>
                <a:gridCol w="1219200"/>
                <a:gridCol w="1524000"/>
                <a:gridCol w="2057400"/>
              </a:tblGrid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Gothic" panose="020B0609070205080204" pitchFamily="49" charset="-128"/>
                          <a:sym typeface="Kingsoft Phonetic Plain" pitchFamily="2" charset="2"/>
                        </a:rPr>
                        <a:t>∨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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</a:t>
                      </a:r>
                      <a:endParaRPr kumimoji="0" lang="en-US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animBg="1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2. </a:t>
            </a:r>
            <a:r>
              <a:rPr lang="zh-CN" altLang="zh-CN">
                <a:solidFill>
                  <a:srgbClr val="FF0000"/>
                </a:solidFill>
                <a:ea typeface="黑体" panose="02010609060101010101" pitchFamily="49" charset="-122"/>
              </a:rPr>
              <a:t>定义</a:t>
            </a:r>
            <a:r>
              <a:rPr lang="zh-CN" altLang="zh-CN"/>
              <a:t>：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zh-CN"/>
              <a:t>是含有命题变元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 baseline="-25000"/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endParaRPr lang="en-US" altLang="zh-CN" baseline="-25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/>
              <a:t>的命题公式，如不论对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 P</a:t>
            </a:r>
            <a:r>
              <a:rPr lang="en-US" altLang="zh-CN" baseline="-25000"/>
              <a:t>2 </a:t>
            </a:r>
            <a:r>
              <a:rPr lang="en-US" altLang="zh-CN"/>
              <a:t>, …,</a:t>
            </a:r>
            <a:r>
              <a:rPr lang="en-US" altLang="zh-CN" baseline="-25000"/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zh-CN" altLang="zh-CN"/>
              <a:t>作任何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/>
              <a:t>指派，都使得</a:t>
            </a:r>
            <a:r>
              <a:rPr lang="en-US" altLang="zh-CN"/>
              <a:t>A</a:t>
            </a:r>
            <a:r>
              <a:rPr lang="zh-CN" altLang="en-US"/>
              <a:t>和</a:t>
            </a:r>
            <a:r>
              <a:rPr lang="en-US" altLang="zh-CN"/>
              <a:t>B</a:t>
            </a:r>
            <a:r>
              <a:rPr lang="zh-CN" altLang="en-US"/>
              <a:t>的真值相同，则称之为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</a:rPr>
              <a:t>A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与</a:t>
            </a: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</a:rPr>
              <a:t>B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等价</a:t>
            </a:r>
            <a:r>
              <a:rPr lang="zh-CN" altLang="en-US"/>
              <a:t>，记作</a:t>
            </a: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</a:rPr>
              <a:t>B</a:t>
            </a:r>
            <a:r>
              <a:rPr lang="zh-CN" altLang="en-US"/>
              <a:t>。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显然     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</a:t>
            </a:r>
            <a:r>
              <a:rPr lang="en-US" altLang="zh-CN"/>
              <a:t>P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3. </a:t>
            </a:r>
            <a:r>
              <a:rPr lang="zh-CN" altLang="zh-CN">
                <a:ea typeface="黑体" panose="02010609060101010101" pitchFamily="49" charset="-122"/>
              </a:rPr>
              <a:t>重要的等价公式</a:t>
            </a:r>
            <a:endParaRPr lang="zh-CN" altLang="zh-CN"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/>
              <a:t> </a:t>
            </a:r>
            <a:r>
              <a:rPr lang="zh-CN" altLang="en-US"/>
              <a:t>⑴ 对合律   </a:t>
            </a:r>
            <a:r>
              <a:rPr lang="zh-CN" altLang="en-US">
                <a:sym typeface="Symbol" panose="05050102010706020507" pitchFamily="18" charset="2"/>
              </a:rPr>
              <a:t></a:t>
            </a:r>
            <a:r>
              <a:rPr lang="en-US" altLang="zh-CN"/>
              <a:t>P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⑵ </a:t>
            </a:r>
            <a:r>
              <a:rPr lang="zh-CN" altLang="en-US"/>
              <a:t>幂等律   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    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⑶ </a:t>
            </a:r>
            <a:r>
              <a:rPr lang="zh-CN" altLang="en-US"/>
              <a:t>结合律   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R)</a:t>
            </a:r>
            <a:r>
              <a:rPr lang="en-US" altLang="zh-CN">
                <a:sym typeface="Symbol" panose="05050102010706020507" pitchFamily="18" charset="2"/>
              </a:rPr>
              <a:t>(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R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    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R)</a:t>
            </a:r>
            <a:r>
              <a:rPr lang="en-US" altLang="zh-CN">
                <a:sym typeface="Symbol" panose="05050102010706020507" pitchFamily="18" charset="2"/>
              </a:rPr>
              <a:t>(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R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⑷</a:t>
            </a:r>
            <a:r>
              <a:rPr lang="zh-CN" altLang="en-US"/>
              <a:t>交换律    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P 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P</a:t>
            </a:r>
            <a:endParaRPr lang="en-US" altLang="zh-CN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80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 dirty="0"/>
              <a:t>⑸</a:t>
            </a:r>
            <a:r>
              <a:rPr lang="zh-CN" altLang="en-US" sz="2400" b="1" dirty="0"/>
              <a:t>分配律     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400" b="1" dirty="0"/>
              <a:t>Q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R)</a:t>
            </a:r>
            <a:r>
              <a:rPr lang="en-US" altLang="zh-CN" sz="2400" b="1" dirty="0">
                <a:sym typeface="Symbol" panose="05050102010706020507" pitchFamily="18" charset="2"/>
              </a:rPr>
              <a:t>(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R)  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                    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400" b="1" dirty="0"/>
              <a:t>Q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R)</a:t>
            </a:r>
            <a:r>
              <a:rPr lang="en-US" altLang="zh-CN" sz="2400" b="1" dirty="0">
                <a:sym typeface="Symbol" panose="05050102010706020507" pitchFamily="18" charset="2"/>
              </a:rPr>
              <a:t>(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R)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⑹ </a:t>
            </a:r>
            <a:r>
              <a:rPr lang="zh-CN" altLang="en-US" sz="2400" b="1" dirty="0"/>
              <a:t>吸收律    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P       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P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⑺</a:t>
            </a:r>
            <a:r>
              <a:rPr lang="zh-CN" altLang="en-US" sz="2400" b="1" dirty="0"/>
              <a:t>底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摩根定律     </a:t>
            </a:r>
            <a:r>
              <a:rPr lang="zh-CN" altLang="en-US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sym typeface="Symbol" panose="05050102010706020507" pitchFamily="18" charset="2"/>
              </a:rPr>
              <a:t>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sym typeface="Symbol" panose="05050102010706020507" pitchFamily="18" charset="2"/>
              </a:rPr>
              <a:t>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Q  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                            </a:t>
            </a:r>
            <a:r>
              <a:rPr lang="en-US" altLang="zh-CN" sz="2400" b="1" dirty="0">
                <a:sym typeface="Symbol" panose="05050102010706020507" pitchFamily="18" charset="2"/>
              </a:rPr>
              <a:t>(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sym typeface="Symbol" panose="05050102010706020507" pitchFamily="18" charset="2"/>
              </a:rPr>
              <a:t>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Q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⑻ </a:t>
            </a:r>
            <a:r>
              <a:rPr lang="zh-CN" altLang="en-US" sz="2400" b="1" dirty="0"/>
              <a:t>同一律    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F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P                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T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P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⑼ </a:t>
            </a:r>
            <a:r>
              <a:rPr lang="zh-CN" altLang="en-US" sz="2400" b="1" dirty="0"/>
              <a:t>零律        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T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T                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F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F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⑽ </a:t>
            </a:r>
            <a:r>
              <a:rPr lang="zh-CN" altLang="en-US" sz="2400" b="1" dirty="0"/>
              <a:t>互补律    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sym typeface="Symbol" panose="05050102010706020507" pitchFamily="18" charset="2"/>
              </a:rPr>
              <a:t>T</a:t>
            </a:r>
            <a:r>
              <a:rPr lang="en-US" altLang="zh-CN" sz="2400" b="1" dirty="0"/>
              <a:t>             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sym typeface="Symbol" panose="05050102010706020507" pitchFamily="18" charset="2"/>
              </a:rPr>
              <a:t></a:t>
            </a:r>
            <a:r>
              <a:rPr lang="en-US" altLang="zh-CN" sz="2400" b="1" dirty="0"/>
              <a:t>F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⑾  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Q </a:t>
            </a:r>
            <a:r>
              <a:rPr lang="en-US" altLang="zh-CN" sz="2400" b="1" dirty="0">
                <a:sym typeface="Symbol" panose="05050102010706020507" pitchFamily="18" charset="2"/>
              </a:rPr>
              <a:t>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Q       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⑿  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Q </a:t>
            </a:r>
            <a:r>
              <a:rPr lang="en-US" altLang="zh-CN" sz="2400" b="1" dirty="0">
                <a:sym typeface="Symbol" panose="05050102010706020507" pitchFamily="18" charset="2"/>
              </a:rPr>
              <a:t></a:t>
            </a:r>
            <a:r>
              <a:rPr lang="en-US" altLang="zh-CN" sz="2400" b="1" dirty="0"/>
              <a:t>Q</a:t>
            </a:r>
            <a:r>
              <a:rPr lang="en-US" altLang="zh-CN" sz="2400" b="1" dirty="0">
                <a:sym typeface="Symbol" panose="05050102010706020507" pitchFamily="18" charset="2"/>
              </a:rPr>
              <a:t></a:t>
            </a:r>
            <a:r>
              <a:rPr lang="en-US" altLang="zh-CN" sz="2400" b="1" dirty="0"/>
              <a:t>P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⒀  P</a:t>
            </a:r>
            <a:r>
              <a:rPr lang="en-US" altLang="zh-CN" sz="2400" b="1" dirty="0">
                <a:sym typeface="Symbol" panose="05050102010706020507" pitchFamily="18" charset="2"/>
              </a:rPr>
              <a:t>Q (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(Q</a:t>
            </a:r>
            <a:r>
              <a:rPr lang="en-US" altLang="zh-CN" sz="2400" b="1" dirty="0">
                <a:sym typeface="Symbol" panose="05050102010706020507" pitchFamily="18" charset="2"/>
              </a:rPr>
              <a:t></a:t>
            </a:r>
            <a:r>
              <a:rPr lang="en-US" altLang="zh-CN" sz="2400" b="1" dirty="0"/>
              <a:t>P)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⒁  P</a:t>
            </a:r>
            <a:r>
              <a:rPr lang="en-US" altLang="zh-CN" sz="2400" b="1" dirty="0">
                <a:sym typeface="Symbol" panose="05050102010706020507" pitchFamily="18" charset="2"/>
              </a:rPr>
              <a:t>Q (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(P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Q) </a:t>
            </a:r>
            <a:endParaRPr lang="en-US" altLang="zh-CN" sz="2400" b="1" dirty="0"/>
          </a:p>
          <a:p>
            <a:pPr eaLnBrk="1" hangingPunct="1">
              <a:buFontTx/>
              <a:buNone/>
            </a:pPr>
            <a:r>
              <a:rPr lang="en-US" altLang="zh-CN" sz="2400" b="1" dirty="0"/>
              <a:t>⒂  P</a:t>
            </a:r>
            <a:r>
              <a:rPr lang="en-US" altLang="zh-CN" sz="2400" b="1" dirty="0">
                <a:sym typeface="Symbol" panose="05050102010706020507" pitchFamily="18" charset="2"/>
              </a:rPr>
              <a:t>Q (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/>
              <a:t>Q)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P</a:t>
            </a:r>
            <a:r>
              <a:rPr lang="en-US" altLang="zh-CN" sz="24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/>
              <a:t>Q )</a:t>
            </a:r>
            <a:endParaRPr lang="en-US" altLang="zh-CN" sz="24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9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9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9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9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90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0"/>
            <a:ext cx="7772400" cy="6629400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/>
            <a:r>
              <a:rPr lang="zh-CN" altLang="en-US" sz="2400" b="1"/>
              <a:t>为便于记忆，将等价公式</a:t>
            </a:r>
            <a:r>
              <a:rPr lang="en-US" altLang="zh-CN" sz="2400" b="1"/>
              <a:t>(</a:t>
            </a:r>
            <a:r>
              <a:rPr lang="zh-CN" altLang="en-US" sz="2400" b="1"/>
              <a:t>前</a:t>
            </a:r>
            <a:r>
              <a:rPr lang="en-US" altLang="zh-CN" sz="2400" b="1"/>
              <a:t>10</a:t>
            </a:r>
            <a:r>
              <a:rPr lang="zh-CN" altLang="en-US" sz="2400" b="1"/>
              <a:t>个</a:t>
            </a:r>
            <a:r>
              <a:rPr lang="en-US" altLang="zh-CN" sz="2400" b="1"/>
              <a:t>)</a:t>
            </a:r>
            <a:r>
              <a:rPr lang="zh-CN" altLang="en-US" sz="2400" b="1"/>
              <a:t>与集合论的公式比较，请看集合公式：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⑴ 对合律   </a:t>
            </a:r>
            <a:r>
              <a:rPr lang="en-US" altLang="zh-CN" sz="2400" b="1"/>
              <a:t>~~A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       ~A</a:t>
            </a:r>
            <a:r>
              <a:rPr lang="zh-CN" altLang="en-US" sz="2400" b="1"/>
              <a:t>表示</a:t>
            </a:r>
            <a:r>
              <a:rPr lang="en-US" altLang="zh-CN" sz="2400" b="1"/>
              <a:t>A</a:t>
            </a:r>
            <a:r>
              <a:rPr lang="zh-CN" altLang="en-US" sz="2400" b="1"/>
              <a:t>的绝对补集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⑵ 幂等律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  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⑶ </a:t>
            </a:r>
            <a:r>
              <a:rPr lang="zh-CN" altLang="en-US" sz="2400" b="1"/>
              <a:t>结合律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∪(</a:t>
            </a:r>
            <a:r>
              <a:rPr lang="en-US" altLang="zh-CN" sz="2400" b="1"/>
              <a:t>B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C)</a:t>
            </a:r>
            <a:r>
              <a:rPr lang="en-US" altLang="zh-CN" sz="2400" b="1">
                <a:sym typeface="Symbol" panose="05050102010706020507" pitchFamily="18" charset="2"/>
              </a:rPr>
              <a:t>(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B)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C 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                  A 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 (</a:t>
            </a:r>
            <a:r>
              <a:rPr lang="en-US" altLang="zh-CN" sz="2400" b="1"/>
              <a:t>B 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 </a:t>
            </a:r>
            <a:r>
              <a:rPr lang="en-US" altLang="zh-CN" sz="2400" b="1"/>
              <a:t>C)</a:t>
            </a:r>
            <a:r>
              <a:rPr lang="en-US" altLang="zh-CN" sz="2400" b="1">
                <a:sym typeface="Symbol" panose="05050102010706020507" pitchFamily="18" charset="2"/>
              </a:rPr>
              <a:t>(</a:t>
            </a:r>
            <a:r>
              <a:rPr lang="en-US" altLang="zh-CN" sz="2400" b="1"/>
              <a:t>A 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 </a:t>
            </a:r>
            <a:r>
              <a:rPr lang="en-US" altLang="zh-CN" sz="2400" b="1"/>
              <a:t>B) 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 </a:t>
            </a:r>
            <a:r>
              <a:rPr lang="en-US" altLang="zh-CN" sz="2400" b="1"/>
              <a:t>C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⑷ </a:t>
            </a:r>
            <a:r>
              <a:rPr lang="zh-CN" altLang="en-US" sz="2400" b="1"/>
              <a:t>交换律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B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B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A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B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B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A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⑸ </a:t>
            </a:r>
            <a:r>
              <a:rPr lang="zh-CN" altLang="en-US" sz="2400" b="1"/>
              <a:t>分配律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∪(</a:t>
            </a:r>
            <a:r>
              <a:rPr lang="en-US" altLang="zh-CN" sz="2400" b="1"/>
              <a:t>B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C)</a:t>
            </a:r>
            <a:r>
              <a:rPr lang="en-US" altLang="zh-CN" sz="2400" b="1">
                <a:sym typeface="Symbol" panose="05050102010706020507" pitchFamily="18" charset="2"/>
              </a:rPr>
              <a:t>(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B)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C)   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              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∩(</a:t>
            </a:r>
            <a:r>
              <a:rPr lang="en-US" altLang="zh-CN" sz="2400" b="1"/>
              <a:t>B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C)</a:t>
            </a:r>
            <a:r>
              <a:rPr lang="en-US" altLang="zh-CN" sz="2400" b="1">
                <a:sym typeface="Symbol" panose="05050102010706020507" pitchFamily="18" charset="2"/>
              </a:rPr>
              <a:t>(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B)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C)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⑹ </a:t>
            </a:r>
            <a:r>
              <a:rPr lang="zh-CN" altLang="en-US" sz="2400" b="1"/>
              <a:t>吸收律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B)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B)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⑺ </a:t>
            </a:r>
            <a:r>
              <a:rPr lang="zh-CN" altLang="en-US" sz="2400" b="1"/>
              <a:t>底</a:t>
            </a:r>
            <a:r>
              <a:rPr lang="en-US" altLang="zh-CN" sz="2400" b="1"/>
              <a:t>-</a:t>
            </a:r>
            <a:r>
              <a:rPr lang="zh-CN" altLang="en-US" sz="2400" b="1"/>
              <a:t>摩根定律    </a:t>
            </a:r>
            <a:r>
              <a:rPr lang="en-US" altLang="zh-CN" sz="2400" b="1"/>
              <a:t>~</a:t>
            </a:r>
            <a:r>
              <a:rPr lang="en-US" altLang="zh-CN" sz="2400" b="1">
                <a:sym typeface="Symbol" panose="05050102010706020507" pitchFamily="18" charset="2"/>
              </a:rPr>
              <a:t>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B)</a:t>
            </a:r>
            <a:r>
              <a:rPr lang="en-US" altLang="zh-CN" sz="2400" b="1">
                <a:sym typeface="Symbol" panose="05050102010706020507" pitchFamily="18" charset="2"/>
              </a:rPr>
              <a:t>~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∩~</a:t>
            </a:r>
            <a:r>
              <a:rPr lang="en-US" altLang="zh-CN" sz="2400" b="1"/>
              <a:t>B   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                            ~</a:t>
            </a:r>
            <a:r>
              <a:rPr lang="en-US" altLang="zh-CN" sz="2400" b="1">
                <a:sym typeface="Symbol" panose="05050102010706020507" pitchFamily="18" charset="2"/>
              </a:rPr>
              <a:t>(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B)</a:t>
            </a:r>
            <a:r>
              <a:rPr lang="en-US" altLang="zh-CN" sz="2400" b="1">
                <a:sym typeface="Symbol" panose="05050102010706020507" pitchFamily="18" charset="2"/>
              </a:rPr>
              <a:t>~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∪~</a:t>
            </a:r>
            <a:r>
              <a:rPr lang="en-US" altLang="zh-CN" sz="2400" b="1"/>
              <a:t>B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⑻ </a:t>
            </a:r>
            <a:r>
              <a:rPr lang="zh-CN" altLang="en-US" sz="2400" b="1"/>
              <a:t>同一律 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Φ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    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E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A       E</a:t>
            </a:r>
            <a:r>
              <a:rPr lang="zh-CN" altLang="en-US" sz="2400" b="1"/>
              <a:t>表示全集</a:t>
            </a:r>
            <a:endParaRPr lang="zh-CN" altLang="en-US" sz="2400" b="1"/>
          </a:p>
          <a:p>
            <a:pPr eaLnBrk="1" hangingPunct="1">
              <a:buFontTx/>
              <a:buNone/>
            </a:pPr>
            <a:r>
              <a:rPr lang="zh-CN" altLang="en-US" sz="2400" b="1"/>
              <a:t>⑼ 零律     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</a:t>
            </a:r>
            <a:r>
              <a:rPr lang="en-US" altLang="zh-CN" sz="2400" b="1"/>
              <a:t>E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E     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</a:t>
            </a:r>
            <a:r>
              <a:rPr lang="en-US" altLang="zh-CN" sz="2400" b="1"/>
              <a:t>Φ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Φ</a:t>
            </a:r>
            <a:endParaRPr lang="en-US" altLang="zh-CN" sz="2400" b="1"/>
          </a:p>
          <a:p>
            <a:pPr eaLnBrk="1" hangingPunct="1">
              <a:buFontTx/>
              <a:buNone/>
            </a:pPr>
            <a:r>
              <a:rPr lang="en-US" altLang="zh-CN" sz="2400" b="1"/>
              <a:t>⑽ </a:t>
            </a:r>
            <a:r>
              <a:rPr lang="zh-CN" altLang="en-US" sz="2400" b="1"/>
              <a:t>否定律    </a:t>
            </a:r>
            <a:r>
              <a:rPr lang="en-US" altLang="zh-CN" sz="2400" b="1"/>
              <a:t>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∪~</a:t>
            </a:r>
            <a:r>
              <a:rPr lang="en-US" altLang="zh-CN" sz="2400" b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E</a:t>
            </a:r>
            <a:r>
              <a:rPr lang="en-US" altLang="zh-CN" sz="2400" b="1"/>
              <a:t>        A</a:t>
            </a:r>
            <a:r>
              <a:rPr lang="en-US" altLang="zh-CN" sz="2400" b="1">
                <a:ea typeface="MS Gothic" panose="020B0609070205080204" pitchFamily="49" charset="-128"/>
                <a:sym typeface="Kingsoft Phonetic Plain" pitchFamily="2" charset="2"/>
              </a:rPr>
              <a:t>∩~</a:t>
            </a:r>
            <a:r>
              <a:rPr lang="en-US" altLang="zh-CN" sz="2400" b="1"/>
              <a:t>A</a:t>
            </a:r>
            <a:r>
              <a:rPr lang="en-US" altLang="zh-CN" sz="2400" b="1">
                <a:sym typeface="Symbol" panose="05050102010706020507" pitchFamily="18" charset="2"/>
              </a:rPr>
              <a:t></a:t>
            </a:r>
            <a:r>
              <a:rPr lang="en-US" altLang="zh-CN" sz="2400" b="1"/>
              <a:t>Φ</a:t>
            </a:r>
            <a:endParaRPr lang="en-US" altLang="zh-CN" sz="2400" b="1"/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4. </a:t>
            </a:r>
            <a:r>
              <a:rPr lang="zh-CN" altLang="en-US">
                <a:ea typeface="黑体" panose="02010609060101010101" pitchFamily="49" charset="-122"/>
              </a:rPr>
              <a:t>等价公式的证明方法</a:t>
            </a:r>
            <a:endParaRPr lang="zh-CN" altLang="en-US"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/>
              <a:t>方法</a:t>
            </a:r>
            <a:r>
              <a:rPr lang="en-US" altLang="zh-CN"/>
              <a:t>1</a:t>
            </a:r>
            <a:r>
              <a:rPr lang="zh-CN" altLang="en-US"/>
              <a:t>：用列真值表。（不再举例）</a:t>
            </a:r>
            <a:endParaRPr lang="zh-CN" altLang="en-US"/>
          </a:p>
          <a:p>
            <a:pPr eaLnBrk="1" hangingPunct="1"/>
            <a:r>
              <a:rPr lang="zh-CN" altLang="en-US"/>
              <a:t>方法</a:t>
            </a:r>
            <a:r>
              <a:rPr lang="en-US" altLang="zh-CN"/>
              <a:t>2</a:t>
            </a:r>
            <a:r>
              <a:rPr lang="zh-CN" altLang="en-US"/>
              <a:t>：用公式的等价变换</a:t>
            </a:r>
            <a:r>
              <a:rPr lang="en-US" altLang="zh-CN"/>
              <a:t>.(</a:t>
            </a:r>
            <a:r>
              <a:rPr lang="zh-CN" altLang="en-US"/>
              <a:t>用置换定律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置换定律</a:t>
            </a:r>
            <a:r>
              <a:rPr lang="en-US" altLang="zh-CN">
                <a:ea typeface="黑体" panose="02010609060101010101" pitchFamily="49" charset="-122"/>
              </a:rPr>
              <a:t>:</a:t>
            </a:r>
            <a:r>
              <a:rPr lang="en-US" altLang="zh-CN">
                <a:latin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是一个命题公式，</a:t>
            </a:r>
            <a:r>
              <a:rPr lang="en-US" altLang="zh-CN">
                <a:latin typeface="宋体" panose="02010600030101010101" pitchFamily="2" charset="-122"/>
              </a:rPr>
              <a:t>X</a:t>
            </a:r>
            <a:r>
              <a:rPr lang="zh-CN" altLang="en-US">
                <a:latin typeface="宋体" panose="02010600030101010101" pitchFamily="2" charset="-122"/>
              </a:rPr>
              <a:t>是</a:t>
            </a:r>
            <a:r>
              <a:rPr lang="en-US" altLang="zh-CN">
                <a:latin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中的一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部分且也是合式公式，如果</a:t>
            </a:r>
            <a:r>
              <a:rPr lang="en-US" altLang="zh-CN">
                <a:latin typeface="宋体" panose="02010600030101010101" pitchFamily="2" charset="-122"/>
              </a:rPr>
              <a:t>X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>
                <a:latin typeface="宋体" panose="02010600030101010101" pitchFamily="2" charset="-122"/>
              </a:rPr>
              <a:t>Y</a:t>
            </a:r>
            <a:r>
              <a:rPr lang="zh-CN" altLang="en-US">
                <a:latin typeface="宋体" panose="02010600030101010101" pitchFamily="2" charset="-122"/>
              </a:rPr>
              <a:t>，用</a:t>
            </a:r>
            <a:r>
              <a:rPr lang="en-US" altLang="zh-CN">
                <a:latin typeface="宋体" panose="02010600030101010101" pitchFamily="2" charset="-122"/>
              </a:rPr>
              <a:t>Y</a:t>
            </a:r>
            <a:r>
              <a:rPr lang="zh-CN" altLang="en-US">
                <a:latin typeface="宋体" panose="02010600030101010101" pitchFamily="2" charset="-122"/>
              </a:rPr>
              <a:t>代替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A</a:t>
            </a:r>
            <a:r>
              <a:rPr lang="zh-CN" altLang="en-US">
                <a:latin typeface="宋体" panose="02010600030101010101" pitchFamily="2" charset="-122"/>
              </a:rPr>
              <a:t>中的</a:t>
            </a:r>
            <a:r>
              <a:rPr lang="en-US" altLang="zh-CN">
                <a:latin typeface="宋体" panose="02010600030101010101" pitchFamily="2" charset="-122"/>
              </a:rPr>
              <a:t>X</a:t>
            </a:r>
            <a:r>
              <a:rPr lang="zh-CN" altLang="en-US">
                <a:latin typeface="宋体" panose="02010600030101010101" pitchFamily="2" charset="-122"/>
              </a:rPr>
              <a:t>得到公式</a:t>
            </a:r>
            <a:r>
              <a:rPr lang="en-US" altLang="zh-CN">
                <a:latin typeface="宋体" panose="02010600030101010101" pitchFamily="2" charset="-122"/>
              </a:rPr>
              <a:t>B</a:t>
            </a:r>
            <a:r>
              <a:rPr lang="zh-CN" altLang="en-US">
                <a:latin typeface="宋体" panose="02010600030101010101" pitchFamily="2" charset="-122"/>
              </a:rPr>
              <a:t>，则</a:t>
            </a:r>
            <a:r>
              <a:rPr lang="en-US" altLang="zh-CN">
                <a:latin typeface="宋体" panose="02010600030101010101" pitchFamily="2" charset="-12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>
                <a:latin typeface="宋体" panose="02010600030101010101" pitchFamily="2" charset="-122"/>
              </a:rPr>
              <a:t>B</a:t>
            </a:r>
            <a:r>
              <a:rPr lang="zh-CN" altLang="en-US">
                <a:latin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/>
              <a:t>应用置换定律以及前面列出的等价公式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/>
              <a:t>可以对给定公式进行等价变换。</a:t>
            </a:r>
            <a:endParaRPr lang="zh-CN" altLang="en-US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6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6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/>
              <a:t>例题</a:t>
            </a:r>
            <a:r>
              <a:rPr lang="en-US" altLang="zh-CN"/>
              <a:t>1. </a:t>
            </a:r>
            <a:r>
              <a:rPr lang="zh-CN" altLang="en-US"/>
              <a:t>求证吸收律  </a:t>
            </a:r>
            <a:r>
              <a:rPr lang="en-US" altLang="zh-CN"/>
              <a:t>P∧(P∨Q)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zh-CN" altLang="en-US"/>
              <a:t>证明 ： </a:t>
            </a:r>
            <a:r>
              <a:rPr lang="en-US" altLang="zh-CN"/>
              <a:t>P∧(P∨Q)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(P∨F)∧(P∨Q)      (</a:t>
            </a:r>
            <a:r>
              <a:rPr lang="zh-CN" altLang="en-US"/>
              <a:t>同一律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P∨(F∧Q)               (</a:t>
            </a:r>
            <a:r>
              <a:rPr lang="zh-CN" altLang="en-US"/>
              <a:t>分配律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P∨F                        (</a:t>
            </a:r>
            <a:r>
              <a:rPr lang="zh-CN" altLang="en-US"/>
              <a:t>零律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/>
              <a:t>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                              (</a:t>
            </a:r>
            <a:r>
              <a:rPr lang="zh-CN" altLang="en-US"/>
              <a:t>同一律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872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/>
              <a:t>例题</a:t>
            </a:r>
            <a:r>
              <a:rPr lang="en-US" altLang="zh-CN" dirty="0"/>
              <a:t>2. </a:t>
            </a:r>
            <a:r>
              <a:rPr lang="zh-CN" altLang="en-US" dirty="0"/>
              <a:t>求证 </a:t>
            </a:r>
            <a:r>
              <a:rPr lang="en-US" altLang="zh-CN" dirty="0"/>
              <a:t>(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Q)→(P∧Q)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P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zh-CN" altLang="en-US" dirty="0"/>
              <a:t>证明 </a:t>
            </a:r>
            <a:r>
              <a:rPr lang="en-US" altLang="zh-CN" dirty="0"/>
              <a:t>(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Q)→(P∧Q)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ym typeface="Symbol" panose="05050102010706020507" pitchFamily="18" charset="2"/>
              </a:rPr>
              <a:t></a:t>
            </a:r>
            <a:r>
              <a:rPr lang="en-US" altLang="zh-CN" dirty="0"/>
              <a:t>(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Q)∨(P∧Q)    (</a:t>
            </a:r>
            <a:r>
              <a:rPr lang="zh-CN" altLang="en-US" dirty="0"/>
              <a:t>公式</a:t>
            </a:r>
            <a:r>
              <a:rPr lang="en-US" altLang="zh-CN" dirty="0"/>
              <a:t>E</a:t>
            </a:r>
            <a:r>
              <a:rPr lang="en-US" altLang="zh-CN" baseline="-25000" dirty="0"/>
              <a:t>16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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/>
              <a:t>P∧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Q)∨(P∧Q) (</a:t>
            </a:r>
            <a:r>
              <a:rPr lang="zh-CN" altLang="en-US" dirty="0"/>
              <a:t>摩根定律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 </a:t>
            </a:r>
            <a:r>
              <a:rPr lang="en-US" altLang="zh-CN" dirty="0"/>
              <a:t>(P∧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Q)∨(P∧Q)      (</a:t>
            </a:r>
            <a:r>
              <a:rPr lang="zh-CN" altLang="zh-CN" dirty="0"/>
              <a:t>对合律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P∧(</a:t>
            </a:r>
            <a:r>
              <a:rPr lang="en-US" altLang="zh-CN" dirty="0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/>
              <a:t>Q∨Q)               (</a:t>
            </a:r>
            <a:r>
              <a:rPr lang="zh-CN" altLang="en-US" dirty="0"/>
              <a:t>分配律</a:t>
            </a:r>
            <a:r>
              <a:rPr lang="en-US" altLang="zh-CN" dirty="0"/>
              <a:t>) 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P∧T                           (</a:t>
            </a:r>
            <a:r>
              <a:rPr lang="zh-CN" altLang="en-US" dirty="0"/>
              <a:t>互补律</a:t>
            </a:r>
            <a:r>
              <a:rPr lang="en-US" altLang="zh-CN" dirty="0"/>
              <a:t>) 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en-US" altLang="zh-CN" dirty="0"/>
              <a:t>       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P                                 (</a:t>
            </a:r>
            <a:r>
              <a:rPr lang="zh-CN" altLang="en-US" dirty="0"/>
              <a:t>同一律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buFontTx/>
              <a:buNone/>
            </a:pPr>
            <a:r>
              <a:rPr lang="zh-CN" altLang="en-US" dirty="0"/>
              <a:t>公式</a:t>
            </a:r>
            <a:r>
              <a:rPr lang="en-US" altLang="zh-CN" dirty="0"/>
              <a:t>E</a:t>
            </a:r>
            <a:r>
              <a:rPr lang="en-US" altLang="zh-CN" baseline="-25000" dirty="0"/>
              <a:t>16 </a:t>
            </a:r>
            <a:r>
              <a:rPr lang="zh-CN" altLang="en-US" dirty="0"/>
              <a:t>： 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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 </a:t>
            </a:r>
            <a:endParaRPr lang="en-US" altLang="zh-CN" dirty="0"/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8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等价变化过程中方法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去条件</a:t>
            </a:r>
            <a:r>
              <a:rPr lang="zh-CN" altLang="en-US" dirty="0"/>
              <a:t>（利用公式</a:t>
            </a:r>
            <a:r>
              <a:rPr lang="en-US" altLang="zh-CN" dirty="0"/>
              <a:t>E11</a:t>
            </a:r>
            <a:r>
              <a:rPr lang="zh-CN" altLang="en-US" dirty="0"/>
              <a:t>～</a:t>
            </a:r>
            <a:r>
              <a:rPr lang="en-US" altLang="zh-CN" dirty="0"/>
              <a:t>E15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否定深入</a:t>
            </a:r>
            <a:r>
              <a:rPr lang="zh-CN" altLang="en-US" dirty="0"/>
              <a:t>（德摩根定律）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整理</a:t>
            </a:r>
            <a:r>
              <a:rPr lang="zh-CN" altLang="en-US" dirty="0"/>
              <a:t>（分配律、结合律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277" y="2089368"/>
            <a:ext cx="2931644" cy="1452174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5796136" y="1628800"/>
            <a:ext cx="1412253" cy="4605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621" y="4457379"/>
            <a:ext cx="3713281" cy="648072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4812201" y="2257754"/>
            <a:ext cx="1271967" cy="21996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/>
              <a:t>例题</a:t>
            </a:r>
            <a:r>
              <a:rPr lang="en-US" altLang="zh-CN"/>
              <a:t>3.</a:t>
            </a:r>
            <a:r>
              <a:rPr lang="zh-CN" altLang="en-US"/>
              <a:t>化简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(P∧Q)→(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P∨(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P∨Q))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zh-CN" altLang="en-US"/>
              <a:t>解  原公式</a:t>
            </a:r>
            <a:endParaRPr lang="zh-CN" altLang="en-US"/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</a:t>
            </a:r>
            <a:r>
              <a:rPr lang="zh-CN" altLang="en-US">
                <a:latin typeface="宋体" panose="02010600030101010101" pitchFamily="2" charset="-122"/>
                <a:sym typeface="Symbol" panose="05050102010706020507" pitchFamily="18" charset="2"/>
              </a:rPr>
              <a:t></a:t>
            </a:r>
            <a:r>
              <a:rPr lang="en-US" altLang="zh-CN"/>
              <a:t>(P∧Q)∨((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P∨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P)∨Q)  (E</a:t>
            </a:r>
            <a:r>
              <a:rPr lang="en-US" altLang="zh-CN" baseline="-25000"/>
              <a:t>16</a:t>
            </a:r>
            <a:r>
              <a:rPr lang="en-US" altLang="zh-CN"/>
              <a:t>,</a:t>
            </a:r>
            <a:r>
              <a:rPr lang="zh-CN" altLang="en-US"/>
              <a:t>结合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(P∧Q)∨(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P∨Q)      (</a:t>
            </a:r>
            <a:r>
              <a:rPr lang="zh-CN" altLang="en-US"/>
              <a:t>对合律，幂等律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(P∧Q)∨(Q∨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P)      (</a:t>
            </a:r>
            <a:r>
              <a:rPr lang="zh-CN" altLang="en-US"/>
              <a:t>交换律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((P∧Q)∨Q)∨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      (</a:t>
            </a:r>
            <a:r>
              <a:rPr lang="zh-CN" altLang="en-US"/>
              <a:t>结合律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Q∨</a:t>
            </a:r>
            <a:r>
              <a:rPr lang="en-US" altLang="zh-CN">
                <a:latin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/>
              <a:t>P                       (</a:t>
            </a:r>
            <a:r>
              <a:rPr lang="zh-CN" altLang="en-US"/>
              <a:t>吸收律</a:t>
            </a:r>
            <a:r>
              <a:rPr lang="en-US" altLang="zh-CN"/>
              <a:t>)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>
              <a:buFontTx/>
              <a:buNone/>
            </a:pPr>
            <a:r>
              <a:rPr lang="zh-CN" altLang="en-US"/>
              <a:t>公式</a:t>
            </a:r>
            <a:r>
              <a:rPr lang="en-US" altLang="zh-CN"/>
              <a:t>E</a:t>
            </a:r>
            <a:r>
              <a:rPr lang="en-US" altLang="zh-CN" baseline="-25000"/>
              <a:t>16 </a:t>
            </a:r>
            <a:r>
              <a:rPr lang="zh-CN" altLang="en-US"/>
              <a:t>： </a:t>
            </a:r>
            <a:r>
              <a:rPr lang="en-US" altLang="zh-CN"/>
              <a:t>P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/>
              <a:t>Q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 </a:t>
            </a:r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9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9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/>
              <a:t>5. </a:t>
            </a:r>
            <a:r>
              <a:rPr lang="zh-CN" altLang="zh-CN" dirty="0">
                <a:ea typeface="黑体" panose="02010609060101010101" pitchFamily="49" charset="-122"/>
              </a:rPr>
              <a:t>性质</a:t>
            </a:r>
            <a:endParaRPr lang="zh-CN" altLang="zh-CN" dirty="0"/>
          </a:p>
          <a:p>
            <a:pPr eaLnBrk="1" hangingPunct="1">
              <a:buFontTx/>
              <a:buNone/>
            </a:pPr>
            <a:r>
              <a:rPr lang="zh-CN" altLang="zh-CN" dirty="0"/>
              <a:t>  </a:t>
            </a:r>
            <a:r>
              <a:rPr lang="en-US" altLang="zh-CN" sz="2800" dirty="0"/>
              <a:t>1).</a:t>
            </a:r>
            <a:r>
              <a:rPr lang="zh-CN" altLang="en-US" sz="2800" dirty="0"/>
              <a:t>有自反性：任何命题公式</a:t>
            </a:r>
            <a:r>
              <a:rPr lang="en-US" altLang="zh-CN" sz="2800" dirty="0"/>
              <a:t>A</a:t>
            </a:r>
            <a:r>
              <a:rPr lang="zh-CN" altLang="en-US" sz="2800" dirty="0"/>
              <a:t>，有</a:t>
            </a:r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A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  </a:t>
            </a:r>
            <a:r>
              <a:rPr lang="en-US" altLang="zh-CN" sz="2800" dirty="0"/>
              <a:t>2).</a:t>
            </a:r>
            <a:r>
              <a:rPr lang="zh-CN" altLang="zh-CN" sz="2800" dirty="0"/>
              <a:t>有对称性：若</a:t>
            </a:r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B</a:t>
            </a:r>
            <a:r>
              <a:rPr lang="zh-CN" altLang="en-US" sz="2800" dirty="0"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ym typeface="Symbol" panose="05050102010706020507" pitchFamily="18" charset="2"/>
              </a:rPr>
              <a:t>BA</a:t>
            </a:r>
            <a:endParaRPr lang="en-US" altLang="zh-CN" sz="2800" dirty="0"/>
          </a:p>
          <a:p>
            <a:pPr eaLnBrk="1" hangingPunct="1">
              <a:buFontTx/>
              <a:buNone/>
            </a:pPr>
            <a:r>
              <a:rPr lang="en-US" altLang="zh-CN" sz="2800" dirty="0"/>
              <a:t>  3).</a:t>
            </a:r>
            <a:r>
              <a:rPr lang="zh-CN" altLang="zh-CN" sz="2800" dirty="0"/>
              <a:t>有传递性：若</a:t>
            </a:r>
            <a:r>
              <a:rPr lang="en-US" altLang="zh-CN" sz="2800" dirty="0"/>
              <a:t>A</a:t>
            </a:r>
            <a:r>
              <a:rPr lang="en-US" altLang="zh-CN" sz="2800" dirty="0">
                <a:sym typeface="Symbol" panose="05050102010706020507" pitchFamily="18" charset="2"/>
              </a:rPr>
              <a:t>B</a:t>
            </a:r>
            <a:r>
              <a:rPr lang="zh-CN" altLang="en-US" sz="2800" dirty="0">
                <a:sym typeface="Symbol" panose="05050102010706020507" pitchFamily="18" charset="2"/>
              </a:rPr>
              <a:t>且</a:t>
            </a:r>
            <a:r>
              <a:rPr lang="en-US" altLang="zh-CN" sz="2800" dirty="0">
                <a:sym typeface="Symbol" panose="05050102010706020507" pitchFamily="18" charset="2"/>
              </a:rPr>
              <a:t>BC</a:t>
            </a:r>
            <a:r>
              <a:rPr lang="zh-CN" altLang="en-US" sz="2800" dirty="0"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ym typeface="Symbol" panose="05050102010706020507" pitchFamily="18" charset="2"/>
              </a:rPr>
              <a:t>AC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/>
              <a:t>  4).</a:t>
            </a:r>
            <a:r>
              <a:rPr lang="zh-CN" altLang="zh-CN" sz="2800" dirty="0"/>
              <a:t>如果</a:t>
            </a:r>
            <a:r>
              <a:rPr lang="en-US" altLang="zh-CN" sz="2800" dirty="0"/>
              <a:t>A(P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n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B(P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n</a:t>
            </a:r>
            <a:r>
              <a:rPr lang="en-US" altLang="zh-CN" sz="2800" dirty="0"/>
              <a:t>)</a:t>
            </a:r>
            <a:r>
              <a:rPr lang="zh-CN" altLang="en-US" sz="2800" dirty="0"/>
              <a:t>，则</a:t>
            </a:r>
            <a:endParaRPr lang="zh-CN" altLang="en-US" sz="2800" dirty="0"/>
          </a:p>
          <a:p>
            <a:pPr eaLnBrk="1" hangingPunct="1">
              <a:buFontTx/>
              <a:buNone/>
            </a:pPr>
            <a:r>
              <a:rPr lang="zh-CN" altLang="en-US" sz="2800" dirty="0"/>
              <a:t>    </a:t>
            </a:r>
            <a:r>
              <a:rPr lang="en-US" altLang="zh-CN" sz="2800" dirty="0"/>
              <a:t>A(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n</a:t>
            </a:r>
            <a:r>
              <a:rPr lang="en-US" altLang="zh-CN" sz="2800" dirty="0"/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B(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,…,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 err="1"/>
              <a:t>P</a:t>
            </a:r>
            <a:r>
              <a:rPr lang="en-US" altLang="zh-CN" sz="2800" baseline="-25000" dirty="0" err="1"/>
              <a:t>n</a:t>
            </a:r>
            <a:r>
              <a:rPr lang="en-US" altLang="zh-CN" sz="2800" dirty="0"/>
              <a:t>) </a:t>
            </a:r>
            <a:endParaRPr lang="en-US" altLang="zh-CN" sz="2800" dirty="0"/>
          </a:p>
          <a:p>
            <a:pPr eaLnBrk="1" hangingPunct="1">
              <a:buFontTx/>
              <a:buNone/>
            </a:pPr>
            <a:r>
              <a:rPr lang="en-US" altLang="zh-CN" sz="2800" dirty="0"/>
              <a:t>  </a:t>
            </a:r>
            <a:r>
              <a:rPr lang="zh-CN" altLang="zh-CN" sz="2800" dirty="0"/>
              <a:t>例  </a:t>
            </a:r>
            <a:r>
              <a:rPr lang="en-US" altLang="zh-CN" sz="2800" dirty="0"/>
              <a:t>A(P,Q)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P→Q     B(P,Q)</a:t>
            </a:r>
            <a:r>
              <a:rPr lang="en-US" altLang="zh-CN" sz="2800" dirty="0">
                <a:sym typeface="Symbol" panose="05050102010706020507" pitchFamily="18" charset="2"/>
              </a:rPr>
              <a:t></a:t>
            </a:r>
            <a:r>
              <a:rPr lang="en-US" altLang="zh-CN" sz="2800" dirty="0"/>
              <a:t>P∨Q</a:t>
            </a:r>
            <a:endParaRPr lang="en-US" altLang="zh-CN" sz="2800" dirty="0"/>
          </a:p>
          <a:p>
            <a:pPr eaLnBrk="1" hangingPunct="1">
              <a:buFontTx/>
              <a:buNone/>
            </a:pPr>
            <a:r>
              <a:rPr lang="en-US" altLang="zh-CN" sz="2800" dirty="0"/>
              <a:t>  </a:t>
            </a:r>
            <a:r>
              <a:rPr lang="zh-CN" altLang="en-US" sz="2800" dirty="0"/>
              <a:t>有  </a:t>
            </a:r>
            <a:r>
              <a:rPr lang="en-US" altLang="zh-CN" sz="2800" dirty="0"/>
              <a:t>A(P,Q)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B(P,Q) </a:t>
            </a:r>
            <a:endParaRPr lang="en-US" altLang="zh-CN" sz="2800" dirty="0"/>
          </a:p>
          <a:p>
            <a:pPr eaLnBrk="1" hangingPunct="1">
              <a:buFontTx/>
              <a:buNone/>
            </a:pPr>
            <a:r>
              <a:rPr lang="en-US" altLang="zh-CN" sz="2800" dirty="0"/>
              <a:t>        A(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Q)</a:t>
            </a:r>
            <a:r>
              <a:rPr lang="en-US" altLang="zh-CN" sz="2800" dirty="0">
                <a:sym typeface="Symbol" panose="05050102010706020507" pitchFamily="18" charset="2"/>
              </a:rPr>
              <a:t></a:t>
            </a:r>
            <a:r>
              <a:rPr lang="en-US" altLang="zh-CN" sz="2800" dirty="0"/>
              <a:t>P→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 sz="2800" dirty="0"/>
              <a:t>        B(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P, 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P∨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</a:t>
            </a:r>
            <a:endParaRPr lang="en-US" altLang="zh-CN" sz="2800" dirty="0"/>
          </a:p>
          <a:p>
            <a:pPr eaLnBrk="1" hangingPunct="1">
              <a:buFontTx/>
              <a:buNone/>
            </a:pPr>
            <a:r>
              <a:rPr lang="en-US" altLang="zh-CN" sz="2800" dirty="0"/>
              <a:t>  </a:t>
            </a:r>
            <a:r>
              <a:rPr lang="zh-CN" altLang="en-US" sz="2800" dirty="0"/>
              <a:t>可见</a:t>
            </a:r>
            <a:r>
              <a:rPr lang="en-US" altLang="zh-CN" sz="2800" dirty="0"/>
              <a:t>A(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P,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Q)</a:t>
            </a:r>
            <a:r>
              <a:rPr lang="en-US" altLang="zh-CN" sz="2800" dirty="0">
                <a:sym typeface="Symbol" panose="05050102010706020507" pitchFamily="18" charset="2"/>
              </a:rPr>
              <a:t></a:t>
            </a:r>
            <a:r>
              <a:rPr lang="en-US" altLang="zh-CN" sz="2800" dirty="0"/>
              <a:t>B(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P, </a:t>
            </a:r>
            <a:r>
              <a:rPr lang="en-US" altLang="zh-CN" sz="2800" dirty="0">
                <a:sym typeface="Symbol" panose="05050102010706020507" pitchFamily="18" charset="2"/>
              </a:rPr>
              <a:t></a:t>
            </a:r>
            <a:r>
              <a:rPr lang="en-US" altLang="zh-CN" sz="2800" dirty="0"/>
              <a:t>Q)</a:t>
            </a:r>
            <a:endParaRPr lang="en-US" altLang="zh-CN" sz="28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0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animBg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6.</a:t>
            </a:r>
            <a:r>
              <a:rPr lang="zh-CN" altLang="en-US" dirty="0">
                <a:ea typeface="黑体" panose="02010609060101010101" pitchFamily="49" charset="-122"/>
              </a:rPr>
              <a:t>等价公式的对偶性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 从前面列出的等价公式看出，有很多是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成对出现的。这就是等价公式的对偶性。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⑴</a:t>
            </a:r>
            <a:r>
              <a:rPr lang="zh-CN" altLang="en-US" dirty="0">
                <a:ea typeface="黑体" panose="02010609060101010101" pitchFamily="49" charset="-122"/>
              </a:rPr>
              <a:t>对偶式</a:t>
            </a:r>
            <a:r>
              <a:rPr lang="zh-CN" altLang="en-US" dirty="0"/>
              <a:t>：在一个只含有联结词 </a:t>
            </a:r>
            <a:r>
              <a:rPr lang="zh-CN" altLang="en-US" dirty="0">
                <a:sym typeface="Symbol" panose="05050102010706020507" pitchFamily="18" charset="2"/>
              </a:rPr>
              <a:t></a:t>
            </a:r>
            <a:r>
              <a:rPr lang="zh-CN" altLang="en-US" dirty="0"/>
              <a:t> 、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 dirty="0"/>
              <a:t>、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 dirty="0"/>
              <a:t>的公式</a:t>
            </a:r>
            <a:r>
              <a:rPr lang="en-US" altLang="zh-CN" dirty="0"/>
              <a:t>A</a:t>
            </a:r>
            <a:r>
              <a:rPr lang="zh-CN" altLang="en-US" dirty="0"/>
              <a:t>中，将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 dirty="0"/>
              <a:t>换成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∧，∧</a:t>
            </a:r>
            <a:r>
              <a:rPr lang="zh-CN" altLang="en-US" dirty="0"/>
              <a:t>换成</a:t>
            </a:r>
            <a:r>
              <a:rPr lang="zh-CN" altLang="en-US" dirty="0">
                <a:ea typeface="MS Gothic" panose="020B0609070205080204" pitchFamily="49" charset="-128"/>
                <a:sym typeface="Kingsoft Phonetic Plain" pitchFamily="2" charset="2"/>
              </a:rPr>
              <a:t>∨，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T</a:t>
            </a:r>
            <a:r>
              <a:rPr lang="zh-CN" altLang="en-US" dirty="0"/>
              <a:t>换成</a:t>
            </a:r>
            <a:r>
              <a:rPr lang="en-US" altLang="zh-CN" dirty="0"/>
              <a:t>F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  <a:r>
              <a:rPr lang="zh-CN" altLang="en-US" dirty="0"/>
              <a:t>换成</a:t>
            </a:r>
            <a:r>
              <a:rPr lang="en-US" altLang="zh-CN" dirty="0"/>
              <a:t>T</a:t>
            </a:r>
            <a:r>
              <a:rPr lang="zh-CN" altLang="en-US" dirty="0"/>
              <a:t>，其余部分不变，得到另一个公式</a:t>
            </a:r>
            <a:r>
              <a:rPr lang="en-US" altLang="zh-CN" dirty="0"/>
              <a:t>A*</a:t>
            </a:r>
            <a:r>
              <a:rPr lang="zh-CN" altLang="en-US" dirty="0"/>
              <a:t>，称</a:t>
            </a:r>
            <a:r>
              <a:rPr lang="en-US" altLang="zh-CN" dirty="0"/>
              <a:t>A</a:t>
            </a:r>
            <a:r>
              <a:rPr lang="zh-CN" altLang="en-US" dirty="0"/>
              <a:t>与</a:t>
            </a:r>
            <a:r>
              <a:rPr lang="en-US" altLang="zh-CN" dirty="0"/>
              <a:t>A*</a:t>
            </a:r>
            <a:r>
              <a:rPr lang="zh-CN" altLang="en-US" dirty="0"/>
              <a:t>互为对偶式。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dirty="0"/>
              <a:t>    例如：   </a:t>
            </a:r>
            <a:r>
              <a:rPr lang="en-US" altLang="zh-CN" dirty="0"/>
              <a:t>A                        A*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                 P                         </a:t>
            </a:r>
            <a:r>
              <a:rPr lang="en-US" altLang="zh-CN" dirty="0" err="1"/>
              <a:t>P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Q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∧R               </a:t>
            </a:r>
            <a:r>
              <a:rPr lang="en-US" altLang="zh-CN" dirty="0">
                <a:sym typeface="Symbol" panose="05050102010706020507" pitchFamily="18" charset="2"/>
              </a:rPr>
              <a:t>Q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∨R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      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∨T</a:t>
            </a:r>
            <a:r>
              <a:rPr lang="en-US" altLang="zh-CN" dirty="0"/>
              <a:t>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>
                <a:sym typeface="Symbol" panose="05050102010706020507" pitchFamily="18" charset="2"/>
              </a:rPr>
              <a:t>Q        </a:t>
            </a:r>
            <a:r>
              <a:rPr lang="en-US" altLang="zh-CN" dirty="0"/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∧F</a:t>
            </a:r>
            <a:r>
              <a:rPr lang="en-US" altLang="zh-CN" dirty="0"/>
              <a:t>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>
                <a:sym typeface="Symbol" panose="05050102010706020507" pitchFamily="18" charset="2"/>
              </a:rPr>
              <a:t>Q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autoUpdateAnimBg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⑵</a:t>
            </a:r>
            <a:r>
              <a:rPr lang="zh-CN" altLang="en-US"/>
              <a:t>用对偶式求公式的否定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</a:t>
            </a:r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1-5.1</a:t>
            </a:r>
            <a:r>
              <a:rPr lang="en-US" altLang="zh-CN"/>
              <a:t> </a:t>
            </a:r>
            <a:r>
              <a:rPr lang="zh-CN" altLang="en-US"/>
              <a:t>令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zh-CN" altLang="en-US"/>
              <a:t>是一个只含有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联结词 </a:t>
            </a:r>
            <a:r>
              <a:rPr lang="zh-CN" altLang="en-US">
                <a:sym typeface="Symbol" panose="05050102010706020507" pitchFamily="18" charset="2"/>
              </a:rPr>
              <a:t></a:t>
            </a:r>
            <a:r>
              <a:rPr lang="zh-CN" altLang="en-US"/>
              <a:t> 、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/>
              <a:t>、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/>
              <a:t>的命题公式，则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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A*(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</a:t>
            </a:r>
            <a:r>
              <a:rPr lang="zh-CN" altLang="en-US"/>
              <a:t>此定理可以反复地使用底</a:t>
            </a:r>
            <a:r>
              <a:rPr lang="en-US" altLang="zh-CN"/>
              <a:t>-</a:t>
            </a:r>
            <a:r>
              <a:rPr lang="zh-CN" altLang="en-US"/>
              <a:t>摩根定律得以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证明。</a:t>
            </a:r>
            <a:r>
              <a:rPr lang="zh-CN" altLang="en-US">
                <a:solidFill>
                  <a:srgbClr val="FF0000"/>
                </a:solidFill>
              </a:rPr>
              <a:t> </a:t>
            </a:r>
            <a:r>
              <a:rPr lang="zh-CN" altLang="en-US"/>
              <a:t>下面我们</a:t>
            </a:r>
            <a:r>
              <a:rPr lang="zh-CN" altLang="en-US">
                <a:solidFill>
                  <a:srgbClr val="FF0000"/>
                </a:solidFill>
              </a:rPr>
              <a:t>验证</a:t>
            </a:r>
            <a:r>
              <a:rPr lang="zh-CN" altLang="en-US"/>
              <a:t>一下。   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令 </a:t>
            </a:r>
            <a:r>
              <a:rPr lang="en-US" altLang="zh-CN"/>
              <a:t>A(P,Q)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      A*(P,Q)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Q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A(P,Q)</a:t>
            </a:r>
            <a:r>
              <a:rPr lang="en-US" altLang="zh-CN">
                <a:sym typeface="Symbol" panose="05050102010706020507" pitchFamily="18" charset="2"/>
              </a:rPr>
              <a:t>(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A*(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P, 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Q)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Q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 </a:t>
            </a:r>
            <a:r>
              <a:rPr lang="zh-CN" altLang="en-US">
                <a:sym typeface="Symbol" panose="05050102010706020507" pitchFamily="18" charset="2"/>
              </a:rPr>
              <a:t>可见       </a:t>
            </a:r>
            <a:r>
              <a:rPr lang="en-US" altLang="zh-CN"/>
              <a:t>A(P,Q)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A*(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Q)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推论</a:t>
            </a:r>
            <a:r>
              <a:rPr lang="en-US" altLang="zh-CN">
                <a:sym typeface="Symbol" panose="05050102010706020507" pitchFamily="18" charset="2"/>
              </a:rPr>
              <a:t>:</a:t>
            </a:r>
            <a:r>
              <a:rPr lang="en-US" altLang="zh-CN"/>
              <a:t>A(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A*(P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21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autoUpdateAnimBg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zh-CN">
                <a:sym typeface="Symbol" panose="05050102010706020507" pitchFamily="18" charset="2"/>
              </a:rPr>
              <a:t>例如，利用上述求公式的否定公式求</a:t>
            </a:r>
            <a:endParaRPr lang="zh-CN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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>
                <a:sym typeface="Symbol" panose="05050102010706020507" pitchFamily="18" charset="2"/>
              </a:rPr>
              <a:t>((P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>
                <a:sym typeface="Symbol" panose="05050102010706020507" pitchFamily="18" charset="2"/>
              </a:rPr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Q))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R</a:t>
            </a:r>
            <a:r>
              <a:rPr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en-US" altLang="zh-CN">
                <a:sym typeface="Symbol" panose="05050102010706020507" pitchFamily="18" charset="2"/>
              </a:rPr>
              <a:t> ((P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Q)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>
                <a:sym typeface="Symbol" panose="05050102010706020507" pitchFamily="18" charset="2"/>
              </a:rPr>
              <a:t>P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>
                <a:sym typeface="Symbol" panose="05050102010706020507" pitchFamily="18" charset="2"/>
              </a:rPr>
              <a:t>Q))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>
                <a:sym typeface="Symbol" panose="05050102010706020507" pitchFamily="18" charset="2"/>
              </a:rPr>
              <a:t>R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6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00FF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ea typeface="黑体" panose="02010609060101010101" pitchFamily="49" charset="-122"/>
              </a:rPr>
              <a:t>⑶</a:t>
            </a:r>
            <a:r>
              <a:rPr lang="zh-CN" altLang="en-US">
                <a:ea typeface="黑体" panose="02010609060101010101" pitchFamily="49" charset="-122"/>
              </a:rPr>
              <a:t>对偶原理</a:t>
            </a:r>
            <a:r>
              <a:rPr lang="en-US" altLang="zh-CN"/>
              <a:t>(</a:t>
            </a:r>
            <a:r>
              <a:rPr lang="zh-CN" altLang="en-US">
                <a:solidFill>
                  <a:srgbClr val="FF0000"/>
                </a:solidFill>
              </a:rPr>
              <a:t>定理</a:t>
            </a:r>
            <a:r>
              <a:rPr lang="en-US" altLang="zh-CN">
                <a:solidFill>
                  <a:srgbClr val="FF0000"/>
                </a:solidFill>
              </a:rPr>
              <a:t>1-5.2</a:t>
            </a:r>
            <a:r>
              <a:rPr lang="en-US" altLang="zh-CN"/>
              <a:t>)</a:t>
            </a:r>
            <a:r>
              <a:rPr lang="zh-CN" altLang="en-US"/>
              <a:t>：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令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r>
              <a:rPr lang="zh-CN" altLang="en-US"/>
              <a:t>、</a:t>
            </a:r>
            <a:r>
              <a:rPr lang="en-US" altLang="zh-CN"/>
              <a:t>B(P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zh-CN" altLang="en-US"/>
              <a:t>是只含有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联结词</a:t>
            </a:r>
            <a:r>
              <a:rPr lang="zh-CN" altLang="en-US">
                <a:sym typeface="Symbol" panose="05050102010706020507" pitchFamily="18" charset="2"/>
              </a:rPr>
              <a:t></a:t>
            </a:r>
            <a:r>
              <a:rPr lang="zh-CN" altLang="en-US"/>
              <a:t>、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zh-CN" altLang="en-US"/>
              <a:t>、</a:t>
            </a:r>
            <a:r>
              <a:rPr lang="zh-CN" altLang="en-US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zh-CN" altLang="en-US"/>
              <a:t>的命题公式，则如果</a:t>
            </a:r>
            <a:endParaRPr lang="zh-CN" altLang="en-US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zh-CN" altLang="en-US"/>
              <a:t>      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B(P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   </a:t>
            </a:r>
            <a:r>
              <a:rPr lang="zh-CN" altLang="en-US"/>
              <a:t>则</a:t>
            </a:r>
            <a:endParaRPr lang="zh-CN" altLang="en-US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      </a:t>
            </a:r>
            <a:r>
              <a:rPr lang="en-US" altLang="zh-CN"/>
              <a:t>A*(P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B*(P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>
                <a:solidFill>
                  <a:srgbClr val="FF0000"/>
                </a:solidFill>
              </a:rPr>
              <a:t>证明</a:t>
            </a:r>
            <a:r>
              <a:rPr lang="zh-CN" altLang="zh-CN"/>
              <a:t>：因为 </a:t>
            </a:r>
            <a:r>
              <a:rPr lang="en-US" altLang="zh-CN"/>
              <a:t>A(P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B(P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故 </a:t>
            </a:r>
            <a:r>
              <a:rPr lang="en-US" altLang="zh-CN"/>
              <a:t>A(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B(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而 </a:t>
            </a:r>
            <a:r>
              <a:rPr lang="en-US" altLang="zh-CN"/>
              <a:t>A(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</a:t>
            </a:r>
            <a:r>
              <a:rPr lang="en-US" altLang="zh-CN"/>
              <a:t>A*(P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B(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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B</a:t>
            </a:r>
            <a:r>
              <a:rPr lang="en-US" altLang="zh-CN"/>
              <a:t>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Symbol" panose="05050102010706020507" pitchFamily="18" charset="2"/>
              </a:rPr>
              <a:t>故      </a:t>
            </a:r>
            <a:r>
              <a:rPr lang="en-US" altLang="zh-CN"/>
              <a:t>A*(P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r>
              <a:rPr lang="en-US" altLang="zh-CN">
                <a:sym typeface="Symbol" panose="05050102010706020507" pitchFamily="18" charset="2"/>
              </a:rPr>
              <a:t>B</a:t>
            </a:r>
            <a:r>
              <a:rPr lang="en-US" altLang="zh-CN"/>
              <a:t>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所以   </a:t>
            </a:r>
            <a:r>
              <a:rPr lang="en-US" altLang="zh-CN"/>
              <a:t>A*(P</a:t>
            </a:r>
            <a:r>
              <a:rPr lang="en-US" altLang="zh-CN" baseline="-25000"/>
              <a:t>1</a:t>
            </a:r>
            <a:r>
              <a:rPr lang="en-US" altLang="zh-CN"/>
              <a:t>,P</a:t>
            </a:r>
            <a:r>
              <a:rPr lang="en-US" altLang="zh-CN" baseline="-25000"/>
              <a:t>2</a:t>
            </a:r>
            <a:r>
              <a:rPr lang="en-US" altLang="zh-CN"/>
              <a:t>,…,P</a:t>
            </a:r>
            <a:r>
              <a:rPr lang="en-US" altLang="zh-CN" baseline="-25000"/>
              <a:t>n</a:t>
            </a:r>
            <a:r>
              <a:rPr lang="en-US" altLang="zh-CN"/>
              <a:t>) </a:t>
            </a:r>
            <a:r>
              <a:rPr lang="en-US" altLang="zh-CN">
                <a:sym typeface="Symbol" panose="05050102010706020507" pitchFamily="18" charset="2"/>
              </a:rPr>
              <a:t> </a:t>
            </a:r>
            <a:r>
              <a:rPr lang="en-US" altLang="zh-CN"/>
              <a:t>B*(P</a:t>
            </a:r>
            <a:r>
              <a:rPr lang="en-US" altLang="zh-CN" baseline="-25000"/>
              <a:t>1</a:t>
            </a:r>
            <a:r>
              <a:rPr lang="en-US" altLang="zh-CN"/>
              <a:t>,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/>
              <a:t>P</a:t>
            </a:r>
            <a:r>
              <a:rPr lang="en-US" altLang="zh-CN" baseline="-25000"/>
              <a:t>2</a:t>
            </a:r>
            <a:r>
              <a:rPr lang="en-US" altLang="zh-CN"/>
              <a:t>,…,</a:t>
            </a:r>
            <a:r>
              <a:rPr lang="en-US" altLang="zh-CN">
                <a:sym typeface="Symbol" panose="05050102010706020507" pitchFamily="18" charset="2"/>
              </a:rPr>
              <a:t> </a:t>
            </a:r>
            <a:r>
              <a:rPr lang="en-US" altLang="zh-CN"/>
              <a:t>P</a:t>
            </a:r>
            <a:r>
              <a:rPr lang="en-US" altLang="zh-CN" baseline="-25000"/>
              <a:t>n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3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3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3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 autoUpdateAnimBg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hlink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>
                <a:sym typeface="Kingsoft Phonetic Plain" pitchFamily="2" charset="2"/>
              </a:rPr>
              <a:t>下面我们验证一下对偶原理：</a:t>
            </a:r>
            <a:endParaRPr lang="zh-CN" altLang="en-US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/>
              <a:t>     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R)</a:t>
            </a:r>
            <a:r>
              <a:rPr lang="en-US" altLang="zh-CN">
                <a:sym typeface="Symbol" panose="05050102010706020507" pitchFamily="18" charset="2"/>
              </a:rPr>
              <a:t>(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R)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 A                         B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/>
              <a:t>Q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R)</a:t>
            </a:r>
            <a:r>
              <a:rPr lang="en-US" altLang="zh-CN">
                <a:sym typeface="Symbol" panose="05050102010706020507" pitchFamily="18" charset="2"/>
              </a:rPr>
              <a:t>(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Q)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/>
              <a:t>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R)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           A*                        B*</a:t>
            </a:r>
            <a:endParaRPr lang="en-US" altLang="zh-CN">
              <a:ea typeface="MS Gothic" panose="020B0609070205080204" pitchFamily="49" charset="-128"/>
              <a:sym typeface="Kingsoft Phonetic Plain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/>
              <a:t>T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T      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  A       B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P</a:t>
            </a:r>
            <a:r>
              <a:rPr lang="en-US" altLang="zh-CN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/>
              <a:t>F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F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/>
              <a:t>              A*    B*</a:t>
            </a:r>
            <a:endParaRPr lang="en-US" altLang="zh-CN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本节要求</a:t>
            </a:r>
            <a:r>
              <a:rPr lang="zh-CN" altLang="en-US" sz="2800" b="1"/>
              <a:t>掌握等价公式的证明方法及记忆公式</a:t>
            </a:r>
            <a:r>
              <a:rPr lang="zh-CN" altLang="en-US"/>
              <a:t>。</a:t>
            </a:r>
            <a:endParaRPr lang="zh-CN" altLang="en-US" b="1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b="1">
                <a:solidFill>
                  <a:srgbClr val="FF0000"/>
                </a:solidFill>
              </a:rPr>
              <a:t>作业：</a:t>
            </a:r>
            <a:r>
              <a:rPr lang="zh-CN" altLang="en-US" b="1">
                <a:solidFill>
                  <a:srgbClr val="FF0000"/>
                </a:solidFill>
              </a:rPr>
              <a:t>第</a:t>
            </a:r>
            <a:r>
              <a:rPr lang="en-US" altLang="zh-CN" b="1">
                <a:solidFill>
                  <a:srgbClr val="FF0000"/>
                </a:solidFill>
              </a:rPr>
              <a:t>19</a:t>
            </a:r>
            <a:r>
              <a:rPr lang="zh-CN" altLang="en-US" b="1">
                <a:solidFill>
                  <a:srgbClr val="FF0000"/>
                </a:solidFill>
              </a:rPr>
              <a:t>页 </a:t>
            </a:r>
            <a:r>
              <a:rPr lang="en-US" altLang="zh-CN" b="1">
                <a:solidFill>
                  <a:srgbClr val="FF0000"/>
                </a:solidFill>
              </a:rPr>
              <a:t>(7) f)  g)  , (8) c)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92163" name="Line 4"/>
          <p:cNvSpPr>
            <a:spLocks noChangeShapeType="1"/>
          </p:cNvSpPr>
          <p:nvPr/>
        </p:nvSpPr>
        <p:spPr bwMode="auto">
          <a:xfrm>
            <a:off x="835967" y="1812776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4" name="Line 5"/>
          <p:cNvSpPr>
            <a:spLocks noChangeShapeType="1"/>
          </p:cNvSpPr>
          <p:nvPr/>
        </p:nvSpPr>
        <p:spPr bwMode="auto">
          <a:xfrm>
            <a:off x="3121967" y="1812776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5" name="Line 6"/>
          <p:cNvSpPr>
            <a:spLocks noChangeShapeType="1"/>
          </p:cNvSpPr>
          <p:nvPr/>
        </p:nvSpPr>
        <p:spPr bwMode="auto">
          <a:xfrm>
            <a:off x="683568" y="2879576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6" name="Line 7"/>
          <p:cNvSpPr>
            <a:spLocks noChangeShapeType="1"/>
          </p:cNvSpPr>
          <p:nvPr/>
        </p:nvSpPr>
        <p:spPr bwMode="auto">
          <a:xfrm>
            <a:off x="3198167" y="2879576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7" name="Line 8"/>
          <p:cNvSpPr>
            <a:spLocks noChangeShapeType="1"/>
          </p:cNvSpPr>
          <p:nvPr/>
        </p:nvSpPr>
        <p:spPr bwMode="auto">
          <a:xfrm>
            <a:off x="1597967" y="3870176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8" name="Line 10"/>
          <p:cNvSpPr>
            <a:spLocks noChangeShapeType="1"/>
          </p:cNvSpPr>
          <p:nvPr/>
        </p:nvSpPr>
        <p:spPr bwMode="auto">
          <a:xfrm>
            <a:off x="2817167" y="3870176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69" name="Line 11"/>
          <p:cNvSpPr>
            <a:spLocks noChangeShapeType="1"/>
          </p:cNvSpPr>
          <p:nvPr/>
        </p:nvSpPr>
        <p:spPr bwMode="auto">
          <a:xfrm>
            <a:off x="1597968" y="5013176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70" name="Line 12"/>
          <p:cNvSpPr>
            <a:spLocks noChangeShapeType="1"/>
          </p:cNvSpPr>
          <p:nvPr/>
        </p:nvSpPr>
        <p:spPr bwMode="auto">
          <a:xfrm>
            <a:off x="2817167" y="5013176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23" tIns="45712" rIns="91423" bIns="45712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42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autoUpdateAnimBg="0" build="p"/>
    </p:bldLst>
  </p:timing>
</p:sld>
</file>

<file path=ppt/tags/tag1.xml><?xml version="1.0" encoding="utf-8"?>
<p:tagLst xmlns:p="http://schemas.openxmlformats.org/presentationml/2006/main">
  <p:tag name="KSO_WPP_MARK_KEY" val="2b627f03-20e1-4a09-9e4a-8ea3f79fd7d0"/>
  <p:tag name="COMMONDATA" val="eyJoZGlkIjoiOTdlZWM4ZTkzMDQwNzlhMzliMmYyZDVlZGZhZjFm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3552</Words>
  <Application>WPS 演示</Application>
  <PresentationFormat>全屏显示(4:3)</PresentationFormat>
  <Paragraphs>207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宋体</vt:lpstr>
      <vt:lpstr>Wingdings</vt:lpstr>
      <vt:lpstr>Candara</vt:lpstr>
      <vt:lpstr>华文楷体</vt:lpstr>
      <vt:lpstr>Calibri Light</vt:lpstr>
      <vt:lpstr>楷体</vt:lpstr>
      <vt:lpstr>黑体</vt:lpstr>
      <vt:lpstr>Times New Roman</vt:lpstr>
      <vt:lpstr>Symbol</vt:lpstr>
      <vt:lpstr>MS Gothic</vt:lpstr>
      <vt:lpstr>Kingsoft Phonetic Plain</vt:lpstr>
      <vt:lpstr>Segoe Print</vt:lpstr>
      <vt:lpstr>微软雅黑</vt:lpstr>
      <vt:lpstr>Arial Unicode MS</vt:lpstr>
      <vt:lpstr>Lucida Sans Unicode</vt:lpstr>
      <vt:lpstr>隶书</vt:lpstr>
      <vt:lpstr>Office 主题​​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谭振华</cp:lastModifiedBy>
  <cp:revision>504</cp:revision>
  <dcterms:created xsi:type="dcterms:W3CDTF">2001-03-04T02:11:00Z</dcterms:created>
  <dcterms:modified xsi:type="dcterms:W3CDTF">2023-03-08T01:34:34Z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F438B830A3E74430B59B17B48D04C392</vt:lpwstr>
  </property>
  <property fmtid="{D5CDD505-2E9C-101B-9397-08002B2CF9AE}" pid="3" name="KSOProductBuildVer">
    <vt:lpwstr>2052-11.1.0.13703</vt:lpwstr>
  </property>
</Properties>
</file>