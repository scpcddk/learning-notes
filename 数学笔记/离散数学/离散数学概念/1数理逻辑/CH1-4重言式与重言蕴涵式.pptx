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99" r:id="rId3"/>
    <p:sldId id="600" r:id="rId4"/>
    <p:sldId id="601" r:id="rId5"/>
    <p:sldId id="602" r:id="rId6"/>
    <p:sldId id="603" r:id="rId7"/>
    <p:sldId id="604" r:id="rId8"/>
    <p:sldId id="605" r:id="rId9"/>
    <p:sldId id="606" r:id="rId10"/>
    <p:sldId id="607" r:id="rId11"/>
    <p:sldId id="608" r:id="rId12"/>
    <p:sldId id="609" r:id="rId13"/>
    <p:sldId id="610" r:id="rId14"/>
  </p:sldIdLst>
  <p:sldSz cx="9144000" cy="6858000" type="screen4x3"/>
  <p:notesSz cx="7099300" cy="10234295"/>
  <p:custDataLst>
    <p:tags r:id="rId2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114" d="100"/>
          <a:sy n="114" d="100"/>
        </p:scale>
        <p:origin x="1572" y="15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1-4 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重言式与重言蕴涵式</a:t>
            </a: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(Implication)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algn="l"/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一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重言式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永真式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与矛盾式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永假式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en-US" altLang="zh-CN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</a:t>
            </a:r>
            <a:r>
              <a:rPr lang="zh-CN" altLang="en-US" dirty="0"/>
              <a:t>例子：</a:t>
            </a: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      </a:t>
            </a:r>
            <a:endParaRPr lang="zh-CN" altLang="en-US" dirty="0"/>
          </a:p>
        </p:txBody>
      </p:sp>
      <p:graphicFrame>
        <p:nvGraphicFramePr>
          <p:cNvPr id="70688" name="Group 32"/>
          <p:cNvGraphicFramePr>
            <a:graphicFrameLocks noGrp="1"/>
          </p:cNvGraphicFramePr>
          <p:nvPr/>
        </p:nvGraphicFramePr>
        <p:xfrm>
          <a:off x="1691680" y="1689099"/>
          <a:ext cx="5257800" cy="1651001"/>
        </p:xfrm>
        <a:graphic>
          <a:graphicData uri="http://schemas.openxmlformats.org/drawingml/2006/table">
            <a:tbl>
              <a:tblPr/>
              <a:tblGrid>
                <a:gridCol w="1752600"/>
                <a:gridCol w="1752600"/>
                <a:gridCol w="1752600"/>
              </a:tblGrid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Gothic" panose="020B0609070205080204" pitchFamily="49" charset="-128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689" name="Text Box 33"/>
          <p:cNvSpPr txBox="1">
            <a:spLocks noChangeArrowheads="1"/>
          </p:cNvSpPr>
          <p:nvPr/>
        </p:nvSpPr>
        <p:spPr bwMode="auto">
          <a:xfrm>
            <a:off x="713134" y="3861048"/>
            <a:ext cx="7696200" cy="20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可见不论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取什么真值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∨P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的真值总是为真，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∧P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的真值总是为假。故称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∨P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为重言式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永真式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，称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∧P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为矛盾式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永假式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0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0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0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utoUpdateAnimBg="0" build="p"/>
      <p:bldP spid="7068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2 .</a:t>
            </a:r>
            <a:r>
              <a:rPr lang="zh-CN" altLang="en-US"/>
              <a:t>重言式</a:t>
            </a:r>
            <a:r>
              <a:rPr lang="en-US" altLang="zh-CN"/>
              <a:t>(</a:t>
            </a:r>
            <a:r>
              <a:rPr lang="zh-CN" altLang="en-US"/>
              <a:t>矛盾式</a:t>
            </a:r>
            <a:r>
              <a:rPr lang="en-US" altLang="zh-CN"/>
              <a:t>)</a:t>
            </a:r>
            <a:r>
              <a:rPr lang="zh-CN" altLang="en-US"/>
              <a:t>定义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zh-CN" altLang="zh-CN"/>
              <a:t>是含有命题变元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zh-CN" altLang="zh-CN"/>
              <a:t>的命题公式，如不论对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 P</a:t>
            </a:r>
            <a:r>
              <a:rPr lang="en-US" altLang="zh-CN" baseline="-25000"/>
              <a:t>2 </a:t>
            </a:r>
            <a:r>
              <a:rPr lang="en-US" altLang="zh-CN"/>
              <a:t>, 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zh-CN" altLang="zh-CN"/>
              <a:t>作任何指派，都使得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zh-CN" altLang="en-US"/>
              <a:t>为</a:t>
            </a:r>
            <a:r>
              <a:rPr lang="zh-CN" altLang="en-US" b="1">
                <a:solidFill>
                  <a:srgbClr val="FF0000"/>
                </a:solidFill>
              </a:rPr>
              <a:t>真</a:t>
            </a:r>
            <a:r>
              <a:rPr lang="en-US" altLang="zh-CN"/>
              <a:t>(</a:t>
            </a:r>
            <a:r>
              <a:rPr lang="zh-CN" altLang="en-US" b="1">
                <a:solidFill>
                  <a:schemeClr val="hlink"/>
                </a:solidFill>
              </a:rPr>
              <a:t>假</a:t>
            </a:r>
            <a:r>
              <a:rPr lang="en-US" altLang="zh-CN"/>
              <a:t>)</a:t>
            </a:r>
            <a:r>
              <a:rPr lang="zh-CN" altLang="en-US"/>
              <a:t>，则称之为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重言式</a:t>
            </a:r>
            <a:r>
              <a:rPr lang="en-US" altLang="zh-CN"/>
              <a:t>(</a:t>
            </a:r>
            <a:r>
              <a:rPr lang="zh-CN" altLang="en-US" b="1">
                <a:solidFill>
                  <a:schemeClr val="hlink"/>
                </a:solidFill>
              </a:rPr>
              <a:t>矛盾式</a:t>
            </a:r>
            <a:r>
              <a:rPr lang="en-US" altLang="zh-CN"/>
              <a:t>), </a:t>
            </a:r>
            <a:r>
              <a:rPr lang="zh-CN" altLang="en-US"/>
              <a:t>也称之为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永真式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/>
              <a:t>(</a:t>
            </a:r>
            <a:r>
              <a:rPr lang="zh-CN" altLang="en-US" b="1">
                <a:solidFill>
                  <a:schemeClr val="hlink"/>
                </a:solidFill>
              </a:rPr>
              <a:t>永假式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en-US" altLang="zh-CN"/>
              <a:t>3.</a:t>
            </a:r>
            <a:r>
              <a:rPr lang="zh-CN" altLang="en-US"/>
              <a:t>重言式的证明方法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方法</a:t>
            </a:r>
            <a:r>
              <a:rPr lang="en-US" altLang="zh-CN"/>
              <a:t>1</a:t>
            </a:r>
            <a:r>
              <a:rPr lang="zh-CN" altLang="en-US"/>
              <a:t>：列真值表。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方法</a:t>
            </a:r>
            <a:r>
              <a:rPr lang="en-US" altLang="zh-CN"/>
              <a:t>2</a:t>
            </a:r>
            <a:r>
              <a:rPr lang="zh-CN" altLang="en-US"/>
              <a:t>：公式的等价变换，化简成“</a:t>
            </a:r>
            <a:r>
              <a:rPr lang="en-US" altLang="zh-CN"/>
              <a:t>T”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方法</a:t>
            </a:r>
            <a:r>
              <a:rPr lang="en-US" altLang="zh-CN"/>
              <a:t>3</a:t>
            </a:r>
            <a:r>
              <a:rPr lang="zh-CN" altLang="en-US"/>
              <a:t>：用公式的主析取范式。</a:t>
            </a:r>
            <a:endParaRPr lang="zh-CN" altLang="en-US"/>
          </a:p>
          <a:p>
            <a:pPr eaLnBrk="1" hangingPunct="1"/>
            <a:r>
              <a:rPr lang="zh-CN" altLang="en-US"/>
              <a:t>其中方法</a:t>
            </a:r>
            <a:r>
              <a:rPr lang="en-US" altLang="zh-CN"/>
              <a:t>2 </a:t>
            </a:r>
            <a:r>
              <a:rPr lang="zh-CN" altLang="en-US"/>
              <a:t>和方法</a:t>
            </a:r>
            <a:r>
              <a:rPr lang="en-US" altLang="zh-CN"/>
              <a:t>3 </a:t>
            </a:r>
            <a:r>
              <a:rPr lang="zh-CN" altLang="en-US"/>
              <a:t>我们在以后讨论。</a:t>
            </a:r>
            <a:endParaRPr lang="zh-CN" alt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/>
              <a:t>方法</a:t>
            </a:r>
            <a:r>
              <a:rPr lang="en-US" altLang="zh-CN"/>
              <a:t>1. </a:t>
            </a:r>
            <a:r>
              <a:rPr lang="zh-CN" altLang="en-US"/>
              <a:t>列真值表。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例如，证明   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P</a:t>
            </a:r>
            <a:r>
              <a:rPr lang="en-US" altLang="zh-CN">
                <a:sym typeface="Kingsoft Phonetic Plain" pitchFamily="2" charset="2"/>
              </a:rPr>
              <a:t>Q))</a:t>
            </a:r>
            <a:r>
              <a:rPr lang="en-US" altLang="zh-CN">
                <a:sym typeface="Symbol" panose="05050102010706020507" pitchFamily="18" charset="2"/>
              </a:rPr>
              <a:t>Q</a:t>
            </a:r>
            <a:r>
              <a:rPr lang="en-US" altLang="zh-CN"/>
              <a:t> </a:t>
            </a:r>
            <a:r>
              <a:rPr lang="zh-CN" altLang="en-US"/>
              <a:t>为重言式。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注：永真式真值表的最后一列全是“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</a:t>
            </a:r>
            <a:endParaRPr lang="zh-CN" altLang="en-US"/>
          </a:p>
        </p:txBody>
      </p:sp>
      <p:graphicFrame>
        <p:nvGraphicFramePr>
          <p:cNvPr id="72790" name="Group 86"/>
          <p:cNvGraphicFramePr>
            <a:graphicFrameLocks noGrp="1"/>
          </p:cNvGraphicFramePr>
          <p:nvPr/>
        </p:nvGraphicFramePr>
        <p:xfrm>
          <a:off x="1066800" y="2762250"/>
          <a:ext cx="7467600" cy="3403602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1219200"/>
                <a:gridCol w="1905000"/>
                <a:gridCol w="2819400"/>
              </a:tblGrid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Gothic" panose="020B0609070205080204" pitchFamily="49" charset="-128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∧(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Q)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∧(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Q))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4. </a:t>
            </a:r>
            <a:r>
              <a:rPr lang="zh-CN" altLang="en-US" dirty="0"/>
              <a:t>永真式的性质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</a:t>
            </a:r>
            <a:r>
              <a:rPr lang="en-US" altLang="zh-CN" dirty="0"/>
              <a:t>1).</a:t>
            </a:r>
            <a:r>
              <a:rPr lang="zh-CN" altLang="en-US" dirty="0"/>
              <a:t>如果</a:t>
            </a:r>
            <a:r>
              <a:rPr lang="en-US" altLang="zh-CN" dirty="0"/>
              <a:t>A</a:t>
            </a:r>
            <a:r>
              <a:rPr lang="zh-CN" altLang="en-US" dirty="0"/>
              <a:t>是永真式，则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zh-CN" dirty="0">
                <a:sym typeface="Symbol" panose="05050102010706020507" pitchFamily="18" charset="2"/>
              </a:rPr>
              <a:t>是永假式。</a:t>
            </a:r>
            <a:endParaRPr lang="zh-CN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dirty="0">
                <a:sym typeface="Symbol" panose="05050102010706020507" pitchFamily="18" charset="2"/>
              </a:rPr>
              <a:t>   2).</a:t>
            </a:r>
            <a:r>
              <a:rPr lang="zh-CN" altLang="en-US" dirty="0"/>
              <a:t>如果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是永真式，则</a:t>
            </a:r>
            <a:r>
              <a:rPr lang="en-US" altLang="zh-CN" dirty="0"/>
              <a:t>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B)</a:t>
            </a:r>
            <a:r>
              <a:rPr lang="zh-CN" altLang="en-US" dirty="0"/>
              <a:t>、</a:t>
            </a:r>
            <a:r>
              <a:rPr lang="en-US" altLang="zh-CN" dirty="0"/>
              <a:t>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B)</a:t>
            </a:r>
            <a:r>
              <a:rPr lang="zh-CN" altLang="en-US" dirty="0"/>
              <a:t>、</a:t>
            </a:r>
            <a:r>
              <a:rPr lang="en-US" altLang="zh-CN" dirty="0"/>
              <a:t>(A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B)</a:t>
            </a:r>
            <a:r>
              <a:rPr lang="zh-CN" altLang="en-US" dirty="0"/>
              <a:t>和</a:t>
            </a:r>
            <a:r>
              <a:rPr lang="en-US" altLang="zh-CN" dirty="0"/>
              <a:t>(A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dirty="0"/>
              <a:t>B)</a:t>
            </a:r>
            <a:r>
              <a:rPr lang="zh-CN" altLang="en-US" dirty="0"/>
              <a:t>也都是永真式。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</a:t>
            </a:r>
            <a:r>
              <a:rPr lang="en-US" altLang="zh-CN" dirty="0"/>
              <a:t>3).</a:t>
            </a:r>
            <a:r>
              <a:rPr lang="zh-CN" altLang="en-US" dirty="0">
                <a:solidFill>
                  <a:srgbClr val="FF0000"/>
                </a:solidFill>
              </a:rPr>
              <a:t>如果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是永真式，则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的置换例式也是永真式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  </a:t>
            </a:r>
            <a:r>
              <a:rPr lang="zh-CN" altLang="en-US" dirty="0">
                <a:solidFill>
                  <a:srgbClr val="FF0000"/>
                </a:solidFill>
              </a:rPr>
              <a:t>置换例式</a:t>
            </a:r>
            <a:r>
              <a:rPr lang="zh-CN" altLang="en-US" dirty="0"/>
              <a:t>： </a:t>
            </a:r>
            <a:r>
              <a:rPr lang="en-US" altLang="zh-CN" dirty="0"/>
              <a:t>A(P</a:t>
            </a:r>
            <a:r>
              <a:rPr lang="en-US" altLang="zh-CN" baseline="-25000" dirty="0"/>
              <a:t>1</a:t>
            </a:r>
            <a:r>
              <a:rPr lang="en-US" altLang="zh-CN" dirty="0"/>
              <a:t>,P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zh-CN" altLang="zh-CN" dirty="0"/>
              <a:t>是含有命题变元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en-US" altLang="zh-CN" dirty="0"/>
              <a:t>,P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baseline="-25000" dirty="0"/>
              <a:t> 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zh-CN" altLang="zh-CN" dirty="0"/>
              <a:t>的命题公式，如果用合式公式</a:t>
            </a:r>
            <a:r>
              <a:rPr lang="en-US" altLang="zh-CN" dirty="0"/>
              <a:t>X</a:t>
            </a:r>
            <a:r>
              <a:rPr lang="zh-CN" altLang="zh-CN" dirty="0"/>
              <a:t>替换某个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en-US" altLang="zh-CN" dirty="0"/>
              <a:t>(</a:t>
            </a:r>
            <a:r>
              <a:rPr lang="zh-CN" altLang="en-US" dirty="0"/>
              <a:t>如果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zh-CN" altLang="en-US" dirty="0"/>
              <a:t>在</a:t>
            </a:r>
            <a:r>
              <a:rPr lang="en-US" altLang="zh-CN" dirty="0"/>
              <a:t>A(P</a:t>
            </a:r>
            <a:r>
              <a:rPr lang="en-US" altLang="zh-CN" baseline="-25000" dirty="0"/>
              <a:t>1</a:t>
            </a:r>
            <a:r>
              <a:rPr lang="en-US" altLang="zh-CN" dirty="0"/>
              <a:t>,P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zh-CN" altLang="en-US" dirty="0"/>
              <a:t>中多处出现，则各处均用</a:t>
            </a:r>
            <a:r>
              <a:rPr lang="en-US" altLang="zh-CN" dirty="0"/>
              <a:t>X</a:t>
            </a:r>
            <a:r>
              <a:rPr lang="zh-CN" altLang="en-US" dirty="0"/>
              <a:t>替换 </a:t>
            </a:r>
            <a:r>
              <a:rPr lang="en-US" altLang="zh-CN" dirty="0"/>
              <a:t>)</a:t>
            </a:r>
            <a:r>
              <a:rPr lang="zh-CN" altLang="en-US" dirty="0"/>
              <a:t>，其余变元不变，替换后得到新的公式</a:t>
            </a:r>
            <a:r>
              <a:rPr lang="en-US" altLang="zh-CN" dirty="0"/>
              <a:t>B</a:t>
            </a:r>
            <a:r>
              <a:rPr lang="zh-CN" altLang="en-US" dirty="0"/>
              <a:t>，则称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A(P</a:t>
            </a:r>
            <a:r>
              <a:rPr lang="en-US" altLang="zh-CN" baseline="-25000" dirty="0"/>
              <a:t>1</a:t>
            </a:r>
            <a:r>
              <a:rPr lang="en-US" altLang="zh-CN" dirty="0"/>
              <a:t>,P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zh-CN" altLang="en-US" dirty="0"/>
              <a:t>的置换例式。</a:t>
            </a:r>
            <a:endParaRPr lang="zh-CN" altLang="en-US" dirty="0"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/>
              <a:t>例如：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公式</a:t>
            </a:r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dirty="0"/>
              <a:t>R))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</a:t>
            </a:r>
            <a:r>
              <a:rPr lang="zh-CN" altLang="en-US" dirty="0"/>
              <a:t>用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zh-CN" altLang="en-US" dirty="0"/>
              <a:t>替换</a:t>
            </a:r>
            <a:r>
              <a:rPr lang="en-US" altLang="zh-CN" dirty="0"/>
              <a:t>A</a:t>
            </a:r>
            <a:r>
              <a:rPr lang="zh-CN" altLang="en-US" dirty="0"/>
              <a:t>中</a:t>
            </a:r>
            <a:r>
              <a:rPr lang="en-US" altLang="zh-CN" dirty="0"/>
              <a:t>P</a:t>
            </a:r>
            <a:r>
              <a:rPr lang="zh-CN" altLang="en-US" dirty="0"/>
              <a:t>得到</a:t>
            </a:r>
            <a:r>
              <a:rPr lang="en-US" altLang="zh-CN" dirty="0"/>
              <a:t>A</a:t>
            </a:r>
            <a:r>
              <a:rPr lang="zh-CN" altLang="en-US" dirty="0"/>
              <a:t>的置换例式 </a:t>
            </a:r>
            <a:r>
              <a:rPr lang="en-US" altLang="zh-CN" dirty="0"/>
              <a:t>B</a:t>
            </a:r>
            <a:r>
              <a:rPr lang="zh-CN" altLang="en-US" dirty="0"/>
              <a:t>：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/>
              <a:t>((D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dirty="0"/>
              <a:t>R))</a:t>
            </a:r>
            <a:endParaRPr lang="en-US" altLang="zh-CN" dirty="0"/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如果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zh-CN" dirty="0">
                <a:sym typeface="Symbol" panose="05050102010706020507" pitchFamily="18" charset="2"/>
              </a:rPr>
              <a:t>是永真式，例如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zh-CN" dirty="0">
                <a:sym typeface="Symbol" panose="05050102010706020507" pitchFamily="18" charset="2"/>
              </a:rPr>
              <a:t>为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∨P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，</a:t>
            </a:r>
            <a:r>
              <a:rPr lang="zh-CN" altLang="en-US" dirty="0">
                <a:sym typeface="Kingsoft Phonetic Plain" pitchFamily="2" charset="2"/>
              </a:rPr>
              <a:t>用</a:t>
            </a:r>
            <a:r>
              <a:rPr lang="zh-CN" altLang="zh-CN" dirty="0">
                <a:sym typeface="Symbol" panose="05050102010706020507" pitchFamily="18" charset="2"/>
              </a:rPr>
              <a:t>   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zh-CN" altLang="en-US" dirty="0"/>
              <a:t>替换</a:t>
            </a:r>
            <a:r>
              <a:rPr lang="en-US" altLang="zh-CN" dirty="0"/>
              <a:t>A</a:t>
            </a:r>
            <a:r>
              <a:rPr lang="zh-CN" altLang="en-US" dirty="0"/>
              <a:t>中</a:t>
            </a:r>
            <a:r>
              <a:rPr lang="en-US" altLang="zh-CN" dirty="0"/>
              <a:t>P</a:t>
            </a:r>
            <a:r>
              <a:rPr lang="zh-CN" altLang="en-US" dirty="0"/>
              <a:t>，得到</a:t>
            </a:r>
            <a:r>
              <a:rPr lang="en-US" altLang="zh-CN" dirty="0"/>
              <a:t>A</a:t>
            </a:r>
            <a:r>
              <a:rPr lang="zh-CN" altLang="en-US" dirty="0"/>
              <a:t>的置换例式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</a:t>
            </a: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zh-CN" altLang="en-US" dirty="0">
                <a:sym typeface="Symbol" panose="05050102010706020507" pitchFamily="18" charset="2"/>
              </a:rPr>
              <a:t>  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(D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E)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显然</a:t>
            </a:r>
            <a:r>
              <a:rPr lang="en-US" altLang="zh-CN" dirty="0"/>
              <a:t>B</a:t>
            </a:r>
            <a:r>
              <a:rPr lang="zh-CN" altLang="en-US" dirty="0"/>
              <a:t>也是永真式。</a:t>
            </a:r>
            <a:endParaRPr lang="zh-CN" altLang="en-US" dirty="0"/>
          </a:p>
          <a:p>
            <a:pPr eaLnBrk="1" hangingPunct="1"/>
            <a:r>
              <a:rPr lang="zh-CN" altLang="en-US" dirty="0"/>
              <a:t>如果可以断定给定公式是某个</a:t>
            </a:r>
            <a:r>
              <a:rPr lang="zh-CN" altLang="zh-CN" dirty="0">
                <a:sym typeface="Symbol" panose="05050102010706020507" pitchFamily="18" charset="2"/>
              </a:rPr>
              <a:t>永真式的置换例式的话，则这个公式也是永真式。</a:t>
            </a:r>
            <a:endParaRPr lang="zh-CN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en-US" altLang="zh-CN" dirty="0"/>
              <a:t>.</a:t>
            </a:r>
            <a:r>
              <a:rPr lang="zh-CN" altLang="en-US" dirty="0"/>
              <a:t>重言</a:t>
            </a:r>
            <a:r>
              <a:rPr lang="en-US" altLang="zh-CN" dirty="0"/>
              <a:t>(</a:t>
            </a:r>
            <a:r>
              <a:rPr lang="zh-CN" altLang="en-US" dirty="0"/>
              <a:t>永真</a:t>
            </a:r>
            <a:r>
              <a:rPr lang="en-US" altLang="zh-CN" dirty="0"/>
              <a:t>)</a:t>
            </a:r>
            <a:r>
              <a:rPr lang="zh-CN" altLang="en-US" dirty="0"/>
              <a:t>蕴涵式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宋体" panose="02010600030101010101" pitchFamily="2" charset="-122"/>
              </a:rPr>
              <a:t>有些重言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永真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式，如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P</a:t>
            </a:r>
            <a:r>
              <a:rPr lang="en-US" altLang="zh-CN" dirty="0">
                <a:sym typeface="Kingsoft Phonetic Plain" pitchFamily="2" charset="2"/>
              </a:rPr>
              <a:t>Q))</a:t>
            </a:r>
            <a:r>
              <a:rPr lang="en-US" altLang="zh-CN" dirty="0">
                <a:sym typeface="Symbol" panose="05050102010706020507" pitchFamily="18" charset="2"/>
              </a:rPr>
              <a:t>Q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zh-CN" altLang="en-US" dirty="0"/>
              <a:t>公式中间是“</a:t>
            </a:r>
            <a:r>
              <a:rPr lang="zh-CN" altLang="en-US" dirty="0">
                <a:sym typeface="Symbol" panose="05050102010706020507" pitchFamily="18" charset="2"/>
              </a:rPr>
              <a:t>”联结词，是很重要的，称之为</a:t>
            </a:r>
            <a:r>
              <a:rPr lang="zh-CN" altLang="en-US" dirty="0"/>
              <a:t>重言蕴涵式。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en-US" altLang="zh-CN" dirty="0"/>
              <a:t>1.</a:t>
            </a:r>
            <a:r>
              <a:rPr lang="zh-CN" altLang="en-US" dirty="0">
                <a:ea typeface="黑体" panose="02010609060101010101" pitchFamily="49" charset="-122"/>
              </a:rPr>
              <a:t>定义</a:t>
            </a:r>
            <a:r>
              <a:rPr lang="zh-CN" altLang="en-US" dirty="0"/>
              <a:t>：如果公式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zh-CN" altLang="en-US" dirty="0">
                <a:latin typeface="宋体" panose="02010600030101010101" pitchFamily="2" charset="-122"/>
              </a:rPr>
              <a:t>重言式，则称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重言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永真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蕴涵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dirty="0"/>
              <a:t>，记作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上式可以写成   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P</a:t>
            </a:r>
            <a:r>
              <a:rPr lang="en-US" altLang="zh-CN" dirty="0">
                <a:sym typeface="Kingsoft Phonetic Plain" pitchFamily="2" charset="2"/>
              </a:rPr>
              <a:t>Q))</a:t>
            </a:r>
            <a:r>
              <a:rPr lang="en-US" altLang="zh-CN" dirty="0">
                <a:sym typeface="Symbol" panose="05050102010706020507" pitchFamily="18" charset="2"/>
              </a:rPr>
              <a:t>Q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注意：</a:t>
            </a:r>
            <a:r>
              <a:rPr lang="zh-CN" altLang="en-US" dirty="0"/>
              <a:t>符号“</a:t>
            </a:r>
            <a:r>
              <a:rPr lang="zh-CN" altLang="en-US" dirty="0">
                <a:sym typeface="Symbol" panose="05050102010706020507" pitchFamily="18" charset="2"/>
              </a:rPr>
              <a:t>”不是联结词，它是表示公式间的“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永真蕴涵</a:t>
            </a:r>
            <a:r>
              <a:rPr lang="zh-CN" altLang="en-US" dirty="0">
                <a:latin typeface="宋体" panose="02010600030101010101" pitchFamily="2" charset="-122"/>
              </a:rPr>
              <a:t>”关系，也可以看成是 “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推导</a:t>
            </a:r>
            <a:r>
              <a:rPr lang="zh-CN" altLang="en-US" dirty="0">
                <a:latin typeface="宋体" panose="02010600030101010101" pitchFamily="2" charset="-122"/>
              </a:rPr>
              <a:t>”关系。即</a:t>
            </a:r>
            <a:r>
              <a:rPr lang="en-US" altLang="zh-CN" dirty="0">
                <a:sym typeface="Symbol" panose="05050102010706020507" pitchFamily="18" charset="2"/>
              </a:rPr>
              <a:t>AB</a:t>
            </a:r>
            <a:r>
              <a:rPr lang="zh-CN" altLang="en-US" dirty="0">
                <a:sym typeface="Symbol" panose="05050102010706020507" pitchFamily="18" charset="2"/>
              </a:rPr>
              <a:t>可以理解成由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可推出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，即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由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为真，可以推出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也为真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r>
              <a:rPr lang="zh-CN" altLang="en-US" dirty="0">
                <a:latin typeface="宋体" panose="02010600030101010101" pitchFamily="2" charset="-122"/>
              </a:rPr>
              <a:t>  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2.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重言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永真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蕴涵式证明方法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latin typeface="宋体" panose="02010600030101010101" pitchFamily="2" charset="-122"/>
              </a:rPr>
              <a:t>.</a:t>
            </a:r>
            <a:r>
              <a:rPr lang="zh-CN" altLang="en-US">
                <a:latin typeface="宋体" panose="02010600030101010101" pitchFamily="2" charset="-122"/>
              </a:rPr>
              <a:t>列真值表。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即列永真式的真值表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这里就不再举例了。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/>
              <a:t>       下面讨论另外两种方法。</a:t>
            </a:r>
            <a:endParaRPr lang="zh-CN" altLang="en-US"/>
          </a:p>
        </p:txBody>
      </p:sp>
      <p:sp>
        <p:nvSpPr>
          <p:cNvPr id="81937" name="Text Box 17"/>
          <p:cNvSpPr txBox="1">
            <a:spLocks noChangeArrowheads="1"/>
          </p:cNvSpPr>
          <p:nvPr/>
        </p:nvSpPr>
        <p:spPr bwMode="auto">
          <a:xfrm>
            <a:off x="690208" y="3225852"/>
            <a:ext cx="3810000" cy="3260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先看一看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的真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值表，如果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为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永真式，则真值表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的第三组指派不会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出现。于是有下面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两种证明方法。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1965" name="Group 45"/>
          <p:cNvGraphicFramePr>
            <a:graphicFrameLocks noGrp="1"/>
          </p:cNvGraphicFramePr>
          <p:nvPr/>
        </p:nvGraphicFramePr>
        <p:xfrm>
          <a:off x="4876800" y="3344946"/>
          <a:ext cx="3505200" cy="3022602"/>
        </p:xfrm>
        <a:graphic>
          <a:graphicData uri="http://schemas.openxmlformats.org/drawingml/2006/table">
            <a:tbl>
              <a:tblPr/>
              <a:tblGrid>
                <a:gridCol w="1168400"/>
                <a:gridCol w="1168400"/>
                <a:gridCol w="1168400"/>
              </a:tblGrid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animBg="1" autoUpdateAnimBg="0" build="p"/>
      <p:bldP spid="8193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167147" y="764704"/>
            <a:ext cx="8809706" cy="5904656"/>
          </a:xfrm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方法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dirty="0"/>
              <a:t>.</a:t>
            </a:r>
            <a:r>
              <a:rPr lang="zh-CN" altLang="en-US" dirty="0">
                <a:ea typeface="黑体" panose="02010609060101010101" pitchFamily="49" charset="-122"/>
              </a:rPr>
              <a:t>假设前件为真，推出后件也为真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例如求证：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</a:t>
            </a:r>
            <a:r>
              <a:rPr lang="en-US" altLang="zh-CN" dirty="0"/>
              <a:t>((A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B)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C)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D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C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D) </a:t>
            </a:r>
            <a:r>
              <a:rPr lang="en-US" altLang="zh-CN" dirty="0">
                <a:sym typeface="Symbol" panose="05050102010706020507" pitchFamily="18" charset="2"/>
              </a:rPr>
              <a:t> </a:t>
            </a:r>
            <a:r>
              <a:rPr lang="en-US" altLang="zh-CN" dirty="0"/>
              <a:t>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B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证明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/>
              <a:t>设前件</a:t>
            </a:r>
            <a:r>
              <a:rPr lang="en-US" altLang="zh-CN" dirty="0"/>
              <a:t>((A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B)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C)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D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C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D) </a:t>
            </a:r>
            <a:r>
              <a:rPr lang="zh-CN" altLang="en-US" dirty="0"/>
              <a:t>为真则</a:t>
            </a:r>
            <a:r>
              <a:rPr lang="en-US" altLang="zh-CN" dirty="0"/>
              <a:t>((A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B)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C)</a:t>
            </a:r>
            <a:r>
              <a:rPr lang="zh-CN" altLang="en-US" dirty="0"/>
              <a:t>、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D</a:t>
            </a:r>
            <a:r>
              <a:rPr lang="zh-CN" altLang="en-US" dirty="0"/>
              <a:t>、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C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D)</a:t>
            </a:r>
            <a:r>
              <a:rPr lang="zh-CN" altLang="en-US" dirty="0"/>
              <a:t>均真，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</a:t>
            </a:r>
            <a:r>
              <a:rPr lang="en-US" altLang="zh-CN" dirty="0"/>
              <a:t>D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D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</a:t>
            </a:r>
            <a:r>
              <a:rPr kumimoji="1" lang="en-US" altLang="zh-CN" dirty="0">
                <a:latin typeface="Times New Roman" panose="02020603050405020304" pitchFamily="18" charset="0"/>
              </a:rPr>
              <a:t>C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</a:rPr>
              <a:t>D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              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得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endParaRPr kumimoji="1"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None/>
            </a:pPr>
            <a:r>
              <a:rPr kumimoji="1" lang="en-US" altLang="zh-CN" dirty="0">
                <a:latin typeface="Times New Roman" panose="02020603050405020304" pitchFamily="18" charset="0"/>
              </a:rPr>
              <a:t>    ((A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kumimoji="1" lang="en-US" altLang="zh-CN" dirty="0">
                <a:latin typeface="Times New Roman" panose="02020603050405020304" pitchFamily="18" charset="0"/>
              </a:rPr>
              <a:t>B)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dirty="0">
                <a:latin typeface="Times New Roman" panose="02020603050405020304" pitchFamily="18" charset="0"/>
              </a:rPr>
              <a:t>C )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                            </a:t>
            </a:r>
            <a:r>
              <a:rPr kumimoji="1" lang="zh-CN" altLang="en-US" dirty="0">
                <a:solidFill>
                  <a:schemeClr val="tx2"/>
                </a:solidFill>
                <a:latin typeface="Symbol" panose="05050102010706020507" pitchFamily="18" charset="2"/>
              </a:rPr>
              <a:t>得</a:t>
            </a:r>
            <a:r>
              <a:rPr kumimoji="1"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 ∧ </a:t>
            </a:r>
            <a:r>
              <a:rPr kumimoji="1"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solidFill>
                  <a:schemeClr val="tx2"/>
                </a:solidFill>
                <a:latin typeface="Symbol" panose="05050102010706020507" pitchFamily="18" charset="2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endParaRPr kumimoji="1"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buFontTx/>
              <a:buNone/>
            </a:pPr>
            <a:r>
              <a:rPr kumimoji="1" lang="en-US" altLang="zh-CN" dirty="0">
                <a:latin typeface="Times New Roman" panose="02020603050405020304" pitchFamily="18" charset="0"/>
              </a:rPr>
              <a:t>    </a:t>
            </a:r>
            <a:r>
              <a:rPr kumimoji="1" lang="zh-CN" altLang="en-US" dirty="0">
                <a:latin typeface="Times New Roman" panose="02020603050405020304" pitchFamily="18" charset="0"/>
              </a:rPr>
              <a:t>如果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F</a:t>
            </a:r>
            <a:r>
              <a:rPr kumimoji="1" lang="zh-CN" altLang="en-US" dirty="0">
                <a:latin typeface="Times New Roman" panose="02020603050405020304" pitchFamily="18" charset="0"/>
              </a:rPr>
              <a:t>，则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</a:t>
            </a:r>
            <a:r>
              <a:rPr kumimoji="1" lang="zh-CN" altLang="en-US" dirty="0">
                <a:latin typeface="Times New Roman" panose="02020603050405020304" pitchFamily="18" charset="0"/>
              </a:rPr>
              <a:t>，所以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</a:t>
            </a:r>
            <a:r>
              <a:rPr kumimoji="1" lang="zh-CN" altLang="en-US" dirty="0">
                <a:latin typeface="Times New Roman" panose="02020603050405020304" pitchFamily="18" charset="0"/>
              </a:rPr>
              <a:t>。</a:t>
            </a:r>
            <a:endParaRPr kumimoji="1"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</a:rPr>
              <a:t>    如果</a:t>
            </a:r>
            <a:r>
              <a:rPr kumimoji="1" lang="en-US" altLang="zh-CN" dirty="0"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F</a:t>
            </a:r>
            <a:r>
              <a:rPr kumimoji="1" lang="zh-CN" altLang="en-US" dirty="0">
                <a:latin typeface="Times New Roman" panose="02020603050405020304" pitchFamily="18" charset="0"/>
              </a:rPr>
              <a:t>，则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B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</a:t>
            </a:r>
            <a:r>
              <a:rPr kumimoji="1" lang="zh-CN" altLang="en-US" dirty="0">
                <a:latin typeface="Times New Roman" panose="02020603050405020304" pitchFamily="18" charset="0"/>
              </a:rPr>
              <a:t>，所以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B </a:t>
            </a:r>
            <a:r>
              <a:rPr kumimoji="1" lang="zh-CN" altLang="en-US" dirty="0">
                <a:latin typeface="Times New Roman" panose="02020603050405020304" pitchFamily="18" charset="0"/>
              </a:rPr>
              <a:t>为</a:t>
            </a:r>
            <a:r>
              <a:rPr kumimoji="1" lang="en-US" altLang="zh-CN" dirty="0">
                <a:latin typeface="Times New Roman" panose="02020603050405020304" pitchFamily="18" charset="0"/>
              </a:rPr>
              <a:t>T</a:t>
            </a:r>
            <a:r>
              <a:rPr kumimoji="1" lang="zh-CN" altLang="en-US" dirty="0">
                <a:latin typeface="Times New Roman" panose="02020603050405020304" pitchFamily="18" charset="0"/>
              </a:rPr>
              <a:t>。  </a:t>
            </a:r>
            <a:endParaRPr kumimoji="1"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1" lang="en-US" altLang="zh-CN" dirty="0">
                <a:latin typeface="Times New Roman" panose="02020603050405020304" pitchFamily="18" charset="0"/>
              </a:rPr>
              <a:t>((A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kumimoji="1" lang="en-US" altLang="zh-CN" dirty="0">
                <a:latin typeface="Times New Roman" panose="02020603050405020304" pitchFamily="18" charset="0"/>
              </a:rPr>
              <a:t>B)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dirty="0">
                <a:latin typeface="Times New Roman" panose="02020603050405020304" pitchFamily="18" charset="0"/>
              </a:rPr>
              <a:t>C)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D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C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</a:rPr>
              <a:t>D) 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 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dirty="0">
                <a:latin typeface="Times New Roman" panose="02020603050405020304" pitchFamily="18" charset="0"/>
              </a:rPr>
              <a:t>B</a:t>
            </a:r>
            <a:endParaRPr kumimoji="1"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9"/>
          <p:cNvGrpSpPr/>
          <p:nvPr/>
        </p:nvGrpSpPr>
        <p:grpSpPr bwMode="auto">
          <a:xfrm>
            <a:off x="2705308" y="3688957"/>
            <a:ext cx="1220788" cy="611188"/>
            <a:chOff x="1968" y="2256"/>
            <a:chExt cx="769" cy="385"/>
          </a:xfrm>
        </p:grpSpPr>
        <p:sp>
          <p:nvSpPr>
            <p:cNvPr id="74760" name="Line 4"/>
            <p:cNvSpPr>
              <a:spLocks noChangeShapeType="1"/>
            </p:cNvSpPr>
            <p:nvPr/>
          </p:nvSpPr>
          <p:spPr bwMode="auto">
            <a:xfrm>
              <a:off x="2592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61" name="Line 5"/>
            <p:cNvSpPr>
              <a:spLocks noChangeShapeType="1"/>
            </p:cNvSpPr>
            <p:nvPr/>
          </p:nvSpPr>
          <p:spPr bwMode="auto">
            <a:xfrm>
              <a:off x="2736" y="2256"/>
              <a:ext cx="1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62" name="Line 6"/>
            <p:cNvSpPr>
              <a:spLocks noChangeShapeType="1"/>
            </p:cNvSpPr>
            <p:nvPr/>
          </p:nvSpPr>
          <p:spPr bwMode="auto">
            <a:xfrm>
              <a:off x="1968" y="2640"/>
              <a:ext cx="76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20"/>
          <p:cNvGrpSpPr/>
          <p:nvPr/>
        </p:nvGrpSpPr>
        <p:grpSpPr bwMode="auto">
          <a:xfrm>
            <a:off x="4003090" y="4158031"/>
            <a:ext cx="2470150" cy="838200"/>
            <a:chOff x="2544" y="2400"/>
            <a:chExt cx="1556" cy="528"/>
          </a:xfrm>
        </p:grpSpPr>
        <p:sp>
          <p:nvSpPr>
            <p:cNvPr id="74757" name="Line 9"/>
            <p:cNvSpPr>
              <a:spLocks noChangeShapeType="1"/>
            </p:cNvSpPr>
            <p:nvPr/>
          </p:nvSpPr>
          <p:spPr bwMode="auto">
            <a:xfrm>
              <a:off x="3648" y="2400"/>
              <a:ext cx="43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58" name="Line 10"/>
            <p:cNvSpPr>
              <a:spLocks noChangeShapeType="1"/>
            </p:cNvSpPr>
            <p:nvPr/>
          </p:nvSpPr>
          <p:spPr bwMode="auto">
            <a:xfrm>
              <a:off x="2544" y="2928"/>
              <a:ext cx="15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59" name="Line 11"/>
            <p:cNvSpPr>
              <a:spLocks noChangeShapeType="1"/>
            </p:cNvSpPr>
            <p:nvPr/>
          </p:nvSpPr>
          <p:spPr bwMode="auto">
            <a:xfrm>
              <a:off x="4080" y="2400"/>
              <a:ext cx="1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olidFill>
                  <a:srgbClr val="FF0000"/>
                </a:solidFill>
              </a:rPr>
              <a:t>方法</a:t>
            </a:r>
            <a:r>
              <a:rPr lang="en-US" altLang="zh-CN"/>
              <a:t>3.</a:t>
            </a:r>
            <a:r>
              <a:rPr lang="zh-CN" altLang="en-US">
                <a:ea typeface="黑体" panose="02010609060101010101" pitchFamily="49" charset="-122"/>
              </a:rPr>
              <a:t>假设后件为假，推出前件也为假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例如求证：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en-US" altLang="zh-CN">
                <a:sym typeface="Symbol" panose="05050102010706020507" pitchFamily="18" charset="2"/>
              </a:rPr>
              <a:t> </a:t>
            </a:r>
            <a:r>
              <a:rPr lang="en-US" altLang="zh-CN"/>
              <a:t>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证明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:</a:t>
            </a:r>
            <a:r>
              <a:rPr lang="zh-CN" altLang="en-US">
                <a:sym typeface="Symbol" panose="05050102010706020507" pitchFamily="18" charset="2"/>
              </a:rPr>
              <a:t>假设后件</a:t>
            </a:r>
            <a:r>
              <a:rPr lang="en-US" altLang="zh-CN"/>
              <a:t>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F,</a:t>
            </a:r>
            <a:r>
              <a:rPr lang="zh-CN" altLang="en-US"/>
              <a:t>则</a:t>
            </a:r>
            <a:r>
              <a:rPr lang="en-US" altLang="zh-CN"/>
              <a:t>A</a:t>
            </a:r>
            <a:r>
              <a:rPr lang="zh-CN" altLang="en-US"/>
              <a:t>与</a:t>
            </a:r>
            <a:r>
              <a:rPr lang="en-US" altLang="zh-CN"/>
              <a:t>B</a:t>
            </a:r>
            <a:r>
              <a:rPr lang="zh-CN" altLang="en-US"/>
              <a:t>均为</a:t>
            </a:r>
            <a:r>
              <a:rPr lang="en-US" altLang="zh-CN"/>
              <a:t>T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</a:t>
            </a:r>
            <a:r>
              <a:rPr lang="zh-CN" altLang="en-US"/>
              <a:t>如</a:t>
            </a:r>
            <a:r>
              <a:rPr lang="en-US" altLang="zh-CN"/>
              <a:t>C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，则</a:t>
            </a:r>
            <a:r>
              <a:rPr lang="en-US" altLang="zh-CN"/>
              <a:t>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，所以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前件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2.</a:t>
            </a:r>
            <a:r>
              <a:rPr lang="zh-CN" altLang="en-US"/>
              <a:t>如</a:t>
            </a:r>
            <a:r>
              <a:rPr lang="en-US" altLang="zh-CN"/>
              <a:t>C</a:t>
            </a:r>
            <a:r>
              <a:rPr lang="zh-CN" altLang="en-US"/>
              <a:t>为</a:t>
            </a:r>
            <a:r>
              <a:rPr lang="en-US" altLang="zh-CN"/>
              <a:t>T</a:t>
            </a:r>
            <a:r>
              <a:rPr lang="zh-CN" altLang="en-US"/>
              <a:t>，则</a:t>
            </a:r>
            <a:r>
              <a:rPr lang="zh-CN" altLang="en-US">
                <a:solidFill>
                  <a:srgbClr val="FF0000"/>
                </a:solidFill>
              </a:rPr>
              <a:t>⑴</a:t>
            </a:r>
            <a:r>
              <a:rPr lang="zh-CN" altLang="en-US"/>
              <a:t>若</a:t>
            </a:r>
            <a:r>
              <a:rPr lang="en-US" altLang="zh-CN"/>
              <a:t>D</a:t>
            </a:r>
            <a:r>
              <a:rPr lang="zh-CN" altLang="en-US"/>
              <a:t>为</a:t>
            </a:r>
            <a:r>
              <a:rPr lang="en-US" altLang="zh-CN"/>
              <a:t>T</a:t>
            </a:r>
            <a:r>
              <a:rPr lang="zh-CN" altLang="en-US"/>
              <a:t>，则</a:t>
            </a:r>
            <a:r>
              <a:rPr lang="zh-CN" altLang="en-US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，所以 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前件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zh-CN" altLang="en-US"/>
              <a:t>为假；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</a:t>
            </a:r>
            <a:r>
              <a:rPr lang="zh-CN" altLang="en-US">
                <a:solidFill>
                  <a:srgbClr val="FF0000"/>
                </a:solidFill>
              </a:rPr>
              <a:t>⑵</a:t>
            </a:r>
            <a:r>
              <a:rPr lang="zh-CN" altLang="en-US"/>
              <a:t>若</a:t>
            </a:r>
            <a:r>
              <a:rPr lang="en-US" altLang="zh-CN"/>
              <a:t>D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，则</a:t>
            </a:r>
            <a:r>
              <a:rPr lang="zh-CN" altLang="en-US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，所以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前件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zh-CN" altLang="en-US"/>
              <a:t>为假。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</a:t>
            </a:r>
            <a:r>
              <a:rPr lang="en-US" altLang="zh-CN"/>
              <a:t>((A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B)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C)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D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D) </a:t>
            </a:r>
            <a:r>
              <a:rPr lang="en-US" altLang="zh-CN">
                <a:sym typeface="Symbol" panose="05050102010706020507" pitchFamily="18" charset="2"/>
              </a:rPr>
              <a:t> </a:t>
            </a:r>
            <a:r>
              <a:rPr lang="en-US" altLang="zh-CN"/>
              <a:t>A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</a:t>
            </a:r>
            <a:endParaRPr lang="en-US" altLang="zh-CN"/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4997" name="Rectangle 5"/>
          <p:cNvSpPr>
            <a:spLocks noGrp="1" noChangeArrowheads="1"/>
          </p:cNvSpPr>
          <p:nvPr>
            <p:ph idx="1"/>
          </p:nvPr>
        </p:nvSpPr>
        <p:spPr>
          <a:noFill/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3.</a:t>
            </a:r>
            <a:r>
              <a:rPr lang="zh-CN" altLang="en-US" dirty="0">
                <a:ea typeface="黑体" panose="02010609060101010101" pitchFamily="49" charset="-122"/>
              </a:rPr>
              <a:t>重要的重言蕴涵式</a:t>
            </a:r>
            <a:r>
              <a:rPr lang="en-US" altLang="zh-CN" dirty="0"/>
              <a:t>(</a:t>
            </a:r>
            <a:r>
              <a:rPr lang="zh-CN" altLang="en-US" dirty="0"/>
              <a:t>如教材第</a:t>
            </a:r>
            <a:r>
              <a:rPr lang="en-US" altLang="zh-CN" dirty="0"/>
              <a:t>43</a:t>
            </a:r>
            <a:r>
              <a:rPr lang="zh-CN" altLang="en-US" dirty="0"/>
              <a:t>页所示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     I</a:t>
            </a:r>
            <a:r>
              <a:rPr lang="en-US" altLang="zh-CN" baseline="-25000" dirty="0"/>
              <a:t>2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3</a:t>
            </a:r>
            <a:r>
              <a:rPr lang="en-US" altLang="zh-CN" dirty="0"/>
              <a:t>. 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               I</a:t>
            </a:r>
            <a:r>
              <a:rPr lang="en-US" altLang="zh-CN" baseline="-25000" dirty="0"/>
              <a:t>4</a:t>
            </a:r>
            <a:r>
              <a:rPr lang="en-US" altLang="zh-CN" dirty="0"/>
              <a:t>. 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5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            I</a:t>
            </a:r>
            <a:r>
              <a:rPr lang="en-US" altLang="zh-CN" baseline="-25000" dirty="0"/>
              <a:t>6</a:t>
            </a:r>
            <a:r>
              <a:rPr lang="en-US" altLang="zh-CN" dirty="0"/>
              <a:t>. 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7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(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I</a:t>
            </a:r>
            <a:r>
              <a:rPr lang="en-US" altLang="zh-CN" baseline="-25000" dirty="0"/>
              <a:t>8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(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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9</a:t>
            </a:r>
            <a:r>
              <a:rPr lang="en-US" altLang="zh-CN" dirty="0"/>
              <a:t>. P,Q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          I</a:t>
            </a:r>
            <a:r>
              <a:rPr lang="en-US" altLang="zh-CN" baseline="-25000" dirty="0"/>
              <a:t>10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11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     I</a:t>
            </a:r>
            <a:r>
              <a:rPr lang="en-US" altLang="zh-CN" baseline="-25000" dirty="0"/>
              <a:t>12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</a:t>
            </a:r>
            <a:r>
              <a:rPr lang="en-US" altLang="zh-CN" dirty="0"/>
              <a:t>P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13</a:t>
            </a:r>
            <a:r>
              <a:rPr lang="en-US" altLang="zh-CN" dirty="0"/>
              <a:t>. 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14</a:t>
            </a:r>
            <a:r>
              <a:rPr lang="en-US" altLang="zh-CN" dirty="0"/>
              <a:t>.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15</a:t>
            </a:r>
            <a:r>
              <a:rPr lang="en-US" altLang="zh-CN" dirty="0"/>
              <a:t>. 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(</a:t>
            </a:r>
            <a:r>
              <a:rPr lang="en-US" altLang="zh-CN" dirty="0"/>
              <a:t>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C)</a:t>
            </a:r>
            <a:r>
              <a:rPr lang="en-US" altLang="zh-CN" dirty="0">
                <a:sym typeface="Symbol" panose="05050102010706020507" pitchFamily="18" charset="2"/>
              </a:rPr>
              <a:t>(</a:t>
            </a:r>
            <a:r>
              <a:rPr lang="en-US" altLang="zh-CN" dirty="0"/>
              <a:t>B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C)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16</a:t>
            </a:r>
            <a:r>
              <a:rPr lang="en-US" altLang="zh-CN" dirty="0"/>
              <a:t>. 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C)</a:t>
            </a:r>
            <a:r>
              <a:rPr lang="en-US" altLang="zh-CN" dirty="0">
                <a:sym typeface="Symbol" panose="05050102010706020507" pitchFamily="18" charset="2"/>
              </a:rPr>
              <a:t>(</a:t>
            </a:r>
            <a:r>
              <a:rPr lang="en-US" altLang="zh-CN" dirty="0"/>
              <a:t>B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C)</a:t>
            </a:r>
            <a:endParaRPr lang="en-US" altLang="zh-CN" dirty="0"/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49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49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49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   </a:t>
            </a:r>
            <a:r>
              <a:rPr lang="zh-CN" altLang="en-US" dirty="0"/>
              <a:t>上述公式的证明都比较简单，可以用假设前件为</a:t>
            </a:r>
            <a:r>
              <a:rPr lang="en-US" altLang="zh-CN" dirty="0"/>
              <a:t>T</a:t>
            </a:r>
            <a:r>
              <a:rPr lang="zh-CN" altLang="en-US" dirty="0"/>
              <a:t>，推出后件也为</a:t>
            </a:r>
            <a:r>
              <a:rPr lang="en-US" altLang="zh-CN" dirty="0"/>
              <a:t>T</a:t>
            </a:r>
            <a:r>
              <a:rPr lang="zh-CN" altLang="en-US" dirty="0"/>
              <a:t>的方法证明。</a:t>
            </a:r>
            <a:endParaRPr lang="zh-CN" altLang="en-US" dirty="0"/>
          </a:p>
          <a:p>
            <a:pPr eaLnBrk="1" hangingPunct="1"/>
            <a:r>
              <a:rPr lang="en-US" altLang="zh-CN" dirty="0"/>
              <a:t>4. </a:t>
            </a:r>
            <a:r>
              <a:rPr lang="zh-CN" altLang="zh-CN" dirty="0">
                <a:ea typeface="黑体" panose="02010609060101010101" pitchFamily="49" charset="-122"/>
              </a:rPr>
              <a:t>性质</a:t>
            </a:r>
            <a:endParaRPr lang="zh-CN" altLang="zh-CN" dirty="0"/>
          </a:p>
          <a:p>
            <a:pPr eaLnBrk="1" hangingPunct="1">
              <a:buFontTx/>
              <a:buNone/>
            </a:pPr>
            <a:r>
              <a:rPr lang="zh-CN" altLang="zh-CN" dirty="0"/>
              <a:t>  </a:t>
            </a:r>
            <a:r>
              <a:rPr lang="en-US" altLang="zh-CN" dirty="0"/>
              <a:t>1).</a:t>
            </a:r>
            <a:r>
              <a:rPr lang="zh-CN" altLang="en-US" dirty="0"/>
              <a:t>有自反性：对任何命题公式</a:t>
            </a:r>
            <a:r>
              <a:rPr lang="en-US" altLang="zh-CN" dirty="0"/>
              <a:t>A</a:t>
            </a:r>
            <a:r>
              <a:rPr lang="zh-CN" altLang="en-US" dirty="0"/>
              <a:t>，有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A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2).</a:t>
            </a:r>
            <a:r>
              <a:rPr lang="zh-CN" altLang="zh-CN" dirty="0"/>
              <a:t>有传递性：若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B</a:t>
            </a:r>
            <a:r>
              <a:rPr lang="zh-CN" altLang="en-US" dirty="0">
                <a:sym typeface="Symbol" panose="05050102010706020507" pitchFamily="18" charset="2"/>
              </a:rPr>
              <a:t>且</a:t>
            </a:r>
            <a:r>
              <a:rPr lang="en-US" altLang="zh-CN" dirty="0">
                <a:sym typeface="Symbol" panose="05050102010706020507" pitchFamily="18" charset="2"/>
              </a:rPr>
              <a:t>BC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  <a:r>
              <a:rPr lang="en-US" altLang="zh-CN" dirty="0">
                <a:sym typeface="Symbol" panose="05050102010706020507" pitchFamily="18" charset="2"/>
              </a:rPr>
              <a:t>AC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3).</a:t>
            </a:r>
            <a:r>
              <a:rPr lang="zh-CN" altLang="zh-CN" dirty="0"/>
              <a:t>有反对称性：若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B</a:t>
            </a:r>
            <a:r>
              <a:rPr lang="zh-CN" altLang="en-US" dirty="0">
                <a:sym typeface="Symbol" panose="05050102010706020507" pitchFamily="18" charset="2"/>
              </a:rPr>
              <a:t>且</a:t>
            </a:r>
            <a:r>
              <a:rPr lang="en-US" altLang="zh-CN" dirty="0">
                <a:sym typeface="Symbol" panose="05050102010706020507" pitchFamily="18" charset="2"/>
              </a:rPr>
              <a:t>BA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  <a:r>
              <a:rPr lang="en-US" altLang="zh-CN" dirty="0">
                <a:sym typeface="Symbol" panose="05050102010706020507" pitchFamily="18" charset="2"/>
              </a:rPr>
              <a:t>AB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</a:t>
            </a:r>
            <a:r>
              <a:rPr lang="zh-CN" altLang="en-US" dirty="0">
                <a:sym typeface="Symbol" panose="05050102010706020507" pitchFamily="18" charset="2"/>
              </a:rPr>
              <a:t>符号“”表示“等价”。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本节重点掌握</a:t>
            </a:r>
            <a:r>
              <a:rPr lang="zh-CN" altLang="en-US" dirty="0">
                <a:sym typeface="Symbol" panose="05050102010706020507" pitchFamily="18" charset="2"/>
              </a:rPr>
              <a:t>：永真式及永真蕴涵式的定义、证明方法、以及常用的公式。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作业：第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23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页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: (2) b) 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(6)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(8) e)</a:t>
            </a:r>
            <a:r>
              <a:rPr lang="en-US" altLang="zh-CN" dirty="0">
                <a:sym typeface="Symbol" panose="05050102010706020507" pitchFamily="18" charset="2"/>
              </a:rPr>
              <a:t>  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autoUpdateAnimBg="0" build="p"/>
    </p:bldLst>
  </p:timing>
</p:sld>
</file>

<file path=ppt/tags/tag1.xml><?xml version="1.0" encoding="utf-8"?>
<p:tagLst xmlns:p="http://schemas.openxmlformats.org/presentationml/2006/main">
  <p:tag name="KSO_WPP_MARK_KEY" val="e010095f-8a1f-4bae-a471-d86c22411f4a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2310</Words>
  <Application>WPS 演示</Application>
  <PresentationFormat>全屏显示(4:3)</PresentationFormat>
  <Paragraphs>209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MS Gothic</vt:lpstr>
      <vt:lpstr>Kingsoft Phonetic Plain</vt:lpstr>
      <vt:lpstr>Segoe Print</vt:lpstr>
      <vt:lpstr>微软雅黑</vt:lpstr>
      <vt:lpstr>Arial Unicode MS</vt:lpstr>
      <vt:lpstr>Lucida Sans Unicode</vt:lpstr>
      <vt:lpstr>隶书</vt:lpstr>
      <vt:lpstr>Office 主题​​</vt:lpstr>
      <vt:lpstr>PowerPoint 演示文稿</vt:lpstr>
      <vt:lpstr>一.重言式(永真式)与矛盾式(永假式)</vt:lpstr>
      <vt:lpstr>PowerPoint 演示文稿</vt:lpstr>
      <vt:lpstr>PowerPoint 演示文稿</vt:lpstr>
      <vt:lpstr>PowerPoint 演示文稿</vt:lpstr>
      <vt:lpstr>PowerPoint 演示文稿</vt:lpstr>
      <vt:lpstr>二.重言(永真)蕴涵式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谭振华</cp:lastModifiedBy>
  <cp:revision>503</cp:revision>
  <dcterms:created xsi:type="dcterms:W3CDTF">2001-03-04T02:11:00Z</dcterms:created>
  <dcterms:modified xsi:type="dcterms:W3CDTF">2023-03-08T01:34:18Z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4C0C4819DF3C49108A154C9ED33495DC</vt:lpwstr>
  </property>
  <property fmtid="{D5CDD505-2E9C-101B-9397-08002B2CF9AE}" pid="3" name="KSOProductBuildVer">
    <vt:lpwstr>2052-11.1.0.13703</vt:lpwstr>
  </property>
</Properties>
</file>