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50" r:id="rId3"/>
    <p:sldId id="551" r:id="rId4"/>
    <p:sldId id="552" r:id="rId5"/>
    <p:sldId id="553" r:id="rId6"/>
    <p:sldId id="554" r:id="rId7"/>
    <p:sldId id="555" r:id="rId8"/>
    <p:sldId id="556" r:id="rId9"/>
    <p:sldId id="557" r:id="rId10"/>
    <p:sldId id="558" r:id="rId11"/>
    <p:sldId id="559" r:id="rId12"/>
    <p:sldId id="560" r:id="rId13"/>
    <p:sldId id="561" r:id="rId14"/>
    <p:sldId id="562" r:id="rId15"/>
    <p:sldId id="563" r:id="rId16"/>
    <p:sldId id="564" r:id="rId17"/>
    <p:sldId id="565" r:id="rId18"/>
    <p:sldId id="566" r:id="rId19"/>
    <p:sldId id="567" r:id="rId20"/>
    <p:sldId id="568" r:id="rId21"/>
  </p:sldIdLst>
  <p:sldSz cx="9144000" cy="6858000" type="screen4x3"/>
  <p:notesSz cx="6797675" cy="9928225"/>
  <p:custDataLst>
    <p:tags r:id="rId2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FF0000"/>
    <a:srgbClr val="800080"/>
    <a:srgbClr val="3333FF"/>
    <a:srgbClr val="99FFCC"/>
    <a:srgbClr val="99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2" autoAdjust="0"/>
    <p:restoredTop sz="95205" autoAdjust="0"/>
  </p:normalViewPr>
  <p:slideViewPr>
    <p:cSldViewPr showGuides="1">
      <p:cViewPr varScale="1">
        <p:scale>
          <a:sx n="86" d="100"/>
          <a:sy n="86" d="100"/>
        </p:scale>
        <p:origin x="1392" y="10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318"/>
    </p:cViewPr>
  </p:sorterViewPr>
  <p:notesViewPr>
    <p:cSldViewPr>
      <p:cViewPr varScale="1">
        <p:scale>
          <a:sx n="37" d="100"/>
          <a:sy n="37" d="100"/>
        </p:scale>
        <p:origin x="-1090" y="-5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B4B81F-A7D6-4015-B8B5-25709B6C0B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814" y="1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22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952" y="4715406"/>
            <a:ext cx="4985772" cy="446747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t" anchorCtr="0" compatLnSpc="1"/>
          <a:lstStyle/>
          <a:p>
            <a:pPr lvl="0"/>
            <a:r>
              <a:rPr lang="zh-CN" altLang="en-US" noProof="0"/>
              <a:t>单击以编辑母版文本样式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814" y="9432353"/>
            <a:ext cx="2945862" cy="4958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5571" tIns="47786" rIns="95571" bIns="47786" numCol="1" anchor="b" anchorCtr="0" compatLnSpc="1"/>
          <a:lstStyle>
            <a:lvl1pPr algn="r" defTabSz="955675">
              <a:defRPr kumimoji="1"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36B63D6-A577-4FFD-BDA7-6D48BE1130C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 userDrawn="1"/>
        </p:nvSpPr>
        <p:spPr bwMode="auto">
          <a:xfrm>
            <a:off x="0" y="6237312"/>
            <a:ext cx="9144000" cy="63021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lIns="76786" tIns="38393" rIns="76786" bIns="38393"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ndara" panose="020E0502030303020204" pitchFamily="34" charset="0"/>
                <a:ea typeface="华文楷体" panose="0201060004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defTabSz="1024255">
              <a:defRPr/>
            </a:pPr>
            <a:endParaRPr lang="en-US" sz="1200" dirty="0">
              <a:solidFill>
                <a:prstClr val="white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328592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7668344" y="6597352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东北大学 谭振华</a:t>
            </a:r>
            <a:endParaRPr lang="zh-CN" altLang="en-US" sz="1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766" y="0"/>
            <a:ext cx="9144000" cy="69269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lIns="76786" tIns="38393" rIns="76786" bIns="38393"/>
          <a:lstStyle>
            <a:lvl1pPr>
              <a:defRPr sz="36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764704"/>
            <a:ext cx="8496944" cy="5904656"/>
          </a:xfrm>
          <a:prstGeom prst="rect">
            <a:avLst/>
          </a:prstGeom>
        </p:spPr>
        <p:txBody>
          <a:bodyPr lIns="76786" tIns="38393" rIns="76786" bIns="38393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>
              <a:defRPr sz="2800"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5000">
              <a:srgbClr val="FBFBFB"/>
            </a:gs>
            <a:gs pos="100000">
              <a:srgbClr val="D0D0D0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102425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2485" indent="-320040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807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26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50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749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9305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4175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560" indent="-255905" algn="l" defTabSz="102425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489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67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85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609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7340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5210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7655" algn="l" defTabSz="102425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107504" y="44624"/>
            <a:ext cx="4528256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defTabSz="102425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dirty="0">
                <a:solidFill>
                  <a:prstClr val="white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第一篇 数理逻辑</a:t>
            </a:r>
            <a:endParaRPr lang="en-US" altLang="zh-CN" sz="2800" dirty="0">
              <a:solidFill>
                <a:prstClr val="white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043608" y="2636912"/>
            <a:ext cx="7521824" cy="1378715"/>
          </a:xfrm>
          <a:prstGeom prst="rect">
            <a:avLst/>
          </a:prstGeom>
          <a:noFill/>
          <a:ln>
            <a:noFill/>
          </a:ln>
          <a:effectLst/>
        </p:spPr>
        <p:txBody>
          <a:bodyPr lIns="76772" tIns="38386" rIns="76772" bIns="38386" anchor="ctr"/>
          <a:lstStyle/>
          <a:p>
            <a:pPr algn="ctr" defTabSz="1024255"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1-7 </a:t>
            </a:r>
            <a:r>
              <a:rPr lang="zh-CN" altLang="en-US" sz="7200" dirty="0">
                <a:solidFill>
                  <a:schemeClr val="tx2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命题逻辑推理</a:t>
            </a:r>
            <a:endParaRPr lang="en-US" altLang="zh-CN" sz="7200" dirty="0">
              <a:solidFill>
                <a:schemeClr val="tx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1-7.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命题逻辑推理</a:t>
            </a:r>
            <a:endParaRPr lang="zh-CN" alt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832648"/>
          </a:xfrm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推理</a:t>
            </a:r>
            <a:r>
              <a:rPr lang="zh-CN" altLang="en-US" sz="2800" dirty="0">
                <a:latin typeface="宋体" panose="02010600030101010101" pitchFamily="2" charset="-122"/>
              </a:rPr>
              <a:t>就是根据一个或几个已知的判断得出一个新的判断的思维过程。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400" dirty="0">
                <a:latin typeface="宋体" panose="02010600030101010101" pitchFamily="2" charset="-122"/>
              </a:rPr>
              <a:t>称这些已知的判断为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</a:t>
            </a:r>
            <a:r>
              <a:rPr lang="zh-CN" altLang="en-US" sz="2400" dirty="0">
                <a:latin typeface="宋体" panose="02010600030101010101" pitchFamily="2" charset="-122"/>
              </a:rPr>
              <a:t>。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lvl="1"/>
            <a:r>
              <a:rPr lang="zh-CN" altLang="en-US" sz="2800" dirty="0">
                <a:latin typeface="宋体" panose="02010600030101010101" pitchFamily="2" charset="-122"/>
              </a:rPr>
              <a:t>得到的新的判断为前提的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有效结论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实际上，推理的过程就是证明永真蕴含式的过程，即令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…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</a:rPr>
              <a:t>是已知的命题公式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latin typeface="宋体" panose="02010600030101010101" pitchFamily="2" charset="-122"/>
              </a:rPr>
              <a:t>前提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，若有 </a:t>
            </a:r>
            <a:endParaRPr lang="zh-CN" altLang="en-US" sz="2800" dirty="0">
              <a:latin typeface="宋体" panose="02010600030101010101" pitchFamily="2" charset="-122"/>
            </a:endParaRPr>
          </a:p>
          <a:p>
            <a:pPr algn="ctr" eaLnBrk="1" hangingPunct="1">
              <a:buFontTx/>
              <a:buNone/>
            </a:pP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∧H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∧....∧H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n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</a:rPr>
              <a:t>C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algn="ctr" eaLnBrk="1" hangingPunct="1"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（过程：前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件为真，</a:t>
            </a:r>
            <a:r>
              <a:rPr lang="zh-CN" altLang="en-US" sz="2800">
                <a:solidFill>
                  <a:srgbClr val="FF0000"/>
                </a:solidFill>
                <a:latin typeface="宋体" panose="02010600030101010101" pitchFamily="2" charset="-122"/>
              </a:rPr>
              <a:t>推出结论）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dirty="0">
                <a:latin typeface="宋体" panose="02010600030101010101" pitchFamily="2" charset="-122"/>
              </a:rPr>
              <a:t>则称</a:t>
            </a:r>
            <a:r>
              <a:rPr lang="en-US" altLang="zh-CN" sz="2800" dirty="0">
                <a:latin typeface="宋体" panose="02010600030101010101" pitchFamily="2" charset="-122"/>
              </a:rPr>
              <a:t>C</a:t>
            </a:r>
            <a:r>
              <a:rPr lang="zh-CN" altLang="en-US" sz="2800" dirty="0">
                <a:latin typeface="宋体" panose="02010600030101010101" pitchFamily="2" charset="-122"/>
              </a:rPr>
              <a:t>是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r>
              <a:rPr lang="en-US" altLang="zh-CN" sz="2800" dirty="0"/>
              <a:t>…</a:t>
            </a:r>
            <a:r>
              <a:rPr lang="en-US" altLang="zh-CN" sz="2800" dirty="0">
                <a:latin typeface="宋体" panose="02010600030101010101" pitchFamily="2" charset="-122"/>
              </a:rPr>
              <a:t>H</a:t>
            </a:r>
            <a:r>
              <a:rPr lang="en-US" altLang="zh-CN" sz="2800" baseline="-25000" dirty="0">
                <a:latin typeface="宋体" panose="02010600030101010101" pitchFamily="2" charset="-122"/>
              </a:rPr>
              <a:t>n</a:t>
            </a:r>
            <a:r>
              <a:rPr lang="zh-CN" altLang="en-US" sz="2800" dirty="0">
                <a:latin typeface="宋体" panose="02010600030101010101" pitchFamily="2" charset="-122"/>
              </a:rPr>
              <a:t>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有效结论</a:t>
            </a:r>
            <a:r>
              <a:rPr lang="zh-CN" altLang="en-US" sz="2800" dirty="0">
                <a:latin typeface="宋体" panose="02010600030101010101" pitchFamily="2" charset="-122"/>
              </a:rPr>
              <a:t>，简称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结论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  <a:endParaRPr lang="zh-CN" altLang="en-US" sz="28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autoUpdateAnimBg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6600"/>
            </a:solidFill>
            <a:miter lim="800000"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latin typeface="宋体" panose="02010600030101010101" pitchFamily="2" charset="-122"/>
              </a:rPr>
              <a:t>如何根据前提得到结论，需要有推理的规则。下面先介绍两个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推理规则</a:t>
            </a:r>
            <a:r>
              <a:rPr lang="zh-CN" altLang="en-US" b="1" dirty="0">
                <a:latin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引入前提规则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：在推理过程中，可以随时引入前提。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引入结论规则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：在推理过程中，如果前边有一个或几个公式永真蕴涵公式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，则可将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纳入推理过程中。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在推理过程中，还要应用教材</a:t>
            </a:r>
            <a:r>
              <a:rPr lang="en-US" altLang="zh-CN" b="1" dirty="0">
                <a:latin typeface="宋体" panose="02010600030101010101" pitchFamily="2" charset="-122"/>
              </a:rPr>
              <a:t>43</a:t>
            </a:r>
            <a:r>
              <a:rPr lang="zh-CN" altLang="en-US" b="1" dirty="0">
                <a:latin typeface="宋体" panose="02010600030101010101" pitchFamily="2" charset="-122"/>
              </a:rPr>
              <a:t>页表</a:t>
            </a:r>
            <a:r>
              <a:rPr lang="en-US" altLang="zh-CN" b="1" dirty="0">
                <a:latin typeface="宋体" panose="02010600030101010101" pitchFamily="2" charset="-122"/>
              </a:rPr>
              <a:t>1-8.3</a:t>
            </a:r>
            <a:r>
              <a:rPr lang="zh-CN" altLang="en-US" b="1" dirty="0">
                <a:latin typeface="宋体" panose="02010600030101010101" pitchFamily="2" charset="-122"/>
              </a:rPr>
              <a:t>中的永真蕴涵式</a:t>
            </a:r>
            <a:r>
              <a:rPr lang="en-US" altLang="zh-CN" b="1" dirty="0">
                <a:latin typeface="宋体" panose="02010600030101010101" pitchFamily="2" charset="-122"/>
              </a:rPr>
              <a:t>I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-I</a:t>
            </a:r>
            <a:r>
              <a:rPr lang="en-US" altLang="zh-CN" b="1" baseline="-25000" dirty="0">
                <a:latin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</a:rPr>
              <a:t>和表</a:t>
            </a:r>
            <a:r>
              <a:rPr lang="en-US" altLang="zh-CN" b="1" dirty="0">
                <a:latin typeface="宋体" panose="02010600030101010101" pitchFamily="2" charset="-122"/>
              </a:rPr>
              <a:t>1-8.4</a:t>
            </a:r>
            <a:r>
              <a:rPr lang="zh-CN" altLang="en-US" b="1" dirty="0">
                <a:latin typeface="宋体" panose="02010600030101010101" pitchFamily="2" charset="-122"/>
              </a:rPr>
              <a:t>中等价公式</a:t>
            </a:r>
            <a:r>
              <a:rPr lang="en-US" altLang="zh-CN" b="1" dirty="0"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-E</a:t>
            </a:r>
            <a:r>
              <a:rPr lang="en-US" altLang="zh-CN" b="1" baseline="-25000" dirty="0">
                <a:latin typeface="宋体" panose="02010600030101010101" pitchFamily="2" charset="-122"/>
              </a:rPr>
              <a:t>22 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常用的公式要熟记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baseline="-25000" dirty="0">
              <a:latin typeface="宋体" panose="0201060003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下面主要介绍三种推理方法：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直接推理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条件论证</a:t>
            </a:r>
            <a:r>
              <a:rPr lang="zh-CN" altLang="en-US" b="1" dirty="0">
                <a:latin typeface="宋体" panose="02010600030101010101" pitchFamily="2" charset="-122"/>
              </a:rPr>
              <a:t>及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反证法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utoUpdateAnimBg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algn="l" eaLnBrk="1" hangingPunct="1"/>
            <a:r>
              <a:rPr lang="zh-CN" altLang="en-US" sz="3200" dirty="0">
                <a:ea typeface="黑体" panose="02010609060101010101" pitchFamily="49" charset="-122"/>
              </a:rPr>
              <a:t>重要的重言蕴涵式</a:t>
            </a:r>
            <a:r>
              <a:rPr lang="en-US" altLang="zh-CN" sz="3200" dirty="0"/>
              <a:t>(</a:t>
            </a:r>
            <a:r>
              <a:rPr lang="zh-CN" altLang="en-US" sz="3200" dirty="0"/>
              <a:t>如教材第</a:t>
            </a:r>
            <a:r>
              <a:rPr lang="en-US" altLang="zh-CN" sz="3200" dirty="0"/>
              <a:t>43</a:t>
            </a:r>
            <a:r>
              <a:rPr lang="zh-CN" altLang="en-US" sz="3200" dirty="0"/>
              <a:t>页所示</a:t>
            </a:r>
            <a:r>
              <a:rPr lang="en-US" altLang="zh-CN" sz="3200" dirty="0"/>
              <a:t>)</a:t>
            </a:r>
            <a:endParaRPr lang="en-US" altLang="zh-CN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764704"/>
            <a:ext cx="8928992" cy="5904656"/>
          </a:xfrm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     I</a:t>
            </a:r>
            <a:r>
              <a:rPr lang="en-US" altLang="zh-CN" baseline="-25000" dirty="0"/>
              <a:t>2</a:t>
            </a:r>
            <a:r>
              <a:rPr lang="en-US" altLang="zh-CN" dirty="0"/>
              <a:t>. 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3</a:t>
            </a:r>
            <a:r>
              <a:rPr lang="en-US" altLang="zh-CN" dirty="0"/>
              <a:t>. 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                I</a:t>
            </a:r>
            <a:r>
              <a:rPr lang="en-US" altLang="zh-CN" baseline="-25000" dirty="0"/>
              <a:t>4</a:t>
            </a:r>
            <a:r>
              <a:rPr lang="en-US" altLang="zh-CN" dirty="0"/>
              <a:t>. 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5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             I</a:t>
            </a:r>
            <a:r>
              <a:rPr lang="en-US" altLang="zh-CN" baseline="-25000" dirty="0"/>
              <a:t>6</a:t>
            </a:r>
            <a:r>
              <a:rPr lang="en-US" altLang="zh-CN" dirty="0"/>
              <a:t>.  Q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7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           I</a:t>
            </a:r>
            <a:r>
              <a:rPr lang="en-US" altLang="zh-CN" baseline="-25000" dirty="0"/>
              <a:t>8</a:t>
            </a:r>
            <a:r>
              <a:rPr lang="en-US" altLang="zh-CN" dirty="0"/>
              <a:t>.  </a:t>
            </a:r>
            <a:r>
              <a:rPr lang="en-US" altLang="zh-CN" dirty="0">
                <a:sym typeface="Symbol" panose="05050102010706020507" pitchFamily="18" charset="2"/>
              </a:rPr>
              <a:t>(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9</a:t>
            </a:r>
            <a:r>
              <a:rPr lang="en-US" altLang="zh-CN" dirty="0"/>
              <a:t>. P,Q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Q           I</a:t>
            </a:r>
            <a:r>
              <a:rPr lang="en-US" altLang="zh-CN" baseline="-25000" dirty="0"/>
              <a:t>10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11</a:t>
            </a:r>
            <a:r>
              <a:rPr lang="en-US" altLang="zh-CN" dirty="0"/>
              <a:t>. 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Q      I</a:t>
            </a:r>
            <a:r>
              <a:rPr lang="en-US" altLang="zh-CN" baseline="-25000" dirty="0"/>
              <a:t>12</a:t>
            </a:r>
            <a:r>
              <a:rPr lang="en-US" altLang="zh-CN" dirty="0"/>
              <a:t>. 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dirty="0"/>
              <a:t>Q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sym typeface="Symbol" panose="05050102010706020507" pitchFamily="18" charset="2"/>
              </a:rPr>
              <a:t></a:t>
            </a:r>
            <a:r>
              <a:rPr lang="en-US" altLang="zh-CN" dirty="0"/>
              <a:t>P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13</a:t>
            </a:r>
            <a:r>
              <a:rPr lang="en-US" altLang="zh-CN" dirty="0"/>
              <a:t>. 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14</a:t>
            </a:r>
            <a:r>
              <a:rPr lang="en-US" altLang="zh-CN" dirty="0"/>
              <a:t>. (P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Q)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(Q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R)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R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15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(</a:t>
            </a:r>
            <a:r>
              <a:rPr lang="en-US" altLang="zh-CN" dirty="0"/>
              <a:t>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dirty="0"/>
              <a:t>C)</a:t>
            </a:r>
            <a:endParaRPr lang="en-US" altLang="zh-CN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dirty="0"/>
              <a:t>  I</a:t>
            </a:r>
            <a:r>
              <a:rPr lang="en-US" altLang="zh-CN" baseline="-25000" dirty="0"/>
              <a:t>16</a:t>
            </a:r>
            <a:r>
              <a:rPr lang="en-US" altLang="zh-CN" dirty="0"/>
              <a:t>. 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(A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r>
              <a:rPr lang="en-US" altLang="zh-CN" dirty="0">
                <a:sym typeface="Symbol" panose="05050102010706020507" pitchFamily="18" charset="2"/>
              </a:rPr>
              <a:t>(</a:t>
            </a:r>
            <a:r>
              <a:rPr lang="en-US" altLang="zh-CN" dirty="0"/>
              <a:t>B</a:t>
            </a:r>
            <a:r>
              <a:rPr lang="en-US" altLang="zh-CN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dirty="0"/>
              <a:t>C)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dirty="0">
                <a:ea typeface="黑体" panose="02010609060101010101" pitchFamily="49" charset="-122"/>
              </a:rPr>
              <a:t>重要的等价公式</a:t>
            </a:r>
            <a:endParaRPr lang="zh-CN" altLang="en-US" sz="3200" dirty="0">
              <a:ea typeface="黑体" panose="02010609060101010101" pitchFamily="49" charset="-122"/>
            </a:endParaRPr>
          </a:p>
        </p:txBody>
      </p:sp>
      <p:sp>
        <p:nvSpPr>
          <p:cNvPr id="121858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000" b="1" dirty="0"/>
              <a:t>对合律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   </a:t>
            </a:r>
            <a:r>
              <a:rPr lang="en-US" altLang="zh-CN" sz="2000" b="1" dirty="0">
                <a:sym typeface="Symbol" panose="05050102010706020507" pitchFamily="18" charset="2"/>
              </a:rPr>
              <a:t>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交换律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2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P                        E</a:t>
            </a:r>
            <a:r>
              <a:rPr lang="en-US" altLang="zh-CN" sz="2000" b="1" baseline="-25000" dirty="0"/>
              <a:t>3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P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结合律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4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       E</a:t>
            </a:r>
            <a:r>
              <a:rPr lang="en-US" altLang="zh-CN" sz="2000" b="1" baseline="-25000" dirty="0"/>
              <a:t>5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分配律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6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  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E</a:t>
            </a:r>
            <a:r>
              <a:rPr lang="en-US" altLang="zh-CN" sz="2000" b="1" baseline="-25000" dirty="0"/>
              <a:t>7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R)</a:t>
            </a:r>
            <a:r>
              <a:rPr lang="en-US" altLang="zh-CN" sz="2000" b="1" dirty="0">
                <a:sym typeface="Symbol" panose="05050102010706020507" pitchFamily="18" charset="2"/>
              </a:rPr>
              <a:t>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R)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底</a:t>
            </a:r>
            <a:r>
              <a:rPr lang="en-US" altLang="zh-CN" sz="2000" b="1" dirty="0"/>
              <a:t>-</a:t>
            </a:r>
            <a:r>
              <a:rPr lang="zh-CN" altLang="en-US" sz="2000" b="1" dirty="0"/>
              <a:t>摩根定律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8</a:t>
            </a:r>
            <a:r>
              <a:rPr lang="en-US" altLang="zh-CN" sz="2000" b="1" dirty="0"/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         E</a:t>
            </a:r>
            <a:r>
              <a:rPr lang="en-US" altLang="zh-CN" sz="2000" b="1" baseline="-25000" dirty="0"/>
              <a:t>9</a:t>
            </a:r>
            <a:r>
              <a:rPr lang="en-US" altLang="zh-CN" sz="2000" b="1" dirty="0"/>
              <a:t>  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 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幂等律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10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E</a:t>
            </a:r>
            <a:r>
              <a:rPr lang="en-US" altLang="zh-CN" sz="2000" b="1" baseline="-25000" dirty="0"/>
              <a:t>11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同一律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12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  E</a:t>
            </a:r>
            <a:r>
              <a:rPr lang="en-US" altLang="zh-CN" sz="2000" b="1" baseline="-25000" dirty="0"/>
              <a:t>13  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</a:t>
            </a:r>
            <a:r>
              <a:rPr lang="zh-CN" altLang="en-US" sz="2000" b="1" dirty="0"/>
              <a:t>零律       </a:t>
            </a:r>
            <a:r>
              <a:rPr lang="en-US" altLang="zh-CN" sz="2000" b="1" dirty="0"/>
              <a:t>E</a:t>
            </a:r>
            <a:r>
              <a:rPr lang="en-US" altLang="zh-CN" sz="2000" b="1" baseline="-25000" dirty="0"/>
              <a:t>14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T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T                                E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F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F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16</a:t>
            </a:r>
            <a:r>
              <a:rPr lang="en-US" altLang="zh-CN" sz="2000" b="1" dirty="0"/>
              <a:t>  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                     E</a:t>
            </a:r>
            <a:r>
              <a:rPr lang="en-US" altLang="zh-CN" sz="2000" b="1" baseline="-25000" dirty="0"/>
              <a:t>17     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baseline="-25000" dirty="0"/>
              <a:t> </a:t>
            </a:r>
            <a:r>
              <a:rPr lang="en-US" altLang="zh-CN" sz="2000" b="1" dirty="0"/>
              <a:t>(</a:t>
            </a:r>
            <a:r>
              <a:rPr lang="en-US" altLang="zh-CN" sz="2000" b="1" baseline="-25000" dirty="0"/>
              <a:t>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18 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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</a:t>
            </a:r>
            <a:r>
              <a:rPr lang="en-US" altLang="zh-CN" sz="2000" b="1" dirty="0"/>
              <a:t>P                   E</a:t>
            </a:r>
            <a:r>
              <a:rPr lang="en-US" altLang="zh-CN" sz="2000" b="1" baseline="-25000" dirty="0"/>
              <a:t>19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(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R</a:t>
            </a:r>
            <a:r>
              <a:rPr lang="en-US" altLang="zh-CN" sz="2000" b="1" dirty="0"/>
              <a:t>)</a:t>
            </a:r>
            <a:r>
              <a:rPr lang="en-US" altLang="zh-CN" sz="2000" b="1" dirty="0">
                <a:sym typeface="Symbol" panose="05050102010706020507" pitchFamily="18" charset="2"/>
              </a:rPr>
              <a:t>(P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</a:t>
            </a:r>
            <a:r>
              <a:rPr lang="en-US" altLang="zh-CN" sz="2000" b="1" dirty="0">
                <a:sym typeface="Symbol" panose="05050102010706020507" pitchFamily="18" charset="2"/>
              </a:rPr>
              <a:t>)</a:t>
            </a:r>
            <a:r>
              <a:rPr lang="en-US" altLang="zh-CN" sz="2000" b="1" dirty="0"/>
              <a:t>R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20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Q 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(Q</a:t>
            </a:r>
            <a:r>
              <a:rPr lang="en-US" altLang="zh-CN" sz="2000" b="1" dirty="0">
                <a:sym typeface="Symbol" panose="05050102010706020507" pitchFamily="18" charset="2"/>
              </a:rPr>
              <a:t></a:t>
            </a:r>
            <a:r>
              <a:rPr lang="en-US" altLang="zh-CN" sz="2000" b="1" dirty="0"/>
              <a:t>P)      E</a:t>
            </a:r>
            <a:r>
              <a:rPr lang="en-US" altLang="zh-CN" sz="2000" b="1" baseline="-25000" dirty="0"/>
              <a:t>21</a:t>
            </a:r>
            <a:r>
              <a:rPr lang="en-US" altLang="zh-CN" sz="2000" b="1" dirty="0"/>
              <a:t> P</a:t>
            </a:r>
            <a:r>
              <a:rPr lang="en-US" altLang="zh-CN" sz="2000" b="1" dirty="0">
                <a:sym typeface="Symbol" panose="05050102010706020507" pitchFamily="18" charset="2"/>
              </a:rPr>
              <a:t>Q (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(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 )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 E</a:t>
            </a:r>
            <a:r>
              <a:rPr lang="en-US" altLang="zh-CN" sz="2000" b="1" baseline="-25000" dirty="0"/>
              <a:t>22  </a:t>
            </a:r>
            <a:r>
              <a:rPr lang="en-US" altLang="zh-CN" sz="2000" b="1" dirty="0">
                <a:sym typeface="Symbol" panose="05050102010706020507" pitchFamily="18" charset="2"/>
              </a:rPr>
              <a:t>(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Q)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</a:t>
            </a:r>
            <a:r>
              <a:rPr lang="en-US" altLang="zh-CN" sz="2000" b="1" dirty="0"/>
              <a:t>Q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吸收律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                           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∧(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P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zh-CN" altLang="en-US" sz="2000" b="1" dirty="0"/>
              <a:t>互补律    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T</a:t>
            </a:r>
            <a:r>
              <a:rPr lang="en-US" altLang="zh-CN" sz="2000" b="1" dirty="0"/>
              <a:t>                                     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sym typeface="Symbol" panose="05050102010706020507" pitchFamily="18" charset="2"/>
              </a:rPr>
              <a:t></a:t>
            </a:r>
            <a:r>
              <a:rPr lang="en-US" altLang="zh-CN" sz="2000" b="1" dirty="0"/>
              <a:t>F</a:t>
            </a:r>
            <a:endParaRPr lang="en-US" altLang="zh-CN" sz="2000" b="1" dirty="0"/>
          </a:p>
          <a:p>
            <a:pPr eaLnBrk="1" hangingPunct="1">
              <a:buFontTx/>
              <a:buNone/>
            </a:pPr>
            <a:r>
              <a:rPr lang="en-US" altLang="zh-CN" sz="2000" b="1" dirty="0"/>
              <a:t>               P</a:t>
            </a:r>
            <a:r>
              <a:rPr lang="en-US" altLang="zh-CN" sz="2000" b="1" dirty="0">
                <a:sym typeface="Symbol" panose="05050102010706020507" pitchFamily="18" charset="2"/>
              </a:rPr>
              <a:t>Q (</a:t>
            </a:r>
            <a:r>
              <a:rPr lang="en-US" altLang="zh-CN" sz="2000" b="1" dirty="0"/>
              <a:t>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/>
              <a:t>Q)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∧</a:t>
            </a:r>
            <a:r>
              <a:rPr lang="en-US" altLang="zh-CN" sz="2000" b="1" dirty="0"/>
              <a:t>(P</a:t>
            </a:r>
            <a:r>
              <a:rPr lang="en-US" altLang="zh-CN" sz="2000" b="1" dirty="0">
                <a:ea typeface="MS Gothic" panose="020B0609070205080204" pitchFamily="49" charset="-128"/>
                <a:sym typeface="Kingsoft Phonetic Plain" pitchFamily="2" charset="2"/>
              </a:rPr>
              <a:t>∨</a:t>
            </a:r>
            <a:r>
              <a:rPr lang="en-US" altLang="zh-CN" sz="2000" b="1" dirty="0">
                <a:sym typeface="Symbol" panose="05050102010706020507" pitchFamily="18" charset="2"/>
              </a:rPr>
              <a:t></a:t>
            </a:r>
            <a:r>
              <a:rPr lang="en-US" altLang="zh-CN" sz="2000" b="1" dirty="0"/>
              <a:t>Q) </a:t>
            </a:r>
            <a:endParaRPr lang="en-US" altLang="zh-CN" sz="2000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一、直接推理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直接推理</a:t>
            </a:r>
            <a:r>
              <a:rPr lang="zh-CN" altLang="en-US" dirty="0">
                <a:latin typeface="宋体" panose="02010600030101010101" pitchFamily="2" charset="-122"/>
              </a:rPr>
              <a:t>，就是从前提直接推出结论。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latin typeface="宋体" panose="02010600030101010101" pitchFamily="2" charset="-122"/>
              </a:rPr>
              <a:t>上面讲到推理的过程实际上是证明永真蕴含式的过程。只不过证明的过程采用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另外一种书写格式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格式中包含</a:t>
            </a:r>
            <a:r>
              <a:rPr lang="zh-CN" altLang="en-US" dirty="0">
                <a:latin typeface="宋体" panose="02010600030101010101" pitchFamily="2" charset="-122"/>
              </a:rPr>
              <a:t>：（</a:t>
            </a:r>
            <a:r>
              <a:rPr lang="en-US" altLang="zh-CN" dirty="0">
                <a:latin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</a:rPr>
              <a:t>）步骤号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</a:rPr>
              <a:t>）给定前提或得出的结论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3</a:t>
            </a:r>
            <a:r>
              <a:rPr lang="zh-CN" altLang="en-US" dirty="0">
                <a:latin typeface="宋体" panose="02010600030101010101" pitchFamily="2" charset="-122"/>
              </a:rPr>
              <a:t>）推理时所用规则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4</a:t>
            </a:r>
            <a:r>
              <a:rPr lang="zh-CN" altLang="en-US" dirty="0">
                <a:latin typeface="宋体" panose="02010600030101010101" pitchFamily="2" charset="-122"/>
              </a:rPr>
              <a:t>）此结论是从哪几步得到</a:t>
            </a:r>
            <a:br>
              <a:rPr lang="en-US" altLang="zh-CN" dirty="0">
                <a:latin typeface="宋体" panose="02010600030101010101" pitchFamily="2" charset="-122"/>
              </a:rPr>
            </a:br>
            <a:r>
              <a:rPr lang="en-US" altLang="zh-CN" dirty="0">
                <a:latin typeface="宋体" panose="02010600030101010101" pitchFamily="2" charset="-122"/>
              </a:rPr>
              <a:t>          </a:t>
            </a:r>
            <a:r>
              <a:rPr lang="zh-CN" altLang="en-US" dirty="0">
                <a:latin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</a:rPr>
              <a:t>5</a:t>
            </a:r>
            <a:r>
              <a:rPr lang="zh-CN" altLang="en-US" dirty="0">
                <a:latin typeface="宋体" panose="02010600030101010101" pitchFamily="2" charset="-122"/>
              </a:rPr>
              <a:t>）所依据的公式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dirty="0">
              <a:ea typeface="MS Gothic" panose="020B0609070205080204" pitchFamily="49" charset="-128"/>
              <a:sym typeface="Kingsoft Phonetic Plain" pitchFamily="2" charset="2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autoUpdateAnimBg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例题１</a:t>
            </a:r>
            <a:r>
              <a:rPr lang="zh-CN" altLang="en-US">
                <a:latin typeface="宋体" panose="02010600030101010101" pitchFamily="2" charset="-122"/>
              </a:rPr>
              <a:t>求证  </a:t>
            </a:r>
            <a:r>
              <a:rPr lang="en-US" altLang="zh-CN">
                <a:latin typeface="宋体" panose="02010600030101010101" pitchFamily="2" charset="-122"/>
              </a:rPr>
              <a:t>P→Q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Q→R</a:t>
            </a:r>
            <a:r>
              <a:rPr lang="zh-CN" altLang="en-US">
                <a:latin typeface="宋体" panose="02010600030101010101" pitchFamily="2" charset="-122"/>
              </a:rPr>
              <a:t>，</a:t>
            </a:r>
            <a:r>
              <a:rPr lang="en-US" altLang="zh-CN">
                <a:latin typeface="宋体" panose="02010600030101010101" pitchFamily="2" charset="-122"/>
              </a:rPr>
              <a:t>P </a:t>
            </a:r>
            <a:r>
              <a:rPr lang="en-US" altLang="zh-CN">
                <a:sym typeface="Symbol" panose="05050102010706020507" pitchFamily="18" charset="2"/>
              </a:rPr>
              <a:t> </a:t>
            </a:r>
            <a:r>
              <a:rPr lang="en-US" altLang="zh-CN">
                <a:latin typeface="宋体" panose="02010600030101010101" pitchFamily="2" charset="-122"/>
              </a:rPr>
              <a:t>R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000">
                <a:latin typeface="宋体" panose="02010600030101010101" pitchFamily="2" charset="-122"/>
              </a:rPr>
              <a:t>  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序号  前提或结论  所用规则  从哪几步得到  所用公式</a:t>
            </a:r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en-US" altLang="zh-CN">
                <a:latin typeface="宋体" panose="02010600030101010101" pitchFamily="2" charset="-122"/>
              </a:rPr>
              <a:t>(1) P        P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(2) P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>
                <a:latin typeface="宋体" panose="02010600030101010101" pitchFamily="2" charset="-122"/>
              </a:rPr>
              <a:t>Q     P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(3) Q        T    (1)(2)    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(4) Q→R     P </a:t>
            </a:r>
            <a:endParaRPr lang="en-US" altLang="zh-CN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>
                <a:latin typeface="宋体" panose="02010600030101010101" pitchFamily="2" charset="-122"/>
              </a:rPr>
              <a:t>  (5) R        T    (3)(4)    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endParaRPr lang="en-US" altLang="zh-CN" baseline="-25000">
              <a:latin typeface="宋体" panose="02010600030101010101" pitchFamily="2" charset="-122"/>
            </a:endParaRPr>
          </a:p>
          <a:p>
            <a:pPr eaLnBrk="1" hangingPunct="1"/>
            <a:endParaRPr lang="en-US" altLang="zh-CN" baseline="-2500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>
                <a:latin typeface="宋体" panose="02010600030101010101" pitchFamily="2" charset="-122"/>
              </a:rPr>
              <a:t>（</a:t>
            </a:r>
            <a:r>
              <a:rPr lang="zh-CN" altLang="zh-CN">
                <a:latin typeface="宋体" panose="02010600030101010101" pitchFamily="2" charset="-122"/>
              </a:rPr>
              <a:t>注公式</a:t>
            </a:r>
            <a:r>
              <a:rPr lang="en-US" altLang="zh-CN">
                <a:latin typeface="宋体" panose="02010600030101010101" pitchFamily="2" charset="-122"/>
              </a:rPr>
              <a:t>I</a:t>
            </a:r>
            <a:r>
              <a:rPr lang="en-US" altLang="zh-CN" baseline="-25000">
                <a:latin typeface="宋体" panose="02010600030101010101" pitchFamily="2" charset="-122"/>
              </a:rPr>
              <a:t>11</a:t>
            </a:r>
            <a:r>
              <a:rPr lang="zh-CN" altLang="zh-CN">
                <a:latin typeface="宋体" panose="02010600030101010101" pitchFamily="2" charset="-122"/>
              </a:rPr>
              <a:t>为： </a:t>
            </a:r>
            <a:r>
              <a:rPr lang="en-US" altLang="zh-CN">
                <a:latin typeface="宋体" panose="02010600030101010101" pitchFamily="2" charset="-122"/>
              </a:rPr>
              <a:t>P,P→Q </a:t>
            </a:r>
            <a:r>
              <a:rPr lang="en-US" altLang="zh-CN">
                <a:sym typeface="Symbol" panose="05050102010706020507" pitchFamily="18" charset="2"/>
              </a:rPr>
              <a:t> Q </a:t>
            </a:r>
            <a:r>
              <a:rPr lang="zh-CN" altLang="en-US">
                <a:sym typeface="Symbol" panose="05050102010706020507" pitchFamily="18" charset="2"/>
              </a:rPr>
              <a:t>）</a:t>
            </a:r>
            <a:endParaRPr lang="zh-CN" altLang="en-US" baseline="-25000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autoUpdateAnimBg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chemeClr val="accent2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例题２</a:t>
            </a:r>
            <a:r>
              <a:rPr lang="zh-CN" altLang="en-US" b="1">
                <a:latin typeface="宋体" panose="02010600030101010101" pitchFamily="2" charset="-122"/>
              </a:rPr>
              <a:t>求证</a:t>
            </a:r>
            <a:endParaRPr lang="zh-CN" altLang="en-US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(P∧Q)∧(Q∨R)∧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R </a:t>
            </a:r>
            <a:r>
              <a:rPr lang="en-US" altLang="zh-CN" b="1">
                <a:sym typeface="Symbol" panose="05050102010706020507" pitchFamily="18" charset="2"/>
              </a:rPr>
              <a:t> </a:t>
            </a:r>
            <a:r>
              <a:rPr lang="en-US" altLang="zh-CN" b="1">
                <a:latin typeface="宋体" panose="02010600030101010101" pitchFamily="2" charset="-122"/>
              </a:rPr>
              <a:t>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(1) Q∨R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(2)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R  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(3) Q          T  (1)(2)  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endParaRPr lang="en-US" altLang="zh-CN" b="1" baseline="-2500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(4)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(5)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P∨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Q    T  (4)     E</a:t>
            </a:r>
            <a:r>
              <a:rPr lang="en-US" altLang="zh-CN" b="1" baseline="-25000">
                <a:latin typeface="宋体" panose="02010600030101010101" pitchFamily="2" charset="-122"/>
              </a:rPr>
              <a:t>8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(6) 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P         T  (3)(5) 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zh-CN" b="1">
                <a:latin typeface="宋体" panose="02010600030101010101" pitchFamily="2" charset="-122"/>
              </a:rPr>
              <a:t>注公式</a:t>
            </a:r>
            <a:r>
              <a:rPr lang="en-US" altLang="zh-CN" b="1">
                <a:latin typeface="宋体" panose="02010600030101010101" pitchFamily="2" charset="-122"/>
              </a:rPr>
              <a:t>I</a:t>
            </a:r>
            <a:r>
              <a:rPr lang="en-US" altLang="zh-CN" b="1" baseline="-25000">
                <a:latin typeface="宋体" panose="02010600030101010101" pitchFamily="2" charset="-122"/>
              </a:rPr>
              <a:t>10</a:t>
            </a:r>
            <a:r>
              <a:rPr lang="zh-CN" altLang="zh-CN" b="1">
                <a:latin typeface="宋体" panose="02010600030101010101" pitchFamily="2" charset="-122"/>
              </a:rPr>
              <a:t>为： </a:t>
            </a:r>
            <a:r>
              <a:rPr lang="zh-CN" altLang="en-US" b="1">
                <a:sym typeface="Symbol" panose="05050102010706020507" pitchFamily="18" charset="2"/>
              </a:rPr>
              <a:t> </a:t>
            </a:r>
            <a:r>
              <a:rPr lang="en-US" altLang="zh-CN" b="1">
                <a:latin typeface="宋体" panose="02010600030101010101" pitchFamily="2" charset="-122"/>
              </a:rPr>
              <a:t>P,P∨Q </a:t>
            </a:r>
            <a:r>
              <a:rPr lang="en-US" altLang="zh-CN" b="1">
                <a:sym typeface="Symbol" panose="05050102010706020507" pitchFamily="18" charset="2"/>
              </a:rPr>
              <a:t> Q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  </a:t>
            </a:r>
            <a:r>
              <a:rPr lang="zh-CN" altLang="zh-CN" b="1">
                <a:latin typeface="宋体" panose="02010600030101010101" pitchFamily="2" charset="-122"/>
              </a:rPr>
              <a:t>公式</a:t>
            </a:r>
            <a:r>
              <a:rPr lang="en-US" altLang="zh-CN" b="1">
                <a:latin typeface="宋体" panose="02010600030101010101" pitchFamily="2" charset="-122"/>
              </a:rPr>
              <a:t>E</a:t>
            </a:r>
            <a:r>
              <a:rPr lang="en-US" altLang="zh-CN" b="1" baseline="-25000">
                <a:latin typeface="宋体" panose="02010600030101010101" pitchFamily="2" charset="-122"/>
              </a:rPr>
              <a:t>8</a:t>
            </a:r>
            <a:r>
              <a:rPr lang="zh-CN" altLang="zh-CN" b="1">
                <a:latin typeface="宋体" panose="02010600030101010101" pitchFamily="2" charset="-122"/>
              </a:rPr>
              <a:t>为： </a:t>
            </a:r>
            <a:r>
              <a:rPr lang="zh-CN" altLang="en-US" b="1">
                <a:latin typeface="宋体" panose="02010600030101010101" pitchFamily="2" charset="-122"/>
              </a:rPr>
              <a:t> </a:t>
            </a:r>
            <a:r>
              <a:rPr lang="zh-CN" altLang="en-US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(P∧Q) </a:t>
            </a:r>
            <a:r>
              <a:rPr lang="en-US" altLang="zh-CN" b="1">
                <a:sym typeface="Symbol" panose="05050102010706020507" pitchFamily="18" charset="2"/>
              </a:rPr>
              <a:t> </a:t>
            </a:r>
            <a:r>
              <a:rPr lang="en-US" altLang="zh-CN" b="1">
                <a:latin typeface="宋体" panose="02010600030101010101" pitchFamily="2" charset="-122"/>
              </a:rPr>
              <a:t>P∨</a:t>
            </a:r>
            <a:r>
              <a:rPr lang="en-US" altLang="zh-CN" b="1">
                <a:sym typeface="Symbol" panose="05050102010706020507" pitchFamily="18" charset="2"/>
              </a:rPr>
              <a:t></a:t>
            </a:r>
            <a:r>
              <a:rPr lang="en-US" altLang="zh-CN" b="1">
                <a:latin typeface="宋体" panose="02010600030101010101" pitchFamily="2" charset="-122"/>
              </a:rPr>
              <a:t>Q </a:t>
            </a:r>
            <a:endParaRPr lang="en-US" altLang="zh-CN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4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4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4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utoUpdateAnimBg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例题３ </a:t>
            </a:r>
            <a:r>
              <a:rPr lang="zh-CN" altLang="en-US" b="1" dirty="0">
                <a:latin typeface="宋体" panose="02010600030101010101" pitchFamily="2" charset="-122"/>
              </a:rPr>
              <a:t>用命题逻辑推理方法证明下面推理的有效性：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如果我学习，那么我数学不会不及格。如果我不热衷于玩游戏，那么我将学习。但是我数学不及格。因此，我热衷于玩游戏。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b="1" dirty="0">
                <a:latin typeface="宋体" panose="02010600030101010101" pitchFamily="2" charset="-122"/>
              </a:rPr>
              <a:t>设 </a:t>
            </a:r>
            <a:r>
              <a:rPr lang="en-US" altLang="zh-CN" b="1" dirty="0">
                <a:latin typeface="宋体" panose="02010600030101010101" pitchFamily="2" charset="-122"/>
              </a:rPr>
              <a:t>P</a:t>
            </a:r>
            <a:r>
              <a:rPr lang="zh-CN" altLang="en-US" b="1" dirty="0">
                <a:latin typeface="宋体" panose="02010600030101010101" pitchFamily="2" charset="-122"/>
              </a:rPr>
              <a:t>：我学习。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Q</a:t>
            </a:r>
            <a:r>
              <a:rPr lang="zh-CN" altLang="en-US" b="1" dirty="0">
                <a:latin typeface="宋体" panose="02010600030101010101" pitchFamily="2" charset="-122"/>
              </a:rPr>
              <a:t>：我数学及格。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R</a:t>
            </a:r>
            <a:r>
              <a:rPr lang="zh-CN" altLang="en-US" b="1" dirty="0">
                <a:latin typeface="宋体" panose="02010600030101010101" pitchFamily="2" charset="-122"/>
              </a:rPr>
              <a:t>：我热衷于玩游戏。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于是符号化为：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P→Q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R→P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R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autoUpdateAnimBg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00FF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P→Q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R→P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 R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(1)  P→Q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(2)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          P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(3)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P          T (1)(2)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en-US" altLang="zh-CN" sz="2800" b="1" dirty="0">
                <a:latin typeface="宋体" panose="02010600030101010101" pitchFamily="2" charset="-122"/>
              </a:rPr>
              <a:t> 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(4)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R→P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(5) </a:t>
            </a:r>
            <a:r>
              <a:rPr lang="en-US" altLang="zh-CN" sz="2800" b="1" dirty="0">
                <a:sym typeface="Symbol" panose="05050102010706020507" pitchFamily="18" charset="2"/>
              </a:rPr>
              <a:t></a:t>
            </a:r>
            <a:r>
              <a:rPr lang="en-US" altLang="zh-CN" sz="2800" b="1" dirty="0">
                <a:latin typeface="宋体" panose="02010600030101010101" pitchFamily="2" charset="-122"/>
              </a:rPr>
              <a:t>R        T (3)(4)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(6)  R          T (5)    E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</a:t>
            </a:r>
            <a:endParaRPr lang="en-US" altLang="zh-CN" sz="28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注：公式</a:t>
            </a:r>
            <a:r>
              <a:rPr lang="en-US" altLang="zh-CN" sz="2800" b="1" dirty="0">
                <a:latin typeface="宋体" panose="02010600030101010101" pitchFamily="2" charset="-122"/>
              </a:rPr>
              <a:t>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12</a:t>
            </a:r>
            <a:r>
              <a:rPr lang="zh-CN" altLang="en-US" sz="2800" b="1" dirty="0">
                <a:latin typeface="宋体" panose="02010600030101010101" pitchFamily="2" charset="-122"/>
              </a:rPr>
              <a:t>为： </a:t>
            </a:r>
            <a:r>
              <a:rPr lang="zh-CN" altLang="en-US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P→Q </a:t>
            </a:r>
            <a:r>
              <a:rPr lang="en-US" altLang="zh-CN" sz="2800" b="1" dirty="0">
                <a:sym typeface="Symbol" panose="05050102010706020507" pitchFamily="18" charset="2"/>
              </a:rPr>
              <a:t> </a:t>
            </a:r>
            <a:r>
              <a:rPr lang="en-US" altLang="zh-CN" sz="2800" b="1" dirty="0">
                <a:latin typeface="宋体" panose="02010600030101010101" pitchFamily="2" charset="-122"/>
              </a:rPr>
              <a:t>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</a:rPr>
              <a:t>公式</a:t>
            </a:r>
            <a:r>
              <a:rPr lang="en-US" altLang="zh-CN" sz="2800" b="1" dirty="0">
                <a:latin typeface="宋体" panose="02010600030101010101" pitchFamily="2" charset="-122"/>
              </a:rPr>
              <a:t>E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 </a:t>
            </a:r>
            <a:r>
              <a:rPr lang="zh-CN" altLang="en-US" sz="2800" b="1" dirty="0">
                <a:latin typeface="宋体" panose="02010600030101010101" pitchFamily="2" charset="-122"/>
              </a:rPr>
              <a:t>为： </a:t>
            </a:r>
            <a:r>
              <a:rPr lang="zh-CN" altLang="en-US" sz="2800" b="1" dirty="0">
                <a:sym typeface="Symbol" panose="05050102010706020507" pitchFamily="18" charset="2"/>
              </a:rPr>
              <a:t></a:t>
            </a:r>
            <a:r>
              <a:rPr lang="en-US" altLang="zh-CN" sz="2800" b="1" dirty="0">
                <a:latin typeface="宋体" panose="02010600030101010101" pitchFamily="2" charset="-122"/>
              </a:rPr>
              <a:t>R</a:t>
            </a:r>
            <a:r>
              <a:rPr lang="en-US" altLang="zh-CN" sz="2800" b="1" dirty="0">
                <a:sym typeface="Symbol" panose="05050102010706020507" pitchFamily="18" charset="2"/>
              </a:rPr>
              <a:t>R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下面同学动手作练习  第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46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页 </a:t>
            </a:r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(1) b)</a:t>
            </a:r>
            <a:endParaRPr lang="en-US" altLang="zh-CN" sz="28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6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6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6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6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69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>
                <a:latin typeface="宋体" panose="02010600030101010101" pitchFamily="2" charset="-122"/>
              </a:rPr>
              <a:t>第</a:t>
            </a:r>
            <a:r>
              <a:rPr lang="en-US" altLang="zh-CN" b="1">
                <a:latin typeface="宋体" panose="02010600030101010101" pitchFamily="2" charset="-122"/>
              </a:rPr>
              <a:t>46</a:t>
            </a:r>
            <a:r>
              <a:rPr lang="zh-CN" altLang="en-US" b="1">
                <a:latin typeface="宋体" panose="02010600030101010101" pitchFamily="2" charset="-122"/>
              </a:rPr>
              <a:t>页 </a:t>
            </a:r>
            <a:r>
              <a:rPr lang="en-US" altLang="zh-CN" b="1">
                <a:latin typeface="宋体" panose="02010600030101010101" pitchFamily="2" charset="-122"/>
              </a:rPr>
              <a:t>(1) b)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J→(M∨N)</a:t>
            </a:r>
            <a:r>
              <a:rPr lang="zh-CN" altLang="en-US" b="1">
                <a:latin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</a:rPr>
              <a:t>(H∨G)→J</a:t>
            </a:r>
            <a:r>
              <a:rPr lang="zh-CN" altLang="en-US" b="1">
                <a:latin typeface="宋体" panose="02010600030101010101" pitchFamily="2" charset="-122"/>
              </a:rPr>
              <a:t>，</a:t>
            </a:r>
            <a:r>
              <a:rPr lang="en-US" altLang="zh-CN" b="1">
                <a:latin typeface="宋体" panose="02010600030101010101" pitchFamily="2" charset="-122"/>
              </a:rPr>
              <a:t>H∨G </a:t>
            </a:r>
            <a:r>
              <a:rPr lang="en-US" altLang="zh-CN" b="1">
                <a:sym typeface="Symbol" panose="05050102010706020507" pitchFamily="18" charset="2"/>
              </a:rPr>
              <a:t> M</a:t>
            </a:r>
            <a:r>
              <a:rPr lang="en-US" altLang="zh-CN" b="1">
                <a:latin typeface="宋体" panose="02010600030101010101" pitchFamily="2" charset="-122"/>
              </a:rPr>
              <a:t>∨N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(1) H∨G     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(2)(H∨G)→J    P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(3) </a:t>
            </a:r>
            <a:r>
              <a:rPr lang="en-US" altLang="zh-CN" b="1">
                <a:sym typeface="Symbol" panose="05050102010706020507" pitchFamily="18" charset="2"/>
              </a:rPr>
              <a:t>J</a:t>
            </a:r>
            <a:r>
              <a:rPr lang="en-US" altLang="zh-CN" b="1">
                <a:latin typeface="宋体" panose="02010600030101010101" pitchFamily="2" charset="-122"/>
              </a:rPr>
              <a:t>           T (1)(2) I</a:t>
            </a:r>
            <a:r>
              <a:rPr lang="en-US" altLang="zh-CN" b="1" baseline="-25000">
                <a:latin typeface="宋体" panose="02010600030101010101" pitchFamily="2" charset="-122"/>
              </a:rPr>
              <a:t>11</a:t>
            </a:r>
            <a:r>
              <a:rPr lang="en-US" altLang="zh-CN" b="1">
                <a:latin typeface="宋体" panose="02010600030101010101" pitchFamily="2" charset="-122"/>
              </a:rPr>
              <a:t> 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(4) J→(M∨N)   P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(5) </a:t>
            </a:r>
            <a:r>
              <a:rPr lang="en-US" altLang="zh-CN" b="1">
                <a:sym typeface="Symbol" panose="05050102010706020507" pitchFamily="18" charset="2"/>
              </a:rPr>
              <a:t>M</a:t>
            </a:r>
            <a:r>
              <a:rPr lang="en-US" altLang="zh-CN" b="1">
                <a:latin typeface="宋体" panose="02010600030101010101" pitchFamily="2" charset="-122"/>
              </a:rPr>
              <a:t>∨N       T (3)(4) I</a:t>
            </a:r>
            <a:r>
              <a:rPr lang="en-US" altLang="zh-CN" b="1" baseline="-25000">
                <a:latin typeface="宋体" panose="02010600030101010101" pitchFamily="2" charset="-122"/>
              </a:rPr>
              <a:t>11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  <a:endParaRPr lang="en-US" altLang="zh-CN" b="1">
              <a:latin typeface="宋体" panose="02010600030101010101" pitchFamily="2" charset="-122"/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2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2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2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5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99CC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例题４</a:t>
            </a:r>
            <a:r>
              <a:rPr lang="zh-CN" altLang="en-US" b="1" dirty="0">
                <a:latin typeface="宋体" panose="02010600030101010101" pitchFamily="2" charset="-122"/>
              </a:rPr>
              <a:t>求证</a:t>
            </a:r>
            <a:r>
              <a:rPr lang="en-US" altLang="zh-CN" b="1" dirty="0">
                <a:latin typeface="宋体" panose="02010600030101010101" pitchFamily="2" charset="-122"/>
              </a:rPr>
              <a:t>P→(Q→S),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R∨P,Q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R→S 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证明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(1)  P→(Q→S)   P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(2)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P∨(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Q∨S) T (1)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(3)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P∨(S∨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Q) T (2)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3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(4) (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P∨S)∨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Q T (3)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5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(5)  Q           P  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(6)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P∨S       T (4)(5) 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10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(7)  P→S        T (6)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(8) </a:t>
            </a:r>
            <a:r>
              <a:rPr lang="en-US" altLang="zh-CN" sz="2400" b="1" dirty="0"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宋体" panose="02010600030101010101" pitchFamily="2" charset="-122"/>
              </a:rPr>
              <a:t>R∨P        P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 (9)  R→P        T (8)    E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16</a:t>
            </a:r>
            <a:endParaRPr lang="en-US" altLang="zh-CN" sz="24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(10)  R→S        T (7)(9) I</a:t>
            </a:r>
            <a:r>
              <a:rPr lang="en-US" altLang="zh-CN" sz="2400" b="1" baseline="-25000" dirty="0">
                <a:latin typeface="宋体" panose="02010600030101010101" pitchFamily="2" charset="-122"/>
              </a:rPr>
              <a:t>13</a:t>
            </a:r>
            <a:endParaRPr lang="en-US" altLang="zh-CN" sz="2400" b="1" baseline="-250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80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80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autoUpdateAnimBg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二、条件论证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『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回顾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』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19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 P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(Q→R)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(P∧Q)→R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『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回顾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』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B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，且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为永真式，则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也为永真式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所以，对于下面的等价式：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ctr">
              <a:buNone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(B→C)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 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(A∧B)→C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若：</a:t>
            </a:r>
            <a:r>
              <a:rPr lang="en-US" altLang="zh-CN" b="1" dirty="0">
                <a:latin typeface="宋体" panose="02010600030101010101" pitchFamily="2" charset="-122"/>
              </a:rPr>
              <a:t>(A∧B)→C</a:t>
            </a:r>
            <a:r>
              <a:rPr lang="zh-CN" altLang="en-US" b="1" dirty="0">
                <a:latin typeface="宋体" panose="02010600030101010101" pitchFamily="2" charset="-122"/>
              </a:rPr>
              <a:t>为永真式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latin typeface="宋体" panose="02010600030101010101" pitchFamily="2" charset="-122"/>
              </a:rPr>
              <a:t>(A∧B)</a:t>
            </a:r>
            <a:r>
              <a:rPr lang="en-US" altLang="zh-CN" b="1" dirty="0">
                <a:sym typeface="Symbol" panose="05050102010706020507" pitchFamily="18" charset="2"/>
              </a:rPr>
              <a:t>  C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rPr>
              <a:t>则：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(B→C)</a:t>
            </a:r>
            <a:r>
              <a:rPr lang="zh-CN" altLang="en-US" b="1" dirty="0">
                <a:latin typeface="宋体" panose="02010600030101010101" pitchFamily="2" charset="-122"/>
              </a:rPr>
              <a:t>为永真式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（ </a:t>
            </a:r>
            <a:r>
              <a:rPr lang="en-US" altLang="zh-CN" b="1" dirty="0">
                <a:latin typeface="宋体" panose="02010600030101010101" pitchFamily="2" charset="-122"/>
              </a:rPr>
              <a:t>A</a:t>
            </a:r>
            <a:r>
              <a:rPr lang="en-US" altLang="zh-CN" b="1" dirty="0">
                <a:sym typeface="Symbol" panose="05050102010706020507" pitchFamily="18" charset="2"/>
              </a:rPr>
              <a:t> </a:t>
            </a:r>
            <a:r>
              <a:rPr lang="en-US" altLang="zh-CN" b="1" dirty="0">
                <a:latin typeface="宋体" panose="02010600030101010101" pitchFamily="2" charset="-122"/>
              </a:rPr>
              <a:t>(B→C)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  <a:sym typeface="Symbol" panose="05050102010706020507" pitchFamily="18" charset="2"/>
              </a:rPr>
              <a:t>这就是条件论证的基本理论依据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二、条件论证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1-7.1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如果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宋体" panose="02010600030101010101" pitchFamily="2" charset="-122"/>
              </a:rPr>
              <a:t>Ｓ，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则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证明：</a:t>
            </a:r>
            <a:r>
              <a:rPr lang="zh-CN" altLang="en-US" b="1" dirty="0">
                <a:latin typeface="宋体" panose="02010600030101010101" pitchFamily="2" charset="-122"/>
              </a:rPr>
              <a:t>因为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∧</a:t>
            </a:r>
            <a:r>
              <a:rPr lang="zh-CN" altLang="en-US" b="1" dirty="0">
                <a:latin typeface="宋体" panose="02010600030101010101" pitchFamily="2" charset="-122"/>
              </a:rPr>
              <a:t>Ｒ</a:t>
            </a:r>
            <a:r>
              <a:rPr lang="zh-CN" altLang="en-US" b="1" dirty="0">
                <a:sym typeface="Symbol" panose="05050102010706020507" pitchFamily="18" charset="2"/>
              </a:rPr>
              <a:t></a:t>
            </a:r>
            <a:r>
              <a:rPr lang="zh-CN" altLang="en-US" b="1" dirty="0">
                <a:latin typeface="宋体" panose="02010600030101010101" pitchFamily="2" charset="-122"/>
              </a:rPr>
              <a:t>Ｓ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则 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S </a:t>
            </a:r>
            <a:r>
              <a:rPr lang="zh-CN" altLang="en-US" b="1" dirty="0">
                <a:latin typeface="宋体" panose="02010600030101010101" pitchFamily="2" charset="-122"/>
              </a:rPr>
              <a:t>是永真式。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根据结合律得 </a:t>
            </a:r>
            <a:r>
              <a:rPr lang="en-US" altLang="zh-CN" b="1" dirty="0">
                <a:latin typeface="宋体" panose="02010600030101010101" pitchFamily="2" charset="-122"/>
              </a:rPr>
              <a:t>((H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)∧R)→S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是永真式。根据公式</a:t>
            </a:r>
            <a:r>
              <a:rPr lang="en-US" altLang="zh-CN" b="1" dirty="0"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latin typeface="宋体" panose="02010600030101010101" pitchFamily="2" charset="-122"/>
              </a:rPr>
              <a:t>19</a:t>
            </a:r>
            <a:r>
              <a:rPr lang="zh-CN" altLang="en-US" b="1" dirty="0">
                <a:latin typeface="宋体" panose="02010600030101010101" pitchFamily="2" charset="-122"/>
              </a:rPr>
              <a:t>得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(H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>
                <a:latin typeface="宋体" panose="02010600030101010101" pitchFamily="2" charset="-122"/>
              </a:rPr>
              <a:t>(R→S)</a:t>
            </a:r>
            <a:r>
              <a:rPr lang="zh-CN" altLang="en-US" b="1" dirty="0">
                <a:latin typeface="宋体" panose="02010600030101010101" pitchFamily="2" charset="-122"/>
              </a:rPr>
              <a:t>是永真式。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即 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定理得证。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E</a:t>
            </a:r>
            <a:r>
              <a:rPr lang="en-US" altLang="zh-CN" b="1" baseline="-25000" dirty="0">
                <a:solidFill>
                  <a:srgbClr val="FF0000"/>
                </a:solidFill>
                <a:latin typeface="宋体" panose="02010600030101010101" pitchFamily="2" charset="-122"/>
              </a:rPr>
              <a:t>19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: P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(Q→R)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(P∧Q)→R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9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9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9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9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9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9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9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764704"/>
            <a:ext cx="8496944" cy="5904656"/>
          </a:xfrm>
          <a:ln>
            <a:solidFill>
              <a:schemeClr val="accent1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此定理告诉我们，如果要证明的结论是蕴涵式</a:t>
            </a:r>
            <a:r>
              <a:rPr lang="en-US" altLang="zh-CN" b="1" dirty="0">
                <a:latin typeface="宋体" panose="02010600030101010101" pitchFamily="2" charset="-122"/>
              </a:rPr>
              <a:t>(R→S)</a:t>
            </a:r>
            <a:r>
              <a:rPr lang="zh-CN" altLang="en-US" b="1" dirty="0">
                <a:latin typeface="宋体" panose="02010600030101010101" pitchFamily="2" charset="-122"/>
              </a:rPr>
              <a:t>形式，则可以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把结论中蕴涵式的前件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作为附加前提</a:t>
            </a:r>
            <a:r>
              <a:rPr lang="zh-CN" altLang="en-US" b="1" dirty="0">
                <a:latin typeface="宋体" panose="02010600030101010101" pitchFamily="2" charset="-122"/>
              </a:rPr>
              <a:t>，与给定的前提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一起推出后件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即可。我们把上述定理写成如下规则：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规则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lang="en-US" altLang="zh-CN" b="1" dirty="0">
                <a:latin typeface="宋体" panose="02010600030101010101" pitchFamily="2" charset="-122"/>
              </a:rPr>
              <a:t>(Conditional </a:t>
            </a:r>
            <a:r>
              <a:rPr lang="zh-CN" altLang="en-US" b="1" dirty="0">
                <a:latin typeface="宋体" panose="02010600030101010101" pitchFamily="2" charset="-122"/>
              </a:rPr>
              <a:t>Ｐ</a:t>
            </a:r>
            <a:r>
              <a:rPr lang="en-US" altLang="zh-CN" b="1" dirty="0">
                <a:latin typeface="宋体" panose="02010600030101010101" pitchFamily="2" charset="-122"/>
              </a:rPr>
              <a:t>roof)</a:t>
            </a:r>
            <a:r>
              <a:rPr lang="zh-CN" altLang="en-US" b="1" dirty="0">
                <a:latin typeface="宋体" panose="02010600030101010101" pitchFamily="2" charset="-122"/>
              </a:rPr>
              <a:t>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如果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</a:t>
            </a:r>
            <a:r>
              <a:rPr lang="en-US" altLang="zh-CN" b="1" dirty="0" err="1">
                <a:latin typeface="宋体" panose="02010600030101010101" pitchFamily="2" charset="-122"/>
              </a:rPr>
              <a:t>H</a:t>
            </a:r>
            <a:r>
              <a:rPr lang="en-US" altLang="zh-CN" b="1" baseline="-25000" dirty="0" err="1">
                <a:latin typeface="宋体" panose="02010600030101010101" pitchFamily="2" charset="-122"/>
              </a:rPr>
              <a:t>n</a:t>
            </a:r>
            <a:r>
              <a:rPr lang="en-US" altLang="zh-CN" b="1" dirty="0" err="1">
                <a:latin typeface="宋体" panose="02010600030101010101" pitchFamily="2" charset="-122"/>
              </a:rPr>
              <a:t>∧R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S</a:t>
            </a:r>
            <a:r>
              <a:rPr lang="zh-CN" altLang="en-US" b="1" dirty="0">
                <a:latin typeface="宋体" panose="02010600030101010101" pitchFamily="2" charset="-122"/>
              </a:rPr>
              <a:t>，则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</a:t>
            </a:r>
            <a:r>
              <a:rPr lang="en-US" altLang="zh-CN" b="1" dirty="0">
                <a:latin typeface="宋体" panose="02010600030101010101" pitchFamily="2" charset="-122"/>
              </a:rPr>
              <a:t>H</a:t>
            </a:r>
            <a:r>
              <a:rPr lang="en-US" altLang="zh-CN" b="1" baseline="-25000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2</a:t>
            </a:r>
            <a:r>
              <a:rPr lang="en-US" altLang="zh-CN" b="1" dirty="0">
                <a:latin typeface="宋体" panose="02010600030101010101" pitchFamily="2" charset="-122"/>
              </a:rPr>
              <a:t>∧...∧H</a:t>
            </a:r>
            <a:r>
              <a:rPr lang="en-US" altLang="zh-CN" b="1" baseline="-25000" dirty="0">
                <a:latin typeface="宋体" panose="02010600030101010101" pitchFamily="2" charset="-122"/>
              </a:rPr>
              <a:t>n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R→S 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latin typeface="宋体" panose="02010600030101010101" pitchFamily="2" charset="-122"/>
              </a:rPr>
              <a:t>下面我们用条件论证方法求证例题４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P→(Q→S),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R∨P,Q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R→S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autoUpdateAnimBg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1075" name="Rectangle 1027"/>
          <p:cNvSpPr>
            <a:spLocks noGrp="1" noChangeArrowheads="1"/>
          </p:cNvSpPr>
          <p:nvPr>
            <p:ph idx="1"/>
          </p:nvPr>
        </p:nvSpPr>
        <p:spPr>
          <a:xfrm>
            <a:off x="323528" y="692696"/>
            <a:ext cx="8496944" cy="6048672"/>
          </a:xfrm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例题５</a:t>
            </a:r>
            <a:r>
              <a:rPr lang="zh-CN" altLang="en-US" sz="2800" b="1" dirty="0">
                <a:latin typeface="宋体" panose="02010600030101010101" pitchFamily="2" charset="-122"/>
              </a:rPr>
              <a:t> 用条件论证，证明例题４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en-US" altLang="zh-CN" sz="2800" b="1" dirty="0">
                <a:latin typeface="宋体" panose="02010600030101010101" pitchFamily="2" charset="-122"/>
              </a:rPr>
              <a:t>P→(Q→S),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R∨P,Q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 R→S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lang="zh-CN" altLang="en-US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(1) R          P(</a:t>
            </a:r>
            <a:r>
              <a:rPr lang="zh-CN" altLang="en-US" sz="2800" b="1" dirty="0">
                <a:latin typeface="宋体" panose="02010600030101010101" pitchFamily="2" charset="-122"/>
              </a:rPr>
              <a:t>附加前提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(2) 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R∨P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(3) P          T  (1)(2)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10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(4) P→(Q→S)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(5) Q→S       T  (3)(4)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11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(6) Q          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(7) S          T  (5)(6) I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11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     (8) R→S       CP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与例题４相比，因为它增加了一个附加前提，所以推理就容易些。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1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1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1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1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1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10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autoUpdateAnimBg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例题６</a:t>
            </a:r>
            <a:r>
              <a:rPr lang="zh-CN" altLang="en-US" b="1" dirty="0">
                <a:latin typeface="宋体" panose="02010600030101010101" pitchFamily="2" charset="-122"/>
              </a:rPr>
              <a:t> 用命题逻辑推理方法证明下面推理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的有效性： 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如果体育馆有球赛，青年大街交通就拥挤。在这种情况下，如果小王不提前出发，就会迟到。因此，小王没有提前出发也未迟到，则体育馆没有球赛。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证明</a:t>
            </a:r>
            <a:r>
              <a:rPr lang="zh-CN" altLang="en-US" b="1" dirty="0">
                <a:latin typeface="宋体" panose="02010600030101010101" pitchFamily="2" charset="-122"/>
              </a:rPr>
              <a:t>  先将命题符号化。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设 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：体育馆有球赛。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Q</a:t>
            </a:r>
            <a:r>
              <a:rPr lang="zh-CN" altLang="en-US" sz="2400" b="1" dirty="0">
                <a:latin typeface="宋体" panose="02010600030101010101" pitchFamily="2" charset="-122"/>
              </a:rPr>
              <a:t>：青年大街交通拥挤。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R</a:t>
            </a:r>
            <a:r>
              <a:rPr lang="zh-CN" altLang="en-US" sz="2400" b="1" dirty="0">
                <a:latin typeface="宋体" panose="02010600030101010101" pitchFamily="2" charset="-122"/>
              </a:rPr>
              <a:t>：小王提前出发。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 </a:t>
            </a:r>
            <a:r>
              <a:rPr lang="en-US" altLang="zh-CN" sz="2400" b="1" dirty="0">
                <a:latin typeface="宋体" panose="02010600030101010101" pitchFamily="2" charset="-122"/>
              </a:rPr>
              <a:t>S</a:t>
            </a:r>
            <a:r>
              <a:rPr lang="zh-CN" altLang="en-US" sz="2400" b="1" dirty="0">
                <a:latin typeface="宋体" panose="02010600030101010101" pitchFamily="2" charset="-122"/>
              </a:rPr>
              <a:t>：小王迟到。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P→Q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(Q∧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R)→S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R∧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S)→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P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2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00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P→Q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(Q∧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R)→S </a:t>
            </a:r>
            <a:r>
              <a:rPr lang="en-US" altLang="zh-CN" sz="2800" b="1" dirty="0">
                <a:sym typeface="Symbol" panose="05050102010706020507" pitchFamily="18" charset="2"/>
              </a:rPr>
              <a:t>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R∧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S)→</a:t>
            </a:r>
            <a:r>
              <a:rPr lang="en-US" altLang="zh-CN" sz="2800" b="1" dirty="0">
                <a:sym typeface="Symbol" panose="05050102010706020507" pitchFamily="18" charset="2"/>
              </a:rPr>
              <a:t></a:t>
            </a:r>
            <a:r>
              <a:rPr lang="en-US" altLang="zh-CN" sz="2800" b="1" dirty="0">
                <a:latin typeface="宋体" panose="02010600030101010101" pitchFamily="2" charset="-122"/>
              </a:rPr>
              <a:t>P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证明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P(</a:t>
            </a:r>
            <a:r>
              <a:rPr lang="zh-CN" altLang="en-US" sz="2400" b="1" dirty="0">
                <a:latin typeface="Times New Roman" panose="02020603050405020304" pitchFamily="18" charset="0"/>
              </a:rPr>
              <a:t>附加前提</a:t>
            </a:r>
            <a:r>
              <a:rPr lang="en-US" altLang="zh-CN" sz="2400" b="1" dirty="0">
                <a:latin typeface="Times New Roman" panose="02020603050405020304" pitchFamily="18" charset="0"/>
              </a:rPr>
              <a:t>)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                        T (1)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                         T (1)   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(4) (Q∧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R)→S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(5)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(Q∧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zh-CN" altLang="en-US" sz="2400" b="1" dirty="0">
                <a:latin typeface="Times New Roman" panose="02020603050405020304" pitchFamily="18" charset="0"/>
              </a:rPr>
              <a:t>Ｒ</a:t>
            </a:r>
            <a:r>
              <a:rPr lang="en-US" altLang="zh-CN" sz="2400" b="1" dirty="0">
                <a:latin typeface="Times New Roman" panose="02020603050405020304" pitchFamily="18" charset="0"/>
              </a:rPr>
              <a:t>)          T (3)(4)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(6)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Q∨R                 T (5)     E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8 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(7)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Q                        T (2)(6)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(8) P→Q                     P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(9)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P                         T (7)(8) 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12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(10)(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R∧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S)→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400" b="1" dirty="0">
                <a:latin typeface="Times New Roman" panose="02020603050405020304" pitchFamily="18" charset="0"/>
              </a:rPr>
              <a:t>P  CP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3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idx="1"/>
          </p:nvPr>
        </p:nvSpPr>
        <p:spPr>
          <a:ln>
            <a:solidFill>
              <a:srgbClr val="FF00FF"/>
            </a:solidFill>
            <a:miter lim="800000"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下面同学动手作练习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用条件论证证明  第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47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页 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(2) a)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A∨B, C→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B </a:t>
            </a:r>
            <a:r>
              <a:rPr lang="en-US" altLang="zh-CN" b="1" dirty="0">
                <a:sym typeface="Symbol" panose="05050102010706020507" pitchFamily="18" charset="2"/>
              </a:rPr>
              <a:t></a:t>
            </a:r>
            <a:r>
              <a:rPr lang="en-US" altLang="zh-CN" b="1" dirty="0">
                <a:latin typeface="宋体" panose="02010600030101010101" pitchFamily="2" charset="-122"/>
              </a:rPr>
              <a:t> A→</a:t>
            </a:r>
            <a:r>
              <a:rPr lang="en-US" altLang="zh-CN" b="1" dirty="0">
                <a:sym typeface="Symbol" panose="05050102010706020507" pitchFamily="18" charset="2"/>
              </a:rPr>
              <a:t>C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证明 </a:t>
            </a:r>
            <a:r>
              <a:rPr lang="en-US" altLang="zh-CN" b="1" dirty="0">
                <a:latin typeface="宋体" panose="02010600030101010101" pitchFamily="2" charset="-122"/>
              </a:rPr>
              <a:t>(1) A          P(</a:t>
            </a:r>
            <a:r>
              <a:rPr lang="zh-CN" altLang="en-US" b="1" dirty="0">
                <a:latin typeface="宋体" panose="02010600030101010101" pitchFamily="2" charset="-122"/>
              </a:rPr>
              <a:t>附加前提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(2)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A∨B      P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(3) B          T  (1)(2) I</a:t>
            </a:r>
            <a:r>
              <a:rPr lang="en-US" altLang="zh-CN" b="1" baseline="-25000" dirty="0">
                <a:latin typeface="宋体" panose="02010600030101010101" pitchFamily="2" charset="-122"/>
              </a:rPr>
              <a:t>10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(4) C→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B      P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(5) 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        T  (3)(4) I</a:t>
            </a:r>
            <a:r>
              <a:rPr lang="en-US" altLang="zh-CN" b="1" baseline="-25000" dirty="0">
                <a:latin typeface="宋体" panose="02010600030101010101" pitchFamily="2" charset="-122"/>
              </a:rPr>
              <a:t>12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eaLnBrk="1" hangingPunct="1">
              <a:buFontTx/>
              <a:buNone/>
            </a:pPr>
            <a:r>
              <a:rPr lang="en-US" altLang="zh-CN" b="1" dirty="0">
                <a:latin typeface="宋体" panose="02010600030101010101" pitchFamily="2" charset="-122"/>
              </a:rPr>
              <a:t>     (6) A→</a:t>
            </a:r>
            <a:r>
              <a:rPr lang="en-US" altLang="zh-CN" b="1" dirty="0">
                <a:sym typeface="Symbol" panose="05050102010706020507" pitchFamily="18" charset="2"/>
              </a:rPr>
              <a:t></a:t>
            </a:r>
            <a:r>
              <a:rPr lang="en-US" altLang="zh-CN" b="1" dirty="0">
                <a:latin typeface="宋体" panose="02010600030101010101" pitchFamily="2" charset="-122"/>
              </a:rPr>
              <a:t>C      CP</a:t>
            </a:r>
            <a:endParaRPr lang="en-US" altLang="zh-CN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401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4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4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4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4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9" grpId="0" autoUpdateAnimBg="0" build="p"/>
    </p:bldLst>
  </p:timing>
</p:sld>
</file>

<file path=ppt/tags/tag1.xml><?xml version="1.0" encoding="utf-8"?>
<p:tagLst xmlns:p="http://schemas.openxmlformats.org/presentationml/2006/main">
  <p:tag name="KSO_WPP_MARK_KEY" val="9fa0cfeb-1ac5-41b4-b1aa-564ad27b424e"/>
  <p:tag name="COMMONDATA" val="eyJoZGlkIjoiOTdlZWM4ZTkzMDQwNzlhMzliMmYyZDVlZGZhZjFmYz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4501</Words>
  <Application>WPS 演示</Application>
  <PresentationFormat>全屏显示(4:3)</PresentationFormat>
  <Paragraphs>202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宋体</vt:lpstr>
      <vt:lpstr>Wingdings</vt:lpstr>
      <vt:lpstr>Candara</vt:lpstr>
      <vt:lpstr>华文楷体</vt:lpstr>
      <vt:lpstr>Calibri Light</vt:lpstr>
      <vt:lpstr>楷体</vt:lpstr>
      <vt:lpstr>黑体</vt:lpstr>
      <vt:lpstr>Times New Roman</vt:lpstr>
      <vt:lpstr>Symbol</vt:lpstr>
      <vt:lpstr>MS Gothic</vt:lpstr>
      <vt:lpstr>Kingsoft Phonetic Plain</vt:lpstr>
      <vt:lpstr>Segoe Print</vt:lpstr>
      <vt:lpstr>微软雅黑</vt:lpstr>
      <vt:lpstr>Arial Unicode MS</vt:lpstr>
      <vt:lpstr>Lucida Sans Unicode</vt:lpstr>
      <vt:lpstr>Office 主题​​</vt:lpstr>
      <vt:lpstr>PowerPoint 演示文稿</vt:lpstr>
      <vt:lpstr>1-7. 命题逻辑推理</vt:lpstr>
      <vt:lpstr>PowerPoint 演示文稿</vt:lpstr>
      <vt:lpstr>重要的重言蕴涵式(如教材第43页所示)</vt:lpstr>
      <vt:lpstr>重要的等价公式</vt:lpstr>
      <vt:lpstr>一、直接推理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二、条件论证 </vt:lpstr>
      <vt:lpstr>二、条件论证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</dc:title>
  <dc:creator>xuxf</dc:creator>
  <cp:lastModifiedBy>谭振华</cp:lastModifiedBy>
  <cp:revision>607</cp:revision>
  <cp:lastPrinted>2020-02-29T08:49:00Z</cp:lastPrinted>
  <dcterms:created xsi:type="dcterms:W3CDTF">2001-03-04T02:11:00Z</dcterms:created>
  <dcterms:modified xsi:type="dcterms:W3CDTF">2023-03-08T01:35:29Z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68322B3DB6E249CCA7F4901032CF909B</vt:lpwstr>
  </property>
  <property fmtid="{D5CDD505-2E9C-101B-9397-08002B2CF9AE}" pid="3" name="KSOProductBuildVer">
    <vt:lpwstr>2052-11.1.0.13703</vt:lpwstr>
  </property>
</Properties>
</file>