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550" r:id="rId3"/>
    <p:sldId id="551" r:id="rId4"/>
    <p:sldId id="552" r:id="rId5"/>
    <p:sldId id="553" r:id="rId6"/>
    <p:sldId id="554" r:id="rId7"/>
    <p:sldId id="555" r:id="rId8"/>
    <p:sldId id="556" r:id="rId9"/>
    <p:sldId id="557" r:id="rId10"/>
    <p:sldId id="558" r:id="rId11"/>
    <p:sldId id="559" r:id="rId12"/>
    <p:sldId id="560" r:id="rId13"/>
    <p:sldId id="561" r:id="rId14"/>
    <p:sldId id="562" r:id="rId15"/>
    <p:sldId id="563" r:id="rId16"/>
    <p:sldId id="564" r:id="rId17"/>
    <p:sldId id="565" r:id="rId18"/>
    <p:sldId id="566" r:id="rId19"/>
    <p:sldId id="567" r:id="rId20"/>
    <p:sldId id="568" r:id="rId21"/>
  </p:sldIdLst>
  <p:sldSz cx="9144000" cy="6858000" type="screen4x3"/>
  <p:notesSz cx="6797675" cy="9928225"/>
  <p:custDataLst>
    <p:tags r:id="rId27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CCFFCC"/>
    <a:srgbClr val="FF0000"/>
    <a:srgbClr val="800080"/>
    <a:srgbClr val="3333FF"/>
    <a:srgbClr val="99FFCC"/>
    <a:srgbClr val="993300"/>
    <a:srgbClr val="33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32" autoAdjust="0"/>
    <p:restoredTop sz="95205" autoAdjust="0"/>
  </p:normalViewPr>
  <p:slideViewPr>
    <p:cSldViewPr showGuides="1">
      <p:cViewPr varScale="1">
        <p:scale>
          <a:sx n="86" d="100"/>
          <a:sy n="86" d="100"/>
        </p:scale>
        <p:origin x="1392" y="106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4318"/>
    </p:cViewPr>
  </p:sorterViewPr>
  <p:notesViewPr>
    <p:cSldViewPr>
      <p:cViewPr varScale="1">
        <p:scale>
          <a:sx n="37" d="100"/>
          <a:sy n="37" d="100"/>
        </p:scale>
        <p:origin x="-1090" y="-58"/>
      </p:cViewPr>
      <p:guideLst>
        <p:guide orient="horz" pos="3127"/>
        <p:guide pos="214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7" Type="http://schemas.openxmlformats.org/officeDocument/2006/relationships/tags" Target="tags/tag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handoutMaster" Target="handoutMasters/handoutMaster1.xml"/><Relationship Id="rId22" Type="http://schemas.openxmlformats.org/officeDocument/2006/relationships/notesMaster" Target="notesMasters/notesMaster1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45862" cy="49587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5571" tIns="47786" rIns="95571" bIns="47786" numCol="1" anchor="t" anchorCtr="0" compatLnSpc="1"/>
          <a:lstStyle>
            <a:lvl1pPr defTabSz="955675">
              <a:defRPr kumimoji="1"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814" y="1"/>
            <a:ext cx="2945862" cy="49587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5571" tIns="47786" rIns="95571" bIns="47786" numCol="1" anchor="t" anchorCtr="0" compatLnSpc="1"/>
          <a:lstStyle>
            <a:lvl1pPr algn="r" defTabSz="955675">
              <a:defRPr kumimoji="1"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2353"/>
            <a:ext cx="2945862" cy="49587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5571" tIns="47786" rIns="95571" bIns="47786" numCol="1" anchor="b" anchorCtr="0" compatLnSpc="1"/>
          <a:lstStyle>
            <a:lvl1pPr defTabSz="955675">
              <a:defRPr kumimoji="1"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814" y="9432353"/>
            <a:ext cx="2945862" cy="49587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5571" tIns="47786" rIns="95571" bIns="47786" numCol="1" anchor="b" anchorCtr="0" compatLnSpc="1"/>
          <a:lstStyle>
            <a:lvl1pPr algn="r" defTabSz="955675">
              <a:defRPr kumimoji="1"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CBB4B81F-A7D6-4015-B8B5-25709B6C0BE8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45862" cy="49587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5571" tIns="47786" rIns="95571" bIns="47786" numCol="1" anchor="t" anchorCtr="0" compatLnSpc="1"/>
          <a:lstStyle>
            <a:lvl1pPr defTabSz="955675">
              <a:defRPr kumimoji="1"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814" y="1"/>
            <a:ext cx="2945862" cy="49587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5571" tIns="47786" rIns="95571" bIns="47786" numCol="1" anchor="t" anchorCtr="0" compatLnSpc="1"/>
          <a:lstStyle>
            <a:lvl1pPr algn="r" defTabSz="955675">
              <a:defRPr kumimoji="1"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2276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919163" y="746125"/>
            <a:ext cx="4959350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5952" y="4715406"/>
            <a:ext cx="4985772" cy="446747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5571" tIns="47786" rIns="95571" bIns="47786" numCol="1" anchor="t" anchorCtr="0" compatLnSpc="1"/>
          <a:lstStyle/>
          <a:p>
            <a:pPr lvl="0"/>
            <a:r>
              <a:rPr lang="zh-CN" altLang="en-US" noProof="0"/>
              <a:t>单击以编辑母版文本样式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2353"/>
            <a:ext cx="2945862" cy="49587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5571" tIns="47786" rIns="95571" bIns="47786" numCol="1" anchor="b" anchorCtr="0" compatLnSpc="1"/>
          <a:lstStyle>
            <a:lvl1pPr defTabSz="955675">
              <a:defRPr kumimoji="1"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814" y="9432353"/>
            <a:ext cx="2945862" cy="49587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5571" tIns="47786" rIns="95571" bIns="47786" numCol="1" anchor="b" anchorCtr="0" compatLnSpc="1"/>
          <a:lstStyle>
            <a:lvl1pPr algn="r" defTabSz="955675">
              <a:defRPr kumimoji="1"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236B63D6-A577-4FFD-BDA7-6D48BE1130C1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/>
          <p:nvPr userDrawn="1"/>
        </p:nvSpPr>
        <p:spPr bwMode="auto">
          <a:xfrm>
            <a:off x="0" y="6237312"/>
            <a:ext cx="9144000" cy="630215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txBody>
          <a:bodyPr lIns="76786" tIns="38393" rIns="76786" bIns="38393" anchor="ctr"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ndara" panose="020E0502030303020204" pitchFamily="34" charset="0"/>
                <a:ea typeface="华文楷体" panose="02010600040101010101" pitchFamily="2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ndara" panose="020E0502030303020204" pitchFamily="34" charset="0"/>
                <a:ea typeface="华文楷体" panose="02010600040101010101" pitchFamily="2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ndara" panose="020E0502030303020204" pitchFamily="34" charset="0"/>
                <a:ea typeface="华文楷体" panose="02010600040101010101" pitchFamily="2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ndara" panose="020E0502030303020204" pitchFamily="34" charset="0"/>
                <a:ea typeface="华文楷体" panose="02010600040101010101" pitchFamily="2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9pPr>
          </a:lstStyle>
          <a:p>
            <a:pPr defTabSz="1024255">
              <a:defRPr/>
            </a:pPr>
            <a:endParaRPr lang="en-US" sz="1200" dirty="0">
              <a:solidFill>
                <a:prstClr val="white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0766" y="0"/>
            <a:ext cx="9144000" cy="692696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lIns="76786" tIns="38393" rIns="76786" bIns="38393"/>
          <a:lstStyle>
            <a:lvl1pPr>
              <a:defRPr sz="360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764704"/>
            <a:ext cx="8496944" cy="5328592"/>
          </a:xfrm>
          <a:prstGeom prst="rect">
            <a:avLst/>
          </a:prstGeom>
        </p:spPr>
        <p:txBody>
          <a:bodyPr lIns="76786" tIns="38393" rIns="76786" bIns="38393"/>
          <a:lstStyle>
            <a:lvl1pPr>
              <a:defRPr sz="32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>
              <a:defRPr sz="2800">
                <a:latin typeface="华文楷体" panose="02010600040101010101" pitchFamily="2" charset="-122"/>
                <a:ea typeface="华文楷体" panose="02010600040101010101" pitchFamily="2" charset="-122"/>
              </a:defRPr>
            </a:lvl2pPr>
            <a:lvl3pPr>
              <a:defRPr sz="2400">
                <a:latin typeface="华文楷体" panose="02010600040101010101" pitchFamily="2" charset="-122"/>
                <a:ea typeface="华文楷体" panose="02010600040101010101" pitchFamily="2" charset="-122"/>
              </a:defRPr>
            </a:lvl3pPr>
            <a:lvl4pPr>
              <a:defRPr>
                <a:latin typeface="华文楷体" panose="02010600040101010101" pitchFamily="2" charset="-122"/>
                <a:ea typeface="华文楷体" panose="02010600040101010101" pitchFamily="2" charset="-122"/>
              </a:defRPr>
            </a:lvl4pPr>
            <a:lvl5pPr>
              <a:defRPr>
                <a:latin typeface="华文楷体" panose="02010600040101010101" pitchFamily="2" charset="-122"/>
                <a:ea typeface="华文楷体" panose="02010600040101010101" pitchFamily="2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5" name="文本框 4"/>
          <p:cNvSpPr txBox="1"/>
          <p:nvPr userDrawn="1"/>
        </p:nvSpPr>
        <p:spPr>
          <a:xfrm>
            <a:off x="7668344" y="6597352"/>
            <a:ext cx="15311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东北大学 谭振华</a:t>
            </a:r>
            <a:endParaRPr lang="zh-CN" altLang="en-US" sz="140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0766" y="0"/>
            <a:ext cx="9144000" cy="692696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lIns="76786" tIns="38393" rIns="76786" bIns="38393"/>
          <a:lstStyle>
            <a:lvl1pPr>
              <a:defRPr sz="360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764704"/>
            <a:ext cx="8496944" cy="5904656"/>
          </a:xfrm>
          <a:prstGeom prst="rect">
            <a:avLst/>
          </a:prstGeom>
        </p:spPr>
        <p:txBody>
          <a:bodyPr lIns="76786" tIns="38393" rIns="76786" bIns="38393"/>
          <a:lstStyle>
            <a:lvl1pPr>
              <a:defRPr sz="32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>
              <a:defRPr sz="2800">
                <a:latin typeface="华文楷体" panose="02010600040101010101" pitchFamily="2" charset="-122"/>
                <a:ea typeface="华文楷体" panose="02010600040101010101" pitchFamily="2" charset="-122"/>
              </a:defRPr>
            </a:lvl2pPr>
            <a:lvl3pPr>
              <a:defRPr sz="2400">
                <a:latin typeface="华文楷体" panose="02010600040101010101" pitchFamily="2" charset="-122"/>
                <a:ea typeface="华文楷体" panose="02010600040101010101" pitchFamily="2" charset="-122"/>
              </a:defRPr>
            </a:lvl3pPr>
            <a:lvl4pPr>
              <a:defRPr>
                <a:latin typeface="华文楷体" panose="02010600040101010101" pitchFamily="2" charset="-122"/>
                <a:ea typeface="华文楷体" panose="02010600040101010101" pitchFamily="2" charset="-122"/>
              </a:defRPr>
            </a:lvl4pPr>
            <a:lvl5pPr>
              <a:defRPr>
                <a:latin typeface="华文楷体" panose="02010600040101010101" pitchFamily="2" charset="-122"/>
                <a:ea typeface="华文楷体" panose="02010600040101010101" pitchFamily="2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FFFF"/>
            </a:gs>
            <a:gs pos="75000">
              <a:srgbClr val="FBFBFB"/>
            </a:gs>
            <a:gs pos="100000">
              <a:srgbClr val="D0D0D0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defTabSz="1024255" rtl="0" eaLnBrk="1" latinLnBrk="0" hangingPunct="1">
        <a:spcBef>
          <a:spcPct val="0"/>
        </a:spcBef>
        <a:buNone/>
        <a:defRPr sz="5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84175" indent="-384175" algn="l" defTabSz="1024255" rtl="0" eaLnBrk="1" latinLnBrk="0" hangingPunct="1">
        <a:spcBef>
          <a:spcPct val="20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832485" indent="-320040" algn="l" defTabSz="1024255" rtl="0" eaLnBrk="1" latinLnBrk="0" hangingPunct="1">
        <a:spcBef>
          <a:spcPct val="20000"/>
        </a:spcBef>
        <a:buFont typeface="Arial" panose="020B0604020202020204" pitchFamily="34" charset="0"/>
        <a:buChar char="–"/>
        <a:defRPr sz="3100" kern="1200">
          <a:solidFill>
            <a:schemeClr val="tx1"/>
          </a:solidFill>
          <a:latin typeface="+mn-lt"/>
          <a:ea typeface="+mn-ea"/>
          <a:cs typeface="+mn-cs"/>
        </a:defRPr>
      </a:lvl2pPr>
      <a:lvl3pPr marL="1280795" indent="-255905" algn="l" defTabSz="102425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1792605" indent="-255905" algn="l" defTabSz="1024255" rtl="0" eaLnBrk="1" latinLnBrk="0" hangingPunct="1">
        <a:spcBef>
          <a:spcPct val="20000"/>
        </a:spcBef>
        <a:buFont typeface="Arial" panose="020B0604020202020204" pitchFamily="34" charset="0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305050" indent="-255905" algn="l" defTabSz="1024255" rtl="0" eaLnBrk="1" latinLnBrk="0" hangingPunct="1">
        <a:spcBef>
          <a:spcPct val="20000"/>
        </a:spcBef>
        <a:buFont typeface="Arial" panose="020B0604020202020204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17495" indent="-255905" algn="l" defTabSz="1024255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329305" indent="-255905" algn="l" defTabSz="1024255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841750" indent="-255905" algn="l" defTabSz="1024255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353560" indent="-255905" algn="l" defTabSz="1024255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02425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11810" algn="l" defTabSz="102425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24890" algn="l" defTabSz="102425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36700" algn="l" defTabSz="102425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48510" algn="l" defTabSz="102425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60955" algn="l" defTabSz="102425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73400" algn="l" defTabSz="102425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85210" algn="l" defTabSz="102425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97655" algn="l" defTabSz="102425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/>
          <p:cNvSpPr>
            <a:spLocks noChangeArrowheads="1"/>
          </p:cNvSpPr>
          <p:nvPr/>
        </p:nvSpPr>
        <p:spPr bwMode="auto">
          <a:xfrm>
            <a:off x="107504" y="44624"/>
            <a:ext cx="4528256" cy="720080"/>
          </a:xfrm>
          <a:prstGeom prst="rect">
            <a:avLst/>
          </a:prstGeom>
          <a:noFill/>
          <a:ln>
            <a:noFill/>
          </a:ln>
          <a:effectLst/>
        </p:spPr>
        <p:txBody>
          <a:bodyPr lIns="76772" tIns="38386" rIns="76772" bIns="38386" anchor="ctr"/>
          <a:lstStyle/>
          <a:p>
            <a:pPr defTabSz="1024255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800" dirty="0">
                <a:solidFill>
                  <a:prstClr val="white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第一篇 数理逻辑</a:t>
            </a:r>
            <a:endParaRPr lang="en-US" altLang="zh-CN" sz="2800" dirty="0">
              <a:solidFill>
                <a:prstClr val="white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" name="Rectangle 13"/>
          <p:cNvSpPr>
            <a:spLocks noChangeArrowheads="1"/>
          </p:cNvSpPr>
          <p:nvPr/>
        </p:nvSpPr>
        <p:spPr bwMode="auto">
          <a:xfrm>
            <a:off x="1043608" y="2636912"/>
            <a:ext cx="7521824" cy="1378715"/>
          </a:xfrm>
          <a:prstGeom prst="rect">
            <a:avLst/>
          </a:prstGeom>
          <a:noFill/>
          <a:ln>
            <a:noFill/>
          </a:ln>
          <a:effectLst/>
        </p:spPr>
        <p:txBody>
          <a:bodyPr lIns="76772" tIns="38386" rIns="76772" bIns="38386" anchor="ctr"/>
          <a:lstStyle/>
          <a:p>
            <a:pPr algn="ctr" defTabSz="1024255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7200" dirty="0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1-7 </a:t>
            </a:r>
            <a:r>
              <a:rPr lang="zh-CN" altLang="en-US" sz="7200" dirty="0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命题逻辑推理</a:t>
            </a:r>
            <a:endParaRPr lang="en-US" altLang="zh-CN" sz="7200" dirty="0">
              <a:solidFill>
                <a:schemeClr val="tx2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  <p:transition spd="slow">
    <p:randomBar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ChangeArrowheads="1"/>
          </p:cNvSpPr>
          <p:nvPr>
            <p:ph type="title"/>
          </p:nvPr>
        </p:nvSpPr>
        <p:spPr>
          <a:ln>
            <a:solidFill>
              <a:srgbClr val="FF6600"/>
            </a:solidFill>
            <a:miter lim="800000"/>
          </a:ln>
        </p:spPr>
        <p:txBody>
          <a:bodyPr/>
          <a:lstStyle/>
          <a:p>
            <a:pPr algn="l" eaLnBrk="1" hangingPunct="1"/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1-7.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命题逻辑推理</a:t>
            </a:r>
            <a:endParaRPr lang="zh-CN" altLang="en-US" dirty="0"/>
          </a:p>
        </p:txBody>
      </p:sp>
      <p:sp>
        <p:nvSpPr>
          <p:cNvPr id="119811" name="Rectangle 3"/>
          <p:cNvSpPr>
            <a:spLocks noGrp="1" noChangeArrowheads="1"/>
          </p:cNvSpPr>
          <p:nvPr>
            <p:ph idx="1"/>
          </p:nvPr>
        </p:nvSpPr>
        <p:spPr>
          <a:xfrm>
            <a:off x="323528" y="764704"/>
            <a:ext cx="8496944" cy="5832648"/>
          </a:xfrm>
          <a:ln>
            <a:solidFill>
              <a:schemeClr val="accent2"/>
            </a:solidFill>
            <a:miter lim="800000"/>
          </a:ln>
        </p:spPr>
        <p:txBody>
          <a:bodyPr/>
          <a:lstStyle/>
          <a:p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推理</a:t>
            </a:r>
            <a:r>
              <a:rPr lang="zh-CN" altLang="en-US" sz="2800" dirty="0">
                <a:latin typeface="宋体" panose="02010600030101010101" pitchFamily="2" charset="-122"/>
              </a:rPr>
              <a:t>就是根据一个或几个已知的判断得出一个新的判断的思维过程。</a:t>
            </a:r>
            <a:endParaRPr lang="en-US" altLang="zh-CN" sz="2800" dirty="0">
              <a:latin typeface="宋体" panose="02010600030101010101" pitchFamily="2" charset="-122"/>
            </a:endParaRPr>
          </a:p>
          <a:p>
            <a:pPr lvl="1"/>
            <a:r>
              <a:rPr lang="zh-CN" altLang="en-US" sz="2400" dirty="0">
                <a:latin typeface="宋体" panose="02010600030101010101" pitchFamily="2" charset="-122"/>
              </a:rPr>
              <a:t>称这些已知的判断为</a:t>
            </a: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前提</a:t>
            </a:r>
            <a:r>
              <a:rPr lang="zh-CN" altLang="en-US" sz="2400" dirty="0">
                <a:latin typeface="宋体" panose="02010600030101010101" pitchFamily="2" charset="-122"/>
              </a:rPr>
              <a:t>。</a:t>
            </a:r>
            <a:endParaRPr lang="en-US" altLang="zh-CN" sz="2400" dirty="0">
              <a:latin typeface="宋体" panose="02010600030101010101" pitchFamily="2" charset="-122"/>
            </a:endParaRPr>
          </a:p>
          <a:p>
            <a:pPr lvl="1"/>
            <a:r>
              <a:rPr lang="zh-CN" altLang="en-US" sz="2800" dirty="0">
                <a:latin typeface="宋体" panose="02010600030101010101" pitchFamily="2" charset="-122"/>
              </a:rPr>
              <a:t>得到的新的判断为前提的</a:t>
            </a:r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有效结论</a:t>
            </a:r>
            <a:r>
              <a:rPr lang="zh-CN" altLang="en-US" sz="2800" dirty="0">
                <a:latin typeface="宋体" panose="02010600030101010101" pitchFamily="2" charset="-122"/>
              </a:rPr>
              <a:t>。</a:t>
            </a:r>
            <a:endParaRPr lang="zh-CN" altLang="en-US" sz="2800" dirty="0">
              <a:latin typeface="宋体" panose="02010600030101010101" pitchFamily="2" charset="-122"/>
            </a:endParaRPr>
          </a:p>
          <a:p>
            <a:r>
              <a:rPr lang="zh-CN" altLang="en-US" sz="2800" dirty="0">
                <a:latin typeface="宋体" panose="02010600030101010101" pitchFamily="2" charset="-122"/>
              </a:rPr>
              <a:t>实际上，推理的过程就是证明永真蕴含式的过程，即令</a:t>
            </a:r>
            <a:r>
              <a:rPr lang="en-US" altLang="zh-CN" sz="2800" dirty="0">
                <a:latin typeface="宋体" panose="02010600030101010101" pitchFamily="2" charset="-122"/>
              </a:rPr>
              <a:t>H</a:t>
            </a:r>
            <a:r>
              <a:rPr lang="en-US" altLang="zh-CN" sz="2800" baseline="-25000" dirty="0">
                <a:latin typeface="宋体" panose="02010600030101010101" pitchFamily="2" charset="-122"/>
              </a:rPr>
              <a:t>1</a:t>
            </a:r>
            <a:r>
              <a:rPr lang="zh-CN" altLang="en-US" sz="2800" dirty="0">
                <a:latin typeface="宋体" panose="02010600030101010101" pitchFamily="2" charset="-122"/>
              </a:rPr>
              <a:t>，</a:t>
            </a:r>
            <a:r>
              <a:rPr lang="en-US" altLang="zh-CN" sz="2800" dirty="0">
                <a:latin typeface="宋体" panose="02010600030101010101" pitchFamily="2" charset="-122"/>
              </a:rPr>
              <a:t>H</a:t>
            </a:r>
            <a:r>
              <a:rPr lang="en-US" altLang="zh-CN" sz="2800" baseline="-25000" dirty="0">
                <a:latin typeface="宋体" panose="02010600030101010101" pitchFamily="2" charset="-122"/>
              </a:rPr>
              <a:t>2</a:t>
            </a:r>
            <a:r>
              <a:rPr lang="zh-CN" altLang="en-US" sz="2800" dirty="0">
                <a:latin typeface="宋体" panose="02010600030101010101" pitchFamily="2" charset="-122"/>
              </a:rPr>
              <a:t>，</a:t>
            </a:r>
            <a:r>
              <a:rPr lang="en-US" altLang="zh-CN" sz="2800" dirty="0"/>
              <a:t>…</a:t>
            </a:r>
            <a:r>
              <a:rPr lang="zh-CN" altLang="en-US" sz="2800" dirty="0">
                <a:latin typeface="宋体" panose="02010600030101010101" pitchFamily="2" charset="-122"/>
              </a:rPr>
              <a:t>，</a:t>
            </a:r>
            <a:r>
              <a:rPr lang="en-US" altLang="zh-CN" sz="2800" dirty="0">
                <a:latin typeface="宋体" panose="02010600030101010101" pitchFamily="2" charset="-122"/>
              </a:rPr>
              <a:t>H</a:t>
            </a:r>
            <a:r>
              <a:rPr lang="en-US" altLang="zh-CN" sz="2800" baseline="-25000" dirty="0">
                <a:latin typeface="宋体" panose="02010600030101010101" pitchFamily="2" charset="-122"/>
              </a:rPr>
              <a:t>n</a:t>
            </a:r>
            <a:r>
              <a:rPr lang="zh-CN" altLang="en-US" sz="2800" dirty="0">
                <a:latin typeface="宋体" panose="02010600030101010101" pitchFamily="2" charset="-122"/>
              </a:rPr>
              <a:t>是已知的命题公式</a:t>
            </a:r>
            <a:r>
              <a:rPr lang="en-US" altLang="zh-CN" sz="2800" dirty="0">
                <a:latin typeface="宋体" panose="02010600030101010101" pitchFamily="2" charset="-122"/>
              </a:rPr>
              <a:t>(</a:t>
            </a:r>
            <a:r>
              <a:rPr lang="zh-CN" altLang="en-US" sz="2800" dirty="0">
                <a:latin typeface="宋体" panose="02010600030101010101" pitchFamily="2" charset="-122"/>
              </a:rPr>
              <a:t>前提</a:t>
            </a:r>
            <a:r>
              <a:rPr lang="en-US" altLang="zh-CN" sz="2800" dirty="0">
                <a:latin typeface="宋体" panose="02010600030101010101" pitchFamily="2" charset="-122"/>
              </a:rPr>
              <a:t>)</a:t>
            </a:r>
            <a:r>
              <a:rPr lang="zh-CN" altLang="en-US" sz="2800" dirty="0">
                <a:latin typeface="宋体" panose="02010600030101010101" pitchFamily="2" charset="-122"/>
              </a:rPr>
              <a:t>，若有 </a:t>
            </a:r>
            <a:endParaRPr lang="zh-CN" altLang="en-US" sz="2800" dirty="0">
              <a:latin typeface="宋体" panose="02010600030101010101" pitchFamily="2" charset="-122"/>
            </a:endParaRPr>
          </a:p>
          <a:p>
            <a:pPr algn="ctr" eaLnBrk="1" hangingPunct="1">
              <a:buFontTx/>
              <a:buNone/>
            </a:pPr>
            <a:r>
              <a:rPr lang="en-US" altLang="zh-CN" sz="2800" dirty="0">
                <a:solidFill>
                  <a:srgbClr val="FF0000"/>
                </a:solidFill>
                <a:latin typeface="宋体" panose="02010600030101010101" pitchFamily="2" charset="-122"/>
              </a:rPr>
              <a:t>H</a:t>
            </a:r>
            <a:r>
              <a:rPr lang="en-US" altLang="zh-CN" sz="2800" baseline="-25000" dirty="0">
                <a:solidFill>
                  <a:srgbClr val="FF0000"/>
                </a:solidFill>
                <a:latin typeface="宋体" panose="02010600030101010101" pitchFamily="2" charset="-122"/>
              </a:rPr>
              <a:t>1</a:t>
            </a:r>
            <a:r>
              <a:rPr lang="en-US" altLang="zh-CN" sz="2800" dirty="0">
                <a:solidFill>
                  <a:srgbClr val="FF0000"/>
                </a:solidFill>
                <a:latin typeface="宋体" panose="02010600030101010101" pitchFamily="2" charset="-122"/>
              </a:rPr>
              <a:t>∧H</a:t>
            </a:r>
            <a:r>
              <a:rPr lang="en-US" altLang="zh-CN" sz="2800" baseline="-25000" dirty="0">
                <a:solidFill>
                  <a:srgbClr val="FF0000"/>
                </a:solidFill>
                <a:latin typeface="宋体" panose="02010600030101010101" pitchFamily="2" charset="-122"/>
              </a:rPr>
              <a:t>2</a:t>
            </a:r>
            <a:r>
              <a:rPr lang="en-US" altLang="zh-CN" sz="2800" dirty="0">
                <a:solidFill>
                  <a:srgbClr val="FF0000"/>
                </a:solidFill>
                <a:latin typeface="宋体" panose="02010600030101010101" pitchFamily="2" charset="-122"/>
              </a:rPr>
              <a:t>∧....∧H</a:t>
            </a:r>
            <a:r>
              <a:rPr lang="en-US" altLang="zh-CN" sz="2800" baseline="-25000" dirty="0">
                <a:solidFill>
                  <a:srgbClr val="FF0000"/>
                </a:solidFill>
                <a:latin typeface="宋体" panose="02010600030101010101" pitchFamily="2" charset="-122"/>
              </a:rPr>
              <a:t>n </a:t>
            </a:r>
            <a:r>
              <a:rPr lang="en-US" altLang="zh-CN" sz="2800" dirty="0">
                <a:solidFill>
                  <a:srgbClr val="FF0000"/>
                </a:solidFill>
                <a:sym typeface="Symbol" panose="05050102010706020507" pitchFamily="18" charset="2"/>
              </a:rPr>
              <a:t></a:t>
            </a:r>
            <a:r>
              <a:rPr lang="en-US" altLang="zh-CN" sz="2800" baseline="-25000" dirty="0">
                <a:solidFill>
                  <a:srgbClr val="FF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800" dirty="0">
                <a:solidFill>
                  <a:srgbClr val="FF0000"/>
                </a:solidFill>
                <a:latin typeface="宋体" panose="02010600030101010101" pitchFamily="2" charset="-122"/>
              </a:rPr>
              <a:t>C</a:t>
            </a:r>
            <a:endParaRPr lang="en-US" altLang="zh-CN" sz="2800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algn="ctr" eaLnBrk="1" hangingPunct="1">
              <a:buFontTx/>
              <a:buNone/>
            </a:pPr>
            <a:r>
              <a:rPr lang="zh-CN" altLang="en-US" sz="2800">
                <a:solidFill>
                  <a:srgbClr val="FF0000"/>
                </a:solidFill>
                <a:latin typeface="宋体" panose="02010600030101010101" pitchFamily="2" charset="-122"/>
              </a:rPr>
              <a:t>（过程：前</a:t>
            </a:r>
            <a:r>
              <a:rPr lang="zh-CN" altLang="en-US" sz="2800" dirty="0">
                <a:solidFill>
                  <a:srgbClr val="FF0000"/>
                </a:solidFill>
                <a:latin typeface="宋体" panose="02010600030101010101" pitchFamily="2" charset="-122"/>
              </a:rPr>
              <a:t>件为真，</a:t>
            </a:r>
            <a:r>
              <a:rPr lang="zh-CN" altLang="en-US" sz="2800">
                <a:solidFill>
                  <a:srgbClr val="FF0000"/>
                </a:solidFill>
                <a:latin typeface="宋体" panose="02010600030101010101" pitchFamily="2" charset="-122"/>
              </a:rPr>
              <a:t>推出结论）</a:t>
            </a:r>
            <a:endParaRPr lang="en-US" altLang="zh-CN" sz="2800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zh-CN" altLang="en-US" sz="2800" dirty="0">
                <a:latin typeface="宋体" panose="02010600030101010101" pitchFamily="2" charset="-122"/>
              </a:rPr>
              <a:t>则称</a:t>
            </a:r>
            <a:r>
              <a:rPr lang="en-US" altLang="zh-CN" sz="2800" dirty="0">
                <a:latin typeface="宋体" panose="02010600030101010101" pitchFamily="2" charset="-122"/>
              </a:rPr>
              <a:t>C</a:t>
            </a:r>
            <a:r>
              <a:rPr lang="zh-CN" altLang="en-US" sz="2800" dirty="0">
                <a:latin typeface="宋体" panose="02010600030101010101" pitchFamily="2" charset="-122"/>
              </a:rPr>
              <a:t>是</a:t>
            </a:r>
            <a:r>
              <a:rPr lang="en-US" altLang="zh-CN" sz="2800" dirty="0">
                <a:latin typeface="宋体" panose="02010600030101010101" pitchFamily="2" charset="-122"/>
              </a:rPr>
              <a:t>H</a:t>
            </a:r>
            <a:r>
              <a:rPr lang="en-US" altLang="zh-CN" sz="2800" baseline="-25000" dirty="0">
                <a:latin typeface="宋体" panose="02010600030101010101" pitchFamily="2" charset="-122"/>
              </a:rPr>
              <a:t>1</a:t>
            </a:r>
            <a:r>
              <a:rPr lang="zh-CN" altLang="en-US" sz="2800" dirty="0">
                <a:latin typeface="宋体" panose="02010600030101010101" pitchFamily="2" charset="-122"/>
              </a:rPr>
              <a:t>，</a:t>
            </a:r>
            <a:r>
              <a:rPr lang="en-US" altLang="zh-CN" sz="2800" dirty="0">
                <a:latin typeface="宋体" panose="02010600030101010101" pitchFamily="2" charset="-122"/>
              </a:rPr>
              <a:t>H</a:t>
            </a:r>
            <a:r>
              <a:rPr lang="en-US" altLang="zh-CN" sz="2800" baseline="-25000" dirty="0">
                <a:latin typeface="宋体" panose="02010600030101010101" pitchFamily="2" charset="-122"/>
              </a:rPr>
              <a:t>2</a:t>
            </a:r>
            <a:r>
              <a:rPr lang="zh-CN" altLang="en-US" sz="2800" dirty="0">
                <a:latin typeface="宋体" panose="02010600030101010101" pitchFamily="2" charset="-122"/>
              </a:rPr>
              <a:t>，</a:t>
            </a:r>
            <a:r>
              <a:rPr lang="en-US" altLang="zh-CN" sz="2800" dirty="0"/>
              <a:t>…</a:t>
            </a:r>
            <a:r>
              <a:rPr lang="en-US" altLang="zh-CN" sz="2800" dirty="0">
                <a:latin typeface="宋体" panose="02010600030101010101" pitchFamily="2" charset="-122"/>
              </a:rPr>
              <a:t>H</a:t>
            </a:r>
            <a:r>
              <a:rPr lang="en-US" altLang="zh-CN" sz="2800" baseline="-25000" dirty="0">
                <a:latin typeface="宋体" panose="02010600030101010101" pitchFamily="2" charset="-122"/>
              </a:rPr>
              <a:t>n</a:t>
            </a:r>
            <a:r>
              <a:rPr lang="zh-CN" altLang="en-US" sz="2800" dirty="0">
                <a:latin typeface="宋体" panose="02010600030101010101" pitchFamily="2" charset="-122"/>
              </a:rPr>
              <a:t>的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有效结论</a:t>
            </a:r>
            <a:r>
              <a:rPr lang="zh-CN" altLang="en-US" sz="2800" dirty="0">
                <a:latin typeface="宋体" panose="02010600030101010101" pitchFamily="2" charset="-122"/>
              </a:rPr>
              <a:t>，简称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结论</a:t>
            </a:r>
            <a:r>
              <a:rPr lang="zh-CN" altLang="en-US" sz="2800" dirty="0">
                <a:latin typeface="宋体" panose="02010600030101010101" pitchFamily="2" charset="-122"/>
              </a:rPr>
              <a:t>。</a:t>
            </a:r>
            <a:endParaRPr lang="zh-CN" altLang="en-US" sz="2800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981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98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98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198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198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198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198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198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811" grpId="0" autoUpdateAnimBg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0835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FF6600"/>
            </a:solidFill>
            <a:miter lim="800000"/>
          </a:ln>
        </p:spPr>
        <p:txBody>
          <a:bodyPr/>
          <a:lstStyle/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  </a:t>
            </a:r>
            <a:r>
              <a:rPr lang="zh-CN" altLang="en-US" b="1" dirty="0">
                <a:latin typeface="宋体" panose="02010600030101010101" pitchFamily="2" charset="-122"/>
              </a:rPr>
              <a:t>如何根据前提得到结论，需要有推理的规则。下面先介绍两个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推理规则</a:t>
            </a:r>
            <a:r>
              <a:rPr lang="zh-CN" altLang="en-US" b="1" dirty="0">
                <a:latin typeface="宋体" panose="02010600030101010101" pitchFamily="2" charset="-122"/>
              </a:rPr>
              <a:t>。</a:t>
            </a:r>
            <a:endParaRPr lang="zh-CN" altLang="en-US" b="1" dirty="0">
              <a:latin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规则</a:t>
            </a: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r>
              <a:rPr lang="en-US" altLang="zh-CN" b="1" dirty="0">
                <a:latin typeface="宋体" panose="02010600030101010101" pitchFamily="2" charset="-122"/>
              </a:rPr>
              <a:t>(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</a:rPr>
              <a:t>引入前提规则</a:t>
            </a:r>
            <a:r>
              <a:rPr lang="en-US" altLang="zh-CN" b="1" dirty="0">
                <a:latin typeface="宋体" panose="02010600030101010101" pitchFamily="2" charset="-122"/>
              </a:rPr>
              <a:t>)</a:t>
            </a:r>
            <a:r>
              <a:rPr lang="zh-CN" altLang="en-US" b="1" dirty="0">
                <a:latin typeface="宋体" panose="02010600030101010101" pitchFamily="2" charset="-122"/>
              </a:rPr>
              <a:t>：在推理过程中，可以随时引入前提。</a:t>
            </a:r>
            <a:endParaRPr lang="zh-CN" altLang="en-US" b="1" dirty="0">
              <a:latin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规则</a:t>
            </a: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</a:t>
            </a:r>
            <a:r>
              <a:rPr lang="en-US" altLang="zh-CN" b="1" dirty="0">
                <a:latin typeface="宋体" panose="02010600030101010101" pitchFamily="2" charset="-122"/>
              </a:rPr>
              <a:t>(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</a:rPr>
              <a:t>引入结论规则</a:t>
            </a:r>
            <a:r>
              <a:rPr lang="en-US" altLang="zh-CN" b="1" dirty="0">
                <a:latin typeface="宋体" panose="02010600030101010101" pitchFamily="2" charset="-122"/>
              </a:rPr>
              <a:t>)</a:t>
            </a:r>
            <a:r>
              <a:rPr lang="zh-CN" altLang="en-US" b="1" dirty="0">
                <a:latin typeface="宋体" panose="02010600030101010101" pitchFamily="2" charset="-122"/>
              </a:rPr>
              <a:t>：在推理过程中，如果前边有一个或几个公式永真蕴涵公式</a:t>
            </a:r>
            <a:r>
              <a:rPr lang="en-US" altLang="zh-CN" b="1" dirty="0">
                <a:latin typeface="宋体" panose="02010600030101010101" pitchFamily="2" charset="-122"/>
              </a:rPr>
              <a:t>S</a:t>
            </a:r>
            <a:r>
              <a:rPr lang="zh-CN" altLang="en-US" b="1" dirty="0">
                <a:latin typeface="宋体" panose="02010600030101010101" pitchFamily="2" charset="-122"/>
              </a:rPr>
              <a:t>，则可将</a:t>
            </a:r>
            <a:r>
              <a:rPr lang="en-US" altLang="zh-CN" b="1" dirty="0">
                <a:latin typeface="宋体" panose="02010600030101010101" pitchFamily="2" charset="-122"/>
              </a:rPr>
              <a:t>S</a:t>
            </a:r>
            <a:r>
              <a:rPr lang="zh-CN" altLang="en-US" b="1" dirty="0">
                <a:latin typeface="宋体" panose="02010600030101010101" pitchFamily="2" charset="-122"/>
              </a:rPr>
              <a:t>纳入推理过程中。</a:t>
            </a:r>
            <a:endParaRPr lang="zh-CN" altLang="en-US" b="1" dirty="0">
              <a:latin typeface="宋体" panose="02010600030101010101" pitchFamily="2" charset="-122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zh-CN" altLang="en-US" b="1" dirty="0">
                <a:latin typeface="宋体" panose="02010600030101010101" pitchFamily="2" charset="-122"/>
              </a:rPr>
              <a:t>在推理过程中，还要应用教材</a:t>
            </a:r>
            <a:r>
              <a:rPr lang="en-US" altLang="zh-CN" b="1" dirty="0">
                <a:latin typeface="宋体" panose="02010600030101010101" pitchFamily="2" charset="-122"/>
              </a:rPr>
              <a:t>43</a:t>
            </a:r>
            <a:r>
              <a:rPr lang="zh-CN" altLang="en-US" b="1" dirty="0">
                <a:latin typeface="宋体" panose="02010600030101010101" pitchFamily="2" charset="-122"/>
              </a:rPr>
              <a:t>页表</a:t>
            </a:r>
            <a:r>
              <a:rPr lang="en-US" altLang="zh-CN" b="1" dirty="0">
                <a:latin typeface="宋体" panose="02010600030101010101" pitchFamily="2" charset="-122"/>
              </a:rPr>
              <a:t>1-8.3</a:t>
            </a:r>
            <a:r>
              <a:rPr lang="zh-CN" altLang="en-US" b="1" dirty="0">
                <a:latin typeface="宋体" panose="02010600030101010101" pitchFamily="2" charset="-122"/>
              </a:rPr>
              <a:t>中的永真蕴涵式</a:t>
            </a:r>
            <a:r>
              <a:rPr lang="en-US" altLang="zh-CN" b="1" dirty="0">
                <a:latin typeface="宋体" panose="02010600030101010101" pitchFamily="2" charset="-122"/>
              </a:rPr>
              <a:t>I</a:t>
            </a:r>
            <a:r>
              <a:rPr lang="en-US" altLang="zh-CN" b="1" baseline="-25000" dirty="0">
                <a:latin typeface="宋体" panose="02010600030101010101" pitchFamily="2" charset="-122"/>
              </a:rPr>
              <a:t>1</a:t>
            </a:r>
            <a:r>
              <a:rPr lang="en-US" altLang="zh-CN" b="1" dirty="0">
                <a:latin typeface="宋体" panose="02010600030101010101" pitchFamily="2" charset="-122"/>
              </a:rPr>
              <a:t>-I</a:t>
            </a:r>
            <a:r>
              <a:rPr lang="en-US" altLang="zh-CN" b="1" baseline="-25000" dirty="0">
                <a:latin typeface="宋体" panose="02010600030101010101" pitchFamily="2" charset="-122"/>
              </a:rPr>
              <a:t>16</a:t>
            </a:r>
            <a:r>
              <a:rPr lang="zh-CN" altLang="en-US" b="1" dirty="0">
                <a:latin typeface="宋体" panose="02010600030101010101" pitchFamily="2" charset="-122"/>
              </a:rPr>
              <a:t>和表</a:t>
            </a:r>
            <a:r>
              <a:rPr lang="en-US" altLang="zh-CN" b="1" dirty="0">
                <a:latin typeface="宋体" panose="02010600030101010101" pitchFamily="2" charset="-122"/>
              </a:rPr>
              <a:t>1-8.4</a:t>
            </a:r>
            <a:r>
              <a:rPr lang="zh-CN" altLang="en-US" b="1" dirty="0">
                <a:latin typeface="宋体" panose="02010600030101010101" pitchFamily="2" charset="-122"/>
              </a:rPr>
              <a:t>中等价公式</a:t>
            </a:r>
            <a:r>
              <a:rPr lang="en-US" altLang="zh-CN" b="1" dirty="0">
                <a:latin typeface="宋体" panose="02010600030101010101" pitchFamily="2" charset="-122"/>
              </a:rPr>
              <a:t>E</a:t>
            </a:r>
            <a:r>
              <a:rPr lang="en-US" altLang="zh-CN" b="1" baseline="-25000" dirty="0">
                <a:latin typeface="宋体" panose="02010600030101010101" pitchFamily="2" charset="-122"/>
              </a:rPr>
              <a:t>1</a:t>
            </a:r>
            <a:r>
              <a:rPr lang="en-US" altLang="zh-CN" b="1" dirty="0">
                <a:latin typeface="宋体" panose="02010600030101010101" pitchFamily="2" charset="-122"/>
              </a:rPr>
              <a:t>-E</a:t>
            </a:r>
            <a:r>
              <a:rPr lang="en-US" altLang="zh-CN" b="1" baseline="-25000" dirty="0">
                <a:latin typeface="宋体" panose="02010600030101010101" pitchFamily="2" charset="-122"/>
              </a:rPr>
              <a:t>22 </a:t>
            </a:r>
            <a:r>
              <a:rPr lang="en-US" altLang="zh-CN" b="1" dirty="0">
                <a:latin typeface="宋体" panose="02010600030101010101" pitchFamily="2" charset="-122"/>
              </a:rPr>
              <a:t>(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</a:rPr>
              <a:t>常用的公式要熟记</a:t>
            </a:r>
            <a:r>
              <a:rPr lang="en-US" altLang="zh-CN" b="1" dirty="0">
                <a:latin typeface="宋体" panose="02010600030101010101" pitchFamily="2" charset="-122"/>
              </a:rPr>
              <a:t>)</a:t>
            </a:r>
            <a:endParaRPr lang="en-US" altLang="zh-CN" b="1" baseline="-25000" dirty="0">
              <a:latin typeface="宋体" panose="02010600030101010101" pitchFamily="2" charset="-122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zh-CN" altLang="en-US" b="1" dirty="0">
                <a:latin typeface="宋体" panose="02010600030101010101" pitchFamily="2" charset="-122"/>
              </a:rPr>
              <a:t>下面主要介绍三种推理方法：</a:t>
            </a:r>
            <a:r>
              <a:rPr lang="zh-CN" altLang="en-US" b="1" dirty="0">
                <a:solidFill>
                  <a:srgbClr val="FF0000"/>
                </a:solidFill>
                <a:highlight>
                  <a:srgbClr val="FFFF00"/>
                </a:highlight>
                <a:latin typeface="宋体" panose="02010600030101010101" pitchFamily="2" charset="-122"/>
              </a:rPr>
              <a:t>直接推理</a:t>
            </a:r>
            <a:r>
              <a:rPr lang="zh-CN" altLang="en-US" b="1" dirty="0">
                <a:highlight>
                  <a:srgbClr val="FFFF00"/>
                </a:highlight>
                <a:latin typeface="宋体" panose="02010600030101010101" pitchFamily="2" charset="-122"/>
              </a:rPr>
              <a:t>、</a:t>
            </a:r>
            <a:r>
              <a:rPr lang="zh-CN" altLang="en-US" b="1" dirty="0">
                <a:solidFill>
                  <a:srgbClr val="FF0000"/>
                </a:solidFill>
                <a:highlight>
                  <a:srgbClr val="FFFF00"/>
                </a:highlight>
                <a:latin typeface="宋体" panose="02010600030101010101" pitchFamily="2" charset="-122"/>
              </a:rPr>
              <a:t>条件论证</a:t>
            </a:r>
            <a:r>
              <a:rPr lang="zh-CN" altLang="en-US" b="1" dirty="0">
                <a:highlight>
                  <a:srgbClr val="FFFF00"/>
                </a:highlight>
                <a:latin typeface="宋体" panose="02010600030101010101" pitchFamily="2" charset="-122"/>
              </a:rPr>
              <a:t>及</a:t>
            </a:r>
            <a:r>
              <a:rPr lang="zh-CN" altLang="en-US" b="1" dirty="0">
                <a:solidFill>
                  <a:srgbClr val="FF0000"/>
                </a:solidFill>
                <a:highlight>
                  <a:srgbClr val="FFFF00"/>
                </a:highlight>
                <a:latin typeface="宋体" panose="02010600030101010101" pitchFamily="2" charset="-122"/>
              </a:rPr>
              <a:t>反证法</a:t>
            </a:r>
            <a:endParaRPr lang="zh-CN" altLang="en-US" b="1" dirty="0">
              <a:solidFill>
                <a:srgbClr val="FF0000"/>
              </a:solidFill>
              <a:highlight>
                <a:srgbClr val="FFFF00"/>
              </a:highlight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083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08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08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08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08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08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835" grpId="0" autoUpdateAnimBg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title"/>
          </p:nvPr>
        </p:nvSpPr>
        <p:spPr>
          <a:ln>
            <a:solidFill>
              <a:srgbClr val="FF0000"/>
            </a:solidFill>
            <a:miter lim="800000"/>
          </a:ln>
        </p:spPr>
        <p:txBody>
          <a:bodyPr/>
          <a:lstStyle/>
          <a:p>
            <a:pPr algn="l" eaLnBrk="1" hangingPunct="1"/>
            <a:r>
              <a:rPr lang="zh-CN" altLang="en-US" sz="3200" dirty="0">
                <a:ea typeface="黑体" panose="02010609060101010101" pitchFamily="49" charset="-122"/>
              </a:rPr>
              <a:t>重要的重言蕴涵式</a:t>
            </a:r>
            <a:r>
              <a:rPr lang="en-US" altLang="zh-CN" sz="3200" dirty="0"/>
              <a:t>(</a:t>
            </a:r>
            <a:r>
              <a:rPr lang="zh-CN" altLang="en-US" sz="3200" dirty="0"/>
              <a:t>如教材第</a:t>
            </a:r>
            <a:r>
              <a:rPr lang="en-US" altLang="zh-CN" sz="3200" dirty="0"/>
              <a:t>43</a:t>
            </a:r>
            <a:r>
              <a:rPr lang="zh-CN" altLang="en-US" sz="3200" dirty="0"/>
              <a:t>页所示</a:t>
            </a:r>
            <a:r>
              <a:rPr lang="en-US" altLang="zh-CN" sz="3200" dirty="0"/>
              <a:t>)</a:t>
            </a:r>
            <a:endParaRPr lang="en-US" altLang="zh-CN" dirty="0"/>
          </a:p>
        </p:txBody>
      </p:sp>
      <p:sp>
        <p:nvSpPr>
          <p:cNvPr id="120835" name="Rectangle 3"/>
          <p:cNvSpPr>
            <a:spLocks noGrp="1" noChangeArrowheads="1"/>
          </p:cNvSpPr>
          <p:nvPr>
            <p:ph idx="1"/>
          </p:nvPr>
        </p:nvSpPr>
        <p:spPr>
          <a:xfrm>
            <a:off x="107504" y="764704"/>
            <a:ext cx="8928992" cy="5904656"/>
          </a:xfrm>
          <a:ln>
            <a:solidFill>
              <a:srgbClr val="00FF00"/>
            </a:solidFill>
            <a:miter lim="800000"/>
          </a:ln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dirty="0"/>
              <a:t>  I</a:t>
            </a:r>
            <a:r>
              <a:rPr lang="en-US" altLang="zh-CN" baseline="-25000" dirty="0"/>
              <a:t>1</a:t>
            </a:r>
            <a:r>
              <a:rPr lang="en-US" altLang="zh-CN" dirty="0"/>
              <a:t>. P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dirty="0"/>
              <a:t>Q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P                I</a:t>
            </a:r>
            <a:r>
              <a:rPr lang="en-US" altLang="zh-CN" baseline="-25000" dirty="0"/>
              <a:t>2</a:t>
            </a:r>
            <a:r>
              <a:rPr lang="en-US" altLang="zh-CN" dirty="0"/>
              <a:t>.  P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dirty="0"/>
              <a:t>Q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Q</a:t>
            </a:r>
            <a:endParaRPr lang="en-US" altLang="zh-CN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dirty="0"/>
              <a:t>  I</a:t>
            </a:r>
            <a:r>
              <a:rPr lang="en-US" altLang="zh-CN" baseline="-25000" dirty="0"/>
              <a:t>3</a:t>
            </a:r>
            <a:r>
              <a:rPr lang="en-US" altLang="zh-CN" dirty="0"/>
              <a:t>. P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P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dirty="0"/>
              <a:t>Q                I</a:t>
            </a:r>
            <a:r>
              <a:rPr lang="en-US" altLang="zh-CN" baseline="-25000" dirty="0"/>
              <a:t>4</a:t>
            </a:r>
            <a:r>
              <a:rPr lang="en-US" altLang="zh-CN" dirty="0"/>
              <a:t>.  Q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P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dirty="0"/>
              <a:t>Q</a:t>
            </a:r>
            <a:endParaRPr lang="en-US" altLang="zh-CN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dirty="0"/>
              <a:t>  I</a:t>
            </a:r>
            <a:r>
              <a:rPr lang="en-US" altLang="zh-CN" baseline="-25000" dirty="0"/>
              <a:t>5</a:t>
            </a:r>
            <a:r>
              <a:rPr lang="en-US" altLang="zh-CN" dirty="0"/>
              <a:t>. </a:t>
            </a:r>
            <a:r>
              <a:rPr lang="en-US" altLang="zh-CN" dirty="0">
                <a:sym typeface="Symbol" panose="05050102010706020507" pitchFamily="18" charset="2"/>
              </a:rPr>
              <a:t></a:t>
            </a:r>
            <a:r>
              <a:rPr lang="en-US" altLang="zh-CN" dirty="0"/>
              <a:t>P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P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Q             I</a:t>
            </a:r>
            <a:r>
              <a:rPr lang="en-US" altLang="zh-CN" baseline="-25000" dirty="0"/>
              <a:t>6</a:t>
            </a:r>
            <a:r>
              <a:rPr lang="en-US" altLang="zh-CN" dirty="0"/>
              <a:t>.  Q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P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Q</a:t>
            </a:r>
            <a:endParaRPr lang="en-US" altLang="zh-CN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dirty="0"/>
              <a:t>  I</a:t>
            </a:r>
            <a:r>
              <a:rPr lang="en-US" altLang="zh-CN" baseline="-25000" dirty="0"/>
              <a:t>7</a:t>
            </a:r>
            <a:r>
              <a:rPr lang="en-US" altLang="zh-CN" dirty="0"/>
              <a:t>. </a:t>
            </a:r>
            <a:r>
              <a:rPr lang="en-US" altLang="zh-CN" dirty="0">
                <a:sym typeface="Symbol" panose="05050102010706020507" pitchFamily="18" charset="2"/>
              </a:rPr>
              <a:t>(</a:t>
            </a:r>
            <a:r>
              <a:rPr lang="en-US" altLang="zh-CN" dirty="0"/>
              <a:t>P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Q)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P           I</a:t>
            </a:r>
            <a:r>
              <a:rPr lang="en-US" altLang="zh-CN" baseline="-25000" dirty="0"/>
              <a:t>8</a:t>
            </a:r>
            <a:r>
              <a:rPr lang="en-US" altLang="zh-CN" dirty="0"/>
              <a:t>.  </a:t>
            </a:r>
            <a:r>
              <a:rPr lang="en-US" altLang="zh-CN" dirty="0">
                <a:sym typeface="Symbol" panose="05050102010706020507" pitchFamily="18" charset="2"/>
              </a:rPr>
              <a:t>(</a:t>
            </a:r>
            <a:r>
              <a:rPr lang="en-US" altLang="zh-CN" dirty="0"/>
              <a:t>P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Q)</a:t>
            </a:r>
            <a:r>
              <a:rPr lang="en-US" altLang="zh-CN" dirty="0">
                <a:sym typeface="Symbol" panose="05050102010706020507" pitchFamily="18" charset="2"/>
              </a:rPr>
              <a:t></a:t>
            </a:r>
            <a:r>
              <a:rPr lang="en-US" altLang="zh-CN" dirty="0"/>
              <a:t>Q</a:t>
            </a:r>
            <a:endParaRPr lang="en-US" altLang="zh-CN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dirty="0"/>
              <a:t>  I</a:t>
            </a:r>
            <a:r>
              <a:rPr lang="en-US" altLang="zh-CN" baseline="-25000" dirty="0"/>
              <a:t>9</a:t>
            </a:r>
            <a:r>
              <a:rPr lang="en-US" altLang="zh-CN" dirty="0"/>
              <a:t>. P,Q 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P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dirty="0"/>
              <a:t>Q           I</a:t>
            </a:r>
            <a:r>
              <a:rPr lang="en-US" altLang="zh-CN" baseline="-25000" dirty="0"/>
              <a:t>10</a:t>
            </a:r>
            <a:r>
              <a:rPr lang="en-US" altLang="zh-CN" dirty="0"/>
              <a:t>. </a:t>
            </a:r>
            <a:r>
              <a:rPr lang="en-US" altLang="zh-CN" dirty="0">
                <a:sym typeface="Symbol" panose="05050102010706020507" pitchFamily="18" charset="2"/>
              </a:rPr>
              <a:t></a:t>
            </a:r>
            <a:r>
              <a:rPr lang="en-US" altLang="zh-CN" dirty="0"/>
              <a:t>P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dirty="0"/>
              <a:t>(P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dirty="0"/>
              <a:t>Q)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Q</a:t>
            </a:r>
            <a:endParaRPr lang="en-US" altLang="zh-CN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dirty="0"/>
              <a:t>  I</a:t>
            </a:r>
            <a:r>
              <a:rPr lang="en-US" altLang="zh-CN" baseline="-25000" dirty="0"/>
              <a:t>11</a:t>
            </a:r>
            <a:r>
              <a:rPr lang="en-US" altLang="zh-CN" dirty="0"/>
              <a:t>. P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dirty="0"/>
              <a:t>(P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Q)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Q      I</a:t>
            </a:r>
            <a:r>
              <a:rPr lang="en-US" altLang="zh-CN" baseline="-25000" dirty="0"/>
              <a:t>12</a:t>
            </a:r>
            <a:r>
              <a:rPr lang="en-US" altLang="zh-CN" dirty="0"/>
              <a:t>. </a:t>
            </a:r>
            <a:r>
              <a:rPr lang="en-US" altLang="zh-CN" dirty="0">
                <a:sym typeface="Symbol" panose="05050102010706020507" pitchFamily="18" charset="2"/>
              </a:rPr>
              <a:t></a:t>
            </a:r>
            <a:r>
              <a:rPr lang="en-US" altLang="zh-CN" dirty="0"/>
              <a:t>Q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dirty="0"/>
              <a:t>(P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Q)</a:t>
            </a:r>
            <a:r>
              <a:rPr lang="en-US" altLang="zh-CN" dirty="0">
                <a:sym typeface="Symbol" panose="05050102010706020507" pitchFamily="18" charset="2"/>
              </a:rPr>
              <a:t></a:t>
            </a:r>
            <a:r>
              <a:rPr lang="en-US" altLang="zh-CN" dirty="0"/>
              <a:t>P</a:t>
            </a:r>
            <a:endParaRPr lang="en-US" altLang="zh-CN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dirty="0"/>
              <a:t>  I</a:t>
            </a:r>
            <a:r>
              <a:rPr lang="en-US" altLang="zh-CN" baseline="-25000" dirty="0"/>
              <a:t>13</a:t>
            </a:r>
            <a:r>
              <a:rPr lang="en-US" altLang="zh-CN" dirty="0"/>
              <a:t>. (P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Q)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dirty="0"/>
              <a:t>(Q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R)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P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R</a:t>
            </a:r>
            <a:endParaRPr lang="en-US" altLang="zh-CN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dirty="0"/>
              <a:t>  I</a:t>
            </a:r>
            <a:r>
              <a:rPr lang="en-US" altLang="zh-CN" baseline="-25000" dirty="0"/>
              <a:t>14</a:t>
            </a:r>
            <a:r>
              <a:rPr lang="en-US" altLang="zh-CN" dirty="0"/>
              <a:t>. (P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dirty="0"/>
              <a:t>Q)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dirty="0"/>
              <a:t>(P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R)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dirty="0"/>
              <a:t>(Q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R)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R</a:t>
            </a:r>
            <a:endParaRPr lang="en-US" altLang="zh-CN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dirty="0"/>
              <a:t>  I</a:t>
            </a:r>
            <a:r>
              <a:rPr lang="en-US" altLang="zh-CN" baseline="-25000" dirty="0"/>
              <a:t>15</a:t>
            </a:r>
            <a:r>
              <a:rPr lang="en-US" altLang="zh-CN" dirty="0"/>
              <a:t>. A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B </a:t>
            </a:r>
            <a:r>
              <a:rPr lang="en-US" altLang="zh-CN" dirty="0">
                <a:sym typeface="Symbol" panose="05050102010706020507" pitchFamily="18" charset="2"/>
              </a:rPr>
              <a:t>(</a:t>
            </a:r>
            <a:r>
              <a:rPr lang="en-US" altLang="zh-CN" dirty="0"/>
              <a:t>A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dirty="0"/>
              <a:t>C)</a:t>
            </a:r>
            <a:r>
              <a:rPr lang="en-US" altLang="zh-CN" dirty="0">
                <a:sym typeface="Symbol" panose="05050102010706020507" pitchFamily="18" charset="2"/>
              </a:rPr>
              <a:t>(</a:t>
            </a:r>
            <a:r>
              <a:rPr lang="en-US" altLang="zh-CN" dirty="0"/>
              <a:t>B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dirty="0"/>
              <a:t>C)</a:t>
            </a:r>
            <a:endParaRPr lang="en-US" altLang="zh-CN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dirty="0"/>
              <a:t>  I</a:t>
            </a:r>
            <a:r>
              <a:rPr lang="en-US" altLang="zh-CN" baseline="-25000" dirty="0"/>
              <a:t>16</a:t>
            </a:r>
            <a:r>
              <a:rPr lang="en-US" altLang="zh-CN" dirty="0"/>
              <a:t>. A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B 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(A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dirty="0"/>
              <a:t>C)</a:t>
            </a:r>
            <a:r>
              <a:rPr lang="en-US" altLang="zh-CN" dirty="0">
                <a:sym typeface="Symbol" panose="05050102010706020507" pitchFamily="18" charset="2"/>
              </a:rPr>
              <a:t>(</a:t>
            </a:r>
            <a:r>
              <a:rPr lang="en-US" altLang="zh-CN" dirty="0"/>
              <a:t>B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dirty="0"/>
              <a:t>C)</a:t>
            </a:r>
            <a:endParaRPr lang="en-US" altLang="zh-CN" dirty="0"/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sz="3200" dirty="0">
                <a:ea typeface="黑体" panose="02010609060101010101" pitchFamily="49" charset="-122"/>
              </a:rPr>
              <a:t>重要的等价公式</a:t>
            </a:r>
            <a:endParaRPr lang="zh-CN" altLang="en-US" sz="3200" dirty="0">
              <a:ea typeface="黑体" panose="02010609060101010101" pitchFamily="49" charset="-122"/>
            </a:endParaRPr>
          </a:p>
        </p:txBody>
      </p:sp>
      <p:sp>
        <p:nvSpPr>
          <p:cNvPr id="121858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00FF00"/>
            </a:solidFill>
            <a:miter lim="800000"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z="2000" b="1" dirty="0"/>
              <a:t>对合律   </a:t>
            </a:r>
            <a:r>
              <a:rPr lang="en-US" altLang="zh-CN" sz="2000" b="1" dirty="0"/>
              <a:t>E</a:t>
            </a:r>
            <a:r>
              <a:rPr lang="en-US" altLang="zh-CN" sz="2000" b="1" baseline="-25000" dirty="0"/>
              <a:t>1   </a:t>
            </a:r>
            <a:r>
              <a:rPr lang="en-US" altLang="zh-CN" sz="2000" b="1" dirty="0">
                <a:sym typeface="Symbol" panose="05050102010706020507" pitchFamily="18" charset="2"/>
              </a:rPr>
              <a:t></a:t>
            </a:r>
            <a:r>
              <a:rPr lang="en-US" altLang="zh-CN" sz="2000" b="1" dirty="0"/>
              <a:t>P</a:t>
            </a:r>
            <a:r>
              <a:rPr lang="en-US" altLang="zh-CN" sz="2000" b="1" dirty="0">
                <a:sym typeface="Symbol" panose="05050102010706020507" pitchFamily="18" charset="2"/>
              </a:rPr>
              <a:t></a:t>
            </a:r>
            <a:r>
              <a:rPr lang="en-US" altLang="zh-CN" sz="2000" b="1" dirty="0"/>
              <a:t>P</a:t>
            </a:r>
            <a:endParaRPr lang="en-US" altLang="zh-CN" sz="2000" b="1" dirty="0"/>
          </a:p>
          <a:p>
            <a:pPr eaLnBrk="1" hangingPunct="1">
              <a:buFontTx/>
              <a:buNone/>
            </a:pPr>
            <a:r>
              <a:rPr lang="zh-CN" altLang="en-US" sz="2000" b="1" dirty="0"/>
              <a:t>交换律   </a:t>
            </a:r>
            <a:r>
              <a:rPr lang="en-US" altLang="zh-CN" sz="2000" b="1" dirty="0"/>
              <a:t>E</a:t>
            </a:r>
            <a:r>
              <a:rPr lang="en-US" altLang="zh-CN" sz="2000" b="1" baseline="-25000" dirty="0"/>
              <a:t>2</a:t>
            </a:r>
            <a:r>
              <a:rPr lang="en-US" altLang="zh-CN" sz="2000" b="1" dirty="0"/>
              <a:t>  P</a:t>
            </a:r>
            <a:r>
              <a:rPr lang="en-US" altLang="zh-CN" sz="2000" b="1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000" b="1" dirty="0"/>
              <a:t>Q</a:t>
            </a:r>
            <a:r>
              <a:rPr lang="en-US" altLang="zh-CN" sz="2000" b="1" dirty="0">
                <a:sym typeface="Symbol" panose="05050102010706020507" pitchFamily="18" charset="2"/>
              </a:rPr>
              <a:t></a:t>
            </a:r>
            <a:r>
              <a:rPr lang="en-US" altLang="zh-CN" sz="2000" b="1" dirty="0"/>
              <a:t>Q</a:t>
            </a:r>
            <a:r>
              <a:rPr lang="en-US" altLang="zh-CN" sz="2000" b="1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000" b="1" dirty="0"/>
              <a:t>P                        E</a:t>
            </a:r>
            <a:r>
              <a:rPr lang="en-US" altLang="zh-CN" sz="2000" b="1" baseline="-25000" dirty="0"/>
              <a:t>3</a:t>
            </a:r>
            <a:r>
              <a:rPr lang="en-US" altLang="zh-CN" sz="2000" b="1" dirty="0"/>
              <a:t> P</a:t>
            </a:r>
            <a:r>
              <a:rPr lang="en-US" altLang="zh-CN" sz="2000" b="1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sz="2000" b="1" dirty="0"/>
              <a:t>Q</a:t>
            </a:r>
            <a:r>
              <a:rPr lang="en-US" altLang="zh-CN" sz="2000" b="1" dirty="0">
                <a:sym typeface="Symbol" panose="05050102010706020507" pitchFamily="18" charset="2"/>
              </a:rPr>
              <a:t></a:t>
            </a:r>
            <a:r>
              <a:rPr lang="en-US" altLang="zh-CN" sz="2000" b="1" dirty="0"/>
              <a:t>Q</a:t>
            </a:r>
            <a:r>
              <a:rPr lang="en-US" altLang="zh-CN" sz="2000" b="1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sz="2000" b="1" dirty="0"/>
              <a:t>P </a:t>
            </a:r>
            <a:endParaRPr lang="en-US" altLang="zh-CN" sz="2000" b="1" dirty="0"/>
          </a:p>
          <a:p>
            <a:pPr eaLnBrk="1" hangingPunct="1">
              <a:buFontTx/>
              <a:buNone/>
            </a:pPr>
            <a:r>
              <a:rPr lang="zh-CN" altLang="en-US" sz="2000" b="1" dirty="0"/>
              <a:t>结合律   </a:t>
            </a:r>
            <a:r>
              <a:rPr lang="en-US" altLang="zh-CN" sz="2000" b="1" dirty="0"/>
              <a:t>E</a:t>
            </a:r>
            <a:r>
              <a:rPr lang="en-US" altLang="zh-CN" sz="2000" b="1" baseline="-25000" dirty="0"/>
              <a:t>4</a:t>
            </a:r>
            <a:r>
              <a:rPr lang="en-US" altLang="zh-CN" sz="2000" b="1" dirty="0"/>
              <a:t>  P</a:t>
            </a:r>
            <a:r>
              <a:rPr lang="en-US" altLang="zh-CN" sz="2000" b="1" dirty="0">
                <a:ea typeface="MS Gothic" panose="020B0609070205080204" pitchFamily="49" charset="-128"/>
                <a:sym typeface="Kingsoft Phonetic Plain" pitchFamily="2" charset="2"/>
              </a:rPr>
              <a:t>∧(</a:t>
            </a:r>
            <a:r>
              <a:rPr lang="en-US" altLang="zh-CN" sz="2000" b="1" dirty="0"/>
              <a:t>Q</a:t>
            </a:r>
            <a:r>
              <a:rPr lang="en-US" altLang="zh-CN" sz="2000" b="1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000" b="1" dirty="0"/>
              <a:t>R)</a:t>
            </a:r>
            <a:r>
              <a:rPr lang="en-US" altLang="zh-CN" sz="2000" b="1" dirty="0">
                <a:sym typeface="Symbol" panose="05050102010706020507" pitchFamily="18" charset="2"/>
              </a:rPr>
              <a:t>(</a:t>
            </a:r>
            <a:r>
              <a:rPr lang="en-US" altLang="zh-CN" sz="2000" b="1" dirty="0"/>
              <a:t>P</a:t>
            </a:r>
            <a:r>
              <a:rPr lang="en-US" altLang="zh-CN" sz="2000" b="1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000" b="1" dirty="0"/>
              <a:t>Q)</a:t>
            </a:r>
            <a:r>
              <a:rPr lang="en-US" altLang="zh-CN" sz="2000" b="1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000" b="1" dirty="0"/>
              <a:t>R       E</a:t>
            </a:r>
            <a:r>
              <a:rPr lang="en-US" altLang="zh-CN" sz="2000" b="1" baseline="-25000" dirty="0"/>
              <a:t>5</a:t>
            </a:r>
            <a:r>
              <a:rPr lang="en-US" altLang="zh-CN" sz="2000" b="1" dirty="0"/>
              <a:t> P</a:t>
            </a:r>
            <a:r>
              <a:rPr lang="en-US" altLang="zh-CN" sz="2000" b="1" dirty="0">
                <a:ea typeface="MS Gothic" panose="020B0609070205080204" pitchFamily="49" charset="-128"/>
                <a:sym typeface="Kingsoft Phonetic Plain" pitchFamily="2" charset="2"/>
              </a:rPr>
              <a:t>∨(</a:t>
            </a:r>
            <a:r>
              <a:rPr lang="en-US" altLang="zh-CN" sz="2000" b="1" dirty="0"/>
              <a:t>Q</a:t>
            </a:r>
            <a:r>
              <a:rPr lang="en-US" altLang="zh-CN" sz="2000" b="1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sz="2000" b="1" dirty="0"/>
              <a:t>R)</a:t>
            </a:r>
            <a:r>
              <a:rPr lang="en-US" altLang="zh-CN" sz="2000" b="1" dirty="0">
                <a:sym typeface="Symbol" panose="05050102010706020507" pitchFamily="18" charset="2"/>
              </a:rPr>
              <a:t>(</a:t>
            </a:r>
            <a:r>
              <a:rPr lang="en-US" altLang="zh-CN" sz="2000" b="1" dirty="0"/>
              <a:t>P</a:t>
            </a:r>
            <a:r>
              <a:rPr lang="en-US" altLang="zh-CN" sz="2000" b="1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sz="2000" b="1" dirty="0"/>
              <a:t>Q)</a:t>
            </a:r>
            <a:r>
              <a:rPr lang="en-US" altLang="zh-CN" sz="2000" b="1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sz="2000" b="1" dirty="0"/>
              <a:t>R </a:t>
            </a:r>
            <a:endParaRPr lang="en-US" altLang="zh-CN" sz="2000" b="1" dirty="0"/>
          </a:p>
          <a:p>
            <a:pPr eaLnBrk="1" hangingPunct="1">
              <a:buFontTx/>
              <a:buNone/>
            </a:pPr>
            <a:r>
              <a:rPr lang="zh-CN" altLang="en-US" sz="2000" b="1" dirty="0"/>
              <a:t>分配律   </a:t>
            </a:r>
            <a:r>
              <a:rPr lang="en-US" altLang="zh-CN" sz="2000" b="1" dirty="0"/>
              <a:t>E</a:t>
            </a:r>
            <a:r>
              <a:rPr lang="en-US" altLang="zh-CN" sz="2000" b="1" baseline="-25000" dirty="0"/>
              <a:t>6    </a:t>
            </a:r>
            <a:r>
              <a:rPr lang="en-US" altLang="zh-CN" sz="2000" b="1" dirty="0"/>
              <a:t>P</a:t>
            </a:r>
            <a:r>
              <a:rPr lang="en-US" altLang="zh-CN" sz="2000" b="1" dirty="0">
                <a:ea typeface="MS Gothic" panose="020B0609070205080204" pitchFamily="49" charset="-128"/>
                <a:sym typeface="Kingsoft Phonetic Plain" pitchFamily="2" charset="2"/>
              </a:rPr>
              <a:t>∧(</a:t>
            </a:r>
            <a:r>
              <a:rPr lang="en-US" altLang="zh-CN" sz="2000" b="1" dirty="0"/>
              <a:t>Q</a:t>
            </a:r>
            <a:r>
              <a:rPr lang="en-US" altLang="zh-CN" sz="2000" b="1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sz="2000" b="1" dirty="0"/>
              <a:t>R)</a:t>
            </a:r>
            <a:r>
              <a:rPr lang="en-US" altLang="zh-CN" sz="2000" b="1" dirty="0">
                <a:sym typeface="Symbol" panose="05050102010706020507" pitchFamily="18" charset="2"/>
              </a:rPr>
              <a:t>(</a:t>
            </a:r>
            <a:r>
              <a:rPr lang="en-US" altLang="zh-CN" sz="2000" b="1" dirty="0"/>
              <a:t>P</a:t>
            </a:r>
            <a:r>
              <a:rPr lang="en-US" altLang="zh-CN" sz="2000" b="1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000" b="1" dirty="0"/>
              <a:t>Q)</a:t>
            </a:r>
            <a:r>
              <a:rPr lang="en-US" altLang="zh-CN" sz="2000" b="1" dirty="0">
                <a:ea typeface="MS Gothic" panose="020B0609070205080204" pitchFamily="49" charset="-128"/>
                <a:sym typeface="Kingsoft Phonetic Plain" pitchFamily="2" charset="2"/>
              </a:rPr>
              <a:t>∨(</a:t>
            </a:r>
            <a:r>
              <a:rPr lang="en-US" altLang="zh-CN" sz="2000" b="1" dirty="0"/>
              <a:t>P</a:t>
            </a:r>
            <a:r>
              <a:rPr lang="en-US" altLang="zh-CN" sz="2000" b="1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000" b="1" dirty="0"/>
              <a:t>R)   </a:t>
            </a:r>
            <a:endParaRPr lang="en-US" altLang="zh-CN" sz="2000" b="1" dirty="0"/>
          </a:p>
          <a:p>
            <a:pPr eaLnBrk="1" hangingPunct="1">
              <a:buFontTx/>
              <a:buNone/>
            </a:pPr>
            <a:r>
              <a:rPr lang="en-US" altLang="zh-CN" sz="2000" b="1" dirty="0"/>
              <a:t>              E</a:t>
            </a:r>
            <a:r>
              <a:rPr lang="en-US" altLang="zh-CN" sz="2000" b="1" baseline="-25000" dirty="0"/>
              <a:t>7   </a:t>
            </a:r>
            <a:r>
              <a:rPr lang="en-US" altLang="zh-CN" sz="2000" b="1" dirty="0"/>
              <a:t> P</a:t>
            </a:r>
            <a:r>
              <a:rPr lang="en-US" altLang="zh-CN" sz="2000" b="1" dirty="0">
                <a:ea typeface="MS Gothic" panose="020B0609070205080204" pitchFamily="49" charset="-128"/>
                <a:sym typeface="Kingsoft Phonetic Plain" pitchFamily="2" charset="2"/>
              </a:rPr>
              <a:t>∨(</a:t>
            </a:r>
            <a:r>
              <a:rPr lang="en-US" altLang="zh-CN" sz="2000" b="1" dirty="0"/>
              <a:t>Q</a:t>
            </a:r>
            <a:r>
              <a:rPr lang="en-US" altLang="zh-CN" sz="2000" b="1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000" b="1" dirty="0"/>
              <a:t>R)</a:t>
            </a:r>
            <a:r>
              <a:rPr lang="en-US" altLang="zh-CN" sz="2000" b="1" dirty="0">
                <a:sym typeface="Symbol" panose="05050102010706020507" pitchFamily="18" charset="2"/>
              </a:rPr>
              <a:t>(</a:t>
            </a:r>
            <a:r>
              <a:rPr lang="en-US" altLang="zh-CN" sz="2000" b="1" dirty="0"/>
              <a:t>P</a:t>
            </a:r>
            <a:r>
              <a:rPr lang="en-US" altLang="zh-CN" sz="2000" b="1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sz="2000" b="1" dirty="0"/>
              <a:t>Q)</a:t>
            </a:r>
            <a:r>
              <a:rPr lang="en-US" altLang="zh-CN" sz="2000" b="1" dirty="0">
                <a:ea typeface="MS Gothic" panose="020B0609070205080204" pitchFamily="49" charset="-128"/>
                <a:sym typeface="Kingsoft Phonetic Plain" pitchFamily="2" charset="2"/>
              </a:rPr>
              <a:t>∧(</a:t>
            </a:r>
            <a:r>
              <a:rPr lang="en-US" altLang="zh-CN" sz="2000" b="1" dirty="0"/>
              <a:t>P</a:t>
            </a:r>
            <a:r>
              <a:rPr lang="en-US" altLang="zh-CN" sz="2000" b="1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sz="2000" b="1" dirty="0"/>
              <a:t>R) </a:t>
            </a:r>
            <a:endParaRPr lang="en-US" altLang="zh-CN" sz="2000" b="1" dirty="0"/>
          </a:p>
          <a:p>
            <a:pPr eaLnBrk="1" hangingPunct="1">
              <a:buFontTx/>
              <a:buNone/>
            </a:pPr>
            <a:r>
              <a:rPr lang="zh-CN" altLang="en-US" sz="2000" b="1" dirty="0"/>
              <a:t>底</a:t>
            </a:r>
            <a:r>
              <a:rPr lang="en-US" altLang="zh-CN" sz="2000" b="1" dirty="0"/>
              <a:t>-</a:t>
            </a:r>
            <a:r>
              <a:rPr lang="zh-CN" altLang="en-US" sz="2000" b="1" dirty="0"/>
              <a:t>摩根定律  </a:t>
            </a:r>
            <a:r>
              <a:rPr lang="en-US" altLang="zh-CN" sz="2000" b="1" dirty="0"/>
              <a:t>E</a:t>
            </a:r>
            <a:r>
              <a:rPr lang="en-US" altLang="zh-CN" sz="2000" b="1" baseline="-25000" dirty="0"/>
              <a:t>8</a:t>
            </a:r>
            <a:r>
              <a:rPr lang="en-US" altLang="zh-CN" sz="2000" b="1" dirty="0"/>
              <a:t> </a:t>
            </a:r>
            <a:r>
              <a:rPr lang="en-US" altLang="zh-CN" sz="2000" b="1" dirty="0">
                <a:sym typeface="Symbol" panose="05050102010706020507" pitchFamily="18" charset="2"/>
              </a:rPr>
              <a:t>(</a:t>
            </a:r>
            <a:r>
              <a:rPr lang="en-US" altLang="zh-CN" sz="2000" b="1" dirty="0"/>
              <a:t>P</a:t>
            </a:r>
            <a:r>
              <a:rPr lang="en-US" altLang="zh-CN" sz="2000" b="1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000" b="1" dirty="0"/>
              <a:t>Q)</a:t>
            </a:r>
            <a:r>
              <a:rPr lang="en-US" altLang="zh-CN" sz="2000" b="1" dirty="0">
                <a:sym typeface="Symbol" panose="05050102010706020507" pitchFamily="18" charset="2"/>
              </a:rPr>
              <a:t></a:t>
            </a:r>
            <a:r>
              <a:rPr lang="en-US" altLang="zh-CN" sz="2000" b="1" dirty="0"/>
              <a:t>P</a:t>
            </a:r>
            <a:r>
              <a:rPr lang="en-US" altLang="zh-CN" sz="2000" b="1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sz="2000" b="1" dirty="0">
                <a:sym typeface="Symbol" panose="05050102010706020507" pitchFamily="18" charset="2"/>
              </a:rPr>
              <a:t></a:t>
            </a:r>
            <a:r>
              <a:rPr lang="en-US" altLang="zh-CN" sz="2000" b="1" dirty="0"/>
              <a:t>Q          E</a:t>
            </a:r>
            <a:r>
              <a:rPr lang="en-US" altLang="zh-CN" sz="2000" b="1" baseline="-25000" dirty="0"/>
              <a:t>9</a:t>
            </a:r>
            <a:r>
              <a:rPr lang="en-US" altLang="zh-CN" sz="2000" b="1" dirty="0"/>
              <a:t>   </a:t>
            </a:r>
            <a:r>
              <a:rPr lang="en-US" altLang="zh-CN" sz="2000" b="1" dirty="0">
                <a:sym typeface="Symbol" panose="05050102010706020507" pitchFamily="18" charset="2"/>
              </a:rPr>
              <a:t>(</a:t>
            </a:r>
            <a:r>
              <a:rPr lang="en-US" altLang="zh-CN" sz="2000" b="1" dirty="0"/>
              <a:t>P</a:t>
            </a:r>
            <a:r>
              <a:rPr lang="en-US" altLang="zh-CN" sz="2000" b="1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sz="2000" b="1" dirty="0"/>
              <a:t>Q)</a:t>
            </a:r>
            <a:r>
              <a:rPr lang="en-US" altLang="zh-CN" sz="2000" b="1" dirty="0">
                <a:sym typeface="Symbol" panose="05050102010706020507" pitchFamily="18" charset="2"/>
              </a:rPr>
              <a:t></a:t>
            </a:r>
            <a:r>
              <a:rPr lang="en-US" altLang="zh-CN" sz="2000" b="1" dirty="0"/>
              <a:t>P</a:t>
            </a:r>
            <a:r>
              <a:rPr lang="en-US" altLang="zh-CN" sz="2000" b="1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000" b="1" dirty="0">
                <a:sym typeface="Symbol" panose="05050102010706020507" pitchFamily="18" charset="2"/>
              </a:rPr>
              <a:t></a:t>
            </a:r>
            <a:r>
              <a:rPr lang="en-US" altLang="zh-CN" sz="2000" b="1" dirty="0"/>
              <a:t>Q   </a:t>
            </a:r>
            <a:endParaRPr lang="en-US" altLang="zh-CN" sz="2000" b="1" dirty="0"/>
          </a:p>
          <a:p>
            <a:pPr eaLnBrk="1" hangingPunct="1">
              <a:buFontTx/>
              <a:buNone/>
            </a:pPr>
            <a:r>
              <a:rPr lang="zh-CN" altLang="en-US" sz="2000" b="1" dirty="0"/>
              <a:t>幂等律    </a:t>
            </a:r>
            <a:r>
              <a:rPr lang="en-US" altLang="zh-CN" sz="2000" b="1" dirty="0"/>
              <a:t>E</a:t>
            </a:r>
            <a:r>
              <a:rPr lang="en-US" altLang="zh-CN" sz="2000" b="1" baseline="-25000" dirty="0"/>
              <a:t>10   </a:t>
            </a:r>
            <a:r>
              <a:rPr lang="en-US" altLang="zh-CN" sz="2000" b="1" dirty="0"/>
              <a:t> P</a:t>
            </a:r>
            <a:r>
              <a:rPr lang="en-US" altLang="zh-CN" sz="2000" b="1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sz="2000" b="1" dirty="0"/>
              <a:t>P</a:t>
            </a:r>
            <a:r>
              <a:rPr lang="en-US" altLang="zh-CN" sz="2000" b="1" dirty="0">
                <a:sym typeface="Symbol" panose="05050102010706020507" pitchFamily="18" charset="2"/>
              </a:rPr>
              <a:t></a:t>
            </a:r>
            <a:r>
              <a:rPr lang="en-US" altLang="zh-CN" sz="2000" b="1" dirty="0"/>
              <a:t>P                              E</a:t>
            </a:r>
            <a:r>
              <a:rPr lang="en-US" altLang="zh-CN" sz="2000" b="1" baseline="-25000" dirty="0"/>
              <a:t>11</a:t>
            </a:r>
            <a:r>
              <a:rPr lang="en-US" altLang="zh-CN" sz="2000" b="1" dirty="0"/>
              <a:t>   P</a:t>
            </a:r>
            <a:r>
              <a:rPr lang="en-US" altLang="zh-CN" sz="2000" b="1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000" b="1" dirty="0"/>
              <a:t>P</a:t>
            </a:r>
            <a:r>
              <a:rPr lang="en-US" altLang="zh-CN" sz="2000" b="1" dirty="0">
                <a:sym typeface="Symbol" panose="05050102010706020507" pitchFamily="18" charset="2"/>
              </a:rPr>
              <a:t></a:t>
            </a:r>
            <a:r>
              <a:rPr lang="en-US" altLang="zh-CN" sz="2000" b="1" dirty="0"/>
              <a:t>P</a:t>
            </a:r>
            <a:endParaRPr lang="en-US" altLang="zh-CN" sz="2000" dirty="0"/>
          </a:p>
          <a:p>
            <a:pPr eaLnBrk="1" hangingPunct="1">
              <a:buFontTx/>
              <a:buNone/>
            </a:pPr>
            <a:r>
              <a:rPr lang="zh-CN" altLang="en-US" sz="2000" b="1" dirty="0"/>
              <a:t>同一律    </a:t>
            </a:r>
            <a:r>
              <a:rPr lang="en-US" altLang="zh-CN" sz="2000" b="1" dirty="0"/>
              <a:t>E</a:t>
            </a:r>
            <a:r>
              <a:rPr lang="en-US" altLang="zh-CN" sz="2000" b="1" baseline="-25000" dirty="0"/>
              <a:t>12 </a:t>
            </a:r>
            <a:r>
              <a:rPr lang="en-US" altLang="zh-CN" sz="2000" b="1" dirty="0"/>
              <a:t> P</a:t>
            </a:r>
            <a:r>
              <a:rPr lang="en-US" altLang="zh-CN" sz="2000" b="1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sz="2000" b="1" dirty="0"/>
              <a:t>F</a:t>
            </a:r>
            <a:r>
              <a:rPr lang="en-US" altLang="zh-CN" sz="2000" b="1" dirty="0">
                <a:sym typeface="Symbol" panose="05050102010706020507" pitchFamily="18" charset="2"/>
              </a:rPr>
              <a:t></a:t>
            </a:r>
            <a:r>
              <a:rPr lang="en-US" altLang="zh-CN" sz="2000" b="1" dirty="0"/>
              <a:t>P                                E</a:t>
            </a:r>
            <a:r>
              <a:rPr lang="en-US" altLang="zh-CN" sz="2000" b="1" baseline="-25000" dirty="0"/>
              <a:t>13   </a:t>
            </a:r>
            <a:r>
              <a:rPr lang="en-US" altLang="zh-CN" sz="2000" b="1" dirty="0"/>
              <a:t> P</a:t>
            </a:r>
            <a:r>
              <a:rPr lang="en-US" altLang="zh-CN" sz="2000" b="1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000" b="1" dirty="0"/>
              <a:t>T</a:t>
            </a:r>
            <a:r>
              <a:rPr lang="en-US" altLang="zh-CN" sz="2000" b="1" dirty="0">
                <a:sym typeface="Symbol" panose="05050102010706020507" pitchFamily="18" charset="2"/>
              </a:rPr>
              <a:t></a:t>
            </a:r>
            <a:r>
              <a:rPr lang="en-US" altLang="zh-CN" sz="2000" b="1" dirty="0"/>
              <a:t>P</a:t>
            </a:r>
            <a:endParaRPr lang="en-US" altLang="zh-CN" sz="2000" b="1" dirty="0"/>
          </a:p>
          <a:p>
            <a:pPr eaLnBrk="1" hangingPunct="1">
              <a:buFontTx/>
              <a:buNone/>
            </a:pPr>
            <a:r>
              <a:rPr lang="en-US" altLang="zh-CN" sz="2000" b="1" dirty="0"/>
              <a:t> </a:t>
            </a:r>
            <a:r>
              <a:rPr lang="zh-CN" altLang="en-US" sz="2000" b="1" dirty="0"/>
              <a:t>零律       </a:t>
            </a:r>
            <a:r>
              <a:rPr lang="en-US" altLang="zh-CN" sz="2000" b="1" dirty="0"/>
              <a:t>E</a:t>
            </a:r>
            <a:r>
              <a:rPr lang="en-US" altLang="zh-CN" sz="2000" b="1" baseline="-25000" dirty="0"/>
              <a:t>14 </a:t>
            </a:r>
            <a:r>
              <a:rPr lang="en-US" altLang="zh-CN" sz="2000" b="1" dirty="0"/>
              <a:t> P</a:t>
            </a:r>
            <a:r>
              <a:rPr lang="en-US" altLang="zh-CN" sz="2000" b="1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sz="2000" b="1" dirty="0"/>
              <a:t>T</a:t>
            </a:r>
            <a:r>
              <a:rPr lang="en-US" altLang="zh-CN" sz="2000" b="1" dirty="0">
                <a:sym typeface="Symbol" panose="05050102010706020507" pitchFamily="18" charset="2"/>
              </a:rPr>
              <a:t></a:t>
            </a:r>
            <a:r>
              <a:rPr lang="en-US" altLang="zh-CN" sz="2000" b="1" dirty="0"/>
              <a:t>T                                E</a:t>
            </a:r>
            <a:r>
              <a:rPr lang="en-US" altLang="zh-CN" sz="2000" b="1" baseline="-25000" dirty="0"/>
              <a:t>15</a:t>
            </a:r>
            <a:r>
              <a:rPr lang="en-US" altLang="zh-CN" sz="2000" b="1" dirty="0"/>
              <a:t>   P</a:t>
            </a:r>
            <a:r>
              <a:rPr lang="en-US" altLang="zh-CN" sz="2000" b="1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000" b="1" dirty="0"/>
              <a:t>F</a:t>
            </a:r>
            <a:r>
              <a:rPr lang="en-US" altLang="zh-CN" sz="2000" b="1" dirty="0">
                <a:sym typeface="Symbol" panose="05050102010706020507" pitchFamily="18" charset="2"/>
              </a:rPr>
              <a:t></a:t>
            </a:r>
            <a:r>
              <a:rPr lang="en-US" altLang="zh-CN" sz="2000" b="1" dirty="0"/>
              <a:t>F</a:t>
            </a:r>
            <a:endParaRPr lang="en-US" altLang="zh-CN" sz="2000" b="1" dirty="0"/>
          </a:p>
          <a:p>
            <a:pPr eaLnBrk="1" hangingPunct="1">
              <a:buFontTx/>
              <a:buNone/>
            </a:pPr>
            <a:r>
              <a:rPr lang="en-US" altLang="zh-CN" sz="2000" b="1" dirty="0"/>
              <a:t>                E</a:t>
            </a:r>
            <a:r>
              <a:rPr lang="en-US" altLang="zh-CN" sz="2000" b="1" baseline="-25000" dirty="0"/>
              <a:t>16</a:t>
            </a:r>
            <a:r>
              <a:rPr lang="en-US" altLang="zh-CN" sz="2000" b="1" dirty="0"/>
              <a:t>  P</a:t>
            </a:r>
            <a:r>
              <a:rPr lang="en-US" altLang="zh-CN" sz="2000" b="1" dirty="0">
                <a:sym typeface="Symbol" panose="05050102010706020507" pitchFamily="18" charset="2"/>
              </a:rPr>
              <a:t></a:t>
            </a:r>
            <a:r>
              <a:rPr lang="en-US" altLang="zh-CN" sz="2000" b="1" dirty="0"/>
              <a:t>Q</a:t>
            </a:r>
            <a:r>
              <a:rPr lang="en-US" altLang="zh-CN" sz="2000" b="1" dirty="0">
                <a:sym typeface="Symbol" panose="05050102010706020507" pitchFamily="18" charset="2"/>
              </a:rPr>
              <a:t></a:t>
            </a:r>
            <a:r>
              <a:rPr lang="en-US" altLang="zh-CN" sz="2000" b="1" dirty="0"/>
              <a:t>P</a:t>
            </a:r>
            <a:r>
              <a:rPr lang="en-US" altLang="zh-CN" sz="2000" b="1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sz="2000" b="1" dirty="0"/>
              <a:t>Q                     E</a:t>
            </a:r>
            <a:r>
              <a:rPr lang="en-US" altLang="zh-CN" sz="2000" b="1" baseline="-25000" dirty="0"/>
              <a:t>17     </a:t>
            </a:r>
            <a:r>
              <a:rPr lang="en-US" altLang="zh-CN" sz="2000" b="1" dirty="0">
                <a:sym typeface="Symbol" panose="05050102010706020507" pitchFamily="18" charset="2"/>
              </a:rPr>
              <a:t></a:t>
            </a:r>
            <a:r>
              <a:rPr lang="en-US" altLang="zh-CN" sz="2000" b="1" baseline="-25000" dirty="0"/>
              <a:t> </a:t>
            </a:r>
            <a:r>
              <a:rPr lang="en-US" altLang="zh-CN" sz="2000" b="1" dirty="0"/>
              <a:t>(</a:t>
            </a:r>
            <a:r>
              <a:rPr lang="en-US" altLang="zh-CN" sz="2000" b="1" baseline="-25000" dirty="0"/>
              <a:t> </a:t>
            </a:r>
            <a:r>
              <a:rPr lang="en-US" altLang="zh-CN" sz="2000" b="1" dirty="0"/>
              <a:t>P</a:t>
            </a:r>
            <a:r>
              <a:rPr lang="en-US" altLang="zh-CN" sz="2000" b="1" dirty="0">
                <a:sym typeface="Symbol" panose="05050102010706020507" pitchFamily="18" charset="2"/>
              </a:rPr>
              <a:t></a:t>
            </a:r>
            <a:r>
              <a:rPr lang="en-US" altLang="zh-CN" sz="2000" b="1" dirty="0"/>
              <a:t>Q)</a:t>
            </a:r>
            <a:r>
              <a:rPr lang="en-US" altLang="zh-CN" sz="2000" b="1" dirty="0">
                <a:sym typeface="Symbol" panose="05050102010706020507" pitchFamily="18" charset="2"/>
              </a:rPr>
              <a:t></a:t>
            </a:r>
            <a:r>
              <a:rPr lang="en-US" altLang="zh-CN" sz="2000" b="1" dirty="0"/>
              <a:t>P</a:t>
            </a:r>
            <a:r>
              <a:rPr lang="en-US" altLang="zh-CN" sz="2000" b="1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000" b="1" dirty="0">
                <a:sym typeface="Symbol" panose="05050102010706020507" pitchFamily="18" charset="2"/>
              </a:rPr>
              <a:t></a:t>
            </a:r>
            <a:r>
              <a:rPr lang="en-US" altLang="zh-CN" sz="2000" b="1" dirty="0"/>
              <a:t>Q </a:t>
            </a:r>
            <a:endParaRPr lang="en-US" altLang="zh-CN" sz="2000" b="1" dirty="0"/>
          </a:p>
          <a:p>
            <a:pPr eaLnBrk="1" hangingPunct="1">
              <a:buFontTx/>
              <a:buNone/>
            </a:pPr>
            <a:r>
              <a:rPr lang="en-US" altLang="zh-CN" sz="2000" b="1" dirty="0"/>
              <a:t>                E</a:t>
            </a:r>
            <a:r>
              <a:rPr lang="en-US" altLang="zh-CN" sz="2000" b="1" baseline="-25000" dirty="0"/>
              <a:t>18 </a:t>
            </a:r>
            <a:r>
              <a:rPr lang="en-US" altLang="zh-CN" sz="2000" b="1" dirty="0"/>
              <a:t> P</a:t>
            </a:r>
            <a:r>
              <a:rPr lang="en-US" altLang="zh-CN" sz="2000" b="1" dirty="0">
                <a:sym typeface="Symbol" panose="05050102010706020507" pitchFamily="18" charset="2"/>
              </a:rPr>
              <a:t></a:t>
            </a:r>
            <a:r>
              <a:rPr lang="en-US" altLang="zh-CN" sz="2000" b="1" dirty="0"/>
              <a:t>Q</a:t>
            </a:r>
            <a:r>
              <a:rPr lang="en-US" altLang="zh-CN" sz="2000" b="1" dirty="0">
                <a:sym typeface="Symbol" panose="05050102010706020507" pitchFamily="18" charset="2"/>
              </a:rPr>
              <a:t></a:t>
            </a:r>
            <a:r>
              <a:rPr lang="en-US" altLang="zh-CN" sz="2000" b="1" dirty="0"/>
              <a:t>Q</a:t>
            </a:r>
            <a:r>
              <a:rPr lang="en-US" altLang="zh-CN" sz="2000" b="1" dirty="0">
                <a:sym typeface="Symbol" panose="05050102010706020507" pitchFamily="18" charset="2"/>
              </a:rPr>
              <a:t></a:t>
            </a:r>
            <a:r>
              <a:rPr lang="en-US" altLang="zh-CN" sz="2000" b="1" dirty="0"/>
              <a:t>P                   E</a:t>
            </a:r>
            <a:r>
              <a:rPr lang="en-US" altLang="zh-CN" sz="2000" b="1" baseline="-25000" dirty="0"/>
              <a:t>19    </a:t>
            </a:r>
            <a:r>
              <a:rPr lang="en-US" altLang="zh-CN" sz="2000" b="1" dirty="0"/>
              <a:t>P</a:t>
            </a:r>
            <a:r>
              <a:rPr lang="en-US" altLang="zh-CN" sz="2000" b="1" dirty="0">
                <a:sym typeface="Symbol" panose="05050102010706020507" pitchFamily="18" charset="2"/>
              </a:rPr>
              <a:t>(</a:t>
            </a:r>
            <a:r>
              <a:rPr lang="en-US" altLang="zh-CN" sz="2000" b="1" dirty="0"/>
              <a:t>Q</a:t>
            </a:r>
            <a:r>
              <a:rPr lang="en-US" altLang="zh-CN" sz="2000" b="1" dirty="0">
                <a:sym typeface="Symbol" panose="05050102010706020507" pitchFamily="18" charset="2"/>
              </a:rPr>
              <a:t>R</a:t>
            </a:r>
            <a:r>
              <a:rPr lang="en-US" altLang="zh-CN" sz="2000" b="1" dirty="0"/>
              <a:t>)</a:t>
            </a:r>
            <a:r>
              <a:rPr lang="en-US" altLang="zh-CN" sz="2000" b="1" dirty="0">
                <a:sym typeface="Symbol" panose="05050102010706020507" pitchFamily="18" charset="2"/>
              </a:rPr>
              <a:t>(P</a:t>
            </a:r>
            <a:r>
              <a:rPr lang="en-US" altLang="zh-CN" sz="2000" b="1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000" b="1" dirty="0"/>
              <a:t>Q</a:t>
            </a:r>
            <a:r>
              <a:rPr lang="en-US" altLang="zh-CN" sz="2000" b="1" dirty="0">
                <a:sym typeface="Symbol" panose="05050102010706020507" pitchFamily="18" charset="2"/>
              </a:rPr>
              <a:t>)</a:t>
            </a:r>
            <a:r>
              <a:rPr lang="en-US" altLang="zh-CN" sz="2000" b="1" dirty="0"/>
              <a:t>R</a:t>
            </a:r>
            <a:endParaRPr lang="en-US" altLang="zh-CN" sz="2000" b="1" dirty="0"/>
          </a:p>
          <a:p>
            <a:pPr eaLnBrk="1" hangingPunct="1">
              <a:buFontTx/>
              <a:buNone/>
            </a:pPr>
            <a:r>
              <a:rPr lang="en-US" altLang="zh-CN" sz="2000" b="1" dirty="0"/>
              <a:t>                E</a:t>
            </a:r>
            <a:r>
              <a:rPr lang="en-US" altLang="zh-CN" sz="2000" b="1" baseline="-25000" dirty="0"/>
              <a:t>20  </a:t>
            </a:r>
            <a:r>
              <a:rPr lang="en-US" altLang="zh-CN" sz="2000" b="1" dirty="0"/>
              <a:t>P</a:t>
            </a:r>
            <a:r>
              <a:rPr lang="en-US" altLang="zh-CN" sz="2000" b="1" dirty="0">
                <a:sym typeface="Symbol" panose="05050102010706020507" pitchFamily="18" charset="2"/>
              </a:rPr>
              <a:t>Q (</a:t>
            </a:r>
            <a:r>
              <a:rPr lang="en-US" altLang="zh-CN" sz="2000" b="1" dirty="0"/>
              <a:t>P</a:t>
            </a:r>
            <a:r>
              <a:rPr lang="en-US" altLang="zh-CN" sz="2000" b="1" dirty="0">
                <a:sym typeface="Symbol" panose="05050102010706020507" pitchFamily="18" charset="2"/>
              </a:rPr>
              <a:t></a:t>
            </a:r>
            <a:r>
              <a:rPr lang="en-US" altLang="zh-CN" sz="2000" b="1" dirty="0"/>
              <a:t>Q)</a:t>
            </a:r>
            <a:r>
              <a:rPr lang="en-US" altLang="zh-CN" sz="2000" b="1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000" b="1" dirty="0"/>
              <a:t>(Q</a:t>
            </a:r>
            <a:r>
              <a:rPr lang="en-US" altLang="zh-CN" sz="2000" b="1" dirty="0">
                <a:sym typeface="Symbol" panose="05050102010706020507" pitchFamily="18" charset="2"/>
              </a:rPr>
              <a:t></a:t>
            </a:r>
            <a:r>
              <a:rPr lang="en-US" altLang="zh-CN" sz="2000" b="1" dirty="0"/>
              <a:t>P)      E</a:t>
            </a:r>
            <a:r>
              <a:rPr lang="en-US" altLang="zh-CN" sz="2000" b="1" baseline="-25000" dirty="0"/>
              <a:t>21</a:t>
            </a:r>
            <a:r>
              <a:rPr lang="en-US" altLang="zh-CN" sz="2000" b="1" dirty="0"/>
              <a:t> P</a:t>
            </a:r>
            <a:r>
              <a:rPr lang="en-US" altLang="zh-CN" sz="2000" b="1" dirty="0">
                <a:sym typeface="Symbol" panose="05050102010706020507" pitchFamily="18" charset="2"/>
              </a:rPr>
              <a:t>Q (</a:t>
            </a:r>
            <a:r>
              <a:rPr lang="en-US" altLang="zh-CN" sz="2000" b="1" dirty="0"/>
              <a:t>P</a:t>
            </a:r>
            <a:r>
              <a:rPr lang="en-US" altLang="zh-CN" sz="2000" b="1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000" b="1" dirty="0"/>
              <a:t>Q)</a:t>
            </a:r>
            <a:r>
              <a:rPr lang="en-US" altLang="zh-CN" sz="2000" b="1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sz="2000" b="1" dirty="0"/>
              <a:t>(</a:t>
            </a:r>
            <a:r>
              <a:rPr lang="en-US" altLang="zh-CN" sz="2000" b="1" dirty="0">
                <a:sym typeface="Symbol" panose="05050102010706020507" pitchFamily="18" charset="2"/>
              </a:rPr>
              <a:t></a:t>
            </a:r>
            <a:r>
              <a:rPr lang="en-US" altLang="zh-CN" sz="2000" b="1" dirty="0"/>
              <a:t>P</a:t>
            </a:r>
            <a:r>
              <a:rPr lang="en-US" altLang="zh-CN" sz="2000" b="1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000" b="1" dirty="0">
                <a:sym typeface="Symbol" panose="05050102010706020507" pitchFamily="18" charset="2"/>
              </a:rPr>
              <a:t></a:t>
            </a:r>
            <a:r>
              <a:rPr lang="en-US" altLang="zh-CN" sz="2000" b="1" dirty="0"/>
              <a:t>Q )</a:t>
            </a:r>
            <a:endParaRPr lang="en-US" altLang="zh-CN" sz="2000" b="1" dirty="0"/>
          </a:p>
          <a:p>
            <a:pPr eaLnBrk="1" hangingPunct="1">
              <a:buFontTx/>
              <a:buNone/>
            </a:pPr>
            <a:r>
              <a:rPr lang="en-US" altLang="zh-CN" sz="2000" b="1" dirty="0"/>
              <a:t>                E</a:t>
            </a:r>
            <a:r>
              <a:rPr lang="en-US" altLang="zh-CN" sz="2000" b="1" baseline="-25000" dirty="0"/>
              <a:t>22  </a:t>
            </a:r>
            <a:r>
              <a:rPr lang="en-US" altLang="zh-CN" sz="2000" b="1" dirty="0">
                <a:sym typeface="Symbol" panose="05050102010706020507" pitchFamily="18" charset="2"/>
              </a:rPr>
              <a:t>(</a:t>
            </a:r>
            <a:r>
              <a:rPr lang="en-US" altLang="zh-CN" sz="2000" b="1" dirty="0"/>
              <a:t>P</a:t>
            </a:r>
            <a:r>
              <a:rPr lang="en-US" altLang="zh-CN" sz="2000" b="1" dirty="0">
                <a:sym typeface="Symbol" panose="05050102010706020507" pitchFamily="18" charset="2"/>
              </a:rPr>
              <a:t>Q) </a:t>
            </a:r>
            <a:r>
              <a:rPr lang="en-US" altLang="zh-CN" sz="2000" b="1" dirty="0"/>
              <a:t>P</a:t>
            </a:r>
            <a:r>
              <a:rPr lang="en-US" altLang="zh-CN" sz="2000" b="1" dirty="0">
                <a:sym typeface="Symbol" panose="05050102010706020507" pitchFamily="18" charset="2"/>
              </a:rPr>
              <a:t></a:t>
            </a:r>
            <a:r>
              <a:rPr lang="en-US" altLang="zh-CN" sz="2000" b="1" dirty="0"/>
              <a:t>Q</a:t>
            </a:r>
            <a:endParaRPr lang="en-US" altLang="zh-CN" sz="2000" b="1" dirty="0"/>
          </a:p>
          <a:p>
            <a:pPr eaLnBrk="1" hangingPunct="1">
              <a:buFontTx/>
              <a:buNone/>
            </a:pPr>
            <a:r>
              <a:rPr lang="zh-CN" altLang="en-US" sz="2000" b="1" dirty="0"/>
              <a:t>吸收律    </a:t>
            </a:r>
            <a:r>
              <a:rPr lang="en-US" altLang="zh-CN" sz="2000" b="1" dirty="0"/>
              <a:t>P</a:t>
            </a:r>
            <a:r>
              <a:rPr lang="en-US" altLang="zh-CN" sz="2000" b="1" dirty="0">
                <a:ea typeface="MS Gothic" panose="020B0609070205080204" pitchFamily="49" charset="-128"/>
                <a:sym typeface="Kingsoft Phonetic Plain" pitchFamily="2" charset="2"/>
              </a:rPr>
              <a:t>∨(</a:t>
            </a:r>
            <a:r>
              <a:rPr lang="en-US" altLang="zh-CN" sz="2000" b="1" dirty="0"/>
              <a:t>P</a:t>
            </a:r>
            <a:r>
              <a:rPr lang="en-US" altLang="zh-CN" sz="2000" b="1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000" b="1" dirty="0"/>
              <a:t>Q)</a:t>
            </a:r>
            <a:r>
              <a:rPr lang="en-US" altLang="zh-CN" sz="2000" b="1" dirty="0">
                <a:sym typeface="Symbol" panose="05050102010706020507" pitchFamily="18" charset="2"/>
              </a:rPr>
              <a:t></a:t>
            </a:r>
            <a:r>
              <a:rPr lang="en-US" altLang="zh-CN" sz="2000" b="1" dirty="0"/>
              <a:t>P                              P</a:t>
            </a:r>
            <a:r>
              <a:rPr lang="en-US" altLang="zh-CN" sz="2000" b="1" dirty="0">
                <a:ea typeface="MS Gothic" panose="020B0609070205080204" pitchFamily="49" charset="-128"/>
                <a:sym typeface="Kingsoft Phonetic Plain" pitchFamily="2" charset="2"/>
              </a:rPr>
              <a:t>∧(</a:t>
            </a:r>
            <a:r>
              <a:rPr lang="en-US" altLang="zh-CN" sz="2000" b="1" dirty="0"/>
              <a:t>P</a:t>
            </a:r>
            <a:r>
              <a:rPr lang="en-US" altLang="zh-CN" sz="2000" b="1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sz="2000" b="1" dirty="0"/>
              <a:t>Q)</a:t>
            </a:r>
            <a:r>
              <a:rPr lang="en-US" altLang="zh-CN" sz="2000" b="1" dirty="0">
                <a:sym typeface="Symbol" panose="05050102010706020507" pitchFamily="18" charset="2"/>
              </a:rPr>
              <a:t></a:t>
            </a:r>
            <a:r>
              <a:rPr lang="en-US" altLang="zh-CN" sz="2000" b="1" dirty="0"/>
              <a:t>P</a:t>
            </a:r>
            <a:endParaRPr lang="en-US" altLang="zh-CN" sz="2000" b="1" dirty="0"/>
          </a:p>
          <a:p>
            <a:pPr eaLnBrk="1" hangingPunct="1">
              <a:buFontTx/>
              <a:buNone/>
            </a:pPr>
            <a:r>
              <a:rPr lang="zh-CN" altLang="en-US" sz="2000" b="1" dirty="0"/>
              <a:t>互补律    </a:t>
            </a:r>
            <a:r>
              <a:rPr lang="en-US" altLang="zh-CN" sz="2000" b="1" dirty="0"/>
              <a:t>P</a:t>
            </a:r>
            <a:r>
              <a:rPr lang="en-US" altLang="zh-CN" sz="2000" b="1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sz="2000" b="1" dirty="0">
                <a:sym typeface="Symbol" panose="05050102010706020507" pitchFamily="18" charset="2"/>
              </a:rPr>
              <a:t></a:t>
            </a:r>
            <a:r>
              <a:rPr lang="en-US" altLang="zh-CN" sz="2000" b="1" dirty="0"/>
              <a:t>P</a:t>
            </a:r>
            <a:r>
              <a:rPr lang="en-US" altLang="zh-CN" sz="2000" b="1" dirty="0">
                <a:sym typeface="Symbol" panose="05050102010706020507" pitchFamily="18" charset="2"/>
              </a:rPr>
              <a:t>T</a:t>
            </a:r>
            <a:r>
              <a:rPr lang="en-US" altLang="zh-CN" sz="2000" b="1" dirty="0"/>
              <a:t>                                     P</a:t>
            </a:r>
            <a:r>
              <a:rPr lang="en-US" altLang="zh-CN" sz="2000" b="1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000" b="1" dirty="0">
                <a:sym typeface="Symbol" panose="05050102010706020507" pitchFamily="18" charset="2"/>
              </a:rPr>
              <a:t></a:t>
            </a:r>
            <a:r>
              <a:rPr lang="en-US" altLang="zh-CN" sz="2000" b="1" dirty="0"/>
              <a:t>P</a:t>
            </a:r>
            <a:r>
              <a:rPr lang="en-US" altLang="zh-CN" sz="2000" b="1" dirty="0">
                <a:sym typeface="Symbol" panose="05050102010706020507" pitchFamily="18" charset="2"/>
              </a:rPr>
              <a:t></a:t>
            </a:r>
            <a:r>
              <a:rPr lang="en-US" altLang="zh-CN" sz="2000" b="1" dirty="0"/>
              <a:t>F</a:t>
            </a:r>
            <a:endParaRPr lang="en-US" altLang="zh-CN" sz="2000" b="1" dirty="0"/>
          </a:p>
          <a:p>
            <a:pPr eaLnBrk="1" hangingPunct="1">
              <a:buFontTx/>
              <a:buNone/>
            </a:pPr>
            <a:r>
              <a:rPr lang="en-US" altLang="zh-CN" sz="2000" b="1" dirty="0"/>
              <a:t>               P</a:t>
            </a:r>
            <a:r>
              <a:rPr lang="en-US" altLang="zh-CN" sz="2000" b="1" dirty="0">
                <a:sym typeface="Symbol" panose="05050102010706020507" pitchFamily="18" charset="2"/>
              </a:rPr>
              <a:t>Q (</a:t>
            </a:r>
            <a:r>
              <a:rPr lang="en-US" altLang="zh-CN" sz="2000" b="1" dirty="0"/>
              <a:t>P</a:t>
            </a:r>
            <a:r>
              <a:rPr lang="en-US" altLang="zh-CN" sz="2000" b="1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sz="2000" b="1" dirty="0"/>
              <a:t>Q)</a:t>
            </a:r>
            <a:r>
              <a:rPr lang="en-US" altLang="zh-CN" sz="2000" b="1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000" b="1" dirty="0"/>
              <a:t>(P</a:t>
            </a:r>
            <a:r>
              <a:rPr lang="en-US" altLang="zh-CN" sz="2000" b="1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sz="2000" b="1" dirty="0">
                <a:sym typeface="Symbol" panose="05050102010706020507" pitchFamily="18" charset="2"/>
              </a:rPr>
              <a:t></a:t>
            </a:r>
            <a:r>
              <a:rPr lang="en-US" altLang="zh-CN" sz="2000" b="1" dirty="0"/>
              <a:t>Q) </a:t>
            </a:r>
            <a:endParaRPr lang="en-US" altLang="zh-CN" sz="2000" b="1" dirty="0"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一、直接推理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121859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chemeClr val="accent2"/>
            </a:solidFill>
            <a:miter lim="800000"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直接推理</a:t>
            </a:r>
            <a:r>
              <a:rPr lang="zh-CN" altLang="en-US" dirty="0">
                <a:latin typeface="宋体" panose="02010600030101010101" pitchFamily="2" charset="-122"/>
              </a:rPr>
              <a:t>，就是从前提直接推出结论。</a:t>
            </a:r>
            <a:endParaRPr lang="zh-CN" altLang="en-US" dirty="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zh-CN" altLang="en-US" dirty="0">
                <a:latin typeface="宋体" panose="02010600030101010101" pitchFamily="2" charset="-122"/>
              </a:rPr>
              <a:t>上面讲到推理的过程实际上是证明永真蕴含式的过程。只不过证明的过程采用</a:t>
            </a: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</a:rPr>
              <a:t>另外一种书写格式</a:t>
            </a:r>
            <a:r>
              <a:rPr lang="zh-CN" altLang="en-US" dirty="0">
                <a:latin typeface="宋体" panose="02010600030101010101" pitchFamily="2" charset="-122"/>
              </a:rPr>
              <a:t>。</a:t>
            </a:r>
            <a:endParaRPr lang="zh-CN" altLang="en-US" dirty="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zh-CN" altLang="en-US" dirty="0">
                <a:solidFill>
                  <a:srgbClr val="FF0000"/>
                </a:solidFill>
                <a:highlight>
                  <a:srgbClr val="FFFF00"/>
                </a:highlight>
                <a:latin typeface="宋体" panose="02010600030101010101" pitchFamily="2" charset="-122"/>
              </a:rPr>
              <a:t>格式</a:t>
            </a: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</a:rPr>
              <a:t>中包含</a:t>
            </a:r>
            <a:r>
              <a:rPr lang="zh-CN" altLang="en-US" dirty="0">
                <a:latin typeface="宋体" panose="02010600030101010101" pitchFamily="2" charset="-122"/>
              </a:rPr>
              <a:t>：</a:t>
            </a: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dirty="0">
                <a:solidFill>
                  <a:srgbClr val="FF0000"/>
                </a:solidFill>
                <a:latin typeface="宋体" panose="02010600030101010101" pitchFamily="2" charset="-122"/>
              </a:rPr>
              <a:t>1</a:t>
            </a: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</a:rPr>
              <a:t>）步骤号</a:t>
            </a:r>
            <a:br>
              <a:rPr lang="en-US" altLang="zh-CN" dirty="0">
                <a:solidFill>
                  <a:srgbClr val="FF0000"/>
                </a:solidFill>
                <a:latin typeface="宋体" panose="02010600030101010101" pitchFamily="2" charset="-122"/>
              </a:rPr>
            </a:br>
            <a:r>
              <a:rPr lang="en-US" altLang="zh-CN" dirty="0">
                <a:solidFill>
                  <a:srgbClr val="FF0000"/>
                </a:solidFill>
                <a:latin typeface="宋体" panose="02010600030101010101" pitchFamily="2" charset="-122"/>
              </a:rPr>
              <a:t>          </a:t>
            </a: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dirty="0">
                <a:solidFill>
                  <a:srgbClr val="FF0000"/>
                </a:solidFill>
                <a:latin typeface="宋体" panose="02010600030101010101" pitchFamily="2" charset="-122"/>
              </a:rPr>
              <a:t>2</a:t>
            </a: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</a:rPr>
              <a:t>）给定前提或得出的结论</a:t>
            </a:r>
            <a:br>
              <a:rPr lang="en-US" altLang="zh-CN" dirty="0">
                <a:solidFill>
                  <a:srgbClr val="FF0000"/>
                </a:solidFill>
                <a:latin typeface="宋体" panose="02010600030101010101" pitchFamily="2" charset="-122"/>
              </a:rPr>
            </a:br>
            <a:r>
              <a:rPr lang="en-US" altLang="zh-CN" dirty="0">
                <a:solidFill>
                  <a:srgbClr val="FF0000"/>
                </a:solidFill>
                <a:latin typeface="宋体" panose="02010600030101010101" pitchFamily="2" charset="-122"/>
              </a:rPr>
              <a:t>          </a:t>
            </a: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dirty="0">
                <a:solidFill>
                  <a:srgbClr val="FF0000"/>
                </a:solidFill>
                <a:latin typeface="宋体" panose="02010600030101010101" pitchFamily="2" charset="-122"/>
              </a:rPr>
              <a:t>3</a:t>
            </a: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</a:rPr>
              <a:t>）推理时所用规则</a:t>
            </a:r>
            <a:br>
              <a:rPr lang="en-US" altLang="zh-CN" dirty="0">
                <a:solidFill>
                  <a:srgbClr val="FF0000"/>
                </a:solidFill>
                <a:latin typeface="宋体" panose="02010600030101010101" pitchFamily="2" charset="-122"/>
              </a:rPr>
            </a:br>
            <a:r>
              <a:rPr lang="en-US" altLang="zh-CN" dirty="0">
                <a:solidFill>
                  <a:srgbClr val="FF0000"/>
                </a:solidFill>
                <a:latin typeface="宋体" panose="02010600030101010101" pitchFamily="2" charset="-122"/>
              </a:rPr>
              <a:t>          </a:t>
            </a: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dirty="0">
                <a:solidFill>
                  <a:srgbClr val="FF0000"/>
                </a:solidFill>
                <a:latin typeface="宋体" panose="02010600030101010101" pitchFamily="2" charset="-122"/>
              </a:rPr>
              <a:t>4</a:t>
            </a: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</a:rPr>
              <a:t>）此结论是从哪几步得到</a:t>
            </a:r>
            <a:br>
              <a:rPr lang="en-US" altLang="zh-CN" dirty="0">
                <a:solidFill>
                  <a:srgbClr val="FF0000"/>
                </a:solidFill>
                <a:latin typeface="宋体" panose="02010600030101010101" pitchFamily="2" charset="-122"/>
              </a:rPr>
            </a:br>
            <a:r>
              <a:rPr lang="en-US" altLang="zh-CN" dirty="0">
                <a:solidFill>
                  <a:srgbClr val="FF0000"/>
                </a:solidFill>
                <a:latin typeface="宋体" panose="02010600030101010101" pitchFamily="2" charset="-122"/>
              </a:rPr>
              <a:t>          </a:t>
            </a: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dirty="0">
                <a:solidFill>
                  <a:srgbClr val="FF0000"/>
                </a:solidFill>
                <a:latin typeface="宋体" panose="02010600030101010101" pitchFamily="2" charset="-122"/>
              </a:rPr>
              <a:t>5</a:t>
            </a: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</a:rPr>
              <a:t>）所依据的公式</a:t>
            </a:r>
            <a:endParaRPr lang="zh-CN" altLang="en-US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endParaRPr lang="zh-CN" altLang="en-US" dirty="0">
              <a:solidFill>
                <a:srgbClr val="FF0000"/>
              </a:solidFill>
              <a:latin typeface="宋体" panose="02010600030101010101" pitchFamily="2" charset="-122"/>
              <a:ea typeface="MS Gothic" panose="020B0609070205080204" pitchFamily="49" charset="-128"/>
              <a:sym typeface="Kingsoft Phonetic Plain" pitchFamily="2" charset="2"/>
            </a:endParaRPr>
          </a:p>
        </p:txBody>
      </p:sp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185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185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18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18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18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859" grpId="0" autoUpdateAnimBg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2883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chemeClr val="accent2"/>
            </a:solidFill>
            <a:miter lim="800000"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</a:rPr>
              <a:t>例题１</a:t>
            </a:r>
            <a:r>
              <a:rPr lang="zh-CN" altLang="en-US">
                <a:latin typeface="宋体" panose="02010600030101010101" pitchFamily="2" charset="-122"/>
              </a:rPr>
              <a:t>求证  </a:t>
            </a:r>
            <a:r>
              <a:rPr lang="en-US" altLang="zh-CN">
                <a:latin typeface="宋体" panose="02010600030101010101" pitchFamily="2" charset="-122"/>
              </a:rPr>
              <a:t>P→Q</a:t>
            </a:r>
            <a:r>
              <a:rPr lang="zh-CN" altLang="en-US">
                <a:latin typeface="宋体" panose="02010600030101010101" pitchFamily="2" charset="-122"/>
              </a:rPr>
              <a:t>，</a:t>
            </a:r>
            <a:r>
              <a:rPr lang="en-US" altLang="zh-CN">
                <a:latin typeface="宋体" panose="02010600030101010101" pitchFamily="2" charset="-122"/>
              </a:rPr>
              <a:t>Q→R</a:t>
            </a:r>
            <a:r>
              <a:rPr lang="zh-CN" altLang="en-US">
                <a:latin typeface="宋体" panose="02010600030101010101" pitchFamily="2" charset="-122"/>
              </a:rPr>
              <a:t>，</a:t>
            </a:r>
            <a:r>
              <a:rPr lang="en-US" altLang="zh-CN">
                <a:latin typeface="宋体" panose="02010600030101010101" pitchFamily="2" charset="-122"/>
              </a:rPr>
              <a:t>P </a:t>
            </a:r>
            <a:r>
              <a:rPr lang="en-US" altLang="zh-CN">
                <a:sym typeface="Symbol" panose="05050102010706020507" pitchFamily="18" charset="2"/>
              </a:rPr>
              <a:t> </a:t>
            </a:r>
            <a:r>
              <a:rPr lang="en-US" altLang="zh-CN">
                <a:latin typeface="宋体" panose="02010600030101010101" pitchFamily="2" charset="-122"/>
              </a:rPr>
              <a:t>R</a:t>
            </a:r>
            <a:endParaRPr lang="en-US" altLang="zh-CN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</a:rPr>
              <a:t>证明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zh-CN" altLang="en-US" sz="2000">
                <a:latin typeface="宋体" panose="02010600030101010101" pitchFamily="2" charset="-122"/>
              </a:rPr>
              <a:t>   </a:t>
            </a:r>
            <a:r>
              <a:rPr lang="zh-CN" altLang="en-US" sz="2000" b="1">
                <a:solidFill>
                  <a:srgbClr val="FF0000"/>
                </a:solidFill>
                <a:latin typeface="宋体" panose="02010600030101010101" pitchFamily="2" charset="-122"/>
              </a:rPr>
              <a:t>序号  前提或结论  所用规则  从哪几步得到  所用公式</a:t>
            </a:r>
            <a:endParaRPr lang="zh-CN" altLang="en-US" sz="2000" b="1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zh-CN" altLang="en-US">
                <a:latin typeface="宋体" panose="02010600030101010101" pitchFamily="2" charset="-122"/>
              </a:rPr>
              <a:t>  </a:t>
            </a:r>
            <a:r>
              <a:rPr lang="en-US" altLang="zh-CN">
                <a:latin typeface="宋体" panose="02010600030101010101" pitchFamily="2" charset="-122"/>
              </a:rPr>
              <a:t>(1) P        P</a:t>
            </a:r>
            <a:endParaRPr lang="en-US" altLang="zh-CN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>
                <a:latin typeface="宋体" panose="02010600030101010101" pitchFamily="2" charset="-122"/>
              </a:rPr>
              <a:t>  (2) P</a:t>
            </a:r>
            <a:r>
              <a:rPr lang="en-US" altLang="zh-CN">
                <a:sym typeface="Symbol" panose="05050102010706020507" pitchFamily="18" charset="2"/>
              </a:rPr>
              <a:t></a:t>
            </a:r>
            <a:r>
              <a:rPr lang="en-US" altLang="zh-CN">
                <a:latin typeface="宋体" panose="02010600030101010101" pitchFamily="2" charset="-122"/>
              </a:rPr>
              <a:t>Q     P </a:t>
            </a:r>
            <a:endParaRPr lang="en-US" altLang="zh-CN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>
                <a:latin typeface="宋体" panose="02010600030101010101" pitchFamily="2" charset="-122"/>
              </a:rPr>
              <a:t>  (3) Q        T    (1)(2)    I</a:t>
            </a:r>
            <a:r>
              <a:rPr lang="en-US" altLang="zh-CN" baseline="-25000">
                <a:latin typeface="宋体" panose="02010600030101010101" pitchFamily="2" charset="-122"/>
              </a:rPr>
              <a:t>11</a:t>
            </a:r>
            <a:r>
              <a:rPr lang="en-US" altLang="zh-CN">
                <a:latin typeface="宋体" panose="02010600030101010101" pitchFamily="2" charset="-122"/>
              </a:rPr>
              <a:t> </a:t>
            </a:r>
            <a:endParaRPr lang="en-US" altLang="zh-CN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>
                <a:latin typeface="宋体" panose="02010600030101010101" pitchFamily="2" charset="-122"/>
              </a:rPr>
              <a:t>  (4) Q→R     P </a:t>
            </a:r>
            <a:endParaRPr lang="en-US" altLang="zh-CN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>
                <a:latin typeface="宋体" panose="02010600030101010101" pitchFamily="2" charset="-122"/>
              </a:rPr>
              <a:t>  (5) R        T    (3)(4)    I</a:t>
            </a:r>
            <a:r>
              <a:rPr lang="en-US" altLang="zh-CN" baseline="-25000">
                <a:latin typeface="宋体" panose="02010600030101010101" pitchFamily="2" charset="-122"/>
              </a:rPr>
              <a:t>11</a:t>
            </a:r>
            <a:endParaRPr lang="en-US" altLang="zh-CN" baseline="-25000">
              <a:latin typeface="宋体" panose="02010600030101010101" pitchFamily="2" charset="-122"/>
            </a:endParaRPr>
          </a:p>
          <a:p>
            <a:pPr eaLnBrk="1" hangingPunct="1"/>
            <a:endParaRPr lang="en-US" altLang="zh-CN" baseline="-2500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zh-CN" altLang="en-US">
                <a:latin typeface="宋体" panose="02010600030101010101" pitchFamily="2" charset="-122"/>
              </a:rPr>
              <a:t>（</a:t>
            </a:r>
            <a:r>
              <a:rPr lang="zh-CN" altLang="zh-CN">
                <a:latin typeface="宋体" panose="02010600030101010101" pitchFamily="2" charset="-122"/>
              </a:rPr>
              <a:t>注公式</a:t>
            </a:r>
            <a:r>
              <a:rPr lang="en-US" altLang="zh-CN">
                <a:latin typeface="宋体" panose="02010600030101010101" pitchFamily="2" charset="-122"/>
              </a:rPr>
              <a:t>I</a:t>
            </a:r>
            <a:r>
              <a:rPr lang="en-US" altLang="zh-CN" baseline="-25000">
                <a:latin typeface="宋体" panose="02010600030101010101" pitchFamily="2" charset="-122"/>
              </a:rPr>
              <a:t>11</a:t>
            </a:r>
            <a:r>
              <a:rPr lang="zh-CN" altLang="zh-CN">
                <a:latin typeface="宋体" panose="02010600030101010101" pitchFamily="2" charset="-122"/>
              </a:rPr>
              <a:t>为： </a:t>
            </a:r>
            <a:r>
              <a:rPr lang="en-US" altLang="zh-CN">
                <a:latin typeface="宋体" panose="02010600030101010101" pitchFamily="2" charset="-122"/>
              </a:rPr>
              <a:t>P,P→Q </a:t>
            </a:r>
            <a:r>
              <a:rPr lang="en-US" altLang="zh-CN">
                <a:sym typeface="Symbol" panose="05050102010706020507" pitchFamily="18" charset="2"/>
              </a:rPr>
              <a:t> Q </a:t>
            </a:r>
            <a:r>
              <a:rPr lang="zh-CN" altLang="en-US">
                <a:sym typeface="Symbol" panose="05050102010706020507" pitchFamily="18" charset="2"/>
              </a:rPr>
              <a:t>）</a:t>
            </a:r>
            <a:endParaRPr lang="zh-CN" altLang="en-US" baseline="-25000">
              <a:latin typeface="宋体" panose="02010600030101010101" pitchFamily="2" charset="-122"/>
            </a:endParaRPr>
          </a:p>
          <a:p>
            <a:pPr eaLnBrk="1" hangingPunct="1"/>
            <a:endParaRPr lang="en-US" altLang="zh-CN"/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288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28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28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28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28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28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28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28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28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228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883" grpId="0" autoUpdateAnimBg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4931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chemeClr val="accent2"/>
            </a:solidFill>
            <a:miter lim="800000"/>
          </a:ln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b="1">
                <a:solidFill>
                  <a:srgbClr val="FF0000"/>
                </a:solidFill>
                <a:latin typeface="宋体" panose="02010600030101010101" pitchFamily="2" charset="-122"/>
              </a:rPr>
              <a:t>例题２</a:t>
            </a:r>
            <a:r>
              <a:rPr lang="zh-CN" altLang="en-US" b="1">
                <a:latin typeface="宋体" panose="02010600030101010101" pitchFamily="2" charset="-122"/>
              </a:rPr>
              <a:t>求证</a:t>
            </a:r>
            <a:endParaRPr lang="zh-CN" altLang="en-US" b="1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b="1">
                <a:sym typeface="Symbol" panose="05050102010706020507" pitchFamily="18" charset="2"/>
              </a:rPr>
              <a:t></a:t>
            </a:r>
            <a:r>
              <a:rPr lang="en-US" altLang="zh-CN" b="1">
                <a:latin typeface="宋体" panose="02010600030101010101" pitchFamily="2" charset="-122"/>
              </a:rPr>
              <a:t>(P∧Q)∧(Q∨R)∧</a:t>
            </a:r>
            <a:r>
              <a:rPr lang="en-US" altLang="zh-CN" b="1">
                <a:sym typeface="Symbol" panose="05050102010706020507" pitchFamily="18" charset="2"/>
              </a:rPr>
              <a:t></a:t>
            </a:r>
            <a:r>
              <a:rPr lang="en-US" altLang="zh-CN" b="1">
                <a:latin typeface="宋体" panose="02010600030101010101" pitchFamily="2" charset="-122"/>
              </a:rPr>
              <a:t>R </a:t>
            </a:r>
            <a:r>
              <a:rPr lang="en-US" altLang="zh-CN" b="1">
                <a:sym typeface="Symbol" panose="05050102010706020507" pitchFamily="18" charset="2"/>
              </a:rPr>
              <a:t> </a:t>
            </a:r>
            <a:r>
              <a:rPr lang="en-US" altLang="zh-CN" b="1">
                <a:latin typeface="宋体" panose="02010600030101010101" pitchFamily="2" charset="-122"/>
              </a:rPr>
              <a:t>P</a:t>
            </a:r>
            <a:endParaRPr lang="en-US" altLang="zh-CN" b="1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b="1">
                <a:latin typeface="宋体" panose="02010600030101010101" pitchFamily="2" charset="-122"/>
              </a:rPr>
              <a:t>(1) Q∨R       P</a:t>
            </a:r>
            <a:endParaRPr lang="en-US" altLang="zh-CN" b="1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b="1">
                <a:latin typeface="宋体" panose="02010600030101010101" pitchFamily="2" charset="-122"/>
              </a:rPr>
              <a:t>(2) </a:t>
            </a:r>
            <a:r>
              <a:rPr lang="en-US" altLang="zh-CN" b="1">
                <a:sym typeface="Symbol" panose="05050102010706020507" pitchFamily="18" charset="2"/>
              </a:rPr>
              <a:t></a:t>
            </a:r>
            <a:r>
              <a:rPr lang="en-US" altLang="zh-CN" b="1">
                <a:latin typeface="宋体" panose="02010600030101010101" pitchFamily="2" charset="-122"/>
              </a:rPr>
              <a:t>R         P</a:t>
            </a:r>
            <a:endParaRPr lang="en-US" altLang="zh-CN" b="1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b="1">
                <a:latin typeface="宋体" panose="02010600030101010101" pitchFamily="2" charset="-122"/>
              </a:rPr>
              <a:t>(3) Q          T  (1)(2)  I</a:t>
            </a:r>
            <a:r>
              <a:rPr lang="en-US" altLang="zh-CN" b="1" baseline="-25000">
                <a:latin typeface="宋体" panose="02010600030101010101" pitchFamily="2" charset="-122"/>
              </a:rPr>
              <a:t>10</a:t>
            </a:r>
            <a:endParaRPr lang="en-US" altLang="zh-CN" b="1" baseline="-25000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b="1">
                <a:latin typeface="宋体" panose="02010600030101010101" pitchFamily="2" charset="-122"/>
              </a:rPr>
              <a:t>(4) </a:t>
            </a:r>
            <a:r>
              <a:rPr lang="en-US" altLang="zh-CN" b="1">
                <a:sym typeface="Symbol" panose="05050102010706020507" pitchFamily="18" charset="2"/>
              </a:rPr>
              <a:t></a:t>
            </a:r>
            <a:r>
              <a:rPr lang="en-US" altLang="zh-CN" b="1">
                <a:latin typeface="宋体" panose="02010600030101010101" pitchFamily="2" charset="-122"/>
              </a:rPr>
              <a:t>(P∧Q)    P</a:t>
            </a:r>
            <a:endParaRPr lang="en-US" altLang="zh-CN" b="1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b="1">
                <a:latin typeface="宋体" panose="02010600030101010101" pitchFamily="2" charset="-122"/>
              </a:rPr>
              <a:t>(5) </a:t>
            </a:r>
            <a:r>
              <a:rPr lang="en-US" altLang="zh-CN" b="1">
                <a:sym typeface="Symbol" panose="05050102010706020507" pitchFamily="18" charset="2"/>
              </a:rPr>
              <a:t></a:t>
            </a:r>
            <a:r>
              <a:rPr lang="en-US" altLang="zh-CN" b="1">
                <a:latin typeface="宋体" panose="02010600030101010101" pitchFamily="2" charset="-122"/>
              </a:rPr>
              <a:t>P∨</a:t>
            </a:r>
            <a:r>
              <a:rPr lang="en-US" altLang="zh-CN" b="1">
                <a:sym typeface="Symbol" panose="05050102010706020507" pitchFamily="18" charset="2"/>
              </a:rPr>
              <a:t></a:t>
            </a:r>
            <a:r>
              <a:rPr lang="en-US" altLang="zh-CN" b="1">
                <a:latin typeface="宋体" panose="02010600030101010101" pitchFamily="2" charset="-122"/>
              </a:rPr>
              <a:t>Q    T  (4)     E</a:t>
            </a:r>
            <a:r>
              <a:rPr lang="en-US" altLang="zh-CN" b="1" baseline="-25000">
                <a:latin typeface="宋体" panose="02010600030101010101" pitchFamily="2" charset="-122"/>
              </a:rPr>
              <a:t>8</a:t>
            </a:r>
            <a:endParaRPr lang="en-US" altLang="zh-CN" b="1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b="1">
                <a:latin typeface="宋体" panose="02010600030101010101" pitchFamily="2" charset="-122"/>
              </a:rPr>
              <a:t>(6) </a:t>
            </a:r>
            <a:r>
              <a:rPr lang="en-US" altLang="zh-CN" b="1">
                <a:sym typeface="Symbol" panose="05050102010706020507" pitchFamily="18" charset="2"/>
              </a:rPr>
              <a:t></a:t>
            </a:r>
            <a:r>
              <a:rPr lang="en-US" altLang="zh-CN" b="1">
                <a:latin typeface="宋体" panose="02010600030101010101" pitchFamily="2" charset="-122"/>
              </a:rPr>
              <a:t>P         T  (3)(5) I</a:t>
            </a:r>
            <a:r>
              <a:rPr lang="en-US" altLang="zh-CN" b="1" baseline="-25000">
                <a:latin typeface="宋体" panose="02010600030101010101" pitchFamily="2" charset="-122"/>
              </a:rPr>
              <a:t>10</a:t>
            </a:r>
            <a:endParaRPr lang="en-US" altLang="zh-CN" b="1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endParaRPr lang="en-US" altLang="zh-CN" b="1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zh-CN" b="1">
                <a:latin typeface="宋体" panose="02010600030101010101" pitchFamily="2" charset="-122"/>
              </a:rPr>
              <a:t>注公式</a:t>
            </a:r>
            <a:r>
              <a:rPr lang="en-US" altLang="zh-CN" b="1">
                <a:latin typeface="宋体" panose="02010600030101010101" pitchFamily="2" charset="-122"/>
              </a:rPr>
              <a:t>I</a:t>
            </a:r>
            <a:r>
              <a:rPr lang="en-US" altLang="zh-CN" b="1" baseline="-25000">
                <a:latin typeface="宋体" panose="02010600030101010101" pitchFamily="2" charset="-122"/>
              </a:rPr>
              <a:t>10</a:t>
            </a:r>
            <a:r>
              <a:rPr lang="zh-CN" altLang="zh-CN" b="1">
                <a:latin typeface="宋体" panose="02010600030101010101" pitchFamily="2" charset="-122"/>
              </a:rPr>
              <a:t>为： </a:t>
            </a:r>
            <a:r>
              <a:rPr lang="zh-CN" altLang="en-US" b="1">
                <a:sym typeface="Symbol" panose="05050102010706020507" pitchFamily="18" charset="2"/>
              </a:rPr>
              <a:t> </a:t>
            </a:r>
            <a:r>
              <a:rPr lang="en-US" altLang="zh-CN" b="1">
                <a:latin typeface="宋体" panose="02010600030101010101" pitchFamily="2" charset="-122"/>
              </a:rPr>
              <a:t>P,P∨Q </a:t>
            </a:r>
            <a:r>
              <a:rPr lang="en-US" altLang="zh-CN" b="1">
                <a:sym typeface="Symbol" panose="05050102010706020507" pitchFamily="18" charset="2"/>
              </a:rPr>
              <a:t> Q</a:t>
            </a:r>
            <a:r>
              <a:rPr lang="en-US" altLang="zh-CN" b="1">
                <a:latin typeface="宋体" panose="02010600030101010101" pitchFamily="2" charset="-122"/>
              </a:rPr>
              <a:t> </a:t>
            </a:r>
            <a:endParaRPr lang="en-US" altLang="zh-CN" b="1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b="1">
                <a:latin typeface="宋体" panose="02010600030101010101" pitchFamily="2" charset="-122"/>
              </a:rPr>
              <a:t>  </a:t>
            </a:r>
            <a:r>
              <a:rPr lang="zh-CN" altLang="zh-CN" b="1">
                <a:latin typeface="宋体" panose="02010600030101010101" pitchFamily="2" charset="-122"/>
              </a:rPr>
              <a:t>公式</a:t>
            </a:r>
            <a:r>
              <a:rPr lang="en-US" altLang="zh-CN" b="1">
                <a:latin typeface="宋体" panose="02010600030101010101" pitchFamily="2" charset="-122"/>
              </a:rPr>
              <a:t>E</a:t>
            </a:r>
            <a:r>
              <a:rPr lang="en-US" altLang="zh-CN" b="1" baseline="-25000">
                <a:latin typeface="宋体" panose="02010600030101010101" pitchFamily="2" charset="-122"/>
              </a:rPr>
              <a:t>8</a:t>
            </a:r>
            <a:r>
              <a:rPr lang="zh-CN" altLang="zh-CN" b="1">
                <a:latin typeface="宋体" panose="02010600030101010101" pitchFamily="2" charset="-122"/>
              </a:rPr>
              <a:t>为： </a:t>
            </a:r>
            <a:r>
              <a:rPr lang="zh-CN" altLang="en-US" b="1">
                <a:latin typeface="宋体" panose="02010600030101010101" pitchFamily="2" charset="-122"/>
              </a:rPr>
              <a:t> </a:t>
            </a:r>
            <a:r>
              <a:rPr lang="zh-CN" altLang="en-US" b="1">
                <a:sym typeface="Symbol" panose="05050102010706020507" pitchFamily="18" charset="2"/>
              </a:rPr>
              <a:t></a:t>
            </a:r>
            <a:r>
              <a:rPr lang="en-US" altLang="zh-CN" b="1">
                <a:latin typeface="宋体" panose="02010600030101010101" pitchFamily="2" charset="-122"/>
              </a:rPr>
              <a:t>(P∧Q) </a:t>
            </a:r>
            <a:r>
              <a:rPr lang="en-US" altLang="zh-CN" b="1">
                <a:sym typeface="Symbol" panose="05050102010706020507" pitchFamily="18" charset="2"/>
              </a:rPr>
              <a:t> </a:t>
            </a:r>
            <a:r>
              <a:rPr lang="en-US" altLang="zh-CN" b="1">
                <a:latin typeface="宋体" panose="02010600030101010101" pitchFamily="2" charset="-122"/>
              </a:rPr>
              <a:t>P∨</a:t>
            </a:r>
            <a:r>
              <a:rPr lang="en-US" altLang="zh-CN" b="1">
                <a:sym typeface="Symbol" panose="05050102010706020507" pitchFamily="18" charset="2"/>
              </a:rPr>
              <a:t></a:t>
            </a:r>
            <a:r>
              <a:rPr lang="en-US" altLang="zh-CN" b="1">
                <a:latin typeface="宋体" panose="02010600030101010101" pitchFamily="2" charset="-122"/>
              </a:rPr>
              <a:t>Q </a:t>
            </a:r>
            <a:endParaRPr lang="en-US" altLang="zh-CN" b="1"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493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49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49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49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49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49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49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49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49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249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249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931" grpId="0" autoUpdateAnimBg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5955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00FF00"/>
            </a:solidFill>
            <a:miter lim="800000"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</a:rPr>
              <a:t>例题３ </a:t>
            </a:r>
            <a:r>
              <a:rPr lang="zh-CN" altLang="en-US" b="1" dirty="0">
                <a:latin typeface="宋体" panose="02010600030101010101" pitchFamily="2" charset="-122"/>
              </a:rPr>
              <a:t>用命题逻辑推理方法证明下面推理的有效性：</a:t>
            </a:r>
            <a:endParaRPr lang="zh-CN" altLang="en-US" b="1" dirty="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zh-CN" altLang="en-US" b="1" dirty="0">
                <a:latin typeface="宋体" panose="02010600030101010101" pitchFamily="2" charset="-122"/>
              </a:rPr>
              <a:t>  如果我学习，那么我数学不会不及格。如果我不热衷于玩游戏，那么我将学习。但是我数学不及格。因此，我热衷于玩游戏。</a:t>
            </a:r>
            <a:endParaRPr lang="zh-CN" altLang="en-US" b="1" dirty="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  <a:r>
              <a:rPr lang="en-US" altLang="zh-CN" b="1" dirty="0">
                <a:solidFill>
                  <a:srgbClr val="FF0000"/>
                </a:solidFill>
                <a:latin typeface="宋体" panose="02010600030101010101" pitchFamily="2" charset="-122"/>
              </a:rPr>
              <a:t>:</a:t>
            </a:r>
            <a:r>
              <a:rPr lang="zh-CN" altLang="en-US" b="1" dirty="0">
                <a:latin typeface="宋体" panose="02010600030101010101" pitchFamily="2" charset="-122"/>
              </a:rPr>
              <a:t>设 </a:t>
            </a:r>
            <a:r>
              <a:rPr lang="en-US" altLang="zh-CN" b="1" dirty="0">
                <a:latin typeface="宋体" panose="02010600030101010101" pitchFamily="2" charset="-122"/>
              </a:rPr>
              <a:t>P</a:t>
            </a:r>
            <a:r>
              <a:rPr lang="zh-CN" altLang="en-US" b="1" dirty="0">
                <a:latin typeface="宋体" panose="02010600030101010101" pitchFamily="2" charset="-122"/>
              </a:rPr>
              <a:t>：我学习。</a:t>
            </a:r>
            <a:endParaRPr lang="zh-CN" altLang="en-US" b="1" dirty="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zh-CN" altLang="en-US" b="1" dirty="0">
                <a:latin typeface="宋体" panose="02010600030101010101" pitchFamily="2" charset="-122"/>
              </a:rPr>
              <a:t>      </a:t>
            </a:r>
            <a:r>
              <a:rPr lang="en-US" altLang="zh-CN" b="1" dirty="0">
                <a:latin typeface="宋体" panose="02010600030101010101" pitchFamily="2" charset="-122"/>
              </a:rPr>
              <a:t>Q</a:t>
            </a:r>
            <a:r>
              <a:rPr lang="zh-CN" altLang="en-US" b="1" dirty="0">
                <a:latin typeface="宋体" panose="02010600030101010101" pitchFamily="2" charset="-122"/>
              </a:rPr>
              <a:t>：我数学及格。</a:t>
            </a:r>
            <a:endParaRPr lang="zh-CN" altLang="en-US" b="1" dirty="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zh-CN" altLang="en-US" b="1" dirty="0">
                <a:latin typeface="宋体" panose="02010600030101010101" pitchFamily="2" charset="-122"/>
              </a:rPr>
              <a:t>      </a:t>
            </a:r>
            <a:r>
              <a:rPr lang="en-US" altLang="zh-CN" b="1" dirty="0">
                <a:latin typeface="宋体" panose="02010600030101010101" pitchFamily="2" charset="-122"/>
              </a:rPr>
              <a:t>R</a:t>
            </a:r>
            <a:r>
              <a:rPr lang="zh-CN" altLang="en-US" b="1" dirty="0">
                <a:latin typeface="宋体" panose="02010600030101010101" pitchFamily="2" charset="-122"/>
              </a:rPr>
              <a:t>：我热衷于玩游戏。</a:t>
            </a:r>
            <a:endParaRPr lang="zh-CN" altLang="en-US" b="1" dirty="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zh-CN" altLang="en-US" b="1" dirty="0">
                <a:latin typeface="宋体" panose="02010600030101010101" pitchFamily="2" charset="-122"/>
              </a:rPr>
              <a:t>   于是符号化为：</a:t>
            </a:r>
            <a:endParaRPr lang="zh-CN" altLang="en-US" b="1" dirty="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zh-CN" altLang="en-US" b="1" dirty="0">
                <a:latin typeface="宋体" panose="02010600030101010101" pitchFamily="2" charset="-122"/>
              </a:rPr>
              <a:t>      </a:t>
            </a:r>
            <a:r>
              <a:rPr lang="en-US" altLang="zh-CN" b="1" dirty="0">
                <a:latin typeface="宋体" panose="02010600030101010101" pitchFamily="2" charset="-122"/>
              </a:rPr>
              <a:t>P→Q</a:t>
            </a:r>
            <a:r>
              <a:rPr lang="zh-CN" altLang="en-US" b="1" dirty="0">
                <a:latin typeface="宋体" panose="02010600030101010101" pitchFamily="2" charset="-122"/>
              </a:rPr>
              <a:t>，</a:t>
            </a:r>
            <a:r>
              <a:rPr lang="zh-CN" altLang="en-US" b="1" dirty="0">
                <a:sym typeface="Symbol" panose="05050102010706020507" pitchFamily="18" charset="2"/>
              </a:rPr>
              <a:t></a:t>
            </a:r>
            <a:r>
              <a:rPr lang="en-US" altLang="zh-CN" b="1" dirty="0">
                <a:latin typeface="宋体" panose="02010600030101010101" pitchFamily="2" charset="-122"/>
              </a:rPr>
              <a:t>R→P</a:t>
            </a:r>
            <a:r>
              <a:rPr lang="zh-CN" altLang="en-US" b="1" dirty="0">
                <a:latin typeface="宋体" panose="02010600030101010101" pitchFamily="2" charset="-122"/>
              </a:rPr>
              <a:t>，</a:t>
            </a:r>
            <a:r>
              <a:rPr lang="zh-CN" altLang="en-US" b="1" dirty="0">
                <a:sym typeface="Symbol" panose="05050102010706020507" pitchFamily="18" charset="2"/>
              </a:rPr>
              <a:t></a:t>
            </a:r>
            <a:r>
              <a:rPr lang="en-US" altLang="zh-CN" b="1" dirty="0">
                <a:latin typeface="宋体" panose="02010600030101010101" pitchFamily="2" charset="-122"/>
              </a:rPr>
              <a:t>Q </a:t>
            </a:r>
            <a:r>
              <a:rPr lang="en-US" altLang="zh-CN" b="1" dirty="0">
                <a:sym typeface="Symbol" panose="05050102010706020507" pitchFamily="18" charset="2"/>
              </a:rPr>
              <a:t></a:t>
            </a:r>
            <a:r>
              <a:rPr lang="en-US" altLang="zh-CN" b="1" dirty="0">
                <a:latin typeface="宋体" panose="02010600030101010101" pitchFamily="2" charset="-122"/>
              </a:rPr>
              <a:t> R</a:t>
            </a:r>
            <a:endParaRPr lang="en-US" altLang="zh-CN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595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59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59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59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59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59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59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59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955" grpId="0" autoUpdateAnimBg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6979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00FF00"/>
            </a:solidFill>
            <a:miter lim="800000"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sz="2800" b="1" dirty="0">
                <a:latin typeface="宋体" panose="02010600030101010101" pitchFamily="2" charset="-122"/>
              </a:rPr>
              <a:t>P→Q</a:t>
            </a:r>
            <a:r>
              <a:rPr lang="zh-CN" altLang="en-US" sz="2800" b="1" dirty="0">
                <a:latin typeface="宋体" panose="02010600030101010101" pitchFamily="2" charset="-122"/>
              </a:rPr>
              <a:t>，</a:t>
            </a:r>
            <a:r>
              <a:rPr lang="zh-CN" altLang="en-US" sz="2800" b="1" dirty="0">
                <a:sym typeface="Symbol" panose="05050102010706020507" pitchFamily="18" charset="2"/>
              </a:rPr>
              <a:t></a:t>
            </a:r>
            <a:r>
              <a:rPr lang="en-US" altLang="zh-CN" sz="2800" b="1" dirty="0">
                <a:latin typeface="宋体" panose="02010600030101010101" pitchFamily="2" charset="-122"/>
              </a:rPr>
              <a:t>R→P</a:t>
            </a:r>
            <a:r>
              <a:rPr lang="zh-CN" altLang="en-US" sz="2800" b="1" dirty="0">
                <a:latin typeface="宋体" panose="02010600030101010101" pitchFamily="2" charset="-122"/>
              </a:rPr>
              <a:t>，</a:t>
            </a:r>
            <a:r>
              <a:rPr lang="zh-CN" altLang="en-US" sz="2800" b="1" dirty="0">
                <a:sym typeface="Symbol" panose="05050102010706020507" pitchFamily="18" charset="2"/>
              </a:rPr>
              <a:t></a:t>
            </a:r>
            <a:r>
              <a:rPr lang="en-US" altLang="zh-CN" sz="2800" b="1" dirty="0">
                <a:latin typeface="宋体" panose="02010600030101010101" pitchFamily="2" charset="-122"/>
              </a:rPr>
              <a:t>Q </a:t>
            </a:r>
            <a:r>
              <a:rPr lang="en-US" altLang="zh-CN" sz="2800" b="1" dirty="0">
                <a:sym typeface="Symbol" panose="05050102010706020507" pitchFamily="18" charset="2"/>
              </a:rPr>
              <a:t></a:t>
            </a:r>
            <a:r>
              <a:rPr lang="en-US" altLang="zh-CN" sz="2800" b="1" dirty="0">
                <a:latin typeface="宋体" panose="02010600030101010101" pitchFamily="2" charset="-122"/>
              </a:rPr>
              <a:t> R</a:t>
            </a:r>
            <a:endParaRPr lang="en-US" altLang="zh-CN" sz="2800" b="1" dirty="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 sz="2800" b="1" dirty="0">
                <a:latin typeface="宋体" panose="02010600030101010101" pitchFamily="2" charset="-122"/>
              </a:rPr>
              <a:t>(1)  P→Q       P</a:t>
            </a:r>
            <a:endParaRPr lang="en-US" altLang="zh-CN" sz="2800" b="1" dirty="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 sz="2800" b="1" dirty="0">
                <a:latin typeface="宋体" panose="02010600030101010101" pitchFamily="2" charset="-122"/>
              </a:rPr>
              <a:t>(2) </a:t>
            </a:r>
            <a:r>
              <a:rPr lang="en-US" altLang="zh-CN" sz="2800" b="1" dirty="0">
                <a:sym typeface="Symbol" panose="05050102010706020507" pitchFamily="18" charset="2"/>
              </a:rPr>
              <a:t></a:t>
            </a:r>
            <a:r>
              <a:rPr lang="en-US" altLang="zh-CN" sz="2800" b="1" dirty="0">
                <a:latin typeface="宋体" panose="02010600030101010101" pitchFamily="2" charset="-122"/>
              </a:rPr>
              <a:t>Q          P </a:t>
            </a:r>
            <a:endParaRPr lang="en-US" altLang="zh-CN" sz="2800" b="1" dirty="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 sz="2800" b="1" dirty="0">
                <a:latin typeface="宋体" panose="02010600030101010101" pitchFamily="2" charset="-122"/>
              </a:rPr>
              <a:t>(3) </a:t>
            </a:r>
            <a:r>
              <a:rPr lang="en-US" altLang="zh-CN" sz="2800" b="1" dirty="0">
                <a:sym typeface="Symbol" panose="05050102010706020507" pitchFamily="18" charset="2"/>
              </a:rPr>
              <a:t></a:t>
            </a:r>
            <a:r>
              <a:rPr lang="en-US" altLang="zh-CN" sz="2800" b="1" dirty="0">
                <a:latin typeface="宋体" panose="02010600030101010101" pitchFamily="2" charset="-122"/>
              </a:rPr>
              <a:t>P          T (1)(2) I</a:t>
            </a:r>
            <a:r>
              <a:rPr lang="en-US" altLang="zh-CN" sz="2800" b="1" baseline="-25000" dirty="0">
                <a:latin typeface="宋体" panose="02010600030101010101" pitchFamily="2" charset="-122"/>
              </a:rPr>
              <a:t>12</a:t>
            </a:r>
            <a:r>
              <a:rPr lang="en-US" altLang="zh-CN" sz="2800" b="1" dirty="0">
                <a:latin typeface="宋体" panose="02010600030101010101" pitchFamily="2" charset="-122"/>
              </a:rPr>
              <a:t>  </a:t>
            </a:r>
            <a:endParaRPr lang="en-US" altLang="zh-CN" sz="2800" b="1" dirty="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 sz="2800" b="1" dirty="0">
                <a:latin typeface="宋体" panose="02010600030101010101" pitchFamily="2" charset="-122"/>
              </a:rPr>
              <a:t>(4) </a:t>
            </a:r>
            <a:r>
              <a:rPr lang="en-US" altLang="zh-CN" sz="2800" b="1" dirty="0">
                <a:sym typeface="Symbol" panose="05050102010706020507" pitchFamily="18" charset="2"/>
              </a:rPr>
              <a:t></a:t>
            </a:r>
            <a:r>
              <a:rPr lang="en-US" altLang="zh-CN" sz="2800" b="1" dirty="0">
                <a:latin typeface="宋体" panose="02010600030101010101" pitchFamily="2" charset="-122"/>
              </a:rPr>
              <a:t>R→P       P</a:t>
            </a:r>
            <a:endParaRPr lang="en-US" altLang="zh-CN" sz="2800" b="1" dirty="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 sz="2800" b="1" dirty="0">
                <a:latin typeface="宋体" panose="02010600030101010101" pitchFamily="2" charset="-122"/>
              </a:rPr>
              <a:t>(5) </a:t>
            </a:r>
            <a:r>
              <a:rPr lang="en-US" altLang="zh-CN" sz="2800" b="1" dirty="0">
                <a:sym typeface="Symbol" panose="05050102010706020507" pitchFamily="18" charset="2"/>
              </a:rPr>
              <a:t></a:t>
            </a:r>
            <a:r>
              <a:rPr lang="en-US" altLang="zh-CN" sz="2800" b="1" dirty="0">
                <a:latin typeface="宋体" panose="02010600030101010101" pitchFamily="2" charset="-122"/>
              </a:rPr>
              <a:t>R        T (3)(4) I</a:t>
            </a:r>
            <a:r>
              <a:rPr lang="en-US" altLang="zh-CN" sz="2800" b="1" baseline="-25000" dirty="0">
                <a:latin typeface="宋体" panose="02010600030101010101" pitchFamily="2" charset="-122"/>
              </a:rPr>
              <a:t>12</a:t>
            </a:r>
            <a:r>
              <a:rPr lang="en-US" altLang="zh-CN" sz="2800" b="1" dirty="0">
                <a:latin typeface="宋体" panose="02010600030101010101" pitchFamily="2" charset="-122"/>
              </a:rPr>
              <a:t> </a:t>
            </a:r>
            <a:endParaRPr lang="en-US" altLang="zh-CN" sz="2800" b="1" dirty="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 sz="2800" b="1" dirty="0">
                <a:latin typeface="宋体" panose="02010600030101010101" pitchFamily="2" charset="-122"/>
              </a:rPr>
              <a:t>(6)  R          T (5)    E</a:t>
            </a:r>
            <a:r>
              <a:rPr lang="en-US" altLang="zh-CN" sz="2800" b="1" baseline="-25000" dirty="0">
                <a:latin typeface="宋体" panose="02010600030101010101" pitchFamily="2" charset="-122"/>
              </a:rPr>
              <a:t>1</a:t>
            </a:r>
            <a:endParaRPr lang="en-US" altLang="zh-CN" sz="2800" b="1" baseline="-25000" dirty="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endParaRPr lang="en-US" altLang="zh-CN" sz="2800" b="1" dirty="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zh-CN" altLang="en-US" sz="2800" b="1" dirty="0">
                <a:latin typeface="宋体" panose="02010600030101010101" pitchFamily="2" charset="-122"/>
              </a:rPr>
              <a:t>注：公式</a:t>
            </a:r>
            <a:r>
              <a:rPr lang="en-US" altLang="zh-CN" sz="2800" b="1" dirty="0">
                <a:latin typeface="宋体" panose="02010600030101010101" pitchFamily="2" charset="-122"/>
              </a:rPr>
              <a:t>I</a:t>
            </a:r>
            <a:r>
              <a:rPr lang="en-US" altLang="zh-CN" sz="2800" b="1" baseline="-25000" dirty="0">
                <a:latin typeface="宋体" panose="02010600030101010101" pitchFamily="2" charset="-122"/>
              </a:rPr>
              <a:t>12</a:t>
            </a:r>
            <a:r>
              <a:rPr lang="zh-CN" altLang="en-US" sz="2800" b="1" dirty="0">
                <a:latin typeface="宋体" panose="02010600030101010101" pitchFamily="2" charset="-122"/>
              </a:rPr>
              <a:t>为： </a:t>
            </a:r>
            <a:r>
              <a:rPr lang="zh-CN" altLang="en-US" sz="2800" b="1" dirty="0">
                <a:sym typeface="Symbol" panose="05050102010706020507" pitchFamily="18" charset="2"/>
              </a:rPr>
              <a:t></a:t>
            </a:r>
            <a:r>
              <a:rPr lang="en-US" altLang="zh-CN" sz="2800" b="1" dirty="0">
                <a:latin typeface="宋体" panose="02010600030101010101" pitchFamily="2" charset="-122"/>
              </a:rPr>
              <a:t>Q</a:t>
            </a:r>
            <a:r>
              <a:rPr lang="zh-CN" altLang="en-US" sz="2800" b="1" dirty="0">
                <a:latin typeface="宋体" panose="02010600030101010101" pitchFamily="2" charset="-122"/>
              </a:rPr>
              <a:t>，</a:t>
            </a:r>
            <a:r>
              <a:rPr lang="en-US" altLang="zh-CN" sz="2800" b="1" dirty="0">
                <a:latin typeface="宋体" panose="02010600030101010101" pitchFamily="2" charset="-122"/>
              </a:rPr>
              <a:t>P→Q </a:t>
            </a:r>
            <a:r>
              <a:rPr lang="en-US" altLang="zh-CN" sz="2800" b="1" dirty="0">
                <a:sym typeface="Symbol" panose="05050102010706020507" pitchFamily="18" charset="2"/>
              </a:rPr>
              <a:t> </a:t>
            </a:r>
            <a:r>
              <a:rPr lang="en-US" altLang="zh-CN" sz="2800" b="1" dirty="0">
                <a:latin typeface="宋体" panose="02010600030101010101" pitchFamily="2" charset="-122"/>
              </a:rPr>
              <a:t>P</a:t>
            </a:r>
            <a:endParaRPr lang="en-US" altLang="zh-CN" sz="2800" b="1" dirty="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 sz="2800" b="1" dirty="0">
                <a:latin typeface="宋体" panose="02010600030101010101" pitchFamily="2" charset="-122"/>
              </a:rPr>
              <a:t>    </a:t>
            </a:r>
            <a:r>
              <a:rPr lang="zh-CN" altLang="en-US" sz="2800" b="1" dirty="0">
                <a:latin typeface="宋体" panose="02010600030101010101" pitchFamily="2" charset="-122"/>
              </a:rPr>
              <a:t>公式</a:t>
            </a:r>
            <a:r>
              <a:rPr lang="en-US" altLang="zh-CN" sz="2800" b="1" dirty="0">
                <a:latin typeface="宋体" panose="02010600030101010101" pitchFamily="2" charset="-122"/>
              </a:rPr>
              <a:t>E</a:t>
            </a:r>
            <a:r>
              <a:rPr lang="en-US" altLang="zh-CN" sz="2800" b="1" baseline="-25000" dirty="0">
                <a:latin typeface="宋体" panose="02010600030101010101" pitchFamily="2" charset="-122"/>
              </a:rPr>
              <a:t>1 </a:t>
            </a:r>
            <a:r>
              <a:rPr lang="zh-CN" altLang="en-US" sz="2800" b="1" dirty="0">
                <a:latin typeface="宋体" panose="02010600030101010101" pitchFamily="2" charset="-122"/>
              </a:rPr>
              <a:t>为： </a:t>
            </a:r>
            <a:r>
              <a:rPr lang="zh-CN" altLang="en-US" sz="2800" b="1" dirty="0">
                <a:sym typeface="Symbol" panose="05050102010706020507" pitchFamily="18" charset="2"/>
              </a:rPr>
              <a:t></a:t>
            </a:r>
            <a:r>
              <a:rPr lang="en-US" altLang="zh-CN" sz="2800" b="1" dirty="0">
                <a:latin typeface="宋体" panose="02010600030101010101" pitchFamily="2" charset="-122"/>
              </a:rPr>
              <a:t>R</a:t>
            </a:r>
            <a:r>
              <a:rPr lang="en-US" altLang="zh-CN" sz="2800" b="1" dirty="0">
                <a:sym typeface="Symbol" panose="05050102010706020507" pitchFamily="18" charset="2"/>
              </a:rPr>
              <a:t>R</a:t>
            </a:r>
            <a:r>
              <a:rPr lang="en-US" altLang="zh-CN" sz="2800" b="1" dirty="0">
                <a:latin typeface="宋体" panose="02010600030101010101" pitchFamily="2" charset="-122"/>
              </a:rPr>
              <a:t> </a:t>
            </a:r>
            <a:endParaRPr lang="en-US" altLang="zh-CN" sz="2800" b="1" dirty="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下面同学动手作练习  第</a:t>
            </a:r>
            <a:r>
              <a: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46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页 </a:t>
            </a:r>
            <a:r>
              <a: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(1) b)</a:t>
            </a:r>
            <a:endParaRPr lang="en-US" altLang="zh-CN" sz="2800" b="1" dirty="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>
    <p:strips dir="l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697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69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69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69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69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69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69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69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69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269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269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979" grpId="0" autoUpdateAnimBg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12995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FF00FF"/>
            </a:solidFill>
            <a:miter lim="800000"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b="1">
                <a:latin typeface="宋体" panose="02010600030101010101" pitchFamily="2" charset="-122"/>
              </a:rPr>
              <a:t>第</a:t>
            </a:r>
            <a:r>
              <a:rPr lang="en-US" altLang="zh-CN" b="1">
                <a:latin typeface="宋体" panose="02010600030101010101" pitchFamily="2" charset="-122"/>
              </a:rPr>
              <a:t>46</a:t>
            </a:r>
            <a:r>
              <a:rPr lang="zh-CN" altLang="en-US" b="1">
                <a:latin typeface="宋体" panose="02010600030101010101" pitchFamily="2" charset="-122"/>
              </a:rPr>
              <a:t>页 </a:t>
            </a:r>
            <a:r>
              <a:rPr lang="en-US" altLang="zh-CN" b="1">
                <a:latin typeface="宋体" panose="02010600030101010101" pitchFamily="2" charset="-122"/>
              </a:rPr>
              <a:t>(1) b)</a:t>
            </a:r>
            <a:endParaRPr lang="en-US" altLang="zh-CN" b="1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 b="1">
                <a:latin typeface="宋体" panose="02010600030101010101" pitchFamily="2" charset="-122"/>
              </a:rPr>
              <a:t>J→(M∨N)</a:t>
            </a:r>
            <a:r>
              <a:rPr lang="zh-CN" altLang="en-US" b="1">
                <a:latin typeface="宋体" panose="02010600030101010101" pitchFamily="2" charset="-122"/>
              </a:rPr>
              <a:t>，</a:t>
            </a:r>
            <a:r>
              <a:rPr lang="en-US" altLang="zh-CN" b="1">
                <a:latin typeface="宋体" panose="02010600030101010101" pitchFamily="2" charset="-122"/>
              </a:rPr>
              <a:t>(H∨G)→J</a:t>
            </a:r>
            <a:r>
              <a:rPr lang="zh-CN" altLang="en-US" b="1">
                <a:latin typeface="宋体" panose="02010600030101010101" pitchFamily="2" charset="-122"/>
              </a:rPr>
              <a:t>，</a:t>
            </a:r>
            <a:r>
              <a:rPr lang="en-US" altLang="zh-CN" b="1">
                <a:latin typeface="宋体" panose="02010600030101010101" pitchFamily="2" charset="-122"/>
              </a:rPr>
              <a:t>H∨G </a:t>
            </a:r>
            <a:r>
              <a:rPr lang="en-US" altLang="zh-CN" b="1">
                <a:sym typeface="Symbol" panose="05050102010706020507" pitchFamily="18" charset="2"/>
              </a:rPr>
              <a:t> M</a:t>
            </a:r>
            <a:r>
              <a:rPr lang="en-US" altLang="zh-CN" b="1">
                <a:latin typeface="宋体" panose="02010600030101010101" pitchFamily="2" charset="-122"/>
              </a:rPr>
              <a:t>∨N</a:t>
            </a:r>
            <a:endParaRPr lang="en-US" altLang="zh-CN" b="1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 b="1">
                <a:latin typeface="宋体" panose="02010600030101010101" pitchFamily="2" charset="-122"/>
              </a:rPr>
              <a:t>(1) H∨G        P</a:t>
            </a:r>
            <a:endParaRPr lang="en-US" altLang="zh-CN" b="1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 b="1">
                <a:latin typeface="宋体" panose="02010600030101010101" pitchFamily="2" charset="-122"/>
              </a:rPr>
              <a:t>(2)(H∨G)→J    P </a:t>
            </a:r>
            <a:endParaRPr lang="en-US" altLang="zh-CN" b="1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 b="1">
                <a:latin typeface="宋体" panose="02010600030101010101" pitchFamily="2" charset="-122"/>
              </a:rPr>
              <a:t>(3) </a:t>
            </a:r>
            <a:r>
              <a:rPr lang="en-US" altLang="zh-CN" b="1">
                <a:sym typeface="Symbol" panose="05050102010706020507" pitchFamily="18" charset="2"/>
              </a:rPr>
              <a:t>J</a:t>
            </a:r>
            <a:r>
              <a:rPr lang="en-US" altLang="zh-CN" b="1">
                <a:latin typeface="宋体" panose="02010600030101010101" pitchFamily="2" charset="-122"/>
              </a:rPr>
              <a:t>           T (1)(2) I</a:t>
            </a:r>
            <a:r>
              <a:rPr lang="en-US" altLang="zh-CN" b="1" baseline="-25000">
                <a:latin typeface="宋体" panose="02010600030101010101" pitchFamily="2" charset="-122"/>
              </a:rPr>
              <a:t>11</a:t>
            </a:r>
            <a:r>
              <a:rPr lang="en-US" altLang="zh-CN" b="1">
                <a:latin typeface="宋体" panose="02010600030101010101" pitchFamily="2" charset="-122"/>
              </a:rPr>
              <a:t>  </a:t>
            </a:r>
            <a:endParaRPr lang="en-US" altLang="zh-CN" b="1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 b="1">
                <a:latin typeface="宋体" panose="02010600030101010101" pitchFamily="2" charset="-122"/>
              </a:rPr>
              <a:t>(4) J→(M∨N)   P</a:t>
            </a:r>
            <a:endParaRPr lang="en-US" altLang="zh-CN" b="1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 b="1">
                <a:latin typeface="宋体" panose="02010600030101010101" pitchFamily="2" charset="-122"/>
              </a:rPr>
              <a:t>(5) </a:t>
            </a:r>
            <a:r>
              <a:rPr lang="en-US" altLang="zh-CN" b="1">
                <a:sym typeface="Symbol" panose="05050102010706020507" pitchFamily="18" charset="2"/>
              </a:rPr>
              <a:t>M</a:t>
            </a:r>
            <a:r>
              <a:rPr lang="en-US" altLang="zh-CN" b="1">
                <a:latin typeface="宋体" panose="02010600030101010101" pitchFamily="2" charset="-122"/>
              </a:rPr>
              <a:t>∨N       T (3)(4) I</a:t>
            </a:r>
            <a:r>
              <a:rPr lang="en-US" altLang="zh-CN" b="1" baseline="-25000">
                <a:latin typeface="宋体" panose="02010600030101010101" pitchFamily="2" charset="-122"/>
              </a:rPr>
              <a:t>11</a:t>
            </a:r>
            <a:r>
              <a:rPr lang="en-US" altLang="zh-CN" b="1">
                <a:latin typeface="宋体" panose="02010600030101010101" pitchFamily="2" charset="-122"/>
              </a:rPr>
              <a:t> </a:t>
            </a:r>
            <a:endParaRPr lang="en-US" altLang="zh-CN" b="1">
              <a:latin typeface="宋体" panose="02010600030101010101" pitchFamily="2" charset="-122"/>
            </a:endParaRPr>
          </a:p>
          <a:p>
            <a:pPr eaLnBrk="1" hangingPunct="1"/>
            <a:endParaRPr lang="en-US" altLang="zh-CN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299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2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2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2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2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129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129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129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2995" grpId="0" autoUpdateAnimBg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8003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99CC00"/>
            </a:solidFill>
            <a:miter lim="800000"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</a:rPr>
              <a:t>例题４</a:t>
            </a:r>
            <a:r>
              <a:rPr lang="zh-CN" altLang="en-US" b="1" dirty="0">
                <a:latin typeface="宋体" panose="02010600030101010101" pitchFamily="2" charset="-122"/>
              </a:rPr>
              <a:t>求证</a:t>
            </a:r>
            <a:r>
              <a:rPr lang="en-US" altLang="zh-CN" b="1" dirty="0">
                <a:latin typeface="宋体" panose="02010600030101010101" pitchFamily="2" charset="-122"/>
              </a:rPr>
              <a:t>P→(Q→S),</a:t>
            </a:r>
            <a:r>
              <a:rPr lang="en-US" altLang="zh-CN" b="1" dirty="0">
                <a:sym typeface="Symbol" panose="05050102010706020507" pitchFamily="18" charset="2"/>
              </a:rPr>
              <a:t></a:t>
            </a:r>
            <a:r>
              <a:rPr lang="en-US" altLang="zh-CN" b="1" dirty="0">
                <a:latin typeface="宋体" panose="02010600030101010101" pitchFamily="2" charset="-122"/>
              </a:rPr>
              <a:t>R∨P,Q </a:t>
            </a:r>
            <a:r>
              <a:rPr lang="en-US" altLang="zh-CN" b="1" dirty="0">
                <a:sym typeface="Symbol" panose="05050102010706020507" pitchFamily="18" charset="2"/>
              </a:rPr>
              <a:t></a:t>
            </a:r>
            <a:r>
              <a:rPr lang="en-US" altLang="zh-CN" b="1" dirty="0">
                <a:latin typeface="宋体" panose="02010600030101010101" pitchFamily="2" charset="-122"/>
              </a:rPr>
              <a:t>R→S  </a:t>
            </a:r>
            <a:endParaRPr lang="en-US" altLang="zh-CN" b="1" dirty="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zh-CN" altLang="en-US" b="1" dirty="0">
                <a:latin typeface="宋体" panose="02010600030101010101" pitchFamily="2" charset="-122"/>
              </a:rPr>
              <a:t>证明</a:t>
            </a:r>
            <a:endParaRPr lang="en-US" altLang="zh-CN" b="1" dirty="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    (1)  P→(Q→S)   P</a:t>
            </a:r>
            <a:endParaRPr lang="en-US" altLang="zh-CN" sz="2400" b="1" dirty="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    (2) </a:t>
            </a:r>
            <a:r>
              <a:rPr lang="en-US" altLang="zh-CN" sz="2400" b="1" dirty="0">
                <a:sym typeface="Symbol" panose="05050102010706020507" pitchFamily="18" charset="2"/>
              </a:rPr>
              <a:t></a:t>
            </a:r>
            <a:r>
              <a:rPr lang="en-US" altLang="zh-CN" sz="2400" b="1" dirty="0">
                <a:latin typeface="宋体" panose="02010600030101010101" pitchFamily="2" charset="-122"/>
              </a:rPr>
              <a:t>P∨(</a:t>
            </a:r>
            <a:r>
              <a:rPr lang="en-US" altLang="zh-CN" sz="2400" b="1" dirty="0">
                <a:sym typeface="Symbol" panose="05050102010706020507" pitchFamily="18" charset="2"/>
              </a:rPr>
              <a:t></a:t>
            </a:r>
            <a:r>
              <a:rPr lang="en-US" altLang="zh-CN" sz="2400" b="1" dirty="0">
                <a:latin typeface="宋体" panose="02010600030101010101" pitchFamily="2" charset="-122"/>
              </a:rPr>
              <a:t>Q∨S) T (1)    E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16</a:t>
            </a:r>
            <a:endParaRPr lang="en-US" altLang="zh-CN" sz="2400" b="1" baseline="-25000" dirty="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    (3) </a:t>
            </a:r>
            <a:r>
              <a:rPr lang="en-US" altLang="zh-CN" sz="2400" b="1" dirty="0">
                <a:sym typeface="Symbol" panose="05050102010706020507" pitchFamily="18" charset="2"/>
              </a:rPr>
              <a:t></a:t>
            </a:r>
            <a:r>
              <a:rPr lang="en-US" altLang="zh-CN" sz="2400" b="1" dirty="0">
                <a:latin typeface="宋体" panose="02010600030101010101" pitchFamily="2" charset="-122"/>
              </a:rPr>
              <a:t>P∨(S∨</a:t>
            </a:r>
            <a:r>
              <a:rPr lang="en-US" altLang="zh-CN" sz="2400" b="1" dirty="0">
                <a:sym typeface="Symbol" panose="05050102010706020507" pitchFamily="18" charset="2"/>
              </a:rPr>
              <a:t></a:t>
            </a:r>
            <a:r>
              <a:rPr lang="en-US" altLang="zh-CN" sz="2400" b="1" dirty="0">
                <a:latin typeface="宋体" panose="02010600030101010101" pitchFamily="2" charset="-122"/>
              </a:rPr>
              <a:t>Q) T (2)    E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3</a:t>
            </a:r>
            <a:endParaRPr lang="en-US" altLang="zh-CN" sz="2400" b="1" dirty="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    (4) (</a:t>
            </a:r>
            <a:r>
              <a:rPr lang="en-US" altLang="zh-CN" sz="2400" b="1" dirty="0">
                <a:sym typeface="Symbol" panose="05050102010706020507" pitchFamily="18" charset="2"/>
              </a:rPr>
              <a:t></a:t>
            </a:r>
            <a:r>
              <a:rPr lang="en-US" altLang="zh-CN" sz="2400" b="1" dirty="0">
                <a:latin typeface="宋体" panose="02010600030101010101" pitchFamily="2" charset="-122"/>
              </a:rPr>
              <a:t>P∨S)∨</a:t>
            </a:r>
            <a:r>
              <a:rPr lang="en-US" altLang="zh-CN" sz="2400" b="1" dirty="0">
                <a:sym typeface="Symbol" panose="05050102010706020507" pitchFamily="18" charset="2"/>
              </a:rPr>
              <a:t></a:t>
            </a:r>
            <a:r>
              <a:rPr lang="en-US" altLang="zh-CN" sz="2400" b="1" dirty="0">
                <a:latin typeface="宋体" panose="02010600030101010101" pitchFamily="2" charset="-122"/>
              </a:rPr>
              <a:t>Q T (3)    E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5</a:t>
            </a:r>
            <a:r>
              <a:rPr lang="en-US" altLang="zh-CN" sz="2400" b="1" dirty="0">
                <a:latin typeface="宋体" panose="02010600030101010101" pitchFamily="2" charset="-122"/>
              </a:rPr>
              <a:t> </a:t>
            </a:r>
            <a:endParaRPr lang="en-US" altLang="zh-CN" sz="2400" b="1" dirty="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    (5)  Q           P  </a:t>
            </a:r>
            <a:endParaRPr lang="en-US" altLang="zh-CN" sz="2400" b="1" dirty="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    (6) </a:t>
            </a:r>
            <a:r>
              <a:rPr lang="en-US" altLang="zh-CN" sz="2400" b="1" dirty="0">
                <a:sym typeface="Symbol" panose="05050102010706020507" pitchFamily="18" charset="2"/>
              </a:rPr>
              <a:t></a:t>
            </a:r>
            <a:r>
              <a:rPr lang="en-US" altLang="zh-CN" sz="2400" b="1" dirty="0">
                <a:latin typeface="宋体" panose="02010600030101010101" pitchFamily="2" charset="-122"/>
              </a:rPr>
              <a:t>P∨S       T (4)(5) I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10</a:t>
            </a:r>
            <a:endParaRPr lang="en-US" altLang="zh-CN" sz="2400" b="1" dirty="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    (7)  P→S        T (6)    E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16</a:t>
            </a:r>
            <a:endParaRPr lang="en-US" altLang="zh-CN" sz="2400" b="1" baseline="-25000" dirty="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    (8) </a:t>
            </a:r>
            <a:r>
              <a:rPr lang="en-US" altLang="zh-CN" sz="2400" b="1" dirty="0">
                <a:sym typeface="Symbol" panose="05050102010706020507" pitchFamily="18" charset="2"/>
              </a:rPr>
              <a:t></a:t>
            </a:r>
            <a:r>
              <a:rPr lang="en-US" altLang="zh-CN" sz="2400" b="1" dirty="0">
                <a:latin typeface="宋体" panose="02010600030101010101" pitchFamily="2" charset="-122"/>
              </a:rPr>
              <a:t>R∨P        P</a:t>
            </a:r>
            <a:endParaRPr lang="en-US" altLang="zh-CN" sz="2400" b="1" dirty="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    (9)  R→P        T (8)    E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16</a:t>
            </a:r>
            <a:endParaRPr lang="en-US" altLang="zh-CN" sz="2400" b="1" dirty="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   (10)  R→S        T (7)(9) I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13</a:t>
            </a:r>
            <a:endParaRPr lang="en-US" altLang="zh-CN" sz="2400" b="1" baseline="-25000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800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80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80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80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80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80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80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80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80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280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280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280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2800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003" grpId="0" autoUpdateAnimBg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二、条件论证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129027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FF00FF"/>
            </a:solidFill>
            <a:miter lim="800000"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『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回顾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』</a:t>
            </a:r>
            <a:r>
              <a:rPr lang="en-US" altLang="zh-CN" b="1" dirty="0">
                <a:solidFill>
                  <a:srgbClr val="FF0000"/>
                </a:solidFill>
                <a:latin typeface="宋体" panose="02010600030101010101" pitchFamily="2" charset="-122"/>
              </a:rPr>
              <a:t>E</a:t>
            </a:r>
            <a:r>
              <a:rPr lang="en-US" altLang="zh-CN" b="1" baseline="-25000" dirty="0">
                <a:solidFill>
                  <a:srgbClr val="FF0000"/>
                </a:solidFill>
                <a:latin typeface="宋体" panose="02010600030101010101" pitchFamily="2" charset="-122"/>
              </a:rPr>
              <a:t>19</a:t>
            </a:r>
            <a:r>
              <a:rPr lang="en-US" altLang="zh-CN" b="1" dirty="0">
                <a:solidFill>
                  <a:srgbClr val="FF0000"/>
                </a:solidFill>
                <a:latin typeface="宋体" panose="02010600030101010101" pitchFamily="2" charset="-122"/>
              </a:rPr>
              <a:t>: P</a:t>
            </a:r>
            <a:r>
              <a:rPr lang="en-US" altLang="zh-CN" b="1" dirty="0">
                <a:solidFill>
                  <a:srgbClr val="FF0000"/>
                </a:solidFill>
                <a:sym typeface="Symbol" panose="05050102010706020507" pitchFamily="18" charset="2"/>
              </a:rPr>
              <a:t></a:t>
            </a:r>
            <a:r>
              <a:rPr lang="en-US" altLang="zh-CN" b="1" dirty="0">
                <a:solidFill>
                  <a:srgbClr val="FF0000"/>
                </a:solidFill>
                <a:latin typeface="宋体" panose="02010600030101010101" pitchFamily="2" charset="-122"/>
              </a:rPr>
              <a:t>(Q→R)</a:t>
            </a:r>
            <a:r>
              <a:rPr lang="en-US" altLang="zh-CN" b="1" dirty="0">
                <a:solidFill>
                  <a:srgbClr val="FF0000"/>
                </a:solidFill>
                <a:sym typeface="Symbol" panose="05050102010706020507" pitchFamily="18" charset="2"/>
              </a:rPr>
              <a:t></a:t>
            </a:r>
            <a:r>
              <a:rPr lang="en-US" altLang="zh-CN" b="1" dirty="0">
                <a:solidFill>
                  <a:srgbClr val="FF0000"/>
                </a:solidFill>
                <a:latin typeface="宋体" panose="02010600030101010101" pitchFamily="2" charset="-122"/>
              </a:rPr>
              <a:t>(P∧Q)→R</a:t>
            </a:r>
            <a:r>
              <a:rPr lang="en-US" altLang="zh-CN" b="1" dirty="0">
                <a:latin typeface="宋体" panose="02010600030101010101" pitchFamily="2" charset="-122"/>
              </a:rPr>
              <a:t> </a:t>
            </a:r>
            <a:endParaRPr lang="en-US" altLang="zh-CN" b="1" dirty="0">
              <a:latin typeface="宋体" panose="02010600030101010101" pitchFamily="2" charset="-122"/>
            </a:endParaRPr>
          </a:p>
          <a:p>
            <a:pPr>
              <a:buNone/>
            </a:pP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『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回顾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』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如果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B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，且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A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为永真式，则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B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也为永真式</a:t>
            </a:r>
            <a:endParaRPr lang="en-US" altLang="zh-CN" b="1" dirty="0">
              <a:latin typeface="黑体" panose="02010609060101010101" pitchFamily="49" charset="-122"/>
              <a:ea typeface="黑体" panose="02010609060101010101" pitchFamily="49" charset="-122"/>
              <a:sym typeface="Symbol" panose="05050102010706020507" pitchFamily="18" charset="2"/>
            </a:endParaRPr>
          </a:p>
          <a:p>
            <a:pPr>
              <a:buNone/>
            </a:pPr>
            <a:r>
              <a:rPr lang="zh-CN" altLang="en-US" b="1" dirty="0">
                <a:latin typeface="宋体" panose="02010600030101010101" pitchFamily="2" charset="-122"/>
              </a:rPr>
              <a:t>所以，对于下面的等价式：</a:t>
            </a:r>
            <a:endParaRPr lang="en-US" altLang="zh-CN" b="1" dirty="0">
              <a:latin typeface="宋体" panose="02010600030101010101" pitchFamily="2" charset="-122"/>
            </a:endParaRPr>
          </a:p>
          <a:p>
            <a:pPr algn="ctr">
              <a:buNone/>
            </a:pPr>
            <a:r>
              <a:rPr lang="en-US" altLang="zh-CN" b="1" dirty="0">
                <a:solidFill>
                  <a:srgbClr val="FF0000"/>
                </a:solidFill>
                <a:latin typeface="宋体" panose="02010600030101010101" pitchFamily="2" charset="-122"/>
              </a:rPr>
              <a:t>A</a:t>
            </a:r>
            <a:r>
              <a:rPr lang="en-US" altLang="zh-CN" b="1" dirty="0">
                <a:solidFill>
                  <a:srgbClr val="FF0000"/>
                </a:solidFill>
                <a:sym typeface="Symbol" panose="05050102010706020507" pitchFamily="18" charset="2"/>
              </a:rPr>
              <a:t></a:t>
            </a:r>
            <a:r>
              <a:rPr lang="en-US" altLang="zh-CN" b="1" dirty="0">
                <a:solidFill>
                  <a:srgbClr val="FF0000"/>
                </a:solidFill>
                <a:latin typeface="宋体" panose="02010600030101010101" pitchFamily="2" charset="-122"/>
              </a:rPr>
              <a:t>(B→C)</a:t>
            </a:r>
            <a:r>
              <a:rPr lang="en-US" altLang="zh-CN" b="1" dirty="0">
                <a:solidFill>
                  <a:srgbClr val="FF0000"/>
                </a:solidFill>
                <a:sym typeface="Symbol" panose="05050102010706020507" pitchFamily="18" charset="2"/>
              </a:rPr>
              <a:t> </a:t>
            </a:r>
            <a:r>
              <a:rPr lang="en-US" altLang="zh-CN" b="1" dirty="0">
                <a:solidFill>
                  <a:srgbClr val="FF0000"/>
                </a:solidFill>
                <a:latin typeface="宋体" panose="02010600030101010101" pitchFamily="2" charset="-122"/>
              </a:rPr>
              <a:t>(A∧B)→C</a:t>
            </a:r>
            <a:endParaRPr lang="en-US" altLang="zh-CN" b="1" dirty="0">
              <a:latin typeface="黑体" panose="02010609060101010101" pitchFamily="49" charset="-122"/>
              <a:ea typeface="黑体" panose="02010609060101010101" pitchFamily="49" charset="-122"/>
              <a:sym typeface="Symbol" panose="05050102010706020507" pitchFamily="18" charset="2"/>
            </a:endParaRPr>
          </a:p>
          <a:p>
            <a:pPr>
              <a:buNone/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若：</a:t>
            </a:r>
            <a:r>
              <a:rPr lang="en-US" altLang="zh-CN" b="1" dirty="0">
                <a:latin typeface="宋体" panose="02010600030101010101" pitchFamily="2" charset="-122"/>
              </a:rPr>
              <a:t>(A∧B)→C</a:t>
            </a:r>
            <a:r>
              <a:rPr lang="zh-CN" altLang="en-US" b="1" dirty="0">
                <a:latin typeface="宋体" panose="02010600030101010101" pitchFamily="2" charset="-122"/>
              </a:rPr>
              <a:t>为永真式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b="1" dirty="0">
                <a:latin typeface="宋体" panose="02010600030101010101" pitchFamily="2" charset="-122"/>
              </a:rPr>
              <a:t>(A∧B)</a:t>
            </a:r>
            <a:r>
              <a:rPr lang="en-US" altLang="zh-CN" b="1" dirty="0">
                <a:sym typeface="Symbol" panose="05050102010706020507" pitchFamily="18" charset="2"/>
              </a:rPr>
              <a:t>  C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</a:rPr>
              <a:t>）</a:t>
            </a:r>
            <a:endParaRPr lang="en-US" altLang="zh-CN" b="1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>
              <a:buNone/>
            </a:pPr>
            <a:r>
              <a:rPr lang="zh-CN" altLang="en-US" b="1" dirty="0">
                <a:latin typeface="宋体" panose="02010600030101010101" pitchFamily="2" charset="-122"/>
                <a:ea typeface="黑体" panose="02010609060101010101" pitchFamily="49" charset="-122"/>
                <a:sym typeface="Symbol" panose="05050102010706020507" pitchFamily="18" charset="2"/>
              </a:rPr>
              <a:t>则：</a:t>
            </a:r>
            <a:r>
              <a:rPr lang="en-US" altLang="zh-CN" b="1" dirty="0">
                <a:latin typeface="宋体" panose="02010600030101010101" pitchFamily="2" charset="-122"/>
              </a:rPr>
              <a:t>A</a:t>
            </a:r>
            <a:r>
              <a:rPr lang="en-US" altLang="zh-CN" b="1" dirty="0">
                <a:sym typeface="Symbol" panose="05050102010706020507" pitchFamily="18" charset="2"/>
              </a:rPr>
              <a:t></a:t>
            </a:r>
            <a:r>
              <a:rPr lang="en-US" altLang="zh-CN" b="1" dirty="0">
                <a:latin typeface="宋体" panose="02010600030101010101" pitchFamily="2" charset="-122"/>
              </a:rPr>
              <a:t>(B→C)</a:t>
            </a:r>
            <a:r>
              <a:rPr lang="zh-CN" altLang="en-US" b="1" dirty="0">
                <a:latin typeface="宋体" panose="02010600030101010101" pitchFamily="2" charset="-122"/>
              </a:rPr>
              <a:t>为永真式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</a:rPr>
              <a:t>（ </a:t>
            </a:r>
            <a:r>
              <a:rPr lang="en-US" altLang="zh-CN" b="1" dirty="0">
                <a:latin typeface="宋体" panose="02010600030101010101" pitchFamily="2" charset="-122"/>
              </a:rPr>
              <a:t>A</a:t>
            </a:r>
            <a:r>
              <a:rPr lang="en-US" altLang="zh-CN" b="1" dirty="0">
                <a:sym typeface="Symbol" panose="05050102010706020507" pitchFamily="18" charset="2"/>
              </a:rPr>
              <a:t> </a:t>
            </a:r>
            <a:r>
              <a:rPr lang="en-US" altLang="zh-CN" b="1" dirty="0">
                <a:latin typeface="宋体" panose="02010600030101010101" pitchFamily="2" charset="-122"/>
              </a:rPr>
              <a:t>(B→C)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</a:rPr>
              <a:t>）</a:t>
            </a:r>
            <a:endParaRPr lang="en-US" altLang="zh-CN" b="1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>
              <a:buNone/>
            </a:pPr>
            <a:endParaRPr lang="en-US" altLang="zh-CN" b="1" dirty="0">
              <a:solidFill>
                <a:srgbClr val="FF0000"/>
              </a:solidFill>
              <a:latin typeface="宋体" panose="02010600030101010101" pitchFamily="2" charset="-122"/>
              <a:ea typeface="黑体" panose="02010609060101010101" pitchFamily="49" charset="-122"/>
              <a:sym typeface="Symbol" panose="05050102010706020507" pitchFamily="18" charset="2"/>
            </a:endParaRPr>
          </a:p>
          <a:p>
            <a:pPr>
              <a:buNone/>
            </a:pP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黑体" panose="02010609060101010101" pitchFamily="49" charset="-122"/>
                <a:sym typeface="Symbol" panose="05050102010706020507" pitchFamily="18" charset="2"/>
              </a:rPr>
              <a:t>这就是条件论证的基本理论依据</a:t>
            </a:r>
            <a:endParaRPr lang="en-US" altLang="zh-CN" b="1" dirty="0">
              <a:latin typeface="黑体" panose="02010609060101010101" pitchFamily="49" charset="-122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902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9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9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9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9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9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90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90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027" grpId="0" autoUpdateAnimBg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二、条件论证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129027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FF00FF"/>
            </a:solidFill>
            <a:miter lim="800000"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定理</a:t>
            </a: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1-7.1</a:t>
            </a:r>
            <a:r>
              <a:rPr lang="en-US" altLang="zh-CN" b="1" dirty="0">
                <a:latin typeface="宋体" panose="02010600030101010101" pitchFamily="2" charset="-122"/>
              </a:rPr>
              <a:t> </a:t>
            </a:r>
            <a:r>
              <a:rPr lang="zh-CN" altLang="en-US" b="1" dirty="0">
                <a:latin typeface="宋体" panose="02010600030101010101" pitchFamily="2" charset="-122"/>
              </a:rPr>
              <a:t>如果</a:t>
            </a:r>
            <a:r>
              <a:rPr lang="en-US" altLang="zh-CN" b="1" dirty="0">
                <a:latin typeface="宋体" panose="02010600030101010101" pitchFamily="2" charset="-122"/>
              </a:rPr>
              <a:t>H</a:t>
            </a:r>
            <a:r>
              <a:rPr lang="en-US" altLang="zh-CN" b="1" baseline="-25000" dirty="0">
                <a:latin typeface="宋体" panose="02010600030101010101" pitchFamily="2" charset="-122"/>
              </a:rPr>
              <a:t>1</a:t>
            </a:r>
            <a:r>
              <a:rPr lang="en-US" altLang="zh-CN" b="1" dirty="0">
                <a:latin typeface="宋体" panose="02010600030101010101" pitchFamily="2" charset="-122"/>
              </a:rPr>
              <a:t>∧H</a:t>
            </a:r>
            <a:r>
              <a:rPr lang="en-US" altLang="zh-CN" b="1" baseline="-25000" dirty="0">
                <a:latin typeface="宋体" panose="02010600030101010101" pitchFamily="2" charset="-122"/>
              </a:rPr>
              <a:t>2</a:t>
            </a:r>
            <a:r>
              <a:rPr lang="en-US" altLang="zh-CN" b="1" dirty="0">
                <a:latin typeface="宋体" panose="02010600030101010101" pitchFamily="2" charset="-122"/>
              </a:rPr>
              <a:t>∧...∧</a:t>
            </a:r>
            <a:r>
              <a:rPr lang="en-US" altLang="zh-CN" b="1" dirty="0" err="1">
                <a:latin typeface="宋体" panose="02010600030101010101" pitchFamily="2" charset="-122"/>
              </a:rPr>
              <a:t>H</a:t>
            </a:r>
            <a:r>
              <a:rPr lang="en-US" altLang="zh-CN" b="1" baseline="-25000" dirty="0" err="1">
                <a:latin typeface="宋体" panose="02010600030101010101" pitchFamily="2" charset="-122"/>
              </a:rPr>
              <a:t>n</a:t>
            </a:r>
            <a:r>
              <a:rPr lang="en-US" altLang="zh-CN" b="1" dirty="0" err="1">
                <a:latin typeface="宋体" panose="02010600030101010101" pitchFamily="2" charset="-122"/>
              </a:rPr>
              <a:t>∧R</a:t>
            </a:r>
            <a:r>
              <a:rPr lang="en-US" altLang="zh-CN" b="1" dirty="0">
                <a:sym typeface="Symbol" panose="05050102010706020507" pitchFamily="18" charset="2"/>
              </a:rPr>
              <a:t></a:t>
            </a:r>
            <a:r>
              <a:rPr lang="zh-CN" altLang="en-US" b="1" dirty="0">
                <a:latin typeface="宋体" panose="02010600030101010101" pitchFamily="2" charset="-122"/>
              </a:rPr>
              <a:t>Ｓ，</a:t>
            </a:r>
            <a:endParaRPr lang="zh-CN" altLang="en-US" b="1" dirty="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zh-CN" altLang="en-US" b="1" dirty="0">
                <a:latin typeface="宋体" panose="02010600030101010101" pitchFamily="2" charset="-122"/>
              </a:rPr>
              <a:t>则 </a:t>
            </a:r>
            <a:r>
              <a:rPr lang="en-US" altLang="zh-CN" b="1" dirty="0">
                <a:latin typeface="宋体" panose="02010600030101010101" pitchFamily="2" charset="-122"/>
              </a:rPr>
              <a:t>H</a:t>
            </a:r>
            <a:r>
              <a:rPr lang="en-US" altLang="zh-CN" b="1" baseline="-25000" dirty="0">
                <a:latin typeface="宋体" panose="02010600030101010101" pitchFamily="2" charset="-122"/>
              </a:rPr>
              <a:t>1</a:t>
            </a:r>
            <a:r>
              <a:rPr lang="en-US" altLang="zh-CN" b="1" dirty="0">
                <a:latin typeface="宋体" panose="02010600030101010101" pitchFamily="2" charset="-122"/>
              </a:rPr>
              <a:t>∧H</a:t>
            </a:r>
            <a:r>
              <a:rPr lang="en-US" altLang="zh-CN" b="1" baseline="-25000" dirty="0">
                <a:latin typeface="宋体" panose="02010600030101010101" pitchFamily="2" charset="-122"/>
              </a:rPr>
              <a:t>2</a:t>
            </a:r>
            <a:r>
              <a:rPr lang="en-US" altLang="zh-CN" b="1" dirty="0">
                <a:latin typeface="宋体" panose="02010600030101010101" pitchFamily="2" charset="-122"/>
              </a:rPr>
              <a:t>∧...∧H</a:t>
            </a:r>
            <a:r>
              <a:rPr lang="en-US" altLang="zh-CN" b="1" baseline="-25000" dirty="0">
                <a:latin typeface="宋体" panose="02010600030101010101" pitchFamily="2" charset="-122"/>
              </a:rPr>
              <a:t>n </a:t>
            </a:r>
            <a:r>
              <a:rPr lang="en-US" altLang="zh-CN" b="1" dirty="0">
                <a:sym typeface="Symbol" panose="05050102010706020507" pitchFamily="18" charset="2"/>
              </a:rPr>
              <a:t></a:t>
            </a:r>
            <a:r>
              <a:rPr lang="en-US" altLang="zh-CN" b="1" baseline="-25000" dirty="0">
                <a:latin typeface="宋体" panose="02010600030101010101" pitchFamily="2" charset="-122"/>
              </a:rPr>
              <a:t> </a:t>
            </a:r>
            <a:r>
              <a:rPr lang="en-US" altLang="zh-CN" b="1" dirty="0">
                <a:latin typeface="宋体" panose="02010600030101010101" pitchFamily="2" charset="-122"/>
              </a:rPr>
              <a:t>R→S</a:t>
            </a:r>
            <a:endParaRPr lang="en-US" altLang="zh-CN" b="1" dirty="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证明：</a:t>
            </a:r>
            <a:r>
              <a:rPr lang="zh-CN" altLang="en-US" b="1" dirty="0">
                <a:latin typeface="宋体" panose="02010600030101010101" pitchFamily="2" charset="-122"/>
              </a:rPr>
              <a:t>因为</a:t>
            </a:r>
            <a:r>
              <a:rPr lang="en-US" altLang="zh-CN" b="1" dirty="0">
                <a:latin typeface="宋体" panose="02010600030101010101" pitchFamily="2" charset="-122"/>
              </a:rPr>
              <a:t>H</a:t>
            </a:r>
            <a:r>
              <a:rPr lang="en-US" altLang="zh-CN" b="1" baseline="-25000" dirty="0">
                <a:latin typeface="宋体" panose="02010600030101010101" pitchFamily="2" charset="-122"/>
              </a:rPr>
              <a:t>1</a:t>
            </a:r>
            <a:r>
              <a:rPr lang="en-US" altLang="zh-CN" b="1" dirty="0">
                <a:latin typeface="宋体" panose="02010600030101010101" pitchFamily="2" charset="-122"/>
              </a:rPr>
              <a:t>∧H</a:t>
            </a:r>
            <a:r>
              <a:rPr lang="en-US" altLang="zh-CN" b="1" baseline="-25000" dirty="0">
                <a:latin typeface="宋体" panose="02010600030101010101" pitchFamily="2" charset="-122"/>
              </a:rPr>
              <a:t>2</a:t>
            </a:r>
            <a:r>
              <a:rPr lang="en-US" altLang="zh-CN" b="1" dirty="0">
                <a:latin typeface="宋体" panose="02010600030101010101" pitchFamily="2" charset="-122"/>
              </a:rPr>
              <a:t>∧...∧H</a:t>
            </a:r>
            <a:r>
              <a:rPr lang="en-US" altLang="zh-CN" b="1" baseline="-25000" dirty="0">
                <a:latin typeface="宋体" panose="02010600030101010101" pitchFamily="2" charset="-122"/>
              </a:rPr>
              <a:t>n</a:t>
            </a:r>
            <a:r>
              <a:rPr lang="en-US" altLang="zh-CN" b="1" dirty="0">
                <a:latin typeface="宋体" panose="02010600030101010101" pitchFamily="2" charset="-122"/>
              </a:rPr>
              <a:t>∧</a:t>
            </a:r>
            <a:r>
              <a:rPr lang="zh-CN" altLang="en-US" b="1" dirty="0">
                <a:latin typeface="宋体" panose="02010600030101010101" pitchFamily="2" charset="-122"/>
              </a:rPr>
              <a:t>Ｒ</a:t>
            </a:r>
            <a:r>
              <a:rPr lang="zh-CN" altLang="en-US" b="1" dirty="0">
                <a:sym typeface="Symbol" panose="05050102010706020507" pitchFamily="18" charset="2"/>
              </a:rPr>
              <a:t></a:t>
            </a:r>
            <a:r>
              <a:rPr lang="zh-CN" altLang="en-US" b="1" dirty="0">
                <a:latin typeface="宋体" panose="02010600030101010101" pitchFamily="2" charset="-122"/>
              </a:rPr>
              <a:t>Ｓ</a:t>
            </a:r>
            <a:endParaRPr lang="zh-CN" altLang="en-US" b="1" dirty="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zh-CN" altLang="en-US" b="1" dirty="0">
                <a:latin typeface="宋体" panose="02010600030101010101" pitchFamily="2" charset="-122"/>
              </a:rPr>
              <a:t>则 </a:t>
            </a:r>
            <a:r>
              <a:rPr lang="en-US" altLang="zh-CN" b="1" dirty="0">
                <a:latin typeface="宋体" panose="02010600030101010101" pitchFamily="2" charset="-122"/>
              </a:rPr>
              <a:t>(H</a:t>
            </a:r>
            <a:r>
              <a:rPr lang="en-US" altLang="zh-CN" b="1" baseline="-25000" dirty="0">
                <a:latin typeface="宋体" panose="02010600030101010101" pitchFamily="2" charset="-122"/>
              </a:rPr>
              <a:t>1</a:t>
            </a:r>
            <a:r>
              <a:rPr lang="en-US" altLang="zh-CN" b="1" dirty="0">
                <a:latin typeface="宋体" panose="02010600030101010101" pitchFamily="2" charset="-122"/>
              </a:rPr>
              <a:t>∧H</a:t>
            </a:r>
            <a:r>
              <a:rPr lang="en-US" altLang="zh-CN" b="1" baseline="-25000" dirty="0">
                <a:latin typeface="宋体" panose="02010600030101010101" pitchFamily="2" charset="-122"/>
              </a:rPr>
              <a:t>2</a:t>
            </a:r>
            <a:r>
              <a:rPr lang="en-US" altLang="zh-CN" b="1" dirty="0">
                <a:latin typeface="宋体" panose="02010600030101010101" pitchFamily="2" charset="-122"/>
              </a:rPr>
              <a:t>∧...∧</a:t>
            </a:r>
            <a:r>
              <a:rPr lang="en-US" altLang="zh-CN" b="1" dirty="0" err="1">
                <a:latin typeface="宋体" panose="02010600030101010101" pitchFamily="2" charset="-122"/>
              </a:rPr>
              <a:t>H</a:t>
            </a:r>
            <a:r>
              <a:rPr lang="en-US" altLang="zh-CN" b="1" baseline="-25000" dirty="0" err="1">
                <a:latin typeface="宋体" panose="02010600030101010101" pitchFamily="2" charset="-122"/>
              </a:rPr>
              <a:t>n</a:t>
            </a:r>
            <a:r>
              <a:rPr lang="en-US" altLang="zh-CN" b="1" dirty="0" err="1">
                <a:latin typeface="宋体" panose="02010600030101010101" pitchFamily="2" charset="-122"/>
              </a:rPr>
              <a:t>∧R</a:t>
            </a:r>
            <a:r>
              <a:rPr lang="en-US" altLang="zh-CN" b="1" dirty="0">
                <a:latin typeface="宋体" panose="02010600030101010101" pitchFamily="2" charset="-122"/>
              </a:rPr>
              <a:t>)</a:t>
            </a:r>
            <a:r>
              <a:rPr lang="en-US" altLang="zh-CN" b="1" dirty="0">
                <a:sym typeface="Symbol" panose="05050102010706020507" pitchFamily="18" charset="2"/>
              </a:rPr>
              <a:t></a:t>
            </a:r>
            <a:r>
              <a:rPr lang="en-US" altLang="zh-CN" b="1" dirty="0">
                <a:latin typeface="宋体" panose="02010600030101010101" pitchFamily="2" charset="-122"/>
              </a:rPr>
              <a:t>S </a:t>
            </a:r>
            <a:r>
              <a:rPr lang="zh-CN" altLang="en-US" b="1" dirty="0">
                <a:latin typeface="宋体" panose="02010600030101010101" pitchFamily="2" charset="-122"/>
              </a:rPr>
              <a:t>是永真式。</a:t>
            </a:r>
            <a:endParaRPr lang="zh-CN" altLang="en-US" b="1" dirty="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zh-CN" altLang="en-US" b="1" dirty="0">
                <a:latin typeface="宋体" panose="02010600030101010101" pitchFamily="2" charset="-122"/>
              </a:rPr>
              <a:t>根据结合律得 </a:t>
            </a:r>
            <a:r>
              <a:rPr lang="en-US" altLang="zh-CN" b="1" dirty="0">
                <a:latin typeface="宋体" panose="02010600030101010101" pitchFamily="2" charset="-122"/>
              </a:rPr>
              <a:t>((H</a:t>
            </a:r>
            <a:r>
              <a:rPr lang="en-US" altLang="zh-CN" b="1" baseline="-25000" dirty="0">
                <a:latin typeface="宋体" panose="02010600030101010101" pitchFamily="2" charset="-122"/>
              </a:rPr>
              <a:t>1</a:t>
            </a:r>
            <a:r>
              <a:rPr lang="en-US" altLang="zh-CN" b="1" dirty="0">
                <a:latin typeface="宋体" panose="02010600030101010101" pitchFamily="2" charset="-122"/>
              </a:rPr>
              <a:t>∧H</a:t>
            </a:r>
            <a:r>
              <a:rPr lang="en-US" altLang="zh-CN" b="1" baseline="-25000" dirty="0">
                <a:latin typeface="宋体" panose="02010600030101010101" pitchFamily="2" charset="-122"/>
              </a:rPr>
              <a:t>2</a:t>
            </a:r>
            <a:r>
              <a:rPr lang="en-US" altLang="zh-CN" b="1" dirty="0">
                <a:latin typeface="宋体" panose="02010600030101010101" pitchFamily="2" charset="-122"/>
              </a:rPr>
              <a:t>∧...∧H</a:t>
            </a:r>
            <a:r>
              <a:rPr lang="en-US" altLang="zh-CN" b="1" baseline="-25000" dirty="0">
                <a:latin typeface="宋体" panose="02010600030101010101" pitchFamily="2" charset="-122"/>
              </a:rPr>
              <a:t>n</a:t>
            </a:r>
            <a:r>
              <a:rPr lang="en-US" altLang="zh-CN" b="1" dirty="0">
                <a:latin typeface="宋体" panose="02010600030101010101" pitchFamily="2" charset="-122"/>
              </a:rPr>
              <a:t>)∧R)→S</a:t>
            </a:r>
            <a:endParaRPr lang="en-US" altLang="zh-CN" b="1" dirty="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zh-CN" altLang="en-US" b="1" dirty="0">
                <a:latin typeface="宋体" panose="02010600030101010101" pitchFamily="2" charset="-122"/>
              </a:rPr>
              <a:t>是永真式。根据公式</a:t>
            </a:r>
            <a:r>
              <a:rPr lang="en-US" altLang="zh-CN" b="1" dirty="0">
                <a:latin typeface="宋体" panose="02010600030101010101" pitchFamily="2" charset="-122"/>
              </a:rPr>
              <a:t>E</a:t>
            </a:r>
            <a:r>
              <a:rPr lang="en-US" altLang="zh-CN" b="1" baseline="-25000" dirty="0">
                <a:latin typeface="宋体" panose="02010600030101010101" pitchFamily="2" charset="-122"/>
              </a:rPr>
              <a:t>19</a:t>
            </a:r>
            <a:r>
              <a:rPr lang="zh-CN" altLang="en-US" b="1" dirty="0">
                <a:latin typeface="宋体" panose="02010600030101010101" pitchFamily="2" charset="-122"/>
              </a:rPr>
              <a:t>得</a:t>
            </a:r>
            <a:endParaRPr lang="zh-CN" altLang="en-US" b="1" dirty="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zh-CN" altLang="en-US" b="1" dirty="0">
                <a:latin typeface="宋体" panose="02010600030101010101" pitchFamily="2" charset="-122"/>
              </a:rPr>
              <a:t>  </a:t>
            </a:r>
            <a:r>
              <a:rPr lang="en-US" altLang="zh-CN" b="1" dirty="0">
                <a:latin typeface="宋体" panose="02010600030101010101" pitchFamily="2" charset="-122"/>
              </a:rPr>
              <a:t>(H</a:t>
            </a:r>
            <a:r>
              <a:rPr lang="en-US" altLang="zh-CN" b="1" baseline="-25000" dirty="0">
                <a:latin typeface="宋体" panose="02010600030101010101" pitchFamily="2" charset="-122"/>
              </a:rPr>
              <a:t>1</a:t>
            </a:r>
            <a:r>
              <a:rPr lang="en-US" altLang="zh-CN" b="1" dirty="0">
                <a:latin typeface="宋体" panose="02010600030101010101" pitchFamily="2" charset="-122"/>
              </a:rPr>
              <a:t>∧H</a:t>
            </a:r>
            <a:r>
              <a:rPr lang="en-US" altLang="zh-CN" b="1" baseline="-25000" dirty="0">
                <a:latin typeface="宋体" panose="02010600030101010101" pitchFamily="2" charset="-122"/>
              </a:rPr>
              <a:t>2</a:t>
            </a:r>
            <a:r>
              <a:rPr lang="en-US" altLang="zh-CN" b="1" dirty="0">
                <a:latin typeface="宋体" panose="02010600030101010101" pitchFamily="2" charset="-122"/>
              </a:rPr>
              <a:t>∧...∧H</a:t>
            </a:r>
            <a:r>
              <a:rPr lang="en-US" altLang="zh-CN" b="1" baseline="-25000" dirty="0">
                <a:latin typeface="宋体" panose="02010600030101010101" pitchFamily="2" charset="-122"/>
              </a:rPr>
              <a:t>n</a:t>
            </a:r>
            <a:r>
              <a:rPr lang="en-US" altLang="zh-CN" b="1" dirty="0">
                <a:latin typeface="宋体" panose="02010600030101010101" pitchFamily="2" charset="-122"/>
              </a:rPr>
              <a:t>)</a:t>
            </a:r>
            <a:r>
              <a:rPr lang="en-US" altLang="zh-CN" b="1" dirty="0">
                <a:sym typeface="Symbol" panose="05050102010706020507" pitchFamily="18" charset="2"/>
              </a:rPr>
              <a:t></a:t>
            </a:r>
            <a:r>
              <a:rPr lang="en-US" altLang="zh-CN" b="1" dirty="0">
                <a:latin typeface="宋体" panose="02010600030101010101" pitchFamily="2" charset="-122"/>
              </a:rPr>
              <a:t>(R→S)</a:t>
            </a:r>
            <a:r>
              <a:rPr lang="zh-CN" altLang="en-US" b="1" dirty="0">
                <a:latin typeface="宋体" panose="02010600030101010101" pitchFamily="2" charset="-122"/>
              </a:rPr>
              <a:t>是永真式。</a:t>
            </a:r>
            <a:endParaRPr lang="zh-CN" altLang="en-US" b="1" dirty="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zh-CN" altLang="en-US" b="1" dirty="0">
                <a:latin typeface="宋体" panose="02010600030101010101" pitchFamily="2" charset="-122"/>
              </a:rPr>
              <a:t>即  </a:t>
            </a:r>
            <a:r>
              <a:rPr lang="en-US" altLang="zh-CN" b="1" dirty="0">
                <a:latin typeface="宋体" panose="02010600030101010101" pitchFamily="2" charset="-122"/>
              </a:rPr>
              <a:t>H</a:t>
            </a:r>
            <a:r>
              <a:rPr lang="en-US" altLang="zh-CN" b="1" baseline="-25000" dirty="0">
                <a:latin typeface="宋体" panose="02010600030101010101" pitchFamily="2" charset="-122"/>
              </a:rPr>
              <a:t>1</a:t>
            </a:r>
            <a:r>
              <a:rPr lang="en-US" altLang="zh-CN" b="1" dirty="0">
                <a:latin typeface="宋体" panose="02010600030101010101" pitchFamily="2" charset="-122"/>
              </a:rPr>
              <a:t>∧H</a:t>
            </a:r>
            <a:r>
              <a:rPr lang="en-US" altLang="zh-CN" b="1" baseline="-25000" dirty="0">
                <a:latin typeface="宋体" panose="02010600030101010101" pitchFamily="2" charset="-122"/>
              </a:rPr>
              <a:t>2</a:t>
            </a:r>
            <a:r>
              <a:rPr lang="en-US" altLang="zh-CN" b="1" dirty="0">
                <a:latin typeface="宋体" panose="02010600030101010101" pitchFamily="2" charset="-122"/>
              </a:rPr>
              <a:t>∧...∧H</a:t>
            </a:r>
            <a:r>
              <a:rPr lang="en-US" altLang="zh-CN" b="1" baseline="-25000" dirty="0">
                <a:latin typeface="宋体" panose="02010600030101010101" pitchFamily="2" charset="-122"/>
              </a:rPr>
              <a:t>n </a:t>
            </a:r>
            <a:r>
              <a:rPr lang="en-US" altLang="zh-CN" b="1" dirty="0">
                <a:sym typeface="Symbol" panose="05050102010706020507" pitchFamily="18" charset="2"/>
              </a:rPr>
              <a:t></a:t>
            </a:r>
            <a:r>
              <a:rPr lang="en-US" altLang="zh-CN" b="1" baseline="-25000" dirty="0">
                <a:latin typeface="宋体" panose="02010600030101010101" pitchFamily="2" charset="-122"/>
              </a:rPr>
              <a:t> </a:t>
            </a:r>
            <a:r>
              <a:rPr lang="en-US" altLang="zh-CN" b="1" dirty="0">
                <a:latin typeface="宋体" panose="02010600030101010101" pitchFamily="2" charset="-122"/>
              </a:rPr>
              <a:t>R→S </a:t>
            </a:r>
            <a:endParaRPr lang="en-US" altLang="zh-CN" b="1" dirty="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zh-CN" altLang="en-US" b="1" dirty="0">
                <a:latin typeface="宋体" panose="02010600030101010101" pitchFamily="2" charset="-122"/>
              </a:rPr>
              <a:t>定理得证。</a:t>
            </a:r>
            <a:endParaRPr lang="en-US" altLang="zh-CN" b="1" dirty="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latin typeface="宋体" panose="02010600030101010101" pitchFamily="2" charset="-122"/>
              </a:rPr>
              <a:t>E</a:t>
            </a:r>
            <a:r>
              <a:rPr lang="en-US" altLang="zh-CN" b="1" baseline="-25000" dirty="0">
                <a:solidFill>
                  <a:srgbClr val="FF0000"/>
                </a:solidFill>
                <a:latin typeface="宋体" panose="02010600030101010101" pitchFamily="2" charset="-122"/>
              </a:rPr>
              <a:t>19</a:t>
            </a:r>
            <a:r>
              <a:rPr lang="en-US" altLang="zh-CN" b="1" dirty="0">
                <a:solidFill>
                  <a:srgbClr val="FF0000"/>
                </a:solidFill>
                <a:latin typeface="宋体" panose="02010600030101010101" pitchFamily="2" charset="-122"/>
              </a:rPr>
              <a:t>: P</a:t>
            </a:r>
            <a:r>
              <a:rPr lang="en-US" altLang="zh-CN" b="1" dirty="0">
                <a:solidFill>
                  <a:srgbClr val="FF0000"/>
                </a:solidFill>
                <a:sym typeface="Symbol" panose="05050102010706020507" pitchFamily="18" charset="2"/>
              </a:rPr>
              <a:t></a:t>
            </a:r>
            <a:r>
              <a:rPr lang="en-US" altLang="zh-CN" b="1" dirty="0">
                <a:solidFill>
                  <a:srgbClr val="FF0000"/>
                </a:solidFill>
                <a:latin typeface="宋体" panose="02010600030101010101" pitchFamily="2" charset="-122"/>
              </a:rPr>
              <a:t>(Q→R)</a:t>
            </a:r>
            <a:r>
              <a:rPr lang="en-US" altLang="zh-CN" b="1" dirty="0">
                <a:solidFill>
                  <a:srgbClr val="FF0000"/>
                </a:solidFill>
                <a:sym typeface="Symbol" panose="05050102010706020507" pitchFamily="18" charset="2"/>
              </a:rPr>
              <a:t></a:t>
            </a:r>
            <a:r>
              <a:rPr lang="en-US" altLang="zh-CN" b="1" dirty="0">
                <a:solidFill>
                  <a:srgbClr val="FF0000"/>
                </a:solidFill>
                <a:latin typeface="宋体" panose="02010600030101010101" pitchFamily="2" charset="-122"/>
              </a:rPr>
              <a:t>(P∧Q)→R</a:t>
            </a:r>
            <a:r>
              <a:rPr lang="en-US" altLang="zh-CN" b="1" dirty="0">
                <a:latin typeface="宋体" panose="02010600030101010101" pitchFamily="2" charset="-122"/>
              </a:rPr>
              <a:t> </a:t>
            </a:r>
            <a:endParaRPr lang="en-US" altLang="zh-CN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902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9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9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9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9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9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90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90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90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290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290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027" grpId="0" autoUpdateAnimBg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30051" name="Rectangle 3"/>
          <p:cNvSpPr>
            <a:spLocks noGrp="1" noChangeArrowheads="1"/>
          </p:cNvSpPr>
          <p:nvPr>
            <p:ph idx="1"/>
          </p:nvPr>
        </p:nvSpPr>
        <p:spPr>
          <a:xfrm>
            <a:off x="323528" y="764704"/>
            <a:ext cx="8496944" cy="5904656"/>
          </a:xfrm>
          <a:ln>
            <a:solidFill>
              <a:schemeClr val="accent1"/>
            </a:solidFill>
            <a:miter lim="800000"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b="1" dirty="0">
                <a:latin typeface="宋体" panose="02010600030101010101" pitchFamily="2" charset="-122"/>
              </a:rPr>
              <a:t>此定理告诉我们，如果要证明的结论是蕴涵式</a:t>
            </a:r>
            <a:r>
              <a:rPr lang="en-US" altLang="zh-CN" b="1" dirty="0">
                <a:latin typeface="宋体" panose="02010600030101010101" pitchFamily="2" charset="-122"/>
              </a:rPr>
              <a:t>(R→S)</a:t>
            </a:r>
            <a:r>
              <a:rPr lang="zh-CN" altLang="en-US" b="1" dirty="0">
                <a:latin typeface="宋体" panose="02010600030101010101" pitchFamily="2" charset="-122"/>
              </a:rPr>
              <a:t>形式，则可以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</a:rPr>
              <a:t>把结论中蕴涵式的前件</a:t>
            </a:r>
            <a:r>
              <a:rPr lang="en-US" altLang="zh-CN" b="1" dirty="0">
                <a:solidFill>
                  <a:srgbClr val="FF0000"/>
                </a:solidFill>
                <a:latin typeface="宋体" panose="02010600030101010101" pitchFamily="2" charset="-122"/>
              </a:rPr>
              <a:t>R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</a:rPr>
              <a:t>作为附加前提</a:t>
            </a:r>
            <a:r>
              <a:rPr lang="zh-CN" altLang="en-US" b="1" dirty="0">
                <a:latin typeface="宋体" panose="02010600030101010101" pitchFamily="2" charset="-122"/>
              </a:rPr>
              <a:t>，与给定的前提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</a:rPr>
              <a:t>一起推出后件</a:t>
            </a:r>
            <a:r>
              <a:rPr lang="en-US" altLang="zh-CN" b="1" dirty="0">
                <a:solidFill>
                  <a:srgbClr val="FF0000"/>
                </a:solidFill>
                <a:latin typeface="宋体" panose="02010600030101010101" pitchFamily="2" charset="-122"/>
              </a:rPr>
              <a:t>S</a:t>
            </a:r>
            <a:r>
              <a:rPr lang="zh-CN" altLang="en-US" b="1" dirty="0">
                <a:latin typeface="宋体" panose="02010600030101010101" pitchFamily="2" charset="-122"/>
              </a:rPr>
              <a:t>即可。我们把上述定理写成如下规则：</a:t>
            </a:r>
            <a:endParaRPr lang="zh-CN" altLang="en-US" b="1" dirty="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规则</a:t>
            </a:r>
            <a:r>
              <a:rPr lang="en-US" altLang="zh-CN" b="1" dirty="0">
                <a:solidFill>
                  <a:srgbClr val="FF0000"/>
                </a:solidFill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CP</a:t>
            </a:r>
            <a:r>
              <a:rPr lang="en-US" altLang="zh-CN" b="1" dirty="0">
                <a:latin typeface="宋体" panose="02010600030101010101" pitchFamily="2" charset="-122"/>
              </a:rPr>
              <a:t>(Conditional </a:t>
            </a:r>
            <a:r>
              <a:rPr lang="zh-CN" altLang="en-US" b="1" dirty="0">
                <a:latin typeface="宋体" panose="02010600030101010101" pitchFamily="2" charset="-122"/>
              </a:rPr>
              <a:t>Ｐ</a:t>
            </a:r>
            <a:r>
              <a:rPr lang="en-US" altLang="zh-CN" b="1" dirty="0">
                <a:latin typeface="宋体" panose="02010600030101010101" pitchFamily="2" charset="-122"/>
              </a:rPr>
              <a:t>roof)</a:t>
            </a:r>
            <a:r>
              <a:rPr lang="zh-CN" altLang="en-US" b="1" dirty="0">
                <a:latin typeface="宋体" panose="02010600030101010101" pitchFamily="2" charset="-122"/>
              </a:rPr>
              <a:t>：</a:t>
            </a:r>
            <a:endParaRPr lang="zh-CN" altLang="en-US" b="1" dirty="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zh-CN" altLang="en-US" b="1" dirty="0">
                <a:latin typeface="宋体" panose="02010600030101010101" pitchFamily="2" charset="-122"/>
              </a:rPr>
              <a:t>  如果</a:t>
            </a:r>
            <a:r>
              <a:rPr lang="en-US" altLang="zh-CN" b="1" dirty="0">
                <a:latin typeface="宋体" panose="02010600030101010101" pitchFamily="2" charset="-122"/>
              </a:rPr>
              <a:t>H</a:t>
            </a:r>
            <a:r>
              <a:rPr lang="en-US" altLang="zh-CN" b="1" baseline="-25000" dirty="0">
                <a:latin typeface="宋体" panose="02010600030101010101" pitchFamily="2" charset="-122"/>
              </a:rPr>
              <a:t>1</a:t>
            </a:r>
            <a:r>
              <a:rPr lang="en-US" altLang="zh-CN" b="1" dirty="0">
                <a:latin typeface="宋体" panose="02010600030101010101" pitchFamily="2" charset="-122"/>
              </a:rPr>
              <a:t>∧H</a:t>
            </a:r>
            <a:r>
              <a:rPr lang="en-US" altLang="zh-CN" b="1" baseline="-25000" dirty="0">
                <a:latin typeface="宋体" panose="02010600030101010101" pitchFamily="2" charset="-122"/>
              </a:rPr>
              <a:t>2</a:t>
            </a:r>
            <a:r>
              <a:rPr lang="en-US" altLang="zh-CN" b="1" dirty="0">
                <a:latin typeface="宋体" panose="02010600030101010101" pitchFamily="2" charset="-122"/>
              </a:rPr>
              <a:t>∧...∧</a:t>
            </a:r>
            <a:r>
              <a:rPr lang="en-US" altLang="zh-CN" b="1" dirty="0" err="1">
                <a:latin typeface="宋体" panose="02010600030101010101" pitchFamily="2" charset="-122"/>
              </a:rPr>
              <a:t>H</a:t>
            </a:r>
            <a:r>
              <a:rPr lang="en-US" altLang="zh-CN" b="1" baseline="-25000" dirty="0" err="1">
                <a:latin typeface="宋体" panose="02010600030101010101" pitchFamily="2" charset="-122"/>
              </a:rPr>
              <a:t>n</a:t>
            </a:r>
            <a:r>
              <a:rPr lang="en-US" altLang="zh-CN" b="1" dirty="0" err="1">
                <a:latin typeface="宋体" panose="02010600030101010101" pitchFamily="2" charset="-122"/>
              </a:rPr>
              <a:t>∧R</a:t>
            </a:r>
            <a:r>
              <a:rPr lang="en-US" altLang="zh-CN" b="1" dirty="0">
                <a:latin typeface="宋体" panose="02010600030101010101" pitchFamily="2" charset="-122"/>
              </a:rPr>
              <a:t> </a:t>
            </a:r>
            <a:r>
              <a:rPr lang="en-US" altLang="zh-CN" b="1" dirty="0">
                <a:sym typeface="Symbol" panose="05050102010706020507" pitchFamily="18" charset="2"/>
              </a:rPr>
              <a:t></a:t>
            </a:r>
            <a:r>
              <a:rPr lang="en-US" altLang="zh-CN" b="1" dirty="0">
                <a:latin typeface="宋体" panose="02010600030101010101" pitchFamily="2" charset="-122"/>
              </a:rPr>
              <a:t> S</a:t>
            </a:r>
            <a:r>
              <a:rPr lang="zh-CN" altLang="en-US" b="1" dirty="0">
                <a:latin typeface="宋体" panose="02010600030101010101" pitchFamily="2" charset="-122"/>
              </a:rPr>
              <a:t>，则 </a:t>
            </a:r>
            <a:endParaRPr lang="zh-CN" altLang="en-US" b="1" dirty="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zh-CN" altLang="en-US" b="1" dirty="0">
                <a:latin typeface="宋体" panose="02010600030101010101" pitchFamily="2" charset="-122"/>
              </a:rPr>
              <a:t>      </a:t>
            </a:r>
            <a:r>
              <a:rPr lang="en-US" altLang="zh-CN" b="1" dirty="0">
                <a:latin typeface="宋体" panose="02010600030101010101" pitchFamily="2" charset="-122"/>
              </a:rPr>
              <a:t>H</a:t>
            </a:r>
            <a:r>
              <a:rPr lang="en-US" altLang="zh-CN" b="1" baseline="-25000" dirty="0">
                <a:latin typeface="宋体" panose="02010600030101010101" pitchFamily="2" charset="-122"/>
              </a:rPr>
              <a:t>1</a:t>
            </a:r>
            <a:r>
              <a:rPr lang="en-US" altLang="zh-CN" b="1" dirty="0">
                <a:latin typeface="宋体" panose="02010600030101010101" pitchFamily="2" charset="-122"/>
              </a:rPr>
              <a:t>∧H</a:t>
            </a:r>
            <a:r>
              <a:rPr lang="en-US" altLang="zh-CN" b="1" baseline="-25000" dirty="0">
                <a:latin typeface="宋体" panose="02010600030101010101" pitchFamily="2" charset="-122"/>
              </a:rPr>
              <a:t>2</a:t>
            </a:r>
            <a:r>
              <a:rPr lang="en-US" altLang="zh-CN" b="1" dirty="0">
                <a:latin typeface="宋体" panose="02010600030101010101" pitchFamily="2" charset="-122"/>
              </a:rPr>
              <a:t>∧...∧H</a:t>
            </a:r>
            <a:r>
              <a:rPr lang="en-US" altLang="zh-CN" b="1" baseline="-25000" dirty="0">
                <a:latin typeface="宋体" panose="02010600030101010101" pitchFamily="2" charset="-122"/>
              </a:rPr>
              <a:t>n </a:t>
            </a:r>
            <a:r>
              <a:rPr lang="en-US" altLang="zh-CN" b="1" dirty="0">
                <a:sym typeface="Symbol" panose="05050102010706020507" pitchFamily="18" charset="2"/>
              </a:rPr>
              <a:t></a:t>
            </a:r>
            <a:r>
              <a:rPr lang="en-US" altLang="zh-CN" b="1" baseline="-25000" dirty="0">
                <a:latin typeface="宋体" panose="02010600030101010101" pitchFamily="2" charset="-122"/>
              </a:rPr>
              <a:t> </a:t>
            </a:r>
            <a:r>
              <a:rPr lang="en-US" altLang="zh-CN" b="1" dirty="0">
                <a:latin typeface="宋体" panose="02010600030101010101" pitchFamily="2" charset="-122"/>
              </a:rPr>
              <a:t>R→S </a:t>
            </a:r>
            <a:endParaRPr lang="en-US" altLang="zh-CN" b="1" dirty="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 b="1" dirty="0">
                <a:latin typeface="宋体" panose="02010600030101010101" pitchFamily="2" charset="-122"/>
              </a:rPr>
              <a:t> </a:t>
            </a:r>
            <a:r>
              <a:rPr lang="zh-CN" altLang="en-US" b="1" dirty="0">
                <a:latin typeface="宋体" panose="02010600030101010101" pitchFamily="2" charset="-122"/>
              </a:rPr>
              <a:t>下面我们用条件论证方法求证例题４ </a:t>
            </a:r>
            <a:endParaRPr lang="zh-CN" altLang="en-US" b="1" dirty="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zh-CN" altLang="en-US" b="1" dirty="0">
                <a:latin typeface="宋体" panose="02010600030101010101" pitchFamily="2" charset="-122"/>
              </a:rPr>
              <a:t>  </a:t>
            </a:r>
            <a:r>
              <a:rPr lang="en-US" altLang="zh-CN" b="1" dirty="0">
                <a:latin typeface="宋体" panose="02010600030101010101" pitchFamily="2" charset="-122"/>
              </a:rPr>
              <a:t>P→(Q→S),</a:t>
            </a:r>
            <a:r>
              <a:rPr lang="en-US" altLang="zh-CN" b="1" dirty="0">
                <a:sym typeface="Symbol" panose="05050102010706020507" pitchFamily="18" charset="2"/>
              </a:rPr>
              <a:t></a:t>
            </a:r>
            <a:r>
              <a:rPr lang="en-US" altLang="zh-CN" b="1" dirty="0">
                <a:latin typeface="宋体" panose="02010600030101010101" pitchFamily="2" charset="-122"/>
              </a:rPr>
              <a:t>R∨P,Q </a:t>
            </a:r>
            <a:r>
              <a:rPr lang="en-US" altLang="zh-CN" b="1" dirty="0">
                <a:sym typeface="Symbol" panose="05050102010706020507" pitchFamily="18" charset="2"/>
              </a:rPr>
              <a:t></a:t>
            </a:r>
            <a:r>
              <a:rPr lang="en-US" altLang="zh-CN" b="1" dirty="0">
                <a:latin typeface="宋体" panose="02010600030101010101" pitchFamily="2" charset="-122"/>
              </a:rPr>
              <a:t> R→S</a:t>
            </a:r>
            <a:endParaRPr lang="en-US" altLang="zh-CN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005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005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0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0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0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00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00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00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051" grpId="0" autoUpdateAnimBg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31075" name="Rectangle 1027"/>
          <p:cNvSpPr>
            <a:spLocks noGrp="1" noChangeArrowheads="1"/>
          </p:cNvSpPr>
          <p:nvPr>
            <p:ph idx="1"/>
          </p:nvPr>
        </p:nvSpPr>
        <p:spPr>
          <a:xfrm>
            <a:off x="323528" y="692696"/>
            <a:ext cx="8496944" cy="6048672"/>
          </a:xfrm>
          <a:ln>
            <a:solidFill>
              <a:srgbClr val="FF0000"/>
            </a:solidFill>
            <a:miter lim="800000"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例题５</a:t>
            </a:r>
            <a:r>
              <a:rPr lang="zh-CN" altLang="en-US" sz="2800" b="1" dirty="0">
                <a:latin typeface="宋体" panose="02010600030101010101" pitchFamily="2" charset="-122"/>
              </a:rPr>
              <a:t> 用条件论证，证明例题４</a:t>
            </a:r>
            <a:endParaRPr lang="zh-CN" altLang="en-US" sz="2800" b="1" dirty="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zh-CN" altLang="en-US" sz="2800" b="1" dirty="0">
                <a:latin typeface="宋体" panose="02010600030101010101" pitchFamily="2" charset="-122"/>
              </a:rPr>
              <a:t>  </a:t>
            </a:r>
            <a:r>
              <a:rPr lang="en-US" altLang="zh-CN" sz="2800" b="1" dirty="0">
                <a:latin typeface="宋体" panose="02010600030101010101" pitchFamily="2" charset="-122"/>
              </a:rPr>
              <a:t>P→(Q→S),</a:t>
            </a:r>
            <a:r>
              <a:rPr lang="en-US" altLang="zh-CN" sz="2800" b="1" dirty="0">
                <a:sym typeface="Symbol" panose="05050102010706020507" pitchFamily="18" charset="2"/>
              </a:rPr>
              <a:t></a:t>
            </a:r>
            <a:r>
              <a:rPr lang="en-US" altLang="zh-CN" sz="2800" b="1" dirty="0">
                <a:latin typeface="宋体" panose="02010600030101010101" pitchFamily="2" charset="-122"/>
              </a:rPr>
              <a:t>R∨P,Q </a:t>
            </a:r>
            <a:r>
              <a:rPr lang="en-US" altLang="zh-CN" sz="2800" b="1" dirty="0">
                <a:sym typeface="Symbol" panose="05050102010706020507" pitchFamily="18" charset="2"/>
              </a:rPr>
              <a:t></a:t>
            </a:r>
            <a:r>
              <a:rPr lang="en-US" altLang="zh-CN" sz="2800" b="1" dirty="0">
                <a:latin typeface="宋体" panose="02010600030101010101" pitchFamily="2" charset="-122"/>
              </a:rPr>
              <a:t> R→S</a:t>
            </a:r>
            <a:endParaRPr lang="en-US" altLang="zh-CN" sz="2800" b="1" dirty="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证明</a:t>
            </a:r>
            <a:r>
              <a:rPr lang="zh-CN" altLang="en-US" sz="2800" b="1" dirty="0">
                <a:latin typeface="宋体" panose="02010600030101010101" pitchFamily="2" charset="-122"/>
              </a:rPr>
              <a:t> </a:t>
            </a:r>
            <a:r>
              <a:rPr lang="en-US" altLang="zh-CN" sz="2800" b="1" dirty="0">
                <a:latin typeface="宋体" panose="02010600030101010101" pitchFamily="2" charset="-122"/>
              </a:rPr>
              <a:t>(1) R          P(</a:t>
            </a:r>
            <a:r>
              <a:rPr lang="zh-CN" altLang="en-US" sz="2800" b="1" dirty="0">
                <a:latin typeface="宋体" panose="02010600030101010101" pitchFamily="2" charset="-122"/>
              </a:rPr>
              <a:t>附加前提</a:t>
            </a:r>
            <a:r>
              <a:rPr lang="en-US" altLang="zh-CN" sz="2800" b="1" dirty="0">
                <a:latin typeface="宋体" panose="02010600030101010101" pitchFamily="2" charset="-122"/>
              </a:rPr>
              <a:t>)</a:t>
            </a:r>
            <a:endParaRPr lang="en-US" altLang="zh-CN" sz="2800" b="1" dirty="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 sz="2800" b="1" dirty="0">
                <a:latin typeface="宋体" panose="02010600030101010101" pitchFamily="2" charset="-122"/>
              </a:rPr>
              <a:t>     (2) </a:t>
            </a:r>
            <a:r>
              <a:rPr lang="en-US" altLang="zh-CN" sz="2800" b="1" dirty="0">
                <a:sym typeface="Symbol" panose="05050102010706020507" pitchFamily="18" charset="2"/>
              </a:rPr>
              <a:t></a:t>
            </a:r>
            <a:r>
              <a:rPr lang="en-US" altLang="zh-CN" sz="2800" b="1" dirty="0">
                <a:latin typeface="宋体" panose="02010600030101010101" pitchFamily="2" charset="-122"/>
              </a:rPr>
              <a:t>R∨P      P</a:t>
            </a:r>
            <a:endParaRPr lang="en-US" altLang="zh-CN" sz="2800" b="1" dirty="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 sz="2800" b="1" dirty="0">
                <a:latin typeface="宋体" panose="02010600030101010101" pitchFamily="2" charset="-122"/>
              </a:rPr>
              <a:t>     (3) P          T  (1)(2) I</a:t>
            </a:r>
            <a:r>
              <a:rPr lang="en-US" altLang="zh-CN" sz="2800" b="1" baseline="-25000" dirty="0">
                <a:latin typeface="宋体" panose="02010600030101010101" pitchFamily="2" charset="-122"/>
              </a:rPr>
              <a:t>10</a:t>
            </a:r>
            <a:endParaRPr lang="en-US" altLang="zh-CN" sz="2800" b="1" dirty="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 sz="2800" b="1" dirty="0">
                <a:latin typeface="宋体" panose="02010600030101010101" pitchFamily="2" charset="-122"/>
              </a:rPr>
              <a:t>     (4) P→(Q→S)  P</a:t>
            </a:r>
            <a:endParaRPr lang="en-US" altLang="zh-CN" sz="2800" b="1" dirty="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 sz="2800" b="1" dirty="0">
                <a:latin typeface="宋体" panose="02010600030101010101" pitchFamily="2" charset="-122"/>
              </a:rPr>
              <a:t>     (5) Q→S       T  (3)(4) I</a:t>
            </a:r>
            <a:r>
              <a:rPr lang="en-US" altLang="zh-CN" sz="2800" b="1" baseline="-25000" dirty="0">
                <a:latin typeface="宋体" panose="02010600030101010101" pitchFamily="2" charset="-122"/>
              </a:rPr>
              <a:t>11</a:t>
            </a:r>
            <a:endParaRPr lang="en-US" altLang="zh-CN" sz="2800" b="1" dirty="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 sz="2800" b="1" dirty="0">
                <a:latin typeface="宋体" panose="02010600030101010101" pitchFamily="2" charset="-122"/>
              </a:rPr>
              <a:t>     (6) Q          P</a:t>
            </a:r>
            <a:endParaRPr lang="en-US" altLang="zh-CN" sz="2800" b="1" dirty="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 sz="2800" b="1" dirty="0">
                <a:latin typeface="宋体" panose="02010600030101010101" pitchFamily="2" charset="-122"/>
              </a:rPr>
              <a:t>     (7) S          T  (5)(6) I</a:t>
            </a:r>
            <a:r>
              <a:rPr lang="en-US" altLang="zh-CN" sz="2800" b="1" baseline="-25000" dirty="0">
                <a:latin typeface="宋体" panose="02010600030101010101" pitchFamily="2" charset="-122"/>
              </a:rPr>
              <a:t>11</a:t>
            </a:r>
            <a:endParaRPr lang="en-US" altLang="zh-CN" sz="2800" b="1" dirty="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 sz="2800" b="1" dirty="0">
                <a:latin typeface="宋体" panose="02010600030101010101" pitchFamily="2" charset="-122"/>
              </a:rPr>
              <a:t>     (8) R→S       CP</a:t>
            </a:r>
            <a:endParaRPr lang="en-US" altLang="zh-CN" sz="2800" b="1" dirty="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zh-CN" altLang="en-US" sz="2800" b="1" dirty="0">
                <a:latin typeface="宋体" panose="02010600030101010101" pitchFamily="2" charset="-122"/>
              </a:rPr>
              <a:t>与例题４相比，因为它增加了一个附加前提，所以推理就容易些。</a:t>
            </a:r>
            <a:endParaRPr lang="zh-CN" altLang="en-US" sz="2800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107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1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1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1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1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1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10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10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10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10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310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310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075" grpId="0" autoUpdateAnimBg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32099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FF0000"/>
            </a:solidFill>
            <a:miter lim="800000"/>
          </a:ln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</a:rPr>
              <a:t>例题６</a:t>
            </a:r>
            <a:r>
              <a:rPr lang="zh-CN" altLang="en-US" b="1" dirty="0">
                <a:latin typeface="宋体" panose="02010600030101010101" pitchFamily="2" charset="-122"/>
              </a:rPr>
              <a:t> 用命题逻辑推理方法证明下面推理</a:t>
            </a:r>
            <a:endParaRPr lang="zh-CN" altLang="en-US" b="1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b="1" dirty="0">
                <a:latin typeface="宋体" panose="02010600030101010101" pitchFamily="2" charset="-122"/>
              </a:rPr>
              <a:t>的有效性： </a:t>
            </a:r>
            <a:endParaRPr lang="zh-CN" altLang="en-US" b="1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b="1" dirty="0">
                <a:latin typeface="宋体" panose="02010600030101010101" pitchFamily="2" charset="-122"/>
              </a:rPr>
              <a:t>如果体育馆有球赛，青年大街交通就拥挤。在这种情况下，如果小王不提前出发，就会迟到。因此，小王没有提前出发也未迟到，则体育馆没有球赛。</a:t>
            </a:r>
            <a:endParaRPr lang="zh-CN" altLang="en-US" b="1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</a:rPr>
              <a:t>证明</a:t>
            </a:r>
            <a:r>
              <a:rPr lang="zh-CN" altLang="en-US" b="1" dirty="0">
                <a:latin typeface="宋体" panose="02010600030101010101" pitchFamily="2" charset="-122"/>
              </a:rPr>
              <a:t>  先将命题符号化。</a:t>
            </a:r>
            <a:endParaRPr lang="zh-CN" altLang="en-US" b="1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  设 </a:t>
            </a:r>
            <a:r>
              <a:rPr lang="en-US" altLang="zh-CN" sz="2400" b="1" dirty="0">
                <a:latin typeface="宋体" panose="02010600030101010101" pitchFamily="2" charset="-122"/>
              </a:rPr>
              <a:t>P</a:t>
            </a:r>
            <a:r>
              <a:rPr lang="zh-CN" altLang="en-US" sz="2400" b="1" dirty="0">
                <a:latin typeface="宋体" panose="02010600030101010101" pitchFamily="2" charset="-122"/>
              </a:rPr>
              <a:t>：体育馆有球赛。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     </a:t>
            </a:r>
            <a:r>
              <a:rPr lang="en-US" altLang="zh-CN" sz="2400" b="1" dirty="0">
                <a:latin typeface="宋体" panose="02010600030101010101" pitchFamily="2" charset="-122"/>
              </a:rPr>
              <a:t>Q</a:t>
            </a:r>
            <a:r>
              <a:rPr lang="zh-CN" altLang="en-US" sz="2400" b="1" dirty="0">
                <a:latin typeface="宋体" panose="02010600030101010101" pitchFamily="2" charset="-122"/>
              </a:rPr>
              <a:t>：青年大街交通拥挤。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     </a:t>
            </a:r>
            <a:r>
              <a:rPr lang="en-US" altLang="zh-CN" sz="2400" b="1" dirty="0">
                <a:latin typeface="宋体" panose="02010600030101010101" pitchFamily="2" charset="-122"/>
              </a:rPr>
              <a:t>R</a:t>
            </a:r>
            <a:r>
              <a:rPr lang="zh-CN" altLang="en-US" sz="2400" b="1" dirty="0">
                <a:latin typeface="宋体" panose="02010600030101010101" pitchFamily="2" charset="-122"/>
              </a:rPr>
              <a:t>：小王提前出发。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     </a:t>
            </a:r>
            <a:r>
              <a:rPr lang="en-US" altLang="zh-CN" sz="2400" b="1" dirty="0">
                <a:latin typeface="宋体" panose="02010600030101010101" pitchFamily="2" charset="-122"/>
              </a:rPr>
              <a:t>S</a:t>
            </a:r>
            <a:r>
              <a:rPr lang="zh-CN" altLang="en-US" sz="2400" b="1" dirty="0">
                <a:latin typeface="宋体" panose="02010600030101010101" pitchFamily="2" charset="-122"/>
              </a:rPr>
              <a:t>：小王迟到。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b="1" dirty="0">
                <a:latin typeface="宋体" panose="02010600030101010101" pitchFamily="2" charset="-122"/>
              </a:rPr>
              <a:t> </a:t>
            </a:r>
            <a:r>
              <a:rPr lang="en-US" altLang="zh-CN" b="1" dirty="0">
                <a:latin typeface="宋体" panose="02010600030101010101" pitchFamily="2" charset="-122"/>
              </a:rPr>
              <a:t>P→Q</a:t>
            </a:r>
            <a:r>
              <a:rPr lang="zh-CN" altLang="en-US" b="1" dirty="0">
                <a:latin typeface="宋体" panose="02010600030101010101" pitchFamily="2" charset="-122"/>
              </a:rPr>
              <a:t>，</a:t>
            </a:r>
            <a:r>
              <a:rPr lang="en-US" altLang="zh-CN" b="1" dirty="0">
                <a:latin typeface="宋体" panose="02010600030101010101" pitchFamily="2" charset="-122"/>
              </a:rPr>
              <a:t>(Q∧</a:t>
            </a:r>
            <a:r>
              <a:rPr lang="en-US" altLang="zh-CN" b="1" dirty="0">
                <a:sym typeface="Symbol" panose="05050102010706020507" pitchFamily="18" charset="2"/>
              </a:rPr>
              <a:t></a:t>
            </a:r>
            <a:r>
              <a:rPr lang="en-US" altLang="zh-CN" b="1" dirty="0">
                <a:latin typeface="宋体" panose="02010600030101010101" pitchFamily="2" charset="-122"/>
              </a:rPr>
              <a:t>R)→S </a:t>
            </a:r>
            <a:r>
              <a:rPr lang="en-US" altLang="zh-CN" b="1" dirty="0">
                <a:sym typeface="Symbol" panose="05050102010706020507" pitchFamily="18" charset="2"/>
              </a:rPr>
              <a:t></a:t>
            </a:r>
            <a:r>
              <a:rPr lang="en-US" altLang="zh-CN" b="1" dirty="0">
                <a:latin typeface="宋体" panose="02010600030101010101" pitchFamily="2" charset="-122"/>
              </a:rPr>
              <a:t>(</a:t>
            </a:r>
            <a:r>
              <a:rPr lang="en-US" altLang="zh-CN" b="1" dirty="0">
                <a:sym typeface="Symbol" panose="05050102010706020507" pitchFamily="18" charset="2"/>
              </a:rPr>
              <a:t></a:t>
            </a:r>
            <a:r>
              <a:rPr lang="en-US" altLang="zh-CN" b="1" dirty="0">
                <a:latin typeface="宋体" panose="02010600030101010101" pitchFamily="2" charset="-122"/>
              </a:rPr>
              <a:t>R∧</a:t>
            </a:r>
            <a:r>
              <a:rPr lang="en-US" altLang="zh-CN" b="1" dirty="0">
                <a:sym typeface="Symbol" panose="05050102010706020507" pitchFamily="18" charset="2"/>
              </a:rPr>
              <a:t></a:t>
            </a:r>
            <a:r>
              <a:rPr lang="en-US" altLang="zh-CN" b="1" dirty="0">
                <a:latin typeface="宋体" panose="02010600030101010101" pitchFamily="2" charset="-122"/>
              </a:rPr>
              <a:t>S)→</a:t>
            </a:r>
            <a:r>
              <a:rPr lang="en-US" altLang="zh-CN" b="1" dirty="0">
                <a:sym typeface="Symbol" panose="05050102010706020507" pitchFamily="18" charset="2"/>
              </a:rPr>
              <a:t></a:t>
            </a:r>
            <a:r>
              <a:rPr lang="en-US" altLang="zh-CN" b="1" dirty="0">
                <a:latin typeface="宋体" panose="02010600030101010101" pitchFamily="2" charset="-122"/>
              </a:rPr>
              <a:t>P </a:t>
            </a:r>
            <a:endParaRPr lang="en-US" altLang="zh-CN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209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2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2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2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2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2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2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2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2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20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099" grpId="0" autoUpdateAnimBg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33123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FF0000"/>
            </a:solidFill>
            <a:miter lim="800000"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sz="2800" b="1" dirty="0">
                <a:latin typeface="宋体" panose="02010600030101010101" pitchFamily="2" charset="-122"/>
              </a:rPr>
              <a:t>P→Q</a:t>
            </a:r>
            <a:r>
              <a:rPr lang="zh-CN" altLang="en-US" sz="2800" b="1" dirty="0">
                <a:latin typeface="宋体" panose="02010600030101010101" pitchFamily="2" charset="-122"/>
              </a:rPr>
              <a:t>，</a:t>
            </a:r>
            <a:r>
              <a:rPr lang="en-US" altLang="zh-CN" sz="2800" b="1" dirty="0">
                <a:latin typeface="宋体" panose="02010600030101010101" pitchFamily="2" charset="-122"/>
              </a:rPr>
              <a:t>(Q∧</a:t>
            </a:r>
            <a:r>
              <a:rPr lang="en-US" altLang="zh-CN" sz="2800" b="1" dirty="0">
                <a:sym typeface="Symbol" panose="05050102010706020507" pitchFamily="18" charset="2"/>
              </a:rPr>
              <a:t></a:t>
            </a:r>
            <a:r>
              <a:rPr lang="en-US" altLang="zh-CN" sz="2800" b="1" dirty="0">
                <a:latin typeface="宋体" panose="02010600030101010101" pitchFamily="2" charset="-122"/>
              </a:rPr>
              <a:t>R)→S </a:t>
            </a:r>
            <a:r>
              <a:rPr lang="en-US" altLang="zh-CN" sz="2800" b="1" dirty="0">
                <a:sym typeface="Symbol" panose="05050102010706020507" pitchFamily="18" charset="2"/>
              </a:rPr>
              <a:t></a:t>
            </a:r>
            <a:r>
              <a:rPr lang="en-US" altLang="zh-CN" sz="2800" b="1" dirty="0">
                <a:latin typeface="宋体" panose="02010600030101010101" pitchFamily="2" charset="-122"/>
              </a:rPr>
              <a:t>(</a:t>
            </a:r>
            <a:r>
              <a:rPr lang="en-US" altLang="zh-CN" sz="2800" b="1" dirty="0">
                <a:sym typeface="Symbol" panose="05050102010706020507" pitchFamily="18" charset="2"/>
              </a:rPr>
              <a:t></a:t>
            </a:r>
            <a:r>
              <a:rPr lang="en-US" altLang="zh-CN" sz="2800" b="1" dirty="0">
                <a:latin typeface="宋体" panose="02010600030101010101" pitchFamily="2" charset="-122"/>
              </a:rPr>
              <a:t>R∧</a:t>
            </a:r>
            <a:r>
              <a:rPr lang="en-US" altLang="zh-CN" sz="2800" b="1" dirty="0">
                <a:sym typeface="Symbol" panose="05050102010706020507" pitchFamily="18" charset="2"/>
              </a:rPr>
              <a:t></a:t>
            </a:r>
            <a:r>
              <a:rPr lang="en-US" altLang="zh-CN" sz="2800" b="1" dirty="0">
                <a:latin typeface="宋体" panose="02010600030101010101" pitchFamily="2" charset="-122"/>
              </a:rPr>
              <a:t>S)→</a:t>
            </a:r>
            <a:r>
              <a:rPr lang="en-US" altLang="zh-CN" sz="2800" b="1" dirty="0">
                <a:sym typeface="Symbol" panose="05050102010706020507" pitchFamily="18" charset="2"/>
              </a:rPr>
              <a:t></a:t>
            </a:r>
            <a:r>
              <a:rPr lang="en-US" altLang="zh-CN" sz="2800" b="1" dirty="0">
                <a:latin typeface="宋体" panose="02010600030101010101" pitchFamily="2" charset="-122"/>
              </a:rPr>
              <a:t>P</a:t>
            </a:r>
            <a:endParaRPr lang="en-US" altLang="zh-CN" sz="2800" b="1" dirty="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zh-CN" altLang="en-US" sz="2800" b="1" dirty="0">
                <a:latin typeface="宋体" panose="02010600030101010101" pitchFamily="2" charset="-122"/>
              </a:rPr>
              <a:t>证明</a:t>
            </a:r>
            <a:endParaRPr lang="zh-CN" altLang="en-US" sz="2800" b="1" dirty="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(1)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dirty="0">
                <a:latin typeface="Times New Roman" panose="02020603050405020304" pitchFamily="18" charset="0"/>
              </a:rPr>
              <a:t>R∧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dirty="0">
                <a:latin typeface="Times New Roman" panose="02020603050405020304" pitchFamily="18" charset="0"/>
              </a:rPr>
              <a:t>S                P(</a:t>
            </a:r>
            <a:r>
              <a:rPr lang="zh-CN" altLang="en-US" sz="2400" b="1" dirty="0">
                <a:latin typeface="Times New Roman" panose="02020603050405020304" pitchFamily="18" charset="0"/>
              </a:rPr>
              <a:t>附加前提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  <a:endParaRPr lang="en-US" altLang="zh-CN" sz="2400" b="1" dirty="0">
              <a:latin typeface="Times New Roman" panose="02020603050405020304" pitchFamily="18" charset="0"/>
            </a:endParaRPr>
          </a:p>
          <a:p>
            <a:pPr eaLnBrk="1" hangingPunct="1"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(2)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dirty="0">
                <a:latin typeface="Times New Roman" panose="02020603050405020304" pitchFamily="18" charset="0"/>
              </a:rPr>
              <a:t>R                        T (1)    I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1</a:t>
            </a:r>
            <a:endParaRPr lang="en-US" altLang="zh-CN" sz="2400" b="1" dirty="0">
              <a:latin typeface="Times New Roman" panose="02020603050405020304" pitchFamily="18" charset="0"/>
            </a:endParaRPr>
          </a:p>
          <a:p>
            <a:pPr eaLnBrk="1" hangingPunct="1"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(3)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dirty="0">
                <a:latin typeface="Times New Roman" panose="02020603050405020304" pitchFamily="18" charset="0"/>
              </a:rPr>
              <a:t>S                         T (1)    I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2</a:t>
            </a:r>
            <a:endParaRPr lang="en-US" altLang="zh-CN" sz="2400" b="1" baseline="-25000" dirty="0">
              <a:latin typeface="Times New Roman" panose="02020603050405020304" pitchFamily="18" charset="0"/>
            </a:endParaRPr>
          </a:p>
          <a:p>
            <a:pPr eaLnBrk="1" hangingPunct="1"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(4) (Q∧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dirty="0">
                <a:latin typeface="Times New Roman" panose="02020603050405020304" pitchFamily="18" charset="0"/>
              </a:rPr>
              <a:t>R)→S        P</a:t>
            </a:r>
            <a:endParaRPr lang="en-US" altLang="zh-CN" sz="2400" b="1" dirty="0">
              <a:latin typeface="Times New Roman" panose="02020603050405020304" pitchFamily="18" charset="0"/>
            </a:endParaRPr>
          </a:p>
          <a:p>
            <a:pPr eaLnBrk="1" hangingPunct="1"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(5)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dirty="0">
                <a:latin typeface="Times New Roman" panose="02020603050405020304" pitchFamily="18" charset="0"/>
              </a:rPr>
              <a:t>(Q∧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zh-CN" altLang="en-US" sz="2400" b="1" dirty="0">
                <a:latin typeface="Times New Roman" panose="02020603050405020304" pitchFamily="18" charset="0"/>
              </a:rPr>
              <a:t>Ｒ</a:t>
            </a:r>
            <a:r>
              <a:rPr lang="en-US" altLang="zh-CN" sz="2400" b="1" dirty="0">
                <a:latin typeface="Times New Roman" panose="02020603050405020304" pitchFamily="18" charset="0"/>
              </a:rPr>
              <a:t>)          T (3)(4) I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12</a:t>
            </a:r>
            <a:endParaRPr lang="en-US" altLang="zh-CN" sz="2400" b="1" dirty="0">
              <a:latin typeface="Times New Roman" panose="02020603050405020304" pitchFamily="18" charset="0"/>
            </a:endParaRPr>
          </a:p>
          <a:p>
            <a:pPr eaLnBrk="1" hangingPunct="1"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(6)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dirty="0">
                <a:latin typeface="Times New Roman" panose="02020603050405020304" pitchFamily="18" charset="0"/>
              </a:rPr>
              <a:t>Q∨R                 T (5)     E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8 </a:t>
            </a:r>
            <a:endParaRPr lang="en-US" altLang="zh-CN" sz="2400" b="1" dirty="0">
              <a:latin typeface="Times New Roman" panose="02020603050405020304" pitchFamily="18" charset="0"/>
            </a:endParaRPr>
          </a:p>
          <a:p>
            <a:pPr eaLnBrk="1" hangingPunct="1"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(7)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dirty="0">
                <a:latin typeface="Times New Roman" panose="02020603050405020304" pitchFamily="18" charset="0"/>
              </a:rPr>
              <a:t>Q                        T (2)(6) I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10</a:t>
            </a:r>
            <a:endParaRPr lang="en-US" altLang="zh-CN" sz="2400" b="1" dirty="0">
              <a:latin typeface="Times New Roman" panose="02020603050405020304" pitchFamily="18" charset="0"/>
            </a:endParaRPr>
          </a:p>
          <a:p>
            <a:pPr eaLnBrk="1" hangingPunct="1"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(8) P→Q                     P</a:t>
            </a:r>
            <a:endParaRPr lang="en-US" altLang="zh-CN" sz="2400" b="1" dirty="0">
              <a:latin typeface="Times New Roman" panose="02020603050405020304" pitchFamily="18" charset="0"/>
            </a:endParaRPr>
          </a:p>
          <a:p>
            <a:pPr eaLnBrk="1" hangingPunct="1"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(9)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dirty="0">
                <a:latin typeface="Times New Roman" panose="02020603050405020304" pitchFamily="18" charset="0"/>
              </a:rPr>
              <a:t>P                         T (7)(8) I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12</a:t>
            </a:r>
            <a:endParaRPr lang="en-US" altLang="zh-CN" sz="2400" b="1" dirty="0">
              <a:latin typeface="Times New Roman" panose="02020603050405020304" pitchFamily="18" charset="0"/>
            </a:endParaRPr>
          </a:p>
          <a:p>
            <a:pPr eaLnBrk="1" hangingPunct="1"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(10)(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dirty="0">
                <a:latin typeface="Times New Roman" panose="02020603050405020304" pitchFamily="18" charset="0"/>
              </a:rPr>
              <a:t>R∧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dirty="0">
                <a:latin typeface="Times New Roman" panose="02020603050405020304" pitchFamily="18" charset="0"/>
              </a:rPr>
              <a:t>S)→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dirty="0">
                <a:latin typeface="Times New Roman" panose="02020603050405020304" pitchFamily="18" charset="0"/>
              </a:rPr>
              <a:t>P  CP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312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3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3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3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3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3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3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3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3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3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331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331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331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23" grpId="0" autoUpdateAnimBg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14019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FF00FF"/>
            </a:solidFill>
            <a:miter lim="800000"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</a:rPr>
              <a:t>下面同学动手作练习</a:t>
            </a:r>
            <a:endParaRPr lang="zh-CN" altLang="en-US" b="1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</a:rPr>
              <a:t>用条件论证证明  第</a:t>
            </a:r>
            <a:r>
              <a:rPr lang="en-US" altLang="zh-CN" b="1" dirty="0">
                <a:solidFill>
                  <a:srgbClr val="FF0000"/>
                </a:solidFill>
                <a:latin typeface="宋体" panose="02010600030101010101" pitchFamily="2" charset="-122"/>
              </a:rPr>
              <a:t>47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</a:rPr>
              <a:t>页 </a:t>
            </a:r>
            <a:r>
              <a:rPr lang="en-US" altLang="zh-CN" b="1" dirty="0">
                <a:solidFill>
                  <a:srgbClr val="FF0000"/>
                </a:solidFill>
                <a:latin typeface="宋体" panose="02010600030101010101" pitchFamily="2" charset="-122"/>
              </a:rPr>
              <a:t>(2) a)</a:t>
            </a:r>
            <a:endParaRPr lang="en-US" altLang="zh-CN" b="1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 b="1" dirty="0">
                <a:latin typeface="宋体" panose="02010600030101010101" pitchFamily="2" charset="-122"/>
              </a:rPr>
              <a:t> </a:t>
            </a:r>
            <a:r>
              <a:rPr lang="en-US" altLang="zh-CN" b="1" dirty="0">
                <a:sym typeface="Symbol" panose="05050102010706020507" pitchFamily="18" charset="2"/>
              </a:rPr>
              <a:t></a:t>
            </a:r>
            <a:r>
              <a:rPr lang="en-US" altLang="zh-CN" b="1" dirty="0">
                <a:latin typeface="宋体" panose="02010600030101010101" pitchFamily="2" charset="-122"/>
              </a:rPr>
              <a:t>A∨B, C→</a:t>
            </a:r>
            <a:r>
              <a:rPr lang="en-US" altLang="zh-CN" b="1" dirty="0">
                <a:sym typeface="Symbol" panose="05050102010706020507" pitchFamily="18" charset="2"/>
              </a:rPr>
              <a:t></a:t>
            </a:r>
            <a:r>
              <a:rPr lang="en-US" altLang="zh-CN" b="1" dirty="0">
                <a:latin typeface="宋体" panose="02010600030101010101" pitchFamily="2" charset="-122"/>
              </a:rPr>
              <a:t>B </a:t>
            </a:r>
            <a:r>
              <a:rPr lang="en-US" altLang="zh-CN" b="1" dirty="0">
                <a:sym typeface="Symbol" panose="05050102010706020507" pitchFamily="18" charset="2"/>
              </a:rPr>
              <a:t></a:t>
            </a:r>
            <a:r>
              <a:rPr lang="en-US" altLang="zh-CN" b="1" dirty="0">
                <a:latin typeface="宋体" panose="02010600030101010101" pitchFamily="2" charset="-122"/>
              </a:rPr>
              <a:t> A→</a:t>
            </a:r>
            <a:r>
              <a:rPr lang="en-US" altLang="zh-CN" b="1" dirty="0">
                <a:sym typeface="Symbol" panose="05050102010706020507" pitchFamily="18" charset="2"/>
              </a:rPr>
              <a:t>C</a:t>
            </a:r>
            <a:endParaRPr lang="en-US" altLang="zh-CN" b="1" dirty="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endParaRPr lang="en-US" altLang="zh-CN" b="1" dirty="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zh-CN" altLang="en-US" b="1" dirty="0">
                <a:latin typeface="宋体" panose="02010600030101010101" pitchFamily="2" charset="-122"/>
              </a:rPr>
              <a:t>证明 </a:t>
            </a:r>
            <a:r>
              <a:rPr lang="en-US" altLang="zh-CN" b="1" dirty="0">
                <a:latin typeface="宋体" panose="02010600030101010101" pitchFamily="2" charset="-122"/>
              </a:rPr>
              <a:t>(1) A          P(</a:t>
            </a:r>
            <a:r>
              <a:rPr lang="zh-CN" altLang="en-US" b="1" dirty="0">
                <a:latin typeface="宋体" panose="02010600030101010101" pitchFamily="2" charset="-122"/>
              </a:rPr>
              <a:t>附加前提</a:t>
            </a:r>
            <a:r>
              <a:rPr lang="en-US" altLang="zh-CN" b="1" dirty="0">
                <a:latin typeface="宋体" panose="02010600030101010101" pitchFamily="2" charset="-122"/>
              </a:rPr>
              <a:t>)</a:t>
            </a:r>
            <a:endParaRPr lang="en-US" altLang="zh-CN" b="1" dirty="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 b="1" dirty="0">
                <a:latin typeface="宋体" panose="02010600030101010101" pitchFamily="2" charset="-122"/>
              </a:rPr>
              <a:t>     (2) </a:t>
            </a:r>
            <a:r>
              <a:rPr lang="en-US" altLang="zh-CN" b="1" dirty="0">
                <a:sym typeface="Symbol" panose="05050102010706020507" pitchFamily="18" charset="2"/>
              </a:rPr>
              <a:t></a:t>
            </a:r>
            <a:r>
              <a:rPr lang="en-US" altLang="zh-CN" b="1" dirty="0">
                <a:latin typeface="宋体" panose="02010600030101010101" pitchFamily="2" charset="-122"/>
              </a:rPr>
              <a:t>A∨B      P</a:t>
            </a:r>
            <a:endParaRPr lang="en-US" altLang="zh-CN" b="1" dirty="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 b="1" dirty="0">
                <a:latin typeface="宋体" panose="02010600030101010101" pitchFamily="2" charset="-122"/>
              </a:rPr>
              <a:t>     (3) B          T  (1)(2) I</a:t>
            </a:r>
            <a:r>
              <a:rPr lang="en-US" altLang="zh-CN" b="1" baseline="-25000" dirty="0">
                <a:latin typeface="宋体" panose="02010600030101010101" pitchFamily="2" charset="-122"/>
              </a:rPr>
              <a:t>10</a:t>
            </a:r>
            <a:endParaRPr lang="en-US" altLang="zh-CN" b="1" dirty="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 b="1" dirty="0">
                <a:latin typeface="宋体" panose="02010600030101010101" pitchFamily="2" charset="-122"/>
              </a:rPr>
              <a:t>     (4) C→</a:t>
            </a:r>
            <a:r>
              <a:rPr lang="en-US" altLang="zh-CN" b="1" dirty="0">
                <a:sym typeface="Symbol" panose="05050102010706020507" pitchFamily="18" charset="2"/>
              </a:rPr>
              <a:t></a:t>
            </a:r>
            <a:r>
              <a:rPr lang="en-US" altLang="zh-CN" b="1" dirty="0">
                <a:latin typeface="宋体" panose="02010600030101010101" pitchFamily="2" charset="-122"/>
              </a:rPr>
              <a:t>B      P</a:t>
            </a:r>
            <a:endParaRPr lang="en-US" altLang="zh-CN" b="1" dirty="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 b="1" dirty="0">
                <a:latin typeface="宋体" panose="02010600030101010101" pitchFamily="2" charset="-122"/>
              </a:rPr>
              <a:t>     (5) </a:t>
            </a:r>
            <a:r>
              <a:rPr lang="en-US" altLang="zh-CN" b="1" dirty="0">
                <a:sym typeface="Symbol" panose="05050102010706020507" pitchFamily="18" charset="2"/>
              </a:rPr>
              <a:t></a:t>
            </a:r>
            <a:r>
              <a:rPr lang="en-US" altLang="zh-CN" b="1" dirty="0">
                <a:latin typeface="宋体" panose="02010600030101010101" pitchFamily="2" charset="-122"/>
              </a:rPr>
              <a:t>C         T  (3)(4) I</a:t>
            </a:r>
            <a:r>
              <a:rPr lang="en-US" altLang="zh-CN" b="1" baseline="-25000" dirty="0">
                <a:latin typeface="宋体" panose="02010600030101010101" pitchFamily="2" charset="-122"/>
              </a:rPr>
              <a:t>12</a:t>
            </a:r>
            <a:endParaRPr lang="en-US" altLang="zh-CN" b="1" dirty="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 b="1" dirty="0">
                <a:latin typeface="宋体" panose="02010600030101010101" pitchFamily="2" charset="-122"/>
              </a:rPr>
              <a:t>     (6) A→</a:t>
            </a:r>
            <a:r>
              <a:rPr lang="en-US" altLang="zh-CN" b="1" dirty="0">
                <a:sym typeface="Symbol" panose="05050102010706020507" pitchFamily="18" charset="2"/>
              </a:rPr>
              <a:t></a:t>
            </a:r>
            <a:r>
              <a:rPr lang="en-US" altLang="zh-CN" b="1" dirty="0">
                <a:latin typeface="宋体" panose="02010600030101010101" pitchFamily="2" charset="-122"/>
              </a:rPr>
              <a:t>C      CP</a:t>
            </a:r>
            <a:endParaRPr lang="en-US" altLang="zh-CN" b="1" dirty="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401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40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40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40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40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140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140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140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140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140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4019" grpId="0" autoUpdateAnimBg="0" build="p"/>
    </p:bldLst>
  </p:timing>
</p:sld>
</file>

<file path=ppt/tags/tag1.xml><?xml version="1.0" encoding="utf-8"?>
<p:tagLst xmlns:p="http://schemas.openxmlformats.org/presentationml/2006/main">
  <p:tag name="KSO_WPP_MARK_KEY" val="9fa0cfeb-1ac5-41b4-b1aa-564ad27b424e"/>
  <p:tag name="COMMONDATA" val="eyJoZGlkIjoiOTdlZWM4ZTkzMDQwNzlhMzliMmYyZDVlZGZhZjFmYzU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4501</Words>
  <Application>WPS 演示</Application>
  <PresentationFormat>全屏显示(4:3)</PresentationFormat>
  <Paragraphs>202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5" baseType="lpstr">
      <vt:lpstr>Arial</vt:lpstr>
      <vt:lpstr>宋体</vt:lpstr>
      <vt:lpstr>Wingdings</vt:lpstr>
      <vt:lpstr>Candara</vt:lpstr>
      <vt:lpstr>华文楷体</vt:lpstr>
      <vt:lpstr>Calibri Light</vt:lpstr>
      <vt:lpstr>楷体</vt:lpstr>
      <vt:lpstr>黑体</vt:lpstr>
      <vt:lpstr>Times New Roman</vt:lpstr>
      <vt:lpstr>Symbol</vt:lpstr>
      <vt:lpstr>MS Gothic</vt:lpstr>
      <vt:lpstr>Kingsoft Phonetic Plain</vt:lpstr>
      <vt:lpstr>Segoe Print</vt:lpstr>
      <vt:lpstr>微软雅黑</vt:lpstr>
      <vt:lpstr>Arial Unicode MS</vt:lpstr>
      <vt:lpstr>Office 主题​​</vt:lpstr>
      <vt:lpstr>PowerPoint 演示文稿</vt:lpstr>
      <vt:lpstr>1-7. 命题逻辑推理</vt:lpstr>
      <vt:lpstr>PowerPoint 演示文稿</vt:lpstr>
      <vt:lpstr>重要的重言蕴涵式(如教材第43页所示)</vt:lpstr>
      <vt:lpstr>重要的等价公式</vt:lpstr>
      <vt:lpstr>一、直接推理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二、条件论证 </vt:lpstr>
      <vt:lpstr>二、条件论证 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homg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离散数学</dc:title>
  <dc:creator>xuxf</dc:creator>
  <cp:lastModifiedBy>鲍建华</cp:lastModifiedBy>
  <cp:revision>611</cp:revision>
  <cp:lastPrinted>2020-02-29T08:49:00Z</cp:lastPrinted>
  <dcterms:created xsi:type="dcterms:W3CDTF">2001-03-04T02:11:00Z</dcterms:created>
  <dcterms:modified xsi:type="dcterms:W3CDTF">2026-07-05T12:20:52Z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120022FEF2BF4BD09DDA588652A25225_12</vt:lpwstr>
  </property>
  <property fmtid="{D5CDD505-2E9C-101B-9397-08002B2CF9AE}" pid="3" name="KSOProductBuildVer">
    <vt:lpwstr>2052-12.1.0.22175</vt:lpwstr>
  </property>
</Properties>
</file>