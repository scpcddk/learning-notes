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40"/>
  </p:notesMasterIdLst>
  <p:handoutMasterIdLst>
    <p:handoutMasterId r:id="rId41"/>
  </p:handoutMasterIdLst>
  <p:sldIdLst>
    <p:sldId id="475" r:id="rId4"/>
    <p:sldId id="487" r:id="rId5"/>
    <p:sldId id="488" r:id="rId6"/>
    <p:sldId id="489" r:id="rId7"/>
    <p:sldId id="440" r:id="rId8"/>
    <p:sldId id="490" r:id="rId9"/>
    <p:sldId id="491" r:id="rId10"/>
    <p:sldId id="492" r:id="rId11"/>
    <p:sldId id="494" r:id="rId12"/>
    <p:sldId id="495" r:id="rId13"/>
    <p:sldId id="493" r:id="rId14"/>
    <p:sldId id="277" r:id="rId15"/>
    <p:sldId id="280" r:id="rId16"/>
    <p:sldId id="276" r:id="rId17"/>
    <p:sldId id="281" r:id="rId18"/>
    <p:sldId id="279" r:id="rId19"/>
    <p:sldId id="497" r:id="rId20"/>
    <p:sldId id="496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442" r:id="rId30"/>
    <p:sldId id="294" r:id="rId31"/>
    <p:sldId id="293" r:id="rId32"/>
    <p:sldId id="373" r:id="rId33"/>
    <p:sldId id="298" r:id="rId34"/>
    <p:sldId id="299" r:id="rId35"/>
    <p:sldId id="378" r:id="rId36"/>
    <p:sldId id="379" r:id="rId37"/>
    <p:sldId id="424" r:id="rId38"/>
    <p:sldId id="500" r:id="rId39"/>
  </p:sldIdLst>
  <p:sldSz cx="9144000" cy="6858000" type="screen4x3"/>
  <p:notesSz cx="7099300" cy="10234295"/>
  <p:custDataLst>
    <p:tags r:id="rId4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2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8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5"/>
            <a:ext cx="6858000" cy="2387600"/>
          </a:xfrm>
          <a:prstGeom prst="rect">
            <a:avLst/>
          </a:prstGeom>
        </p:spPr>
        <p:txBody>
          <a:bodyPr lIns="76786" tIns="38393" rIns="76786" bIns="38393" anchor="b"/>
          <a:lstStyle>
            <a:lvl1pPr algn="ctr">
              <a:defRPr sz="5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 lIns="76786" tIns="38393" rIns="76786" bIns="38393"/>
          <a:lstStyle>
            <a:lvl1pPr marL="0" indent="0" algn="ctr">
              <a:buNone/>
              <a:defRPr sz="2000"/>
            </a:lvl1pPr>
            <a:lvl2pPr marL="384175" indent="0" algn="ctr">
              <a:buNone/>
              <a:defRPr sz="1700"/>
            </a:lvl2pPr>
            <a:lvl3pPr marL="767715" indent="0" algn="ctr">
              <a:buNone/>
              <a:defRPr sz="1500"/>
            </a:lvl3pPr>
            <a:lvl4pPr marL="1151890" indent="0" algn="ctr">
              <a:buNone/>
              <a:defRPr sz="1300"/>
            </a:lvl4pPr>
            <a:lvl5pPr marL="1536065" indent="0" algn="ctr">
              <a:buNone/>
              <a:defRPr sz="1300"/>
            </a:lvl5pPr>
            <a:lvl6pPr marL="1920240" indent="0" algn="ctr">
              <a:buNone/>
              <a:defRPr sz="1300"/>
            </a:lvl6pPr>
            <a:lvl7pPr marL="2303780" indent="0" algn="ctr">
              <a:buNone/>
              <a:defRPr sz="1300"/>
            </a:lvl7pPr>
            <a:lvl8pPr marL="2687955" indent="0" algn="ctr">
              <a:buNone/>
              <a:defRPr sz="1300"/>
            </a:lvl8pPr>
            <a:lvl9pPr marL="3072130" indent="0" algn="ctr">
              <a:buNone/>
              <a:defRPr sz="13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/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1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6" Type="http://schemas.openxmlformats.org/officeDocument/2006/relationships/slideLayout" Target="../slideLayouts/slideLayout4.xml"/><Relationship Id="rId25" Type="http://schemas.openxmlformats.org/officeDocument/2006/relationships/tags" Target="../tags/tag43.xml"/><Relationship Id="rId24" Type="http://schemas.openxmlformats.org/officeDocument/2006/relationships/image" Target="../media/image1.png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62.xml"/><Relationship Id="rId2" Type="http://schemas.openxmlformats.org/officeDocument/2006/relationships/tags" Target="../tags/tag45.xml"/><Relationship Id="rId19" Type="http://schemas.openxmlformats.org/officeDocument/2006/relationships/image" Target="../media/image1.png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81.xml"/><Relationship Id="rId2" Type="http://schemas.openxmlformats.org/officeDocument/2006/relationships/tags" Target="../tags/tag64.xml"/><Relationship Id="rId19" Type="http://schemas.openxmlformats.org/officeDocument/2006/relationships/image" Target="../media/image1.png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-952" y="-2600"/>
            <a:ext cx="9172532" cy="511256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lIns="76772" tIns="38386" rIns="76772" bIns="3838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9pPr>
          </a:lstStyle>
          <a:p>
            <a:pPr defTabSz="1024255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lang="zh-CN" altLang="en-US" sz="150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140224" y="836712"/>
            <a:ext cx="4863552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5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17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448826" y="5661248"/>
            <a:ext cx="8312728" cy="673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东北大学</a:t>
            </a:r>
            <a:endParaRPr lang="en-US" altLang="zh-CN" sz="32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endParaRPr lang="en-US" altLang="zh-CN" sz="32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2000" b="1" dirty="0">
                <a:solidFill>
                  <a:srgbClr val="1F497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年春</a:t>
            </a:r>
            <a:endParaRPr lang="zh-CN" altLang="en-US" sz="2000" b="1" dirty="0">
              <a:solidFill>
                <a:srgbClr val="1F497D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267744" y="2348880"/>
            <a:ext cx="4863552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命题逻辑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谓词逻辑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什么是逻辑？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研究人的思维的科学。包括：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辩证逻辑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：是研究人的思维中的辩证法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例如：用全面的和发展的观点观察事物；具体问题具体分析；实践是检查事物正误的唯一标准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形式逻辑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：是研究人的思维的形式和一般规律，是根据已知事实进行推理的方法学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人们是通过各种各样的学习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理论学习和从实践中学习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来掌握许多概念和判断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主要是研究推理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/>
              <a:t>离散数学中的逻辑主要研究的是形式逻辑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人的思维：概念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dirty="0">
                <a:solidFill>
                  <a:srgbClr val="FF0000"/>
                </a:solidFill>
              </a:rPr>
              <a:t>   判断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zh-CN" altLang="en-US" dirty="0">
                <a:solidFill>
                  <a:srgbClr val="FF0000"/>
                </a:solidFill>
              </a:rPr>
              <a:t>    推理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>
                <a:solidFill>
                  <a:schemeClr val="accent2"/>
                </a:solidFill>
              </a:rPr>
              <a:t>正确的思维：概念清楚，判断正确，推理合乎逻辑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形式逻辑中的推理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推理：是由若干个已知的判断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前提</a:t>
            </a:r>
            <a:r>
              <a:rPr lang="en-US" altLang="zh-CN" dirty="0"/>
              <a:t>)</a:t>
            </a:r>
            <a:r>
              <a:rPr lang="zh-CN" altLang="en-US" dirty="0"/>
              <a:t>，推出新的判断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结论</a:t>
            </a:r>
            <a:r>
              <a:rPr lang="en-US" altLang="zh-CN" dirty="0"/>
              <a:t>)</a:t>
            </a:r>
            <a:r>
              <a:rPr lang="zh-CN" altLang="en-US" dirty="0"/>
              <a:t>的思维过程。</a:t>
            </a:r>
            <a:endParaRPr lang="en-US" altLang="zh-CN" dirty="0"/>
          </a:p>
          <a:p>
            <a:pPr lvl="1"/>
            <a:r>
              <a:rPr lang="zh-CN" altLang="en-US" dirty="0"/>
              <a:t>类比推理：由个别事实推出个别结论</a:t>
            </a:r>
            <a:endParaRPr lang="en-US" altLang="zh-CN" dirty="0"/>
          </a:p>
          <a:p>
            <a:pPr lvl="1"/>
            <a:r>
              <a:rPr lang="zh-CN" altLang="en-US" dirty="0"/>
              <a:t>归纳推理：由若干个别事实推出一般结论</a:t>
            </a:r>
            <a:endParaRPr lang="en-US" altLang="zh-CN" dirty="0"/>
          </a:p>
          <a:p>
            <a:pPr lvl="1"/>
            <a:r>
              <a:rPr lang="zh-CN" altLang="en-US" dirty="0"/>
              <a:t>演绎推理：</a:t>
            </a:r>
            <a:r>
              <a:rPr lang="zh-CN" altLang="en-US" dirty="0">
                <a:solidFill>
                  <a:srgbClr val="FF0000"/>
                </a:solidFill>
              </a:rPr>
              <a:t>由一般规律推出个别事实</a:t>
            </a:r>
            <a:endParaRPr lang="en-US" altLang="zh-CN" dirty="0"/>
          </a:p>
          <a:p>
            <a:r>
              <a:rPr lang="zh-CN" altLang="en-US" dirty="0"/>
              <a:t>形式逻辑主要是研究</a:t>
            </a:r>
            <a:r>
              <a:rPr lang="zh-CN" altLang="en-US" dirty="0">
                <a:solidFill>
                  <a:srgbClr val="FF0000"/>
                </a:solidFill>
              </a:rPr>
              <a:t>演绎推理，举例：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如果天下雨，则路上有水。  </a:t>
            </a:r>
            <a:r>
              <a:rPr lang="en-US" altLang="zh-CN" dirty="0"/>
              <a:t>(</a:t>
            </a:r>
            <a:r>
              <a:rPr lang="zh-CN" altLang="en-US" dirty="0"/>
              <a:t>一般规律</a:t>
            </a:r>
            <a:r>
              <a:rPr lang="en-US" altLang="zh-CN" dirty="0"/>
              <a:t>) </a:t>
            </a:r>
            <a:endParaRPr lang="en-US" altLang="zh-CN" dirty="0"/>
          </a:p>
          <a:p>
            <a:pPr lvl="1"/>
            <a:r>
              <a:rPr lang="zh-CN" altLang="en-US" dirty="0"/>
              <a:t>天下雨了。                              </a:t>
            </a:r>
            <a:r>
              <a:rPr lang="en-US" altLang="zh-CN" dirty="0"/>
              <a:t>(</a:t>
            </a:r>
            <a:r>
              <a:rPr lang="zh-CN" altLang="en-US" dirty="0"/>
              <a:t>个别事实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zh-CN" altLang="en-US" dirty="0"/>
              <a:t>推出结论：路上有水。          </a:t>
            </a:r>
            <a:r>
              <a:rPr lang="en-US" altLang="zh-CN" dirty="0"/>
              <a:t>(</a:t>
            </a:r>
            <a:r>
              <a:rPr lang="zh-CN" altLang="en-US" dirty="0"/>
              <a:t>个别结论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从形式逻辑到数理逻辑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3528392"/>
          </a:xfrm>
        </p:spPr>
        <p:txBody>
          <a:bodyPr/>
          <a:lstStyle/>
          <a:p>
            <a:r>
              <a:rPr lang="zh-CN" altLang="en-US" dirty="0"/>
              <a:t>数理逻辑是</a:t>
            </a:r>
            <a:r>
              <a:rPr lang="zh-CN" altLang="en-US" dirty="0">
                <a:solidFill>
                  <a:srgbClr val="FF0000"/>
                </a:solidFill>
              </a:rPr>
              <a:t>用数学的方法</a:t>
            </a:r>
            <a:r>
              <a:rPr lang="zh-CN" altLang="en-US" dirty="0"/>
              <a:t>研究形式逻辑</a:t>
            </a:r>
            <a:endParaRPr lang="en-US" altLang="zh-CN" dirty="0"/>
          </a:p>
          <a:p>
            <a:pPr lvl="1"/>
            <a:r>
              <a:rPr lang="zh-CN" altLang="en-US" dirty="0"/>
              <a:t>所谓“数学方法”：</a:t>
            </a:r>
            <a:r>
              <a:rPr lang="zh-CN" altLang="en-US" dirty="0">
                <a:solidFill>
                  <a:srgbClr val="FF0000"/>
                </a:solidFill>
              </a:rPr>
              <a:t>是建立一套有严格定义的符号</a:t>
            </a:r>
            <a:r>
              <a:rPr lang="zh-CN" altLang="en-US" dirty="0"/>
              <a:t>，即建立一套形式语言，来研究形式逻辑。所以</a:t>
            </a:r>
            <a:r>
              <a:rPr lang="zh-CN" altLang="en-US" dirty="0">
                <a:solidFill>
                  <a:srgbClr val="FF0000"/>
                </a:solidFill>
              </a:rPr>
              <a:t>数理逻辑也称为“符号逻辑”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是由莱布尼兹 </a:t>
            </a:r>
            <a:r>
              <a:rPr lang="en-US" altLang="zh-CN" dirty="0"/>
              <a:t>(</a:t>
            </a:r>
            <a:r>
              <a:rPr lang="en-US" altLang="zh-CN" dirty="0" err="1"/>
              <a:t>G.W.Leibniz</a:t>
            </a:r>
            <a:r>
              <a:rPr lang="en-US" altLang="zh-CN" dirty="0"/>
              <a:t>, 1646-1716,</a:t>
            </a:r>
            <a:r>
              <a:rPr lang="zh-CN" altLang="en-US" dirty="0"/>
              <a:t>德国</a:t>
            </a:r>
            <a:r>
              <a:rPr lang="en-US" altLang="zh-CN" dirty="0"/>
              <a:t>)</a:t>
            </a:r>
            <a:r>
              <a:rPr lang="zh-CN" altLang="en-US" dirty="0"/>
              <a:t>首先提出来的。所以莱布尼兹被认为是数理逻辑的创始人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544952" y="4077072"/>
            <a:ext cx="1694056" cy="1512168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符号系统</a:t>
            </a:r>
            <a:endParaRPr lang="zh-CN" altLang="en-US" sz="28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箭头: 右 4"/>
          <p:cNvSpPr/>
          <p:nvPr/>
        </p:nvSpPr>
        <p:spPr>
          <a:xfrm>
            <a:off x="5373556" y="4692104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12160" y="4509120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结论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475656" y="4545124"/>
            <a:ext cx="136815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已知条件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2973622" y="4725144"/>
            <a:ext cx="5040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ln>
            <a:noFill/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数理逻辑的主要内容：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逻辑演算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证明论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公理集合论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递归论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       模型论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我们只涉及逻辑演算中“</a:t>
            </a:r>
            <a:r>
              <a:rPr lang="zh-CN" altLang="en-US" sz="2800" dirty="0">
                <a:solidFill>
                  <a:srgbClr val="FF0000"/>
                </a:solidFill>
              </a:rPr>
              <a:t>命题逻辑</a:t>
            </a:r>
            <a:r>
              <a:rPr lang="zh-CN" altLang="en-US" sz="2800" dirty="0"/>
              <a:t>”和“</a:t>
            </a:r>
            <a:r>
              <a:rPr lang="zh-CN" altLang="en-US" sz="2800" dirty="0">
                <a:solidFill>
                  <a:srgbClr val="FF0000"/>
                </a:solidFill>
              </a:rPr>
              <a:t>谓词逻辑</a:t>
            </a:r>
            <a:r>
              <a:rPr lang="zh-CN" altLang="en-US" sz="2800" dirty="0"/>
              <a:t>”。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数理逻辑与数学的其它分支、计算机科学、人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工智能、语言学等学科均有密切联系。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下面就前面两个例子，说明如何将推理符号化的。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8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8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ea typeface="隶书" panose="02010509060101010101" pitchFamily="49" charset="-122"/>
              </a:rPr>
              <a:t>数理逻辑把推理符号化举例（</a:t>
            </a:r>
            <a:r>
              <a:rPr lang="en-US" altLang="zh-CN" dirty="0">
                <a:ea typeface="隶书" panose="02010509060101010101" pitchFamily="49" charset="-122"/>
              </a:rPr>
              <a:t>1</a:t>
            </a:r>
            <a:r>
              <a:rPr lang="zh-CN" altLang="en-US" dirty="0">
                <a:ea typeface="隶书" panose="02010509060101010101" pitchFamily="49" charset="-122"/>
              </a:rPr>
              <a:t>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5576" y="1124744"/>
            <a:ext cx="7776864" cy="4968552"/>
          </a:xfrm>
          <a:prstGeom prst="rect">
            <a:avLst/>
          </a:prstGeom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设 </a:t>
            </a:r>
            <a:r>
              <a:rPr lang="en-US" altLang="zh-CN" dirty="0"/>
              <a:t>P</a:t>
            </a:r>
            <a:r>
              <a:rPr lang="zh-CN" altLang="en-US" dirty="0"/>
              <a:t>表示：天下雨。                                 设 </a:t>
            </a:r>
            <a:r>
              <a:rPr lang="en-US" altLang="zh-CN" dirty="0"/>
              <a:t>Q</a:t>
            </a:r>
            <a:r>
              <a:rPr lang="zh-CN" altLang="en-US" dirty="0"/>
              <a:t>表示：路上有水。                                               设</a:t>
            </a:r>
            <a:r>
              <a:rPr lang="zh-CN" altLang="en-US" dirty="0">
                <a:sym typeface="Symbol" panose="05050102010706020507" pitchFamily="18" charset="2"/>
              </a:rPr>
              <a:t>表示</a:t>
            </a:r>
            <a:r>
              <a:rPr lang="zh-CN" altLang="zh-CN" dirty="0">
                <a:sym typeface="Symbol" panose="05050102010706020507" pitchFamily="18" charset="2"/>
              </a:rPr>
              <a:t>：如果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…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zh-CN" altLang="en-US" dirty="0">
                <a:sym typeface="Symbol" panose="05050102010706020507" pitchFamily="18" charset="2"/>
              </a:rPr>
              <a:t>例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的推理过程表示为：                         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PQ (</a:t>
            </a:r>
            <a:r>
              <a:rPr lang="zh-CN" altLang="en-US" dirty="0">
                <a:sym typeface="Symbol" panose="05050102010706020507" pitchFamily="18" charset="2"/>
              </a:rPr>
              <a:t>如果天下雨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zh-CN" altLang="en-US" dirty="0"/>
              <a:t>路上有水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P       (</a:t>
            </a:r>
            <a:r>
              <a:rPr lang="zh-CN" altLang="zh-CN" dirty="0">
                <a:sym typeface="Symbol" panose="05050102010706020507" pitchFamily="18" charset="2"/>
              </a:rPr>
              <a:t>天</a:t>
            </a:r>
            <a:r>
              <a:rPr lang="zh-CN" altLang="en-US" dirty="0">
                <a:sym typeface="Symbol" panose="05050102010706020507" pitchFamily="18" charset="2"/>
              </a:rPr>
              <a:t>下雨了。</a:t>
            </a:r>
            <a:r>
              <a:rPr lang="en-US" altLang="zh-CN" dirty="0">
                <a:sym typeface="Symbol" panose="05050102010706020507" pitchFamily="18" charset="2"/>
              </a:rPr>
              <a:t>)                                  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结  论：</a:t>
            </a:r>
            <a:r>
              <a:rPr lang="en-US" altLang="zh-CN" dirty="0">
                <a:sym typeface="Symbol" panose="05050102010706020507" pitchFamily="18" charset="2"/>
              </a:rPr>
              <a:t>Q       (</a:t>
            </a:r>
            <a:r>
              <a:rPr lang="zh-CN" altLang="en-US" dirty="0"/>
              <a:t>路上有水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en-US" altLang="zh-CN" dirty="0">
                <a:sym typeface="Symbol" panose="05050102010706020507" pitchFamily="18" charset="2"/>
              </a:rPr>
              <a:t>)   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         </a:t>
            </a:r>
            <a:endParaRPr lang="en-US" altLang="zh-CN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这就是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第一章</a:t>
            </a:r>
            <a:r>
              <a:rPr lang="zh-CN" altLang="en-US" dirty="0">
                <a:sym typeface="Symbol" panose="05050102010706020507" pitchFamily="18" charset="2"/>
              </a:rPr>
              <a:t>命题逻辑中要讨论的问题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ea typeface="隶书" panose="02010509060101010101" pitchFamily="49" charset="-122"/>
              </a:rPr>
              <a:t>数理逻辑把推理符号化举例（</a:t>
            </a:r>
            <a:r>
              <a:rPr lang="en-US" altLang="zh-CN" dirty="0">
                <a:ea typeface="隶书" panose="02010509060101010101" pitchFamily="49" charset="-122"/>
              </a:rPr>
              <a:t>2</a:t>
            </a:r>
            <a:r>
              <a:rPr lang="zh-CN" altLang="en-US" dirty="0">
                <a:ea typeface="隶书" panose="02010509060101010101" pitchFamily="49" charset="-122"/>
              </a:rPr>
              <a:t>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90525" y="1154906"/>
            <a:ext cx="8285931" cy="4548187"/>
          </a:xfrm>
          <a:prstGeom prst="rect">
            <a:avLst/>
          </a:prstGeom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设</a:t>
            </a:r>
            <a:r>
              <a:rPr lang="en-US" altLang="zh-CN" dirty="0"/>
              <a:t>M(x)     </a:t>
            </a:r>
            <a:r>
              <a:rPr lang="zh-CN" altLang="en-US" dirty="0"/>
              <a:t>： </a:t>
            </a:r>
            <a:r>
              <a:rPr lang="en-US" altLang="zh-CN" dirty="0"/>
              <a:t>x</a:t>
            </a:r>
            <a:r>
              <a:rPr lang="zh-CN" altLang="zh-CN" dirty="0"/>
              <a:t>是金属。设</a:t>
            </a:r>
            <a:r>
              <a:rPr lang="en-US" altLang="zh-CN" dirty="0"/>
              <a:t>C(x)</a:t>
            </a:r>
            <a:r>
              <a:rPr lang="zh-CN" altLang="en-US" dirty="0"/>
              <a:t>：  </a:t>
            </a:r>
            <a:r>
              <a:rPr lang="en-US" altLang="zh-CN" dirty="0"/>
              <a:t>x</a:t>
            </a:r>
            <a:r>
              <a:rPr lang="zh-CN" altLang="en-US" dirty="0"/>
              <a:t>能导电。      设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>
                <a:sym typeface="Symbol" panose="05050102010706020507" pitchFamily="18" charset="2"/>
              </a:rPr>
              <a:t>x </a:t>
            </a:r>
            <a:r>
              <a:rPr lang="zh-CN" altLang="en-US" dirty="0">
                <a:sym typeface="Symbol" panose="05050102010706020507" pitchFamily="18" charset="2"/>
              </a:rPr>
              <a:t>表示：所有的</a:t>
            </a:r>
            <a:r>
              <a:rPr lang="en-US" altLang="zh-CN" dirty="0">
                <a:sym typeface="Symbol" panose="05050102010706020507" pitchFamily="18" charset="2"/>
              </a:rPr>
              <a:t>x </a:t>
            </a:r>
            <a:r>
              <a:rPr lang="zh-CN" altLang="en-US" dirty="0">
                <a:sym typeface="Symbol" panose="05050102010706020507" pitchFamily="18" charset="2"/>
              </a:rPr>
              <a:t>。设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a   </a:t>
            </a:r>
            <a:r>
              <a:rPr lang="zh-CN" altLang="en-US" dirty="0">
                <a:sym typeface="Symbol" panose="05050102010706020507" pitchFamily="18" charset="2"/>
              </a:rPr>
              <a:t>：  表示铜。</a:t>
            </a:r>
            <a:endParaRPr lang="en-US" altLang="en-US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例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的推理过程表示为：                         </a:t>
            </a:r>
            <a:r>
              <a:rPr lang="en-US" altLang="en-US" dirty="0">
                <a:sym typeface="Symbol" panose="05050102010706020507" pitchFamily="18" charset="2"/>
              </a:rPr>
              <a:t>   </a:t>
            </a:r>
            <a:endParaRPr lang="en-US" altLang="en-US" dirty="0">
              <a:sym typeface="Symbol" panose="05050102010706020507" pitchFamily="18" charset="2"/>
            </a:endParaRPr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前提：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x(M(x)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C(x))   (</a:t>
            </a:r>
            <a:r>
              <a:rPr lang="zh-CN" altLang="zh-CN" dirty="0"/>
              <a:t>所有金属都导电</a:t>
            </a:r>
            <a:r>
              <a:rPr lang="en-US" altLang="zh-CN" dirty="0"/>
              <a:t>)                         </a:t>
            </a:r>
            <a:r>
              <a:rPr lang="zh-CN" altLang="en-US" dirty="0">
                <a:solidFill>
                  <a:srgbClr val="FF0000"/>
                </a:solidFill>
              </a:rPr>
              <a:t>前提：</a:t>
            </a:r>
            <a:r>
              <a:rPr lang="en-US" altLang="zh-CN" dirty="0"/>
              <a:t>M(a)                    (</a:t>
            </a:r>
            <a:r>
              <a:rPr lang="zh-CN" altLang="zh-CN" dirty="0"/>
              <a:t>铜是金属</a:t>
            </a:r>
            <a:r>
              <a:rPr lang="en-US" altLang="zh-CN" dirty="0"/>
              <a:t>)                            </a:t>
            </a:r>
            <a:r>
              <a:rPr lang="zh-CN" altLang="en-US" dirty="0">
                <a:solidFill>
                  <a:srgbClr val="FF0000"/>
                </a:solidFill>
              </a:rPr>
              <a:t>结论：</a:t>
            </a:r>
            <a:r>
              <a:rPr lang="en-US" altLang="zh-CN" dirty="0"/>
              <a:t>C(a)                     (</a:t>
            </a:r>
            <a:r>
              <a:rPr lang="zh-CN" altLang="en-US" dirty="0"/>
              <a:t>铜能导电</a:t>
            </a:r>
            <a:r>
              <a:rPr lang="en-US" altLang="zh-CN" dirty="0"/>
              <a:t>)     </a:t>
            </a:r>
            <a:endParaRPr lang="en-US" altLang="zh-CN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en-US" altLang="zh-CN" dirty="0"/>
              <a:t>     (</a:t>
            </a:r>
            <a:r>
              <a:rPr lang="zh-CN" altLang="en-US" dirty="0"/>
              <a:t>其中符号</a:t>
            </a:r>
            <a:r>
              <a:rPr lang="en-US" altLang="zh-CN" dirty="0"/>
              <a:t>M(x)</a:t>
            </a:r>
            <a:r>
              <a:rPr lang="zh-CN" altLang="en-US" dirty="0"/>
              <a:t>是谓词）</a:t>
            </a:r>
            <a:endParaRPr lang="en-US" altLang="zh-CN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dirty="0"/>
              <a:t>这就是</a:t>
            </a:r>
            <a:r>
              <a:rPr lang="zh-CN" altLang="en-US" dirty="0">
                <a:solidFill>
                  <a:srgbClr val="FF0000"/>
                </a:solidFill>
              </a:rPr>
              <a:t>第二章</a:t>
            </a:r>
            <a:r>
              <a:rPr lang="zh-CN" altLang="en-US" dirty="0"/>
              <a:t>“谓词逻辑”中所讨论的内容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数理逻辑与计算机</a:t>
            </a:r>
            <a:endParaRPr lang="zh-CN" altLang="en-US" dirty="0"/>
          </a:p>
        </p:txBody>
      </p:sp>
      <p:sp>
        <p:nvSpPr>
          <p:cNvPr id="4" name="Rectangle 1028"/>
          <p:cNvSpPr txBox="1">
            <a:spLocks noChangeArrowheads="1"/>
          </p:cNvSpPr>
          <p:nvPr/>
        </p:nvSpPr>
        <p:spPr>
          <a:xfrm>
            <a:off x="395140" y="1196752"/>
            <a:ext cx="8641356" cy="4824536"/>
          </a:xfrm>
          <a:prstGeom prst="rect">
            <a:avLst/>
          </a:prstGeom>
          <a:noFill/>
          <a:ln>
            <a:solidFill>
              <a:srgbClr val="FF0000"/>
            </a:solidFill>
            <a:miter lim="800000"/>
          </a:ln>
        </p:spPr>
        <p:txBody>
          <a:bodyPr lIns="76786" tIns="38393" rIns="76786" bIns="38393"/>
          <a:lstStyle>
            <a:lvl1pPr marL="384175" indent="-38417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832485" indent="-320040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2807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26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3050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3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81749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29305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175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560" indent="-255905" algn="l" defTabSz="102425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使用计算机必须首先学会编“程序”，那么什么是程序（软硬件程序）？</a:t>
            </a:r>
            <a:endParaRPr lang="en-US" altLang="zh-CN" sz="2800" b="1" dirty="0"/>
          </a:p>
          <a:p>
            <a:pPr fontAlgn="auto">
              <a:spcAft>
                <a:spcPts val="0"/>
              </a:spcAft>
              <a:buFontTx/>
              <a:buNone/>
            </a:pP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                        程序＝</a:t>
            </a:r>
            <a:r>
              <a:rPr lang="zh-CN" altLang="en-US" sz="2800" b="1" dirty="0">
                <a:solidFill>
                  <a:srgbClr val="FF0000"/>
                </a:solidFill>
              </a:rPr>
              <a:t>算法</a:t>
            </a:r>
            <a:r>
              <a:rPr lang="zh-CN" altLang="en-US" sz="2800" b="1" dirty="0"/>
              <a:t>＋数据</a:t>
            </a: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                            算法＝</a:t>
            </a:r>
            <a:r>
              <a:rPr lang="zh-CN" altLang="en-US" sz="2800" b="1" dirty="0">
                <a:solidFill>
                  <a:srgbClr val="FF0000"/>
                </a:solidFill>
              </a:rPr>
              <a:t>逻辑</a:t>
            </a:r>
            <a:r>
              <a:rPr lang="zh-CN" altLang="en-US" sz="2800" b="1" dirty="0"/>
              <a:t>＋控制</a:t>
            </a:r>
            <a:endParaRPr lang="zh-CN" altLang="en-US" sz="2800" b="1" dirty="0"/>
          </a:p>
          <a:p>
            <a:pPr fontAlgn="auto">
              <a:spcAft>
                <a:spcPts val="0"/>
              </a:spcAft>
              <a:buFontTx/>
              <a:buNone/>
            </a:pPr>
            <a:endParaRPr lang="en-US" altLang="zh-CN" sz="2800" b="1" dirty="0"/>
          </a:p>
          <a:p>
            <a:pPr fontAlgn="auto">
              <a:spcAft>
                <a:spcPts val="0"/>
              </a:spcAft>
              <a:buFontTx/>
              <a:buNone/>
            </a:pPr>
            <a:r>
              <a:rPr lang="zh-CN" altLang="en-US" sz="2800" b="1" dirty="0"/>
              <a:t>    可见“逻辑”对于编程序是多么重要。要想学好使用好计算机，必须学习逻辑，此外，通过学习逻辑，掌握逻辑推理规律和证明方法 ，会培养学生的逻辑思维能力，提高证明问题的技巧。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逻辑是研究人的思维的科学，包括：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辩证逻辑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归纳推理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形式逻辑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演绎推理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类比推理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数理逻辑是形式逻辑的一种，其核心是通过符号系统构建形式语言规则，下面属于数理逻辑推理的是：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已知“如果天下雨</a:t>
            </a:r>
            <a:r>
              <a:rPr lang="en-US" altLang="zh-CN" sz="2400" dirty="0"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sym typeface="Symbol" panose="05050102010706020507" pitchFamily="18" charset="2"/>
              </a:rPr>
              <a:t>则</a:t>
            </a:r>
            <a:r>
              <a:rPr lang="zh-CN" altLang="en-US" sz="2400" dirty="0"/>
              <a:t>路上有水”、“天下雨”，推理出结论：路上有水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Symbol" panose="05050102010706020507" pitchFamily="18" charset="2"/>
              </a:rPr>
              <a:t>已知：</a:t>
            </a:r>
            <a:r>
              <a:rPr lang="en-US" altLang="zh-CN" sz="2400" dirty="0">
                <a:sym typeface="Symbol" panose="05050102010706020507" pitchFamily="18" charset="2"/>
              </a:rPr>
              <a:t>PQ 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P</a:t>
            </a:r>
            <a:r>
              <a:rPr lang="zh-CN" altLang="en-US" sz="2400" dirty="0">
                <a:sym typeface="Symbol" panose="05050102010706020507" pitchFamily="18" charset="2"/>
              </a:rPr>
              <a:t>，推理出结论：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微软雅黑" panose="020B0503020204020204" pitchFamily="34" charset="-122"/>
              </a:rPr>
              <a:t>已知：“地球上有空气、水，地球上有生物”、“火星上有空气、水”。推理出：火星上有生物</a:t>
            </a:r>
            <a:endParaRPr lang="zh-CN" altLang="en-US" sz="2400" dirty="0"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ym typeface="微软雅黑" panose="020B0503020204020204" pitchFamily="34" charset="-122"/>
              </a:rPr>
              <a:t>已知：“</a:t>
            </a:r>
            <a:r>
              <a:rPr lang="zh-CN" altLang="en-US" sz="2400" dirty="0"/>
              <a:t>铜能导电。铁能导电。锡能导电</a:t>
            </a:r>
            <a:r>
              <a:rPr lang="zh-CN" altLang="en-US" sz="2400" dirty="0">
                <a:sym typeface="微软雅黑" panose="020B0503020204020204" pitchFamily="34" charset="-122"/>
              </a:rPr>
              <a:t>”，推理出：金属导电。</a:t>
            </a:r>
            <a:endParaRPr lang="zh-CN" altLang="en-US" sz="2400" dirty="0"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1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12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2" name="组合 21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9" name="RemarkBack" hidden="1"/>
            <p:cNvSpPr/>
            <p:nvPr>
              <p:custDataLst>
                <p:tags r:id="rId1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 hidden="1"/>
            <p:cNvSpPr/>
            <p:nvPr>
              <p:custDataLst>
                <p:tags r:id="rId1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 hidden="1"/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6" name="矩形 25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命题逻辑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800" dirty="0">
                <a:ea typeface="隶书" panose="02010509060101010101" pitchFamily="49" charset="-122"/>
              </a:rPr>
              <a:t>     </a:t>
            </a:r>
            <a:br>
              <a:rPr lang="en-US" altLang="zh-CN" sz="4800" dirty="0">
                <a:ea typeface="隶书" panose="02010509060101010101" pitchFamily="49" charset="-122"/>
              </a:rPr>
            </a:br>
            <a:r>
              <a:rPr lang="en-US" altLang="zh-CN" sz="4800" dirty="0">
                <a:ea typeface="隶书" panose="02010509060101010101" pitchFamily="49" charset="-122"/>
              </a:rPr>
              <a:t>   </a:t>
            </a:r>
            <a:r>
              <a:rPr lang="zh-CN" altLang="en-US" sz="4800" b="1" dirty="0">
                <a:ea typeface="黑体" panose="02010609060101010101" pitchFamily="49" charset="-122"/>
              </a:rPr>
              <a:t>第一章    命题逻辑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这章是以“</a:t>
            </a:r>
            <a:r>
              <a:rPr lang="zh-CN" altLang="en-US" dirty="0">
                <a:solidFill>
                  <a:srgbClr val="FF0000"/>
                </a:solidFill>
              </a:rPr>
              <a:t>命题</a:t>
            </a:r>
            <a:r>
              <a:rPr lang="zh-CN" altLang="en-US" dirty="0"/>
              <a:t>”为中心</a:t>
            </a:r>
            <a:endParaRPr lang="zh-CN" altLang="en-US" dirty="0"/>
          </a:p>
          <a:p>
            <a:pPr eaLnBrk="1" hangingPunct="1"/>
            <a:r>
              <a:rPr lang="zh-CN" altLang="en-US" dirty="0"/>
              <a:t>主要讨论：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命题的表示、命题的演算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命题演算中的公式，及其应用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命题逻辑推理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ea typeface="隶书" panose="02010509060101010101" pitchFamily="49" charset="-122"/>
              </a:rPr>
              <a:t>1-1. </a:t>
            </a:r>
            <a:r>
              <a:rPr lang="zh-CN" altLang="en-US">
                <a:ea typeface="黑体" panose="02010609060101010101" pitchFamily="49" charset="-122"/>
              </a:rPr>
              <a:t>命题与命题的真值</a:t>
            </a:r>
            <a:endParaRPr lang="zh-CN" altLang="en-US">
              <a:ea typeface="隶书" panose="02010509060101010101" pitchFamily="49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本节主要讨论三个问题：</a:t>
            </a:r>
            <a:endParaRPr lang="zh-CN" altLang="en-US"/>
          </a:p>
          <a:p>
            <a:pPr eaLnBrk="1" hangingPunct="1"/>
            <a:r>
              <a:rPr lang="zh-CN" altLang="en-US"/>
              <a:t>命题的概念</a:t>
            </a:r>
            <a:endParaRPr lang="zh-CN" altLang="en-US"/>
          </a:p>
          <a:p>
            <a:pPr eaLnBrk="1" hangingPunct="1"/>
            <a:r>
              <a:rPr lang="zh-CN" altLang="en-US"/>
              <a:t>命题的真值</a:t>
            </a:r>
            <a:endParaRPr lang="zh-CN" altLang="en-US"/>
          </a:p>
          <a:p>
            <a:pPr eaLnBrk="1" hangingPunct="1"/>
            <a:r>
              <a:rPr lang="zh-CN" altLang="en-US"/>
              <a:t>原子命题与复合命题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一</a:t>
            </a:r>
            <a:r>
              <a:rPr lang="en-US" altLang="zh-CN">
                <a:solidFill>
                  <a:srgbClr val="FF0000"/>
                </a:solidFill>
              </a:rPr>
              <a:t>. 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命题的概念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命题</a:t>
            </a:r>
            <a:r>
              <a:rPr lang="zh-CN" altLang="en-US" sz="2800" dirty="0"/>
              <a:t>是一个能确定是真的或是假的判断。（判断都是用陈述句表示）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1-1.1   </a:t>
            </a:r>
            <a:r>
              <a:rPr lang="zh-CN" altLang="en-US" sz="2800" dirty="0"/>
              <a:t>判定下面这些句子哪些是命题。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⑴ </a:t>
            </a:r>
            <a:r>
              <a:rPr lang="en-US" altLang="zh-CN" sz="2800" dirty="0"/>
              <a:t>2</a:t>
            </a:r>
            <a:r>
              <a:rPr lang="zh-CN" altLang="en-US" sz="2800" dirty="0"/>
              <a:t>是个素数。         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⑵ 雪是黑色的。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⑶ </a:t>
            </a:r>
            <a:r>
              <a:rPr lang="en-US" altLang="zh-CN" sz="2800" dirty="0"/>
              <a:t>2030</a:t>
            </a:r>
            <a:r>
              <a:rPr lang="zh-CN" altLang="en-US" sz="2800" dirty="0"/>
              <a:t>年</a:t>
            </a:r>
            <a:r>
              <a:rPr lang="en-US" altLang="zh-CN" sz="2800" dirty="0"/>
              <a:t>AI</a:t>
            </a:r>
            <a:r>
              <a:rPr lang="zh-CN" altLang="en-US" sz="2800" dirty="0"/>
              <a:t>机器人</a:t>
            </a:r>
            <a:r>
              <a:rPr lang="zh-CN" altLang="en-US" sz="2800" dirty="0"/>
              <a:t>到达火星。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⑷ 如果 </a:t>
            </a:r>
            <a:r>
              <a:rPr lang="en-US" altLang="zh-CN" sz="2800" dirty="0"/>
              <a:t>a&gt;b</a:t>
            </a:r>
            <a:r>
              <a:rPr lang="zh-CN" altLang="en-US" sz="2800" dirty="0"/>
              <a:t>且</a:t>
            </a:r>
            <a:r>
              <a:rPr lang="en-US" altLang="zh-CN" sz="2800" dirty="0"/>
              <a:t>b&gt;c</a:t>
            </a:r>
            <a:r>
              <a:rPr lang="zh-CN" altLang="en-US" sz="2800" dirty="0"/>
              <a:t>，则</a:t>
            </a:r>
            <a:r>
              <a:rPr lang="en-US" altLang="zh-CN" sz="2800" dirty="0"/>
              <a:t>a&gt;c </a:t>
            </a:r>
            <a:r>
              <a:rPr lang="zh-CN" altLang="en-US" sz="2800" dirty="0"/>
              <a:t>。（其中</a:t>
            </a:r>
            <a:r>
              <a:rPr lang="en-US" altLang="zh-CN" sz="2800" dirty="0" err="1"/>
              <a:t>a,b,c</a:t>
            </a:r>
            <a:r>
              <a:rPr lang="zh-CN" altLang="en-US" sz="2800" dirty="0"/>
              <a:t>都是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    确定的实数）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⑸ </a:t>
            </a:r>
            <a:r>
              <a:rPr lang="en-US" altLang="zh-CN" sz="2800" dirty="0" err="1"/>
              <a:t>x+y</a:t>
            </a:r>
            <a:r>
              <a:rPr lang="en-US" altLang="zh-CN" sz="2800" dirty="0"/>
              <a:t>&lt;5    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/>
              <a:t>   ⑹ </a:t>
            </a:r>
            <a:r>
              <a:rPr lang="zh-CN" altLang="zh-CN" sz="2800" dirty="0"/>
              <a:t>请打开书！</a:t>
            </a:r>
            <a:endParaRPr lang="zh-CN" altLang="zh-CN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sz="2800" dirty="0"/>
              <a:t>   ⑺</a:t>
            </a:r>
            <a:r>
              <a:rPr lang="zh-CN" altLang="en-US" sz="2800" dirty="0"/>
              <a:t> 您去吗？           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/>
              <a:t>   ⑴⑵⑶⑷是命题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ea typeface="隶书" panose="02010509060101010101" pitchFamily="49" charset="-122"/>
              </a:rPr>
              <a:t>二</a:t>
            </a:r>
            <a:r>
              <a:rPr lang="en-US" altLang="zh-CN"/>
              <a:t>.</a:t>
            </a:r>
            <a:r>
              <a:rPr lang="zh-CN" altLang="en-US">
                <a:ea typeface="隶书" panose="02010509060101010101" pitchFamily="49" charset="-122"/>
              </a:rPr>
              <a:t>命题的真值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dirty="0"/>
              <a:t>     </a:t>
            </a:r>
            <a:r>
              <a:rPr lang="zh-CN" altLang="en-US" dirty="0"/>
              <a:t>一个命题所作的判断有两种可能：</a:t>
            </a:r>
            <a:r>
              <a:rPr lang="zh-CN" altLang="en-US" dirty="0">
                <a:solidFill>
                  <a:srgbClr val="FF0000"/>
                </a:solidFill>
              </a:rPr>
              <a:t>是正</a:t>
            </a:r>
            <a:endParaRPr lang="zh-CN" altLang="en-US" dirty="0">
              <a:solidFill>
                <a:srgbClr val="FF0000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确的</a:t>
            </a:r>
            <a:r>
              <a:rPr lang="zh-CN" altLang="en-US" dirty="0"/>
              <a:t>判断或者</a:t>
            </a:r>
            <a:r>
              <a:rPr lang="zh-CN" altLang="en-US" b="1" dirty="0">
                <a:solidFill>
                  <a:schemeClr val="hlink"/>
                </a:solidFill>
              </a:rPr>
              <a:t>是错误的</a:t>
            </a:r>
            <a:r>
              <a:rPr lang="zh-CN" altLang="en-US" dirty="0"/>
              <a:t>判断。所以，一个命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题的</a:t>
            </a:r>
            <a:r>
              <a:rPr lang="zh-CN" altLang="en-US" dirty="0">
                <a:ea typeface="黑体" panose="02010609060101010101" pitchFamily="49" charset="-122"/>
              </a:rPr>
              <a:t>真值</a:t>
            </a:r>
            <a:r>
              <a:rPr lang="zh-CN" altLang="en-US" dirty="0"/>
              <a:t>有两个：“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zh-CN" altLang="en-US" dirty="0"/>
              <a:t>”或“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zh-CN" altLang="en-US" dirty="0"/>
              <a:t>”。</a:t>
            </a:r>
            <a:endParaRPr lang="zh-CN" altLang="en-US" dirty="0">
              <a:solidFill>
                <a:schemeClr val="accent1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   真值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en-US" altLang="zh-CN" dirty="0"/>
              <a:t>:</a:t>
            </a:r>
            <a:r>
              <a:rPr lang="zh-CN" altLang="en-US" dirty="0"/>
              <a:t>一个命题所作的判断与客观一致</a:t>
            </a:r>
            <a:r>
              <a:rPr lang="en-US" altLang="zh-CN" dirty="0"/>
              <a:t>,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则称该命题的真值为真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>
                <a:ea typeface="黑体" panose="02010609060101010101" pitchFamily="49" charset="-122"/>
              </a:rPr>
              <a:t> (True)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ea typeface="黑体" panose="02010609060101010101" pitchFamily="49" charset="-122"/>
              </a:rPr>
              <a:t>   真值</a:t>
            </a:r>
            <a:r>
              <a:rPr lang="zh-CN" altLang="en-US" dirty="0"/>
              <a:t>为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en-US" altLang="zh-CN" dirty="0"/>
              <a:t>:</a:t>
            </a:r>
            <a:r>
              <a:rPr lang="zh-CN" altLang="en-US" dirty="0"/>
              <a:t>一个命题所作的判断与客观不一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致</a:t>
            </a:r>
            <a:r>
              <a:rPr lang="en-US" altLang="zh-CN" dirty="0"/>
              <a:t>,</a:t>
            </a:r>
            <a:r>
              <a:rPr lang="zh-CN" altLang="en-US" dirty="0"/>
              <a:t>则称该命题的真值为假</a:t>
            </a:r>
            <a:r>
              <a:rPr lang="en-US" altLang="zh-CN" dirty="0"/>
              <a:t>,</a:t>
            </a:r>
            <a:r>
              <a:rPr lang="zh-CN" altLang="en-US" dirty="0"/>
              <a:t>记作</a:t>
            </a:r>
            <a:r>
              <a:rPr lang="en-US" altLang="zh-CN" b="1" dirty="0">
                <a:solidFill>
                  <a:schemeClr val="hlink"/>
                </a:solidFill>
              </a:rPr>
              <a:t>F</a:t>
            </a:r>
            <a:r>
              <a:rPr lang="en-US" altLang="zh-CN" b="1" dirty="0"/>
              <a:t> </a:t>
            </a:r>
            <a:r>
              <a:rPr lang="en-US" altLang="zh-CN" dirty="0"/>
              <a:t>(False)</a:t>
            </a:r>
            <a:r>
              <a:rPr lang="zh-CN" altLang="en-US" dirty="0"/>
              <a:t>。</a:t>
            </a:r>
            <a:endParaRPr lang="zh-CN" altLang="en-US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</a:t>
            </a:r>
            <a:r>
              <a:rPr lang="en-US" altLang="zh-CN" dirty="0"/>
              <a:t>(1)(4)</a:t>
            </a:r>
            <a:r>
              <a:rPr lang="zh-CN" altLang="en-US" dirty="0"/>
              <a:t>的真值为</a:t>
            </a:r>
            <a:r>
              <a:rPr lang="zh-CN" altLang="en-US" dirty="0">
                <a:solidFill>
                  <a:srgbClr val="FF0000"/>
                </a:solidFill>
              </a:rPr>
              <a:t>真</a:t>
            </a:r>
            <a:r>
              <a:rPr lang="en-US" altLang="zh-CN" dirty="0"/>
              <a:t>,(2)</a:t>
            </a:r>
            <a:r>
              <a:rPr lang="zh-CN" altLang="en-US" dirty="0"/>
              <a:t>的真值为</a:t>
            </a:r>
            <a:r>
              <a:rPr lang="zh-CN" altLang="en-US" b="1" dirty="0">
                <a:solidFill>
                  <a:schemeClr val="hlink"/>
                </a:solidFill>
              </a:rPr>
              <a:t>假</a:t>
            </a:r>
            <a:r>
              <a:rPr lang="en-US" altLang="zh-CN" dirty="0"/>
              <a:t>, </a:t>
            </a:r>
            <a:endParaRPr lang="en-US" altLang="zh-CN" dirty="0"/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dirty="0"/>
              <a:t>(3)</a:t>
            </a:r>
            <a:r>
              <a:rPr lang="zh-CN" altLang="en-US" dirty="0"/>
              <a:t>暂时不能定，等到</a:t>
            </a:r>
            <a:r>
              <a:rPr lang="en-US" altLang="zh-CN"/>
              <a:t>2030</a:t>
            </a:r>
            <a:r>
              <a:rPr lang="zh-CN" altLang="en-US" dirty="0"/>
              <a:t>年底确定。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三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原子命题与复合命题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99CC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简单命题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原子命题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由最简单的陈述句构成的命题 </a:t>
            </a:r>
            <a:r>
              <a:rPr lang="en-US" altLang="zh-CN" dirty="0"/>
              <a:t>(</a:t>
            </a:r>
            <a:r>
              <a:rPr lang="zh-CN" altLang="en-US" dirty="0"/>
              <a:t>该句再不能分解成更简单的句子了</a:t>
            </a:r>
            <a:r>
              <a:rPr lang="en-US" altLang="zh-CN" dirty="0"/>
              <a:t>)</a:t>
            </a:r>
            <a:r>
              <a:rPr lang="zh-CN" altLang="en-US" dirty="0"/>
              <a:t>。通常用大写英文字母表示。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中的</a:t>
            </a:r>
            <a:r>
              <a:rPr lang="en-US" altLang="zh-CN" dirty="0"/>
              <a:t>(1)</a:t>
            </a:r>
            <a:r>
              <a:rPr lang="zh-CN" altLang="en-US" dirty="0"/>
              <a:t>、</a:t>
            </a:r>
            <a:r>
              <a:rPr lang="en-US" altLang="zh-CN" dirty="0"/>
              <a:t>(2)</a:t>
            </a:r>
            <a:r>
              <a:rPr lang="zh-CN" altLang="en-US" dirty="0"/>
              <a:t>、</a:t>
            </a:r>
            <a:r>
              <a:rPr lang="en-US" altLang="zh-CN" dirty="0"/>
              <a:t>(3)</a:t>
            </a:r>
            <a:r>
              <a:rPr lang="zh-CN" altLang="en-US" dirty="0"/>
              <a:t>是原子命题。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复合命题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分子命题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由若干个原子命题构成的命题。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1-1.1</a:t>
            </a:r>
            <a:r>
              <a:rPr lang="zh-CN" altLang="en-US" dirty="0"/>
              <a:t>中的</a:t>
            </a:r>
            <a:r>
              <a:rPr lang="en-US" altLang="zh-CN" dirty="0"/>
              <a:t>(4)</a:t>
            </a:r>
            <a:r>
              <a:rPr lang="zh-CN" altLang="en-US" dirty="0"/>
              <a:t>是由三个原子命题</a:t>
            </a:r>
            <a:r>
              <a:rPr lang="en-US" altLang="zh-CN" dirty="0"/>
              <a:t>(a&gt;b</a:t>
            </a:r>
            <a:r>
              <a:rPr lang="zh-CN" altLang="en-US" dirty="0"/>
              <a:t>、</a:t>
            </a:r>
            <a:r>
              <a:rPr lang="en-US" altLang="zh-CN" dirty="0"/>
              <a:t>b&gt;c</a:t>
            </a:r>
            <a:r>
              <a:rPr lang="zh-CN" altLang="en-US" dirty="0"/>
              <a:t>、</a:t>
            </a:r>
            <a:r>
              <a:rPr lang="en-US" altLang="zh-CN" dirty="0"/>
              <a:t>a&gt;c)</a:t>
            </a:r>
            <a:r>
              <a:rPr lang="zh-CN" altLang="en-US" dirty="0"/>
              <a:t>构成的复合命题。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命题是有明确真价值的陈述句，以下是命题的是：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我们战胜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了新冠病毒。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请好好听课！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宇宙中其他星球有高智能生物。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我正在说谎。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一旦疫情防控结束，大家就马上返校学习。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命题是有明确真价值的陈述句，以下是命题的是：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我们能够战胜新冠病毒。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请好好听课！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宇宙中其他星球有高智能生物。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我正在说谎。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如果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疫情防控结束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大家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就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返校学习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55576" y="2795905"/>
            <a:ext cx="1001216" cy="34211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1-2  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联结词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692696"/>
            <a:ext cx="7920880" cy="5328592"/>
          </a:xfrm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复合命题的构成：是用“联结词”将原子命题联结起来构成的。</a:t>
            </a:r>
            <a:endParaRPr lang="zh-CN" altLang="en-US" dirty="0"/>
          </a:p>
          <a:p>
            <a:pPr eaLnBrk="1" hangingPunct="1"/>
            <a:r>
              <a:rPr lang="zh-CN" altLang="en-US" dirty="0"/>
              <a:t>归纳自然语言中的联结词，定义了六个逻辑联结词，分别是：</a:t>
            </a:r>
            <a:endParaRPr lang="zh-CN" altLang="en-US" dirty="0"/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否定“</a:t>
            </a:r>
            <a:r>
              <a:rPr lang="zh-CN" altLang="en-US" dirty="0">
                <a:sym typeface="Symbol" panose="05050102010706020507" pitchFamily="18" charset="2"/>
              </a:rPr>
              <a:t>”            </a:t>
            </a:r>
            <a:r>
              <a:rPr lang="en-US" altLang="zh-CN" dirty="0"/>
              <a:t>(2) </a:t>
            </a:r>
            <a:r>
              <a:rPr lang="zh-CN" altLang="en-US" dirty="0"/>
              <a:t>合取“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>
                <a:sym typeface="Kingsoft Phonetic Plain" pitchFamily="2" charset="2"/>
              </a:rPr>
              <a:t>”         </a:t>
            </a:r>
            <a:r>
              <a:rPr lang="en-US" altLang="zh-CN" dirty="0"/>
              <a:t>(3) </a:t>
            </a:r>
            <a:r>
              <a:rPr lang="zh-CN" altLang="en-US" dirty="0"/>
              <a:t>析取“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>
                <a:sym typeface="Kingsoft Phonetic Plain" pitchFamily="2" charset="2"/>
              </a:rPr>
              <a:t>”           </a:t>
            </a:r>
            <a:r>
              <a:rPr lang="en-US" altLang="zh-CN" dirty="0"/>
              <a:t>(4) </a:t>
            </a:r>
            <a:r>
              <a:rPr lang="zh-CN" altLang="en-US" dirty="0"/>
              <a:t>异或“</a:t>
            </a:r>
            <a:r>
              <a:rPr lang="zh-CN" altLang="en-US" sz="4000" dirty="0">
                <a:latin typeface="Lucida Sans Unicode" panose="020B0602030504020204" pitchFamily="34" charset="0"/>
              </a:rPr>
              <a:t>⊽</a:t>
            </a:r>
            <a:r>
              <a:rPr lang="zh-CN" altLang="en-US" dirty="0">
                <a:sym typeface="Symbol" panose="05050102010706020507" pitchFamily="18" charset="2"/>
              </a:rPr>
              <a:t>”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/>
              <a:t>   </a:t>
            </a:r>
            <a:r>
              <a:rPr lang="en-US" altLang="zh-CN" dirty="0"/>
              <a:t>(5) </a:t>
            </a:r>
            <a:r>
              <a:rPr lang="zh-CN" altLang="en-US" dirty="0"/>
              <a:t>蕴涵“</a:t>
            </a:r>
            <a:r>
              <a:rPr lang="zh-CN" altLang="en-US" dirty="0">
                <a:sym typeface="Symbol" panose="05050102010706020507" pitchFamily="18" charset="2"/>
              </a:rPr>
              <a:t>”            </a:t>
            </a:r>
            <a:r>
              <a:rPr lang="en-US" altLang="zh-CN" dirty="0"/>
              <a:t>(6) </a:t>
            </a:r>
            <a:r>
              <a:rPr lang="zh-CN" altLang="en-US" dirty="0"/>
              <a:t>等价“</a:t>
            </a:r>
            <a:r>
              <a:rPr lang="zh-CN" altLang="en-US" dirty="0">
                <a:sym typeface="Symbol" panose="05050102010706020507" pitchFamily="18" charset="2"/>
              </a:rPr>
              <a:t>”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一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否定“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”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表示：“</a:t>
            </a:r>
            <a:r>
              <a:rPr lang="en-US" altLang="zh-CN" b="1">
                <a:solidFill>
                  <a:srgbClr val="FF0000"/>
                </a:solidFill>
              </a:rPr>
              <a:t>…</a:t>
            </a:r>
            <a:r>
              <a:rPr lang="zh-CN" altLang="en-US" b="1">
                <a:solidFill>
                  <a:srgbClr val="FF0000"/>
                </a:solidFill>
              </a:rPr>
              <a:t>不成立</a:t>
            </a:r>
            <a:r>
              <a:rPr lang="zh-CN" altLang="en-US" b="1"/>
              <a:t>”，“</a:t>
            </a:r>
            <a:r>
              <a:rPr lang="zh-CN" altLang="en-US" b="1">
                <a:solidFill>
                  <a:srgbClr val="FF0000"/>
                </a:solidFill>
              </a:rPr>
              <a:t>不</a:t>
            </a:r>
            <a:r>
              <a:rPr lang="en-US" altLang="zh-CN" b="1">
                <a:solidFill>
                  <a:srgbClr val="FF0000"/>
                </a:solidFill>
              </a:rPr>
              <a:t>…</a:t>
            </a:r>
            <a:r>
              <a:rPr lang="en-US" altLang="zh-CN" b="1"/>
              <a:t>”</a:t>
            </a:r>
            <a:r>
              <a:rPr lang="zh-CN" altLang="en-US" b="1"/>
              <a:t>。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用于：对一个命题</a:t>
            </a:r>
            <a:r>
              <a:rPr lang="en-US" altLang="zh-CN" b="1"/>
              <a:t>P</a:t>
            </a:r>
            <a:r>
              <a:rPr lang="zh-CN" altLang="en-US" b="1"/>
              <a:t>的否定，写成</a:t>
            </a: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，</a:t>
            </a:r>
            <a:r>
              <a:rPr lang="zh-CN" altLang="zh-CN" b="1">
                <a:sym typeface="Symbol" panose="05050102010706020507" pitchFamily="18" charset="2"/>
              </a:rPr>
              <a:t>并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读成“</a:t>
            </a:r>
            <a:r>
              <a:rPr lang="zh-CN" altLang="en-US" b="1">
                <a:solidFill>
                  <a:srgbClr val="FF0000"/>
                </a:solidFill>
                <a:sym typeface="Symbol" panose="05050102010706020507" pitchFamily="18" charset="2"/>
              </a:rPr>
              <a:t>非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en-US" altLang="zh-CN" b="1">
                <a:sym typeface="Symbol" panose="05050102010706020507" pitchFamily="18" charset="2"/>
              </a:rPr>
              <a:t>”</a:t>
            </a:r>
            <a:r>
              <a:rPr lang="zh-CN" altLang="en-US" b="1">
                <a:sym typeface="Symbol" panose="05050102010706020507" pitchFamily="18" charset="2"/>
              </a:rPr>
              <a:t>。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的真值：与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真值相反。   </a:t>
            </a:r>
            <a:endParaRPr lang="zh-CN" altLang="en-US" b="1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b="1"/>
              <a:t>例</a:t>
            </a:r>
            <a:r>
              <a:rPr lang="en-US" altLang="zh-CN" b="1"/>
              <a:t>1-2.1    P</a:t>
            </a:r>
            <a:r>
              <a:rPr lang="zh-CN" altLang="en-US" b="1"/>
              <a:t>：</a:t>
            </a:r>
            <a:r>
              <a:rPr lang="en-US" altLang="zh-CN" b="1"/>
              <a:t>2</a:t>
            </a:r>
            <a:r>
              <a:rPr lang="zh-CN" altLang="zh-CN" b="1"/>
              <a:t>是素数。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             </a:t>
            </a:r>
            <a:r>
              <a:rPr lang="en-US" altLang="zh-CN" b="1">
                <a:sym typeface="Symbol" panose="05050102010706020507" pitchFamily="18" charset="2"/>
              </a:rPr>
              <a:t>P</a:t>
            </a:r>
            <a:r>
              <a:rPr lang="zh-CN" altLang="en-US" b="1">
                <a:sym typeface="Symbol" panose="05050102010706020507" pitchFamily="18" charset="2"/>
              </a:rPr>
              <a:t>：</a:t>
            </a:r>
            <a:r>
              <a:rPr lang="en-US" altLang="zh-CN" b="1">
                <a:sym typeface="Symbol" panose="05050102010706020507" pitchFamily="18" charset="2"/>
              </a:rPr>
              <a:t>2</a:t>
            </a:r>
            <a:r>
              <a:rPr lang="zh-CN" altLang="en-US" b="1">
                <a:sym typeface="Symbol" panose="05050102010706020507" pitchFamily="18" charset="2"/>
              </a:rPr>
              <a:t>不是素数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/>
          </a:p>
        </p:txBody>
      </p:sp>
      <p:graphicFrame>
        <p:nvGraphicFramePr>
          <p:cNvPr id="43133" name="Group 125"/>
          <p:cNvGraphicFramePr>
            <a:graphicFrameLocks noGrp="1"/>
          </p:cNvGraphicFramePr>
          <p:nvPr/>
        </p:nvGraphicFramePr>
        <p:xfrm>
          <a:off x="5715000" y="3505200"/>
          <a:ext cx="2743200" cy="1955801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二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合取“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Kingsoft Phonetic Plain" pitchFamily="2" charset="2"/>
              </a:rPr>
              <a:t>∧”</a:t>
            </a:r>
            <a:endParaRPr lang="zh-CN" altLang="en-US">
              <a:sym typeface="Kingsoft Phonetic Plain" pitchFamily="2" charset="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66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表示：“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并且</a:t>
            </a:r>
            <a:r>
              <a:rPr lang="zh-CN" altLang="en-US" b="1" dirty="0">
                <a:sym typeface="Kingsoft Phonetic Plain" pitchFamily="2" charset="2"/>
              </a:rPr>
              <a:t>”、“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不但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而且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...</a:t>
            </a:r>
            <a:r>
              <a:rPr lang="en-US" altLang="zh-CN" b="1" dirty="0">
                <a:sym typeface="Kingsoft Phonetic Plain" pitchFamily="2" charset="2"/>
              </a:rPr>
              <a:t>”</a:t>
            </a:r>
            <a:r>
              <a:rPr lang="zh-CN" altLang="en-US" b="1" dirty="0">
                <a:sym typeface="Kingsoft Phonetic Plain" pitchFamily="2" charset="2"/>
              </a:rPr>
              <a:t>、“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既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又</a:t>
            </a:r>
            <a:r>
              <a:rPr lang="zh-CN" altLang="en-US" b="1" dirty="0">
                <a:sym typeface="Kingsoft Phonetic Plain" pitchFamily="2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...</a:t>
            </a:r>
            <a:r>
              <a:rPr lang="en-US" altLang="zh-CN" b="1" dirty="0">
                <a:sym typeface="Kingsoft Phonetic Plain" pitchFamily="2" charset="2"/>
              </a:rPr>
              <a:t>”“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尽管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还</a:t>
            </a:r>
            <a:r>
              <a:rPr lang="en-US" altLang="zh-CN" b="1" dirty="0">
                <a:solidFill>
                  <a:srgbClr val="FF0000"/>
                </a:solidFill>
                <a:sym typeface="Kingsoft Phonetic Plain" pitchFamily="2" charset="2"/>
              </a:rPr>
              <a:t>…</a:t>
            </a:r>
            <a:r>
              <a:rPr lang="en-US" altLang="zh-CN" b="1" dirty="0">
                <a:sym typeface="Kingsoft Phonetic Plain" pitchFamily="2" charset="2"/>
              </a:rPr>
              <a:t> ”</a:t>
            </a:r>
            <a:endParaRPr lang="en-US" altLang="zh-CN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例</a:t>
            </a:r>
            <a:r>
              <a:rPr lang="en-US" altLang="zh-CN" b="1" dirty="0">
                <a:sym typeface="Kingsoft Phonetic Plain" pitchFamily="2" charset="2"/>
              </a:rPr>
              <a:t>1-2.2   P</a:t>
            </a:r>
            <a:r>
              <a:rPr lang="zh-CN" altLang="en-US" b="1" dirty="0">
                <a:sym typeface="Kingsoft Phonetic Plain" pitchFamily="2" charset="2"/>
              </a:rPr>
              <a:t>：小王能唱歌。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               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：小王能跳舞。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：小王能歌善舞。      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读成：</a:t>
            </a: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zh-CN" altLang="en-US" b="1" dirty="0">
                <a:sym typeface="Kingsoft Phonetic Plain" pitchFamily="2" charset="2"/>
              </a:rPr>
              <a:t>合取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。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Kingsoft Phonetic Plain" pitchFamily="2" charset="2"/>
              </a:rPr>
              <a:t>∧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的真值为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真</a:t>
            </a:r>
            <a:r>
              <a:rPr lang="zh-CN" altLang="en-US" b="1" dirty="0">
                <a:sym typeface="Kingsoft Phonetic Plain" pitchFamily="2" charset="2"/>
              </a:rPr>
              <a:t>，当且      </a:t>
            </a:r>
            <a:endParaRPr lang="zh-CN" altLang="en-US" b="1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ym typeface="Kingsoft Phonetic Plain" pitchFamily="2" charset="2"/>
              </a:rPr>
              <a:t>仅当</a:t>
            </a:r>
            <a:r>
              <a:rPr lang="en-US" altLang="zh-CN" b="1" dirty="0">
                <a:sym typeface="Kingsoft Phonetic Plain" pitchFamily="2" charset="2"/>
              </a:rPr>
              <a:t>P</a:t>
            </a:r>
            <a:r>
              <a:rPr lang="zh-CN" altLang="en-US" b="1" dirty="0">
                <a:sym typeface="Kingsoft Phonetic Plain" pitchFamily="2" charset="2"/>
              </a:rPr>
              <a:t>和</a:t>
            </a:r>
            <a:r>
              <a:rPr lang="en-US" altLang="zh-CN" b="1" dirty="0">
                <a:sym typeface="Kingsoft Phonetic Plain" pitchFamily="2" charset="2"/>
              </a:rPr>
              <a:t>Q</a:t>
            </a:r>
            <a:r>
              <a:rPr lang="zh-CN" altLang="en-US" b="1" dirty="0">
                <a:sym typeface="Kingsoft Phonetic Plain" pitchFamily="2" charset="2"/>
              </a:rPr>
              <a:t>的真值均为</a:t>
            </a:r>
            <a:r>
              <a:rPr lang="zh-CN" altLang="en-US" b="1" dirty="0">
                <a:solidFill>
                  <a:srgbClr val="FF0000"/>
                </a:solidFill>
                <a:sym typeface="Kingsoft Phonetic Plain" pitchFamily="2" charset="2"/>
              </a:rPr>
              <a:t>真</a:t>
            </a:r>
            <a:r>
              <a:rPr lang="zh-CN" altLang="en-US" b="1" dirty="0">
                <a:sym typeface="Kingsoft Phonetic Plain" pitchFamily="2" charset="2"/>
              </a:rPr>
              <a:t>。</a:t>
            </a:r>
            <a:endParaRPr lang="zh-CN" altLang="en-US" b="1" dirty="0">
              <a:solidFill>
                <a:srgbClr val="FF0000"/>
              </a:solidFill>
              <a:sym typeface="Kingsoft Phonetic Plain" pitchFamily="2" charset="2"/>
            </a:endParaRPr>
          </a:p>
        </p:txBody>
      </p:sp>
      <p:graphicFrame>
        <p:nvGraphicFramePr>
          <p:cNvPr id="44083" name="Group 51"/>
          <p:cNvGraphicFramePr>
            <a:graphicFrameLocks noGrp="1"/>
          </p:cNvGraphicFramePr>
          <p:nvPr/>
        </p:nvGraphicFramePr>
        <p:xfrm>
          <a:off x="5724128" y="2996952"/>
          <a:ext cx="2743200" cy="2651430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579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87" marB="456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三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析取“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Kingsoft Phonetic Plain" pitchFamily="2" charset="2"/>
              </a:rPr>
              <a:t>∨”、异或“</a:t>
            </a:r>
            <a:r>
              <a:rPr lang="zh-CN" altLang="en-US" sz="4800">
                <a:latin typeface="Lucida Sans Unicode" panose="020B0602030504020204" pitchFamily="34" charset="0"/>
              </a:rPr>
              <a:t>⊽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”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ym typeface="Kingsoft Phonetic Plain" pitchFamily="2" charset="2"/>
              </a:rPr>
              <a:t>表示“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” </a:t>
            </a:r>
            <a:endParaRPr lang="zh-CN" altLang="en-US">
              <a:sym typeface="Kingsoft Phonetic Plain" pitchFamily="2" charset="2"/>
            </a:endParaRPr>
          </a:p>
          <a:p>
            <a:pPr eaLnBrk="1" hangingPunct="1"/>
            <a:r>
              <a:rPr lang="zh-CN" altLang="en-US">
                <a:sym typeface="Kingsoft Phonetic Plain" pitchFamily="2" charset="2"/>
              </a:rPr>
              <a:t>“或者”有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二义性</a:t>
            </a:r>
            <a:r>
              <a:rPr lang="zh-CN" altLang="en-US">
                <a:sym typeface="Kingsoft Phonetic Plain" pitchFamily="2" charset="2"/>
              </a:rPr>
              <a:t>，看下面两个例子：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例</a:t>
            </a:r>
            <a:r>
              <a:rPr lang="en-US" altLang="zh-CN">
                <a:sym typeface="Kingsoft Phonetic Plain" pitchFamily="2" charset="2"/>
              </a:rPr>
              <a:t>1-2.3. </a:t>
            </a:r>
            <a:r>
              <a:rPr lang="zh-CN" altLang="en-US">
                <a:sym typeface="Kingsoft Phonetic Plain" pitchFamily="2" charset="2"/>
              </a:rPr>
              <a:t>灯泡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线路有故障。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例</a:t>
            </a:r>
            <a:r>
              <a:rPr lang="en-US" altLang="zh-CN">
                <a:sym typeface="Kingsoft Phonetic Plain" pitchFamily="2" charset="2"/>
              </a:rPr>
              <a:t>1-2.4. </a:t>
            </a:r>
            <a:r>
              <a:rPr lang="zh-CN" altLang="en-US">
                <a:sym typeface="Kingsoft Phonetic Plain" pitchFamily="2" charset="2"/>
              </a:rPr>
              <a:t>第一节课上数学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上英语。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3</a:t>
            </a:r>
            <a:r>
              <a:rPr lang="zh-CN" altLang="en-US">
                <a:sym typeface="Kingsoft Phonetic Plain" pitchFamily="2" charset="2"/>
              </a:rPr>
              <a:t>中的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可兼取的或</a:t>
            </a:r>
            <a:r>
              <a:rPr lang="zh-CN" altLang="en-US">
                <a:sym typeface="Kingsoft Phonetic Plain" pitchFamily="2" charset="2"/>
              </a:rPr>
              <a:t>。即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析取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“∨”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4</a:t>
            </a:r>
            <a:r>
              <a:rPr lang="zh-CN" altLang="en-US">
                <a:sym typeface="Kingsoft Phonetic Plain" pitchFamily="2" charset="2"/>
              </a:rPr>
              <a:t>中的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是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不可兼取的或</a:t>
            </a:r>
            <a:r>
              <a:rPr lang="zh-CN" altLang="en-US">
                <a:sym typeface="Kingsoft Phonetic Plain" pitchFamily="2" charset="2"/>
              </a:rPr>
              <a:t>，也称之为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异或</a:t>
            </a:r>
            <a:r>
              <a:rPr lang="zh-CN" altLang="en-US">
                <a:sym typeface="Kingsoft Phonetic Plain" pitchFamily="2" charset="2"/>
              </a:rPr>
              <a:t>、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排斥或</a:t>
            </a:r>
            <a:r>
              <a:rPr lang="zh-CN" altLang="en-US">
                <a:sym typeface="Kingsoft Phonetic Plain" pitchFamily="2" charset="2"/>
              </a:rPr>
              <a:t>。即“</a:t>
            </a:r>
            <a:r>
              <a:rPr lang="zh-CN" altLang="en-US" sz="4400">
                <a:latin typeface="Lucida Sans Unicode" panose="020B0602030504020204" pitchFamily="34" charset="0"/>
              </a:rPr>
              <a:t>⊽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”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.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sz="4000">
                <a:latin typeface="宋体" panose="02010600030101010101" pitchFamily="2" charset="-122"/>
              </a:rPr>
              <a:t>1. </a:t>
            </a:r>
            <a:r>
              <a:rPr lang="zh-CN" altLang="en-US" sz="4000">
                <a:latin typeface="宋体" panose="02010600030101010101" pitchFamily="2" charset="-122"/>
              </a:rPr>
              <a:t>析取“</a:t>
            </a:r>
            <a:r>
              <a:rPr lang="zh-CN" altLang="en-US" sz="4000">
                <a:latin typeface="宋体" panose="02010600030101010101" pitchFamily="2" charset="-122"/>
                <a:sym typeface="Kingsoft Phonetic Plain" pitchFamily="2" charset="2"/>
              </a:rPr>
              <a:t>∨”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</a:t>
            </a:r>
            <a:r>
              <a:rPr lang="zh-CN" altLang="en-US">
                <a:sym typeface="Kingsoft Phonetic Plain" pitchFamily="2" charset="2"/>
              </a:rPr>
              <a:t>：灯泡有故障。   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：线路有故障。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Kingsoft Phonetic Plain" pitchFamily="2" charset="2"/>
              </a:rPr>
              <a:t>例</a:t>
            </a:r>
            <a:r>
              <a:rPr lang="en-US" altLang="zh-CN">
                <a:sym typeface="Kingsoft Phonetic Plain" pitchFamily="2" charset="2"/>
              </a:rPr>
              <a:t>3</a:t>
            </a:r>
            <a:r>
              <a:rPr lang="zh-CN" altLang="en-US">
                <a:sym typeface="Kingsoft Phonetic Plain" pitchFamily="2" charset="2"/>
              </a:rPr>
              <a:t>中的复合命题可表示为：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P∨Q</a:t>
            </a:r>
            <a:r>
              <a:rPr lang="zh-CN" altLang="en-US">
                <a:sym typeface="Kingsoft Phonetic Plain" pitchFamily="2" charset="2"/>
              </a:rPr>
              <a:t>，读成：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P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析取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，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                       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P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P∨Q</a:t>
            </a:r>
            <a:r>
              <a:rPr lang="zh-CN" altLang="en-US">
                <a:sym typeface="Kingsoft Phonetic Plain" pitchFamily="2" charset="2"/>
              </a:rPr>
              <a:t>的真值为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>
                <a:sym typeface="Kingsoft Phonetic Plain" pitchFamily="2" charset="2"/>
              </a:rPr>
              <a:t>，当且仅当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Kingsoft Phonetic Plain" pitchFamily="2" charset="2"/>
              </a:rPr>
              <a:t>P</a:t>
            </a:r>
            <a:r>
              <a:rPr lang="zh-CN" altLang="en-US">
                <a:sym typeface="Kingsoft Phonetic Plain" pitchFamily="2" charset="2"/>
              </a:rPr>
              <a:t>与</a:t>
            </a:r>
            <a:r>
              <a:rPr lang="en-US" altLang="zh-CN">
                <a:sym typeface="Kingsoft Phonetic Plain" pitchFamily="2" charset="2"/>
              </a:rPr>
              <a:t>Q</a:t>
            </a:r>
            <a:r>
              <a:rPr lang="zh-CN" altLang="en-US">
                <a:sym typeface="Kingsoft Phonetic Plain" pitchFamily="2" charset="2"/>
              </a:rPr>
              <a:t>均为</a:t>
            </a:r>
            <a:r>
              <a:rPr lang="en-US" altLang="zh-CN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>
                <a:sym typeface="Kingsoft Phonetic Plain" pitchFamily="2" charset="2"/>
              </a:rPr>
              <a:t>。</a:t>
            </a:r>
            <a:endParaRPr lang="zh-CN" altLang="en-US">
              <a:sym typeface="Kingsoft Phonetic Plain" pitchFamily="2" charset="2"/>
            </a:endParaRPr>
          </a:p>
        </p:txBody>
      </p:sp>
      <p:graphicFrame>
        <p:nvGraphicFramePr>
          <p:cNvPr id="46130" name="Group 50"/>
          <p:cNvGraphicFramePr>
            <a:graphicFrameLocks noGrp="1"/>
          </p:cNvGraphicFramePr>
          <p:nvPr/>
        </p:nvGraphicFramePr>
        <p:xfrm>
          <a:off x="5724128" y="3140968"/>
          <a:ext cx="2743200" cy="2590800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sz="4000">
                <a:latin typeface="宋体" panose="02010600030101010101" pitchFamily="2" charset="-122"/>
              </a:rPr>
              <a:t>2. </a:t>
            </a:r>
            <a:r>
              <a:rPr lang="zh-CN" altLang="en-US" sz="4000">
                <a:latin typeface="宋体" panose="02010600030101010101" pitchFamily="2" charset="-122"/>
                <a:sym typeface="Kingsoft Phonetic Plain" pitchFamily="2" charset="2"/>
              </a:rPr>
              <a:t>异或“</a:t>
            </a:r>
            <a:r>
              <a:rPr lang="zh-CN" altLang="en-US" sz="4800">
                <a:latin typeface="Lucida Sans Unicode" panose="020B0602030504020204" pitchFamily="34" charset="0"/>
              </a:rPr>
              <a:t>⊽</a:t>
            </a:r>
            <a:r>
              <a:rPr lang="zh-CN" altLang="en-US" sz="4000">
                <a:latin typeface="宋体" panose="02010600030101010101" pitchFamily="2" charset="-122"/>
                <a:sym typeface="Symbol" panose="05050102010706020507" pitchFamily="18" charset="2"/>
              </a:rPr>
              <a:t>”</a:t>
            </a:r>
            <a:endParaRPr lang="zh-CN" altLang="en-US" sz="400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en-US" b="1">
                <a:sym typeface="Kingsoft Phonetic Plain" pitchFamily="2" charset="2"/>
              </a:rPr>
              <a:t>：</a:t>
            </a:r>
            <a:r>
              <a:rPr lang="zh-CN" altLang="zh-CN" b="1">
                <a:sym typeface="Kingsoft Phonetic Plain" pitchFamily="2" charset="2"/>
              </a:rPr>
              <a:t>第一节上数学</a:t>
            </a:r>
            <a:r>
              <a:rPr lang="zh-CN" altLang="en-US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en-US" b="1">
                <a:sym typeface="Kingsoft Phonetic Plain" pitchFamily="2" charset="2"/>
              </a:rPr>
              <a:t>：</a:t>
            </a:r>
            <a:r>
              <a:rPr lang="zh-CN" altLang="zh-CN" b="1">
                <a:sym typeface="Kingsoft Phonetic Plain" pitchFamily="2" charset="2"/>
              </a:rPr>
              <a:t>第一节上英语。</a:t>
            </a:r>
            <a:endParaRPr lang="zh-CN" altLang="zh-CN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b="1">
                <a:sym typeface="Kingsoft Phonetic Plain" pitchFamily="2" charset="2"/>
              </a:rPr>
              <a:t>例4中的复合命题可写成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 </a:t>
            </a:r>
            <a:r>
              <a:rPr lang="en-US" altLang="zh-CN" sz="4000" b="1">
                <a:latin typeface="Lucida Sans Unicode" panose="020B0602030504020204" pitchFamily="34" charset="0"/>
              </a:rPr>
              <a:t>⊽</a:t>
            </a:r>
            <a:r>
              <a:rPr lang="en-US" altLang="zh-CN" b="1">
                <a:sym typeface="Kingsoft Phonetic Plain" pitchFamily="2" charset="2"/>
              </a:rPr>
              <a:t> Q</a:t>
            </a:r>
            <a:r>
              <a:rPr lang="zh-CN" altLang="en-US" b="1">
                <a:sym typeface="Kingsoft Phonetic Plain" pitchFamily="2" charset="2"/>
              </a:rPr>
              <a:t>，</a:t>
            </a:r>
            <a:r>
              <a:rPr lang="zh-CN" altLang="zh-CN" b="1">
                <a:sym typeface="Kingsoft Phonetic Plain" pitchFamily="2" charset="2"/>
              </a:rPr>
              <a:t>读成</a:t>
            </a: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zh-CN" b="1">
                <a:sym typeface="Kingsoft Phonetic Plain" pitchFamily="2" charset="2"/>
              </a:rPr>
              <a:t>异或</a:t>
            </a: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en-US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sym typeface="Kingsoft Phonetic Plain" pitchFamily="2" charset="2"/>
              </a:rPr>
              <a:t>P </a:t>
            </a:r>
            <a:r>
              <a:rPr lang="en-US" altLang="zh-CN" sz="4000" b="1">
                <a:latin typeface="Lucida Sans Unicode" panose="020B0602030504020204" pitchFamily="34" charset="0"/>
              </a:rPr>
              <a:t>⊽</a:t>
            </a:r>
            <a:r>
              <a:rPr lang="en-US" altLang="zh-CN" b="1">
                <a:sym typeface="Kingsoft Phonetic Plain" pitchFamily="2" charset="2"/>
              </a:rPr>
              <a:t> Q</a:t>
            </a:r>
            <a:r>
              <a:rPr lang="zh-CN" altLang="zh-CN" b="1">
                <a:sym typeface="Kingsoft Phonetic Plain" pitchFamily="2" charset="2"/>
              </a:rPr>
              <a:t>的真值为</a:t>
            </a:r>
            <a:r>
              <a:rPr lang="en-US" altLang="zh-CN" b="1">
                <a:solidFill>
                  <a:srgbClr val="FF0000"/>
                </a:solidFill>
                <a:sym typeface="Kingsoft Phonetic Plain" pitchFamily="2" charset="2"/>
              </a:rPr>
              <a:t>F</a:t>
            </a:r>
            <a:r>
              <a:rPr lang="zh-CN" altLang="en-US" b="1">
                <a:sym typeface="Kingsoft Phonetic Plain" pitchFamily="2" charset="2"/>
              </a:rPr>
              <a:t>，</a:t>
            </a:r>
            <a:r>
              <a:rPr lang="zh-CN" altLang="zh-CN" b="1">
                <a:sym typeface="Kingsoft Phonetic Plain" pitchFamily="2" charset="2"/>
              </a:rPr>
              <a:t>当且</a:t>
            </a:r>
            <a:endParaRPr lang="zh-CN" altLang="en-US" b="1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zh-CN" b="1">
                <a:sym typeface="Kingsoft Phonetic Plain" pitchFamily="2" charset="2"/>
              </a:rPr>
              <a:t>仅当</a:t>
            </a:r>
            <a:r>
              <a:rPr lang="en-US" altLang="zh-CN" b="1">
                <a:sym typeface="Kingsoft Phonetic Plain" pitchFamily="2" charset="2"/>
              </a:rPr>
              <a:t>P</a:t>
            </a:r>
            <a:r>
              <a:rPr lang="zh-CN" altLang="zh-CN" b="1">
                <a:sym typeface="Kingsoft Phonetic Plain" pitchFamily="2" charset="2"/>
              </a:rPr>
              <a:t>与</a:t>
            </a:r>
            <a:r>
              <a:rPr lang="en-US" altLang="zh-CN" b="1">
                <a:sym typeface="Kingsoft Phonetic Plain" pitchFamily="2" charset="2"/>
              </a:rPr>
              <a:t>Q</a:t>
            </a:r>
            <a:r>
              <a:rPr lang="zh-CN" altLang="zh-CN" b="1">
                <a:sym typeface="Kingsoft Phonetic Plain" pitchFamily="2" charset="2"/>
              </a:rPr>
              <a:t>的</a:t>
            </a:r>
            <a:r>
              <a:rPr lang="zh-CN" altLang="zh-CN" b="1">
                <a:solidFill>
                  <a:srgbClr val="FF0000"/>
                </a:solidFill>
                <a:sym typeface="Kingsoft Phonetic Plain" pitchFamily="2" charset="2"/>
              </a:rPr>
              <a:t>真值相同</a:t>
            </a:r>
            <a:r>
              <a:rPr lang="zh-CN" altLang="zh-CN" b="1">
                <a:sym typeface="Kingsoft Phonetic Plain" pitchFamily="2" charset="2"/>
              </a:rPr>
              <a:t>。</a:t>
            </a:r>
            <a:endParaRPr lang="zh-CN" altLang="en-US" b="1">
              <a:sym typeface="Kingsoft Phonetic Plain" pitchFamily="2" charset="2"/>
            </a:endParaRPr>
          </a:p>
        </p:txBody>
      </p:sp>
      <p:graphicFrame>
        <p:nvGraphicFramePr>
          <p:cNvPr id="47168" name="Group 64"/>
          <p:cNvGraphicFramePr>
            <a:graphicFrameLocks noGrp="1"/>
          </p:cNvGraphicFramePr>
          <p:nvPr/>
        </p:nvGraphicFramePr>
        <p:xfrm>
          <a:off x="5715000" y="2951164"/>
          <a:ext cx="2743200" cy="2713039"/>
        </p:xfrm>
        <a:graphic>
          <a:graphicData uri="http://schemas.openxmlformats.org/drawingml/2006/table">
            <a:tbl>
              <a:tblPr/>
              <a:tblGrid>
                <a:gridCol w="652463"/>
                <a:gridCol w="719137"/>
                <a:gridCol w="1371600"/>
              </a:tblGrid>
              <a:tr h="640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</a:rPr>
                        <a:t>⊽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anose="020B0602030504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>
                <a:latin typeface="宋体" panose="02010600030101010101" pitchFamily="2" charset="-122"/>
              </a:rPr>
              <a:t>3.</a:t>
            </a:r>
            <a:r>
              <a:rPr lang="en-US" altLang="zh-CN"/>
              <a:t>“</a:t>
            </a:r>
            <a:r>
              <a:rPr lang="zh-CN" altLang="en-US" sz="4000">
                <a:latin typeface="宋体" panose="02010600030101010101" pitchFamily="2" charset="-122"/>
              </a:rPr>
              <a:t>异或</a:t>
            </a:r>
            <a:r>
              <a:rPr lang="zh-CN" altLang="en-US" sz="4000"/>
              <a:t>”</a:t>
            </a:r>
            <a:r>
              <a:rPr lang="zh-CN" altLang="en-US" sz="4000">
                <a:latin typeface="宋体" panose="02010600030101010101" pitchFamily="2" charset="-122"/>
              </a:rPr>
              <a:t>的另一种表示</a:t>
            </a: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异或</a:t>
            </a:r>
            <a:r>
              <a:rPr lang="zh-CN" altLang="en-US">
                <a:sym typeface="Kingsoft Phonetic Plain" pitchFamily="2" charset="2"/>
              </a:rPr>
              <a:t>是表示两个命题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不可能同时都成立。</a:t>
            </a:r>
            <a:endParaRPr lang="zh-CN" altLang="en-US">
              <a:solidFill>
                <a:srgbClr val="FF0000"/>
              </a:solidFill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Kingsoft Phonetic Plain" pitchFamily="2" charset="2"/>
              </a:rPr>
              <a:t>命题“第一节课上数学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上英语。”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可以解释为：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“第一节课上数学而没有上英语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第一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节课上英语而没有上数学。”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于是有：                                                 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</a:t>
            </a:r>
            <a:r>
              <a:rPr lang="en-US" altLang="zh-CN">
                <a:sym typeface="Kingsoft Phonetic Plain" pitchFamily="2" charset="2"/>
              </a:rPr>
              <a:t>P </a:t>
            </a:r>
            <a:r>
              <a:rPr lang="zh-CN" altLang="en-US">
                <a:latin typeface="Lucida Sans Unicode" panose="020B0602030504020204" pitchFamily="34" charset="0"/>
              </a:rPr>
              <a:t>⊽</a:t>
            </a:r>
            <a:r>
              <a:rPr lang="en-US" altLang="zh-CN">
                <a:sym typeface="Kingsoft Phonetic Plain" pitchFamily="2" charset="2"/>
              </a:rPr>
              <a:t> Q </a:t>
            </a:r>
            <a:r>
              <a:rPr lang="zh-CN" altLang="en-US">
                <a:sym typeface="Kingsoft Phonetic Plain" pitchFamily="2" charset="2"/>
              </a:rPr>
              <a:t>与 </a:t>
            </a:r>
            <a:r>
              <a:rPr lang="en-US" altLang="zh-CN">
                <a:sym typeface="Kingsoft Phonetic Plain" pitchFamily="2" charset="2"/>
              </a:rPr>
              <a:t>(P∧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sym typeface="Kingsoft Phonetic Plain" pitchFamily="2" charset="2"/>
              </a:rPr>
              <a:t>∨(Q∧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sym typeface="Kingsoft Phonetic Plain" pitchFamily="2" charset="2"/>
              </a:rPr>
              <a:t> ) </a:t>
            </a:r>
            <a:r>
              <a:rPr lang="zh-CN" altLang="en-US">
                <a:sym typeface="Kingsoft Phonetic Plain" pitchFamily="2" charset="2"/>
              </a:rPr>
              <a:t>是一样的。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   实际应用中必须注意“</a:t>
            </a: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或者</a:t>
            </a:r>
            <a:r>
              <a:rPr lang="zh-CN" altLang="en-US">
                <a:sym typeface="Kingsoft Phonetic Plain" pitchFamily="2" charset="2"/>
              </a:rPr>
              <a:t>”的二义性。</a:t>
            </a:r>
            <a:endParaRPr lang="zh-CN" altLang="en-US">
              <a:sym typeface="Kingsoft Phonetic Plain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四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. 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蕴涵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条件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“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”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表示</a:t>
            </a:r>
            <a:r>
              <a:rPr lang="zh-CN" altLang="en-US" dirty="0">
                <a:solidFill>
                  <a:srgbClr val="FF0000"/>
                </a:solidFill>
              </a:rPr>
              <a:t>“如果</a:t>
            </a:r>
            <a:r>
              <a:rPr lang="en-US" altLang="zh-CN" dirty="0">
                <a:solidFill>
                  <a:srgbClr val="FF0000"/>
                </a:solidFill>
              </a:rPr>
              <a:t>… </a:t>
            </a:r>
            <a:r>
              <a:rPr lang="zh-CN" altLang="en-US" dirty="0">
                <a:solidFill>
                  <a:srgbClr val="FF0000"/>
                </a:solidFill>
              </a:rPr>
              <a:t>则 </a:t>
            </a:r>
            <a:r>
              <a:rPr lang="en-US" altLang="zh-CN" dirty="0">
                <a:solidFill>
                  <a:srgbClr val="FF0000"/>
                </a:solidFill>
              </a:rPr>
              <a:t>…”</a:t>
            </a:r>
            <a:r>
              <a:rPr lang="zh-CN" altLang="en-US" dirty="0"/>
              <a:t>、 </a:t>
            </a:r>
            <a:r>
              <a:rPr lang="zh-CN" altLang="en-US" dirty="0">
                <a:solidFill>
                  <a:srgbClr val="FF0000"/>
                </a:solidFill>
              </a:rPr>
              <a:t>“只要</a:t>
            </a:r>
            <a:r>
              <a:rPr lang="en-US" altLang="zh-CN" dirty="0">
                <a:solidFill>
                  <a:srgbClr val="FF0000"/>
                </a:solidFill>
              </a:rPr>
              <a:t>… </a:t>
            </a:r>
            <a:r>
              <a:rPr lang="zh-CN" altLang="en-US" dirty="0">
                <a:solidFill>
                  <a:srgbClr val="FF0000"/>
                </a:solidFill>
              </a:rPr>
              <a:t>就 </a:t>
            </a:r>
            <a:r>
              <a:rPr lang="en-US" altLang="zh-CN" dirty="0">
                <a:solidFill>
                  <a:srgbClr val="FF0000"/>
                </a:solidFill>
              </a:rPr>
              <a:t>…” </a:t>
            </a:r>
            <a:r>
              <a:rPr lang="zh-CN" altLang="en-US" dirty="0"/>
              <a:t>，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1-2.5</a:t>
            </a:r>
            <a:r>
              <a:rPr lang="zh-CN" altLang="en-US" dirty="0"/>
              <a:t>： </a:t>
            </a:r>
            <a:r>
              <a:rPr lang="en-US" altLang="zh-CN" dirty="0"/>
              <a:t>P</a:t>
            </a:r>
            <a:r>
              <a:rPr lang="zh-CN" altLang="zh-CN" dirty="0"/>
              <a:t>表示：缺少水分。</a:t>
            </a:r>
            <a:endParaRPr lang="zh-CN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               </a:t>
            </a:r>
            <a:r>
              <a:rPr lang="en-US" altLang="zh-CN" dirty="0"/>
              <a:t>Q</a:t>
            </a:r>
            <a:r>
              <a:rPr lang="zh-CN" altLang="zh-CN" dirty="0"/>
              <a:t>表示：植物会死亡。</a:t>
            </a:r>
            <a:endParaRPr lang="zh-CN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：只要</a:t>
            </a:r>
            <a:r>
              <a:rPr lang="zh-CN" altLang="zh-CN" dirty="0"/>
              <a:t>缺少水分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zh-CN" dirty="0"/>
              <a:t>植物就会死亡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：也称之为蕴涵式，读成“</a:t>
            </a:r>
            <a:r>
              <a:rPr lang="en-US" altLang="zh-CN" dirty="0"/>
              <a:t>P</a:t>
            </a:r>
            <a:r>
              <a:rPr lang="zh-CN" altLang="en-US" dirty="0"/>
              <a:t>蕴涵</a:t>
            </a:r>
            <a:r>
              <a:rPr lang="en-US" altLang="zh-CN" dirty="0"/>
              <a:t>Q”</a:t>
            </a:r>
            <a:r>
              <a:rPr lang="zh-CN" altLang="en-US" dirty="0"/>
              <a:t>，“如果</a:t>
            </a:r>
            <a:r>
              <a:rPr lang="en-US" altLang="zh-CN" dirty="0"/>
              <a:t>P</a:t>
            </a:r>
            <a:r>
              <a:rPr lang="zh-CN" altLang="en-US" dirty="0"/>
              <a:t>则</a:t>
            </a:r>
            <a:r>
              <a:rPr lang="en-US" altLang="zh-CN" dirty="0"/>
              <a:t>Q”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也说成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 </a:t>
            </a:r>
            <a:r>
              <a:rPr lang="zh-CN" altLang="en-US" dirty="0"/>
              <a:t>的前件，</a:t>
            </a:r>
            <a:r>
              <a:rPr lang="en-US" altLang="zh-CN" dirty="0"/>
              <a:t>Q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的后件。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还可以说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Q</a:t>
            </a:r>
            <a:r>
              <a:rPr lang="zh-CN" altLang="en-US" dirty="0"/>
              <a:t>的充分条件，</a:t>
            </a:r>
            <a:r>
              <a:rPr lang="en-US" altLang="zh-CN" dirty="0"/>
              <a:t>Q</a:t>
            </a:r>
            <a:r>
              <a:rPr lang="zh-CN" altLang="en-US" dirty="0"/>
              <a:t>是</a:t>
            </a:r>
            <a:r>
              <a:rPr lang="en-US" altLang="zh-CN" dirty="0"/>
              <a:t>P</a:t>
            </a:r>
            <a:r>
              <a:rPr lang="zh-CN" altLang="en-US" dirty="0"/>
              <a:t>的必要条件。</a:t>
            </a:r>
            <a:r>
              <a:rPr lang="zh-CN" altLang="en-US" sz="2800" b="1" dirty="0"/>
              <a:t>  </a:t>
            </a:r>
            <a:endParaRPr lang="zh-CN" altLang="en-US" sz="2800" b="1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642" y="1772816"/>
            <a:ext cx="9142657" cy="280831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wrap="none" lIns="76772" tIns="38386" rIns="76772" bIns="3838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9pPr>
          </a:lstStyle>
          <a:p>
            <a:pPr algn="ctr" defTabSz="1024255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联结词（续）</a:t>
            </a:r>
            <a:endParaRPr lang="zh-CN" alt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 build="p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50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4000" b="1"/>
              <a:t>关于充分条件和必要条件的说明：</a:t>
            </a:r>
            <a:endParaRPr lang="zh-CN" altLang="en-US" sz="4000" b="1"/>
          </a:p>
        </p:txBody>
      </p:sp>
      <p:sp>
        <p:nvSpPr>
          <p:cNvPr id="220163" name="Rectangle 2051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3333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sym typeface="Symbol" panose="05050102010706020507" pitchFamily="18" charset="2"/>
              </a:rPr>
              <a:t>充分条件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：就是只要条件成立，结论就成立，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则该条件就是</a:t>
            </a:r>
            <a:r>
              <a:rPr lang="zh-CN" altLang="zh-CN" sz="2800" b="1"/>
              <a:t>充分条件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  上例中，“</a:t>
            </a:r>
            <a:r>
              <a:rPr lang="zh-CN" altLang="zh-CN" sz="2800" b="1"/>
              <a:t>缺少水分”就是“植物会死亡”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的充分条件。在自然语言中表示充分条件的词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有 ：</a:t>
            </a:r>
            <a:r>
              <a:rPr lang="zh-CN" altLang="zh-CN" sz="2800" b="1">
                <a:highlight>
                  <a:srgbClr val="FFFF00"/>
                </a:highlight>
              </a:rPr>
              <a:t> </a:t>
            </a:r>
            <a:r>
              <a:rPr lang="zh-CN" altLang="zh-CN" sz="2800" b="1">
                <a:solidFill>
                  <a:srgbClr val="FF0000"/>
                </a:solidFill>
                <a:highlight>
                  <a:srgbClr val="FFFF00"/>
                </a:highlight>
              </a:rPr>
              <a:t>如果 …则… ，只要… 就…，若…则… </a:t>
            </a:r>
            <a:endParaRPr lang="zh-CN" alt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zh-CN" sz="2800" b="1">
                <a:solidFill>
                  <a:srgbClr val="FF0000"/>
                </a:solidFill>
                <a:highlight>
                  <a:srgbClr val="FFFF00"/>
                </a:highlight>
              </a:rPr>
              <a:t>必要条件</a:t>
            </a:r>
            <a:r>
              <a:rPr lang="zh-CN" altLang="zh-CN" sz="2800" b="1"/>
              <a:t>：就是如果该条件不成立，那么结论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就不成立, 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则该条件就是</a:t>
            </a:r>
            <a:r>
              <a:rPr lang="zh-CN" altLang="zh-CN" sz="2800" b="1"/>
              <a:t>必要条件</a:t>
            </a: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1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  <a:sym typeface="Symbol" panose="05050102010706020507" pitchFamily="18" charset="2"/>
              </a:rPr>
              <a:t>  上例中，“</a:t>
            </a:r>
            <a:r>
              <a:rPr lang="zh-CN" altLang="zh-CN" sz="2800" b="1"/>
              <a:t>植物死亡”就是“缺少水分”的必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sz="2800" b="1"/>
              <a:t>要条件(植物未死亡，一定不缺少水分)。</a:t>
            </a:r>
            <a:endParaRPr lang="zh-CN" altLang="en-US" sz="2800" b="1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 </a:t>
            </a:r>
            <a:r>
              <a:rPr lang="zh-CN" altLang="zh-CN" sz="2800" b="1"/>
              <a:t>在自然语言中表示必要条件的词有 ：</a:t>
            </a:r>
            <a:r>
              <a:rPr lang="zh-CN" altLang="zh-CN" sz="2800" b="1">
                <a:solidFill>
                  <a:srgbClr val="FF0000"/>
                </a:solidFill>
                <a:highlight>
                  <a:srgbClr val="FFFF00"/>
                </a:highlight>
              </a:rPr>
              <a:t>只有 …才… ；  仅当…，… ;       …, 仅当…。</a:t>
            </a:r>
            <a:endParaRPr lang="zh-CN" altLang="zh-CN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0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0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autoUpdateAnimBg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533400" y="381000"/>
            <a:ext cx="7924800" cy="7620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533400" y="1371601"/>
            <a:ext cx="7926388" cy="5257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3" tIns="45712" rIns="91423" bIns="45712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的真值为假，当且仅当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为真，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为假。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注意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：当前件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为假时，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6451" name="Group 131"/>
          <p:cNvGraphicFramePr>
            <a:graphicFrameLocks noGrp="1"/>
          </p:cNvGraphicFramePr>
          <p:nvPr/>
        </p:nvGraphicFramePr>
        <p:xfrm>
          <a:off x="1600200" y="2565401"/>
          <a:ext cx="6096000" cy="3819527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10180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小王借钱不还 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我替他还 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我给小王担保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5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99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 autoUpdateAnimBg="0"/>
      <p:bldP spid="56325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200"/>
              <a:t>举例</a:t>
            </a:r>
            <a:r>
              <a:rPr lang="zh-CN" altLang="en-US" sz="3600"/>
              <a:t>：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328592"/>
          </a:xfrm>
          <a:ln>
            <a:solidFill>
              <a:srgbClr val="3333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 dirty="0"/>
              <a:t>令：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：天气好。   </a:t>
            </a:r>
            <a:r>
              <a:rPr lang="en-US" altLang="zh-CN" sz="2400" b="1" dirty="0"/>
              <a:t>Q</a:t>
            </a:r>
            <a:r>
              <a:rPr lang="zh-CN" altLang="en-US" sz="2400" b="1" dirty="0"/>
              <a:t>：我去公园。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1.</a:t>
            </a:r>
            <a:r>
              <a:rPr lang="zh-CN" altLang="en-US" sz="2400" b="1" dirty="0"/>
              <a:t>如果天气好，我就去公园。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2.</a:t>
            </a:r>
            <a:r>
              <a:rPr lang="zh-CN" altLang="en-US" sz="2400" b="1" dirty="0"/>
              <a:t>只要天气好，我就去公园。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3.</a:t>
            </a:r>
            <a:r>
              <a:rPr lang="zh-CN" altLang="en-US" sz="2400" b="1" dirty="0"/>
              <a:t>天气好，我就去公园。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4.</a:t>
            </a:r>
            <a:r>
              <a:rPr lang="zh-CN" altLang="en-US" sz="2400" b="1" dirty="0"/>
              <a:t>仅当天气好，我才去公园。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5.</a:t>
            </a:r>
            <a:r>
              <a:rPr lang="zh-CN" altLang="en-US" sz="2400" b="1" dirty="0"/>
              <a:t>只有天气好，我才去公园。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6.</a:t>
            </a:r>
            <a:r>
              <a:rPr lang="zh-CN" altLang="en-US" sz="2400" b="1" dirty="0"/>
              <a:t>我去公园，仅当天气好。</a:t>
            </a:r>
            <a:endParaRPr lang="zh-CN" altLang="en-US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命题</a:t>
            </a:r>
            <a:r>
              <a:rPr lang="en-US" altLang="zh-CN" sz="2400" b="1" dirty="0"/>
              <a:t>1.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3.</a:t>
            </a:r>
            <a:r>
              <a:rPr lang="zh-CN" altLang="en-US" sz="2400" b="1" dirty="0"/>
              <a:t>写成：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Q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zh-CN" altLang="en-US" sz="2400" b="1" dirty="0"/>
              <a:t>命题</a:t>
            </a:r>
            <a:r>
              <a:rPr lang="en-US" altLang="zh-CN" sz="2400" b="1" dirty="0"/>
              <a:t>4.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5.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6.</a:t>
            </a:r>
            <a:r>
              <a:rPr lang="zh-CN" altLang="en-US" sz="2400" b="1" dirty="0"/>
              <a:t>写成： 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P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可见“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”既表示充分条件（即前件是后件的充分条件）；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也表示必要条件（即后件是前件的必要条件）。这一点要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特别注意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!!!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它决定了哪个作为前件，哪个作为后件。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utoUpdateAnimBg="0" build="p"/>
      <p:bldP spid="55299" grpId="0" autoUpdateAnimBg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五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等价</a:t>
            </a:r>
            <a:r>
              <a:rPr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双条件）“</a:t>
            </a:r>
            <a:r>
              <a:rPr lang="zh-CN" altLang="en-US">
                <a:sym typeface="Symbol" panose="05050102010706020507" pitchFamily="18" charset="2"/>
              </a:rPr>
              <a:t>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”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2339" name="Rectangle 1027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CCFF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highlight>
                  <a:srgbClr val="FFFF00"/>
                </a:highlight>
              </a:rPr>
              <a:t>表示“当且仅当”、“充分且必要”</a:t>
            </a:r>
            <a:endParaRPr lang="zh-CN" altLang="en-US">
              <a:highlight>
                <a:srgbClr val="FFFF00"/>
              </a:highlight>
            </a:endParaRPr>
          </a:p>
          <a:p>
            <a:pPr eaLnBrk="1" hangingPunct="1"/>
            <a:r>
              <a:rPr lang="zh-CN" altLang="en-US"/>
              <a:t>例</a:t>
            </a:r>
            <a:r>
              <a:rPr lang="en-US" altLang="zh-CN"/>
              <a:t>1-2.6</a:t>
            </a:r>
            <a:r>
              <a:rPr lang="zh-CN" altLang="en-US"/>
              <a:t>：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zh-CN" altLang="en-US"/>
              <a:t>：</a:t>
            </a:r>
            <a:r>
              <a:rPr lang="zh-CN" altLang="en-US">
                <a:ea typeface="MingLiU" pitchFamily="49" charset="-120"/>
              </a:rPr>
              <a:t>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是等边三角形。</a:t>
            </a:r>
            <a:endParaRPr lang="zh-CN" altLang="zh-CN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Q</a:t>
            </a:r>
            <a:r>
              <a:rPr lang="zh-CN" altLang="en-US"/>
              <a:t>：</a:t>
            </a:r>
            <a:r>
              <a:rPr lang="zh-CN" altLang="en-US">
                <a:ea typeface="MingLiU" pitchFamily="49" charset="-120"/>
              </a:rPr>
              <a:t>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是等角三角形。</a:t>
            </a:r>
            <a:endParaRPr lang="zh-CN" altLang="zh-CN"/>
          </a:p>
          <a:p>
            <a:pPr eaLnBrk="1" hangingPunct="1">
              <a:buFontTx/>
              <a:buNone/>
            </a:pPr>
            <a:r>
              <a:rPr lang="zh-CN" altLang="en-US"/>
              <a:t>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en-US" altLang="zh-CN">
                <a:ea typeface="MingLiU" pitchFamily="49" charset="-120"/>
              </a:rPr>
              <a:t> </a:t>
            </a:r>
            <a:r>
              <a:rPr lang="zh-CN" altLang="en-US">
                <a:ea typeface="MingLiU" pitchFamily="49" charset="-120"/>
              </a:rPr>
              <a:t>：⊿</a:t>
            </a:r>
            <a:r>
              <a:rPr lang="en-US" altLang="zh-CN">
                <a:ea typeface="MingLiU" pitchFamily="49" charset="-120"/>
              </a:rPr>
              <a:t>ABC</a:t>
            </a:r>
            <a:r>
              <a:rPr lang="zh-CN" altLang="zh-CN"/>
              <a:t>是等边三角形</a:t>
            </a:r>
            <a:r>
              <a:rPr lang="zh-CN" altLang="en-US"/>
              <a:t>当且仅当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             它</a:t>
            </a:r>
            <a:r>
              <a:rPr lang="zh-CN" altLang="zh-CN"/>
              <a:t>是等角三角形。</a:t>
            </a:r>
            <a:endParaRPr lang="zh-CN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utoUpdateAnimBg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9"/>
          <p:cNvSpPr>
            <a:spLocks noGrp="1" noChangeArrowheads="1"/>
          </p:cNvSpPr>
          <p:nvPr>
            <p:ph type="title"/>
          </p:nvPr>
        </p:nvSpPr>
        <p:spPr>
          <a:noFill/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Q</a:t>
            </a:r>
            <a:r>
              <a:rPr lang="zh-CN" altLang="en-US" sz="3600"/>
              <a:t>的真值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60436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495800"/>
          </a:xfrm>
          <a:noFill/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Q</a:t>
            </a:r>
            <a:r>
              <a:rPr lang="zh-CN" altLang="zh-CN">
                <a:solidFill>
                  <a:srgbClr val="FF0000"/>
                </a:solidFill>
                <a:sym typeface="Symbol" panose="05050102010706020507" pitchFamily="18" charset="2"/>
              </a:rPr>
              <a:t>的真值为真，当且仅当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P</a:t>
            </a:r>
            <a:r>
              <a:rPr lang="zh-CN" altLang="zh-CN">
                <a:solidFill>
                  <a:srgbClr val="FF0000"/>
                </a:solidFill>
                <a:sym typeface="Symbol" panose="05050102010706020507" pitchFamily="18" charset="2"/>
              </a:rPr>
              <a:t>与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Q</a:t>
            </a:r>
            <a:r>
              <a:rPr lang="zh-CN" altLang="zh-CN">
                <a:solidFill>
                  <a:srgbClr val="FF0000"/>
                </a:solidFill>
                <a:sym typeface="Symbol" panose="05050102010706020507" pitchFamily="18" charset="2"/>
              </a:rPr>
              <a:t>的真值相同。</a:t>
            </a:r>
            <a:endParaRPr lang="zh-CN" altLang="zh-CN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60493" name="Group 77"/>
          <p:cNvGraphicFramePr>
            <a:graphicFrameLocks noGrp="1"/>
          </p:cNvGraphicFramePr>
          <p:nvPr/>
        </p:nvGraphicFramePr>
        <p:xfrm>
          <a:off x="1447800" y="3124200"/>
          <a:ext cx="6096000" cy="3124201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 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Q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043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0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6" grpId="0" autoUpdateAnimBg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04800"/>
            <a:ext cx="7772400" cy="1143000"/>
          </a:xfrm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b="1"/>
              <a:t>本节小结：</a:t>
            </a:r>
            <a:endParaRPr lang="zh-CN" altLang="en-US" b="1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1"/>
            <a:ext cx="7772400" cy="4495800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b="1"/>
              <a:t>要熟练掌握这五个联结词在自然语言中</a:t>
            </a:r>
            <a:endParaRPr lang="zh-CN" altLang="en-US" b="1"/>
          </a:p>
          <a:p>
            <a:pPr eaLnBrk="1" hangingPunct="1">
              <a:buFontTx/>
              <a:buNone/>
            </a:pPr>
            <a:r>
              <a:rPr lang="zh-CN" altLang="en-US" b="1"/>
              <a:t>所表示的含义以及它们的真值表的定义。</a:t>
            </a:r>
            <a:endParaRPr lang="zh-CN" altLang="en-US" b="1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180" name="Line 6"/>
          <p:cNvSpPr>
            <a:spLocks noChangeShapeType="1"/>
          </p:cNvSpPr>
          <p:nvPr/>
        </p:nvSpPr>
        <p:spPr bwMode="auto">
          <a:xfrm>
            <a:off x="685800" y="3048000"/>
            <a:ext cx="77724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1" name="Line 7"/>
          <p:cNvSpPr>
            <a:spLocks noChangeShapeType="1"/>
          </p:cNvSpPr>
          <p:nvPr/>
        </p:nvSpPr>
        <p:spPr bwMode="auto">
          <a:xfrm>
            <a:off x="838200" y="3200400"/>
            <a:ext cx="7543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2" name="Line 9"/>
          <p:cNvSpPr>
            <a:spLocks noChangeShapeType="1"/>
          </p:cNvSpPr>
          <p:nvPr/>
        </p:nvSpPr>
        <p:spPr bwMode="auto">
          <a:xfrm>
            <a:off x="1143000" y="3200400"/>
            <a:ext cx="7086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3" name="Line 10"/>
          <p:cNvSpPr>
            <a:spLocks noChangeShapeType="1"/>
          </p:cNvSpPr>
          <p:nvPr/>
        </p:nvSpPr>
        <p:spPr bwMode="auto">
          <a:xfrm>
            <a:off x="1143000" y="3200400"/>
            <a:ext cx="0" cy="2743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582" name="Group 142"/>
          <p:cNvGraphicFramePr>
            <a:graphicFrameLocks noGrp="1"/>
          </p:cNvGraphicFramePr>
          <p:nvPr/>
        </p:nvGraphicFramePr>
        <p:xfrm>
          <a:off x="838200" y="2971800"/>
          <a:ext cx="7467600" cy="3124202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731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Kingsoft Phonetic Plain" pitchFamily="2" charset="2"/>
                        </a:rPr>
                        <a:t>∧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347864" y="3714752"/>
            <a:ext cx="4957936" cy="23812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5626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/>
              <a:t>特别要注意“或者”的二义性，即要区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分给定的“或”是“可兼取的或”还是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“不可兼取的或”。</a:t>
            </a:r>
            <a:endParaRPr lang="zh-CN" altLang="en-US"/>
          </a:p>
          <a:p>
            <a:pPr eaLnBrk="1" hangingPunct="1"/>
            <a:r>
              <a:rPr lang="zh-CN" altLang="en-US"/>
              <a:t>特别要注意“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”的用法，它既表示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“充分条件”也表示“必要条件”，即要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弄清哪个作为前件，哪个作为后件。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课堂练习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autoUpdateAnimBg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381000"/>
            <a:ext cx="8135938" cy="60198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练习：填空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∧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∧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，且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 </a:t>
            </a:r>
            <a:r>
              <a:rPr lang="zh-CN" altLang="en-US" dirty="0"/>
              <a:t>，则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， 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autoUpdateAnimBg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   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T,   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为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P</a:t>
            </a:r>
            <a:r>
              <a:rPr lang="zh-CN" altLang="en-US" dirty="0"/>
              <a:t>为</a:t>
            </a:r>
            <a:r>
              <a:rPr lang="en-US" altLang="zh-CN" dirty="0"/>
              <a:t>(   )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 ,  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已知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T ,  </a:t>
            </a:r>
            <a:r>
              <a:rPr lang="zh-CN" altLang="en-US" dirty="0">
                <a:sym typeface="Symbol" panose="05050102010706020507" pitchFamily="18" charset="2"/>
              </a:rPr>
              <a:t>则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P  </a:t>
            </a:r>
            <a:r>
              <a:rPr lang="zh-CN" altLang="en-US" dirty="0">
                <a:sym typeface="Symbol" panose="05050102010706020507" pitchFamily="18" charset="2"/>
              </a:rPr>
              <a:t>的真值为</a:t>
            </a:r>
            <a:r>
              <a:rPr lang="en-US" altLang="zh-CN" dirty="0">
                <a:sym typeface="Symbol" panose="05050102010706020507" pitchFamily="18" charset="2"/>
              </a:rPr>
              <a:t>(    ).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P  </a:t>
            </a:r>
            <a:r>
              <a:rPr lang="zh-CN" altLang="en-US" dirty="0">
                <a:sym typeface="Symbol" panose="05050102010706020507" pitchFamily="18" charset="2"/>
              </a:rPr>
              <a:t>的真值</a:t>
            </a:r>
            <a:r>
              <a:rPr lang="zh-CN" altLang="en-US" dirty="0"/>
              <a:t>为</a:t>
            </a:r>
            <a:r>
              <a:rPr lang="en-US" altLang="zh-CN" dirty="0"/>
              <a:t>(    )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autoUpdateAnimBg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44824"/>
            <a:ext cx="8496944" cy="266429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下节课我们将讲述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    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1-3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命题公式及命题符号化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MultipleChoiceMA"/>
</p:tagLst>
</file>

<file path=ppt/tags/tag19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Item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p="http://schemas.openxmlformats.org/presentationml/2006/main">
  <p:tag name="RAINPROBLEM" val="ProblemRemarkBoard"/>
</p:tagLst>
</file>

<file path=ppt/tags/tag31.xml><?xml version="1.0" encoding="utf-8"?>
<p:tagLst xmlns:p="http://schemas.openxmlformats.org/presentationml/2006/main">
  <p:tag name="PROBLEMREMARKTITLE" val="ProblemRemarkBoardTip"/>
</p:tagLst>
</file>

<file path=ppt/tags/tag32.xml><?xml version="1.0" encoding="utf-8"?>
<p:tagLst xmlns:p="http://schemas.openxmlformats.org/presentationml/2006/main">
  <p:tag name="RAINPROBLEM" val="ProblemRemark"/>
</p:tagLst>
</file>

<file path=ppt/tags/tag33.xml><?xml version="1.0" encoding="utf-8"?>
<p:tagLst xmlns:p="http://schemas.openxmlformats.org/presentationml/2006/main">
  <p:tag name="PROBLEMREMARKTITLE" val="ProblemRemarkBoardTitle"/>
</p:tagLst>
</file>

<file path=ppt/tags/tag34.xml><?xml version="1.0" encoding="utf-8"?>
<p:tagLst xmlns:p="http://schemas.openxmlformats.org/presentationml/2006/main">
  <p:tag name="PROBLEMREMARKTITLE" val="ProblemRemarkBoardTitle"/>
</p:tagLst>
</file>

<file path=ppt/tags/tag35.xml><?xml version="1.0" encoding="utf-8"?>
<p:tagLst xmlns:p="http://schemas.openxmlformats.org/presentationml/2006/main">
  <p:tag name="PROBLEMREMARKTITLE" val="ProblemRemarkBoardTitle"/>
</p:tagLst>
</file>

<file path=ppt/tags/tag36.xml><?xml version="1.0" encoding="utf-8"?>
<p:tagLst xmlns:p="http://schemas.openxmlformats.org/presentationml/2006/main">
  <p:tag name="PROBLEMREMARKTITLE" val="ProblemRemarkBoardTitle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" val="ProblemSetting"/>
  <p:tag name="RAINPROBLEMTYPE" val="MultipleChoice"/>
</p:tagLst>
</file>

<file path=ppt/tags/tag43.xml><?xml version="1.0" encoding="utf-8"?>
<p:tagLst xmlns:p="http://schemas.openxmlformats.org/presentationml/2006/main">
  <p:tag name="RAINPROBLEM" val="MultipleChoice"/>
  <p:tag name="PROBLEMSCORE" val="2.0"/>
  <p:tag name="PROBLEMHASREMARK" val="False"/>
</p:tagLst>
</file>

<file path=ppt/tags/tag44.xml><?xml version="1.0" encoding="utf-8"?>
<p:tagLst xmlns:p="http://schemas.openxmlformats.org/presentationml/2006/main">
  <p:tag name="RAINPROBLEM" val="ProblemBody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Item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53.xml><?xml version="1.0" encoding="utf-8"?>
<p:tagLst xmlns:p="http://schemas.openxmlformats.org/presentationml/2006/main">
  <p:tag name="RAINPROBLEM" val="ProblemSubmit"/>
  <p:tag name="RAINPROBLEMTYPE" val="MultipleChoiceMA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MultipleChoiceMA"/>
</p:tagLst>
</file>

<file path=ppt/tags/tag62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Item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2.xml><?xml version="1.0" encoding="utf-8"?>
<p:tagLst xmlns:p="http://schemas.openxmlformats.org/presentationml/2006/main">
  <p:tag name="RAINPROBLEM" val="ProblemSubmit"/>
  <p:tag name="RAINPROBLEMTYPE" val="MultipleChoiceMA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" val="ProblemSetting"/>
  <p:tag name="RAINPROBLEMTYPE" val="MultipleChoiceMA"/>
</p:tagLst>
</file>

<file path=ppt/tags/tag81.xml><?xml version="1.0" encoding="utf-8"?>
<p:tagLst xmlns:p="http://schemas.openxmlformats.org/presentationml/2006/main">
  <p:tag name="RAINPROBLEM" val="MultipleChoiceMA"/>
  <p:tag name="PROBLEMSCORE_HALF" val="0.0"/>
  <p:tag name="PROBLEMSCORE" val="2.0"/>
</p:tagLst>
</file>

<file path=ppt/tags/tag82.xml><?xml version="1.0" encoding="utf-8"?>
<p:tagLst xmlns:p="http://schemas.openxmlformats.org/presentationml/2006/main">
  <p:tag name="KSO_WPP_MARK_KEY" val="171b5e89-0c4c-49c5-8f3c-7b4c1c453610"/>
  <p:tag name="COMMONDATA" val="eyJoZGlkIjoiOTdlZWM4ZTkzMDQwNzlhMzliMmYyZDVlZGZhZjFmYzUifQ=="/>
  <p:tag name="commondata" val="eyJoZGlkIjoiNzBjYzNlM2UyNWU0ZmNlNGM0YzIyOWE4MTQ5ZWY4Yz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5177</Words>
  <Application>WPS 演示</Application>
  <PresentationFormat>全屏显示(4:3)</PresentationFormat>
  <Paragraphs>637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Candara</vt:lpstr>
      <vt:lpstr>华文楷体</vt:lpstr>
      <vt:lpstr>Calibri Light</vt:lpstr>
      <vt:lpstr>Times New Roman</vt:lpstr>
      <vt:lpstr>楷体</vt:lpstr>
      <vt:lpstr>Symbol</vt:lpstr>
      <vt:lpstr>隶书</vt:lpstr>
      <vt:lpstr>微软雅黑</vt:lpstr>
      <vt:lpstr>Arial Unicode MS</vt:lpstr>
      <vt:lpstr>黑体</vt:lpstr>
      <vt:lpstr>MS Gothic</vt:lpstr>
      <vt:lpstr>Kingsoft Phonetic Plain</vt:lpstr>
      <vt:lpstr>Segoe Print</vt:lpstr>
      <vt:lpstr>Lucida Sans Unicode</vt:lpstr>
      <vt:lpstr>MingLiU</vt:lpstr>
      <vt:lpstr>MingLiU-ExtB</vt:lpstr>
      <vt:lpstr>Office 主题​​</vt:lpstr>
      <vt:lpstr>默认设计模板</vt:lpstr>
      <vt:lpstr>PowerPoint 演示文稿</vt:lpstr>
      <vt:lpstr>什么是逻辑？</vt:lpstr>
      <vt:lpstr>形式逻辑中的推理</vt:lpstr>
      <vt:lpstr>从形式逻辑到数理逻辑</vt:lpstr>
      <vt:lpstr>PowerPoint 演示文稿</vt:lpstr>
      <vt:lpstr>数理逻辑把推理符号化举例（1）</vt:lpstr>
      <vt:lpstr>数理逻辑把推理符号化举例（2）</vt:lpstr>
      <vt:lpstr>数理逻辑与计算机</vt:lpstr>
      <vt:lpstr>PowerPoint 演示文稿</vt:lpstr>
      <vt:lpstr>PowerPoint 演示文稿</vt:lpstr>
      <vt:lpstr>PowerPoint 演示文稿</vt:lpstr>
      <vt:lpstr>         第一章    命题逻辑 </vt:lpstr>
      <vt:lpstr>1-1. 命题与命题的真值</vt:lpstr>
      <vt:lpstr>一. 命题的概念</vt:lpstr>
      <vt:lpstr>二.命题的真值</vt:lpstr>
      <vt:lpstr>三. 原子命题与复合命题</vt:lpstr>
      <vt:lpstr>PowerPoint 演示文稿</vt:lpstr>
      <vt:lpstr>PowerPoint 演示文稿</vt:lpstr>
      <vt:lpstr>1-2  联结词</vt:lpstr>
      <vt:lpstr>一. 否定“” </vt:lpstr>
      <vt:lpstr>二.  合取“∧”</vt:lpstr>
      <vt:lpstr>三. 析取“∨”、异或“⊽”</vt:lpstr>
      <vt:lpstr>1. 析取“∨”</vt:lpstr>
      <vt:lpstr>2. 异或“⊽”</vt:lpstr>
      <vt:lpstr>3.“异或”的另一种表示</vt:lpstr>
      <vt:lpstr>四. 蕴涵(条件)“”</vt:lpstr>
      <vt:lpstr>关于充分条件和必要条件的说明：</vt:lpstr>
      <vt:lpstr>PowerPoint 演示文稿</vt:lpstr>
      <vt:lpstr>举例：</vt:lpstr>
      <vt:lpstr>五.等价(双条件）“”</vt:lpstr>
      <vt:lpstr>PQ的真值：</vt:lpstr>
      <vt:lpstr>本节小结：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512</cp:revision>
  <dcterms:created xsi:type="dcterms:W3CDTF">2001-03-04T02:11:00Z</dcterms:created>
  <dcterms:modified xsi:type="dcterms:W3CDTF">2026-07-03T05:04:17Z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ED5971CE211648688014073B5B9FB0C3_12</vt:lpwstr>
  </property>
  <property fmtid="{D5CDD505-2E9C-101B-9397-08002B2CF9AE}" pid="3" name="KSOProductBuildVer">
    <vt:lpwstr>2052-12.1.0.22175</vt:lpwstr>
  </property>
</Properties>
</file>