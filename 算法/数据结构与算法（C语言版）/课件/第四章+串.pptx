
<file path=[Content_Types].xml><?xml version="1.0" encoding="utf-8"?>
<Types xmlns="http://schemas.openxmlformats.org/package/2006/content-types">
  <Default Extension="xml" ContentType="application/xml"/>
  <Default Extension="bmp" ContentType="image/bmp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>
      <p:cViewPr varScale="1">
        <p:scale>
          <a:sx n="107" d="100"/>
          <a:sy n="107" d="100"/>
        </p:scale>
        <p:origin x="1760" y="160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C51EC-6FD5-4863-83B5-92D981B3290E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40C3E-DC0F-454B-B64E-DAEF5FEB76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701645-E417-8A44-ACD9-19884820D4E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4613" y="8686800"/>
            <a:ext cx="29718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56" tIns="47778" rIns="95556" bIns="47778" anchor="b"/>
          <a:lstStyle>
            <a:lvl1pPr defTabSz="95567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95567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95567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95567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95567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955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955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955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955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/>
            <a:fld id="{9194EC94-8490-AC4C-A58B-E6DCD35B2489}" type="slidenum">
              <a:rPr lang="en-US" altLang="zh-CN" sz="1300"/>
              <a:pPr algn="r"/>
              <a:t>1</a:t>
            </a:fld>
            <a:endParaRPr lang="en-US" altLang="zh-CN" sz="1300"/>
          </a:p>
        </p:txBody>
      </p:sp>
      <p:sp>
        <p:nvSpPr>
          <p:cNvPr id="13209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665163" y="223838"/>
            <a:ext cx="3292475" cy="2470150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2997200"/>
            <a:ext cx="5662613" cy="5767388"/>
          </a:xfrm>
        </p:spPr>
        <p:txBody>
          <a:bodyPr lIns="95556" tIns="47778" rIns="95556" bIns="47778"/>
          <a:lstStyle/>
          <a:p>
            <a:endParaRPr lang="zh-CN" altLang="zh-CN" sz="1400"/>
          </a:p>
        </p:txBody>
      </p:sp>
    </p:spTree>
    <p:extLst>
      <p:ext uri="{BB962C8B-B14F-4D97-AF65-F5344CB8AC3E}">
        <p14:creationId xmlns:p14="http://schemas.microsoft.com/office/powerpoint/2010/main" val="147255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52272-F36C-8D4F-9770-466C385F318B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12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0927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3212B-92A6-DC4D-A2D5-8CC6DE1857E4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33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04701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B9ADE1-E4B4-DD44-94C9-25FB01A48FE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53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04120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AEFF4A-8F56-5D4C-A941-D94751322948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74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44952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F5C53B-9A1F-F940-B659-B879C9CCA156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94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9765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D0D1CA-50BE-024B-85D6-FF09B946FF0C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15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174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30162-D9C0-3A42-AF80-80ADC0C3123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35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97895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188A7E-424A-484C-B5C4-621AF71ED2C2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56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9321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F021A7-3F40-F348-9635-927586B5D28D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76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36808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D4FD32-BBF3-8C49-B7C4-6D938B48FBAE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96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59817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4FAFE4-221A-6F41-8200-C04307417AFA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17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4771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0F9A5A-312D-1940-84B7-A02FF7748016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37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03391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AFE35-7840-EB4D-95B7-3A58932D74D9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58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7855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525714-F9C5-804F-8BB3-7BBA229CBB02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19120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601DA6-B48A-9844-8CA9-099094C729F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99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6803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166758-521F-614C-B554-23AA57798463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19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5698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B84A58-0A2F-B145-8A58-264EB239BA94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440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4779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351F2E-C382-864E-8C42-C5DE9D7B79FC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60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685841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2847D5-5995-3F47-A8A6-B50EE4BC7D9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481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9362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181C68-397F-F24E-8438-04A76356749A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501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910295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8C1099-7998-A248-B097-A9B5C3BC50F9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522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3454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614D5C-1D9F-1B40-A6CB-1098DD76E2C4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542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6738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1A8313-5510-EF47-A499-6F9020A6B98F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563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63471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CDE1DA-CF3E-7245-AF49-C83CBD6BD6E7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583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392792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6B7D62-4097-974E-80AA-F7D1E6D54C92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604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18740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E1CC04-294D-2740-9A3E-FF3F2C23DFF8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624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28250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AA0E06-D5E9-8646-AECA-A5D697FCE2C3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332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176DCE-AA99-0945-AEDB-5B6115017EE9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675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011439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315774-4068-BC4F-B221-19DA89E45031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696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156086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007315-0721-1740-A2CD-5A18101D9043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716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885528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A42287-32B2-5B46-91B6-AB94FD1F271C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73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71678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27B075-ECDB-1B4A-B700-36D5380BD41A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51716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CFC53F-9B78-1E4D-818E-369C91548738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778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702629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9451E3-C91F-7E4B-8960-1FCAE60AB5A8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798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00890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360E3D-00CB-EE4A-A57C-A6EAE662C9C8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819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10157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B87257-C0DB-4B43-AAD4-B3DA46649A2A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839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33384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3810B-BC26-C546-8EDB-0062D92C9C5A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860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397331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1CD7A8-C3EE-D145-A891-D163A86351E5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880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364241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A568AB-843F-C644-AC2A-A81ADA3DE000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901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38834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C3D4E1-38AD-FA4B-8484-F3DF80D47BC8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921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93045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60A16D-EDF3-E447-BC00-3C565CA20020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942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71396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26E0E1-BA8F-5D49-A5DE-9808F3C85812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962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51039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55D6A-484F-A645-8DA6-1FB9C4830DB4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003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839427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042665-6201-7946-9279-D675EF5AF744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1146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zh-CN" altLang="en-US"/>
              <a:t>设</a:t>
            </a:r>
            <a:r>
              <a:rPr lang="en-US" altLang="zh-CN"/>
              <a:t>next【K】=k’  ,</a:t>
            </a:r>
            <a:r>
              <a:rPr lang="zh-CN" altLang="en-US"/>
              <a:t>如果</a:t>
            </a:r>
            <a:r>
              <a:rPr lang="en-US" altLang="zh-CN"/>
              <a:t>next【K‘】=T【j】</a:t>
            </a:r>
            <a:r>
              <a:rPr lang="zh-CN" altLang="en-US"/>
              <a:t>则，</a:t>
            </a:r>
          </a:p>
          <a:p>
            <a:r>
              <a:rPr lang="zh-CN" altLang="en-US"/>
              <a:t>即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….p</a:t>
            </a:r>
            <a:r>
              <a:rPr lang="en-US" altLang="zh-CN" baseline="-25000"/>
              <a:t>k‘</a:t>
            </a:r>
            <a:r>
              <a:rPr lang="en-US" altLang="zh-CN"/>
              <a:t>=p</a:t>
            </a:r>
            <a:r>
              <a:rPr lang="en-US" altLang="zh-CN" baseline="-25000"/>
              <a:t>j-k’+1</a:t>
            </a:r>
            <a:r>
              <a:rPr lang="en-US" altLang="zh-CN"/>
              <a:t>….p</a:t>
            </a:r>
            <a:r>
              <a:rPr lang="en-US" altLang="zh-CN" baseline="-25000"/>
              <a:t>j</a:t>
            </a:r>
            <a:r>
              <a:rPr lang="zh-CN" altLang="en-US"/>
              <a:t>相等</a:t>
            </a:r>
          </a:p>
          <a:p>
            <a:r>
              <a:rPr lang="en-US" altLang="zh-CN"/>
              <a:t>next【j】=K’ +1</a:t>
            </a:r>
          </a:p>
          <a:p>
            <a:r>
              <a:rPr lang="zh-CN" altLang="en-US"/>
              <a:t>同理，若</a:t>
            </a:r>
          </a:p>
        </p:txBody>
      </p:sp>
    </p:spTree>
    <p:extLst>
      <p:ext uri="{BB962C8B-B14F-4D97-AF65-F5344CB8AC3E}">
        <p14:creationId xmlns:p14="http://schemas.microsoft.com/office/powerpoint/2010/main" val="11512857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665190-08F3-7341-8585-52982767B869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1187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42855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EB253-1413-194A-B431-4F62175D9F96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1208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510283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42F30B-AE67-AA4D-97CC-6375B3B08A6D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1228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387918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54E2CD-4565-B544-BB13-7BA187430046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1249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325284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1BD3A0-88AB-C746-86B4-195294D34271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1269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89206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NUL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NUL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 userDrawn="1"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1000"/>
              </a:spcAft>
              <a:defRPr>
                <a:solidFill>
                  <a:schemeClr val="tx2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</a:defRPr>
            </a:lvl1pPr>
            <a:lvl2pPr>
              <a:spcAft>
                <a:spcPts val="1000"/>
              </a:spcAft>
              <a:defRPr>
                <a:solidFill>
                  <a:schemeClr val="tx2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</a:defRPr>
            </a:lvl2pPr>
            <a:lvl3pPr>
              <a:spcAft>
                <a:spcPts val="1000"/>
              </a:spcAft>
              <a:defRPr>
                <a:solidFill>
                  <a:schemeClr val="tx2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</a:defRPr>
            </a:lvl3pPr>
          </a:lstStyle>
          <a:p>
            <a:pPr lvl="0" eaLnBrk="1" latinLnBrk="0" hangingPunct="1"/>
            <a:r>
              <a:rPr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lang="zh-CN" altLang="en-US" dirty="0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64422" y="6407309"/>
            <a:ext cx="1920240" cy="365760"/>
          </a:xfrm>
        </p:spPr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70447" y="6408579"/>
            <a:ext cx="2350681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84185" y="6407785"/>
            <a:ext cx="929005" cy="365125"/>
          </a:xfrm>
        </p:spPr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74638" y="68263"/>
            <a:ext cx="8718550" cy="60277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7239000" y="6597650"/>
            <a:ext cx="1905000" cy="260350"/>
          </a:xfrm>
        </p:spPr>
        <p:txBody>
          <a:bodyPr/>
          <a:lstStyle>
            <a:lvl1pPr>
              <a:defRPr/>
            </a:lvl1pPr>
          </a:lstStyle>
          <a:p>
            <a:fld id="{C73537A3-9133-8142-921D-D2A60F51ECE8}" type="slidenum">
              <a:rPr lang="en-US" altLang="zh-CN"/>
              <a:pPr/>
              <a:t>‹#›</a:t>
            </a:fld>
            <a:r>
              <a:rPr lang="en-US" altLang="zh-CN"/>
              <a:t>/62</a:t>
            </a:r>
          </a:p>
        </p:txBody>
      </p:sp>
    </p:spTree>
    <p:extLst>
      <p:ext uri="{BB962C8B-B14F-4D97-AF65-F5344CB8AC3E}">
        <p14:creationId xmlns:p14="http://schemas.microsoft.com/office/powerpoint/2010/main" val="62590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 userDrawn="1"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/>
          <p:nvPr userDrawn="1"/>
        </p:nvSpPr>
        <p:spPr bwMode="auto">
          <a:xfrm>
            <a:off x="557472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4" Type="http://schemas.openxmlformats.org/officeDocument/2006/relationships/slide" Target="slide30.xml"/><Relationship Id="rId5" Type="http://schemas.openxmlformats.org/officeDocument/2006/relationships/slide" Target="slide43.xml"/><Relationship Id="rId6" Type="http://schemas.openxmlformats.org/officeDocument/2006/relationships/slide" Target="slide65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wmf"/><Relationship Id="rId6" Type="http://schemas.openxmlformats.org/officeDocument/2006/relationships/oleObject" Target="../embeddings/oleObject2.bin"/><Relationship Id="rId7" Type="http://schemas.openxmlformats.org/officeDocument/2006/relationships/slide" Target="slide5.xml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4" Type="http://schemas.openxmlformats.org/officeDocument/2006/relationships/slide" Target="slide35.xml"/><Relationship Id="rId5" Type="http://schemas.openxmlformats.org/officeDocument/2006/relationships/slide" Target="slide40.xml"/><Relationship Id="rId6" Type="http://schemas.openxmlformats.org/officeDocument/2006/relationships/slide" Target="slide2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slide" Target="slide4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slide" Target="slide3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slide" Target="slide3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slide" Target="slide3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5" Type="http://schemas.openxmlformats.org/officeDocument/2006/relationships/oleObject" Target="../embeddings/oleObject4.bin"/><Relationship Id="rId6" Type="http://schemas.openxmlformats.org/officeDocument/2006/relationships/oleObject" Target="../embeddings/oleObject5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2.wmf"/><Relationship Id="rId5" Type="http://schemas.openxmlformats.org/officeDocument/2006/relationships/oleObject" Target="../embeddings/oleObject7.bin"/><Relationship Id="rId6" Type="http://schemas.openxmlformats.org/officeDocument/2006/relationships/oleObject" Target="../embeddings/oleObject8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7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b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1" name="Text Box 3"/>
          <p:cNvSpPr txBox="1">
            <a:spLocks noChangeArrowheads="1"/>
          </p:cNvSpPr>
          <p:nvPr/>
        </p:nvSpPr>
        <p:spPr bwMode="auto">
          <a:xfrm>
            <a:off x="-152400" y="2617788"/>
            <a:ext cx="9109075" cy="665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703" tIns="45852" rIns="91703" bIns="45852" anchor="ctr">
            <a:spAutoFit/>
          </a:bodyPr>
          <a:lstStyle>
            <a:lvl1pPr defTabSz="8239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8239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8239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8239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8239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hangingPunct="0">
              <a:lnSpc>
                <a:spcPct val="80000"/>
              </a:lnSpc>
              <a:spcAft>
                <a:spcPct val="20000"/>
              </a:spcAft>
            </a:pPr>
            <a:r>
              <a:rPr kumimoji="1" lang="zh-CN" altLang="zh-CN" sz="4700" b="1">
                <a:effectLst>
                  <a:outerShdw blurRad="38100" dist="38100" dir="2700000" algn="tl">
                    <a:srgbClr val="C0C0C0"/>
                  </a:outerShdw>
                </a:effectLst>
              </a:rPr>
              <a:t>第四章</a:t>
            </a:r>
            <a:r>
              <a:rPr kumimoji="1" lang="zh-CN" altLang="en-US" sz="47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zh-CN" sz="4700" b="1">
                <a:effectLst>
                  <a:outerShdw blurRad="38100" dist="38100" dir="2700000" algn="tl">
                    <a:srgbClr val="C0C0C0"/>
                  </a:outerShdw>
                </a:effectLst>
              </a:rPr>
              <a:t>串</a:t>
            </a:r>
            <a:endParaRPr kumimoji="1" lang="zh-CN" altLang="en-US" sz="47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12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2"/>
    </mc:Choice>
    <mc:Fallback>
      <p:transition spd="slow" advTm="422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79565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8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4.1  </a:t>
            </a:r>
            <a:r>
              <a:rPr kumimoji="1" lang="zh-CN" altLang="en-US" sz="48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串的抽象数据类型的定义</a:t>
            </a:r>
            <a:endParaRPr kumimoji="1" lang="zh-CN" altLang="en-US" sz="4800" b="1">
              <a:solidFill>
                <a:srgbClr val="854785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10243" name="Text Box 3">
            <a:hlinkClick r:id="rId4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577850" y="3048000"/>
            <a:ext cx="55181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800" b="1">
                <a:solidFill>
                  <a:schemeClr val="bg2"/>
                </a:solidFill>
                <a:latin typeface="Times New Roman" charset="0"/>
                <a:ea typeface="楷体_GB2312" charset="0"/>
              </a:rPr>
              <a:t>4.2  </a:t>
            </a:r>
            <a:r>
              <a:rPr kumimoji="1" lang="zh-CN" altLang="en-US" sz="4800" b="1">
                <a:solidFill>
                  <a:schemeClr val="bg2"/>
                </a:solidFill>
                <a:latin typeface="Times New Roman" charset="0"/>
                <a:ea typeface="楷体_GB2312" charset="0"/>
              </a:rPr>
              <a:t>串的表示和实现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0244" name="Text Box 4">
            <a:hlinkClick r:id="rId5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609600" y="4495800"/>
            <a:ext cx="59753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800" b="1">
                <a:solidFill>
                  <a:srgbClr val="990033"/>
                </a:solidFill>
                <a:latin typeface="Times New Roman" charset="0"/>
                <a:ea typeface="楷体_GB2312" charset="0"/>
              </a:rPr>
              <a:t>4.3	</a:t>
            </a:r>
            <a:r>
              <a:rPr kumimoji="1" lang="zh-CN" altLang="en-US" sz="4800" b="1">
                <a:solidFill>
                  <a:srgbClr val="990033"/>
                </a:solidFill>
                <a:latin typeface="Times New Roman" charset="0"/>
                <a:ea typeface="楷体_GB2312" charset="0"/>
              </a:rPr>
              <a:t>串的模式匹配算法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0245" name="AutoShape 5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077200" y="6096000"/>
            <a:ext cx="685800" cy="381000"/>
          </a:xfrm>
          <a:prstGeom prst="actionButtonEnd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3875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4" grpId="0" autoUpdateAnimBg="0"/>
      <p:bldP spid="102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295400" y="152400"/>
            <a:ext cx="81057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4.1  </a:t>
            </a:r>
            <a:r>
              <a:rPr kumimoji="1" lang="zh-CN" altLang="en-US" sz="40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串的抽象数据类型的定义如下</a:t>
            </a:r>
            <a:r>
              <a:rPr kumimoji="1" lang="zh-CN" altLang="en-US" sz="32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：</a:t>
            </a:r>
            <a:endParaRPr kumimoji="1" lang="zh-CN" altLang="en-US" sz="2000" b="1">
              <a:solidFill>
                <a:srgbClr val="CC6600"/>
              </a:solidFill>
              <a:latin typeface="Times New Roman" charset="0"/>
              <a:ea typeface="楷体_GB2312" charset="0"/>
            </a:endParaRPr>
          </a:p>
          <a:p>
            <a:endParaRPr kumimoji="1" lang="zh-CN" altLang="en-US" sz="2000">
              <a:solidFill>
                <a:srgbClr val="CC6600"/>
              </a:solidFill>
              <a:latin typeface="Times New Roman" charset="0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04800" y="1431925"/>
            <a:ext cx="27765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600" b="1">
                <a:latin typeface="Times New Roman" charset="0"/>
                <a:ea typeface="楷体_GB2312" charset="0"/>
              </a:rPr>
              <a:t>ADT String {</a:t>
            </a:r>
            <a:endParaRPr kumimoji="1" lang="en-US" altLang="zh-CN" sz="2000">
              <a:latin typeface="Times New Roman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49250" y="2168525"/>
            <a:ext cx="279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0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数据对象</a:t>
            </a:r>
            <a:r>
              <a:rPr kumimoji="1" lang="zh-CN" altLang="en-US" sz="4000">
                <a:solidFill>
                  <a:srgbClr val="FF0000"/>
                </a:solidFill>
                <a:latin typeface="Times New Roman" charset="0"/>
                <a:ea typeface="楷体_GB2312" charset="0"/>
              </a:rPr>
              <a:t>：</a:t>
            </a:r>
            <a:endParaRPr kumimoji="1" lang="zh-CN" altLang="en-US" sz="2000">
              <a:solidFill>
                <a:srgbClr val="FF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1905000" y="2933700"/>
            <a:ext cx="5091113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D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{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a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|a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∈CharacterSet,</a:t>
            </a:r>
          </a:p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  i=1,2,...,n,       n≥0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}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425450" y="4319588"/>
            <a:ext cx="27305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数据关系</a:t>
            </a:r>
            <a:r>
              <a:rPr kumimoji="1" lang="zh-CN" altLang="en-US" sz="4000">
                <a:solidFill>
                  <a:srgbClr val="FF0000"/>
                </a:solidFill>
                <a:latin typeface="Times New Roman" charset="0"/>
                <a:ea typeface="楷体_GB2312" charset="0"/>
              </a:rPr>
              <a:t>：</a:t>
            </a:r>
            <a:endParaRPr kumimoji="1" lang="zh-CN" altLang="en-US" sz="3200">
              <a:solidFill>
                <a:srgbClr val="FF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1812925" y="5143500"/>
            <a:ext cx="5776913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R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{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&lt; a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i-1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, a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&gt; | a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i-1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, a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∈D,</a:t>
            </a:r>
          </a:p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                           i=2,...,n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12296" name="Comment 8"/>
          <p:cNvSpPr>
            <a:spLocks noChangeArrowheads="1"/>
          </p:cNvSpPr>
          <p:nvPr/>
        </p:nvSpPr>
        <p:spPr bwMode="auto">
          <a:xfrm>
            <a:off x="5029200" y="1003300"/>
            <a:ext cx="3886200" cy="1382713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6633"/>
                </a:solidFill>
                <a:ea typeface="楷体_GB2312" charset="0"/>
              </a:rPr>
              <a:t>串是有限长的字符序列，由一对单引号相括，如</a:t>
            </a:r>
            <a:r>
              <a:rPr lang="en-US" altLang="zh-CN" sz="2800" b="1">
                <a:solidFill>
                  <a:srgbClr val="996633"/>
                </a:solidFill>
                <a:ea typeface="楷体_GB2312" charset="0"/>
              </a:rPr>
              <a:t>: </a:t>
            </a:r>
            <a:r>
              <a:rPr lang="en-US" altLang="zh-CN" sz="2800" b="1">
                <a:solidFill>
                  <a:srgbClr val="996633"/>
                </a:solidFill>
                <a:ea typeface="楷体_GB2312" charset="0"/>
                <a:sym typeface="Symbol" charset="2"/>
              </a:rPr>
              <a:t>a string</a:t>
            </a:r>
          </a:p>
        </p:txBody>
      </p:sp>
    </p:spTree>
    <p:extLst>
      <p:ext uri="{BB962C8B-B14F-4D97-AF65-F5344CB8AC3E}">
        <p14:creationId xmlns:p14="http://schemas.microsoft.com/office/powerpoint/2010/main" val="1861179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2" grpId="0" autoUpdateAnimBg="0"/>
      <p:bldP spid="12293" grpId="0" autoUpdateAnimBg="0"/>
      <p:bldP spid="12294" grpId="0" autoUpdateAnimBg="0"/>
      <p:bldP spid="12295" grpId="0" autoUpdateAnimBg="0"/>
      <p:bldP spid="1229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447800" y="0"/>
            <a:ext cx="33210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800" b="1" u="sng">
                <a:solidFill>
                  <a:srgbClr val="FF0000"/>
                </a:solidFill>
                <a:latin typeface="Times New Roman" charset="0"/>
                <a:ea typeface="楷体_GB2312" charset="0"/>
              </a:rPr>
              <a:t>基本操作</a:t>
            </a:r>
            <a:r>
              <a:rPr kumimoji="1" lang="zh-CN" altLang="en-US" sz="4800">
                <a:solidFill>
                  <a:srgbClr val="FF0000"/>
                </a:solidFill>
                <a:latin typeface="Times New Roman" charset="0"/>
                <a:ea typeface="楷体_GB2312" charset="0"/>
              </a:rPr>
              <a:t>：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736725" y="2403475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</a:rPr>
              <a:t> </a:t>
            </a:r>
          </a:p>
        </p:txBody>
      </p:sp>
      <p:sp>
        <p:nvSpPr>
          <p:cNvPr id="14340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50117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StrAssign (&amp;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T, </a:t>
            </a:r>
            <a:r>
              <a:rPr kumimoji="1" lang="en-US" altLang="zh-CN" sz="4400">
                <a:latin typeface="Times New Roman" charset="0"/>
                <a:ea typeface="楷体_GB2312" charset="0"/>
              </a:rPr>
              <a:t>chars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)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14341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82575" y="2590800"/>
            <a:ext cx="3832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StrCopy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T, S)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14342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191000" y="2041525"/>
            <a:ext cx="457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DestroyString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S)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14343" name="Text Box 7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349250" y="5562600"/>
            <a:ext cx="31559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StrEmpty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(S)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14344" name="Text Box 8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304800" y="4098925"/>
            <a:ext cx="42830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StrCompare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(S, T)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14345" name="Text Box 9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4191000" y="3336925"/>
            <a:ext cx="3224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StrLength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(S)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14346" name="Text Box 10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191000" y="4876800"/>
            <a:ext cx="4594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Concat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T, S1, S2)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2071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85800" y="1492250"/>
            <a:ext cx="58102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600" b="1">
                <a:latin typeface="Times New Roman" charset="0"/>
                <a:ea typeface="楷体_GB2312" charset="0"/>
              </a:rPr>
              <a:t>SubString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Sub, S, pos, len)</a:t>
            </a:r>
            <a:endParaRPr kumimoji="1" lang="en-US" altLang="zh-CN" sz="2000">
              <a:latin typeface="Times New Roman" charset="0"/>
              <a:ea typeface="楷体_GB2312" charset="0"/>
            </a:endParaRPr>
          </a:p>
          <a:p>
            <a:endParaRPr kumimoji="1" lang="en-US" altLang="zh-CN" sz="2000">
              <a:latin typeface="Times New Roman" charset="0"/>
            </a:endParaRPr>
          </a:p>
        </p:txBody>
      </p:sp>
      <p:sp>
        <p:nvSpPr>
          <p:cNvPr id="16387" name="Text Box 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42938" y="2863850"/>
            <a:ext cx="3409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Index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(S, T, pos)</a:t>
            </a:r>
            <a:endParaRPr kumimoji="1" lang="en-US" altLang="zh-CN" sz="2000">
              <a:latin typeface="Times New Roman" charset="0"/>
            </a:endParaRPr>
          </a:p>
        </p:txBody>
      </p:sp>
      <p:sp>
        <p:nvSpPr>
          <p:cNvPr id="16388" name="Text Box 4">
            <a:hlinkClick r:id="rId5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3814763" y="3444875"/>
            <a:ext cx="3917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Replace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S, T, V)</a:t>
            </a:r>
            <a:endParaRPr kumimoji="1" lang="en-US" altLang="zh-CN" sz="2000">
              <a:latin typeface="Times New Roman" charset="0"/>
            </a:endParaRPr>
          </a:p>
        </p:txBody>
      </p:sp>
      <p:sp>
        <p:nvSpPr>
          <p:cNvPr id="16389" name="Text Box 5">
            <a:hlinkClick r:id="rId6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685800" y="4298950"/>
            <a:ext cx="4387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600" b="1">
                <a:latin typeface="Times New Roman" charset="0"/>
                <a:ea typeface="楷体_GB2312" charset="0"/>
              </a:rPr>
              <a:t>StrInsert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S, pos, T)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16390" name="Text Box 6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3657600" y="5213350"/>
            <a:ext cx="483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600" b="1">
                <a:latin typeface="Times New Roman" charset="0"/>
                <a:ea typeface="楷体_GB2312" charset="0"/>
              </a:rPr>
              <a:t> StrDelete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S, pos, len)</a:t>
            </a:r>
            <a:endParaRPr kumimoji="1" lang="en-US" altLang="zh-CN" sz="2000">
              <a:latin typeface="Times New Roman" charset="0"/>
            </a:endParaRPr>
          </a:p>
        </p:txBody>
      </p:sp>
      <p:sp>
        <p:nvSpPr>
          <p:cNvPr id="16391" name="Text Box 7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3733800" y="2254250"/>
            <a:ext cx="3613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ClearString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S)</a:t>
            </a:r>
            <a:endParaRPr kumimoji="1" lang="en-US" altLang="zh-CN" sz="2000">
              <a:latin typeface="Times New Roman" charset="0"/>
            </a:endParaRP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287338" y="6051550"/>
            <a:ext cx="27765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600" b="1">
                <a:latin typeface="Times New Roman" charset="0"/>
                <a:ea typeface="楷体_GB2312" charset="0"/>
              </a:rPr>
              <a:t>} ADT String</a:t>
            </a:r>
            <a:endParaRPr kumimoji="1" lang="en-US" altLang="zh-CN" sz="2000" b="1">
              <a:latin typeface="Times New Roman" charset="0"/>
              <a:ea typeface="楷体_GB2312" charset="0"/>
            </a:endParaRPr>
          </a:p>
        </p:txBody>
      </p:sp>
      <p:sp>
        <p:nvSpPr>
          <p:cNvPr id="16393" name="AutoShape 9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457200" cy="457200"/>
          </a:xfrm>
          <a:prstGeom prst="actionButtonForwardNext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9135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7916863" cy="387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             </a:t>
            </a:r>
            <a:r>
              <a:rPr kumimoji="1" lang="en-US" altLang="zh-CN" sz="44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StrAssign </a:t>
            </a:r>
            <a:r>
              <a:rPr kumimoji="1" lang="en-US" altLang="zh-CN" sz="4400">
                <a:solidFill>
                  <a:schemeClr val="tx2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4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400">
                <a:solidFill>
                  <a:schemeClr val="tx2"/>
                </a:solidFill>
                <a:latin typeface="Times New Roman" charset="0"/>
                <a:ea typeface="楷体_GB2312" charset="0"/>
              </a:rPr>
              <a:t>T, chars)</a:t>
            </a:r>
            <a:endParaRPr kumimoji="1" lang="en-US" altLang="zh-CN" sz="4400">
              <a:latin typeface="Times New Roman" charset="0"/>
              <a:ea typeface="楷体_GB2312" charset="0"/>
            </a:endParaRPr>
          </a:p>
          <a:p>
            <a:endParaRPr kumimoji="1" lang="en-US" altLang="zh-CN" sz="4400">
              <a:latin typeface="Times New Roman" charset="0"/>
              <a:ea typeface="楷体_GB2312" charset="0"/>
            </a:endParaRPr>
          </a:p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初始条件：</a:t>
            </a:r>
            <a:r>
              <a:rPr kumimoji="1" lang="en-US" altLang="zh-CN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chars </a:t>
            </a:r>
            <a:r>
              <a:rPr kumimoji="1" lang="zh-CN" altLang="en-US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是字符串常量。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r>
              <a:rPr kumimoji="1" lang="zh-CN" altLang="en-US" sz="40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操作结果：</a:t>
            </a:r>
            <a:r>
              <a:rPr kumimoji="1" lang="zh-CN" altLang="en-US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把 </a:t>
            </a:r>
            <a:r>
              <a:rPr kumimoji="1" lang="en-US" altLang="zh-CN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chars </a:t>
            </a:r>
            <a:r>
              <a:rPr kumimoji="1" lang="zh-CN" altLang="en-US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赋为 </a:t>
            </a:r>
            <a:r>
              <a:rPr kumimoji="1" lang="en-US" altLang="zh-CN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T </a:t>
            </a:r>
            <a:r>
              <a:rPr kumimoji="1" lang="zh-CN" altLang="en-US" sz="4000">
                <a:solidFill>
                  <a:srgbClr val="406649"/>
                </a:solidFill>
                <a:latin typeface="Times New Roman" charset="0"/>
                <a:ea typeface="楷体_GB2312" charset="0"/>
              </a:rPr>
              <a:t>的值。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endParaRPr kumimoji="1" lang="zh-CN" altLang="en-US" sz="4000">
              <a:latin typeface="Times New Roman" charset="0"/>
            </a:endParaRPr>
          </a:p>
        </p:txBody>
      </p:sp>
      <p:sp>
        <p:nvSpPr>
          <p:cNvPr id="18435" name="AutoShape 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001000" y="6172200"/>
            <a:ext cx="6858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0449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524000"/>
            <a:ext cx="7772400" cy="3810000"/>
          </a:xfrm>
        </p:spPr>
        <p:txBody>
          <a:bodyPr/>
          <a:lstStyle/>
          <a:p>
            <a:pPr algn="just"/>
            <a:r>
              <a:rPr lang="en-US" altLang="zh-CN">
                <a:solidFill>
                  <a:schemeClr val="tx1"/>
                </a:solidFill>
                <a:ea typeface="楷体_GB2312" charset="0"/>
              </a:rPr>
              <a:t/>
            </a:r>
            <a:br>
              <a:rPr lang="en-US" altLang="zh-CN">
                <a:solidFill>
                  <a:schemeClr val="tx1"/>
                </a:solidFill>
                <a:ea typeface="楷体_GB2312" charset="0"/>
              </a:rPr>
            </a:br>
            <a:endParaRPr lang="en-US" altLang="zh-CN">
              <a:solidFill>
                <a:schemeClr val="tx1"/>
              </a:solidFill>
              <a:ea typeface="楷体_GB2312" charset="0"/>
              <a:hlinkClick r:id="rId3" action="ppaction://hlinksldjump"/>
            </a:endParaRPr>
          </a:p>
        </p:txBody>
      </p:sp>
      <p:sp>
        <p:nvSpPr>
          <p:cNvPr id="20483" name="Text Box 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6200" y="1295400"/>
            <a:ext cx="9278938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                         </a:t>
            </a:r>
            <a:r>
              <a:rPr kumimoji="1" lang="en-US" altLang="zh-CN" sz="4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StrCopy </a:t>
            </a:r>
            <a:r>
              <a:rPr kumimoji="1" lang="en-US" altLang="zh-CN" sz="4800">
                <a:solidFill>
                  <a:schemeClr val="tx2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800">
                <a:solidFill>
                  <a:schemeClr val="tx2"/>
                </a:solidFill>
                <a:latin typeface="Times New Roman" charset="0"/>
                <a:ea typeface="楷体_GB2312" charset="0"/>
              </a:rPr>
              <a:t>T, S)</a:t>
            </a:r>
          </a:p>
          <a:p>
            <a:endParaRPr kumimoji="1" lang="en-US" altLang="zh-CN" sz="4800" b="1">
              <a:latin typeface="Times New Roman" charset="0"/>
              <a:ea typeface="楷体_GB2312" charset="0"/>
            </a:endParaRPr>
          </a:p>
          <a:p>
            <a:r>
              <a:rPr kumimoji="1" lang="en-US" altLang="zh-CN" sz="2400">
                <a:solidFill>
                  <a:srgbClr val="CC0066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zh-CN" altLang="en-US" sz="48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初始条件：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串 </a:t>
            </a:r>
            <a:r>
              <a:rPr kumimoji="1" lang="en-US" altLang="zh-CN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存在。</a:t>
            </a:r>
            <a:endParaRPr kumimoji="1" lang="zh-CN" altLang="en-US" sz="4800">
              <a:latin typeface="Times New Roman" charset="0"/>
              <a:ea typeface="楷体_GB2312" charset="0"/>
            </a:endParaRPr>
          </a:p>
          <a:p>
            <a:endParaRPr kumimoji="1" lang="zh-CN" altLang="en-US" sz="4800">
              <a:latin typeface="Times New Roman" charset="0"/>
              <a:ea typeface="楷体_GB2312" charset="0"/>
            </a:endParaRPr>
          </a:p>
          <a:p>
            <a:r>
              <a:rPr kumimoji="1" lang="zh-CN" altLang="en-US" sz="4800"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4800">
                <a:solidFill>
                  <a:srgbClr val="990000"/>
                </a:solidFill>
                <a:latin typeface="Times New Roman" charset="0"/>
                <a:ea typeface="楷体_GB2312" charset="0"/>
              </a:rPr>
              <a:t>操作结果：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由串 </a:t>
            </a:r>
            <a:r>
              <a:rPr kumimoji="1" lang="en-US" altLang="zh-CN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复制得串 </a:t>
            </a:r>
            <a:r>
              <a:rPr kumimoji="1" lang="en-US" altLang="zh-CN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4800">
              <a:latin typeface="Times New Roman" charset="0"/>
              <a:ea typeface="楷体_GB2312" charset="0"/>
            </a:endParaRPr>
          </a:p>
        </p:txBody>
      </p:sp>
      <p:sp>
        <p:nvSpPr>
          <p:cNvPr id="20484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001000" y="6172200"/>
            <a:ext cx="6858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5774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066800" y="1066800"/>
            <a:ext cx="7077075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54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DestroyString </a:t>
            </a:r>
            <a:r>
              <a:rPr kumimoji="1" lang="en-US" altLang="zh-CN" sz="5400">
                <a:solidFill>
                  <a:schemeClr val="tx2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54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5400">
                <a:solidFill>
                  <a:schemeClr val="tx2"/>
                </a:solidFill>
                <a:latin typeface="Times New Roman" charset="0"/>
                <a:ea typeface="楷体_GB2312" charset="0"/>
              </a:rPr>
              <a:t>S)</a:t>
            </a:r>
          </a:p>
          <a:p>
            <a:endParaRPr kumimoji="1" lang="en-US" altLang="zh-CN" sz="5400">
              <a:latin typeface="Times New Roman" charset="0"/>
              <a:ea typeface="楷体_GB2312" charset="0"/>
            </a:endParaRPr>
          </a:p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48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初始条件：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串 </a:t>
            </a:r>
            <a:r>
              <a:rPr kumimoji="1" lang="en-US" altLang="zh-CN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存在。</a:t>
            </a:r>
            <a:endParaRPr kumimoji="1" lang="zh-CN" altLang="en-US" sz="4800">
              <a:latin typeface="Times New Roman" charset="0"/>
              <a:ea typeface="楷体_GB2312" charset="0"/>
            </a:endParaRPr>
          </a:p>
          <a:p>
            <a:endParaRPr kumimoji="1" lang="zh-CN" altLang="en-US" sz="4800">
              <a:latin typeface="Times New Roman" charset="0"/>
              <a:ea typeface="楷体_GB2312" charset="0"/>
            </a:endParaRPr>
          </a:p>
          <a:p>
            <a:r>
              <a:rPr kumimoji="1" lang="zh-CN" altLang="en-US" sz="48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800">
                <a:solidFill>
                  <a:srgbClr val="990000"/>
                </a:solidFill>
                <a:latin typeface="Times New Roman" charset="0"/>
                <a:ea typeface="楷体_GB2312" charset="0"/>
              </a:rPr>
              <a:t>操作结果：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串 </a:t>
            </a:r>
            <a:r>
              <a:rPr kumimoji="1" lang="en-US" altLang="zh-CN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4800">
                <a:solidFill>
                  <a:srgbClr val="406649"/>
                </a:solidFill>
                <a:latin typeface="Times New Roman" charset="0"/>
                <a:ea typeface="楷体_GB2312" charset="0"/>
              </a:rPr>
              <a:t>被销毁。</a:t>
            </a:r>
            <a:endParaRPr kumimoji="1" lang="zh-CN" altLang="en-US" sz="4800">
              <a:latin typeface="Times New Roman" charset="0"/>
              <a:ea typeface="楷体_GB2312" charset="0"/>
            </a:endParaRPr>
          </a:p>
          <a:p>
            <a:endParaRPr kumimoji="1" lang="zh-CN" altLang="en-US" sz="4800">
              <a:latin typeface="Times New Roman" charset="0"/>
            </a:endParaRPr>
          </a:p>
        </p:txBody>
      </p:sp>
      <p:sp>
        <p:nvSpPr>
          <p:cNvPr id="22531" name="AutoShape 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001000" y="6172200"/>
            <a:ext cx="6858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88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685800"/>
            <a:ext cx="9372600" cy="38100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4400">
                <a:solidFill>
                  <a:schemeClr val="tx1"/>
                </a:solidFill>
                <a:ea typeface="楷体_GB2312" charset="0"/>
              </a:rPr>
              <a:t>               </a:t>
            </a:r>
            <a:r>
              <a:rPr lang="en-US" altLang="zh-CN" sz="4400" b="0">
                <a:latin typeface="Times New Roman" charset="0"/>
                <a:ea typeface="楷体_GB2312" charset="0"/>
              </a:rPr>
              <a:t>StrEmpty</a:t>
            </a:r>
            <a:r>
              <a:rPr lang="en-US" altLang="zh-CN" sz="4400">
                <a:latin typeface="Times New Roman" charset="0"/>
                <a:ea typeface="楷体_GB2312" charset="0"/>
              </a:rPr>
              <a:t>(S)</a:t>
            </a:r>
            <a:r>
              <a:rPr lang="en-US" altLang="zh-CN" sz="4400">
                <a:ea typeface="楷体_GB2312" charset="0"/>
              </a:rPr>
              <a:t/>
            </a:r>
            <a:br>
              <a:rPr lang="en-US" altLang="zh-CN" sz="4400">
                <a:ea typeface="楷体_GB2312" charset="0"/>
              </a:rPr>
            </a:b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初始条件：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串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存在。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/>
            </a:r>
            <a:br>
              <a:rPr lang="zh-CN" altLang="en-US">
                <a:solidFill>
                  <a:schemeClr val="tx1"/>
                </a:solidFill>
                <a:ea typeface="楷体_GB2312" charset="0"/>
              </a:rPr>
            </a:b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若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为空串，则返回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TRUE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，</a:t>
            </a:r>
            <a:br>
              <a:rPr lang="zh-CN" altLang="en-US">
                <a:solidFill>
                  <a:srgbClr val="406649"/>
                </a:solidFill>
                <a:ea typeface="楷体_GB2312" charset="0"/>
              </a:rPr>
            </a:b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                    否则返回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FALSE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。</a:t>
            </a:r>
            <a:endParaRPr lang="zh-CN" altLang="en-US">
              <a:solidFill>
                <a:schemeClr val="tx1"/>
              </a:solidFill>
              <a:ea typeface="楷体_GB2312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6425" y="5013325"/>
            <a:ext cx="7165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</a:t>
            </a:r>
            <a:r>
              <a:rPr kumimoji="1" lang="en-US" altLang="zh-CN" sz="4000">
                <a:latin typeface="Times New Roman" charset="0"/>
                <a:sym typeface="Symbol" charset="2"/>
              </a:rPr>
              <a:t>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表示空串，空串的长度为零。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24580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001000" y="6172200"/>
            <a:ext cx="6858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65724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533400"/>
            <a:ext cx="8839200" cy="42672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>
                <a:solidFill>
                  <a:schemeClr val="tx1"/>
                </a:solidFill>
                <a:ea typeface="楷体_GB2312" charset="0"/>
              </a:rPr>
              <a:t>             </a:t>
            </a:r>
            <a:r>
              <a:rPr lang="en-US" altLang="zh-CN" b="0">
                <a:latin typeface="Times New Roman" charset="0"/>
                <a:ea typeface="楷体_GB2312" charset="0"/>
              </a:rPr>
              <a:t>StrCompare(S,T)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/>
            </a:r>
            <a:b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</a:br>
            <a:r>
              <a:rPr lang="zh-CN" altLang="en-US" b="0">
                <a:solidFill>
                  <a:srgbClr val="C23A5E"/>
                </a:solidFill>
                <a:ea typeface="楷体_GB2312" charset="0"/>
              </a:rPr>
              <a:t>初始条件：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串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和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T 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存在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。</a:t>
            </a:r>
            <a:br>
              <a:rPr lang="zh-CN" altLang="en-US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b="0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若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  <a:sym typeface="Symbol" charset="2"/>
              </a:rPr>
              <a:t>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 T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，则返回值 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  <a:sym typeface="Symbol" charset="2"/>
              </a:rPr>
              <a:t>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0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； </a:t>
            </a:r>
            <a:br>
              <a:rPr lang="zh-CN" altLang="en-US" sz="3600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                      若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  <a:sym typeface="Symbol" charset="2"/>
              </a:rPr>
              <a:t>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 T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，则返回值 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  <a:sym typeface="Symbol" charset="2"/>
              </a:rPr>
              <a:t>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0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； </a:t>
            </a:r>
            <a:br>
              <a:rPr lang="zh-CN" altLang="en-US" sz="3600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                      若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  <a:sym typeface="Symbol" charset="2"/>
              </a:rPr>
              <a:t>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 T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，则返回值 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  <a:sym typeface="Symbol" charset="2"/>
              </a:rPr>
              <a:t>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 </a:t>
            </a:r>
            <a:r>
              <a:rPr lang="en-US" altLang="zh-CN" sz="3600">
                <a:solidFill>
                  <a:srgbClr val="406649"/>
                </a:solidFill>
                <a:ea typeface="楷体_GB2312" charset="0"/>
              </a:rPr>
              <a:t>0</a:t>
            </a:r>
            <a:r>
              <a:rPr lang="zh-CN" altLang="en-US" sz="3600">
                <a:solidFill>
                  <a:srgbClr val="406649"/>
                </a:solidFill>
                <a:ea typeface="楷体_GB2312" charset="0"/>
              </a:rPr>
              <a:t>。</a:t>
            </a:r>
            <a:endParaRPr lang="zh-CN" altLang="en-US">
              <a:solidFill>
                <a:schemeClr val="tx1"/>
              </a:solidFill>
              <a:ea typeface="楷体_GB2312" charset="0"/>
            </a:endParaRP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555625" y="4762500"/>
            <a:ext cx="70739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zh-CN" sz="3600" b="1">
                <a:solidFill>
                  <a:srgbClr val="1560AB"/>
                </a:solidFill>
                <a:latin typeface="Times New Roman" charset="0"/>
              </a:rPr>
              <a:t>例如：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StrCompare(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sym typeface="Symbol" charset="2"/>
              </a:rPr>
              <a:t>data, state) &lt; 0</a:t>
            </a:r>
          </a:p>
          <a:p>
            <a:pPr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sym typeface="Symbol" charset="2"/>
              </a:rPr>
              <a:t>            StrCompare(cat, case) &gt; 0</a:t>
            </a:r>
            <a:endParaRPr kumimoji="1" lang="en-US" altLang="zh-CN" sz="360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26628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001000" y="6172200"/>
            <a:ext cx="6858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47680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990600"/>
            <a:ext cx="7772400" cy="4191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  <a:ea typeface="楷体_GB2312" charset="0"/>
              </a:rPr>
              <a:t>               </a:t>
            </a:r>
            <a:r>
              <a:rPr lang="en-US" altLang="zh-CN" b="0">
                <a:latin typeface="Times New Roman" charset="0"/>
                <a:ea typeface="楷体_GB2312" charset="0"/>
              </a:rPr>
              <a:t>StrLength</a:t>
            </a:r>
            <a:r>
              <a:rPr lang="en-US" altLang="zh-CN">
                <a:latin typeface="Times New Roman" charset="0"/>
                <a:ea typeface="楷体_GB2312" charset="0"/>
              </a:rPr>
              <a:t>(S)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/>
            </a:r>
            <a:b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</a:b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初始条件：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串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存在。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/>
            </a:r>
            <a:br>
              <a:rPr lang="zh-CN" altLang="en-US">
                <a:solidFill>
                  <a:schemeClr val="tx1"/>
                </a:solidFill>
                <a:ea typeface="楷体_GB2312" charset="0"/>
              </a:rPr>
            </a:br>
            <a:r>
              <a:rPr lang="zh-CN" altLang="en-US">
                <a:solidFill>
                  <a:schemeClr val="tx1"/>
                </a:solidFill>
                <a:ea typeface="楷体_GB2312" charset="0"/>
              </a:rPr>
              <a:t> </a:t>
            </a: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返回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的元素个，</a:t>
            </a:r>
            <a:br>
              <a:rPr lang="zh-CN" altLang="en-US">
                <a:solidFill>
                  <a:srgbClr val="406649"/>
                </a:solidFill>
                <a:ea typeface="楷体_GB2312" charset="0"/>
              </a:rPr>
            </a:b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                       称为串的长度。</a:t>
            </a:r>
            <a:endParaRPr lang="zh-CN" altLang="en-US">
              <a:solidFill>
                <a:schemeClr val="tx1"/>
              </a:solidFill>
              <a:ea typeface="楷体_GB2312" charset="0"/>
            </a:endParaRPr>
          </a:p>
        </p:txBody>
      </p:sp>
      <p:sp>
        <p:nvSpPr>
          <p:cNvPr id="28675" name="AutoShape 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4572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44762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914400"/>
            <a:ext cx="8458200" cy="4114800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>Concat(&amp;T, S1, S2)</a:t>
            </a:r>
            <a:r>
              <a:rPr lang="en-US" altLang="zh-CN">
                <a:solidFill>
                  <a:schemeClr val="tx1"/>
                </a:solidFill>
                <a:ea typeface="楷体_GB2312" charset="0"/>
              </a:rPr>
              <a:t> </a:t>
            </a:r>
            <a:br>
              <a:rPr lang="en-US" altLang="zh-CN">
                <a:solidFill>
                  <a:schemeClr val="tx1"/>
                </a:solidFill>
                <a:ea typeface="楷体_GB2312" charset="0"/>
              </a:rPr>
            </a:b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初始条件：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串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S1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和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S2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存在。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/>
            </a:r>
            <a:br>
              <a:rPr lang="zh-CN" altLang="en-US">
                <a:solidFill>
                  <a:schemeClr val="tx1"/>
                </a:solidFill>
                <a:ea typeface="楷体_GB2312" charset="0"/>
              </a:rPr>
            </a:br>
            <a:r>
              <a:rPr lang="zh-CN" altLang="en-US">
                <a:solidFill>
                  <a:schemeClr val="tx1"/>
                </a:solidFill>
                <a:ea typeface="楷体_GB2312" charset="0"/>
              </a:rPr>
              <a:t>  </a:t>
            </a: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用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T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返回由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S1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和 </a:t>
            </a: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S2</a:t>
            </a:r>
            <a:br>
              <a:rPr lang="en-US" altLang="zh-CN">
                <a:solidFill>
                  <a:srgbClr val="406649"/>
                </a:solidFill>
                <a:ea typeface="楷体_GB2312" charset="0"/>
              </a:rPr>
            </a:br>
            <a:r>
              <a:rPr lang="en-US" altLang="zh-CN">
                <a:solidFill>
                  <a:srgbClr val="406649"/>
                </a:solidFill>
                <a:ea typeface="楷体_GB2312" charset="0"/>
              </a:rPr>
              <a:t>                      </a:t>
            </a:r>
            <a:r>
              <a:rPr lang="zh-CN" altLang="en-US">
                <a:solidFill>
                  <a:srgbClr val="406649"/>
                </a:solidFill>
                <a:ea typeface="楷体_GB2312" charset="0"/>
              </a:rPr>
              <a:t>联接而成的新串。</a:t>
            </a:r>
            <a:endParaRPr lang="zh-CN" altLang="en-US">
              <a:solidFill>
                <a:schemeClr val="tx1"/>
              </a:solidFill>
              <a:ea typeface="楷体_GB2312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57200" y="4953000"/>
            <a:ext cx="706596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4000" b="1">
                <a:solidFill>
                  <a:srgbClr val="1560AB"/>
                </a:solidFill>
                <a:latin typeface="Times New Roman" charset="0"/>
              </a:rPr>
              <a:t>例如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：</a:t>
            </a:r>
            <a:r>
              <a:rPr kumimoji="1" lang="zh-CN" altLang="en-US" sz="4000">
                <a:latin typeface="Times New Roman" charset="0"/>
              </a:rPr>
              <a:t>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Concate( T,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man, kind)</a:t>
            </a:r>
          </a:p>
          <a:p>
            <a:pPr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      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求得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T = mankind</a:t>
            </a:r>
          </a:p>
        </p:txBody>
      </p:sp>
      <p:sp>
        <p:nvSpPr>
          <p:cNvPr id="30724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001000" y="6172200"/>
            <a:ext cx="6858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76981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041525" y="1978025"/>
            <a:ext cx="18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>
                <a:latin typeface="Times New Roman" charset="0"/>
                <a:ea typeface="楷体_GB2312" charset="0"/>
              </a:rPr>
              <a:t/>
            </a:r>
            <a:br>
              <a:rPr kumimoji="1" lang="en-US" altLang="zh-CN" sz="2000">
                <a:latin typeface="Times New Roman" charset="0"/>
                <a:ea typeface="楷体_GB2312" charset="0"/>
              </a:rPr>
            </a:br>
            <a:endParaRPr kumimoji="1" lang="en-US" altLang="zh-CN" sz="2000">
              <a:latin typeface="Times New Roman" charset="0"/>
              <a:ea typeface="楷体_GB2312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533400" y="1168400"/>
            <a:ext cx="8413750" cy="553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4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SubString </a:t>
            </a:r>
            <a:r>
              <a:rPr kumimoji="1" lang="en-US" altLang="zh-CN" sz="4800">
                <a:solidFill>
                  <a:schemeClr val="tx2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800">
                <a:solidFill>
                  <a:schemeClr val="tx2"/>
                </a:solidFill>
                <a:latin typeface="Times New Roman" charset="0"/>
                <a:ea typeface="楷体_GB2312" charset="0"/>
              </a:rPr>
              <a:t>Sub, S, pos, len)</a:t>
            </a:r>
            <a:endParaRPr kumimoji="1" lang="en-US" altLang="zh-CN" sz="4800">
              <a:latin typeface="Times New Roman" charset="0"/>
              <a:ea typeface="楷体_GB2312" charset="0"/>
            </a:endParaRPr>
          </a:p>
          <a:p>
            <a:endParaRPr kumimoji="1" lang="en-US" altLang="zh-CN" sz="2400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初始条件：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          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串 </a:t>
            </a:r>
            <a:r>
              <a:rPr kumimoji="1" lang="en-US" altLang="zh-CN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存在，</a:t>
            </a:r>
            <a:r>
              <a:rPr kumimoji="1" lang="en-US" altLang="zh-CN" sz="3600" b="1">
                <a:solidFill>
                  <a:srgbClr val="406649"/>
                </a:solidFill>
                <a:latin typeface="Times New Roman" charset="0"/>
                <a:ea typeface="楷体_GB2312" charset="0"/>
              </a:rPr>
              <a:t>1≤pos≤StrLength(S)</a:t>
            </a:r>
            <a:endParaRPr kumimoji="1" lang="en-US" altLang="zh-CN" sz="3600">
              <a:solidFill>
                <a:srgbClr val="406649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           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且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en-US" altLang="zh-CN" sz="3600" b="1">
                <a:solidFill>
                  <a:srgbClr val="406649"/>
                </a:solidFill>
                <a:latin typeface="Times New Roman" charset="0"/>
                <a:ea typeface="楷体_GB2312" charset="0"/>
              </a:rPr>
              <a:t>≤len≤StrLength(S)-pos+1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操作结果：        </a:t>
            </a:r>
          </a:p>
          <a:p>
            <a:pPr>
              <a:lnSpc>
                <a:spcPct val="125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</a:rPr>
              <a:t>           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用 </a:t>
            </a:r>
            <a:r>
              <a:rPr kumimoji="1" lang="en-US" altLang="zh-CN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Sub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返回串 </a:t>
            </a:r>
            <a:r>
              <a:rPr kumimoji="1" lang="en-US" altLang="zh-CN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的第 </a:t>
            </a:r>
            <a:r>
              <a:rPr kumimoji="1" lang="en-US" altLang="zh-CN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pos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个字符起</a:t>
            </a:r>
          </a:p>
          <a:p>
            <a:pPr>
              <a:lnSpc>
                <a:spcPct val="125000"/>
              </a:lnSpc>
            </a:pP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            长度为 </a:t>
            </a:r>
            <a:r>
              <a:rPr kumimoji="1" lang="en-US" altLang="zh-CN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len </a:t>
            </a:r>
            <a:r>
              <a:rPr kumimoji="1" lang="zh-CN" altLang="en-US" sz="3600">
                <a:solidFill>
                  <a:srgbClr val="406649"/>
                </a:solidFill>
                <a:latin typeface="Times New Roman" charset="0"/>
                <a:ea typeface="楷体_GB2312" charset="0"/>
              </a:rPr>
              <a:t>的子串。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2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36563" y="1050925"/>
            <a:ext cx="7945437" cy="542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4000" b="1">
                <a:solidFill>
                  <a:srgbClr val="1560AB"/>
                </a:solidFill>
                <a:latin typeface="Times New Roman" charset="0"/>
              </a:rPr>
              <a:t>例如：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 b="1">
                <a:solidFill>
                  <a:srgbClr val="1560AB"/>
                </a:solidFill>
                <a:latin typeface="Times New Roman" charset="0"/>
              </a:rPr>
              <a:t>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SubString( sub,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commander, 4, 3)</a:t>
            </a:r>
          </a:p>
          <a:p>
            <a:pPr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求得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sub = man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；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SubString( sub, commander, 1, 9)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求得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sub = commander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；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SubString( sub, commander, 9, 1)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求得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sub = r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；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600200" y="228600"/>
            <a:ext cx="66055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 b="1">
                <a:solidFill>
                  <a:schemeClr val="tx2"/>
                </a:solidFill>
                <a:latin typeface="楷体_GB2312" charset="0"/>
                <a:ea typeface="楷体_GB2312" charset="0"/>
              </a:rPr>
              <a:t>子串为</a:t>
            </a:r>
            <a:r>
              <a:rPr kumimoji="1" lang="zh-CN" altLang="en-US" sz="36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“</a:t>
            </a:r>
            <a:r>
              <a:rPr kumimoji="1" lang="zh-CN" altLang="en-US" sz="3600" b="1">
                <a:solidFill>
                  <a:schemeClr val="tx2"/>
                </a:solidFill>
                <a:latin typeface="楷体_GB2312" charset="0"/>
                <a:ea typeface="楷体_GB2312" charset="0"/>
              </a:rPr>
              <a:t>串</a:t>
            </a:r>
            <a:r>
              <a:rPr kumimoji="1" lang="zh-CN" altLang="en-US" sz="36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”</a:t>
            </a:r>
            <a:r>
              <a:rPr kumimoji="1" lang="zh-CN" altLang="en-US" sz="3600" b="1">
                <a:solidFill>
                  <a:schemeClr val="tx2"/>
                </a:solidFill>
                <a:latin typeface="楷体_GB2312" charset="0"/>
                <a:ea typeface="楷体_GB2312" charset="0"/>
              </a:rPr>
              <a:t>中的一个字符子序列</a:t>
            </a:r>
          </a:p>
        </p:txBody>
      </p:sp>
    </p:spTree>
    <p:extLst>
      <p:ext uri="{BB962C8B-B14F-4D97-AF65-F5344CB8AC3E}">
        <p14:creationId xmlns:p14="http://schemas.microsoft.com/office/powerpoint/2010/main" val="83297874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236663" y="933450"/>
            <a:ext cx="7183437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SubString(sub,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commander, 4, 7)</a:t>
            </a:r>
          </a:p>
          <a:p>
            <a:pPr>
              <a:lnSpc>
                <a:spcPct val="120000"/>
              </a:lnSpc>
            </a:pP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     sub = ? 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1236663" y="2451100"/>
            <a:ext cx="6961187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SubString(sub,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beijing, 7, 2) = ?</a:t>
            </a:r>
          </a:p>
          <a:p>
            <a:pPr>
              <a:lnSpc>
                <a:spcPct val="120000"/>
              </a:lnSpc>
            </a:pP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     sub = ?</a:t>
            </a:r>
            <a:endParaRPr kumimoji="1" lang="en-US" altLang="zh-CN" sz="4000">
              <a:latin typeface="Times New Roman" charset="0"/>
              <a:sym typeface="Symbol" charset="2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236663" y="5057775"/>
            <a:ext cx="6083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SubString(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student, 5, 0) = </a:t>
            </a:r>
            <a:endParaRPr kumimoji="1" lang="en-US" altLang="zh-CN" sz="4000">
              <a:latin typeface="Times New Roman" charset="0"/>
              <a:sym typeface="Symbol" charset="2"/>
            </a:endParaRP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1312863" y="4006850"/>
            <a:ext cx="79835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 b="1">
                <a:solidFill>
                  <a:srgbClr val="406649"/>
                </a:solidFill>
                <a:latin typeface="Times New Roman" charset="0"/>
                <a:ea typeface="楷体_GB2312" charset="0"/>
              </a:rPr>
              <a:t>起始位置和子串长度之间存在约束关系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1312863" y="606425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 b="1">
                <a:solidFill>
                  <a:srgbClr val="406649"/>
                </a:solidFill>
                <a:latin typeface="Times New Roman" charset="0"/>
                <a:ea typeface="楷体_GB2312" charset="0"/>
              </a:rPr>
              <a:t>长度为 </a:t>
            </a:r>
            <a:r>
              <a:rPr kumimoji="1" lang="en-US" altLang="zh-CN" sz="3600" b="1">
                <a:solidFill>
                  <a:srgbClr val="406649"/>
                </a:solidFill>
                <a:latin typeface="Times New Roman" charset="0"/>
                <a:ea typeface="楷体_GB2312" charset="0"/>
              </a:rPr>
              <a:t>0 </a:t>
            </a:r>
            <a:r>
              <a:rPr kumimoji="1" lang="zh-CN" altLang="en-US" sz="3600" b="1">
                <a:solidFill>
                  <a:srgbClr val="406649"/>
                </a:solidFill>
                <a:latin typeface="Times New Roman" charset="0"/>
                <a:ea typeface="楷体_GB2312" charset="0"/>
              </a:rPr>
              <a:t>的子串为“合法”串</a:t>
            </a:r>
            <a:endParaRPr kumimoji="1" lang="zh-CN" altLang="en-US" sz="4000">
              <a:latin typeface="Times New Roman" charset="0"/>
            </a:endParaRPr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1084263" y="3930650"/>
          <a:ext cx="198437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25" name="剪辑" r:id="rId4" imgW="4816080" imgH="4816440" progId="MS_ClipArt_Gallery.2">
                  <p:embed/>
                </p:oleObj>
              </mc:Choice>
              <mc:Fallback>
                <p:oleObj name="剪辑" r:id="rId4" imgW="4816080" imgH="48164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3930650"/>
                        <a:ext cx="198437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8"/>
          <p:cNvGraphicFramePr>
            <a:graphicFrameLocks noChangeAspect="1"/>
          </p:cNvGraphicFramePr>
          <p:nvPr/>
        </p:nvGraphicFramePr>
        <p:xfrm>
          <a:off x="1114425" y="5988050"/>
          <a:ext cx="198438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26" name="剪辑" r:id="rId6" imgW="4816080" imgH="4816440" progId="MS_ClipArt_Gallery.2">
                  <p:embed/>
                </p:oleObj>
              </mc:Choice>
              <mc:Fallback>
                <p:oleObj name="剪辑" r:id="rId6" imgW="4816080" imgH="48164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5988050"/>
                        <a:ext cx="198438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AutoShape 9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711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autoUpdateAnimBg="0"/>
      <p:bldP spid="36868" grpId="0" autoUpdateAnimBg="0"/>
      <p:bldP spid="36869" grpId="0" autoUpdateAnimBg="0"/>
      <p:bldP spid="36870" grpId="0" autoUpdateAnimBg="0"/>
      <p:bldP spid="3687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533400"/>
            <a:ext cx="8915400" cy="5410200"/>
          </a:xfrm>
        </p:spPr>
        <p:txBody>
          <a:bodyPr/>
          <a:lstStyle/>
          <a:p>
            <a:pPr algn="just">
              <a:lnSpc>
                <a:spcPct val="125000"/>
              </a:lnSpc>
            </a:pPr>
            <a:r>
              <a:rPr lang="en-US" altLang="zh-CN">
                <a:solidFill>
                  <a:schemeClr val="tx1"/>
                </a:solidFill>
                <a:ea typeface="楷体_GB2312" charset="0"/>
              </a:rPr>
              <a:t>               </a:t>
            </a:r>
            <a:r>
              <a:rPr lang="en-US" altLang="zh-CN" b="0">
                <a:latin typeface="Times New Roman" charset="0"/>
                <a:ea typeface="楷体_GB2312" charset="0"/>
              </a:rPr>
              <a:t>Index</a:t>
            </a:r>
            <a:r>
              <a:rPr lang="en-US" altLang="zh-CN">
                <a:latin typeface="Times New Roman" charset="0"/>
                <a:ea typeface="楷体_GB2312" charset="0"/>
              </a:rPr>
              <a:t>(S,T,pos)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/>
            </a:r>
            <a:b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</a:br>
            <a:r>
              <a:rPr lang="zh-CN" altLang="zh-CN" sz="3600" b="0">
                <a:solidFill>
                  <a:srgbClr val="C23A5E"/>
                </a:solidFill>
                <a:ea typeface="楷体_GB2312" charset="0"/>
              </a:rPr>
              <a:t>初始</a:t>
            </a:r>
            <a:r>
              <a:rPr lang="zh-CN" altLang="en-US" sz="3200" b="0">
                <a:solidFill>
                  <a:srgbClr val="C23A5E"/>
                </a:solidFill>
                <a:ea typeface="楷体_GB2312" charset="0"/>
              </a:rPr>
              <a:t>条件：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串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S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和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T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存在，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T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是非空串，</a:t>
            </a:r>
            <a:br>
              <a:rPr lang="zh-CN" altLang="en-US" sz="3200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                      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1≤pos≤StrLength(S)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。</a:t>
            </a:r>
            <a:r>
              <a:rPr lang="zh-CN" altLang="en-US" sz="3200">
                <a:solidFill>
                  <a:schemeClr val="tx1"/>
                </a:solidFill>
                <a:ea typeface="楷体_GB2312" charset="0"/>
              </a:rPr>
              <a:t/>
            </a:r>
            <a:br>
              <a:rPr lang="zh-CN" altLang="en-US" sz="3200">
                <a:solidFill>
                  <a:schemeClr val="tx1"/>
                </a:solidFill>
                <a:ea typeface="楷体_GB2312" charset="0"/>
              </a:rPr>
            </a:br>
            <a:r>
              <a:rPr lang="zh-CN" altLang="en-US" sz="3200" b="0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 sz="3200">
                <a:solidFill>
                  <a:srgbClr val="C23A5E"/>
                </a:solidFill>
                <a:ea typeface="楷体_GB2312" charset="0"/>
              </a:rPr>
              <a:t> 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若主串 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中存在和串 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T 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值相同</a:t>
            </a:r>
            <a:br>
              <a:rPr lang="zh-CN" altLang="en-US" sz="3200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            的子串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, 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则返回它在主串 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S 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中第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pos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个</a:t>
            </a:r>
            <a:br>
              <a:rPr lang="zh-CN" altLang="en-US" sz="3200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            字符之后第一次出现的位置；</a:t>
            </a:r>
            <a:br>
              <a:rPr lang="zh-CN" altLang="en-US" sz="3200">
                <a:solidFill>
                  <a:srgbClr val="406649"/>
                </a:solidFill>
                <a:ea typeface="楷体_GB2312" charset="0"/>
              </a:rPr>
            </a:b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            否则函数值为</a:t>
            </a:r>
            <a:r>
              <a:rPr lang="en-US" altLang="zh-CN" sz="3200">
                <a:solidFill>
                  <a:srgbClr val="406649"/>
                </a:solidFill>
                <a:ea typeface="楷体_GB2312" charset="0"/>
              </a:rPr>
              <a:t>0</a:t>
            </a:r>
            <a:r>
              <a:rPr lang="zh-CN" altLang="en-US" sz="3200">
                <a:solidFill>
                  <a:srgbClr val="406649"/>
                </a:solidFill>
                <a:ea typeface="楷体_GB2312" charset="0"/>
              </a:rPr>
              <a:t>。</a:t>
            </a:r>
            <a:r>
              <a:rPr lang="zh-CN" altLang="en-US" sz="3200">
                <a:solidFill>
                  <a:schemeClr val="tx1"/>
                </a:solidFill>
                <a:ea typeface="楷体_GB231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173648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685800" y="2422525"/>
            <a:ext cx="7504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假设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S =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abcaabcaaabc,  T = bca</a:t>
            </a:r>
            <a:r>
              <a:rPr kumimoji="1" lang="en-US" altLang="zh-CN" sz="4000">
                <a:latin typeface="Times New Roman" charset="0"/>
              </a:rPr>
              <a:t> 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698625" y="341312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Index(S, T, </a:t>
            </a:r>
            <a:r>
              <a:rPr kumimoji="1" lang="en-US" altLang="zh-CN" sz="4000" b="1">
                <a:solidFill>
                  <a:srgbClr val="FF0000"/>
                </a:solidFill>
                <a:latin typeface="Times New Roman" charset="0"/>
              </a:rPr>
              <a:t>1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) = 2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；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698625" y="432752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Index(S, T, </a:t>
            </a:r>
            <a:r>
              <a:rPr kumimoji="1" lang="en-US" altLang="zh-CN" sz="4000" b="1">
                <a:solidFill>
                  <a:srgbClr val="FF0000"/>
                </a:solidFill>
                <a:latin typeface="Times New Roman" charset="0"/>
              </a:rPr>
              <a:t>3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) = 6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；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1706563" y="5241925"/>
            <a:ext cx="4337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Index(S, T, </a:t>
            </a:r>
            <a:r>
              <a:rPr kumimoji="1" lang="en-US" altLang="zh-CN" sz="4000" b="1">
                <a:solidFill>
                  <a:srgbClr val="FF0000"/>
                </a:solidFill>
                <a:latin typeface="Times New Roman" charset="0"/>
              </a:rPr>
              <a:t>8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) = 0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；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381000" y="971550"/>
            <a:ext cx="87630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“</a:t>
            </a:r>
            <a:r>
              <a:rPr kumimoji="1" lang="zh-CN" altLang="en-US" sz="36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子串在主串中的位置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”意指子串</a:t>
            </a:r>
          </a:p>
          <a:p>
            <a:pPr>
              <a:lnSpc>
                <a:spcPct val="125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中的第一个字符在主串中的</a:t>
            </a:r>
            <a:r>
              <a:rPr kumimoji="1" lang="zh-CN" altLang="en-US" sz="36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位序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40967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733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  <p:bldP spid="40965" grpId="0" autoUpdateAnimBg="0"/>
      <p:bldP spid="409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066800"/>
            <a:ext cx="7772400" cy="5181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>
                <a:solidFill>
                  <a:schemeClr val="tx1"/>
                </a:solidFill>
                <a:ea typeface="楷体_GB2312" charset="0"/>
              </a:rPr>
              <a:t>          </a:t>
            </a:r>
            <a:r>
              <a:rPr lang="en-US" altLang="zh-CN" b="0">
                <a:solidFill>
                  <a:schemeClr val="tx1"/>
                </a:solidFill>
                <a:latin typeface="Times New Roman" charset="0"/>
                <a:ea typeface="楷体_GB2312" charset="0"/>
              </a:rPr>
              <a:t>Replace 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>(</a:t>
            </a:r>
            <a:r>
              <a:rPr lang="en-US" altLang="zh-CN" b="0">
                <a:solidFill>
                  <a:schemeClr val="tx1"/>
                </a:solidFill>
                <a:latin typeface="Times New Roman" charset="0"/>
                <a:ea typeface="楷体_GB2312" charset="0"/>
              </a:rPr>
              <a:t>&amp;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>S, T, V)</a:t>
            </a:r>
            <a:b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</a:br>
            <a:r>
              <a:rPr lang="en-US" altLang="zh-CN">
                <a:solidFill>
                  <a:schemeClr val="tx1"/>
                </a:solidFill>
                <a:ea typeface="楷体_GB2312" charset="0"/>
              </a:rPr>
              <a:t/>
            </a:r>
            <a:br>
              <a:rPr lang="en-US" altLang="zh-CN">
                <a:solidFill>
                  <a:schemeClr val="tx1"/>
                </a:solidFill>
                <a:ea typeface="楷体_GB2312" charset="0"/>
              </a:rPr>
            </a:br>
            <a:r>
              <a:rPr lang="zh-CN" altLang="en-US" sz="3600">
                <a:solidFill>
                  <a:srgbClr val="C23A5E"/>
                </a:solidFill>
                <a:ea typeface="楷体_GB2312" charset="0"/>
              </a:rPr>
              <a:t>初始条件：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串</a:t>
            </a:r>
            <a:r>
              <a:rPr lang="en-US" altLang="zh-CN" sz="3600">
                <a:solidFill>
                  <a:schemeClr val="tx1"/>
                </a:solidFill>
                <a:ea typeface="楷体_GB2312" charset="0"/>
              </a:rPr>
              <a:t>S, T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和 </a:t>
            </a:r>
            <a:r>
              <a:rPr lang="en-US" altLang="zh-CN" sz="3600">
                <a:solidFill>
                  <a:schemeClr val="tx1"/>
                </a:solidFill>
                <a:ea typeface="楷体_GB2312" charset="0"/>
              </a:rPr>
              <a:t>V 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均已存， 且 </a:t>
            </a:r>
            <a:r>
              <a:rPr lang="en-US" altLang="zh-CN" sz="3600">
                <a:solidFill>
                  <a:schemeClr val="tx1"/>
                </a:solidFill>
                <a:ea typeface="楷体_GB2312" charset="0"/>
              </a:rPr>
              <a:t>T   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是非空串。</a:t>
            </a:r>
            <a:br>
              <a:rPr lang="zh-CN" altLang="en-US" sz="3600">
                <a:solidFill>
                  <a:schemeClr val="tx1"/>
                </a:solidFill>
                <a:ea typeface="楷体_GB2312" charset="0"/>
              </a:rPr>
            </a:br>
            <a:r>
              <a:rPr lang="zh-CN" altLang="en-US" sz="3600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用</a:t>
            </a:r>
            <a:r>
              <a:rPr lang="en-US" altLang="zh-CN" sz="3600">
                <a:solidFill>
                  <a:schemeClr val="tx1"/>
                </a:solidFill>
                <a:ea typeface="楷体_GB2312" charset="0"/>
              </a:rPr>
              <a:t>V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替换主串</a:t>
            </a:r>
            <a:r>
              <a:rPr lang="en-US" altLang="zh-CN" sz="3600">
                <a:solidFill>
                  <a:schemeClr val="tx1"/>
                </a:solidFill>
                <a:ea typeface="楷体_GB2312" charset="0"/>
              </a:rPr>
              <a:t>S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中出现</a:t>
            </a:r>
            <a:br>
              <a:rPr lang="zh-CN" altLang="en-US" sz="3600">
                <a:solidFill>
                  <a:schemeClr val="tx1"/>
                </a:solidFill>
                <a:ea typeface="楷体_GB2312" charset="0"/>
              </a:rPr>
            </a:b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 的所有与（模式串）</a:t>
            </a:r>
            <a:r>
              <a:rPr lang="en-US" altLang="zh-CN" sz="3600">
                <a:solidFill>
                  <a:schemeClr val="tx1"/>
                </a:solidFill>
                <a:ea typeface="楷体_GB2312" charset="0"/>
              </a:rPr>
              <a:t>T  </a:t>
            </a:r>
            <a:r>
              <a:rPr lang="zh-CN" altLang="en-US" sz="3600">
                <a:solidFill>
                  <a:schemeClr val="tx1"/>
                </a:solidFill>
                <a:ea typeface="楷体_GB2312" charset="0"/>
              </a:rPr>
              <a:t>相等的不重叠的子串。</a:t>
            </a:r>
          </a:p>
        </p:txBody>
      </p:sp>
    </p:spTree>
    <p:extLst>
      <p:ext uri="{BB962C8B-B14F-4D97-AF65-F5344CB8AC3E}">
        <p14:creationId xmlns:p14="http://schemas.microsoft.com/office/powerpoint/2010/main" val="201325621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524000" y="152400"/>
            <a:ext cx="170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>
                <a:latin typeface="Times New Roman" charset="0"/>
              </a:rPr>
              <a:t>例如：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762000" y="1431925"/>
            <a:ext cx="7729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假设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S =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a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sym typeface="Symbol" charset="2"/>
              </a:rPr>
              <a:t>bca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a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sym typeface="Symbol" charset="2"/>
              </a:rPr>
              <a:t>bca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aa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sym typeface="Symbol" charset="2"/>
              </a:rPr>
              <a:t>bca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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，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T = bca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817563" y="2406650"/>
            <a:ext cx="6421437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</a:rPr>
              <a:t>若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</a:rPr>
              <a:t>V =</a:t>
            </a:r>
            <a:r>
              <a:rPr kumimoji="1" lang="en-US" altLang="zh-CN" sz="4000">
                <a:latin typeface="Times New Roman" charset="0"/>
              </a:rPr>
              <a:t>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</a:t>
            </a:r>
            <a:r>
              <a:rPr kumimoji="1" lang="en-US" altLang="zh-CN" sz="4000">
                <a:solidFill>
                  <a:srgbClr val="FF0000"/>
                </a:solidFill>
                <a:latin typeface="Times New Roman" charset="0"/>
                <a:sym typeface="Symbol" charset="2"/>
              </a:rPr>
              <a:t>x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， 则经置换后得到</a:t>
            </a:r>
          </a:p>
          <a:p>
            <a:pPr>
              <a:lnSpc>
                <a:spcPct val="120000"/>
              </a:lnSpc>
            </a:pP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   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S = a</a:t>
            </a:r>
            <a:r>
              <a:rPr kumimoji="1" lang="en-US" altLang="zh-CN" sz="4000">
                <a:solidFill>
                  <a:srgbClr val="FF0000"/>
                </a:solidFill>
                <a:latin typeface="Times New Roman" charset="0"/>
                <a:sym typeface="Symbol" charset="2"/>
              </a:rPr>
              <a:t>x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a</a:t>
            </a:r>
            <a:r>
              <a:rPr kumimoji="1" lang="en-US" altLang="zh-CN" sz="4000">
                <a:solidFill>
                  <a:srgbClr val="FF0000"/>
                </a:solidFill>
                <a:latin typeface="Times New Roman" charset="0"/>
                <a:sym typeface="Symbol" charset="2"/>
              </a:rPr>
              <a:t>x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aa</a:t>
            </a:r>
            <a:r>
              <a:rPr kumimoji="1" lang="en-US" altLang="zh-CN" sz="4000">
                <a:solidFill>
                  <a:srgbClr val="FF0000"/>
                </a:solidFill>
                <a:latin typeface="Times New Roman" charset="0"/>
                <a:sym typeface="Symbol" charset="2"/>
              </a:rPr>
              <a:t>x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820738" y="4419600"/>
            <a:ext cx="6646862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若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V = </a:t>
            </a:r>
            <a:r>
              <a:rPr kumimoji="1" lang="en-US" altLang="zh-CN" sz="4000">
                <a:solidFill>
                  <a:srgbClr val="9966FF"/>
                </a:solidFill>
                <a:latin typeface="Times New Roman" charset="0"/>
                <a:sym typeface="Symbol" charset="2"/>
              </a:rPr>
              <a:t>bc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</a:t>
            </a: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， 则经置换后得到</a:t>
            </a:r>
          </a:p>
          <a:p>
            <a:pPr>
              <a:lnSpc>
                <a:spcPct val="120000"/>
              </a:lnSpc>
            </a:pPr>
            <a:r>
              <a:rPr kumimoji="1" lang="zh-CN" altLang="en-US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     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S = a</a:t>
            </a:r>
            <a:r>
              <a:rPr kumimoji="1" lang="en-US" altLang="zh-CN" sz="4000">
                <a:solidFill>
                  <a:srgbClr val="9966FF"/>
                </a:solidFill>
                <a:latin typeface="Times New Roman" charset="0"/>
                <a:sym typeface="Symbol" charset="2"/>
              </a:rPr>
              <a:t>bc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a</a:t>
            </a:r>
            <a:r>
              <a:rPr kumimoji="1" lang="en-US" altLang="zh-CN" sz="4000">
                <a:solidFill>
                  <a:srgbClr val="9966FF"/>
                </a:solidFill>
                <a:latin typeface="Times New Roman" charset="0"/>
                <a:sym typeface="Symbol" charset="2"/>
              </a:rPr>
              <a:t>bc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aa</a:t>
            </a:r>
            <a:r>
              <a:rPr kumimoji="1" lang="en-US" altLang="zh-CN" sz="4000">
                <a:solidFill>
                  <a:srgbClr val="9966FF"/>
                </a:solidFill>
                <a:latin typeface="Times New Roman" charset="0"/>
                <a:sym typeface="Symbol" charset="2"/>
              </a:rPr>
              <a:t>bc</a:t>
            </a:r>
            <a:r>
              <a:rPr kumimoji="1" lang="en-US" altLang="zh-CN" sz="4000">
                <a:solidFill>
                  <a:srgbClr val="1560AB"/>
                </a:solidFill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5062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035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0" grpId="0" autoUpdateAnimBg="0"/>
      <p:bldP spid="45061" grpId="0" autoUpdateAnimBg="0"/>
      <p:bldP spid="450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624888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4800" b="1">
                <a:latin typeface="Times New Roman" charset="0"/>
                <a:ea typeface="楷体_GB2312" charset="0"/>
              </a:rPr>
              <a:t>        StrInsert </a:t>
            </a:r>
            <a:r>
              <a:rPr kumimoji="1" lang="en-US" altLang="zh-CN" sz="4800"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48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4800">
                <a:latin typeface="Times New Roman" charset="0"/>
                <a:ea typeface="楷体_GB2312" charset="0"/>
              </a:rPr>
              <a:t>S, pos, T)</a:t>
            </a:r>
            <a:br>
              <a:rPr kumimoji="1" lang="en-US" altLang="zh-CN" sz="4800">
                <a:latin typeface="Times New Roman" charset="0"/>
                <a:ea typeface="楷体_GB2312" charset="0"/>
              </a:rPr>
            </a:b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初始条件：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存在， 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1≤pos≤StrLength(S)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＋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</a:t>
            </a:r>
            <a:br>
              <a:rPr kumimoji="1" lang="zh-CN" altLang="en-US" sz="4000">
                <a:latin typeface="Times New Roman" charset="0"/>
                <a:ea typeface="楷体_GB2312" charset="0"/>
              </a:rPr>
            </a:b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操作结果：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在串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的第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pos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个字符之前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 插入串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336550" y="4419600"/>
            <a:ext cx="7740650" cy="198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600" b="1">
                <a:solidFill>
                  <a:srgbClr val="1560AB"/>
                </a:solidFill>
                <a:latin typeface="Times New Roman" charset="0"/>
                <a:ea typeface="楷体_GB2312" charset="0"/>
              </a:rPr>
              <a:t>例如：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</a:rPr>
              <a:t>S = 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chater</a:t>
            </a: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，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T = </a:t>
            </a:r>
            <a:r>
              <a:rPr kumimoji="1" lang="en-US" altLang="zh-CN" sz="3600">
                <a:solidFill>
                  <a:srgbClr val="9966FF"/>
                </a:solidFill>
                <a:latin typeface="Times New Roman" charset="0"/>
                <a:ea typeface="楷体_GB2312" charset="0"/>
                <a:sym typeface="Symbol" charset="2"/>
              </a:rPr>
              <a:t>rac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</a:t>
            </a: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，</a:t>
            </a:r>
          </a:p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          则执行 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StrInsert(S, 4, T)</a:t>
            </a: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之后得到</a:t>
            </a:r>
          </a:p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            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S = cha</a:t>
            </a:r>
            <a:r>
              <a:rPr kumimoji="1" lang="en-US" altLang="zh-CN" sz="3600">
                <a:solidFill>
                  <a:srgbClr val="9966FF"/>
                </a:solidFill>
                <a:latin typeface="Times New Roman" charset="0"/>
                <a:ea typeface="楷体_GB2312" charset="0"/>
                <a:sym typeface="Symbol" charset="2"/>
              </a:rPr>
              <a:t>rac</a:t>
            </a: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  <a:sym typeface="Symbol" charset="2"/>
              </a:rPr>
              <a:t>ter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7108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451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0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228600" y="1584325"/>
            <a:ext cx="8543925" cy="443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4800" b="1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4800">
                <a:latin typeface="Times New Roman" charset="0"/>
                <a:ea typeface="楷体_GB2312" charset="0"/>
              </a:rPr>
              <a:t>StrDelete (&amp;S, pos, len)</a:t>
            </a:r>
            <a:br>
              <a:rPr kumimoji="1" lang="en-US" altLang="zh-CN" sz="4800">
                <a:latin typeface="Times New Roman" charset="0"/>
                <a:ea typeface="楷体_GB2312" charset="0"/>
              </a:rPr>
            </a:b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初始条件：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存在       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1≤pos≤StrLength(S)-len+1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。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/>
            </a:r>
            <a:br>
              <a:rPr kumimoji="1" lang="zh-CN" altLang="en-US" sz="4000">
                <a:latin typeface="Times New Roman" charset="0"/>
                <a:ea typeface="楷体_GB2312" charset="0"/>
              </a:rPr>
            </a:br>
            <a:r>
              <a:rPr kumimoji="1" lang="zh-CN" altLang="en-US" sz="4000">
                <a:solidFill>
                  <a:srgbClr val="C23A5E"/>
                </a:solidFill>
                <a:latin typeface="Times New Roman" charset="0"/>
                <a:ea typeface="楷体_GB2312" charset="0"/>
              </a:rPr>
              <a:t>操作结果：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从串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中删除第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pos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个字符</a:t>
            </a:r>
            <a:br>
              <a:rPr kumimoji="1" lang="zh-CN" altLang="en-US" sz="4000">
                <a:latin typeface="Times New Roman" charset="0"/>
                <a:ea typeface="楷体_GB2312" charset="0"/>
              </a:rPr>
            </a:b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起长度为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len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的子串。 </a:t>
            </a:r>
            <a:br>
              <a:rPr kumimoji="1" lang="zh-CN" altLang="en-US" sz="4000">
                <a:latin typeface="Times New Roman" charset="0"/>
                <a:ea typeface="楷体_GB2312" charset="0"/>
              </a:rPr>
            </a:br>
            <a:endParaRPr kumimoji="1" lang="zh-CN" altLang="en-US" sz="2000">
              <a:latin typeface="Times New Roman" charset="0"/>
              <a:ea typeface="楷体_GB2312" charset="0"/>
            </a:endParaRPr>
          </a:p>
        </p:txBody>
      </p:sp>
      <p:sp>
        <p:nvSpPr>
          <p:cNvPr id="49155" name="AutoShape 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3472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 algn="just"/>
            <a:r>
              <a:rPr lang="en-US" altLang="zh-CN">
                <a:solidFill>
                  <a:schemeClr val="tx1"/>
                </a:solidFill>
                <a:ea typeface="楷体_GB2312" charset="0"/>
              </a:rPr>
              <a:t>          </a:t>
            </a:r>
            <a:r>
              <a:rPr lang="en-US" altLang="zh-CN" b="0">
                <a:solidFill>
                  <a:schemeClr val="tx1"/>
                </a:solidFill>
                <a:latin typeface="Times New Roman" charset="0"/>
                <a:ea typeface="楷体_GB2312" charset="0"/>
              </a:rPr>
              <a:t>ClearString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>(</a:t>
            </a:r>
            <a:r>
              <a:rPr lang="en-US" altLang="zh-CN" b="0">
                <a:solidFill>
                  <a:schemeClr val="tx1"/>
                </a:solidFill>
                <a:latin typeface="Times New Roman" charset="0"/>
                <a:ea typeface="楷体_GB2312" charset="0"/>
              </a:rPr>
              <a:t>&amp;</a:t>
            </a:r>
            <a: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  <a:t>S)</a:t>
            </a:r>
            <a:br>
              <a:rPr lang="en-US" altLang="zh-CN">
                <a:solidFill>
                  <a:schemeClr val="tx1"/>
                </a:solidFill>
                <a:latin typeface="Times New Roman" charset="0"/>
                <a:ea typeface="楷体_GB2312" charset="0"/>
              </a:rPr>
            </a:br>
            <a:r>
              <a:rPr lang="en-US" altLang="zh-CN">
                <a:solidFill>
                  <a:schemeClr val="tx1"/>
                </a:solidFill>
                <a:ea typeface="楷体_GB2312" charset="0"/>
              </a:rPr>
              <a:t/>
            </a:r>
            <a:br>
              <a:rPr lang="en-US" altLang="zh-CN">
                <a:solidFill>
                  <a:schemeClr val="tx1"/>
                </a:solidFill>
                <a:ea typeface="楷体_GB2312" charset="0"/>
              </a:rPr>
            </a:br>
            <a:r>
              <a:rPr lang="en-US" altLang="zh-CN">
                <a:solidFill>
                  <a:schemeClr val="tx1"/>
                </a:solidFill>
                <a:ea typeface="楷体_GB2312" charset="0"/>
              </a:rPr>
              <a:t>  </a:t>
            </a: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>串</a:t>
            </a:r>
            <a:r>
              <a:rPr lang="en-US" altLang="zh-CN">
                <a:solidFill>
                  <a:schemeClr val="tx1"/>
                </a:solidFill>
                <a:ea typeface="楷体_GB2312" charset="0"/>
              </a:rPr>
              <a:t>S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>存在。</a:t>
            </a:r>
            <a:br>
              <a:rPr lang="zh-CN" altLang="en-US">
                <a:solidFill>
                  <a:schemeClr val="tx1"/>
                </a:solidFill>
                <a:ea typeface="楷体_GB2312" charset="0"/>
              </a:rPr>
            </a:br>
            <a:r>
              <a:rPr lang="zh-CN" altLang="en-US">
                <a:solidFill>
                  <a:schemeClr val="tx1"/>
                </a:solidFill>
                <a:ea typeface="楷体_GB2312" charset="0"/>
              </a:rPr>
              <a:t/>
            </a:r>
            <a:br>
              <a:rPr lang="zh-CN" altLang="en-US">
                <a:solidFill>
                  <a:schemeClr val="tx1"/>
                </a:solidFill>
                <a:ea typeface="楷体_GB2312" charset="0"/>
              </a:rPr>
            </a:br>
            <a:r>
              <a:rPr lang="zh-CN" altLang="en-US">
                <a:solidFill>
                  <a:schemeClr val="tx1"/>
                </a:solidFill>
                <a:ea typeface="楷体_GB2312" charset="0"/>
              </a:rPr>
              <a:t>  </a:t>
            </a:r>
            <a:r>
              <a:rPr lang="zh-CN" altLang="en-US">
                <a:solidFill>
                  <a:srgbClr val="C23A5E"/>
                </a:solidFill>
                <a:ea typeface="楷体_GB2312" charset="0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>将</a:t>
            </a:r>
            <a:r>
              <a:rPr lang="en-US" altLang="zh-CN">
                <a:solidFill>
                  <a:schemeClr val="tx1"/>
                </a:solidFill>
                <a:ea typeface="楷体_GB2312" charset="0"/>
              </a:rPr>
              <a:t>S</a:t>
            </a:r>
            <a:r>
              <a:rPr lang="zh-CN" altLang="en-US">
                <a:solidFill>
                  <a:schemeClr val="tx1"/>
                </a:solidFill>
                <a:ea typeface="楷体_GB2312" charset="0"/>
              </a:rPr>
              <a:t>清为空串。</a:t>
            </a:r>
            <a:br>
              <a:rPr lang="zh-CN" altLang="en-US">
                <a:solidFill>
                  <a:schemeClr val="tx1"/>
                </a:solidFill>
                <a:ea typeface="楷体_GB2312" charset="0"/>
              </a:rPr>
            </a:br>
            <a:endParaRPr lang="zh-CN" altLang="en-US" b="0">
              <a:solidFill>
                <a:schemeClr val="tx1"/>
              </a:solidFill>
              <a:ea typeface="楷体_GB2312" charset="0"/>
            </a:endParaRPr>
          </a:p>
        </p:txBody>
      </p:sp>
      <p:sp>
        <p:nvSpPr>
          <p:cNvPr id="51203" name="AutoShape 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34629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2193925" y="15446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charset="0"/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76200" y="304800"/>
            <a:ext cx="8921750" cy="198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zh-CN" sz="2400">
                <a:latin typeface="Times New Roman" charset="0"/>
                <a:ea typeface="楷体_GB2312" charset="0"/>
              </a:rPr>
              <a:t>                 </a:t>
            </a:r>
            <a:r>
              <a:rPr kumimoji="1" lang="zh-CN" altLang="en-US" sz="3600">
                <a:solidFill>
                  <a:srgbClr val="006666"/>
                </a:solidFill>
                <a:latin typeface="Times New Roman" charset="0"/>
                <a:ea typeface="楷体_GB2312" charset="0"/>
              </a:rPr>
              <a:t>对于串的基本操作集可以有不同的定义方法，在使用高级程序设计语言中的串类型时，应</a:t>
            </a:r>
            <a:r>
              <a:rPr kumimoji="1" lang="zh-CN" altLang="en-US" sz="3600" b="1">
                <a:solidFill>
                  <a:srgbClr val="006666"/>
                </a:solidFill>
                <a:latin typeface="Times New Roman" charset="0"/>
                <a:ea typeface="楷体_GB2312" charset="0"/>
              </a:rPr>
              <a:t>以该语言的参考手册为准</a:t>
            </a:r>
            <a:r>
              <a:rPr kumimoji="1" lang="zh-CN" altLang="en-US" sz="3600">
                <a:solidFill>
                  <a:srgbClr val="006666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3600">
              <a:solidFill>
                <a:srgbClr val="1560AB"/>
              </a:solidFill>
              <a:latin typeface="Times New Roman" charset="0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30250" y="3013075"/>
            <a:ext cx="7194550" cy="338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600">
                <a:latin typeface="楷体_GB2312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gets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(str)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输入一个串；</a:t>
            </a:r>
          </a:p>
          <a:p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puts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(str)</a:t>
            </a:r>
            <a:r>
              <a:rPr kumimoji="1" lang="en-US" altLang="zh-CN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输出一个串；</a:t>
            </a:r>
          </a:p>
          <a:p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strcat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(str1, str2)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串联接函数；</a:t>
            </a:r>
          </a:p>
          <a:p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strcpy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(str1, str2, k)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串复制函数；</a:t>
            </a:r>
          </a:p>
          <a:p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strcmp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(str1, str2)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串比较函数；</a:t>
            </a:r>
          </a:p>
          <a:p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strlen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(str)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求串长函数；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52400" y="2406650"/>
            <a:ext cx="917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latin typeface="楷体_GB2312" charset="0"/>
                <a:ea typeface="楷体_GB2312" charset="0"/>
              </a:rPr>
              <a:t>例如</a:t>
            </a:r>
            <a:r>
              <a:rPr kumimoji="1" lang="zh-CN" altLang="en-US" sz="3600">
                <a:latin typeface="宋体" charset="-122"/>
              </a:rPr>
              <a:t>：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C</a:t>
            </a:r>
            <a:r>
              <a:rPr kumimoji="1" lang="zh-CN" altLang="en-US" sz="3600">
                <a:latin typeface="楷体_GB2312" charset="0"/>
                <a:ea typeface="楷体_GB2312" charset="0"/>
              </a:rPr>
              <a:t>语言函数库中提供下列串处理函数：</a:t>
            </a:r>
          </a:p>
        </p:txBody>
      </p:sp>
    </p:spTree>
    <p:extLst>
      <p:ext uri="{BB962C8B-B14F-4D97-AF65-F5344CB8AC3E}">
        <p14:creationId xmlns:p14="http://schemas.microsoft.com/office/powerpoint/2010/main" val="4203806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utoUpdateAnimBg="0"/>
      <p:bldP spid="5325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85800" y="1295400"/>
            <a:ext cx="7729538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在上述抽象数据类型定义的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13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种操作中，</a:t>
            </a:r>
          </a:p>
          <a:p>
            <a:pPr>
              <a:lnSpc>
                <a:spcPct val="125000"/>
              </a:lnSpc>
            </a:pP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  串赋值</a:t>
            </a: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StrAssign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、串复制</a:t>
            </a: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Strcopy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、</a:t>
            </a:r>
          </a:p>
          <a:p>
            <a:pPr>
              <a:lnSpc>
                <a:spcPct val="125000"/>
              </a:lnSpc>
            </a:pP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  串比较</a:t>
            </a: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StrCompare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、求串长</a:t>
            </a: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StrLength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、</a:t>
            </a:r>
          </a:p>
          <a:p>
            <a:pPr>
              <a:lnSpc>
                <a:spcPct val="125000"/>
              </a:lnSpc>
            </a:pP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  串联接</a:t>
            </a: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Concat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以及求子串</a:t>
            </a: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SubString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  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隶书" charset="0"/>
              </a:rPr>
              <a:t>等六种操作构成串类型的最小操作子集</a:t>
            </a:r>
            <a:r>
              <a:rPr kumimoji="1" lang="zh-CN" altLang="en-US" sz="3200">
                <a:solidFill>
                  <a:srgbClr val="871B09"/>
                </a:solidFill>
                <a:latin typeface="Times New Roman" charset="0"/>
                <a:ea typeface="隶书" charset="0"/>
              </a:rPr>
              <a:t>。</a:t>
            </a:r>
            <a:endParaRPr kumimoji="1" lang="zh-CN" altLang="en-US" sz="3200">
              <a:solidFill>
                <a:srgbClr val="871B09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即：这些操作不可能利用其他串操作来实现，</a:t>
            </a:r>
          </a:p>
          <a:p>
            <a:pPr>
              <a:lnSpc>
                <a:spcPct val="125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 反之，其他串操作（除串清除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ClearString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和串</a:t>
            </a:r>
          </a:p>
          <a:p>
            <a:pPr>
              <a:lnSpc>
                <a:spcPct val="125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 销毁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DestroyString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外）可在这个最小操作子</a:t>
            </a:r>
          </a:p>
          <a:p>
            <a:pPr>
              <a:lnSpc>
                <a:spcPct val="125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 集上实现。</a:t>
            </a:r>
            <a:endParaRPr kumimoji="1" lang="zh-CN" altLang="en-US" sz="36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56795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89916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zh-CN" sz="4400">
                <a:latin typeface="Times New Roman" charset="0"/>
                <a:ea typeface="楷体_GB2312" charset="0"/>
              </a:rPr>
              <a:t>          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例如，可利用</a:t>
            </a:r>
            <a:r>
              <a:rPr kumimoji="1" lang="zh-CN" altLang="zh-CN" sz="3600">
                <a:latin typeface="Times New Roman" charset="0"/>
                <a:ea typeface="楷体_GB2312" charset="0"/>
              </a:rPr>
              <a:t>串比较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、求串长和求子串等操作实现定位函数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Index(S,T,pos)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。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  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28600" y="2582863"/>
            <a:ext cx="87233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charset="0"/>
                <a:ea typeface="楷体_GB2312" charset="0"/>
              </a:rPr>
              <a:t>StrCompare(SubString(S, i, StrLength(T)),T )   </a:t>
            </a:r>
            <a:r>
              <a:rPr kumimoji="1" lang="en-US" altLang="zh-CN" sz="6000">
                <a:solidFill>
                  <a:srgbClr val="FF0000"/>
                </a:solidFill>
                <a:latin typeface="Times New Roman" charset="0"/>
                <a:ea typeface="楷体_GB2312" charset="0"/>
              </a:rPr>
              <a:t>?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FF0000"/>
                </a:solidFill>
                <a:latin typeface="Times New Roman" charset="0"/>
                <a:ea typeface="楷体_GB2312" charset="0"/>
              </a:rPr>
              <a:t>0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57348" name="Line 4"/>
          <p:cNvSpPr>
            <a:spLocks noChangeShapeType="1"/>
          </p:cNvSpPr>
          <p:nvPr/>
        </p:nvSpPr>
        <p:spPr bwMode="auto">
          <a:xfrm>
            <a:off x="8001000" y="3124200"/>
            <a:ext cx="609600" cy="0"/>
          </a:xfrm>
          <a:prstGeom prst="line">
            <a:avLst/>
          </a:prstGeom>
          <a:noFill/>
          <a:ln w="28575">
            <a:solidFill>
              <a:srgbClr val="DE2C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9" name="Line 5"/>
          <p:cNvSpPr>
            <a:spLocks noChangeShapeType="1"/>
          </p:cNvSpPr>
          <p:nvPr/>
        </p:nvSpPr>
        <p:spPr bwMode="auto">
          <a:xfrm>
            <a:off x="8001000" y="3276600"/>
            <a:ext cx="609600" cy="0"/>
          </a:xfrm>
          <a:prstGeom prst="line">
            <a:avLst/>
          </a:prstGeom>
          <a:noFill/>
          <a:ln w="28575">
            <a:solidFill>
              <a:srgbClr val="C23A5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593725" y="4710113"/>
            <a:ext cx="7712075" cy="544512"/>
          </a:xfrm>
          <a:prstGeom prst="rect">
            <a:avLst/>
          </a:prstGeom>
          <a:solidFill>
            <a:srgbClr val="3366FF">
              <a:alpha val="50000"/>
            </a:srgbClr>
          </a:solidFill>
          <a:ln w="25400">
            <a:solidFill>
              <a:srgbClr val="0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charset="0"/>
              </a:rPr>
              <a:t>                                   </a:t>
            </a:r>
            <a:r>
              <a:rPr kumimoji="1" lang="en-US" altLang="zh-CN" sz="2800">
                <a:solidFill>
                  <a:srgbClr val="000099"/>
                </a:solidFill>
                <a:latin typeface="Times New Roman" charset="0"/>
              </a:rPr>
              <a:t>S </a:t>
            </a:r>
            <a:r>
              <a:rPr kumimoji="1" lang="zh-CN" altLang="en-US" sz="2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2193925" y="5253038"/>
            <a:ext cx="1158875" cy="538162"/>
          </a:xfrm>
          <a:prstGeom prst="rect">
            <a:avLst/>
          </a:prstGeom>
          <a:solidFill>
            <a:schemeClr val="accent2">
              <a:alpha val="50000"/>
            </a:schemeClr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charset="0"/>
              </a:rPr>
              <a:t>  T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>
            <a:off x="2209800" y="3886200"/>
            <a:ext cx="0" cy="8382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22098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33528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7146925" y="5257800"/>
            <a:ext cx="1158875" cy="538163"/>
          </a:xfrm>
          <a:prstGeom prst="rect">
            <a:avLst/>
          </a:prstGeom>
          <a:solidFill>
            <a:schemeClr val="accent2">
              <a:alpha val="50000"/>
            </a:schemeClr>
          </a:solidFill>
          <a:ln w="19050" cap="rnd">
            <a:solidFill>
              <a:schemeClr val="tx2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charset="0"/>
              </a:rPr>
              <a:t>  </a:t>
            </a:r>
            <a:r>
              <a:rPr kumimoji="1" lang="en-US" altLang="zh-CN" sz="2800">
                <a:solidFill>
                  <a:schemeClr val="bg2"/>
                </a:solidFill>
                <a:latin typeface="Times New Roman" charset="0"/>
              </a:rPr>
              <a:t>T </a:t>
            </a:r>
            <a:r>
              <a:rPr kumimoji="1" lang="zh-CN" altLang="en-US" sz="2800">
                <a:solidFill>
                  <a:schemeClr val="bg2"/>
                </a:solidFill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7162800" y="3886200"/>
            <a:ext cx="0" cy="838200"/>
          </a:xfrm>
          <a:prstGeom prst="line">
            <a:avLst/>
          </a:prstGeom>
          <a:noFill/>
          <a:ln w="31750">
            <a:solidFill>
              <a:srgbClr val="FF99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2209800" y="4191000"/>
            <a:ext cx="4953000" cy="0"/>
          </a:xfrm>
          <a:prstGeom prst="line">
            <a:avLst/>
          </a:prstGeom>
          <a:noFill/>
          <a:ln w="25400">
            <a:solidFill>
              <a:srgbClr val="FF99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2209800" y="3730625"/>
            <a:ext cx="325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solidFill>
                  <a:srgbClr val="FF6600"/>
                </a:solidFill>
                <a:latin typeface="Times New Roman" charset="0"/>
              </a:rPr>
              <a:t>i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1508125" y="5119688"/>
            <a:ext cx="677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0000FF"/>
                </a:solidFill>
                <a:latin typeface="Times New Roman" charset="0"/>
              </a:rPr>
              <a:t>pos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57360" name="Line 16"/>
          <p:cNvSpPr>
            <a:spLocks noChangeShapeType="1"/>
          </p:cNvSpPr>
          <p:nvPr/>
        </p:nvSpPr>
        <p:spPr bwMode="auto">
          <a:xfrm>
            <a:off x="2209800" y="5257800"/>
            <a:ext cx="0" cy="1066800"/>
          </a:xfrm>
          <a:prstGeom prst="line">
            <a:avLst/>
          </a:prstGeom>
          <a:noFill/>
          <a:ln w="31750">
            <a:solidFill>
              <a:srgbClr val="00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6096000" y="5195888"/>
            <a:ext cx="1135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6600"/>
                </a:solidFill>
                <a:latin typeface="Times New Roman" charset="0"/>
              </a:rPr>
              <a:t>n-m+1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57362" name="Comment 18"/>
          <p:cNvSpPr>
            <a:spLocks noChangeArrowheads="1"/>
          </p:cNvSpPr>
          <p:nvPr/>
        </p:nvSpPr>
        <p:spPr bwMode="auto">
          <a:xfrm>
            <a:off x="625475" y="1939925"/>
            <a:ext cx="4327525" cy="650875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600" b="1">
                <a:solidFill>
                  <a:srgbClr val="871B09"/>
                </a:solidFill>
                <a:latin typeface="Times New Roman" charset="0"/>
                <a:ea typeface="楷体_GB2312" charset="0"/>
              </a:rPr>
              <a:t>算法的基本思想为：</a:t>
            </a:r>
          </a:p>
        </p:txBody>
      </p:sp>
    </p:spTree>
    <p:extLst>
      <p:ext uri="{BB962C8B-B14F-4D97-AF65-F5344CB8AC3E}">
        <p14:creationId xmlns:p14="http://schemas.microsoft.com/office/powerpoint/2010/main" val="16109219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utoUpdateAnimBg="0"/>
      <p:bldP spid="57348" grpId="0" animBg="1"/>
      <p:bldP spid="57349" grpId="0" animBg="1"/>
      <p:bldP spid="57350" grpId="0" animBg="1" autoUpdateAnimBg="0"/>
      <p:bldP spid="57351" grpId="0" animBg="1" autoUpdateAnimBg="0"/>
      <p:bldP spid="57352" grpId="0" animBg="1"/>
      <p:bldP spid="57353" grpId="0" animBg="1"/>
      <p:bldP spid="57354" grpId="0" animBg="1"/>
      <p:bldP spid="57355" grpId="0" animBg="1" autoUpdateAnimBg="0"/>
      <p:bldP spid="57356" grpId="0" animBg="1"/>
      <p:bldP spid="57357" grpId="0" animBg="1"/>
      <p:bldP spid="57358" grpId="0" autoUpdateAnimBg="0"/>
      <p:bldP spid="57359" grpId="0" autoUpdateAnimBg="0"/>
      <p:bldP spid="57360" grpId="0" animBg="1"/>
      <p:bldP spid="57361" grpId="0" autoUpdateAnimBg="0"/>
      <p:bldP spid="57362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hlinkClick r:id="" action="ppaction://hlinkshowjump?jump=firstslide"/>
          </p:cNvPr>
          <p:cNvSpPr txBox="1">
            <a:spLocks noChangeArrowheads="1"/>
          </p:cNvSpPr>
          <p:nvPr/>
        </p:nvSpPr>
        <p:spPr bwMode="auto">
          <a:xfrm>
            <a:off x="0" y="0"/>
            <a:ext cx="8748713" cy="674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 int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Index (String S, String T,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pos)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r>
              <a:rPr kumimoji="1" lang="en-US" altLang="zh-CN" sz="2000">
                <a:latin typeface="Times New Roman" charset="0"/>
                <a:ea typeface="楷体_GB2312" charset="0"/>
              </a:rPr>
              <a:t>                      // T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为非空串。若主串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中第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pos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个字符之后存在与 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相等的子串，</a:t>
            </a:r>
          </a:p>
          <a:p>
            <a:r>
              <a:rPr kumimoji="1" lang="zh-CN" altLang="en-US" sz="2000">
                <a:latin typeface="Times New Roman" charset="0"/>
                <a:ea typeface="楷体_GB2312" charset="0"/>
              </a:rPr>
              <a:t>                      则返回第一个    这样的子串在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中的位置，否则返回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0</a:t>
            </a:r>
          </a:p>
          <a:p>
            <a:endParaRPr kumimoji="1" lang="en-US" altLang="zh-CN" sz="2000">
              <a:latin typeface="Times New Roman" charset="0"/>
              <a:ea typeface="楷体_GB2312" charset="0"/>
            </a:endParaRPr>
          </a:p>
          <a:p>
            <a:r>
              <a:rPr kumimoji="1" lang="en-US" altLang="zh-CN" sz="32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(pos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&gt;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0)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solidFill>
                <a:schemeClr val="tx2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n = StrLength(S);  m = StrLength(T);  i = pos;</a:t>
            </a:r>
          </a:p>
          <a:p>
            <a:pPr>
              <a:lnSpc>
                <a:spcPct val="110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( i &lt;= n-m+1)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solidFill>
                <a:schemeClr val="tx2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3200" b="1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SubString (sub, S, i, m);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 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(StrCompare(sub,T)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!=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0)   ++i ;</a:t>
            </a:r>
          </a:p>
          <a:p>
            <a:pPr>
              <a:lnSpc>
                <a:spcPct val="110000"/>
              </a:lnSpc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else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return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i ;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} 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// while</a:t>
            </a:r>
          </a:p>
          <a:p>
            <a:pPr>
              <a:lnSpc>
                <a:spcPct val="110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} 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// if</a:t>
            </a:r>
          </a:p>
          <a:p>
            <a:pPr>
              <a:lnSpc>
                <a:spcPct val="110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return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0;          </a:t>
            </a:r>
            <a:r>
              <a:rPr kumimoji="1" lang="en-US" altLang="zh-CN" sz="2000">
                <a:solidFill>
                  <a:schemeClr val="tx2"/>
                </a:solidFill>
                <a:latin typeface="Times New Roman" charset="0"/>
                <a:ea typeface="楷体_GB2312" charset="0"/>
              </a:rPr>
              <a:t>// S</a:t>
            </a:r>
            <a:r>
              <a:rPr kumimoji="1" lang="zh-CN" altLang="en-US" sz="2000">
                <a:solidFill>
                  <a:schemeClr val="tx2"/>
                </a:solidFill>
                <a:latin typeface="Times New Roman" charset="0"/>
                <a:ea typeface="楷体_GB2312" charset="0"/>
              </a:rPr>
              <a:t>中不存在与</a:t>
            </a:r>
            <a:r>
              <a:rPr kumimoji="1" lang="en-US" altLang="zh-CN" sz="2000">
                <a:solidFill>
                  <a:schemeClr val="tx2"/>
                </a:solidFill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2000">
                <a:solidFill>
                  <a:schemeClr val="tx2"/>
                </a:solidFill>
                <a:latin typeface="Times New Roman" charset="0"/>
                <a:ea typeface="楷体_GB2312" charset="0"/>
              </a:rPr>
              <a:t>相等的子串</a:t>
            </a:r>
          </a:p>
          <a:p>
            <a:pPr>
              <a:lnSpc>
                <a:spcPct val="110000"/>
              </a:lnSpc>
            </a:pPr>
            <a:r>
              <a:rPr kumimoji="1" lang="en-US" altLang="zh-CN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 // Index</a:t>
            </a:r>
          </a:p>
        </p:txBody>
      </p:sp>
    </p:spTree>
    <p:extLst>
      <p:ext uri="{BB962C8B-B14F-4D97-AF65-F5344CB8AC3E}">
        <p14:creationId xmlns:p14="http://schemas.microsoft.com/office/powerpoint/2010/main" val="41946570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828800" y="152400"/>
            <a:ext cx="4756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又如串的置换函数</a:t>
            </a:r>
            <a:r>
              <a:rPr kumimoji="1" lang="zh-CN" altLang="en-US" sz="4000">
                <a:latin typeface="Times New Roman" charset="0"/>
              </a:rPr>
              <a:t>：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631825" y="1973263"/>
            <a:ext cx="7826375" cy="54451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charset="0"/>
              </a:rPr>
              <a:t>                                     S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889125" y="2884488"/>
            <a:ext cx="1463675" cy="544512"/>
          </a:xfrm>
          <a:prstGeom prst="rect">
            <a:avLst/>
          </a:prstGeom>
          <a:solidFill>
            <a:schemeClr val="hlink">
              <a:alpha val="50000"/>
            </a:schemeClr>
          </a:solidFill>
          <a:ln w="254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charset="0"/>
              </a:rPr>
              <a:t>   </a:t>
            </a:r>
            <a:r>
              <a:rPr kumimoji="1" lang="en-US" altLang="zh-CN" sz="2800">
                <a:solidFill>
                  <a:srgbClr val="000099"/>
                </a:solidFill>
                <a:latin typeface="Times New Roman" charset="0"/>
              </a:rPr>
              <a:t>T </a:t>
            </a:r>
            <a:r>
              <a:rPr kumimoji="1" lang="zh-CN" altLang="en-US" sz="2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5105400" y="2895600"/>
            <a:ext cx="1752600" cy="544513"/>
          </a:xfrm>
          <a:prstGeom prst="rect">
            <a:avLst/>
          </a:prstGeom>
          <a:solidFill>
            <a:srgbClr val="FFCC99">
              <a:alpha val="50000"/>
            </a:srgbClr>
          </a:solidFill>
          <a:ln w="25400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charset="0"/>
              </a:rPr>
              <a:t>     V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2362200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810000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 flipH="1">
            <a:off x="1905000" y="2514600"/>
            <a:ext cx="457200" cy="381000"/>
          </a:xfrm>
          <a:prstGeom prst="line">
            <a:avLst/>
          </a:prstGeom>
          <a:noFill/>
          <a:ln w="9525">
            <a:solidFill>
              <a:srgbClr val="0000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 flipH="1">
            <a:off x="3352800" y="2514600"/>
            <a:ext cx="457200" cy="381000"/>
          </a:xfrm>
          <a:prstGeom prst="line">
            <a:avLst/>
          </a:prstGeom>
          <a:noFill/>
          <a:ln w="9525" cap="rnd">
            <a:solidFill>
              <a:srgbClr val="0000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2362200" y="4789488"/>
            <a:ext cx="1752600" cy="544512"/>
          </a:xfrm>
          <a:prstGeom prst="rect">
            <a:avLst/>
          </a:prstGeom>
          <a:solidFill>
            <a:srgbClr val="FFCC99">
              <a:alpha val="50000"/>
            </a:srgbClr>
          </a:solidFill>
          <a:ln w="25400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charset="0"/>
              </a:rPr>
              <a:t>     V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609600" y="1295400"/>
            <a:ext cx="0" cy="685800"/>
          </a:xfrm>
          <a:prstGeom prst="line">
            <a:avLst/>
          </a:prstGeom>
          <a:noFill/>
          <a:ln w="9525">
            <a:solidFill>
              <a:srgbClr val="9966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593725" y="1489075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9966FF"/>
                </a:solidFill>
                <a:latin typeface="Times New Roman" charset="0"/>
              </a:rPr>
              <a:t>pos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3810000" y="1295400"/>
            <a:ext cx="0" cy="685800"/>
          </a:xfrm>
          <a:prstGeom prst="line">
            <a:avLst/>
          </a:prstGeom>
          <a:noFill/>
          <a:ln w="9525">
            <a:solidFill>
              <a:srgbClr val="9966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3794125" y="1489075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9966FF"/>
                </a:solidFill>
                <a:latin typeface="Times New Roman" charset="0"/>
              </a:rPr>
              <a:t>pos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609600" y="4789488"/>
            <a:ext cx="1752600" cy="54451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charset="0"/>
              </a:rPr>
              <a:t>      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sub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>
            <a:off x="2362200" y="1219200"/>
            <a:ext cx="0" cy="762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7" name="Text Box 17"/>
          <p:cNvSpPr txBox="1">
            <a:spLocks noChangeArrowheads="1"/>
          </p:cNvSpPr>
          <p:nvPr/>
        </p:nvSpPr>
        <p:spPr bwMode="auto">
          <a:xfrm>
            <a:off x="2346325" y="1565275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6600"/>
                </a:solidFill>
                <a:latin typeface="Times New Roman" charset="0"/>
              </a:rPr>
              <a:t>i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1747838" y="4221163"/>
            <a:ext cx="1528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news </a:t>
            </a:r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串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1143000" y="1981200"/>
            <a:ext cx="677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chemeClr val="bg2"/>
                </a:solidFill>
                <a:latin typeface="Times New Roman" charset="0"/>
              </a:rPr>
              <a:t>sub</a:t>
            </a:r>
            <a:endParaRPr kumimoji="1" lang="en-US" altLang="zh-CN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308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1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nimBg="1" autoUpdateAnimBg="0"/>
      <p:bldP spid="61444" grpId="0" animBg="1" autoUpdateAnimBg="0"/>
      <p:bldP spid="61445" grpId="0" animBg="1" autoUpdateAnimBg="0"/>
      <p:bldP spid="61446" grpId="0" animBg="1"/>
      <p:bldP spid="61447" grpId="0" animBg="1"/>
      <p:bldP spid="61448" grpId="0" animBg="1"/>
      <p:bldP spid="61449" grpId="0" animBg="1"/>
      <p:bldP spid="61450" grpId="0" animBg="1" autoUpdateAnimBg="0"/>
      <p:bldP spid="61451" grpId="0" animBg="1"/>
      <p:bldP spid="61452" grpId="0" autoUpdateAnimBg="0"/>
      <p:bldP spid="61453" grpId="0" animBg="1"/>
      <p:bldP spid="61454" grpId="0" autoUpdateAnimBg="0"/>
      <p:bldP spid="61455" grpId="0" animBg="1" autoUpdateAnimBg="0"/>
      <p:bldP spid="61456" grpId="0" animBg="1"/>
      <p:bldP spid="61457" grpId="0" autoUpdateAnimBg="0"/>
      <p:bldP spid="61458" grpId="0" autoUpdateAnimBg="0"/>
      <p:bldP spid="6145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457200"/>
            <a:ext cx="8134350" cy="611981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void Replace (&amp;S,T,V){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pos=Index(S,T,1);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substring(&amp;sub,S,1,pos-1);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substring (&amp;sub1,S,pos+strlength(T),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         strlength(s)-(pos+strlength(T))+1)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concat(&amp;R,sub,V);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  concat(&amp;S,R,sub1);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>
              <a:latin typeface="Times New Roman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  }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>
                <a:latin typeface="Times New Roman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zh-CN">
              <a:latin typeface="Times New Roman" charset="0"/>
            </a:endParaRPr>
          </a:p>
          <a:p>
            <a:pPr>
              <a:lnSpc>
                <a:spcPct val="90000"/>
              </a:lnSpc>
            </a:pPr>
            <a:endParaRPr lang="en-US" altLang="zh-CN">
              <a:latin typeface="Times New Roman" charset="0"/>
            </a:endParaRP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582738" y="1676400"/>
            <a:ext cx="7561262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charset="2"/>
              <a:buNone/>
            </a:pPr>
            <a:r>
              <a:rPr kumimoji="1" lang="en-US" altLang="zh-CN" sz="3200">
                <a:latin typeface="Times New Roman" charset="0"/>
              </a:rPr>
              <a:t>if(pos!=0){</a:t>
            </a:r>
          </a:p>
          <a:p>
            <a:pPr>
              <a:spcBef>
                <a:spcPct val="50000"/>
              </a:spcBef>
            </a:pP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506538" y="5137150"/>
            <a:ext cx="7561262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charset="2"/>
              <a:buNone/>
            </a:pPr>
            <a:r>
              <a:rPr kumimoji="1" lang="en-US" altLang="zh-CN" sz="3200">
                <a:solidFill>
                  <a:srgbClr val="FF3300"/>
                </a:solidFill>
                <a:latin typeface="Times New Roman" charset="0"/>
              </a:rPr>
              <a:t>pos=index(S,T,1);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charset="2"/>
              <a:buNone/>
            </a:pPr>
            <a:endParaRPr kumimoji="1" lang="en-US" altLang="zh-CN" sz="3200">
              <a:solidFill>
                <a:srgbClr val="FF3300"/>
              </a:solidFill>
              <a:latin typeface="Times New Roman" charset="0"/>
            </a:endParaRPr>
          </a:p>
          <a:p>
            <a:pPr>
              <a:spcBef>
                <a:spcPct val="50000"/>
              </a:spcBef>
            </a:pP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1506538" y="5137150"/>
            <a:ext cx="7561262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charset="2"/>
              <a:buNone/>
            </a:pPr>
            <a:r>
              <a:rPr kumimoji="1" lang="en-US" altLang="zh-CN" sz="3200">
                <a:solidFill>
                  <a:srgbClr val="FF3300"/>
                </a:solidFill>
                <a:latin typeface="Times New Roman" charset="0"/>
              </a:rPr>
              <a:t>pos=index(S,T,pos+strlength(V));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charset="2"/>
              <a:buNone/>
            </a:pPr>
            <a:endParaRPr kumimoji="1" lang="en-US" altLang="zh-CN" sz="3200">
              <a:latin typeface="Times New Roman" charset="0"/>
            </a:endParaRPr>
          </a:p>
          <a:p>
            <a:pPr>
              <a:spcBef>
                <a:spcPct val="50000"/>
              </a:spcBef>
            </a:pPr>
            <a:endParaRPr kumimoji="1" lang="en-US" altLang="zh-CN" sz="3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4425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  <p:bldP spid="63492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73050" y="990600"/>
            <a:ext cx="887095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3600">
                <a:solidFill>
                  <a:srgbClr val="800080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>
                <a:solidFill>
                  <a:srgbClr val="800080"/>
                </a:solidFill>
                <a:latin typeface="Times New Roman" charset="0"/>
                <a:ea typeface="楷体_GB2312" charset="0"/>
              </a:rPr>
              <a:t>串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的逻辑结构和</a:t>
            </a:r>
            <a:r>
              <a:rPr kumimoji="1" lang="zh-CN" altLang="en-US" sz="3600">
                <a:solidFill>
                  <a:srgbClr val="800080"/>
                </a:solidFill>
                <a:latin typeface="Times New Roman" charset="0"/>
                <a:ea typeface="楷体_GB2312" charset="0"/>
              </a:rPr>
              <a:t>线性表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极为相似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，</a:t>
            </a:r>
            <a:r>
              <a:rPr kumimoji="1" lang="zh-CN" altLang="en-US" sz="3600" b="1">
                <a:solidFill>
                  <a:srgbClr val="800080"/>
                </a:solidFill>
                <a:latin typeface="Times New Roman" charset="0"/>
                <a:ea typeface="楷体_GB2312" charset="0"/>
              </a:rPr>
              <a:t>区别</a:t>
            </a:r>
          </a:p>
          <a:p>
            <a:pPr>
              <a:lnSpc>
                <a:spcPct val="125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仅在于</a:t>
            </a:r>
            <a:r>
              <a:rPr kumimoji="1" lang="zh-CN" altLang="en-US" sz="3600">
                <a:solidFill>
                  <a:srgbClr val="800080"/>
                </a:solidFill>
                <a:latin typeface="Times New Roman" charset="0"/>
                <a:ea typeface="楷体_GB2312" charset="0"/>
              </a:rPr>
              <a:t>串的数据对象约束为字符集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。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136525" y="2573338"/>
            <a:ext cx="8778875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串的基本操作和线性表有很大差别。</a:t>
            </a:r>
            <a:endParaRPr kumimoji="1" lang="zh-CN" altLang="en-US" sz="36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64516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60960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228600" y="3276600"/>
            <a:ext cx="8686800" cy="294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3600">
                <a:solidFill>
                  <a:srgbClr val="1560AB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</a:rPr>
              <a:t>在线性表的基本操作中，</a:t>
            </a:r>
            <a:r>
              <a:rPr kumimoji="1" lang="zh-CN" altLang="en-US" sz="3600" b="1">
                <a:solidFill>
                  <a:srgbClr val="1560AB"/>
                </a:solidFill>
                <a:latin typeface="Times New Roman" charset="0"/>
                <a:ea typeface="楷体_GB2312" charset="0"/>
              </a:rPr>
              <a:t>大多以“单个元素”作为操作对象</a:t>
            </a:r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楷体_GB2312" charset="0"/>
              </a:rPr>
              <a:t>；</a:t>
            </a:r>
          </a:p>
          <a:p>
            <a:pPr>
              <a:lnSpc>
                <a:spcPct val="130000"/>
              </a:lnSpc>
            </a:pP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在串的基本操作中，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通常以“串的整体”作为操作对象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5999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5" grpId="0" autoUpdateAnimBg="0"/>
      <p:bldP spid="64516" grpId="0" animBg="1"/>
      <p:bldP spid="6451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382000" cy="420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在程序设计语言中，串只是作为输入或输出的常量出现，则只需存储此串的串值，即字符序列即可。但在多数非数值处理的程序中，串也以变量的形式出现。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524000" y="0"/>
            <a:ext cx="68738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6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4.2  </a:t>
            </a:r>
            <a:r>
              <a:rPr kumimoji="1" lang="zh-CN" altLang="en-US" sz="6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串的表示和实现</a:t>
            </a:r>
            <a:endParaRPr kumimoji="1" lang="zh-CN" altLang="en-US" sz="5400" b="1">
              <a:solidFill>
                <a:schemeClr val="tx2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821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hlinkClick r:id="rId3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8470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5400" b="1">
                <a:solidFill>
                  <a:srgbClr val="003399"/>
                </a:solidFill>
                <a:latin typeface="Times New Roman" charset="0"/>
                <a:ea typeface="楷体_GB2312" charset="0"/>
              </a:rPr>
              <a:t>一、串的定长顺序存储表示</a:t>
            </a:r>
          </a:p>
        </p:txBody>
      </p:sp>
      <p:sp>
        <p:nvSpPr>
          <p:cNvPr id="68611" name="Text Box 3">
            <a:hlinkClick r:id="rId4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304800" y="2743200"/>
            <a:ext cx="77803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5400" b="1">
                <a:solidFill>
                  <a:srgbClr val="101686"/>
                </a:solidFill>
                <a:latin typeface="Times New Roman" charset="0"/>
                <a:ea typeface="楷体_GB2312" charset="0"/>
              </a:rPr>
              <a:t>二、串的堆分配存储表示</a:t>
            </a:r>
          </a:p>
        </p:txBody>
      </p:sp>
      <p:sp>
        <p:nvSpPr>
          <p:cNvPr id="68612" name="Text Box 4">
            <a:hlinkClick r:id="rId5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381000" y="4343400"/>
            <a:ext cx="70897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5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三、串的块链存储表示</a:t>
            </a:r>
          </a:p>
        </p:txBody>
      </p:sp>
      <p:sp>
        <p:nvSpPr>
          <p:cNvPr id="68613" name="AutoShape 5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05800" y="6172200"/>
            <a:ext cx="5334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  <a:alpha val="74998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5760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  <p:bldP spid="68611" grpId="0" autoUpdateAnimBg="0"/>
      <p:bldP spid="68612" grpId="0" autoUpdateAnimBg="0"/>
      <p:bldP spid="686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381000" y="1676400"/>
            <a:ext cx="8467725" cy="390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#define 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MAXSTRLEN  255</a:t>
            </a:r>
          </a:p>
          <a:p>
            <a:pPr>
              <a:lnSpc>
                <a:spcPct val="125000"/>
              </a:lnSpc>
            </a:pP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// </a:t>
            </a:r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用户可在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255</a:t>
            </a:r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以内定义最大串长</a:t>
            </a:r>
          </a:p>
          <a:p>
            <a:pPr>
              <a:lnSpc>
                <a:spcPct val="125000"/>
              </a:lnSpc>
            </a:pPr>
            <a:r>
              <a:rPr kumimoji="1" lang="zh-CN" altLang="en-US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typedef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unsigned char 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Sstring</a:t>
            </a:r>
          </a:p>
          <a:p>
            <a:pPr>
              <a:lnSpc>
                <a:spcPct val="125000"/>
              </a:lnSpc>
            </a:pP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                 [MAXSTRLEN + 1];</a:t>
            </a:r>
          </a:p>
          <a:p>
            <a:pPr>
              <a:lnSpc>
                <a:spcPct val="125000"/>
              </a:lnSpc>
            </a:pP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// 0</a:t>
            </a:r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号单元存放串的长度</a:t>
            </a:r>
            <a:endParaRPr kumimoji="1" lang="zh-CN" altLang="en-US" sz="40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1377950" y="77788"/>
            <a:ext cx="75374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800" b="1">
                <a:solidFill>
                  <a:srgbClr val="003399"/>
                </a:solidFill>
                <a:latin typeface="Times New Roman" charset="0"/>
                <a:ea typeface="楷体_GB2312" charset="0"/>
              </a:rPr>
              <a:t>一、串的定长顺序存储表示</a:t>
            </a:r>
          </a:p>
        </p:txBody>
      </p:sp>
    </p:spTree>
    <p:extLst>
      <p:ext uri="{BB962C8B-B14F-4D97-AF65-F5344CB8AC3E}">
        <p14:creationId xmlns:p14="http://schemas.microsoft.com/office/powerpoint/2010/main" val="162482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539750" y="3716338"/>
            <a:ext cx="8153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zh-CN" sz="3200">
                <a:solidFill>
                  <a:srgbClr val="1560AB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200">
                <a:solidFill>
                  <a:srgbClr val="1560AB"/>
                </a:solidFill>
                <a:latin typeface="Times New Roman" charset="0"/>
                <a:ea typeface="楷体_GB2312" charset="0"/>
              </a:rPr>
              <a:t>按这种串的表示方法实现的串的运算时，其基本操作为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871B09"/>
                </a:solidFill>
                <a:latin typeface="Times New Roman" charset="0"/>
                <a:ea typeface="楷体_GB2312" charset="0"/>
              </a:rPr>
              <a:t>“</a:t>
            </a: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楷体_GB2312" charset="0"/>
              </a:rPr>
              <a:t>字符序列的复制”。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609600" y="1355725"/>
            <a:ext cx="829945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200" b="1">
                <a:solidFill>
                  <a:srgbClr val="1560AB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200" b="1">
                <a:solidFill>
                  <a:srgbClr val="1560AB"/>
                </a:solidFill>
                <a:latin typeface="Times New Roman" charset="0"/>
                <a:ea typeface="楷体_GB2312" charset="0"/>
              </a:rPr>
              <a:t>串</a:t>
            </a:r>
            <a:r>
              <a:rPr kumimoji="1" lang="zh-CN" altLang="en-US" sz="3200">
                <a:solidFill>
                  <a:srgbClr val="1560AB"/>
                </a:solidFill>
                <a:latin typeface="Times New Roman" charset="0"/>
                <a:ea typeface="楷体_GB2312" charset="0"/>
              </a:rPr>
              <a:t>的实际长度可在这个予定义长度的范围内随意设定，超过予定义长度的串值则被舍去，称之为</a:t>
            </a:r>
            <a:r>
              <a:rPr kumimoji="1" lang="zh-CN" altLang="en-US" sz="3200" b="1">
                <a:solidFill>
                  <a:srgbClr val="1560AB"/>
                </a:solidFill>
                <a:latin typeface="Times New Roman" charset="0"/>
                <a:ea typeface="楷体_GB2312" charset="0"/>
              </a:rPr>
              <a:t>“截断” 。</a:t>
            </a:r>
            <a:endParaRPr kumimoji="1" lang="zh-CN" altLang="en-US" sz="3200">
              <a:solidFill>
                <a:srgbClr val="1560AB"/>
              </a:solidFill>
              <a:latin typeface="Times New Roman" charset="0"/>
            </a:endParaRP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371600" y="228600"/>
            <a:ext cx="13731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</a:rPr>
              <a:t>特点</a:t>
            </a:r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</a:rPr>
              <a:t>: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72709" name="AutoShape 5"/>
          <p:cNvSpPr>
            <a:spLocks noChangeArrowheads="1"/>
          </p:cNvSpPr>
          <p:nvPr/>
        </p:nvSpPr>
        <p:spPr bwMode="auto">
          <a:xfrm>
            <a:off x="914400" y="1676400"/>
            <a:ext cx="152400" cy="152400"/>
          </a:xfrm>
          <a:prstGeom prst="irregularSeal1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AutoShape 6"/>
          <p:cNvSpPr>
            <a:spLocks noChangeArrowheads="1"/>
          </p:cNvSpPr>
          <p:nvPr/>
        </p:nvSpPr>
        <p:spPr bwMode="auto">
          <a:xfrm>
            <a:off x="838200" y="3962400"/>
            <a:ext cx="152400" cy="152400"/>
          </a:xfrm>
          <a:prstGeom prst="irregularSeal1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684213" y="5300663"/>
            <a:ext cx="8153400" cy="65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200" b="1">
                <a:solidFill>
                  <a:srgbClr val="871B09"/>
                </a:solidFill>
                <a:latin typeface="Times New Roman" charset="0"/>
                <a:ea typeface="楷体_GB2312" charset="0"/>
              </a:rPr>
              <a:t>串长过小，则串空间浪费较大 </a:t>
            </a:r>
          </a:p>
        </p:txBody>
      </p:sp>
    </p:spTree>
    <p:extLst>
      <p:ext uri="{BB962C8B-B14F-4D97-AF65-F5344CB8AC3E}">
        <p14:creationId xmlns:p14="http://schemas.microsoft.com/office/powerpoint/2010/main" val="7032605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7" grpId="0" autoUpdateAnimBg="0"/>
      <p:bldP spid="72709" grpId="0" animBg="1"/>
      <p:bldP spid="72710" grpId="0" animBg="1"/>
      <p:bldP spid="7271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0" y="838200"/>
            <a:ext cx="9024938" cy="600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3200" b="1">
                <a:latin typeface="Times New Roman" charset="0"/>
                <a:ea typeface="楷体_GB2312" charset="0"/>
              </a:rPr>
              <a:t> Status 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Concat(SString S1, SString S2, SString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T)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r>
              <a:rPr kumimoji="1" lang="en-US" altLang="zh-CN" sz="44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 // 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用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返回由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S1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S2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联接而成的新串。若未截断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, 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则返回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TRUE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，否则</a:t>
            </a:r>
            <a:r>
              <a:rPr kumimoji="1" lang="en-US" altLang="zh-CN" sz="2000">
                <a:latin typeface="Times New Roman" charset="0"/>
                <a:ea typeface="楷体_GB2312" charset="0"/>
              </a:rPr>
              <a:t>FALSE</a:t>
            </a:r>
            <a:r>
              <a:rPr kumimoji="1" lang="zh-CN" altLang="en-US" sz="2000">
                <a:latin typeface="Times New Roman" charset="0"/>
                <a:ea typeface="楷体_GB2312" charset="0"/>
              </a:rPr>
              <a:t>。</a:t>
            </a:r>
          </a:p>
          <a:p>
            <a:r>
              <a:rPr kumimoji="1" lang="zh-CN" altLang="en-US" sz="2400">
                <a:latin typeface="Times New Roman" charset="0"/>
                <a:ea typeface="楷体_GB2312" charset="0"/>
              </a:rPr>
              <a:t>  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  <a:p>
            <a:r>
              <a:rPr kumimoji="1" lang="zh-CN" altLang="en-US" sz="4000">
                <a:latin typeface="Times New Roman" charset="0"/>
                <a:ea typeface="楷体_GB2312" charset="0"/>
              </a:rPr>
              <a:t>       </a:t>
            </a:r>
          </a:p>
          <a:p>
            <a:r>
              <a:rPr kumimoji="1" lang="zh-CN" altLang="en-US" sz="4000">
                <a:latin typeface="Times New Roman" charset="0"/>
                <a:ea typeface="楷体_GB2312" charset="0"/>
              </a:rPr>
              <a:t>  </a:t>
            </a:r>
          </a:p>
          <a:p>
            <a:endParaRPr kumimoji="1" lang="zh-CN" altLang="en-US" sz="4000">
              <a:latin typeface="Times New Roman" charset="0"/>
            </a:endParaRPr>
          </a:p>
          <a:p>
            <a:endParaRPr kumimoji="1" lang="zh-CN" altLang="en-US" sz="4000">
              <a:latin typeface="Times New Roman" charset="0"/>
            </a:endParaRPr>
          </a:p>
          <a:p>
            <a:pPr algn="just"/>
            <a:r>
              <a:rPr kumimoji="1" lang="zh-CN" altLang="en-US" sz="2400">
                <a:latin typeface="Times New Roman" charset="0"/>
                <a:ea typeface="楷体_GB2312" charset="0"/>
              </a:rPr>
              <a:t> </a:t>
            </a:r>
          </a:p>
          <a:p>
            <a:pPr algn="just"/>
            <a:endParaRPr kumimoji="1" lang="zh-CN" altLang="en-US" sz="2400">
              <a:latin typeface="Times New Roman" charset="0"/>
              <a:ea typeface="楷体_GB2312" charset="0"/>
            </a:endParaRPr>
          </a:p>
          <a:p>
            <a:pPr algn="just"/>
            <a:endParaRPr kumimoji="1" lang="zh-CN" altLang="en-US" sz="2400">
              <a:latin typeface="Times New Roman" charset="0"/>
              <a:ea typeface="楷体_GB2312" charset="0"/>
            </a:endParaRPr>
          </a:p>
          <a:p>
            <a:pPr algn="just"/>
            <a:r>
              <a:rPr kumimoji="1" lang="en-US" altLang="zh-CN" sz="2400" b="1">
                <a:latin typeface="Times New Roman" charset="0"/>
                <a:ea typeface="楷体_GB2312" charset="0"/>
              </a:rPr>
              <a:t>return</a:t>
            </a:r>
            <a:r>
              <a:rPr kumimoji="1" lang="en-US" altLang="zh-CN" sz="2400">
                <a:latin typeface="Times New Roman" charset="0"/>
                <a:ea typeface="楷体_GB2312" charset="0"/>
              </a:rPr>
              <a:t> uncut;</a:t>
            </a:r>
          </a:p>
          <a:p>
            <a:pPr algn="just"/>
            <a:r>
              <a:rPr kumimoji="1" lang="en-US" altLang="zh-CN" sz="2400" b="1"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2400">
                <a:latin typeface="Times New Roman" charset="0"/>
                <a:ea typeface="楷体_GB2312" charset="0"/>
              </a:rPr>
              <a:t> // Concat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263525" y="0"/>
            <a:ext cx="8880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 b="1">
                <a:solidFill>
                  <a:srgbClr val="871B09"/>
                </a:solidFill>
                <a:latin typeface="Times New Roman" charset="0"/>
                <a:ea typeface="楷体_GB2312" charset="0"/>
              </a:rPr>
              <a:t>例如：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串的联接算法中需分三种情况处理：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0" y="2590800"/>
            <a:ext cx="9144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T[1..S1[0]] = S1[1..S1[0]];</a:t>
            </a: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T[S1[0]+1..S1[0]+S2[0]] = S2[1..S2[0]];</a:t>
            </a: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T[0] = S1[0]+S2[0];   uncut =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TRUE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;</a:t>
            </a:r>
            <a:r>
              <a:rPr kumimoji="1" lang="en-US" altLang="zh-CN" sz="2800">
                <a:latin typeface="Times New Roman" charset="0"/>
              </a:rPr>
              <a:t>      </a:t>
            </a:r>
            <a:r>
              <a:rPr kumimoji="1" lang="en-US" altLang="zh-CN" sz="2800" b="1">
                <a:latin typeface="Times New Roman" charset="0"/>
              </a:rPr>
              <a:t>}</a:t>
            </a:r>
            <a:r>
              <a:rPr kumimoji="1" lang="en-US" altLang="zh-CN" sz="2800">
                <a:latin typeface="Times New Roman" charset="0"/>
              </a:rPr>
              <a:t>                                                  </a:t>
            </a: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228600" y="2028825"/>
            <a:ext cx="6953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(S1[0]+S2[0] &lt;= MAXSTRLEN)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未截断</a:t>
            </a:r>
            <a:endParaRPr kumimoji="1" lang="zh-CN" altLang="en-US" sz="2400">
              <a:latin typeface="Times New Roman" charset="0"/>
              <a:ea typeface="楷体_GB2312" charset="0"/>
            </a:endParaRPr>
          </a:p>
        </p:txBody>
      </p:sp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152400" y="2962275"/>
            <a:ext cx="6238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else if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(S1[0] &lt;MAXSTRSIZE)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{ //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截断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228600" y="3876675"/>
            <a:ext cx="399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else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 {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//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截断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仅取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S1)</a:t>
            </a:r>
          </a:p>
        </p:txBody>
      </p:sp>
      <p:sp useBgFill="1">
        <p:nvSpPr>
          <p:cNvPr id="74760" name="Rectangle 8"/>
          <p:cNvSpPr>
            <a:spLocks noChangeArrowheads="1"/>
          </p:cNvSpPr>
          <p:nvPr/>
        </p:nvSpPr>
        <p:spPr bwMode="auto">
          <a:xfrm>
            <a:off x="685800" y="3603625"/>
            <a:ext cx="6642100" cy="1800225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T[1..S1[0]] = S1[1..S1[0]];</a:t>
            </a:r>
            <a:endParaRPr kumimoji="1" lang="en-US" altLang="zh-CN" sz="2800">
              <a:solidFill>
                <a:schemeClr val="tx2"/>
              </a:solidFill>
              <a:latin typeface="Times New Roman" charset="0"/>
              <a:ea typeface="楷体_GB2312" charset="0"/>
              <a:hlinkClick r:id="" action="ppaction://hlinkshowjump?jump=previousslide"/>
            </a:endParaRP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T[S1[0]+1..MAXSTRLEN] =</a:t>
            </a: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     S2[1..MAXSTRLEN</a:t>
            </a:r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－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S1[0]];</a:t>
            </a: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T[0] = MAXSTRLEN;     uncut =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FALSE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;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}</a:t>
            </a:r>
          </a:p>
        </p:txBody>
      </p:sp>
      <p:sp useBgFill="1"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457200" y="4343400"/>
            <a:ext cx="8747125" cy="1373188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>
                <a:solidFill>
                  <a:schemeClr val="tx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T[0..MAXSTRLEN] = S1[0..MAXSTRLEN];</a:t>
            </a: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     T[0] == S1[0] == MAXSTRLEN</a:t>
            </a:r>
          </a:p>
          <a:p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uncut =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FALSE</a:t>
            </a:r>
            <a:r>
              <a:rPr kumimoji="1" lang="en-US" altLang="zh-CN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;  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        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}</a:t>
            </a:r>
            <a:endParaRPr kumimoji="1" lang="en-US" altLang="zh-CN" sz="2800">
              <a:latin typeface="Times New Roman" charset="0"/>
            </a:endParaRPr>
          </a:p>
        </p:txBody>
      </p:sp>
      <p:sp>
        <p:nvSpPr>
          <p:cNvPr id="74762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457200" cy="457200"/>
          </a:xfrm>
          <a:prstGeom prst="actionButtonForwardNext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923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4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4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6" grpId="0" autoUpdateAnimBg="0"/>
      <p:bldP spid="74757" grpId="0" autoUpdateAnimBg="0"/>
      <p:bldP spid="74758" grpId="0" autoUpdateAnimBg="0"/>
      <p:bldP spid="74759" grpId="0" autoUpdateAnimBg="0"/>
      <p:bldP spid="74760" grpId="0" animBg="1" autoUpdateAnimBg="0"/>
      <p:bldP spid="74761" grpId="0" animBg="1" autoUpdateAnimBg="0"/>
      <p:bldP spid="7476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0" y="2322513"/>
            <a:ext cx="1841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4800">
              <a:latin typeface="Times New Roman" charset="0"/>
            </a:endParaRP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3429000" y="2632075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3600" b="1">
              <a:latin typeface="Times New Roman" charset="0"/>
              <a:ea typeface="楷体_GB2312" charset="0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203325" y="2782888"/>
            <a:ext cx="18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4000">
              <a:latin typeface="Times New Roman" charset="0"/>
            </a:endParaRP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22275" y="1676400"/>
            <a:ext cx="8721725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typedef struct {</a:t>
            </a:r>
          </a:p>
          <a:p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   char *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ch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;  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</a:t>
            </a:r>
          </a:p>
          <a:p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// 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若是非空串，则按串长分配存储区</a:t>
            </a:r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，</a:t>
            </a:r>
          </a:p>
          <a:p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//  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否则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ch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为</a:t>
            </a:r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NULL</a:t>
            </a:r>
            <a:endParaRPr kumimoji="1" lang="en-US" altLang="zh-CN" sz="4000">
              <a:solidFill>
                <a:schemeClr val="tx2"/>
              </a:solidFill>
              <a:latin typeface="Times New Roman" charset="0"/>
              <a:ea typeface="楷体_GB2312" charset="0"/>
            </a:endParaRPr>
          </a:p>
          <a:p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length;   // </a:t>
            </a:r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串长度</a:t>
            </a:r>
          </a:p>
          <a:p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HString;</a:t>
            </a:r>
            <a:endParaRPr kumimoji="1" lang="en-US" altLang="zh-CN" sz="40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1363663" y="77788"/>
            <a:ext cx="692467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800" b="1">
                <a:solidFill>
                  <a:srgbClr val="101686"/>
                </a:solidFill>
                <a:latin typeface="Times New Roman" charset="0"/>
                <a:ea typeface="楷体_GB2312" charset="0"/>
              </a:rPr>
              <a:t>二、串的堆分配存储表示</a:t>
            </a:r>
          </a:p>
        </p:txBody>
      </p:sp>
    </p:spTree>
    <p:extLst>
      <p:ext uri="{BB962C8B-B14F-4D97-AF65-F5344CB8AC3E}">
        <p14:creationId xmlns:p14="http://schemas.microsoft.com/office/powerpoint/2010/main" val="16505216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utoUpdateAnimBg="0"/>
      <p:bldP spid="7680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0" y="1460500"/>
            <a:ext cx="9144000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zh-CN">
                <a:latin typeface="Times New Roman" charset="0"/>
                <a:ea typeface="楷体_GB2312" charset="0"/>
              </a:rPr>
              <a:t>         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通常，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C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语言中提供的串类型就是以这种存储方式实现的。系统利用函数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malloc( )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free( )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进行串值空间的动态管理，为每一个新产生的串分配一个存储区，称串值共享的存储空间为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“堆”。</a:t>
            </a:r>
          </a:p>
          <a:p>
            <a:pPr>
              <a:lnSpc>
                <a:spcPct val="115000"/>
              </a:lnSpc>
            </a:pPr>
            <a:r>
              <a:rPr kumimoji="1" lang="zh-CN" altLang="en-US" sz="2800" b="1">
                <a:latin typeface="Times New Roman" charset="0"/>
                <a:ea typeface="楷体_GB2312" charset="0"/>
              </a:rPr>
              <a:t>        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C</a:t>
            </a:r>
            <a:r>
              <a:rPr kumimoji="1" lang="zh-CN" altLang="en-US" sz="2800">
                <a:latin typeface="Times New Roman" charset="0"/>
                <a:ea typeface="楷体_GB2312" charset="0"/>
              </a:rPr>
              <a:t>语言中的串以一个空字符为结束符，</a:t>
            </a:r>
          </a:p>
          <a:p>
            <a:pPr>
              <a:lnSpc>
                <a:spcPct val="115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串长是一个隐含值。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4648200"/>
            <a:ext cx="8870950" cy="186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400">
                <a:latin typeface="Times New Roman" charset="0"/>
                <a:ea typeface="隶书" charset="0"/>
              </a:rPr>
              <a:t>  </a:t>
            </a:r>
            <a:r>
              <a:rPr kumimoji="1" lang="zh-CN" altLang="en-US" sz="4400">
                <a:latin typeface="Times New Roman" charset="0"/>
                <a:ea typeface="隶书" charset="0"/>
              </a:rPr>
              <a:t>这类串操作</a:t>
            </a:r>
            <a:r>
              <a:rPr kumimoji="1" lang="zh-CN" altLang="en-US" sz="4400">
                <a:solidFill>
                  <a:srgbClr val="871B09"/>
                </a:solidFill>
                <a:latin typeface="Times New Roman" charset="0"/>
                <a:ea typeface="隶书" charset="0"/>
              </a:rPr>
              <a:t>实现的算法</a:t>
            </a:r>
            <a:r>
              <a:rPr kumimoji="1" lang="zh-CN" altLang="en-US" sz="4400">
                <a:latin typeface="Times New Roman" charset="0"/>
                <a:ea typeface="隶书" charset="0"/>
              </a:rPr>
              <a:t>为：</a:t>
            </a:r>
          </a:p>
          <a:p>
            <a:r>
              <a:rPr kumimoji="1" lang="zh-CN" altLang="en-US" sz="3600">
                <a:latin typeface="Times New Roman" charset="0"/>
                <a:ea typeface="隶书" charset="0"/>
              </a:rPr>
              <a:t>    先为新生成的串分配一个存储空间，然后</a:t>
            </a:r>
          </a:p>
          <a:p>
            <a:r>
              <a:rPr kumimoji="1" lang="zh-CN" altLang="en-US" sz="3600">
                <a:latin typeface="Times New Roman" charset="0"/>
                <a:ea typeface="隶书" charset="0"/>
              </a:rPr>
              <a:t>  进行串值的复制。</a:t>
            </a:r>
            <a:endParaRPr kumimoji="1" lang="zh-CN" altLang="en-US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9147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76200" y="152400"/>
            <a:ext cx="9067800" cy="655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Status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Concat(HString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&amp;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T, HString S1, HString S2)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{</a:t>
            </a:r>
            <a:endParaRPr kumimoji="1" lang="en-US" altLang="zh-CN" sz="3200">
              <a:solidFill>
                <a:srgbClr val="006666"/>
              </a:solidFill>
              <a:latin typeface="Times New Roman" charset="0"/>
            </a:endParaRPr>
          </a:p>
          <a:p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// 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用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T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返回由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S1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和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S2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隶书" charset="0"/>
              </a:rPr>
              <a:t>联接而成的新串</a:t>
            </a:r>
            <a:endParaRPr kumimoji="1" lang="zh-CN" altLang="en-US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if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(T.ch)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free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(T.ch);        // 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释放旧空间</a:t>
            </a:r>
            <a:endParaRPr kumimoji="1" lang="zh-CN" altLang="en-US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if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(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!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(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T.ch = (char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*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)  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            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malloc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((S1.length+S2.length)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*sizeof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(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char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))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))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   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exit 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(OVERFLOW);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T.ch[0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..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S1.length-1] = S1.ch[0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..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S1.length-1];</a:t>
            </a:r>
            <a:endParaRPr kumimoji="1" lang="en-US" altLang="zh-CN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T.length = S1.length + S2.length;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T.ch[S1.length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..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T.length-1] = S2.ch[0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..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S2.length-1];</a:t>
            </a:r>
            <a:endParaRPr kumimoji="1" lang="en-US" altLang="zh-CN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return OK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}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// Concat</a:t>
            </a:r>
            <a:endParaRPr kumimoji="1" lang="en-US" altLang="zh-CN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1434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3175" y="117475"/>
            <a:ext cx="9369425" cy="671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>
                <a:latin typeface="Times New Roman" charset="0"/>
              </a:rPr>
              <a:t>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Status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SubString(HString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&amp;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Sub, HString S,</a:t>
            </a:r>
          </a:p>
          <a:p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                                                    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int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pos,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int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len)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{</a:t>
            </a:r>
            <a:endParaRPr kumimoji="1" lang="en-US" altLang="zh-CN" sz="3200">
              <a:solidFill>
                <a:srgbClr val="006666"/>
              </a:solidFill>
              <a:latin typeface="Times New Roman" charset="0"/>
            </a:endParaRPr>
          </a:p>
          <a:p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// 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用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Sub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返回串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的第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pos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个字符起长度为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len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的子串</a:t>
            </a:r>
            <a:endParaRPr kumimoji="1" lang="zh-CN" altLang="en-US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if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(pos &lt; 1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||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pos &gt; S.length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                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||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len &lt; 0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||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len &gt; S.length-pos+1)  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 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return ERROR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if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(Sub.ch)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free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(Sub.ch);             // 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释放旧空间</a:t>
            </a:r>
            <a:endParaRPr kumimoji="1" lang="zh-CN" altLang="en-US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if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(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!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len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) 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  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{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Sub.ch = NULL;  Sub.length = 0;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} 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// </a:t>
            </a: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  <a:ea typeface="楷体_GB2312" charset="0"/>
              </a:rPr>
              <a:t>空子串</a:t>
            </a:r>
          </a:p>
          <a:p>
            <a:pPr>
              <a:lnSpc>
                <a:spcPct val="120000"/>
              </a:lnSpc>
            </a:pP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else {                                                  } 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//</a:t>
            </a:r>
            <a:r>
              <a:rPr kumimoji="1" lang="en-US" altLang="zh-CN" sz="3200">
                <a:solidFill>
                  <a:srgbClr val="006666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6666"/>
                </a:solidFill>
                <a:latin typeface="楷体_GB2312" charset="0"/>
                <a:ea typeface="楷体_GB2312" charset="0"/>
              </a:rPr>
              <a:t>完整子串</a:t>
            </a:r>
            <a:endParaRPr kumimoji="1" lang="zh-CN" altLang="en-US" sz="3200">
              <a:solidFill>
                <a:srgbClr val="006666"/>
              </a:solidFill>
              <a:latin typeface="Times New Roman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>
                <a:solidFill>
                  <a:srgbClr val="006666"/>
                </a:solidFill>
                <a:latin typeface="Times New Roman" charset="0"/>
              </a:rPr>
              <a:t>  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return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</a:t>
            </a:r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OK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;</a:t>
            </a:r>
          </a:p>
          <a:p>
            <a:r>
              <a:rPr kumimoji="1" lang="en-US" altLang="zh-CN" sz="3200" b="1">
                <a:solidFill>
                  <a:srgbClr val="006666"/>
                </a:solidFill>
                <a:latin typeface="Times New Roman" charset="0"/>
              </a:rPr>
              <a:t>}</a:t>
            </a: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// SubString</a:t>
            </a:r>
          </a:p>
        </p:txBody>
      </p:sp>
      <p:sp>
        <p:nvSpPr>
          <p:cNvPr id="82947" name="Text Box 3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898650" y="5026025"/>
            <a:ext cx="145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</a:rPr>
              <a:t>…  …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82948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826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76200" y="1655763"/>
            <a:ext cx="8985250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3200">
                <a:solidFill>
                  <a:srgbClr val="006666"/>
                </a:solidFill>
                <a:latin typeface="Times New Roman" charset="0"/>
              </a:rPr>
              <a:t> 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Sub.ch = (char *)malloc(len*sizeof(char));</a:t>
            </a:r>
          </a:p>
          <a:p>
            <a:pPr>
              <a:lnSpc>
                <a:spcPct val="150000"/>
              </a:lnSpc>
            </a:pP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 Sub.ch[0..len-1] = S[pos-1..pos+len-2];</a:t>
            </a:r>
          </a:p>
          <a:p>
            <a:pPr>
              <a:lnSpc>
                <a:spcPct val="150000"/>
              </a:lnSpc>
            </a:pP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 Sub.length = len;</a:t>
            </a:r>
          </a:p>
        </p:txBody>
      </p:sp>
      <p:sp>
        <p:nvSpPr>
          <p:cNvPr id="84995" name="AutoShape 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229600" y="5943600"/>
            <a:ext cx="457200" cy="457200"/>
          </a:xfrm>
          <a:prstGeom prst="actionButtonReturn">
            <a:avLst/>
          </a:prstGeom>
          <a:solidFill>
            <a:srgbClr val="0000FF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419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447800" y="230188"/>
            <a:ext cx="63119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8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三、串的块链存储表示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533400" y="1387475"/>
            <a:ext cx="80772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也可用链表来存储串值，由于串的数据元素是一个字符，它只有 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8 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位二进制数，因此用链表存储时，通常一个结点中存放的不是一个字符，而是一个子串。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825500" y="4708525"/>
            <a:ext cx="27749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存储密度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= 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87045" name="Line 5"/>
          <p:cNvSpPr>
            <a:spLocks noChangeShapeType="1"/>
          </p:cNvSpPr>
          <p:nvPr/>
        </p:nvSpPr>
        <p:spPr bwMode="auto">
          <a:xfrm>
            <a:off x="3581400" y="51054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3641725" y="4464050"/>
            <a:ext cx="429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隶书" charset="0"/>
              </a:rPr>
              <a:t>数据元素所占存储位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3778250" y="4997450"/>
            <a:ext cx="3841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1560AB"/>
                </a:solidFill>
                <a:latin typeface="Times New Roman" charset="0"/>
                <a:ea typeface="隶书" charset="0"/>
              </a:rPr>
              <a:t>实际分配的存储位</a:t>
            </a:r>
            <a:endParaRPr kumimoji="1" lang="zh-CN" altLang="en-US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6771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utoUpdateAnimBg="0"/>
      <p:bldP spid="87044" grpId="0" autoUpdateAnimBg="0"/>
      <p:bldP spid="87045" grpId="0" animBg="1"/>
      <p:bldP spid="87046" grpId="0" autoUpdateAnimBg="0"/>
      <p:bldP spid="8704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228600" y="1203325"/>
            <a:ext cx="8709025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#define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CHUNKSIZE  80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2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可由用户定义的块大小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typedef  struct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Chunk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rgbClr val="FF00FF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FF00FF"/>
                </a:solidFill>
                <a:latin typeface="Times New Roman" charset="0"/>
                <a:ea typeface="楷体_GB2312" charset="0"/>
              </a:rPr>
              <a:t>结点结构</a:t>
            </a:r>
            <a:endParaRPr kumimoji="1" lang="zh-CN" altLang="en-US" sz="3200" b="1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char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ch[CUNKSIZE];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struct 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Chunk  *next;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Chunk;</a:t>
            </a:r>
          </a:p>
          <a:p>
            <a:pPr>
              <a:lnSpc>
                <a:spcPct val="125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 typedef struct {  </a:t>
            </a:r>
            <a:r>
              <a:rPr kumimoji="1" lang="en-US" altLang="zh-CN" sz="3200">
                <a:solidFill>
                  <a:srgbClr val="FF00FF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solidFill>
                  <a:srgbClr val="FF00FF"/>
                </a:solidFill>
                <a:latin typeface="Times New Roman" charset="0"/>
                <a:ea typeface="楷体_GB2312" charset="0"/>
              </a:rPr>
              <a:t>串的链表结构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Chunk *head, *tail;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// 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串的</a:t>
            </a:r>
            <a:r>
              <a:rPr kumimoji="1" lang="zh-CN" altLang="en-US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头和尾指针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int 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curlen;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    // 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串的</a:t>
            </a:r>
            <a:r>
              <a:rPr kumimoji="1" lang="zh-CN" altLang="en-US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当前长度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LString;</a:t>
            </a:r>
            <a:endParaRPr kumimoji="1" lang="en-US" altLang="zh-CN" sz="3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4939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>
            <a:hlinkClick r:id="" action="ppaction://hlinkshowjump?jump=firstslide"/>
          </p:cNvPr>
          <p:cNvSpPr txBox="1">
            <a:spLocks noChangeArrowheads="1"/>
          </p:cNvSpPr>
          <p:nvPr/>
        </p:nvSpPr>
        <p:spPr bwMode="auto">
          <a:xfrm>
            <a:off x="182563" y="3101975"/>
            <a:ext cx="8732837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</a:t>
            </a:r>
            <a:r>
              <a:rPr kumimoji="1" lang="zh-CN" altLang="en-US" sz="3600">
                <a:solidFill>
                  <a:srgbClr val="871B09"/>
                </a:solidFill>
                <a:latin typeface="Times New Roman" charset="0"/>
                <a:ea typeface="楷体_GB2312" charset="0"/>
              </a:rPr>
              <a:t>例如</a:t>
            </a:r>
            <a:r>
              <a:rPr kumimoji="1" lang="en-US" altLang="zh-CN" sz="3600">
                <a:solidFill>
                  <a:srgbClr val="871B09"/>
                </a:solidFill>
                <a:latin typeface="Times New Roman" charset="0"/>
                <a:ea typeface="楷体_GB2312" charset="0"/>
              </a:rPr>
              <a:t>: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在编辑系统中，整个文本编辑区可以看成是一个串，每一行是一个子串，构成一个结点。即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: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同一行的串用定长结构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(80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个字符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),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行和行之间用指针相联接。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517525" y="1279525"/>
            <a:ext cx="82454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4000">
                <a:solidFill>
                  <a:schemeClr val="tx2"/>
                </a:solidFill>
                <a:latin typeface="Times New Roman" charset="0"/>
                <a:ea typeface="楷体_GB2312" charset="0"/>
              </a:rPr>
              <a:t>实际应用时，可以根据问题所需来设置结点的大小。</a:t>
            </a:r>
            <a:endParaRPr kumimoji="1" lang="zh-CN" altLang="en-US" sz="4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91140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9079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utoUpdateAnimBg="0"/>
      <p:bldP spid="9114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381000" y="2955925"/>
            <a:ext cx="8296275" cy="26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4400">
                <a:latin typeface="Times New Roman" charset="0"/>
                <a:ea typeface="楷体_GB2312" charset="0"/>
              </a:rPr>
              <a:t>      </a:t>
            </a:r>
            <a:r>
              <a:rPr kumimoji="1" lang="zh-CN" altLang="en-US" sz="4400">
                <a:latin typeface="Times New Roman" charset="0"/>
                <a:ea typeface="楷体_GB2312" charset="0"/>
              </a:rPr>
              <a:t>这是串的一种重要操作，很多</a:t>
            </a:r>
          </a:p>
          <a:p>
            <a:pPr>
              <a:lnSpc>
                <a:spcPct val="125000"/>
              </a:lnSpc>
            </a:pPr>
            <a:r>
              <a:rPr kumimoji="1" lang="zh-CN" altLang="en-US" sz="4400">
                <a:latin typeface="Times New Roman" charset="0"/>
                <a:ea typeface="楷体_GB2312" charset="0"/>
              </a:rPr>
              <a:t>  软件，若有</a:t>
            </a:r>
            <a:r>
              <a:rPr kumimoji="1" lang="zh-CN" altLang="en-US" sz="44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“编辑”</a:t>
            </a:r>
            <a:r>
              <a:rPr kumimoji="1" lang="zh-CN" altLang="en-US" sz="4400">
                <a:latin typeface="Times New Roman" charset="0"/>
                <a:ea typeface="楷体_GB2312" charset="0"/>
              </a:rPr>
              <a:t>菜单项的话，</a:t>
            </a:r>
          </a:p>
          <a:p>
            <a:pPr>
              <a:lnSpc>
                <a:spcPct val="125000"/>
              </a:lnSpc>
            </a:pPr>
            <a:r>
              <a:rPr kumimoji="1" lang="zh-CN" altLang="en-US" sz="4400">
                <a:latin typeface="Times New Roman" charset="0"/>
                <a:ea typeface="楷体_GB2312" charset="0"/>
              </a:rPr>
              <a:t>  则其中必有</a:t>
            </a:r>
            <a:r>
              <a:rPr kumimoji="1" lang="zh-CN" altLang="en-US" sz="44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“查找”</a:t>
            </a:r>
            <a:r>
              <a:rPr kumimoji="1" lang="zh-CN" altLang="en-US" sz="4400">
                <a:latin typeface="Times New Roman" charset="0"/>
                <a:ea typeface="楷体_GB2312" charset="0"/>
              </a:rPr>
              <a:t>子菜单项。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609600" y="1219200"/>
            <a:ext cx="753745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2"/>
            <a:r>
              <a:rPr kumimoji="1" lang="en-US" altLang="zh-CN" sz="5400" b="1">
                <a:solidFill>
                  <a:srgbClr val="990033"/>
                </a:solidFill>
                <a:latin typeface="Times New Roman" charset="0"/>
                <a:ea typeface="楷体_GB2312" charset="0"/>
              </a:rPr>
              <a:t>4.3	</a:t>
            </a:r>
            <a:r>
              <a:rPr kumimoji="1" lang="zh-CN" altLang="en-US" sz="5400" b="1">
                <a:solidFill>
                  <a:srgbClr val="990033"/>
                </a:solidFill>
                <a:latin typeface="Times New Roman" charset="0"/>
                <a:ea typeface="楷体_GB2312" charset="0"/>
              </a:rPr>
              <a:t>串的模式匹配算法</a:t>
            </a:r>
            <a:endParaRPr kumimoji="1" lang="zh-CN" altLang="en-US" sz="2400" b="1">
              <a:solidFill>
                <a:srgbClr val="3366FF"/>
              </a:solidFill>
              <a:latin typeface="Times New Roman" charset="0"/>
              <a:ea typeface="楷体_GB2312" charset="0"/>
            </a:endParaRPr>
          </a:p>
          <a:p>
            <a:endParaRPr kumimoji="1" lang="zh-CN" altLang="en-US" sz="4000" b="1">
              <a:solidFill>
                <a:srgbClr val="3366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624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87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228600" y="2116138"/>
            <a:ext cx="8915400" cy="436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4000">
                <a:solidFill>
                  <a:srgbClr val="CC0000"/>
                </a:solidFill>
                <a:latin typeface="Times New Roman" charset="0"/>
                <a:ea typeface="楷体_GB2312" charset="0"/>
              </a:rPr>
              <a:t>初始条件：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存在，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是非空串，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 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1≤pos≤StrLength(S)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4000">
                <a:solidFill>
                  <a:srgbClr val="CC0000"/>
                </a:solidFill>
                <a:latin typeface="Times New Roman" charset="0"/>
                <a:ea typeface="楷体_GB2312" charset="0"/>
              </a:rPr>
              <a:t>操作结果：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若主串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中存在和串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值相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同的子串返回它在主串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中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第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pos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个字符之后第一次出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              </a:t>
            </a:r>
            <a:r>
              <a:rPr kumimoji="1" lang="zh-CN" altLang="zh-CN" sz="4000">
                <a:latin typeface="Times New Roman" charset="0"/>
                <a:ea typeface="楷体_GB2312" charset="0"/>
              </a:rPr>
              <a:t>现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的位置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;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否则函数值为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                    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47800" y="228600"/>
            <a:ext cx="7473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latin typeface="Times New Roman" charset="0"/>
                <a:ea typeface="楷体_GB2312" charset="0"/>
              </a:rPr>
              <a:t>首先，回忆一下</a:t>
            </a:r>
            <a:r>
              <a:rPr kumimoji="1" lang="zh-CN" altLang="en-US" sz="3600">
                <a:solidFill>
                  <a:srgbClr val="871B09"/>
                </a:solidFill>
                <a:latin typeface="Times New Roman" charset="0"/>
                <a:ea typeface="楷体_GB2312" charset="0"/>
              </a:rPr>
              <a:t>串匹配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查找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的定义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: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1752600" y="1066800"/>
            <a:ext cx="4151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INDEX (S, T, pos)</a:t>
            </a:r>
          </a:p>
        </p:txBody>
      </p:sp>
    </p:spTree>
    <p:extLst>
      <p:ext uri="{BB962C8B-B14F-4D97-AF65-F5344CB8AC3E}">
        <p14:creationId xmlns:p14="http://schemas.microsoft.com/office/powerpoint/2010/main" val="21243653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utoUpdateAnimBg="0"/>
      <p:bldP spid="9523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>
            <a:hlinkClick r:id="" action="ppaction://hlinkshowjump?jump=previousslide" highlightClick="1"/>
          </p:cNvPr>
          <p:cNvSpPr txBox="1">
            <a:spLocks noChangeArrowheads="1"/>
          </p:cNvSpPr>
          <p:nvPr/>
        </p:nvSpPr>
        <p:spPr bwMode="auto">
          <a:xfrm>
            <a:off x="17463" y="1295400"/>
            <a:ext cx="9126537" cy="558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Index(SString S, SString T, int pos)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{</a:t>
            </a:r>
            <a:endParaRPr kumimoji="1" lang="en-US" altLang="zh-CN" sz="28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返回子串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在主串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中第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pos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个字符之后的位置。若不存在，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 b="1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则函数值为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。其中，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非空，</a:t>
            </a:r>
            <a:r>
              <a:rPr kumimoji="1" lang="en-US" altLang="zh-CN" sz="2000" b="1">
                <a:latin typeface="Times New Roman" charset="0"/>
                <a:ea typeface="楷体_GB2312" charset="0"/>
              </a:rPr>
              <a:t>1≤pos≤StrLength(S)</a:t>
            </a:r>
            <a:r>
              <a:rPr kumimoji="1" lang="zh-CN" altLang="en-US" sz="2000" b="1">
                <a:latin typeface="Times New Roman" charset="0"/>
                <a:ea typeface="楷体_GB2312" charset="0"/>
              </a:rPr>
              <a:t>。</a:t>
            </a:r>
            <a:endParaRPr kumimoji="1" lang="zh-CN" altLang="en-US" sz="28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i = pos;   j = 1;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(i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&lt;=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S[0]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&amp;&amp;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j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&lt;=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T[0])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{</a:t>
            </a:r>
            <a:endParaRPr kumimoji="1" lang="en-US" altLang="zh-CN" sz="28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(S[i] == T[j])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++i;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j;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}   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继续比较后继字符</a:t>
            </a:r>
            <a:endParaRPr kumimoji="1" lang="zh-CN" altLang="en-US" sz="2800" b="1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else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i = i-j+2;   j = 1;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指针后退重新开始匹配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}</a:t>
            </a:r>
            <a:endParaRPr kumimoji="1" lang="en-US" altLang="zh-CN" sz="28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(j &gt; T[0]) 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return 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i-T[0];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else return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0;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// Index</a:t>
            </a:r>
          </a:p>
        </p:txBody>
      </p:sp>
      <p:sp>
        <p:nvSpPr>
          <p:cNvPr id="99332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447800" y="3048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简单算法 </a:t>
            </a:r>
          </a:p>
        </p:txBody>
      </p:sp>
    </p:spTree>
    <p:extLst>
      <p:ext uri="{BB962C8B-B14F-4D97-AF65-F5344CB8AC3E}">
        <p14:creationId xmlns:p14="http://schemas.microsoft.com/office/powerpoint/2010/main" val="13679298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utoUpdateAnimBg="0"/>
      <p:bldP spid="993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772400" cy="1143000"/>
          </a:xfrm>
        </p:spPr>
        <p:txBody>
          <a:bodyPr/>
          <a:lstStyle/>
          <a:p>
            <a:r>
              <a:rPr lang="zh-CN" altLang="en-US"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charset="0"/>
                <a:ea typeface="楷体_GB2312" charset="0"/>
              </a:rPr>
              <a:t>简单的模式匹配算法的时间复杂度分析</a:t>
            </a:r>
            <a:r>
              <a:rPr lang="zh-CN" altLang="en-US" sz="2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charset="0"/>
                <a:ea typeface="楷体_GB2312" charset="0"/>
              </a:rPr>
              <a:t>：</a:t>
            </a:r>
            <a:endParaRPr lang="zh-CN" altLang="en-US" sz="2000">
              <a:solidFill>
                <a:schemeClr val="tx1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2438400"/>
          </a:xfrm>
        </p:spPr>
        <p:txBody>
          <a:bodyPr/>
          <a:lstStyle/>
          <a:p>
            <a:r>
              <a:rPr lang="en-US" altLang="zh-CN"/>
              <a:t> </a:t>
            </a:r>
            <a:r>
              <a:rPr lang="zh-CN" altLang="en-US" b="1"/>
              <a:t>该算法的思想简单，易于理解，但算法的效率不高，原因是</a:t>
            </a:r>
            <a:r>
              <a:rPr lang="zh-CN" altLang="en-US" b="1">
                <a:solidFill>
                  <a:srgbClr val="0033CC"/>
                </a:solidFill>
              </a:rPr>
              <a:t>回溯</a:t>
            </a:r>
            <a:r>
              <a:rPr lang="zh-CN" altLang="en-US" b="1"/>
              <a:t>，分析如下：</a:t>
            </a:r>
          </a:p>
          <a:p>
            <a:pPr lvl="1"/>
            <a:r>
              <a:rPr lang="zh-CN" altLang="en-US"/>
              <a:t> </a:t>
            </a:r>
            <a:r>
              <a:rPr lang="zh-CN" altLang="en-US" b="1"/>
              <a:t>最好情况下： </a:t>
            </a:r>
            <a:r>
              <a:rPr lang="en-US" altLang="zh-CN" b="1"/>
              <a:t>O( n+m )</a:t>
            </a:r>
          </a:p>
          <a:p>
            <a:pPr lvl="1"/>
            <a:r>
              <a:rPr lang="en-US" altLang="zh-CN" b="1"/>
              <a:t> </a:t>
            </a:r>
            <a:r>
              <a:rPr lang="zh-CN" altLang="en-US" b="1"/>
              <a:t>最坏情况下： </a:t>
            </a:r>
            <a:r>
              <a:rPr lang="en-US" altLang="zh-CN" b="1"/>
              <a:t>O( n*m )</a:t>
            </a:r>
          </a:p>
          <a:p>
            <a:pPr lvl="1"/>
            <a:endParaRPr lang="en-US" altLang="zh-CN" b="1"/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609600" y="4114800"/>
            <a:ext cx="7924800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改进算法</a:t>
            </a:r>
          </a:p>
          <a:p>
            <a:pPr>
              <a:spcBef>
                <a:spcPct val="25000"/>
              </a:spcBef>
            </a:pPr>
            <a:r>
              <a:rPr kumimoji="1" lang="zh-CN" altLang="en-US" sz="2400">
                <a:latin typeface="Times New Roman" charset="0"/>
              </a:rPr>
              <a:t>      </a:t>
            </a:r>
            <a:r>
              <a:rPr kumimoji="1" lang="zh-CN" altLang="en-US" sz="2400" b="1">
                <a:latin typeface="Times New Roman" charset="0"/>
              </a:rPr>
              <a:t>由</a:t>
            </a:r>
            <a:r>
              <a:rPr kumimoji="1" lang="en-US" altLang="zh-CN" sz="2400" b="1">
                <a:latin typeface="Times New Roman" charset="0"/>
              </a:rPr>
              <a:t>D.E.Knuth</a:t>
            </a:r>
            <a:r>
              <a:rPr kumimoji="1" lang="zh-CN" altLang="zh-CN" sz="2400" b="1">
                <a:latin typeface="Times New Roman" charset="0"/>
              </a:rPr>
              <a:t>与</a:t>
            </a:r>
            <a:r>
              <a:rPr kumimoji="1" lang="en-US" altLang="zh-CN" sz="2400" b="1">
                <a:latin typeface="Times New Roman" charset="0"/>
              </a:rPr>
              <a:t>J.H.Morris</a:t>
            </a:r>
            <a:r>
              <a:rPr kumimoji="1" lang="zh-CN" altLang="zh-CN" sz="2400" b="1">
                <a:latin typeface="Times New Roman" charset="0"/>
              </a:rPr>
              <a:t> 和</a:t>
            </a:r>
            <a:r>
              <a:rPr kumimoji="1" lang="en-US" altLang="zh-CN" sz="2400" b="1">
                <a:latin typeface="Times New Roman" charset="0"/>
              </a:rPr>
              <a:t>V.R.Pratt</a:t>
            </a:r>
            <a:r>
              <a:rPr kumimoji="1" lang="zh-CN" altLang="zh-CN" sz="2400" b="1">
                <a:latin typeface="Times New Roman" charset="0"/>
              </a:rPr>
              <a:t>同时发现的。简称</a:t>
            </a:r>
            <a:r>
              <a:rPr kumimoji="1" lang="zh-CN" altLang="en-US" sz="2400" b="1">
                <a:latin typeface="Times New Roman" charset="0"/>
              </a:rPr>
              <a:t> </a:t>
            </a:r>
            <a:r>
              <a:rPr kumimoji="1" lang="en-US" altLang="zh-CN" sz="2400" b="1">
                <a:latin typeface="Times New Roman" charset="0"/>
              </a:rPr>
              <a:t>KMP</a:t>
            </a:r>
            <a:r>
              <a:rPr kumimoji="1" lang="zh-CN" altLang="zh-CN" sz="2400" b="1">
                <a:latin typeface="Times New Roman" charset="0"/>
              </a:rPr>
              <a:t>算法。</a:t>
            </a:r>
          </a:p>
          <a:p>
            <a:pPr>
              <a:spcBef>
                <a:spcPct val="25000"/>
              </a:spcBef>
            </a:pPr>
            <a:r>
              <a:rPr kumimoji="1" lang="zh-CN" altLang="zh-CN" sz="2400" b="1">
                <a:latin typeface="Times New Roman" charset="0"/>
              </a:rPr>
              <a:t>      设主串</a:t>
            </a:r>
            <a:r>
              <a:rPr kumimoji="1" lang="en-US" altLang="zh-CN" sz="2400" b="1">
                <a:latin typeface="Times New Roman" charset="0"/>
              </a:rPr>
              <a:t>S=“ababcabcacbab”, </a:t>
            </a:r>
            <a:r>
              <a:rPr kumimoji="1" lang="zh-CN" altLang="zh-CN" sz="2400" b="1">
                <a:latin typeface="Times New Roman" charset="0"/>
              </a:rPr>
              <a:t>模式串</a:t>
            </a:r>
            <a:r>
              <a:rPr kumimoji="1" lang="en-US" altLang="zh-CN" sz="2400" b="1">
                <a:latin typeface="Times New Roman" charset="0"/>
              </a:rPr>
              <a:t>T=“abcac”</a:t>
            </a:r>
            <a:r>
              <a:rPr kumimoji="1" lang="zh-CN" altLang="en-US" sz="2400" b="1">
                <a:latin typeface="Times New Roman" charset="0"/>
              </a:rPr>
              <a:t>。则朴素算法的匹配过程如下：</a:t>
            </a:r>
          </a:p>
        </p:txBody>
      </p:sp>
    </p:spTree>
    <p:extLst>
      <p:ext uri="{BB962C8B-B14F-4D97-AF65-F5344CB8AC3E}">
        <p14:creationId xmlns:p14="http://schemas.microsoft.com/office/powerpoint/2010/main" val="14743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2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2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bldLvl="2" autoUpdateAnimBg="0"/>
      <p:bldP spid="152580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1676400" y="1406525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charset="0"/>
                <a:ea typeface="楷体_GB2312" charset="0"/>
              </a:rPr>
              <a:t>第一趟匹配</a:t>
            </a: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1676400" y="2224088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charset="0"/>
                <a:ea typeface="楷体_GB2312" charset="0"/>
              </a:rPr>
              <a:t>第二趟匹配</a:t>
            </a: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1676400" y="3290888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charset="0"/>
                <a:ea typeface="楷体_GB2312" charset="0"/>
              </a:rPr>
              <a:t>第三趟匹配</a:t>
            </a: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1676400" y="4205288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charset="0"/>
                <a:ea typeface="楷体_GB2312" charset="0"/>
              </a:rPr>
              <a:t>第四趟匹配</a:t>
            </a:r>
          </a:p>
        </p:txBody>
      </p:sp>
      <p:sp>
        <p:nvSpPr>
          <p:cNvPr id="153606" name="Text Box 6"/>
          <p:cNvSpPr txBox="1">
            <a:spLocks noChangeArrowheads="1"/>
          </p:cNvSpPr>
          <p:nvPr/>
        </p:nvSpPr>
        <p:spPr bwMode="auto">
          <a:xfrm>
            <a:off x="1676400" y="5043488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charset="0"/>
                <a:ea typeface="楷体_GB2312" charset="0"/>
              </a:rPr>
              <a:t>第五趟匹配</a:t>
            </a:r>
          </a:p>
        </p:txBody>
      </p:sp>
      <p:sp>
        <p:nvSpPr>
          <p:cNvPr id="153607" name="Text Box 7"/>
          <p:cNvSpPr txBox="1">
            <a:spLocks noChangeArrowheads="1"/>
          </p:cNvSpPr>
          <p:nvPr/>
        </p:nvSpPr>
        <p:spPr bwMode="auto">
          <a:xfrm>
            <a:off x="1676400" y="5957888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charset="0"/>
                <a:ea typeface="楷体_GB2312" charset="0"/>
              </a:rPr>
              <a:t>第六趟匹配</a:t>
            </a:r>
          </a:p>
        </p:txBody>
      </p:sp>
      <p:sp>
        <p:nvSpPr>
          <p:cNvPr id="153608" name="Text Box 8"/>
          <p:cNvSpPr txBox="1">
            <a:spLocks noChangeArrowheads="1"/>
          </p:cNvSpPr>
          <p:nvPr/>
        </p:nvSpPr>
        <p:spPr bwMode="auto">
          <a:xfrm>
            <a:off x="4114800" y="1376363"/>
            <a:ext cx="360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a b c a b c a c b a b</a:t>
            </a:r>
          </a:p>
        </p:txBody>
      </p:sp>
      <p:sp>
        <p:nvSpPr>
          <p:cNvPr id="153609" name="Text Box 9"/>
          <p:cNvSpPr txBox="1">
            <a:spLocks noChangeArrowheads="1"/>
          </p:cNvSpPr>
          <p:nvPr/>
        </p:nvSpPr>
        <p:spPr bwMode="auto">
          <a:xfrm>
            <a:off x="4114800" y="2249488"/>
            <a:ext cx="360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a b c a b c a c b a b</a:t>
            </a:r>
          </a:p>
        </p:txBody>
      </p:sp>
      <p:sp>
        <p:nvSpPr>
          <p:cNvPr id="153610" name="Text Box 10"/>
          <p:cNvSpPr txBox="1">
            <a:spLocks noChangeArrowheads="1"/>
          </p:cNvSpPr>
          <p:nvPr/>
        </p:nvSpPr>
        <p:spPr bwMode="auto">
          <a:xfrm>
            <a:off x="4114800" y="3316288"/>
            <a:ext cx="360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a b c a b c a c b a b</a:t>
            </a:r>
          </a:p>
        </p:txBody>
      </p:sp>
      <p:sp>
        <p:nvSpPr>
          <p:cNvPr id="153611" name="Text Box 11"/>
          <p:cNvSpPr txBox="1">
            <a:spLocks noChangeArrowheads="1"/>
          </p:cNvSpPr>
          <p:nvPr/>
        </p:nvSpPr>
        <p:spPr bwMode="auto">
          <a:xfrm>
            <a:off x="4114800" y="4154488"/>
            <a:ext cx="360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a b c a b c a c b a b</a:t>
            </a:r>
          </a:p>
        </p:txBody>
      </p:sp>
      <p:sp>
        <p:nvSpPr>
          <p:cNvPr id="153612" name="Text Box 12"/>
          <p:cNvSpPr txBox="1">
            <a:spLocks noChangeArrowheads="1"/>
          </p:cNvSpPr>
          <p:nvPr/>
        </p:nvSpPr>
        <p:spPr bwMode="auto">
          <a:xfrm>
            <a:off x="4114800" y="4992688"/>
            <a:ext cx="360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a b c a b c a c b a b</a:t>
            </a:r>
          </a:p>
        </p:txBody>
      </p:sp>
      <p:sp>
        <p:nvSpPr>
          <p:cNvPr id="153613" name="Text Box 13"/>
          <p:cNvSpPr txBox="1">
            <a:spLocks noChangeArrowheads="1"/>
          </p:cNvSpPr>
          <p:nvPr/>
        </p:nvSpPr>
        <p:spPr bwMode="auto">
          <a:xfrm>
            <a:off x="4114800" y="5907088"/>
            <a:ext cx="360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a b c a b c a c b a b</a:t>
            </a:r>
          </a:p>
        </p:txBody>
      </p:sp>
      <p:sp>
        <p:nvSpPr>
          <p:cNvPr id="153614" name="Text Box 14"/>
          <p:cNvSpPr txBox="1">
            <a:spLocks noChangeArrowheads="1"/>
          </p:cNvSpPr>
          <p:nvPr/>
        </p:nvSpPr>
        <p:spPr bwMode="auto">
          <a:xfrm>
            <a:off x="4114800" y="1639888"/>
            <a:ext cx="1408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c a c</a:t>
            </a:r>
          </a:p>
        </p:txBody>
      </p:sp>
      <p:sp>
        <p:nvSpPr>
          <p:cNvPr id="153615" name="Text Box 15"/>
          <p:cNvSpPr txBox="1">
            <a:spLocks noChangeArrowheads="1"/>
          </p:cNvSpPr>
          <p:nvPr/>
        </p:nvSpPr>
        <p:spPr bwMode="auto">
          <a:xfrm>
            <a:off x="4343400" y="2554288"/>
            <a:ext cx="1408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c a c</a:t>
            </a:r>
          </a:p>
        </p:txBody>
      </p:sp>
      <p:sp>
        <p:nvSpPr>
          <p:cNvPr id="153616" name="Text Box 16"/>
          <p:cNvSpPr txBox="1">
            <a:spLocks noChangeArrowheads="1"/>
          </p:cNvSpPr>
          <p:nvPr/>
        </p:nvSpPr>
        <p:spPr bwMode="auto">
          <a:xfrm>
            <a:off x="4648200" y="3595688"/>
            <a:ext cx="1408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c a c</a:t>
            </a:r>
          </a:p>
        </p:txBody>
      </p:sp>
      <p:sp>
        <p:nvSpPr>
          <p:cNvPr id="153617" name="Text Box 17"/>
          <p:cNvSpPr txBox="1">
            <a:spLocks noChangeArrowheads="1"/>
          </p:cNvSpPr>
          <p:nvPr/>
        </p:nvSpPr>
        <p:spPr bwMode="auto">
          <a:xfrm>
            <a:off x="4906963" y="4433888"/>
            <a:ext cx="1408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c a c</a:t>
            </a:r>
          </a:p>
        </p:txBody>
      </p:sp>
      <p:sp>
        <p:nvSpPr>
          <p:cNvPr id="153618" name="Text Box 18"/>
          <p:cNvSpPr txBox="1">
            <a:spLocks noChangeArrowheads="1"/>
          </p:cNvSpPr>
          <p:nvPr/>
        </p:nvSpPr>
        <p:spPr bwMode="auto">
          <a:xfrm>
            <a:off x="5181600" y="5272088"/>
            <a:ext cx="1408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c a c</a:t>
            </a:r>
          </a:p>
        </p:txBody>
      </p:sp>
      <p:sp>
        <p:nvSpPr>
          <p:cNvPr id="153619" name="Text Box 19"/>
          <p:cNvSpPr txBox="1">
            <a:spLocks noChangeArrowheads="1"/>
          </p:cNvSpPr>
          <p:nvPr/>
        </p:nvSpPr>
        <p:spPr bwMode="auto">
          <a:xfrm>
            <a:off x="5410200" y="6186488"/>
            <a:ext cx="1408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charset="0"/>
              </a:rPr>
              <a:t>a b c a c</a:t>
            </a:r>
          </a:p>
        </p:txBody>
      </p:sp>
      <p:sp>
        <p:nvSpPr>
          <p:cNvPr id="153620" name="Line 20"/>
          <p:cNvSpPr>
            <a:spLocks noChangeShapeType="1"/>
          </p:cNvSpPr>
          <p:nvPr/>
        </p:nvSpPr>
        <p:spPr bwMode="auto">
          <a:xfrm>
            <a:off x="4800600" y="13096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21" name="Line 21"/>
          <p:cNvSpPr>
            <a:spLocks noChangeShapeType="1"/>
          </p:cNvSpPr>
          <p:nvPr/>
        </p:nvSpPr>
        <p:spPr bwMode="auto">
          <a:xfrm>
            <a:off x="4495800" y="21478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22" name="Line 22"/>
          <p:cNvSpPr>
            <a:spLocks noChangeShapeType="1"/>
          </p:cNvSpPr>
          <p:nvPr/>
        </p:nvSpPr>
        <p:spPr bwMode="auto">
          <a:xfrm>
            <a:off x="5867400" y="32146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23" name="Line 23"/>
          <p:cNvSpPr>
            <a:spLocks noChangeShapeType="1"/>
          </p:cNvSpPr>
          <p:nvPr/>
        </p:nvSpPr>
        <p:spPr bwMode="auto">
          <a:xfrm>
            <a:off x="5029200" y="40528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24" name="Line 24"/>
          <p:cNvSpPr>
            <a:spLocks noChangeShapeType="1"/>
          </p:cNvSpPr>
          <p:nvPr/>
        </p:nvSpPr>
        <p:spPr bwMode="auto">
          <a:xfrm>
            <a:off x="533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25" name="Line 25"/>
          <p:cNvSpPr>
            <a:spLocks noChangeShapeType="1"/>
          </p:cNvSpPr>
          <p:nvPr/>
        </p:nvSpPr>
        <p:spPr bwMode="auto">
          <a:xfrm flipH="1">
            <a:off x="6705600" y="5805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26" name="Rectangle 26"/>
          <p:cNvSpPr>
            <a:spLocks noChangeArrowheads="1"/>
          </p:cNvSpPr>
          <p:nvPr/>
        </p:nvSpPr>
        <p:spPr bwMode="auto">
          <a:xfrm>
            <a:off x="13716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kumimoji="1" lang="zh-CN" altLang="en-US" sz="2400" b="1">
                <a:solidFill>
                  <a:srgbClr val="0033CC"/>
                </a:solidFill>
                <a:latin typeface="Times New Roman" charset="0"/>
                <a:ea typeface="楷体_GB2312" charset="0"/>
              </a:rPr>
              <a:t>未改进时的匹配情况：</a:t>
            </a:r>
            <a:endParaRPr kumimoji="1" lang="zh-CN" altLang="en-US" sz="4400" b="1">
              <a:solidFill>
                <a:srgbClr val="0033CC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153627" name="Text Box 27"/>
          <p:cNvSpPr txBox="1">
            <a:spLocks noChangeArrowheads="1"/>
          </p:cNvSpPr>
          <p:nvPr/>
        </p:nvSpPr>
        <p:spPr bwMode="auto">
          <a:xfrm>
            <a:off x="4876800" y="11572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Times New Roman" charset="0"/>
              </a:rPr>
              <a:t>i=3</a:t>
            </a:r>
          </a:p>
        </p:txBody>
      </p:sp>
      <p:sp>
        <p:nvSpPr>
          <p:cNvPr id="153628" name="Text Box 28"/>
          <p:cNvSpPr txBox="1">
            <a:spLocks noChangeArrowheads="1"/>
          </p:cNvSpPr>
          <p:nvPr/>
        </p:nvSpPr>
        <p:spPr bwMode="auto">
          <a:xfrm>
            <a:off x="4572000" y="19954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Times New Roman" charset="0"/>
              </a:rPr>
              <a:t>i=2</a:t>
            </a:r>
          </a:p>
        </p:txBody>
      </p:sp>
      <p:sp>
        <p:nvSpPr>
          <p:cNvPr id="153629" name="Text Box 29"/>
          <p:cNvSpPr txBox="1">
            <a:spLocks noChangeArrowheads="1"/>
          </p:cNvSpPr>
          <p:nvPr/>
        </p:nvSpPr>
        <p:spPr bwMode="auto">
          <a:xfrm>
            <a:off x="5867400" y="30622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Times New Roman" charset="0"/>
              </a:rPr>
              <a:t>i=7</a:t>
            </a:r>
          </a:p>
        </p:txBody>
      </p:sp>
      <p:sp>
        <p:nvSpPr>
          <p:cNvPr id="153630" name="Text Box 30"/>
          <p:cNvSpPr txBox="1">
            <a:spLocks noChangeArrowheads="1"/>
          </p:cNvSpPr>
          <p:nvPr/>
        </p:nvSpPr>
        <p:spPr bwMode="auto">
          <a:xfrm>
            <a:off x="5029200" y="39004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Times New Roman" charset="0"/>
              </a:rPr>
              <a:t>i=4</a:t>
            </a:r>
          </a:p>
        </p:txBody>
      </p:sp>
      <p:sp>
        <p:nvSpPr>
          <p:cNvPr id="153631" name="Text Box 31"/>
          <p:cNvSpPr txBox="1">
            <a:spLocks noChangeArrowheads="1"/>
          </p:cNvSpPr>
          <p:nvPr/>
        </p:nvSpPr>
        <p:spPr bwMode="auto">
          <a:xfrm>
            <a:off x="5334000" y="48148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Times New Roman" charset="0"/>
              </a:rPr>
              <a:t>i=5</a:t>
            </a:r>
          </a:p>
        </p:txBody>
      </p:sp>
      <p:sp>
        <p:nvSpPr>
          <p:cNvPr id="153632" name="Text Box 32"/>
          <p:cNvSpPr txBox="1">
            <a:spLocks noChangeArrowheads="1"/>
          </p:cNvSpPr>
          <p:nvPr/>
        </p:nvSpPr>
        <p:spPr bwMode="auto">
          <a:xfrm>
            <a:off x="6781800" y="572928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Times New Roman" charset="0"/>
              </a:rPr>
              <a:t>i=11</a:t>
            </a:r>
          </a:p>
        </p:txBody>
      </p:sp>
    </p:spTree>
    <p:extLst>
      <p:ext uri="{BB962C8B-B14F-4D97-AF65-F5344CB8AC3E}">
        <p14:creationId xmlns:p14="http://schemas.microsoft.com/office/powerpoint/2010/main" val="182034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charset="0"/>
            </a:endParaRPr>
          </a:p>
        </p:txBody>
      </p:sp>
      <p:grpSp>
        <p:nvGrpSpPr>
          <p:cNvPr id="154627" name="Group 3"/>
          <p:cNvGrpSpPr>
            <a:grpSpLocks/>
          </p:cNvGrpSpPr>
          <p:nvPr/>
        </p:nvGrpSpPr>
        <p:grpSpPr bwMode="auto">
          <a:xfrm>
            <a:off x="1219200" y="1614488"/>
            <a:ext cx="6042025" cy="823912"/>
            <a:chOff x="768" y="912"/>
            <a:chExt cx="3806" cy="519"/>
          </a:xfrm>
        </p:grpSpPr>
        <p:sp>
          <p:nvSpPr>
            <p:cNvPr id="154628" name="Text Box 4"/>
            <p:cNvSpPr txBox="1">
              <a:spLocks noChangeArrowheads="1"/>
            </p:cNvSpPr>
            <p:nvPr/>
          </p:nvSpPr>
          <p:spPr bwMode="auto">
            <a:xfrm>
              <a:off x="768" y="957"/>
              <a:ext cx="10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latin typeface="Times New Roman" charset="0"/>
                </a:rPr>
                <a:t>第一趟匹配</a:t>
              </a:r>
            </a:p>
          </p:txBody>
        </p:sp>
        <p:sp>
          <p:nvSpPr>
            <p:cNvPr id="154629" name="Text Box 5"/>
            <p:cNvSpPr txBox="1">
              <a:spLocks noChangeArrowheads="1"/>
            </p:cNvSpPr>
            <p:nvPr/>
          </p:nvSpPr>
          <p:spPr bwMode="auto">
            <a:xfrm>
              <a:off x="2304" y="938"/>
              <a:ext cx="2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a b a b c a b c a c b a b</a:t>
              </a:r>
            </a:p>
          </p:txBody>
        </p:sp>
        <p:sp>
          <p:nvSpPr>
            <p:cNvPr id="154630" name="Text Box 6"/>
            <p:cNvSpPr txBox="1">
              <a:spLocks noChangeArrowheads="1"/>
            </p:cNvSpPr>
            <p:nvPr/>
          </p:nvSpPr>
          <p:spPr bwMode="auto">
            <a:xfrm>
              <a:off x="2304" y="1104"/>
              <a:ext cx="8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a b c a c</a:t>
              </a:r>
            </a:p>
          </p:txBody>
        </p:sp>
        <p:sp>
          <p:nvSpPr>
            <p:cNvPr id="154631" name="Line 7"/>
            <p:cNvSpPr>
              <a:spLocks noChangeShapeType="1"/>
            </p:cNvSpPr>
            <p:nvPr/>
          </p:nvSpPr>
          <p:spPr bwMode="auto">
            <a:xfrm>
              <a:off x="2736" y="9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632" name="Group 8"/>
          <p:cNvGrpSpPr>
            <a:grpSpLocks/>
          </p:cNvGrpSpPr>
          <p:nvPr/>
        </p:nvGrpSpPr>
        <p:grpSpPr bwMode="auto">
          <a:xfrm>
            <a:off x="1219200" y="3103563"/>
            <a:ext cx="6042025" cy="935037"/>
            <a:chOff x="768" y="1955"/>
            <a:chExt cx="3806" cy="589"/>
          </a:xfrm>
        </p:grpSpPr>
        <p:sp>
          <p:nvSpPr>
            <p:cNvPr id="154633" name="Text Box 9"/>
            <p:cNvSpPr txBox="1">
              <a:spLocks noChangeArrowheads="1"/>
            </p:cNvSpPr>
            <p:nvPr/>
          </p:nvSpPr>
          <p:spPr bwMode="auto">
            <a:xfrm>
              <a:off x="768" y="2009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latin typeface="Times New Roman" charset="0"/>
                </a:rPr>
                <a:t>第二趟匹配</a:t>
              </a:r>
            </a:p>
          </p:txBody>
        </p:sp>
        <p:sp>
          <p:nvSpPr>
            <p:cNvPr id="154634" name="Text Box 10"/>
            <p:cNvSpPr txBox="1">
              <a:spLocks noChangeArrowheads="1"/>
            </p:cNvSpPr>
            <p:nvPr/>
          </p:nvSpPr>
          <p:spPr bwMode="auto">
            <a:xfrm>
              <a:off x="2304" y="2025"/>
              <a:ext cx="2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a b a b c a b c a c b a b</a:t>
              </a:r>
            </a:p>
          </p:txBody>
        </p:sp>
        <p:sp>
          <p:nvSpPr>
            <p:cNvPr id="154635" name="Text Box 11"/>
            <p:cNvSpPr txBox="1">
              <a:spLocks noChangeArrowheads="1"/>
            </p:cNvSpPr>
            <p:nvPr/>
          </p:nvSpPr>
          <p:spPr bwMode="auto">
            <a:xfrm>
              <a:off x="2640" y="2217"/>
              <a:ext cx="8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a b c a c</a:t>
              </a:r>
            </a:p>
          </p:txBody>
        </p:sp>
        <p:sp>
          <p:nvSpPr>
            <p:cNvPr id="154636" name="Line 12"/>
            <p:cNvSpPr>
              <a:spLocks noChangeShapeType="1"/>
            </p:cNvSpPr>
            <p:nvPr/>
          </p:nvSpPr>
          <p:spPr bwMode="auto">
            <a:xfrm>
              <a:off x="2736" y="197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7" name="Line 13"/>
            <p:cNvSpPr>
              <a:spLocks noChangeShapeType="1"/>
            </p:cNvSpPr>
            <p:nvPr/>
          </p:nvSpPr>
          <p:spPr bwMode="auto">
            <a:xfrm>
              <a:off x="2784" y="2025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8" name="Line 14"/>
            <p:cNvSpPr>
              <a:spLocks noChangeShapeType="1"/>
            </p:cNvSpPr>
            <p:nvPr/>
          </p:nvSpPr>
          <p:spPr bwMode="auto">
            <a:xfrm>
              <a:off x="3408" y="195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639" name="Group 15"/>
          <p:cNvGrpSpPr>
            <a:grpSpLocks/>
          </p:cNvGrpSpPr>
          <p:nvPr/>
        </p:nvGrpSpPr>
        <p:grpSpPr bwMode="auto">
          <a:xfrm>
            <a:off x="1219200" y="4862513"/>
            <a:ext cx="6042025" cy="1081087"/>
            <a:chOff x="768" y="3063"/>
            <a:chExt cx="3806" cy="681"/>
          </a:xfrm>
        </p:grpSpPr>
        <p:sp>
          <p:nvSpPr>
            <p:cNvPr id="154640" name="Text Box 16"/>
            <p:cNvSpPr txBox="1">
              <a:spLocks noChangeArrowheads="1"/>
            </p:cNvSpPr>
            <p:nvPr/>
          </p:nvSpPr>
          <p:spPr bwMode="auto">
            <a:xfrm>
              <a:off x="768" y="3143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latin typeface="Times New Roman" charset="0"/>
                </a:rPr>
                <a:t>第三趟匹配</a:t>
              </a:r>
            </a:p>
          </p:txBody>
        </p:sp>
        <p:sp>
          <p:nvSpPr>
            <p:cNvPr id="154641" name="Text Box 17"/>
            <p:cNvSpPr txBox="1">
              <a:spLocks noChangeArrowheads="1"/>
            </p:cNvSpPr>
            <p:nvPr/>
          </p:nvSpPr>
          <p:spPr bwMode="auto">
            <a:xfrm>
              <a:off x="2304" y="3159"/>
              <a:ext cx="2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a b a b c a b c a c b a b</a:t>
              </a:r>
            </a:p>
          </p:txBody>
        </p:sp>
        <p:sp>
          <p:nvSpPr>
            <p:cNvPr id="154642" name="Text Box 18"/>
            <p:cNvSpPr txBox="1">
              <a:spLocks noChangeArrowheads="1"/>
            </p:cNvSpPr>
            <p:nvPr/>
          </p:nvSpPr>
          <p:spPr bwMode="auto">
            <a:xfrm>
              <a:off x="3099" y="3417"/>
              <a:ext cx="9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(a)b c a c</a:t>
              </a:r>
            </a:p>
          </p:txBody>
        </p:sp>
        <p:sp>
          <p:nvSpPr>
            <p:cNvPr id="154643" name="Line 19"/>
            <p:cNvSpPr>
              <a:spLocks noChangeShapeType="1"/>
            </p:cNvSpPr>
            <p:nvPr/>
          </p:nvSpPr>
          <p:spPr bwMode="auto">
            <a:xfrm>
              <a:off x="3408" y="30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4" name="Line 20"/>
            <p:cNvSpPr>
              <a:spLocks noChangeShapeType="1"/>
            </p:cNvSpPr>
            <p:nvPr/>
          </p:nvSpPr>
          <p:spPr bwMode="auto">
            <a:xfrm>
              <a:off x="3456" y="3111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5" name="Line 21"/>
            <p:cNvSpPr>
              <a:spLocks noChangeShapeType="1"/>
            </p:cNvSpPr>
            <p:nvPr/>
          </p:nvSpPr>
          <p:spPr bwMode="auto">
            <a:xfrm>
              <a:off x="3984" y="30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4646" name="Rectangle 22"/>
          <p:cNvSpPr>
            <a:spLocks noChangeArrowheads="1"/>
          </p:cNvSpPr>
          <p:nvPr/>
        </p:nvSpPr>
        <p:spPr bwMode="auto">
          <a:xfrm>
            <a:off x="13716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kumimoji="1" lang="zh-CN" altLang="en-US" sz="2800" b="1">
                <a:solidFill>
                  <a:srgbClr val="0033CC"/>
                </a:solidFill>
                <a:latin typeface="Times New Roman" charset="0"/>
              </a:rPr>
              <a:t>改进后的匹配情况</a:t>
            </a:r>
            <a:r>
              <a:rPr kumimoji="1" lang="zh-CN" altLang="en-US" sz="2800" b="1">
                <a:latin typeface="Times New Roman" charset="0"/>
              </a:rPr>
              <a:t>：</a:t>
            </a:r>
            <a:endParaRPr kumimoji="1" lang="zh-CN" altLang="en-US" sz="4800">
              <a:solidFill>
                <a:schemeClr val="tx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56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371600" y="2286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  <p:grpSp>
        <p:nvGrpSpPr>
          <p:cNvPr id="133124" name="Group 4"/>
          <p:cNvGrpSpPr>
            <a:grpSpLocks/>
          </p:cNvGrpSpPr>
          <p:nvPr/>
        </p:nvGrpSpPr>
        <p:grpSpPr bwMode="auto">
          <a:xfrm>
            <a:off x="450850" y="1676400"/>
            <a:ext cx="6237288" cy="598488"/>
            <a:chOff x="499" y="1650"/>
            <a:chExt cx="3929" cy="377"/>
          </a:xfrm>
        </p:grpSpPr>
        <p:graphicFrame>
          <p:nvGraphicFramePr>
            <p:cNvPr id="133125" name="Object 5"/>
            <p:cNvGraphicFramePr>
              <a:graphicFrameLocks noChangeAspect="1"/>
            </p:cNvGraphicFramePr>
            <p:nvPr/>
          </p:nvGraphicFramePr>
          <p:xfrm>
            <a:off x="499" y="1650"/>
            <a:ext cx="384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361" name="Clip" r:id="rId3" imgW="861120" imgH="844560" progId="MS_ClipArt_Gallery.5">
                    <p:embed/>
                  </p:oleObj>
                </mc:Choice>
                <mc:Fallback>
                  <p:oleObj name="Clip" r:id="rId3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1650"/>
                          <a:ext cx="384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26" name="Text Box 6"/>
            <p:cNvSpPr txBox="1">
              <a:spLocks noChangeArrowheads="1"/>
            </p:cNvSpPr>
            <p:nvPr/>
          </p:nvSpPr>
          <p:spPr bwMode="auto">
            <a:xfrm>
              <a:off x="924" y="1650"/>
              <a:ext cx="35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charset="0"/>
                </a:rPr>
                <a:t>为什么简单算法时间性能低？</a:t>
              </a:r>
            </a:p>
          </p:txBody>
        </p:sp>
      </p:grpSp>
      <p:sp>
        <p:nvSpPr>
          <p:cNvPr id="133127" name="Rectangle 7"/>
          <p:cNvSpPr>
            <a:spLocks noChangeArrowheads="1"/>
          </p:cNvSpPr>
          <p:nvPr/>
        </p:nvSpPr>
        <p:spPr bwMode="auto">
          <a:xfrm>
            <a:off x="533400" y="2513013"/>
            <a:ext cx="82057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charset="0"/>
              </a:rPr>
              <a:t>在每趟匹配不成功时存在大量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charset="0"/>
              </a:rPr>
              <a:t>回溯</a:t>
            </a:r>
            <a:r>
              <a:rPr kumimoji="1" lang="zh-CN" altLang="en-US" sz="2800" b="1">
                <a:latin typeface="Times New Roman" charset="0"/>
              </a:rPr>
              <a:t>，没有利用已经部分匹配的结果。</a:t>
            </a:r>
            <a:endParaRPr kumimoji="1" lang="zh-CN" altLang="en-US" sz="2800" b="1">
              <a:latin typeface="楷体_GB2312" charset="0"/>
              <a:ea typeface="楷体_GB2312" charset="0"/>
            </a:endParaRPr>
          </a:p>
        </p:txBody>
      </p:sp>
      <p:grpSp>
        <p:nvGrpSpPr>
          <p:cNvPr id="133128" name="Group 8"/>
          <p:cNvGrpSpPr>
            <a:grpSpLocks/>
          </p:cNvGrpSpPr>
          <p:nvPr/>
        </p:nvGrpSpPr>
        <p:grpSpPr bwMode="auto">
          <a:xfrm>
            <a:off x="463550" y="3722688"/>
            <a:ext cx="6237288" cy="598487"/>
            <a:chOff x="499" y="1650"/>
            <a:chExt cx="3929" cy="377"/>
          </a:xfrm>
        </p:grpSpPr>
        <p:graphicFrame>
          <p:nvGraphicFramePr>
            <p:cNvPr id="133129" name="Object 9"/>
            <p:cNvGraphicFramePr>
              <a:graphicFrameLocks noChangeAspect="1"/>
            </p:cNvGraphicFramePr>
            <p:nvPr/>
          </p:nvGraphicFramePr>
          <p:xfrm>
            <a:off x="499" y="1650"/>
            <a:ext cx="384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362" name="Clip" r:id="rId5" imgW="861120" imgH="844560" progId="MS_ClipArt_Gallery.5">
                    <p:embed/>
                  </p:oleObj>
                </mc:Choice>
                <mc:Fallback>
                  <p:oleObj name="Clip" r:id="rId5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1650"/>
                          <a:ext cx="384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30" name="Text Box 10"/>
            <p:cNvSpPr txBox="1">
              <a:spLocks noChangeArrowheads="1"/>
            </p:cNvSpPr>
            <p:nvPr/>
          </p:nvSpPr>
          <p:spPr bwMode="auto">
            <a:xfrm>
              <a:off x="924" y="1650"/>
              <a:ext cx="35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charset="0"/>
                </a:rPr>
                <a:t>如何在匹配不成功时主串不回溯？</a:t>
              </a:r>
            </a:p>
          </p:txBody>
        </p:sp>
      </p:grpSp>
      <p:sp>
        <p:nvSpPr>
          <p:cNvPr id="133131" name="Rectangle 11"/>
          <p:cNvSpPr>
            <a:spLocks noChangeArrowheads="1"/>
          </p:cNvSpPr>
          <p:nvPr/>
        </p:nvSpPr>
        <p:spPr bwMode="auto">
          <a:xfrm>
            <a:off x="577850" y="4559300"/>
            <a:ext cx="8205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charset="0"/>
              </a:rPr>
              <a:t>主串不回溯，模式就需要向右滑动一段距离。</a:t>
            </a:r>
            <a:endParaRPr kumimoji="1" lang="zh-CN" altLang="en-US" sz="2800" b="1">
              <a:latin typeface="楷体_GB2312" charset="0"/>
              <a:ea typeface="楷体_GB2312" charset="0"/>
            </a:endParaRPr>
          </a:p>
        </p:txBody>
      </p:sp>
      <p:grpSp>
        <p:nvGrpSpPr>
          <p:cNvPr id="133132" name="Group 12"/>
          <p:cNvGrpSpPr>
            <a:grpSpLocks/>
          </p:cNvGrpSpPr>
          <p:nvPr/>
        </p:nvGrpSpPr>
        <p:grpSpPr bwMode="auto">
          <a:xfrm>
            <a:off x="508000" y="5378450"/>
            <a:ext cx="6237288" cy="598488"/>
            <a:chOff x="499" y="1650"/>
            <a:chExt cx="3929" cy="377"/>
          </a:xfrm>
        </p:grpSpPr>
        <p:graphicFrame>
          <p:nvGraphicFramePr>
            <p:cNvPr id="133133" name="Object 13"/>
            <p:cNvGraphicFramePr>
              <a:graphicFrameLocks noChangeAspect="1"/>
            </p:cNvGraphicFramePr>
            <p:nvPr/>
          </p:nvGraphicFramePr>
          <p:xfrm>
            <a:off x="499" y="1650"/>
            <a:ext cx="384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363" name="Clip" r:id="rId6" imgW="861120" imgH="844560" progId="MS_ClipArt_Gallery.5">
                    <p:embed/>
                  </p:oleObj>
                </mc:Choice>
                <mc:Fallback>
                  <p:oleObj name="Clip" r:id="rId6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1650"/>
                          <a:ext cx="384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34" name="Text Box 14"/>
            <p:cNvSpPr txBox="1">
              <a:spLocks noChangeArrowheads="1"/>
            </p:cNvSpPr>
            <p:nvPr/>
          </p:nvSpPr>
          <p:spPr bwMode="auto">
            <a:xfrm>
              <a:off x="924" y="1650"/>
              <a:ext cx="35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charset="0"/>
                </a:rPr>
                <a:t>如何确定模式的滑动距离？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136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7" grpId="0" autoUpdateAnimBg="0"/>
      <p:bldP spid="13313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ChangeArrowheads="1"/>
          </p:cNvSpPr>
          <p:nvPr/>
        </p:nvSpPr>
        <p:spPr bwMode="auto">
          <a:xfrm>
            <a:off x="1106488" y="2846388"/>
            <a:ext cx="7154862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>
                <a:latin typeface="楷体_GB2312" charset="0"/>
                <a:ea typeface="楷体_GB2312" charset="0"/>
              </a:rPr>
              <a:t>需要讨论两个问题：</a:t>
            </a:r>
          </a:p>
          <a:p>
            <a:pPr>
              <a:lnSpc>
                <a:spcPct val="150000"/>
              </a:lnSpc>
            </a:pPr>
            <a:r>
              <a:rPr kumimoji="1" lang="zh-CN" altLang="en-US" sz="2800" b="1">
                <a:latin typeface="楷体_GB2312" charset="0"/>
                <a:ea typeface="楷体_GB2312" charset="0"/>
              </a:rPr>
              <a:t>①如何由当前部分匹配结果确定模式向右滑动的新比较起点</a:t>
            </a:r>
            <a:r>
              <a:rPr kumimoji="1" lang="en-US" altLang="zh-CN" sz="2800" b="1">
                <a:latin typeface="楷体_GB2312" charset="0"/>
                <a:ea typeface="楷体_GB2312" charset="0"/>
              </a:rPr>
              <a:t>k</a:t>
            </a:r>
            <a:r>
              <a:rPr kumimoji="1" lang="zh-CN" altLang="en-US" sz="2800" b="1">
                <a:latin typeface="楷体_GB2312" charset="0"/>
                <a:ea typeface="楷体_GB2312" charset="0"/>
              </a:rPr>
              <a:t>？</a:t>
            </a:r>
          </a:p>
          <a:p>
            <a:pPr>
              <a:lnSpc>
                <a:spcPct val="150000"/>
              </a:lnSpc>
            </a:pPr>
            <a:r>
              <a:rPr kumimoji="1" lang="zh-CN" altLang="en-US" sz="2800" b="1">
                <a:latin typeface="楷体_GB2312" charset="0"/>
                <a:ea typeface="楷体_GB2312" charset="0"/>
              </a:rPr>
              <a:t>②模式应该向右滑多远才是最高效率的</a:t>
            </a:r>
            <a:r>
              <a:rPr kumimoji="1" lang="en-US" altLang="zh-CN" sz="2800" b="1">
                <a:latin typeface="楷体_GB2312" charset="0"/>
                <a:ea typeface="楷体_GB2312" charset="0"/>
              </a:rPr>
              <a:t>?</a:t>
            </a: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1106488" y="1676400"/>
            <a:ext cx="7154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800" b="1">
                <a:latin typeface="楷体_GB2312" charset="0"/>
                <a:ea typeface="楷体_GB2312" charset="0"/>
              </a:rPr>
              <a:t>结论： </a:t>
            </a:r>
            <a:r>
              <a:rPr kumimoji="1" lang="en-US" altLang="zh-CN" sz="2800" b="1">
                <a:latin typeface="楷体_GB2312" charset="0"/>
                <a:ea typeface="楷体_GB2312" charset="0"/>
              </a:rPr>
              <a:t>i</a:t>
            </a:r>
            <a:r>
              <a:rPr kumimoji="1" lang="zh-CN" altLang="en-US" sz="2800" b="1">
                <a:latin typeface="楷体_GB2312" charset="0"/>
                <a:ea typeface="楷体_GB2312" charset="0"/>
              </a:rPr>
              <a:t>可以不回溯，模式向右滑动到的新比较起点</a:t>
            </a:r>
            <a:r>
              <a:rPr kumimoji="1" lang="en-US" altLang="zh-CN" sz="2800" b="1">
                <a:latin typeface="楷体_GB2312" charset="0"/>
                <a:ea typeface="楷体_GB2312" charset="0"/>
              </a:rPr>
              <a:t>k</a:t>
            </a:r>
            <a:r>
              <a:rPr kumimoji="1" lang="en-US" altLang="zh-CN" sz="2800"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2800" b="1">
                <a:latin typeface="楷体_GB2312" charset="0"/>
                <a:ea typeface="楷体_GB2312" charset="0"/>
              </a:rPr>
              <a:t>，并且</a:t>
            </a:r>
            <a:r>
              <a:rPr kumimoji="1" lang="en-US" altLang="zh-CN" sz="2800" b="1">
                <a:latin typeface="楷体_GB2312" charset="0"/>
                <a:ea typeface="楷体_GB2312" charset="0"/>
              </a:rPr>
              <a:t>k</a:t>
            </a:r>
            <a:r>
              <a:rPr kumimoji="1" lang="zh-CN" altLang="en-US" sz="2800" b="1">
                <a:latin typeface="楷体_GB2312" charset="0"/>
                <a:ea typeface="楷体_GB2312" charset="0"/>
              </a:rPr>
              <a:t>仅与模式串</a:t>
            </a:r>
            <a:r>
              <a:rPr kumimoji="1" lang="en-US" altLang="zh-CN" sz="2800" b="1">
                <a:latin typeface="楷体_GB2312" charset="0"/>
                <a:ea typeface="楷体_GB2312" charset="0"/>
              </a:rPr>
              <a:t>T</a:t>
            </a:r>
            <a:r>
              <a:rPr kumimoji="1" lang="zh-CN" altLang="en-US" sz="2800" b="1">
                <a:latin typeface="楷体_GB2312" charset="0"/>
                <a:ea typeface="楷体_GB2312" charset="0"/>
              </a:rPr>
              <a:t>有关！</a:t>
            </a:r>
          </a:p>
        </p:txBody>
      </p:sp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1447800" y="3048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5878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ChangeArrowheads="1"/>
          </p:cNvSpPr>
          <p:nvPr/>
        </p:nvSpPr>
        <p:spPr bwMode="auto">
          <a:xfrm>
            <a:off x="230188" y="18621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charset="0"/>
                <a:ea typeface="楷体_GB2312" charset="0"/>
              </a:rPr>
              <a:t>请抓住部分匹配时的两个特征：</a:t>
            </a:r>
            <a:endParaRPr kumimoji="1" lang="zh-CN" altLang="en-US" sz="2400" b="1">
              <a:solidFill>
                <a:srgbClr val="66FF33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135171" name="Rectangle 3"/>
          <p:cNvSpPr>
            <a:spLocks noChangeArrowheads="1"/>
          </p:cNvSpPr>
          <p:nvPr/>
        </p:nvSpPr>
        <p:spPr bwMode="auto">
          <a:xfrm>
            <a:off x="188913" y="4221163"/>
            <a:ext cx="8370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charset="0"/>
              </a:rPr>
              <a:t>（</a:t>
            </a:r>
            <a:r>
              <a:rPr kumimoji="1" lang="en-US" altLang="zh-CN" sz="2400" b="1">
                <a:latin typeface="Times New Roman" charset="0"/>
              </a:rPr>
              <a:t>1</a:t>
            </a:r>
            <a:r>
              <a:rPr kumimoji="1" lang="zh-CN" altLang="en-US" sz="2400" b="1">
                <a:latin typeface="Times New Roman" charset="0"/>
              </a:rPr>
              <a:t>）设模式滑动到第</a:t>
            </a:r>
            <a:r>
              <a:rPr kumimoji="1" lang="en-US" altLang="zh-CN" sz="2400" b="1" i="1">
                <a:latin typeface="Times New Roman" charset="0"/>
              </a:rPr>
              <a:t>k</a:t>
            </a:r>
            <a:r>
              <a:rPr kumimoji="1" lang="zh-CN" altLang="en-US" sz="2400" b="1">
                <a:latin typeface="Times New Roman" charset="0"/>
              </a:rPr>
              <a:t>个字符，则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T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1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～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T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</a:t>
            </a:r>
            <a:r>
              <a:rPr kumimoji="1" lang="en-US" altLang="zh-CN" sz="2400">
                <a:latin typeface="Times New Roman" charset="0"/>
              </a:rPr>
              <a:t>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＝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S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-(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-1)</a:t>
            </a:r>
            <a:r>
              <a:rPr kumimoji="1" lang="en-US" altLang="zh-CN" sz="2400" b="1">
                <a:latin typeface="Times New Roman" charset="0"/>
              </a:rPr>
              <a:t>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～</a:t>
            </a:r>
            <a:r>
              <a:rPr kumimoji="1" lang="zh-CN" altLang="en-US" sz="2400" b="1">
                <a:latin typeface="Times New Roman" charset="0"/>
              </a:rPr>
              <a:t> </a:t>
            </a:r>
            <a:r>
              <a:rPr kumimoji="1" lang="en-US" altLang="zh-CN" sz="2400" b="1">
                <a:latin typeface="Times New Roman" charset="0"/>
              </a:rPr>
              <a:t>S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</a:t>
            </a:r>
            <a:r>
              <a:rPr kumimoji="1" lang="en-US" altLang="zh-CN" sz="2400" b="1">
                <a:solidFill>
                  <a:schemeClr val="accent1"/>
                </a:solidFill>
                <a:latin typeface="Times New Roman" charset="0"/>
              </a:rPr>
              <a:t>               </a:t>
            </a:r>
          </a:p>
        </p:txBody>
      </p:sp>
      <p:grpSp>
        <p:nvGrpSpPr>
          <p:cNvPr id="135172" name="Group 4"/>
          <p:cNvGrpSpPr>
            <a:grpSpLocks/>
          </p:cNvGrpSpPr>
          <p:nvPr/>
        </p:nvGrpSpPr>
        <p:grpSpPr bwMode="auto">
          <a:xfrm>
            <a:off x="152400" y="2209800"/>
            <a:ext cx="4416425" cy="1752600"/>
            <a:chOff x="108" y="1401"/>
            <a:chExt cx="2782" cy="1104"/>
          </a:xfrm>
        </p:grpSpPr>
        <p:sp>
          <p:nvSpPr>
            <p:cNvPr id="135173" name="Rectangle 5"/>
            <p:cNvSpPr>
              <a:spLocks noChangeArrowheads="1"/>
            </p:cNvSpPr>
            <p:nvPr/>
          </p:nvSpPr>
          <p:spPr bwMode="auto">
            <a:xfrm>
              <a:off x="108" y="1689"/>
              <a:ext cx="27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  <a:ea typeface="黑体" charset="-122"/>
                </a:rPr>
                <a:t>S=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a b a b c</a:t>
              </a:r>
              <a:r>
                <a:rPr kumimoji="1" lang="en-US" altLang="zh-CN" sz="2800" b="1">
                  <a:solidFill>
                    <a:schemeClr val="accent2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rgbClr val="FF00FF"/>
                  </a:solidFill>
                  <a:latin typeface="Times New Roman" charset="0"/>
                  <a:ea typeface="黑体" charset="-122"/>
                </a:rPr>
                <a:t>a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chemeClr val="accent1"/>
                  </a:solidFill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c a c b a b</a:t>
              </a:r>
              <a:r>
                <a:rPr kumimoji="1" lang="en-US" altLang="zh-CN" sz="2400" b="1">
                  <a:latin typeface="Times New Roman" charset="0"/>
                </a:rPr>
                <a:t>"</a:t>
              </a:r>
              <a:endParaRPr kumimoji="1" lang="en-US" altLang="zh-CN" sz="2800" b="1">
                <a:latin typeface="Times New Roman" charset="0"/>
                <a:ea typeface="黑体" charset="-122"/>
              </a:endParaRPr>
            </a:p>
          </p:txBody>
        </p:sp>
        <p:sp>
          <p:nvSpPr>
            <p:cNvPr id="135174" name="Rectangle 6"/>
            <p:cNvSpPr>
              <a:spLocks noChangeArrowheads="1"/>
            </p:cNvSpPr>
            <p:nvPr/>
          </p:nvSpPr>
          <p:spPr bwMode="auto">
            <a:xfrm>
              <a:off x="469" y="1898"/>
              <a:ext cx="15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T</a:t>
              </a:r>
              <a:r>
                <a:rPr kumimoji="1" lang="en-US" altLang="zh-CN" sz="2800" b="1">
                  <a:latin typeface="宋体" charset="-122"/>
                </a:rPr>
                <a:t>=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r>
                <a:rPr kumimoji="1" lang="en-US" altLang="zh-CN" sz="2800" b="1">
                  <a:solidFill>
                    <a:srgbClr val="FF00FF"/>
                  </a:solidFill>
                  <a:latin typeface="Times New Roman" charset="0"/>
                  <a:ea typeface="黑体" charset="-122"/>
                </a:rPr>
                <a:t>a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chemeClr val="accent1"/>
                  </a:solidFill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c a c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endParaRPr kumimoji="1" lang="en-US" altLang="zh-CN" sz="2800" b="1">
                <a:latin typeface="宋体" charset="-122"/>
              </a:endParaRPr>
            </a:p>
          </p:txBody>
        </p:sp>
        <p:grpSp>
          <p:nvGrpSpPr>
            <p:cNvPr id="135175" name="Group 7"/>
            <p:cNvGrpSpPr>
              <a:grpSpLocks/>
            </p:cNvGrpSpPr>
            <p:nvPr/>
          </p:nvGrpSpPr>
          <p:grpSpPr bwMode="auto">
            <a:xfrm>
              <a:off x="1542" y="1401"/>
              <a:ext cx="192" cy="336"/>
              <a:chOff x="1593" y="624"/>
              <a:chExt cx="192" cy="336"/>
            </a:xfrm>
          </p:grpSpPr>
          <p:sp>
            <p:nvSpPr>
              <p:cNvPr id="135176" name="Rectangle 8"/>
              <p:cNvSpPr>
                <a:spLocks noChangeArrowheads="1"/>
              </p:cNvSpPr>
              <p:nvPr/>
            </p:nvSpPr>
            <p:spPr bwMode="auto">
              <a:xfrm>
                <a:off x="1593" y="62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rgbClr val="FF3300"/>
                    </a:solidFill>
                    <a:latin typeface="Times New Roman" charset="0"/>
                    <a:ea typeface="楷体_GB2312" charset="0"/>
                  </a:rPr>
                  <a:t>i</a:t>
                </a:r>
              </a:p>
            </p:txBody>
          </p:sp>
          <p:sp>
            <p:nvSpPr>
              <p:cNvPr id="135177" name="Line 9"/>
              <p:cNvSpPr>
                <a:spLocks noChangeShapeType="1"/>
              </p:cNvSpPr>
              <p:nvPr/>
            </p:nvSpPr>
            <p:spPr bwMode="auto">
              <a:xfrm>
                <a:off x="1681" y="81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5178" name="Group 10"/>
            <p:cNvGrpSpPr>
              <a:grpSpLocks/>
            </p:cNvGrpSpPr>
            <p:nvPr/>
          </p:nvGrpSpPr>
          <p:grpSpPr bwMode="auto">
            <a:xfrm>
              <a:off x="1012" y="2177"/>
              <a:ext cx="202" cy="328"/>
              <a:chOff x="1063" y="1400"/>
              <a:chExt cx="202" cy="328"/>
            </a:xfrm>
          </p:grpSpPr>
          <p:sp>
            <p:nvSpPr>
              <p:cNvPr id="135179" name="Rectangle 11"/>
              <p:cNvSpPr>
                <a:spLocks noChangeArrowheads="1"/>
              </p:cNvSpPr>
              <p:nvPr/>
            </p:nvSpPr>
            <p:spPr bwMode="auto">
              <a:xfrm>
                <a:off x="1063" y="1497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chemeClr val="accent1"/>
                    </a:solidFill>
                    <a:latin typeface="Times New Roman" charset="0"/>
                    <a:ea typeface="楷体_GB2312" charset="0"/>
                  </a:rPr>
                  <a:t>k</a:t>
                </a:r>
              </a:p>
            </p:txBody>
          </p:sp>
          <p:sp>
            <p:nvSpPr>
              <p:cNvPr id="135180" name="Line 12"/>
              <p:cNvSpPr>
                <a:spLocks noChangeShapeType="1"/>
              </p:cNvSpPr>
              <p:nvPr/>
            </p:nvSpPr>
            <p:spPr bwMode="auto">
              <a:xfrm flipV="1">
                <a:off x="1169" y="140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5181" name="Group 13"/>
            <p:cNvGrpSpPr>
              <a:grpSpLocks/>
            </p:cNvGrpSpPr>
            <p:nvPr/>
          </p:nvGrpSpPr>
          <p:grpSpPr bwMode="auto">
            <a:xfrm>
              <a:off x="1490" y="2172"/>
              <a:ext cx="202" cy="328"/>
              <a:chOff x="1541" y="1395"/>
              <a:chExt cx="202" cy="328"/>
            </a:xfrm>
          </p:grpSpPr>
          <p:sp>
            <p:nvSpPr>
              <p:cNvPr id="135182" name="Rectangle 14"/>
              <p:cNvSpPr>
                <a:spLocks noChangeArrowheads="1"/>
              </p:cNvSpPr>
              <p:nvPr/>
            </p:nvSpPr>
            <p:spPr bwMode="auto">
              <a:xfrm>
                <a:off x="1541" y="1492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rgbClr val="FF3300"/>
                    </a:solidFill>
                    <a:latin typeface="Times New Roman" charset="0"/>
                    <a:ea typeface="楷体_GB2312" charset="0"/>
                  </a:rPr>
                  <a:t>j</a:t>
                </a:r>
              </a:p>
            </p:txBody>
          </p:sp>
          <p:sp>
            <p:nvSpPr>
              <p:cNvPr id="135183" name="Line 15"/>
              <p:cNvSpPr>
                <a:spLocks noChangeShapeType="1"/>
              </p:cNvSpPr>
              <p:nvPr/>
            </p:nvSpPr>
            <p:spPr bwMode="auto">
              <a:xfrm flipV="1">
                <a:off x="1667" y="1395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5184" name="Group 16"/>
          <p:cNvGrpSpPr>
            <a:grpSpLocks/>
          </p:cNvGrpSpPr>
          <p:nvPr/>
        </p:nvGrpSpPr>
        <p:grpSpPr bwMode="auto">
          <a:xfrm>
            <a:off x="4608513" y="2295525"/>
            <a:ext cx="4635500" cy="1719263"/>
            <a:chOff x="2884" y="676"/>
            <a:chExt cx="2920" cy="1083"/>
          </a:xfrm>
        </p:grpSpPr>
        <p:sp>
          <p:nvSpPr>
            <p:cNvPr id="135185" name="Rectangle 17"/>
            <p:cNvSpPr>
              <a:spLocks noChangeArrowheads="1"/>
            </p:cNvSpPr>
            <p:nvPr/>
          </p:nvSpPr>
          <p:spPr bwMode="auto">
            <a:xfrm>
              <a:off x="2884" y="941"/>
              <a:ext cx="2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  <a:ea typeface="黑体" charset="-122"/>
                </a:rPr>
                <a:t>S="a b a b c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rgbClr val="FF00FF"/>
                  </a:solidFill>
                  <a:latin typeface="Times New Roman" charset="0"/>
                  <a:ea typeface="黑体" charset="-122"/>
                </a:rPr>
                <a:t>a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chemeClr val="accent1"/>
                  </a:solidFill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 c a c b a b"</a:t>
              </a:r>
            </a:p>
          </p:txBody>
        </p:sp>
        <p:sp>
          <p:nvSpPr>
            <p:cNvPr id="135186" name="Rectangle 18"/>
            <p:cNvSpPr>
              <a:spLocks noChangeArrowheads="1"/>
            </p:cNvSpPr>
            <p:nvPr/>
          </p:nvSpPr>
          <p:spPr bwMode="auto">
            <a:xfrm>
              <a:off x="3735" y="1146"/>
              <a:ext cx="14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T</a:t>
              </a:r>
              <a:r>
                <a:rPr kumimoji="1" lang="en-US" altLang="zh-CN" sz="2800" b="1">
                  <a:latin typeface="宋体" charset="-122"/>
                </a:rPr>
                <a:t>=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r>
                <a:rPr kumimoji="1" lang="en-US" altLang="zh-CN" sz="2800" b="1">
                  <a:solidFill>
                    <a:srgbClr val="FF00FF"/>
                  </a:solidFill>
                  <a:latin typeface="Times New Roman" charset="0"/>
                  <a:ea typeface="黑体" charset="-122"/>
                </a:rPr>
                <a:t>a </a:t>
              </a:r>
              <a:r>
                <a:rPr kumimoji="1" lang="en-US" altLang="zh-CN" sz="2800" b="1">
                  <a:solidFill>
                    <a:schemeClr val="accent1"/>
                  </a:solidFill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c a c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endParaRPr kumimoji="1" lang="en-US" altLang="zh-CN" sz="2800" b="1">
                <a:latin typeface="宋体" charset="-122"/>
              </a:endParaRPr>
            </a:p>
          </p:txBody>
        </p:sp>
        <p:grpSp>
          <p:nvGrpSpPr>
            <p:cNvPr id="135187" name="Group 19"/>
            <p:cNvGrpSpPr>
              <a:grpSpLocks/>
            </p:cNvGrpSpPr>
            <p:nvPr/>
          </p:nvGrpSpPr>
          <p:grpSpPr bwMode="auto">
            <a:xfrm>
              <a:off x="4307" y="676"/>
              <a:ext cx="192" cy="336"/>
              <a:chOff x="1593" y="624"/>
              <a:chExt cx="192" cy="336"/>
            </a:xfrm>
          </p:grpSpPr>
          <p:sp>
            <p:nvSpPr>
              <p:cNvPr id="135188" name="Rectangle 20"/>
              <p:cNvSpPr>
                <a:spLocks noChangeArrowheads="1"/>
              </p:cNvSpPr>
              <p:nvPr/>
            </p:nvSpPr>
            <p:spPr bwMode="auto">
              <a:xfrm>
                <a:off x="1593" y="62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rgbClr val="FF3300"/>
                    </a:solidFill>
                    <a:latin typeface="Times New Roman" charset="0"/>
                    <a:ea typeface="楷体_GB2312" charset="0"/>
                  </a:rPr>
                  <a:t>i</a:t>
                </a:r>
              </a:p>
            </p:txBody>
          </p:sp>
          <p:sp>
            <p:nvSpPr>
              <p:cNvPr id="135189" name="Line 21"/>
              <p:cNvSpPr>
                <a:spLocks noChangeShapeType="1"/>
              </p:cNvSpPr>
              <p:nvPr/>
            </p:nvSpPr>
            <p:spPr bwMode="auto">
              <a:xfrm>
                <a:off x="1681" y="81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5190" name="Group 22"/>
            <p:cNvGrpSpPr>
              <a:grpSpLocks/>
            </p:cNvGrpSpPr>
            <p:nvPr/>
          </p:nvGrpSpPr>
          <p:grpSpPr bwMode="auto">
            <a:xfrm>
              <a:off x="4307" y="1431"/>
              <a:ext cx="202" cy="328"/>
              <a:chOff x="1063" y="1400"/>
              <a:chExt cx="202" cy="328"/>
            </a:xfrm>
          </p:grpSpPr>
          <p:sp>
            <p:nvSpPr>
              <p:cNvPr id="135191" name="Rectangle 23"/>
              <p:cNvSpPr>
                <a:spLocks noChangeArrowheads="1"/>
              </p:cNvSpPr>
              <p:nvPr/>
            </p:nvSpPr>
            <p:spPr bwMode="auto">
              <a:xfrm>
                <a:off x="1063" y="1497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chemeClr val="accent1"/>
                    </a:solidFill>
                    <a:latin typeface="Times New Roman" charset="0"/>
                    <a:ea typeface="楷体_GB2312" charset="0"/>
                  </a:rPr>
                  <a:t>k</a:t>
                </a:r>
              </a:p>
            </p:txBody>
          </p:sp>
          <p:sp>
            <p:nvSpPr>
              <p:cNvPr id="135192" name="Line 24"/>
              <p:cNvSpPr>
                <a:spLocks noChangeShapeType="1"/>
              </p:cNvSpPr>
              <p:nvPr/>
            </p:nvSpPr>
            <p:spPr bwMode="auto">
              <a:xfrm flipV="1">
                <a:off x="1169" y="140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5194" name="Text Box 26"/>
          <p:cNvSpPr txBox="1">
            <a:spLocks noChangeArrowheads="1"/>
          </p:cNvSpPr>
          <p:nvPr/>
        </p:nvSpPr>
        <p:spPr bwMode="auto">
          <a:xfrm>
            <a:off x="1447800" y="3048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23189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230188" y="18621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charset="0"/>
                <a:ea typeface="楷体_GB2312" charset="0"/>
              </a:rPr>
              <a:t>请抓住部分匹配时的两个特征：</a:t>
            </a:r>
            <a:endParaRPr kumimoji="1" lang="zh-CN" altLang="en-US" sz="2400" b="1">
              <a:solidFill>
                <a:srgbClr val="66FF33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481013" y="5429250"/>
            <a:ext cx="84582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kumimoji="1" lang="zh-CN" altLang="en-US" sz="2800" b="1">
                <a:latin typeface="Times New Roman" charset="0"/>
                <a:ea typeface="楷体_GB2312" charset="0"/>
              </a:rPr>
              <a:t>两式联立可得：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～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-1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j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-(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-1)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～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-1</a:t>
            </a:r>
            <a:endParaRPr kumimoji="1" lang="en-US" altLang="zh-CN" sz="2800" b="1">
              <a:latin typeface="Times New Roman" charset="0"/>
              <a:ea typeface="楷体_GB2312" charset="0"/>
            </a:endParaRP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177800" y="4781550"/>
            <a:ext cx="769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charset="0"/>
              </a:rPr>
              <a:t>（</a:t>
            </a:r>
            <a:r>
              <a:rPr kumimoji="1" lang="en-US" altLang="zh-CN" sz="2400" b="1">
                <a:latin typeface="Times New Roman" charset="0"/>
              </a:rPr>
              <a:t>2</a:t>
            </a:r>
            <a:r>
              <a:rPr kumimoji="1" lang="zh-CN" altLang="en-US" sz="2400" b="1">
                <a:latin typeface="Times New Roman" charset="0"/>
              </a:rPr>
              <a:t>）则</a:t>
            </a:r>
            <a:r>
              <a:rPr kumimoji="1" lang="en-US" altLang="zh-CN" sz="2400" b="1">
                <a:latin typeface="Times New Roman" charset="0"/>
              </a:rPr>
              <a:t>T</a:t>
            </a:r>
            <a:r>
              <a:rPr kumimoji="1" lang="en-US" altLang="zh-CN" sz="2400" b="1" i="1" baseline="-25000">
                <a:latin typeface="Times New Roman" charset="0"/>
              </a:rPr>
              <a:t>j</a:t>
            </a:r>
            <a:r>
              <a:rPr kumimoji="1" lang="en-US" altLang="zh-CN" sz="2400" b="1" baseline="-25000">
                <a:latin typeface="Times New Roman" charset="0"/>
              </a:rPr>
              <a:t>-(</a:t>
            </a:r>
            <a:r>
              <a:rPr kumimoji="1" lang="en-US" altLang="zh-CN" sz="2400" b="1" i="1" baseline="-25000">
                <a:latin typeface="Times New Roman" charset="0"/>
              </a:rPr>
              <a:t>k</a:t>
            </a:r>
            <a:r>
              <a:rPr kumimoji="1" lang="en-US" altLang="zh-CN" sz="2400" b="1" baseline="-25000">
                <a:latin typeface="Times New Roman" charset="0"/>
              </a:rPr>
              <a:t>-1) </a:t>
            </a:r>
            <a:r>
              <a:rPr kumimoji="1" lang="zh-CN" altLang="en-US" sz="2400" b="1">
                <a:latin typeface="Times New Roman" charset="0"/>
              </a:rPr>
              <a:t>～</a:t>
            </a:r>
            <a:r>
              <a:rPr kumimoji="1" lang="zh-CN" altLang="en-US" sz="2400" b="1" baseline="-25000">
                <a:latin typeface="Times New Roman" charset="0"/>
              </a:rPr>
              <a:t> </a:t>
            </a:r>
            <a:r>
              <a:rPr kumimoji="1" lang="en-US" altLang="zh-CN" sz="2400" b="1">
                <a:latin typeface="Times New Roman" charset="0"/>
              </a:rPr>
              <a:t>T</a:t>
            </a:r>
            <a:r>
              <a:rPr kumimoji="1" lang="en-US" altLang="zh-CN" sz="2400" b="1" i="1" baseline="-25000">
                <a:latin typeface="Times New Roman" charset="0"/>
              </a:rPr>
              <a:t>j</a:t>
            </a:r>
            <a:r>
              <a:rPr kumimoji="1" lang="en-US" altLang="zh-CN" sz="2400" b="1" baseline="-25000">
                <a:latin typeface="Times New Roman" charset="0"/>
              </a:rPr>
              <a:t>-1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＝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S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-(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-1)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～</a:t>
            </a:r>
            <a:r>
              <a:rPr kumimoji="1" lang="zh-CN" altLang="en-US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 </a:t>
            </a:r>
            <a:r>
              <a:rPr kumimoji="1" lang="en-US" altLang="zh-CN" sz="2400" b="1">
                <a:latin typeface="Times New Roman" charset="0"/>
              </a:rPr>
              <a:t>S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</a:t>
            </a:r>
          </a:p>
        </p:txBody>
      </p:sp>
      <p:grpSp>
        <p:nvGrpSpPr>
          <p:cNvPr id="136197" name="Group 5"/>
          <p:cNvGrpSpPr>
            <a:grpSpLocks/>
          </p:cNvGrpSpPr>
          <p:nvPr/>
        </p:nvGrpSpPr>
        <p:grpSpPr bwMode="auto">
          <a:xfrm>
            <a:off x="171450" y="2224088"/>
            <a:ext cx="4416425" cy="1752600"/>
            <a:chOff x="108" y="1401"/>
            <a:chExt cx="2782" cy="1104"/>
          </a:xfrm>
        </p:grpSpPr>
        <p:sp>
          <p:nvSpPr>
            <p:cNvPr id="136198" name="Rectangle 6"/>
            <p:cNvSpPr>
              <a:spLocks noChangeArrowheads="1"/>
            </p:cNvSpPr>
            <p:nvPr/>
          </p:nvSpPr>
          <p:spPr bwMode="auto">
            <a:xfrm>
              <a:off x="108" y="1689"/>
              <a:ext cx="27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  <a:ea typeface="黑体" charset="-122"/>
                </a:rPr>
                <a:t>S=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a b a b c</a:t>
              </a:r>
              <a:r>
                <a:rPr kumimoji="1" lang="en-US" altLang="zh-CN" sz="2800" b="1">
                  <a:solidFill>
                    <a:schemeClr val="accent2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rgbClr val="FF00FF"/>
                  </a:solidFill>
                  <a:latin typeface="Times New Roman" charset="0"/>
                  <a:ea typeface="黑体" charset="-122"/>
                </a:rPr>
                <a:t>a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chemeClr val="accent1"/>
                  </a:solidFill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c a c b a b</a:t>
              </a:r>
              <a:r>
                <a:rPr kumimoji="1" lang="en-US" altLang="zh-CN" sz="2400" b="1">
                  <a:latin typeface="Times New Roman" charset="0"/>
                </a:rPr>
                <a:t>"</a:t>
              </a:r>
              <a:endParaRPr kumimoji="1" lang="en-US" altLang="zh-CN" sz="2800" b="1">
                <a:latin typeface="Times New Roman" charset="0"/>
                <a:ea typeface="黑体" charset="-122"/>
              </a:endParaRPr>
            </a:p>
          </p:txBody>
        </p:sp>
        <p:sp>
          <p:nvSpPr>
            <p:cNvPr id="136199" name="Rectangle 7"/>
            <p:cNvSpPr>
              <a:spLocks noChangeArrowheads="1"/>
            </p:cNvSpPr>
            <p:nvPr/>
          </p:nvSpPr>
          <p:spPr bwMode="auto">
            <a:xfrm>
              <a:off x="469" y="1898"/>
              <a:ext cx="15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latin typeface="Times New Roman" charset="0"/>
                </a:rPr>
                <a:t>T</a:t>
              </a:r>
              <a:r>
                <a:rPr kumimoji="1" lang="en-US" altLang="zh-CN" sz="2800" b="1">
                  <a:latin typeface="宋体" charset="-122"/>
                </a:rPr>
                <a:t>=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r>
                <a:rPr kumimoji="1" lang="en-US" altLang="zh-CN" sz="2800" b="1">
                  <a:solidFill>
                    <a:srgbClr val="FF00FF"/>
                  </a:solidFill>
                  <a:latin typeface="Times New Roman" charset="0"/>
                  <a:ea typeface="黑体" charset="-122"/>
                </a:rPr>
                <a:t>a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solidFill>
                    <a:schemeClr val="accent1"/>
                  </a:solidFill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800" b="1">
                  <a:solidFill>
                    <a:srgbClr val="66FF33"/>
                  </a:solidFill>
                  <a:latin typeface="Times New Roman" charset="0"/>
                  <a:ea typeface="黑体" charset="-122"/>
                </a:rPr>
                <a:t> </a:t>
              </a:r>
              <a:r>
                <a:rPr kumimoji="1" lang="en-US" altLang="zh-CN" sz="2800" b="1">
                  <a:latin typeface="Times New Roman" charset="0"/>
                  <a:ea typeface="黑体" charset="-122"/>
                </a:rPr>
                <a:t>c a c</a:t>
              </a:r>
              <a:r>
                <a:rPr kumimoji="1" lang="en-US" altLang="zh-CN" sz="2800" b="1">
                  <a:latin typeface="Times New Roman" charset="0"/>
                </a:rPr>
                <a:t>"</a:t>
              </a:r>
              <a:endParaRPr kumimoji="1" lang="en-US" altLang="zh-CN" sz="2800" b="1">
                <a:latin typeface="宋体" charset="-122"/>
              </a:endParaRPr>
            </a:p>
          </p:txBody>
        </p:sp>
        <p:grpSp>
          <p:nvGrpSpPr>
            <p:cNvPr id="136200" name="Group 8"/>
            <p:cNvGrpSpPr>
              <a:grpSpLocks/>
            </p:cNvGrpSpPr>
            <p:nvPr/>
          </p:nvGrpSpPr>
          <p:grpSpPr bwMode="auto">
            <a:xfrm>
              <a:off x="1542" y="1401"/>
              <a:ext cx="192" cy="336"/>
              <a:chOff x="1593" y="624"/>
              <a:chExt cx="192" cy="336"/>
            </a:xfrm>
          </p:grpSpPr>
          <p:sp>
            <p:nvSpPr>
              <p:cNvPr id="136201" name="Rectangle 9"/>
              <p:cNvSpPr>
                <a:spLocks noChangeArrowheads="1"/>
              </p:cNvSpPr>
              <p:nvPr/>
            </p:nvSpPr>
            <p:spPr bwMode="auto">
              <a:xfrm>
                <a:off x="1593" y="62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rgbClr val="FF3300"/>
                    </a:solidFill>
                    <a:latin typeface="Times New Roman" charset="0"/>
                    <a:ea typeface="楷体_GB2312" charset="0"/>
                  </a:rPr>
                  <a:t>i</a:t>
                </a:r>
              </a:p>
            </p:txBody>
          </p:sp>
          <p:sp>
            <p:nvSpPr>
              <p:cNvPr id="136202" name="Line 10"/>
              <p:cNvSpPr>
                <a:spLocks noChangeShapeType="1"/>
              </p:cNvSpPr>
              <p:nvPr/>
            </p:nvSpPr>
            <p:spPr bwMode="auto">
              <a:xfrm>
                <a:off x="1681" y="81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6203" name="Group 11"/>
            <p:cNvGrpSpPr>
              <a:grpSpLocks/>
            </p:cNvGrpSpPr>
            <p:nvPr/>
          </p:nvGrpSpPr>
          <p:grpSpPr bwMode="auto">
            <a:xfrm>
              <a:off x="1012" y="2177"/>
              <a:ext cx="202" cy="328"/>
              <a:chOff x="1063" y="1400"/>
              <a:chExt cx="202" cy="328"/>
            </a:xfrm>
          </p:grpSpPr>
          <p:sp>
            <p:nvSpPr>
              <p:cNvPr id="136204" name="Rectangle 12"/>
              <p:cNvSpPr>
                <a:spLocks noChangeArrowheads="1"/>
              </p:cNvSpPr>
              <p:nvPr/>
            </p:nvSpPr>
            <p:spPr bwMode="auto">
              <a:xfrm>
                <a:off x="1063" y="1497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chemeClr val="accent1"/>
                    </a:solidFill>
                    <a:latin typeface="Times New Roman" charset="0"/>
                    <a:ea typeface="楷体_GB2312" charset="0"/>
                  </a:rPr>
                  <a:t>k</a:t>
                </a:r>
              </a:p>
            </p:txBody>
          </p:sp>
          <p:sp>
            <p:nvSpPr>
              <p:cNvPr id="136205" name="Line 13"/>
              <p:cNvSpPr>
                <a:spLocks noChangeShapeType="1"/>
              </p:cNvSpPr>
              <p:nvPr/>
            </p:nvSpPr>
            <p:spPr bwMode="auto">
              <a:xfrm flipV="1">
                <a:off x="1169" y="140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6206" name="Group 14"/>
            <p:cNvGrpSpPr>
              <a:grpSpLocks/>
            </p:cNvGrpSpPr>
            <p:nvPr/>
          </p:nvGrpSpPr>
          <p:grpSpPr bwMode="auto">
            <a:xfrm>
              <a:off x="1490" y="2172"/>
              <a:ext cx="202" cy="328"/>
              <a:chOff x="1541" y="1395"/>
              <a:chExt cx="202" cy="328"/>
            </a:xfrm>
          </p:grpSpPr>
          <p:sp>
            <p:nvSpPr>
              <p:cNvPr id="136207" name="Rectangle 15"/>
              <p:cNvSpPr>
                <a:spLocks noChangeArrowheads="1"/>
              </p:cNvSpPr>
              <p:nvPr/>
            </p:nvSpPr>
            <p:spPr bwMode="auto">
              <a:xfrm>
                <a:off x="1541" y="1492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rgbClr val="FF3300"/>
                    </a:solidFill>
                    <a:latin typeface="Times New Roman" charset="0"/>
                    <a:ea typeface="楷体_GB2312" charset="0"/>
                  </a:rPr>
                  <a:t>j</a:t>
                </a:r>
              </a:p>
            </p:txBody>
          </p:sp>
          <p:sp>
            <p:nvSpPr>
              <p:cNvPr id="136208" name="Line 16"/>
              <p:cNvSpPr>
                <a:spLocks noChangeShapeType="1"/>
              </p:cNvSpPr>
              <p:nvPr/>
            </p:nvSpPr>
            <p:spPr bwMode="auto">
              <a:xfrm flipV="1">
                <a:off x="1667" y="1395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6209" name="Group 17"/>
          <p:cNvGrpSpPr>
            <a:grpSpLocks/>
          </p:cNvGrpSpPr>
          <p:nvPr/>
        </p:nvGrpSpPr>
        <p:grpSpPr bwMode="auto">
          <a:xfrm>
            <a:off x="4727575" y="2317750"/>
            <a:ext cx="4416425" cy="1690688"/>
            <a:chOff x="215" y="1990"/>
            <a:chExt cx="2782" cy="1065"/>
          </a:xfrm>
        </p:grpSpPr>
        <p:grpSp>
          <p:nvGrpSpPr>
            <p:cNvPr id="136210" name="Group 18"/>
            <p:cNvGrpSpPr>
              <a:grpSpLocks/>
            </p:cNvGrpSpPr>
            <p:nvPr/>
          </p:nvGrpSpPr>
          <p:grpSpPr bwMode="auto">
            <a:xfrm>
              <a:off x="1650" y="1990"/>
              <a:ext cx="192" cy="336"/>
              <a:chOff x="1593" y="624"/>
              <a:chExt cx="192" cy="336"/>
            </a:xfrm>
          </p:grpSpPr>
          <p:sp>
            <p:nvSpPr>
              <p:cNvPr id="136211" name="Rectangle 19"/>
              <p:cNvSpPr>
                <a:spLocks noChangeArrowheads="1"/>
              </p:cNvSpPr>
              <p:nvPr/>
            </p:nvSpPr>
            <p:spPr bwMode="auto">
              <a:xfrm>
                <a:off x="1593" y="62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b="1" i="1">
                    <a:solidFill>
                      <a:srgbClr val="FF3300"/>
                    </a:solidFill>
                    <a:latin typeface="Times New Roman" charset="0"/>
                    <a:ea typeface="楷体_GB2312" charset="0"/>
                  </a:rPr>
                  <a:t>i</a:t>
                </a:r>
              </a:p>
            </p:txBody>
          </p:sp>
          <p:sp>
            <p:nvSpPr>
              <p:cNvPr id="136212" name="Line 20"/>
              <p:cNvSpPr>
                <a:spLocks noChangeShapeType="1"/>
              </p:cNvSpPr>
              <p:nvPr/>
            </p:nvSpPr>
            <p:spPr bwMode="auto">
              <a:xfrm>
                <a:off x="1681" y="81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6213" name="Group 21"/>
            <p:cNvGrpSpPr>
              <a:grpSpLocks/>
            </p:cNvGrpSpPr>
            <p:nvPr/>
          </p:nvGrpSpPr>
          <p:grpSpPr bwMode="auto">
            <a:xfrm>
              <a:off x="215" y="2245"/>
              <a:ext cx="2782" cy="810"/>
              <a:chOff x="215" y="2245"/>
              <a:chExt cx="2782" cy="810"/>
            </a:xfrm>
          </p:grpSpPr>
          <p:sp>
            <p:nvSpPr>
              <p:cNvPr id="136214" name="Rectangle 22"/>
              <p:cNvSpPr>
                <a:spLocks noChangeArrowheads="1"/>
              </p:cNvSpPr>
              <p:nvPr/>
            </p:nvSpPr>
            <p:spPr bwMode="auto">
              <a:xfrm>
                <a:off x="215" y="2245"/>
                <a:ext cx="278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800" b="1">
                    <a:latin typeface="Times New Roman" charset="0"/>
                    <a:ea typeface="黑体" charset="-122"/>
                  </a:rPr>
                  <a:t>S=</a:t>
                </a:r>
                <a:r>
                  <a:rPr kumimoji="1" lang="en-US" altLang="zh-CN" sz="2800" b="1">
                    <a:latin typeface="Times New Roman" charset="0"/>
                  </a:rPr>
                  <a:t>"</a:t>
                </a:r>
                <a:r>
                  <a:rPr kumimoji="1" lang="en-US" altLang="zh-CN" sz="2800" b="1">
                    <a:latin typeface="Times New Roman" charset="0"/>
                    <a:ea typeface="黑体" charset="-122"/>
                  </a:rPr>
                  <a:t>a b a b c</a:t>
                </a:r>
                <a:r>
                  <a:rPr kumimoji="1" lang="en-US" altLang="zh-CN" sz="2800" b="1">
                    <a:solidFill>
                      <a:schemeClr val="accent2"/>
                    </a:solidFill>
                    <a:latin typeface="Times New Roman" charset="0"/>
                    <a:ea typeface="黑体" charset="-122"/>
                  </a:rPr>
                  <a:t> </a:t>
                </a:r>
                <a:r>
                  <a:rPr kumimoji="1" lang="en-US" altLang="zh-CN" sz="2800" b="1">
                    <a:solidFill>
                      <a:srgbClr val="FF00FF"/>
                    </a:solidFill>
                    <a:latin typeface="Times New Roman" charset="0"/>
                    <a:ea typeface="黑体" charset="-122"/>
                  </a:rPr>
                  <a:t>a</a:t>
                </a:r>
                <a:r>
                  <a:rPr kumimoji="1" lang="en-US" altLang="zh-CN" sz="2800" b="1">
                    <a:solidFill>
                      <a:srgbClr val="66FF33"/>
                    </a:solidFill>
                    <a:latin typeface="Times New Roman" charset="0"/>
                    <a:ea typeface="黑体" charset="-122"/>
                  </a:rPr>
                  <a:t> </a:t>
                </a:r>
                <a:r>
                  <a:rPr kumimoji="1" lang="en-US" altLang="zh-CN" sz="2800" b="1">
                    <a:solidFill>
                      <a:schemeClr val="accent1"/>
                    </a:solidFill>
                    <a:latin typeface="Times New Roman" charset="0"/>
                    <a:ea typeface="黑体" charset="-122"/>
                  </a:rPr>
                  <a:t>b</a:t>
                </a:r>
                <a:r>
                  <a:rPr kumimoji="1" lang="en-US" altLang="zh-CN" sz="2800" b="1">
                    <a:solidFill>
                      <a:srgbClr val="66FF33"/>
                    </a:solidFill>
                    <a:latin typeface="Times New Roman" charset="0"/>
                    <a:ea typeface="黑体" charset="-122"/>
                  </a:rPr>
                  <a:t> </a:t>
                </a:r>
                <a:r>
                  <a:rPr kumimoji="1" lang="en-US" altLang="zh-CN" sz="2800" b="1">
                    <a:latin typeface="Times New Roman" charset="0"/>
                    <a:ea typeface="黑体" charset="-122"/>
                  </a:rPr>
                  <a:t>c a c b a b</a:t>
                </a:r>
                <a:r>
                  <a:rPr kumimoji="1" lang="en-US" altLang="zh-CN" sz="2400" b="1">
                    <a:latin typeface="Times New Roman" charset="0"/>
                  </a:rPr>
                  <a:t>"</a:t>
                </a:r>
                <a:endParaRPr kumimoji="1" lang="en-US" altLang="zh-CN" sz="2800" b="1">
                  <a:latin typeface="Times New Roman" charset="0"/>
                  <a:ea typeface="黑体" charset="-122"/>
                </a:endParaRPr>
              </a:p>
            </p:txBody>
          </p:sp>
          <p:sp>
            <p:nvSpPr>
              <p:cNvPr id="136215" name="Rectangle 23"/>
              <p:cNvSpPr>
                <a:spLocks noChangeArrowheads="1"/>
              </p:cNvSpPr>
              <p:nvPr/>
            </p:nvSpPr>
            <p:spPr bwMode="auto">
              <a:xfrm>
                <a:off x="552" y="2444"/>
                <a:ext cx="15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800" b="1">
                    <a:latin typeface="Times New Roman" charset="0"/>
                  </a:rPr>
                  <a:t>T</a:t>
                </a:r>
                <a:r>
                  <a:rPr kumimoji="1" lang="en-US" altLang="zh-CN" sz="2800" b="1">
                    <a:latin typeface="宋体" charset="-122"/>
                  </a:rPr>
                  <a:t>=</a:t>
                </a:r>
                <a:r>
                  <a:rPr kumimoji="1" lang="en-US" altLang="zh-CN" sz="2800" b="1">
                    <a:latin typeface="Times New Roman" charset="0"/>
                  </a:rPr>
                  <a:t>"</a:t>
                </a:r>
                <a:r>
                  <a:rPr kumimoji="1" lang="en-US" altLang="zh-CN" sz="2800" b="1">
                    <a:latin typeface="Times New Roman" charset="0"/>
                    <a:ea typeface="黑体" charset="-122"/>
                  </a:rPr>
                  <a:t>a</a:t>
                </a:r>
                <a:r>
                  <a:rPr kumimoji="1" lang="en-US" altLang="zh-CN" sz="2800" b="1">
                    <a:solidFill>
                      <a:srgbClr val="66FF33"/>
                    </a:solidFill>
                    <a:latin typeface="Times New Roman" charset="0"/>
                    <a:ea typeface="黑体" charset="-122"/>
                  </a:rPr>
                  <a:t> </a:t>
                </a:r>
                <a:r>
                  <a:rPr kumimoji="1" lang="en-US" altLang="zh-CN" sz="2800" b="1">
                    <a:solidFill>
                      <a:schemeClr val="accent1"/>
                    </a:solidFill>
                    <a:latin typeface="Times New Roman" charset="0"/>
                    <a:ea typeface="黑体" charset="-122"/>
                  </a:rPr>
                  <a:t>b</a:t>
                </a:r>
                <a:r>
                  <a:rPr kumimoji="1" lang="en-US" altLang="zh-CN" sz="2800" b="1">
                    <a:solidFill>
                      <a:srgbClr val="66FF33"/>
                    </a:solidFill>
                    <a:latin typeface="Times New Roman" charset="0"/>
                    <a:ea typeface="黑体" charset="-122"/>
                  </a:rPr>
                  <a:t> </a:t>
                </a:r>
                <a:r>
                  <a:rPr kumimoji="1" lang="en-US" altLang="zh-CN" sz="2800" b="1">
                    <a:latin typeface="Times New Roman" charset="0"/>
                    <a:ea typeface="黑体" charset="-122"/>
                  </a:rPr>
                  <a:t>c </a:t>
                </a:r>
                <a:r>
                  <a:rPr kumimoji="1" lang="en-US" altLang="zh-CN" sz="2800" b="1">
                    <a:solidFill>
                      <a:srgbClr val="FF00FF"/>
                    </a:solidFill>
                    <a:latin typeface="Times New Roman" charset="0"/>
                    <a:ea typeface="黑体" charset="-122"/>
                  </a:rPr>
                  <a:t>a</a:t>
                </a:r>
                <a:r>
                  <a:rPr kumimoji="1" lang="en-US" altLang="zh-CN" sz="2800" b="1">
                    <a:latin typeface="Times New Roman" charset="0"/>
                    <a:ea typeface="黑体" charset="-122"/>
                  </a:rPr>
                  <a:t> c</a:t>
                </a:r>
                <a:r>
                  <a:rPr kumimoji="1" lang="en-US" altLang="zh-CN" sz="2800" b="1">
                    <a:latin typeface="Times New Roman" charset="0"/>
                  </a:rPr>
                  <a:t>"</a:t>
                </a:r>
              </a:p>
            </p:txBody>
          </p:sp>
          <p:grpSp>
            <p:nvGrpSpPr>
              <p:cNvPr id="136216" name="Group 24"/>
              <p:cNvGrpSpPr>
                <a:grpSpLocks/>
              </p:cNvGrpSpPr>
              <p:nvPr/>
            </p:nvGrpSpPr>
            <p:grpSpPr bwMode="auto">
              <a:xfrm>
                <a:off x="1621" y="2727"/>
                <a:ext cx="202" cy="328"/>
                <a:chOff x="1541" y="1395"/>
                <a:chExt cx="202" cy="328"/>
              </a:xfrm>
            </p:grpSpPr>
            <p:sp>
              <p:nvSpPr>
                <p:cNvPr id="136217" name="Rectangle 25"/>
                <p:cNvSpPr>
                  <a:spLocks noChangeArrowheads="1"/>
                </p:cNvSpPr>
                <p:nvPr/>
              </p:nvSpPr>
              <p:spPr bwMode="auto">
                <a:xfrm>
                  <a:off x="1541" y="1492"/>
                  <a:ext cx="20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b="1" i="1">
                      <a:solidFill>
                        <a:srgbClr val="FF3300"/>
                      </a:solidFill>
                      <a:latin typeface="Times New Roman" charset="0"/>
                      <a:ea typeface="楷体_GB2312" charset="0"/>
                    </a:rPr>
                    <a:t>j</a:t>
                  </a:r>
                </a:p>
              </p:txBody>
            </p:sp>
            <p:sp>
              <p:nvSpPr>
                <p:cNvPr id="136218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667" y="139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219" name="Group 27"/>
              <p:cNvGrpSpPr>
                <a:grpSpLocks/>
              </p:cNvGrpSpPr>
              <p:nvPr/>
            </p:nvGrpSpPr>
            <p:grpSpPr bwMode="auto">
              <a:xfrm>
                <a:off x="1139" y="2727"/>
                <a:ext cx="202" cy="328"/>
                <a:chOff x="1063" y="1400"/>
                <a:chExt cx="202" cy="328"/>
              </a:xfrm>
            </p:grpSpPr>
            <p:sp>
              <p:nvSpPr>
                <p:cNvPr id="136220" name="Rectangle 28"/>
                <p:cNvSpPr>
                  <a:spLocks noChangeArrowheads="1"/>
                </p:cNvSpPr>
                <p:nvPr/>
              </p:nvSpPr>
              <p:spPr bwMode="auto">
                <a:xfrm>
                  <a:off x="1063" y="1497"/>
                  <a:ext cx="20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b="1" i="1">
                      <a:solidFill>
                        <a:schemeClr val="accent1"/>
                      </a:solidFill>
                      <a:latin typeface="Times New Roman" charset="0"/>
                      <a:ea typeface="楷体_GB2312" charset="0"/>
                    </a:rPr>
                    <a:t>k</a:t>
                  </a:r>
                </a:p>
              </p:txBody>
            </p:sp>
            <p:sp>
              <p:nvSpPr>
                <p:cNvPr id="136221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169" y="1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36223" name="Text Box 31"/>
          <p:cNvSpPr txBox="1">
            <a:spLocks noChangeArrowheads="1"/>
          </p:cNvSpPr>
          <p:nvPr/>
        </p:nvSpPr>
        <p:spPr bwMode="auto">
          <a:xfrm>
            <a:off x="1447800" y="3048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  <p:sp>
        <p:nvSpPr>
          <p:cNvPr id="136224" name="Rectangle 32"/>
          <p:cNvSpPr>
            <a:spLocks noChangeArrowheads="1"/>
          </p:cNvSpPr>
          <p:nvPr/>
        </p:nvSpPr>
        <p:spPr bwMode="auto">
          <a:xfrm>
            <a:off x="188913" y="4221163"/>
            <a:ext cx="8370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charset="0"/>
              </a:rPr>
              <a:t>（</a:t>
            </a:r>
            <a:r>
              <a:rPr kumimoji="1" lang="en-US" altLang="zh-CN" sz="2400" b="1">
                <a:latin typeface="Times New Roman" charset="0"/>
              </a:rPr>
              <a:t>1</a:t>
            </a:r>
            <a:r>
              <a:rPr kumimoji="1" lang="zh-CN" altLang="en-US" sz="2400" b="1">
                <a:latin typeface="Times New Roman" charset="0"/>
              </a:rPr>
              <a:t>）设模式滑动到第</a:t>
            </a:r>
            <a:r>
              <a:rPr kumimoji="1" lang="en-US" altLang="zh-CN" sz="2400" b="1" i="1">
                <a:latin typeface="Times New Roman" charset="0"/>
              </a:rPr>
              <a:t>k</a:t>
            </a:r>
            <a:r>
              <a:rPr kumimoji="1" lang="zh-CN" altLang="en-US" sz="2400" b="1">
                <a:latin typeface="Times New Roman" charset="0"/>
              </a:rPr>
              <a:t>个字符，则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T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1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～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T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</a:t>
            </a:r>
            <a:r>
              <a:rPr kumimoji="1" lang="en-US" altLang="zh-CN" sz="2400">
                <a:latin typeface="Times New Roman" charset="0"/>
              </a:rPr>
              <a:t>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＝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S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-(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-1)</a:t>
            </a:r>
            <a:r>
              <a:rPr kumimoji="1" lang="en-US" altLang="zh-CN" sz="2400" b="1">
                <a:latin typeface="Times New Roman" charset="0"/>
              </a:rPr>
              <a:t>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～</a:t>
            </a:r>
            <a:r>
              <a:rPr kumimoji="1" lang="zh-CN" altLang="en-US" sz="2400" b="1">
                <a:latin typeface="Times New Roman" charset="0"/>
              </a:rPr>
              <a:t> </a:t>
            </a:r>
            <a:r>
              <a:rPr kumimoji="1" lang="en-US" altLang="zh-CN" sz="2400" b="1">
                <a:latin typeface="Times New Roman" charset="0"/>
              </a:rPr>
              <a:t>S</a:t>
            </a:r>
            <a:r>
              <a:rPr kumimoji="1"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</a:t>
            </a:r>
            <a:r>
              <a:rPr kumimoji="1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</a:t>
            </a:r>
            <a:r>
              <a:rPr kumimoji="1" lang="en-US" altLang="zh-CN" sz="2400" b="1">
                <a:solidFill>
                  <a:schemeClr val="accent1"/>
                </a:solidFill>
                <a:latin typeface="Times New Roman" charset="0"/>
              </a:rPr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83004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/>
      <p:bldP spid="136196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757238" y="1371600"/>
            <a:ext cx="80264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…T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-1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j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-(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-1)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 …T</a:t>
            </a:r>
            <a:r>
              <a:rPr kumimoji="1" lang="en-US" altLang="zh-CN" sz="28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-1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rPr>
              <a:t>说明了什么？</a:t>
            </a:r>
            <a:endParaRPr kumimoji="1" lang="zh-CN" altLang="en-US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 b="1"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） </a:t>
            </a:r>
            <a:r>
              <a:rPr kumimoji="1" lang="en-US" altLang="zh-CN" sz="2800" b="1" i="1">
                <a:latin typeface="Times New Roman" charset="0"/>
              </a:rPr>
              <a:t>k</a:t>
            </a:r>
            <a:r>
              <a:rPr kumimoji="1" lang="en-US" altLang="zh-CN" sz="2800" b="1">
                <a:latin typeface="Times New Roman" charset="0"/>
              </a:rPr>
              <a:t> </a:t>
            </a:r>
            <a:r>
              <a:rPr kumimoji="1" lang="zh-CN" altLang="en-US" sz="2800" b="1">
                <a:latin typeface="Times New Roman" charset="0"/>
              </a:rPr>
              <a:t>与</a:t>
            </a:r>
            <a:r>
              <a:rPr kumimoji="1" lang="zh-CN" altLang="en-US" sz="2800" b="1" i="1">
                <a:latin typeface="Times New Roman" charset="0"/>
              </a:rPr>
              <a:t> </a:t>
            </a:r>
            <a:r>
              <a:rPr kumimoji="1" lang="en-US" altLang="zh-CN" sz="2800" b="1" i="1">
                <a:latin typeface="Times New Roman" charset="0"/>
              </a:rPr>
              <a:t>j</a:t>
            </a:r>
            <a:r>
              <a:rPr kumimoji="1" lang="en-US" altLang="zh-CN" sz="2800" b="1">
                <a:latin typeface="Times New Roman" charset="0"/>
              </a:rPr>
              <a:t> </a:t>
            </a:r>
            <a:r>
              <a:rPr kumimoji="1" lang="zh-CN" altLang="en-US" sz="2800" b="1">
                <a:latin typeface="Times New Roman" charset="0"/>
              </a:rPr>
              <a:t>具有函数关系，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由当前失配位置 </a:t>
            </a:r>
            <a:r>
              <a:rPr kumimoji="1" lang="en-US" altLang="zh-CN" sz="2800" b="1" i="1">
                <a:latin typeface="Times New Roman" charset="0"/>
                <a:ea typeface="楷体_GB2312" charset="0"/>
              </a:rPr>
              <a:t>j 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，可以计算出</a:t>
            </a:r>
            <a:r>
              <a:rPr kumimoji="1" lang="zh-CN" altLang="en-US" sz="2800" b="1">
                <a:latin typeface="Times New Roman" charset="0"/>
              </a:rPr>
              <a:t>滑动位置 </a:t>
            </a:r>
            <a:r>
              <a:rPr kumimoji="1" lang="en-US" altLang="zh-CN" sz="2800" b="1" i="1">
                <a:latin typeface="Times New Roman" charset="0"/>
                <a:ea typeface="楷体_GB2312" charset="0"/>
              </a:rPr>
              <a:t>k</a:t>
            </a:r>
            <a:r>
              <a:rPr kumimoji="1" lang="zh-CN" altLang="en-US" sz="2800" b="1">
                <a:latin typeface="Times New Roman" charset="0"/>
              </a:rPr>
              <a:t>（即比较的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新起点）</a:t>
            </a:r>
            <a:r>
              <a:rPr kumimoji="1" lang="zh-CN" altLang="en-US" sz="2800" b="1">
                <a:latin typeface="Times New Roman" charset="0"/>
              </a:rPr>
              <a:t>；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2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）</a:t>
            </a:r>
            <a:r>
              <a:rPr kumimoji="1" lang="zh-CN" altLang="en-US" sz="2800" b="1">
                <a:latin typeface="Times New Roman" charset="0"/>
              </a:rPr>
              <a:t>滑动位置</a:t>
            </a:r>
            <a:r>
              <a:rPr kumimoji="1" lang="en-US" altLang="zh-CN" sz="2800" b="1" i="1">
                <a:latin typeface="Times New Roman" charset="0"/>
              </a:rPr>
              <a:t>k</a:t>
            </a:r>
            <a:r>
              <a:rPr kumimoji="1" lang="en-US" altLang="zh-CN" sz="2800" b="1">
                <a:latin typeface="Times New Roman" charset="0"/>
              </a:rPr>
              <a:t> </a:t>
            </a:r>
            <a:r>
              <a:rPr kumimoji="1" lang="zh-CN" altLang="en-US" sz="2800" b="1">
                <a:latin typeface="Times New Roman" charset="0"/>
              </a:rPr>
              <a:t>仅与模式串</a:t>
            </a:r>
            <a:r>
              <a:rPr kumimoji="1" lang="en-US" altLang="zh-CN" sz="2800" b="1" i="1">
                <a:latin typeface="Times New Roman" charset="0"/>
              </a:rPr>
              <a:t>T</a:t>
            </a:r>
            <a:r>
              <a:rPr kumimoji="1" lang="zh-CN" altLang="en-US" sz="2800" b="1">
                <a:latin typeface="Times New Roman" charset="0"/>
              </a:rPr>
              <a:t>有关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137219" name="AutoShape 3"/>
          <p:cNvSpPr>
            <a:spLocks noChangeArrowheads="1"/>
          </p:cNvSpPr>
          <p:nvPr/>
        </p:nvSpPr>
        <p:spPr bwMode="auto">
          <a:xfrm>
            <a:off x="860425" y="4354513"/>
            <a:ext cx="1576388" cy="674687"/>
          </a:xfrm>
          <a:prstGeom prst="wedgeRectCallout">
            <a:avLst>
              <a:gd name="adj1" fmla="val -11431"/>
              <a:gd name="adj2" fmla="val 2506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/>
          <a:lstStyle/>
          <a:p>
            <a:pPr algn="ctr"/>
            <a:r>
              <a:rPr kumimoji="1" lang="zh-CN" altLang="en-US" sz="2000" b="1">
                <a:latin typeface="Times New Roman" charset="0"/>
              </a:rPr>
              <a:t>从第</a:t>
            </a:r>
            <a:r>
              <a:rPr kumimoji="1" lang="en-US" altLang="zh-CN" sz="2000" b="1">
                <a:latin typeface="Times New Roman" charset="0"/>
              </a:rPr>
              <a:t>1</a:t>
            </a:r>
            <a:r>
              <a:rPr kumimoji="1" lang="zh-CN" altLang="en-US" sz="2000" b="1">
                <a:latin typeface="Times New Roman" charset="0"/>
              </a:rPr>
              <a:t>位往右</a:t>
            </a:r>
          </a:p>
          <a:p>
            <a:pPr algn="ctr"/>
            <a:r>
              <a:rPr kumimoji="1" lang="zh-CN" altLang="en-US" sz="2000" b="1">
                <a:latin typeface="Times New Roman" charset="0"/>
              </a:rPr>
              <a:t>经过</a:t>
            </a:r>
            <a:r>
              <a:rPr kumimoji="1" lang="en-US" altLang="zh-CN" sz="2000" b="1">
                <a:latin typeface="Times New Roman" charset="0"/>
              </a:rPr>
              <a:t>k-1</a:t>
            </a:r>
            <a:r>
              <a:rPr kumimoji="1" lang="zh-CN" altLang="en-US" sz="2000" b="1">
                <a:latin typeface="Times New Roman" charset="0"/>
              </a:rPr>
              <a:t>位</a:t>
            </a:r>
          </a:p>
        </p:txBody>
      </p:sp>
      <p:sp>
        <p:nvSpPr>
          <p:cNvPr id="137220" name="AutoShape 4"/>
          <p:cNvSpPr>
            <a:spLocks noChangeArrowheads="1"/>
          </p:cNvSpPr>
          <p:nvPr/>
        </p:nvSpPr>
        <p:spPr bwMode="auto">
          <a:xfrm>
            <a:off x="3606800" y="4371975"/>
            <a:ext cx="1530350" cy="674688"/>
          </a:xfrm>
          <a:prstGeom prst="wedgeRectCallout">
            <a:avLst>
              <a:gd name="adj1" fmla="val -55602"/>
              <a:gd name="adj2" fmla="val 2952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/>
          <a:lstStyle/>
          <a:p>
            <a:pPr algn="ctr"/>
            <a:r>
              <a:rPr kumimoji="1" lang="zh-CN" altLang="en-US" sz="2000" b="1">
                <a:latin typeface="Times New Roman" charset="0"/>
              </a:rPr>
              <a:t>从</a:t>
            </a:r>
            <a:r>
              <a:rPr kumimoji="1" lang="en-US" altLang="zh-CN" sz="2000" b="1">
                <a:latin typeface="Times New Roman" charset="0"/>
              </a:rPr>
              <a:t>j-1</a:t>
            </a:r>
            <a:r>
              <a:rPr kumimoji="1" lang="zh-CN" altLang="en-US" sz="2000" b="1">
                <a:latin typeface="Times New Roman" charset="0"/>
              </a:rPr>
              <a:t>位往左</a:t>
            </a:r>
          </a:p>
          <a:p>
            <a:pPr algn="ctr"/>
            <a:r>
              <a:rPr kumimoji="1" lang="zh-CN" altLang="en-US" sz="2000" b="1">
                <a:latin typeface="Times New Roman" charset="0"/>
              </a:rPr>
              <a:t>经过</a:t>
            </a:r>
            <a:r>
              <a:rPr kumimoji="1" lang="en-US" altLang="zh-CN" sz="2000" b="1">
                <a:latin typeface="Times New Roman" charset="0"/>
              </a:rPr>
              <a:t>k-1</a:t>
            </a:r>
            <a:r>
              <a:rPr kumimoji="1" lang="zh-CN" altLang="en-US" sz="2000" b="1">
                <a:latin typeface="Times New Roman" charset="0"/>
              </a:rPr>
              <a:t>位</a:t>
            </a: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815975" y="5946775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i="1">
                <a:latin typeface="Times New Roman" charset="0"/>
                <a:ea typeface="楷体_GB2312" charset="0"/>
              </a:rPr>
              <a:t>k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max { </a:t>
            </a:r>
            <a:r>
              <a:rPr kumimoji="1" lang="en-US" altLang="zh-CN" sz="2800" b="1" i="1"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 |1&lt;</a:t>
            </a:r>
            <a:r>
              <a:rPr kumimoji="1" lang="en-US" altLang="zh-CN" sz="2800" b="1" i="1"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&lt;</a:t>
            </a:r>
            <a:r>
              <a:rPr kumimoji="1" lang="en-US" altLang="zh-CN" sz="2800" b="1" i="1"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且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baseline="-25000"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…T</a:t>
            </a:r>
            <a:r>
              <a:rPr kumimoji="1" lang="en-US" altLang="zh-CN" sz="2800" b="1" i="1" baseline="-25000"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2800" b="1" baseline="-25000">
                <a:latin typeface="Times New Roman" charset="0"/>
                <a:ea typeface="楷体_GB2312" charset="0"/>
              </a:rPr>
              <a:t>-1</a:t>
            </a:r>
            <a:r>
              <a:rPr kumimoji="1" lang="zh-CN" altLang="en-US" sz="2800" b="1"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800" b="1" i="1" baseline="-25000">
                <a:latin typeface="Times New Roman" charset="0"/>
              </a:rPr>
              <a:t>j</a:t>
            </a:r>
            <a:r>
              <a:rPr kumimoji="1" lang="en-US" altLang="zh-CN" sz="2800" b="1" baseline="-25000">
                <a:latin typeface="Times New Roman" charset="0"/>
              </a:rPr>
              <a:t>-(</a:t>
            </a:r>
            <a:r>
              <a:rPr kumimoji="1" lang="en-US" altLang="zh-CN" sz="2800" b="1" i="1" baseline="-25000">
                <a:latin typeface="Times New Roman" charset="0"/>
              </a:rPr>
              <a:t>k</a:t>
            </a:r>
            <a:r>
              <a:rPr kumimoji="1" lang="en-US" altLang="zh-CN" sz="2800" b="1" baseline="-25000">
                <a:latin typeface="Times New Roman" charset="0"/>
              </a:rPr>
              <a:t>-1)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 …T</a:t>
            </a:r>
            <a:r>
              <a:rPr kumimoji="1" lang="en-US" altLang="zh-CN" sz="2800" b="1" i="1" baseline="-25000"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2800" b="1" baseline="-25000">
                <a:latin typeface="Times New Roman" charset="0"/>
                <a:ea typeface="楷体_GB2312" charset="0"/>
              </a:rPr>
              <a:t>-1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 }</a:t>
            </a:r>
          </a:p>
        </p:txBody>
      </p:sp>
      <p:graphicFrame>
        <p:nvGraphicFramePr>
          <p:cNvPr id="137222" name="Object 6"/>
          <p:cNvGraphicFramePr>
            <a:graphicFrameLocks noChangeAspect="1"/>
          </p:cNvGraphicFramePr>
          <p:nvPr>
            <p:ph/>
          </p:nvPr>
        </p:nvGraphicFramePr>
        <p:xfrm>
          <a:off x="233363" y="1462088"/>
          <a:ext cx="4953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457" name="Clip" r:id="rId3" imgW="861120" imgH="844560" progId="MS_ClipArt_Gallery.5">
                  <p:embed/>
                </p:oleObj>
              </mc:Choice>
              <mc:Fallback>
                <p:oleObj name="Clip" r:id="rId3" imgW="861120" imgH="844560" progId="MS_ClipArt_Gallery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3" y="1462088"/>
                        <a:ext cx="4953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7223" name="Group 7"/>
          <p:cNvGrpSpPr>
            <a:grpSpLocks/>
          </p:cNvGrpSpPr>
          <p:nvPr/>
        </p:nvGrpSpPr>
        <p:grpSpPr bwMode="auto">
          <a:xfrm>
            <a:off x="320675" y="3454400"/>
            <a:ext cx="8280400" cy="604838"/>
            <a:chOff x="130" y="1894"/>
            <a:chExt cx="5216" cy="381"/>
          </a:xfrm>
        </p:grpSpPr>
        <p:sp>
          <p:nvSpPr>
            <p:cNvPr id="137224" name="Rectangle 8"/>
            <p:cNvSpPr>
              <a:spLocks noChangeArrowheads="1"/>
            </p:cNvSpPr>
            <p:nvPr/>
          </p:nvSpPr>
          <p:spPr bwMode="auto">
            <a:xfrm>
              <a:off x="499" y="1894"/>
              <a:ext cx="484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T</a:t>
              </a:r>
              <a:r>
                <a:rPr kumimoji="1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1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…T</a:t>
              </a:r>
              <a:r>
                <a:rPr kumimoji="1" lang="en-US" altLang="zh-CN" sz="28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k</a:t>
              </a:r>
              <a:r>
                <a:rPr kumimoji="1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-1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＝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T</a:t>
              </a:r>
              <a:r>
                <a:rPr kumimoji="1" lang="en-US" altLang="zh-CN" sz="28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</a:rPr>
                <a:t>j</a:t>
              </a:r>
              <a:r>
                <a:rPr kumimoji="1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</a:rPr>
                <a:t>-(</a:t>
              </a:r>
              <a:r>
                <a:rPr kumimoji="1" lang="en-US" altLang="zh-CN" sz="28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</a:rPr>
                <a:t>k</a:t>
              </a:r>
              <a:r>
                <a:rPr kumimoji="1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</a:rPr>
                <a:t>-1)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 …T</a:t>
              </a:r>
              <a:r>
                <a:rPr kumimoji="1" lang="en-US" altLang="zh-CN" sz="28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j</a:t>
              </a:r>
              <a:r>
                <a:rPr kumimoji="1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-1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的物理意义是什么？</a:t>
              </a:r>
            </a:p>
          </p:txBody>
        </p:sp>
        <p:graphicFrame>
          <p:nvGraphicFramePr>
            <p:cNvPr id="137225" name="Object 9"/>
            <p:cNvGraphicFramePr>
              <a:graphicFrameLocks noChangeAspect="1"/>
            </p:cNvGraphicFramePr>
            <p:nvPr/>
          </p:nvGraphicFramePr>
          <p:xfrm>
            <a:off x="130" y="1933"/>
            <a:ext cx="31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458" name="Clip" r:id="rId5" imgW="861120" imgH="844560" progId="MS_ClipArt_Gallery.5">
                    <p:embed/>
                  </p:oleObj>
                </mc:Choice>
                <mc:Fallback>
                  <p:oleObj name="Clip" r:id="rId5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" y="1933"/>
                          <a:ext cx="31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226" name="Group 10"/>
          <p:cNvGrpSpPr>
            <a:grpSpLocks/>
          </p:cNvGrpSpPr>
          <p:nvPr/>
        </p:nvGrpSpPr>
        <p:grpSpPr bwMode="auto">
          <a:xfrm>
            <a:off x="365125" y="5316538"/>
            <a:ext cx="6435725" cy="503237"/>
            <a:chOff x="158" y="3067"/>
            <a:chExt cx="4054" cy="317"/>
          </a:xfrm>
        </p:grpSpPr>
        <p:sp>
          <p:nvSpPr>
            <p:cNvPr id="137227" name="Text Box 11"/>
            <p:cNvSpPr txBox="1">
              <a:spLocks noChangeArrowheads="1"/>
            </p:cNvSpPr>
            <p:nvPr/>
          </p:nvSpPr>
          <p:spPr bwMode="auto">
            <a:xfrm>
              <a:off x="499" y="3096"/>
              <a:ext cx="37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charset="0"/>
                </a:rPr>
                <a:t>模式应该向右滑多远才是最高效率的</a:t>
              </a:r>
              <a:r>
                <a:rPr kumimoji="1" lang="en-US" altLang="zh-CN" sz="2400" b="1">
                  <a:latin typeface="Times New Roman" charset="0"/>
                </a:rPr>
                <a:t>?</a:t>
              </a:r>
            </a:p>
          </p:txBody>
        </p:sp>
        <p:graphicFrame>
          <p:nvGraphicFramePr>
            <p:cNvPr id="137228" name="Object 12"/>
            <p:cNvGraphicFramePr>
              <a:graphicFrameLocks noChangeAspect="1"/>
            </p:cNvGraphicFramePr>
            <p:nvPr/>
          </p:nvGraphicFramePr>
          <p:xfrm>
            <a:off x="158" y="3067"/>
            <a:ext cx="31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459" name="Clip" r:id="rId6" imgW="861120" imgH="844560" progId="MS_ClipArt_Gallery.5">
                    <p:embed/>
                  </p:oleObj>
                </mc:Choice>
                <mc:Fallback>
                  <p:oleObj name="Clip" r:id="rId6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3067"/>
                          <a:ext cx="31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1447800" y="2286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113669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utoUpdateAnimBg="0"/>
      <p:bldP spid="137219" grpId="0" animBg="1" autoUpdateAnimBg="0"/>
      <p:bldP spid="137220" grpId="0" animBg="1" autoUpdateAnimBg="0"/>
      <p:bldP spid="13722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990600" y="1038225"/>
            <a:ext cx="7448550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Tx/>
              <a:buChar char="•"/>
            </a:pPr>
            <a:r>
              <a:rPr kumimoji="1" lang="en-US" altLang="zh-CN" sz="2800">
                <a:latin typeface="Times New Roman" charset="0"/>
              </a:rPr>
              <a:t> </a:t>
            </a:r>
            <a:r>
              <a:rPr kumimoji="1" lang="zh-CN" altLang="en-US" sz="2800" b="1">
                <a:latin typeface="Times New Roman" charset="0"/>
              </a:rPr>
              <a:t>若令</a:t>
            </a:r>
            <a:r>
              <a:rPr kumimoji="1" lang="en-US" altLang="zh-CN" sz="2800" b="1">
                <a:latin typeface="Times New Roman" charset="0"/>
              </a:rPr>
              <a:t>next[j] = k, </a:t>
            </a:r>
            <a:r>
              <a:rPr kumimoji="1" lang="zh-CN" altLang="zh-CN" sz="2800" b="1">
                <a:latin typeface="Times New Roman" charset="0"/>
              </a:rPr>
              <a:t>则</a:t>
            </a:r>
            <a:r>
              <a:rPr kumimoji="1" lang="en-US" altLang="zh-CN" sz="2800" b="1">
                <a:latin typeface="Times New Roman" charset="0"/>
              </a:rPr>
              <a:t>next[j]</a:t>
            </a:r>
            <a:r>
              <a:rPr kumimoji="1" lang="zh-CN" altLang="zh-CN" sz="2800" b="1">
                <a:latin typeface="Times New Roman" charset="0"/>
              </a:rPr>
              <a:t>表明当模式中第</a:t>
            </a:r>
            <a:r>
              <a:rPr kumimoji="1" lang="en-US" altLang="zh-CN" sz="2800" b="1">
                <a:latin typeface="Times New Roman" charset="0"/>
              </a:rPr>
              <a:t>j</a:t>
            </a:r>
            <a:r>
              <a:rPr kumimoji="1" lang="zh-CN" altLang="zh-CN" sz="2800" b="1">
                <a:latin typeface="Times New Roman" charset="0"/>
              </a:rPr>
              <a:t>个字符与主串中相应字符“失配”时，在模式串中需重新和主串中该字符进行比较的字符的位置。由此可以得出</a:t>
            </a:r>
            <a:r>
              <a:rPr kumimoji="1" lang="en-US" altLang="zh-CN" sz="2800" b="1">
                <a:latin typeface="Times New Roman" charset="0"/>
              </a:rPr>
              <a:t>next</a:t>
            </a:r>
            <a:r>
              <a:rPr kumimoji="1" lang="zh-CN" altLang="zh-CN" sz="2800" b="1">
                <a:latin typeface="Times New Roman" charset="0"/>
              </a:rPr>
              <a:t>函数的定义：</a:t>
            </a:r>
          </a:p>
        </p:txBody>
      </p:sp>
      <p:graphicFrame>
        <p:nvGraphicFramePr>
          <p:cNvPr id="155651" name="Object 3"/>
          <p:cNvGraphicFramePr>
            <a:graphicFrameLocks noChangeAspect="1"/>
          </p:cNvGraphicFramePr>
          <p:nvPr/>
        </p:nvGraphicFramePr>
        <p:xfrm>
          <a:off x="685800" y="3594100"/>
          <a:ext cx="76200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81" name="Microsoft 公式 3.0" r:id="rId3" imgW="0" imgH="0" progId="Equation.3">
                  <p:embed/>
                </p:oleObj>
              </mc:Choice>
              <mc:Fallback>
                <p:oleObj name="Microsoft 公式 3.0" r:id="rId3" imgW="0" imgH="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94100"/>
                        <a:ext cx="76200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1524000" y="2286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74718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311150" y="1524000"/>
            <a:ext cx="8001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charset="0"/>
              </a:rPr>
              <a:t>              </a:t>
            </a:r>
            <a:r>
              <a:rPr kumimoji="1" lang="zh-CN" altLang="en-US" sz="2400" b="1">
                <a:latin typeface="Times New Roman" charset="0"/>
              </a:rPr>
              <a:t>模 式 串  </a:t>
            </a:r>
            <a:r>
              <a:rPr kumimoji="1" lang="en-US" altLang="zh-CN" sz="2400" b="1">
                <a:latin typeface="Times New Roman" charset="0"/>
              </a:rPr>
              <a:t>T</a:t>
            </a:r>
            <a:r>
              <a:rPr kumimoji="1" lang="zh-CN" altLang="en-US" sz="2400" b="1">
                <a:latin typeface="Times New Roman" charset="0"/>
              </a:rPr>
              <a:t>：   </a:t>
            </a:r>
            <a:r>
              <a:rPr kumimoji="1" lang="en-US" altLang="zh-CN" sz="2800" b="1">
                <a:latin typeface="Times New Roman" charset="0"/>
              </a:rPr>
              <a:t>a   b   a   a   b   c   a   c</a:t>
            </a:r>
          </a:p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charset="0"/>
              </a:rPr>
              <a:t>          </a:t>
            </a:r>
            <a:r>
              <a:rPr kumimoji="1" lang="zh-CN" altLang="en-US" sz="2400" b="1">
                <a:latin typeface="Times New Roman" charset="0"/>
              </a:rPr>
              <a:t>可能失配位 </a:t>
            </a:r>
            <a:r>
              <a:rPr kumimoji="1" lang="en-US" altLang="zh-CN" sz="2400" b="1">
                <a:latin typeface="Times New Roman" charset="0"/>
              </a:rPr>
              <a:t>j</a:t>
            </a:r>
            <a:r>
              <a:rPr kumimoji="1" lang="zh-CN" altLang="en-US" sz="2400" b="1">
                <a:latin typeface="Times New Roman" charset="0"/>
              </a:rPr>
              <a:t>：   </a:t>
            </a:r>
            <a:r>
              <a:rPr kumimoji="1" lang="en-US" altLang="zh-CN" sz="2400" b="1">
                <a:latin typeface="Times New Roman" charset="0"/>
              </a:rPr>
              <a:t>1    2    3    4    5    6    7    8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charset="0"/>
              </a:rPr>
              <a:t>新匹配位</a:t>
            </a:r>
            <a:r>
              <a:rPr kumimoji="1" lang="en-US" altLang="zh-CN" sz="2400" b="1">
                <a:latin typeface="Times New Roman" charset="0"/>
              </a:rPr>
              <a:t>k=next[j] :</a:t>
            </a:r>
          </a:p>
        </p:txBody>
      </p:sp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3311525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0</a:t>
            </a:r>
          </a:p>
        </p:txBody>
      </p:sp>
      <p:sp>
        <p:nvSpPr>
          <p:cNvPr id="139268" name="Line 4"/>
          <p:cNvSpPr>
            <a:spLocks noChangeShapeType="1"/>
          </p:cNvSpPr>
          <p:nvPr/>
        </p:nvSpPr>
        <p:spPr bwMode="auto">
          <a:xfrm>
            <a:off x="296863" y="2962275"/>
            <a:ext cx="690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3806825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1</a:t>
            </a:r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4211638" y="2514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1</a:t>
            </a:r>
          </a:p>
        </p:txBody>
      </p:sp>
      <p:sp>
        <p:nvSpPr>
          <p:cNvPr id="139271" name="Rectangle 7"/>
          <p:cNvSpPr>
            <a:spLocks noChangeArrowheads="1"/>
          </p:cNvSpPr>
          <p:nvPr/>
        </p:nvSpPr>
        <p:spPr bwMode="auto">
          <a:xfrm>
            <a:off x="4706938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2</a:t>
            </a:r>
          </a:p>
        </p:txBody>
      </p:sp>
      <p:sp>
        <p:nvSpPr>
          <p:cNvPr id="139272" name="Rectangle 8"/>
          <p:cNvSpPr>
            <a:spLocks noChangeArrowheads="1"/>
          </p:cNvSpPr>
          <p:nvPr/>
        </p:nvSpPr>
        <p:spPr bwMode="auto">
          <a:xfrm>
            <a:off x="5157788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2</a:t>
            </a:r>
          </a:p>
        </p:txBody>
      </p:sp>
      <p:sp>
        <p:nvSpPr>
          <p:cNvPr id="139273" name="Rectangle 9"/>
          <p:cNvSpPr>
            <a:spLocks noChangeArrowheads="1"/>
          </p:cNvSpPr>
          <p:nvPr/>
        </p:nvSpPr>
        <p:spPr bwMode="auto">
          <a:xfrm>
            <a:off x="5607050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3</a:t>
            </a:r>
          </a:p>
        </p:txBody>
      </p:sp>
      <p:sp>
        <p:nvSpPr>
          <p:cNvPr id="139274" name="Rectangle 10"/>
          <p:cNvSpPr>
            <a:spLocks noChangeArrowheads="1"/>
          </p:cNvSpPr>
          <p:nvPr/>
        </p:nvSpPr>
        <p:spPr bwMode="auto">
          <a:xfrm>
            <a:off x="6011863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1</a:t>
            </a:r>
          </a:p>
        </p:txBody>
      </p:sp>
      <p:sp>
        <p:nvSpPr>
          <p:cNvPr id="139275" name="Rectangle 11"/>
          <p:cNvSpPr>
            <a:spLocks noChangeArrowheads="1"/>
          </p:cNvSpPr>
          <p:nvPr/>
        </p:nvSpPr>
        <p:spPr bwMode="auto">
          <a:xfrm>
            <a:off x="6462713" y="25114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2</a:t>
            </a:r>
          </a:p>
        </p:txBody>
      </p:sp>
      <p:sp>
        <p:nvSpPr>
          <p:cNvPr id="139276" name="Rectangle 12"/>
          <p:cNvSpPr>
            <a:spLocks noChangeArrowheads="1"/>
          </p:cNvSpPr>
          <p:nvPr/>
        </p:nvSpPr>
        <p:spPr bwMode="auto">
          <a:xfrm>
            <a:off x="609600" y="3592513"/>
            <a:ext cx="83820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>
                <a:latin typeface="Times New Roman" charset="0"/>
                <a:ea typeface="楷体_GB2312" charset="0"/>
              </a:rPr>
              <a:t>j=1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时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, next[ j ]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＝ 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；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1">
                <a:latin typeface="Times New Roman" charset="0"/>
                <a:ea typeface="楷体_GB2312" charset="0"/>
              </a:rPr>
              <a:t>j=2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时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, next[ j ]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＝ 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；</a:t>
            </a:r>
          </a:p>
        </p:txBody>
      </p:sp>
      <p:sp>
        <p:nvSpPr>
          <p:cNvPr id="139277" name="Rectangle 13"/>
          <p:cNvSpPr>
            <a:spLocks noChangeArrowheads="1"/>
          </p:cNvSpPr>
          <p:nvPr/>
        </p:nvSpPr>
        <p:spPr bwMode="auto">
          <a:xfrm>
            <a:off x="590550" y="4492625"/>
            <a:ext cx="5916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j=3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时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, T</a:t>
            </a:r>
            <a:r>
              <a:rPr kumimoji="1" lang="en-US" altLang="zh-CN" sz="2400" b="1" baseline="-25000"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2400" b="1">
                <a:latin typeface="Times New Roman" charset="0"/>
              </a:rPr>
              <a:t>≠T</a:t>
            </a:r>
            <a:r>
              <a:rPr kumimoji="1" lang="en-US" altLang="zh-CN" sz="2400" b="1" baseline="-25000">
                <a:latin typeface="Times New Roman" charset="0"/>
              </a:rPr>
              <a:t>2</a:t>
            </a:r>
            <a:r>
              <a:rPr kumimoji="1" lang="zh-CN" altLang="en-US" sz="2400" b="1">
                <a:latin typeface="Times New Roman" charset="0"/>
              </a:rPr>
              <a:t>，因此，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k=1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；</a:t>
            </a:r>
            <a:endParaRPr kumimoji="1" lang="zh-CN" altLang="en-US" sz="2000" b="1">
              <a:latin typeface="Times New Roman" charset="0"/>
              <a:ea typeface="楷体_GB2312" charset="0"/>
            </a:endParaRPr>
          </a:p>
        </p:txBody>
      </p:sp>
      <p:sp>
        <p:nvSpPr>
          <p:cNvPr id="139278" name="Rectangle 14"/>
          <p:cNvSpPr>
            <a:spLocks noChangeArrowheads="1"/>
          </p:cNvSpPr>
          <p:nvPr/>
        </p:nvSpPr>
        <p:spPr bwMode="auto">
          <a:xfrm>
            <a:off x="609600" y="5673725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j=4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时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, T</a:t>
            </a:r>
            <a:r>
              <a:rPr kumimoji="1" lang="en-US" altLang="zh-CN" sz="2400" b="1" baseline="-25000"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400" b="1" baseline="-25000">
                <a:latin typeface="Times New Roman" charset="0"/>
                <a:ea typeface="楷体_GB2312" charset="0"/>
              </a:rPr>
              <a:t>3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，因此，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k=2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；</a:t>
            </a:r>
          </a:p>
        </p:txBody>
      </p:sp>
      <p:sp>
        <p:nvSpPr>
          <p:cNvPr id="139279" name="Rectangle 15"/>
          <p:cNvSpPr>
            <a:spLocks noChangeArrowheads="1"/>
          </p:cNvSpPr>
          <p:nvPr/>
        </p:nvSpPr>
        <p:spPr bwMode="auto">
          <a:xfrm>
            <a:off x="611188" y="5437188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Times New Roman" charset="0"/>
                <a:ea typeface="楷体_GB2312" charset="0"/>
              </a:rPr>
              <a:t>j=5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时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, T</a:t>
            </a:r>
            <a:r>
              <a:rPr kumimoji="1" lang="en-US" altLang="zh-CN" sz="2400" b="1" baseline="-25000"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T</a:t>
            </a:r>
            <a:r>
              <a:rPr kumimoji="1" lang="en-US" altLang="zh-CN" sz="2400" b="1" baseline="-25000">
                <a:latin typeface="Times New Roman" charset="0"/>
              </a:rPr>
              <a:t>4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，因此，</a:t>
            </a:r>
            <a:r>
              <a:rPr kumimoji="1" lang="en-US" altLang="zh-CN" sz="2400" b="1">
                <a:latin typeface="Times New Roman" charset="0"/>
                <a:ea typeface="楷体_GB2312" charset="0"/>
              </a:rPr>
              <a:t>k=2</a:t>
            </a:r>
            <a:r>
              <a:rPr kumimoji="1" lang="zh-CN" altLang="en-US" sz="2400" b="1">
                <a:latin typeface="Times New Roman" charset="0"/>
                <a:ea typeface="楷体_GB2312" charset="0"/>
              </a:rPr>
              <a:t>；</a:t>
            </a:r>
          </a:p>
        </p:txBody>
      </p:sp>
      <p:sp>
        <p:nvSpPr>
          <p:cNvPr id="139280" name="Line 16"/>
          <p:cNvSpPr>
            <a:spLocks noChangeShapeType="1"/>
          </p:cNvSpPr>
          <p:nvPr/>
        </p:nvSpPr>
        <p:spPr bwMode="auto">
          <a:xfrm>
            <a:off x="296863" y="2466975"/>
            <a:ext cx="690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82" name="Text Box 18"/>
          <p:cNvSpPr txBox="1">
            <a:spLocks noChangeArrowheads="1"/>
          </p:cNvSpPr>
          <p:nvPr/>
        </p:nvSpPr>
        <p:spPr bwMode="auto">
          <a:xfrm>
            <a:off x="1447800" y="3048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155352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9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9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39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39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autoUpdateAnimBg="0"/>
      <p:bldP spid="139269" grpId="0" autoUpdateAnimBg="0"/>
      <p:bldP spid="139270" grpId="0" autoUpdateAnimBg="0"/>
      <p:bldP spid="139271" grpId="0" autoUpdateAnimBg="0"/>
      <p:bldP spid="139272" grpId="0" autoUpdateAnimBg="0"/>
      <p:bldP spid="139273" grpId="0" autoUpdateAnimBg="0"/>
      <p:bldP spid="139274" grpId="0" autoUpdateAnimBg="0"/>
      <p:bldP spid="139275" grpId="0" autoUpdateAnimBg="0"/>
      <p:bldP spid="139276" grpId="0" build="p" autoUpdateAnimBg="0"/>
      <p:bldP spid="139277" grpId="0" build="p" autoUpdateAnimBg="0"/>
      <p:bldP spid="139278" grpId="0" autoUpdateAnimBg="0"/>
      <p:bldP spid="139279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304800" y="1981200"/>
            <a:ext cx="8534400" cy="468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35000"/>
              </a:spcBef>
              <a:buFontTx/>
              <a:buAutoNum type="arabicPeriod"/>
            </a:pPr>
            <a:r>
              <a:rPr lang="zh-CN" altLang="en-US" sz="2800" b="1">
                <a:latin typeface="Times New Roman" charset="0"/>
              </a:rPr>
              <a:t>在串</a:t>
            </a:r>
            <a:r>
              <a:rPr lang="en-US" altLang="zh-CN" sz="2800" b="1">
                <a:latin typeface="Times New Roman" charset="0"/>
              </a:rPr>
              <a:t>S</a:t>
            </a:r>
            <a:r>
              <a:rPr lang="zh-CN" altLang="en-US" sz="2800" b="1">
                <a:latin typeface="Times New Roman" charset="0"/>
              </a:rPr>
              <a:t>和串</a:t>
            </a:r>
            <a:r>
              <a:rPr lang="en-US" altLang="zh-CN" sz="2800" b="1">
                <a:latin typeface="Times New Roman" charset="0"/>
              </a:rPr>
              <a:t>T</a:t>
            </a:r>
            <a:r>
              <a:rPr lang="zh-CN" altLang="en-US" sz="2800" b="1">
                <a:latin typeface="Times New Roman" charset="0"/>
              </a:rPr>
              <a:t>中分别设比较的起始下标</a:t>
            </a:r>
            <a:r>
              <a:rPr lang="en-US" altLang="zh-CN" sz="2800" b="1">
                <a:latin typeface="Times New Roman" charset="0"/>
              </a:rPr>
              <a:t>i</a:t>
            </a:r>
            <a:r>
              <a:rPr lang="zh-CN" altLang="en-US" sz="2800" b="1">
                <a:latin typeface="Times New Roman" charset="0"/>
              </a:rPr>
              <a:t>和</a:t>
            </a:r>
            <a:r>
              <a:rPr lang="en-US" altLang="zh-CN" sz="2800" b="1">
                <a:latin typeface="Times New Roman" charset="0"/>
              </a:rPr>
              <a:t>j</a:t>
            </a:r>
            <a:r>
              <a:rPr lang="zh-CN" altLang="en-US" sz="2800" b="1">
                <a:latin typeface="Times New Roman" charset="0"/>
              </a:rPr>
              <a:t>；</a:t>
            </a:r>
          </a:p>
          <a:p>
            <a:pPr>
              <a:spcBef>
                <a:spcPct val="35000"/>
              </a:spcBef>
            </a:pPr>
            <a:r>
              <a:rPr lang="en-US" altLang="zh-CN" sz="2800" b="1">
                <a:latin typeface="Times New Roman" charset="0"/>
              </a:rPr>
              <a:t>2. </a:t>
            </a:r>
            <a:r>
              <a:rPr lang="zh-CN" altLang="en-US" sz="2800" b="1">
                <a:latin typeface="Times New Roman" charset="0"/>
              </a:rPr>
              <a:t>循环直到</a:t>
            </a:r>
            <a:r>
              <a:rPr lang="en-US" altLang="zh-CN" sz="2800" b="1">
                <a:latin typeface="Times New Roman" charset="0"/>
              </a:rPr>
              <a:t>S</a:t>
            </a:r>
            <a:r>
              <a:rPr lang="zh-CN" altLang="en-US" sz="2800" b="1">
                <a:latin typeface="Times New Roman" charset="0"/>
              </a:rPr>
              <a:t>中所剩字符长度小于</a:t>
            </a:r>
            <a:r>
              <a:rPr lang="en-US" altLang="zh-CN" sz="2800" b="1">
                <a:latin typeface="Times New Roman" charset="0"/>
              </a:rPr>
              <a:t>T</a:t>
            </a:r>
            <a:r>
              <a:rPr lang="zh-CN" altLang="en-US" sz="2800" b="1">
                <a:latin typeface="Times New Roman" charset="0"/>
              </a:rPr>
              <a:t>的长度或</a:t>
            </a:r>
            <a:r>
              <a:rPr lang="en-US" altLang="zh-CN" sz="2800" b="1">
                <a:latin typeface="Times New Roman" charset="0"/>
              </a:rPr>
              <a:t>T</a:t>
            </a:r>
            <a:r>
              <a:rPr lang="zh-CN" altLang="en-US" sz="2800" b="1">
                <a:latin typeface="Times New Roman" charset="0"/>
              </a:rPr>
              <a:t>中所有字符均比较完毕</a:t>
            </a:r>
          </a:p>
          <a:p>
            <a:pPr algn="just">
              <a:spcBef>
                <a:spcPct val="35000"/>
              </a:spcBef>
            </a:pPr>
            <a:r>
              <a:rPr lang="zh-CN" altLang="en-US" sz="2800" b="1">
                <a:latin typeface="Times New Roman" charset="0"/>
              </a:rPr>
              <a:t>     </a:t>
            </a:r>
            <a:r>
              <a:rPr lang="en-US" altLang="zh-CN" sz="2800" b="1">
                <a:latin typeface="Times New Roman" charset="0"/>
              </a:rPr>
              <a:t>2.1 </a:t>
            </a:r>
            <a:r>
              <a:rPr lang="zh-CN" altLang="en-US" sz="2800" b="1">
                <a:latin typeface="Times New Roman" charset="0"/>
              </a:rPr>
              <a:t>如果</a:t>
            </a:r>
            <a:r>
              <a:rPr lang="en-US" altLang="zh-CN" sz="2800" b="1">
                <a:latin typeface="Times New Roman" charset="0"/>
              </a:rPr>
              <a:t>S[i]=T[j]</a:t>
            </a:r>
            <a:r>
              <a:rPr lang="zh-CN" altLang="en-US" sz="2800" b="1">
                <a:latin typeface="Times New Roman" charset="0"/>
              </a:rPr>
              <a:t>，继续比较</a:t>
            </a:r>
            <a:r>
              <a:rPr lang="en-US" altLang="zh-CN" sz="2800" b="1">
                <a:latin typeface="Times New Roman" charset="0"/>
              </a:rPr>
              <a:t>S</a:t>
            </a:r>
            <a:r>
              <a:rPr lang="zh-CN" altLang="en-US" sz="2800" b="1">
                <a:latin typeface="Times New Roman" charset="0"/>
              </a:rPr>
              <a:t>和</a:t>
            </a:r>
            <a:r>
              <a:rPr lang="en-US" altLang="zh-CN" sz="2800" b="1">
                <a:latin typeface="Times New Roman" charset="0"/>
              </a:rPr>
              <a:t>T</a:t>
            </a:r>
            <a:r>
              <a:rPr lang="zh-CN" altLang="en-US" sz="2800" b="1">
                <a:latin typeface="Times New Roman" charset="0"/>
              </a:rPr>
              <a:t>的下一个字符；否则</a:t>
            </a:r>
          </a:p>
          <a:p>
            <a:pPr algn="just">
              <a:spcBef>
                <a:spcPct val="35000"/>
              </a:spcBef>
            </a:pPr>
            <a:r>
              <a:rPr lang="zh-CN" altLang="en-US" sz="2800" b="1">
                <a:latin typeface="Times New Roman" charset="0"/>
              </a:rPr>
              <a:t>     </a:t>
            </a:r>
            <a:r>
              <a:rPr lang="en-US" altLang="zh-CN" sz="2800" b="1">
                <a:latin typeface="Times New Roman" charset="0"/>
              </a:rPr>
              <a:t>2.2 </a:t>
            </a:r>
            <a:r>
              <a:rPr lang="zh-CN" altLang="en-US" sz="2800" b="1">
                <a:latin typeface="Times New Roman" charset="0"/>
              </a:rPr>
              <a:t>将</a:t>
            </a:r>
            <a:r>
              <a:rPr lang="en-US" altLang="zh-CN" sz="2800" b="1">
                <a:latin typeface="Times New Roman" charset="0"/>
              </a:rPr>
              <a:t>j</a:t>
            </a:r>
            <a:r>
              <a:rPr lang="zh-CN" altLang="en-US" sz="2800" b="1">
                <a:latin typeface="Times New Roman" charset="0"/>
              </a:rPr>
              <a:t>向右滑动到</a:t>
            </a:r>
            <a:r>
              <a:rPr lang="en-US" altLang="zh-CN" sz="2800" b="1">
                <a:latin typeface="Times New Roman" charset="0"/>
              </a:rPr>
              <a:t>next[j]</a:t>
            </a:r>
            <a:r>
              <a:rPr lang="zh-CN" altLang="en-US" sz="2800" b="1">
                <a:latin typeface="Times New Roman" charset="0"/>
              </a:rPr>
              <a:t>位置，即</a:t>
            </a:r>
            <a:r>
              <a:rPr lang="en-US" altLang="zh-CN" sz="2800" b="1">
                <a:latin typeface="Times New Roman" charset="0"/>
              </a:rPr>
              <a:t>j=next[j]</a:t>
            </a:r>
            <a:r>
              <a:rPr lang="zh-CN" altLang="en-US" sz="2800" b="1">
                <a:latin typeface="Times New Roman" charset="0"/>
              </a:rPr>
              <a:t>；</a:t>
            </a:r>
          </a:p>
          <a:p>
            <a:pPr algn="just">
              <a:spcBef>
                <a:spcPct val="35000"/>
              </a:spcBef>
            </a:pPr>
            <a:r>
              <a:rPr lang="zh-CN" altLang="en-US" sz="2800" b="1">
                <a:latin typeface="Times New Roman" charset="0"/>
              </a:rPr>
              <a:t>     </a:t>
            </a:r>
            <a:r>
              <a:rPr lang="en-US" altLang="zh-CN" sz="2800" b="1">
                <a:latin typeface="Times New Roman" charset="0"/>
              </a:rPr>
              <a:t>2.3 </a:t>
            </a:r>
            <a:r>
              <a:rPr lang="zh-CN" altLang="en-US" sz="2800" b="1">
                <a:latin typeface="Times New Roman" charset="0"/>
              </a:rPr>
              <a:t>如果</a:t>
            </a:r>
            <a:r>
              <a:rPr lang="en-US" altLang="zh-CN" sz="2800" b="1">
                <a:latin typeface="Times New Roman" charset="0"/>
              </a:rPr>
              <a:t>j=0</a:t>
            </a:r>
            <a:r>
              <a:rPr lang="zh-CN" altLang="en-US" sz="2800" b="1">
                <a:latin typeface="Times New Roman" charset="0"/>
              </a:rPr>
              <a:t>，则将</a:t>
            </a:r>
            <a:r>
              <a:rPr lang="en-US" altLang="zh-CN" sz="2800" b="1">
                <a:latin typeface="Times New Roman" charset="0"/>
              </a:rPr>
              <a:t>i</a:t>
            </a:r>
            <a:r>
              <a:rPr lang="zh-CN" altLang="en-US" sz="2800" b="1">
                <a:latin typeface="Times New Roman" charset="0"/>
              </a:rPr>
              <a:t>和</a:t>
            </a:r>
            <a:r>
              <a:rPr lang="en-US" altLang="zh-CN" sz="2800" b="1">
                <a:latin typeface="Times New Roman" charset="0"/>
              </a:rPr>
              <a:t>j</a:t>
            </a:r>
            <a:r>
              <a:rPr lang="zh-CN" altLang="en-US" sz="2800" b="1">
                <a:latin typeface="Times New Roman" charset="0"/>
              </a:rPr>
              <a:t>分别加</a:t>
            </a:r>
            <a:r>
              <a:rPr lang="en-US" altLang="zh-CN" sz="2800" b="1">
                <a:latin typeface="Times New Roman" charset="0"/>
              </a:rPr>
              <a:t>1</a:t>
            </a:r>
            <a:r>
              <a:rPr lang="zh-CN" altLang="en-US" sz="2800" b="1">
                <a:latin typeface="Times New Roman" charset="0"/>
              </a:rPr>
              <a:t>，准备下一趟比较；</a:t>
            </a:r>
          </a:p>
          <a:p>
            <a:pPr>
              <a:spcBef>
                <a:spcPct val="35000"/>
              </a:spcBef>
            </a:pPr>
            <a:r>
              <a:rPr lang="zh-CN" altLang="en-US" sz="2800" b="1">
                <a:latin typeface="Times New Roman" charset="0"/>
              </a:rPr>
              <a:t> </a:t>
            </a:r>
            <a:r>
              <a:rPr lang="en-US" altLang="zh-CN" sz="2800" b="1">
                <a:latin typeface="Times New Roman" charset="0"/>
              </a:rPr>
              <a:t>3. </a:t>
            </a:r>
            <a:r>
              <a:rPr lang="zh-CN" altLang="en-US" sz="2800" b="1">
                <a:latin typeface="宋体" charset="-122"/>
              </a:rPr>
              <a:t>如果</a:t>
            </a:r>
            <a:r>
              <a:rPr lang="en-US" altLang="zh-CN" sz="2800" b="1">
                <a:latin typeface="Times New Roman" charset="0"/>
              </a:rPr>
              <a:t>T</a:t>
            </a:r>
            <a:r>
              <a:rPr lang="zh-CN" altLang="en-US" sz="2800" b="1">
                <a:latin typeface="宋体" charset="-122"/>
              </a:rPr>
              <a:t>中所有字符均比较完毕，则返回匹配的起始下标；否则返回</a:t>
            </a:r>
            <a:r>
              <a:rPr lang="en-US" altLang="zh-CN" sz="2800" b="1">
                <a:latin typeface="Times New Roman" charset="0"/>
              </a:rPr>
              <a:t>0</a:t>
            </a:r>
            <a:r>
              <a:rPr lang="zh-CN" altLang="en-US" sz="2800" b="1">
                <a:latin typeface="宋体" charset="-122"/>
              </a:rPr>
              <a:t>；</a:t>
            </a:r>
            <a:r>
              <a:rPr lang="zh-CN" altLang="en-US" sz="2800" b="1">
                <a:latin typeface="Times New Roman" charset="0"/>
              </a:rPr>
              <a:t> </a:t>
            </a:r>
          </a:p>
        </p:txBody>
      </p:sp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charset="0"/>
              </a:rPr>
              <a:t>KMP</a:t>
            </a:r>
            <a:r>
              <a:rPr lang="zh-CN" altLang="en-US" sz="2800" b="1">
                <a:latin typeface="宋体" charset="-122"/>
              </a:rPr>
              <a:t>算法用伪代码描述</a:t>
            </a:r>
            <a:r>
              <a:rPr lang="zh-CN" altLang="en-US" sz="2800" b="1">
                <a:latin typeface="Times New Roman" charset="0"/>
              </a:rPr>
              <a:t> </a:t>
            </a:r>
          </a:p>
        </p:txBody>
      </p:sp>
      <p:sp>
        <p:nvSpPr>
          <p:cNvPr id="140293" name="Text Box 5"/>
          <p:cNvSpPr txBox="1">
            <a:spLocks noChangeArrowheads="1"/>
          </p:cNvSpPr>
          <p:nvPr/>
        </p:nvSpPr>
        <p:spPr bwMode="auto">
          <a:xfrm>
            <a:off x="1447800" y="304800"/>
            <a:ext cx="746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 b="1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 b="1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103636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458200" cy="41148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>
                <a:ea typeface="楷体_GB2312" charset="0"/>
              </a:rPr>
              <a:t>     </a:t>
            </a:r>
            <a:r>
              <a:rPr lang="en-US" altLang="zh-CN" sz="2800">
                <a:latin typeface="Times New Roman" charset="0"/>
                <a:ea typeface="楷体_GB2312" charset="0"/>
              </a:rPr>
              <a:t>i = pos;   j = 1;</a:t>
            </a:r>
            <a:endParaRPr lang="en-US" altLang="zh-CN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800">
                <a:latin typeface="Times New Roman" charset="0"/>
                <a:ea typeface="楷体_GB2312" charset="0"/>
              </a:rPr>
              <a:t>   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while</a:t>
            </a:r>
            <a:r>
              <a:rPr lang="en-US" altLang="zh-CN" sz="2800">
                <a:latin typeface="Times New Roman" charset="0"/>
                <a:ea typeface="楷体_GB2312" charset="0"/>
              </a:rPr>
              <a:t> (i &lt;= S[0] &amp;&amp; j &lt;= T[0])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{</a:t>
            </a:r>
            <a:endParaRPr lang="en-US" altLang="zh-CN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800" b="1">
                <a:latin typeface="Times New Roman" charset="0"/>
                <a:ea typeface="楷体_GB2312" charset="0"/>
              </a:rPr>
              <a:t>         if</a:t>
            </a:r>
            <a:r>
              <a:rPr lang="en-US" altLang="zh-CN" sz="2800">
                <a:latin typeface="Times New Roman" charset="0"/>
                <a:ea typeface="楷体_GB2312" charset="0"/>
              </a:rPr>
              <a:t> (j = = 0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||</a:t>
            </a:r>
            <a:r>
              <a:rPr lang="en-US" altLang="zh-CN" sz="2800">
                <a:latin typeface="Times New Roman" charset="0"/>
                <a:ea typeface="楷体_GB2312" charset="0"/>
              </a:rPr>
              <a:t> S[i] = = T[j]) 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800">
                <a:latin typeface="Times New Roman" charset="0"/>
                <a:ea typeface="楷体_GB2312" charset="0"/>
              </a:rPr>
              <a:t>            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{</a:t>
            </a:r>
            <a:r>
              <a:rPr lang="en-US" altLang="zh-CN" sz="2800">
                <a:latin typeface="Times New Roman" charset="0"/>
                <a:ea typeface="楷体_GB2312" charset="0"/>
              </a:rPr>
              <a:t> ++i;  ++j;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}</a:t>
            </a:r>
            <a:r>
              <a:rPr lang="en-US" altLang="zh-CN" sz="2800">
                <a:latin typeface="Times New Roman" charset="0"/>
                <a:ea typeface="楷体_GB2312" charset="0"/>
              </a:rPr>
              <a:t>          // </a:t>
            </a:r>
            <a:r>
              <a:rPr lang="zh-CN" altLang="en-US" sz="2800">
                <a:latin typeface="Times New Roman" charset="0"/>
                <a:ea typeface="楷体_GB2312" charset="0"/>
              </a:rPr>
              <a:t>继续比较后继字符</a:t>
            </a:r>
            <a:endParaRPr lang="zh-CN" altLang="en-US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Times New Roman" charset="0"/>
                <a:ea typeface="楷体_GB2312" charset="0"/>
              </a:rPr>
              <a:t>       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else</a:t>
            </a:r>
            <a:r>
              <a:rPr lang="en-US" altLang="zh-CN" sz="2800">
                <a:latin typeface="Times New Roman" charset="0"/>
                <a:ea typeface="楷体_GB2312" charset="0"/>
              </a:rPr>
              <a:t>  j = next[j];          // </a:t>
            </a:r>
            <a:r>
              <a:rPr lang="zh-CN" altLang="en-US" sz="2800">
                <a:latin typeface="Times New Roman" charset="0"/>
                <a:ea typeface="楷体_GB2312" charset="0"/>
              </a:rPr>
              <a:t>模式串向右移动</a:t>
            </a:r>
            <a:endParaRPr lang="zh-CN" altLang="en-US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zh-CN" altLang="en-US" sz="2800">
                <a:latin typeface="Times New Roman" charset="0"/>
                <a:ea typeface="楷体_GB2312" charset="0"/>
              </a:rPr>
              <a:t>    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}</a:t>
            </a:r>
            <a:endParaRPr lang="en-US" altLang="zh-CN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800">
                <a:latin typeface="Times New Roman" charset="0"/>
                <a:ea typeface="楷体_GB2312" charset="0"/>
              </a:rPr>
              <a:t>    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if</a:t>
            </a:r>
            <a:r>
              <a:rPr lang="en-US" altLang="zh-CN" sz="2800">
                <a:latin typeface="Times New Roman" charset="0"/>
                <a:ea typeface="楷体_GB2312" charset="0"/>
              </a:rPr>
              <a:t> (j &gt; T[0])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return </a:t>
            </a:r>
            <a:r>
              <a:rPr lang="en-US" altLang="zh-CN" sz="2800">
                <a:latin typeface="Times New Roman" charset="0"/>
                <a:ea typeface="楷体_GB2312" charset="0"/>
              </a:rPr>
              <a:t> i-T[0];            // </a:t>
            </a:r>
            <a:r>
              <a:rPr lang="zh-CN" altLang="en-US" sz="2800">
                <a:latin typeface="Times New Roman" charset="0"/>
                <a:ea typeface="楷体_GB2312" charset="0"/>
              </a:rPr>
              <a:t>匹配成功</a:t>
            </a:r>
            <a:endParaRPr lang="zh-CN" altLang="en-US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zh-CN" altLang="en-US" sz="2800">
                <a:latin typeface="Times New Roman" charset="0"/>
                <a:ea typeface="楷体_GB2312" charset="0"/>
              </a:rPr>
              <a:t>      </a:t>
            </a:r>
            <a:r>
              <a:rPr lang="en-US" altLang="zh-CN" sz="2800" b="1">
                <a:latin typeface="Times New Roman" charset="0"/>
                <a:ea typeface="楷体_GB2312" charset="0"/>
              </a:rPr>
              <a:t>else return</a:t>
            </a:r>
            <a:r>
              <a:rPr lang="en-US" altLang="zh-CN" sz="2800">
                <a:latin typeface="Times New Roman" charset="0"/>
                <a:ea typeface="楷体_GB2312" charset="0"/>
              </a:rPr>
              <a:t> 0;</a:t>
            </a:r>
            <a:endParaRPr lang="en-US" altLang="zh-CN" sz="2800">
              <a:latin typeface="Times New Roman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800" b="1">
                <a:latin typeface="Times New Roman" charset="0"/>
                <a:ea typeface="楷体_GB2312" charset="0"/>
              </a:rPr>
              <a:t>}</a:t>
            </a:r>
            <a:endParaRPr lang="en-US" altLang="zh-CN" sz="2800">
              <a:latin typeface="Times New Roman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800">
              <a:latin typeface="Times New Roman" charset="0"/>
            </a:endParaRP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685800" y="1352550"/>
            <a:ext cx="6999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2800" b="1"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Index_KMP(SString S, SString T,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2800">
                <a:latin typeface="Times New Roman" charset="0"/>
                <a:ea typeface="楷体_GB2312" charset="0"/>
              </a:rPr>
              <a:t> pos) </a:t>
            </a:r>
            <a:r>
              <a:rPr kumimoji="1" lang="en-US" altLang="zh-CN" sz="2800" b="1">
                <a:latin typeface="Times New Roman" charset="0"/>
                <a:ea typeface="楷体_GB2312" charset="0"/>
              </a:rPr>
              <a:t>{</a:t>
            </a:r>
          </a:p>
        </p:txBody>
      </p:sp>
      <p:sp>
        <p:nvSpPr>
          <p:cNvPr id="148485" name="AutoShape 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305800" y="6324600"/>
            <a:ext cx="304800" cy="2286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8" name="Text Box 8"/>
          <p:cNvSpPr txBox="1">
            <a:spLocks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333399"/>
                </a:solidFill>
                <a:latin typeface="Times New Roman" charset="0"/>
              </a:rPr>
              <a:t>模式匹配</a:t>
            </a:r>
            <a:r>
              <a:rPr lang="en-US" altLang="zh-CN" sz="3200">
                <a:solidFill>
                  <a:srgbClr val="333399"/>
                </a:solidFill>
                <a:latin typeface="Times New Roman" charset="0"/>
              </a:rPr>
              <a:t>——KMP</a:t>
            </a:r>
            <a:r>
              <a:rPr lang="zh-CN" altLang="en-US" sz="3200">
                <a:solidFill>
                  <a:srgbClr val="333399"/>
                </a:solidFill>
                <a:latin typeface="Times New Roman" charset="0"/>
              </a:rPr>
              <a:t>算法 </a:t>
            </a:r>
          </a:p>
        </p:txBody>
      </p:sp>
    </p:spTree>
    <p:extLst>
      <p:ext uri="{BB962C8B-B14F-4D97-AF65-F5344CB8AC3E}">
        <p14:creationId xmlns:p14="http://schemas.microsoft.com/office/powerpoint/2010/main" val="2727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914400" y="1743075"/>
            <a:ext cx="739140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40000"/>
              </a:spcBef>
              <a:buClr>
                <a:srgbClr val="009900"/>
              </a:buClr>
              <a:buFont typeface="Wingdings" charset="2"/>
              <a:buChar char="ü"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从前面的讨论可知，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next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函数值仅取决于模式串本身，而与主串无关。</a:t>
            </a:r>
          </a:p>
          <a:p>
            <a:pPr>
              <a:lnSpc>
                <a:spcPct val="125000"/>
              </a:lnSpc>
              <a:spcBef>
                <a:spcPct val="40000"/>
              </a:spcBef>
              <a:buClr>
                <a:srgbClr val="009900"/>
              </a:buClr>
              <a:buFont typeface="Wingdings" charset="2"/>
              <a:buChar char="ü"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 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next[j]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的值等于在“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…p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k-1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k…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j-1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”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这个模式串中，相同的前缀子串和后缀子串的最大长度加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1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。因此要计算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next[j]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就要在“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…p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k-1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k…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j-1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”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找出前缀和后缀相同的最大子串。这个查找过程实际上仍然是模式匹配，只是匹配的模式与目标在这里是同一个串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P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。</a:t>
            </a:r>
          </a:p>
          <a:p>
            <a:pPr>
              <a:lnSpc>
                <a:spcPct val="125000"/>
              </a:lnSpc>
            </a:pP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</a:endParaRPr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1524000" y="381000"/>
            <a:ext cx="5008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1">
                <a:solidFill>
                  <a:srgbClr val="0033CC"/>
                </a:solidFill>
                <a:latin typeface="Times New Roman" charset="0"/>
              </a:rPr>
              <a:t>模式串的</a:t>
            </a:r>
            <a:r>
              <a:rPr kumimoji="1" lang="en-US" altLang="zh-CN" sz="3200" b="1">
                <a:solidFill>
                  <a:srgbClr val="0033CC"/>
                </a:solidFill>
                <a:latin typeface="Times New Roman" charset="0"/>
              </a:rPr>
              <a:t>next</a:t>
            </a:r>
            <a:r>
              <a:rPr kumimoji="1" lang="zh-CN" altLang="en-US" sz="3200" b="1">
                <a:solidFill>
                  <a:srgbClr val="0033CC"/>
                </a:solidFill>
                <a:latin typeface="Times New Roman" charset="0"/>
              </a:rPr>
              <a:t>数组的生成？</a:t>
            </a:r>
          </a:p>
        </p:txBody>
      </p:sp>
    </p:spTree>
    <p:extLst>
      <p:ext uri="{BB962C8B-B14F-4D97-AF65-F5344CB8AC3E}">
        <p14:creationId xmlns:p14="http://schemas.microsoft.com/office/powerpoint/2010/main" val="92761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1371600" y="304800"/>
            <a:ext cx="7239000" cy="135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</a:rPr>
              <a:t>求</a:t>
            </a:r>
            <a:r>
              <a:rPr kumimoji="1" lang="en-US" altLang="zh-CN" sz="3600" i="1">
                <a:latin typeface="Times New Roman" charset="0"/>
                <a:ea typeface="楷体_GB2312" charset="0"/>
              </a:rPr>
              <a:t>next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函数值的过程是一个递推过程，分析如下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: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676275" y="1835150"/>
            <a:ext cx="4048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已知：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next[1] = 0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；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711200" y="2597150"/>
            <a:ext cx="6527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假设：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next[j] = k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；又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T[j] = T[k]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685800" y="4267200"/>
            <a:ext cx="4232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即：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next[j+1] = k+1</a:t>
            </a:r>
            <a:endParaRPr kumimoji="1" lang="en-US" altLang="zh-CN" sz="4400">
              <a:latin typeface="Times New Roman" charset="0"/>
              <a:ea typeface="楷体_GB2312" charset="0"/>
            </a:endParaRPr>
          </a:p>
        </p:txBody>
      </p:sp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701675" y="5045075"/>
            <a:ext cx="6765925" cy="135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若：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T[j] 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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T[k]</a:t>
            </a:r>
          </a:p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则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需往前回朔，检查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T[j] = T[ 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？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]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568325" y="3392488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则有：</a:t>
            </a:r>
            <a:endParaRPr kumimoji="1" lang="zh-CN" altLang="en-US" sz="4000">
              <a:latin typeface="Times New Roman" charset="0"/>
            </a:endParaRPr>
          </a:p>
        </p:txBody>
      </p:sp>
      <p:graphicFrame>
        <p:nvGraphicFramePr>
          <p:cNvPr id="113672" name="Object 8"/>
          <p:cNvGraphicFramePr>
            <a:graphicFrameLocks noChangeAspect="1"/>
          </p:cNvGraphicFramePr>
          <p:nvPr/>
        </p:nvGraphicFramePr>
        <p:xfrm>
          <a:off x="2201863" y="3321050"/>
          <a:ext cx="52244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601" name="公式" r:id="rId4" imgW="1523880" imgH="241200" progId="Equation.3">
                  <p:embed/>
                </p:oleObj>
              </mc:Choice>
              <mc:Fallback>
                <p:oleObj name="公式" r:id="rId4" imgW="15238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3321050"/>
                        <a:ext cx="5224462" cy="847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4871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autoUpdateAnimBg="0"/>
      <p:bldP spid="113667" grpId="0" autoUpdateAnimBg="0"/>
      <p:bldP spid="113668" grpId="0" autoUpdateAnimBg="0"/>
      <p:bldP spid="113669" grpId="0" autoUpdateAnimBg="0"/>
      <p:bldP spid="113670" grpId="0" autoUpdateAnimBg="0"/>
      <p:bldP spid="113671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539750" y="5502275"/>
            <a:ext cx="7499350" cy="135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</a:rPr>
              <a:t>这实际上也是一个匹配的过程，</a:t>
            </a:r>
          </a:p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不同在于：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主串和模式串是同一个串</a:t>
            </a:r>
            <a:endParaRPr kumimoji="1" lang="zh-CN" altLang="en-US" sz="4400">
              <a:latin typeface="Times New Roman" charset="0"/>
            </a:endParaRP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1447800" y="833438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则有：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1447800" y="0"/>
            <a:ext cx="6934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假设：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next[k] = k’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；又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T[j] = T[k’]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549275" y="1570038"/>
            <a:ext cx="4232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则：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next[j+1] = k+1</a:t>
            </a:r>
            <a:endParaRPr kumimoji="1" lang="en-US" altLang="zh-CN" sz="4400">
              <a:latin typeface="Times New Roman" charset="0"/>
              <a:ea typeface="楷体_GB2312" charset="0"/>
            </a:endParaRP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539750" y="2193925"/>
            <a:ext cx="8604250" cy="32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若：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T[j] 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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T[k’]</a:t>
            </a:r>
          </a:p>
          <a:p>
            <a:pPr>
              <a:lnSpc>
                <a:spcPct val="115000"/>
              </a:lnSpc>
            </a:pPr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则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将模式串继续向右滑动直到将模式中第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next[k’]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个字符和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p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j 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对齐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,…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依次类推，直至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p</a:t>
            </a:r>
            <a:r>
              <a:rPr kumimoji="1" lang="en-US" altLang="zh-CN" sz="3600" baseline="-25000">
                <a:latin typeface="Times New Roman" charset="0"/>
                <a:ea typeface="楷体_GB2312" charset="0"/>
              </a:rPr>
              <a:t>j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和模式中某个字符匹配成功或者不存在任何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k’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满足式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(1),  </a:t>
            </a:r>
            <a:r>
              <a:rPr kumimoji="1" lang="zh-CN" altLang="en-US" sz="36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则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next[j+1] = 1</a:t>
            </a:r>
          </a:p>
        </p:txBody>
      </p:sp>
      <p:graphicFrame>
        <p:nvGraphicFramePr>
          <p:cNvPr id="115719" name="Object 7"/>
          <p:cNvGraphicFramePr>
            <a:graphicFrameLocks noChangeAspect="1"/>
          </p:cNvGraphicFramePr>
          <p:nvPr/>
        </p:nvGraphicFramePr>
        <p:xfrm>
          <a:off x="2971800" y="762000"/>
          <a:ext cx="55292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649" name="公式" r:id="rId3" imgW="1612800" imgH="241200" progId="Equation.3">
                  <p:embed/>
                </p:oleObj>
              </mc:Choice>
              <mc:Fallback>
                <p:oleObj name="公式" r:id="rId3" imgW="1612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762000"/>
                        <a:ext cx="5529263" cy="847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2529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utoUpdateAnimBg="0"/>
      <p:bldP spid="115715" grpId="0" autoUpdateAnimBg="0"/>
      <p:bldP spid="115716" grpId="0" autoUpdateAnimBg="0"/>
      <p:bldP spid="115717" grpId="0" autoUpdateAnimBg="0"/>
      <p:bldP spid="11571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1447800" y="0"/>
            <a:ext cx="72961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例：图中的模式串，已求得前</a:t>
            </a:r>
            <a:r>
              <a:rPr kumimoji="1" lang="en-US" altLang="zh-CN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6</a:t>
            </a:r>
            <a:r>
              <a:rPr kumimoji="1" lang="zh-CN" altLang="en-US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个字符的</a:t>
            </a:r>
          </a:p>
          <a:p>
            <a:r>
              <a:rPr kumimoji="1" lang="en-US" altLang="zh-CN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next</a:t>
            </a:r>
            <a:r>
              <a:rPr kumimoji="1" lang="zh-CN" altLang="en-US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函数值，现求</a:t>
            </a:r>
            <a:r>
              <a:rPr kumimoji="1" lang="en-US" altLang="zh-CN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next[7]</a:t>
            </a:r>
            <a:r>
              <a:rPr kumimoji="1" lang="zh-CN" altLang="en-US" sz="3200">
                <a:solidFill>
                  <a:srgbClr val="990000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395288" y="3860800"/>
            <a:ext cx="8604250" cy="135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</a:rPr>
              <a:t>因为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next[6]=3,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又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p6 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p3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，则需比较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p6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和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p1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（因为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next[3]=1,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）这相当于字串向右滑动</a:t>
            </a:r>
          </a:p>
        </p:txBody>
      </p:sp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971550" y="1196975"/>
          <a:ext cx="7008813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673" name="公式" r:id="rId3" imgW="2044440" imgH="711000" progId="Equation.3">
                  <p:embed/>
                </p:oleObj>
              </mc:Choice>
              <mc:Fallback>
                <p:oleObj name="公式" r:id="rId3" imgW="20444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96975"/>
                        <a:ext cx="7008813" cy="2498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395288" y="5300663"/>
            <a:ext cx="8604250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p6 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p1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，而且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next[1]=0,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）所以</a:t>
            </a:r>
            <a:r>
              <a:rPr kumimoji="1" lang="en-US" altLang="zh-CN" sz="3600">
                <a:latin typeface="Times New Roman" charset="0"/>
                <a:ea typeface="楷体_GB2312" charset="0"/>
                <a:sym typeface="Symbol" charset="2"/>
              </a:rPr>
              <a:t>next[7]=1;</a:t>
            </a:r>
          </a:p>
          <a:p>
            <a:pPr>
              <a:lnSpc>
                <a:spcPct val="115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而因为</a:t>
            </a:r>
            <a:r>
              <a:rPr kumimoji="1" lang="en-US" altLang="zh-CN" sz="4000">
                <a:latin typeface="Times New Roman" charset="0"/>
              </a:rPr>
              <a:t>p7 </a:t>
            </a:r>
            <a:r>
              <a:rPr kumimoji="1" lang="en-US" altLang="zh-CN" sz="4000">
                <a:latin typeface="Times New Roman" charset="0"/>
                <a:sym typeface="Symbol" charset="2"/>
              </a:rPr>
              <a:t>=p1</a:t>
            </a:r>
            <a:r>
              <a:rPr kumimoji="1" lang="zh-CN" altLang="en-US" sz="4000">
                <a:latin typeface="Times New Roman" charset="0"/>
                <a:sym typeface="Symbol" charset="2"/>
              </a:rPr>
              <a:t>，</a:t>
            </a:r>
            <a:r>
              <a:rPr kumimoji="1" lang="zh-CN" altLang="en-US" sz="3600">
                <a:latin typeface="Times New Roman" charset="0"/>
                <a:ea typeface="楷体_GB2312" charset="0"/>
                <a:sym typeface="Symbol" charset="2"/>
              </a:rPr>
              <a:t>则 </a:t>
            </a:r>
            <a:r>
              <a:rPr kumimoji="1" lang="en-US" altLang="zh-CN" sz="4000">
                <a:latin typeface="Times New Roman" charset="0"/>
                <a:sym typeface="Symbol" charset="2"/>
              </a:rPr>
              <a:t>next[8]=2</a:t>
            </a:r>
            <a:r>
              <a:rPr kumimoji="1" lang="zh-CN" altLang="en-US" sz="4000">
                <a:latin typeface="Times New Roman" charset="0"/>
                <a:sym typeface="Symbol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027044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autoUpdateAnimBg="0"/>
      <p:bldP spid="116739" grpId="0" autoUpdateAnimBg="0"/>
      <p:bldP spid="116741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758825" y="152400"/>
            <a:ext cx="8385175" cy="645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4400" b="1">
                <a:latin typeface="Times New Roman" charset="0"/>
                <a:ea typeface="楷体_GB2312" charset="0"/>
              </a:rPr>
              <a:t>   void</a:t>
            </a:r>
            <a:r>
              <a:rPr kumimoji="1" lang="en-US" altLang="zh-CN" sz="4400">
                <a:latin typeface="Times New Roman" charset="0"/>
                <a:ea typeface="楷体_GB2312" charset="0"/>
              </a:rPr>
              <a:t> get_next(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SString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T,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int &amp;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next[]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)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{</a:t>
            </a:r>
            <a:endParaRPr kumimoji="1" lang="en-US" altLang="zh-CN" sz="44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44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求模式串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T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的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next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函数值并存入数组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next</a:t>
            </a:r>
            <a:endParaRPr kumimoji="1" lang="en-US" altLang="zh-CN" sz="44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44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i = 1;   next[1] = 0;   j = 0;</a:t>
            </a:r>
          </a:p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(i &lt; T[0])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{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  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(j = 0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||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T[i]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==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T[j])</a:t>
            </a:r>
          </a:p>
          <a:p>
            <a:pPr>
              <a:lnSpc>
                <a:spcPct val="120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       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++i;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j; next[i] = j;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 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else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j = next[j];</a:t>
            </a:r>
          </a:p>
          <a:p>
            <a:pPr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600" b="1">
                <a:latin typeface="Times New Roman" charset="0"/>
                <a:ea typeface="楷体_GB2312" charset="0"/>
              </a:rPr>
              <a:t>    }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// get_next</a:t>
            </a:r>
            <a:endParaRPr kumimoji="1" lang="en-US" altLang="zh-CN" sz="36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27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304800" y="1336675"/>
            <a:ext cx="8507413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还有一种特殊情况需要考虑：</a:t>
            </a:r>
          </a:p>
          <a:p>
            <a:pPr>
              <a:lnSpc>
                <a:spcPct val="120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例如：</a:t>
            </a:r>
          </a:p>
          <a:p>
            <a:pPr>
              <a:lnSpc>
                <a:spcPct val="120000"/>
              </a:lnSpc>
            </a:pPr>
            <a:r>
              <a:rPr kumimoji="1" lang="zh-CN" altLang="en-US" sz="48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4800">
                <a:solidFill>
                  <a:srgbClr val="CC6600"/>
                </a:solidFill>
                <a:latin typeface="Times New Roman" charset="0"/>
                <a:ea typeface="楷体_GB2312" charset="0"/>
              </a:rPr>
              <a:t>S = </a:t>
            </a:r>
            <a:r>
              <a:rPr kumimoji="1" lang="en-US" altLang="zh-CN" sz="4800">
                <a:solidFill>
                  <a:srgbClr val="CC6600"/>
                </a:solidFill>
                <a:latin typeface="Times New Roman" charset="0"/>
                <a:ea typeface="楷体_GB2312" charset="0"/>
                <a:sym typeface="Symbol" charset="2"/>
              </a:rPr>
              <a:t></a:t>
            </a:r>
            <a:r>
              <a:rPr kumimoji="1" lang="en-US" altLang="zh-CN" sz="48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aaabaaabaaabaaabaaab</a:t>
            </a:r>
            <a:r>
              <a:rPr kumimoji="1" lang="en-US" altLang="zh-CN" sz="4800">
                <a:solidFill>
                  <a:srgbClr val="CC6600"/>
                </a:solidFill>
                <a:latin typeface="Times New Roman" charset="0"/>
                <a:ea typeface="楷体_GB2312" charset="0"/>
                <a:sym typeface="Symbol" charset="2"/>
              </a:rPr>
              <a:t></a:t>
            </a:r>
            <a:endParaRPr kumimoji="1" lang="en-US" altLang="zh-CN" sz="4800">
              <a:solidFill>
                <a:srgbClr val="CC6600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4800">
                <a:solidFill>
                  <a:srgbClr val="CC6600"/>
                </a:solidFill>
                <a:latin typeface="Times New Roman" charset="0"/>
                <a:ea typeface="楷体_GB2312" charset="0"/>
              </a:rPr>
              <a:t>     T = </a:t>
            </a:r>
            <a:r>
              <a:rPr kumimoji="1" lang="en-US" altLang="zh-CN" sz="4800">
                <a:solidFill>
                  <a:srgbClr val="CC6600"/>
                </a:solidFill>
                <a:latin typeface="Times New Roman" charset="0"/>
                <a:ea typeface="楷体_GB2312" charset="0"/>
                <a:sym typeface="Symbol" charset="2"/>
              </a:rPr>
              <a:t></a:t>
            </a:r>
            <a:r>
              <a:rPr kumimoji="1" lang="en-US" altLang="zh-CN" sz="4800" b="1">
                <a:solidFill>
                  <a:srgbClr val="CC6600"/>
                </a:solidFill>
                <a:latin typeface="Times New Roman" charset="0"/>
                <a:ea typeface="楷体_GB2312" charset="0"/>
              </a:rPr>
              <a:t>aaaab</a:t>
            </a:r>
            <a:r>
              <a:rPr kumimoji="1" lang="en-US" altLang="zh-CN" sz="4800">
                <a:solidFill>
                  <a:srgbClr val="CC6600"/>
                </a:solidFill>
                <a:latin typeface="Times New Roman" charset="0"/>
                <a:ea typeface="楷体_GB2312" charset="0"/>
                <a:sym typeface="Symbol" charset="2"/>
              </a:rPr>
              <a:t></a:t>
            </a:r>
            <a:endParaRPr kumimoji="1" lang="en-US" altLang="zh-CN" sz="4800">
              <a:latin typeface="Times New Roman" charset="0"/>
            </a:endParaRP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76200" y="5653088"/>
            <a:ext cx="3970338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latin typeface="Times New Roman" charset="0"/>
                <a:ea typeface="楷体_GB2312" charset="0"/>
              </a:rPr>
              <a:t>nextval[j]=</a:t>
            </a:r>
            <a:r>
              <a:rPr kumimoji="1" lang="en-US" altLang="zh-CN" sz="4800">
                <a:solidFill>
                  <a:srgbClr val="FF0000"/>
                </a:solidFill>
                <a:latin typeface="Times New Roman" charset="0"/>
                <a:ea typeface="楷体_GB2312" charset="0"/>
              </a:rPr>
              <a:t>00004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119812" name="Rectangle 4"/>
          <p:cNvSpPr>
            <a:spLocks noChangeArrowheads="1"/>
          </p:cNvSpPr>
          <p:nvPr/>
        </p:nvSpPr>
        <p:spPr bwMode="auto">
          <a:xfrm>
            <a:off x="685800" y="4662488"/>
            <a:ext cx="33496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>
                <a:latin typeface="Times New Roman" charset="0"/>
                <a:ea typeface="楷体_GB2312" charset="0"/>
              </a:rPr>
              <a:t>next[j]=</a:t>
            </a:r>
            <a:r>
              <a:rPr kumimoji="1" lang="en-US" altLang="zh-CN" sz="4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01234</a:t>
            </a:r>
          </a:p>
        </p:txBody>
      </p:sp>
    </p:spTree>
    <p:extLst>
      <p:ext uri="{BB962C8B-B14F-4D97-AF65-F5344CB8AC3E}">
        <p14:creationId xmlns:p14="http://schemas.microsoft.com/office/powerpoint/2010/main" val="15347996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0" grpId="0" autoUpdateAnimBg="0"/>
      <p:bldP spid="119811" grpId="0" autoUpdateAnimBg="0"/>
      <p:bldP spid="119812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458200" cy="651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200" b="1">
                <a:latin typeface="Times New Roman" charset="0"/>
                <a:ea typeface="楷体_GB2312" charset="0"/>
              </a:rPr>
              <a:t>   void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get_nextval(SString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T,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int &amp;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nextval[])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i = 1;   nextval[1] = 0;   j = 0;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(i &lt; T[0])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(j = 0 || T[i] == T[j])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      ++i;  ++j;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       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(T[i]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!=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T[j])  next[i] = j;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            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else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 nextval[i] = nextval[j];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   </a:t>
            </a:r>
            <a:r>
              <a:rPr kumimoji="1" lang="en-US" altLang="zh-CN" sz="3200" b="1">
                <a:solidFill>
                  <a:srgbClr val="3366FF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200">
              <a:solidFill>
                <a:srgbClr val="3366FF"/>
              </a:solidFill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 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else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j = nextval[j];</a:t>
            </a:r>
          </a:p>
          <a:p>
            <a:pPr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}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3200" b="1">
                <a:latin typeface="Times New Roman" charset="0"/>
                <a:ea typeface="楷体_GB2312" charset="0"/>
              </a:rPr>
              <a:t>  }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// get_nextval</a:t>
            </a:r>
            <a:endParaRPr kumimoji="1" lang="en-US" altLang="zh-CN" sz="3200">
              <a:latin typeface="Times New Roman" charset="0"/>
            </a:endParaRPr>
          </a:p>
        </p:txBody>
      </p:sp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7010400" y="5867400"/>
          <a:ext cx="19050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93" name="剪辑" r:id="rId4" imgW="5654520" imgH="2356920" progId="MS_ClipArt_Gallery.2">
                  <p:embed/>
                </p:oleObj>
              </mc:Choice>
              <mc:Fallback>
                <p:oleObj name="剪辑" r:id="rId4" imgW="5654520" imgH="235692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867400"/>
                        <a:ext cx="19050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6406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457200" y="822325"/>
            <a:ext cx="8245475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  1. 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熟悉串的七种基本操作的定义，并能利用这些基本操作来实现串的其它各种操作的方法。</a:t>
            </a:r>
            <a:endParaRPr kumimoji="1" lang="zh-CN" altLang="en-US" sz="4000">
              <a:solidFill>
                <a:srgbClr val="006666"/>
              </a:solidFill>
              <a:latin typeface="Times New Roman" charset="0"/>
            </a:endParaRP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457200" y="3336925"/>
            <a:ext cx="8458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  2. 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熟练掌握在串的定长顺序存储结构上实现串的各种操作的方法。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457200" y="5089525"/>
            <a:ext cx="8458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  3. 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了解串的堆存储结构以及在其上实现串操作的基本方法。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3048000" y="0"/>
            <a:ext cx="294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600" b="1">
                <a:solidFill>
                  <a:srgbClr val="1560AB"/>
                </a:solidFill>
                <a:latin typeface="Times New Roman" charset="0"/>
                <a:ea typeface="隶书" charset="0"/>
              </a:rPr>
              <a:t>本章学习要点</a:t>
            </a:r>
            <a:endParaRPr kumimoji="1" lang="zh-CN" altLang="en-US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27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304800" y="754063"/>
            <a:ext cx="8550275" cy="326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4000" b="1">
                <a:solidFill>
                  <a:srgbClr val="003A21"/>
                </a:solidFill>
                <a:latin typeface="楷体_GB2312" charset="0"/>
                <a:ea typeface="楷体_GB2312" charset="0"/>
              </a:rPr>
              <a:t>   </a:t>
            </a: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4. 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理解串匹配的</a:t>
            </a: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KMP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算法，熟悉</a:t>
            </a: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NEXT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函数的定义，学会手工计算给定模式串的</a:t>
            </a: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NEXT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函数值和改进的</a:t>
            </a:r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NEXT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函数值。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998538" y="4495800"/>
            <a:ext cx="81248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5. </a:t>
            </a:r>
            <a:r>
              <a:rPr kumimoji="1" lang="zh-CN" altLang="en-US" sz="4000" b="1">
                <a:solidFill>
                  <a:srgbClr val="006666"/>
                </a:solidFill>
                <a:latin typeface="楷体_GB2312" charset="0"/>
                <a:ea typeface="楷体_GB2312" charset="0"/>
              </a:rPr>
              <a:t>了解串操作的应用方法和特点。</a:t>
            </a:r>
          </a:p>
        </p:txBody>
      </p:sp>
      <p:pic>
        <p:nvPicPr>
          <p:cNvPr id="125956" name="Picture 4" descr="doorin">
            <a:hlinkClick r:id="" action="ppaction://hlinkshowjump?jump=endshow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5888038"/>
            <a:ext cx="685800" cy="66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7369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7</TotalTime>
  <Words>4478</Words>
  <Application>Microsoft Macintosh PowerPoint</Application>
  <PresentationFormat>全屏显示(4:3)</PresentationFormat>
  <Paragraphs>530</Paragraphs>
  <Slides>66</Slides>
  <Notes>50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66</vt:i4>
      </vt:variant>
    </vt:vector>
  </HeadingPairs>
  <TitlesOfParts>
    <vt:vector size="84" baseType="lpstr">
      <vt:lpstr>Calibri</vt:lpstr>
      <vt:lpstr>Lucida Sans Unicode</vt:lpstr>
      <vt:lpstr>Verdana</vt:lpstr>
      <vt:lpstr>Wingdings 2</vt:lpstr>
      <vt:lpstr>Wingdings 3</vt:lpstr>
      <vt:lpstr>黑体</vt:lpstr>
      <vt:lpstr>华文楷体</vt:lpstr>
      <vt:lpstr>楷体_GB2312</vt:lpstr>
      <vt:lpstr>隶书</vt:lpstr>
      <vt:lpstr>宋体</vt:lpstr>
      <vt:lpstr>Arial</vt:lpstr>
      <vt:lpstr>Monotype Sorts</vt:lpstr>
      <vt:lpstr>Symbol</vt:lpstr>
      <vt:lpstr>Times New Roman</vt:lpstr>
      <vt:lpstr>Wingdings</vt:lpstr>
      <vt:lpstr>聚合</vt:lpstr>
      <vt:lpstr>Microsoft Clip Gallery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               StrEmpty(S) 初始条件：串S存在。 操作结果：若 S 为空串，则返回TRUE，                     否则返回 FALSE。</vt:lpstr>
      <vt:lpstr>             StrCompare(S,T) 初始条件：串 S 和 T 存在。 操作结果：若S  T，则返回值  0；                        若S  T，则返回值  0；                        若S  T，则返回值  0。</vt:lpstr>
      <vt:lpstr>               StrLength(S) 初始条件：串 S 存在。  操作结果：返回 S 的元素个，                        称为串的长度。</vt:lpstr>
      <vt:lpstr>Concat(&amp;T, S1, S2)  初始条件：串 S1 和 S2 存在。   操作结果：用 T 返回由 S1 和 S2                       联接而成的新串。</vt:lpstr>
      <vt:lpstr>PowerPoint 演示文稿</vt:lpstr>
      <vt:lpstr>PowerPoint 演示文稿</vt:lpstr>
      <vt:lpstr>PowerPoint 演示文稿</vt:lpstr>
      <vt:lpstr>               Index(S,T,pos) 初始条件：串S和T存在，T是非空串，                       1≤pos≤StrLength(S)。 操作结果： 若主串 S 中存在和串 T 值相同             的子串, 则返回它在主串 S 中第pos个             字符之后第一次出现的位置；             否则函数值为0。 </vt:lpstr>
      <vt:lpstr>PowerPoint 演示文稿</vt:lpstr>
      <vt:lpstr>          Replace (&amp;S, T, V)  初始条件：串S, T和 V 均已存， 且 T   是非空串。 操作结果：用V替换主串S中出现  的所有与（模式串）T  相等的不重叠的子串。</vt:lpstr>
      <vt:lpstr>PowerPoint 演示文稿</vt:lpstr>
      <vt:lpstr>PowerPoint 演示文稿</vt:lpstr>
      <vt:lpstr>PowerPoint 演示文稿</vt:lpstr>
      <vt:lpstr>          ClearString(&amp;S)    初始条件：串S存在。    操作结果：将S清为空串。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简单的模式匹配算法的时间复杂度分析：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模式匹配——KMP算法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in C</dc:title>
  <dc:creator>zl</dc:creator>
  <cp:lastModifiedBy>Microsoft Office User</cp:lastModifiedBy>
  <cp:revision>68</cp:revision>
  <dcterms:created xsi:type="dcterms:W3CDTF">2021-09-07T07:00:29Z</dcterms:created>
  <dcterms:modified xsi:type="dcterms:W3CDTF">2021-09-12T01:56:52Z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CADF6424C67F4878824CBAFDDE4F69C5</vt:lpwstr>
  </property>
  <property fmtid="{D5CDD505-2E9C-101B-9397-08002B2CF9AE}" pid="3" name="KSOProductBuildVer">
    <vt:lpwstr>2052-3.0.0.4824</vt:lpwstr>
  </property>
</Properties>
</file>