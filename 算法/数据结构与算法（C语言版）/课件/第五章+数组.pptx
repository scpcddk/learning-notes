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0"/>
  </p:normalViewPr>
  <p:slideViewPr>
    <p:cSldViewPr>
      <p:cViewPr varScale="1">
        <p:scale>
          <a:sx n="107" d="100"/>
          <a:sy n="107" d="100"/>
        </p:scale>
        <p:origin x="1760" y="160"/>
      </p:cViewPr>
      <p:guideLst>
        <p:guide orient="horz" pos="2160"/>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wmf"/><Relationship Id="rId2" Type="http://schemas.openxmlformats.org/officeDocument/2006/relationships/image" Target="../media/image17.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 Id="rId2"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emf"/><Relationship Id="rId2"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 Id="rId2" Type="http://schemas.openxmlformats.org/officeDocument/2006/relationships/image" Target="../media/image22.wmf"/><Relationship Id="rId3"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t>2021/9/13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8D57204-F122-D249-B4B1-08DC09F0301A}" type="slidenum">
              <a:rPr lang="en-US" altLang="zh-CN"/>
              <a:pPr eaLnBrk="1" hangingPunct="1"/>
              <a:t>1</a:t>
            </a:fld>
            <a:endParaRPr lang="en-US" altLang="zh-CN"/>
          </a:p>
        </p:txBody>
      </p:sp>
      <p:sp>
        <p:nvSpPr>
          <p:cNvPr id="81923" name="Rectangle 7"/>
          <p:cNvSpPr txBox="1">
            <a:spLocks noGrp="1" noChangeArrowheads="1"/>
          </p:cNvSpPr>
          <p:nvPr/>
        </p:nvSpPr>
        <p:spPr bwMode="auto">
          <a:xfrm>
            <a:off x="3884613" y="86868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556" tIns="47778" rIns="95556" bIns="47778" anchor="b"/>
          <a:lstStyle>
            <a:lvl1pPr defTabSz="955675" eaLnBrk="0" hangingPunct="0">
              <a:defRPr>
                <a:solidFill>
                  <a:schemeClr val="tx1"/>
                </a:solidFill>
                <a:latin typeface="Arial" charset="0"/>
                <a:ea typeface="宋体" charset="-122"/>
              </a:defRPr>
            </a:lvl1pPr>
            <a:lvl2pPr marL="742950" indent="-285750" defTabSz="955675" eaLnBrk="0" hangingPunct="0">
              <a:defRPr>
                <a:solidFill>
                  <a:schemeClr val="tx1"/>
                </a:solidFill>
                <a:latin typeface="Arial" charset="0"/>
                <a:ea typeface="宋体" charset="-122"/>
              </a:defRPr>
            </a:lvl2pPr>
            <a:lvl3pPr marL="1143000" indent="-228600" defTabSz="955675" eaLnBrk="0" hangingPunct="0">
              <a:defRPr>
                <a:solidFill>
                  <a:schemeClr val="tx1"/>
                </a:solidFill>
                <a:latin typeface="Arial" charset="0"/>
                <a:ea typeface="宋体" charset="-122"/>
              </a:defRPr>
            </a:lvl3pPr>
            <a:lvl4pPr marL="1600200" indent="-228600" defTabSz="955675" eaLnBrk="0" hangingPunct="0">
              <a:defRPr>
                <a:solidFill>
                  <a:schemeClr val="tx1"/>
                </a:solidFill>
                <a:latin typeface="Arial" charset="0"/>
                <a:ea typeface="宋体" charset="-122"/>
              </a:defRPr>
            </a:lvl4pPr>
            <a:lvl5pPr marL="2057400" indent="-228600" defTabSz="955675" eaLnBrk="0" hangingPunct="0">
              <a:defRPr>
                <a:solidFill>
                  <a:schemeClr val="tx1"/>
                </a:solidFill>
                <a:latin typeface="Arial" charset="0"/>
                <a:ea typeface="宋体" charset="-122"/>
              </a:defRPr>
            </a:lvl5pPr>
            <a:lvl6pPr marL="2514600" indent="-228600" defTabSz="955675" eaLnBrk="0" fontAlgn="base" hangingPunct="0">
              <a:spcBef>
                <a:spcPct val="0"/>
              </a:spcBef>
              <a:spcAft>
                <a:spcPct val="0"/>
              </a:spcAft>
              <a:defRPr>
                <a:solidFill>
                  <a:schemeClr val="tx1"/>
                </a:solidFill>
                <a:latin typeface="Arial" charset="0"/>
                <a:ea typeface="宋体" charset="-122"/>
              </a:defRPr>
            </a:lvl6pPr>
            <a:lvl7pPr marL="2971800" indent="-228600" defTabSz="955675" eaLnBrk="0" fontAlgn="base" hangingPunct="0">
              <a:spcBef>
                <a:spcPct val="0"/>
              </a:spcBef>
              <a:spcAft>
                <a:spcPct val="0"/>
              </a:spcAft>
              <a:defRPr>
                <a:solidFill>
                  <a:schemeClr val="tx1"/>
                </a:solidFill>
                <a:latin typeface="Arial" charset="0"/>
                <a:ea typeface="宋体" charset="-122"/>
              </a:defRPr>
            </a:lvl7pPr>
            <a:lvl8pPr marL="3429000" indent="-228600" defTabSz="955675" eaLnBrk="0" fontAlgn="base" hangingPunct="0">
              <a:spcBef>
                <a:spcPct val="0"/>
              </a:spcBef>
              <a:spcAft>
                <a:spcPct val="0"/>
              </a:spcAft>
              <a:defRPr>
                <a:solidFill>
                  <a:schemeClr val="tx1"/>
                </a:solidFill>
                <a:latin typeface="Arial" charset="0"/>
                <a:ea typeface="宋体" charset="-122"/>
              </a:defRPr>
            </a:lvl8pPr>
            <a:lvl9pPr marL="3886200" indent="-228600" defTabSz="955675" eaLnBrk="0" fontAlgn="base" hangingPunct="0">
              <a:spcBef>
                <a:spcPct val="0"/>
              </a:spcBef>
              <a:spcAft>
                <a:spcPct val="0"/>
              </a:spcAft>
              <a:defRPr>
                <a:solidFill>
                  <a:schemeClr val="tx1"/>
                </a:solidFill>
                <a:latin typeface="Arial" charset="0"/>
                <a:ea typeface="宋体" charset="-122"/>
              </a:defRPr>
            </a:lvl9pPr>
          </a:lstStyle>
          <a:p>
            <a:pPr algn="r" eaLnBrk="1" hangingPunct="1"/>
            <a:fld id="{04FD1174-66C2-A84F-BCFA-41970EE597FB}" type="slidenum">
              <a:rPr lang="en-US" altLang="zh-CN" sz="1300"/>
              <a:pPr algn="r" eaLnBrk="1" hangingPunct="1"/>
              <a:t>1</a:t>
            </a:fld>
            <a:endParaRPr lang="en-US" altLang="zh-CN" sz="1300"/>
          </a:p>
        </p:txBody>
      </p:sp>
      <p:sp>
        <p:nvSpPr>
          <p:cNvPr id="81924" name="Rectangle 2"/>
          <p:cNvSpPr>
            <a:spLocks noGrp="1" noRot="1" noChangeAspect="1" noChangeArrowheads="1" noTextEdit="1"/>
          </p:cNvSpPr>
          <p:nvPr>
            <p:ph type="sldImg"/>
          </p:nvPr>
        </p:nvSpPr>
        <p:spPr>
          <a:xfrm>
            <a:off x="665163" y="223838"/>
            <a:ext cx="3292475" cy="2470150"/>
          </a:xfrm>
          <a:ln/>
        </p:spPr>
      </p:sp>
      <p:sp>
        <p:nvSpPr>
          <p:cNvPr id="81925" name="Rectangle 3"/>
          <p:cNvSpPr>
            <a:spLocks noGrp="1" noChangeArrowheads="1"/>
          </p:cNvSpPr>
          <p:nvPr>
            <p:ph type="body" idx="1"/>
          </p:nvPr>
        </p:nvSpPr>
        <p:spPr>
          <a:xfrm>
            <a:off x="669925" y="2997200"/>
            <a:ext cx="5662613" cy="5767388"/>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lIns="95556" tIns="47778" rIns="95556" bIns="47778"/>
          <a:lstStyle/>
          <a:p>
            <a:pPr eaLnBrk="1" hangingPunct="1"/>
            <a:endParaRPr lang="zh-CN" altLang="zh-CN" sz="1400">
              <a:ea typeface="宋体" charset="-122"/>
            </a:endParaRPr>
          </a:p>
        </p:txBody>
      </p:sp>
    </p:spTree>
    <p:extLst>
      <p:ext uri="{BB962C8B-B14F-4D97-AF65-F5344CB8AC3E}">
        <p14:creationId xmlns:p14="http://schemas.microsoft.com/office/powerpoint/2010/main" val="1220895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6E776C6-8A26-E047-97BA-B83E94157292}" type="slidenum">
              <a:rPr lang="en-US" altLang="zh-CN"/>
              <a:pPr eaLnBrk="1" hangingPunct="1"/>
              <a:t>11</a:t>
            </a:fld>
            <a:endParaRPr lang="en-US" altLang="zh-CN"/>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366318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8277B05-3922-F74C-B6B8-52CC4FAC4EF9}" type="slidenum">
              <a:rPr lang="en-US" altLang="zh-CN"/>
              <a:pPr eaLnBrk="1" hangingPunct="1"/>
              <a:t>63</a:t>
            </a:fld>
            <a:endParaRPr lang="en-US" altLang="zh-CN"/>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225643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userDrawn="1"/>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fld id="{C85226CB-B0C2-4344-A5A0-B57BD90EDBDF}" type="datetimeFigureOut">
              <a:rPr lang="zh-CN" altLang="en-US" smtClean="0"/>
              <a:t>2021/9/13</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6E1C0148-8E4B-4B2F-95CE-20B4709700A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charset="-122"/>
                <a:ea typeface="华文楷体" panose="02010600040101010101" charset="-122"/>
              </a:defRPr>
            </a:lvl1pPr>
            <a:lvl2pPr>
              <a:spcAft>
                <a:spcPts val="1000"/>
              </a:spcAft>
              <a:defRPr>
                <a:solidFill>
                  <a:schemeClr val="tx2">
                    <a:lumMod val="75000"/>
                  </a:schemeClr>
                </a:solidFill>
                <a:latin typeface="华文楷体" panose="02010600040101010101" charset="-122"/>
                <a:ea typeface="华文楷体" panose="02010600040101010101" charset="-122"/>
              </a:defRPr>
            </a:lvl2pPr>
            <a:lvl3pPr>
              <a:spcAft>
                <a:spcPts val="1000"/>
              </a:spcAft>
              <a:defRPr>
                <a:solidFill>
                  <a:schemeClr val="tx2">
                    <a:lumMod val="75000"/>
                  </a:schemeClr>
                </a:solidFill>
                <a:latin typeface="华文楷体" panose="02010600040101010101" charset="-122"/>
                <a:ea typeface="华文楷体" panose="02010600040101010101" charset="-122"/>
              </a:defRPr>
            </a:lvl3pPr>
          </a:lstStyle>
          <a:p>
            <a:pPr lvl="0" eaLnBrk="1" latinLnBrk="0" hangingPunct="1"/>
            <a:r>
              <a:rPr lang="zh-CN" altLang="en-US" dirty="0" smtClean="0"/>
              <a:t>单击此处编辑母版文本样式</a:t>
            </a:r>
          </a:p>
          <a:p>
            <a:pPr lvl="1" eaLnBrk="1" latinLnBrk="0" hangingPunct="1"/>
            <a:r>
              <a:rPr lang="zh-CN" altLang="en-US" dirty="0" smtClean="0"/>
              <a:t>第二级</a:t>
            </a:r>
          </a:p>
          <a:p>
            <a:pPr lvl="2" eaLnBrk="1" latinLnBrk="0" hangingPunct="1"/>
            <a:r>
              <a:rPr lang="zh-CN" altLang="en-US" smtClean="0"/>
              <a:t>第三级</a:t>
            </a:r>
            <a:endParaRPr lang="zh-CN" altLang="en-US" dirty="0" smtClean="0"/>
          </a:p>
        </p:txBody>
      </p:sp>
      <p:sp>
        <p:nvSpPr>
          <p:cNvPr id="4" name="日期占位符 3"/>
          <p:cNvSpPr>
            <a:spLocks noGrp="1"/>
          </p:cNvSpPr>
          <p:nvPr>
            <p:ph type="dt" sz="half" idx="10"/>
          </p:nvPr>
        </p:nvSpPr>
        <p:spPr>
          <a:xfrm>
            <a:off x="6164422" y="6407309"/>
            <a:ext cx="1920240" cy="365760"/>
          </a:xfrm>
        </p:spPr>
        <p:txBody>
          <a:bodyPr/>
          <a:lstStyle/>
          <a:p>
            <a:fld id="{C85226CB-B0C2-4344-A5A0-B57BD90EDBDF}" type="datetimeFigureOut">
              <a:rPr lang="zh-CN" altLang="en-US" smtClean="0"/>
              <a:t>2021/9/13</a:t>
            </a:fld>
            <a:endParaRPr lang="zh-CN" altLang="en-US"/>
          </a:p>
        </p:txBody>
      </p:sp>
      <p:sp>
        <p:nvSpPr>
          <p:cNvPr id="5" name="页脚占位符 4"/>
          <p:cNvSpPr>
            <a:spLocks noGrp="1"/>
          </p:cNvSpPr>
          <p:nvPr>
            <p:ph type="ftr" sz="quarter" idx="11"/>
          </p:nvPr>
        </p:nvSpPr>
        <p:spPr>
          <a:xfrm>
            <a:off x="3570447" y="6408579"/>
            <a:ext cx="2350681" cy="365125"/>
          </a:xfrm>
        </p:spPr>
        <p:txBody>
          <a:bodyPr/>
          <a:lstStyle/>
          <a:p>
            <a:endParaRPr lang="zh-CN" altLang="en-US"/>
          </a:p>
        </p:txBody>
      </p:sp>
      <p:sp>
        <p:nvSpPr>
          <p:cNvPr id="6" name="灯片编号占位符 5"/>
          <p:cNvSpPr>
            <a:spLocks noGrp="1"/>
          </p:cNvSpPr>
          <p:nvPr>
            <p:ph type="sldNum" sz="quarter" idx="12"/>
          </p:nvPr>
        </p:nvSpPr>
        <p:spPr>
          <a:xfrm>
            <a:off x="8084185" y="6407785"/>
            <a:ext cx="929005" cy="365125"/>
          </a:xfrm>
        </p:spPr>
        <p:txBody>
          <a:bodyPr/>
          <a:lstStyle/>
          <a:p>
            <a:fld id="{6E1C0148-8E4B-4B2F-95CE-20B4709700AE}" type="slidenum">
              <a:rPr lang="zh-CN" altLang="en-US" smtClean="0"/>
              <a:t>‹#›</a:t>
            </a:fld>
            <a:endParaRPr lang="zh-CN" altLang="en-US" dirty="0"/>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C85226CB-B0C2-4344-A5A0-B57BD90EDBDF}" type="datetimeFigureOut">
              <a:rPr lang="zh-CN" altLang="en-US" smtClean="0"/>
              <a:t>2021/9/13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C85226CB-B0C2-4344-A5A0-B57BD90EDBDF}" type="datetimeFigureOut">
              <a:rPr lang="zh-CN" altLang="en-US" smtClean="0"/>
              <a:t>2021/9/13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5226CB-B0C2-4344-A5A0-B57BD90EDBDF}" type="datetimeFigureOut">
              <a:rPr lang="zh-CN" altLang="en-US" smtClean="0"/>
              <a:t>2021/9/13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5226CB-B0C2-4344-A5A0-B57BD90EDBDF}" type="datetimeFigureOut">
              <a:rPr lang="zh-CN" altLang="en-US" smtClean="0"/>
              <a:t>2021/9/13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C85226CB-B0C2-4344-A5A0-B57BD90EDBDF}" type="datetimeFigureOut">
              <a:rPr lang="zh-CN" altLang="en-US" smtClean="0"/>
              <a:t>2021/9/13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C85226CB-B0C2-4344-A5A0-B57BD90EDBDF}" type="datetimeFigureOut">
              <a:rPr lang="zh-CN" altLang="en-US" smtClean="0"/>
              <a:t>2021/9/13</a:t>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t>‹#›</a:t>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C85226CB-B0C2-4344-A5A0-B57BD90EDBDF}" type="datetimeFigureOut">
              <a:rPr lang="zh-CN" altLang="en-US" smtClean="0"/>
              <a:t>2021/9/13</a:t>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1.xml"/><Relationship Id="rId5" Type="http://schemas.openxmlformats.org/officeDocument/2006/relationships/slide" Target="slide58.xml"/><Relationship Id="rId6" Type="http://schemas.openxmlformats.org/officeDocument/2006/relationships/slide" Target="slide64.xml"/><Relationship Id="rId7" Type="http://schemas.openxmlformats.org/officeDocument/2006/relationships/slide" Target="slide72.xml"/><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4" Type="http://schemas.openxmlformats.org/officeDocument/2006/relationships/slide" Target="slide9.xml"/><Relationship Id="rId5" Type="http://schemas.openxmlformats.org/officeDocument/2006/relationships/slide" Target="slide10.xml"/><Relationship Id="rId6" Type="http://schemas.openxmlformats.org/officeDocument/2006/relationships/slide" Target="slide4.xml"/><Relationship Id="rId1" Type="http://schemas.openxmlformats.org/officeDocument/2006/relationships/slideLayout" Target="../slideLayouts/slideLayout7.xml"/><Relationship Id="rId2"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 Type="http://schemas.openxmlformats.org/officeDocument/2006/relationships/slideLayout" Target="../slideLayouts/slideLayout7.xml"/><Relationship Id="rId2" Type="http://schemas.openxmlformats.org/officeDocument/2006/relationships/slide" Target="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9.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10.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11.e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12.emf"/><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image" Target="../media/image13.emf"/><Relationship Id="rId1" Type="http://schemas.openxmlformats.org/officeDocument/2006/relationships/vmlDrawing" Target="../drawings/vmlDrawing5.vml"/><Relationship Id="rId2"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14.wmf"/><Relationship Id="rId1" Type="http://schemas.openxmlformats.org/officeDocument/2006/relationships/vmlDrawing" Target="../drawings/vmlDrawing6.vml"/><Relationship Id="rId2"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15.wmf"/><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34.xml"/><Relationship Id="rId4" Type="http://schemas.openxmlformats.org/officeDocument/2006/relationships/slide" Target="slide3.xml"/><Relationship Id="rId1" Type="http://schemas.openxmlformats.org/officeDocument/2006/relationships/slideLayout" Target="../slideLayouts/slideLayout7.xml"/><Relationship Id="rId2" Type="http://schemas.openxmlformats.org/officeDocument/2006/relationships/slide" Target="slide4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16.wmf"/><Relationship Id="rId5" Type="http://schemas.openxmlformats.org/officeDocument/2006/relationships/oleObject" Target="../embeddings/oleObject9.bin"/><Relationship Id="rId6" Type="http://schemas.openxmlformats.org/officeDocument/2006/relationships/image" Target="../media/image17.emf"/><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18.wmf"/><Relationship Id="rId5" Type="http://schemas.openxmlformats.org/officeDocument/2006/relationships/oleObject" Target="../embeddings/oleObject11.bin"/><Relationship Id="rId6" Type="http://schemas.openxmlformats.org/officeDocument/2006/relationships/image" Target="../media/image16.wmf"/><Relationship Id="rId1" Type="http://schemas.openxmlformats.org/officeDocument/2006/relationships/vmlDrawing" Target="../drawings/vmlDrawing9.vml"/><Relationship Id="rId2"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2.bin"/><Relationship Id="rId4" Type="http://schemas.openxmlformats.org/officeDocument/2006/relationships/image" Target="../media/image19.emf"/><Relationship Id="rId5" Type="http://schemas.openxmlformats.org/officeDocument/2006/relationships/oleObject" Target="../embeddings/oleObject13.bin"/><Relationship Id="rId6" Type="http://schemas.openxmlformats.org/officeDocument/2006/relationships/image" Target="../media/image20.emf"/><Relationship Id="rId7" Type="http://schemas.openxmlformats.org/officeDocument/2006/relationships/hyperlink" Target="file://localhost/C:/Documents%20and%20Settings/Administrator/&#26700;&#38754;/2005&#19979;&#23398;&#26399;&#25968;&#25454;&#32467;&#26500;&#35838;&#20214;/flash/chap05/5.swf" TargetMode="External"/><Relationship Id="rId1" Type="http://schemas.openxmlformats.org/officeDocument/2006/relationships/vmlDrawing" Target="../drawings/vmlDrawing10.vml"/><Relationship Id="rId2"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4.bin"/><Relationship Id="rId4" Type="http://schemas.openxmlformats.org/officeDocument/2006/relationships/image" Target="../media/image21.wmf"/><Relationship Id="rId5" Type="http://schemas.openxmlformats.org/officeDocument/2006/relationships/oleObject" Target="../embeddings/oleObject15.bin"/><Relationship Id="rId6" Type="http://schemas.openxmlformats.org/officeDocument/2006/relationships/image" Target="../media/image22.wmf"/><Relationship Id="rId7" Type="http://schemas.openxmlformats.org/officeDocument/2006/relationships/oleObject" Target="../embeddings/oleObject16.bin"/><Relationship Id="rId8" Type="http://schemas.openxmlformats.org/officeDocument/2006/relationships/image" Target="../media/image23.wmf"/><Relationship Id="rId1" Type="http://schemas.openxmlformats.org/officeDocument/2006/relationships/vmlDrawing" Target="../drawings/vmlDrawing11.vml"/><Relationship Id="rId2"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7.bin"/><Relationship Id="rId4" Type="http://schemas.openxmlformats.org/officeDocument/2006/relationships/image" Target="../media/image24.wmf"/><Relationship Id="rId5" Type="http://schemas.openxmlformats.org/officeDocument/2006/relationships/slide" Target="slide31.xml"/><Relationship Id="rId1" Type="http://schemas.openxmlformats.org/officeDocument/2006/relationships/vmlDrawing" Target="../drawings/vmlDrawing12.vml"/><Relationship Id="rId2"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6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8.bin"/><Relationship Id="rId4" Type="http://schemas.openxmlformats.org/officeDocument/2006/relationships/image" Target="../media/image25.emf"/><Relationship Id="rId1" Type="http://schemas.openxmlformats.org/officeDocument/2006/relationships/vmlDrawing" Target="../drawings/vmlDrawing13.vml"/><Relationship Id="rId2"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Text Box 2"/>
          <p:cNvSpPr txBox="1">
            <a:spLocks noChangeArrowheads="1"/>
          </p:cNvSpPr>
          <p:nvPr/>
        </p:nvSpPr>
        <p:spPr bwMode="auto">
          <a:xfrm>
            <a:off x="1524000" y="4648200"/>
            <a:ext cx="5943600" cy="390884"/>
          </a:xfrm>
          <a:prstGeom prst="rect">
            <a:avLst/>
          </a:prstGeom>
          <a:noFill/>
          <a:ln w="76200">
            <a:noFill/>
            <a:miter lim="800000"/>
            <a:headEnd/>
            <a:tailEnd/>
          </a:ln>
          <a:effectLst/>
        </p:spPr>
        <p:txBody>
          <a:bodyPr lIns="82304" tIns="41152" rIns="82304" bIns="41152">
            <a:spAutoFit/>
          </a:bodyPr>
          <a:lstStyle>
            <a:lvl1pPr defTabSz="823913" eaLnBrk="0" hangingPunct="0">
              <a:defRPr>
                <a:solidFill>
                  <a:schemeClr val="tx1"/>
                </a:solidFill>
                <a:latin typeface="Arial" charset="0"/>
                <a:ea typeface="宋体" charset="-122"/>
              </a:defRPr>
            </a:lvl1pPr>
            <a:lvl2pPr marL="742950" indent="-285750" defTabSz="823913" eaLnBrk="0" hangingPunct="0">
              <a:defRPr>
                <a:solidFill>
                  <a:schemeClr val="tx1"/>
                </a:solidFill>
                <a:latin typeface="Arial" charset="0"/>
                <a:ea typeface="宋体" charset="-122"/>
              </a:defRPr>
            </a:lvl2pPr>
            <a:lvl3pPr marL="1143000" indent="-228600" defTabSz="823913" eaLnBrk="0" hangingPunct="0">
              <a:defRPr>
                <a:solidFill>
                  <a:schemeClr val="tx1"/>
                </a:solidFill>
                <a:latin typeface="Arial" charset="0"/>
                <a:ea typeface="宋体" charset="-122"/>
              </a:defRPr>
            </a:lvl3pPr>
            <a:lvl4pPr marL="1600200" indent="-228600" defTabSz="823913" eaLnBrk="0" hangingPunct="0">
              <a:defRPr>
                <a:solidFill>
                  <a:schemeClr val="tx1"/>
                </a:solidFill>
                <a:latin typeface="Arial" charset="0"/>
                <a:ea typeface="宋体" charset="-122"/>
              </a:defRPr>
            </a:lvl4pPr>
            <a:lvl5pPr marL="2057400" indent="-228600" defTabSz="823913" eaLnBrk="0" hangingPunct="0">
              <a:defRPr>
                <a:solidFill>
                  <a:schemeClr val="tx1"/>
                </a:solidFill>
                <a:latin typeface="Arial" charset="0"/>
                <a:ea typeface="宋体" charset="-122"/>
              </a:defRPr>
            </a:lvl5pPr>
            <a:lvl6pPr marL="2514600" indent="-228600" defTabSz="823913" eaLnBrk="0" fontAlgn="base" hangingPunct="0">
              <a:spcBef>
                <a:spcPct val="0"/>
              </a:spcBef>
              <a:spcAft>
                <a:spcPct val="0"/>
              </a:spcAft>
              <a:defRPr>
                <a:solidFill>
                  <a:schemeClr val="tx1"/>
                </a:solidFill>
                <a:latin typeface="Arial" charset="0"/>
                <a:ea typeface="宋体" charset="-122"/>
              </a:defRPr>
            </a:lvl6pPr>
            <a:lvl7pPr marL="2971800" indent="-228600" defTabSz="823913" eaLnBrk="0" fontAlgn="base" hangingPunct="0">
              <a:spcBef>
                <a:spcPct val="0"/>
              </a:spcBef>
              <a:spcAft>
                <a:spcPct val="0"/>
              </a:spcAft>
              <a:defRPr>
                <a:solidFill>
                  <a:schemeClr val="tx1"/>
                </a:solidFill>
                <a:latin typeface="Arial" charset="0"/>
                <a:ea typeface="宋体" charset="-122"/>
              </a:defRPr>
            </a:lvl7pPr>
            <a:lvl8pPr marL="3429000" indent="-228600" defTabSz="823913" eaLnBrk="0" fontAlgn="base" hangingPunct="0">
              <a:spcBef>
                <a:spcPct val="0"/>
              </a:spcBef>
              <a:spcAft>
                <a:spcPct val="0"/>
              </a:spcAft>
              <a:defRPr>
                <a:solidFill>
                  <a:schemeClr val="tx1"/>
                </a:solidFill>
                <a:latin typeface="Arial" charset="0"/>
                <a:ea typeface="宋体" charset="-122"/>
              </a:defRPr>
            </a:lvl8pPr>
            <a:lvl9pPr marL="3886200" indent="-228600" defTabSz="823913" eaLnBrk="0" fontAlgn="base" hangingPunct="0">
              <a:spcBef>
                <a:spcPct val="0"/>
              </a:spcBef>
              <a:spcAft>
                <a:spcPct val="0"/>
              </a:spcAft>
              <a:defRPr>
                <a:solidFill>
                  <a:schemeClr val="tx1"/>
                </a:solidFill>
                <a:latin typeface="Arial" charset="0"/>
                <a:ea typeface="宋体" charset="-122"/>
              </a:defRPr>
            </a:lvl9pPr>
          </a:lstStyle>
          <a:p>
            <a:pPr algn="ctr"/>
            <a:endParaRPr lang="en-US" altLang="zh-CN" sz="2000" b="1" dirty="0">
              <a:solidFill>
                <a:schemeClr val="bg1"/>
              </a:solidFill>
              <a:effectLst>
                <a:outerShdw blurRad="38100" dist="38100" dir="2700000" algn="tl">
                  <a:srgbClr val="C0C0C0"/>
                </a:outerShdw>
              </a:effectLst>
              <a:latin typeface="Times New Roman" charset="0"/>
            </a:endParaRPr>
          </a:p>
        </p:txBody>
      </p:sp>
      <p:sp>
        <p:nvSpPr>
          <p:cNvPr id="539651" name="Text Box 3"/>
          <p:cNvSpPr txBox="1">
            <a:spLocks noChangeArrowheads="1"/>
          </p:cNvSpPr>
          <p:nvPr/>
        </p:nvSpPr>
        <p:spPr bwMode="auto">
          <a:xfrm>
            <a:off x="-152400" y="2617788"/>
            <a:ext cx="9109075" cy="665162"/>
          </a:xfrm>
          <a:prstGeom prst="rect">
            <a:avLst/>
          </a:prstGeom>
          <a:noFill/>
          <a:ln w="12700">
            <a:noFill/>
            <a:miter lim="800000"/>
            <a:headEnd/>
            <a:tailEnd/>
          </a:ln>
          <a:effectLst/>
        </p:spPr>
        <p:txBody>
          <a:bodyPr lIns="91703" tIns="45852" rIns="91703" bIns="45852" anchor="ctr">
            <a:spAutoFit/>
          </a:bodyPr>
          <a:lstStyle>
            <a:lvl1pPr defTabSz="823913" eaLnBrk="0" hangingPunct="0">
              <a:defRPr>
                <a:solidFill>
                  <a:schemeClr val="tx1"/>
                </a:solidFill>
                <a:latin typeface="Arial" charset="0"/>
                <a:ea typeface="宋体" charset="-122"/>
              </a:defRPr>
            </a:lvl1pPr>
            <a:lvl2pPr marL="742950" indent="-285750" defTabSz="823913" eaLnBrk="0" hangingPunct="0">
              <a:defRPr>
                <a:solidFill>
                  <a:schemeClr val="tx1"/>
                </a:solidFill>
                <a:latin typeface="Arial" charset="0"/>
                <a:ea typeface="宋体" charset="-122"/>
              </a:defRPr>
            </a:lvl2pPr>
            <a:lvl3pPr marL="1143000" indent="-228600" defTabSz="823913" eaLnBrk="0" hangingPunct="0">
              <a:defRPr>
                <a:solidFill>
                  <a:schemeClr val="tx1"/>
                </a:solidFill>
                <a:latin typeface="Arial" charset="0"/>
                <a:ea typeface="宋体" charset="-122"/>
              </a:defRPr>
            </a:lvl3pPr>
            <a:lvl4pPr marL="1600200" indent="-228600" defTabSz="823913" eaLnBrk="0" hangingPunct="0">
              <a:defRPr>
                <a:solidFill>
                  <a:schemeClr val="tx1"/>
                </a:solidFill>
                <a:latin typeface="Arial" charset="0"/>
                <a:ea typeface="宋体" charset="-122"/>
              </a:defRPr>
            </a:lvl4pPr>
            <a:lvl5pPr marL="2057400" indent="-228600" defTabSz="823913" eaLnBrk="0" hangingPunct="0">
              <a:defRPr>
                <a:solidFill>
                  <a:schemeClr val="tx1"/>
                </a:solidFill>
                <a:latin typeface="Arial" charset="0"/>
                <a:ea typeface="宋体" charset="-122"/>
              </a:defRPr>
            </a:lvl5pPr>
            <a:lvl6pPr marL="2514600" indent="-228600" defTabSz="823913" eaLnBrk="0" fontAlgn="base" hangingPunct="0">
              <a:spcBef>
                <a:spcPct val="0"/>
              </a:spcBef>
              <a:spcAft>
                <a:spcPct val="0"/>
              </a:spcAft>
              <a:defRPr>
                <a:solidFill>
                  <a:schemeClr val="tx1"/>
                </a:solidFill>
                <a:latin typeface="Arial" charset="0"/>
                <a:ea typeface="宋体" charset="-122"/>
              </a:defRPr>
            </a:lvl6pPr>
            <a:lvl7pPr marL="2971800" indent="-228600" defTabSz="823913" eaLnBrk="0" fontAlgn="base" hangingPunct="0">
              <a:spcBef>
                <a:spcPct val="0"/>
              </a:spcBef>
              <a:spcAft>
                <a:spcPct val="0"/>
              </a:spcAft>
              <a:defRPr>
                <a:solidFill>
                  <a:schemeClr val="tx1"/>
                </a:solidFill>
                <a:latin typeface="Arial" charset="0"/>
                <a:ea typeface="宋体" charset="-122"/>
              </a:defRPr>
            </a:lvl7pPr>
            <a:lvl8pPr marL="3429000" indent="-228600" defTabSz="823913" eaLnBrk="0" fontAlgn="base" hangingPunct="0">
              <a:spcBef>
                <a:spcPct val="0"/>
              </a:spcBef>
              <a:spcAft>
                <a:spcPct val="0"/>
              </a:spcAft>
              <a:defRPr>
                <a:solidFill>
                  <a:schemeClr val="tx1"/>
                </a:solidFill>
                <a:latin typeface="Arial" charset="0"/>
                <a:ea typeface="宋体" charset="-122"/>
              </a:defRPr>
            </a:lvl8pPr>
            <a:lvl9pPr marL="3886200" indent="-228600" defTabSz="823913" eaLnBrk="0" fontAlgn="base" hangingPunct="0">
              <a:spcBef>
                <a:spcPct val="0"/>
              </a:spcBef>
              <a:spcAft>
                <a:spcPct val="0"/>
              </a:spcAft>
              <a:defRPr>
                <a:solidFill>
                  <a:schemeClr val="tx1"/>
                </a:solidFill>
                <a:latin typeface="Arial" charset="0"/>
                <a:ea typeface="宋体" charset="-122"/>
              </a:defRPr>
            </a:lvl9pPr>
          </a:lstStyle>
          <a:p>
            <a:pPr algn="ctr">
              <a:lnSpc>
                <a:spcPct val="80000"/>
              </a:lnSpc>
              <a:spcAft>
                <a:spcPct val="20000"/>
              </a:spcAft>
            </a:pPr>
            <a:r>
              <a:rPr kumimoji="1" lang="zh-CN" altLang="zh-CN" sz="4700" b="1" dirty="0">
                <a:effectLst>
                  <a:outerShdw blurRad="38100" dist="38100" dir="2700000" algn="tl">
                    <a:srgbClr val="C0C0C0"/>
                  </a:outerShdw>
                </a:effectLst>
              </a:rPr>
              <a:t>第</a:t>
            </a:r>
            <a:r>
              <a:rPr kumimoji="1" lang="zh-CN" altLang="en-US" sz="4700" b="1" dirty="0">
                <a:effectLst>
                  <a:outerShdw blurRad="38100" dist="38100" dir="2700000" algn="tl">
                    <a:srgbClr val="C0C0C0"/>
                  </a:outerShdw>
                </a:effectLst>
              </a:rPr>
              <a:t>五</a:t>
            </a:r>
            <a:r>
              <a:rPr kumimoji="1" lang="zh-CN" altLang="zh-CN" sz="4700" b="1" dirty="0">
                <a:effectLst>
                  <a:outerShdw blurRad="38100" dist="38100" dir="2700000" algn="tl">
                    <a:srgbClr val="C0C0C0"/>
                  </a:outerShdw>
                </a:effectLst>
              </a:rPr>
              <a:t>章</a:t>
            </a:r>
            <a:r>
              <a:rPr kumimoji="1" lang="zh-CN" altLang="en-US" sz="4700" b="1" dirty="0">
                <a:effectLst>
                  <a:outerShdw blurRad="38100" dist="38100" dir="2700000" algn="tl">
                    <a:srgbClr val="C0C0C0"/>
                  </a:outerShdw>
                </a:effectLst>
              </a:rPr>
              <a:t>  数</a:t>
            </a:r>
            <a:r>
              <a:rPr kumimoji="1" lang="zh-CN" altLang="en-US" sz="4700" b="1" dirty="0" smtClean="0">
                <a:effectLst>
                  <a:outerShdw blurRad="38100" dist="38100" dir="2700000" algn="tl">
                    <a:srgbClr val="C0C0C0"/>
                  </a:outerShdw>
                </a:effectLst>
              </a:rPr>
              <a:t>组</a:t>
            </a:r>
            <a:endParaRPr kumimoji="1" lang="zh-CN" altLang="en-US" sz="4700" b="1" dirty="0">
              <a:effectLst>
                <a:outerShdw blurRad="38100" dist="38100" dir="2700000" algn="tl">
                  <a:srgbClr val="C0C0C0"/>
                </a:outerShdw>
              </a:effectLst>
            </a:endParaRPr>
          </a:p>
        </p:txBody>
      </p:sp>
    </p:spTree>
    <p:extLst>
      <p:ext uri="{BB962C8B-B14F-4D97-AF65-F5344CB8AC3E}">
        <p14:creationId xmlns:p14="http://schemas.microsoft.com/office/powerpoint/2010/main" val="1955896536"/>
      </p:ext>
    </p:extLst>
  </p:cSld>
  <p:clrMapOvr>
    <a:masterClrMapping/>
  </p:clrMapOvr>
  <mc:AlternateContent xmlns:mc="http://schemas.openxmlformats.org/markup-compatibility/2006" xmlns:p14="http://schemas.microsoft.com/office/powerpoint/2010/main">
    <mc:Choice Requires="p14">
      <p:transition spd="slow" p14:dur="2000" advTm="422"/>
    </mc:Choice>
    <mc:Fallback xmlns="">
      <p:transition spd="slow" advTm="42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828800" y="152400"/>
            <a:ext cx="4662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b="1">
                <a:solidFill>
                  <a:srgbClr val="CC3399"/>
                </a:solidFill>
                <a:latin typeface="Times New Roman" charset="0"/>
                <a:ea typeface="楷体_GB2312" charset="0"/>
              </a:rPr>
              <a:t>5.1  </a:t>
            </a:r>
            <a:r>
              <a:rPr kumimoji="1" lang="zh-CN" altLang="en-US" sz="4000" b="1">
                <a:solidFill>
                  <a:srgbClr val="CC3399"/>
                </a:solidFill>
                <a:latin typeface="Times New Roman" charset="0"/>
                <a:ea typeface="楷体_GB2312" charset="0"/>
              </a:rPr>
              <a:t>数组的类型定义</a:t>
            </a:r>
          </a:p>
        </p:txBody>
      </p:sp>
      <p:sp>
        <p:nvSpPr>
          <p:cNvPr id="159747" name="Text Box 3"/>
          <p:cNvSpPr txBox="1">
            <a:spLocks noChangeArrowheads="1"/>
          </p:cNvSpPr>
          <p:nvPr/>
        </p:nvSpPr>
        <p:spPr bwMode="auto">
          <a:xfrm>
            <a:off x="201613" y="1039813"/>
            <a:ext cx="8763000" cy="404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600">
                <a:latin typeface="Times New Roman" charset="0"/>
                <a:ea typeface="楷体_GB2312" charset="0"/>
              </a:rPr>
              <a:t>	</a:t>
            </a:r>
            <a:r>
              <a:rPr kumimoji="1" lang="zh-CN" altLang="en-US" sz="3600">
                <a:latin typeface="Times New Roman" charset="0"/>
                <a:ea typeface="楷体_GB2312" charset="0"/>
              </a:rPr>
              <a:t>前几章讨论的线性结构中的数据元素都是非结构的原子类型，元素的值是不再分解的，本章讨论的两种数据结构</a:t>
            </a:r>
            <a:r>
              <a:rPr kumimoji="1" lang="en-US" altLang="zh-CN" sz="3600">
                <a:latin typeface="Times New Roman" charset="0"/>
                <a:ea typeface="楷体_GB2312" charset="0"/>
              </a:rPr>
              <a:t>---</a:t>
            </a:r>
            <a:r>
              <a:rPr kumimoji="1" lang="zh-CN" altLang="en-US" sz="3600">
                <a:latin typeface="Times New Roman" charset="0"/>
                <a:ea typeface="楷体_GB2312" charset="0"/>
              </a:rPr>
              <a:t>数组和广义表可以看成是线性表在下述含义的扩展：表中的数据元素本身也是一个数据结构。</a:t>
            </a:r>
          </a:p>
        </p:txBody>
      </p:sp>
    </p:spTree>
    <p:extLst>
      <p:ext uri="{BB962C8B-B14F-4D97-AF65-F5344CB8AC3E}">
        <p14:creationId xmlns:p14="http://schemas.microsoft.com/office/powerpoint/2010/main" val="3915307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9747"/>
                                        </p:tgtEl>
                                        <p:attrNameLst>
                                          <p:attrName>style.visibility</p:attrName>
                                        </p:attrNameLst>
                                      </p:cBhvr>
                                      <p:to>
                                        <p:strVal val="visible"/>
                                      </p:to>
                                    </p:set>
                                    <p:animEffect transition="in" filter="strips(downRight)">
                                      <p:cBhvr>
                                        <p:cTn id="7" dur="500"/>
                                        <p:tgtEl>
                                          <p:spTgt spid="159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a:hlinkClick r:id="rId2" action="ppaction://hlinksldjump"/>
          </p:cNvPr>
          <p:cNvSpPr txBox="1">
            <a:spLocks noChangeArrowheads="1"/>
          </p:cNvSpPr>
          <p:nvPr/>
        </p:nvSpPr>
        <p:spPr bwMode="auto">
          <a:xfrm>
            <a:off x="1630363" y="1143000"/>
            <a:ext cx="50736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ea typeface="楷体_GB2312" charset="0"/>
              </a:rPr>
              <a:t>5.1  </a:t>
            </a:r>
            <a:r>
              <a:rPr kumimoji="1" lang="zh-CN" altLang="en-US" sz="4400" b="1">
                <a:latin typeface="Times New Roman" charset="0"/>
                <a:ea typeface="楷体_GB2312" charset="0"/>
              </a:rPr>
              <a:t>数组的类型定义</a:t>
            </a:r>
          </a:p>
        </p:txBody>
      </p:sp>
      <p:sp>
        <p:nvSpPr>
          <p:cNvPr id="160771" name="Text Box 3">
            <a:hlinkClick r:id="rId3" action="ppaction://hlinksldjump"/>
          </p:cNvPr>
          <p:cNvSpPr txBox="1">
            <a:spLocks noChangeArrowheads="1"/>
          </p:cNvSpPr>
          <p:nvPr/>
        </p:nvSpPr>
        <p:spPr bwMode="auto">
          <a:xfrm>
            <a:off x="1631950" y="3200400"/>
            <a:ext cx="6610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ea typeface="楷体_GB2312" charset="0"/>
              </a:rPr>
              <a:t>5.3  </a:t>
            </a:r>
            <a:r>
              <a:rPr kumimoji="1" lang="zh-CN" altLang="en-US" sz="4400" b="1">
                <a:latin typeface="Times New Roman" charset="0"/>
                <a:ea typeface="楷体_GB2312" charset="0"/>
              </a:rPr>
              <a:t>稀疏矩阵的压缩存储   </a:t>
            </a:r>
            <a:endParaRPr kumimoji="1" lang="zh-CN" altLang="en-US" sz="4400">
              <a:latin typeface="Times New Roman" charset="0"/>
            </a:endParaRPr>
          </a:p>
        </p:txBody>
      </p:sp>
      <p:sp>
        <p:nvSpPr>
          <p:cNvPr id="160772" name="Text Box 4">
            <a:hlinkClick r:id="rId4" action="ppaction://hlinksldjump"/>
          </p:cNvPr>
          <p:cNvSpPr txBox="1">
            <a:spLocks noChangeArrowheads="1"/>
          </p:cNvSpPr>
          <p:nvPr/>
        </p:nvSpPr>
        <p:spPr bwMode="auto">
          <a:xfrm>
            <a:off x="1616075" y="2209800"/>
            <a:ext cx="67500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ea typeface="楷体_GB2312" charset="0"/>
              </a:rPr>
              <a:t>5.2  </a:t>
            </a:r>
            <a:r>
              <a:rPr kumimoji="1" lang="zh-CN" altLang="en-US" sz="4400" b="1">
                <a:latin typeface="Times New Roman" charset="0"/>
                <a:ea typeface="楷体_GB2312" charset="0"/>
              </a:rPr>
              <a:t>数组的顺序表示和实现</a:t>
            </a:r>
            <a:endParaRPr kumimoji="1" lang="zh-CN" altLang="en-US" sz="4400">
              <a:latin typeface="Times New Roman" charset="0"/>
            </a:endParaRPr>
          </a:p>
        </p:txBody>
      </p:sp>
      <p:sp>
        <p:nvSpPr>
          <p:cNvPr id="160773" name="Text Box 5">
            <a:hlinkClick r:id="rId5" action="ppaction://hlinksldjump"/>
          </p:cNvPr>
          <p:cNvSpPr txBox="1">
            <a:spLocks noChangeArrowheads="1"/>
          </p:cNvSpPr>
          <p:nvPr/>
        </p:nvSpPr>
        <p:spPr bwMode="auto">
          <a:xfrm>
            <a:off x="1631950" y="4267200"/>
            <a:ext cx="56324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5.4  </a:t>
            </a:r>
            <a:r>
              <a:rPr kumimoji="1" lang="zh-CN" altLang="en-US" sz="4400" b="1">
                <a:latin typeface="Times New Roman" charset="0"/>
                <a:ea typeface="楷体_GB2312" charset="0"/>
              </a:rPr>
              <a:t>广义表的类型定义</a:t>
            </a:r>
          </a:p>
        </p:txBody>
      </p:sp>
      <p:sp>
        <p:nvSpPr>
          <p:cNvPr id="160774" name="Text Box 6">
            <a:hlinkClick r:id="rId6" action="ppaction://hlinksldjump"/>
          </p:cNvPr>
          <p:cNvSpPr txBox="1">
            <a:spLocks noChangeArrowheads="1"/>
          </p:cNvSpPr>
          <p:nvPr/>
        </p:nvSpPr>
        <p:spPr bwMode="auto">
          <a:xfrm>
            <a:off x="1631950" y="5334000"/>
            <a:ext cx="56324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ea typeface="楷体_GB2312" charset="0"/>
              </a:rPr>
              <a:t>5.5</a:t>
            </a:r>
            <a:r>
              <a:rPr kumimoji="1" lang="en-US" altLang="zh-CN" sz="4400" b="1">
                <a:latin typeface="楷体_GB2312" charset="0"/>
                <a:ea typeface="楷体_GB2312" charset="0"/>
              </a:rPr>
              <a:t> </a:t>
            </a:r>
            <a:r>
              <a:rPr kumimoji="1" lang="zh-CN" altLang="en-US" sz="4400" b="1">
                <a:latin typeface="楷体_GB2312" charset="0"/>
                <a:ea typeface="楷体_GB2312" charset="0"/>
              </a:rPr>
              <a:t>广义表的表示方法</a:t>
            </a:r>
            <a:endParaRPr kumimoji="1" lang="zh-CN" altLang="en-US" sz="4400">
              <a:latin typeface="Times New Roman" charset="0"/>
            </a:endParaRPr>
          </a:p>
        </p:txBody>
      </p:sp>
      <p:sp>
        <p:nvSpPr>
          <p:cNvPr id="160776" name="AutoShape 8">
            <a:hlinkClick r:id="rId7" action="ppaction://hlinksldjump" highlightClick="1"/>
          </p:cNvPr>
          <p:cNvSpPr>
            <a:spLocks noChangeArrowheads="1"/>
          </p:cNvSpPr>
          <p:nvPr/>
        </p:nvSpPr>
        <p:spPr bwMode="auto">
          <a:xfrm>
            <a:off x="8153400" y="6248400"/>
            <a:ext cx="609600" cy="381000"/>
          </a:xfrm>
          <a:prstGeom prst="actionButtonEnd">
            <a:avLst/>
          </a:prstGeom>
          <a:solidFill>
            <a:schemeClr val="bg2"/>
          </a:solidFill>
          <a:ln>
            <a:noFill/>
          </a:ln>
          <a:effectLst>
            <a:prstShdw prst="shdw17" dist="17961" dir="2700000">
              <a:srgbClr val="4D4D4D">
                <a:alpha val="74998"/>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defRPr/>
            </a:pPr>
            <a:endParaRPr lang="zh-CN" altLang="en-US">
              <a:ea typeface="宋体" pitchFamily="2" charset="-122"/>
            </a:endParaRPr>
          </a:p>
        </p:txBody>
      </p:sp>
    </p:spTree>
    <p:extLst>
      <p:ext uri="{BB962C8B-B14F-4D97-AF65-F5344CB8AC3E}">
        <p14:creationId xmlns:p14="http://schemas.microsoft.com/office/powerpoint/2010/main" val="5691207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0770"/>
                                        </p:tgtEl>
                                        <p:attrNameLst>
                                          <p:attrName>style.visibility</p:attrName>
                                        </p:attrNameLst>
                                      </p:cBhvr>
                                      <p:to>
                                        <p:strVal val="visible"/>
                                      </p:to>
                                    </p:set>
                                    <p:anim calcmode="lin" valueType="num">
                                      <p:cBhvr additive="base">
                                        <p:cTn id="7" dur="500" fill="hold"/>
                                        <p:tgtEl>
                                          <p:spTgt spid="160770"/>
                                        </p:tgtEl>
                                        <p:attrNameLst>
                                          <p:attrName>ppt_x</p:attrName>
                                        </p:attrNameLst>
                                      </p:cBhvr>
                                      <p:tavLst>
                                        <p:tav tm="0">
                                          <p:val>
                                            <p:strVal val="0-#ppt_w/2"/>
                                          </p:val>
                                        </p:tav>
                                        <p:tav tm="100000">
                                          <p:val>
                                            <p:strVal val="#ppt_x"/>
                                          </p:val>
                                        </p:tav>
                                      </p:tavLst>
                                    </p:anim>
                                    <p:anim calcmode="lin" valueType="num">
                                      <p:cBhvr additive="base">
                                        <p:cTn id="8" dur="500" fill="hold"/>
                                        <p:tgtEl>
                                          <p:spTgt spid="1607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0772"/>
                                        </p:tgtEl>
                                        <p:attrNameLst>
                                          <p:attrName>style.visibility</p:attrName>
                                        </p:attrNameLst>
                                      </p:cBhvr>
                                      <p:to>
                                        <p:strVal val="visible"/>
                                      </p:to>
                                    </p:set>
                                    <p:anim calcmode="lin" valueType="num">
                                      <p:cBhvr additive="base">
                                        <p:cTn id="13" dur="500" fill="hold"/>
                                        <p:tgtEl>
                                          <p:spTgt spid="160772"/>
                                        </p:tgtEl>
                                        <p:attrNameLst>
                                          <p:attrName>ppt_x</p:attrName>
                                        </p:attrNameLst>
                                      </p:cBhvr>
                                      <p:tavLst>
                                        <p:tav tm="0">
                                          <p:val>
                                            <p:strVal val="0-#ppt_w/2"/>
                                          </p:val>
                                        </p:tav>
                                        <p:tav tm="100000">
                                          <p:val>
                                            <p:strVal val="#ppt_x"/>
                                          </p:val>
                                        </p:tav>
                                      </p:tavLst>
                                    </p:anim>
                                    <p:anim calcmode="lin" valueType="num">
                                      <p:cBhvr additive="base">
                                        <p:cTn id="14" dur="500" fill="hold"/>
                                        <p:tgtEl>
                                          <p:spTgt spid="1607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0771"/>
                                        </p:tgtEl>
                                        <p:attrNameLst>
                                          <p:attrName>style.visibility</p:attrName>
                                        </p:attrNameLst>
                                      </p:cBhvr>
                                      <p:to>
                                        <p:strVal val="visible"/>
                                      </p:to>
                                    </p:set>
                                    <p:anim calcmode="lin" valueType="num">
                                      <p:cBhvr additive="base">
                                        <p:cTn id="19" dur="500" fill="hold"/>
                                        <p:tgtEl>
                                          <p:spTgt spid="160771"/>
                                        </p:tgtEl>
                                        <p:attrNameLst>
                                          <p:attrName>ppt_x</p:attrName>
                                        </p:attrNameLst>
                                      </p:cBhvr>
                                      <p:tavLst>
                                        <p:tav tm="0">
                                          <p:val>
                                            <p:strVal val="0-#ppt_w/2"/>
                                          </p:val>
                                        </p:tav>
                                        <p:tav tm="100000">
                                          <p:val>
                                            <p:strVal val="#ppt_x"/>
                                          </p:val>
                                        </p:tav>
                                      </p:tavLst>
                                    </p:anim>
                                    <p:anim calcmode="lin" valueType="num">
                                      <p:cBhvr additive="base">
                                        <p:cTn id="20" dur="500" fill="hold"/>
                                        <p:tgtEl>
                                          <p:spTgt spid="1607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0773"/>
                                        </p:tgtEl>
                                        <p:attrNameLst>
                                          <p:attrName>style.visibility</p:attrName>
                                        </p:attrNameLst>
                                      </p:cBhvr>
                                      <p:to>
                                        <p:strVal val="visible"/>
                                      </p:to>
                                    </p:set>
                                    <p:anim calcmode="lin" valueType="num">
                                      <p:cBhvr additive="base">
                                        <p:cTn id="25" dur="500" fill="hold"/>
                                        <p:tgtEl>
                                          <p:spTgt spid="160773"/>
                                        </p:tgtEl>
                                        <p:attrNameLst>
                                          <p:attrName>ppt_x</p:attrName>
                                        </p:attrNameLst>
                                      </p:cBhvr>
                                      <p:tavLst>
                                        <p:tav tm="0">
                                          <p:val>
                                            <p:strVal val="0-#ppt_w/2"/>
                                          </p:val>
                                        </p:tav>
                                        <p:tav tm="100000">
                                          <p:val>
                                            <p:strVal val="#ppt_x"/>
                                          </p:val>
                                        </p:tav>
                                      </p:tavLst>
                                    </p:anim>
                                    <p:anim calcmode="lin" valueType="num">
                                      <p:cBhvr additive="base">
                                        <p:cTn id="26" dur="500" fill="hold"/>
                                        <p:tgtEl>
                                          <p:spTgt spid="16077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0774"/>
                                        </p:tgtEl>
                                        <p:attrNameLst>
                                          <p:attrName>style.visibility</p:attrName>
                                        </p:attrNameLst>
                                      </p:cBhvr>
                                      <p:to>
                                        <p:strVal val="visible"/>
                                      </p:to>
                                    </p:set>
                                    <p:anim calcmode="lin" valueType="num">
                                      <p:cBhvr additive="base">
                                        <p:cTn id="31" dur="500" fill="hold"/>
                                        <p:tgtEl>
                                          <p:spTgt spid="160774"/>
                                        </p:tgtEl>
                                        <p:attrNameLst>
                                          <p:attrName>ppt_x</p:attrName>
                                        </p:attrNameLst>
                                      </p:cBhvr>
                                      <p:tavLst>
                                        <p:tav tm="0">
                                          <p:val>
                                            <p:strVal val="0-#ppt_w/2"/>
                                          </p:val>
                                        </p:tav>
                                        <p:tav tm="100000">
                                          <p:val>
                                            <p:strVal val="#ppt_x"/>
                                          </p:val>
                                        </p:tav>
                                      </p:tavLst>
                                    </p:anim>
                                    <p:anim calcmode="lin" valueType="num">
                                      <p:cBhvr additive="base">
                                        <p:cTn id="32" dur="500" fill="hold"/>
                                        <p:tgtEl>
                                          <p:spTgt spid="160774"/>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160776"/>
                                        </p:tgtEl>
                                        <p:attrNameLst>
                                          <p:attrName>style.visibility</p:attrName>
                                        </p:attrNameLst>
                                      </p:cBhvr>
                                      <p:to>
                                        <p:strVal val="visible"/>
                                      </p:to>
                                    </p:set>
                                    <p:anim calcmode="lin" valueType="num">
                                      <p:cBhvr additive="base">
                                        <p:cTn id="36" dur="500" fill="hold"/>
                                        <p:tgtEl>
                                          <p:spTgt spid="160776"/>
                                        </p:tgtEl>
                                        <p:attrNameLst>
                                          <p:attrName>ppt_x</p:attrName>
                                        </p:attrNameLst>
                                      </p:cBhvr>
                                      <p:tavLst>
                                        <p:tav tm="0">
                                          <p:val>
                                            <p:strVal val="0-#ppt_w/2"/>
                                          </p:val>
                                        </p:tav>
                                        <p:tav tm="100000">
                                          <p:val>
                                            <p:strVal val="#ppt_x"/>
                                          </p:val>
                                        </p:tav>
                                      </p:tavLst>
                                    </p:anim>
                                    <p:anim calcmode="lin" valueType="num">
                                      <p:cBhvr additive="base">
                                        <p:cTn id="37" dur="500" fill="hold"/>
                                        <p:tgtEl>
                                          <p:spTgt spid="1607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P spid="160771" grpId="0" autoUpdateAnimBg="0"/>
      <p:bldP spid="160772" grpId="0" autoUpdateAnimBg="0"/>
      <p:bldP spid="160773" grpId="0" autoUpdateAnimBg="0"/>
      <p:bldP spid="160774" grpId="0" autoUpdateAnimBg="0"/>
      <p:bldP spid="16077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371600" y="0"/>
            <a:ext cx="4629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b="1">
                <a:solidFill>
                  <a:srgbClr val="CC3399"/>
                </a:solidFill>
                <a:latin typeface="Times New Roman" charset="0"/>
                <a:ea typeface="楷体_GB2312" charset="0"/>
              </a:rPr>
              <a:t>5.1  </a:t>
            </a:r>
            <a:r>
              <a:rPr kumimoji="1" lang="zh-CN" altLang="en-US" sz="4000" b="1">
                <a:solidFill>
                  <a:srgbClr val="CC3399"/>
                </a:solidFill>
                <a:latin typeface="Times New Roman" charset="0"/>
                <a:ea typeface="楷体_GB2312" charset="0"/>
              </a:rPr>
              <a:t>数组的类型定义</a:t>
            </a:r>
          </a:p>
        </p:txBody>
      </p:sp>
      <p:sp>
        <p:nvSpPr>
          <p:cNvPr id="161795" name="Text Box 3"/>
          <p:cNvSpPr txBox="1">
            <a:spLocks noChangeArrowheads="1"/>
          </p:cNvSpPr>
          <p:nvPr/>
        </p:nvSpPr>
        <p:spPr bwMode="auto">
          <a:xfrm>
            <a:off x="228600" y="684213"/>
            <a:ext cx="8763000" cy="60213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600" b="1">
                <a:latin typeface="Times New Roman" charset="0"/>
                <a:ea typeface="楷体_GB2312" charset="0"/>
              </a:rPr>
              <a:t>ADT Array {</a:t>
            </a:r>
          </a:p>
          <a:p>
            <a:pPr eaLnBrk="1" hangingPunct="1">
              <a:lnSpc>
                <a:spcPct val="120000"/>
              </a:lnSpc>
            </a:pPr>
            <a:r>
              <a:rPr kumimoji="1" lang="en-US" altLang="zh-CN" sz="3600">
                <a:latin typeface="Times New Roman" charset="0"/>
                <a:ea typeface="楷体_GB2312" charset="0"/>
              </a:rPr>
              <a:t>  </a:t>
            </a:r>
            <a:r>
              <a:rPr kumimoji="1" lang="zh-CN" altLang="en-US" sz="3600" b="1">
                <a:solidFill>
                  <a:schemeClr val="accent2"/>
                </a:solidFill>
                <a:latin typeface="Times New Roman" charset="0"/>
                <a:ea typeface="楷体_GB2312" charset="0"/>
              </a:rPr>
              <a:t>数据对象</a:t>
            </a:r>
            <a:r>
              <a:rPr kumimoji="1" lang="zh-CN" altLang="en-US" sz="3600">
                <a:solidFill>
                  <a:schemeClr val="accent2"/>
                </a:solidFill>
                <a:latin typeface="Times New Roman" charset="0"/>
                <a:ea typeface="楷体_GB2312" charset="0"/>
              </a:rPr>
              <a:t>：</a:t>
            </a:r>
            <a:endParaRPr kumimoji="1" lang="zh-CN" altLang="en-US" sz="3600">
              <a:latin typeface="Times New Roman" charset="0"/>
              <a:ea typeface="楷体_GB2312" charset="0"/>
            </a:endParaRPr>
          </a:p>
          <a:p>
            <a:pPr eaLnBrk="1" hangingPunct="1">
              <a:lnSpc>
                <a:spcPct val="120000"/>
              </a:lnSpc>
            </a:pPr>
            <a:r>
              <a:rPr kumimoji="1" lang="zh-CN" altLang="en-US" sz="3600">
                <a:latin typeface="Times New Roman" charset="0"/>
                <a:ea typeface="楷体_GB2312" charset="0"/>
              </a:rPr>
              <a:t>      </a:t>
            </a:r>
            <a:r>
              <a:rPr kumimoji="1" lang="en-US" altLang="zh-CN" sz="3600">
                <a:latin typeface="Times New Roman" charset="0"/>
                <a:ea typeface="楷体_GB2312" charset="0"/>
              </a:rPr>
              <a:t>D</a:t>
            </a:r>
            <a:r>
              <a:rPr kumimoji="1" lang="zh-CN" altLang="en-US" sz="3600">
                <a:latin typeface="Times New Roman" charset="0"/>
                <a:ea typeface="楷体_GB2312" charset="0"/>
              </a:rPr>
              <a:t>＝</a:t>
            </a:r>
            <a:r>
              <a:rPr kumimoji="1" lang="en-US" altLang="zh-CN" sz="3600">
                <a:latin typeface="Times New Roman" charset="0"/>
                <a:ea typeface="楷体_GB2312" charset="0"/>
              </a:rPr>
              <a:t>{a</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1</a:t>
            </a:r>
            <a:r>
              <a:rPr kumimoji="1" lang="en-US" altLang="zh-CN" sz="2400" baseline="-25000">
                <a:latin typeface="Times New Roman" charset="0"/>
                <a:ea typeface="楷体_GB2312" charset="0"/>
              </a:rPr>
              <a:t>,</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2</a:t>
            </a:r>
            <a:r>
              <a:rPr kumimoji="1" lang="en-US" altLang="zh-CN" sz="2400" baseline="-25000">
                <a:latin typeface="Times New Roman" charset="0"/>
                <a:ea typeface="楷体_GB2312" charset="0"/>
              </a:rPr>
              <a:t>, ...,</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i</a:t>
            </a:r>
            <a:r>
              <a:rPr kumimoji="1" lang="en-US" altLang="zh-CN" sz="2400" baseline="-25000">
                <a:latin typeface="Times New Roman" charset="0"/>
                <a:ea typeface="楷体_GB2312" charset="0"/>
              </a:rPr>
              <a:t>,</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n</a:t>
            </a:r>
            <a:r>
              <a:rPr kumimoji="1" lang="en-US" altLang="zh-CN" sz="3600">
                <a:latin typeface="Times New Roman" charset="0"/>
                <a:ea typeface="楷体_GB2312" charset="0"/>
              </a:rPr>
              <a:t>| j</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=0,...,b</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-1,  i=1,2,..,n }</a:t>
            </a:r>
          </a:p>
          <a:p>
            <a:pPr eaLnBrk="1" hangingPunct="1">
              <a:lnSpc>
                <a:spcPct val="120000"/>
              </a:lnSpc>
            </a:pPr>
            <a:r>
              <a:rPr kumimoji="1" lang="en-US" altLang="zh-CN" sz="3600">
                <a:latin typeface="Times New Roman" charset="0"/>
                <a:ea typeface="楷体_GB2312" charset="0"/>
              </a:rPr>
              <a:t>  </a:t>
            </a:r>
            <a:r>
              <a:rPr kumimoji="1" lang="zh-CN" altLang="en-US" sz="3600" b="1">
                <a:solidFill>
                  <a:schemeClr val="accent2"/>
                </a:solidFill>
                <a:latin typeface="Times New Roman" charset="0"/>
                <a:ea typeface="楷体_GB2312" charset="0"/>
              </a:rPr>
              <a:t>数据关系</a:t>
            </a:r>
            <a:r>
              <a:rPr kumimoji="1" lang="zh-CN" altLang="en-US" sz="3600">
                <a:solidFill>
                  <a:schemeClr val="accent2"/>
                </a:solidFill>
                <a:latin typeface="Times New Roman" charset="0"/>
                <a:ea typeface="楷体_GB2312" charset="0"/>
              </a:rPr>
              <a:t>：</a:t>
            </a:r>
            <a:endParaRPr kumimoji="1" lang="zh-CN" altLang="en-US" sz="3600">
              <a:latin typeface="Times New Roman" charset="0"/>
              <a:ea typeface="楷体_GB2312" charset="0"/>
            </a:endParaRPr>
          </a:p>
          <a:p>
            <a:pPr eaLnBrk="1" hangingPunct="1">
              <a:lnSpc>
                <a:spcPct val="120000"/>
              </a:lnSpc>
            </a:pPr>
            <a:r>
              <a:rPr kumimoji="1" lang="zh-CN" altLang="en-US" sz="3600">
                <a:latin typeface="Times New Roman" charset="0"/>
                <a:ea typeface="楷体_GB2312" charset="0"/>
              </a:rPr>
              <a:t>      </a:t>
            </a:r>
            <a:r>
              <a:rPr kumimoji="1" lang="en-US" altLang="zh-CN" sz="3600">
                <a:solidFill>
                  <a:srgbClr val="9933FF"/>
                </a:solidFill>
                <a:latin typeface="Times New Roman" charset="0"/>
                <a:ea typeface="楷体_GB2312" charset="0"/>
              </a:rPr>
              <a:t>R</a:t>
            </a:r>
            <a:r>
              <a:rPr kumimoji="1" lang="zh-CN" altLang="en-US" sz="3600">
                <a:solidFill>
                  <a:srgbClr val="9933FF"/>
                </a:solidFill>
                <a:latin typeface="Times New Roman" charset="0"/>
                <a:ea typeface="楷体_GB2312" charset="0"/>
              </a:rPr>
              <a:t>＝</a:t>
            </a:r>
            <a:r>
              <a:rPr kumimoji="1" lang="en-US" altLang="zh-CN" sz="3600">
                <a:solidFill>
                  <a:srgbClr val="9933FF"/>
                </a:solidFill>
                <a:latin typeface="Times New Roman" charset="0"/>
                <a:ea typeface="楷体_GB2312" charset="0"/>
              </a:rPr>
              <a:t>{R1, R2, ..., Rn}</a:t>
            </a:r>
            <a:endParaRPr kumimoji="1" lang="en-US" altLang="zh-CN" sz="3600">
              <a:latin typeface="Times New Roman" charset="0"/>
              <a:ea typeface="楷体_GB2312" charset="0"/>
            </a:endParaRPr>
          </a:p>
          <a:p>
            <a:pPr eaLnBrk="1" hangingPunct="1">
              <a:lnSpc>
                <a:spcPct val="120000"/>
              </a:lnSpc>
            </a:pPr>
            <a:r>
              <a:rPr kumimoji="1" lang="en-US" altLang="zh-CN" sz="3600">
                <a:latin typeface="Times New Roman" charset="0"/>
                <a:ea typeface="楷体_GB2312" charset="0"/>
              </a:rPr>
              <a:t>      Ri</a:t>
            </a:r>
            <a:r>
              <a:rPr kumimoji="1" lang="zh-CN" altLang="en-US" sz="3600">
                <a:latin typeface="Times New Roman" charset="0"/>
                <a:ea typeface="楷体_GB2312" charset="0"/>
              </a:rPr>
              <a:t>＝</a:t>
            </a:r>
            <a:r>
              <a:rPr kumimoji="1" lang="en-US" altLang="zh-CN" sz="3600">
                <a:latin typeface="Times New Roman" charset="0"/>
                <a:ea typeface="楷体_GB2312" charset="0"/>
              </a:rPr>
              <a:t>{&lt;a</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1</a:t>
            </a:r>
            <a:r>
              <a:rPr kumimoji="1" lang="en-US" altLang="zh-CN" sz="3600" baseline="-25000">
                <a:latin typeface="Times New Roman" charset="0"/>
                <a:ea typeface="楷体_GB2312" charset="0"/>
              </a:rPr>
              <a:t>,</a:t>
            </a:r>
            <a:r>
              <a:rPr kumimoji="1" lang="en-US" altLang="zh-CN" sz="2400" baseline="-25000">
                <a:latin typeface="Times New Roman" charset="0"/>
                <a:ea typeface="楷体_GB2312" charset="0"/>
              </a:rPr>
              <a:t>...</a:t>
            </a:r>
            <a:r>
              <a:rPr kumimoji="1" lang="en-US" altLang="zh-CN" sz="3600" baseline="-25000">
                <a:latin typeface="Times New Roman" charset="0"/>
                <a:ea typeface="楷体_GB2312" charset="0"/>
              </a:rPr>
              <a:t> j</a:t>
            </a:r>
            <a:r>
              <a:rPr kumimoji="1" lang="en-US" altLang="zh-CN" baseline="-25000">
                <a:latin typeface="Times New Roman" charset="0"/>
                <a:ea typeface="楷体_GB2312" charset="0"/>
              </a:rPr>
              <a:t>i</a:t>
            </a:r>
            <a:r>
              <a:rPr kumimoji="1" lang="en-US" altLang="zh-CN" sz="3600" baseline="-25000">
                <a:latin typeface="Times New Roman" charset="0"/>
                <a:ea typeface="楷体_GB2312" charset="0"/>
              </a:rPr>
              <a:t>,</a:t>
            </a:r>
            <a:r>
              <a:rPr kumimoji="1" lang="en-US" altLang="zh-CN" sz="2400" baseline="-25000">
                <a:latin typeface="Times New Roman" charset="0"/>
                <a:ea typeface="楷体_GB2312" charset="0"/>
              </a:rPr>
              <a:t>...</a:t>
            </a:r>
            <a:r>
              <a:rPr kumimoji="1" lang="en-US" altLang="zh-CN" sz="3600" baseline="-25000">
                <a:latin typeface="Times New Roman" charset="0"/>
                <a:ea typeface="楷体_GB2312" charset="0"/>
              </a:rPr>
              <a:t> j</a:t>
            </a:r>
            <a:r>
              <a:rPr kumimoji="1" lang="en-US" altLang="zh-CN" baseline="-25000">
                <a:latin typeface="Times New Roman" charset="0"/>
                <a:ea typeface="楷体_GB2312" charset="0"/>
              </a:rPr>
              <a:t>n</a:t>
            </a:r>
            <a:r>
              <a:rPr kumimoji="1" lang="en-US" altLang="zh-CN" sz="3600" baseline="-25000">
                <a:latin typeface="Times New Roman" charset="0"/>
                <a:ea typeface="楷体_GB2312" charset="0"/>
              </a:rPr>
              <a:t> </a:t>
            </a:r>
            <a:r>
              <a:rPr kumimoji="1" lang="en-US" altLang="zh-CN" sz="3600">
                <a:latin typeface="Times New Roman" charset="0"/>
                <a:ea typeface="楷体_GB2312" charset="0"/>
              </a:rPr>
              <a:t>, a</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1</a:t>
            </a:r>
            <a:r>
              <a:rPr kumimoji="1" lang="en-US" altLang="zh-CN" sz="3600" baseline="-25000">
                <a:latin typeface="Times New Roman" charset="0"/>
                <a:ea typeface="楷体_GB2312" charset="0"/>
              </a:rPr>
              <a:t>, </a:t>
            </a:r>
            <a:r>
              <a:rPr kumimoji="1" lang="en-US" altLang="zh-CN" sz="2400" baseline="-25000">
                <a:latin typeface="Times New Roman" charset="0"/>
                <a:ea typeface="楷体_GB2312" charset="0"/>
              </a:rPr>
              <a:t>...</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i</a:t>
            </a:r>
            <a:r>
              <a:rPr kumimoji="1" lang="en-US" altLang="zh-CN" sz="3600" baseline="-25000">
                <a:latin typeface="Times New Roman" charset="0"/>
                <a:ea typeface="楷体_GB2312" charset="0"/>
              </a:rPr>
              <a:t> +1, </a:t>
            </a:r>
            <a:r>
              <a:rPr kumimoji="1" lang="en-US" altLang="zh-CN" sz="2400" baseline="-25000">
                <a:latin typeface="Times New Roman" charset="0"/>
                <a:ea typeface="楷体_GB2312" charset="0"/>
              </a:rPr>
              <a:t>...</a:t>
            </a:r>
            <a:r>
              <a:rPr kumimoji="1" lang="en-US" altLang="zh-CN" sz="3600" baseline="-25000">
                <a:latin typeface="Times New Roman" charset="0"/>
                <a:ea typeface="楷体_GB2312" charset="0"/>
              </a:rPr>
              <a:t>j</a:t>
            </a:r>
            <a:r>
              <a:rPr kumimoji="1" lang="en-US" altLang="zh-CN" baseline="-25000">
                <a:latin typeface="Times New Roman" charset="0"/>
                <a:ea typeface="楷体_GB2312" charset="0"/>
              </a:rPr>
              <a:t>n</a:t>
            </a:r>
            <a:r>
              <a:rPr kumimoji="1" lang="en-US" altLang="zh-CN" sz="3600" baseline="-25000">
                <a:latin typeface="Times New Roman" charset="0"/>
                <a:ea typeface="楷体_GB2312" charset="0"/>
              </a:rPr>
              <a:t>  </a:t>
            </a:r>
            <a:r>
              <a:rPr kumimoji="1" lang="en-US" altLang="zh-CN" sz="3600">
                <a:latin typeface="Times New Roman" charset="0"/>
                <a:ea typeface="楷体_GB2312" charset="0"/>
              </a:rPr>
              <a:t>&gt; |  0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j</a:t>
            </a:r>
            <a:r>
              <a:rPr kumimoji="1" lang="en-US" altLang="zh-CN" sz="3600" baseline="-25000">
                <a:latin typeface="Times New Roman" charset="0"/>
                <a:ea typeface="楷体_GB2312" charset="0"/>
              </a:rPr>
              <a:t>k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b</a:t>
            </a:r>
            <a:r>
              <a:rPr kumimoji="1" lang="en-US" altLang="zh-CN" sz="3600" baseline="-25000">
                <a:latin typeface="Times New Roman" charset="0"/>
                <a:ea typeface="楷体_GB2312" charset="0"/>
              </a:rPr>
              <a:t>k</a:t>
            </a:r>
            <a:r>
              <a:rPr kumimoji="1" lang="en-US" altLang="zh-CN" sz="3600">
                <a:latin typeface="Times New Roman" charset="0"/>
                <a:ea typeface="楷体_GB2312" charset="0"/>
              </a:rPr>
              <a:t> -1, </a:t>
            </a:r>
          </a:p>
          <a:p>
            <a:pPr eaLnBrk="1" hangingPunct="1">
              <a:lnSpc>
                <a:spcPct val="120000"/>
              </a:lnSpc>
            </a:pPr>
            <a:r>
              <a:rPr kumimoji="1" lang="en-US" altLang="zh-CN" sz="3600">
                <a:latin typeface="Times New Roman" charset="0"/>
                <a:ea typeface="楷体_GB2312" charset="0"/>
              </a:rPr>
              <a:t>     1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k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n  </a:t>
            </a:r>
            <a:r>
              <a:rPr kumimoji="1" lang="zh-CN" altLang="en-US" sz="3600">
                <a:latin typeface="Times New Roman" charset="0"/>
                <a:ea typeface="楷体_GB2312" charset="0"/>
              </a:rPr>
              <a:t>且</a:t>
            </a:r>
            <a:r>
              <a:rPr kumimoji="1" lang="en-US" altLang="zh-CN" sz="3600">
                <a:latin typeface="Times New Roman" charset="0"/>
                <a:ea typeface="楷体_GB2312" charset="0"/>
              </a:rPr>
              <a:t>k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i,  0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j</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b</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-2, i=2,...,n }</a:t>
            </a:r>
          </a:p>
          <a:p>
            <a:pPr eaLnBrk="1" hangingPunct="1">
              <a:lnSpc>
                <a:spcPct val="120000"/>
              </a:lnSpc>
            </a:pPr>
            <a:r>
              <a:rPr kumimoji="1" lang="en-US" altLang="zh-CN" sz="3600" b="1">
                <a:latin typeface="Times New Roman" charset="0"/>
                <a:ea typeface="楷体_GB2312" charset="0"/>
              </a:rPr>
              <a:t>  </a:t>
            </a:r>
          </a:p>
          <a:p>
            <a:pPr eaLnBrk="1" hangingPunct="1">
              <a:lnSpc>
                <a:spcPct val="120000"/>
              </a:lnSpc>
            </a:pPr>
            <a:r>
              <a:rPr kumimoji="1" lang="en-US" altLang="zh-CN" sz="3600" b="1">
                <a:latin typeface="Times New Roman" charset="0"/>
                <a:ea typeface="楷体_GB2312" charset="0"/>
              </a:rPr>
              <a:t>} ADT</a:t>
            </a:r>
            <a:r>
              <a:rPr kumimoji="1" lang="en-US" altLang="zh-CN" sz="3600">
                <a:latin typeface="Times New Roman" charset="0"/>
                <a:ea typeface="楷体_GB2312" charset="0"/>
              </a:rPr>
              <a:t> Array </a:t>
            </a:r>
          </a:p>
        </p:txBody>
      </p:sp>
      <p:sp>
        <p:nvSpPr>
          <p:cNvPr id="161796" name="Text Box 4">
            <a:hlinkClick r:id="rId2" action="ppaction://hlinksldjump"/>
          </p:cNvPr>
          <p:cNvSpPr txBox="1">
            <a:spLocks noChangeArrowheads="1"/>
          </p:cNvSpPr>
          <p:nvPr/>
        </p:nvSpPr>
        <p:spPr bwMode="auto">
          <a:xfrm>
            <a:off x="517525" y="5376863"/>
            <a:ext cx="2165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b="1" u="sng">
                <a:solidFill>
                  <a:schemeClr val="accent2"/>
                </a:solidFill>
                <a:latin typeface="Times New Roman" charset="0"/>
                <a:ea typeface="楷体_GB2312" charset="0"/>
              </a:rPr>
              <a:t>基本操作</a:t>
            </a:r>
            <a:r>
              <a:rPr kumimoji="1" lang="en-US" altLang="zh-CN" sz="3600" b="1">
                <a:solidFill>
                  <a:schemeClr val="accent2"/>
                </a:solidFill>
                <a:latin typeface="Times New Roman" charset="0"/>
                <a:ea typeface="楷体_GB2312" charset="0"/>
              </a:rPr>
              <a:t>:</a:t>
            </a:r>
          </a:p>
        </p:txBody>
      </p:sp>
      <p:sp>
        <p:nvSpPr>
          <p:cNvPr id="161797" name="AutoShape 5">
            <a:hlinkClick r:id="" action="ppaction://hlinkshowjump?jump=previousslide" highlightClick="1"/>
          </p:cNvPr>
          <p:cNvSpPr>
            <a:spLocks noChangeArrowheads="1"/>
          </p:cNvSpPr>
          <p:nvPr/>
        </p:nvSpPr>
        <p:spPr bwMode="auto">
          <a:xfrm>
            <a:off x="8382000" y="6172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61798" name="AutoShape 6">
            <a:hlinkClick r:id="" action="ppaction://hlinkshowjump?jump=nextslide" highlightClick="1"/>
          </p:cNvPr>
          <p:cNvSpPr>
            <a:spLocks noChangeArrowheads="1"/>
          </p:cNvSpPr>
          <p:nvPr/>
        </p:nvSpPr>
        <p:spPr bwMode="auto">
          <a:xfrm>
            <a:off x="8305800" y="3505200"/>
            <a:ext cx="381000" cy="381000"/>
          </a:xfrm>
          <a:prstGeom prst="actionButtonForwardNext">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9141871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1795"/>
                                        </p:tgtEl>
                                        <p:attrNameLst>
                                          <p:attrName>style.visibility</p:attrName>
                                        </p:attrNameLst>
                                      </p:cBhvr>
                                      <p:to>
                                        <p:strVal val="visible"/>
                                      </p:to>
                                    </p:set>
                                    <p:animEffect transition="in" filter="strips(downRight)">
                                      <p:cBhvr>
                                        <p:cTn id="7" dur="500"/>
                                        <p:tgtEl>
                                          <p:spTgt spid="161795"/>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161798"/>
                                        </p:tgtEl>
                                        <p:attrNameLst>
                                          <p:attrName>style.visibility</p:attrName>
                                        </p:attrNameLst>
                                      </p:cBhvr>
                                      <p:to>
                                        <p:strVal val="visible"/>
                                      </p:to>
                                    </p:set>
                                    <p:anim calcmode="lin" valueType="num">
                                      <p:cBhvr additive="base">
                                        <p:cTn id="11" dur="500" fill="hold"/>
                                        <p:tgtEl>
                                          <p:spTgt spid="161798"/>
                                        </p:tgtEl>
                                        <p:attrNameLst>
                                          <p:attrName>ppt_x</p:attrName>
                                        </p:attrNameLst>
                                      </p:cBhvr>
                                      <p:tavLst>
                                        <p:tav tm="0">
                                          <p:val>
                                            <p:strVal val="1+#ppt_w/2"/>
                                          </p:val>
                                        </p:tav>
                                        <p:tav tm="100000">
                                          <p:val>
                                            <p:strVal val="#ppt_x"/>
                                          </p:val>
                                        </p:tav>
                                      </p:tavLst>
                                    </p:anim>
                                    <p:anim calcmode="lin" valueType="num">
                                      <p:cBhvr additive="base">
                                        <p:cTn id="12" dur="500" fill="hold"/>
                                        <p:tgtEl>
                                          <p:spTgt spid="16179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1796"/>
                                        </p:tgtEl>
                                        <p:attrNameLst>
                                          <p:attrName>style.visibility</p:attrName>
                                        </p:attrNameLst>
                                      </p:cBhvr>
                                      <p:to>
                                        <p:strVal val="visible"/>
                                      </p:to>
                                    </p:set>
                                    <p:anim calcmode="lin" valueType="num">
                                      <p:cBhvr additive="base">
                                        <p:cTn id="17" dur="500" fill="hold"/>
                                        <p:tgtEl>
                                          <p:spTgt spid="161796"/>
                                        </p:tgtEl>
                                        <p:attrNameLst>
                                          <p:attrName>ppt_x</p:attrName>
                                        </p:attrNameLst>
                                      </p:cBhvr>
                                      <p:tavLst>
                                        <p:tav tm="0">
                                          <p:val>
                                            <p:strVal val="0-#ppt_w/2"/>
                                          </p:val>
                                        </p:tav>
                                        <p:tav tm="100000">
                                          <p:val>
                                            <p:strVal val="#ppt_x"/>
                                          </p:val>
                                        </p:tav>
                                      </p:tavLst>
                                    </p:anim>
                                    <p:anim calcmode="lin" valueType="num">
                                      <p:cBhvr additive="base">
                                        <p:cTn id="18" dur="500" fill="hold"/>
                                        <p:tgtEl>
                                          <p:spTgt spid="161796"/>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161797"/>
                                        </p:tgtEl>
                                        <p:attrNameLst>
                                          <p:attrName>style.visibility</p:attrName>
                                        </p:attrNameLst>
                                      </p:cBhvr>
                                      <p:to>
                                        <p:strVal val="visible"/>
                                      </p:to>
                                    </p:set>
                                    <p:anim calcmode="lin" valueType="num">
                                      <p:cBhvr additive="base">
                                        <p:cTn id="22" dur="500" fill="hold"/>
                                        <p:tgtEl>
                                          <p:spTgt spid="161797"/>
                                        </p:tgtEl>
                                        <p:attrNameLst>
                                          <p:attrName>ppt_x</p:attrName>
                                        </p:attrNameLst>
                                      </p:cBhvr>
                                      <p:tavLst>
                                        <p:tav tm="0">
                                          <p:val>
                                            <p:strVal val="1+#ppt_w/2"/>
                                          </p:val>
                                        </p:tav>
                                        <p:tav tm="100000">
                                          <p:val>
                                            <p:strVal val="#ppt_x"/>
                                          </p:val>
                                        </p:tav>
                                      </p:tavLst>
                                    </p:anim>
                                    <p:anim calcmode="lin" valueType="num">
                                      <p:cBhvr additive="base">
                                        <p:cTn id="23" dur="500" fill="hold"/>
                                        <p:tgtEl>
                                          <p:spTgt spid="1617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animBg="1" autoUpdateAnimBg="0"/>
      <p:bldP spid="161796" grpId="0" autoUpdateAnimBg="0"/>
      <p:bldP spid="161797" grpId="0" animBg="1"/>
      <p:bldP spid="16179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676400" y="152400"/>
            <a:ext cx="3910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990033"/>
                </a:solidFill>
                <a:latin typeface="Times New Roman" charset="0"/>
                <a:ea typeface="隶书" charset="0"/>
              </a:rPr>
              <a:t>二维数组的定义</a:t>
            </a:r>
            <a:r>
              <a:rPr kumimoji="1" lang="en-US" altLang="zh-CN" sz="4000" b="1">
                <a:solidFill>
                  <a:srgbClr val="990033"/>
                </a:solidFill>
                <a:latin typeface="Times New Roman" charset="0"/>
                <a:ea typeface="隶书" charset="0"/>
              </a:rPr>
              <a:t>:</a:t>
            </a:r>
            <a:endParaRPr kumimoji="1" lang="en-US" altLang="zh-CN" sz="4400">
              <a:solidFill>
                <a:srgbClr val="990033"/>
              </a:solidFill>
              <a:latin typeface="Times New Roman" charset="0"/>
            </a:endParaRPr>
          </a:p>
        </p:txBody>
      </p:sp>
      <p:sp>
        <p:nvSpPr>
          <p:cNvPr id="162819" name="Text Box 3"/>
          <p:cNvSpPr txBox="1">
            <a:spLocks noChangeArrowheads="1"/>
          </p:cNvSpPr>
          <p:nvPr/>
        </p:nvSpPr>
        <p:spPr bwMode="auto">
          <a:xfrm>
            <a:off x="152400" y="1096963"/>
            <a:ext cx="8991600"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4000" b="1">
                <a:solidFill>
                  <a:schemeClr val="accent2"/>
                </a:solidFill>
                <a:latin typeface="楷体_GB2312" charset="0"/>
                <a:ea typeface="楷体_GB2312" charset="0"/>
              </a:rPr>
              <a:t>数据对象</a:t>
            </a:r>
            <a:r>
              <a:rPr kumimoji="1" lang="en-US" altLang="zh-CN" sz="4000" b="1">
                <a:solidFill>
                  <a:schemeClr val="accent2"/>
                </a:solidFill>
                <a:latin typeface="楷体_GB2312" charset="0"/>
                <a:ea typeface="楷体_GB2312" charset="0"/>
              </a:rPr>
              <a:t>:</a:t>
            </a:r>
            <a:endParaRPr kumimoji="1" lang="en-US" altLang="zh-CN" sz="4000">
              <a:solidFill>
                <a:schemeClr val="accent2"/>
              </a:solidFill>
              <a:latin typeface="楷体_GB2312" charset="0"/>
              <a:ea typeface="楷体_GB2312" charset="0"/>
            </a:endParaRPr>
          </a:p>
          <a:p>
            <a:pPr eaLnBrk="1" hangingPunct="1">
              <a:lnSpc>
                <a:spcPct val="125000"/>
              </a:lnSpc>
            </a:pPr>
            <a:r>
              <a:rPr kumimoji="1" lang="en-US" altLang="zh-CN" sz="4000">
                <a:solidFill>
                  <a:schemeClr val="accent2"/>
                </a:solidFill>
                <a:latin typeface="楷体_GB2312" charset="0"/>
                <a:ea typeface="楷体_GB2312" charset="0"/>
              </a:rPr>
              <a:t>   </a:t>
            </a:r>
            <a:r>
              <a:rPr kumimoji="1" lang="en-US" altLang="zh-CN" sz="4000">
                <a:solidFill>
                  <a:schemeClr val="accent2"/>
                </a:solidFill>
                <a:latin typeface="Times New Roman" charset="0"/>
                <a:ea typeface="楷体_GB2312" charset="0"/>
              </a:rPr>
              <a:t>D = {a</a:t>
            </a:r>
            <a:r>
              <a:rPr kumimoji="1" lang="en-US" altLang="zh-CN" sz="4000" baseline="-25000">
                <a:solidFill>
                  <a:schemeClr val="accent2"/>
                </a:solidFill>
                <a:latin typeface="Times New Roman" charset="0"/>
                <a:ea typeface="楷体_GB2312" charset="0"/>
              </a:rPr>
              <a:t>ij</a:t>
            </a:r>
            <a:r>
              <a:rPr kumimoji="1" lang="en-US" altLang="zh-CN" sz="4000">
                <a:solidFill>
                  <a:schemeClr val="accent2"/>
                </a:solidFill>
                <a:latin typeface="Times New Roman" charset="0"/>
                <a:ea typeface="楷体_GB2312" charset="0"/>
              </a:rPr>
              <a:t> | </a:t>
            </a:r>
            <a:r>
              <a:rPr kumimoji="1" lang="en-US" altLang="zh-CN" sz="3200">
                <a:solidFill>
                  <a:schemeClr val="accent2"/>
                </a:solidFill>
                <a:latin typeface="Times New Roman" charset="0"/>
                <a:ea typeface="楷体_GB2312" charset="0"/>
              </a:rPr>
              <a:t>0</a:t>
            </a:r>
            <a:r>
              <a:rPr kumimoji="1" lang="en-US" altLang="zh-CN" sz="3200">
                <a:solidFill>
                  <a:schemeClr val="accent2"/>
                </a:solidFill>
                <a:latin typeface="Times New Roman" charset="0"/>
              </a:rPr>
              <a:t>≤i≤b</a:t>
            </a:r>
            <a:r>
              <a:rPr kumimoji="1" lang="en-US" altLang="zh-CN" sz="3200" baseline="-25000">
                <a:solidFill>
                  <a:schemeClr val="accent2"/>
                </a:solidFill>
                <a:latin typeface="Times New Roman" charset="0"/>
              </a:rPr>
              <a:t>1</a:t>
            </a:r>
            <a:r>
              <a:rPr kumimoji="1" lang="en-US" altLang="zh-CN" sz="3200">
                <a:solidFill>
                  <a:schemeClr val="accent2"/>
                </a:solidFill>
                <a:latin typeface="Times New Roman" charset="0"/>
              </a:rPr>
              <a:t>-1, 0 ≤j≤b</a:t>
            </a:r>
            <a:r>
              <a:rPr kumimoji="1" lang="en-US" altLang="zh-CN" sz="3200" baseline="-25000">
                <a:solidFill>
                  <a:schemeClr val="accent2"/>
                </a:solidFill>
                <a:latin typeface="Times New Roman" charset="0"/>
              </a:rPr>
              <a:t>2</a:t>
            </a:r>
            <a:r>
              <a:rPr kumimoji="1" lang="en-US" altLang="zh-CN" sz="3200">
                <a:solidFill>
                  <a:schemeClr val="accent2"/>
                </a:solidFill>
                <a:latin typeface="Times New Roman" charset="0"/>
              </a:rPr>
              <a:t>-1</a:t>
            </a:r>
            <a:r>
              <a:rPr kumimoji="1" lang="en-US" altLang="zh-CN" sz="4000">
                <a:solidFill>
                  <a:schemeClr val="accent2"/>
                </a:solidFill>
                <a:latin typeface="Times New Roman" charset="0"/>
              </a:rPr>
              <a:t>}</a:t>
            </a:r>
          </a:p>
          <a:p>
            <a:pPr eaLnBrk="1" hangingPunct="1">
              <a:lnSpc>
                <a:spcPct val="125000"/>
              </a:lnSpc>
            </a:pPr>
            <a:r>
              <a:rPr kumimoji="1" lang="zh-CN" altLang="en-US" sz="4000" b="1">
                <a:solidFill>
                  <a:schemeClr val="accent2"/>
                </a:solidFill>
                <a:latin typeface="楷体_GB2312" charset="0"/>
                <a:ea typeface="楷体_GB2312" charset="0"/>
              </a:rPr>
              <a:t>数据关系</a:t>
            </a:r>
            <a:r>
              <a:rPr kumimoji="1" lang="en-US" altLang="zh-CN" sz="4000" b="1">
                <a:solidFill>
                  <a:schemeClr val="accent2"/>
                </a:solidFill>
                <a:latin typeface="楷体_GB2312" charset="0"/>
                <a:ea typeface="楷体_GB2312" charset="0"/>
              </a:rPr>
              <a:t>:</a:t>
            </a:r>
          </a:p>
          <a:p>
            <a:pPr eaLnBrk="1" hangingPunct="1">
              <a:lnSpc>
                <a:spcPct val="125000"/>
              </a:lnSpc>
            </a:pPr>
            <a:r>
              <a:rPr kumimoji="1" lang="en-US" altLang="zh-CN" sz="4000" b="1">
                <a:solidFill>
                  <a:schemeClr val="accent2"/>
                </a:solidFill>
                <a:latin typeface="楷体_GB2312" charset="0"/>
                <a:ea typeface="楷体_GB2312" charset="0"/>
              </a:rPr>
              <a:t>  </a:t>
            </a:r>
            <a:r>
              <a:rPr kumimoji="1" lang="en-US" altLang="zh-CN" sz="3600">
                <a:solidFill>
                  <a:schemeClr val="accent2"/>
                </a:solidFill>
                <a:latin typeface="Times New Roman" charset="0"/>
                <a:ea typeface="楷体_GB2312" charset="0"/>
              </a:rPr>
              <a:t>R = { ROW, COL }</a:t>
            </a:r>
            <a:endParaRPr kumimoji="1" lang="en-US" altLang="zh-CN" sz="4000">
              <a:solidFill>
                <a:schemeClr val="accent2"/>
              </a:solidFill>
              <a:latin typeface="Times New Roman" charset="0"/>
              <a:ea typeface="楷体_GB2312" charset="0"/>
            </a:endParaRPr>
          </a:p>
          <a:p>
            <a:pPr eaLnBrk="1" hangingPunct="1">
              <a:lnSpc>
                <a:spcPct val="125000"/>
              </a:lnSpc>
            </a:pPr>
            <a:r>
              <a:rPr kumimoji="1" lang="en-US" altLang="zh-CN" sz="4000">
                <a:solidFill>
                  <a:schemeClr val="accent2"/>
                </a:solidFill>
                <a:latin typeface="Times New Roman" charset="0"/>
                <a:ea typeface="楷体_GB2312" charset="0"/>
              </a:rPr>
              <a:t>   </a:t>
            </a:r>
            <a:r>
              <a:rPr kumimoji="1" lang="en-US" altLang="zh-CN" sz="3600">
                <a:solidFill>
                  <a:schemeClr val="accent2"/>
                </a:solidFill>
                <a:latin typeface="Times New Roman" charset="0"/>
                <a:ea typeface="楷体_GB2312" charset="0"/>
              </a:rPr>
              <a:t>ROW</a:t>
            </a:r>
            <a:r>
              <a:rPr kumimoji="1" lang="en-US" altLang="zh-CN" sz="4000">
                <a:solidFill>
                  <a:schemeClr val="accent2"/>
                </a:solidFill>
                <a:latin typeface="Times New Roman" charset="0"/>
                <a:ea typeface="楷体_GB2312" charset="0"/>
              </a:rPr>
              <a:t> = {&lt;a</a:t>
            </a:r>
            <a:r>
              <a:rPr kumimoji="1" lang="en-US" altLang="zh-CN" sz="4000" baseline="-25000">
                <a:solidFill>
                  <a:schemeClr val="accent2"/>
                </a:solidFill>
                <a:latin typeface="Times New Roman" charset="0"/>
                <a:ea typeface="楷体_GB2312" charset="0"/>
              </a:rPr>
              <a:t>i,j</a:t>
            </a:r>
            <a:r>
              <a:rPr kumimoji="1" lang="en-US" altLang="zh-CN" sz="4000">
                <a:solidFill>
                  <a:schemeClr val="accent2"/>
                </a:solidFill>
                <a:latin typeface="Times New Roman" charset="0"/>
                <a:ea typeface="楷体_GB2312" charset="0"/>
              </a:rPr>
              <a:t>,a</a:t>
            </a:r>
            <a:r>
              <a:rPr kumimoji="1" lang="en-US" altLang="zh-CN" sz="4000" baseline="-25000">
                <a:solidFill>
                  <a:schemeClr val="accent2"/>
                </a:solidFill>
                <a:latin typeface="Times New Roman" charset="0"/>
                <a:ea typeface="楷体_GB2312" charset="0"/>
              </a:rPr>
              <a:t>i+1,j</a:t>
            </a:r>
            <a:r>
              <a:rPr kumimoji="1" lang="en-US" altLang="zh-CN" sz="4000">
                <a:solidFill>
                  <a:schemeClr val="accent2"/>
                </a:solidFill>
                <a:latin typeface="Times New Roman" charset="0"/>
                <a:ea typeface="楷体_GB2312" charset="0"/>
              </a:rPr>
              <a:t>&gt;| </a:t>
            </a:r>
            <a:r>
              <a:rPr kumimoji="1" lang="en-US" altLang="zh-CN" sz="3200">
                <a:solidFill>
                  <a:schemeClr val="accent2"/>
                </a:solidFill>
                <a:latin typeface="Times New Roman" charset="0"/>
                <a:ea typeface="楷体_GB2312" charset="0"/>
              </a:rPr>
              <a:t>0</a:t>
            </a:r>
            <a:r>
              <a:rPr kumimoji="1" lang="en-US" altLang="zh-CN" sz="3200">
                <a:solidFill>
                  <a:schemeClr val="accent2"/>
                </a:solidFill>
                <a:latin typeface="Times New Roman" charset="0"/>
              </a:rPr>
              <a:t>≤i≤b</a:t>
            </a:r>
            <a:r>
              <a:rPr kumimoji="1" lang="en-US" altLang="zh-CN" sz="3200" baseline="-25000">
                <a:solidFill>
                  <a:schemeClr val="accent2"/>
                </a:solidFill>
                <a:latin typeface="Times New Roman" charset="0"/>
              </a:rPr>
              <a:t>1</a:t>
            </a:r>
            <a:r>
              <a:rPr kumimoji="1" lang="en-US" altLang="zh-CN" sz="3200">
                <a:solidFill>
                  <a:schemeClr val="accent2"/>
                </a:solidFill>
                <a:latin typeface="Times New Roman" charset="0"/>
              </a:rPr>
              <a:t>-2, 0≤j≤b</a:t>
            </a:r>
            <a:r>
              <a:rPr kumimoji="1" lang="en-US" altLang="zh-CN" sz="3200" baseline="-25000">
                <a:solidFill>
                  <a:schemeClr val="accent2"/>
                </a:solidFill>
                <a:latin typeface="Times New Roman" charset="0"/>
              </a:rPr>
              <a:t>2</a:t>
            </a:r>
            <a:r>
              <a:rPr kumimoji="1" lang="en-US" altLang="zh-CN" sz="3200">
                <a:solidFill>
                  <a:schemeClr val="accent2"/>
                </a:solidFill>
                <a:latin typeface="Times New Roman" charset="0"/>
              </a:rPr>
              <a:t>-1</a:t>
            </a:r>
            <a:r>
              <a:rPr kumimoji="1" lang="en-US" altLang="zh-CN" sz="4000">
                <a:solidFill>
                  <a:schemeClr val="accent2"/>
                </a:solidFill>
                <a:latin typeface="Times New Roman" charset="0"/>
              </a:rPr>
              <a:t>}</a:t>
            </a:r>
          </a:p>
          <a:p>
            <a:pPr eaLnBrk="1" hangingPunct="1">
              <a:lnSpc>
                <a:spcPct val="125000"/>
              </a:lnSpc>
            </a:pPr>
            <a:r>
              <a:rPr kumimoji="1" lang="en-US" altLang="zh-CN" sz="4000">
                <a:solidFill>
                  <a:schemeClr val="accent2"/>
                </a:solidFill>
                <a:latin typeface="Times New Roman" charset="0"/>
              </a:rPr>
              <a:t>   </a:t>
            </a:r>
            <a:r>
              <a:rPr kumimoji="1" lang="en-US" altLang="zh-CN" sz="3600">
                <a:solidFill>
                  <a:schemeClr val="accent2"/>
                </a:solidFill>
                <a:latin typeface="Times New Roman" charset="0"/>
              </a:rPr>
              <a:t>COL</a:t>
            </a:r>
            <a:r>
              <a:rPr kumimoji="1" lang="en-US" altLang="zh-CN" sz="4000">
                <a:solidFill>
                  <a:schemeClr val="accent2"/>
                </a:solidFill>
                <a:latin typeface="Times New Roman" charset="0"/>
              </a:rPr>
              <a:t> = {&lt;a</a:t>
            </a:r>
            <a:r>
              <a:rPr kumimoji="1" lang="en-US" altLang="zh-CN" sz="4000" baseline="-25000">
                <a:solidFill>
                  <a:schemeClr val="accent2"/>
                </a:solidFill>
                <a:latin typeface="Times New Roman" charset="0"/>
              </a:rPr>
              <a:t>i,j</a:t>
            </a:r>
            <a:r>
              <a:rPr kumimoji="1" lang="en-US" altLang="zh-CN" sz="4000">
                <a:solidFill>
                  <a:schemeClr val="accent2"/>
                </a:solidFill>
                <a:latin typeface="Times New Roman" charset="0"/>
              </a:rPr>
              <a:t>,a</a:t>
            </a:r>
            <a:r>
              <a:rPr kumimoji="1" lang="en-US" altLang="zh-CN" sz="4000" baseline="-25000">
                <a:solidFill>
                  <a:schemeClr val="accent2"/>
                </a:solidFill>
                <a:latin typeface="Times New Roman" charset="0"/>
              </a:rPr>
              <a:t>i,j+1</a:t>
            </a:r>
            <a:r>
              <a:rPr kumimoji="1" lang="en-US" altLang="zh-CN" sz="4000">
                <a:solidFill>
                  <a:schemeClr val="accent2"/>
                </a:solidFill>
                <a:latin typeface="Times New Roman" charset="0"/>
              </a:rPr>
              <a:t>&gt;| </a:t>
            </a:r>
            <a:r>
              <a:rPr kumimoji="1" lang="en-US" altLang="zh-CN" sz="3200">
                <a:solidFill>
                  <a:schemeClr val="accent2"/>
                </a:solidFill>
                <a:latin typeface="Times New Roman" charset="0"/>
              </a:rPr>
              <a:t>0≤i≤b</a:t>
            </a:r>
            <a:r>
              <a:rPr kumimoji="1" lang="en-US" altLang="zh-CN" sz="3200" baseline="-25000">
                <a:solidFill>
                  <a:schemeClr val="accent2"/>
                </a:solidFill>
                <a:latin typeface="Times New Roman" charset="0"/>
              </a:rPr>
              <a:t>1</a:t>
            </a:r>
            <a:r>
              <a:rPr kumimoji="1" lang="en-US" altLang="zh-CN" sz="3200">
                <a:solidFill>
                  <a:schemeClr val="accent2"/>
                </a:solidFill>
                <a:latin typeface="Times New Roman" charset="0"/>
              </a:rPr>
              <a:t>-1, 0≤ j≤b</a:t>
            </a:r>
            <a:r>
              <a:rPr kumimoji="1" lang="en-US" altLang="zh-CN" sz="3200" baseline="-25000">
                <a:solidFill>
                  <a:schemeClr val="accent2"/>
                </a:solidFill>
                <a:latin typeface="Times New Roman" charset="0"/>
              </a:rPr>
              <a:t>2</a:t>
            </a:r>
            <a:r>
              <a:rPr kumimoji="1" lang="en-US" altLang="zh-CN" sz="3200">
                <a:solidFill>
                  <a:schemeClr val="accent2"/>
                </a:solidFill>
                <a:latin typeface="Times New Roman" charset="0"/>
              </a:rPr>
              <a:t>-2</a:t>
            </a:r>
            <a:r>
              <a:rPr kumimoji="1" lang="en-US" altLang="zh-CN" sz="4000">
                <a:solidFill>
                  <a:schemeClr val="accent2"/>
                </a:solidFill>
                <a:latin typeface="Times New Roman" charset="0"/>
              </a:rPr>
              <a:t>}</a:t>
            </a:r>
          </a:p>
        </p:txBody>
      </p:sp>
      <p:sp>
        <p:nvSpPr>
          <p:cNvPr id="162820" name="AutoShape 4">
            <a:hlinkClick r:id="" action="ppaction://hlinkshowjump?jump=lastslideviewed" highlightClick="1"/>
          </p:cNvPr>
          <p:cNvSpPr>
            <a:spLocks noChangeArrowheads="1"/>
          </p:cNvSpPr>
          <p:nvPr/>
        </p:nvSpPr>
        <p:spPr bwMode="auto">
          <a:xfrm>
            <a:off x="8458200" y="6172200"/>
            <a:ext cx="304800" cy="304800"/>
          </a:xfrm>
          <a:prstGeom prst="actionButtonReturn">
            <a:avLst/>
          </a:prstGeom>
          <a:solidFill>
            <a:schemeClr val="hlink"/>
          </a:solidFill>
          <a:ln w="9525">
            <a:solidFill>
              <a:srgbClr val="9933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8471247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2819"/>
                                        </p:tgtEl>
                                        <p:attrNameLst>
                                          <p:attrName>style.visibility</p:attrName>
                                        </p:attrNameLst>
                                      </p:cBhvr>
                                      <p:to>
                                        <p:strVal val="visible"/>
                                      </p:to>
                                    </p:set>
                                    <p:animEffect transition="in" filter="box(in)">
                                      <p:cBhvr>
                                        <p:cTn id="7" dur="500"/>
                                        <p:tgtEl>
                                          <p:spTgt spid="162819"/>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162820"/>
                                        </p:tgtEl>
                                        <p:attrNameLst>
                                          <p:attrName>style.visibility</p:attrName>
                                        </p:attrNameLst>
                                      </p:cBhvr>
                                      <p:to>
                                        <p:strVal val="visible"/>
                                      </p:to>
                                    </p:set>
                                    <p:anim calcmode="lin" valueType="num">
                                      <p:cBhvr additive="base">
                                        <p:cTn id="11" dur="500" fill="hold"/>
                                        <p:tgtEl>
                                          <p:spTgt spid="162820"/>
                                        </p:tgtEl>
                                        <p:attrNameLst>
                                          <p:attrName>ppt_x</p:attrName>
                                        </p:attrNameLst>
                                      </p:cBhvr>
                                      <p:tavLst>
                                        <p:tav tm="0">
                                          <p:val>
                                            <p:strVal val="1+#ppt_w/2"/>
                                          </p:val>
                                        </p:tav>
                                        <p:tav tm="100000">
                                          <p:val>
                                            <p:strVal val="#ppt_x"/>
                                          </p:val>
                                        </p:tav>
                                      </p:tavLst>
                                    </p:anim>
                                    <p:anim calcmode="lin" valueType="num">
                                      <p:cBhvr additive="base">
                                        <p:cTn id="12" dur="500" fill="hold"/>
                                        <p:tgtEl>
                                          <p:spTgt spid="1628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autoUpdateAnimBg="0"/>
      <p:bldP spid="1628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371600" y="0"/>
            <a:ext cx="3962400" cy="1143000"/>
          </a:xfrm>
        </p:spPr>
        <p:txBody>
          <a:bodyPr/>
          <a:lstStyle/>
          <a:p>
            <a:pPr eaLnBrk="1" hangingPunct="1"/>
            <a:r>
              <a:rPr lang="zh-CN" altLang="en-US" sz="5400" b="0" u="sng">
                <a:solidFill>
                  <a:srgbClr val="CC3399"/>
                </a:solidFill>
                <a:ea typeface="楷体_GB2312" charset="0"/>
              </a:rPr>
              <a:t>基本操作</a:t>
            </a:r>
            <a:r>
              <a:rPr lang="zh-CN" altLang="en-US" sz="5400">
                <a:solidFill>
                  <a:srgbClr val="CC3399"/>
                </a:solidFill>
                <a:ea typeface="楷体_GB2312" charset="0"/>
              </a:rPr>
              <a:t>：</a:t>
            </a:r>
            <a:endParaRPr lang="zh-CN" altLang="en-US" sz="5400" u="sng">
              <a:ea typeface="楷体_GB2312" charset="0"/>
            </a:endParaRPr>
          </a:p>
        </p:txBody>
      </p:sp>
      <p:sp>
        <p:nvSpPr>
          <p:cNvPr id="11267" name="Text Box 3">
            <a:hlinkClick r:id="rId2" action="ppaction://hlinksldjump"/>
          </p:cNvPr>
          <p:cNvSpPr txBox="1">
            <a:spLocks noChangeArrowheads="1"/>
          </p:cNvSpPr>
          <p:nvPr/>
        </p:nvSpPr>
        <p:spPr bwMode="auto">
          <a:xfrm>
            <a:off x="914400" y="1600200"/>
            <a:ext cx="7588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InitArray(&amp;A, n, bound1, ..., boundn)</a:t>
            </a:r>
            <a:endParaRPr kumimoji="1" lang="en-US" altLang="zh-CN" sz="2400">
              <a:solidFill>
                <a:srgbClr val="0000FF"/>
              </a:solidFill>
              <a:latin typeface="Times New Roman" charset="0"/>
              <a:ea typeface="楷体_GB2312" charset="0"/>
            </a:endParaRPr>
          </a:p>
        </p:txBody>
      </p:sp>
      <p:sp>
        <p:nvSpPr>
          <p:cNvPr id="11268" name="Text Box 4">
            <a:hlinkClick r:id="rId3" action="ppaction://hlinksldjump"/>
          </p:cNvPr>
          <p:cNvSpPr txBox="1">
            <a:spLocks noChangeArrowheads="1"/>
          </p:cNvSpPr>
          <p:nvPr/>
        </p:nvSpPr>
        <p:spPr bwMode="auto">
          <a:xfrm>
            <a:off x="933450" y="2667000"/>
            <a:ext cx="3917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DestroyArray(&amp;A)</a:t>
            </a:r>
          </a:p>
        </p:txBody>
      </p:sp>
      <p:sp>
        <p:nvSpPr>
          <p:cNvPr id="11269" name="Text Box 5">
            <a:hlinkClick r:id="rId4" action="ppaction://hlinksldjump"/>
          </p:cNvPr>
          <p:cNvSpPr txBox="1">
            <a:spLocks noChangeArrowheads="1"/>
          </p:cNvSpPr>
          <p:nvPr/>
        </p:nvSpPr>
        <p:spPr bwMode="auto">
          <a:xfrm>
            <a:off x="971550" y="3854450"/>
            <a:ext cx="6419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Value(A, &amp;e, index1, ..., indexn)</a:t>
            </a:r>
          </a:p>
        </p:txBody>
      </p:sp>
      <p:sp>
        <p:nvSpPr>
          <p:cNvPr id="11270" name="Text Box 6">
            <a:hlinkClick r:id="rId5" action="ppaction://hlinksldjump"/>
          </p:cNvPr>
          <p:cNvSpPr txBox="1">
            <a:spLocks noChangeArrowheads="1"/>
          </p:cNvSpPr>
          <p:nvPr/>
        </p:nvSpPr>
        <p:spPr bwMode="auto">
          <a:xfrm>
            <a:off x="990600" y="4921250"/>
            <a:ext cx="6572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Assign(&amp;A, e, index1, ..., indexn)</a:t>
            </a:r>
          </a:p>
        </p:txBody>
      </p:sp>
      <p:sp>
        <p:nvSpPr>
          <p:cNvPr id="163847" name="AutoShape 7">
            <a:hlinkClick r:id="rId6"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7018444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63847"/>
                                        </p:tgtEl>
                                        <p:attrNameLst>
                                          <p:attrName>style.visibility</p:attrName>
                                        </p:attrNameLst>
                                      </p:cBhvr>
                                      <p:to>
                                        <p:strVal val="visible"/>
                                      </p:to>
                                    </p:set>
                                    <p:anim calcmode="lin" valueType="num">
                                      <p:cBhvr additive="base">
                                        <p:cTn id="7" dur="500" fill="hold"/>
                                        <p:tgtEl>
                                          <p:spTgt spid="163847"/>
                                        </p:tgtEl>
                                        <p:attrNameLst>
                                          <p:attrName>ppt_x</p:attrName>
                                        </p:attrNameLst>
                                      </p:cBhvr>
                                      <p:tavLst>
                                        <p:tav tm="0">
                                          <p:val>
                                            <p:strVal val="1+#ppt_w/2"/>
                                          </p:val>
                                        </p:tav>
                                        <p:tav tm="100000">
                                          <p:val>
                                            <p:strVal val="#ppt_x"/>
                                          </p:val>
                                        </p:tav>
                                      </p:tavLst>
                                    </p:anim>
                                    <p:anim calcmode="lin" valueType="num">
                                      <p:cBhvr additive="base">
                                        <p:cTn id="8" dur="500" fill="hold"/>
                                        <p:tgtEl>
                                          <p:spTgt spid="1638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762000" y="1371600"/>
            <a:ext cx="8185150" cy="325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solidFill>
                  <a:srgbClr val="0000FF"/>
                </a:solidFill>
                <a:latin typeface="Times New Roman" charset="0"/>
                <a:ea typeface="楷体_GB2312" charset="0"/>
              </a:rPr>
              <a:t>   InitArray(</a:t>
            </a:r>
            <a:r>
              <a:rPr kumimoji="1" lang="en-US" altLang="zh-CN" sz="3600" b="1">
                <a:solidFill>
                  <a:srgbClr val="0000FF"/>
                </a:solidFill>
                <a:latin typeface="Times New Roman" charset="0"/>
                <a:ea typeface="楷体_GB2312" charset="0"/>
              </a:rPr>
              <a:t>&amp;</a:t>
            </a:r>
            <a:r>
              <a:rPr kumimoji="1" lang="en-US" altLang="zh-CN" sz="3600">
                <a:solidFill>
                  <a:srgbClr val="0000FF"/>
                </a:solidFill>
                <a:latin typeface="Times New Roman" charset="0"/>
                <a:ea typeface="楷体_GB2312" charset="0"/>
              </a:rPr>
              <a:t>A, n, bound1, ..., boundn)</a:t>
            </a:r>
          </a:p>
          <a:p>
            <a:pPr eaLnBrk="1" hangingPunct="1"/>
            <a:endParaRPr kumimoji="1" lang="en-US" altLang="zh-CN" sz="3600">
              <a:solidFill>
                <a:srgbClr val="0000FF"/>
              </a:solidFill>
              <a:latin typeface="Times New Roman" charset="0"/>
              <a:ea typeface="楷体_GB2312" charset="0"/>
            </a:endParaRPr>
          </a:p>
          <a:p>
            <a:pPr eaLnBrk="1" hangingPunct="1">
              <a:lnSpc>
                <a:spcPct val="125000"/>
              </a:lnSpc>
            </a:pPr>
            <a:r>
              <a:rPr kumimoji="1" lang="en-US" altLang="zh-CN" sz="3600">
                <a:latin typeface="Times New Roman" charset="0"/>
                <a:ea typeface="楷体_GB2312" charset="0"/>
              </a:rPr>
              <a:t>  </a:t>
            </a:r>
            <a:r>
              <a:rPr kumimoji="1" lang="zh-CN" altLang="en-US" sz="3600" b="1">
                <a:solidFill>
                  <a:srgbClr val="990033"/>
                </a:solidFill>
                <a:latin typeface="Times New Roman" charset="0"/>
                <a:ea typeface="楷体_GB2312" charset="0"/>
              </a:rPr>
              <a:t>操作结果：</a:t>
            </a:r>
            <a:r>
              <a:rPr kumimoji="1" lang="zh-CN" altLang="en-US" sz="3600">
                <a:latin typeface="Times New Roman" charset="0"/>
                <a:ea typeface="楷体_GB2312" charset="0"/>
              </a:rPr>
              <a:t>若维数 </a:t>
            </a:r>
            <a:r>
              <a:rPr kumimoji="1" lang="en-US" altLang="zh-CN" sz="3600">
                <a:latin typeface="Times New Roman" charset="0"/>
                <a:ea typeface="楷体_GB2312" charset="0"/>
              </a:rPr>
              <a:t>n </a:t>
            </a:r>
            <a:r>
              <a:rPr kumimoji="1" lang="zh-CN" altLang="en-US" sz="3600">
                <a:latin typeface="Times New Roman" charset="0"/>
                <a:ea typeface="楷体_GB2312" charset="0"/>
              </a:rPr>
              <a:t>和各维长度合法，</a:t>
            </a:r>
          </a:p>
          <a:p>
            <a:pPr eaLnBrk="1" hangingPunct="1">
              <a:lnSpc>
                <a:spcPct val="125000"/>
              </a:lnSpc>
            </a:pPr>
            <a:r>
              <a:rPr kumimoji="1" lang="zh-CN" altLang="en-US" sz="3600">
                <a:latin typeface="Times New Roman" charset="0"/>
                <a:ea typeface="楷体_GB2312" charset="0"/>
              </a:rPr>
              <a:t>                      则构造相应的数组</a:t>
            </a:r>
            <a:r>
              <a:rPr kumimoji="1" lang="en-US" altLang="zh-CN" sz="3600">
                <a:latin typeface="Times New Roman" charset="0"/>
                <a:ea typeface="楷体_GB2312" charset="0"/>
              </a:rPr>
              <a:t>A</a:t>
            </a:r>
            <a:r>
              <a:rPr kumimoji="1" lang="zh-CN" altLang="en-US" sz="3600">
                <a:latin typeface="Times New Roman" charset="0"/>
                <a:ea typeface="楷体_GB2312" charset="0"/>
              </a:rPr>
              <a:t>，并</a:t>
            </a:r>
          </a:p>
          <a:p>
            <a:pPr eaLnBrk="1" hangingPunct="1">
              <a:lnSpc>
                <a:spcPct val="125000"/>
              </a:lnSpc>
            </a:pPr>
            <a:r>
              <a:rPr kumimoji="1" lang="zh-CN" altLang="en-US" sz="3600">
                <a:latin typeface="Times New Roman" charset="0"/>
                <a:ea typeface="楷体_GB2312" charset="0"/>
              </a:rPr>
              <a:t>                      返回</a:t>
            </a:r>
            <a:r>
              <a:rPr kumimoji="1" lang="en-US" altLang="zh-CN" sz="3600">
                <a:latin typeface="Times New Roman" charset="0"/>
                <a:ea typeface="楷体_GB2312" charset="0"/>
              </a:rPr>
              <a:t>OK</a:t>
            </a:r>
            <a:r>
              <a:rPr kumimoji="1" lang="zh-CN" altLang="en-US" sz="3600">
                <a:latin typeface="Times New Roman" charset="0"/>
                <a:ea typeface="楷体_GB2312" charset="0"/>
              </a:rPr>
              <a:t>。</a:t>
            </a:r>
            <a:endParaRPr kumimoji="1" lang="zh-CN" altLang="en-US" sz="3600">
              <a:solidFill>
                <a:srgbClr val="6600CC"/>
              </a:solidFill>
              <a:latin typeface="Times New Roman" charset="0"/>
              <a:ea typeface="楷体_GB2312" charset="0"/>
            </a:endParaRPr>
          </a:p>
        </p:txBody>
      </p:sp>
      <p:sp>
        <p:nvSpPr>
          <p:cNvPr id="164867" name="AutoShape 3">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9775597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64867"/>
                                        </p:tgtEl>
                                        <p:attrNameLst>
                                          <p:attrName>style.visibility</p:attrName>
                                        </p:attrNameLst>
                                      </p:cBhvr>
                                      <p:to>
                                        <p:strVal val="visible"/>
                                      </p:to>
                                    </p:set>
                                    <p:anim calcmode="lin" valueType="num">
                                      <p:cBhvr additive="base">
                                        <p:cTn id="7" dur="500" fill="hold"/>
                                        <p:tgtEl>
                                          <p:spTgt spid="164867"/>
                                        </p:tgtEl>
                                        <p:attrNameLst>
                                          <p:attrName>ppt_x</p:attrName>
                                        </p:attrNameLst>
                                      </p:cBhvr>
                                      <p:tavLst>
                                        <p:tav tm="0">
                                          <p:val>
                                            <p:strVal val="1+#ppt_w/2"/>
                                          </p:val>
                                        </p:tav>
                                        <p:tav tm="100000">
                                          <p:val>
                                            <p:strVal val="#ppt_x"/>
                                          </p:val>
                                        </p:tav>
                                      </p:tavLst>
                                    </p:anim>
                                    <p:anim calcmode="lin" valueType="num">
                                      <p:cBhvr additive="base">
                                        <p:cTn id="8" dur="500" fill="hold"/>
                                        <p:tgtEl>
                                          <p:spTgt spid="1648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85800" y="2133600"/>
            <a:ext cx="7772400" cy="1143000"/>
          </a:xfrm>
        </p:spPr>
        <p:txBody>
          <a:bodyPr>
            <a:normAutofit fontScale="90000"/>
          </a:bodyPr>
          <a:lstStyle/>
          <a:p>
            <a:pPr eaLnBrk="1" hangingPunct="1"/>
            <a:r>
              <a:rPr lang="en-US" altLang="zh-CN">
                <a:solidFill>
                  <a:srgbClr val="0000FF"/>
                </a:solidFill>
                <a:ea typeface="楷体_GB2312" charset="0"/>
              </a:rPr>
              <a:t> </a:t>
            </a:r>
            <a:r>
              <a:rPr lang="en-US" altLang="zh-CN">
                <a:solidFill>
                  <a:srgbClr val="0000FF"/>
                </a:solidFill>
                <a:latin typeface="Times New Roman" charset="0"/>
                <a:ea typeface="楷体_GB2312" charset="0"/>
              </a:rPr>
              <a:t>DestroyArray(</a:t>
            </a:r>
            <a:r>
              <a:rPr lang="en-US" altLang="zh-CN" b="0">
                <a:solidFill>
                  <a:srgbClr val="0000FF"/>
                </a:solidFill>
                <a:latin typeface="Times New Roman" charset="0"/>
                <a:ea typeface="楷体_GB2312" charset="0"/>
              </a:rPr>
              <a:t>&amp;</a:t>
            </a:r>
            <a:r>
              <a:rPr lang="en-US" altLang="zh-CN">
                <a:solidFill>
                  <a:srgbClr val="0000FF"/>
                </a:solidFill>
                <a:latin typeface="Times New Roman" charset="0"/>
                <a:ea typeface="楷体_GB2312" charset="0"/>
              </a:rPr>
              <a:t>A)</a:t>
            </a:r>
            <a:br>
              <a:rPr lang="en-US" altLang="zh-CN">
                <a:solidFill>
                  <a:srgbClr val="0000FF"/>
                </a:solidFill>
                <a:latin typeface="Times New Roman" charset="0"/>
                <a:ea typeface="楷体_GB2312" charset="0"/>
              </a:rPr>
            </a:br>
            <a:r>
              <a:rPr lang="en-US" altLang="zh-CN">
                <a:solidFill>
                  <a:srgbClr val="0000FF"/>
                </a:solidFill>
                <a:ea typeface="楷体_GB2312" charset="0"/>
              </a:rPr>
              <a:t/>
            </a:r>
            <a:br>
              <a:rPr lang="en-US" altLang="zh-CN">
                <a:solidFill>
                  <a:srgbClr val="0000FF"/>
                </a:solidFill>
                <a:ea typeface="楷体_GB2312" charset="0"/>
              </a:rPr>
            </a:br>
            <a:r>
              <a:rPr lang="en-US" altLang="zh-CN">
                <a:solidFill>
                  <a:schemeClr val="tx1"/>
                </a:solidFill>
                <a:ea typeface="楷体_GB2312" charset="0"/>
              </a:rPr>
              <a:t>  </a:t>
            </a:r>
            <a:r>
              <a:rPr lang="zh-CN" altLang="en-US" b="0">
                <a:solidFill>
                  <a:srgbClr val="990033"/>
                </a:solidFill>
                <a:ea typeface="楷体_GB2312" charset="0"/>
              </a:rPr>
              <a:t>操作结果：</a:t>
            </a:r>
            <a:r>
              <a:rPr lang="zh-CN" altLang="en-US">
                <a:solidFill>
                  <a:schemeClr val="tx1"/>
                </a:solidFill>
                <a:ea typeface="楷体_GB2312" charset="0"/>
              </a:rPr>
              <a:t>销毁数组</a:t>
            </a:r>
            <a:r>
              <a:rPr lang="en-US" altLang="zh-CN">
                <a:solidFill>
                  <a:schemeClr val="tx1"/>
                </a:solidFill>
                <a:ea typeface="楷体_GB2312" charset="0"/>
              </a:rPr>
              <a:t>A</a:t>
            </a:r>
            <a:r>
              <a:rPr lang="zh-CN" altLang="en-US">
                <a:solidFill>
                  <a:schemeClr val="tx1"/>
                </a:solidFill>
                <a:ea typeface="楷体_GB2312" charset="0"/>
              </a:rPr>
              <a:t>。</a:t>
            </a:r>
          </a:p>
        </p:txBody>
      </p:sp>
      <p:sp>
        <p:nvSpPr>
          <p:cNvPr id="165891" name="AutoShape 3">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3429203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65891"/>
                                        </p:tgtEl>
                                        <p:attrNameLst>
                                          <p:attrName>style.visibility</p:attrName>
                                        </p:attrNameLst>
                                      </p:cBhvr>
                                      <p:to>
                                        <p:strVal val="visible"/>
                                      </p:to>
                                    </p:set>
                                    <p:anim calcmode="lin" valueType="num">
                                      <p:cBhvr additive="base">
                                        <p:cTn id="7" dur="500" fill="hold"/>
                                        <p:tgtEl>
                                          <p:spTgt spid="165891"/>
                                        </p:tgtEl>
                                        <p:attrNameLst>
                                          <p:attrName>ppt_x</p:attrName>
                                        </p:attrNameLst>
                                      </p:cBhvr>
                                      <p:tavLst>
                                        <p:tav tm="0">
                                          <p:val>
                                            <p:strVal val="1+#ppt_w/2"/>
                                          </p:val>
                                        </p:tav>
                                        <p:tav tm="100000">
                                          <p:val>
                                            <p:strVal val="#ppt_x"/>
                                          </p:val>
                                        </p:tav>
                                      </p:tavLst>
                                    </p:anim>
                                    <p:anim calcmode="lin" valueType="num">
                                      <p:cBhvr additive="base">
                                        <p:cTn id="8" dur="500" fill="hold"/>
                                        <p:tgtEl>
                                          <p:spTgt spid="1658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304800" y="1066800"/>
            <a:ext cx="8489950" cy="462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solidFill>
                  <a:srgbClr val="0000FF"/>
                </a:solidFill>
                <a:latin typeface="Times New Roman" charset="0"/>
                <a:ea typeface="楷体_GB2312" charset="0"/>
              </a:rPr>
              <a:t>        Value(A, </a:t>
            </a:r>
            <a:r>
              <a:rPr kumimoji="1" lang="en-US" altLang="zh-CN" sz="3600" b="1">
                <a:solidFill>
                  <a:srgbClr val="0000FF"/>
                </a:solidFill>
                <a:latin typeface="Times New Roman" charset="0"/>
                <a:ea typeface="楷体_GB2312" charset="0"/>
              </a:rPr>
              <a:t>&amp;</a:t>
            </a:r>
            <a:r>
              <a:rPr kumimoji="1" lang="en-US" altLang="zh-CN" sz="3600">
                <a:solidFill>
                  <a:srgbClr val="0000FF"/>
                </a:solidFill>
                <a:latin typeface="Times New Roman" charset="0"/>
                <a:ea typeface="楷体_GB2312" charset="0"/>
              </a:rPr>
              <a:t>e, index1, ..., indexn)</a:t>
            </a:r>
          </a:p>
          <a:p>
            <a:pPr eaLnBrk="1" hangingPunct="1"/>
            <a:endParaRPr kumimoji="1" lang="en-US" altLang="zh-CN" sz="3600">
              <a:solidFill>
                <a:srgbClr val="0000FF"/>
              </a:solidFill>
              <a:latin typeface="Times New Roman" charset="0"/>
              <a:ea typeface="楷体_GB2312" charset="0"/>
            </a:endParaRPr>
          </a:p>
          <a:p>
            <a:pPr eaLnBrk="1" hangingPunct="1">
              <a:lnSpc>
                <a:spcPct val="125000"/>
              </a:lnSpc>
            </a:pPr>
            <a:r>
              <a:rPr kumimoji="1" lang="en-US" altLang="zh-CN" sz="3600">
                <a:latin typeface="Times New Roman" charset="0"/>
                <a:ea typeface="楷体_GB2312" charset="0"/>
              </a:rPr>
              <a:t>  </a:t>
            </a:r>
            <a:r>
              <a:rPr kumimoji="1" lang="zh-CN" altLang="en-US" sz="3600" b="1">
                <a:solidFill>
                  <a:srgbClr val="990033"/>
                </a:solidFill>
                <a:latin typeface="Times New Roman" charset="0"/>
                <a:ea typeface="楷体_GB2312" charset="0"/>
              </a:rPr>
              <a:t>初始条件：</a:t>
            </a:r>
            <a:r>
              <a:rPr kumimoji="1" lang="en-US" altLang="zh-CN" sz="3600">
                <a:latin typeface="Times New Roman" charset="0"/>
                <a:ea typeface="楷体_GB2312" charset="0"/>
              </a:rPr>
              <a:t>A</a:t>
            </a:r>
            <a:r>
              <a:rPr kumimoji="1" lang="zh-CN" altLang="en-US" sz="3600">
                <a:latin typeface="Times New Roman" charset="0"/>
                <a:ea typeface="楷体_GB2312" charset="0"/>
              </a:rPr>
              <a:t>是</a:t>
            </a:r>
            <a:r>
              <a:rPr kumimoji="1" lang="en-US" altLang="zh-CN" sz="3600">
                <a:latin typeface="Times New Roman" charset="0"/>
                <a:ea typeface="楷体_GB2312" charset="0"/>
              </a:rPr>
              <a:t>n</a:t>
            </a:r>
            <a:r>
              <a:rPr kumimoji="1" lang="zh-CN" altLang="en-US" sz="3600">
                <a:latin typeface="Times New Roman" charset="0"/>
                <a:ea typeface="楷体_GB2312" charset="0"/>
              </a:rPr>
              <a:t>维数组，</a:t>
            </a:r>
            <a:r>
              <a:rPr kumimoji="1" lang="en-US" altLang="zh-CN" sz="3600">
                <a:latin typeface="Times New Roman" charset="0"/>
                <a:ea typeface="楷体_GB2312" charset="0"/>
              </a:rPr>
              <a:t>e</a:t>
            </a:r>
            <a:r>
              <a:rPr kumimoji="1" lang="zh-CN" altLang="en-US" sz="3600">
                <a:latin typeface="Times New Roman" charset="0"/>
                <a:ea typeface="楷体_GB2312" charset="0"/>
              </a:rPr>
              <a:t>为元素变量，</a:t>
            </a:r>
          </a:p>
          <a:p>
            <a:pPr eaLnBrk="1" hangingPunct="1">
              <a:lnSpc>
                <a:spcPct val="125000"/>
              </a:lnSpc>
            </a:pPr>
            <a:r>
              <a:rPr kumimoji="1" lang="zh-CN" altLang="en-US" sz="3600">
                <a:latin typeface="Times New Roman" charset="0"/>
                <a:ea typeface="楷体_GB2312" charset="0"/>
              </a:rPr>
              <a:t>                      随后是</a:t>
            </a:r>
            <a:r>
              <a:rPr kumimoji="1" lang="en-US" altLang="zh-CN" sz="3600">
                <a:latin typeface="Times New Roman" charset="0"/>
                <a:ea typeface="楷体_GB2312" charset="0"/>
              </a:rPr>
              <a:t>n </a:t>
            </a:r>
            <a:r>
              <a:rPr kumimoji="1" lang="zh-CN" altLang="en-US" sz="3600">
                <a:latin typeface="Times New Roman" charset="0"/>
                <a:ea typeface="楷体_GB2312" charset="0"/>
              </a:rPr>
              <a:t>个下标值。</a:t>
            </a:r>
          </a:p>
          <a:p>
            <a:pPr eaLnBrk="1" hangingPunct="1">
              <a:lnSpc>
                <a:spcPct val="125000"/>
              </a:lnSpc>
            </a:pPr>
            <a:r>
              <a:rPr kumimoji="1" lang="zh-CN" altLang="en-US" sz="3600">
                <a:latin typeface="Times New Roman" charset="0"/>
                <a:ea typeface="楷体_GB2312" charset="0"/>
              </a:rPr>
              <a:t>  </a:t>
            </a:r>
            <a:r>
              <a:rPr kumimoji="1" lang="zh-CN" altLang="en-US" sz="3600" b="1">
                <a:solidFill>
                  <a:srgbClr val="990033"/>
                </a:solidFill>
                <a:latin typeface="Times New Roman" charset="0"/>
                <a:ea typeface="楷体_GB2312" charset="0"/>
              </a:rPr>
              <a:t>操作结果：</a:t>
            </a:r>
            <a:r>
              <a:rPr kumimoji="1" lang="zh-CN" altLang="en-US" sz="3600">
                <a:latin typeface="Times New Roman" charset="0"/>
                <a:ea typeface="楷体_GB2312" charset="0"/>
              </a:rPr>
              <a:t>若各下标不超界，则</a:t>
            </a:r>
            <a:r>
              <a:rPr kumimoji="1" lang="en-US" altLang="zh-CN" sz="3600">
                <a:latin typeface="Times New Roman" charset="0"/>
                <a:ea typeface="楷体_GB2312" charset="0"/>
              </a:rPr>
              <a:t>e</a:t>
            </a:r>
            <a:r>
              <a:rPr kumimoji="1" lang="zh-CN" altLang="en-US" sz="3600">
                <a:latin typeface="Times New Roman" charset="0"/>
                <a:ea typeface="楷体_GB2312" charset="0"/>
              </a:rPr>
              <a:t>赋值为</a:t>
            </a:r>
          </a:p>
          <a:p>
            <a:pPr eaLnBrk="1" hangingPunct="1">
              <a:lnSpc>
                <a:spcPct val="125000"/>
              </a:lnSpc>
            </a:pPr>
            <a:r>
              <a:rPr kumimoji="1" lang="zh-CN" altLang="en-US" sz="3600">
                <a:latin typeface="Times New Roman" charset="0"/>
                <a:ea typeface="楷体_GB2312" charset="0"/>
              </a:rPr>
              <a:t>                      所指定的</a:t>
            </a:r>
            <a:r>
              <a:rPr kumimoji="1" lang="en-US" altLang="zh-CN" sz="3600">
                <a:latin typeface="Times New Roman" charset="0"/>
                <a:ea typeface="楷体_GB2312" charset="0"/>
              </a:rPr>
              <a:t>A </a:t>
            </a:r>
            <a:r>
              <a:rPr kumimoji="1" lang="zh-CN" altLang="en-US" sz="3600">
                <a:latin typeface="Times New Roman" charset="0"/>
                <a:ea typeface="楷体_GB2312" charset="0"/>
              </a:rPr>
              <a:t>的元素值，并返</a:t>
            </a:r>
          </a:p>
          <a:p>
            <a:pPr eaLnBrk="1" hangingPunct="1">
              <a:lnSpc>
                <a:spcPct val="125000"/>
              </a:lnSpc>
            </a:pPr>
            <a:r>
              <a:rPr kumimoji="1" lang="zh-CN" altLang="en-US" sz="3600">
                <a:latin typeface="Times New Roman" charset="0"/>
                <a:ea typeface="楷体_GB2312" charset="0"/>
              </a:rPr>
              <a:t>                      回</a:t>
            </a:r>
            <a:r>
              <a:rPr kumimoji="1" lang="en-US" altLang="zh-CN" sz="3600">
                <a:latin typeface="Times New Roman" charset="0"/>
                <a:ea typeface="楷体_GB2312" charset="0"/>
              </a:rPr>
              <a:t>OK</a:t>
            </a:r>
            <a:r>
              <a:rPr kumimoji="1" lang="zh-CN" altLang="en-US" sz="3600">
                <a:latin typeface="Times New Roman" charset="0"/>
                <a:ea typeface="楷体_GB2312" charset="0"/>
              </a:rPr>
              <a:t>。</a:t>
            </a:r>
          </a:p>
        </p:txBody>
      </p:sp>
      <p:sp>
        <p:nvSpPr>
          <p:cNvPr id="166915" name="AutoShape 3">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507003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66915"/>
                                        </p:tgtEl>
                                        <p:attrNameLst>
                                          <p:attrName>style.visibility</p:attrName>
                                        </p:attrNameLst>
                                      </p:cBhvr>
                                      <p:to>
                                        <p:strVal val="visible"/>
                                      </p:to>
                                    </p:set>
                                    <p:anim calcmode="lin" valueType="num">
                                      <p:cBhvr additive="base">
                                        <p:cTn id="7" dur="500" fill="hold"/>
                                        <p:tgtEl>
                                          <p:spTgt spid="166915"/>
                                        </p:tgtEl>
                                        <p:attrNameLst>
                                          <p:attrName>ppt_x</p:attrName>
                                        </p:attrNameLst>
                                      </p:cBhvr>
                                      <p:tavLst>
                                        <p:tav tm="0">
                                          <p:val>
                                            <p:strVal val="1+#ppt_w/2"/>
                                          </p:val>
                                        </p:tav>
                                        <p:tav tm="100000">
                                          <p:val>
                                            <p:strVal val="#ppt_x"/>
                                          </p:val>
                                        </p:tav>
                                      </p:tavLst>
                                    </p:anim>
                                    <p:anim calcmode="lin" valueType="num">
                                      <p:cBhvr additive="base">
                                        <p:cTn id="8" dur="500" fill="hold"/>
                                        <p:tgtEl>
                                          <p:spTgt spid="1669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323850" y="990600"/>
            <a:ext cx="8515350" cy="448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         </a:t>
            </a:r>
            <a:r>
              <a:rPr kumimoji="1" lang="en-US" altLang="zh-CN" sz="3600">
                <a:solidFill>
                  <a:srgbClr val="0000FF"/>
                </a:solidFill>
                <a:latin typeface="Times New Roman" charset="0"/>
                <a:ea typeface="楷体_GB2312" charset="0"/>
              </a:rPr>
              <a:t>Assign(</a:t>
            </a:r>
            <a:r>
              <a:rPr kumimoji="1" lang="en-US" altLang="zh-CN" sz="3600" b="1">
                <a:solidFill>
                  <a:srgbClr val="0000FF"/>
                </a:solidFill>
                <a:latin typeface="Times New Roman" charset="0"/>
                <a:ea typeface="楷体_GB2312" charset="0"/>
              </a:rPr>
              <a:t>&amp;</a:t>
            </a:r>
            <a:r>
              <a:rPr kumimoji="1" lang="en-US" altLang="zh-CN" sz="3600">
                <a:solidFill>
                  <a:srgbClr val="0000FF"/>
                </a:solidFill>
                <a:latin typeface="Times New Roman" charset="0"/>
                <a:ea typeface="楷体_GB2312" charset="0"/>
              </a:rPr>
              <a:t>A, e, index1, ..., indexn)</a:t>
            </a:r>
            <a:br>
              <a:rPr kumimoji="1" lang="en-US" altLang="zh-CN" sz="3600">
                <a:solidFill>
                  <a:srgbClr val="0000FF"/>
                </a:solidFill>
                <a:latin typeface="Times New Roman" charset="0"/>
                <a:ea typeface="楷体_GB2312" charset="0"/>
              </a:rPr>
            </a:br>
            <a:endParaRPr kumimoji="1" lang="en-US" altLang="zh-CN" sz="3600">
              <a:solidFill>
                <a:srgbClr val="0000FF"/>
              </a:solidFill>
              <a:latin typeface="Times New Roman" charset="0"/>
              <a:ea typeface="楷体_GB2312" charset="0"/>
            </a:endParaRPr>
          </a:p>
          <a:p>
            <a:pPr eaLnBrk="1" hangingPunct="1">
              <a:lnSpc>
                <a:spcPct val="120000"/>
              </a:lnSpc>
            </a:pPr>
            <a:r>
              <a:rPr kumimoji="1" lang="en-US" altLang="zh-CN" sz="3600">
                <a:latin typeface="Times New Roman" charset="0"/>
                <a:ea typeface="楷体_GB2312" charset="0"/>
              </a:rPr>
              <a:t>  </a:t>
            </a:r>
            <a:r>
              <a:rPr kumimoji="1" lang="zh-CN" altLang="en-US" sz="3600" b="1">
                <a:solidFill>
                  <a:srgbClr val="990033"/>
                </a:solidFill>
                <a:latin typeface="Times New Roman" charset="0"/>
                <a:ea typeface="楷体_GB2312" charset="0"/>
              </a:rPr>
              <a:t>初始条件：</a:t>
            </a:r>
            <a:r>
              <a:rPr kumimoji="1" lang="en-US" altLang="zh-CN" sz="3600">
                <a:latin typeface="Times New Roman" charset="0"/>
                <a:ea typeface="楷体_GB2312" charset="0"/>
              </a:rPr>
              <a:t>A</a:t>
            </a:r>
            <a:r>
              <a:rPr kumimoji="1" lang="zh-CN" altLang="en-US" sz="3600">
                <a:latin typeface="Times New Roman" charset="0"/>
                <a:ea typeface="楷体_GB2312" charset="0"/>
              </a:rPr>
              <a:t>是</a:t>
            </a:r>
            <a:r>
              <a:rPr kumimoji="1" lang="en-US" altLang="zh-CN" sz="3600">
                <a:latin typeface="Times New Roman" charset="0"/>
                <a:ea typeface="楷体_GB2312" charset="0"/>
              </a:rPr>
              <a:t>n</a:t>
            </a:r>
            <a:r>
              <a:rPr kumimoji="1" lang="zh-CN" altLang="en-US" sz="3600">
                <a:latin typeface="Times New Roman" charset="0"/>
                <a:ea typeface="楷体_GB2312" charset="0"/>
              </a:rPr>
              <a:t>维数组，</a:t>
            </a:r>
            <a:r>
              <a:rPr kumimoji="1" lang="en-US" altLang="zh-CN" sz="3600">
                <a:latin typeface="Times New Roman" charset="0"/>
                <a:ea typeface="楷体_GB2312" charset="0"/>
              </a:rPr>
              <a:t>e</a:t>
            </a:r>
            <a:r>
              <a:rPr kumimoji="1" lang="zh-CN" altLang="en-US" sz="3600">
                <a:latin typeface="Times New Roman" charset="0"/>
                <a:ea typeface="楷体_GB2312" charset="0"/>
              </a:rPr>
              <a:t>为元素变量，</a:t>
            </a:r>
          </a:p>
          <a:p>
            <a:pPr eaLnBrk="1" hangingPunct="1">
              <a:lnSpc>
                <a:spcPct val="120000"/>
              </a:lnSpc>
            </a:pPr>
            <a:r>
              <a:rPr kumimoji="1" lang="zh-CN" altLang="en-US" sz="3600">
                <a:latin typeface="Times New Roman" charset="0"/>
                <a:ea typeface="楷体_GB2312" charset="0"/>
              </a:rPr>
              <a:t>                      随后是</a:t>
            </a:r>
            <a:r>
              <a:rPr kumimoji="1" lang="en-US" altLang="zh-CN" sz="3600">
                <a:latin typeface="Times New Roman" charset="0"/>
                <a:ea typeface="楷体_GB2312" charset="0"/>
              </a:rPr>
              <a:t>n </a:t>
            </a:r>
            <a:r>
              <a:rPr kumimoji="1" lang="zh-CN" altLang="en-US" sz="3600">
                <a:latin typeface="Times New Roman" charset="0"/>
                <a:ea typeface="楷体_GB2312" charset="0"/>
              </a:rPr>
              <a:t>个下标值。</a:t>
            </a:r>
            <a:br>
              <a:rPr kumimoji="1" lang="zh-CN" altLang="en-US" sz="3600">
                <a:latin typeface="Times New Roman" charset="0"/>
                <a:ea typeface="楷体_GB2312" charset="0"/>
              </a:rPr>
            </a:br>
            <a:r>
              <a:rPr kumimoji="1" lang="zh-CN" altLang="en-US" sz="3600">
                <a:latin typeface="Times New Roman" charset="0"/>
                <a:ea typeface="楷体_GB2312" charset="0"/>
              </a:rPr>
              <a:t>  </a:t>
            </a:r>
            <a:r>
              <a:rPr kumimoji="1" lang="zh-CN" altLang="en-US" sz="3600" b="1">
                <a:solidFill>
                  <a:srgbClr val="990033"/>
                </a:solidFill>
                <a:latin typeface="Times New Roman" charset="0"/>
                <a:ea typeface="楷体_GB2312" charset="0"/>
              </a:rPr>
              <a:t>操作结果：</a:t>
            </a:r>
            <a:r>
              <a:rPr kumimoji="1" lang="zh-CN" altLang="en-US" sz="3600">
                <a:latin typeface="Times New Roman" charset="0"/>
                <a:ea typeface="楷体_GB2312" charset="0"/>
              </a:rPr>
              <a:t>若下标不超界，则将</a:t>
            </a:r>
            <a:r>
              <a:rPr kumimoji="1" lang="en-US" altLang="zh-CN" sz="3600">
                <a:latin typeface="Times New Roman" charset="0"/>
                <a:ea typeface="楷体_GB2312" charset="0"/>
              </a:rPr>
              <a:t>e</a:t>
            </a:r>
            <a:r>
              <a:rPr kumimoji="1" lang="zh-CN" altLang="en-US" sz="3600">
                <a:latin typeface="Times New Roman" charset="0"/>
                <a:ea typeface="楷体_GB2312" charset="0"/>
              </a:rPr>
              <a:t>的值赋</a:t>
            </a:r>
          </a:p>
          <a:p>
            <a:pPr eaLnBrk="1" hangingPunct="1">
              <a:lnSpc>
                <a:spcPct val="120000"/>
              </a:lnSpc>
            </a:pPr>
            <a:r>
              <a:rPr kumimoji="1" lang="zh-CN" altLang="en-US" sz="3600">
                <a:latin typeface="Times New Roman" charset="0"/>
                <a:ea typeface="楷体_GB2312" charset="0"/>
              </a:rPr>
              <a:t>                      给所指定的</a:t>
            </a:r>
            <a:r>
              <a:rPr kumimoji="1" lang="en-US" altLang="zh-CN" sz="3600">
                <a:latin typeface="Times New Roman" charset="0"/>
                <a:ea typeface="楷体_GB2312" charset="0"/>
              </a:rPr>
              <a:t>A</a:t>
            </a:r>
            <a:r>
              <a:rPr kumimoji="1" lang="zh-CN" altLang="en-US" sz="3600">
                <a:latin typeface="Times New Roman" charset="0"/>
                <a:ea typeface="楷体_GB2312" charset="0"/>
              </a:rPr>
              <a:t>的元素，并返回</a:t>
            </a:r>
          </a:p>
          <a:p>
            <a:pPr eaLnBrk="1" hangingPunct="1">
              <a:lnSpc>
                <a:spcPct val="120000"/>
              </a:lnSpc>
            </a:pPr>
            <a:r>
              <a:rPr kumimoji="1" lang="zh-CN" altLang="en-US" sz="3600">
                <a:latin typeface="Times New Roman" charset="0"/>
                <a:ea typeface="楷体_GB2312" charset="0"/>
              </a:rPr>
              <a:t>                      </a:t>
            </a:r>
            <a:r>
              <a:rPr kumimoji="1" lang="en-US" altLang="zh-CN" sz="3600">
                <a:latin typeface="Times New Roman" charset="0"/>
                <a:ea typeface="楷体_GB2312" charset="0"/>
              </a:rPr>
              <a:t>OK</a:t>
            </a:r>
            <a:r>
              <a:rPr kumimoji="1" lang="zh-CN" altLang="en-US" sz="3600">
                <a:latin typeface="Times New Roman" charset="0"/>
                <a:ea typeface="楷体_GB2312" charset="0"/>
              </a:rPr>
              <a:t>。</a:t>
            </a:r>
          </a:p>
        </p:txBody>
      </p:sp>
      <p:sp>
        <p:nvSpPr>
          <p:cNvPr id="167939" name="AutoShape 3">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3973800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67939"/>
                                        </p:tgtEl>
                                        <p:attrNameLst>
                                          <p:attrName>style.visibility</p:attrName>
                                        </p:attrNameLst>
                                      </p:cBhvr>
                                      <p:to>
                                        <p:strVal val="visible"/>
                                      </p:to>
                                    </p:set>
                                    <p:anim calcmode="lin" valueType="num">
                                      <p:cBhvr additive="base">
                                        <p:cTn id="7" dur="500" fill="hold"/>
                                        <p:tgtEl>
                                          <p:spTgt spid="167939"/>
                                        </p:tgtEl>
                                        <p:attrNameLst>
                                          <p:attrName>ppt_x</p:attrName>
                                        </p:attrNameLst>
                                      </p:cBhvr>
                                      <p:tavLst>
                                        <p:tav tm="0">
                                          <p:val>
                                            <p:strVal val="1+#ppt_w/2"/>
                                          </p:val>
                                        </p:tav>
                                        <p:tav tm="100000">
                                          <p:val>
                                            <p:strVal val="#ppt_x"/>
                                          </p:val>
                                        </p:tav>
                                      </p:tavLst>
                                    </p:anim>
                                    <p:anim calcmode="lin" valueType="num">
                                      <p:cBhvr additive="base">
                                        <p:cTn id="8" dur="500" fill="hold"/>
                                        <p:tgtEl>
                                          <p:spTgt spid="1679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447800" y="152400"/>
            <a:ext cx="7848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800" b="1">
                <a:solidFill>
                  <a:srgbClr val="CC3399"/>
                </a:solidFill>
                <a:latin typeface="Times New Roman" charset="0"/>
                <a:ea typeface="楷体_GB2312" charset="0"/>
              </a:rPr>
              <a:t>5.2  </a:t>
            </a:r>
            <a:r>
              <a:rPr kumimoji="1" lang="zh-CN" altLang="en-US" sz="4800" b="1">
                <a:solidFill>
                  <a:srgbClr val="CC3399"/>
                </a:solidFill>
                <a:latin typeface="Times New Roman" charset="0"/>
                <a:ea typeface="楷体_GB2312" charset="0"/>
              </a:rPr>
              <a:t>数组的顺序表示和实现</a:t>
            </a:r>
          </a:p>
        </p:txBody>
      </p:sp>
      <p:sp>
        <p:nvSpPr>
          <p:cNvPr id="168963" name="Text Box 3"/>
          <p:cNvSpPr txBox="1">
            <a:spLocks noChangeArrowheads="1"/>
          </p:cNvSpPr>
          <p:nvPr/>
        </p:nvSpPr>
        <p:spPr bwMode="auto">
          <a:xfrm>
            <a:off x="914400" y="1066800"/>
            <a:ext cx="7994650"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600" b="1">
                <a:latin typeface="Times New Roman" charset="0"/>
                <a:ea typeface="楷体_GB2312" charset="0"/>
              </a:rPr>
              <a:t>    </a:t>
            </a:r>
            <a:r>
              <a:rPr kumimoji="1" lang="zh-CN" altLang="en-US" sz="3600" b="1">
                <a:solidFill>
                  <a:srgbClr val="9933FF"/>
                </a:solidFill>
                <a:latin typeface="Times New Roman" charset="0"/>
                <a:ea typeface="楷体_GB2312" charset="0"/>
              </a:rPr>
              <a:t>类型特点</a:t>
            </a:r>
            <a:r>
              <a:rPr kumimoji="1" lang="en-US" altLang="zh-CN" sz="3600" b="1">
                <a:solidFill>
                  <a:srgbClr val="9933FF"/>
                </a:solidFill>
                <a:latin typeface="Times New Roman" charset="0"/>
                <a:ea typeface="楷体_GB2312" charset="0"/>
              </a:rPr>
              <a:t>:</a:t>
            </a:r>
          </a:p>
          <a:p>
            <a:pPr eaLnBrk="1" hangingPunct="1">
              <a:lnSpc>
                <a:spcPct val="120000"/>
              </a:lnSpc>
            </a:pPr>
            <a:r>
              <a:rPr kumimoji="1" lang="en-US" altLang="zh-CN" sz="3600">
                <a:latin typeface="Times New Roman" charset="0"/>
                <a:ea typeface="楷体_GB2312" charset="0"/>
              </a:rPr>
              <a:t>1) </a:t>
            </a:r>
            <a:r>
              <a:rPr kumimoji="1" lang="zh-CN" altLang="en-US" sz="3600">
                <a:latin typeface="Times New Roman" charset="0"/>
                <a:ea typeface="楷体_GB2312" charset="0"/>
              </a:rPr>
              <a:t>只有引用型操作，没有加工型操作；</a:t>
            </a:r>
          </a:p>
          <a:p>
            <a:pPr eaLnBrk="1" hangingPunct="1">
              <a:lnSpc>
                <a:spcPct val="120000"/>
              </a:lnSpc>
            </a:pPr>
            <a:r>
              <a:rPr kumimoji="1" lang="en-US" altLang="zh-CN" sz="3600">
                <a:latin typeface="Times New Roman" charset="0"/>
                <a:ea typeface="楷体_GB2312" charset="0"/>
              </a:rPr>
              <a:t>2) </a:t>
            </a:r>
            <a:r>
              <a:rPr kumimoji="1" lang="zh-CN" altLang="en-US" sz="3600">
                <a:latin typeface="Times New Roman" charset="0"/>
                <a:ea typeface="楷体_GB2312" charset="0"/>
              </a:rPr>
              <a:t>数组是多维的结构，而存储空间是</a:t>
            </a:r>
          </a:p>
          <a:p>
            <a:pPr eaLnBrk="1" hangingPunct="1">
              <a:lnSpc>
                <a:spcPct val="120000"/>
              </a:lnSpc>
            </a:pPr>
            <a:r>
              <a:rPr kumimoji="1" lang="zh-CN" altLang="en-US" sz="3600">
                <a:latin typeface="Times New Roman" charset="0"/>
                <a:ea typeface="楷体_GB2312" charset="0"/>
              </a:rPr>
              <a:t>   一个一维的结构。</a:t>
            </a:r>
          </a:p>
        </p:txBody>
      </p:sp>
      <p:sp>
        <p:nvSpPr>
          <p:cNvPr id="168964" name="Text Box 4"/>
          <p:cNvSpPr txBox="1">
            <a:spLocks noChangeArrowheads="1"/>
          </p:cNvSpPr>
          <p:nvPr/>
        </p:nvSpPr>
        <p:spPr bwMode="auto">
          <a:xfrm>
            <a:off x="76200" y="4038600"/>
            <a:ext cx="7391400"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600" b="1">
                <a:latin typeface="Times New Roman" charset="0"/>
                <a:ea typeface="楷体_GB2312" charset="0"/>
              </a:rPr>
              <a:t>           </a:t>
            </a:r>
            <a:r>
              <a:rPr kumimoji="1" lang="zh-CN" altLang="en-US" sz="3600" b="1">
                <a:solidFill>
                  <a:srgbClr val="9933FF"/>
                </a:solidFill>
                <a:latin typeface="Times New Roman" charset="0"/>
                <a:ea typeface="楷体_GB2312" charset="0"/>
              </a:rPr>
              <a:t>有两种顺序映象的方式</a:t>
            </a:r>
            <a:r>
              <a:rPr kumimoji="1" lang="en-US" altLang="zh-CN" sz="3600" b="1">
                <a:solidFill>
                  <a:srgbClr val="9933FF"/>
                </a:solidFill>
                <a:latin typeface="Times New Roman" charset="0"/>
                <a:ea typeface="楷体_GB2312" charset="0"/>
              </a:rPr>
              <a:t>:</a:t>
            </a:r>
            <a:endParaRPr kumimoji="1" lang="en-US" altLang="zh-CN" sz="3600" b="1">
              <a:latin typeface="Times New Roman" charset="0"/>
              <a:ea typeface="楷体_GB2312" charset="0"/>
            </a:endParaRPr>
          </a:p>
          <a:p>
            <a:pPr lvl="2" eaLnBrk="1" hangingPunct="1">
              <a:lnSpc>
                <a:spcPct val="120000"/>
              </a:lnSpc>
            </a:pPr>
            <a:r>
              <a:rPr kumimoji="1" lang="en-US" altLang="zh-CN" sz="3600">
                <a:latin typeface="Times New Roman" charset="0"/>
              </a:rPr>
              <a:t>1)</a:t>
            </a:r>
            <a:r>
              <a:rPr kumimoji="1" lang="zh-CN" altLang="en-US" sz="3600">
                <a:latin typeface="Times New Roman" charset="0"/>
                <a:ea typeface="楷体_GB2312" charset="0"/>
              </a:rPr>
              <a:t>以行序为主序</a:t>
            </a:r>
            <a:r>
              <a:rPr kumimoji="1" lang="en-US" altLang="zh-CN" sz="3600">
                <a:latin typeface="Times New Roman" charset="0"/>
                <a:ea typeface="楷体_GB2312" charset="0"/>
              </a:rPr>
              <a:t>(</a:t>
            </a:r>
            <a:r>
              <a:rPr kumimoji="1" lang="zh-CN" altLang="en-US" sz="3600">
                <a:latin typeface="Times New Roman" charset="0"/>
                <a:ea typeface="楷体_GB2312" charset="0"/>
              </a:rPr>
              <a:t>低下标优先</a:t>
            </a:r>
            <a:r>
              <a:rPr kumimoji="1" lang="en-US" altLang="zh-CN" sz="3600">
                <a:latin typeface="Times New Roman" charset="0"/>
                <a:ea typeface="楷体_GB2312" charset="0"/>
              </a:rPr>
              <a:t>)</a:t>
            </a:r>
            <a:r>
              <a:rPr kumimoji="1" lang="zh-CN" altLang="en-US" sz="3600">
                <a:latin typeface="Times New Roman" charset="0"/>
                <a:ea typeface="楷体_GB2312" charset="0"/>
              </a:rPr>
              <a:t>；</a:t>
            </a:r>
          </a:p>
          <a:p>
            <a:pPr lvl="2" eaLnBrk="1" hangingPunct="1">
              <a:lnSpc>
                <a:spcPct val="120000"/>
              </a:lnSpc>
            </a:pPr>
            <a:r>
              <a:rPr kumimoji="1" lang="en-US" altLang="zh-CN" sz="3600">
                <a:latin typeface="Times New Roman" charset="0"/>
              </a:rPr>
              <a:t>2)</a:t>
            </a:r>
            <a:r>
              <a:rPr kumimoji="1" lang="zh-CN" altLang="en-US" sz="3600">
                <a:latin typeface="Times New Roman" charset="0"/>
                <a:ea typeface="楷体_GB2312" charset="0"/>
              </a:rPr>
              <a:t>以列序为主序</a:t>
            </a:r>
            <a:r>
              <a:rPr kumimoji="1" lang="en-US" altLang="zh-CN" sz="3600">
                <a:latin typeface="Times New Roman" charset="0"/>
                <a:ea typeface="楷体_GB2312" charset="0"/>
              </a:rPr>
              <a:t>(</a:t>
            </a:r>
            <a:r>
              <a:rPr kumimoji="1" lang="zh-CN" altLang="en-US" sz="3600">
                <a:latin typeface="Times New Roman" charset="0"/>
                <a:ea typeface="楷体_GB2312" charset="0"/>
              </a:rPr>
              <a:t>高下标优先</a:t>
            </a:r>
            <a:r>
              <a:rPr kumimoji="1" lang="en-US" altLang="zh-CN" sz="3600">
                <a:latin typeface="Times New Roman" charset="0"/>
                <a:ea typeface="楷体_GB2312" charset="0"/>
              </a:rPr>
              <a:t>)</a:t>
            </a:r>
            <a:r>
              <a:rPr kumimoji="1" lang="zh-CN" altLang="en-US" sz="3600">
                <a:latin typeface="Times New Roman" charset="0"/>
                <a:ea typeface="楷体_GB2312" charset="0"/>
              </a:rPr>
              <a:t>。</a:t>
            </a:r>
          </a:p>
        </p:txBody>
      </p:sp>
    </p:spTree>
    <p:extLst>
      <p:ext uri="{BB962C8B-B14F-4D97-AF65-F5344CB8AC3E}">
        <p14:creationId xmlns:p14="http://schemas.microsoft.com/office/powerpoint/2010/main" val="12171890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68963"/>
                                        </p:tgtEl>
                                        <p:attrNameLst>
                                          <p:attrName>style.visibility</p:attrName>
                                        </p:attrNameLst>
                                      </p:cBhvr>
                                      <p:to>
                                        <p:strVal val="visible"/>
                                      </p:to>
                                    </p:set>
                                    <p:animEffect transition="in" filter="wipe(left)">
                                      <p:cBhvr>
                                        <p:cTn id="7" dur="300"/>
                                        <p:tgtEl>
                                          <p:spTgt spid="1689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68964"/>
                                        </p:tgtEl>
                                        <p:attrNameLst>
                                          <p:attrName>style.visibility</p:attrName>
                                        </p:attrNameLst>
                                      </p:cBhvr>
                                      <p:to>
                                        <p:strVal val="visible"/>
                                      </p:to>
                                    </p:set>
                                    <p:animEffect transition="in" filter="wipe(left)">
                                      <p:cBhvr>
                                        <p:cTn id="12" dur="300"/>
                                        <p:tgtEl>
                                          <p:spTgt spid="168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autoUpdateAnimBg="0"/>
      <p:bldP spid="16896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Text Box 2"/>
          <p:cNvSpPr txBox="1">
            <a:spLocks noChangeArrowheads="1"/>
          </p:cNvSpPr>
          <p:nvPr/>
        </p:nvSpPr>
        <p:spPr bwMode="auto">
          <a:xfrm>
            <a:off x="360363" y="4125913"/>
            <a:ext cx="8305800" cy="239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20000"/>
              </a:spcBef>
            </a:pPr>
            <a:r>
              <a:rPr lang="zh-CN" altLang="en-US" sz="2800" b="1">
                <a:latin typeface="楷体_GB2312" charset="0"/>
                <a:ea typeface="楷体_GB2312" charset="0"/>
              </a:rPr>
              <a:t>常用的映射方法有两种：</a:t>
            </a:r>
          </a:p>
          <a:p>
            <a:pPr eaLnBrk="1" hangingPunct="1">
              <a:spcBef>
                <a:spcPct val="20000"/>
              </a:spcBef>
              <a:buClr>
                <a:schemeClr val="accent2"/>
              </a:buClr>
              <a:buFont typeface="Wingdings" charset="2"/>
              <a:buChar char="Ø"/>
            </a:pPr>
            <a:r>
              <a:rPr lang="zh-CN" altLang="en-US" sz="2800" b="1">
                <a:latin typeface="楷体_GB2312" charset="0"/>
                <a:ea typeface="楷体_GB2312" charset="0"/>
              </a:rPr>
              <a:t>按</a:t>
            </a:r>
            <a:r>
              <a:rPr lang="zh-CN" altLang="en-US" sz="2800" b="1">
                <a:solidFill>
                  <a:srgbClr val="FF3300"/>
                </a:solidFill>
                <a:latin typeface="楷体_GB2312" charset="0"/>
                <a:ea typeface="楷体_GB2312" charset="0"/>
              </a:rPr>
              <a:t>行</a:t>
            </a:r>
            <a:r>
              <a:rPr lang="zh-CN" altLang="en-US" sz="2800" b="1">
                <a:latin typeface="楷体_GB2312" charset="0"/>
                <a:ea typeface="楷体_GB2312" charset="0"/>
              </a:rPr>
              <a:t>优先：</a:t>
            </a:r>
            <a:r>
              <a:rPr lang="zh-CN" altLang="en-US" sz="2800" b="1">
                <a:solidFill>
                  <a:srgbClr val="FF3300"/>
                </a:solidFill>
                <a:latin typeface="楷体_GB2312" charset="0"/>
                <a:ea typeface="楷体_GB2312" charset="0"/>
              </a:rPr>
              <a:t>先行后列</a:t>
            </a:r>
            <a:r>
              <a:rPr lang="zh-CN" altLang="en-US" sz="2800" b="1">
                <a:latin typeface="楷体_GB2312" charset="0"/>
                <a:ea typeface="楷体_GB2312" charset="0"/>
              </a:rPr>
              <a:t>，先存储行号较小的元素，行号相同者先存储列号较小的元素。</a:t>
            </a:r>
            <a:r>
              <a:rPr lang="zh-CN" altLang="en-US" sz="2800">
                <a:solidFill>
                  <a:schemeClr val="accent2"/>
                </a:solidFill>
                <a:latin typeface="楷体_GB2312" charset="0"/>
                <a:ea typeface="楷体_GB2312" charset="0"/>
              </a:rPr>
              <a:t> </a:t>
            </a:r>
            <a:endParaRPr lang="zh-CN" altLang="en-US" sz="2800" b="1">
              <a:latin typeface="楷体_GB2312" charset="0"/>
              <a:ea typeface="楷体_GB2312" charset="0"/>
            </a:endParaRPr>
          </a:p>
          <a:p>
            <a:pPr eaLnBrk="1" hangingPunct="1">
              <a:spcBef>
                <a:spcPct val="20000"/>
              </a:spcBef>
              <a:buClr>
                <a:schemeClr val="accent2"/>
              </a:buClr>
              <a:buFont typeface="Wingdings" charset="2"/>
              <a:buChar char="Ø"/>
            </a:pPr>
            <a:r>
              <a:rPr lang="zh-CN" altLang="en-US" sz="2800" b="1">
                <a:latin typeface="楷体_GB2312" charset="0"/>
                <a:ea typeface="楷体_GB2312" charset="0"/>
              </a:rPr>
              <a:t>按</a:t>
            </a:r>
            <a:r>
              <a:rPr lang="zh-CN" altLang="en-US" sz="2800" b="1">
                <a:solidFill>
                  <a:srgbClr val="FF3300"/>
                </a:solidFill>
                <a:latin typeface="楷体_GB2312" charset="0"/>
                <a:ea typeface="楷体_GB2312" charset="0"/>
              </a:rPr>
              <a:t>列</a:t>
            </a:r>
            <a:r>
              <a:rPr lang="zh-CN" altLang="en-US" sz="2800" b="1">
                <a:latin typeface="楷体_GB2312" charset="0"/>
                <a:ea typeface="楷体_GB2312" charset="0"/>
              </a:rPr>
              <a:t>优先：</a:t>
            </a:r>
            <a:r>
              <a:rPr lang="zh-CN" altLang="en-US" sz="2800" b="1">
                <a:solidFill>
                  <a:srgbClr val="FF3300"/>
                </a:solidFill>
                <a:latin typeface="楷体_GB2312" charset="0"/>
                <a:ea typeface="楷体_GB2312" charset="0"/>
              </a:rPr>
              <a:t>先列后行</a:t>
            </a:r>
            <a:r>
              <a:rPr lang="zh-CN" altLang="en-US" sz="2800" b="1">
                <a:latin typeface="楷体_GB2312" charset="0"/>
                <a:ea typeface="楷体_GB2312" charset="0"/>
              </a:rPr>
              <a:t>，先存储列号较小的元素，列号相同者先存储行号较小的元素。</a:t>
            </a:r>
            <a:r>
              <a:rPr lang="zh-CN" altLang="en-US" sz="2800">
                <a:solidFill>
                  <a:schemeClr val="accent2"/>
                </a:solidFill>
                <a:latin typeface="楷体_GB2312" charset="0"/>
                <a:ea typeface="楷体_GB2312" charset="0"/>
              </a:rPr>
              <a:t> </a:t>
            </a:r>
          </a:p>
        </p:txBody>
      </p:sp>
      <p:sp>
        <p:nvSpPr>
          <p:cNvPr id="17411" name="Text Box 4"/>
          <p:cNvSpPr txBox="1">
            <a:spLocks noChangeArrowheads="1"/>
          </p:cNvSpPr>
          <p:nvPr/>
        </p:nvSpPr>
        <p:spPr bwMode="auto">
          <a:xfrm>
            <a:off x="1371600" y="228600"/>
            <a:ext cx="7162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3200" b="1">
                <a:solidFill>
                  <a:schemeClr val="accent2"/>
                </a:solidFill>
                <a:latin typeface="Times New Roman" charset="0"/>
              </a:rPr>
              <a:t>数组的存储结构与寻址</a:t>
            </a:r>
            <a:r>
              <a:rPr lang="en-US" altLang="zh-CN" sz="3200" b="1">
                <a:solidFill>
                  <a:schemeClr val="accent2"/>
                </a:solidFill>
                <a:latin typeface="Times New Roman" charset="0"/>
              </a:rPr>
              <a:t>——</a:t>
            </a:r>
            <a:r>
              <a:rPr lang="zh-CN" altLang="en-US" sz="3200" b="1">
                <a:solidFill>
                  <a:schemeClr val="accent2"/>
                </a:solidFill>
                <a:latin typeface="Times New Roman" charset="0"/>
              </a:rPr>
              <a:t>二维数组</a:t>
            </a:r>
          </a:p>
        </p:txBody>
      </p:sp>
      <p:grpSp>
        <p:nvGrpSpPr>
          <p:cNvPr id="230405" name="Group 5"/>
          <p:cNvGrpSpPr>
            <a:grpSpLocks/>
          </p:cNvGrpSpPr>
          <p:nvPr/>
        </p:nvGrpSpPr>
        <p:grpSpPr bwMode="auto">
          <a:xfrm>
            <a:off x="1703388" y="2009775"/>
            <a:ext cx="4368800" cy="568325"/>
            <a:chOff x="551" y="1266"/>
            <a:chExt cx="2752" cy="358"/>
          </a:xfrm>
        </p:grpSpPr>
        <p:sp>
          <p:nvSpPr>
            <p:cNvPr id="17420" name="Rectangle 6"/>
            <p:cNvSpPr>
              <a:spLocks noChangeArrowheads="1"/>
            </p:cNvSpPr>
            <p:nvPr/>
          </p:nvSpPr>
          <p:spPr bwMode="auto">
            <a:xfrm>
              <a:off x="551" y="1266"/>
              <a:ext cx="1034" cy="345"/>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800" b="1"/>
                <a:t>二维数组</a:t>
              </a:r>
            </a:p>
          </p:txBody>
        </p:sp>
        <p:sp>
          <p:nvSpPr>
            <p:cNvPr id="17421" name="AutoShape 7"/>
            <p:cNvSpPr>
              <a:spLocks noChangeArrowheads="1"/>
            </p:cNvSpPr>
            <p:nvPr/>
          </p:nvSpPr>
          <p:spPr bwMode="auto">
            <a:xfrm>
              <a:off x="1846" y="1336"/>
              <a:ext cx="484" cy="219"/>
            </a:xfrm>
            <a:prstGeom prst="rightArrow">
              <a:avLst>
                <a:gd name="adj1" fmla="val 50000"/>
                <a:gd name="adj2" fmla="val 55251"/>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7422" name="Rectangle 8"/>
            <p:cNvSpPr>
              <a:spLocks noChangeArrowheads="1"/>
            </p:cNvSpPr>
            <p:nvPr/>
          </p:nvSpPr>
          <p:spPr bwMode="auto">
            <a:xfrm>
              <a:off x="2595" y="1279"/>
              <a:ext cx="708" cy="345"/>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800" b="1"/>
                <a:t>内  存</a:t>
              </a:r>
            </a:p>
          </p:txBody>
        </p:sp>
      </p:grpSp>
      <p:sp>
        <p:nvSpPr>
          <p:cNvPr id="230409" name="AutoShape 9"/>
          <p:cNvSpPr>
            <a:spLocks noChangeArrowheads="1"/>
          </p:cNvSpPr>
          <p:nvPr/>
        </p:nvSpPr>
        <p:spPr bwMode="auto">
          <a:xfrm>
            <a:off x="3744913" y="3325813"/>
            <a:ext cx="768350" cy="347662"/>
          </a:xfrm>
          <a:prstGeom prst="rightArrow">
            <a:avLst>
              <a:gd name="adj1" fmla="val 50000"/>
              <a:gd name="adj2" fmla="val 55251"/>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nvGrpSpPr>
          <p:cNvPr id="230410" name="Group 10"/>
          <p:cNvGrpSpPr>
            <a:grpSpLocks/>
          </p:cNvGrpSpPr>
          <p:nvPr/>
        </p:nvGrpSpPr>
        <p:grpSpPr bwMode="auto">
          <a:xfrm>
            <a:off x="1714500" y="2568575"/>
            <a:ext cx="1641475" cy="1195388"/>
            <a:chOff x="1080" y="1618"/>
            <a:chExt cx="1034" cy="753"/>
          </a:xfrm>
        </p:grpSpPr>
        <p:sp>
          <p:nvSpPr>
            <p:cNvPr id="17418" name="Rectangle 11"/>
            <p:cNvSpPr>
              <a:spLocks noChangeArrowheads="1"/>
            </p:cNvSpPr>
            <p:nvPr/>
          </p:nvSpPr>
          <p:spPr bwMode="auto">
            <a:xfrm>
              <a:off x="1080" y="2026"/>
              <a:ext cx="1034" cy="345"/>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800" b="1"/>
                <a:t>二维结构</a:t>
              </a:r>
            </a:p>
          </p:txBody>
        </p:sp>
        <p:sp>
          <p:nvSpPr>
            <p:cNvPr id="17419" name="Text Box 12"/>
            <p:cNvSpPr txBox="1">
              <a:spLocks noChangeArrowheads="1"/>
            </p:cNvSpPr>
            <p:nvPr/>
          </p:nvSpPr>
          <p:spPr bwMode="auto">
            <a:xfrm>
              <a:off x="1553" y="1618"/>
              <a:ext cx="84" cy="408"/>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lang="en-US" altLang="zh-CN">
                <a:solidFill>
                  <a:schemeClr val="accent2"/>
                </a:solidFill>
                <a:ea typeface="华文行楷" charset="-122"/>
              </a:endParaRPr>
            </a:p>
            <a:p>
              <a:pPr algn="ctr" eaLnBrk="1" hangingPunct="1"/>
              <a:endParaRPr lang="en-US" altLang="zh-CN">
                <a:solidFill>
                  <a:schemeClr val="accent2"/>
                </a:solidFill>
                <a:ea typeface="华文行楷" charset="-122"/>
              </a:endParaRPr>
            </a:p>
          </p:txBody>
        </p:sp>
      </p:grpSp>
      <p:grpSp>
        <p:nvGrpSpPr>
          <p:cNvPr id="230413" name="Group 13"/>
          <p:cNvGrpSpPr>
            <a:grpSpLocks/>
          </p:cNvGrpSpPr>
          <p:nvPr/>
        </p:nvGrpSpPr>
        <p:grpSpPr bwMode="auto">
          <a:xfrm>
            <a:off x="4716463" y="2582863"/>
            <a:ext cx="1641475" cy="1209675"/>
            <a:chOff x="2971" y="1627"/>
            <a:chExt cx="1034" cy="762"/>
          </a:xfrm>
        </p:grpSpPr>
        <p:sp>
          <p:nvSpPr>
            <p:cNvPr id="17416" name="Rectangle 14"/>
            <p:cNvSpPr>
              <a:spLocks noChangeArrowheads="1"/>
            </p:cNvSpPr>
            <p:nvPr/>
          </p:nvSpPr>
          <p:spPr bwMode="auto">
            <a:xfrm>
              <a:off x="2971" y="2044"/>
              <a:ext cx="1034" cy="345"/>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800" b="1"/>
                <a:t>一维结构</a:t>
              </a:r>
            </a:p>
          </p:txBody>
        </p:sp>
        <p:sp>
          <p:nvSpPr>
            <p:cNvPr id="17417" name="Text Box 15"/>
            <p:cNvSpPr txBox="1">
              <a:spLocks noChangeArrowheads="1"/>
            </p:cNvSpPr>
            <p:nvPr/>
          </p:nvSpPr>
          <p:spPr bwMode="auto">
            <a:xfrm>
              <a:off x="3437" y="1627"/>
              <a:ext cx="84" cy="408"/>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lang="en-US" altLang="zh-CN">
                <a:solidFill>
                  <a:schemeClr val="accent2"/>
                </a:solidFill>
                <a:ea typeface="华文行楷" charset="-122"/>
              </a:endParaRPr>
            </a:p>
            <a:p>
              <a:pPr algn="ctr" eaLnBrk="1" hangingPunct="1"/>
              <a:endParaRPr lang="en-US" altLang="zh-CN">
                <a:solidFill>
                  <a:schemeClr val="accent2"/>
                </a:solidFill>
                <a:ea typeface="华文行楷" charset="-122"/>
              </a:endParaRPr>
            </a:p>
          </p:txBody>
        </p:sp>
      </p:grpSp>
    </p:spTree>
    <p:extLst>
      <p:ext uri="{BB962C8B-B14F-4D97-AF65-F5344CB8AC3E}">
        <p14:creationId xmlns:p14="http://schemas.microsoft.com/office/powerpoint/2010/main" val="5722209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0405"/>
                                        </p:tgtEl>
                                        <p:attrNameLst>
                                          <p:attrName>style.visibility</p:attrName>
                                        </p:attrNameLst>
                                      </p:cBhvr>
                                      <p:to>
                                        <p:strVal val="visible"/>
                                      </p:to>
                                    </p:set>
                                    <p:animEffect transition="in" filter="wipe(left)">
                                      <p:cBhvr>
                                        <p:cTn id="7" dur="500"/>
                                        <p:tgtEl>
                                          <p:spTgt spid="230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3041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23041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30409"/>
                                        </p:tgtEl>
                                        <p:attrNameLst>
                                          <p:attrName>style.visibility</p:attrName>
                                        </p:attrNameLst>
                                      </p:cBhvr>
                                      <p:to>
                                        <p:strVal val="visible"/>
                                      </p:to>
                                    </p:set>
                                    <p:animEffect transition="in" filter="wipe(left)">
                                      <p:cBhvr>
                                        <p:cTn id="20" dur="500"/>
                                        <p:tgtEl>
                                          <p:spTgt spid="23040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04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p:bldP spid="23040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152400" y="1219200"/>
            <a:ext cx="2093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6600CC"/>
                </a:solidFill>
                <a:latin typeface="Times New Roman" charset="0"/>
                <a:ea typeface="楷体_GB2312" charset="0"/>
              </a:rPr>
              <a:t>例如：</a:t>
            </a:r>
            <a:r>
              <a:rPr kumimoji="1" lang="zh-CN" altLang="en-US" sz="4000">
                <a:latin typeface="Times New Roman" charset="0"/>
                <a:ea typeface="楷体_GB2312" charset="0"/>
              </a:rPr>
              <a:t>   </a:t>
            </a:r>
          </a:p>
        </p:txBody>
      </p:sp>
      <p:sp>
        <p:nvSpPr>
          <p:cNvPr id="171011" name="Text Box 3"/>
          <p:cNvSpPr txBox="1">
            <a:spLocks noChangeArrowheads="1"/>
          </p:cNvSpPr>
          <p:nvPr/>
        </p:nvSpPr>
        <p:spPr bwMode="auto">
          <a:xfrm>
            <a:off x="4114800" y="5475288"/>
            <a:ext cx="4308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solidFill>
                  <a:srgbClr val="9933FF"/>
                </a:solidFill>
                <a:latin typeface="Times New Roman" charset="0"/>
                <a:ea typeface="楷体_GB2312" charset="0"/>
              </a:rPr>
              <a:t>称为</a:t>
            </a:r>
            <a:r>
              <a:rPr kumimoji="1" lang="zh-CN" altLang="en-US" sz="3600" b="1">
                <a:solidFill>
                  <a:srgbClr val="9933FF"/>
                </a:solidFill>
                <a:latin typeface="Times New Roman" charset="0"/>
                <a:ea typeface="楷体_GB2312" charset="0"/>
              </a:rPr>
              <a:t>基地址</a:t>
            </a:r>
            <a:r>
              <a:rPr kumimoji="1" lang="zh-CN" altLang="en-US" sz="3600">
                <a:solidFill>
                  <a:srgbClr val="9933FF"/>
                </a:solidFill>
                <a:latin typeface="Times New Roman" charset="0"/>
                <a:ea typeface="楷体_GB2312" charset="0"/>
              </a:rPr>
              <a:t>或基址。</a:t>
            </a:r>
          </a:p>
        </p:txBody>
      </p:sp>
      <p:sp>
        <p:nvSpPr>
          <p:cNvPr id="171012" name="Line 4"/>
          <p:cNvSpPr>
            <a:spLocks noChangeShapeType="1"/>
          </p:cNvSpPr>
          <p:nvPr/>
        </p:nvSpPr>
        <p:spPr bwMode="auto">
          <a:xfrm flipV="1">
            <a:off x="4114800" y="5354638"/>
            <a:ext cx="0" cy="914400"/>
          </a:xfrm>
          <a:prstGeom prst="line">
            <a:avLst/>
          </a:prstGeom>
          <a:noFill/>
          <a:ln w="28575">
            <a:solidFill>
              <a:srgbClr val="9933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437" name="Text Box 5"/>
          <p:cNvSpPr txBox="1">
            <a:spLocks noChangeArrowheads="1"/>
          </p:cNvSpPr>
          <p:nvPr/>
        </p:nvSpPr>
        <p:spPr bwMode="auto">
          <a:xfrm>
            <a:off x="1135063" y="228600"/>
            <a:ext cx="6332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CC3399"/>
                </a:solidFill>
                <a:latin typeface="Times New Roman" charset="0"/>
                <a:ea typeface="楷体_GB2312" charset="0"/>
              </a:rPr>
              <a:t>以“行序为主序”的存储映象</a:t>
            </a:r>
            <a:endParaRPr kumimoji="1" lang="zh-CN" altLang="en-US" sz="4400">
              <a:latin typeface="Times New Roman" charset="0"/>
            </a:endParaRPr>
          </a:p>
        </p:txBody>
      </p:sp>
      <p:sp>
        <p:nvSpPr>
          <p:cNvPr id="171014" name="Text Box 6"/>
          <p:cNvSpPr txBox="1">
            <a:spLocks noChangeArrowheads="1"/>
          </p:cNvSpPr>
          <p:nvPr/>
        </p:nvSpPr>
        <p:spPr bwMode="auto">
          <a:xfrm>
            <a:off x="228600" y="3814763"/>
            <a:ext cx="8291513"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4000">
                <a:latin typeface="Times New Roman" charset="0"/>
                <a:ea typeface="楷体_GB2312" charset="0"/>
              </a:rPr>
              <a:t>二维数组</a:t>
            </a:r>
            <a:r>
              <a:rPr kumimoji="1" lang="en-US" altLang="zh-CN" sz="4000">
                <a:latin typeface="Times New Roman" charset="0"/>
                <a:ea typeface="楷体_GB2312" charset="0"/>
              </a:rPr>
              <a:t>A</a:t>
            </a:r>
            <a:r>
              <a:rPr kumimoji="1" lang="zh-CN" altLang="en-US" sz="4000">
                <a:latin typeface="Times New Roman" charset="0"/>
                <a:ea typeface="楷体_GB2312" charset="0"/>
              </a:rPr>
              <a:t>中任一元素</a:t>
            </a:r>
            <a:r>
              <a:rPr kumimoji="1" lang="en-US" altLang="zh-CN" sz="4000">
                <a:latin typeface="Times New Roman" charset="0"/>
                <a:ea typeface="楷体_GB2312" charset="0"/>
              </a:rPr>
              <a:t>a</a:t>
            </a:r>
            <a:r>
              <a:rPr kumimoji="1" lang="en-US" altLang="zh-CN" sz="4000" baseline="-25000">
                <a:latin typeface="Times New Roman" charset="0"/>
                <a:ea typeface="楷体_GB2312" charset="0"/>
              </a:rPr>
              <a:t>i,j</a:t>
            </a:r>
            <a:r>
              <a:rPr kumimoji="1" lang="en-US" altLang="zh-CN" sz="4000">
                <a:latin typeface="Times New Roman" charset="0"/>
                <a:ea typeface="楷体_GB2312" charset="0"/>
              </a:rPr>
              <a:t> </a:t>
            </a:r>
            <a:r>
              <a:rPr kumimoji="1" lang="zh-CN" altLang="en-US" sz="4000">
                <a:latin typeface="Times New Roman" charset="0"/>
                <a:ea typeface="楷体_GB2312" charset="0"/>
              </a:rPr>
              <a:t>的存储位置</a:t>
            </a:r>
          </a:p>
          <a:p>
            <a:pPr eaLnBrk="1" hangingPunct="1">
              <a:lnSpc>
                <a:spcPct val="125000"/>
              </a:lnSpc>
            </a:pPr>
            <a:r>
              <a:rPr kumimoji="1" lang="zh-CN" altLang="en-US" sz="4000">
                <a:latin typeface="Times New Roman" charset="0"/>
                <a:ea typeface="楷体_GB2312" charset="0"/>
              </a:rPr>
              <a:t>     </a:t>
            </a:r>
            <a:r>
              <a:rPr kumimoji="1" lang="en-US" altLang="zh-CN" sz="4000">
                <a:latin typeface="Times New Roman" charset="0"/>
                <a:ea typeface="楷体_GB2312" charset="0"/>
              </a:rPr>
              <a:t>LOC(i,j) = LOC(0,0) + (b</a:t>
            </a:r>
            <a:r>
              <a:rPr kumimoji="1" lang="en-US" altLang="zh-CN" sz="4000" baseline="-25000">
                <a:latin typeface="Times New Roman" charset="0"/>
                <a:ea typeface="楷体_GB2312" charset="0"/>
              </a:rPr>
              <a:t>2</a:t>
            </a:r>
            <a:r>
              <a:rPr kumimoji="1" lang="en-US" altLang="zh-CN" sz="4000">
                <a:latin typeface="Times New Roman" charset="0"/>
                <a:ea typeface="楷体_GB2312" charset="0"/>
              </a:rPr>
              <a:t>×i</a:t>
            </a:r>
            <a:r>
              <a:rPr kumimoji="1" lang="zh-CN" altLang="en-US" sz="4000">
                <a:latin typeface="Times New Roman" charset="0"/>
                <a:ea typeface="楷体_GB2312" charset="0"/>
              </a:rPr>
              <a:t>＋</a:t>
            </a:r>
            <a:r>
              <a:rPr kumimoji="1" lang="en-US" altLang="zh-CN" sz="4000">
                <a:latin typeface="Times New Roman" charset="0"/>
                <a:ea typeface="楷体_GB2312" charset="0"/>
              </a:rPr>
              <a:t>j)×</a:t>
            </a:r>
          </a:p>
        </p:txBody>
      </p:sp>
      <p:sp>
        <p:nvSpPr>
          <p:cNvPr id="171015" name="Text Box 7"/>
          <p:cNvSpPr txBox="1">
            <a:spLocks noChangeArrowheads="1"/>
          </p:cNvSpPr>
          <p:nvPr/>
        </p:nvSpPr>
        <p:spPr bwMode="auto">
          <a:xfrm>
            <a:off x="1447800" y="2138363"/>
            <a:ext cx="723900" cy="604837"/>
          </a:xfrm>
          <a:prstGeom prst="rect">
            <a:avLst/>
          </a:prstGeom>
          <a:solidFill>
            <a:srgbClr val="CC99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0,1</a:t>
            </a:r>
            <a:endParaRPr kumimoji="1" lang="en-US" altLang="zh-CN" sz="3200" baseline="-25000">
              <a:latin typeface="Times New Roman" charset="0"/>
            </a:endParaRPr>
          </a:p>
        </p:txBody>
      </p:sp>
      <p:sp>
        <p:nvSpPr>
          <p:cNvPr id="171016" name="Text Box 8"/>
          <p:cNvSpPr txBox="1">
            <a:spLocks noChangeArrowheads="1"/>
          </p:cNvSpPr>
          <p:nvPr/>
        </p:nvSpPr>
        <p:spPr bwMode="auto">
          <a:xfrm>
            <a:off x="723900" y="2138363"/>
            <a:ext cx="723900" cy="604837"/>
          </a:xfrm>
          <a:prstGeom prst="rect">
            <a:avLst/>
          </a:prstGeom>
          <a:solidFill>
            <a:srgbClr val="CC99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0,0</a:t>
            </a:r>
            <a:endParaRPr kumimoji="1" lang="en-US" altLang="zh-CN" sz="3200" baseline="-25000">
              <a:latin typeface="Times New Roman" charset="0"/>
            </a:endParaRPr>
          </a:p>
        </p:txBody>
      </p:sp>
      <p:sp>
        <p:nvSpPr>
          <p:cNvPr id="171017" name="Text Box 9"/>
          <p:cNvSpPr txBox="1">
            <a:spLocks noChangeArrowheads="1"/>
          </p:cNvSpPr>
          <p:nvPr/>
        </p:nvSpPr>
        <p:spPr bwMode="auto">
          <a:xfrm>
            <a:off x="2171700" y="2138363"/>
            <a:ext cx="723900" cy="604837"/>
          </a:xfrm>
          <a:prstGeom prst="rect">
            <a:avLst/>
          </a:prstGeom>
          <a:solidFill>
            <a:srgbClr val="CC99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0,2</a:t>
            </a:r>
            <a:endParaRPr kumimoji="1" lang="en-US" altLang="zh-CN" sz="3200" baseline="-25000">
              <a:latin typeface="Times New Roman" charset="0"/>
            </a:endParaRPr>
          </a:p>
        </p:txBody>
      </p:sp>
      <p:sp>
        <p:nvSpPr>
          <p:cNvPr id="171018" name="Text Box 10"/>
          <p:cNvSpPr txBox="1">
            <a:spLocks noChangeArrowheads="1"/>
          </p:cNvSpPr>
          <p:nvPr/>
        </p:nvSpPr>
        <p:spPr bwMode="auto">
          <a:xfrm>
            <a:off x="723900" y="2747963"/>
            <a:ext cx="723900" cy="604837"/>
          </a:xfrm>
          <a:prstGeom prst="rect">
            <a:avLst/>
          </a:prstGeom>
          <a:solidFill>
            <a:srgbClr val="99CC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1,0</a:t>
            </a:r>
            <a:endParaRPr kumimoji="1" lang="en-US" altLang="zh-CN" sz="3200" baseline="-25000">
              <a:latin typeface="Times New Roman" charset="0"/>
            </a:endParaRPr>
          </a:p>
        </p:txBody>
      </p:sp>
      <p:sp>
        <p:nvSpPr>
          <p:cNvPr id="171019" name="Text Box 11"/>
          <p:cNvSpPr txBox="1">
            <a:spLocks noChangeArrowheads="1"/>
          </p:cNvSpPr>
          <p:nvPr/>
        </p:nvSpPr>
        <p:spPr bwMode="auto">
          <a:xfrm>
            <a:off x="1447800" y="2747963"/>
            <a:ext cx="723900" cy="604837"/>
          </a:xfrm>
          <a:prstGeom prst="rect">
            <a:avLst/>
          </a:prstGeom>
          <a:solidFill>
            <a:srgbClr val="99CC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1,1</a:t>
            </a:r>
            <a:endParaRPr kumimoji="1" lang="en-US" altLang="zh-CN" sz="3200" baseline="-25000">
              <a:latin typeface="Times New Roman" charset="0"/>
            </a:endParaRPr>
          </a:p>
        </p:txBody>
      </p:sp>
      <p:sp>
        <p:nvSpPr>
          <p:cNvPr id="171020" name="Text Box 12"/>
          <p:cNvSpPr txBox="1">
            <a:spLocks noChangeArrowheads="1"/>
          </p:cNvSpPr>
          <p:nvPr/>
        </p:nvSpPr>
        <p:spPr bwMode="auto">
          <a:xfrm>
            <a:off x="2171700" y="2747963"/>
            <a:ext cx="723900" cy="604837"/>
          </a:xfrm>
          <a:prstGeom prst="rect">
            <a:avLst/>
          </a:prstGeom>
          <a:solidFill>
            <a:srgbClr val="99CC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1,2</a:t>
            </a:r>
            <a:endParaRPr kumimoji="1" lang="en-US" altLang="zh-CN" sz="3200" baseline="-25000">
              <a:latin typeface="Times New Roman" charset="0"/>
            </a:endParaRPr>
          </a:p>
        </p:txBody>
      </p:sp>
      <p:sp>
        <p:nvSpPr>
          <p:cNvPr id="171021" name="Text Box 13"/>
          <p:cNvSpPr txBox="1">
            <a:spLocks noChangeArrowheads="1"/>
          </p:cNvSpPr>
          <p:nvPr/>
        </p:nvSpPr>
        <p:spPr bwMode="auto">
          <a:xfrm>
            <a:off x="4648200" y="2133600"/>
            <a:ext cx="723900" cy="604838"/>
          </a:xfrm>
          <a:prstGeom prst="rect">
            <a:avLst/>
          </a:prstGeom>
          <a:solidFill>
            <a:srgbClr val="CC99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0,1</a:t>
            </a:r>
            <a:endParaRPr kumimoji="1" lang="en-US" altLang="zh-CN" sz="3200" baseline="-25000">
              <a:latin typeface="Times New Roman" charset="0"/>
            </a:endParaRPr>
          </a:p>
        </p:txBody>
      </p:sp>
      <p:sp>
        <p:nvSpPr>
          <p:cNvPr id="171022" name="Text Box 14"/>
          <p:cNvSpPr txBox="1">
            <a:spLocks noChangeArrowheads="1"/>
          </p:cNvSpPr>
          <p:nvPr/>
        </p:nvSpPr>
        <p:spPr bwMode="auto">
          <a:xfrm>
            <a:off x="3924300" y="2133600"/>
            <a:ext cx="723900" cy="604838"/>
          </a:xfrm>
          <a:prstGeom prst="rect">
            <a:avLst/>
          </a:prstGeom>
          <a:solidFill>
            <a:srgbClr val="CC99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0,0</a:t>
            </a:r>
            <a:endParaRPr kumimoji="1" lang="en-US" altLang="zh-CN" sz="3200" baseline="-25000">
              <a:latin typeface="Times New Roman" charset="0"/>
            </a:endParaRPr>
          </a:p>
        </p:txBody>
      </p:sp>
      <p:sp>
        <p:nvSpPr>
          <p:cNvPr id="171023" name="Text Box 15"/>
          <p:cNvSpPr txBox="1">
            <a:spLocks noChangeArrowheads="1"/>
          </p:cNvSpPr>
          <p:nvPr/>
        </p:nvSpPr>
        <p:spPr bwMode="auto">
          <a:xfrm>
            <a:off x="5372100" y="2133600"/>
            <a:ext cx="723900" cy="604838"/>
          </a:xfrm>
          <a:prstGeom prst="rect">
            <a:avLst/>
          </a:prstGeom>
          <a:solidFill>
            <a:srgbClr val="CC99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0,2</a:t>
            </a:r>
            <a:endParaRPr kumimoji="1" lang="en-US" altLang="zh-CN" sz="3200" baseline="-25000">
              <a:latin typeface="Times New Roman" charset="0"/>
            </a:endParaRPr>
          </a:p>
        </p:txBody>
      </p:sp>
      <p:sp>
        <p:nvSpPr>
          <p:cNvPr id="171024" name="Text Box 16"/>
          <p:cNvSpPr txBox="1">
            <a:spLocks noChangeArrowheads="1"/>
          </p:cNvSpPr>
          <p:nvPr/>
        </p:nvSpPr>
        <p:spPr bwMode="auto">
          <a:xfrm>
            <a:off x="6096000" y="2133600"/>
            <a:ext cx="723900" cy="604838"/>
          </a:xfrm>
          <a:prstGeom prst="rect">
            <a:avLst/>
          </a:prstGeom>
          <a:solidFill>
            <a:srgbClr val="99CC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1,0</a:t>
            </a:r>
            <a:endParaRPr kumimoji="1" lang="en-US" altLang="zh-CN" sz="3200" baseline="-25000">
              <a:latin typeface="Times New Roman" charset="0"/>
            </a:endParaRPr>
          </a:p>
        </p:txBody>
      </p:sp>
      <p:sp>
        <p:nvSpPr>
          <p:cNvPr id="171025" name="Text Box 17"/>
          <p:cNvSpPr txBox="1">
            <a:spLocks noChangeArrowheads="1"/>
          </p:cNvSpPr>
          <p:nvPr/>
        </p:nvSpPr>
        <p:spPr bwMode="auto">
          <a:xfrm>
            <a:off x="6819900" y="2133600"/>
            <a:ext cx="723900" cy="604838"/>
          </a:xfrm>
          <a:prstGeom prst="rect">
            <a:avLst/>
          </a:prstGeom>
          <a:solidFill>
            <a:srgbClr val="99CC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1,1</a:t>
            </a:r>
            <a:endParaRPr kumimoji="1" lang="en-US" altLang="zh-CN" sz="3200" baseline="-25000">
              <a:latin typeface="Times New Roman" charset="0"/>
            </a:endParaRPr>
          </a:p>
        </p:txBody>
      </p:sp>
      <p:sp>
        <p:nvSpPr>
          <p:cNvPr id="171026" name="Text Box 18"/>
          <p:cNvSpPr txBox="1">
            <a:spLocks noChangeArrowheads="1"/>
          </p:cNvSpPr>
          <p:nvPr/>
        </p:nvSpPr>
        <p:spPr bwMode="auto">
          <a:xfrm>
            <a:off x="7543800" y="2133600"/>
            <a:ext cx="723900" cy="604838"/>
          </a:xfrm>
          <a:prstGeom prst="rect">
            <a:avLst/>
          </a:prstGeom>
          <a:solidFill>
            <a:srgbClr val="99CCFF">
              <a:alpha val="50195"/>
            </a:srgbClr>
          </a:solidFill>
          <a:ln w="25400">
            <a:solidFill>
              <a:srgbClr val="800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800080"/>
                </a:solidFill>
                <a:latin typeface="Times New Roman" charset="0"/>
              </a:rPr>
              <a:t>a</a:t>
            </a:r>
            <a:r>
              <a:rPr kumimoji="1" lang="en-US" altLang="zh-CN" sz="3200" baseline="-25000">
                <a:solidFill>
                  <a:srgbClr val="800080"/>
                </a:solidFill>
                <a:latin typeface="Times New Roman" charset="0"/>
              </a:rPr>
              <a:t>1,2</a:t>
            </a:r>
            <a:endParaRPr kumimoji="1" lang="en-US" altLang="zh-CN" sz="3200" baseline="-25000">
              <a:latin typeface="Times New Roman" charset="0"/>
            </a:endParaRPr>
          </a:p>
        </p:txBody>
      </p:sp>
      <p:sp>
        <p:nvSpPr>
          <p:cNvPr id="171027" name="AutoShape 19"/>
          <p:cNvSpPr>
            <a:spLocks/>
          </p:cNvSpPr>
          <p:nvPr/>
        </p:nvSpPr>
        <p:spPr bwMode="auto">
          <a:xfrm rot="-5270468">
            <a:off x="4056062" y="2611438"/>
            <a:ext cx="460375" cy="723900"/>
          </a:xfrm>
          <a:prstGeom prst="leftBrace">
            <a:avLst>
              <a:gd name="adj1" fmla="val 19480"/>
              <a:gd name="adj2" fmla="val 5095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71028" name="Text Box 20"/>
          <p:cNvSpPr txBox="1">
            <a:spLocks noChangeArrowheads="1"/>
          </p:cNvSpPr>
          <p:nvPr/>
        </p:nvSpPr>
        <p:spPr bwMode="auto">
          <a:xfrm>
            <a:off x="3962400" y="2971800"/>
            <a:ext cx="587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600">
                <a:solidFill>
                  <a:srgbClr val="990033"/>
                </a:solidFill>
                <a:latin typeface="Times New Roman" charset="0"/>
              </a:rPr>
              <a:t>L</a:t>
            </a:r>
            <a:endParaRPr kumimoji="1" lang="en-US" altLang="zh-CN" sz="4400">
              <a:latin typeface="Times New Roman" charset="0"/>
            </a:endParaRPr>
          </a:p>
        </p:txBody>
      </p:sp>
      <p:sp>
        <p:nvSpPr>
          <p:cNvPr id="171029" name="Text Box 21"/>
          <p:cNvSpPr txBox="1">
            <a:spLocks noChangeArrowheads="1"/>
          </p:cNvSpPr>
          <p:nvPr/>
        </p:nvSpPr>
        <p:spPr bwMode="auto">
          <a:xfrm>
            <a:off x="8139113" y="4708525"/>
            <a:ext cx="7762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b="1">
                <a:latin typeface="Times New Roman" charset="0"/>
                <a:ea typeface="楷体_GB2312" charset="0"/>
              </a:rPr>
              <a:t> </a:t>
            </a:r>
            <a:r>
              <a:rPr kumimoji="1" lang="en-US" altLang="zh-CN" sz="4000" b="1">
                <a:solidFill>
                  <a:srgbClr val="990033"/>
                </a:solidFill>
                <a:latin typeface="Times New Roman" charset="0"/>
                <a:ea typeface="楷体_GB2312" charset="0"/>
              </a:rPr>
              <a:t>L</a:t>
            </a:r>
            <a:r>
              <a:rPr kumimoji="1" lang="en-US" altLang="zh-CN" sz="4000" b="1">
                <a:latin typeface="Times New Roman" charset="0"/>
                <a:ea typeface="楷体_GB2312" charset="0"/>
              </a:rPr>
              <a:t> </a:t>
            </a:r>
          </a:p>
        </p:txBody>
      </p:sp>
    </p:spTree>
    <p:extLst>
      <p:ext uri="{BB962C8B-B14F-4D97-AF65-F5344CB8AC3E}">
        <p14:creationId xmlns:p14="http://schemas.microsoft.com/office/powerpoint/2010/main" val="5411936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71010"/>
                                        </p:tgtEl>
                                        <p:attrNameLst>
                                          <p:attrName>style.visibility</p:attrName>
                                        </p:attrNameLst>
                                      </p:cBhvr>
                                      <p:to>
                                        <p:strVal val="visible"/>
                                      </p:to>
                                    </p:set>
                                    <p:animEffect transition="in" filter="slide(fromLeft)">
                                      <p:cBhvr>
                                        <p:cTn id="7" dur="500"/>
                                        <p:tgtEl>
                                          <p:spTgt spid="171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1016"/>
                                        </p:tgtEl>
                                        <p:attrNameLst>
                                          <p:attrName>style.visibility</p:attrName>
                                        </p:attrNameLst>
                                      </p:cBhvr>
                                      <p:to>
                                        <p:strVal val="visible"/>
                                      </p:to>
                                    </p:set>
                                    <p:anim calcmode="lin" valueType="num">
                                      <p:cBhvr additive="base">
                                        <p:cTn id="12" dur="500" fill="hold"/>
                                        <p:tgtEl>
                                          <p:spTgt spid="171016"/>
                                        </p:tgtEl>
                                        <p:attrNameLst>
                                          <p:attrName>ppt_x</p:attrName>
                                        </p:attrNameLst>
                                      </p:cBhvr>
                                      <p:tavLst>
                                        <p:tav tm="0">
                                          <p:val>
                                            <p:strVal val="0-#ppt_w/2"/>
                                          </p:val>
                                        </p:tav>
                                        <p:tav tm="100000">
                                          <p:val>
                                            <p:strVal val="#ppt_x"/>
                                          </p:val>
                                        </p:tav>
                                      </p:tavLst>
                                    </p:anim>
                                    <p:anim calcmode="lin" valueType="num">
                                      <p:cBhvr additive="base">
                                        <p:cTn id="13" dur="500" fill="hold"/>
                                        <p:tgtEl>
                                          <p:spTgt spid="171016"/>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171015"/>
                                        </p:tgtEl>
                                        <p:attrNameLst>
                                          <p:attrName>style.visibility</p:attrName>
                                        </p:attrNameLst>
                                      </p:cBhvr>
                                      <p:to>
                                        <p:strVal val="visible"/>
                                      </p:to>
                                    </p:set>
                                    <p:anim calcmode="lin" valueType="num">
                                      <p:cBhvr additive="base">
                                        <p:cTn id="17" dur="500" fill="hold"/>
                                        <p:tgtEl>
                                          <p:spTgt spid="171015"/>
                                        </p:tgtEl>
                                        <p:attrNameLst>
                                          <p:attrName>ppt_x</p:attrName>
                                        </p:attrNameLst>
                                      </p:cBhvr>
                                      <p:tavLst>
                                        <p:tav tm="0">
                                          <p:val>
                                            <p:strVal val="0-#ppt_w/2"/>
                                          </p:val>
                                        </p:tav>
                                        <p:tav tm="100000">
                                          <p:val>
                                            <p:strVal val="#ppt_x"/>
                                          </p:val>
                                        </p:tav>
                                      </p:tavLst>
                                    </p:anim>
                                    <p:anim calcmode="lin" valueType="num">
                                      <p:cBhvr additive="base">
                                        <p:cTn id="18" dur="500" fill="hold"/>
                                        <p:tgtEl>
                                          <p:spTgt spid="171015"/>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000"/>
                            </p:stCondLst>
                            <p:childTnLst>
                              <p:par>
                                <p:cTn id="20" presetID="2" presetClass="entr" presetSubtype="8" fill="hold" grpId="0" nodeType="afterEffect">
                                  <p:stCondLst>
                                    <p:cond delay="0"/>
                                  </p:stCondLst>
                                  <p:childTnLst>
                                    <p:set>
                                      <p:cBhvr>
                                        <p:cTn id="21" dur="1" fill="hold">
                                          <p:stCondLst>
                                            <p:cond delay="0"/>
                                          </p:stCondLst>
                                        </p:cTn>
                                        <p:tgtEl>
                                          <p:spTgt spid="171017"/>
                                        </p:tgtEl>
                                        <p:attrNameLst>
                                          <p:attrName>style.visibility</p:attrName>
                                        </p:attrNameLst>
                                      </p:cBhvr>
                                      <p:to>
                                        <p:strVal val="visible"/>
                                      </p:to>
                                    </p:set>
                                    <p:anim calcmode="lin" valueType="num">
                                      <p:cBhvr additive="base">
                                        <p:cTn id="22" dur="500" fill="hold"/>
                                        <p:tgtEl>
                                          <p:spTgt spid="171017"/>
                                        </p:tgtEl>
                                        <p:attrNameLst>
                                          <p:attrName>ppt_x</p:attrName>
                                        </p:attrNameLst>
                                      </p:cBhvr>
                                      <p:tavLst>
                                        <p:tav tm="0">
                                          <p:val>
                                            <p:strVal val="0-#ppt_w/2"/>
                                          </p:val>
                                        </p:tav>
                                        <p:tav tm="100000">
                                          <p:val>
                                            <p:strVal val="#ppt_x"/>
                                          </p:val>
                                        </p:tav>
                                      </p:tavLst>
                                    </p:anim>
                                    <p:anim calcmode="lin" valueType="num">
                                      <p:cBhvr additive="base">
                                        <p:cTn id="23" dur="500" fill="hold"/>
                                        <p:tgtEl>
                                          <p:spTgt spid="171017"/>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1500"/>
                            </p:stCondLst>
                            <p:childTnLst>
                              <p:par>
                                <p:cTn id="25" presetID="2" presetClass="entr" presetSubtype="8" fill="hold" grpId="0" nodeType="afterEffect">
                                  <p:stCondLst>
                                    <p:cond delay="0"/>
                                  </p:stCondLst>
                                  <p:childTnLst>
                                    <p:set>
                                      <p:cBhvr>
                                        <p:cTn id="26" dur="1" fill="hold">
                                          <p:stCondLst>
                                            <p:cond delay="0"/>
                                          </p:stCondLst>
                                        </p:cTn>
                                        <p:tgtEl>
                                          <p:spTgt spid="171018"/>
                                        </p:tgtEl>
                                        <p:attrNameLst>
                                          <p:attrName>style.visibility</p:attrName>
                                        </p:attrNameLst>
                                      </p:cBhvr>
                                      <p:to>
                                        <p:strVal val="visible"/>
                                      </p:to>
                                    </p:set>
                                    <p:anim calcmode="lin" valueType="num">
                                      <p:cBhvr additive="base">
                                        <p:cTn id="27" dur="500" fill="hold"/>
                                        <p:tgtEl>
                                          <p:spTgt spid="171018"/>
                                        </p:tgtEl>
                                        <p:attrNameLst>
                                          <p:attrName>ppt_x</p:attrName>
                                        </p:attrNameLst>
                                      </p:cBhvr>
                                      <p:tavLst>
                                        <p:tav tm="0">
                                          <p:val>
                                            <p:strVal val="0-#ppt_w/2"/>
                                          </p:val>
                                        </p:tav>
                                        <p:tav tm="100000">
                                          <p:val>
                                            <p:strVal val="#ppt_x"/>
                                          </p:val>
                                        </p:tav>
                                      </p:tavLst>
                                    </p:anim>
                                    <p:anim calcmode="lin" valueType="num">
                                      <p:cBhvr additive="base">
                                        <p:cTn id="28" dur="500" fill="hold"/>
                                        <p:tgtEl>
                                          <p:spTgt spid="171018"/>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000"/>
                            </p:stCondLst>
                            <p:childTnLst>
                              <p:par>
                                <p:cTn id="30" presetID="2" presetClass="entr" presetSubtype="8" fill="hold" grpId="0" nodeType="afterEffect">
                                  <p:stCondLst>
                                    <p:cond delay="0"/>
                                  </p:stCondLst>
                                  <p:childTnLst>
                                    <p:set>
                                      <p:cBhvr>
                                        <p:cTn id="31" dur="1" fill="hold">
                                          <p:stCondLst>
                                            <p:cond delay="0"/>
                                          </p:stCondLst>
                                        </p:cTn>
                                        <p:tgtEl>
                                          <p:spTgt spid="171019"/>
                                        </p:tgtEl>
                                        <p:attrNameLst>
                                          <p:attrName>style.visibility</p:attrName>
                                        </p:attrNameLst>
                                      </p:cBhvr>
                                      <p:to>
                                        <p:strVal val="visible"/>
                                      </p:to>
                                    </p:set>
                                    <p:anim calcmode="lin" valueType="num">
                                      <p:cBhvr additive="base">
                                        <p:cTn id="32" dur="500" fill="hold"/>
                                        <p:tgtEl>
                                          <p:spTgt spid="171019"/>
                                        </p:tgtEl>
                                        <p:attrNameLst>
                                          <p:attrName>ppt_x</p:attrName>
                                        </p:attrNameLst>
                                      </p:cBhvr>
                                      <p:tavLst>
                                        <p:tav tm="0">
                                          <p:val>
                                            <p:strVal val="0-#ppt_w/2"/>
                                          </p:val>
                                        </p:tav>
                                        <p:tav tm="100000">
                                          <p:val>
                                            <p:strVal val="#ppt_x"/>
                                          </p:val>
                                        </p:tav>
                                      </p:tavLst>
                                    </p:anim>
                                    <p:anim calcmode="lin" valueType="num">
                                      <p:cBhvr additive="base">
                                        <p:cTn id="33" dur="500" fill="hold"/>
                                        <p:tgtEl>
                                          <p:spTgt spid="171019"/>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2500"/>
                            </p:stCondLst>
                            <p:childTnLst>
                              <p:par>
                                <p:cTn id="35" presetID="2" presetClass="entr" presetSubtype="8" fill="hold" grpId="0" nodeType="afterEffect">
                                  <p:stCondLst>
                                    <p:cond delay="0"/>
                                  </p:stCondLst>
                                  <p:childTnLst>
                                    <p:set>
                                      <p:cBhvr>
                                        <p:cTn id="36" dur="1" fill="hold">
                                          <p:stCondLst>
                                            <p:cond delay="0"/>
                                          </p:stCondLst>
                                        </p:cTn>
                                        <p:tgtEl>
                                          <p:spTgt spid="171020"/>
                                        </p:tgtEl>
                                        <p:attrNameLst>
                                          <p:attrName>style.visibility</p:attrName>
                                        </p:attrNameLst>
                                      </p:cBhvr>
                                      <p:to>
                                        <p:strVal val="visible"/>
                                      </p:to>
                                    </p:set>
                                    <p:anim calcmode="lin" valueType="num">
                                      <p:cBhvr additive="base">
                                        <p:cTn id="37" dur="500" fill="hold"/>
                                        <p:tgtEl>
                                          <p:spTgt spid="171020"/>
                                        </p:tgtEl>
                                        <p:attrNameLst>
                                          <p:attrName>ppt_x</p:attrName>
                                        </p:attrNameLst>
                                      </p:cBhvr>
                                      <p:tavLst>
                                        <p:tav tm="0">
                                          <p:val>
                                            <p:strVal val="0-#ppt_w/2"/>
                                          </p:val>
                                        </p:tav>
                                        <p:tav tm="100000">
                                          <p:val>
                                            <p:strVal val="#ppt_x"/>
                                          </p:val>
                                        </p:tav>
                                      </p:tavLst>
                                    </p:anim>
                                    <p:anim calcmode="lin" valueType="num">
                                      <p:cBhvr additive="base">
                                        <p:cTn id="38" dur="500" fill="hold"/>
                                        <p:tgtEl>
                                          <p:spTgt spid="17102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8" fill="hold" grpId="0" nodeType="clickEffect">
                                  <p:stCondLst>
                                    <p:cond delay="0"/>
                                  </p:stCondLst>
                                  <p:childTnLst>
                                    <p:set>
                                      <p:cBhvr>
                                        <p:cTn id="42" dur="1" fill="hold">
                                          <p:stCondLst>
                                            <p:cond delay="0"/>
                                          </p:stCondLst>
                                        </p:cTn>
                                        <p:tgtEl>
                                          <p:spTgt spid="171022"/>
                                        </p:tgtEl>
                                        <p:attrNameLst>
                                          <p:attrName>style.visibility</p:attrName>
                                        </p:attrNameLst>
                                      </p:cBhvr>
                                      <p:to>
                                        <p:strVal val="visible"/>
                                      </p:to>
                                    </p:set>
                                    <p:animEffect transition="in" filter="slide(fromLeft)">
                                      <p:cBhvr>
                                        <p:cTn id="43" dur="500"/>
                                        <p:tgtEl>
                                          <p:spTgt spid="171022"/>
                                        </p:tgtEl>
                                      </p:cBhvr>
                                    </p:animEffect>
                                  </p:childTnLst>
                                </p:cTn>
                              </p:par>
                            </p:childTnLst>
                          </p:cTn>
                        </p:par>
                        <p:par>
                          <p:cTn id="44" fill="hold" nodeType="afterGroup">
                            <p:stCondLst>
                              <p:cond delay="500"/>
                            </p:stCondLst>
                            <p:childTnLst>
                              <p:par>
                                <p:cTn id="45" presetID="12" presetClass="entr" presetSubtype="8" fill="hold" grpId="0" nodeType="afterEffect">
                                  <p:stCondLst>
                                    <p:cond delay="0"/>
                                  </p:stCondLst>
                                  <p:childTnLst>
                                    <p:set>
                                      <p:cBhvr>
                                        <p:cTn id="46" dur="1" fill="hold">
                                          <p:stCondLst>
                                            <p:cond delay="0"/>
                                          </p:stCondLst>
                                        </p:cTn>
                                        <p:tgtEl>
                                          <p:spTgt spid="171021"/>
                                        </p:tgtEl>
                                        <p:attrNameLst>
                                          <p:attrName>style.visibility</p:attrName>
                                        </p:attrNameLst>
                                      </p:cBhvr>
                                      <p:to>
                                        <p:strVal val="visible"/>
                                      </p:to>
                                    </p:set>
                                    <p:animEffect transition="in" filter="slide(fromLeft)">
                                      <p:cBhvr>
                                        <p:cTn id="47" dur="500"/>
                                        <p:tgtEl>
                                          <p:spTgt spid="171021"/>
                                        </p:tgtEl>
                                      </p:cBhvr>
                                    </p:animEffect>
                                  </p:childTnLst>
                                </p:cTn>
                              </p:par>
                            </p:childTnLst>
                          </p:cTn>
                        </p:par>
                        <p:par>
                          <p:cTn id="48" fill="hold" nodeType="afterGroup">
                            <p:stCondLst>
                              <p:cond delay="1000"/>
                            </p:stCondLst>
                            <p:childTnLst>
                              <p:par>
                                <p:cTn id="49" presetID="12" presetClass="entr" presetSubtype="8" fill="hold" grpId="0" nodeType="afterEffect">
                                  <p:stCondLst>
                                    <p:cond delay="0"/>
                                  </p:stCondLst>
                                  <p:childTnLst>
                                    <p:set>
                                      <p:cBhvr>
                                        <p:cTn id="50" dur="1" fill="hold">
                                          <p:stCondLst>
                                            <p:cond delay="0"/>
                                          </p:stCondLst>
                                        </p:cTn>
                                        <p:tgtEl>
                                          <p:spTgt spid="171023"/>
                                        </p:tgtEl>
                                        <p:attrNameLst>
                                          <p:attrName>style.visibility</p:attrName>
                                        </p:attrNameLst>
                                      </p:cBhvr>
                                      <p:to>
                                        <p:strVal val="visible"/>
                                      </p:to>
                                    </p:set>
                                    <p:animEffect transition="in" filter="slide(fromLeft)">
                                      <p:cBhvr>
                                        <p:cTn id="51" dur="500"/>
                                        <p:tgtEl>
                                          <p:spTgt spid="171023"/>
                                        </p:tgtEl>
                                      </p:cBhvr>
                                    </p:animEffect>
                                  </p:childTnLst>
                                </p:cTn>
                              </p:par>
                            </p:childTnLst>
                          </p:cTn>
                        </p:par>
                        <p:par>
                          <p:cTn id="52" fill="hold" nodeType="afterGroup">
                            <p:stCondLst>
                              <p:cond delay="1500"/>
                            </p:stCondLst>
                            <p:childTnLst>
                              <p:par>
                                <p:cTn id="53" presetID="12" presetClass="entr" presetSubtype="8" fill="hold" grpId="0" nodeType="afterEffect">
                                  <p:stCondLst>
                                    <p:cond delay="0"/>
                                  </p:stCondLst>
                                  <p:childTnLst>
                                    <p:set>
                                      <p:cBhvr>
                                        <p:cTn id="54" dur="1" fill="hold">
                                          <p:stCondLst>
                                            <p:cond delay="0"/>
                                          </p:stCondLst>
                                        </p:cTn>
                                        <p:tgtEl>
                                          <p:spTgt spid="171024"/>
                                        </p:tgtEl>
                                        <p:attrNameLst>
                                          <p:attrName>style.visibility</p:attrName>
                                        </p:attrNameLst>
                                      </p:cBhvr>
                                      <p:to>
                                        <p:strVal val="visible"/>
                                      </p:to>
                                    </p:set>
                                    <p:animEffect transition="in" filter="slide(fromLeft)">
                                      <p:cBhvr>
                                        <p:cTn id="55" dur="500"/>
                                        <p:tgtEl>
                                          <p:spTgt spid="171024"/>
                                        </p:tgtEl>
                                      </p:cBhvr>
                                    </p:animEffect>
                                  </p:childTnLst>
                                </p:cTn>
                              </p:par>
                            </p:childTnLst>
                          </p:cTn>
                        </p:par>
                        <p:par>
                          <p:cTn id="56" fill="hold" nodeType="afterGroup">
                            <p:stCondLst>
                              <p:cond delay="2000"/>
                            </p:stCondLst>
                            <p:childTnLst>
                              <p:par>
                                <p:cTn id="57" presetID="12" presetClass="entr" presetSubtype="8" fill="hold" grpId="0" nodeType="afterEffect">
                                  <p:stCondLst>
                                    <p:cond delay="0"/>
                                  </p:stCondLst>
                                  <p:childTnLst>
                                    <p:set>
                                      <p:cBhvr>
                                        <p:cTn id="58" dur="1" fill="hold">
                                          <p:stCondLst>
                                            <p:cond delay="0"/>
                                          </p:stCondLst>
                                        </p:cTn>
                                        <p:tgtEl>
                                          <p:spTgt spid="171025"/>
                                        </p:tgtEl>
                                        <p:attrNameLst>
                                          <p:attrName>style.visibility</p:attrName>
                                        </p:attrNameLst>
                                      </p:cBhvr>
                                      <p:to>
                                        <p:strVal val="visible"/>
                                      </p:to>
                                    </p:set>
                                    <p:animEffect transition="in" filter="slide(fromLeft)">
                                      <p:cBhvr>
                                        <p:cTn id="59" dur="500"/>
                                        <p:tgtEl>
                                          <p:spTgt spid="171025"/>
                                        </p:tgtEl>
                                      </p:cBhvr>
                                    </p:animEffect>
                                  </p:childTnLst>
                                </p:cTn>
                              </p:par>
                            </p:childTnLst>
                          </p:cTn>
                        </p:par>
                        <p:par>
                          <p:cTn id="60" fill="hold" nodeType="afterGroup">
                            <p:stCondLst>
                              <p:cond delay="2500"/>
                            </p:stCondLst>
                            <p:childTnLst>
                              <p:par>
                                <p:cTn id="61" presetID="12" presetClass="entr" presetSubtype="8" fill="hold" grpId="0" nodeType="afterEffect">
                                  <p:stCondLst>
                                    <p:cond delay="0"/>
                                  </p:stCondLst>
                                  <p:childTnLst>
                                    <p:set>
                                      <p:cBhvr>
                                        <p:cTn id="62" dur="1" fill="hold">
                                          <p:stCondLst>
                                            <p:cond delay="0"/>
                                          </p:stCondLst>
                                        </p:cTn>
                                        <p:tgtEl>
                                          <p:spTgt spid="171026"/>
                                        </p:tgtEl>
                                        <p:attrNameLst>
                                          <p:attrName>style.visibility</p:attrName>
                                        </p:attrNameLst>
                                      </p:cBhvr>
                                      <p:to>
                                        <p:strVal val="visible"/>
                                      </p:to>
                                    </p:set>
                                    <p:animEffect transition="in" filter="slide(fromLeft)">
                                      <p:cBhvr>
                                        <p:cTn id="63" dur="500"/>
                                        <p:tgtEl>
                                          <p:spTgt spid="17102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71014"/>
                                        </p:tgtEl>
                                        <p:attrNameLst>
                                          <p:attrName>style.visibility</p:attrName>
                                        </p:attrNameLst>
                                      </p:cBhvr>
                                      <p:to>
                                        <p:strVal val="visible"/>
                                      </p:to>
                                    </p:set>
                                    <p:anim calcmode="lin" valueType="num">
                                      <p:cBhvr additive="base">
                                        <p:cTn id="68" dur="500" fill="hold"/>
                                        <p:tgtEl>
                                          <p:spTgt spid="171014"/>
                                        </p:tgtEl>
                                        <p:attrNameLst>
                                          <p:attrName>ppt_x</p:attrName>
                                        </p:attrNameLst>
                                      </p:cBhvr>
                                      <p:tavLst>
                                        <p:tav tm="0">
                                          <p:val>
                                            <p:strVal val="#ppt_x"/>
                                          </p:val>
                                        </p:tav>
                                        <p:tav tm="100000">
                                          <p:val>
                                            <p:strVal val="#ppt_x"/>
                                          </p:val>
                                        </p:tav>
                                      </p:tavLst>
                                    </p:anim>
                                    <p:anim calcmode="lin" valueType="num">
                                      <p:cBhvr additive="base">
                                        <p:cTn id="69" dur="500" fill="hold"/>
                                        <p:tgtEl>
                                          <p:spTgt spid="171014"/>
                                        </p:tgtEl>
                                        <p:attrNameLst>
                                          <p:attrName>ppt_y</p:attrName>
                                        </p:attrNameLst>
                                      </p:cBhvr>
                                      <p:tavLst>
                                        <p:tav tm="0">
                                          <p:val>
                                            <p:strVal val="1+#ppt_h/2"/>
                                          </p:val>
                                        </p:tav>
                                        <p:tav tm="100000">
                                          <p:val>
                                            <p:strVal val="#ppt_y"/>
                                          </p:val>
                                        </p:tav>
                                      </p:tavLst>
                                    </p:anim>
                                  </p:childTnLst>
                                </p:cTn>
                              </p:par>
                            </p:childTnLst>
                          </p:cTn>
                        </p:par>
                        <p:par>
                          <p:cTn id="70" fill="hold" nodeType="afterGroup">
                            <p:stCondLst>
                              <p:cond delay="500"/>
                            </p:stCondLst>
                            <p:childTnLst>
                              <p:par>
                                <p:cTn id="71" presetID="1" presetClass="entr" presetSubtype="0" fill="hold" grpId="0" nodeType="afterEffect">
                                  <p:stCondLst>
                                    <p:cond delay="0"/>
                                  </p:stCondLst>
                                  <p:childTnLst>
                                    <p:set>
                                      <p:cBhvr>
                                        <p:cTn id="72" dur="1" fill="hold">
                                          <p:stCondLst>
                                            <p:cond delay="499"/>
                                          </p:stCondLst>
                                        </p:cTn>
                                        <p:tgtEl>
                                          <p:spTgt spid="171029"/>
                                        </p:tgtEl>
                                        <p:attrNameLst>
                                          <p:attrName>style.visibility</p:attrName>
                                        </p:attrNameLst>
                                      </p:cBhvr>
                                      <p:to>
                                        <p:strVal val="visible"/>
                                      </p:to>
                                    </p:set>
                                  </p:childTnLst>
                                </p:cTn>
                              </p:par>
                            </p:childTnLst>
                          </p:cTn>
                        </p:par>
                        <p:par>
                          <p:cTn id="73" fill="hold" nodeType="afterGroup">
                            <p:stCondLst>
                              <p:cond delay="1000"/>
                            </p:stCondLst>
                            <p:childTnLst>
                              <p:par>
                                <p:cTn id="74" presetID="12" presetClass="entr" presetSubtype="4" fill="hold" grpId="0" nodeType="afterEffect">
                                  <p:stCondLst>
                                    <p:cond delay="300"/>
                                  </p:stCondLst>
                                  <p:childTnLst>
                                    <p:set>
                                      <p:cBhvr>
                                        <p:cTn id="75" dur="1" fill="hold">
                                          <p:stCondLst>
                                            <p:cond delay="0"/>
                                          </p:stCondLst>
                                        </p:cTn>
                                        <p:tgtEl>
                                          <p:spTgt spid="171012"/>
                                        </p:tgtEl>
                                        <p:attrNameLst>
                                          <p:attrName>style.visibility</p:attrName>
                                        </p:attrNameLst>
                                      </p:cBhvr>
                                      <p:to>
                                        <p:strVal val="visible"/>
                                      </p:to>
                                    </p:set>
                                    <p:animEffect transition="in" filter="slide(fromBottom)">
                                      <p:cBhvr>
                                        <p:cTn id="76" dur="500"/>
                                        <p:tgtEl>
                                          <p:spTgt spid="171012"/>
                                        </p:tgtEl>
                                      </p:cBhvr>
                                    </p:animEffect>
                                  </p:childTnLst>
                                </p:cTn>
                              </p:par>
                            </p:childTnLst>
                          </p:cTn>
                        </p:par>
                        <p:par>
                          <p:cTn id="77" fill="hold" nodeType="afterGroup">
                            <p:stCondLst>
                              <p:cond delay="1800"/>
                            </p:stCondLst>
                            <p:childTnLst>
                              <p:par>
                                <p:cTn id="78" presetID="22" presetClass="entr" presetSubtype="8" fill="hold" grpId="0" nodeType="afterEffect">
                                  <p:stCondLst>
                                    <p:cond delay="300"/>
                                  </p:stCondLst>
                                  <p:childTnLst>
                                    <p:set>
                                      <p:cBhvr>
                                        <p:cTn id="79" dur="1" fill="hold">
                                          <p:stCondLst>
                                            <p:cond delay="0"/>
                                          </p:stCondLst>
                                        </p:cTn>
                                        <p:tgtEl>
                                          <p:spTgt spid="171011"/>
                                        </p:tgtEl>
                                        <p:attrNameLst>
                                          <p:attrName>style.visibility</p:attrName>
                                        </p:attrNameLst>
                                      </p:cBhvr>
                                      <p:to>
                                        <p:strVal val="visible"/>
                                      </p:to>
                                    </p:set>
                                    <p:animEffect transition="in" filter="wipe(left)">
                                      <p:cBhvr>
                                        <p:cTn id="80" dur="500"/>
                                        <p:tgtEl>
                                          <p:spTgt spid="171011"/>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171027"/>
                                        </p:tgtEl>
                                        <p:attrNameLst>
                                          <p:attrName>style.visibility</p:attrName>
                                        </p:attrNameLst>
                                      </p:cBhvr>
                                      <p:to>
                                        <p:strVal val="visible"/>
                                      </p:to>
                                    </p:set>
                                    <p:animEffect transition="in" filter="dissolve">
                                      <p:cBhvr>
                                        <p:cTn id="85" dur="500"/>
                                        <p:tgtEl>
                                          <p:spTgt spid="171027"/>
                                        </p:tgtEl>
                                      </p:cBhvr>
                                    </p:animEffect>
                                  </p:childTnLst>
                                </p:cTn>
                              </p:par>
                            </p:childTnLst>
                          </p:cTn>
                        </p:par>
                        <p:par>
                          <p:cTn id="86" fill="hold" nodeType="afterGroup">
                            <p:stCondLst>
                              <p:cond delay="500"/>
                            </p:stCondLst>
                            <p:childTnLst>
                              <p:par>
                                <p:cTn id="87" presetID="9" presetClass="entr" presetSubtype="0" fill="hold" grpId="0" nodeType="afterEffect">
                                  <p:stCondLst>
                                    <p:cond delay="0"/>
                                  </p:stCondLst>
                                  <p:childTnLst>
                                    <p:set>
                                      <p:cBhvr>
                                        <p:cTn id="88" dur="1" fill="hold">
                                          <p:stCondLst>
                                            <p:cond delay="0"/>
                                          </p:stCondLst>
                                        </p:cTn>
                                        <p:tgtEl>
                                          <p:spTgt spid="171028"/>
                                        </p:tgtEl>
                                        <p:attrNameLst>
                                          <p:attrName>style.visibility</p:attrName>
                                        </p:attrNameLst>
                                      </p:cBhvr>
                                      <p:to>
                                        <p:strVal val="visible"/>
                                      </p:to>
                                    </p:set>
                                    <p:animEffect transition="in" filter="dissolve">
                                      <p:cBhvr>
                                        <p:cTn id="89" dur="500"/>
                                        <p:tgtEl>
                                          <p:spTgt spid="17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autoUpdateAnimBg="0"/>
      <p:bldP spid="171011" grpId="0" autoUpdateAnimBg="0"/>
      <p:bldP spid="171012" grpId="0" animBg="1"/>
      <p:bldP spid="171014" grpId="0" autoUpdateAnimBg="0"/>
      <p:bldP spid="171015" grpId="0" animBg="1" autoUpdateAnimBg="0"/>
      <p:bldP spid="171016" grpId="0" animBg="1" autoUpdateAnimBg="0"/>
      <p:bldP spid="171017" grpId="0" animBg="1" autoUpdateAnimBg="0"/>
      <p:bldP spid="171018" grpId="0" animBg="1" autoUpdateAnimBg="0"/>
      <p:bldP spid="171019" grpId="0" animBg="1" autoUpdateAnimBg="0"/>
      <p:bldP spid="171020" grpId="0" animBg="1" autoUpdateAnimBg="0"/>
      <p:bldP spid="171021" grpId="0" animBg="1" autoUpdateAnimBg="0"/>
      <p:bldP spid="171022" grpId="0" animBg="1" autoUpdateAnimBg="0"/>
      <p:bldP spid="171023" grpId="0" animBg="1" autoUpdateAnimBg="0"/>
      <p:bldP spid="171024" grpId="0" animBg="1" autoUpdateAnimBg="0"/>
      <p:bldP spid="171025" grpId="0" animBg="1" autoUpdateAnimBg="0"/>
      <p:bldP spid="171026" grpId="0" animBg="1" autoUpdateAnimBg="0"/>
      <p:bldP spid="171027" grpId="0" animBg="1"/>
      <p:bldP spid="171028" grpId="0" autoUpdateAnimBg="0"/>
      <p:bldP spid="17102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8" y="1168400"/>
            <a:ext cx="915193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Text Box 3"/>
          <p:cNvSpPr txBox="1">
            <a:spLocks noChangeArrowheads="1"/>
          </p:cNvSpPr>
          <p:nvPr/>
        </p:nvSpPr>
        <p:spPr bwMode="auto">
          <a:xfrm>
            <a:off x="419100" y="482600"/>
            <a:ext cx="762000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    </a:t>
            </a:r>
            <a:r>
              <a:rPr kumimoji="1" lang="zh-CN" altLang="en-US" sz="3600" b="1">
                <a:solidFill>
                  <a:srgbClr val="CC0000"/>
                </a:solidFill>
                <a:latin typeface="Times New Roman" charset="0"/>
                <a:ea typeface="华文新魏" charset="-122"/>
              </a:rPr>
              <a:t>二维数组                     三维数组</a:t>
            </a:r>
            <a:endParaRPr kumimoji="1" lang="zh-CN" altLang="en-US" sz="2400">
              <a:latin typeface="Times New Roman" charset="0"/>
              <a:ea typeface="华文新魏" charset="-122"/>
            </a:endParaRPr>
          </a:p>
        </p:txBody>
      </p:sp>
      <p:sp>
        <p:nvSpPr>
          <p:cNvPr id="19460" name="Rectangle 4"/>
          <p:cNvSpPr>
            <a:spLocks noGrp="1" noChangeArrowheads="1"/>
          </p:cNvSpPr>
          <p:nvPr>
            <p:ph type="subTitle" idx="1"/>
          </p:nvPr>
        </p:nvSpPr>
        <p:spPr>
          <a:xfrm>
            <a:off x="76200" y="4826000"/>
            <a:ext cx="8686800" cy="1981200"/>
          </a:xfrm>
        </p:spPr>
        <p:txBody>
          <a:bodyPr/>
          <a:lstStyle/>
          <a:p>
            <a:pPr eaLnBrk="1" hangingPunct="1">
              <a:spcBef>
                <a:spcPct val="0"/>
              </a:spcBef>
            </a:pPr>
            <a:r>
              <a:rPr lang="zh-CN" altLang="en-US" b="1">
                <a:latin typeface="Times New Roman" charset="0"/>
                <a:ea typeface="仿宋_GB2312" charset="0"/>
              </a:rPr>
              <a:t>行向量  下标 </a:t>
            </a:r>
            <a:r>
              <a:rPr lang="en-US" altLang="zh-CN" b="1" i="1">
                <a:latin typeface="Times New Roman" charset="0"/>
                <a:ea typeface="仿宋_GB2312" charset="0"/>
              </a:rPr>
              <a:t>i                    </a:t>
            </a:r>
            <a:r>
              <a:rPr lang="zh-CN" altLang="en-US" b="1">
                <a:latin typeface="Times New Roman" charset="0"/>
                <a:ea typeface="仿宋_GB2312" charset="0"/>
              </a:rPr>
              <a:t>页向量  下标</a:t>
            </a:r>
            <a:r>
              <a:rPr lang="zh-CN" altLang="en-US" b="1" i="1">
                <a:latin typeface="Times New Roman" charset="0"/>
                <a:ea typeface="仿宋_GB2312" charset="0"/>
              </a:rPr>
              <a:t> </a:t>
            </a:r>
            <a:r>
              <a:rPr lang="en-US" altLang="zh-CN" b="1" i="1">
                <a:latin typeface="Times New Roman" charset="0"/>
                <a:ea typeface="仿宋_GB2312" charset="0"/>
              </a:rPr>
              <a:t>i</a:t>
            </a:r>
            <a:endParaRPr lang="en-US" altLang="zh-CN" b="1">
              <a:latin typeface="Times New Roman" charset="0"/>
              <a:ea typeface="仿宋_GB2312" charset="0"/>
            </a:endParaRPr>
          </a:p>
          <a:p>
            <a:pPr eaLnBrk="1" hangingPunct="1">
              <a:spcBef>
                <a:spcPct val="0"/>
              </a:spcBef>
            </a:pPr>
            <a:r>
              <a:rPr lang="zh-CN" altLang="zh-CN" b="1">
                <a:latin typeface="Times New Roman" charset="0"/>
                <a:ea typeface="仿宋_GB2312" charset="0"/>
              </a:rPr>
              <a:t>列向量  下标 </a:t>
            </a:r>
            <a:r>
              <a:rPr lang="en-US" altLang="zh-CN" b="1" i="1">
                <a:latin typeface="Times New Roman" charset="0"/>
                <a:ea typeface="仿宋_GB2312" charset="0"/>
              </a:rPr>
              <a:t>j                    </a:t>
            </a:r>
            <a:r>
              <a:rPr lang="zh-CN" altLang="en-US" b="1">
                <a:latin typeface="Times New Roman" charset="0"/>
                <a:ea typeface="仿宋_GB2312" charset="0"/>
              </a:rPr>
              <a:t>行向量  下标</a:t>
            </a:r>
            <a:r>
              <a:rPr lang="zh-CN" altLang="en-US" b="1" i="1">
                <a:latin typeface="Times New Roman" charset="0"/>
                <a:ea typeface="仿宋_GB2312" charset="0"/>
              </a:rPr>
              <a:t> </a:t>
            </a:r>
            <a:r>
              <a:rPr lang="en-US" altLang="zh-CN" b="1" i="1">
                <a:latin typeface="Times New Roman" charset="0"/>
                <a:ea typeface="仿宋_GB2312" charset="0"/>
              </a:rPr>
              <a:t>j</a:t>
            </a:r>
          </a:p>
          <a:p>
            <a:pPr eaLnBrk="1" hangingPunct="1">
              <a:spcBef>
                <a:spcPct val="0"/>
              </a:spcBef>
            </a:pPr>
            <a:r>
              <a:rPr lang="en-US" altLang="zh-CN" b="1" i="1">
                <a:latin typeface="Times New Roman" charset="0"/>
                <a:ea typeface="仿宋_GB2312" charset="0"/>
              </a:rPr>
              <a:t>                                            </a:t>
            </a:r>
            <a:r>
              <a:rPr lang="zh-CN" altLang="zh-CN" b="1">
                <a:latin typeface="Times New Roman" charset="0"/>
                <a:ea typeface="仿宋_GB2312" charset="0"/>
              </a:rPr>
              <a:t>列向量  下标</a:t>
            </a:r>
            <a:r>
              <a:rPr lang="zh-CN" altLang="zh-CN" b="1" i="1">
                <a:latin typeface="Times New Roman" charset="0"/>
                <a:ea typeface="仿宋_GB2312" charset="0"/>
              </a:rPr>
              <a:t> </a:t>
            </a:r>
            <a:r>
              <a:rPr lang="en-US" altLang="zh-CN" b="1" i="1">
                <a:latin typeface="Times New Roman" charset="0"/>
                <a:ea typeface="仿宋_GB2312" charset="0"/>
              </a:rPr>
              <a:t>k</a:t>
            </a:r>
          </a:p>
        </p:txBody>
      </p:sp>
    </p:spTree>
    <p:extLst>
      <p:ext uri="{BB962C8B-B14F-4D97-AF65-F5344CB8AC3E}">
        <p14:creationId xmlns:p14="http://schemas.microsoft.com/office/powerpoint/2010/main" val="32571362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635000" y="508000"/>
            <a:ext cx="7526338" cy="762000"/>
          </a:xfrm>
        </p:spPr>
        <p:txBody>
          <a:bodyPr/>
          <a:lstStyle/>
          <a:p>
            <a:pPr eaLnBrk="1" hangingPunct="1">
              <a:buClr>
                <a:srgbClr val="800080"/>
              </a:buClr>
              <a:buSzPct val="50000"/>
              <a:buFont typeface="Wingdings" charset="2"/>
              <a:buNone/>
            </a:pPr>
            <a:r>
              <a:rPr lang="en-US" altLang="zh-CN" sz="3600">
                <a:solidFill>
                  <a:srgbClr val="000099"/>
                </a:solidFill>
                <a:effectLst>
                  <a:outerShdw blurRad="38100" dist="38100" dir="2700000" algn="tl">
                    <a:srgbClr val="C0C0C0"/>
                  </a:outerShdw>
                </a:effectLst>
                <a:ea typeface="仿宋_GB2312" charset="0"/>
              </a:rPr>
              <a:t> </a:t>
            </a:r>
            <a:r>
              <a:rPr lang="zh-CN" altLang="en-US" sz="4000" b="1">
                <a:ea typeface="华文新魏" charset="-122"/>
              </a:rPr>
              <a:t>三维数组</a:t>
            </a:r>
          </a:p>
        </p:txBody>
      </p:sp>
      <p:sp>
        <p:nvSpPr>
          <p:cNvPr id="244739" name="Rectangle 3"/>
          <p:cNvSpPr>
            <a:spLocks noGrp="1" noChangeArrowheads="1"/>
          </p:cNvSpPr>
          <p:nvPr>
            <p:ph type="body" idx="1"/>
          </p:nvPr>
        </p:nvSpPr>
        <p:spPr>
          <a:xfrm>
            <a:off x="762000" y="1231900"/>
            <a:ext cx="8382000" cy="2863850"/>
          </a:xfrm>
        </p:spPr>
        <p:txBody>
          <a:bodyPr>
            <a:normAutofit lnSpcReduction="10000"/>
          </a:bodyPr>
          <a:lstStyle/>
          <a:p>
            <a:pPr eaLnBrk="1" hangingPunct="1">
              <a:lnSpc>
                <a:spcPct val="105000"/>
              </a:lnSpc>
              <a:spcBef>
                <a:spcPct val="15000"/>
              </a:spcBef>
              <a:buClr>
                <a:srgbClr val="990099"/>
              </a:buClr>
              <a:buSzPct val="50000"/>
            </a:pPr>
            <a:r>
              <a:rPr lang="zh-CN" altLang="en-US" sz="3000" b="1">
                <a:solidFill>
                  <a:srgbClr val="000099"/>
                </a:solidFill>
                <a:latin typeface="Times New Roman" charset="0"/>
                <a:ea typeface="仿宋_GB2312" charset="0"/>
              </a:rPr>
              <a:t>各维元素个数为</a:t>
            </a:r>
            <a:r>
              <a:rPr lang="zh-CN" altLang="en-US" sz="3000">
                <a:solidFill>
                  <a:srgbClr val="000099"/>
                </a:solidFill>
                <a:latin typeface="Times New Roman" charset="0"/>
                <a:ea typeface="仿宋_GB2312" charset="0"/>
              </a:rPr>
              <a:t>  </a:t>
            </a:r>
            <a:r>
              <a:rPr lang="en-US" altLang="zh-CN" sz="3000" b="1" i="1">
                <a:solidFill>
                  <a:srgbClr val="000099"/>
                </a:solidFill>
                <a:latin typeface="Times New Roman" charset="0"/>
                <a:ea typeface="仿宋_GB2312" charset="0"/>
              </a:rPr>
              <a:t>m</a:t>
            </a:r>
            <a:r>
              <a:rPr lang="en-US" altLang="zh-CN" sz="3000" b="1" baseline="-25000">
                <a:solidFill>
                  <a:srgbClr val="000099"/>
                </a:solidFill>
                <a:latin typeface="Times New Roman" charset="0"/>
                <a:ea typeface="仿宋_GB2312" charset="0"/>
              </a:rPr>
              <a:t>1</a:t>
            </a:r>
            <a:r>
              <a:rPr lang="en-US" altLang="zh-CN" sz="3000" b="1" i="1">
                <a:solidFill>
                  <a:srgbClr val="000099"/>
                </a:solidFill>
                <a:latin typeface="Times New Roman" charset="0"/>
                <a:ea typeface="仿宋_GB2312" charset="0"/>
              </a:rPr>
              <a:t>, m</a:t>
            </a:r>
            <a:r>
              <a:rPr lang="en-US" altLang="zh-CN" sz="3000" b="1" baseline="-25000">
                <a:solidFill>
                  <a:srgbClr val="000099"/>
                </a:solidFill>
                <a:latin typeface="Times New Roman" charset="0"/>
                <a:ea typeface="仿宋_GB2312" charset="0"/>
              </a:rPr>
              <a:t>2</a:t>
            </a:r>
            <a:r>
              <a:rPr lang="en-US" altLang="zh-CN" sz="3000" b="1" i="1">
                <a:solidFill>
                  <a:srgbClr val="000099"/>
                </a:solidFill>
                <a:latin typeface="Times New Roman" charset="0"/>
                <a:ea typeface="仿宋_GB2312" charset="0"/>
              </a:rPr>
              <a:t>, m</a:t>
            </a:r>
            <a:r>
              <a:rPr lang="en-US" altLang="zh-CN" sz="3000" b="1" baseline="-25000">
                <a:solidFill>
                  <a:srgbClr val="000099"/>
                </a:solidFill>
                <a:latin typeface="Times New Roman" charset="0"/>
                <a:ea typeface="仿宋_GB2312" charset="0"/>
              </a:rPr>
              <a:t>3</a:t>
            </a:r>
            <a:endParaRPr lang="en-US" altLang="zh-CN" sz="3000" b="1" i="1" baseline="-25000">
              <a:solidFill>
                <a:srgbClr val="000099"/>
              </a:solidFill>
              <a:latin typeface="Times New Roman" charset="0"/>
              <a:ea typeface="仿宋_GB2312" charset="0"/>
            </a:endParaRPr>
          </a:p>
          <a:p>
            <a:pPr eaLnBrk="1" hangingPunct="1">
              <a:lnSpc>
                <a:spcPct val="105000"/>
              </a:lnSpc>
              <a:spcBef>
                <a:spcPct val="15000"/>
              </a:spcBef>
              <a:buClr>
                <a:srgbClr val="990099"/>
              </a:buClr>
              <a:buSzPct val="50000"/>
            </a:pPr>
            <a:r>
              <a:rPr lang="zh-CN" altLang="en-US" sz="3000" b="1">
                <a:solidFill>
                  <a:srgbClr val="000099"/>
                </a:solidFill>
                <a:latin typeface="Times New Roman" charset="0"/>
                <a:ea typeface="仿宋_GB2312" charset="0"/>
              </a:rPr>
              <a:t>下标为 </a:t>
            </a:r>
            <a:r>
              <a:rPr lang="en-US" altLang="zh-CN" sz="3000" b="1" i="1">
                <a:solidFill>
                  <a:srgbClr val="000099"/>
                </a:solidFill>
                <a:latin typeface="Times New Roman" charset="0"/>
                <a:ea typeface="仿宋_GB2312" charset="0"/>
              </a:rPr>
              <a:t>i</a:t>
            </a:r>
            <a:r>
              <a:rPr lang="en-US" altLang="zh-CN" sz="3000" b="1" baseline="-25000">
                <a:solidFill>
                  <a:srgbClr val="000099"/>
                </a:solidFill>
                <a:latin typeface="Times New Roman" charset="0"/>
                <a:ea typeface="仿宋_GB2312" charset="0"/>
              </a:rPr>
              <a:t>1</a:t>
            </a:r>
            <a:r>
              <a:rPr lang="en-US" altLang="zh-CN" sz="3000" b="1" i="1">
                <a:solidFill>
                  <a:srgbClr val="000099"/>
                </a:solidFill>
                <a:latin typeface="Times New Roman" charset="0"/>
                <a:ea typeface="仿宋_GB2312" charset="0"/>
              </a:rPr>
              <a:t>, i</a:t>
            </a:r>
            <a:r>
              <a:rPr lang="en-US" altLang="zh-CN" sz="3000" b="1" baseline="-25000">
                <a:solidFill>
                  <a:srgbClr val="000099"/>
                </a:solidFill>
                <a:latin typeface="Times New Roman" charset="0"/>
                <a:ea typeface="仿宋_GB2312" charset="0"/>
              </a:rPr>
              <a:t>2</a:t>
            </a:r>
            <a:r>
              <a:rPr lang="en-US" altLang="zh-CN" sz="3000" b="1" i="1">
                <a:solidFill>
                  <a:srgbClr val="000099"/>
                </a:solidFill>
                <a:latin typeface="Times New Roman" charset="0"/>
                <a:ea typeface="仿宋_GB2312" charset="0"/>
              </a:rPr>
              <a:t>, i</a:t>
            </a:r>
            <a:r>
              <a:rPr lang="en-US" altLang="zh-CN" sz="3000" b="1" baseline="-25000">
                <a:solidFill>
                  <a:srgbClr val="000099"/>
                </a:solidFill>
                <a:latin typeface="Times New Roman" charset="0"/>
                <a:ea typeface="仿宋_GB2312" charset="0"/>
              </a:rPr>
              <a:t>3</a:t>
            </a:r>
            <a:r>
              <a:rPr lang="zh-CN" altLang="en-US" sz="3000" b="1">
                <a:solidFill>
                  <a:srgbClr val="000099"/>
                </a:solidFill>
                <a:latin typeface="Times New Roman" charset="0"/>
                <a:ea typeface="仿宋_GB2312" charset="0"/>
              </a:rPr>
              <a:t>的数组元素的存储地址：</a:t>
            </a:r>
          </a:p>
          <a:p>
            <a:pPr eaLnBrk="1" hangingPunct="1">
              <a:lnSpc>
                <a:spcPct val="105000"/>
              </a:lnSpc>
              <a:spcBef>
                <a:spcPct val="15000"/>
              </a:spcBef>
              <a:buClr>
                <a:srgbClr val="008000"/>
              </a:buClr>
              <a:buSzPct val="50000"/>
              <a:buFont typeface="Wingdings" charset="2"/>
              <a:buNone/>
            </a:pPr>
            <a:r>
              <a:rPr lang="zh-CN" altLang="en-US" sz="3000" b="1">
                <a:solidFill>
                  <a:srgbClr val="009900"/>
                </a:solidFill>
                <a:latin typeface="Times New Roman" charset="0"/>
                <a:ea typeface="仿宋_GB2312" charset="0"/>
              </a:rPr>
              <a:t>		（按页／行／列存放）</a:t>
            </a:r>
          </a:p>
          <a:p>
            <a:pPr eaLnBrk="1" hangingPunct="1">
              <a:lnSpc>
                <a:spcPct val="80000"/>
              </a:lnSpc>
              <a:buFont typeface="Wingdings" charset="2"/>
              <a:buNone/>
            </a:pPr>
            <a:r>
              <a:rPr kumimoji="1" lang="zh-CN" altLang="en-US" sz="3000" b="1">
                <a:solidFill>
                  <a:srgbClr val="FF3300"/>
                </a:solidFill>
                <a:latin typeface="Times New Roman" charset="0"/>
              </a:rPr>
              <a:t>		</a:t>
            </a:r>
            <a:r>
              <a:rPr kumimoji="1" lang="en-US" altLang="zh-CN" sz="3000" b="1">
                <a:solidFill>
                  <a:srgbClr val="FF3300"/>
                </a:solidFill>
                <a:latin typeface="Times New Roman" charset="0"/>
              </a:rPr>
              <a:t>LOC ( </a:t>
            </a:r>
            <a:r>
              <a:rPr kumimoji="1" lang="en-US" altLang="zh-CN" sz="3000" b="1" i="1">
                <a:solidFill>
                  <a:srgbClr val="FF3300"/>
                </a:solidFill>
                <a:latin typeface="Times New Roman" charset="0"/>
              </a:rPr>
              <a:t>i</a:t>
            </a:r>
            <a:r>
              <a:rPr kumimoji="1" lang="en-US" altLang="zh-CN" sz="3000" b="1" baseline="-25000">
                <a:solidFill>
                  <a:srgbClr val="FF3300"/>
                </a:solidFill>
                <a:latin typeface="Times New Roman" charset="0"/>
              </a:rPr>
              <a:t>1</a:t>
            </a:r>
            <a:r>
              <a:rPr kumimoji="1" lang="en-US" altLang="zh-CN" sz="3000" b="1" i="1">
                <a:solidFill>
                  <a:srgbClr val="FF3300"/>
                </a:solidFill>
                <a:latin typeface="Times New Roman" charset="0"/>
              </a:rPr>
              <a:t>, i</a:t>
            </a:r>
            <a:r>
              <a:rPr kumimoji="1" lang="en-US" altLang="zh-CN" sz="3000" b="1" baseline="-25000">
                <a:solidFill>
                  <a:srgbClr val="FF3300"/>
                </a:solidFill>
                <a:latin typeface="Times New Roman" charset="0"/>
              </a:rPr>
              <a:t>2</a:t>
            </a:r>
            <a:r>
              <a:rPr kumimoji="1" lang="en-US" altLang="zh-CN" sz="3000" b="1" i="1">
                <a:solidFill>
                  <a:srgbClr val="FF3300"/>
                </a:solidFill>
                <a:latin typeface="Times New Roman" charset="0"/>
              </a:rPr>
              <a:t>, i</a:t>
            </a:r>
            <a:r>
              <a:rPr kumimoji="1" lang="en-US" altLang="zh-CN" sz="3000" b="1" baseline="-25000">
                <a:solidFill>
                  <a:srgbClr val="FF3300"/>
                </a:solidFill>
                <a:latin typeface="Times New Roman" charset="0"/>
              </a:rPr>
              <a:t>3</a:t>
            </a:r>
            <a:r>
              <a:rPr kumimoji="1" lang="en-US" altLang="zh-CN" sz="3000" b="1">
                <a:solidFill>
                  <a:srgbClr val="FF3300"/>
                </a:solidFill>
                <a:latin typeface="Times New Roman" charset="0"/>
              </a:rPr>
              <a:t> ) = </a:t>
            </a:r>
            <a:r>
              <a:rPr kumimoji="1" lang="en-US" altLang="zh-CN" sz="3000" b="1" i="1">
                <a:solidFill>
                  <a:srgbClr val="FF3300"/>
                </a:solidFill>
                <a:latin typeface="Times New Roman" charset="0"/>
              </a:rPr>
              <a:t>a</a:t>
            </a:r>
            <a:r>
              <a:rPr kumimoji="1" lang="en-US" altLang="zh-CN" sz="3000" b="1">
                <a:solidFill>
                  <a:srgbClr val="FF3300"/>
                </a:solidFill>
                <a:latin typeface="Times New Roman" charset="0"/>
              </a:rPr>
              <a:t> + </a:t>
            </a:r>
          </a:p>
          <a:p>
            <a:pPr eaLnBrk="1" hangingPunct="1">
              <a:lnSpc>
                <a:spcPct val="80000"/>
              </a:lnSpc>
              <a:buFont typeface="Wingdings" charset="2"/>
              <a:buNone/>
            </a:pPr>
            <a:r>
              <a:rPr kumimoji="1" lang="en-US" altLang="zh-CN" sz="3000" b="1">
                <a:solidFill>
                  <a:srgbClr val="FF3300"/>
                </a:solidFill>
                <a:latin typeface="Times New Roman" charset="0"/>
              </a:rPr>
              <a:t>			 ( </a:t>
            </a:r>
            <a:r>
              <a:rPr kumimoji="1" lang="en-US" altLang="zh-CN" sz="3000" b="1" i="1">
                <a:solidFill>
                  <a:srgbClr val="FF3300"/>
                </a:solidFill>
                <a:latin typeface="Times New Roman" charset="0"/>
              </a:rPr>
              <a:t>i</a:t>
            </a:r>
            <a:r>
              <a:rPr kumimoji="1" lang="en-US" altLang="zh-CN" sz="3000" b="1" baseline="-25000">
                <a:solidFill>
                  <a:srgbClr val="FF3300"/>
                </a:solidFill>
                <a:latin typeface="Times New Roman" charset="0"/>
              </a:rPr>
              <a:t>1</a:t>
            </a:r>
            <a:r>
              <a:rPr kumimoji="1" lang="en-US" altLang="zh-CN" sz="3000" b="1">
                <a:solidFill>
                  <a:srgbClr val="FF3300"/>
                </a:solidFill>
                <a:latin typeface="Times New Roman" charset="0"/>
              </a:rPr>
              <a:t>* </a:t>
            </a:r>
            <a:r>
              <a:rPr kumimoji="1" lang="en-US" altLang="zh-CN" sz="3000" b="1" i="1">
                <a:solidFill>
                  <a:srgbClr val="FF3300"/>
                </a:solidFill>
                <a:latin typeface="Times New Roman" charset="0"/>
              </a:rPr>
              <a:t>m</a:t>
            </a:r>
            <a:r>
              <a:rPr kumimoji="1" lang="en-US" altLang="zh-CN" sz="3000" b="1" baseline="-25000">
                <a:solidFill>
                  <a:srgbClr val="FF3300"/>
                </a:solidFill>
                <a:latin typeface="Times New Roman" charset="0"/>
              </a:rPr>
              <a:t>2</a:t>
            </a:r>
            <a:r>
              <a:rPr kumimoji="1" lang="en-US" altLang="zh-CN" sz="3000" b="1">
                <a:solidFill>
                  <a:srgbClr val="FF3300"/>
                </a:solidFill>
                <a:latin typeface="Times New Roman" charset="0"/>
              </a:rPr>
              <a:t> * </a:t>
            </a:r>
            <a:r>
              <a:rPr kumimoji="1" lang="en-US" altLang="zh-CN" sz="3000" b="1" i="1">
                <a:solidFill>
                  <a:srgbClr val="FF3300"/>
                </a:solidFill>
                <a:latin typeface="Times New Roman" charset="0"/>
              </a:rPr>
              <a:t>m</a:t>
            </a:r>
            <a:r>
              <a:rPr kumimoji="1" lang="en-US" altLang="zh-CN" sz="3000" b="1" baseline="-25000">
                <a:solidFill>
                  <a:srgbClr val="FF3300"/>
                </a:solidFill>
                <a:latin typeface="Times New Roman" charset="0"/>
              </a:rPr>
              <a:t>3</a:t>
            </a:r>
            <a:r>
              <a:rPr kumimoji="1" lang="en-US" altLang="zh-CN" sz="3000" b="1">
                <a:solidFill>
                  <a:srgbClr val="FF3300"/>
                </a:solidFill>
                <a:latin typeface="Times New Roman" charset="0"/>
              </a:rPr>
              <a:t> </a:t>
            </a:r>
            <a:r>
              <a:rPr kumimoji="1" lang="en-US" altLang="zh-CN" sz="3000" b="1" i="1">
                <a:solidFill>
                  <a:srgbClr val="FF3300"/>
                </a:solidFill>
                <a:latin typeface="Times New Roman" charset="0"/>
              </a:rPr>
              <a:t>+ i</a:t>
            </a:r>
            <a:r>
              <a:rPr kumimoji="1" lang="en-US" altLang="zh-CN" sz="3000" b="1" baseline="-25000">
                <a:solidFill>
                  <a:srgbClr val="FF3300"/>
                </a:solidFill>
                <a:latin typeface="Times New Roman" charset="0"/>
              </a:rPr>
              <a:t>2</a:t>
            </a:r>
            <a:r>
              <a:rPr kumimoji="1" lang="en-US" altLang="zh-CN" sz="3000" b="1" i="1">
                <a:solidFill>
                  <a:srgbClr val="FF3300"/>
                </a:solidFill>
                <a:latin typeface="Times New Roman" charset="0"/>
              </a:rPr>
              <a:t>* m</a:t>
            </a:r>
            <a:r>
              <a:rPr kumimoji="1" lang="en-US" altLang="zh-CN" sz="3000" b="1" baseline="-25000">
                <a:solidFill>
                  <a:srgbClr val="FF3300"/>
                </a:solidFill>
                <a:latin typeface="Times New Roman" charset="0"/>
              </a:rPr>
              <a:t>3</a:t>
            </a:r>
            <a:r>
              <a:rPr kumimoji="1" lang="en-US" altLang="zh-CN" sz="3000" b="1">
                <a:solidFill>
                  <a:srgbClr val="FF3300"/>
                </a:solidFill>
                <a:latin typeface="Times New Roman" charset="0"/>
              </a:rPr>
              <a:t> </a:t>
            </a:r>
            <a:r>
              <a:rPr kumimoji="1" lang="en-US" altLang="zh-CN" sz="3000" b="1" i="1">
                <a:solidFill>
                  <a:srgbClr val="FF3300"/>
                </a:solidFill>
                <a:latin typeface="Times New Roman" charset="0"/>
              </a:rPr>
              <a:t>+ i</a:t>
            </a:r>
            <a:r>
              <a:rPr kumimoji="1" lang="en-US" altLang="zh-CN" sz="3000" b="1" baseline="-25000">
                <a:solidFill>
                  <a:srgbClr val="FF3300"/>
                </a:solidFill>
                <a:latin typeface="Times New Roman" charset="0"/>
              </a:rPr>
              <a:t>3</a:t>
            </a:r>
            <a:r>
              <a:rPr kumimoji="1" lang="en-US" altLang="zh-CN" sz="3000" b="1" i="1">
                <a:solidFill>
                  <a:srgbClr val="FF3300"/>
                </a:solidFill>
                <a:latin typeface="Times New Roman" charset="0"/>
              </a:rPr>
              <a:t> </a:t>
            </a:r>
            <a:r>
              <a:rPr kumimoji="1" lang="en-US" altLang="zh-CN" sz="3000" b="1">
                <a:solidFill>
                  <a:srgbClr val="FF3300"/>
                </a:solidFill>
                <a:latin typeface="Times New Roman" charset="0"/>
              </a:rPr>
              <a:t>) *</a:t>
            </a:r>
            <a:r>
              <a:rPr kumimoji="1" lang="en-US" altLang="zh-CN" sz="3000" b="1" i="1">
                <a:solidFill>
                  <a:srgbClr val="FF3300"/>
                </a:solidFill>
                <a:latin typeface="Times New Roman" charset="0"/>
              </a:rPr>
              <a:t> l</a:t>
            </a:r>
            <a:r>
              <a:rPr lang="en-US" altLang="zh-CN" sz="3000" b="1">
                <a:effectLst>
                  <a:outerShdw blurRad="38100" dist="38100" dir="2700000" algn="tl">
                    <a:srgbClr val="C0C0C0"/>
                  </a:outerShdw>
                </a:effectLst>
                <a:latin typeface="Times New Roman" charset="0"/>
                <a:ea typeface="仿宋_GB2312" charset="0"/>
              </a:rPr>
              <a:t> </a:t>
            </a:r>
          </a:p>
        </p:txBody>
      </p:sp>
      <p:sp>
        <p:nvSpPr>
          <p:cNvPr id="20484" name="AutoShape 4"/>
          <p:cNvSpPr>
            <a:spLocks/>
          </p:cNvSpPr>
          <p:nvPr/>
        </p:nvSpPr>
        <p:spPr bwMode="auto">
          <a:xfrm rot="-5400000">
            <a:off x="3752057" y="3064669"/>
            <a:ext cx="133350" cy="1824037"/>
          </a:xfrm>
          <a:prstGeom prst="leftBrace">
            <a:avLst>
              <a:gd name="adj1" fmla="val 113988"/>
              <a:gd name="adj2" fmla="val 50000"/>
            </a:avLst>
          </a:prstGeom>
          <a:noFill/>
          <a:ln w="28575">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0485" name="Text Box 5"/>
          <p:cNvSpPr txBox="1">
            <a:spLocks noChangeArrowheads="1"/>
          </p:cNvSpPr>
          <p:nvPr/>
        </p:nvSpPr>
        <p:spPr bwMode="auto">
          <a:xfrm>
            <a:off x="3186113" y="4116388"/>
            <a:ext cx="1331912"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000" b="1">
                <a:latin typeface="Times New Roman" charset="0"/>
                <a:ea typeface="仿宋_GB2312" charset="0"/>
              </a:rPr>
              <a:t>前</a:t>
            </a:r>
            <a:r>
              <a:rPr kumimoji="1" lang="en-US" altLang="zh-CN" sz="3000" b="1" i="1">
                <a:solidFill>
                  <a:schemeClr val="tx2"/>
                </a:solidFill>
                <a:latin typeface="Times New Roman" charset="0"/>
                <a:ea typeface="仿宋_GB2312" charset="0"/>
              </a:rPr>
              <a:t>i</a:t>
            </a:r>
            <a:r>
              <a:rPr kumimoji="1" lang="en-US" altLang="zh-CN" sz="3000" b="1" baseline="-25000">
                <a:solidFill>
                  <a:schemeClr val="tx2"/>
                </a:solidFill>
                <a:latin typeface="Times New Roman" charset="0"/>
                <a:ea typeface="仿宋_GB2312" charset="0"/>
              </a:rPr>
              <a:t>1</a:t>
            </a:r>
            <a:r>
              <a:rPr kumimoji="1" lang="zh-CN" altLang="en-US" sz="3000" b="1">
                <a:latin typeface="Times New Roman" charset="0"/>
                <a:ea typeface="仿宋_GB2312" charset="0"/>
              </a:rPr>
              <a:t>页</a:t>
            </a:r>
          </a:p>
          <a:p>
            <a:pPr eaLnBrk="1" hangingPunct="1"/>
            <a:r>
              <a:rPr kumimoji="1" lang="zh-CN" altLang="en-US" sz="3000" b="1">
                <a:latin typeface="Times New Roman" charset="0"/>
                <a:ea typeface="仿宋_GB2312" charset="0"/>
              </a:rPr>
              <a:t>总元素</a:t>
            </a:r>
          </a:p>
          <a:p>
            <a:pPr eaLnBrk="1" hangingPunct="1"/>
            <a:r>
              <a:rPr kumimoji="1" lang="zh-CN" altLang="en-US" sz="3000" b="1">
                <a:latin typeface="Times New Roman" charset="0"/>
                <a:ea typeface="仿宋_GB2312" charset="0"/>
              </a:rPr>
              <a:t>个数</a:t>
            </a:r>
          </a:p>
        </p:txBody>
      </p:sp>
      <p:sp>
        <p:nvSpPr>
          <p:cNvPr id="20486" name="AutoShape 6"/>
          <p:cNvSpPr>
            <a:spLocks/>
          </p:cNvSpPr>
          <p:nvPr/>
        </p:nvSpPr>
        <p:spPr bwMode="auto">
          <a:xfrm rot="-5400000">
            <a:off x="5540375" y="3490913"/>
            <a:ext cx="147637" cy="985838"/>
          </a:xfrm>
          <a:prstGeom prst="leftBrace">
            <a:avLst>
              <a:gd name="adj1" fmla="val 55645"/>
              <a:gd name="adj2" fmla="val 50000"/>
            </a:avLst>
          </a:prstGeom>
          <a:noFill/>
          <a:ln w="28575">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0487" name="Text Box 7"/>
          <p:cNvSpPr txBox="1">
            <a:spLocks noChangeArrowheads="1"/>
          </p:cNvSpPr>
          <p:nvPr/>
        </p:nvSpPr>
        <p:spPr bwMode="auto">
          <a:xfrm>
            <a:off x="5018088" y="4119563"/>
            <a:ext cx="1828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000" b="1">
                <a:latin typeface="Times New Roman" charset="0"/>
                <a:ea typeface="仿宋_GB2312" charset="0"/>
              </a:rPr>
              <a:t>第</a:t>
            </a:r>
            <a:r>
              <a:rPr kumimoji="1" lang="en-US" altLang="zh-CN" sz="3000" b="1" i="1">
                <a:solidFill>
                  <a:schemeClr val="tx2"/>
                </a:solidFill>
                <a:latin typeface="Times New Roman" charset="0"/>
                <a:ea typeface="仿宋_GB2312" charset="0"/>
              </a:rPr>
              <a:t>i</a:t>
            </a:r>
            <a:r>
              <a:rPr kumimoji="1" lang="en-US" altLang="zh-CN" sz="3000" b="1" baseline="-25000">
                <a:solidFill>
                  <a:schemeClr val="tx2"/>
                </a:solidFill>
                <a:latin typeface="Times New Roman" charset="0"/>
                <a:ea typeface="仿宋_GB2312" charset="0"/>
              </a:rPr>
              <a:t>1</a:t>
            </a:r>
            <a:r>
              <a:rPr kumimoji="1" lang="zh-CN" altLang="en-US" sz="3000" b="1">
                <a:latin typeface="Times New Roman" charset="0"/>
                <a:ea typeface="仿宋_GB2312" charset="0"/>
              </a:rPr>
              <a:t>页</a:t>
            </a:r>
          </a:p>
          <a:p>
            <a:pPr eaLnBrk="1" hangingPunct="1"/>
            <a:r>
              <a:rPr kumimoji="1" lang="zh-CN" altLang="en-US" sz="3000" b="1">
                <a:latin typeface="Times New Roman" charset="0"/>
                <a:ea typeface="仿宋_GB2312" charset="0"/>
              </a:rPr>
              <a:t>前</a:t>
            </a:r>
            <a:r>
              <a:rPr kumimoji="1" lang="en-US" altLang="zh-CN" sz="3000" b="1" i="1">
                <a:solidFill>
                  <a:schemeClr val="tx2"/>
                </a:solidFill>
                <a:latin typeface="Times New Roman" charset="0"/>
                <a:ea typeface="仿宋_GB2312" charset="0"/>
              </a:rPr>
              <a:t>i</a:t>
            </a:r>
            <a:r>
              <a:rPr kumimoji="1" lang="en-US" altLang="zh-CN" sz="3000" b="1" baseline="-25000">
                <a:solidFill>
                  <a:schemeClr val="tx2"/>
                </a:solidFill>
                <a:latin typeface="Times New Roman" charset="0"/>
                <a:ea typeface="仿宋_GB2312" charset="0"/>
              </a:rPr>
              <a:t>2</a:t>
            </a:r>
            <a:r>
              <a:rPr kumimoji="1" lang="zh-CN" altLang="en-US" sz="3000" b="1">
                <a:latin typeface="Times New Roman" charset="0"/>
                <a:ea typeface="仿宋_GB2312" charset="0"/>
              </a:rPr>
              <a:t>行</a:t>
            </a:r>
          </a:p>
          <a:p>
            <a:pPr eaLnBrk="1" hangingPunct="1"/>
            <a:r>
              <a:rPr kumimoji="1" lang="zh-CN" altLang="en-US" sz="3000" b="1">
                <a:latin typeface="Times New Roman" charset="0"/>
                <a:ea typeface="仿宋_GB2312" charset="0"/>
              </a:rPr>
              <a:t>总元素</a:t>
            </a:r>
          </a:p>
          <a:p>
            <a:pPr eaLnBrk="1" hangingPunct="1"/>
            <a:r>
              <a:rPr kumimoji="1" lang="zh-CN" altLang="en-US" sz="3000" b="1">
                <a:latin typeface="Times New Roman" charset="0"/>
                <a:ea typeface="仿宋_GB2312" charset="0"/>
              </a:rPr>
              <a:t>个数</a:t>
            </a:r>
          </a:p>
        </p:txBody>
      </p:sp>
      <p:sp>
        <p:nvSpPr>
          <p:cNvPr id="20488" name="Text Box 8"/>
          <p:cNvSpPr txBox="1">
            <a:spLocks noChangeArrowheads="1"/>
          </p:cNvSpPr>
          <p:nvPr/>
        </p:nvSpPr>
        <p:spPr bwMode="auto">
          <a:xfrm>
            <a:off x="6310313" y="4119563"/>
            <a:ext cx="23622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000" b="1">
                <a:latin typeface="Times New Roman" charset="0"/>
                <a:ea typeface="仿宋_GB2312" charset="0"/>
              </a:rPr>
              <a:t>第 </a:t>
            </a:r>
            <a:r>
              <a:rPr kumimoji="1" lang="en-US" altLang="zh-CN" sz="3000" b="1" i="1">
                <a:solidFill>
                  <a:schemeClr val="tx2"/>
                </a:solidFill>
                <a:latin typeface="Times New Roman" charset="0"/>
                <a:ea typeface="仿宋_GB2312" charset="0"/>
              </a:rPr>
              <a:t>i</a:t>
            </a:r>
            <a:r>
              <a:rPr kumimoji="1" lang="en-US" altLang="zh-CN" sz="3000" b="1" baseline="-25000">
                <a:solidFill>
                  <a:schemeClr val="tx2"/>
                </a:solidFill>
                <a:latin typeface="Times New Roman" charset="0"/>
                <a:ea typeface="仿宋_GB2312" charset="0"/>
              </a:rPr>
              <a:t>2</a:t>
            </a:r>
            <a:r>
              <a:rPr kumimoji="1" lang="en-US" altLang="zh-CN" sz="3000" b="1" baseline="-25000">
                <a:latin typeface="Times New Roman" charset="0"/>
                <a:ea typeface="仿宋_GB2312" charset="0"/>
              </a:rPr>
              <a:t> </a:t>
            </a:r>
            <a:r>
              <a:rPr kumimoji="1" lang="zh-CN" altLang="en-US" sz="3000" b="1">
                <a:latin typeface="Times New Roman" charset="0"/>
                <a:ea typeface="仿宋_GB2312" charset="0"/>
              </a:rPr>
              <a:t>行</a:t>
            </a:r>
          </a:p>
          <a:p>
            <a:pPr eaLnBrk="1" hangingPunct="1"/>
            <a:r>
              <a:rPr kumimoji="1" lang="zh-CN" altLang="en-US" sz="3000" b="1">
                <a:latin typeface="Times New Roman" charset="0"/>
                <a:ea typeface="仿宋_GB2312" charset="0"/>
              </a:rPr>
              <a:t>前</a:t>
            </a:r>
            <a:r>
              <a:rPr kumimoji="1" lang="zh-CN" altLang="en-US" sz="3000" b="1">
                <a:solidFill>
                  <a:schemeClr val="tx2"/>
                </a:solidFill>
                <a:latin typeface="Times New Roman" charset="0"/>
                <a:ea typeface="仿宋_GB2312" charset="0"/>
              </a:rPr>
              <a:t> </a:t>
            </a:r>
            <a:r>
              <a:rPr kumimoji="1" lang="en-US" altLang="zh-CN" sz="3000" b="1" i="1">
                <a:solidFill>
                  <a:schemeClr val="tx2"/>
                </a:solidFill>
                <a:latin typeface="Times New Roman" charset="0"/>
                <a:ea typeface="仿宋_GB2312" charset="0"/>
              </a:rPr>
              <a:t>i</a:t>
            </a:r>
            <a:r>
              <a:rPr kumimoji="1" lang="en-US" altLang="zh-CN" sz="3000" b="1" baseline="-25000">
                <a:solidFill>
                  <a:schemeClr val="tx2"/>
                </a:solidFill>
                <a:latin typeface="Times New Roman" charset="0"/>
                <a:ea typeface="仿宋_GB2312" charset="0"/>
              </a:rPr>
              <a:t>3</a:t>
            </a:r>
            <a:r>
              <a:rPr kumimoji="1" lang="en-US" altLang="zh-CN" sz="3000" b="1" baseline="-25000">
                <a:latin typeface="Times New Roman" charset="0"/>
                <a:ea typeface="仿宋_GB2312" charset="0"/>
              </a:rPr>
              <a:t> </a:t>
            </a:r>
            <a:r>
              <a:rPr kumimoji="1" lang="zh-CN" altLang="en-US" sz="3000" b="1">
                <a:latin typeface="Times New Roman" charset="0"/>
                <a:ea typeface="仿宋_GB2312" charset="0"/>
              </a:rPr>
              <a:t>列</a:t>
            </a:r>
          </a:p>
          <a:p>
            <a:pPr eaLnBrk="1" hangingPunct="1"/>
            <a:r>
              <a:rPr kumimoji="1" lang="zh-CN" altLang="en-US" sz="3000" b="1">
                <a:latin typeface="Times New Roman" charset="0"/>
                <a:ea typeface="仿宋_GB2312" charset="0"/>
              </a:rPr>
              <a:t>元素个</a:t>
            </a:r>
          </a:p>
          <a:p>
            <a:pPr eaLnBrk="1" hangingPunct="1"/>
            <a:r>
              <a:rPr kumimoji="1" lang="zh-CN" altLang="en-US" sz="3000" b="1">
                <a:latin typeface="Times New Roman" charset="0"/>
                <a:ea typeface="仿宋_GB2312" charset="0"/>
              </a:rPr>
              <a:t>数</a:t>
            </a:r>
          </a:p>
        </p:txBody>
      </p:sp>
      <p:sp>
        <p:nvSpPr>
          <p:cNvPr id="20489" name="AutoShape 9"/>
          <p:cNvSpPr>
            <a:spLocks/>
          </p:cNvSpPr>
          <p:nvPr/>
        </p:nvSpPr>
        <p:spPr bwMode="auto">
          <a:xfrm rot="-5400000">
            <a:off x="6547644" y="3820319"/>
            <a:ext cx="134938" cy="323850"/>
          </a:xfrm>
          <a:prstGeom prst="leftBrace">
            <a:avLst>
              <a:gd name="adj1" fmla="val 20000"/>
              <a:gd name="adj2" fmla="val 50000"/>
            </a:avLst>
          </a:prstGeom>
          <a:noFill/>
          <a:ln w="28575">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6653381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1371600" y="209550"/>
            <a:ext cx="7772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3600">
                <a:solidFill>
                  <a:srgbClr val="800080"/>
                </a:solidFill>
                <a:latin typeface="Times New Roman" charset="0"/>
                <a:ea typeface="楷体_GB2312" charset="0"/>
              </a:rPr>
              <a:t>推广到一般情况，可得到 </a:t>
            </a:r>
            <a:r>
              <a:rPr kumimoji="1" lang="en-US" altLang="zh-CN" sz="3600">
                <a:solidFill>
                  <a:srgbClr val="800080"/>
                </a:solidFill>
                <a:latin typeface="Times New Roman" charset="0"/>
                <a:ea typeface="楷体_GB2312" charset="0"/>
              </a:rPr>
              <a:t>n </a:t>
            </a:r>
            <a:r>
              <a:rPr kumimoji="1" lang="zh-CN" altLang="en-US" sz="3600">
                <a:solidFill>
                  <a:srgbClr val="800080"/>
                </a:solidFill>
                <a:latin typeface="Times New Roman" charset="0"/>
                <a:ea typeface="楷体_GB2312" charset="0"/>
              </a:rPr>
              <a:t>维数组数据元素存储位置的映象关系</a:t>
            </a:r>
            <a:r>
              <a:rPr kumimoji="1" lang="en-US" altLang="zh-CN" sz="3600">
                <a:solidFill>
                  <a:srgbClr val="800080"/>
                </a:solidFill>
                <a:latin typeface="Times New Roman" charset="0"/>
                <a:ea typeface="楷体_GB2312" charset="0"/>
              </a:rPr>
              <a:t>:</a:t>
            </a:r>
          </a:p>
        </p:txBody>
      </p:sp>
      <p:sp>
        <p:nvSpPr>
          <p:cNvPr id="172035" name="Text Box 3"/>
          <p:cNvSpPr txBox="1">
            <a:spLocks noChangeArrowheads="1"/>
          </p:cNvSpPr>
          <p:nvPr/>
        </p:nvSpPr>
        <p:spPr bwMode="auto">
          <a:xfrm>
            <a:off x="450850" y="5391150"/>
            <a:ext cx="80708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en-US" altLang="zh-CN" sz="3600">
                <a:solidFill>
                  <a:srgbClr val="990033"/>
                </a:solidFill>
                <a:latin typeface="Times New Roman" charset="0"/>
                <a:ea typeface="楷体_GB2312" charset="0"/>
              </a:rPr>
              <a:t>     </a:t>
            </a:r>
            <a:r>
              <a:rPr kumimoji="1" lang="zh-CN" altLang="en-US" sz="3600">
                <a:solidFill>
                  <a:srgbClr val="990033"/>
                </a:solidFill>
                <a:latin typeface="Times New Roman" charset="0"/>
                <a:ea typeface="楷体_GB2312" charset="0"/>
              </a:rPr>
              <a:t>称为 </a:t>
            </a:r>
            <a:r>
              <a:rPr kumimoji="1" lang="en-US" altLang="zh-CN" sz="3600">
                <a:solidFill>
                  <a:srgbClr val="990033"/>
                </a:solidFill>
                <a:latin typeface="Times New Roman" charset="0"/>
                <a:ea typeface="楷体_GB2312" charset="0"/>
              </a:rPr>
              <a:t>n </a:t>
            </a:r>
            <a:r>
              <a:rPr kumimoji="1" lang="zh-CN" altLang="en-US" sz="3600">
                <a:solidFill>
                  <a:srgbClr val="990033"/>
                </a:solidFill>
                <a:latin typeface="Times New Roman" charset="0"/>
                <a:ea typeface="楷体_GB2312" charset="0"/>
              </a:rPr>
              <a:t>维数组的映象函数。</a:t>
            </a:r>
            <a:r>
              <a:rPr kumimoji="1" lang="zh-CN" altLang="en-US" sz="3600" b="1">
                <a:solidFill>
                  <a:srgbClr val="990033"/>
                </a:solidFill>
                <a:latin typeface="Times New Roman" charset="0"/>
                <a:ea typeface="楷体_GB2312" charset="0"/>
              </a:rPr>
              <a:t>数组元素</a:t>
            </a:r>
          </a:p>
          <a:p>
            <a:pPr eaLnBrk="1" hangingPunct="1">
              <a:lnSpc>
                <a:spcPct val="125000"/>
              </a:lnSpc>
            </a:pPr>
            <a:r>
              <a:rPr kumimoji="1" lang="zh-CN" altLang="en-US" sz="3600" b="1">
                <a:solidFill>
                  <a:srgbClr val="990033"/>
                </a:solidFill>
                <a:latin typeface="Times New Roman" charset="0"/>
                <a:ea typeface="楷体_GB2312" charset="0"/>
              </a:rPr>
              <a:t>的存储位置是其下标的线性函数。</a:t>
            </a:r>
          </a:p>
        </p:txBody>
      </p:sp>
      <p:sp>
        <p:nvSpPr>
          <p:cNvPr id="172036" name="Text Box 4"/>
          <p:cNvSpPr txBox="1">
            <a:spLocks noChangeArrowheads="1"/>
          </p:cNvSpPr>
          <p:nvPr/>
        </p:nvSpPr>
        <p:spPr bwMode="auto">
          <a:xfrm>
            <a:off x="785813" y="4540250"/>
            <a:ext cx="74152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latin typeface="Times New Roman" charset="0"/>
                <a:ea typeface="楷体_GB2312" charset="0"/>
              </a:rPr>
              <a:t>其中 </a:t>
            </a:r>
            <a:r>
              <a:rPr kumimoji="1" lang="en-US" altLang="zh-CN" sz="3600">
                <a:latin typeface="Times New Roman" charset="0"/>
                <a:ea typeface="楷体_GB2312" charset="0"/>
              </a:rPr>
              <a:t>c</a:t>
            </a:r>
            <a:r>
              <a:rPr kumimoji="1" lang="en-US" altLang="zh-CN" sz="3600" baseline="-25000">
                <a:latin typeface="Times New Roman" charset="0"/>
                <a:ea typeface="楷体_GB2312" charset="0"/>
              </a:rPr>
              <a:t>n</a:t>
            </a:r>
            <a:r>
              <a:rPr kumimoji="1" lang="en-US" altLang="zh-CN" sz="3600">
                <a:latin typeface="Times New Roman" charset="0"/>
                <a:ea typeface="楷体_GB2312" charset="0"/>
              </a:rPr>
              <a:t> = L</a:t>
            </a:r>
            <a:r>
              <a:rPr kumimoji="1" lang="zh-CN" altLang="en-US" sz="3600">
                <a:latin typeface="Times New Roman" charset="0"/>
                <a:ea typeface="楷体_GB2312" charset="0"/>
              </a:rPr>
              <a:t>，</a:t>
            </a:r>
            <a:r>
              <a:rPr kumimoji="1" lang="en-US" altLang="zh-CN" sz="3600">
                <a:latin typeface="Times New Roman" charset="0"/>
                <a:ea typeface="楷体_GB2312" charset="0"/>
              </a:rPr>
              <a:t>c</a:t>
            </a:r>
            <a:r>
              <a:rPr kumimoji="1" lang="en-US" altLang="zh-CN" sz="3600" baseline="-25000">
                <a:latin typeface="Times New Roman" charset="0"/>
                <a:ea typeface="楷体_GB2312" charset="0"/>
              </a:rPr>
              <a:t>i-1</a:t>
            </a:r>
            <a:r>
              <a:rPr kumimoji="1" lang="en-US" altLang="zh-CN" sz="3600">
                <a:latin typeface="Times New Roman" charset="0"/>
                <a:ea typeface="楷体_GB2312" charset="0"/>
              </a:rPr>
              <a:t> = b</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×c</a:t>
            </a:r>
            <a:r>
              <a:rPr kumimoji="1" lang="en-US" altLang="zh-CN" sz="3600" baseline="-25000">
                <a:latin typeface="Times New Roman" charset="0"/>
                <a:ea typeface="楷体_GB2312" charset="0"/>
              </a:rPr>
              <a:t>i </a:t>
            </a:r>
            <a:r>
              <a:rPr kumimoji="1" lang="en-US" altLang="zh-CN" sz="3600">
                <a:latin typeface="Times New Roman" charset="0"/>
                <a:ea typeface="楷体_GB2312" charset="0"/>
              </a:rPr>
              <a:t>,  1 &lt; i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n</a:t>
            </a:r>
            <a:r>
              <a:rPr kumimoji="1" lang="zh-CN" altLang="en-US" sz="3600">
                <a:latin typeface="Times New Roman" charset="0"/>
                <a:ea typeface="楷体_GB2312" charset="0"/>
              </a:rPr>
              <a:t>。</a:t>
            </a:r>
            <a:endParaRPr kumimoji="1" lang="zh-CN" altLang="en-US" sz="3200">
              <a:latin typeface="Times New Roman" charset="0"/>
              <a:ea typeface="楷体_GB2312" charset="0"/>
            </a:endParaRPr>
          </a:p>
        </p:txBody>
      </p:sp>
      <p:sp>
        <p:nvSpPr>
          <p:cNvPr id="172037" name="Text Box 5"/>
          <p:cNvSpPr txBox="1">
            <a:spLocks noChangeArrowheads="1"/>
          </p:cNvSpPr>
          <p:nvPr/>
        </p:nvSpPr>
        <p:spPr bwMode="auto">
          <a:xfrm>
            <a:off x="609600" y="3568700"/>
            <a:ext cx="8207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LOC(j</a:t>
            </a:r>
            <a:r>
              <a:rPr kumimoji="1" lang="en-US" altLang="zh-CN" sz="3600" baseline="-25000">
                <a:latin typeface="Times New Roman" charset="0"/>
                <a:ea typeface="楷体_GB2312" charset="0"/>
              </a:rPr>
              <a:t>1</a:t>
            </a:r>
            <a:r>
              <a:rPr kumimoji="1" lang="en-US" altLang="zh-CN" sz="3600">
                <a:latin typeface="Times New Roman" charset="0"/>
                <a:ea typeface="楷体_GB2312" charset="0"/>
              </a:rPr>
              <a:t>, j</a:t>
            </a:r>
            <a:r>
              <a:rPr kumimoji="1" lang="en-US" altLang="zh-CN" sz="3600" baseline="-25000">
                <a:latin typeface="Times New Roman" charset="0"/>
                <a:ea typeface="楷体_GB2312" charset="0"/>
              </a:rPr>
              <a:t>2</a:t>
            </a:r>
            <a:r>
              <a:rPr kumimoji="1" lang="en-US" altLang="zh-CN" sz="3600">
                <a:latin typeface="Times New Roman" charset="0"/>
                <a:ea typeface="楷体_GB2312" charset="0"/>
              </a:rPr>
              <a:t>, ..., j</a:t>
            </a:r>
            <a:r>
              <a:rPr kumimoji="1" lang="en-US" altLang="zh-CN" sz="3600" baseline="-25000">
                <a:latin typeface="Times New Roman" charset="0"/>
                <a:ea typeface="楷体_GB2312" charset="0"/>
              </a:rPr>
              <a:t>n</a:t>
            </a:r>
            <a:r>
              <a:rPr kumimoji="1" lang="en-US" altLang="zh-CN" sz="3600">
                <a:latin typeface="Times New Roman" charset="0"/>
                <a:ea typeface="楷体_GB2312" charset="0"/>
              </a:rPr>
              <a:t> ) = LOC(0,0,...,0) + ∑ c</a:t>
            </a:r>
            <a:r>
              <a:rPr kumimoji="1" lang="en-US" altLang="zh-CN" sz="3600" baseline="-25000">
                <a:latin typeface="Times New Roman" charset="0"/>
                <a:ea typeface="楷体_GB2312" charset="0"/>
              </a:rPr>
              <a:t>i </a:t>
            </a:r>
            <a:r>
              <a:rPr kumimoji="1" lang="en-US" altLang="zh-CN" sz="3600">
                <a:latin typeface="Times New Roman" charset="0"/>
                <a:ea typeface="楷体_GB2312" charset="0"/>
              </a:rPr>
              <a:t>j</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a:t>
            </a:r>
          </a:p>
        </p:txBody>
      </p:sp>
      <p:sp>
        <p:nvSpPr>
          <p:cNvPr id="172038" name="Text Box 6"/>
          <p:cNvSpPr txBox="1">
            <a:spLocks noChangeArrowheads="1"/>
          </p:cNvSpPr>
          <p:nvPr/>
        </p:nvSpPr>
        <p:spPr bwMode="auto">
          <a:xfrm flipH="1">
            <a:off x="7391400" y="3413125"/>
            <a:ext cx="304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Times New Roman" charset="0"/>
              </a:rPr>
              <a:t>i</a:t>
            </a:r>
          </a:p>
        </p:txBody>
      </p:sp>
      <p:sp>
        <p:nvSpPr>
          <p:cNvPr id="172039" name="Text Box 7"/>
          <p:cNvSpPr txBox="1">
            <a:spLocks noChangeArrowheads="1"/>
          </p:cNvSpPr>
          <p:nvPr/>
        </p:nvSpPr>
        <p:spPr bwMode="auto">
          <a:xfrm>
            <a:off x="7543800" y="3352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=1</a:t>
            </a:r>
          </a:p>
        </p:txBody>
      </p:sp>
      <p:sp>
        <p:nvSpPr>
          <p:cNvPr id="172040" name="Text Box 8"/>
          <p:cNvSpPr txBox="1">
            <a:spLocks noChangeArrowheads="1"/>
          </p:cNvSpPr>
          <p:nvPr/>
        </p:nvSpPr>
        <p:spPr bwMode="auto">
          <a:xfrm>
            <a:off x="7543800" y="3946525"/>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Times New Roman" charset="0"/>
              </a:rPr>
              <a:t>n</a:t>
            </a:r>
          </a:p>
        </p:txBody>
      </p:sp>
      <p:sp>
        <p:nvSpPr>
          <p:cNvPr id="172041" name="AutoShape 9">
            <a:hlinkClick r:id="rId2" action="ppaction://hlinksldjump" highlightClick="1"/>
          </p:cNvPr>
          <p:cNvSpPr>
            <a:spLocks noChangeArrowheads="1"/>
          </p:cNvSpPr>
          <p:nvPr/>
        </p:nvSpPr>
        <p:spPr bwMode="auto">
          <a:xfrm>
            <a:off x="8229600" y="6172200"/>
            <a:ext cx="685800" cy="381000"/>
          </a:xfrm>
          <a:prstGeom prst="actionButtonBeginning">
            <a:avLst/>
          </a:prstGeom>
          <a:solidFill>
            <a:schemeClr val="bg2"/>
          </a:solidFill>
          <a:ln>
            <a:noFill/>
          </a:ln>
          <a:effectLst>
            <a:prstShdw prst="shdw17" dist="17961" dir="2700000">
              <a:srgbClr val="4D4D4D">
                <a:alpha val="74998"/>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defRPr/>
            </a:pPr>
            <a:endParaRPr lang="zh-CN" altLang="en-US">
              <a:ea typeface="宋体" pitchFamily="2" charset="-122"/>
            </a:endParaRPr>
          </a:p>
        </p:txBody>
      </p:sp>
      <p:pic>
        <p:nvPicPr>
          <p:cNvPr id="21514" name="Picture 11" descr="j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300" y="3246438"/>
            <a:ext cx="9525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5" name="Picture 12" descr="j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7550" y="3246438"/>
            <a:ext cx="9525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6" name="Picture 13" descr="j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3800" y="3246438"/>
            <a:ext cx="13335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7" name="Picture 14" descr="b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0450" y="3246438"/>
            <a:ext cx="104775"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8" name="Picture 15" descr="b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27688" y="3246438"/>
            <a:ext cx="104775"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9" name="Picture 16" descr="j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613" y="3246438"/>
            <a:ext cx="9525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0" name="Picture 17" descr="b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7750" y="3246438"/>
            <a:ext cx="1333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1" name="Picture 18" descr="b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1450" y="3246438"/>
            <a:ext cx="104775"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2" name="Picture 19" descr="j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0375" y="3246438"/>
            <a:ext cx="9525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3" name="Picture 20" descr="b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9625" y="3246438"/>
            <a:ext cx="104775"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4" name="Picture 21" descr="jn_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48550" y="3246438"/>
            <a:ext cx="18097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5" name="Picture 22" descr="j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1125" y="3246438"/>
            <a:ext cx="13335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55" name="Text Box 23"/>
          <p:cNvSpPr txBox="1">
            <a:spLocks noChangeArrowheads="1"/>
          </p:cNvSpPr>
          <p:nvPr/>
        </p:nvSpPr>
        <p:spPr bwMode="auto">
          <a:xfrm>
            <a:off x="685800" y="1752600"/>
            <a:ext cx="76581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LOC(j</a:t>
            </a:r>
            <a:r>
              <a:rPr kumimoji="1" lang="en-US" altLang="zh-CN" sz="3600" baseline="-25000">
                <a:latin typeface="Times New Roman" charset="0"/>
                <a:ea typeface="楷体_GB2312" charset="0"/>
              </a:rPr>
              <a:t>1</a:t>
            </a:r>
            <a:r>
              <a:rPr kumimoji="1" lang="en-US" altLang="zh-CN" sz="3600">
                <a:latin typeface="Times New Roman" charset="0"/>
                <a:ea typeface="楷体_GB2312" charset="0"/>
              </a:rPr>
              <a:t>, j</a:t>
            </a:r>
            <a:r>
              <a:rPr kumimoji="1" lang="en-US" altLang="zh-CN" sz="3600" baseline="-25000">
                <a:latin typeface="Times New Roman" charset="0"/>
                <a:ea typeface="楷体_GB2312" charset="0"/>
              </a:rPr>
              <a:t>2</a:t>
            </a:r>
            <a:r>
              <a:rPr kumimoji="1" lang="en-US" altLang="zh-CN" sz="3600">
                <a:latin typeface="Times New Roman" charset="0"/>
                <a:ea typeface="楷体_GB2312" charset="0"/>
              </a:rPr>
              <a:t>, ..., j</a:t>
            </a:r>
            <a:r>
              <a:rPr kumimoji="1" lang="en-US" altLang="zh-CN" sz="3600" baseline="-25000">
                <a:latin typeface="Times New Roman" charset="0"/>
                <a:ea typeface="楷体_GB2312" charset="0"/>
              </a:rPr>
              <a:t>n</a:t>
            </a:r>
            <a:r>
              <a:rPr kumimoji="1" lang="en-US" altLang="zh-CN" sz="3600">
                <a:latin typeface="Times New Roman" charset="0"/>
                <a:ea typeface="楷体_GB2312" charset="0"/>
              </a:rPr>
              <a:t> ) = LOC(0,0,...,0) +</a:t>
            </a:r>
          </a:p>
          <a:p>
            <a:pPr eaLnBrk="1" hangingPunct="1"/>
            <a:r>
              <a:rPr kumimoji="1" lang="en-US" altLang="zh-CN" sz="3600">
                <a:latin typeface="Times New Roman" charset="0"/>
                <a:ea typeface="楷体_GB2312" charset="0"/>
              </a:rPr>
              <a:t>  (b</a:t>
            </a:r>
            <a:r>
              <a:rPr kumimoji="1" lang="en-US" altLang="zh-CN" sz="3600" baseline="-25000">
                <a:latin typeface="Times New Roman" charset="0"/>
                <a:ea typeface="楷体_GB2312" charset="0"/>
              </a:rPr>
              <a:t>2</a:t>
            </a:r>
            <a:r>
              <a:rPr kumimoji="1" lang="en-US" altLang="zh-CN" sz="3600">
                <a:latin typeface="Times New Roman" charset="0"/>
                <a:ea typeface="楷体_GB2312" charset="0"/>
              </a:rPr>
              <a:t> ×.. × b</a:t>
            </a:r>
            <a:r>
              <a:rPr kumimoji="1" lang="en-US" altLang="zh-CN" sz="3600" baseline="-25000">
                <a:latin typeface="Times New Roman" charset="0"/>
                <a:ea typeface="楷体_GB2312" charset="0"/>
              </a:rPr>
              <a:t>n </a:t>
            </a:r>
            <a:r>
              <a:rPr kumimoji="1" lang="en-US" altLang="zh-CN" sz="3600">
                <a:latin typeface="Times New Roman" charset="0"/>
                <a:ea typeface="楷体_GB2312" charset="0"/>
              </a:rPr>
              <a:t>×</a:t>
            </a:r>
            <a:r>
              <a:rPr kumimoji="1" lang="en-US" altLang="zh-CN" sz="3600" baseline="-25000">
                <a:latin typeface="Times New Roman" charset="0"/>
                <a:ea typeface="楷体_GB2312" charset="0"/>
              </a:rPr>
              <a:t> </a:t>
            </a:r>
            <a:r>
              <a:rPr kumimoji="1" lang="en-US" altLang="zh-CN" sz="3600">
                <a:latin typeface="Times New Roman" charset="0"/>
                <a:ea typeface="楷体_GB2312" charset="0"/>
              </a:rPr>
              <a:t>j</a:t>
            </a:r>
            <a:r>
              <a:rPr kumimoji="1" lang="en-US" altLang="zh-CN" sz="3600" baseline="-25000">
                <a:latin typeface="Times New Roman" charset="0"/>
                <a:ea typeface="楷体_GB2312" charset="0"/>
              </a:rPr>
              <a:t>1</a:t>
            </a:r>
            <a:r>
              <a:rPr kumimoji="1" lang="en-US" altLang="zh-CN" sz="3600">
                <a:latin typeface="Times New Roman" charset="0"/>
                <a:ea typeface="楷体_GB2312" charset="0"/>
              </a:rPr>
              <a:t> + b</a:t>
            </a:r>
            <a:r>
              <a:rPr kumimoji="1" lang="en-US" altLang="zh-CN" sz="3600" baseline="-25000">
                <a:latin typeface="Times New Roman" charset="0"/>
                <a:ea typeface="楷体_GB2312" charset="0"/>
              </a:rPr>
              <a:t>3</a:t>
            </a:r>
            <a:r>
              <a:rPr kumimoji="1" lang="en-US" altLang="zh-CN" sz="3600">
                <a:latin typeface="Times New Roman" charset="0"/>
                <a:ea typeface="楷体_GB2312" charset="0"/>
              </a:rPr>
              <a:t> ×.. × b</a:t>
            </a:r>
            <a:r>
              <a:rPr kumimoji="1" lang="en-US" altLang="zh-CN" sz="3600" baseline="-25000">
                <a:latin typeface="Times New Roman" charset="0"/>
                <a:ea typeface="楷体_GB2312" charset="0"/>
              </a:rPr>
              <a:t>n </a:t>
            </a:r>
            <a:r>
              <a:rPr kumimoji="1" lang="en-US" altLang="zh-CN" sz="3600">
                <a:latin typeface="Times New Roman" charset="0"/>
                <a:ea typeface="楷体_GB2312" charset="0"/>
              </a:rPr>
              <a:t>×</a:t>
            </a:r>
            <a:r>
              <a:rPr kumimoji="1" lang="en-US" altLang="zh-CN" sz="3600" baseline="-25000">
                <a:latin typeface="Times New Roman" charset="0"/>
                <a:ea typeface="楷体_GB2312" charset="0"/>
              </a:rPr>
              <a:t> </a:t>
            </a:r>
            <a:r>
              <a:rPr kumimoji="1" lang="en-US" altLang="zh-CN" sz="3600">
                <a:latin typeface="Times New Roman" charset="0"/>
                <a:ea typeface="楷体_GB2312" charset="0"/>
              </a:rPr>
              <a:t>j</a:t>
            </a:r>
            <a:r>
              <a:rPr kumimoji="1" lang="en-US" altLang="zh-CN" sz="3600" baseline="-25000">
                <a:latin typeface="Times New Roman" charset="0"/>
                <a:ea typeface="楷体_GB2312" charset="0"/>
              </a:rPr>
              <a:t>2 </a:t>
            </a:r>
            <a:r>
              <a:rPr kumimoji="1" lang="en-US" altLang="zh-CN" sz="3600">
                <a:latin typeface="Times New Roman" charset="0"/>
                <a:ea typeface="楷体_GB2312" charset="0"/>
              </a:rPr>
              <a:t>+</a:t>
            </a:r>
          </a:p>
          <a:p>
            <a:pPr eaLnBrk="1" hangingPunct="1"/>
            <a:r>
              <a:rPr kumimoji="1" lang="en-US" altLang="zh-CN" sz="3600">
                <a:latin typeface="Times New Roman" charset="0"/>
                <a:ea typeface="楷体_GB2312" charset="0"/>
              </a:rPr>
              <a:t> b</a:t>
            </a:r>
            <a:r>
              <a:rPr kumimoji="1" lang="en-US" altLang="zh-CN" sz="3600" baseline="-25000">
                <a:latin typeface="Times New Roman" charset="0"/>
                <a:ea typeface="楷体_GB2312" charset="0"/>
              </a:rPr>
              <a:t>n </a:t>
            </a:r>
            <a:r>
              <a:rPr kumimoji="1" lang="en-US" altLang="zh-CN" sz="3600">
                <a:latin typeface="Times New Roman" charset="0"/>
                <a:ea typeface="楷体_GB2312" charset="0"/>
              </a:rPr>
              <a:t>×</a:t>
            </a:r>
            <a:r>
              <a:rPr kumimoji="1" lang="en-US" altLang="zh-CN" sz="3600" baseline="-25000">
                <a:latin typeface="Times New Roman" charset="0"/>
                <a:ea typeface="楷体_GB2312" charset="0"/>
              </a:rPr>
              <a:t> </a:t>
            </a:r>
            <a:r>
              <a:rPr kumimoji="1" lang="en-US" altLang="zh-CN" sz="3600">
                <a:latin typeface="Times New Roman" charset="0"/>
                <a:ea typeface="楷体_GB2312" charset="0"/>
              </a:rPr>
              <a:t>j</a:t>
            </a:r>
            <a:r>
              <a:rPr kumimoji="1" lang="en-US" altLang="zh-CN" sz="3600" baseline="-25000">
                <a:latin typeface="Times New Roman" charset="0"/>
                <a:ea typeface="楷体_GB2312" charset="0"/>
              </a:rPr>
              <a:t>n-1 </a:t>
            </a:r>
            <a:r>
              <a:rPr kumimoji="1" lang="en-US" altLang="zh-CN" sz="3600">
                <a:latin typeface="Times New Roman" charset="0"/>
                <a:ea typeface="楷体_GB2312" charset="0"/>
              </a:rPr>
              <a:t>+</a:t>
            </a:r>
            <a:r>
              <a:rPr kumimoji="1" lang="en-US" altLang="zh-CN" sz="3600" baseline="-25000">
                <a:latin typeface="Times New Roman" charset="0"/>
                <a:ea typeface="楷体_GB2312" charset="0"/>
              </a:rPr>
              <a:t> </a:t>
            </a:r>
            <a:r>
              <a:rPr kumimoji="1" lang="en-US" altLang="zh-CN" sz="3600">
                <a:latin typeface="Times New Roman" charset="0"/>
                <a:ea typeface="楷体_GB2312" charset="0"/>
              </a:rPr>
              <a:t>j</a:t>
            </a:r>
            <a:r>
              <a:rPr kumimoji="1" lang="en-US" altLang="zh-CN" sz="3600" baseline="-25000">
                <a:latin typeface="Times New Roman" charset="0"/>
                <a:ea typeface="楷体_GB2312" charset="0"/>
              </a:rPr>
              <a:t>n</a:t>
            </a:r>
            <a:r>
              <a:rPr kumimoji="1" lang="en-US" altLang="zh-CN" sz="3600">
                <a:latin typeface="Times New Roman" charset="0"/>
                <a:ea typeface="楷体_GB2312" charset="0"/>
              </a:rPr>
              <a:t>) ×L</a:t>
            </a:r>
          </a:p>
        </p:txBody>
      </p:sp>
    </p:spTree>
    <p:extLst>
      <p:ext uri="{BB962C8B-B14F-4D97-AF65-F5344CB8AC3E}">
        <p14:creationId xmlns:p14="http://schemas.microsoft.com/office/powerpoint/2010/main" val="2950778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2037"/>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72038"/>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72039"/>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72040"/>
                                        </p:tgtEl>
                                        <p:attrNameLst>
                                          <p:attrName>style.visibility</p:attrName>
                                        </p:attrNameLst>
                                      </p:cBhvr>
                                      <p:to>
                                        <p:strVal val="visible"/>
                                      </p:to>
                                    </p:set>
                                  </p:childTnLst>
                                </p:cTn>
                              </p:par>
                            </p:childTnLst>
                          </p:cTn>
                        </p:par>
                        <p:par>
                          <p:cTn id="16" fill="hold" nodeType="afterGroup">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7203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172035"/>
                                        </p:tgtEl>
                                        <p:attrNameLst>
                                          <p:attrName>style.visibility</p:attrName>
                                        </p:attrNameLst>
                                      </p:cBhvr>
                                      <p:to>
                                        <p:strVal val="visible"/>
                                      </p:to>
                                    </p:set>
                                    <p:animEffect transition="in" filter="wipe(left)">
                                      <p:cBhvr>
                                        <p:cTn id="23" dur="300"/>
                                        <p:tgtEl>
                                          <p:spTgt spid="172035"/>
                                        </p:tgtEl>
                                      </p:cBhvr>
                                    </p:animEffect>
                                  </p:childTnLst>
                                </p:cTn>
                              </p:par>
                            </p:childTnLst>
                          </p:cTn>
                        </p:par>
                        <p:par>
                          <p:cTn id="24" fill="hold" nodeType="afterGroup">
                            <p:stCondLst>
                              <p:cond delay="5700"/>
                            </p:stCondLst>
                            <p:childTnLst>
                              <p:par>
                                <p:cTn id="25" presetID="2" presetClass="entr" presetSubtype="8" fill="hold" grpId="0" nodeType="afterEffect">
                                  <p:stCondLst>
                                    <p:cond delay="0"/>
                                  </p:stCondLst>
                                  <p:childTnLst>
                                    <p:set>
                                      <p:cBhvr>
                                        <p:cTn id="26" dur="1" fill="hold">
                                          <p:stCondLst>
                                            <p:cond delay="0"/>
                                          </p:stCondLst>
                                        </p:cTn>
                                        <p:tgtEl>
                                          <p:spTgt spid="172041"/>
                                        </p:tgtEl>
                                        <p:attrNameLst>
                                          <p:attrName>style.visibility</p:attrName>
                                        </p:attrNameLst>
                                      </p:cBhvr>
                                      <p:to>
                                        <p:strVal val="visible"/>
                                      </p:to>
                                    </p:set>
                                    <p:anim calcmode="lin" valueType="num">
                                      <p:cBhvr additive="base">
                                        <p:cTn id="27" dur="500" fill="hold"/>
                                        <p:tgtEl>
                                          <p:spTgt spid="172041"/>
                                        </p:tgtEl>
                                        <p:attrNameLst>
                                          <p:attrName>ppt_x</p:attrName>
                                        </p:attrNameLst>
                                      </p:cBhvr>
                                      <p:tavLst>
                                        <p:tav tm="0">
                                          <p:val>
                                            <p:strVal val="0-#ppt_w/2"/>
                                          </p:val>
                                        </p:tav>
                                        <p:tav tm="100000">
                                          <p:val>
                                            <p:strVal val="#ppt_x"/>
                                          </p:val>
                                        </p:tav>
                                      </p:tavLst>
                                    </p:anim>
                                    <p:anim calcmode="lin" valueType="num">
                                      <p:cBhvr additive="base">
                                        <p:cTn id="28" dur="500" fill="hold"/>
                                        <p:tgtEl>
                                          <p:spTgt spid="172041"/>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720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autoUpdateAnimBg="0"/>
      <p:bldP spid="172036" grpId="0" autoUpdateAnimBg="0"/>
      <p:bldP spid="172037" grpId="0" autoUpdateAnimBg="0"/>
      <p:bldP spid="172038" grpId="0" autoUpdateAnimBg="0"/>
      <p:bldP spid="172039" grpId="0" autoUpdateAnimBg="0"/>
      <p:bldP spid="172040" grpId="0" autoUpdateAnimBg="0"/>
      <p:bldP spid="172041" grpId="0" animBg="1"/>
      <p:bldP spid="17205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468313" y="1125538"/>
            <a:ext cx="8382000" cy="770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en-US" altLang="zh-CN" sz="3600">
                <a:latin typeface="Times New Roman" charset="0"/>
                <a:ea typeface="楷体_GB2312" charset="0"/>
              </a:rPr>
              <a:t>        </a:t>
            </a:r>
            <a:r>
              <a:rPr kumimoji="1" lang="zh-CN" altLang="en-US" sz="3600">
                <a:latin typeface="Times New Roman" charset="0"/>
                <a:ea typeface="楷体_GB2312" charset="0"/>
              </a:rPr>
              <a:t>矩阵中非零元素呈某种规律分布或者矩阵中出现大量的零元素的情况下，为了节省存储空间，需要对它们进行“</a:t>
            </a:r>
            <a:r>
              <a:rPr kumimoji="1" lang="zh-CN" altLang="en-US" sz="3600" b="1">
                <a:solidFill>
                  <a:srgbClr val="FF0000"/>
                </a:solidFill>
                <a:latin typeface="Times New Roman" charset="0"/>
                <a:ea typeface="楷体_GB2312" charset="0"/>
              </a:rPr>
              <a:t>压缩存储</a:t>
            </a:r>
            <a:r>
              <a:rPr kumimoji="1" lang="zh-CN" altLang="en-US" sz="3600">
                <a:latin typeface="Times New Roman" charset="0"/>
                <a:ea typeface="楷体_GB2312" charset="0"/>
              </a:rPr>
              <a:t>”，即为多个值相同的元素分配一个存储空间；对零元不分配空间。</a:t>
            </a:r>
          </a:p>
          <a:p>
            <a:pPr eaLnBrk="1" hangingPunct="1">
              <a:lnSpc>
                <a:spcPct val="125000"/>
              </a:lnSpc>
            </a:pPr>
            <a:r>
              <a:rPr kumimoji="1" lang="zh-CN" altLang="en-US" sz="3600">
                <a:latin typeface="Times New Roman" charset="0"/>
                <a:ea typeface="楷体_GB2312" charset="0"/>
              </a:rPr>
              <a:t>     值相同的元素或者零元素在矩阵中的分布是否有规律 ：</a:t>
            </a:r>
            <a:r>
              <a:rPr kumimoji="1" lang="zh-CN" altLang="en-US" sz="3600" b="1">
                <a:solidFill>
                  <a:srgbClr val="FF0000"/>
                </a:solidFill>
                <a:latin typeface="Times New Roman" charset="0"/>
                <a:ea typeface="楷体_GB2312" charset="0"/>
              </a:rPr>
              <a:t>特殊矩阵</a:t>
            </a:r>
            <a:r>
              <a:rPr kumimoji="1" lang="zh-CN" altLang="en-US" sz="3600">
                <a:latin typeface="Times New Roman" charset="0"/>
                <a:ea typeface="楷体_GB2312" charset="0"/>
              </a:rPr>
              <a:t>和</a:t>
            </a:r>
            <a:r>
              <a:rPr kumimoji="1" lang="zh-CN" altLang="en-US" sz="3600" b="1">
                <a:solidFill>
                  <a:srgbClr val="FF0000"/>
                </a:solidFill>
                <a:latin typeface="Times New Roman" charset="0"/>
                <a:ea typeface="楷体_GB2312" charset="0"/>
              </a:rPr>
              <a:t>稀疏矩阵</a:t>
            </a:r>
            <a:r>
              <a:rPr kumimoji="1" lang="zh-CN" altLang="en-US" sz="3600">
                <a:latin typeface="Times New Roman" charset="0"/>
                <a:ea typeface="楷体_GB2312" charset="0"/>
              </a:rPr>
              <a:t>。</a:t>
            </a:r>
          </a:p>
          <a:p>
            <a:pPr eaLnBrk="1" hangingPunct="1">
              <a:lnSpc>
                <a:spcPct val="125000"/>
              </a:lnSpc>
            </a:pPr>
            <a:endParaRPr kumimoji="1" lang="zh-CN" altLang="en-US" sz="3600">
              <a:latin typeface="Times New Roman" charset="0"/>
              <a:ea typeface="楷体_GB2312" charset="0"/>
            </a:endParaRPr>
          </a:p>
          <a:p>
            <a:pPr eaLnBrk="1" hangingPunct="1">
              <a:lnSpc>
                <a:spcPct val="125000"/>
              </a:lnSpc>
            </a:pPr>
            <a:endParaRPr kumimoji="1" lang="zh-CN" altLang="en-US" sz="3600" b="1">
              <a:solidFill>
                <a:srgbClr val="FF0000"/>
              </a:solidFill>
              <a:latin typeface="Times New Roman" charset="0"/>
              <a:ea typeface="楷体_GB2312" charset="0"/>
            </a:endParaRPr>
          </a:p>
          <a:p>
            <a:pPr eaLnBrk="1" hangingPunct="1">
              <a:lnSpc>
                <a:spcPct val="135000"/>
              </a:lnSpc>
            </a:pPr>
            <a:endParaRPr kumimoji="1" lang="en-US" altLang="zh-CN" sz="3600" b="1">
              <a:latin typeface="Times New Roman" charset="0"/>
              <a:ea typeface="楷体_GB2312" charset="0"/>
            </a:endParaRPr>
          </a:p>
        </p:txBody>
      </p:sp>
      <p:sp>
        <p:nvSpPr>
          <p:cNvPr id="22531" name="Text Box 3"/>
          <p:cNvSpPr txBox="1">
            <a:spLocks noChangeArrowheads="1"/>
          </p:cNvSpPr>
          <p:nvPr/>
        </p:nvSpPr>
        <p:spPr bwMode="auto">
          <a:xfrm>
            <a:off x="1660525" y="328613"/>
            <a:ext cx="50847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CC3399"/>
                </a:solidFill>
                <a:latin typeface="Times New Roman" charset="0"/>
                <a:ea typeface="楷体_GB2312" charset="0"/>
              </a:rPr>
              <a:t>5.3  </a:t>
            </a:r>
            <a:r>
              <a:rPr kumimoji="1" lang="zh-CN" altLang="en-US" sz="4400" b="1">
                <a:solidFill>
                  <a:srgbClr val="CC3399"/>
                </a:solidFill>
                <a:latin typeface="Times New Roman" charset="0"/>
                <a:ea typeface="楷体_GB2312" charset="0"/>
              </a:rPr>
              <a:t>矩阵的压缩存储</a:t>
            </a:r>
            <a:endParaRPr kumimoji="1" lang="zh-CN" altLang="en-US" sz="4400">
              <a:latin typeface="Times New Roman" charset="0"/>
            </a:endParaRPr>
          </a:p>
        </p:txBody>
      </p:sp>
      <p:sp>
        <p:nvSpPr>
          <p:cNvPr id="22532" name="Text Box 4"/>
          <p:cNvSpPr txBox="1">
            <a:spLocks noChangeArrowheads="1"/>
          </p:cNvSpPr>
          <p:nvPr/>
        </p:nvSpPr>
        <p:spPr bwMode="auto">
          <a:xfrm>
            <a:off x="684213" y="5734050"/>
            <a:ext cx="18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kumimoji="1" lang="zh-CN" altLang="zh-CN" sz="4000">
              <a:solidFill>
                <a:srgbClr val="9933FF"/>
              </a:solidFill>
              <a:latin typeface="Times New Roman" charset="0"/>
              <a:ea typeface="楷体_GB2312" charset="0"/>
            </a:endParaRPr>
          </a:p>
        </p:txBody>
      </p:sp>
    </p:spTree>
    <p:extLst>
      <p:ext uri="{BB962C8B-B14F-4D97-AF65-F5344CB8AC3E}">
        <p14:creationId xmlns:p14="http://schemas.microsoft.com/office/powerpoint/2010/main" val="12500256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3058">
                                            <p:txEl>
                                              <p:pRg st="0" end="0"/>
                                            </p:txEl>
                                          </p:spTgt>
                                        </p:tgtEl>
                                        <p:attrNameLst>
                                          <p:attrName>style.visibility</p:attrName>
                                        </p:attrNameLst>
                                      </p:cBhvr>
                                      <p:to>
                                        <p:strVal val="visible"/>
                                      </p:to>
                                    </p:set>
                                    <p:anim calcmode="lin" valueType="num">
                                      <p:cBhvr additive="base">
                                        <p:cTn id="7" dur="500" fill="hold"/>
                                        <p:tgtEl>
                                          <p:spTgt spid="17305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305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73058">
                                            <p:txEl>
                                              <p:pRg st="1" end="1"/>
                                            </p:txEl>
                                          </p:spTgt>
                                        </p:tgtEl>
                                        <p:attrNameLst>
                                          <p:attrName>style.visibility</p:attrName>
                                        </p:attrNameLst>
                                      </p:cBhvr>
                                      <p:to>
                                        <p:strVal val="visible"/>
                                      </p:to>
                                    </p:set>
                                    <p:animEffect transition="in" filter="blinds(horizontal)">
                                      <p:cBhvr>
                                        <p:cTn id="13" dur="500"/>
                                        <p:tgtEl>
                                          <p:spTgt spid="1730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539750" y="2260600"/>
            <a:ext cx="8382000" cy="467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3600">
                <a:latin typeface="Times New Roman" charset="0"/>
                <a:ea typeface="楷体_GB2312" charset="0"/>
              </a:rPr>
              <a:t>如果矩阵中值相同的元素或零元素在矩阵中的分布有一定规律，则称之谓</a:t>
            </a:r>
            <a:r>
              <a:rPr kumimoji="1" lang="en-US" altLang="zh-CN" sz="3600">
                <a:latin typeface="Times New Roman" charset="0"/>
                <a:ea typeface="楷体_GB2312" charset="0"/>
              </a:rPr>
              <a:t>"</a:t>
            </a:r>
            <a:r>
              <a:rPr kumimoji="1" lang="zh-CN" altLang="en-US" sz="3600" b="1">
                <a:solidFill>
                  <a:srgbClr val="FF0000"/>
                </a:solidFill>
                <a:latin typeface="Times New Roman" charset="0"/>
                <a:ea typeface="楷体_GB2312" charset="0"/>
              </a:rPr>
              <a:t>特殊矩阵</a:t>
            </a:r>
            <a:r>
              <a:rPr kumimoji="1" lang="en-US" altLang="zh-CN" sz="3600">
                <a:latin typeface="Times New Roman" charset="0"/>
                <a:ea typeface="楷体_GB2312" charset="0"/>
              </a:rPr>
              <a:t>" </a:t>
            </a:r>
            <a:r>
              <a:rPr kumimoji="1" lang="zh-CN" altLang="en-US" sz="3600">
                <a:latin typeface="Times New Roman" charset="0"/>
                <a:ea typeface="楷体_GB2312" charset="0"/>
              </a:rPr>
              <a:t>。</a:t>
            </a:r>
          </a:p>
          <a:p>
            <a:pPr eaLnBrk="1" hangingPunct="1">
              <a:lnSpc>
                <a:spcPct val="125000"/>
              </a:lnSpc>
            </a:pPr>
            <a:endParaRPr kumimoji="1" lang="zh-CN" altLang="en-US" sz="2400">
              <a:latin typeface="Times New Roman" charset="0"/>
              <a:ea typeface="楷体_GB2312" charset="0"/>
            </a:endParaRPr>
          </a:p>
          <a:p>
            <a:pPr eaLnBrk="1" hangingPunct="1">
              <a:lnSpc>
                <a:spcPct val="125000"/>
              </a:lnSpc>
            </a:pPr>
            <a:r>
              <a:rPr kumimoji="1" lang="zh-CN" altLang="en-US" sz="3600">
                <a:latin typeface="Times New Roman" charset="0"/>
                <a:ea typeface="楷体_GB2312" charset="0"/>
              </a:rPr>
              <a:t>常见的特殊矩阵：对角矩阵、上（下）三角矩阵、对称矩阵、</a:t>
            </a:r>
            <a:r>
              <a:rPr kumimoji="1" lang="en-US" altLang="zh-CN" sz="3600">
                <a:latin typeface="Times New Roman" charset="0"/>
                <a:ea typeface="楷体_GB2312" charset="0"/>
              </a:rPr>
              <a:t>……</a:t>
            </a:r>
          </a:p>
          <a:p>
            <a:pPr eaLnBrk="1" hangingPunct="1">
              <a:lnSpc>
                <a:spcPct val="125000"/>
              </a:lnSpc>
            </a:pPr>
            <a:endParaRPr kumimoji="1" lang="en-US" altLang="zh-CN" sz="3600" b="1">
              <a:latin typeface="Times New Roman" charset="0"/>
              <a:ea typeface="楷体_GB2312" charset="0"/>
            </a:endParaRPr>
          </a:p>
        </p:txBody>
      </p:sp>
      <p:sp>
        <p:nvSpPr>
          <p:cNvPr id="23555" name="Text Box 3"/>
          <p:cNvSpPr txBox="1">
            <a:spLocks noChangeArrowheads="1"/>
          </p:cNvSpPr>
          <p:nvPr/>
        </p:nvSpPr>
        <p:spPr bwMode="auto">
          <a:xfrm>
            <a:off x="971550" y="1397000"/>
            <a:ext cx="2222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800000"/>
                </a:solidFill>
                <a:latin typeface="Times New Roman" charset="0"/>
                <a:ea typeface="楷体_GB2312" charset="0"/>
              </a:rPr>
              <a:t>特殊矩阵</a:t>
            </a:r>
            <a:endParaRPr kumimoji="1" lang="zh-CN" altLang="en-US" sz="4400" b="1">
              <a:latin typeface="Times New Roman" charset="0"/>
            </a:endParaRPr>
          </a:p>
        </p:txBody>
      </p:sp>
    </p:spTree>
    <p:extLst>
      <p:ext uri="{BB962C8B-B14F-4D97-AF65-F5344CB8AC3E}">
        <p14:creationId xmlns:p14="http://schemas.microsoft.com/office/powerpoint/2010/main" val="5437373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4082">
                                            <p:txEl>
                                              <p:pRg st="0" end="0"/>
                                            </p:txEl>
                                          </p:spTgt>
                                        </p:tgtEl>
                                        <p:attrNameLst>
                                          <p:attrName>style.visibility</p:attrName>
                                        </p:attrNameLst>
                                      </p:cBhvr>
                                      <p:to>
                                        <p:strVal val="visible"/>
                                      </p:to>
                                    </p:set>
                                    <p:animEffect transition="in" filter="box(in)">
                                      <p:cBhvr>
                                        <p:cTn id="7" dur="500"/>
                                        <p:tgtEl>
                                          <p:spTgt spid="1740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74082">
                                            <p:txEl>
                                              <p:pRg st="2" end="2"/>
                                            </p:txEl>
                                          </p:spTgt>
                                        </p:tgtEl>
                                        <p:attrNameLst>
                                          <p:attrName>style.visibility</p:attrName>
                                        </p:attrNameLst>
                                      </p:cBhvr>
                                      <p:to>
                                        <p:strVal val="visible"/>
                                      </p:to>
                                    </p:set>
                                    <p:animEffect transition="in" filter="checkerboard(across)">
                                      <p:cBhvr>
                                        <p:cTn id="12" dur="500"/>
                                        <p:tgtEl>
                                          <p:spTgt spid="17408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762000" y="981075"/>
            <a:ext cx="8382000" cy="490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3600">
                <a:latin typeface="Times New Roman" charset="0"/>
                <a:ea typeface="楷体_GB2312" charset="0"/>
              </a:rPr>
              <a:t>由于特殊矩阵中的非零值元素在矩阵中的分布有着一定的规律，则可将这些非零值元连续存储在一个一维数组中。即矩阵中的任何一个元素和它们在一维数组中的位置之间存在着某种</a:t>
            </a:r>
            <a:r>
              <a:rPr kumimoji="1" lang="en-US" altLang="zh-CN" sz="3600">
                <a:latin typeface="Times New Roman" charset="0"/>
                <a:ea typeface="楷体_GB2312" charset="0"/>
              </a:rPr>
              <a:t>"</a:t>
            </a:r>
            <a:r>
              <a:rPr kumimoji="1" lang="zh-CN" altLang="en-US" sz="3600">
                <a:latin typeface="Times New Roman" charset="0"/>
                <a:ea typeface="楷体_GB2312" charset="0"/>
              </a:rPr>
              <a:t>转换关系</a:t>
            </a:r>
            <a:r>
              <a:rPr kumimoji="1" lang="en-US" altLang="zh-CN" sz="3600">
                <a:latin typeface="Times New Roman" charset="0"/>
                <a:ea typeface="楷体_GB2312" charset="0"/>
              </a:rPr>
              <a:t>"</a:t>
            </a:r>
            <a:r>
              <a:rPr kumimoji="1" lang="zh-CN" altLang="en-US" sz="3600">
                <a:latin typeface="Times New Roman" charset="0"/>
                <a:ea typeface="楷体_GB2312" charset="0"/>
              </a:rPr>
              <a:t>，并且这种转换关系可以用数学公式表示之。</a:t>
            </a:r>
            <a:r>
              <a:rPr kumimoji="1" lang="zh-CN" altLang="en-US" sz="3600" b="1">
                <a:latin typeface="Times New Roman" charset="0"/>
                <a:ea typeface="楷体_GB2312" charset="0"/>
              </a:rPr>
              <a:t>。</a:t>
            </a:r>
          </a:p>
        </p:txBody>
      </p:sp>
      <p:sp>
        <p:nvSpPr>
          <p:cNvPr id="24579" name="Text Box 3"/>
          <p:cNvSpPr txBox="1">
            <a:spLocks noChangeArrowheads="1"/>
          </p:cNvSpPr>
          <p:nvPr/>
        </p:nvSpPr>
        <p:spPr bwMode="auto">
          <a:xfrm>
            <a:off x="1416050" y="260350"/>
            <a:ext cx="323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a:solidFill>
                  <a:srgbClr val="9933FF"/>
                </a:solidFill>
                <a:latin typeface="Times New Roman" charset="0"/>
                <a:ea typeface="楷体_GB2312" charset="0"/>
              </a:rPr>
              <a:t>存储映象方法</a:t>
            </a:r>
            <a:endParaRPr kumimoji="1" lang="zh-CN" altLang="en-US" sz="4400">
              <a:latin typeface="Times New Roman" charset="0"/>
            </a:endParaRPr>
          </a:p>
        </p:txBody>
      </p:sp>
    </p:spTree>
    <p:extLst>
      <p:ext uri="{BB962C8B-B14F-4D97-AF65-F5344CB8AC3E}">
        <p14:creationId xmlns:p14="http://schemas.microsoft.com/office/powerpoint/2010/main" val="4890551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76200"/>
            <a:ext cx="7772400" cy="1035050"/>
          </a:xfrm>
        </p:spPr>
        <p:txBody>
          <a:bodyPr/>
          <a:lstStyle/>
          <a:p>
            <a:pPr eaLnBrk="1" hangingPunct="1"/>
            <a:r>
              <a:rPr lang="zh-CN" altLang="en-US" sz="3600" b="0">
                <a:ea typeface="华文新魏" charset="-122"/>
              </a:rPr>
              <a:t>对称矩阵的压缩存储</a:t>
            </a:r>
            <a:endParaRPr lang="zh-CN" altLang="en-US">
              <a:ea typeface="华文新魏" charset="-122"/>
            </a:endParaRPr>
          </a:p>
        </p:txBody>
      </p:sp>
      <p:sp>
        <p:nvSpPr>
          <p:cNvPr id="25603" name="Rectangle 3"/>
          <p:cNvSpPr>
            <a:spLocks noGrp="1" noChangeArrowheads="1"/>
          </p:cNvSpPr>
          <p:nvPr>
            <p:ph type="body" idx="1"/>
          </p:nvPr>
        </p:nvSpPr>
        <p:spPr>
          <a:xfrm>
            <a:off x="622300" y="1333500"/>
            <a:ext cx="8001000" cy="685800"/>
          </a:xfrm>
        </p:spPr>
        <p:txBody>
          <a:bodyPr/>
          <a:lstStyle/>
          <a:p>
            <a:pPr eaLnBrk="1" hangingPunct="1">
              <a:buClr>
                <a:srgbClr val="800080"/>
              </a:buClr>
              <a:buSzPct val="50000"/>
            </a:pPr>
            <a:r>
              <a:rPr lang="zh-CN" altLang="en-US" sz="3400" b="1">
                <a:latin typeface="Times New Roman" charset="0"/>
                <a:ea typeface="仿宋_GB2312" charset="0"/>
              </a:rPr>
              <a:t>设有一个 </a:t>
            </a:r>
            <a:r>
              <a:rPr lang="en-US" altLang="zh-CN" sz="3400" b="1">
                <a:latin typeface="Times New Roman" charset="0"/>
                <a:ea typeface="仿宋_GB2312" charset="0"/>
              </a:rPr>
              <a:t>n</a:t>
            </a:r>
            <a:r>
              <a:rPr lang="en-US" altLang="zh-CN" sz="3400" b="1">
                <a:latin typeface="Times New Roman" charset="0"/>
                <a:ea typeface="仿宋_GB2312" charset="0"/>
                <a:sym typeface="Symbol" charset="2"/>
              </a:rPr>
              <a:t></a:t>
            </a:r>
            <a:r>
              <a:rPr lang="en-US" altLang="zh-CN" sz="3400" b="1">
                <a:latin typeface="Times New Roman" charset="0"/>
                <a:ea typeface="仿宋_GB2312" charset="0"/>
              </a:rPr>
              <a:t>n </a:t>
            </a:r>
            <a:r>
              <a:rPr lang="zh-CN" altLang="en-US" sz="3400" b="1">
                <a:latin typeface="Times New Roman" charset="0"/>
                <a:ea typeface="仿宋_GB2312" charset="0"/>
              </a:rPr>
              <a:t>的对称矩阵 </a:t>
            </a:r>
            <a:r>
              <a:rPr lang="en-US" altLang="zh-CN" sz="3400" b="1">
                <a:latin typeface="Times New Roman" charset="0"/>
                <a:ea typeface="仿宋_GB2312" charset="0"/>
              </a:rPr>
              <a:t>A</a:t>
            </a:r>
            <a:r>
              <a:rPr lang="zh-CN" altLang="en-US" sz="3400" b="1">
                <a:latin typeface="Times New Roman" charset="0"/>
                <a:ea typeface="仿宋_GB2312" charset="0"/>
              </a:rPr>
              <a:t>。</a:t>
            </a:r>
          </a:p>
        </p:txBody>
      </p:sp>
      <p:graphicFrame>
        <p:nvGraphicFramePr>
          <p:cNvPr id="25604" name="Object 4"/>
          <p:cNvGraphicFramePr>
            <a:graphicFrameLocks noChangeAspect="1"/>
          </p:cNvGraphicFramePr>
          <p:nvPr/>
        </p:nvGraphicFramePr>
        <p:xfrm>
          <a:off x="1449388" y="2078038"/>
          <a:ext cx="6359525" cy="2738437"/>
        </p:xfrm>
        <a:graphic>
          <a:graphicData uri="http://schemas.openxmlformats.org/presentationml/2006/ole">
            <mc:AlternateContent xmlns:mc="http://schemas.openxmlformats.org/markup-compatibility/2006">
              <mc:Choice xmlns:v="urn:schemas-microsoft-com:vml" Requires="v">
                <p:oleObj spid="_x0000_s572419" name="公式" r:id="rId3" imgW="2152769" imgH="905113" progId="Equation.3">
                  <p:embed/>
                </p:oleObj>
              </mc:Choice>
              <mc:Fallback>
                <p:oleObj name="公式" r:id="rId3" imgW="2152769" imgH="9051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9388" y="2078038"/>
                        <a:ext cx="6359525" cy="2738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5605" name="Text Box 5"/>
          <p:cNvSpPr txBox="1">
            <a:spLocks noChangeArrowheads="1"/>
          </p:cNvSpPr>
          <p:nvPr/>
        </p:nvSpPr>
        <p:spPr bwMode="auto">
          <a:xfrm>
            <a:off x="736600" y="5029200"/>
            <a:ext cx="7043738"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05000"/>
              </a:lnSpc>
              <a:buClr>
                <a:srgbClr val="990099"/>
              </a:buClr>
              <a:buSzPct val="50000"/>
              <a:buFont typeface="Wingdings" charset="2"/>
              <a:buChar char="n"/>
            </a:pPr>
            <a:r>
              <a:rPr kumimoji="1" lang="zh-CN" altLang="en-US" sz="3000" b="1">
                <a:latin typeface="Courier New" charset="0"/>
                <a:ea typeface="仿宋_GB2312" charset="0"/>
              </a:rPr>
              <a:t>对称矩阵中的元素关于主对角线对称</a:t>
            </a:r>
            <a:r>
              <a:rPr kumimoji="1" lang="zh-CN" altLang="en-US" sz="3000" b="1">
                <a:latin typeface="Times New Roman" charset="0"/>
              </a:rPr>
              <a:t>，</a:t>
            </a:r>
            <a:r>
              <a:rPr kumimoji="1" lang="en-US" altLang="zh-CN" sz="3000" b="1" i="1">
                <a:latin typeface="Times New Roman" charset="0"/>
              </a:rPr>
              <a:t>a</a:t>
            </a:r>
            <a:r>
              <a:rPr kumimoji="1" lang="en-US" altLang="zh-CN" sz="3000" b="1" i="1" baseline="-25000">
                <a:latin typeface="Times New Roman" charset="0"/>
              </a:rPr>
              <a:t>ij</a:t>
            </a:r>
            <a:r>
              <a:rPr kumimoji="1" lang="en-US" altLang="zh-CN" sz="3000" b="1" i="1">
                <a:latin typeface="Times New Roman" charset="0"/>
              </a:rPr>
              <a:t> </a:t>
            </a:r>
            <a:r>
              <a:rPr kumimoji="1" lang="en-US" altLang="zh-CN" sz="3000" b="1">
                <a:latin typeface="Times New Roman" charset="0"/>
              </a:rPr>
              <a:t>= </a:t>
            </a:r>
            <a:r>
              <a:rPr kumimoji="1" lang="en-US" altLang="zh-CN" sz="3000" b="1" i="1">
                <a:latin typeface="Times New Roman" charset="0"/>
              </a:rPr>
              <a:t>a</a:t>
            </a:r>
            <a:r>
              <a:rPr kumimoji="1" lang="en-US" altLang="zh-CN" sz="3000" b="1" i="1" baseline="-25000">
                <a:latin typeface="Times New Roman" charset="0"/>
              </a:rPr>
              <a:t>ji</a:t>
            </a:r>
            <a:r>
              <a:rPr kumimoji="1" lang="zh-CN" altLang="en-US" sz="3000" b="1" baseline="-25000">
                <a:latin typeface="Times New Roman" charset="0"/>
              </a:rPr>
              <a:t>，</a:t>
            </a:r>
            <a:r>
              <a:rPr kumimoji="1" lang="zh-CN" altLang="en-US" sz="3000" b="1" i="1" baseline="-25000">
                <a:latin typeface="Times New Roman" charset="0"/>
              </a:rPr>
              <a:t> </a:t>
            </a:r>
            <a:r>
              <a:rPr kumimoji="1" lang="en-US" altLang="zh-CN" sz="3000" b="1">
                <a:latin typeface="Times New Roman" charset="0"/>
              </a:rPr>
              <a:t>0≤</a:t>
            </a:r>
            <a:r>
              <a:rPr kumimoji="1" lang="en-US" altLang="zh-CN" sz="3000" b="1" i="1">
                <a:latin typeface="Times New Roman" charset="0"/>
              </a:rPr>
              <a:t>i</a:t>
            </a:r>
            <a:r>
              <a:rPr kumimoji="1" lang="en-US" altLang="zh-CN" sz="3000" b="1">
                <a:latin typeface="Times New Roman" charset="0"/>
                <a:ea typeface="仿宋_GB2312" charset="0"/>
              </a:rPr>
              <a:t>, </a:t>
            </a:r>
            <a:r>
              <a:rPr kumimoji="1" lang="en-US" altLang="zh-CN" sz="3000" b="1" i="1">
                <a:latin typeface="Times New Roman" charset="0"/>
                <a:ea typeface="仿宋_GB2312" charset="0"/>
              </a:rPr>
              <a:t>j</a:t>
            </a:r>
            <a:r>
              <a:rPr kumimoji="1" lang="en-US" altLang="zh-CN" sz="3000" b="1">
                <a:latin typeface="Courier New" charset="0"/>
              </a:rPr>
              <a:t>≤</a:t>
            </a:r>
            <a:r>
              <a:rPr kumimoji="1" lang="en-US" altLang="zh-CN" sz="3000" b="1" i="1">
                <a:latin typeface="Times New Roman" charset="0"/>
                <a:ea typeface="仿宋_GB2312" charset="0"/>
              </a:rPr>
              <a:t>n</a:t>
            </a:r>
            <a:r>
              <a:rPr kumimoji="1" lang="en-US" altLang="zh-CN" sz="3000" b="1">
                <a:latin typeface="Courier New" charset="0"/>
                <a:ea typeface="仿宋_GB2312" charset="0"/>
              </a:rPr>
              <a:t>-</a:t>
            </a:r>
            <a:r>
              <a:rPr kumimoji="1" lang="en-US" altLang="zh-CN" sz="3000" b="1">
                <a:latin typeface="Times New Roman" charset="0"/>
                <a:ea typeface="仿宋_GB2312" charset="0"/>
              </a:rPr>
              <a:t>1</a:t>
            </a:r>
            <a:endParaRPr kumimoji="1" lang="en-US" altLang="zh-CN" sz="3000" i="1">
              <a:latin typeface="Times New Roman" charset="0"/>
              <a:ea typeface="仿宋_GB2312" charset="0"/>
            </a:endParaRPr>
          </a:p>
        </p:txBody>
      </p:sp>
      <p:sp>
        <p:nvSpPr>
          <p:cNvPr id="25606" name="AutoShape 6"/>
          <p:cNvSpPr>
            <a:spLocks noChangeArrowheads="1"/>
          </p:cNvSpPr>
          <p:nvPr/>
        </p:nvSpPr>
        <p:spPr bwMode="auto">
          <a:xfrm rot="1524529">
            <a:off x="2192338" y="3224213"/>
            <a:ext cx="5526087" cy="550862"/>
          </a:xfrm>
          <a:prstGeom prst="roundRect">
            <a:avLst>
              <a:gd name="adj" fmla="val 50000"/>
            </a:avLst>
          </a:prstGeom>
          <a:solidFill>
            <a:schemeClr val="accent2">
              <a:alpha val="50195"/>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54081874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p:cNvGraphicFramePr>
            <a:graphicFrameLocks noChangeAspect="1"/>
          </p:cNvGraphicFramePr>
          <p:nvPr/>
        </p:nvGraphicFramePr>
        <p:xfrm>
          <a:off x="1403350" y="2986088"/>
          <a:ext cx="5486400" cy="2971800"/>
        </p:xfrm>
        <a:graphic>
          <a:graphicData uri="http://schemas.openxmlformats.org/presentationml/2006/ole">
            <mc:AlternateContent xmlns:mc="http://schemas.openxmlformats.org/markup-compatibility/2006">
              <mc:Choice xmlns:v="urn:schemas-microsoft-com:vml" Requires="v">
                <p:oleObj spid="_x0000_s573443" name="Equation" r:id="rId3" imgW="1885736" imgH="905113" progId="Equation.3">
                  <p:embed/>
                </p:oleObj>
              </mc:Choice>
              <mc:Fallback>
                <p:oleObj name="Equation" r:id="rId3" imgW="1885736" imgH="9051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2986088"/>
                        <a:ext cx="5486400" cy="297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6627" name="Rectangle 3"/>
          <p:cNvSpPr>
            <a:spLocks noChangeArrowheads="1"/>
          </p:cNvSpPr>
          <p:nvPr/>
        </p:nvSpPr>
        <p:spPr bwMode="auto">
          <a:xfrm>
            <a:off x="5537200" y="5373688"/>
            <a:ext cx="1219200" cy="569912"/>
          </a:xfrm>
          <a:prstGeom prst="rect">
            <a:avLst/>
          </a:prstGeom>
          <a:solidFill>
            <a:srgbClr val="66FF66">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6628" name="Rectangle 4"/>
          <p:cNvSpPr>
            <a:spLocks noChangeArrowheads="1"/>
          </p:cNvSpPr>
          <p:nvPr/>
        </p:nvSpPr>
        <p:spPr bwMode="auto">
          <a:xfrm>
            <a:off x="4724400" y="4930775"/>
            <a:ext cx="838200" cy="1012825"/>
          </a:xfrm>
          <a:prstGeom prst="rect">
            <a:avLst/>
          </a:prstGeom>
          <a:solidFill>
            <a:srgbClr val="66FF66">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6629" name="Rectangle 5"/>
          <p:cNvSpPr>
            <a:spLocks noChangeArrowheads="1"/>
          </p:cNvSpPr>
          <p:nvPr/>
        </p:nvSpPr>
        <p:spPr bwMode="auto">
          <a:xfrm>
            <a:off x="3581400" y="4400550"/>
            <a:ext cx="1143000" cy="1543050"/>
          </a:xfrm>
          <a:prstGeom prst="rect">
            <a:avLst/>
          </a:prstGeom>
          <a:solidFill>
            <a:srgbClr val="66FF66">
              <a:alpha val="34901"/>
            </a:srgbClr>
          </a:solidFill>
          <a:ln>
            <a:noFill/>
          </a:ln>
          <a:effectLst/>
          <a:extLst>
            <a:ext uri="{91240B29-F687-4F45-9708-019B960494DF}">
              <a14:hiddenLine xmlns:a14="http://schemas.microsoft.com/office/drawing/2010/main" w="9525">
                <a:solidFill>
                  <a:srgbClr val="66FF66"/>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6630" name="Rectangle 6"/>
          <p:cNvSpPr>
            <a:spLocks noChangeArrowheads="1"/>
          </p:cNvSpPr>
          <p:nvPr/>
        </p:nvSpPr>
        <p:spPr bwMode="auto">
          <a:xfrm>
            <a:off x="2438400" y="3657600"/>
            <a:ext cx="1143000" cy="2286000"/>
          </a:xfrm>
          <a:prstGeom prst="rect">
            <a:avLst/>
          </a:prstGeom>
          <a:solidFill>
            <a:srgbClr val="66FF66">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6631" name="Rectangle 7"/>
          <p:cNvSpPr>
            <a:spLocks noChangeArrowheads="1"/>
          </p:cNvSpPr>
          <p:nvPr/>
        </p:nvSpPr>
        <p:spPr bwMode="auto">
          <a:xfrm>
            <a:off x="1447800" y="3146425"/>
            <a:ext cx="990600" cy="2797175"/>
          </a:xfrm>
          <a:prstGeom prst="rect">
            <a:avLst/>
          </a:prstGeom>
          <a:solidFill>
            <a:srgbClr val="66FF66">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6632" name="Rectangle 8"/>
          <p:cNvSpPr>
            <a:spLocks noGrp="1" noChangeArrowheads="1"/>
          </p:cNvSpPr>
          <p:nvPr>
            <p:ph type="body" idx="1"/>
          </p:nvPr>
        </p:nvSpPr>
        <p:spPr>
          <a:xfrm>
            <a:off x="723900" y="914400"/>
            <a:ext cx="8001000" cy="2362200"/>
          </a:xfrm>
        </p:spPr>
        <p:txBody>
          <a:bodyPr/>
          <a:lstStyle/>
          <a:p>
            <a:pPr eaLnBrk="1" hangingPunct="1">
              <a:lnSpc>
                <a:spcPct val="105000"/>
              </a:lnSpc>
              <a:buClr>
                <a:srgbClr val="800080"/>
              </a:buClr>
              <a:buSzPct val="50000"/>
            </a:pPr>
            <a:r>
              <a:rPr lang="zh-CN" altLang="en-US" sz="3400" b="1">
                <a:solidFill>
                  <a:srgbClr val="000099"/>
                </a:solidFill>
                <a:ea typeface="仿宋_GB2312" charset="0"/>
              </a:rPr>
              <a:t>为节约存储，只存对角线及对角线以上的元素，或者只存对角线或对角线以下的元素。前者称为</a:t>
            </a:r>
            <a:r>
              <a:rPr lang="zh-CN" altLang="en-US" sz="3400" b="1">
                <a:solidFill>
                  <a:schemeClr val="tx2"/>
                </a:solidFill>
                <a:ea typeface="仿宋_GB2312" charset="0"/>
              </a:rPr>
              <a:t>上三角矩阵</a:t>
            </a:r>
            <a:r>
              <a:rPr lang="zh-CN" altLang="en-US" sz="3400" b="1">
                <a:solidFill>
                  <a:srgbClr val="000099"/>
                </a:solidFill>
                <a:ea typeface="仿宋_GB2312" charset="0"/>
              </a:rPr>
              <a:t>，后者称为</a:t>
            </a:r>
            <a:r>
              <a:rPr lang="zh-CN" altLang="en-US" sz="3400" b="1">
                <a:solidFill>
                  <a:schemeClr val="tx2"/>
                </a:solidFill>
                <a:ea typeface="仿宋_GB2312" charset="0"/>
              </a:rPr>
              <a:t>下三角矩阵</a:t>
            </a:r>
            <a:r>
              <a:rPr lang="zh-CN" altLang="en-US" sz="3400" b="1">
                <a:solidFill>
                  <a:srgbClr val="000099"/>
                </a:solidFill>
                <a:ea typeface="仿宋_GB2312" charset="0"/>
              </a:rPr>
              <a:t>。</a:t>
            </a:r>
          </a:p>
        </p:txBody>
      </p:sp>
      <p:sp>
        <p:nvSpPr>
          <p:cNvPr id="26633" name="Text Box 9"/>
          <p:cNvSpPr txBox="1">
            <a:spLocks noChangeArrowheads="1"/>
          </p:cNvSpPr>
          <p:nvPr/>
        </p:nvSpPr>
        <p:spPr bwMode="auto">
          <a:xfrm>
            <a:off x="7142163" y="3065463"/>
            <a:ext cx="701675" cy="229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80000"/>
              </a:lnSpc>
            </a:pPr>
            <a:r>
              <a:rPr kumimoji="1" lang="zh-CN" altLang="en-US" sz="3600">
                <a:latin typeface="Times New Roman" charset="0"/>
                <a:ea typeface="隶书" charset="0"/>
              </a:rPr>
              <a:t>下三角矩阵</a:t>
            </a:r>
            <a:endParaRPr kumimoji="1" lang="zh-CN" altLang="en-US" sz="3600">
              <a:latin typeface="Times New Roman" charset="0"/>
            </a:endParaRPr>
          </a:p>
        </p:txBody>
      </p:sp>
    </p:spTree>
    <p:extLst>
      <p:ext uri="{BB962C8B-B14F-4D97-AF65-F5344CB8AC3E}">
        <p14:creationId xmlns:p14="http://schemas.microsoft.com/office/powerpoint/2010/main" val="38998124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1727200" y="730250"/>
            <a:ext cx="5338763" cy="2770188"/>
            <a:chOff x="1088" y="364"/>
            <a:chExt cx="3363" cy="1745"/>
          </a:xfrm>
        </p:grpSpPr>
        <p:graphicFrame>
          <p:nvGraphicFramePr>
            <p:cNvPr id="27653" name="Object 3"/>
            <p:cNvGraphicFramePr>
              <a:graphicFrameLocks noChangeAspect="1"/>
            </p:cNvGraphicFramePr>
            <p:nvPr/>
          </p:nvGraphicFramePr>
          <p:xfrm>
            <a:off x="1088" y="364"/>
            <a:ext cx="3363" cy="1745"/>
          </p:xfrm>
          <a:graphic>
            <a:graphicData uri="http://schemas.openxmlformats.org/presentationml/2006/ole">
              <mc:AlternateContent xmlns:mc="http://schemas.openxmlformats.org/markup-compatibility/2006">
                <mc:Choice xmlns:v="urn:schemas-microsoft-com:vml" Requires="v">
                  <p:oleObj spid="_x0000_s574467" name="公式" r:id="rId3" imgW="1885736" imgH="905113" progId="Equation.3">
                    <p:embed/>
                  </p:oleObj>
                </mc:Choice>
                <mc:Fallback>
                  <p:oleObj name="公式" r:id="rId3" imgW="1885736" imgH="9051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 y="364"/>
                          <a:ext cx="3363" cy="17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4" name="Rectangle 4"/>
            <p:cNvSpPr>
              <a:spLocks noChangeArrowheads="1"/>
            </p:cNvSpPr>
            <p:nvPr/>
          </p:nvSpPr>
          <p:spPr bwMode="auto">
            <a:xfrm>
              <a:off x="1125" y="432"/>
              <a:ext cx="666" cy="384"/>
            </a:xfrm>
            <a:prstGeom prst="rect">
              <a:avLst/>
            </a:prstGeom>
            <a:solidFill>
              <a:srgbClr val="FF66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7655" name="Rectangle 5"/>
            <p:cNvSpPr>
              <a:spLocks noChangeArrowheads="1"/>
            </p:cNvSpPr>
            <p:nvPr/>
          </p:nvSpPr>
          <p:spPr bwMode="auto">
            <a:xfrm>
              <a:off x="1788" y="432"/>
              <a:ext cx="657" cy="722"/>
            </a:xfrm>
            <a:prstGeom prst="rect">
              <a:avLst/>
            </a:prstGeom>
            <a:solidFill>
              <a:srgbClr val="FF66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7656" name="Rectangle 6"/>
            <p:cNvSpPr>
              <a:spLocks noChangeArrowheads="1"/>
            </p:cNvSpPr>
            <p:nvPr/>
          </p:nvSpPr>
          <p:spPr bwMode="auto">
            <a:xfrm>
              <a:off x="2446" y="432"/>
              <a:ext cx="626" cy="1065"/>
            </a:xfrm>
            <a:prstGeom prst="rect">
              <a:avLst/>
            </a:prstGeom>
            <a:solidFill>
              <a:srgbClr val="FF66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7657" name="Rectangle 7"/>
            <p:cNvSpPr>
              <a:spLocks noChangeArrowheads="1"/>
            </p:cNvSpPr>
            <p:nvPr/>
          </p:nvSpPr>
          <p:spPr bwMode="auto">
            <a:xfrm>
              <a:off x="3073" y="432"/>
              <a:ext cx="534" cy="1313"/>
            </a:xfrm>
            <a:prstGeom prst="rect">
              <a:avLst/>
            </a:prstGeom>
            <a:solidFill>
              <a:srgbClr val="FF66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7658" name="Rectangle 8"/>
            <p:cNvSpPr>
              <a:spLocks noChangeArrowheads="1"/>
            </p:cNvSpPr>
            <p:nvPr/>
          </p:nvSpPr>
          <p:spPr bwMode="auto">
            <a:xfrm>
              <a:off x="3606" y="432"/>
              <a:ext cx="762" cy="1644"/>
            </a:xfrm>
            <a:prstGeom prst="rect">
              <a:avLst/>
            </a:prstGeom>
            <a:solidFill>
              <a:srgbClr val="FF66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27651" name="Text Box 9"/>
          <p:cNvSpPr txBox="1">
            <a:spLocks noChangeArrowheads="1"/>
          </p:cNvSpPr>
          <p:nvPr/>
        </p:nvSpPr>
        <p:spPr bwMode="auto">
          <a:xfrm>
            <a:off x="7292975" y="1014413"/>
            <a:ext cx="701675" cy="229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80000"/>
              </a:lnSpc>
            </a:pPr>
            <a:r>
              <a:rPr kumimoji="1" lang="zh-CN" altLang="en-US" sz="3600">
                <a:solidFill>
                  <a:srgbClr val="0000CC"/>
                </a:solidFill>
                <a:latin typeface="Times New Roman" charset="0"/>
                <a:ea typeface="隶书" charset="0"/>
              </a:rPr>
              <a:t>上三角矩阵</a:t>
            </a:r>
            <a:endParaRPr kumimoji="1" lang="zh-CN" altLang="en-US" sz="3600">
              <a:latin typeface="Times New Roman" charset="0"/>
            </a:endParaRPr>
          </a:p>
        </p:txBody>
      </p:sp>
      <p:sp>
        <p:nvSpPr>
          <p:cNvPr id="27652" name="Rectangle 10"/>
          <p:cNvSpPr>
            <a:spLocks noGrp="1" noChangeArrowheads="1"/>
          </p:cNvSpPr>
          <p:nvPr>
            <p:ph type="body" idx="1"/>
          </p:nvPr>
        </p:nvSpPr>
        <p:spPr>
          <a:xfrm>
            <a:off x="685800" y="3810000"/>
            <a:ext cx="8001000" cy="2209800"/>
          </a:xfrm>
        </p:spPr>
        <p:txBody>
          <a:bodyPr>
            <a:normAutofit fontScale="92500" lnSpcReduction="10000"/>
          </a:bodyPr>
          <a:lstStyle/>
          <a:p>
            <a:pPr eaLnBrk="1" hangingPunct="1">
              <a:spcBef>
                <a:spcPct val="10000"/>
              </a:spcBef>
              <a:buClr>
                <a:srgbClr val="990099"/>
              </a:buClr>
              <a:buSzPct val="50000"/>
            </a:pPr>
            <a:r>
              <a:rPr lang="zh-CN" altLang="en-US" sz="3400" b="1">
                <a:solidFill>
                  <a:srgbClr val="000099"/>
                </a:solidFill>
                <a:latin typeface="Times New Roman" charset="0"/>
                <a:ea typeface="仿宋_GB2312" charset="0"/>
              </a:rPr>
              <a:t>把它们按行存放于一个一维数组 </a:t>
            </a:r>
            <a:r>
              <a:rPr lang="en-US" altLang="zh-CN" sz="3400" b="1">
                <a:solidFill>
                  <a:srgbClr val="000099"/>
                </a:solidFill>
                <a:latin typeface="Times New Roman" charset="0"/>
                <a:ea typeface="仿宋_GB2312" charset="0"/>
              </a:rPr>
              <a:t>B </a:t>
            </a:r>
            <a:r>
              <a:rPr lang="zh-CN" altLang="en-US" sz="3400" b="1">
                <a:solidFill>
                  <a:srgbClr val="000099"/>
                </a:solidFill>
                <a:latin typeface="Times New Roman" charset="0"/>
                <a:ea typeface="仿宋_GB2312" charset="0"/>
              </a:rPr>
              <a:t>中，称之为对称矩阵 </a:t>
            </a:r>
            <a:r>
              <a:rPr lang="en-US" altLang="zh-CN" sz="3400" b="1">
                <a:solidFill>
                  <a:srgbClr val="000099"/>
                </a:solidFill>
                <a:latin typeface="Times New Roman" charset="0"/>
                <a:ea typeface="仿宋_GB2312" charset="0"/>
              </a:rPr>
              <a:t>A </a:t>
            </a:r>
            <a:r>
              <a:rPr lang="zh-CN" altLang="en-US" sz="3400" b="1">
                <a:solidFill>
                  <a:srgbClr val="000099"/>
                </a:solidFill>
                <a:latin typeface="Times New Roman" charset="0"/>
                <a:ea typeface="仿宋_GB2312" charset="0"/>
              </a:rPr>
              <a:t>的压缩存储方式。</a:t>
            </a:r>
            <a:endParaRPr lang="zh-CN" altLang="en-US" sz="3400" b="1">
              <a:solidFill>
                <a:srgbClr val="0000CC"/>
              </a:solidFill>
              <a:latin typeface="Times New Roman" charset="0"/>
              <a:ea typeface="仿宋_GB2312" charset="0"/>
            </a:endParaRPr>
          </a:p>
          <a:p>
            <a:pPr eaLnBrk="1" hangingPunct="1">
              <a:spcBef>
                <a:spcPct val="10000"/>
              </a:spcBef>
              <a:buClr>
                <a:srgbClr val="990099"/>
              </a:buClr>
              <a:buSzPct val="50000"/>
            </a:pPr>
            <a:r>
              <a:rPr lang="zh-CN" altLang="en-US" sz="3400" b="1">
                <a:solidFill>
                  <a:srgbClr val="000099"/>
                </a:solidFill>
                <a:latin typeface="Times New Roman" charset="0"/>
                <a:ea typeface="仿宋_GB2312" charset="0"/>
              </a:rPr>
              <a:t>数组 </a:t>
            </a:r>
            <a:r>
              <a:rPr lang="en-US" altLang="zh-CN" sz="3400" b="1">
                <a:solidFill>
                  <a:srgbClr val="000099"/>
                </a:solidFill>
                <a:latin typeface="Times New Roman" charset="0"/>
                <a:ea typeface="仿宋_GB2312" charset="0"/>
              </a:rPr>
              <a:t>B </a:t>
            </a:r>
            <a:r>
              <a:rPr lang="zh-CN" altLang="en-US" sz="3400" b="1">
                <a:solidFill>
                  <a:srgbClr val="000099"/>
                </a:solidFill>
                <a:latin typeface="Times New Roman" charset="0"/>
                <a:ea typeface="仿宋_GB2312" charset="0"/>
              </a:rPr>
              <a:t>共有 </a:t>
            </a:r>
            <a:r>
              <a:rPr lang="en-US" altLang="zh-CN" sz="3400" b="1">
                <a:solidFill>
                  <a:srgbClr val="000099"/>
                </a:solidFill>
                <a:latin typeface="Times New Roman" charset="0"/>
                <a:ea typeface="仿宋_GB2312" charset="0"/>
              </a:rPr>
              <a:t>n + ( n </a:t>
            </a:r>
            <a:r>
              <a:rPr lang="en-US" altLang="zh-CN" sz="3400">
                <a:solidFill>
                  <a:srgbClr val="000099"/>
                </a:solidFill>
                <a:latin typeface="Courier New" charset="0"/>
                <a:ea typeface="楷体_GB2312" charset="0"/>
              </a:rPr>
              <a:t>-</a:t>
            </a:r>
            <a:r>
              <a:rPr lang="en-US" altLang="zh-CN" sz="3400" b="1">
                <a:solidFill>
                  <a:srgbClr val="000099"/>
                </a:solidFill>
                <a:latin typeface="Times New Roman" charset="0"/>
                <a:ea typeface="仿宋_GB2312" charset="0"/>
              </a:rPr>
              <a:t> 1 ) + </a:t>
            </a:r>
            <a:r>
              <a:rPr lang="en-US" altLang="zh-CN" sz="3400" b="1">
                <a:solidFill>
                  <a:srgbClr val="000099"/>
                </a:solidFill>
                <a:latin typeface="Times New Roman" charset="0"/>
                <a:ea typeface="仿宋_GB2312" charset="0"/>
                <a:sym typeface="Wingdings" charset="2"/>
              </a:rPr>
              <a:t> </a:t>
            </a:r>
            <a:r>
              <a:rPr lang="en-US" altLang="zh-CN" sz="3400" b="1">
                <a:solidFill>
                  <a:srgbClr val="000099"/>
                </a:solidFill>
                <a:latin typeface="Times New Roman" charset="0"/>
                <a:ea typeface="仿宋_GB2312" charset="0"/>
              </a:rPr>
              <a:t>+ 1 =</a:t>
            </a:r>
          </a:p>
          <a:p>
            <a:pPr eaLnBrk="1" hangingPunct="1">
              <a:spcBef>
                <a:spcPct val="10000"/>
              </a:spcBef>
              <a:buClr>
                <a:srgbClr val="990099"/>
              </a:buClr>
              <a:buSzPct val="50000"/>
              <a:buFontTx/>
              <a:buNone/>
            </a:pPr>
            <a:r>
              <a:rPr lang="en-US" altLang="zh-CN" sz="3400" b="1">
                <a:solidFill>
                  <a:srgbClr val="000099"/>
                </a:solidFill>
                <a:latin typeface="Times New Roman" charset="0"/>
                <a:ea typeface="仿宋_GB2312" charset="0"/>
              </a:rPr>
              <a:t>              </a:t>
            </a:r>
            <a:r>
              <a:rPr lang="en-US" altLang="zh-CN" sz="3400" b="1">
                <a:solidFill>
                  <a:srgbClr val="FF3300"/>
                </a:solidFill>
                <a:latin typeface="Times New Roman" charset="0"/>
                <a:ea typeface="仿宋_GB2312" charset="0"/>
              </a:rPr>
              <a:t>n*(n+1)</a:t>
            </a:r>
            <a:r>
              <a:rPr lang="zh-CN" altLang="en-US" sz="3400" b="1">
                <a:solidFill>
                  <a:srgbClr val="FF3300"/>
                </a:solidFill>
                <a:latin typeface="Times New Roman" charset="0"/>
                <a:ea typeface="仿宋_GB2312" charset="0"/>
              </a:rPr>
              <a:t>／</a:t>
            </a:r>
            <a:r>
              <a:rPr lang="en-US" altLang="zh-CN" sz="3400" b="1">
                <a:solidFill>
                  <a:srgbClr val="FF3300"/>
                </a:solidFill>
                <a:latin typeface="Times New Roman" charset="0"/>
                <a:ea typeface="仿宋_GB2312" charset="0"/>
              </a:rPr>
              <a:t>2</a:t>
            </a:r>
            <a:r>
              <a:rPr lang="en-US" altLang="zh-CN" sz="3400" b="1">
                <a:solidFill>
                  <a:srgbClr val="000099"/>
                </a:solidFill>
                <a:latin typeface="Times New Roman" charset="0"/>
                <a:ea typeface="仿宋_GB2312" charset="0"/>
              </a:rPr>
              <a:t> </a:t>
            </a:r>
            <a:r>
              <a:rPr lang="zh-CN" altLang="en-US" sz="3400" b="1">
                <a:solidFill>
                  <a:srgbClr val="000099"/>
                </a:solidFill>
                <a:latin typeface="Times New Roman" charset="0"/>
                <a:ea typeface="仿宋_GB2312" charset="0"/>
              </a:rPr>
              <a:t>个元素。</a:t>
            </a:r>
            <a:endParaRPr lang="zh-CN" altLang="en-US" sz="3400" b="1">
              <a:latin typeface="Times New Roman" charset="0"/>
              <a:ea typeface="仿宋_GB2312" charset="0"/>
            </a:endParaRPr>
          </a:p>
        </p:txBody>
      </p:sp>
    </p:spTree>
    <p:extLst>
      <p:ext uri="{BB962C8B-B14F-4D97-AF65-F5344CB8AC3E}">
        <p14:creationId xmlns:p14="http://schemas.microsoft.com/office/powerpoint/2010/main" val="17761549"/>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p:cNvGraphicFramePr>
            <a:graphicFrameLocks noChangeAspect="1"/>
          </p:cNvGraphicFramePr>
          <p:nvPr/>
        </p:nvGraphicFramePr>
        <p:xfrm>
          <a:off x="1836738" y="-90488"/>
          <a:ext cx="5192712" cy="2833688"/>
        </p:xfrm>
        <a:graphic>
          <a:graphicData uri="http://schemas.openxmlformats.org/presentationml/2006/ole">
            <mc:AlternateContent xmlns:mc="http://schemas.openxmlformats.org/markup-compatibility/2006">
              <mc:Choice xmlns:v="urn:schemas-microsoft-com:vml" Requires="v">
                <p:oleObj spid="_x0000_s575491" name="公式" r:id="rId3" imgW="1885736" imgH="905113" progId="Equation.3">
                  <p:embed/>
                </p:oleObj>
              </mc:Choice>
              <mc:Fallback>
                <p:oleObj name="公式" r:id="rId3" imgW="1885736" imgH="9051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738" y="-90488"/>
                        <a:ext cx="5192712" cy="283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8675" name="Rectangle 3"/>
          <p:cNvSpPr>
            <a:spLocks noChangeArrowheads="1"/>
          </p:cNvSpPr>
          <p:nvPr/>
        </p:nvSpPr>
        <p:spPr bwMode="auto">
          <a:xfrm>
            <a:off x="5715000" y="2184400"/>
            <a:ext cx="1193800" cy="457200"/>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8676" name="Rectangle 4"/>
          <p:cNvSpPr>
            <a:spLocks noChangeArrowheads="1"/>
          </p:cNvSpPr>
          <p:nvPr/>
        </p:nvSpPr>
        <p:spPr bwMode="auto">
          <a:xfrm>
            <a:off x="4940300" y="1752600"/>
            <a:ext cx="771525" cy="914400"/>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8677" name="Rectangle 5"/>
          <p:cNvSpPr>
            <a:spLocks noChangeArrowheads="1"/>
          </p:cNvSpPr>
          <p:nvPr/>
        </p:nvSpPr>
        <p:spPr bwMode="auto">
          <a:xfrm>
            <a:off x="3971925" y="1143000"/>
            <a:ext cx="968375" cy="1524000"/>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8678" name="Rectangle 6"/>
          <p:cNvSpPr>
            <a:spLocks noChangeArrowheads="1"/>
          </p:cNvSpPr>
          <p:nvPr/>
        </p:nvSpPr>
        <p:spPr bwMode="auto">
          <a:xfrm>
            <a:off x="2908300" y="601663"/>
            <a:ext cx="1062038" cy="2039937"/>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8679" name="Rectangle 7"/>
          <p:cNvSpPr>
            <a:spLocks noChangeArrowheads="1"/>
          </p:cNvSpPr>
          <p:nvPr/>
        </p:nvSpPr>
        <p:spPr bwMode="auto">
          <a:xfrm>
            <a:off x="1933575" y="34925"/>
            <a:ext cx="976313" cy="2605088"/>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8680" name="Text Box 8"/>
          <p:cNvSpPr txBox="1">
            <a:spLocks noChangeArrowheads="1"/>
          </p:cNvSpPr>
          <p:nvPr/>
        </p:nvSpPr>
        <p:spPr bwMode="auto">
          <a:xfrm>
            <a:off x="7391400" y="-76200"/>
            <a:ext cx="701675" cy="252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80000"/>
              </a:lnSpc>
            </a:pPr>
            <a:r>
              <a:rPr kumimoji="1" lang="zh-CN" altLang="en-US" sz="4000">
                <a:solidFill>
                  <a:srgbClr val="0000CC"/>
                </a:solidFill>
                <a:latin typeface="Times New Roman" charset="0"/>
                <a:ea typeface="隶书" charset="0"/>
              </a:rPr>
              <a:t>下三角矩阵</a:t>
            </a:r>
            <a:endParaRPr kumimoji="1" lang="zh-CN" altLang="en-US" sz="2400">
              <a:latin typeface="Times New Roman" charset="0"/>
            </a:endParaRPr>
          </a:p>
        </p:txBody>
      </p:sp>
      <p:sp>
        <p:nvSpPr>
          <p:cNvPr id="28681" name="Text Box 9"/>
          <p:cNvSpPr txBox="1">
            <a:spLocks noChangeArrowheads="1"/>
          </p:cNvSpPr>
          <p:nvPr/>
        </p:nvSpPr>
        <p:spPr bwMode="auto">
          <a:xfrm>
            <a:off x="1279525" y="39624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kumimoji="1" lang="zh-CN" altLang="zh-CN" sz="2400">
              <a:latin typeface="Times New Roman" charset="0"/>
            </a:endParaRPr>
          </a:p>
        </p:txBody>
      </p:sp>
      <p:sp>
        <p:nvSpPr>
          <p:cNvPr id="28682" name="Text Box 10"/>
          <p:cNvSpPr txBox="1">
            <a:spLocks noChangeArrowheads="1"/>
          </p:cNvSpPr>
          <p:nvPr/>
        </p:nvSpPr>
        <p:spPr bwMode="auto">
          <a:xfrm>
            <a:off x="673100" y="3789363"/>
            <a:ext cx="8047038"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05000"/>
              </a:lnSpc>
            </a:pPr>
            <a:r>
              <a:rPr kumimoji="1" lang="zh-CN" altLang="en-US" sz="3000" b="1">
                <a:solidFill>
                  <a:srgbClr val="000099"/>
                </a:solidFill>
                <a:latin typeface="Times New Roman" charset="0"/>
                <a:ea typeface="仿宋_GB2312" charset="0"/>
              </a:rPr>
              <a:t>若</a:t>
            </a:r>
            <a:r>
              <a:rPr kumimoji="1" lang="zh-CN" altLang="en-US" sz="3000" b="1" i="1">
                <a:solidFill>
                  <a:srgbClr val="000099"/>
                </a:solidFill>
                <a:latin typeface="Times New Roman" charset="0"/>
                <a:ea typeface="仿宋_GB2312" charset="0"/>
              </a:rPr>
              <a:t> </a:t>
            </a:r>
            <a:r>
              <a:rPr kumimoji="1" lang="en-US" altLang="zh-CN" sz="3000" b="1" i="1">
                <a:solidFill>
                  <a:srgbClr val="FF3300"/>
                </a:solidFill>
                <a:latin typeface="Times New Roman" charset="0"/>
                <a:ea typeface="仿宋_GB2312" charset="0"/>
              </a:rPr>
              <a:t>i </a:t>
            </a:r>
            <a:r>
              <a:rPr kumimoji="1" lang="en-US" altLang="zh-CN" sz="3000" b="1">
                <a:solidFill>
                  <a:srgbClr val="FF3300"/>
                </a:solidFill>
                <a:latin typeface="Times New Roman" charset="0"/>
                <a:ea typeface="仿宋_GB2312" charset="0"/>
                <a:sym typeface="Symbol" charset="2"/>
              </a:rPr>
              <a:t></a:t>
            </a:r>
            <a:r>
              <a:rPr kumimoji="1" lang="en-US" altLang="zh-CN" sz="3000" b="1">
                <a:solidFill>
                  <a:srgbClr val="FF3300"/>
                </a:solidFill>
                <a:latin typeface="Times New Roman" charset="0"/>
                <a:ea typeface="仿宋_GB2312" charset="0"/>
              </a:rPr>
              <a:t> </a:t>
            </a:r>
            <a:r>
              <a:rPr kumimoji="1" lang="en-US" altLang="zh-CN" sz="3000" b="1" i="1">
                <a:solidFill>
                  <a:srgbClr val="FF3300"/>
                </a:solidFill>
                <a:latin typeface="Times New Roman" charset="0"/>
                <a:ea typeface="仿宋_GB2312" charset="0"/>
              </a:rPr>
              <a:t>j</a:t>
            </a:r>
            <a:r>
              <a:rPr kumimoji="1" lang="en-US" altLang="zh-CN" sz="3000" b="1">
                <a:solidFill>
                  <a:srgbClr val="000099"/>
                </a:solidFill>
                <a:latin typeface="Times New Roman" charset="0"/>
                <a:ea typeface="仿宋_GB2312" charset="0"/>
              </a:rPr>
              <a:t>, </a:t>
            </a:r>
            <a:r>
              <a:rPr kumimoji="1" lang="zh-CN" altLang="en-US" sz="3000" b="1">
                <a:solidFill>
                  <a:srgbClr val="000099"/>
                </a:solidFill>
                <a:latin typeface="Times New Roman" charset="0"/>
                <a:ea typeface="仿宋_GB2312" charset="0"/>
              </a:rPr>
              <a:t>数组元素</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a:t>
            </a:r>
            <a:r>
              <a:rPr kumimoji="1" lang="zh-CN" altLang="en-US" sz="3000" b="1">
                <a:solidFill>
                  <a:srgbClr val="000099"/>
                </a:solidFill>
                <a:latin typeface="Times New Roman" charset="0"/>
                <a:ea typeface="仿宋_GB2312" charset="0"/>
              </a:rPr>
              <a:t>在数组</a:t>
            </a:r>
            <a:r>
              <a:rPr kumimoji="1" lang="en-US" altLang="zh-CN" sz="3000" b="1">
                <a:solidFill>
                  <a:srgbClr val="000099"/>
                </a:solidFill>
                <a:latin typeface="Times New Roman" charset="0"/>
                <a:ea typeface="仿宋_GB2312" charset="0"/>
              </a:rPr>
              <a:t>B</a:t>
            </a:r>
            <a:r>
              <a:rPr kumimoji="1" lang="zh-CN" altLang="en-US" sz="3000" b="1">
                <a:solidFill>
                  <a:srgbClr val="000099"/>
                </a:solidFill>
                <a:latin typeface="Times New Roman" charset="0"/>
                <a:ea typeface="仿宋_GB2312" charset="0"/>
              </a:rPr>
              <a:t>中的存放位置为 </a:t>
            </a:r>
            <a:r>
              <a:rPr kumimoji="1" lang="en-US" altLang="zh-CN" sz="3000" b="1">
                <a:latin typeface="Times New Roman" charset="0"/>
                <a:ea typeface="仿宋_GB2312" charset="0"/>
              </a:rPr>
              <a:t>1 + 2 + </a:t>
            </a:r>
            <a:r>
              <a:rPr kumimoji="1" lang="en-US" altLang="zh-CN" sz="3000" b="1">
                <a:latin typeface="Times New Roman" charset="0"/>
                <a:ea typeface="仿宋_GB2312" charset="0"/>
                <a:sym typeface="Wingdings" charset="2"/>
              </a:rPr>
              <a:t></a:t>
            </a:r>
            <a:r>
              <a:rPr kumimoji="1" lang="en-US" altLang="zh-CN" sz="3000" b="1">
                <a:latin typeface="Times New Roman" charset="0"/>
                <a:ea typeface="仿宋_GB2312" charset="0"/>
              </a:rPr>
              <a:t> + </a:t>
            </a:r>
            <a:r>
              <a:rPr kumimoji="1" lang="en-US" altLang="zh-CN" sz="3000" b="1" i="1">
                <a:latin typeface="Times New Roman" charset="0"/>
                <a:ea typeface="仿宋_GB2312" charset="0"/>
              </a:rPr>
              <a:t>i </a:t>
            </a:r>
            <a:r>
              <a:rPr kumimoji="1" lang="en-US" altLang="zh-CN" sz="3000" b="1">
                <a:latin typeface="Times New Roman" charset="0"/>
                <a:ea typeface="仿宋_GB2312" charset="0"/>
              </a:rPr>
              <a:t>+ </a:t>
            </a:r>
            <a:r>
              <a:rPr kumimoji="1" lang="en-US" altLang="zh-CN" sz="3000" b="1" i="1">
                <a:latin typeface="Times New Roman" charset="0"/>
                <a:ea typeface="仿宋_GB2312" charset="0"/>
              </a:rPr>
              <a:t>j</a:t>
            </a:r>
            <a:r>
              <a:rPr kumimoji="1" lang="en-US" altLang="zh-CN" sz="3000" b="1">
                <a:latin typeface="Times New Roman" charset="0"/>
                <a:ea typeface="仿宋_GB2312" charset="0"/>
              </a:rPr>
              <a:t> = (</a:t>
            </a:r>
            <a:r>
              <a:rPr kumimoji="1" lang="en-US" altLang="zh-CN" sz="3000" b="1" i="1">
                <a:latin typeface="Times New Roman" charset="0"/>
                <a:ea typeface="仿宋_GB2312" charset="0"/>
              </a:rPr>
              <a:t>i </a:t>
            </a:r>
            <a:r>
              <a:rPr kumimoji="1" lang="en-US" altLang="zh-CN" sz="3000" b="1">
                <a:latin typeface="Times New Roman" charset="0"/>
                <a:ea typeface="楷体_GB2312" charset="0"/>
              </a:rPr>
              <a:t>+ </a:t>
            </a:r>
            <a:r>
              <a:rPr kumimoji="1" lang="en-US" altLang="zh-CN" sz="3000" b="1">
                <a:latin typeface="Times New Roman" charset="0"/>
                <a:ea typeface="仿宋_GB2312" charset="0"/>
              </a:rPr>
              <a:t>1)* </a:t>
            </a:r>
            <a:r>
              <a:rPr kumimoji="1" lang="en-US" altLang="zh-CN" sz="3000" b="1" i="1">
                <a:latin typeface="Times New Roman" charset="0"/>
                <a:ea typeface="仿宋_GB2312" charset="0"/>
              </a:rPr>
              <a:t>i </a:t>
            </a:r>
            <a:r>
              <a:rPr kumimoji="1" lang="en-US" altLang="zh-CN" sz="3000" b="1">
                <a:latin typeface="Times New Roman" charset="0"/>
                <a:ea typeface="仿宋_GB2312" charset="0"/>
              </a:rPr>
              <a:t>/ 2 + </a:t>
            </a:r>
            <a:r>
              <a:rPr kumimoji="1" lang="en-US" altLang="zh-CN" sz="3000" b="1" i="1">
                <a:latin typeface="Times New Roman" charset="0"/>
                <a:ea typeface="仿宋_GB2312" charset="0"/>
              </a:rPr>
              <a:t>j</a:t>
            </a:r>
            <a:endParaRPr kumimoji="1" lang="en-US" altLang="zh-CN" sz="3000">
              <a:latin typeface="楷体_GB2312" charset="0"/>
              <a:ea typeface="楷体_GB2312" charset="0"/>
            </a:endParaRPr>
          </a:p>
        </p:txBody>
      </p:sp>
      <p:sp>
        <p:nvSpPr>
          <p:cNvPr id="28683" name="AutoShape 11"/>
          <p:cNvSpPr>
            <a:spLocks/>
          </p:cNvSpPr>
          <p:nvPr/>
        </p:nvSpPr>
        <p:spPr bwMode="auto">
          <a:xfrm rot="-5400000">
            <a:off x="2255044" y="3923507"/>
            <a:ext cx="88900" cy="1954212"/>
          </a:xfrm>
          <a:prstGeom prst="leftBrace">
            <a:avLst>
              <a:gd name="adj1" fmla="val 183184"/>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kumimoji="1" lang="zh-CN" altLang="zh-CN" sz="2400">
              <a:solidFill>
                <a:srgbClr val="000099"/>
              </a:solidFill>
              <a:latin typeface="Times New Roman" charset="0"/>
            </a:endParaRPr>
          </a:p>
        </p:txBody>
      </p:sp>
      <p:grpSp>
        <p:nvGrpSpPr>
          <p:cNvPr id="28684" name="Group 12"/>
          <p:cNvGrpSpPr>
            <a:grpSpLocks/>
          </p:cNvGrpSpPr>
          <p:nvPr/>
        </p:nvGrpSpPr>
        <p:grpSpPr bwMode="auto">
          <a:xfrm>
            <a:off x="661988" y="2459038"/>
            <a:ext cx="8067675" cy="3027362"/>
            <a:chOff x="417" y="2186"/>
            <a:chExt cx="5082" cy="1907"/>
          </a:xfrm>
        </p:grpSpPr>
        <p:sp>
          <p:nvSpPr>
            <p:cNvPr id="28689" name="Rectangle 13"/>
            <p:cNvSpPr>
              <a:spLocks noChangeArrowheads="1"/>
            </p:cNvSpPr>
            <p:nvPr/>
          </p:nvSpPr>
          <p:spPr bwMode="auto">
            <a:xfrm>
              <a:off x="720" y="2448"/>
              <a:ext cx="4656" cy="384"/>
            </a:xfrm>
            <a:prstGeom prst="rect">
              <a:avLst/>
            </a:prstGeom>
            <a:solidFill>
              <a:schemeClr val="accent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8690" name="Text Box 14"/>
            <p:cNvSpPr txBox="1">
              <a:spLocks noChangeArrowheads="1"/>
            </p:cNvSpPr>
            <p:nvPr/>
          </p:nvSpPr>
          <p:spPr bwMode="auto">
            <a:xfrm>
              <a:off x="417" y="2419"/>
              <a:ext cx="505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99"/>
                  </a:solidFill>
                  <a:latin typeface="Times New Roman" charset="0"/>
                </a:rPr>
                <a:t>B</a:t>
              </a:r>
              <a:r>
                <a:rPr kumimoji="1" lang="en-US" altLang="zh-CN" sz="3200" b="1" i="1">
                  <a:solidFill>
                    <a:srgbClr val="000099"/>
                  </a:solidFill>
                  <a:latin typeface="Times New Roman" charset="0"/>
                </a:rPr>
                <a:t>  a</a:t>
              </a:r>
              <a:r>
                <a:rPr kumimoji="1" lang="en-US" altLang="zh-CN" sz="3200" b="1" baseline="-25000">
                  <a:solidFill>
                    <a:srgbClr val="000099"/>
                  </a:solidFill>
                  <a:latin typeface="Times New Roman" charset="0"/>
                </a:rPr>
                <a:t>00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10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11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20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21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22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30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31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32   ……</a:t>
              </a:r>
              <a:r>
                <a:rPr kumimoji="1" lang="en-US" altLang="zh-CN" sz="3200" b="1" baseline="-25000">
                  <a:solidFill>
                    <a:srgbClr val="000099"/>
                  </a:solidFill>
                  <a:latin typeface="宋体" charset="-122"/>
                </a:rPr>
                <a:t>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n-1n-1</a:t>
              </a:r>
              <a:r>
                <a:rPr kumimoji="1" lang="en-US" altLang="zh-CN" sz="3200" b="1" baseline="-25000">
                  <a:solidFill>
                    <a:srgbClr val="000099"/>
                  </a:solidFill>
                  <a:latin typeface="宋体" charset="-122"/>
                </a:rPr>
                <a:t> </a:t>
              </a:r>
            </a:p>
          </p:txBody>
        </p:sp>
        <p:sp>
          <p:nvSpPr>
            <p:cNvPr id="28691" name="Line 15"/>
            <p:cNvSpPr>
              <a:spLocks noChangeShapeType="1"/>
            </p:cNvSpPr>
            <p:nvPr/>
          </p:nvSpPr>
          <p:spPr bwMode="auto">
            <a:xfrm>
              <a:off x="1104"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2" name="Line 16"/>
            <p:cNvSpPr>
              <a:spLocks noChangeShapeType="1"/>
            </p:cNvSpPr>
            <p:nvPr/>
          </p:nvSpPr>
          <p:spPr bwMode="auto">
            <a:xfrm>
              <a:off x="1488"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3" name="Line 17"/>
            <p:cNvSpPr>
              <a:spLocks noChangeShapeType="1"/>
            </p:cNvSpPr>
            <p:nvPr/>
          </p:nvSpPr>
          <p:spPr bwMode="auto">
            <a:xfrm>
              <a:off x="1872"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4" name="Line 18"/>
            <p:cNvSpPr>
              <a:spLocks noChangeShapeType="1"/>
            </p:cNvSpPr>
            <p:nvPr/>
          </p:nvSpPr>
          <p:spPr bwMode="auto">
            <a:xfrm>
              <a:off x="2256"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5" name="Line 19"/>
            <p:cNvSpPr>
              <a:spLocks noChangeShapeType="1"/>
            </p:cNvSpPr>
            <p:nvPr/>
          </p:nvSpPr>
          <p:spPr bwMode="auto">
            <a:xfrm>
              <a:off x="2640"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6" name="Line 20"/>
            <p:cNvSpPr>
              <a:spLocks noChangeShapeType="1"/>
            </p:cNvSpPr>
            <p:nvPr/>
          </p:nvSpPr>
          <p:spPr bwMode="auto">
            <a:xfrm>
              <a:off x="3024"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7" name="Line 21"/>
            <p:cNvSpPr>
              <a:spLocks noChangeShapeType="1"/>
            </p:cNvSpPr>
            <p:nvPr/>
          </p:nvSpPr>
          <p:spPr bwMode="auto">
            <a:xfrm>
              <a:off x="3408"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8" name="Line 22"/>
            <p:cNvSpPr>
              <a:spLocks noChangeShapeType="1"/>
            </p:cNvSpPr>
            <p:nvPr/>
          </p:nvSpPr>
          <p:spPr bwMode="auto">
            <a:xfrm>
              <a:off x="3792"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699" name="Line 23"/>
            <p:cNvSpPr>
              <a:spLocks noChangeShapeType="1"/>
            </p:cNvSpPr>
            <p:nvPr/>
          </p:nvSpPr>
          <p:spPr bwMode="auto">
            <a:xfrm>
              <a:off x="4176"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700" name="Line 24"/>
            <p:cNvSpPr>
              <a:spLocks noChangeShapeType="1"/>
            </p:cNvSpPr>
            <p:nvPr/>
          </p:nvSpPr>
          <p:spPr bwMode="auto">
            <a:xfrm>
              <a:off x="4656"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701" name="Text Box 25"/>
            <p:cNvSpPr txBox="1">
              <a:spLocks noChangeArrowheads="1"/>
            </p:cNvSpPr>
            <p:nvPr/>
          </p:nvSpPr>
          <p:spPr bwMode="auto">
            <a:xfrm>
              <a:off x="758" y="2186"/>
              <a:ext cx="47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0     1      2      3      4      5      6      7      8              n(n+1)/2-1</a:t>
              </a:r>
            </a:p>
          </p:txBody>
        </p:sp>
        <p:sp>
          <p:nvSpPr>
            <p:cNvPr id="28702" name="Text Box 26"/>
            <p:cNvSpPr txBox="1">
              <a:spLocks noChangeArrowheads="1"/>
            </p:cNvSpPr>
            <p:nvPr/>
          </p:nvSpPr>
          <p:spPr bwMode="auto">
            <a:xfrm>
              <a:off x="902" y="3805"/>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kumimoji="1" lang="zh-CN" altLang="zh-CN" sz="2400">
                <a:latin typeface="Times New Roman" charset="0"/>
              </a:endParaRPr>
            </a:p>
          </p:txBody>
        </p:sp>
      </p:grpSp>
      <p:sp>
        <p:nvSpPr>
          <p:cNvPr id="28685" name="Text Box 27"/>
          <p:cNvSpPr txBox="1">
            <a:spLocks noChangeArrowheads="1"/>
          </p:cNvSpPr>
          <p:nvPr/>
        </p:nvSpPr>
        <p:spPr bwMode="auto">
          <a:xfrm>
            <a:off x="609600" y="4886325"/>
            <a:ext cx="7634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a:solidFill>
                  <a:schemeClr val="tx2"/>
                </a:solidFill>
                <a:latin typeface="Times New Roman" charset="0"/>
                <a:ea typeface="隶书" charset="0"/>
              </a:rPr>
              <a:t>前</a:t>
            </a:r>
            <a:r>
              <a:rPr kumimoji="1" lang="en-US" altLang="zh-CN" sz="3200" b="1" i="1">
                <a:solidFill>
                  <a:schemeClr val="tx2"/>
                </a:solidFill>
                <a:latin typeface="Times New Roman" charset="0"/>
                <a:ea typeface="隶书" charset="0"/>
              </a:rPr>
              <a:t>i</a:t>
            </a:r>
            <a:r>
              <a:rPr kumimoji="1" lang="zh-CN" altLang="en-US" sz="3200">
                <a:solidFill>
                  <a:schemeClr val="tx2"/>
                </a:solidFill>
                <a:latin typeface="Times New Roman" charset="0"/>
                <a:ea typeface="隶书" charset="0"/>
              </a:rPr>
              <a:t>行</a:t>
            </a:r>
            <a:r>
              <a:rPr kumimoji="1" lang="zh-CN" altLang="en-US" sz="3200">
                <a:latin typeface="Times New Roman" charset="0"/>
                <a:ea typeface="隶书" charset="0"/>
              </a:rPr>
              <a:t>元素总数  </a:t>
            </a:r>
            <a:r>
              <a:rPr kumimoji="1" lang="zh-CN" altLang="en-US" sz="3200">
                <a:solidFill>
                  <a:schemeClr val="tx2"/>
                </a:solidFill>
                <a:latin typeface="Times New Roman" charset="0"/>
                <a:ea typeface="隶书" charset="0"/>
              </a:rPr>
              <a:t>第</a:t>
            </a:r>
            <a:r>
              <a:rPr kumimoji="1" lang="en-US" altLang="zh-CN" sz="3200" b="1" i="1">
                <a:solidFill>
                  <a:schemeClr val="tx2"/>
                </a:solidFill>
                <a:latin typeface="Times New Roman" charset="0"/>
                <a:ea typeface="隶书" charset="0"/>
              </a:rPr>
              <a:t>i</a:t>
            </a:r>
            <a:r>
              <a:rPr kumimoji="1" lang="zh-CN" altLang="en-US" sz="3200">
                <a:solidFill>
                  <a:schemeClr val="tx2"/>
                </a:solidFill>
                <a:latin typeface="Times New Roman" charset="0"/>
                <a:ea typeface="隶书" charset="0"/>
              </a:rPr>
              <a:t>行第</a:t>
            </a:r>
            <a:r>
              <a:rPr kumimoji="1" lang="en-US" altLang="zh-CN" sz="3200" b="1" i="1">
                <a:solidFill>
                  <a:schemeClr val="tx2"/>
                </a:solidFill>
                <a:latin typeface="Times New Roman" charset="0"/>
                <a:ea typeface="隶书" charset="0"/>
              </a:rPr>
              <a:t>j</a:t>
            </a:r>
            <a:r>
              <a:rPr kumimoji="1" lang="zh-CN" altLang="en-US" sz="3200">
                <a:solidFill>
                  <a:schemeClr val="tx2"/>
                </a:solidFill>
                <a:latin typeface="Times New Roman" charset="0"/>
                <a:ea typeface="隶书" charset="0"/>
              </a:rPr>
              <a:t>个</a:t>
            </a:r>
            <a:r>
              <a:rPr kumimoji="1" lang="zh-CN" altLang="en-US" sz="3200">
                <a:latin typeface="Times New Roman" charset="0"/>
                <a:ea typeface="隶书" charset="0"/>
              </a:rPr>
              <a:t>元素前元素个数</a:t>
            </a:r>
            <a:endParaRPr kumimoji="1" lang="zh-CN" altLang="en-US" sz="2400">
              <a:latin typeface="Times New Roman" charset="0"/>
            </a:endParaRPr>
          </a:p>
        </p:txBody>
      </p:sp>
      <p:sp>
        <p:nvSpPr>
          <p:cNvPr id="28686" name="AutoShape 28"/>
          <p:cNvSpPr>
            <a:spLocks/>
          </p:cNvSpPr>
          <p:nvPr/>
        </p:nvSpPr>
        <p:spPr bwMode="auto">
          <a:xfrm rot="-5400000">
            <a:off x="3695700" y="4665663"/>
            <a:ext cx="76200" cy="457200"/>
          </a:xfrm>
          <a:prstGeom prst="leftBrace">
            <a:avLst>
              <a:gd name="adj1" fmla="val 50000"/>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kumimoji="1" lang="zh-CN" altLang="zh-CN" sz="2400">
              <a:solidFill>
                <a:srgbClr val="000099"/>
              </a:solidFill>
              <a:latin typeface="Times New Roman" charset="0"/>
            </a:endParaRPr>
          </a:p>
        </p:txBody>
      </p:sp>
      <p:sp>
        <p:nvSpPr>
          <p:cNvPr id="28687" name="AutoShape 29"/>
          <p:cNvSpPr>
            <a:spLocks noChangeArrowheads="1"/>
          </p:cNvSpPr>
          <p:nvPr/>
        </p:nvSpPr>
        <p:spPr bwMode="auto">
          <a:xfrm>
            <a:off x="6248400" y="3408363"/>
            <a:ext cx="219075" cy="381000"/>
          </a:xfrm>
          <a:prstGeom prst="triangle">
            <a:avLst>
              <a:gd name="adj" fmla="val 50000"/>
            </a:avLst>
          </a:prstGeom>
          <a:solidFill>
            <a:schemeClr val="tx2"/>
          </a:solidFill>
          <a:ln w="9525">
            <a:solidFill>
              <a:srgbClr val="FF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8688" name="Rectangle 30"/>
          <p:cNvSpPr>
            <a:spLocks noChangeArrowheads="1"/>
          </p:cNvSpPr>
          <p:nvPr/>
        </p:nvSpPr>
        <p:spPr bwMode="auto">
          <a:xfrm>
            <a:off x="533400" y="5470525"/>
            <a:ext cx="80010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10000"/>
              </a:spcBef>
              <a:buClr>
                <a:srgbClr val="990099"/>
              </a:buClr>
              <a:buSzPct val="50000"/>
              <a:buFont typeface="Wingdings" charset="2"/>
              <a:buChar char="n"/>
            </a:pPr>
            <a:r>
              <a:rPr kumimoji="1" lang="zh-CN" altLang="en-US" sz="3000" b="1">
                <a:solidFill>
                  <a:srgbClr val="000099"/>
                </a:solidFill>
                <a:latin typeface="Times New Roman" charset="0"/>
                <a:ea typeface="仿宋_GB2312" charset="0"/>
              </a:rPr>
              <a:t>若 </a:t>
            </a:r>
            <a:r>
              <a:rPr kumimoji="1" lang="en-US" altLang="zh-CN" sz="3000" b="1" i="1">
                <a:solidFill>
                  <a:srgbClr val="FF3300"/>
                </a:solidFill>
                <a:latin typeface="Times New Roman" charset="0"/>
                <a:ea typeface="仿宋_GB2312" charset="0"/>
              </a:rPr>
              <a:t>i</a:t>
            </a:r>
            <a:r>
              <a:rPr kumimoji="1" lang="en-US" altLang="zh-CN" sz="3000" b="1">
                <a:solidFill>
                  <a:srgbClr val="FF3300"/>
                </a:solidFill>
                <a:latin typeface="Times New Roman" charset="0"/>
                <a:ea typeface="仿宋_GB2312" charset="0"/>
              </a:rPr>
              <a:t> &lt; </a:t>
            </a:r>
            <a:r>
              <a:rPr kumimoji="1" lang="en-US" altLang="zh-CN" sz="3000" b="1" i="1">
                <a:solidFill>
                  <a:srgbClr val="FF3300"/>
                </a:solidFill>
                <a:latin typeface="Times New Roman" charset="0"/>
                <a:ea typeface="仿宋_GB2312" charset="0"/>
              </a:rPr>
              <a:t>j</a:t>
            </a:r>
            <a:r>
              <a:rPr kumimoji="1" lang="zh-CN" altLang="en-US" sz="3000" b="1">
                <a:solidFill>
                  <a:srgbClr val="000099"/>
                </a:solidFill>
                <a:latin typeface="Times New Roman" charset="0"/>
                <a:ea typeface="仿宋_GB2312" charset="0"/>
              </a:rPr>
              <a:t>，数组元素 </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 </a:t>
            </a:r>
            <a:r>
              <a:rPr kumimoji="1" lang="zh-CN" altLang="en-US" sz="3000" b="1">
                <a:solidFill>
                  <a:srgbClr val="000099"/>
                </a:solidFill>
                <a:latin typeface="Times New Roman" charset="0"/>
                <a:ea typeface="仿宋_GB2312" charset="0"/>
              </a:rPr>
              <a:t>在矩阵的上三角部分</a:t>
            </a:r>
            <a:r>
              <a:rPr kumimoji="1" lang="en-US" altLang="zh-CN" sz="3000" b="1">
                <a:solidFill>
                  <a:srgbClr val="000099"/>
                </a:solidFill>
                <a:latin typeface="Times New Roman" charset="0"/>
                <a:ea typeface="仿宋_GB2312" charset="0"/>
              </a:rPr>
              <a:t>,  </a:t>
            </a:r>
            <a:r>
              <a:rPr kumimoji="1" lang="zh-CN" altLang="en-US" sz="3000" b="1">
                <a:solidFill>
                  <a:srgbClr val="000099"/>
                </a:solidFill>
                <a:latin typeface="Times New Roman" charset="0"/>
                <a:ea typeface="仿宋_GB2312" charset="0"/>
              </a:rPr>
              <a:t>在数组 </a:t>
            </a:r>
            <a:r>
              <a:rPr kumimoji="1" lang="en-US" altLang="zh-CN" sz="3000" b="1">
                <a:solidFill>
                  <a:srgbClr val="000099"/>
                </a:solidFill>
                <a:latin typeface="Times New Roman" charset="0"/>
                <a:ea typeface="仿宋_GB2312" charset="0"/>
              </a:rPr>
              <a:t>B </a:t>
            </a:r>
            <a:r>
              <a:rPr kumimoji="1" lang="zh-CN" altLang="en-US" sz="3000" b="1">
                <a:solidFill>
                  <a:srgbClr val="000099"/>
                </a:solidFill>
                <a:latin typeface="Times New Roman" charset="0"/>
                <a:ea typeface="仿宋_GB2312" charset="0"/>
              </a:rPr>
              <a:t>中没有存放，可以找它的对称元素</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zh-CN" altLang="en-US" sz="3000" b="1">
                <a:solidFill>
                  <a:srgbClr val="000099"/>
                </a:solidFill>
                <a:latin typeface="Times New Roman" charset="0"/>
                <a:ea typeface="仿宋_GB2312" charset="0"/>
              </a:rPr>
              <a:t>：</a:t>
            </a:r>
            <a:r>
              <a:rPr kumimoji="1" lang="en-US" altLang="zh-CN" sz="3000" b="1">
                <a:latin typeface="Times New Roman" charset="0"/>
              </a:rPr>
              <a:t>= </a:t>
            </a:r>
            <a:r>
              <a:rPr kumimoji="1" lang="en-US" altLang="zh-CN" sz="3000" b="1" i="1">
                <a:latin typeface="Times New Roman" charset="0"/>
              </a:rPr>
              <a:t>j </a:t>
            </a:r>
            <a:r>
              <a:rPr kumimoji="1" lang="en-US" altLang="zh-CN" sz="3000" b="1">
                <a:latin typeface="Times New Roman" charset="0"/>
              </a:rPr>
              <a:t>*(</a:t>
            </a:r>
            <a:r>
              <a:rPr kumimoji="1" lang="en-US" altLang="zh-CN" sz="3000" b="1" i="1">
                <a:latin typeface="Times New Roman" charset="0"/>
              </a:rPr>
              <a:t>j </a:t>
            </a:r>
            <a:r>
              <a:rPr kumimoji="1" lang="en-US" altLang="zh-CN" sz="3000" b="1">
                <a:latin typeface="Times New Roman" charset="0"/>
              </a:rPr>
              <a:t>+1) / 2 + </a:t>
            </a:r>
            <a:r>
              <a:rPr kumimoji="1" lang="en-US" altLang="zh-CN" sz="3000" b="1" i="1">
                <a:latin typeface="Times New Roman" charset="0"/>
              </a:rPr>
              <a:t>i</a:t>
            </a:r>
            <a:r>
              <a:rPr kumimoji="1" lang="en-US" altLang="zh-CN" sz="3000" b="1">
                <a:latin typeface="Times New Roman" charset="0"/>
              </a:rPr>
              <a:t> </a:t>
            </a:r>
          </a:p>
        </p:txBody>
      </p:sp>
    </p:spTree>
    <p:extLst>
      <p:ext uri="{BB962C8B-B14F-4D97-AF65-F5344CB8AC3E}">
        <p14:creationId xmlns:p14="http://schemas.microsoft.com/office/powerpoint/2010/main" val="2050477237"/>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nvGraphicFramePr>
        <p:xfrm>
          <a:off x="2286000" y="574675"/>
          <a:ext cx="3962400" cy="2473325"/>
        </p:xfrm>
        <a:graphic>
          <a:graphicData uri="http://schemas.openxmlformats.org/presentationml/2006/ole">
            <mc:AlternateContent xmlns:mc="http://schemas.openxmlformats.org/markup-compatibility/2006">
              <mc:Choice xmlns:v="urn:schemas-microsoft-com:vml" Requires="v">
                <p:oleObj spid="_x0000_s576515" name="公式" r:id="rId3" imgW="1181148" imgH="781098" progId="Equation.3">
                  <p:embed/>
                </p:oleObj>
              </mc:Choice>
              <mc:Fallback>
                <p:oleObj name="公式" r:id="rId3" imgW="1181148" imgH="78109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574675"/>
                        <a:ext cx="3962400" cy="2473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9699" name="Rectangle 3"/>
          <p:cNvSpPr>
            <a:spLocks noChangeArrowheads="1"/>
          </p:cNvSpPr>
          <p:nvPr/>
        </p:nvSpPr>
        <p:spPr bwMode="auto">
          <a:xfrm>
            <a:off x="2400300" y="685800"/>
            <a:ext cx="914400" cy="609600"/>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9700" name="Rectangle 4"/>
          <p:cNvSpPr>
            <a:spLocks noChangeArrowheads="1"/>
          </p:cNvSpPr>
          <p:nvPr/>
        </p:nvSpPr>
        <p:spPr bwMode="auto">
          <a:xfrm>
            <a:off x="3314700" y="685800"/>
            <a:ext cx="914400" cy="1227138"/>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9701" name="Rectangle 5"/>
          <p:cNvSpPr>
            <a:spLocks noChangeArrowheads="1"/>
          </p:cNvSpPr>
          <p:nvPr/>
        </p:nvSpPr>
        <p:spPr bwMode="auto">
          <a:xfrm>
            <a:off x="4229100" y="685800"/>
            <a:ext cx="954088" cy="1828800"/>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9702" name="Rectangle 6"/>
          <p:cNvSpPr>
            <a:spLocks noChangeArrowheads="1"/>
          </p:cNvSpPr>
          <p:nvPr/>
        </p:nvSpPr>
        <p:spPr bwMode="auto">
          <a:xfrm>
            <a:off x="5181600" y="698500"/>
            <a:ext cx="933450" cy="2241550"/>
          </a:xfrm>
          <a:prstGeom prst="rect">
            <a:avLst/>
          </a:prstGeom>
          <a:solidFill>
            <a:srgbClr val="00CC00">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9703" name="Text Box 7"/>
          <p:cNvSpPr txBox="1">
            <a:spLocks noChangeArrowheads="1"/>
          </p:cNvSpPr>
          <p:nvPr/>
        </p:nvSpPr>
        <p:spPr bwMode="auto">
          <a:xfrm>
            <a:off x="6513513" y="652463"/>
            <a:ext cx="701675" cy="229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80000"/>
              </a:lnSpc>
            </a:pPr>
            <a:r>
              <a:rPr kumimoji="1" lang="zh-CN" altLang="en-US" sz="3600">
                <a:solidFill>
                  <a:srgbClr val="0000CC"/>
                </a:solidFill>
                <a:latin typeface="Times New Roman" charset="0"/>
                <a:ea typeface="隶书" charset="0"/>
              </a:rPr>
              <a:t>上三角矩阵</a:t>
            </a:r>
            <a:endParaRPr kumimoji="1" lang="zh-CN" altLang="en-US" sz="3600">
              <a:latin typeface="Times New Roman" charset="0"/>
            </a:endParaRPr>
          </a:p>
        </p:txBody>
      </p:sp>
      <p:sp>
        <p:nvSpPr>
          <p:cNvPr id="29704" name="Rectangle 8"/>
          <p:cNvSpPr>
            <a:spLocks noChangeArrowheads="1"/>
          </p:cNvSpPr>
          <p:nvPr/>
        </p:nvSpPr>
        <p:spPr bwMode="auto">
          <a:xfrm>
            <a:off x="1052513" y="3505200"/>
            <a:ext cx="6262687" cy="609600"/>
          </a:xfrm>
          <a:prstGeom prst="rect">
            <a:avLst/>
          </a:prstGeom>
          <a:solidFill>
            <a:schemeClr val="accent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9705" name="Text Box 9"/>
          <p:cNvSpPr txBox="1">
            <a:spLocks noChangeArrowheads="1"/>
          </p:cNvSpPr>
          <p:nvPr/>
        </p:nvSpPr>
        <p:spPr bwMode="auto">
          <a:xfrm>
            <a:off x="609600" y="3459163"/>
            <a:ext cx="68310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99"/>
                </a:solidFill>
                <a:latin typeface="Times New Roman" charset="0"/>
              </a:rPr>
              <a:t>B</a:t>
            </a:r>
            <a:r>
              <a:rPr kumimoji="1" lang="en-US" altLang="zh-CN" sz="3200" b="1" i="1">
                <a:solidFill>
                  <a:srgbClr val="000099"/>
                </a:solidFill>
                <a:latin typeface="Times New Roman" charset="0"/>
              </a:rPr>
              <a:t>  a</a:t>
            </a:r>
            <a:r>
              <a:rPr kumimoji="1" lang="en-US" altLang="zh-CN" sz="3200" b="1" baseline="-25000">
                <a:solidFill>
                  <a:srgbClr val="000099"/>
                </a:solidFill>
                <a:latin typeface="Times New Roman" charset="0"/>
              </a:rPr>
              <a:t>00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01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02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03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11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12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13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22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23</a:t>
            </a:r>
            <a:r>
              <a:rPr kumimoji="1" lang="en-US" altLang="zh-CN" sz="3200" b="1">
                <a:solidFill>
                  <a:srgbClr val="000099"/>
                </a:solidFill>
                <a:latin typeface="Times New Roman" charset="0"/>
              </a:rPr>
              <a:t>  </a:t>
            </a:r>
            <a:r>
              <a:rPr kumimoji="1" lang="en-US" altLang="zh-CN" sz="3200" b="1" i="1">
                <a:solidFill>
                  <a:srgbClr val="000099"/>
                </a:solidFill>
                <a:latin typeface="Times New Roman" charset="0"/>
              </a:rPr>
              <a:t>a</a:t>
            </a:r>
            <a:r>
              <a:rPr kumimoji="1" lang="en-US" altLang="zh-CN" sz="3200" b="1" baseline="-25000">
                <a:solidFill>
                  <a:srgbClr val="000099"/>
                </a:solidFill>
                <a:latin typeface="Times New Roman" charset="0"/>
              </a:rPr>
              <a:t>33</a:t>
            </a:r>
            <a:r>
              <a:rPr kumimoji="1" lang="en-US" altLang="zh-CN" sz="3200" b="1">
                <a:solidFill>
                  <a:srgbClr val="000099"/>
                </a:solidFill>
                <a:latin typeface="Times New Roman" charset="0"/>
              </a:rPr>
              <a:t>  </a:t>
            </a:r>
            <a:endParaRPr kumimoji="1" lang="en-US" altLang="zh-CN" sz="3200" b="1">
              <a:solidFill>
                <a:srgbClr val="000099"/>
              </a:solidFill>
              <a:latin typeface="宋体" charset="-122"/>
            </a:endParaRPr>
          </a:p>
        </p:txBody>
      </p:sp>
      <p:sp>
        <p:nvSpPr>
          <p:cNvPr id="29706" name="Line 10"/>
          <p:cNvSpPr>
            <a:spLocks noChangeShapeType="1"/>
          </p:cNvSpPr>
          <p:nvPr/>
        </p:nvSpPr>
        <p:spPr bwMode="auto">
          <a:xfrm>
            <a:off x="16621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07" name="Line 11"/>
          <p:cNvSpPr>
            <a:spLocks noChangeShapeType="1"/>
          </p:cNvSpPr>
          <p:nvPr/>
        </p:nvSpPr>
        <p:spPr bwMode="auto">
          <a:xfrm>
            <a:off x="22717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08" name="Line 12"/>
          <p:cNvSpPr>
            <a:spLocks noChangeShapeType="1"/>
          </p:cNvSpPr>
          <p:nvPr/>
        </p:nvSpPr>
        <p:spPr bwMode="auto">
          <a:xfrm>
            <a:off x="28813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09" name="Line 13"/>
          <p:cNvSpPr>
            <a:spLocks noChangeShapeType="1"/>
          </p:cNvSpPr>
          <p:nvPr/>
        </p:nvSpPr>
        <p:spPr bwMode="auto">
          <a:xfrm>
            <a:off x="34909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10" name="Line 14"/>
          <p:cNvSpPr>
            <a:spLocks noChangeShapeType="1"/>
          </p:cNvSpPr>
          <p:nvPr/>
        </p:nvSpPr>
        <p:spPr bwMode="auto">
          <a:xfrm>
            <a:off x="41005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11" name="Line 15"/>
          <p:cNvSpPr>
            <a:spLocks noChangeShapeType="1"/>
          </p:cNvSpPr>
          <p:nvPr/>
        </p:nvSpPr>
        <p:spPr bwMode="auto">
          <a:xfrm>
            <a:off x="47101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12" name="Line 16"/>
          <p:cNvSpPr>
            <a:spLocks noChangeShapeType="1"/>
          </p:cNvSpPr>
          <p:nvPr/>
        </p:nvSpPr>
        <p:spPr bwMode="auto">
          <a:xfrm>
            <a:off x="53197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13" name="Line 17"/>
          <p:cNvSpPr>
            <a:spLocks noChangeShapeType="1"/>
          </p:cNvSpPr>
          <p:nvPr/>
        </p:nvSpPr>
        <p:spPr bwMode="auto">
          <a:xfrm>
            <a:off x="59293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14" name="Line 18"/>
          <p:cNvSpPr>
            <a:spLocks noChangeShapeType="1"/>
          </p:cNvSpPr>
          <p:nvPr/>
        </p:nvSpPr>
        <p:spPr bwMode="auto">
          <a:xfrm>
            <a:off x="65389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15" name="Line 19"/>
          <p:cNvSpPr>
            <a:spLocks noChangeShapeType="1"/>
          </p:cNvSpPr>
          <p:nvPr/>
        </p:nvSpPr>
        <p:spPr bwMode="auto">
          <a:xfrm>
            <a:off x="7300913" y="35052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716" name="Text Box 20"/>
          <p:cNvSpPr txBox="1">
            <a:spLocks noChangeArrowheads="1"/>
          </p:cNvSpPr>
          <p:nvPr/>
        </p:nvSpPr>
        <p:spPr bwMode="auto">
          <a:xfrm>
            <a:off x="1112838" y="3089275"/>
            <a:ext cx="574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0     1      2      3      4      5      6      7      8      9</a:t>
            </a:r>
          </a:p>
        </p:txBody>
      </p:sp>
      <p:sp>
        <p:nvSpPr>
          <p:cNvPr id="29717" name="Text Box 21"/>
          <p:cNvSpPr txBox="1">
            <a:spLocks noChangeArrowheads="1"/>
          </p:cNvSpPr>
          <p:nvPr/>
        </p:nvSpPr>
        <p:spPr bwMode="auto">
          <a:xfrm>
            <a:off x="609600" y="4416425"/>
            <a:ext cx="8153400"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05000"/>
              </a:lnSpc>
            </a:pPr>
            <a:r>
              <a:rPr kumimoji="1" lang="zh-CN" altLang="en-US" sz="3000" b="1">
                <a:solidFill>
                  <a:srgbClr val="000099"/>
                </a:solidFill>
                <a:latin typeface="Times New Roman" charset="0"/>
                <a:ea typeface="仿宋_GB2312" charset="0"/>
              </a:rPr>
              <a:t>若</a:t>
            </a:r>
            <a:r>
              <a:rPr kumimoji="1" lang="en-US" altLang="zh-CN" sz="3000" b="1" i="1">
                <a:solidFill>
                  <a:schemeClr val="tx2"/>
                </a:solidFill>
                <a:latin typeface="Times New Roman" charset="0"/>
                <a:ea typeface="仿宋_GB2312" charset="0"/>
              </a:rPr>
              <a:t>i</a:t>
            </a:r>
            <a:r>
              <a:rPr kumimoji="1" lang="en-US" altLang="zh-CN" sz="3000" b="1">
                <a:solidFill>
                  <a:schemeClr val="tx2"/>
                </a:solidFill>
                <a:latin typeface="Times New Roman" charset="0"/>
                <a:ea typeface="仿宋_GB2312" charset="0"/>
              </a:rPr>
              <a:t> </a:t>
            </a:r>
            <a:r>
              <a:rPr kumimoji="1" lang="en-US" altLang="zh-CN" sz="3000" b="1">
                <a:solidFill>
                  <a:schemeClr val="tx2"/>
                </a:solidFill>
                <a:latin typeface="Times New Roman" charset="0"/>
                <a:ea typeface="仿宋_GB2312" charset="0"/>
                <a:sym typeface="Symbol" charset="2"/>
              </a:rPr>
              <a:t></a:t>
            </a:r>
            <a:r>
              <a:rPr kumimoji="1" lang="en-US" altLang="zh-CN" sz="3000" b="1">
                <a:solidFill>
                  <a:schemeClr val="tx2"/>
                </a:solidFill>
                <a:latin typeface="Times New Roman" charset="0"/>
                <a:ea typeface="仿宋_GB2312" charset="0"/>
              </a:rPr>
              <a:t> </a:t>
            </a:r>
            <a:r>
              <a:rPr kumimoji="1" lang="en-US" altLang="zh-CN" sz="3000" b="1" i="1">
                <a:solidFill>
                  <a:schemeClr val="tx2"/>
                </a:solidFill>
                <a:latin typeface="Times New Roman" charset="0"/>
                <a:ea typeface="仿宋_GB2312" charset="0"/>
              </a:rPr>
              <a:t>j</a:t>
            </a:r>
            <a:r>
              <a:rPr kumimoji="1" lang="zh-CN" altLang="en-US" sz="3000" b="1">
                <a:solidFill>
                  <a:srgbClr val="000099"/>
                </a:solidFill>
                <a:latin typeface="Times New Roman" charset="0"/>
                <a:ea typeface="仿宋_GB2312" charset="0"/>
              </a:rPr>
              <a:t>，数组元素</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a:t>
            </a:r>
            <a:r>
              <a:rPr kumimoji="1" lang="zh-CN" altLang="en-US" sz="3000" b="1">
                <a:solidFill>
                  <a:srgbClr val="000099"/>
                </a:solidFill>
                <a:latin typeface="Times New Roman" charset="0"/>
                <a:ea typeface="仿宋_GB2312" charset="0"/>
              </a:rPr>
              <a:t>在数组</a:t>
            </a:r>
            <a:r>
              <a:rPr kumimoji="1" lang="en-US" altLang="zh-CN" sz="3000" b="1">
                <a:solidFill>
                  <a:srgbClr val="000099"/>
                </a:solidFill>
                <a:latin typeface="Times New Roman" charset="0"/>
                <a:ea typeface="仿宋_GB2312" charset="0"/>
              </a:rPr>
              <a:t>B</a:t>
            </a:r>
            <a:r>
              <a:rPr kumimoji="1" lang="zh-CN" altLang="en-US" sz="3000" b="1">
                <a:solidFill>
                  <a:srgbClr val="000099"/>
                </a:solidFill>
                <a:latin typeface="Times New Roman" charset="0"/>
                <a:ea typeface="仿宋_GB2312" charset="0"/>
              </a:rPr>
              <a:t>中的存放位置为	</a:t>
            </a:r>
            <a:r>
              <a:rPr kumimoji="1" lang="en-US" altLang="zh-CN" sz="3000" b="1" i="1">
                <a:solidFill>
                  <a:schemeClr val="tx2"/>
                </a:solidFill>
                <a:latin typeface="Times New Roman" charset="0"/>
                <a:ea typeface="仿宋_GB2312" charset="0"/>
              </a:rPr>
              <a:t>n</a:t>
            </a:r>
            <a:r>
              <a:rPr kumimoji="1" lang="en-US" altLang="zh-CN" sz="3000" b="1">
                <a:solidFill>
                  <a:schemeClr val="tx2"/>
                </a:solidFill>
                <a:latin typeface="Times New Roman" charset="0"/>
                <a:ea typeface="仿宋_GB2312" charset="0"/>
              </a:rPr>
              <a:t> + (</a:t>
            </a:r>
            <a:r>
              <a:rPr kumimoji="1" lang="en-US" altLang="zh-CN" sz="3000" b="1" i="1">
                <a:solidFill>
                  <a:schemeClr val="tx2"/>
                </a:solidFill>
                <a:latin typeface="Times New Roman" charset="0"/>
                <a:ea typeface="仿宋_GB2312" charset="0"/>
              </a:rPr>
              <a:t>n</a:t>
            </a:r>
            <a:r>
              <a:rPr kumimoji="1" lang="en-US" altLang="zh-CN" sz="3000" b="1">
                <a:solidFill>
                  <a:schemeClr val="tx2"/>
                </a:solidFill>
                <a:latin typeface="楷体_GB2312" charset="0"/>
                <a:ea typeface="楷体_GB2312" charset="0"/>
              </a:rPr>
              <a:t>-</a:t>
            </a:r>
            <a:r>
              <a:rPr kumimoji="1" lang="en-US" altLang="zh-CN" sz="3000" b="1">
                <a:solidFill>
                  <a:schemeClr val="tx2"/>
                </a:solidFill>
                <a:latin typeface="Times New Roman" charset="0"/>
                <a:ea typeface="仿宋_GB2312" charset="0"/>
              </a:rPr>
              <a:t>1) + (</a:t>
            </a:r>
            <a:r>
              <a:rPr kumimoji="1" lang="en-US" altLang="zh-CN" sz="3000" b="1" i="1">
                <a:solidFill>
                  <a:schemeClr val="tx2"/>
                </a:solidFill>
                <a:latin typeface="Times New Roman" charset="0"/>
                <a:ea typeface="仿宋_GB2312" charset="0"/>
              </a:rPr>
              <a:t>n</a:t>
            </a:r>
            <a:r>
              <a:rPr kumimoji="1" lang="en-US" altLang="zh-CN" sz="3000" b="1">
                <a:solidFill>
                  <a:schemeClr val="tx2"/>
                </a:solidFill>
                <a:latin typeface="楷体_GB2312" charset="0"/>
                <a:ea typeface="楷体_GB2312" charset="0"/>
              </a:rPr>
              <a:t>-</a:t>
            </a:r>
            <a:r>
              <a:rPr kumimoji="1" lang="en-US" altLang="zh-CN" sz="3000" b="1">
                <a:solidFill>
                  <a:schemeClr val="tx2"/>
                </a:solidFill>
                <a:latin typeface="Times New Roman" charset="0"/>
                <a:ea typeface="仿宋_GB2312" charset="0"/>
              </a:rPr>
              <a:t>2) + </a:t>
            </a:r>
            <a:r>
              <a:rPr kumimoji="1" lang="en-US" altLang="zh-CN" sz="3000" b="1">
                <a:solidFill>
                  <a:schemeClr val="tx2"/>
                </a:solidFill>
                <a:latin typeface="Times New Roman" charset="0"/>
                <a:ea typeface="仿宋_GB2312" charset="0"/>
                <a:sym typeface="Wingdings" charset="2"/>
              </a:rPr>
              <a:t></a:t>
            </a:r>
            <a:r>
              <a:rPr kumimoji="1" lang="en-US" altLang="zh-CN" sz="3000" b="1">
                <a:solidFill>
                  <a:schemeClr val="tx2"/>
                </a:solidFill>
                <a:latin typeface="Times New Roman" charset="0"/>
                <a:ea typeface="仿宋_GB2312" charset="0"/>
              </a:rPr>
              <a:t> + (</a:t>
            </a:r>
            <a:r>
              <a:rPr kumimoji="1" lang="en-US" altLang="zh-CN" sz="3000" b="1" i="1">
                <a:solidFill>
                  <a:schemeClr val="tx2"/>
                </a:solidFill>
                <a:latin typeface="Times New Roman" charset="0"/>
                <a:ea typeface="仿宋_GB2312" charset="0"/>
              </a:rPr>
              <a:t>n</a:t>
            </a:r>
            <a:r>
              <a:rPr kumimoji="1" lang="en-US" altLang="zh-CN" sz="3000" b="1">
                <a:solidFill>
                  <a:schemeClr val="tx2"/>
                </a:solidFill>
                <a:latin typeface="楷体_GB2312" charset="0"/>
                <a:ea typeface="楷体_GB2312" charset="0"/>
              </a:rPr>
              <a:t>-</a:t>
            </a:r>
            <a:r>
              <a:rPr kumimoji="1" lang="en-US" altLang="zh-CN" sz="3000" b="1" i="1">
                <a:solidFill>
                  <a:schemeClr val="tx2"/>
                </a:solidFill>
                <a:latin typeface="Times New Roman" charset="0"/>
                <a:ea typeface="仿宋_GB2312" charset="0"/>
              </a:rPr>
              <a:t>i</a:t>
            </a:r>
            <a:r>
              <a:rPr kumimoji="1" lang="en-US" altLang="zh-CN" sz="3000" b="1">
                <a:solidFill>
                  <a:schemeClr val="tx2"/>
                </a:solidFill>
                <a:latin typeface="Times New Roman" charset="0"/>
                <a:ea typeface="仿宋_GB2312" charset="0"/>
              </a:rPr>
              <a:t>+1) + </a:t>
            </a:r>
            <a:r>
              <a:rPr kumimoji="1" lang="en-US" altLang="zh-CN" sz="3000" b="1" i="1">
                <a:solidFill>
                  <a:schemeClr val="tx2"/>
                </a:solidFill>
                <a:latin typeface="Times New Roman" charset="0"/>
                <a:ea typeface="仿宋_GB2312" charset="0"/>
              </a:rPr>
              <a:t>j</a:t>
            </a:r>
            <a:r>
              <a:rPr kumimoji="1" lang="en-US" altLang="zh-CN" sz="3000" b="1">
                <a:solidFill>
                  <a:schemeClr val="tx2"/>
                </a:solidFill>
                <a:latin typeface="楷体_GB2312" charset="0"/>
                <a:ea typeface="楷体_GB2312" charset="0"/>
              </a:rPr>
              <a:t>-</a:t>
            </a:r>
            <a:r>
              <a:rPr kumimoji="1" lang="en-US" altLang="zh-CN" sz="3000" b="1" i="1">
                <a:solidFill>
                  <a:schemeClr val="tx2"/>
                </a:solidFill>
                <a:latin typeface="Times New Roman" charset="0"/>
                <a:ea typeface="仿宋_GB2312" charset="0"/>
              </a:rPr>
              <a:t>i</a:t>
            </a:r>
            <a:endParaRPr kumimoji="1" lang="en-US" altLang="zh-CN" sz="3000" b="1">
              <a:solidFill>
                <a:schemeClr val="tx2"/>
              </a:solidFill>
              <a:latin typeface="Times New Roman" charset="0"/>
              <a:ea typeface="仿宋_GB2312" charset="0"/>
            </a:endParaRPr>
          </a:p>
        </p:txBody>
      </p:sp>
      <p:sp>
        <p:nvSpPr>
          <p:cNvPr id="29718" name="AutoShape 22"/>
          <p:cNvSpPr>
            <a:spLocks/>
          </p:cNvSpPr>
          <p:nvPr/>
        </p:nvSpPr>
        <p:spPr bwMode="auto">
          <a:xfrm rot="-5400000">
            <a:off x="4106863" y="3017837"/>
            <a:ext cx="76200" cy="5064125"/>
          </a:xfrm>
          <a:prstGeom prst="leftBrace">
            <a:avLst>
              <a:gd name="adj1" fmla="val 553819"/>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kumimoji="1" lang="zh-CN" altLang="zh-CN" sz="2400">
              <a:solidFill>
                <a:srgbClr val="000099"/>
              </a:solidFill>
              <a:latin typeface="Times New Roman" charset="0"/>
            </a:endParaRPr>
          </a:p>
        </p:txBody>
      </p:sp>
      <p:sp>
        <p:nvSpPr>
          <p:cNvPr id="29719" name="Text Box 23"/>
          <p:cNvSpPr txBox="1">
            <a:spLocks noChangeArrowheads="1"/>
          </p:cNvSpPr>
          <p:nvPr/>
        </p:nvSpPr>
        <p:spPr bwMode="auto">
          <a:xfrm>
            <a:off x="1128713" y="5588000"/>
            <a:ext cx="76342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a:solidFill>
                  <a:schemeClr val="tx2"/>
                </a:solidFill>
                <a:latin typeface="Times New Roman" charset="0"/>
                <a:ea typeface="隶书" charset="0"/>
              </a:rPr>
              <a:t>前</a:t>
            </a:r>
            <a:r>
              <a:rPr kumimoji="1" lang="en-US" altLang="zh-CN" sz="3200" b="1" i="1">
                <a:solidFill>
                  <a:schemeClr val="tx2"/>
                </a:solidFill>
                <a:latin typeface="Times New Roman" charset="0"/>
                <a:ea typeface="隶书" charset="0"/>
              </a:rPr>
              <a:t>i</a:t>
            </a:r>
            <a:r>
              <a:rPr kumimoji="1" lang="zh-CN" altLang="en-US" sz="3200">
                <a:solidFill>
                  <a:schemeClr val="tx2"/>
                </a:solidFill>
                <a:latin typeface="Times New Roman" charset="0"/>
                <a:ea typeface="隶书" charset="0"/>
              </a:rPr>
              <a:t>行</a:t>
            </a:r>
            <a:r>
              <a:rPr kumimoji="1" lang="zh-CN" altLang="en-US" sz="3200">
                <a:latin typeface="Times New Roman" charset="0"/>
                <a:ea typeface="隶书" charset="0"/>
              </a:rPr>
              <a:t>元素总数  </a:t>
            </a:r>
            <a:r>
              <a:rPr kumimoji="1" lang="zh-CN" altLang="en-US" sz="3200">
                <a:solidFill>
                  <a:schemeClr val="tx2"/>
                </a:solidFill>
                <a:latin typeface="Times New Roman" charset="0"/>
                <a:ea typeface="隶书" charset="0"/>
              </a:rPr>
              <a:t>第</a:t>
            </a:r>
            <a:r>
              <a:rPr kumimoji="1" lang="en-US" altLang="zh-CN" sz="3200" b="1" i="1">
                <a:solidFill>
                  <a:schemeClr val="tx2"/>
                </a:solidFill>
                <a:latin typeface="Times New Roman" charset="0"/>
                <a:ea typeface="隶书" charset="0"/>
              </a:rPr>
              <a:t>i</a:t>
            </a:r>
            <a:r>
              <a:rPr kumimoji="1" lang="zh-CN" altLang="en-US" sz="3200">
                <a:solidFill>
                  <a:schemeClr val="tx2"/>
                </a:solidFill>
                <a:latin typeface="Times New Roman" charset="0"/>
                <a:ea typeface="隶书" charset="0"/>
              </a:rPr>
              <a:t>行第</a:t>
            </a:r>
            <a:r>
              <a:rPr kumimoji="1" lang="en-US" altLang="zh-CN" sz="3200" b="1" i="1">
                <a:solidFill>
                  <a:schemeClr val="tx2"/>
                </a:solidFill>
                <a:latin typeface="Times New Roman" charset="0"/>
                <a:ea typeface="隶书" charset="0"/>
              </a:rPr>
              <a:t>j</a:t>
            </a:r>
            <a:r>
              <a:rPr kumimoji="1" lang="zh-CN" altLang="en-US" sz="3200">
                <a:solidFill>
                  <a:schemeClr val="tx2"/>
                </a:solidFill>
                <a:latin typeface="Times New Roman" charset="0"/>
                <a:ea typeface="隶书" charset="0"/>
              </a:rPr>
              <a:t>个</a:t>
            </a:r>
            <a:r>
              <a:rPr kumimoji="1" lang="zh-CN" altLang="en-US" sz="3200">
                <a:latin typeface="Times New Roman" charset="0"/>
                <a:ea typeface="隶书" charset="0"/>
              </a:rPr>
              <a:t>元素前元素个数</a:t>
            </a:r>
            <a:endParaRPr kumimoji="1" lang="zh-CN" altLang="en-US" sz="2400">
              <a:latin typeface="Times New Roman" charset="0"/>
            </a:endParaRPr>
          </a:p>
        </p:txBody>
      </p:sp>
      <p:sp>
        <p:nvSpPr>
          <p:cNvPr id="29720" name="AutoShape 24"/>
          <p:cNvSpPr>
            <a:spLocks/>
          </p:cNvSpPr>
          <p:nvPr/>
        </p:nvSpPr>
        <p:spPr bwMode="auto">
          <a:xfrm rot="-5400000">
            <a:off x="7186613" y="5310188"/>
            <a:ext cx="76200" cy="501650"/>
          </a:xfrm>
          <a:prstGeom prst="leftBrace">
            <a:avLst>
              <a:gd name="adj1" fmla="val 54861"/>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kumimoji="1" lang="zh-CN" altLang="zh-CN" sz="2400">
              <a:solidFill>
                <a:srgbClr val="000099"/>
              </a:solidFill>
              <a:latin typeface="Times New Roman" charset="0"/>
            </a:endParaRPr>
          </a:p>
        </p:txBody>
      </p:sp>
      <p:sp>
        <p:nvSpPr>
          <p:cNvPr id="29721" name="AutoShape 25"/>
          <p:cNvSpPr>
            <a:spLocks noChangeArrowheads="1"/>
          </p:cNvSpPr>
          <p:nvPr/>
        </p:nvSpPr>
        <p:spPr bwMode="auto">
          <a:xfrm>
            <a:off x="6105525" y="4038600"/>
            <a:ext cx="219075" cy="381000"/>
          </a:xfrm>
          <a:prstGeom prst="triangle">
            <a:avLst>
              <a:gd name="adj" fmla="val 50000"/>
            </a:avLst>
          </a:prstGeom>
          <a:solidFill>
            <a:schemeClr val="tx2"/>
          </a:solidFill>
          <a:ln w="9525">
            <a:solidFill>
              <a:srgbClr val="FF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9722" name="Text Box 26"/>
          <p:cNvSpPr txBox="1">
            <a:spLocks noChangeArrowheads="1"/>
          </p:cNvSpPr>
          <p:nvPr/>
        </p:nvSpPr>
        <p:spPr bwMode="auto">
          <a:xfrm>
            <a:off x="1209675" y="2284413"/>
            <a:ext cx="1047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latin typeface="Times New Roman" charset="0"/>
              </a:rPr>
              <a:t>n</a:t>
            </a:r>
            <a:r>
              <a:rPr kumimoji="1" lang="en-US" altLang="zh-CN" sz="3200" b="1">
                <a:latin typeface="Times New Roman" charset="0"/>
              </a:rPr>
              <a:t> = 4</a:t>
            </a:r>
            <a:endParaRPr kumimoji="1" lang="en-US" altLang="zh-CN" sz="3200">
              <a:latin typeface="Times New Roman" charset="0"/>
            </a:endParaRPr>
          </a:p>
        </p:txBody>
      </p:sp>
    </p:spTree>
    <p:extLst>
      <p:ext uri="{BB962C8B-B14F-4D97-AF65-F5344CB8AC3E}">
        <p14:creationId xmlns:p14="http://schemas.microsoft.com/office/powerpoint/2010/main" val="54992716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304800" y="3200400"/>
            <a:ext cx="8153400" cy="4114800"/>
          </a:xfrm>
        </p:spPr>
        <p:txBody>
          <a:bodyPr/>
          <a:lstStyle/>
          <a:p>
            <a:pPr eaLnBrk="1" hangingPunct="1">
              <a:buClr>
                <a:srgbClr val="000099"/>
              </a:buClr>
              <a:buFontTx/>
              <a:buNone/>
            </a:pPr>
            <a:r>
              <a:rPr lang="en-US" altLang="zh-CN" b="1">
                <a:solidFill>
                  <a:srgbClr val="000099"/>
                </a:solidFill>
                <a:ea typeface="仿宋_GB2312" charset="0"/>
              </a:rPr>
              <a:t>        </a:t>
            </a:r>
          </a:p>
        </p:txBody>
      </p:sp>
      <p:sp>
        <p:nvSpPr>
          <p:cNvPr id="30723" name="Rectangle 3"/>
          <p:cNvSpPr>
            <a:spLocks noChangeArrowheads="1"/>
          </p:cNvSpPr>
          <p:nvPr/>
        </p:nvSpPr>
        <p:spPr bwMode="auto">
          <a:xfrm>
            <a:off x="647700" y="1339850"/>
            <a:ext cx="7848600"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05000"/>
              </a:lnSpc>
              <a:spcBef>
                <a:spcPct val="15000"/>
              </a:spcBef>
              <a:buClr>
                <a:srgbClr val="990099"/>
              </a:buClr>
              <a:buSzPct val="50000"/>
              <a:buFont typeface="Wingdings" charset="2"/>
              <a:buChar char="n"/>
            </a:pPr>
            <a:r>
              <a:rPr kumimoji="1" lang="zh-CN" altLang="en-US" sz="3000" b="1">
                <a:solidFill>
                  <a:srgbClr val="000099"/>
                </a:solidFill>
                <a:latin typeface="Times New Roman" charset="0"/>
                <a:ea typeface="仿宋_GB2312" charset="0"/>
              </a:rPr>
              <a:t>若 </a:t>
            </a:r>
            <a:r>
              <a:rPr kumimoji="1" lang="en-US" altLang="zh-CN" sz="3000" b="1" i="1">
                <a:solidFill>
                  <a:schemeClr val="tx2"/>
                </a:solidFill>
                <a:latin typeface="Times New Roman" charset="0"/>
                <a:ea typeface="仿宋_GB2312" charset="0"/>
              </a:rPr>
              <a:t>i</a:t>
            </a:r>
            <a:r>
              <a:rPr kumimoji="1" lang="en-US" altLang="zh-CN" sz="3000" b="1">
                <a:solidFill>
                  <a:schemeClr val="tx2"/>
                </a:solidFill>
                <a:latin typeface="Times New Roman" charset="0"/>
                <a:ea typeface="仿宋_GB2312" charset="0"/>
              </a:rPr>
              <a:t> </a:t>
            </a:r>
            <a:r>
              <a:rPr kumimoji="1" lang="en-US" altLang="zh-CN" sz="3000" b="1">
                <a:solidFill>
                  <a:schemeClr val="tx2"/>
                </a:solidFill>
                <a:latin typeface="Times New Roman" charset="0"/>
                <a:ea typeface="仿宋_GB2312" charset="0"/>
                <a:sym typeface="Symbol" charset="2"/>
              </a:rPr>
              <a:t></a:t>
            </a:r>
            <a:r>
              <a:rPr kumimoji="1" lang="en-US" altLang="zh-CN" sz="3000" b="1">
                <a:solidFill>
                  <a:schemeClr val="tx2"/>
                </a:solidFill>
                <a:latin typeface="Times New Roman" charset="0"/>
                <a:ea typeface="仿宋_GB2312" charset="0"/>
              </a:rPr>
              <a:t> </a:t>
            </a:r>
            <a:r>
              <a:rPr kumimoji="1" lang="en-US" altLang="zh-CN" sz="3000" b="1" i="1">
                <a:solidFill>
                  <a:schemeClr val="tx2"/>
                </a:solidFill>
                <a:latin typeface="Times New Roman" charset="0"/>
                <a:ea typeface="仿宋_GB2312" charset="0"/>
              </a:rPr>
              <a:t>j</a:t>
            </a:r>
            <a:r>
              <a:rPr kumimoji="1" lang="zh-CN" altLang="en-US" sz="3000" b="1">
                <a:solidFill>
                  <a:srgbClr val="000099"/>
                </a:solidFill>
                <a:latin typeface="Times New Roman" charset="0"/>
                <a:ea typeface="仿宋_GB2312" charset="0"/>
              </a:rPr>
              <a:t>，数组元素</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a:t>
            </a:r>
            <a:r>
              <a:rPr kumimoji="1" lang="zh-CN" altLang="en-US" sz="3000" b="1">
                <a:solidFill>
                  <a:srgbClr val="000099"/>
                </a:solidFill>
                <a:latin typeface="Times New Roman" charset="0"/>
                <a:ea typeface="仿宋_GB2312" charset="0"/>
              </a:rPr>
              <a:t>在数组</a:t>
            </a:r>
            <a:r>
              <a:rPr kumimoji="1" lang="en-US" altLang="zh-CN" sz="3000" b="1">
                <a:solidFill>
                  <a:srgbClr val="000099"/>
                </a:solidFill>
                <a:latin typeface="Times New Roman" charset="0"/>
                <a:ea typeface="仿宋_GB2312" charset="0"/>
              </a:rPr>
              <a:t>B</a:t>
            </a:r>
            <a:r>
              <a:rPr kumimoji="1" lang="zh-CN" altLang="en-US" sz="3000" b="1">
                <a:solidFill>
                  <a:srgbClr val="000099"/>
                </a:solidFill>
                <a:latin typeface="Times New Roman" charset="0"/>
                <a:ea typeface="仿宋_GB2312" charset="0"/>
              </a:rPr>
              <a:t>中的存放位置为</a:t>
            </a:r>
          </a:p>
          <a:p>
            <a:pPr eaLnBrk="1" hangingPunct="1">
              <a:lnSpc>
                <a:spcPct val="105000"/>
              </a:lnSpc>
              <a:spcBef>
                <a:spcPct val="15000"/>
              </a:spcBef>
              <a:buClr>
                <a:srgbClr val="990099"/>
              </a:buClr>
              <a:buSzPct val="50000"/>
              <a:buFont typeface="Wingdings" charset="2"/>
              <a:buNone/>
            </a:pPr>
            <a:r>
              <a:rPr kumimoji="1" lang="zh-CN" altLang="en-US" sz="3000" b="1">
                <a:solidFill>
                  <a:srgbClr val="000099"/>
                </a:solidFill>
                <a:latin typeface="Times New Roman" charset="0"/>
                <a:ea typeface="仿宋_GB2312" charset="0"/>
              </a:rPr>
              <a:t>       </a:t>
            </a:r>
            <a:r>
              <a:rPr kumimoji="1" lang="en-US" altLang="zh-CN" sz="3000" b="1" i="1">
                <a:latin typeface="Times New Roman" charset="0"/>
                <a:ea typeface="仿宋_GB2312" charset="0"/>
              </a:rPr>
              <a:t>n</a:t>
            </a:r>
            <a:r>
              <a:rPr kumimoji="1" lang="en-US" altLang="zh-CN" sz="3000" b="1">
                <a:latin typeface="Times New Roman" charset="0"/>
                <a:ea typeface="仿宋_GB2312" charset="0"/>
              </a:rPr>
              <a:t> + (</a:t>
            </a:r>
            <a:r>
              <a:rPr kumimoji="1" lang="en-US" altLang="zh-CN" sz="3000" b="1" i="1">
                <a:latin typeface="Times New Roman" charset="0"/>
                <a:ea typeface="仿宋_GB2312" charset="0"/>
              </a:rPr>
              <a:t>n</a:t>
            </a:r>
            <a:r>
              <a:rPr kumimoji="1" lang="en-US" altLang="zh-CN" sz="3000" b="1">
                <a:latin typeface="楷体_GB2312" charset="0"/>
                <a:ea typeface="楷体_GB2312" charset="0"/>
              </a:rPr>
              <a:t>-</a:t>
            </a:r>
            <a:r>
              <a:rPr kumimoji="1" lang="en-US" altLang="zh-CN" sz="3000" b="1">
                <a:latin typeface="Times New Roman" charset="0"/>
                <a:ea typeface="仿宋_GB2312" charset="0"/>
              </a:rPr>
              <a:t>1) + (</a:t>
            </a:r>
            <a:r>
              <a:rPr kumimoji="1" lang="en-US" altLang="zh-CN" sz="3000" b="1" i="1">
                <a:latin typeface="Times New Roman" charset="0"/>
                <a:ea typeface="仿宋_GB2312" charset="0"/>
              </a:rPr>
              <a:t>n</a:t>
            </a:r>
            <a:r>
              <a:rPr kumimoji="1" lang="en-US" altLang="zh-CN" sz="3000" b="1">
                <a:latin typeface="楷体_GB2312" charset="0"/>
                <a:ea typeface="楷体_GB2312" charset="0"/>
              </a:rPr>
              <a:t>-</a:t>
            </a:r>
            <a:r>
              <a:rPr kumimoji="1" lang="en-US" altLang="zh-CN" sz="3000" b="1">
                <a:latin typeface="Times New Roman" charset="0"/>
                <a:ea typeface="仿宋_GB2312" charset="0"/>
              </a:rPr>
              <a:t>2) + </a:t>
            </a:r>
            <a:r>
              <a:rPr kumimoji="1" lang="en-US" altLang="zh-CN" sz="3000" b="1">
                <a:latin typeface="Times New Roman" charset="0"/>
                <a:ea typeface="仿宋_GB2312" charset="0"/>
                <a:sym typeface="Wingdings" charset="2"/>
              </a:rPr>
              <a:t></a:t>
            </a:r>
            <a:r>
              <a:rPr kumimoji="1" lang="en-US" altLang="zh-CN" sz="3000" b="1">
                <a:latin typeface="Times New Roman" charset="0"/>
                <a:ea typeface="仿宋_GB2312" charset="0"/>
              </a:rPr>
              <a:t> + (</a:t>
            </a:r>
            <a:r>
              <a:rPr kumimoji="1" lang="en-US" altLang="zh-CN" sz="3000" b="1" i="1">
                <a:latin typeface="Times New Roman" charset="0"/>
                <a:ea typeface="仿宋_GB2312" charset="0"/>
              </a:rPr>
              <a:t>n</a:t>
            </a:r>
            <a:r>
              <a:rPr kumimoji="1" lang="en-US" altLang="zh-CN" sz="3000" b="1">
                <a:latin typeface="楷体_GB2312" charset="0"/>
                <a:ea typeface="楷体_GB2312" charset="0"/>
              </a:rPr>
              <a:t>-</a:t>
            </a:r>
            <a:r>
              <a:rPr kumimoji="1" lang="en-US" altLang="zh-CN" sz="3000" b="1" i="1">
                <a:latin typeface="Times New Roman" charset="0"/>
                <a:ea typeface="仿宋_GB2312" charset="0"/>
              </a:rPr>
              <a:t>i</a:t>
            </a:r>
            <a:r>
              <a:rPr kumimoji="1" lang="en-US" altLang="zh-CN" sz="3000" b="1">
                <a:latin typeface="Times New Roman" charset="0"/>
                <a:ea typeface="仿宋_GB2312" charset="0"/>
              </a:rPr>
              <a:t>+1) + </a:t>
            </a:r>
            <a:r>
              <a:rPr kumimoji="1" lang="en-US" altLang="zh-CN" sz="3000" b="1" i="1">
                <a:latin typeface="Times New Roman" charset="0"/>
                <a:ea typeface="仿宋_GB2312" charset="0"/>
              </a:rPr>
              <a:t>j</a:t>
            </a:r>
            <a:r>
              <a:rPr kumimoji="1" lang="en-US" altLang="zh-CN" sz="3000" b="1">
                <a:latin typeface="楷体_GB2312" charset="0"/>
                <a:ea typeface="楷体_GB2312" charset="0"/>
              </a:rPr>
              <a:t>-</a:t>
            </a:r>
            <a:r>
              <a:rPr kumimoji="1" lang="en-US" altLang="zh-CN" sz="3000" b="1" i="1">
                <a:latin typeface="Times New Roman" charset="0"/>
                <a:ea typeface="仿宋_GB2312" charset="0"/>
              </a:rPr>
              <a:t>i</a:t>
            </a:r>
            <a:r>
              <a:rPr kumimoji="1" lang="en-US" altLang="zh-CN" sz="3000" b="1">
                <a:latin typeface="Times New Roman" charset="0"/>
                <a:ea typeface="仿宋_GB2312" charset="0"/>
              </a:rPr>
              <a:t> =</a:t>
            </a:r>
          </a:p>
          <a:p>
            <a:pPr eaLnBrk="1" hangingPunct="1">
              <a:lnSpc>
                <a:spcPct val="105000"/>
              </a:lnSpc>
              <a:spcBef>
                <a:spcPct val="15000"/>
              </a:spcBef>
              <a:buClr>
                <a:srgbClr val="990099"/>
              </a:buClr>
              <a:buSzPct val="50000"/>
              <a:buFont typeface="Wingdings" charset="2"/>
              <a:buNone/>
            </a:pPr>
            <a:r>
              <a:rPr kumimoji="1" lang="en-US" altLang="zh-CN" sz="3000" b="1">
                <a:latin typeface="Times New Roman" charset="0"/>
                <a:ea typeface="仿宋_GB2312" charset="0"/>
              </a:rPr>
              <a:t>       = (2*</a:t>
            </a:r>
            <a:r>
              <a:rPr kumimoji="1" lang="en-US" altLang="zh-CN" sz="3000" b="1" i="1">
                <a:latin typeface="Times New Roman" charset="0"/>
                <a:ea typeface="仿宋_GB2312" charset="0"/>
              </a:rPr>
              <a:t>n</a:t>
            </a:r>
            <a:r>
              <a:rPr kumimoji="1" lang="en-US" altLang="zh-CN" sz="3000" b="1">
                <a:latin typeface="楷体_GB2312" charset="0"/>
                <a:ea typeface="楷体_GB2312" charset="0"/>
              </a:rPr>
              <a:t>-</a:t>
            </a:r>
            <a:r>
              <a:rPr kumimoji="1" lang="en-US" altLang="zh-CN" sz="3000" b="1" i="1">
                <a:latin typeface="Times New Roman" charset="0"/>
                <a:ea typeface="仿宋_GB2312" charset="0"/>
              </a:rPr>
              <a:t>i</a:t>
            </a:r>
            <a:r>
              <a:rPr kumimoji="1" lang="en-US" altLang="zh-CN" sz="3000" b="1">
                <a:latin typeface="Times New Roman" charset="0"/>
                <a:ea typeface="仿宋_GB2312" charset="0"/>
              </a:rPr>
              <a:t>+1) * </a:t>
            </a:r>
            <a:r>
              <a:rPr kumimoji="1" lang="en-US" altLang="zh-CN" sz="3000" b="1" i="1">
                <a:latin typeface="Times New Roman" charset="0"/>
                <a:ea typeface="仿宋_GB2312" charset="0"/>
              </a:rPr>
              <a:t>i</a:t>
            </a:r>
            <a:r>
              <a:rPr kumimoji="1" lang="en-US" altLang="zh-CN" sz="3000" b="1">
                <a:latin typeface="Times New Roman" charset="0"/>
                <a:ea typeface="仿宋_GB2312" charset="0"/>
              </a:rPr>
              <a:t> / 2 + </a:t>
            </a:r>
            <a:r>
              <a:rPr kumimoji="1" lang="en-US" altLang="zh-CN" sz="3000" b="1" i="1">
                <a:latin typeface="Times New Roman" charset="0"/>
                <a:ea typeface="仿宋_GB2312" charset="0"/>
              </a:rPr>
              <a:t>j</a:t>
            </a:r>
            <a:r>
              <a:rPr kumimoji="1" lang="en-US" altLang="zh-CN" sz="3000" b="1">
                <a:latin typeface="楷体_GB2312" charset="0"/>
                <a:ea typeface="楷体_GB2312" charset="0"/>
              </a:rPr>
              <a:t>-</a:t>
            </a:r>
            <a:r>
              <a:rPr kumimoji="1" lang="en-US" altLang="zh-CN" sz="3000" b="1" i="1">
                <a:latin typeface="Times New Roman" charset="0"/>
                <a:ea typeface="仿宋_GB2312" charset="0"/>
              </a:rPr>
              <a:t>i</a:t>
            </a:r>
            <a:r>
              <a:rPr kumimoji="1" lang="en-US" altLang="zh-CN" sz="3000" b="1">
                <a:latin typeface="Times New Roman" charset="0"/>
                <a:ea typeface="仿宋_GB2312" charset="0"/>
              </a:rPr>
              <a:t> = </a:t>
            </a:r>
          </a:p>
          <a:p>
            <a:pPr eaLnBrk="1" hangingPunct="1">
              <a:lnSpc>
                <a:spcPct val="105000"/>
              </a:lnSpc>
              <a:spcBef>
                <a:spcPct val="15000"/>
              </a:spcBef>
              <a:buClr>
                <a:srgbClr val="990099"/>
              </a:buClr>
              <a:buSzPct val="50000"/>
              <a:buFont typeface="Wingdings" charset="2"/>
              <a:buNone/>
            </a:pPr>
            <a:r>
              <a:rPr kumimoji="1" lang="en-US" altLang="zh-CN" sz="3000" b="1">
                <a:latin typeface="Times New Roman" charset="0"/>
                <a:ea typeface="仿宋_GB2312" charset="0"/>
              </a:rPr>
              <a:t>       = (2*</a:t>
            </a:r>
            <a:r>
              <a:rPr kumimoji="1" lang="en-US" altLang="zh-CN" sz="3000" b="1" i="1">
                <a:latin typeface="Times New Roman" charset="0"/>
                <a:ea typeface="仿宋_GB2312" charset="0"/>
              </a:rPr>
              <a:t>n</a:t>
            </a:r>
            <a:r>
              <a:rPr kumimoji="1" lang="en-US" altLang="zh-CN" sz="3000" b="1">
                <a:latin typeface="楷体_GB2312" charset="0"/>
                <a:ea typeface="楷体_GB2312" charset="0"/>
              </a:rPr>
              <a:t>-</a:t>
            </a:r>
            <a:r>
              <a:rPr kumimoji="1" lang="en-US" altLang="zh-CN" sz="3000" b="1" i="1">
                <a:latin typeface="Times New Roman" charset="0"/>
                <a:ea typeface="仿宋_GB2312" charset="0"/>
              </a:rPr>
              <a:t>i</a:t>
            </a:r>
            <a:r>
              <a:rPr kumimoji="1" lang="en-US" altLang="zh-CN" sz="3000" b="1">
                <a:latin typeface="楷体_GB2312" charset="0"/>
                <a:ea typeface="楷体_GB2312" charset="0"/>
              </a:rPr>
              <a:t>-</a:t>
            </a:r>
            <a:r>
              <a:rPr kumimoji="1" lang="en-US" altLang="zh-CN" sz="3000" b="1">
                <a:latin typeface="Times New Roman" charset="0"/>
                <a:ea typeface="仿宋_GB2312" charset="0"/>
              </a:rPr>
              <a:t>1) * </a:t>
            </a:r>
            <a:r>
              <a:rPr kumimoji="1" lang="en-US" altLang="zh-CN" sz="3000" b="1" i="1">
                <a:latin typeface="Times New Roman" charset="0"/>
                <a:ea typeface="仿宋_GB2312" charset="0"/>
              </a:rPr>
              <a:t>i</a:t>
            </a:r>
            <a:r>
              <a:rPr kumimoji="1" lang="en-US" altLang="zh-CN" sz="3000" b="1">
                <a:latin typeface="Times New Roman" charset="0"/>
                <a:ea typeface="仿宋_GB2312" charset="0"/>
              </a:rPr>
              <a:t> / 2 + </a:t>
            </a:r>
            <a:r>
              <a:rPr kumimoji="1" lang="en-US" altLang="zh-CN" sz="3000" b="1" i="1">
                <a:latin typeface="Times New Roman" charset="0"/>
                <a:ea typeface="仿宋_GB2312" charset="0"/>
              </a:rPr>
              <a:t>j</a:t>
            </a:r>
          </a:p>
          <a:p>
            <a:pPr eaLnBrk="1" hangingPunct="1">
              <a:lnSpc>
                <a:spcPct val="105000"/>
              </a:lnSpc>
              <a:spcBef>
                <a:spcPct val="15000"/>
              </a:spcBef>
              <a:buClr>
                <a:srgbClr val="990099"/>
              </a:buClr>
              <a:buSzPct val="50000"/>
              <a:buFont typeface="Wingdings" charset="2"/>
              <a:buChar char="n"/>
            </a:pPr>
            <a:r>
              <a:rPr kumimoji="1" lang="zh-CN" altLang="en-US" sz="3000" b="1">
                <a:solidFill>
                  <a:srgbClr val="000099"/>
                </a:solidFill>
                <a:latin typeface="Times New Roman" charset="0"/>
                <a:ea typeface="仿宋_GB2312" charset="0"/>
              </a:rPr>
              <a:t>若</a:t>
            </a:r>
            <a:r>
              <a:rPr kumimoji="1" lang="en-US" altLang="zh-CN" sz="3000" b="1" i="1">
                <a:solidFill>
                  <a:schemeClr val="tx2"/>
                </a:solidFill>
                <a:latin typeface="Times New Roman" charset="0"/>
                <a:ea typeface="仿宋_GB2312" charset="0"/>
              </a:rPr>
              <a:t>i</a:t>
            </a:r>
            <a:r>
              <a:rPr kumimoji="1" lang="en-US" altLang="zh-CN" sz="3000" b="1">
                <a:solidFill>
                  <a:schemeClr val="tx2"/>
                </a:solidFill>
                <a:latin typeface="Times New Roman" charset="0"/>
                <a:ea typeface="仿宋_GB2312" charset="0"/>
              </a:rPr>
              <a:t> &gt; </a:t>
            </a:r>
            <a:r>
              <a:rPr kumimoji="1" lang="en-US" altLang="zh-CN" sz="3000" b="1" i="1">
                <a:solidFill>
                  <a:schemeClr val="tx2"/>
                </a:solidFill>
                <a:latin typeface="Times New Roman" charset="0"/>
                <a:ea typeface="仿宋_GB2312" charset="0"/>
              </a:rPr>
              <a:t>j</a:t>
            </a:r>
            <a:r>
              <a:rPr kumimoji="1" lang="zh-CN" altLang="en-US" sz="3000" b="1">
                <a:solidFill>
                  <a:srgbClr val="000099"/>
                </a:solidFill>
                <a:latin typeface="Times New Roman" charset="0"/>
                <a:ea typeface="仿宋_GB2312" charset="0"/>
              </a:rPr>
              <a:t>，数组元素</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a:t>
            </a:r>
            <a:r>
              <a:rPr kumimoji="1" lang="zh-CN" altLang="en-US" sz="3000" b="1">
                <a:solidFill>
                  <a:srgbClr val="000099"/>
                </a:solidFill>
                <a:latin typeface="Times New Roman" charset="0"/>
                <a:ea typeface="仿宋_GB2312" charset="0"/>
              </a:rPr>
              <a:t>在矩阵的下三角部分，在数组 </a:t>
            </a:r>
            <a:r>
              <a:rPr kumimoji="1" lang="en-US" altLang="zh-CN" sz="3000" b="1">
                <a:solidFill>
                  <a:srgbClr val="000099"/>
                </a:solidFill>
                <a:latin typeface="Times New Roman" charset="0"/>
                <a:ea typeface="仿宋_GB2312" charset="0"/>
              </a:rPr>
              <a:t>B </a:t>
            </a:r>
            <a:r>
              <a:rPr kumimoji="1" lang="zh-CN" altLang="en-US" sz="3000" b="1">
                <a:solidFill>
                  <a:srgbClr val="000099"/>
                </a:solidFill>
                <a:latin typeface="Times New Roman" charset="0"/>
                <a:ea typeface="仿宋_GB2312" charset="0"/>
              </a:rPr>
              <a:t>中没有存放。因此，找它的对称元素</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zh-CN" altLang="en-US" sz="3000" b="1">
                <a:solidFill>
                  <a:srgbClr val="000099"/>
                </a:solidFill>
                <a:latin typeface="Times New Roman" charset="0"/>
                <a:ea typeface="仿宋_GB2312" charset="0"/>
              </a:rPr>
              <a:t>。</a:t>
            </a:r>
            <a:r>
              <a:rPr kumimoji="1" lang="en-US" altLang="zh-CN" sz="3000" b="1">
                <a:solidFill>
                  <a:srgbClr val="000099"/>
                </a:solidFill>
                <a:latin typeface="Times New Roman" charset="0"/>
                <a:ea typeface="仿宋_GB2312" charset="0"/>
              </a:rPr>
              <a:t>A[</a:t>
            </a:r>
            <a:r>
              <a:rPr kumimoji="1" lang="en-US" altLang="zh-CN" sz="3000" b="1" i="1">
                <a:solidFill>
                  <a:srgbClr val="000099"/>
                </a:solidFill>
                <a:latin typeface="Times New Roman" charset="0"/>
                <a:ea typeface="仿宋_GB2312" charset="0"/>
              </a:rPr>
              <a:t>j</a:t>
            </a:r>
            <a:r>
              <a:rPr kumimoji="1" lang="en-US" altLang="zh-CN" sz="3000" b="1">
                <a:solidFill>
                  <a:srgbClr val="000099"/>
                </a:solidFill>
                <a:latin typeface="Times New Roman" charset="0"/>
                <a:ea typeface="仿宋_GB2312" charset="0"/>
              </a:rPr>
              <a:t>][</a:t>
            </a:r>
            <a:r>
              <a:rPr kumimoji="1" lang="en-US" altLang="zh-CN" sz="3000" b="1" i="1">
                <a:solidFill>
                  <a:srgbClr val="000099"/>
                </a:solidFill>
                <a:latin typeface="Times New Roman" charset="0"/>
                <a:ea typeface="仿宋_GB2312" charset="0"/>
              </a:rPr>
              <a:t>i</a:t>
            </a:r>
            <a:r>
              <a:rPr kumimoji="1" lang="en-US" altLang="zh-CN" sz="3000" b="1">
                <a:solidFill>
                  <a:srgbClr val="000099"/>
                </a:solidFill>
                <a:latin typeface="Times New Roman" charset="0"/>
                <a:ea typeface="仿宋_GB2312" charset="0"/>
              </a:rPr>
              <a:t>]</a:t>
            </a:r>
            <a:r>
              <a:rPr kumimoji="1" lang="zh-CN" altLang="en-US" sz="3000" b="1">
                <a:solidFill>
                  <a:srgbClr val="000099"/>
                </a:solidFill>
                <a:latin typeface="Times New Roman" charset="0"/>
                <a:ea typeface="仿宋_GB2312" charset="0"/>
              </a:rPr>
              <a:t>在数组 </a:t>
            </a:r>
            <a:r>
              <a:rPr kumimoji="1" lang="en-US" altLang="zh-CN" sz="3000" b="1">
                <a:solidFill>
                  <a:srgbClr val="000099"/>
                </a:solidFill>
                <a:latin typeface="Times New Roman" charset="0"/>
                <a:ea typeface="仿宋_GB2312" charset="0"/>
              </a:rPr>
              <a:t>B </a:t>
            </a:r>
            <a:r>
              <a:rPr kumimoji="1" lang="zh-CN" altLang="en-US" sz="3000" b="1">
                <a:solidFill>
                  <a:srgbClr val="000099"/>
                </a:solidFill>
                <a:latin typeface="Times New Roman" charset="0"/>
                <a:ea typeface="仿宋_GB2312" charset="0"/>
              </a:rPr>
              <a:t>的第 </a:t>
            </a:r>
            <a:r>
              <a:rPr kumimoji="1" lang="en-US" altLang="zh-CN" sz="3000" b="1">
                <a:solidFill>
                  <a:schemeClr val="tx2"/>
                </a:solidFill>
                <a:latin typeface="Times New Roman" charset="0"/>
                <a:ea typeface="仿宋_GB2312" charset="0"/>
              </a:rPr>
              <a:t>(2*</a:t>
            </a:r>
            <a:r>
              <a:rPr kumimoji="1" lang="en-US" altLang="zh-CN" sz="3000" b="1" i="1">
                <a:solidFill>
                  <a:schemeClr val="tx2"/>
                </a:solidFill>
                <a:latin typeface="Times New Roman" charset="0"/>
                <a:ea typeface="仿宋_GB2312" charset="0"/>
              </a:rPr>
              <a:t>n</a:t>
            </a:r>
            <a:r>
              <a:rPr kumimoji="1" lang="en-US" altLang="zh-CN" sz="3000" b="1">
                <a:solidFill>
                  <a:schemeClr val="tx2"/>
                </a:solidFill>
                <a:latin typeface="楷体_GB2312" charset="0"/>
                <a:ea typeface="楷体_GB2312" charset="0"/>
              </a:rPr>
              <a:t>-</a:t>
            </a:r>
            <a:r>
              <a:rPr kumimoji="1" lang="en-US" altLang="zh-CN" sz="3000" b="1" i="1">
                <a:solidFill>
                  <a:schemeClr val="tx2"/>
                </a:solidFill>
                <a:latin typeface="Times New Roman" charset="0"/>
                <a:ea typeface="仿宋_GB2312" charset="0"/>
              </a:rPr>
              <a:t>j</a:t>
            </a:r>
            <a:r>
              <a:rPr kumimoji="1" lang="en-US" altLang="zh-CN" sz="3000" b="1">
                <a:solidFill>
                  <a:schemeClr val="tx2"/>
                </a:solidFill>
                <a:latin typeface="楷体_GB2312" charset="0"/>
                <a:ea typeface="楷体_GB2312" charset="0"/>
              </a:rPr>
              <a:t>-</a:t>
            </a:r>
            <a:r>
              <a:rPr kumimoji="1" lang="en-US" altLang="zh-CN" sz="3000" b="1">
                <a:solidFill>
                  <a:schemeClr val="tx2"/>
                </a:solidFill>
                <a:latin typeface="Times New Roman" charset="0"/>
                <a:ea typeface="仿宋_GB2312" charset="0"/>
              </a:rPr>
              <a:t>1) * </a:t>
            </a:r>
            <a:r>
              <a:rPr kumimoji="1" lang="en-US" altLang="zh-CN" sz="3000" b="1" i="1">
                <a:solidFill>
                  <a:schemeClr val="tx2"/>
                </a:solidFill>
                <a:latin typeface="Times New Roman" charset="0"/>
                <a:ea typeface="仿宋_GB2312" charset="0"/>
              </a:rPr>
              <a:t>j</a:t>
            </a:r>
            <a:r>
              <a:rPr kumimoji="1" lang="en-US" altLang="zh-CN" sz="3000" b="1">
                <a:solidFill>
                  <a:schemeClr val="tx2"/>
                </a:solidFill>
                <a:latin typeface="Times New Roman" charset="0"/>
                <a:ea typeface="仿宋_GB2312" charset="0"/>
              </a:rPr>
              <a:t> / 2 + </a:t>
            </a:r>
            <a:r>
              <a:rPr kumimoji="1" lang="en-US" altLang="zh-CN" sz="3000" b="1" i="1">
                <a:solidFill>
                  <a:schemeClr val="tx2"/>
                </a:solidFill>
                <a:latin typeface="Times New Roman" charset="0"/>
                <a:ea typeface="仿宋_GB2312" charset="0"/>
              </a:rPr>
              <a:t>i</a:t>
            </a:r>
            <a:r>
              <a:rPr kumimoji="1" lang="en-US" altLang="zh-CN" sz="3000" b="1">
                <a:solidFill>
                  <a:srgbClr val="000099"/>
                </a:solidFill>
                <a:latin typeface="Times New Roman" charset="0"/>
                <a:ea typeface="仿宋_GB2312" charset="0"/>
              </a:rPr>
              <a:t> </a:t>
            </a:r>
            <a:r>
              <a:rPr kumimoji="1" lang="zh-CN" altLang="en-US" sz="3000" b="1">
                <a:solidFill>
                  <a:srgbClr val="000099"/>
                </a:solidFill>
                <a:latin typeface="Times New Roman" charset="0"/>
                <a:ea typeface="仿宋_GB2312" charset="0"/>
              </a:rPr>
              <a:t>的位置中找到。</a:t>
            </a:r>
          </a:p>
        </p:txBody>
      </p:sp>
    </p:spTree>
    <p:extLst>
      <p:ext uri="{BB962C8B-B14F-4D97-AF65-F5344CB8AC3E}">
        <p14:creationId xmlns:p14="http://schemas.microsoft.com/office/powerpoint/2010/main" val="1441401570"/>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533400" y="2036763"/>
            <a:ext cx="8382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3600">
                <a:latin typeface="Times New Roman" charset="0"/>
                <a:ea typeface="楷体_GB2312" charset="0"/>
              </a:rPr>
              <a:t>假设 </a:t>
            </a:r>
            <a:r>
              <a:rPr kumimoji="1" lang="en-US" altLang="zh-CN" sz="3600">
                <a:solidFill>
                  <a:srgbClr val="6600CC"/>
                </a:solidFill>
                <a:latin typeface="Times New Roman" charset="0"/>
                <a:ea typeface="楷体_GB2312" charset="0"/>
              </a:rPr>
              <a:t>m </a:t>
            </a:r>
            <a:r>
              <a:rPr kumimoji="1" lang="zh-CN" altLang="en-US" sz="3600">
                <a:solidFill>
                  <a:srgbClr val="6600CC"/>
                </a:solidFill>
                <a:latin typeface="Times New Roman" charset="0"/>
                <a:ea typeface="楷体_GB2312" charset="0"/>
              </a:rPr>
              <a:t>行 </a:t>
            </a:r>
            <a:r>
              <a:rPr kumimoji="1" lang="en-US" altLang="zh-CN" sz="3600">
                <a:solidFill>
                  <a:srgbClr val="6600CC"/>
                </a:solidFill>
                <a:latin typeface="Times New Roman" charset="0"/>
                <a:ea typeface="楷体_GB2312" charset="0"/>
              </a:rPr>
              <a:t>n </a:t>
            </a:r>
            <a:r>
              <a:rPr kumimoji="1" lang="zh-CN" altLang="en-US" sz="3600">
                <a:solidFill>
                  <a:srgbClr val="6600CC"/>
                </a:solidFill>
                <a:latin typeface="Times New Roman" charset="0"/>
                <a:ea typeface="楷体_GB2312" charset="0"/>
              </a:rPr>
              <a:t>列</a:t>
            </a:r>
            <a:r>
              <a:rPr kumimoji="1" lang="zh-CN" altLang="en-US" sz="3600">
                <a:latin typeface="Times New Roman" charset="0"/>
                <a:ea typeface="楷体_GB2312" charset="0"/>
              </a:rPr>
              <a:t>的矩阵含 </a:t>
            </a:r>
            <a:r>
              <a:rPr kumimoji="1" lang="en-US" altLang="zh-CN" sz="3600">
                <a:solidFill>
                  <a:srgbClr val="6600CC"/>
                </a:solidFill>
                <a:latin typeface="Times New Roman" charset="0"/>
                <a:ea typeface="楷体_GB2312" charset="0"/>
              </a:rPr>
              <a:t>t </a:t>
            </a:r>
            <a:r>
              <a:rPr kumimoji="1" lang="zh-CN" altLang="en-US" sz="3600">
                <a:solidFill>
                  <a:srgbClr val="6600CC"/>
                </a:solidFill>
                <a:latin typeface="Times New Roman" charset="0"/>
                <a:ea typeface="楷体_GB2312" charset="0"/>
              </a:rPr>
              <a:t>个非零元素</a:t>
            </a:r>
            <a:r>
              <a:rPr kumimoji="1" lang="zh-CN" altLang="en-US" sz="3600">
                <a:latin typeface="Times New Roman" charset="0"/>
                <a:ea typeface="楷体_GB2312" charset="0"/>
              </a:rPr>
              <a:t>，则称</a:t>
            </a:r>
          </a:p>
          <a:p>
            <a:pPr eaLnBrk="1" hangingPunct="1">
              <a:lnSpc>
                <a:spcPct val="125000"/>
              </a:lnSpc>
            </a:pPr>
            <a:endParaRPr kumimoji="1" lang="zh-CN" altLang="en-US" sz="2400">
              <a:latin typeface="Times New Roman" charset="0"/>
              <a:ea typeface="楷体_GB2312" charset="0"/>
            </a:endParaRPr>
          </a:p>
          <a:p>
            <a:pPr eaLnBrk="1" hangingPunct="1">
              <a:lnSpc>
                <a:spcPct val="125000"/>
              </a:lnSpc>
            </a:pPr>
            <a:endParaRPr kumimoji="1" lang="zh-CN" altLang="en-US" sz="2400">
              <a:latin typeface="Times New Roman" charset="0"/>
              <a:ea typeface="楷体_GB2312" charset="0"/>
            </a:endParaRPr>
          </a:p>
          <a:p>
            <a:pPr eaLnBrk="1" hangingPunct="1">
              <a:lnSpc>
                <a:spcPct val="125000"/>
              </a:lnSpc>
            </a:pPr>
            <a:r>
              <a:rPr kumimoji="1" lang="zh-CN" altLang="en-US" sz="3600">
                <a:latin typeface="Times New Roman" charset="0"/>
                <a:ea typeface="楷体_GB2312" charset="0"/>
              </a:rPr>
              <a:t> 为</a:t>
            </a:r>
            <a:r>
              <a:rPr kumimoji="1" lang="zh-CN" altLang="en-US" sz="3600" b="1">
                <a:solidFill>
                  <a:srgbClr val="FF0000"/>
                </a:solidFill>
                <a:latin typeface="Times New Roman" charset="0"/>
                <a:ea typeface="楷体_GB2312" charset="0"/>
              </a:rPr>
              <a:t>稀疏因子</a:t>
            </a:r>
            <a:r>
              <a:rPr kumimoji="1" lang="zh-CN" altLang="en-US" sz="3600" b="1">
                <a:latin typeface="Times New Roman" charset="0"/>
                <a:ea typeface="楷体_GB2312" charset="0"/>
              </a:rPr>
              <a:t>。</a:t>
            </a:r>
            <a:endParaRPr kumimoji="1" lang="zh-CN" altLang="en-US" sz="3600" b="1">
              <a:solidFill>
                <a:srgbClr val="FF0000"/>
              </a:solidFill>
              <a:latin typeface="Times New Roman" charset="0"/>
              <a:ea typeface="楷体_GB2312" charset="0"/>
            </a:endParaRPr>
          </a:p>
          <a:p>
            <a:pPr eaLnBrk="1" hangingPunct="1">
              <a:lnSpc>
                <a:spcPct val="135000"/>
              </a:lnSpc>
            </a:pPr>
            <a:r>
              <a:rPr kumimoji="1" lang="zh-CN" altLang="en-US" sz="3600" b="1">
                <a:latin typeface="Times New Roman" charset="0"/>
                <a:ea typeface="楷体_GB2312" charset="0"/>
              </a:rPr>
              <a:t>通常认为 </a:t>
            </a:r>
            <a:r>
              <a:rPr kumimoji="1" lang="zh-CN" altLang="en-US" sz="3600" b="1">
                <a:latin typeface="Times New Roman" charset="0"/>
                <a:ea typeface="楷体_GB2312" charset="0"/>
                <a:sym typeface="Symbol" charset="2"/>
              </a:rPr>
              <a:t></a:t>
            </a:r>
            <a:r>
              <a:rPr kumimoji="1" lang="zh-CN" altLang="en-US" sz="3600" b="1">
                <a:latin typeface="Times New Roman" charset="0"/>
                <a:ea typeface="楷体_GB2312" charset="0"/>
              </a:rPr>
              <a:t> </a:t>
            </a:r>
            <a:r>
              <a:rPr kumimoji="1" lang="zh-CN" altLang="en-US" sz="3600" b="1">
                <a:latin typeface="Times New Roman" charset="0"/>
                <a:ea typeface="楷体_GB2312" charset="0"/>
                <a:sym typeface="Symbol" charset="2"/>
              </a:rPr>
              <a:t></a:t>
            </a:r>
            <a:r>
              <a:rPr kumimoji="1" lang="zh-CN" altLang="en-US" sz="3600" b="1">
                <a:latin typeface="Times New Roman" charset="0"/>
                <a:ea typeface="楷体_GB2312" charset="0"/>
              </a:rPr>
              <a:t> </a:t>
            </a:r>
            <a:r>
              <a:rPr kumimoji="1" lang="en-US" altLang="zh-CN" sz="3600" b="1">
                <a:latin typeface="Times New Roman" charset="0"/>
                <a:ea typeface="楷体_GB2312" charset="0"/>
              </a:rPr>
              <a:t>0.05 </a:t>
            </a:r>
            <a:r>
              <a:rPr kumimoji="1" lang="zh-CN" altLang="en-US" sz="3600" b="1">
                <a:latin typeface="Times New Roman" charset="0"/>
                <a:ea typeface="楷体_GB2312" charset="0"/>
              </a:rPr>
              <a:t>的矩阵为稀疏矩阵。</a:t>
            </a:r>
          </a:p>
        </p:txBody>
      </p:sp>
      <p:graphicFrame>
        <p:nvGraphicFramePr>
          <p:cNvPr id="31747" name="Object 3"/>
          <p:cNvGraphicFramePr>
            <a:graphicFrameLocks noChangeAspect="1"/>
          </p:cNvGraphicFramePr>
          <p:nvPr/>
        </p:nvGraphicFramePr>
        <p:xfrm>
          <a:off x="3200400" y="3279775"/>
          <a:ext cx="1905000" cy="835025"/>
        </p:xfrm>
        <a:graphic>
          <a:graphicData uri="http://schemas.openxmlformats.org/presentationml/2006/ole">
            <mc:AlternateContent xmlns:mc="http://schemas.openxmlformats.org/markup-compatibility/2006">
              <mc:Choice xmlns:v="urn:schemas-microsoft-com:vml" Requires="v">
                <p:oleObj spid="_x0000_s578563" name="公式" r:id="rId3" imgW="1041400" imgH="457200" progId="Equation.3">
                  <p:embed/>
                </p:oleObj>
              </mc:Choice>
              <mc:Fallback>
                <p:oleObj name="公式" r:id="rId3" imgW="1041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3279775"/>
                        <a:ext cx="1905000"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1748" name="Text Box 4"/>
          <p:cNvSpPr txBox="1">
            <a:spLocks noChangeArrowheads="1"/>
          </p:cNvSpPr>
          <p:nvPr/>
        </p:nvSpPr>
        <p:spPr bwMode="auto">
          <a:xfrm>
            <a:off x="1060450" y="1279525"/>
            <a:ext cx="3749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800000"/>
                </a:solidFill>
                <a:latin typeface="Times New Roman" charset="0"/>
                <a:ea typeface="楷体_GB2312" charset="0"/>
              </a:rPr>
              <a:t>何谓稀疏矩阵</a:t>
            </a:r>
            <a:r>
              <a:rPr kumimoji="1" lang="zh-CN" altLang="en-US" sz="4000">
                <a:solidFill>
                  <a:srgbClr val="9933FF"/>
                </a:solidFill>
                <a:latin typeface="Times New Roman" charset="0"/>
                <a:ea typeface="楷体_GB2312" charset="0"/>
              </a:rPr>
              <a:t>？</a:t>
            </a:r>
            <a:endParaRPr kumimoji="1" lang="zh-CN" altLang="en-US" sz="4400">
              <a:latin typeface="Times New Roman" charset="0"/>
            </a:endParaRPr>
          </a:p>
        </p:txBody>
      </p:sp>
    </p:spTree>
    <p:extLst>
      <p:ext uri="{BB962C8B-B14F-4D97-AF65-F5344CB8AC3E}">
        <p14:creationId xmlns:p14="http://schemas.microsoft.com/office/powerpoint/2010/main" val="152960265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457200" y="746125"/>
            <a:ext cx="82105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600">
                <a:latin typeface="Times New Roman" charset="0"/>
                <a:ea typeface="楷体_GB2312" charset="0"/>
              </a:rPr>
              <a:t>        </a:t>
            </a:r>
            <a:r>
              <a:rPr kumimoji="1" lang="zh-CN" altLang="en-US" sz="4000">
                <a:latin typeface="Times New Roman" charset="0"/>
                <a:ea typeface="楷体_GB2312" charset="0"/>
              </a:rPr>
              <a:t>以常规方法，即以二维数组表示</a:t>
            </a:r>
          </a:p>
          <a:p>
            <a:pPr eaLnBrk="1" hangingPunct="1">
              <a:lnSpc>
                <a:spcPct val="150000"/>
              </a:lnSpc>
            </a:pPr>
            <a:r>
              <a:rPr kumimoji="1" lang="zh-CN" altLang="en-US" sz="4000">
                <a:latin typeface="Times New Roman" charset="0"/>
                <a:ea typeface="楷体_GB2312" charset="0"/>
              </a:rPr>
              <a:t>高阶的稀疏矩阵时产生的</a:t>
            </a:r>
            <a:r>
              <a:rPr kumimoji="1" lang="zh-CN" altLang="en-US" sz="4000" b="1">
                <a:latin typeface="Times New Roman" charset="0"/>
                <a:ea typeface="楷体_GB2312" charset="0"/>
              </a:rPr>
              <a:t>问题</a:t>
            </a:r>
            <a:r>
              <a:rPr kumimoji="1" lang="en-US" altLang="zh-CN" sz="4000" b="1">
                <a:latin typeface="Times New Roman" charset="0"/>
                <a:ea typeface="楷体_GB2312" charset="0"/>
              </a:rPr>
              <a:t>:</a:t>
            </a:r>
            <a:endParaRPr kumimoji="1" lang="en-US" altLang="zh-CN" sz="4000">
              <a:latin typeface="Times New Roman" charset="0"/>
              <a:ea typeface="楷体_GB2312" charset="0"/>
            </a:endParaRPr>
          </a:p>
        </p:txBody>
      </p:sp>
      <p:sp>
        <p:nvSpPr>
          <p:cNvPr id="181251" name="Text Box 3"/>
          <p:cNvSpPr txBox="1">
            <a:spLocks noChangeArrowheads="1"/>
          </p:cNvSpPr>
          <p:nvPr/>
        </p:nvSpPr>
        <p:spPr bwMode="auto">
          <a:xfrm>
            <a:off x="469900" y="2879725"/>
            <a:ext cx="29368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4000" b="1">
                <a:solidFill>
                  <a:srgbClr val="800080"/>
                </a:solidFill>
                <a:latin typeface="Times New Roman" charset="0"/>
                <a:ea typeface="楷体_GB2312" charset="0"/>
              </a:rPr>
              <a:t>1)</a:t>
            </a:r>
            <a:r>
              <a:rPr kumimoji="1" lang="en-US" altLang="zh-CN" sz="4000" b="1">
                <a:solidFill>
                  <a:srgbClr val="000000"/>
                </a:solidFill>
                <a:latin typeface="Times New Roman" charset="0"/>
                <a:ea typeface="楷体_GB2312" charset="0"/>
              </a:rPr>
              <a:t> </a:t>
            </a:r>
            <a:r>
              <a:rPr kumimoji="1" lang="zh-CN" altLang="en-US" sz="4000" b="1">
                <a:solidFill>
                  <a:srgbClr val="FF0000"/>
                </a:solidFill>
                <a:latin typeface="Times New Roman" charset="0"/>
                <a:ea typeface="楷体_GB2312" charset="0"/>
              </a:rPr>
              <a:t>浪费空间</a:t>
            </a:r>
            <a:r>
              <a:rPr kumimoji="1" lang="en-US" altLang="zh-CN" sz="4000" b="1">
                <a:solidFill>
                  <a:srgbClr val="800080"/>
                </a:solidFill>
                <a:latin typeface="Times New Roman" charset="0"/>
                <a:ea typeface="楷体_GB2312" charset="0"/>
              </a:rPr>
              <a:t>;</a:t>
            </a:r>
          </a:p>
        </p:txBody>
      </p:sp>
      <p:sp>
        <p:nvSpPr>
          <p:cNvPr id="181252" name="Text Box 4"/>
          <p:cNvSpPr txBox="1">
            <a:spLocks noChangeArrowheads="1"/>
          </p:cNvSpPr>
          <p:nvPr/>
        </p:nvSpPr>
        <p:spPr bwMode="auto">
          <a:xfrm>
            <a:off x="533400" y="3962400"/>
            <a:ext cx="83820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4000" b="1">
                <a:solidFill>
                  <a:srgbClr val="800080"/>
                </a:solidFill>
                <a:latin typeface="Times New Roman" charset="0"/>
                <a:ea typeface="楷体_GB2312" charset="0"/>
              </a:rPr>
              <a:t>2)</a:t>
            </a:r>
            <a:r>
              <a:rPr kumimoji="1" lang="zh-CN" altLang="en-US" sz="4000" b="1">
                <a:solidFill>
                  <a:srgbClr val="800080"/>
                </a:solidFill>
                <a:latin typeface="Times New Roman" charset="0"/>
                <a:ea typeface="楷体_GB2312" charset="0"/>
              </a:rPr>
              <a:t>是指在进行矩阵的运算中进行了很多与零元素的运算－</a:t>
            </a:r>
            <a:r>
              <a:rPr kumimoji="1" lang="zh-CN" altLang="en-US" sz="4000" b="1">
                <a:solidFill>
                  <a:srgbClr val="FF0000"/>
                </a:solidFill>
                <a:latin typeface="Times New Roman" charset="0"/>
                <a:ea typeface="楷体_GB2312" charset="0"/>
              </a:rPr>
              <a:t>浪费时间</a:t>
            </a:r>
            <a:r>
              <a:rPr kumimoji="1" lang="zh-CN" altLang="en-US" sz="3600" b="1">
                <a:solidFill>
                  <a:srgbClr val="800080"/>
                </a:solidFill>
                <a:latin typeface="Times New Roman" charset="0"/>
                <a:ea typeface="楷体_GB2312" charset="0"/>
              </a:rPr>
              <a:t>。</a:t>
            </a:r>
          </a:p>
        </p:txBody>
      </p:sp>
    </p:spTree>
    <p:extLst>
      <p:ext uri="{BB962C8B-B14F-4D97-AF65-F5344CB8AC3E}">
        <p14:creationId xmlns:p14="http://schemas.microsoft.com/office/powerpoint/2010/main" val="15281502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1251"/>
                                        </p:tgtEl>
                                        <p:attrNameLst>
                                          <p:attrName>style.visibility</p:attrName>
                                        </p:attrNameLst>
                                      </p:cBhvr>
                                      <p:to>
                                        <p:strVal val="visible"/>
                                      </p:to>
                                    </p:set>
                                    <p:anim calcmode="lin" valueType="num">
                                      <p:cBhvr additive="base">
                                        <p:cTn id="7" dur="500" fill="hold"/>
                                        <p:tgtEl>
                                          <p:spTgt spid="181251"/>
                                        </p:tgtEl>
                                        <p:attrNameLst>
                                          <p:attrName>ppt_x</p:attrName>
                                        </p:attrNameLst>
                                      </p:cBhvr>
                                      <p:tavLst>
                                        <p:tav tm="0">
                                          <p:val>
                                            <p:strVal val="#ppt_x"/>
                                          </p:val>
                                        </p:tav>
                                        <p:tav tm="100000">
                                          <p:val>
                                            <p:strVal val="#ppt_x"/>
                                          </p:val>
                                        </p:tav>
                                      </p:tavLst>
                                    </p:anim>
                                    <p:anim calcmode="lin" valueType="num">
                                      <p:cBhvr additive="base">
                                        <p:cTn id="8" dur="500" fill="hold"/>
                                        <p:tgtEl>
                                          <p:spTgt spid="1812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1252"/>
                                        </p:tgtEl>
                                        <p:attrNameLst>
                                          <p:attrName>style.visibility</p:attrName>
                                        </p:attrNameLst>
                                      </p:cBhvr>
                                      <p:to>
                                        <p:strVal val="visible"/>
                                      </p:to>
                                    </p:set>
                                    <p:anim calcmode="lin" valueType="num">
                                      <p:cBhvr additive="base">
                                        <p:cTn id="13" dur="500" fill="hold"/>
                                        <p:tgtEl>
                                          <p:spTgt spid="181252"/>
                                        </p:tgtEl>
                                        <p:attrNameLst>
                                          <p:attrName>ppt_x</p:attrName>
                                        </p:attrNameLst>
                                      </p:cBhvr>
                                      <p:tavLst>
                                        <p:tav tm="0">
                                          <p:val>
                                            <p:strVal val="#ppt_x"/>
                                          </p:val>
                                        </p:tav>
                                        <p:tav tm="100000">
                                          <p:val>
                                            <p:strVal val="#ppt_x"/>
                                          </p:val>
                                        </p:tav>
                                      </p:tavLst>
                                    </p:anim>
                                    <p:anim calcmode="lin" valueType="num">
                                      <p:cBhvr additive="base">
                                        <p:cTn id="14" dur="500" fill="hold"/>
                                        <p:tgtEl>
                                          <p:spTgt spid="1812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p:bldP spid="1812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469900" y="1066800"/>
            <a:ext cx="73390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4000">
                <a:solidFill>
                  <a:srgbClr val="800080"/>
                </a:solidFill>
                <a:latin typeface="Times New Roman" charset="0"/>
                <a:ea typeface="楷体_GB2312" charset="0"/>
              </a:rPr>
              <a:t>1) </a:t>
            </a:r>
            <a:r>
              <a:rPr kumimoji="1" lang="zh-CN" altLang="en-US" sz="4000">
                <a:solidFill>
                  <a:srgbClr val="800080"/>
                </a:solidFill>
                <a:latin typeface="Times New Roman" charset="0"/>
                <a:ea typeface="楷体_GB2312" charset="0"/>
              </a:rPr>
              <a:t>尽可能少存或不存零值元素；</a:t>
            </a:r>
          </a:p>
        </p:txBody>
      </p:sp>
      <p:sp>
        <p:nvSpPr>
          <p:cNvPr id="33795" name="Text Box 3"/>
          <p:cNvSpPr txBox="1">
            <a:spLocks noChangeArrowheads="1"/>
          </p:cNvSpPr>
          <p:nvPr/>
        </p:nvSpPr>
        <p:spPr bwMode="auto">
          <a:xfrm>
            <a:off x="1524000" y="152400"/>
            <a:ext cx="52133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5400" b="1">
                <a:solidFill>
                  <a:srgbClr val="CC3399"/>
                </a:solidFill>
                <a:latin typeface="Times New Roman" charset="0"/>
                <a:ea typeface="楷体_GB2312" charset="0"/>
              </a:rPr>
              <a:t>解决问题的目标</a:t>
            </a:r>
            <a:r>
              <a:rPr kumimoji="1" lang="en-US" altLang="zh-CN" sz="5400" b="1">
                <a:solidFill>
                  <a:srgbClr val="CC3399"/>
                </a:solidFill>
                <a:latin typeface="Times New Roman" charset="0"/>
                <a:ea typeface="楷体_GB2312" charset="0"/>
              </a:rPr>
              <a:t>:</a:t>
            </a:r>
            <a:endParaRPr kumimoji="1" lang="en-US" altLang="zh-CN" sz="6000">
              <a:solidFill>
                <a:srgbClr val="CC3399"/>
              </a:solidFill>
              <a:latin typeface="Times New Roman" charset="0"/>
            </a:endParaRPr>
          </a:p>
        </p:txBody>
      </p:sp>
      <p:sp>
        <p:nvSpPr>
          <p:cNvPr id="182276" name="Text Box 4"/>
          <p:cNvSpPr txBox="1">
            <a:spLocks noChangeArrowheads="1"/>
          </p:cNvSpPr>
          <p:nvPr/>
        </p:nvSpPr>
        <p:spPr bwMode="auto">
          <a:xfrm>
            <a:off x="469900" y="1905000"/>
            <a:ext cx="83550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4000">
                <a:solidFill>
                  <a:srgbClr val="800080"/>
                </a:solidFill>
                <a:latin typeface="Times New Roman" charset="0"/>
                <a:ea typeface="楷体_GB2312" charset="0"/>
              </a:rPr>
              <a:t>2) </a:t>
            </a:r>
            <a:r>
              <a:rPr kumimoji="1" lang="zh-CN" altLang="en-US" sz="4000">
                <a:solidFill>
                  <a:srgbClr val="800080"/>
                </a:solidFill>
                <a:latin typeface="Times New Roman" charset="0"/>
                <a:ea typeface="楷体_GB2312" charset="0"/>
              </a:rPr>
              <a:t>尽可能减少没有实际意义的运算；</a:t>
            </a:r>
          </a:p>
        </p:txBody>
      </p:sp>
      <p:sp>
        <p:nvSpPr>
          <p:cNvPr id="182277" name="Text Box 5"/>
          <p:cNvSpPr txBox="1">
            <a:spLocks noChangeArrowheads="1"/>
          </p:cNvSpPr>
          <p:nvPr/>
        </p:nvSpPr>
        <p:spPr bwMode="auto">
          <a:xfrm>
            <a:off x="512763" y="2819400"/>
            <a:ext cx="6788150"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4000">
                <a:solidFill>
                  <a:srgbClr val="800080"/>
                </a:solidFill>
                <a:latin typeface="Times New Roman" charset="0"/>
                <a:ea typeface="楷体_GB2312" charset="0"/>
              </a:rPr>
              <a:t>3) </a:t>
            </a:r>
            <a:r>
              <a:rPr kumimoji="1" lang="zh-CN" altLang="en-US" sz="4000">
                <a:solidFill>
                  <a:srgbClr val="800080"/>
                </a:solidFill>
                <a:latin typeface="Times New Roman" charset="0"/>
                <a:ea typeface="楷体_GB2312" charset="0"/>
              </a:rPr>
              <a:t>操作方便。 即：</a:t>
            </a:r>
          </a:p>
          <a:p>
            <a:pPr eaLnBrk="1" hangingPunct="1">
              <a:lnSpc>
                <a:spcPct val="120000"/>
              </a:lnSpc>
            </a:pPr>
            <a:r>
              <a:rPr kumimoji="1" lang="zh-CN" altLang="en-US" sz="4000">
                <a:solidFill>
                  <a:srgbClr val="800080"/>
                </a:solidFill>
                <a:latin typeface="Times New Roman" charset="0"/>
                <a:ea typeface="楷体_GB2312" charset="0"/>
              </a:rPr>
              <a:t>            能尽可能快地找到与</a:t>
            </a:r>
          </a:p>
          <a:p>
            <a:pPr eaLnBrk="1" hangingPunct="1">
              <a:lnSpc>
                <a:spcPct val="120000"/>
              </a:lnSpc>
            </a:pPr>
            <a:r>
              <a:rPr kumimoji="1" lang="zh-CN" altLang="en-US" sz="4000">
                <a:solidFill>
                  <a:srgbClr val="800080"/>
                </a:solidFill>
                <a:latin typeface="Times New Roman" charset="0"/>
                <a:ea typeface="楷体_GB2312" charset="0"/>
              </a:rPr>
              <a:t>   下标值</a:t>
            </a:r>
            <a:r>
              <a:rPr kumimoji="1" lang="en-US" altLang="zh-CN" sz="4000">
                <a:solidFill>
                  <a:srgbClr val="800080"/>
                </a:solidFill>
                <a:latin typeface="Times New Roman" charset="0"/>
                <a:ea typeface="楷体_GB2312" charset="0"/>
              </a:rPr>
              <a:t>(i</a:t>
            </a:r>
            <a:r>
              <a:rPr kumimoji="1" lang="zh-CN" altLang="en-US" sz="4000">
                <a:solidFill>
                  <a:srgbClr val="800080"/>
                </a:solidFill>
                <a:latin typeface="Times New Roman" charset="0"/>
                <a:ea typeface="楷体_GB2312" charset="0"/>
              </a:rPr>
              <a:t>，</a:t>
            </a:r>
            <a:r>
              <a:rPr kumimoji="1" lang="en-US" altLang="zh-CN" sz="4000">
                <a:solidFill>
                  <a:srgbClr val="800080"/>
                </a:solidFill>
                <a:latin typeface="Times New Roman" charset="0"/>
                <a:ea typeface="楷体_GB2312" charset="0"/>
              </a:rPr>
              <a:t>j)</a:t>
            </a:r>
            <a:r>
              <a:rPr kumimoji="1" lang="zh-CN" altLang="en-US" sz="4000">
                <a:solidFill>
                  <a:srgbClr val="800080"/>
                </a:solidFill>
                <a:latin typeface="Times New Roman" charset="0"/>
                <a:ea typeface="楷体_GB2312" charset="0"/>
              </a:rPr>
              <a:t>对应的元素，</a:t>
            </a:r>
          </a:p>
          <a:p>
            <a:pPr eaLnBrk="1" hangingPunct="1">
              <a:lnSpc>
                <a:spcPct val="120000"/>
              </a:lnSpc>
            </a:pPr>
            <a:r>
              <a:rPr kumimoji="1" lang="zh-CN" altLang="en-US" sz="4000">
                <a:solidFill>
                  <a:srgbClr val="800080"/>
                </a:solidFill>
                <a:latin typeface="Times New Roman" charset="0"/>
                <a:ea typeface="楷体_GB2312" charset="0"/>
              </a:rPr>
              <a:t>            能尽可能快地找到同</a:t>
            </a:r>
          </a:p>
          <a:p>
            <a:pPr eaLnBrk="1" hangingPunct="1">
              <a:lnSpc>
                <a:spcPct val="120000"/>
              </a:lnSpc>
            </a:pPr>
            <a:r>
              <a:rPr kumimoji="1" lang="zh-CN" altLang="en-US" sz="4000">
                <a:solidFill>
                  <a:srgbClr val="800080"/>
                </a:solidFill>
                <a:latin typeface="Times New Roman" charset="0"/>
                <a:ea typeface="楷体_GB2312" charset="0"/>
              </a:rPr>
              <a:t>    一行或同一列的非零值元。</a:t>
            </a:r>
            <a:endParaRPr kumimoji="1" lang="zh-CN" altLang="en-US" sz="4400">
              <a:latin typeface="Times New Roman" charset="0"/>
            </a:endParaRPr>
          </a:p>
        </p:txBody>
      </p:sp>
    </p:spTree>
    <p:extLst>
      <p:ext uri="{BB962C8B-B14F-4D97-AF65-F5344CB8AC3E}">
        <p14:creationId xmlns:p14="http://schemas.microsoft.com/office/powerpoint/2010/main" val="8428797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2274">
                                            <p:txEl>
                                              <p:pRg st="0" end="0"/>
                                            </p:txEl>
                                          </p:spTgt>
                                        </p:tgtEl>
                                        <p:attrNameLst>
                                          <p:attrName>style.visibility</p:attrName>
                                        </p:attrNameLst>
                                      </p:cBhvr>
                                      <p:to>
                                        <p:strVal val="visible"/>
                                      </p:to>
                                    </p:set>
                                    <p:anim calcmode="lin" valueType="num">
                                      <p:cBhvr additive="base">
                                        <p:cTn id="7" dur="500" fill="hold"/>
                                        <p:tgtEl>
                                          <p:spTgt spid="1822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22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2276"/>
                                        </p:tgtEl>
                                        <p:attrNameLst>
                                          <p:attrName>style.visibility</p:attrName>
                                        </p:attrNameLst>
                                      </p:cBhvr>
                                      <p:to>
                                        <p:strVal val="visible"/>
                                      </p:to>
                                    </p:set>
                                    <p:anim calcmode="lin" valueType="num">
                                      <p:cBhvr additive="base">
                                        <p:cTn id="13" dur="500" fill="hold"/>
                                        <p:tgtEl>
                                          <p:spTgt spid="182276"/>
                                        </p:tgtEl>
                                        <p:attrNameLst>
                                          <p:attrName>ppt_x</p:attrName>
                                        </p:attrNameLst>
                                      </p:cBhvr>
                                      <p:tavLst>
                                        <p:tav tm="0">
                                          <p:val>
                                            <p:strVal val="#ppt_x"/>
                                          </p:val>
                                        </p:tav>
                                        <p:tav tm="100000">
                                          <p:val>
                                            <p:strVal val="#ppt_x"/>
                                          </p:val>
                                        </p:tav>
                                      </p:tavLst>
                                    </p:anim>
                                    <p:anim calcmode="lin" valueType="num">
                                      <p:cBhvr additive="base">
                                        <p:cTn id="14" dur="500" fill="hold"/>
                                        <p:tgtEl>
                                          <p:spTgt spid="18227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2277"/>
                                        </p:tgtEl>
                                        <p:attrNameLst>
                                          <p:attrName>style.visibility</p:attrName>
                                        </p:attrNameLst>
                                      </p:cBhvr>
                                      <p:to>
                                        <p:strVal val="visible"/>
                                      </p:to>
                                    </p:set>
                                    <p:anim calcmode="lin" valueType="num">
                                      <p:cBhvr additive="base">
                                        <p:cTn id="19" dur="500" fill="hold"/>
                                        <p:tgtEl>
                                          <p:spTgt spid="182277"/>
                                        </p:tgtEl>
                                        <p:attrNameLst>
                                          <p:attrName>ppt_x</p:attrName>
                                        </p:attrNameLst>
                                      </p:cBhvr>
                                      <p:tavLst>
                                        <p:tav tm="0">
                                          <p:val>
                                            <p:strVal val="#ppt_x"/>
                                          </p:val>
                                        </p:tav>
                                        <p:tav tm="100000">
                                          <p:val>
                                            <p:strVal val="#ppt_x"/>
                                          </p:val>
                                        </p:tav>
                                      </p:tavLst>
                                    </p:anim>
                                    <p:anim calcmode="lin" valueType="num">
                                      <p:cBhvr additive="base">
                                        <p:cTn id="20" dur="500" fill="hold"/>
                                        <p:tgtEl>
                                          <p:spTgt spid="1822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p:bldP spid="18227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xfrm>
            <a:off x="685800" y="1828800"/>
            <a:ext cx="7772400" cy="4267200"/>
          </a:xfrm>
        </p:spPr>
        <p:txBody>
          <a:bodyPr/>
          <a:lstStyle/>
          <a:p>
            <a:pPr eaLnBrk="1" hangingPunct="1">
              <a:lnSpc>
                <a:spcPct val="90000"/>
              </a:lnSpc>
            </a:pPr>
            <a:r>
              <a:rPr lang="zh-CN" altLang="en-US" b="1">
                <a:solidFill>
                  <a:srgbClr val="0000FF"/>
                </a:solidFill>
                <a:ea typeface="楷体_GB2312" charset="0"/>
              </a:rPr>
              <a:t>但由于非零元素的分布一般是没有规律的，因此在存储非零元素的同时，还必须同时记下它所在的行和列的位置（</a:t>
            </a:r>
            <a:r>
              <a:rPr lang="en-US" altLang="zh-CN" b="1">
                <a:solidFill>
                  <a:srgbClr val="0000FF"/>
                </a:solidFill>
                <a:ea typeface="楷体_GB2312" charset="0"/>
              </a:rPr>
              <a:t>i,j)</a:t>
            </a:r>
            <a:r>
              <a:rPr lang="zh-CN" altLang="en-US" b="1">
                <a:solidFill>
                  <a:srgbClr val="0000FF"/>
                </a:solidFill>
                <a:ea typeface="楷体_GB2312" charset="0"/>
              </a:rPr>
              <a:t>。反之，一个三元组</a:t>
            </a:r>
            <a:r>
              <a:rPr lang="en-US" altLang="zh-CN" b="1">
                <a:solidFill>
                  <a:srgbClr val="0000FF"/>
                </a:solidFill>
                <a:ea typeface="楷体_GB2312" charset="0"/>
              </a:rPr>
              <a:t>(i,j,a</a:t>
            </a:r>
            <a:r>
              <a:rPr lang="en-US" altLang="zh-CN" b="1" baseline="-25000">
                <a:solidFill>
                  <a:srgbClr val="0000FF"/>
                </a:solidFill>
                <a:ea typeface="楷体_GB2312" charset="0"/>
              </a:rPr>
              <a:t>ij</a:t>
            </a:r>
            <a:r>
              <a:rPr lang="en-US" altLang="zh-CN" b="1">
                <a:solidFill>
                  <a:srgbClr val="0000FF"/>
                </a:solidFill>
                <a:ea typeface="楷体_GB2312" charset="0"/>
              </a:rPr>
              <a:t>)</a:t>
            </a:r>
            <a:r>
              <a:rPr lang="zh-CN" altLang="en-US" b="1">
                <a:solidFill>
                  <a:srgbClr val="0000FF"/>
                </a:solidFill>
                <a:ea typeface="楷体_GB2312" charset="0"/>
              </a:rPr>
              <a:t>唯一确定了矩阵</a:t>
            </a:r>
            <a:r>
              <a:rPr lang="en-US" altLang="zh-CN" b="1">
                <a:solidFill>
                  <a:srgbClr val="0000FF"/>
                </a:solidFill>
                <a:ea typeface="楷体_GB2312" charset="0"/>
              </a:rPr>
              <a:t>A</a:t>
            </a:r>
            <a:r>
              <a:rPr lang="zh-CN" altLang="en-US" b="1">
                <a:solidFill>
                  <a:srgbClr val="0000FF"/>
                </a:solidFill>
                <a:ea typeface="楷体_GB2312" charset="0"/>
              </a:rPr>
              <a:t>的一个非零元。因此，稀疏矩阵可由表示非零元的三元组及其行列数唯一确定。</a:t>
            </a:r>
          </a:p>
          <a:p>
            <a:pPr eaLnBrk="1" hangingPunct="1">
              <a:lnSpc>
                <a:spcPct val="90000"/>
              </a:lnSpc>
            </a:pPr>
            <a:endParaRPr lang="en-US" altLang="zh-CN" b="1">
              <a:solidFill>
                <a:srgbClr val="0000FF"/>
              </a:solidFill>
              <a:ea typeface="楷体_GB2312" charset="0"/>
            </a:endParaRPr>
          </a:p>
        </p:txBody>
      </p:sp>
    </p:spTree>
    <p:extLst>
      <p:ext uri="{BB962C8B-B14F-4D97-AF65-F5344CB8AC3E}">
        <p14:creationId xmlns:p14="http://schemas.microsoft.com/office/powerpoint/2010/main" val="2063038560"/>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xfrm>
            <a:off x="685800" y="476250"/>
            <a:ext cx="7772400" cy="5619750"/>
          </a:xfrm>
        </p:spPr>
        <p:txBody>
          <a:bodyPr/>
          <a:lstStyle/>
          <a:p>
            <a:pPr eaLnBrk="1" hangingPunct="1"/>
            <a:endParaRPr lang="en-US" altLang="zh-CN" sz="4400" b="1">
              <a:solidFill>
                <a:srgbClr val="0000FF"/>
              </a:solidFill>
              <a:ea typeface="楷体_GB2312" charset="0"/>
            </a:endParaRPr>
          </a:p>
          <a:p>
            <a:pPr eaLnBrk="1" hangingPunct="1"/>
            <a:endParaRPr lang="en-US" altLang="zh-CN" sz="4400" b="1">
              <a:solidFill>
                <a:srgbClr val="0000FF"/>
              </a:solidFill>
              <a:ea typeface="楷体_GB2312" charset="0"/>
            </a:endParaRPr>
          </a:p>
        </p:txBody>
      </p:sp>
      <p:graphicFrame>
        <p:nvGraphicFramePr>
          <p:cNvPr id="35843" name="Object 3"/>
          <p:cNvGraphicFramePr>
            <a:graphicFrameLocks noChangeAspect="1"/>
          </p:cNvGraphicFramePr>
          <p:nvPr/>
        </p:nvGraphicFramePr>
        <p:xfrm>
          <a:off x="1371600" y="381000"/>
          <a:ext cx="6337300" cy="4605338"/>
        </p:xfrm>
        <a:graphic>
          <a:graphicData uri="http://schemas.openxmlformats.org/presentationml/2006/ole">
            <mc:AlternateContent xmlns:mc="http://schemas.openxmlformats.org/markup-compatibility/2006">
              <mc:Choice xmlns:v="urn:schemas-microsoft-com:vml" Requires="v">
                <p:oleObj spid="_x0000_s582659" name="公式" r:id="rId3" imgW="2184400" imgH="1587500" progId="Equation.3">
                  <p:embed/>
                </p:oleObj>
              </mc:Choice>
              <mc:Fallback>
                <p:oleObj name="公式" r:id="rId3" imgW="2184400" imgH="1587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81000"/>
                        <a:ext cx="6337300" cy="460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84324" name="Text Box 4"/>
          <p:cNvSpPr txBox="1">
            <a:spLocks noChangeArrowheads="1"/>
          </p:cNvSpPr>
          <p:nvPr/>
        </p:nvSpPr>
        <p:spPr bwMode="auto">
          <a:xfrm>
            <a:off x="468313" y="5300663"/>
            <a:ext cx="6551612"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a:latin typeface="Times New Roman" charset="0"/>
              </a:rPr>
              <a:t>((1,2,12) , (1,3,9) , (3,1,-3) , (3,6,14) ,</a:t>
            </a:r>
          </a:p>
          <a:p>
            <a:pPr eaLnBrk="1" hangingPunct="1">
              <a:spcBef>
                <a:spcPct val="50000"/>
              </a:spcBef>
            </a:pPr>
            <a:r>
              <a:rPr kumimoji="1" lang="en-US" altLang="zh-CN" sz="3200">
                <a:latin typeface="Times New Roman" charset="0"/>
              </a:rPr>
              <a:t>  (4,3,24) ,(5,2,18) ,  (6,1,15) , (6,4,-7))  </a:t>
            </a:r>
          </a:p>
        </p:txBody>
      </p:sp>
      <p:sp>
        <p:nvSpPr>
          <p:cNvPr id="184325" name="Text Box 5"/>
          <p:cNvSpPr txBox="1">
            <a:spLocks noChangeArrowheads="1"/>
          </p:cNvSpPr>
          <p:nvPr/>
        </p:nvSpPr>
        <p:spPr bwMode="auto">
          <a:xfrm>
            <a:off x="7451725" y="5445125"/>
            <a:ext cx="1368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b="1">
                <a:solidFill>
                  <a:srgbClr val="FF0000"/>
                </a:solidFill>
                <a:latin typeface="Times New Roman" charset="0"/>
              </a:rPr>
              <a:t>&lt;6,7&gt;</a:t>
            </a:r>
          </a:p>
        </p:txBody>
      </p:sp>
    </p:spTree>
    <p:extLst>
      <p:ext uri="{BB962C8B-B14F-4D97-AF65-F5344CB8AC3E}">
        <p14:creationId xmlns:p14="http://schemas.microsoft.com/office/powerpoint/2010/main" val="6246731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24"/>
                                        </p:tgtEl>
                                        <p:attrNameLst>
                                          <p:attrName>style.visibility</p:attrName>
                                        </p:attrNameLst>
                                      </p:cBhvr>
                                      <p:to>
                                        <p:strVal val="visible"/>
                                      </p:to>
                                    </p:set>
                                    <p:anim calcmode="lin" valueType="num">
                                      <p:cBhvr additive="base">
                                        <p:cTn id="7" dur="500" fill="hold"/>
                                        <p:tgtEl>
                                          <p:spTgt spid="184324"/>
                                        </p:tgtEl>
                                        <p:attrNameLst>
                                          <p:attrName>ppt_x</p:attrName>
                                        </p:attrNameLst>
                                      </p:cBhvr>
                                      <p:tavLst>
                                        <p:tav tm="0">
                                          <p:val>
                                            <p:strVal val="#ppt_x"/>
                                          </p:val>
                                        </p:tav>
                                        <p:tav tm="100000">
                                          <p:val>
                                            <p:strVal val="#ppt_x"/>
                                          </p:val>
                                        </p:tav>
                                      </p:tavLst>
                                    </p:anim>
                                    <p:anim calcmode="lin" valueType="num">
                                      <p:cBhvr additive="base">
                                        <p:cTn id="8" dur="500" fill="hold"/>
                                        <p:tgtEl>
                                          <p:spTgt spid="1843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25"/>
                                        </p:tgtEl>
                                        <p:attrNameLst>
                                          <p:attrName>style.visibility</p:attrName>
                                        </p:attrNameLst>
                                      </p:cBhvr>
                                      <p:to>
                                        <p:strVal val="visible"/>
                                      </p:to>
                                    </p:set>
                                    <p:anim calcmode="lin" valueType="num">
                                      <p:cBhvr additive="base">
                                        <p:cTn id="11" dur="500" fill="hold"/>
                                        <p:tgtEl>
                                          <p:spTgt spid="184325"/>
                                        </p:tgtEl>
                                        <p:attrNameLst>
                                          <p:attrName>ppt_x</p:attrName>
                                        </p:attrNameLst>
                                      </p:cBhvr>
                                      <p:tavLst>
                                        <p:tav tm="0">
                                          <p:val>
                                            <p:strVal val="#ppt_x"/>
                                          </p:val>
                                        </p:tav>
                                        <p:tav tm="100000">
                                          <p:val>
                                            <p:strVal val="#ppt_x"/>
                                          </p:val>
                                        </p:tav>
                                      </p:tavLst>
                                    </p:anim>
                                    <p:anim calcmode="lin" valueType="num">
                                      <p:cBhvr additive="base">
                                        <p:cTn id="12" dur="500" fill="hold"/>
                                        <p:tgtEl>
                                          <p:spTgt spid="184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4" grpId="0"/>
      <p:bldP spid="1843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1447800" y="152400"/>
            <a:ext cx="71278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800" b="1">
                <a:solidFill>
                  <a:srgbClr val="990033"/>
                </a:solidFill>
                <a:latin typeface="Times New Roman" charset="0"/>
                <a:ea typeface="楷体_GB2312" charset="0"/>
              </a:rPr>
              <a:t>稀疏矩阵的压缩存储方法</a:t>
            </a:r>
            <a:r>
              <a:rPr kumimoji="1" lang="en-US" altLang="zh-CN" sz="4800" b="1">
                <a:solidFill>
                  <a:srgbClr val="990033"/>
                </a:solidFill>
                <a:latin typeface="Times New Roman" charset="0"/>
                <a:ea typeface="楷体_GB2312" charset="0"/>
              </a:rPr>
              <a:t>:</a:t>
            </a:r>
            <a:endParaRPr kumimoji="1" lang="en-US" altLang="zh-CN" sz="4000" b="1">
              <a:solidFill>
                <a:srgbClr val="990033"/>
              </a:solidFill>
              <a:latin typeface="Times New Roman" charset="0"/>
              <a:ea typeface="楷体_GB2312" charset="0"/>
            </a:endParaRPr>
          </a:p>
        </p:txBody>
      </p:sp>
      <p:sp>
        <p:nvSpPr>
          <p:cNvPr id="185347" name="Text Box 3">
            <a:hlinkClick r:id="" action="ppaction://hlinkshowjump?jump=nextslide"/>
          </p:cNvPr>
          <p:cNvSpPr txBox="1">
            <a:spLocks noChangeArrowheads="1"/>
          </p:cNvSpPr>
          <p:nvPr/>
        </p:nvSpPr>
        <p:spPr bwMode="auto">
          <a:xfrm>
            <a:off x="1276350" y="1812925"/>
            <a:ext cx="428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0000FF"/>
                </a:solidFill>
                <a:latin typeface="Times New Roman" charset="0"/>
                <a:ea typeface="楷体_GB2312" charset="0"/>
              </a:rPr>
              <a:t>一、三元组顺序表</a:t>
            </a:r>
          </a:p>
        </p:txBody>
      </p:sp>
      <p:sp>
        <p:nvSpPr>
          <p:cNvPr id="185348" name="Text Box 4">
            <a:hlinkClick r:id="rId2" action="ppaction://hlinksldjump"/>
          </p:cNvPr>
          <p:cNvSpPr txBox="1">
            <a:spLocks noChangeArrowheads="1"/>
          </p:cNvSpPr>
          <p:nvPr/>
        </p:nvSpPr>
        <p:spPr bwMode="auto">
          <a:xfrm>
            <a:off x="1262063" y="3184525"/>
            <a:ext cx="5824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0000FF"/>
                </a:solidFill>
                <a:latin typeface="Times New Roman" charset="0"/>
                <a:ea typeface="楷体_GB2312" charset="0"/>
              </a:rPr>
              <a:t>二、行逻辑联接的顺序表</a:t>
            </a:r>
          </a:p>
        </p:txBody>
      </p:sp>
      <p:sp>
        <p:nvSpPr>
          <p:cNvPr id="185349" name="Text Box 5">
            <a:hlinkClick r:id="rId3" action="ppaction://hlinksldjump"/>
          </p:cNvPr>
          <p:cNvSpPr txBox="1">
            <a:spLocks noChangeArrowheads="1"/>
          </p:cNvSpPr>
          <p:nvPr/>
        </p:nvSpPr>
        <p:spPr bwMode="auto">
          <a:xfrm>
            <a:off x="1295400" y="4648200"/>
            <a:ext cx="37052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b="1">
                <a:solidFill>
                  <a:srgbClr val="0000FF"/>
                </a:solidFill>
                <a:latin typeface="Times New Roman" charset="0"/>
                <a:ea typeface="楷体_GB2312" charset="0"/>
              </a:rPr>
              <a:t>三、 十字链表</a:t>
            </a:r>
          </a:p>
        </p:txBody>
      </p:sp>
      <p:sp>
        <p:nvSpPr>
          <p:cNvPr id="185350" name="AutoShape 6">
            <a:hlinkClick r:id="rId4" action="ppaction://hlinksldjump" highlightClick="1"/>
          </p:cNvPr>
          <p:cNvSpPr>
            <a:spLocks noChangeArrowheads="1"/>
          </p:cNvSpPr>
          <p:nvPr/>
        </p:nvSpPr>
        <p:spPr bwMode="auto">
          <a:xfrm>
            <a:off x="8229600" y="6172200"/>
            <a:ext cx="685800" cy="381000"/>
          </a:xfrm>
          <a:prstGeom prst="actionButtonBeginning">
            <a:avLst/>
          </a:prstGeom>
          <a:solidFill>
            <a:schemeClr val="bg2"/>
          </a:solidFill>
          <a:ln>
            <a:noFill/>
          </a:ln>
          <a:effectLst>
            <a:prstShdw prst="shdw17" dist="17961" dir="2700000">
              <a:srgbClr val="4D4D4D">
                <a:alpha val="74998"/>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defRPr/>
            </a:pPr>
            <a:endParaRPr lang="zh-CN" altLang="en-US">
              <a:ea typeface="宋体" pitchFamily="2" charset="-122"/>
            </a:endParaRPr>
          </a:p>
        </p:txBody>
      </p:sp>
    </p:spTree>
    <p:extLst>
      <p:ext uri="{BB962C8B-B14F-4D97-AF65-F5344CB8AC3E}">
        <p14:creationId xmlns:p14="http://schemas.microsoft.com/office/powerpoint/2010/main" val="15068636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5347"/>
                                        </p:tgtEl>
                                        <p:attrNameLst>
                                          <p:attrName>style.visibility</p:attrName>
                                        </p:attrNameLst>
                                      </p:cBhvr>
                                      <p:to>
                                        <p:strVal val="visible"/>
                                      </p:to>
                                    </p:set>
                                    <p:anim calcmode="lin" valueType="num">
                                      <p:cBhvr additive="base">
                                        <p:cTn id="7" dur="500" fill="hold"/>
                                        <p:tgtEl>
                                          <p:spTgt spid="185347"/>
                                        </p:tgtEl>
                                        <p:attrNameLst>
                                          <p:attrName>ppt_x</p:attrName>
                                        </p:attrNameLst>
                                      </p:cBhvr>
                                      <p:tavLst>
                                        <p:tav tm="0">
                                          <p:val>
                                            <p:strVal val="0-#ppt_w/2"/>
                                          </p:val>
                                        </p:tav>
                                        <p:tav tm="100000">
                                          <p:val>
                                            <p:strVal val="#ppt_x"/>
                                          </p:val>
                                        </p:tav>
                                      </p:tavLst>
                                    </p:anim>
                                    <p:anim calcmode="lin" valueType="num">
                                      <p:cBhvr additive="base">
                                        <p:cTn id="8" dur="500" fill="hold"/>
                                        <p:tgtEl>
                                          <p:spTgt spid="1853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5348"/>
                                        </p:tgtEl>
                                        <p:attrNameLst>
                                          <p:attrName>style.visibility</p:attrName>
                                        </p:attrNameLst>
                                      </p:cBhvr>
                                      <p:to>
                                        <p:strVal val="visible"/>
                                      </p:to>
                                    </p:set>
                                    <p:anim calcmode="lin" valueType="num">
                                      <p:cBhvr additive="base">
                                        <p:cTn id="13" dur="500" fill="hold"/>
                                        <p:tgtEl>
                                          <p:spTgt spid="185348"/>
                                        </p:tgtEl>
                                        <p:attrNameLst>
                                          <p:attrName>ppt_x</p:attrName>
                                        </p:attrNameLst>
                                      </p:cBhvr>
                                      <p:tavLst>
                                        <p:tav tm="0">
                                          <p:val>
                                            <p:strVal val="0-#ppt_w/2"/>
                                          </p:val>
                                        </p:tav>
                                        <p:tav tm="100000">
                                          <p:val>
                                            <p:strVal val="#ppt_x"/>
                                          </p:val>
                                        </p:tav>
                                      </p:tavLst>
                                    </p:anim>
                                    <p:anim calcmode="lin" valueType="num">
                                      <p:cBhvr additive="base">
                                        <p:cTn id="14" dur="500" fill="hold"/>
                                        <p:tgtEl>
                                          <p:spTgt spid="18534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5349"/>
                                        </p:tgtEl>
                                        <p:attrNameLst>
                                          <p:attrName>style.visibility</p:attrName>
                                        </p:attrNameLst>
                                      </p:cBhvr>
                                      <p:to>
                                        <p:strVal val="visible"/>
                                      </p:to>
                                    </p:set>
                                    <p:anim calcmode="lin" valueType="num">
                                      <p:cBhvr additive="base">
                                        <p:cTn id="19" dur="500" fill="hold"/>
                                        <p:tgtEl>
                                          <p:spTgt spid="185349"/>
                                        </p:tgtEl>
                                        <p:attrNameLst>
                                          <p:attrName>ppt_x</p:attrName>
                                        </p:attrNameLst>
                                      </p:cBhvr>
                                      <p:tavLst>
                                        <p:tav tm="0">
                                          <p:val>
                                            <p:strVal val="0-#ppt_w/2"/>
                                          </p:val>
                                        </p:tav>
                                        <p:tav tm="100000">
                                          <p:val>
                                            <p:strVal val="#ppt_x"/>
                                          </p:val>
                                        </p:tav>
                                      </p:tavLst>
                                    </p:anim>
                                    <p:anim calcmode="lin" valueType="num">
                                      <p:cBhvr additive="base">
                                        <p:cTn id="20" dur="500" fill="hold"/>
                                        <p:tgtEl>
                                          <p:spTgt spid="185349"/>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185350"/>
                                        </p:tgtEl>
                                        <p:attrNameLst>
                                          <p:attrName>style.visibility</p:attrName>
                                        </p:attrNameLst>
                                      </p:cBhvr>
                                      <p:to>
                                        <p:strVal val="visible"/>
                                      </p:to>
                                    </p:set>
                                    <p:anim calcmode="lin" valueType="num">
                                      <p:cBhvr additive="base">
                                        <p:cTn id="24" dur="500" fill="hold"/>
                                        <p:tgtEl>
                                          <p:spTgt spid="185350"/>
                                        </p:tgtEl>
                                        <p:attrNameLst>
                                          <p:attrName>ppt_x</p:attrName>
                                        </p:attrNameLst>
                                      </p:cBhvr>
                                      <p:tavLst>
                                        <p:tav tm="0">
                                          <p:val>
                                            <p:strVal val="0-#ppt_w/2"/>
                                          </p:val>
                                        </p:tav>
                                        <p:tav tm="100000">
                                          <p:val>
                                            <p:strVal val="#ppt_x"/>
                                          </p:val>
                                        </p:tav>
                                      </p:tavLst>
                                    </p:anim>
                                    <p:anim calcmode="lin" valueType="num">
                                      <p:cBhvr additive="base">
                                        <p:cTn id="25" dur="500" fill="hold"/>
                                        <p:tgtEl>
                                          <p:spTgt spid="1853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autoUpdateAnimBg="0"/>
      <p:bldP spid="185348" grpId="0" autoUpdateAnimBg="0"/>
      <p:bldP spid="185349" grpId="0" autoUpdateAnimBg="0"/>
      <p:bldP spid="18535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2"/>
          <p:cNvSpPr txBox="1">
            <a:spLocks noChangeArrowheads="1"/>
          </p:cNvSpPr>
          <p:nvPr/>
        </p:nvSpPr>
        <p:spPr bwMode="auto">
          <a:xfrm>
            <a:off x="400050" y="838200"/>
            <a:ext cx="8553450" cy="32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3600">
                <a:latin typeface="Times New Roman" charset="0"/>
                <a:ea typeface="楷体_GB2312" charset="0"/>
              </a:rPr>
              <a:t> </a:t>
            </a:r>
            <a:r>
              <a:rPr kumimoji="1" lang="en-US" altLang="zh-CN" sz="3600" b="1">
                <a:latin typeface="Times New Roman" charset="0"/>
                <a:ea typeface="楷体_GB2312" charset="0"/>
              </a:rPr>
              <a:t>#define</a:t>
            </a:r>
            <a:r>
              <a:rPr kumimoji="1" lang="en-US" altLang="zh-CN" sz="3600">
                <a:latin typeface="Times New Roman" charset="0"/>
                <a:ea typeface="楷体_GB2312" charset="0"/>
              </a:rPr>
              <a:t>  MAXSIZE  12500</a:t>
            </a:r>
          </a:p>
          <a:p>
            <a:pPr eaLnBrk="1" hangingPunct="1">
              <a:lnSpc>
                <a:spcPct val="115000"/>
              </a:lnSpc>
            </a:pPr>
            <a:r>
              <a:rPr kumimoji="1" lang="en-US" altLang="zh-CN" sz="3600">
                <a:latin typeface="Times New Roman" charset="0"/>
                <a:ea typeface="楷体_GB2312" charset="0"/>
              </a:rPr>
              <a:t> </a:t>
            </a:r>
            <a:r>
              <a:rPr kumimoji="1" lang="en-US" altLang="zh-CN" sz="3600" b="1">
                <a:latin typeface="Times New Roman" charset="0"/>
                <a:ea typeface="楷体_GB2312" charset="0"/>
              </a:rPr>
              <a:t>typedef struct {</a:t>
            </a:r>
          </a:p>
          <a:p>
            <a:pPr eaLnBrk="1" hangingPunct="1">
              <a:lnSpc>
                <a:spcPct val="115000"/>
              </a:lnSpc>
            </a:pPr>
            <a:r>
              <a:rPr kumimoji="1" lang="en-US" altLang="zh-CN" sz="3600" b="1">
                <a:latin typeface="Times New Roman" charset="0"/>
                <a:ea typeface="楷体_GB2312" charset="0"/>
              </a:rPr>
              <a:t>     </a:t>
            </a:r>
            <a:r>
              <a:rPr kumimoji="1" lang="en-US" altLang="zh-CN" sz="3600" b="1">
                <a:solidFill>
                  <a:srgbClr val="9933FF"/>
                </a:solidFill>
                <a:latin typeface="Times New Roman" charset="0"/>
                <a:ea typeface="楷体_GB2312" charset="0"/>
              </a:rPr>
              <a:t>int</a:t>
            </a:r>
            <a:r>
              <a:rPr kumimoji="1" lang="en-US" altLang="zh-CN" sz="3600">
                <a:solidFill>
                  <a:srgbClr val="9933FF"/>
                </a:solidFill>
                <a:latin typeface="Times New Roman" charset="0"/>
                <a:ea typeface="楷体_GB2312" charset="0"/>
              </a:rPr>
              <a:t>  i, j;</a:t>
            </a:r>
            <a:r>
              <a:rPr kumimoji="1" lang="en-US" altLang="zh-CN" sz="3600">
                <a:latin typeface="Times New Roman" charset="0"/>
                <a:ea typeface="楷体_GB2312" charset="0"/>
              </a:rPr>
              <a:t>      //</a:t>
            </a:r>
            <a:r>
              <a:rPr kumimoji="1" lang="zh-CN" altLang="en-US" sz="3600">
                <a:latin typeface="Times New Roman" charset="0"/>
                <a:ea typeface="楷体_GB2312" charset="0"/>
              </a:rPr>
              <a:t>该非零元的行下标和列下标</a:t>
            </a:r>
          </a:p>
          <a:p>
            <a:pPr eaLnBrk="1" hangingPunct="1">
              <a:lnSpc>
                <a:spcPct val="115000"/>
              </a:lnSpc>
            </a:pPr>
            <a:r>
              <a:rPr kumimoji="1" lang="zh-CN" altLang="en-US" sz="3600">
                <a:latin typeface="Times New Roman" charset="0"/>
                <a:ea typeface="楷体_GB2312" charset="0"/>
              </a:rPr>
              <a:t>     </a:t>
            </a:r>
            <a:r>
              <a:rPr kumimoji="1" lang="en-US" altLang="zh-CN" sz="3600">
                <a:solidFill>
                  <a:srgbClr val="9933FF"/>
                </a:solidFill>
                <a:latin typeface="Times New Roman" charset="0"/>
                <a:ea typeface="楷体_GB2312" charset="0"/>
              </a:rPr>
              <a:t>ElemType  e;</a:t>
            </a:r>
            <a:r>
              <a:rPr kumimoji="1" lang="en-US" altLang="zh-CN" sz="3600">
                <a:latin typeface="Times New Roman" charset="0"/>
                <a:ea typeface="楷体_GB2312" charset="0"/>
              </a:rPr>
              <a:t>    // </a:t>
            </a:r>
            <a:r>
              <a:rPr kumimoji="1" lang="zh-CN" altLang="en-US" sz="3600">
                <a:latin typeface="Times New Roman" charset="0"/>
                <a:ea typeface="楷体_GB2312" charset="0"/>
              </a:rPr>
              <a:t>该非零元的值</a:t>
            </a:r>
          </a:p>
          <a:p>
            <a:pPr eaLnBrk="1" hangingPunct="1">
              <a:lnSpc>
                <a:spcPct val="115000"/>
              </a:lnSpc>
            </a:pPr>
            <a:r>
              <a:rPr kumimoji="1" lang="zh-CN" altLang="en-US" sz="3600">
                <a:latin typeface="Times New Roman" charset="0"/>
                <a:ea typeface="楷体_GB2312" charset="0"/>
              </a:rPr>
              <a:t> </a:t>
            </a:r>
            <a:r>
              <a:rPr kumimoji="1" lang="en-US" altLang="zh-CN" sz="3600" b="1">
                <a:latin typeface="Times New Roman" charset="0"/>
                <a:ea typeface="楷体_GB2312" charset="0"/>
              </a:rPr>
              <a:t>}</a:t>
            </a:r>
            <a:r>
              <a:rPr kumimoji="1" lang="en-US" altLang="zh-CN" sz="3600">
                <a:latin typeface="Times New Roman" charset="0"/>
                <a:ea typeface="楷体_GB2312" charset="0"/>
              </a:rPr>
              <a:t> Triple;  // </a:t>
            </a:r>
            <a:r>
              <a:rPr kumimoji="1" lang="zh-CN" altLang="en-US" sz="3600" b="1">
                <a:solidFill>
                  <a:srgbClr val="990033"/>
                </a:solidFill>
                <a:latin typeface="Times New Roman" charset="0"/>
                <a:ea typeface="楷体_GB2312" charset="0"/>
              </a:rPr>
              <a:t>三元组类型</a:t>
            </a:r>
          </a:p>
        </p:txBody>
      </p:sp>
      <p:sp>
        <p:nvSpPr>
          <p:cNvPr id="37891" name="Text Box 3"/>
          <p:cNvSpPr txBox="1">
            <a:spLocks noChangeArrowheads="1"/>
          </p:cNvSpPr>
          <p:nvPr/>
        </p:nvSpPr>
        <p:spPr bwMode="auto">
          <a:xfrm>
            <a:off x="285750" y="136525"/>
            <a:ext cx="428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0000FF"/>
                </a:solidFill>
                <a:latin typeface="Times New Roman" charset="0"/>
                <a:ea typeface="楷体_GB2312" charset="0"/>
              </a:rPr>
              <a:t>一、三元组顺序表</a:t>
            </a:r>
          </a:p>
        </p:txBody>
      </p:sp>
      <p:sp>
        <p:nvSpPr>
          <p:cNvPr id="186372" name="Text Box 4"/>
          <p:cNvSpPr txBox="1">
            <a:spLocks noChangeArrowheads="1"/>
          </p:cNvSpPr>
          <p:nvPr/>
        </p:nvSpPr>
        <p:spPr bwMode="auto">
          <a:xfrm>
            <a:off x="525463" y="3962400"/>
            <a:ext cx="8618537"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3600" b="1">
                <a:latin typeface="Times New Roman" charset="0"/>
                <a:ea typeface="楷体_GB2312" charset="0"/>
              </a:rPr>
              <a:t>typedef union {</a:t>
            </a:r>
          </a:p>
          <a:p>
            <a:pPr eaLnBrk="1" hangingPunct="1">
              <a:lnSpc>
                <a:spcPct val="115000"/>
              </a:lnSpc>
            </a:pPr>
            <a:r>
              <a:rPr kumimoji="1" lang="en-US" altLang="zh-CN" sz="3600">
                <a:solidFill>
                  <a:srgbClr val="9933FF"/>
                </a:solidFill>
                <a:latin typeface="Times New Roman" charset="0"/>
                <a:ea typeface="楷体_GB2312" charset="0"/>
              </a:rPr>
              <a:t> Triple  data[MAXSIZE + 1]; //data[0]</a:t>
            </a:r>
            <a:r>
              <a:rPr kumimoji="1" lang="zh-CN" altLang="en-US" sz="3600">
                <a:solidFill>
                  <a:srgbClr val="9933FF"/>
                </a:solidFill>
                <a:latin typeface="Times New Roman" charset="0"/>
                <a:ea typeface="楷体_GB2312" charset="0"/>
              </a:rPr>
              <a:t>未用</a:t>
            </a:r>
          </a:p>
          <a:p>
            <a:pPr eaLnBrk="1" hangingPunct="1">
              <a:lnSpc>
                <a:spcPct val="115000"/>
              </a:lnSpc>
            </a:pPr>
            <a:r>
              <a:rPr kumimoji="1" lang="zh-CN" altLang="en-US" sz="3600">
                <a:solidFill>
                  <a:srgbClr val="9933FF"/>
                </a:solidFill>
                <a:latin typeface="Times New Roman" charset="0"/>
                <a:ea typeface="楷体_GB2312" charset="0"/>
              </a:rPr>
              <a:t>  </a:t>
            </a:r>
            <a:r>
              <a:rPr kumimoji="1" lang="en-US" altLang="zh-CN" sz="3600" b="1">
                <a:solidFill>
                  <a:srgbClr val="9933FF"/>
                </a:solidFill>
                <a:latin typeface="Times New Roman" charset="0"/>
                <a:ea typeface="楷体_GB2312" charset="0"/>
              </a:rPr>
              <a:t>int</a:t>
            </a:r>
            <a:r>
              <a:rPr kumimoji="1" lang="en-US" altLang="zh-CN" sz="3600">
                <a:solidFill>
                  <a:srgbClr val="9933FF"/>
                </a:solidFill>
                <a:latin typeface="Times New Roman" charset="0"/>
                <a:ea typeface="楷体_GB2312" charset="0"/>
              </a:rPr>
              <a:t>     mu, nu, tu; </a:t>
            </a:r>
          </a:p>
          <a:p>
            <a:pPr eaLnBrk="1" hangingPunct="1">
              <a:lnSpc>
                <a:spcPct val="115000"/>
              </a:lnSpc>
            </a:pPr>
            <a:r>
              <a:rPr kumimoji="1" lang="en-US" altLang="zh-CN" sz="3600" b="1">
                <a:latin typeface="Times New Roman" charset="0"/>
                <a:ea typeface="楷体_GB2312" charset="0"/>
              </a:rPr>
              <a:t>} </a:t>
            </a:r>
            <a:r>
              <a:rPr kumimoji="1" lang="en-US" altLang="zh-CN" sz="3600">
                <a:latin typeface="Times New Roman" charset="0"/>
                <a:ea typeface="楷体_GB2312" charset="0"/>
              </a:rPr>
              <a:t>TSMatrix;  // </a:t>
            </a:r>
            <a:r>
              <a:rPr kumimoji="1" lang="zh-CN" altLang="en-US" sz="3600" b="1">
                <a:solidFill>
                  <a:srgbClr val="990033"/>
                </a:solidFill>
                <a:latin typeface="Times New Roman" charset="0"/>
                <a:ea typeface="楷体_GB2312" charset="0"/>
              </a:rPr>
              <a:t>稀疏矩阵类型</a:t>
            </a:r>
            <a:endParaRPr kumimoji="1" lang="zh-CN" altLang="en-US" sz="4400">
              <a:latin typeface="Times New Roman" charset="0"/>
            </a:endParaRPr>
          </a:p>
        </p:txBody>
      </p:sp>
    </p:spTree>
    <p:extLst>
      <p:ext uri="{BB962C8B-B14F-4D97-AF65-F5344CB8AC3E}">
        <p14:creationId xmlns:p14="http://schemas.microsoft.com/office/powerpoint/2010/main" val="1930488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86370"/>
                                        </p:tgtEl>
                                        <p:attrNameLst>
                                          <p:attrName>style.visibility</p:attrName>
                                        </p:attrNameLst>
                                      </p:cBhvr>
                                      <p:to>
                                        <p:strVal val="visible"/>
                                      </p:to>
                                    </p:set>
                                    <p:animEffect transition="in" filter="slide(fromLeft)">
                                      <p:cBhvr>
                                        <p:cTn id="7" dur="500"/>
                                        <p:tgtEl>
                                          <p:spTgt spid="186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86372"/>
                                        </p:tgtEl>
                                        <p:attrNameLst>
                                          <p:attrName>style.visibility</p:attrName>
                                        </p:attrNameLst>
                                      </p:cBhvr>
                                      <p:to>
                                        <p:strVal val="visible"/>
                                      </p:to>
                                    </p:set>
                                    <p:animEffect transition="in" filter="slide(fromLeft)">
                                      <p:cBhvr>
                                        <p:cTn id="12" dur="500"/>
                                        <p:tgtEl>
                                          <p:spTgt spid="186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autoUpdateAnimBg="0"/>
      <p:bldP spid="18637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394" name="Object 2"/>
          <p:cNvGraphicFramePr>
            <a:graphicFrameLocks noChangeAspect="1"/>
          </p:cNvGraphicFramePr>
          <p:nvPr/>
        </p:nvGraphicFramePr>
        <p:xfrm>
          <a:off x="395288" y="1844675"/>
          <a:ext cx="3600450" cy="3354388"/>
        </p:xfrm>
        <a:graphic>
          <a:graphicData uri="http://schemas.openxmlformats.org/presentationml/2006/ole">
            <mc:AlternateContent xmlns:mc="http://schemas.openxmlformats.org/markup-compatibility/2006">
              <mc:Choice xmlns:v="urn:schemas-microsoft-com:vml" Requires="v">
                <p:oleObj spid="_x0000_s585732" name="公式" r:id="rId3" imgW="1447800" imgH="1143000" progId="Equation.3">
                  <p:embed/>
                </p:oleObj>
              </mc:Choice>
              <mc:Fallback>
                <p:oleObj name="公式" r:id="rId3" imgW="1447800" imgH="1143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844675"/>
                        <a:ext cx="3600450" cy="335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87395" name="Object 3"/>
          <p:cNvGraphicFramePr>
            <a:graphicFrameLocks noChangeAspect="1"/>
          </p:cNvGraphicFramePr>
          <p:nvPr/>
        </p:nvGraphicFramePr>
        <p:xfrm>
          <a:off x="5651500" y="1843088"/>
          <a:ext cx="2054225" cy="3703637"/>
        </p:xfrm>
        <a:graphic>
          <a:graphicData uri="http://schemas.openxmlformats.org/presentationml/2006/ole">
            <mc:AlternateContent xmlns:mc="http://schemas.openxmlformats.org/markup-compatibility/2006">
              <mc:Choice xmlns:v="urn:schemas-microsoft-com:vml" Requires="v">
                <p:oleObj spid="_x0000_s585733" name="文档" r:id="rId5" imgW="2188290" imgH="3932638" progId="Word.Document.8">
                  <p:embed/>
                </p:oleObj>
              </mc:Choice>
              <mc:Fallback>
                <p:oleObj name="文档" r:id="rId5" imgW="2188290" imgH="3932638"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1843088"/>
                        <a:ext cx="2054225" cy="3703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87396" name="Text Box 4"/>
          <p:cNvSpPr txBox="1">
            <a:spLocks noChangeArrowheads="1"/>
          </p:cNvSpPr>
          <p:nvPr/>
        </p:nvSpPr>
        <p:spPr bwMode="auto">
          <a:xfrm>
            <a:off x="1447800" y="304800"/>
            <a:ext cx="61928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600" b="1">
                <a:solidFill>
                  <a:srgbClr val="FF0000"/>
                </a:solidFill>
                <a:latin typeface="楷体_GB2312" charset="0"/>
                <a:ea typeface="楷体_GB2312" charset="0"/>
              </a:rPr>
              <a:t>Data</a:t>
            </a:r>
            <a:r>
              <a:rPr kumimoji="1" lang="zh-CN" altLang="en-US" sz="3600" b="1">
                <a:solidFill>
                  <a:srgbClr val="FF0000"/>
                </a:solidFill>
                <a:latin typeface="楷体_GB2312" charset="0"/>
                <a:ea typeface="楷体_GB2312" charset="0"/>
              </a:rPr>
              <a:t>域中三元组行序为主序</a:t>
            </a:r>
          </a:p>
        </p:txBody>
      </p:sp>
      <p:sp>
        <p:nvSpPr>
          <p:cNvPr id="187397" name="Text Box 5"/>
          <p:cNvSpPr txBox="1">
            <a:spLocks noChangeArrowheads="1"/>
          </p:cNvSpPr>
          <p:nvPr/>
        </p:nvSpPr>
        <p:spPr bwMode="auto">
          <a:xfrm>
            <a:off x="827088" y="5157788"/>
            <a:ext cx="2447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a:latin typeface="Times New Roman" charset="0"/>
              </a:rPr>
              <a:t>TSMatrix   a</a:t>
            </a:r>
          </a:p>
        </p:txBody>
      </p:sp>
      <p:sp>
        <p:nvSpPr>
          <p:cNvPr id="187398" name="Text Box 6"/>
          <p:cNvSpPr txBox="1">
            <a:spLocks noChangeArrowheads="1"/>
          </p:cNvSpPr>
          <p:nvPr/>
        </p:nvSpPr>
        <p:spPr bwMode="auto">
          <a:xfrm>
            <a:off x="5435600" y="5589588"/>
            <a:ext cx="2447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kumimoji="1" lang="en-US" altLang="zh-CN" sz="3200">
                <a:latin typeface="Times New Roman" charset="0"/>
              </a:rPr>
              <a:t>a.data</a:t>
            </a:r>
          </a:p>
        </p:txBody>
      </p:sp>
      <p:sp>
        <p:nvSpPr>
          <p:cNvPr id="187399" name="Text Box 7"/>
          <p:cNvSpPr txBox="1">
            <a:spLocks noChangeArrowheads="1"/>
          </p:cNvSpPr>
          <p:nvPr/>
        </p:nvSpPr>
        <p:spPr bwMode="auto">
          <a:xfrm>
            <a:off x="-828675" y="5876925"/>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kumimoji="1" lang="en-US" altLang="zh-CN" sz="3200">
                <a:latin typeface="Times New Roman" charset="0"/>
              </a:rPr>
              <a:t>a.mu=5, a.nu=6,a.tu=6</a:t>
            </a:r>
          </a:p>
        </p:txBody>
      </p:sp>
    </p:spTree>
    <p:extLst>
      <p:ext uri="{BB962C8B-B14F-4D97-AF65-F5344CB8AC3E}">
        <p14:creationId xmlns:p14="http://schemas.microsoft.com/office/powerpoint/2010/main" val="9394606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7394"/>
                                        </p:tgtEl>
                                        <p:attrNameLst>
                                          <p:attrName>style.visibility</p:attrName>
                                        </p:attrNameLst>
                                      </p:cBhvr>
                                      <p:to>
                                        <p:strVal val="visible"/>
                                      </p:to>
                                    </p:set>
                                    <p:anim calcmode="lin" valueType="num">
                                      <p:cBhvr additive="base">
                                        <p:cTn id="7" dur="500" fill="hold"/>
                                        <p:tgtEl>
                                          <p:spTgt spid="187394"/>
                                        </p:tgtEl>
                                        <p:attrNameLst>
                                          <p:attrName>ppt_x</p:attrName>
                                        </p:attrNameLst>
                                      </p:cBhvr>
                                      <p:tavLst>
                                        <p:tav tm="0">
                                          <p:val>
                                            <p:strVal val="#ppt_x"/>
                                          </p:val>
                                        </p:tav>
                                        <p:tav tm="100000">
                                          <p:val>
                                            <p:strVal val="#ppt_x"/>
                                          </p:val>
                                        </p:tav>
                                      </p:tavLst>
                                    </p:anim>
                                    <p:anim calcmode="lin" valueType="num">
                                      <p:cBhvr additive="base">
                                        <p:cTn id="8" dur="500" fill="hold"/>
                                        <p:tgtEl>
                                          <p:spTgt spid="18739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87397"/>
                                        </p:tgtEl>
                                        <p:attrNameLst>
                                          <p:attrName>style.visibility</p:attrName>
                                        </p:attrNameLst>
                                      </p:cBhvr>
                                      <p:to>
                                        <p:strVal val="visible"/>
                                      </p:to>
                                    </p:set>
                                    <p:animEffect transition="in" filter="blinds(horizontal)">
                                      <p:cBhvr>
                                        <p:cTn id="13" dur="500"/>
                                        <p:tgtEl>
                                          <p:spTgt spid="18739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87399"/>
                                        </p:tgtEl>
                                        <p:attrNameLst>
                                          <p:attrName>style.visibility</p:attrName>
                                        </p:attrNameLst>
                                      </p:cBhvr>
                                      <p:to>
                                        <p:strVal val="visible"/>
                                      </p:to>
                                    </p:set>
                                    <p:animEffect transition="in" filter="checkerboard(across)">
                                      <p:cBhvr>
                                        <p:cTn id="18" dur="500"/>
                                        <p:tgtEl>
                                          <p:spTgt spid="18739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87398"/>
                                        </p:tgtEl>
                                        <p:attrNameLst>
                                          <p:attrName>style.visibility</p:attrName>
                                        </p:attrNameLst>
                                      </p:cBhvr>
                                      <p:to>
                                        <p:strVal val="visible"/>
                                      </p:to>
                                    </p:set>
                                    <p:animEffect transition="in" filter="checkerboard(across)">
                                      <p:cBhvr>
                                        <p:cTn id="23" dur="500"/>
                                        <p:tgtEl>
                                          <p:spTgt spid="187398"/>
                                        </p:tgtEl>
                                      </p:cBhvr>
                                    </p:animEffect>
                                  </p:childTnLst>
                                </p:cTn>
                              </p:par>
                              <p:par>
                                <p:cTn id="24" presetID="5" presetClass="entr" presetSubtype="10" fill="hold" nodeType="withEffect">
                                  <p:stCondLst>
                                    <p:cond delay="0"/>
                                  </p:stCondLst>
                                  <p:childTnLst>
                                    <p:set>
                                      <p:cBhvr>
                                        <p:cTn id="25" dur="1" fill="hold">
                                          <p:stCondLst>
                                            <p:cond delay="0"/>
                                          </p:stCondLst>
                                        </p:cTn>
                                        <p:tgtEl>
                                          <p:spTgt spid="187395"/>
                                        </p:tgtEl>
                                        <p:attrNameLst>
                                          <p:attrName>style.visibility</p:attrName>
                                        </p:attrNameLst>
                                      </p:cBhvr>
                                      <p:to>
                                        <p:strVal val="visible"/>
                                      </p:to>
                                    </p:set>
                                    <p:animEffect transition="in" filter="checkerboard(across)">
                                      <p:cBhvr>
                                        <p:cTn id="26" dur="500"/>
                                        <p:tgtEl>
                                          <p:spTgt spid="18739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87396"/>
                                        </p:tgtEl>
                                        <p:attrNameLst>
                                          <p:attrName>style.visibility</p:attrName>
                                        </p:attrNameLst>
                                      </p:cBhvr>
                                      <p:to>
                                        <p:strVal val="visible"/>
                                      </p:to>
                                    </p:set>
                                    <p:animEffect transition="in" filter="checkerboard(across)">
                                      <p:cBhvr>
                                        <p:cTn id="31" dur="500"/>
                                        <p:tgtEl>
                                          <p:spTgt spid="187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6" grpId="0"/>
      <p:bldP spid="187397" grpId="0"/>
      <p:bldP spid="187398" grpId="0"/>
      <p:bldP spid="18739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962150" y="822325"/>
            <a:ext cx="428625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4000" b="1">
                <a:solidFill>
                  <a:srgbClr val="990033"/>
                </a:solidFill>
                <a:latin typeface="Times New Roman" charset="0"/>
                <a:ea typeface="楷体_GB2312" charset="0"/>
              </a:rPr>
              <a:t>如何求转置矩阵？</a:t>
            </a:r>
            <a:endParaRPr kumimoji="1" lang="zh-CN" altLang="en-US" sz="4400">
              <a:latin typeface="Times New Roman" charset="0"/>
            </a:endParaRPr>
          </a:p>
        </p:txBody>
      </p:sp>
      <p:sp>
        <p:nvSpPr>
          <p:cNvPr id="39939" name="Text Box 3"/>
          <p:cNvSpPr txBox="1">
            <a:spLocks noChangeArrowheads="1"/>
          </p:cNvSpPr>
          <p:nvPr/>
        </p:nvSpPr>
        <p:spPr bwMode="auto">
          <a:xfrm>
            <a:off x="517525" y="2274888"/>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kumimoji="1" lang="zh-CN" altLang="zh-CN" sz="4400">
              <a:latin typeface="Times New Roman" charset="0"/>
            </a:endParaRPr>
          </a:p>
        </p:txBody>
      </p:sp>
      <p:graphicFrame>
        <p:nvGraphicFramePr>
          <p:cNvPr id="188420" name="Object 4"/>
          <p:cNvGraphicFramePr>
            <a:graphicFrameLocks noChangeAspect="1"/>
          </p:cNvGraphicFramePr>
          <p:nvPr/>
        </p:nvGraphicFramePr>
        <p:xfrm>
          <a:off x="5435600" y="1773238"/>
          <a:ext cx="3400425" cy="3771900"/>
        </p:xfrm>
        <a:graphic>
          <a:graphicData uri="http://schemas.openxmlformats.org/presentationml/2006/ole">
            <mc:AlternateContent xmlns:mc="http://schemas.openxmlformats.org/markup-compatibility/2006">
              <mc:Choice xmlns:v="urn:schemas-microsoft-com:vml" Requires="v">
                <p:oleObj spid="_x0000_s586756" name="公式" r:id="rId3" imgW="1295400" imgH="1371600" progId="Equation.3">
                  <p:embed/>
                </p:oleObj>
              </mc:Choice>
              <mc:Fallback>
                <p:oleObj name="公式" r:id="rId3" imgW="1295400" imgH="1371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773238"/>
                        <a:ext cx="3400425" cy="3771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88421" name="Object 5"/>
          <p:cNvGraphicFramePr>
            <a:graphicFrameLocks noChangeAspect="1"/>
          </p:cNvGraphicFramePr>
          <p:nvPr/>
        </p:nvGraphicFramePr>
        <p:xfrm>
          <a:off x="395288" y="1844675"/>
          <a:ext cx="3600450" cy="3354388"/>
        </p:xfrm>
        <a:graphic>
          <a:graphicData uri="http://schemas.openxmlformats.org/presentationml/2006/ole">
            <mc:AlternateContent xmlns:mc="http://schemas.openxmlformats.org/markup-compatibility/2006">
              <mc:Choice xmlns:v="urn:schemas-microsoft-com:vml" Requires="v">
                <p:oleObj spid="_x0000_s586757" name="公式" r:id="rId5" imgW="1447800" imgH="1143000" progId="Equation.3">
                  <p:embed/>
                </p:oleObj>
              </mc:Choice>
              <mc:Fallback>
                <p:oleObj name="公式" r:id="rId5" imgW="1447800" imgH="1143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1844675"/>
                        <a:ext cx="3600450" cy="335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88422" name="AutoShape 6"/>
          <p:cNvSpPr>
            <a:spLocks noChangeArrowheads="1"/>
          </p:cNvSpPr>
          <p:nvPr/>
        </p:nvSpPr>
        <p:spPr bwMode="auto">
          <a:xfrm>
            <a:off x="4140200" y="3141663"/>
            <a:ext cx="1295400" cy="609600"/>
          </a:xfrm>
          <a:prstGeom prst="notchedRightArrow">
            <a:avLst>
              <a:gd name="adj1" fmla="val 57287"/>
              <a:gd name="adj2" fmla="val 80957"/>
            </a:avLst>
          </a:prstGeom>
          <a:gradFill rotWithShape="0">
            <a:gsLst>
              <a:gs pos="0">
                <a:srgbClr val="9933FF"/>
              </a:gs>
              <a:gs pos="100000">
                <a:srgbClr val="321153"/>
              </a:gs>
            </a:gsLst>
            <a:lin ang="0" scaled="1"/>
          </a:gradFill>
          <a:ln w="9525">
            <a:solidFill>
              <a:srgbClr val="9933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88423" name="Text Box 7"/>
          <p:cNvSpPr txBox="1">
            <a:spLocks noChangeArrowheads="1"/>
          </p:cNvSpPr>
          <p:nvPr/>
        </p:nvSpPr>
        <p:spPr bwMode="auto">
          <a:xfrm>
            <a:off x="971550" y="5661025"/>
            <a:ext cx="2447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a:latin typeface="Times New Roman" charset="0"/>
              </a:rPr>
              <a:t>TSMatrix   M</a:t>
            </a:r>
          </a:p>
        </p:txBody>
      </p:sp>
      <p:sp>
        <p:nvSpPr>
          <p:cNvPr id="188424" name="Text Box 8"/>
          <p:cNvSpPr txBox="1">
            <a:spLocks noChangeArrowheads="1"/>
          </p:cNvSpPr>
          <p:nvPr/>
        </p:nvSpPr>
        <p:spPr bwMode="auto">
          <a:xfrm>
            <a:off x="5867400" y="5589588"/>
            <a:ext cx="2447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a:latin typeface="Times New Roman" charset="0"/>
              </a:rPr>
              <a:t>TSMatrix   T</a:t>
            </a:r>
          </a:p>
        </p:txBody>
      </p:sp>
    </p:spTree>
    <p:extLst>
      <p:ext uri="{BB962C8B-B14F-4D97-AF65-F5344CB8AC3E}">
        <p14:creationId xmlns:p14="http://schemas.microsoft.com/office/powerpoint/2010/main" val="11929098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88421"/>
                                        </p:tgtEl>
                                        <p:attrNameLst>
                                          <p:attrName>style.visibility</p:attrName>
                                        </p:attrNameLst>
                                      </p:cBhvr>
                                      <p:to>
                                        <p:strVal val="visible"/>
                                      </p:to>
                                    </p:set>
                                    <p:animEffect transition="in" filter="checkerboard(across)">
                                      <p:cBhvr>
                                        <p:cTn id="7" dur="500"/>
                                        <p:tgtEl>
                                          <p:spTgt spid="188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8422"/>
                                        </p:tgtEl>
                                        <p:attrNameLst>
                                          <p:attrName>style.visibility</p:attrName>
                                        </p:attrNameLst>
                                      </p:cBhvr>
                                      <p:to>
                                        <p:strVal val="visible"/>
                                      </p:to>
                                    </p:set>
                                    <p:animEffect transition="in" filter="blinds(horizontal)">
                                      <p:cBhvr>
                                        <p:cTn id="12" dur="500"/>
                                        <p:tgtEl>
                                          <p:spTgt spid="1884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88420"/>
                                        </p:tgtEl>
                                        <p:attrNameLst>
                                          <p:attrName>style.visibility</p:attrName>
                                        </p:attrNameLst>
                                      </p:cBhvr>
                                      <p:to>
                                        <p:strVal val="visible"/>
                                      </p:to>
                                    </p:set>
                                    <p:animEffect transition="in" filter="checkerboard(across)">
                                      <p:cBhvr>
                                        <p:cTn id="17" dur="500"/>
                                        <p:tgtEl>
                                          <p:spTgt spid="1884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88423"/>
                                        </p:tgtEl>
                                        <p:attrNameLst>
                                          <p:attrName>style.visibility</p:attrName>
                                        </p:attrNameLst>
                                      </p:cBhvr>
                                      <p:to>
                                        <p:strVal val="visible"/>
                                      </p:to>
                                    </p:set>
                                    <p:animEffect transition="in" filter="checkerboard(across)">
                                      <p:cBhvr>
                                        <p:cTn id="22" dur="500"/>
                                        <p:tgtEl>
                                          <p:spTgt spid="188423"/>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88424"/>
                                        </p:tgtEl>
                                        <p:attrNameLst>
                                          <p:attrName>style.visibility</p:attrName>
                                        </p:attrNameLst>
                                      </p:cBhvr>
                                      <p:to>
                                        <p:strVal val="visible"/>
                                      </p:to>
                                    </p:set>
                                    <p:animEffect transition="in" filter="checkerboard(across)">
                                      <p:cBhvr>
                                        <p:cTn id="25" dur="500"/>
                                        <p:tgtEl>
                                          <p:spTgt spid="188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2" grpId="0" animBg="1"/>
      <p:bldP spid="188423" grpId="0"/>
      <p:bldP spid="18842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564" name="Group 124"/>
          <p:cNvGraphicFramePr>
            <a:graphicFrameLocks noGrp="1"/>
          </p:cNvGraphicFramePr>
          <p:nvPr/>
        </p:nvGraphicFramePr>
        <p:xfrm>
          <a:off x="6073775" y="1674813"/>
          <a:ext cx="2832100" cy="4800603"/>
        </p:xfrm>
        <a:graphic>
          <a:graphicData uri="http://schemas.openxmlformats.org/drawingml/2006/table">
            <a:tbl>
              <a:tblPr/>
              <a:tblGrid>
                <a:gridCol w="944563"/>
                <a:gridCol w="942975"/>
                <a:gridCol w="944562"/>
              </a:tblGrid>
              <a:tr h="5812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I</a:t>
                      </a:r>
                    </a:p>
                  </a:txBody>
                  <a:tcPr marL="90000" marR="90000" marT="46801" marB="46801"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J</a:t>
                      </a:r>
                    </a:p>
                  </a:txBody>
                  <a:tcPr marL="90000" marR="90000" marT="46801" marB="4680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v</a:t>
                      </a:r>
                    </a:p>
                  </a:txBody>
                  <a:tcPr marL="90000" marR="90000" marT="46801" marB="46801"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3</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9</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3</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8</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-7</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16</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6</a:t>
                      </a:r>
                    </a:p>
                  </a:txBody>
                  <a:tcPr marL="90000" marR="90000" marT="46801" marB="46801"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2</a:t>
                      </a:r>
                    </a:p>
                  </a:txBody>
                  <a:tcPr marL="90000" marR="90000" marT="46801" marB="46801"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89565" name="Group 125"/>
          <p:cNvGraphicFramePr>
            <a:graphicFrameLocks noGrp="1"/>
          </p:cNvGraphicFramePr>
          <p:nvPr/>
        </p:nvGraphicFramePr>
        <p:xfrm>
          <a:off x="214313" y="1674813"/>
          <a:ext cx="2519362" cy="4800603"/>
        </p:xfrm>
        <a:graphic>
          <a:graphicData uri="http://schemas.openxmlformats.org/drawingml/2006/table">
            <a:tbl>
              <a:tblPr/>
              <a:tblGrid>
                <a:gridCol w="839787"/>
                <a:gridCol w="839788"/>
                <a:gridCol w="839787"/>
              </a:tblGrid>
              <a:tr h="5812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I</a:t>
                      </a:r>
                    </a:p>
                  </a:txBody>
                  <a:tcPr marL="90000" marR="90000" marT="46801" marB="46801"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J</a:t>
                      </a:r>
                    </a:p>
                  </a:txBody>
                  <a:tcPr marL="90000" marR="90000" marT="46801" marB="4680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v</a:t>
                      </a:r>
                    </a:p>
                  </a:txBody>
                  <a:tcPr marL="90000" marR="90000" marT="46801" marB="46801"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3</a:t>
                      </a:r>
                    </a:p>
                  </a:txBody>
                  <a:tcPr marL="90000" marR="90000" marT="46801" marB="4680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9</a:t>
                      </a:r>
                    </a:p>
                  </a:txBody>
                  <a:tcPr marL="90000" marR="90000" marT="46801" marB="46801"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-7</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3</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8</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6</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2</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16</a:t>
                      </a:r>
                    </a:p>
                  </a:txBody>
                  <a:tcPr marL="90000" marR="90000" marT="46801" marB="46801"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1012" name="Text Box 80"/>
          <p:cNvSpPr txBox="1">
            <a:spLocks noChangeArrowheads="1"/>
          </p:cNvSpPr>
          <p:nvPr/>
        </p:nvSpPr>
        <p:spPr bwMode="auto">
          <a:xfrm>
            <a:off x="630238" y="6354763"/>
            <a:ext cx="165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a:latin typeface="Times New Roman" charset="0"/>
              </a:rPr>
              <a:t>M.data</a:t>
            </a:r>
          </a:p>
        </p:txBody>
      </p:sp>
      <p:sp>
        <p:nvSpPr>
          <p:cNvPr id="41013" name="Text Box 81"/>
          <p:cNvSpPr txBox="1">
            <a:spLocks noChangeArrowheads="1"/>
          </p:cNvSpPr>
          <p:nvPr/>
        </p:nvSpPr>
        <p:spPr bwMode="auto">
          <a:xfrm>
            <a:off x="6873875" y="6354763"/>
            <a:ext cx="165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a:latin typeface="Times New Roman" charset="0"/>
              </a:rPr>
              <a:t>T.data</a:t>
            </a:r>
          </a:p>
        </p:txBody>
      </p:sp>
      <p:graphicFrame>
        <p:nvGraphicFramePr>
          <p:cNvPr id="189566" name="Group 126"/>
          <p:cNvGraphicFramePr>
            <a:graphicFrameLocks noGrp="1"/>
          </p:cNvGraphicFramePr>
          <p:nvPr/>
        </p:nvGraphicFramePr>
        <p:xfrm>
          <a:off x="3203575" y="392113"/>
          <a:ext cx="2519363" cy="4800603"/>
        </p:xfrm>
        <a:graphic>
          <a:graphicData uri="http://schemas.openxmlformats.org/drawingml/2006/table">
            <a:tbl>
              <a:tblPr/>
              <a:tblGrid>
                <a:gridCol w="839788"/>
                <a:gridCol w="839787"/>
                <a:gridCol w="839788"/>
              </a:tblGrid>
              <a:tr h="5812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I</a:t>
                      </a:r>
                    </a:p>
                  </a:txBody>
                  <a:tcPr marL="90000" marR="90000" marT="46801" marB="46801"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J</a:t>
                      </a:r>
                    </a:p>
                  </a:txBody>
                  <a:tcPr marL="90000" marR="90000" marT="46801" marB="4680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v</a:t>
                      </a:r>
                    </a:p>
                  </a:txBody>
                  <a:tcPr marL="90000" marR="90000" marT="46801" marB="46801"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3</a:t>
                      </a:r>
                    </a:p>
                  </a:txBody>
                  <a:tcPr marL="90000" marR="90000" marT="46801" marB="46801"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9</a:t>
                      </a:r>
                    </a:p>
                  </a:txBody>
                  <a:tcPr marL="90000" marR="90000" marT="46801" marB="46801"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-7</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3</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8</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6</a:t>
                      </a:r>
                    </a:p>
                  </a:txBody>
                  <a:tcPr marL="90000" marR="90000" marT="46801" marB="4680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4</a:t>
                      </a:r>
                    </a:p>
                  </a:txBody>
                  <a:tcPr marL="90000" marR="90000" marT="46801" marB="4680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2</a:t>
                      </a:r>
                    </a:p>
                  </a:txBody>
                  <a:tcPr marL="90000" marR="90000" marT="46801" marB="46801" horzOverflow="overflow">
                    <a:lnL>
                      <a:noFill/>
                    </a:lnL>
                    <a:lnR cap="flat">
                      <a:noFill/>
                    </a:lnR>
                    <a:lnT>
                      <a:noFill/>
                    </a:lnT>
                    <a:lnB>
                      <a:noFill/>
                    </a:lnB>
                    <a:lnTlToBr>
                      <a:noFill/>
                    </a:lnTlToBr>
                    <a:lnBlToTr>
                      <a:noFill/>
                    </a:lnBlToTr>
                    <a:noFill/>
                  </a:tcPr>
                </a:tc>
              </a:tr>
              <a:tr h="70321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5</a:t>
                      </a:r>
                    </a:p>
                  </a:txBody>
                  <a:tcPr marL="90000" marR="90000" marT="46801" marB="4680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4000" b="0" i="0" u="none" strike="noStrike" cap="none" normalizeH="0" baseline="0" smtClean="0">
                          <a:ln>
                            <a:noFill/>
                          </a:ln>
                          <a:solidFill>
                            <a:schemeClr val="tx1"/>
                          </a:solidFill>
                          <a:effectLst/>
                          <a:latin typeface="Arial" charset="0"/>
                          <a:ea typeface="宋体" pitchFamily="2" charset="-122"/>
                        </a:rPr>
                        <a:t>16</a:t>
                      </a:r>
                    </a:p>
                  </a:txBody>
                  <a:tcPr marL="90000" marR="90000" marT="46801" marB="46801"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1466107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9566"/>
                                        </p:tgtEl>
                                        <p:attrNameLst>
                                          <p:attrName>style.visibility</p:attrName>
                                        </p:attrNameLst>
                                      </p:cBhvr>
                                      <p:to>
                                        <p:strVal val="visible"/>
                                      </p:to>
                                    </p:set>
                                    <p:animEffect transition="in" filter="blinds(horizontal)">
                                      <p:cBhvr>
                                        <p:cTn id="7" dur="500"/>
                                        <p:tgtEl>
                                          <p:spTgt spid="189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207963" y="134938"/>
            <a:ext cx="8766175" cy="674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2800" b="1">
                <a:latin typeface="Times New Roman" charset="0"/>
                <a:ea typeface="楷体_GB2312" charset="0"/>
              </a:rPr>
              <a:t>Status</a:t>
            </a:r>
            <a:r>
              <a:rPr kumimoji="1" lang="en-US" altLang="zh-CN" sz="2800">
                <a:latin typeface="Times New Roman" charset="0"/>
                <a:ea typeface="楷体_GB2312" charset="0"/>
              </a:rPr>
              <a:t> TransposeSMatrix(TSMatrix M, TSMatrix </a:t>
            </a:r>
            <a:r>
              <a:rPr kumimoji="1" lang="en-US" altLang="zh-CN" sz="2800" b="1">
                <a:latin typeface="Times New Roman" charset="0"/>
                <a:ea typeface="楷体_GB2312" charset="0"/>
              </a:rPr>
              <a:t>&amp;</a:t>
            </a:r>
            <a:r>
              <a:rPr kumimoji="1" lang="en-US" altLang="zh-CN" sz="2800">
                <a:latin typeface="Times New Roman" charset="0"/>
                <a:ea typeface="楷体_GB2312" charset="0"/>
              </a:rPr>
              <a:t>T)</a:t>
            </a:r>
            <a:r>
              <a:rPr kumimoji="1" lang="en-US" altLang="zh-CN" sz="2800" b="1">
                <a:latin typeface="Times New Roman" charset="0"/>
                <a:ea typeface="楷体_GB2312" charset="0"/>
              </a:rPr>
              <a:t>{</a:t>
            </a:r>
            <a:endParaRPr kumimoji="1" lang="en-US" altLang="zh-CN" sz="2800">
              <a:latin typeface="Times New Roman" charset="0"/>
              <a:ea typeface="楷体_GB2312" charset="0"/>
            </a:endParaRPr>
          </a:p>
          <a:p>
            <a:pPr eaLnBrk="1" hangingPunct="1">
              <a:lnSpc>
                <a:spcPct val="115000"/>
              </a:lnSpc>
            </a:pPr>
            <a:r>
              <a:rPr kumimoji="1" lang="en-US" altLang="zh-CN" sz="3200">
                <a:latin typeface="Times New Roman" charset="0"/>
                <a:ea typeface="楷体_GB2312" charset="0"/>
              </a:rPr>
              <a:t>  T.mu = M.nu;  T.nu = M.mu;  T.tu = M.tu;</a:t>
            </a:r>
          </a:p>
          <a:p>
            <a:pPr eaLnBrk="1" hangingPunct="1">
              <a:lnSpc>
                <a:spcPct val="115000"/>
              </a:lnSpc>
            </a:pPr>
            <a:r>
              <a:rPr kumimoji="1" lang="en-US" altLang="zh-CN" sz="3200">
                <a:latin typeface="Times New Roman" charset="0"/>
                <a:ea typeface="楷体_GB2312" charset="0"/>
              </a:rPr>
              <a:t>  </a:t>
            </a:r>
            <a:r>
              <a:rPr kumimoji="1" lang="en-US" altLang="zh-CN" sz="3200" b="1">
                <a:solidFill>
                  <a:srgbClr val="990033"/>
                </a:solidFill>
                <a:latin typeface="Times New Roman" charset="0"/>
                <a:ea typeface="楷体_GB2312" charset="0"/>
              </a:rPr>
              <a:t>if</a:t>
            </a:r>
            <a:r>
              <a:rPr kumimoji="1" lang="en-US" altLang="zh-CN" sz="3200">
                <a:solidFill>
                  <a:srgbClr val="990033"/>
                </a:solidFill>
                <a:latin typeface="Times New Roman" charset="0"/>
                <a:ea typeface="楷体_GB2312" charset="0"/>
              </a:rPr>
              <a:t> (T.tu)</a:t>
            </a:r>
            <a:r>
              <a:rPr kumimoji="1" lang="en-US" altLang="zh-CN" sz="3200">
                <a:latin typeface="Times New Roman" charset="0"/>
                <a:ea typeface="楷体_GB2312" charset="0"/>
              </a:rPr>
              <a:t> </a:t>
            </a:r>
            <a:r>
              <a:rPr kumimoji="1" lang="en-US" altLang="zh-CN" sz="3200" b="1">
                <a:latin typeface="Times New Roman" charset="0"/>
                <a:ea typeface="楷体_GB2312" charset="0"/>
              </a:rPr>
              <a:t>{</a:t>
            </a:r>
            <a:endParaRPr kumimoji="1" lang="en-US" altLang="zh-CN" sz="3200">
              <a:latin typeface="Times New Roman" charset="0"/>
              <a:ea typeface="楷体_GB2312" charset="0"/>
            </a:endParaRPr>
          </a:p>
          <a:p>
            <a:pPr eaLnBrk="1" hangingPunct="1">
              <a:lnSpc>
                <a:spcPct val="115000"/>
              </a:lnSpc>
            </a:pPr>
            <a:r>
              <a:rPr kumimoji="1" lang="en-US" altLang="zh-CN" sz="3200">
                <a:latin typeface="Times New Roman" charset="0"/>
                <a:ea typeface="楷体_GB2312" charset="0"/>
              </a:rPr>
              <a:t>   q=1;    </a:t>
            </a:r>
          </a:p>
          <a:p>
            <a:pPr eaLnBrk="1" hangingPunct="1">
              <a:lnSpc>
                <a:spcPct val="115000"/>
              </a:lnSpc>
            </a:pPr>
            <a:r>
              <a:rPr kumimoji="1" lang="en-US" altLang="zh-CN" sz="3200" b="1">
                <a:latin typeface="Times New Roman" charset="0"/>
                <a:ea typeface="楷体_GB2312" charset="0"/>
              </a:rPr>
              <a:t> for</a:t>
            </a:r>
            <a:r>
              <a:rPr kumimoji="1" lang="en-US" altLang="zh-CN" sz="3200">
                <a:latin typeface="Times New Roman" charset="0"/>
                <a:ea typeface="楷体_GB2312" charset="0"/>
              </a:rPr>
              <a:t> (col=1; col&lt;=M.nu; ++col)</a:t>
            </a:r>
          </a:p>
          <a:p>
            <a:pPr eaLnBrk="1" hangingPunct="1">
              <a:lnSpc>
                <a:spcPct val="115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for</a:t>
            </a:r>
            <a:r>
              <a:rPr kumimoji="1" lang="en-US" altLang="zh-CN" sz="3200">
                <a:latin typeface="Times New Roman" charset="0"/>
                <a:ea typeface="楷体_GB2312" charset="0"/>
              </a:rPr>
              <a:t> (p=1; p&lt;=M.tu; ++p)</a:t>
            </a:r>
          </a:p>
          <a:p>
            <a:pPr eaLnBrk="1" hangingPunct="1">
              <a:lnSpc>
                <a:spcPct val="115000"/>
              </a:lnSpc>
            </a:pPr>
            <a:r>
              <a:rPr kumimoji="1" lang="en-US" altLang="zh-CN" sz="3200">
                <a:latin typeface="Times New Roman" charset="0"/>
                <a:ea typeface="楷体_GB2312" charset="0"/>
              </a:rPr>
              <a:t> </a:t>
            </a:r>
            <a:r>
              <a:rPr kumimoji="1" lang="en-US" altLang="zh-CN" sz="3200" b="1">
                <a:solidFill>
                  <a:srgbClr val="990033"/>
                </a:solidFill>
                <a:latin typeface="Times New Roman" charset="0"/>
                <a:ea typeface="楷体_GB2312" charset="0"/>
              </a:rPr>
              <a:t>if(</a:t>
            </a:r>
            <a:r>
              <a:rPr kumimoji="1" lang="en-US" altLang="zh-CN" sz="3200">
                <a:solidFill>
                  <a:srgbClr val="990033"/>
                </a:solidFill>
                <a:latin typeface="Times New Roman" charset="0"/>
                <a:ea typeface="楷体_GB2312" charset="0"/>
              </a:rPr>
              <a:t>M.data[p].j==col)</a:t>
            </a:r>
            <a:r>
              <a:rPr kumimoji="1" lang="en-US" altLang="zh-CN" sz="3200">
                <a:solidFill>
                  <a:srgbClr val="0000FF"/>
                </a:solidFill>
                <a:latin typeface="Times New Roman" charset="0"/>
                <a:ea typeface="楷体_GB2312" charset="0"/>
              </a:rPr>
              <a:t>{</a:t>
            </a:r>
          </a:p>
          <a:p>
            <a:pPr eaLnBrk="1" hangingPunct="1">
              <a:lnSpc>
                <a:spcPct val="115000"/>
              </a:lnSpc>
            </a:pPr>
            <a:r>
              <a:rPr kumimoji="1" lang="en-US" altLang="zh-CN" sz="3200">
                <a:solidFill>
                  <a:srgbClr val="0000FF"/>
                </a:solidFill>
                <a:latin typeface="Times New Roman" charset="0"/>
                <a:ea typeface="楷体_GB2312" charset="0"/>
              </a:rPr>
              <a:t>   T.data[q].i = M.data[p].j; T.data[q].j = M.data[p].i;</a:t>
            </a:r>
          </a:p>
          <a:p>
            <a:pPr eaLnBrk="1" hangingPunct="1">
              <a:lnSpc>
                <a:spcPct val="115000"/>
              </a:lnSpc>
            </a:pPr>
            <a:r>
              <a:rPr kumimoji="1" lang="en-US" altLang="zh-CN" sz="3200">
                <a:solidFill>
                  <a:srgbClr val="0000FF"/>
                </a:solidFill>
                <a:latin typeface="Times New Roman" charset="0"/>
                <a:ea typeface="楷体_GB2312" charset="0"/>
              </a:rPr>
              <a:t>   T.data[q].e = M.data[p].e; ++q;}</a:t>
            </a:r>
          </a:p>
          <a:p>
            <a:pPr eaLnBrk="1" hangingPunct="1">
              <a:lnSpc>
                <a:spcPct val="115000"/>
              </a:lnSpc>
            </a:pPr>
            <a:r>
              <a:rPr kumimoji="1" lang="en-US" altLang="zh-CN" sz="3200">
                <a:solidFill>
                  <a:srgbClr val="0000FF"/>
                </a:solidFill>
                <a:latin typeface="Times New Roman" charset="0"/>
                <a:ea typeface="楷体_GB2312" charset="0"/>
              </a:rPr>
              <a:t> </a:t>
            </a:r>
            <a:r>
              <a:rPr kumimoji="1" lang="en-US" altLang="zh-CN" sz="3200">
                <a:latin typeface="Times New Roman" charset="0"/>
                <a:ea typeface="楷体_GB2312" charset="0"/>
              </a:rPr>
              <a:t>         </a:t>
            </a:r>
            <a:r>
              <a:rPr kumimoji="1" lang="en-US" altLang="zh-CN" sz="3200" b="1">
                <a:latin typeface="Times New Roman" charset="0"/>
                <a:ea typeface="楷体_GB2312" charset="0"/>
              </a:rPr>
              <a:t>} </a:t>
            </a:r>
            <a:r>
              <a:rPr kumimoji="1" lang="en-US" altLang="zh-CN" sz="3200">
                <a:latin typeface="Times New Roman" charset="0"/>
                <a:ea typeface="楷体_GB2312" charset="0"/>
              </a:rPr>
              <a:t>// if</a:t>
            </a:r>
          </a:p>
          <a:p>
            <a:pPr eaLnBrk="1" hangingPunct="1">
              <a:lnSpc>
                <a:spcPct val="115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return </a:t>
            </a:r>
            <a:r>
              <a:rPr kumimoji="1" lang="en-US" altLang="zh-CN" sz="3200">
                <a:latin typeface="Times New Roman" charset="0"/>
                <a:ea typeface="楷体_GB2312" charset="0"/>
              </a:rPr>
              <a:t>OK;</a:t>
            </a:r>
          </a:p>
          <a:p>
            <a:pPr eaLnBrk="1" hangingPunct="1">
              <a:lnSpc>
                <a:spcPct val="115000"/>
              </a:lnSpc>
            </a:pPr>
            <a:r>
              <a:rPr kumimoji="1" lang="en-US" altLang="zh-CN" sz="3200" b="1">
                <a:latin typeface="Times New Roman" charset="0"/>
                <a:ea typeface="楷体_GB2312" charset="0"/>
              </a:rPr>
              <a:t>}</a:t>
            </a:r>
            <a:r>
              <a:rPr kumimoji="1" lang="en-US" altLang="zh-CN" sz="3200">
                <a:latin typeface="Times New Roman" charset="0"/>
                <a:ea typeface="楷体_GB2312" charset="0"/>
              </a:rPr>
              <a:t> // TransposeSMatrix</a:t>
            </a:r>
          </a:p>
        </p:txBody>
      </p:sp>
      <p:sp>
        <p:nvSpPr>
          <p:cNvPr id="41987" name="AutoShape 3">
            <a:hlinkClick r:id="rId2" action="ppaction://hlinksldjump" highlightClick="1"/>
          </p:cNvPr>
          <p:cNvSpPr>
            <a:spLocks noChangeArrowheads="1"/>
          </p:cNvSpPr>
          <p:nvPr/>
        </p:nvSpPr>
        <p:spPr bwMode="auto">
          <a:xfrm>
            <a:off x="8382000" y="6172200"/>
            <a:ext cx="304800" cy="304800"/>
          </a:xfrm>
          <a:prstGeom prst="actionButtonForwardNext">
            <a:avLst/>
          </a:prstGeom>
          <a:solidFill>
            <a:schemeClr val="hlink"/>
          </a:solidFill>
          <a:ln w="9525">
            <a:solidFill>
              <a:srgbClr val="0066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533743202"/>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219200" y="304800"/>
            <a:ext cx="8077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200">
                <a:latin typeface="Times New Roman" charset="0"/>
                <a:ea typeface="楷体_GB2312" charset="0"/>
              </a:rPr>
              <a:t>    </a:t>
            </a:r>
            <a:r>
              <a:rPr kumimoji="1" lang="zh-CN" altLang="en-US" sz="3200">
                <a:latin typeface="Times New Roman" charset="0"/>
                <a:ea typeface="楷体_GB2312" charset="0"/>
              </a:rPr>
              <a:t>分析算法</a:t>
            </a:r>
            <a:r>
              <a:rPr kumimoji="1" lang="en-US" altLang="zh-CN" sz="3200">
                <a:latin typeface="Times New Roman" charset="0"/>
                <a:ea typeface="楷体_GB2312" charset="0"/>
              </a:rPr>
              <a:t>TransposeSMatrix</a:t>
            </a:r>
            <a:r>
              <a:rPr kumimoji="1" lang="zh-CN" altLang="en-US" sz="3200">
                <a:latin typeface="Times New Roman" charset="0"/>
                <a:ea typeface="楷体_GB2312" charset="0"/>
              </a:rPr>
              <a:t>的时间复杂度：</a:t>
            </a:r>
          </a:p>
        </p:txBody>
      </p:sp>
      <p:sp>
        <p:nvSpPr>
          <p:cNvPr id="191491" name="Text Box 3"/>
          <p:cNvSpPr txBox="1">
            <a:spLocks noChangeArrowheads="1"/>
          </p:cNvSpPr>
          <p:nvPr/>
        </p:nvSpPr>
        <p:spPr bwMode="auto">
          <a:xfrm>
            <a:off x="904875" y="3849688"/>
            <a:ext cx="69723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FF0000"/>
                </a:solidFill>
                <a:latin typeface="楷体_GB2312" charset="0"/>
                <a:ea typeface="楷体_GB2312" charset="0"/>
              </a:rPr>
              <a:t>时间复杂度为</a:t>
            </a:r>
            <a:r>
              <a:rPr kumimoji="1" lang="en-US" altLang="zh-CN" sz="4000" b="1">
                <a:solidFill>
                  <a:srgbClr val="FF0000"/>
                </a:solidFill>
                <a:latin typeface="楷体_GB2312" charset="0"/>
                <a:ea typeface="楷体_GB2312" charset="0"/>
              </a:rPr>
              <a:t>: </a:t>
            </a:r>
            <a:r>
              <a:rPr kumimoji="1" lang="en-US" altLang="zh-CN" sz="4000" b="1">
                <a:solidFill>
                  <a:srgbClr val="FF0000"/>
                </a:solidFill>
                <a:latin typeface="Times New Roman" charset="0"/>
                <a:ea typeface="楷体_GB2312" charset="0"/>
              </a:rPr>
              <a:t>O(M.nu*M.tu)</a:t>
            </a:r>
            <a:endParaRPr kumimoji="1" lang="en-US" altLang="zh-CN" sz="4400">
              <a:latin typeface="Times New Roman" charset="0"/>
            </a:endParaRPr>
          </a:p>
        </p:txBody>
      </p:sp>
      <p:sp>
        <p:nvSpPr>
          <p:cNvPr id="43012" name="Comment 4"/>
          <p:cNvSpPr>
            <a:spLocks noChangeArrowheads="1"/>
          </p:cNvSpPr>
          <p:nvPr/>
        </p:nvSpPr>
        <p:spPr bwMode="auto">
          <a:xfrm>
            <a:off x="1047750" y="1295400"/>
            <a:ext cx="7146925" cy="2220913"/>
          </a:xfrm>
          <a:prstGeom prst="rect">
            <a:avLst/>
          </a:prstGeom>
          <a:solidFill>
            <a:srgbClr val="CCFFCC"/>
          </a:solidFill>
          <a:ln w="9525">
            <a:solidFill>
              <a:schemeClr val="tx1"/>
            </a:solidFill>
            <a:miter lim="800000"/>
            <a:headEnd/>
            <a:tailEnd/>
          </a:ln>
          <a:effectLst>
            <a:outerShdw blurRad="63500" dist="107763" dir="2700000" algn="ctr" rotWithShape="0">
              <a:schemeClr val="bg2">
                <a:alpha val="74998"/>
              </a:schemeClr>
            </a:outerShdw>
          </a:effectLst>
          <a:extLst>
            <a:ext uri="{53640926-AAD7-44D8-BBD7-CCE9431645EC}">
              <a14:shadowObscured xmlns:a14="http://schemas.microsoft.com/office/drawing/2010/main" val="1"/>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it-IT" altLang="zh-CN" sz="3200" b="1">
                <a:solidFill>
                  <a:srgbClr val="0000FF"/>
                </a:solidFill>
                <a:latin typeface="Times New Roman" charset="0"/>
                <a:ea typeface="楷体_GB2312" charset="0"/>
              </a:rPr>
              <a:t>for (col=1; col&lt;=M.nu; ++col)</a:t>
            </a:r>
            <a:r>
              <a:rPr kumimoji="1" lang="it-IT" altLang="zh-CN" sz="3200">
                <a:latin typeface="Times New Roman" charset="0"/>
                <a:ea typeface="楷体_GB2312" charset="0"/>
              </a:rPr>
              <a:t> </a:t>
            </a:r>
            <a:r>
              <a:rPr kumimoji="1" lang="en-US" altLang="zh-CN" sz="3200">
                <a:latin typeface="Times New Roman" charset="0"/>
              </a:rPr>
              <a:t>… …</a:t>
            </a:r>
            <a:endParaRPr kumimoji="1" lang="it-IT" altLang="zh-CN" sz="3200">
              <a:latin typeface="Times New Roman" charset="0"/>
              <a:ea typeface="楷体_GB2312" charset="0"/>
            </a:endParaRPr>
          </a:p>
          <a:p>
            <a:pPr eaLnBrk="1" hangingPunct="1">
              <a:lnSpc>
                <a:spcPct val="120000"/>
              </a:lnSpc>
            </a:pPr>
            <a:r>
              <a:rPr kumimoji="1" lang="it-IT" altLang="zh-CN" sz="3200" b="1">
                <a:latin typeface="Times New Roman" charset="0"/>
                <a:ea typeface="楷体_GB2312" charset="0"/>
              </a:rPr>
              <a:t>for (p=1; p&lt;=M.tu; ++p)</a:t>
            </a:r>
            <a:r>
              <a:rPr kumimoji="1" lang="it-IT" altLang="zh-CN" sz="3200">
                <a:latin typeface="Times New Roman" charset="0"/>
                <a:ea typeface="楷体_GB2312" charset="0"/>
              </a:rPr>
              <a:t> </a:t>
            </a:r>
            <a:r>
              <a:rPr kumimoji="1" lang="en-US" altLang="zh-CN" sz="3200">
                <a:latin typeface="Times New Roman" charset="0"/>
              </a:rPr>
              <a:t>… …</a:t>
            </a:r>
            <a:endParaRPr kumimoji="1" lang="it-IT" altLang="zh-CN" sz="3200">
              <a:latin typeface="Times New Roman" charset="0"/>
              <a:ea typeface="楷体_GB2312" charset="0"/>
            </a:endParaRPr>
          </a:p>
          <a:p>
            <a:pPr eaLnBrk="1" hangingPunct="1">
              <a:lnSpc>
                <a:spcPct val="120000"/>
              </a:lnSpc>
            </a:pPr>
            <a:endParaRPr kumimoji="1" lang="en-US" altLang="zh-CN" sz="3200">
              <a:latin typeface="Times New Roman" charset="0"/>
              <a:ea typeface="楷体_GB2312" charset="0"/>
            </a:endParaRPr>
          </a:p>
          <a:p>
            <a:pPr eaLnBrk="1" hangingPunct="1">
              <a:spcBef>
                <a:spcPct val="50000"/>
              </a:spcBef>
            </a:pPr>
            <a:endParaRPr kumimoji="1" lang="en-US" altLang="zh-CN" sz="1600">
              <a:solidFill>
                <a:srgbClr val="000000"/>
              </a:solidFill>
            </a:endParaRPr>
          </a:p>
        </p:txBody>
      </p:sp>
      <p:sp>
        <p:nvSpPr>
          <p:cNvPr id="191493" name="AutoShape 5">
            <a:hlinkClick r:id="rId2" action="ppaction://hlinksldjump" highlightClick="1"/>
          </p:cNvPr>
          <p:cNvSpPr>
            <a:spLocks noChangeArrowheads="1"/>
          </p:cNvSpPr>
          <p:nvPr/>
        </p:nvSpPr>
        <p:spPr bwMode="auto">
          <a:xfrm>
            <a:off x="84582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91494" name="Text Box 6"/>
          <p:cNvSpPr txBox="1">
            <a:spLocks noChangeArrowheads="1"/>
          </p:cNvSpPr>
          <p:nvPr/>
        </p:nvSpPr>
        <p:spPr bwMode="auto">
          <a:xfrm>
            <a:off x="831850" y="4608513"/>
            <a:ext cx="73977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FF0000"/>
                </a:solidFill>
                <a:latin typeface="楷体_GB2312" charset="0"/>
                <a:ea typeface="楷体_GB2312" charset="0"/>
              </a:rPr>
              <a:t>当</a:t>
            </a:r>
            <a:r>
              <a:rPr kumimoji="1" lang="en-US" altLang="zh-CN" sz="4000" b="1">
                <a:solidFill>
                  <a:srgbClr val="FF0000"/>
                </a:solidFill>
                <a:latin typeface="楷体_GB2312" charset="0"/>
                <a:ea typeface="楷体_GB2312" charset="0"/>
              </a:rPr>
              <a:t>tu</a:t>
            </a:r>
            <a:r>
              <a:rPr kumimoji="1" lang="zh-CN" altLang="en-US" sz="4000" b="1">
                <a:solidFill>
                  <a:srgbClr val="FF0000"/>
                </a:solidFill>
                <a:latin typeface="楷体_GB2312" charset="0"/>
                <a:ea typeface="楷体_GB2312" charset="0"/>
              </a:rPr>
              <a:t>和</a:t>
            </a:r>
            <a:r>
              <a:rPr kumimoji="1" lang="en-US" altLang="zh-CN" sz="4000" b="1">
                <a:solidFill>
                  <a:srgbClr val="FF0000"/>
                </a:solidFill>
                <a:latin typeface="楷体_GB2312" charset="0"/>
                <a:ea typeface="楷体_GB2312" charset="0"/>
              </a:rPr>
              <a:t>mu*nu</a:t>
            </a:r>
            <a:r>
              <a:rPr kumimoji="1" lang="zh-CN" altLang="en-US" sz="4000" b="1">
                <a:solidFill>
                  <a:srgbClr val="FF0000"/>
                </a:solidFill>
                <a:latin typeface="楷体_GB2312" charset="0"/>
                <a:ea typeface="楷体_GB2312" charset="0"/>
              </a:rPr>
              <a:t>同数量级的时候</a:t>
            </a:r>
            <a:r>
              <a:rPr kumimoji="1" lang="en-US" altLang="zh-CN" sz="4000" b="1">
                <a:solidFill>
                  <a:srgbClr val="FF0000"/>
                </a:solidFill>
                <a:latin typeface="楷体_GB2312" charset="0"/>
                <a:ea typeface="楷体_GB2312" charset="0"/>
              </a:rPr>
              <a:t>:</a:t>
            </a:r>
          </a:p>
          <a:p>
            <a:pPr eaLnBrk="1" hangingPunct="1"/>
            <a:r>
              <a:rPr kumimoji="1" lang="zh-CN" altLang="en-US" sz="4000" b="1">
                <a:solidFill>
                  <a:srgbClr val="FF0000"/>
                </a:solidFill>
                <a:latin typeface="楷体_GB2312" charset="0"/>
                <a:ea typeface="楷体_GB2312" charset="0"/>
              </a:rPr>
              <a:t>时间复杂度为</a:t>
            </a:r>
            <a:r>
              <a:rPr kumimoji="1" lang="en-US" altLang="zh-CN" sz="4000" b="1">
                <a:solidFill>
                  <a:srgbClr val="FF0000"/>
                </a:solidFill>
                <a:latin typeface="楷体_GB2312" charset="0"/>
                <a:ea typeface="楷体_GB2312" charset="0"/>
              </a:rPr>
              <a:t>: </a:t>
            </a:r>
            <a:r>
              <a:rPr kumimoji="1" lang="en-US" altLang="zh-CN" sz="4000" b="1">
                <a:solidFill>
                  <a:srgbClr val="FF0000"/>
                </a:solidFill>
                <a:latin typeface="Times New Roman" charset="0"/>
                <a:ea typeface="楷体_GB2312" charset="0"/>
              </a:rPr>
              <a:t>O(M.mu*M.nu</a:t>
            </a:r>
            <a:r>
              <a:rPr kumimoji="1" lang="en-US" altLang="zh-CN" sz="4000" b="1" baseline="30000">
                <a:solidFill>
                  <a:srgbClr val="FF0000"/>
                </a:solidFill>
                <a:latin typeface="Times New Roman" charset="0"/>
                <a:ea typeface="楷体_GB2312" charset="0"/>
              </a:rPr>
              <a:t>2</a:t>
            </a:r>
            <a:r>
              <a:rPr kumimoji="1" lang="en-US" altLang="zh-CN" sz="4000" b="1">
                <a:solidFill>
                  <a:srgbClr val="FF0000"/>
                </a:solidFill>
                <a:latin typeface="Times New Roman" charset="0"/>
                <a:ea typeface="楷体_GB2312" charset="0"/>
              </a:rPr>
              <a:t>)</a:t>
            </a:r>
          </a:p>
        </p:txBody>
      </p:sp>
    </p:spTree>
    <p:extLst>
      <p:ext uri="{BB962C8B-B14F-4D97-AF65-F5344CB8AC3E}">
        <p14:creationId xmlns:p14="http://schemas.microsoft.com/office/powerpoint/2010/main" val="2504367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91491"/>
                                        </p:tgtEl>
                                        <p:attrNameLst>
                                          <p:attrName>style.visibility</p:attrName>
                                        </p:attrNameLst>
                                      </p:cBhvr>
                                      <p:to>
                                        <p:strVal val="visible"/>
                                      </p:to>
                                    </p:set>
                                    <p:animEffect transition="in" filter="wipe(left)">
                                      <p:cBhvr>
                                        <p:cTn id="7" dur="75"/>
                                        <p:tgtEl>
                                          <p:spTgt spid="191491"/>
                                        </p:tgtEl>
                                      </p:cBhvr>
                                    </p:animEffect>
                                  </p:childTnLst>
                                </p:cTn>
                              </p:par>
                            </p:childTnLst>
                          </p:cTn>
                        </p:par>
                        <p:par>
                          <p:cTn id="8" fill="hold" nodeType="afterGroup">
                            <p:stCondLst>
                              <p:cond delay="1425"/>
                            </p:stCondLst>
                            <p:childTnLst>
                              <p:par>
                                <p:cTn id="9" presetID="2" presetClass="entr" presetSubtype="6" fill="hold" grpId="0" nodeType="afterEffect">
                                  <p:stCondLst>
                                    <p:cond delay="0"/>
                                  </p:stCondLst>
                                  <p:childTnLst>
                                    <p:set>
                                      <p:cBhvr>
                                        <p:cTn id="10" dur="1" fill="hold">
                                          <p:stCondLst>
                                            <p:cond delay="0"/>
                                          </p:stCondLst>
                                        </p:cTn>
                                        <p:tgtEl>
                                          <p:spTgt spid="191493"/>
                                        </p:tgtEl>
                                        <p:attrNameLst>
                                          <p:attrName>style.visibility</p:attrName>
                                        </p:attrNameLst>
                                      </p:cBhvr>
                                      <p:to>
                                        <p:strVal val="visible"/>
                                      </p:to>
                                    </p:set>
                                    <p:anim calcmode="lin" valueType="num">
                                      <p:cBhvr additive="base">
                                        <p:cTn id="11" dur="500" fill="hold"/>
                                        <p:tgtEl>
                                          <p:spTgt spid="191493"/>
                                        </p:tgtEl>
                                        <p:attrNameLst>
                                          <p:attrName>ppt_x</p:attrName>
                                        </p:attrNameLst>
                                      </p:cBhvr>
                                      <p:tavLst>
                                        <p:tav tm="0">
                                          <p:val>
                                            <p:strVal val="1+#ppt_w/2"/>
                                          </p:val>
                                        </p:tav>
                                        <p:tav tm="100000">
                                          <p:val>
                                            <p:strVal val="#ppt_x"/>
                                          </p:val>
                                        </p:tav>
                                      </p:tavLst>
                                    </p:anim>
                                    <p:anim calcmode="lin" valueType="num">
                                      <p:cBhvr additive="base">
                                        <p:cTn id="12" dur="500" fill="hold"/>
                                        <p:tgtEl>
                                          <p:spTgt spid="191493"/>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91494"/>
                                        </p:tgtEl>
                                        <p:attrNameLst>
                                          <p:attrName>style.visibility</p:attrName>
                                        </p:attrNameLst>
                                      </p:cBhvr>
                                      <p:to>
                                        <p:strVal val="visible"/>
                                      </p:to>
                                    </p:set>
                                    <p:animEffect transition="in" filter="wipe(left)">
                                      <p:cBhvr>
                                        <p:cTn id="17" dur="75"/>
                                        <p:tgtEl>
                                          <p:spTgt spid="191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autoUpdateAnimBg="0"/>
      <p:bldP spid="191493" grpId="0" animBg="1"/>
      <p:bldP spid="191494"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796925" y="1268413"/>
            <a:ext cx="729615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4000">
                <a:latin typeface="Times New Roman" charset="0"/>
                <a:ea typeface="楷体_GB2312" charset="0"/>
              </a:rPr>
              <a:t>用常规的二维数组表示时的算法</a:t>
            </a:r>
          </a:p>
        </p:txBody>
      </p:sp>
      <p:sp>
        <p:nvSpPr>
          <p:cNvPr id="192515" name="Text Box 3"/>
          <p:cNvSpPr txBox="1">
            <a:spLocks noChangeArrowheads="1"/>
          </p:cNvSpPr>
          <p:nvPr/>
        </p:nvSpPr>
        <p:spPr bwMode="auto">
          <a:xfrm>
            <a:off x="893763" y="5367338"/>
            <a:ext cx="6945312"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en-US" altLang="zh-CN" sz="4000" b="1">
                <a:solidFill>
                  <a:srgbClr val="9933FF"/>
                </a:solidFill>
                <a:latin typeface="Times New Roman" charset="0"/>
                <a:ea typeface="楷体_GB2312" charset="0"/>
              </a:rPr>
              <a:t>   </a:t>
            </a:r>
            <a:r>
              <a:rPr kumimoji="1" lang="zh-CN" altLang="en-US" sz="4000" b="1">
                <a:solidFill>
                  <a:srgbClr val="9933FF"/>
                </a:solidFill>
                <a:latin typeface="Times New Roman" charset="0"/>
                <a:ea typeface="楷体_GB2312" charset="0"/>
              </a:rPr>
              <a:t>其时间复杂度为</a:t>
            </a:r>
            <a:r>
              <a:rPr kumimoji="1" lang="en-US" altLang="zh-CN" sz="4000" b="1">
                <a:solidFill>
                  <a:srgbClr val="9933FF"/>
                </a:solidFill>
                <a:latin typeface="Times New Roman" charset="0"/>
                <a:ea typeface="楷体_GB2312" charset="0"/>
              </a:rPr>
              <a:t>: O(mu</a:t>
            </a:r>
            <a:r>
              <a:rPr kumimoji="1" lang="en-US" altLang="zh-CN" sz="4000" b="1">
                <a:solidFill>
                  <a:srgbClr val="9933FF"/>
                </a:solidFill>
                <a:latin typeface="楷体_GB2312" charset="0"/>
                <a:ea typeface="楷体_GB2312" charset="0"/>
              </a:rPr>
              <a:t>×</a:t>
            </a:r>
            <a:r>
              <a:rPr kumimoji="1" lang="en-US" altLang="zh-CN" sz="4000" b="1">
                <a:solidFill>
                  <a:srgbClr val="9933FF"/>
                </a:solidFill>
                <a:latin typeface="Times New Roman" charset="0"/>
                <a:ea typeface="楷体_GB2312" charset="0"/>
              </a:rPr>
              <a:t>nu)</a:t>
            </a:r>
            <a:endParaRPr kumimoji="1" lang="en-US" altLang="zh-CN" sz="4400" b="1">
              <a:solidFill>
                <a:srgbClr val="9933FF"/>
              </a:solidFill>
              <a:latin typeface="Times New Roman" charset="0"/>
            </a:endParaRPr>
          </a:p>
        </p:txBody>
      </p:sp>
      <p:sp>
        <p:nvSpPr>
          <p:cNvPr id="192516" name="Text Box 4"/>
          <p:cNvSpPr txBox="1">
            <a:spLocks noChangeArrowheads="1"/>
          </p:cNvSpPr>
          <p:nvPr/>
        </p:nvSpPr>
        <p:spPr bwMode="auto">
          <a:xfrm>
            <a:off x="609600" y="2514600"/>
            <a:ext cx="755650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en-US" altLang="zh-CN" sz="4000" b="1">
                <a:latin typeface="Times New Roman" charset="0"/>
                <a:ea typeface="楷体_GB2312" charset="0"/>
              </a:rPr>
              <a:t>   for</a:t>
            </a:r>
            <a:r>
              <a:rPr kumimoji="1" lang="en-US" altLang="zh-CN" sz="4000">
                <a:latin typeface="Times New Roman" charset="0"/>
                <a:ea typeface="楷体_GB2312" charset="0"/>
              </a:rPr>
              <a:t> (col=1; col&lt;=nu; ++col)</a:t>
            </a:r>
          </a:p>
          <a:p>
            <a:pPr eaLnBrk="1" hangingPunct="1">
              <a:lnSpc>
                <a:spcPct val="125000"/>
              </a:lnSpc>
            </a:pPr>
            <a:r>
              <a:rPr kumimoji="1" lang="en-US" altLang="zh-CN" sz="4000">
                <a:latin typeface="Times New Roman" charset="0"/>
                <a:ea typeface="楷体_GB2312" charset="0"/>
              </a:rPr>
              <a:t>        </a:t>
            </a:r>
            <a:r>
              <a:rPr kumimoji="1" lang="en-US" altLang="zh-CN" sz="4000" b="1">
                <a:latin typeface="Times New Roman" charset="0"/>
                <a:ea typeface="楷体_GB2312" charset="0"/>
              </a:rPr>
              <a:t>for</a:t>
            </a:r>
            <a:r>
              <a:rPr kumimoji="1" lang="en-US" altLang="zh-CN" sz="4000">
                <a:latin typeface="Times New Roman" charset="0"/>
                <a:ea typeface="楷体_GB2312" charset="0"/>
              </a:rPr>
              <a:t> (row=1; row&lt;=mu; ++row)</a:t>
            </a:r>
          </a:p>
          <a:p>
            <a:pPr eaLnBrk="1" hangingPunct="1">
              <a:lnSpc>
                <a:spcPct val="125000"/>
              </a:lnSpc>
            </a:pPr>
            <a:r>
              <a:rPr kumimoji="1" lang="en-US" altLang="zh-CN" sz="4000">
                <a:latin typeface="Times New Roman" charset="0"/>
                <a:ea typeface="楷体_GB2312" charset="0"/>
              </a:rPr>
              <a:t>          T[col][row] = M[row][col];</a:t>
            </a:r>
            <a:endParaRPr kumimoji="1" lang="en-US" altLang="zh-CN" sz="4400">
              <a:latin typeface="Times New Roman" charset="0"/>
            </a:endParaRPr>
          </a:p>
        </p:txBody>
      </p:sp>
    </p:spTree>
    <p:extLst>
      <p:ext uri="{BB962C8B-B14F-4D97-AF65-F5344CB8AC3E}">
        <p14:creationId xmlns:p14="http://schemas.microsoft.com/office/powerpoint/2010/main" val="2043995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92516"/>
                                        </p:tgtEl>
                                        <p:attrNameLst>
                                          <p:attrName>style.visibility</p:attrName>
                                        </p:attrNameLst>
                                      </p:cBhvr>
                                      <p:to>
                                        <p:strVal val="visible"/>
                                      </p:to>
                                    </p:set>
                                    <p:anim calcmode="lin" valueType="num">
                                      <p:cBhvr>
                                        <p:cTn id="7" dur="500" fill="hold"/>
                                        <p:tgtEl>
                                          <p:spTgt spid="192516"/>
                                        </p:tgtEl>
                                        <p:attrNameLst>
                                          <p:attrName>ppt_x</p:attrName>
                                        </p:attrNameLst>
                                      </p:cBhvr>
                                      <p:tavLst>
                                        <p:tav tm="0">
                                          <p:val>
                                            <p:strVal val="#ppt_x"/>
                                          </p:val>
                                        </p:tav>
                                        <p:tav tm="100000">
                                          <p:val>
                                            <p:strVal val="#ppt_x"/>
                                          </p:val>
                                        </p:tav>
                                      </p:tavLst>
                                    </p:anim>
                                    <p:anim calcmode="lin" valueType="num">
                                      <p:cBhvr>
                                        <p:cTn id="8" dur="500" fill="hold"/>
                                        <p:tgtEl>
                                          <p:spTgt spid="192516"/>
                                        </p:tgtEl>
                                        <p:attrNameLst>
                                          <p:attrName>ppt_y</p:attrName>
                                        </p:attrNameLst>
                                      </p:cBhvr>
                                      <p:tavLst>
                                        <p:tav tm="0">
                                          <p:val>
                                            <p:strVal val="#ppt_y-#ppt_h/2"/>
                                          </p:val>
                                        </p:tav>
                                        <p:tav tm="100000">
                                          <p:val>
                                            <p:strVal val="#ppt_y"/>
                                          </p:val>
                                        </p:tav>
                                      </p:tavLst>
                                    </p:anim>
                                    <p:anim calcmode="lin" valueType="num">
                                      <p:cBhvr>
                                        <p:cTn id="9" dur="500" fill="hold"/>
                                        <p:tgtEl>
                                          <p:spTgt spid="192516"/>
                                        </p:tgtEl>
                                        <p:attrNameLst>
                                          <p:attrName>ppt_w</p:attrName>
                                        </p:attrNameLst>
                                      </p:cBhvr>
                                      <p:tavLst>
                                        <p:tav tm="0">
                                          <p:val>
                                            <p:strVal val="#ppt_w"/>
                                          </p:val>
                                        </p:tav>
                                        <p:tav tm="100000">
                                          <p:val>
                                            <p:strVal val="#ppt_w"/>
                                          </p:val>
                                        </p:tav>
                                      </p:tavLst>
                                    </p:anim>
                                    <p:anim calcmode="lin" valueType="num">
                                      <p:cBhvr>
                                        <p:cTn id="10" dur="500" fill="hold"/>
                                        <p:tgtEl>
                                          <p:spTgt spid="192516"/>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iterate type="lt">
                                    <p:tmPct val="100000"/>
                                  </p:iterate>
                                  <p:childTnLst>
                                    <p:set>
                                      <p:cBhvr>
                                        <p:cTn id="14" dur="1" fill="hold">
                                          <p:stCondLst>
                                            <p:cond delay="0"/>
                                          </p:stCondLst>
                                        </p:cTn>
                                        <p:tgtEl>
                                          <p:spTgt spid="192515"/>
                                        </p:tgtEl>
                                        <p:attrNameLst>
                                          <p:attrName>style.visibility</p:attrName>
                                        </p:attrNameLst>
                                      </p:cBhvr>
                                      <p:to>
                                        <p:strVal val="visible"/>
                                      </p:to>
                                    </p:set>
                                    <p:animEffect transition="in" filter="wipe(left)">
                                      <p:cBhvr>
                                        <p:cTn id="15" dur="75"/>
                                        <p:tgtEl>
                                          <p:spTgt spid="192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autoUpdateAnimBg="0"/>
      <p:bldP spid="19251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1524000" y="152400"/>
            <a:ext cx="8007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a:solidFill>
                  <a:srgbClr val="990033"/>
                </a:solidFill>
                <a:latin typeface="Times New Roman" charset="0"/>
                <a:ea typeface="楷体_GB2312" charset="0"/>
              </a:rPr>
              <a:t>用“三元组”表示时如何实现？</a:t>
            </a:r>
            <a:endParaRPr kumimoji="1" lang="zh-CN" altLang="en-US" sz="4400">
              <a:latin typeface="Times New Roman" charset="0"/>
            </a:endParaRPr>
          </a:p>
        </p:txBody>
      </p:sp>
      <p:sp>
        <p:nvSpPr>
          <p:cNvPr id="45059" name="Text Box 3"/>
          <p:cNvSpPr txBox="1">
            <a:spLocks noChangeArrowheads="1"/>
          </p:cNvSpPr>
          <p:nvPr/>
        </p:nvSpPr>
        <p:spPr bwMode="auto">
          <a:xfrm>
            <a:off x="1506538" y="2273300"/>
            <a:ext cx="1927225"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1  5  -7</a:t>
            </a:r>
            <a:endParaRPr kumimoji="1" lang="en-US" altLang="zh-CN" sz="4400">
              <a:latin typeface="Times New Roman" charset="0"/>
            </a:endParaRPr>
          </a:p>
        </p:txBody>
      </p:sp>
      <p:sp>
        <p:nvSpPr>
          <p:cNvPr id="45060" name="Text Box 4"/>
          <p:cNvSpPr txBox="1">
            <a:spLocks noChangeArrowheads="1"/>
          </p:cNvSpPr>
          <p:nvPr/>
        </p:nvSpPr>
        <p:spPr bwMode="auto">
          <a:xfrm>
            <a:off x="1495425" y="3060700"/>
            <a:ext cx="1935163"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3  4   8</a:t>
            </a:r>
            <a:endParaRPr kumimoji="1" lang="en-US" altLang="zh-CN" sz="4400">
              <a:latin typeface="Times New Roman" charset="0"/>
            </a:endParaRPr>
          </a:p>
        </p:txBody>
      </p:sp>
      <p:sp>
        <p:nvSpPr>
          <p:cNvPr id="45061" name="Text Box 5"/>
          <p:cNvSpPr txBox="1">
            <a:spLocks noChangeArrowheads="1"/>
          </p:cNvSpPr>
          <p:nvPr/>
        </p:nvSpPr>
        <p:spPr bwMode="auto">
          <a:xfrm>
            <a:off x="1492250" y="3822700"/>
            <a:ext cx="1952625"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4  1   5</a:t>
            </a:r>
            <a:endParaRPr kumimoji="1" lang="en-US" altLang="zh-CN" sz="4400">
              <a:latin typeface="Times New Roman" charset="0"/>
            </a:endParaRPr>
          </a:p>
        </p:txBody>
      </p:sp>
      <p:sp>
        <p:nvSpPr>
          <p:cNvPr id="45062" name="Text Box 6"/>
          <p:cNvSpPr txBox="1">
            <a:spLocks noChangeArrowheads="1"/>
          </p:cNvSpPr>
          <p:nvPr/>
        </p:nvSpPr>
        <p:spPr bwMode="auto">
          <a:xfrm>
            <a:off x="1492250" y="4584700"/>
            <a:ext cx="1952625"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4  6   2</a:t>
            </a:r>
            <a:endParaRPr kumimoji="1" lang="en-US" altLang="zh-CN" sz="4400">
              <a:latin typeface="Times New Roman" charset="0"/>
            </a:endParaRPr>
          </a:p>
        </p:txBody>
      </p:sp>
      <p:sp>
        <p:nvSpPr>
          <p:cNvPr id="45063" name="Text Box 7"/>
          <p:cNvSpPr txBox="1">
            <a:spLocks noChangeArrowheads="1"/>
          </p:cNvSpPr>
          <p:nvPr/>
        </p:nvSpPr>
        <p:spPr bwMode="auto">
          <a:xfrm>
            <a:off x="5607050" y="2222500"/>
            <a:ext cx="1870075"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3  1  9</a:t>
            </a:r>
            <a:endParaRPr kumimoji="1" lang="en-US" altLang="zh-CN" sz="4400">
              <a:latin typeface="Times New Roman" charset="0"/>
            </a:endParaRPr>
          </a:p>
        </p:txBody>
      </p:sp>
      <p:sp>
        <p:nvSpPr>
          <p:cNvPr id="45064" name="Text Box 8"/>
          <p:cNvSpPr txBox="1">
            <a:spLocks noChangeArrowheads="1"/>
          </p:cNvSpPr>
          <p:nvPr/>
        </p:nvSpPr>
        <p:spPr bwMode="auto">
          <a:xfrm>
            <a:off x="5607050" y="4559300"/>
            <a:ext cx="1885950"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5  5  16</a:t>
            </a:r>
            <a:endParaRPr kumimoji="1" lang="en-US" altLang="zh-CN" sz="4400">
              <a:latin typeface="Times New Roman" charset="0"/>
            </a:endParaRPr>
          </a:p>
        </p:txBody>
      </p:sp>
      <p:sp>
        <p:nvSpPr>
          <p:cNvPr id="45065" name="Text Box 9"/>
          <p:cNvSpPr txBox="1">
            <a:spLocks noChangeArrowheads="1"/>
          </p:cNvSpPr>
          <p:nvPr/>
        </p:nvSpPr>
        <p:spPr bwMode="auto">
          <a:xfrm>
            <a:off x="5607050" y="2984500"/>
            <a:ext cx="1798638"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4  3  8</a:t>
            </a:r>
            <a:endParaRPr kumimoji="1" lang="en-US" altLang="zh-CN" sz="4400">
              <a:latin typeface="Times New Roman" charset="0"/>
            </a:endParaRPr>
          </a:p>
        </p:txBody>
      </p:sp>
      <p:sp>
        <p:nvSpPr>
          <p:cNvPr id="45066" name="Text Box 10"/>
          <p:cNvSpPr txBox="1">
            <a:spLocks noChangeArrowheads="1"/>
          </p:cNvSpPr>
          <p:nvPr/>
        </p:nvSpPr>
        <p:spPr bwMode="auto">
          <a:xfrm>
            <a:off x="5607050" y="1460500"/>
            <a:ext cx="1870075"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1  4  5</a:t>
            </a:r>
            <a:endParaRPr kumimoji="1" lang="en-US" altLang="zh-CN" sz="4400">
              <a:latin typeface="Times New Roman" charset="0"/>
            </a:endParaRPr>
          </a:p>
        </p:txBody>
      </p:sp>
      <p:sp>
        <p:nvSpPr>
          <p:cNvPr id="45067" name="Text Box 11"/>
          <p:cNvSpPr txBox="1">
            <a:spLocks noChangeArrowheads="1"/>
          </p:cNvSpPr>
          <p:nvPr/>
        </p:nvSpPr>
        <p:spPr bwMode="auto">
          <a:xfrm>
            <a:off x="5607050" y="3771900"/>
            <a:ext cx="1792288"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5  1  -7</a:t>
            </a:r>
            <a:endParaRPr kumimoji="1" lang="en-US" altLang="zh-CN" sz="4400">
              <a:latin typeface="Times New Roman" charset="0"/>
            </a:endParaRPr>
          </a:p>
        </p:txBody>
      </p:sp>
      <p:sp>
        <p:nvSpPr>
          <p:cNvPr id="45068" name="Line 12"/>
          <p:cNvSpPr>
            <a:spLocks noChangeShapeType="1"/>
          </p:cNvSpPr>
          <p:nvPr/>
        </p:nvSpPr>
        <p:spPr bwMode="auto">
          <a:xfrm flipV="1">
            <a:off x="3492500" y="4941888"/>
            <a:ext cx="2087563" cy="792162"/>
          </a:xfrm>
          <a:prstGeom prst="line">
            <a:avLst/>
          </a:prstGeom>
          <a:noFill/>
          <a:ln w="63500">
            <a:solidFill>
              <a:srgbClr val="CC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5069" name="Line 13"/>
          <p:cNvSpPr>
            <a:spLocks noChangeShapeType="1"/>
          </p:cNvSpPr>
          <p:nvPr/>
        </p:nvSpPr>
        <p:spPr bwMode="auto">
          <a:xfrm>
            <a:off x="3419475" y="2781300"/>
            <a:ext cx="2232025" cy="1368425"/>
          </a:xfrm>
          <a:prstGeom prst="line">
            <a:avLst/>
          </a:prstGeom>
          <a:noFill/>
          <a:ln w="63500">
            <a:solidFill>
              <a:srgbClr val="CC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5070" name="Text Box 14"/>
          <p:cNvSpPr txBox="1">
            <a:spLocks noChangeArrowheads="1"/>
          </p:cNvSpPr>
          <p:nvPr/>
        </p:nvSpPr>
        <p:spPr bwMode="auto">
          <a:xfrm>
            <a:off x="1495425" y="5392738"/>
            <a:ext cx="1968500"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5  5  16</a:t>
            </a:r>
            <a:endParaRPr kumimoji="1" lang="en-US" altLang="zh-CN" sz="4400">
              <a:latin typeface="Times New Roman" charset="0"/>
            </a:endParaRPr>
          </a:p>
        </p:txBody>
      </p:sp>
      <p:sp>
        <p:nvSpPr>
          <p:cNvPr id="45071" name="Text Box 15"/>
          <p:cNvSpPr txBox="1">
            <a:spLocks noChangeArrowheads="1"/>
          </p:cNvSpPr>
          <p:nvPr/>
        </p:nvSpPr>
        <p:spPr bwMode="auto">
          <a:xfrm>
            <a:off x="5653088" y="5368925"/>
            <a:ext cx="1746250"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6  4   2</a:t>
            </a:r>
            <a:endParaRPr kumimoji="1" lang="en-US" altLang="zh-CN" sz="4400">
              <a:latin typeface="Times New Roman" charset="0"/>
            </a:endParaRPr>
          </a:p>
        </p:txBody>
      </p:sp>
      <p:sp>
        <p:nvSpPr>
          <p:cNvPr id="45072" name="Text Box 16"/>
          <p:cNvSpPr txBox="1">
            <a:spLocks noChangeArrowheads="1"/>
          </p:cNvSpPr>
          <p:nvPr/>
        </p:nvSpPr>
        <p:spPr bwMode="auto">
          <a:xfrm>
            <a:off x="1492250" y="1489075"/>
            <a:ext cx="1927225" cy="787400"/>
          </a:xfrm>
          <a:prstGeom prst="rect">
            <a:avLst/>
          </a:prstGeom>
          <a:solidFill>
            <a:srgbClr val="FF99CC">
              <a:alpha val="50195"/>
            </a:srgbClr>
          </a:solidFill>
          <a:ln w="2540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1  3   9</a:t>
            </a:r>
            <a:endParaRPr kumimoji="1" lang="en-US" altLang="zh-CN" sz="4400">
              <a:latin typeface="Times New Roman" charset="0"/>
            </a:endParaRPr>
          </a:p>
        </p:txBody>
      </p:sp>
    </p:spTree>
    <p:extLst>
      <p:ext uri="{BB962C8B-B14F-4D97-AF65-F5344CB8AC3E}">
        <p14:creationId xmlns:p14="http://schemas.microsoft.com/office/powerpoint/2010/main" val="1628490260"/>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288925" y="141288"/>
            <a:ext cx="87026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4000">
                <a:latin typeface="Times New Roman" charset="0"/>
                <a:ea typeface="楷体_GB2312" charset="0"/>
              </a:rPr>
              <a:t>          </a:t>
            </a:r>
            <a:r>
              <a:rPr kumimoji="1" lang="zh-CN" altLang="en-US" sz="4000">
                <a:latin typeface="Times New Roman" charset="0"/>
                <a:ea typeface="楷体_GB2312" charset="0"/>
              </a:rPr>
              <a:t>首先应该确定每一行的第一个非零元在三元组中的位置。</a:t>
            </a:r>
          </a:p>
        </p:txBody>
      </p:sp>
      <p:graphicFrame>
        <p:nvGraphicFramePr>
          <p:cNvPr id="194563" name="Object 3"/>
          <p:cNvGraphicFramePr>
            <a:graphicFrameLocks noChangeAspect="1"/>
          </p:cNvGraphicFramePr>
          <p:nvPr/>
        </p:nvGraphicFramePr>
        <p:xfrm>
          <a:off x="528638" y="1763713"/>
          <a:ext cx="2117725" cy="3321050"/>
        </p:xfrm>
        <a:graphic>
          <a:graphicData uri="http://schemas.openxmlformats.org/presentationml/2006/ole">
            <mc:AlternateContent xmlns:mc="http://schemas.openxmlformats.org/markup-compatibility/2006">
              <mc:Choice xmlns:v="urn:schemas-microsoft-com:vml" Requires="v">
                <p:oleObj spid="_x0000_s592900" name="文档" r:id="rId3" imgW="2178871" imgH="3399992" progId="Word.Document.8">
                  <p:embed/>
                </p:oleObj>
              </mc:Choice>
              <mc:Fallback>
                <p:oleObj name="文档" r:id="rId3" imgW="2178871" imgH="3399992"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38" y="1763713"/>
                        <a:ext cx="2117725" cy="332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94564" name="Object 4"/>
          <p:cNvGraphicFramePr>
            <a:graphicFrameLocks noChangeAspect="1"/>
          </p:cNvGraphicFramePr>
          <p:nvPr/>
        </p:nvGraphicFramePr>
        <p:xfrm>
          <a:off x="2779713" y="2487613"/>
          <a:ext cx="5943600" cy="1719262"/>
        </p:xfrm>
        <a:graphic>
          <a:graphicData uri="http://schemas.openxmlformats.org/presentationml/2006/ole">
            <mc:AlternateContent xmlns:mc="http://schemas.openxmlformats.org/markup-compatibility/2006">
              <mc:Choice xmlns:v="urn:schemas-microsoft-com:vml" Requires="v">
                <p:oleObj spid="_x0000_s592901" name="文档" r:id="rId5" imgW="6216631" imgH="1802871" progId="Word.Document.8">
                  <p:embed/>
                </p:oleObj>
              </mc:Choice>
              <mc:Fallback>
                <p:oleObj name="文档" r:id="rId5" imgW="6216631" imgH="1802871"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9713" y="2487613"/>
                        <a:ext cx="5943600" cy="171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94565" name="Text Box 5"/>
          <p:cNvSpPr txBox="1">
            <a:spLocks noChangeArrowheads="1"/>
          </p:cNvSpPr>
          <p:nvPr/>
        </p:nvSpPr>
        <p:spPr bwMode="auto">
          <a:xfrm>
            <a:off x="1106488" y="4751388"/>
            <a:ext cx="6970712" cy="177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3200">
                <a:latin typeface="Times New Roman" charset="0"/>
                <a:ea typeface="楷体_GB2312" charset="0"/>
              </a:rPr>
              <a:t>    </a:t>
            </a:r>
            <a:r>
              <a:rPr kumimoji="1" lang="en-US" altLang="zh-CN" sz="3200">
                <a:solidFill>
                  <a:srgbClr val="9933FF"/>
                </a:solidFill>
                <a:latin typeface="Times New Roman" charset="0"/>
                <a:ea typeface="楷体_GB2312" charset="0"/>
              </a:rPr>
              <a:t>cpot[1] = 1;</a:t>
            </a:r>
          </a:p>
          <a:p>
            <a:pPr eaLnBrk="1" hangingPunct="1">
              <a:lnSpc>
                <a:spcPct val="115000"/>
              </a:lnSpc>
            </a:pPr>
            <a:r>
              <a:rPr kumimoji="1" lang="en-US" altLang="zh-CN" sz="3200">
                <a:solidFill>
                  <a:srgbClr val="9933FF"/>
                </a:solidFill>
                <a:latin typeface="Times New Roman" charset="0"/>
                <a:ea typeface="楷体_GB2312" charset="0"/>
              </a:rPr>
              <a:t>    </a:t>
            </a:r>
            <a:r>
              <a:rPr kumimoji="1" lang="en-US" altLang="zh-CN" sz="3200" b="1">
                <a:solidFill>
                  <a:srgbClr val="9933FF"/>
                </a:solidFill>
                <a:latin typeface="Times New Roman" charset="0"/>
                <a:ea typeface="楷体_GB2312" charset="0"/>
              </a:rPr>
              <a:t>for</a:t>
            </a:r>
            <a:r>
              <a:rPr kumimoji="1" lang="en-US" altLang="zh-CN" sz="3200">
                <a:solidFill>
                  <a:srgbClr val="9933FF"/>
                </a:solidFill>
                <a:latin typeface="Times New Roman" charset="0"/>
                <a:ea typeface="楷体_GB2312" charset="0"/>
              </a:rPr>
              <a:t> (col=2; col&lt;=M.nu; ++col)</a:t>
            </a:r>
          </a:p>
          <a:p>
            <a:pPr eaLnBrk="1" hangingPunct="1">
              <a:lnSpc>
                <a:spcPct val="115000"/>
              </a:lnSpc>
            </a:pPr>
            <a:r>
              <a:rPr kumimoji="1" lang="en-US" altLang="zh-CN" sz="3200">
                <a:solidFill>
                  <a:srgbClr val="9933FF"/>
                </a:solidFill>
                <a:latin typeface="Times New Roman" charset="0"/>
                <a:ea typeface="楷体_GB2312" charset="0"/>
              </a:rPr>
              <a:t>       cpot[col] = cpot[col-1] + num[col-1];</a:t>
            </a:r>
            <a:endParaRPr kumimoji="1" lang="en-US" altLang="zh-CN" sz="4400">
              <a:latin typeface="Times New Roman" charset="0"/>
            </a:endParaRPr>
          </a:p>
        </p:txBody>
      </p:sp>
      <p:sp>
        <p:nvSpPr>
          <p:cNvPr id="46086" name="AutoShape 6">
            <a:hlinkClick r:id="rId7" action="ppaction://program" highlightClick="1"/>
          </p:cNvPr>
          <p:cNvSpPr>
            <a:spLocks noChangeArrowheads="1"/>
          </p:cNvSpPr>
          <p:nvPr/>
        </p:nvSpPr>
        <p:spPr bwMode="auto">
          <a:xfrm>
            <a:off x="8459788" y="6172200"/>
            <a:ext cx="304800" cy="304800"/>
          </a:xfrm>
          <a:prstGeom prst="actionButtonForwardNext">
            <a:avLst/>
          </a:prstGeom>
          <a:solidFill>
            <a:schemeClr val="hlink"/>
          </a:solidFill>
          <a:ln w="9525">
            <a:solidFill>
              <a:srgbClr val="0066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kumimoji="1" lang="en-US" altLang="zh-CN" sz="2000" b="1">
              <a:solidFill>
                <a:srgbClr val="FF0000"/>
              </a:solidFill>
              <a:latin typeface="Times New Roman" charset="0"/>
            </a:endParaRPr>
          </a:p>
          <a:p>
            <a:pPr algn="ctr" eaLnBrk="1" hangingPunct="1"/>
            <a:endParaRPr kumimoji="1" lang="en-US" altLang="zh-CN" sz="2000" b="1">
              <a:solidFill>
                <a:srgbClr val="FF0000"/>
              </a:solidFill>
              <a:latin typeface="Times New Roman" charset="0"/>
            </a:endParaRPr>
          </a:p>
        </p:txBody>
      </p:sp>
    </p:spTree>
    <p:extLst>
      <p:ext uri="{BB962C8B-B14F-4D97-AF65-F5344CB8AC3E}">
        <p14:creationId xmlns:p14="http://schemas.microsoft.com/office/powerpoint/2010/main" val="12563900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563"/>
                                        </p:tgtEl>
                                        <p:attrNameLst>
                                          <p:attrName>style.visibility</p:attrName>
                                        </p:attrNameLst>
                                      </p:cBhvr>
                                      <p:to>
                                        <p:strVal val="visible"/>
                                      </p:to>
                                    </p:set>
                                    <p:anim calcmode="lin" valueType="num">
                                      <p:cBhvr additive="base">
                                        <p:cTn id="7" dur="500" fill="hold"/>
                                        <p:tgtEl>
                                          <p:spTgt spid="194563"/>
                                        </p:tgtEl>
                                        <p:attrNameLst>
                                          <p:attrName>ppt_x</p:attrName>
                                        </p:attrNameLst>
                                      </p:cBhvr>
                                      <p:tavLst>
                                        <p:tav tm="0">
                                          <p:val>
                                            <p:strVal val="0-#ppt_w/2"/>
                                          </p:val>
                                        </p:tav>
                                        <p:tav tm="100000">
                                          <p:val>
                                            <p:strVal val="#ppt_x"/>
                                          </p:val>
                                        </p:tav>
                                      </p:tavLst>
                                    </p:anim>
                                    <p:anim calcmode="lin" valueType="num">
                                      <p:cBhvr additive="base">
                                        <p:cTn id="8" dur="500" fill="hold"/>
                                        <p:tgtEl>
                                          <p:spTgt spid="1945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8" fill="hold" nodeType="clickEffect">
                                  <p:stCondLst>
                                    <p:cond delay="0"/>
                                  </p:stCondLst>
                                  <p:childTnLst>
                                    <p:set>
                                      <p:cBhvr>
                                        <p:cTn id="12" dur="1" fill="hold">
                                          <p:stCondLst>
                                            <p:cond delay="0"/>
                                          </p:stCondLst>
                                        </p:cTn>
                                        <p:tgtEl>
                                          <p:spTgt spid="194564"/>
                                        </p:tgtEl>
                                        <p:attrNameLst>
                                          <p:attrName>style.visibility</p:attrName>
                                        </p:attrNameLst>
                                      </p:cBhvr>
                                      <p:to>
                                        <p:strVal val="visible"/>
                                      </p:to>
                                    </p:set>
                                    <p:animEffect transition="in" filter="slide(fromLeft)">
                                      <p:cBhvr>
                                        <p:cTn id="13" dur="500"/>
                                        <p:tgtEl>
                                          <p:spTgt spid="19456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94565"/>
                                        </p:tgtEl>
                                        <p:attrNameLst>
                                          <p:attrName>style.visibility</p:attrName>
                                        </p:attrNameLst>
                                      </p:cBhvr>
                                      <p:to>
                                        <p:strVal val="visible"/>
                                      </p:to>
                                    </p:set>
                                    <p:animEffect transition="in" filter="wipe(left)">
                                      <p:cBhvr>
                                        <p:cTn id="18" dur="500"/>
                                        <p:tgtEl>
                                          <p:spTgt spid="194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207963" y="134938"/>
            <a:ext cx="8770937" cy="674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2800" b="1">
                <a:latin typeface="Times New Roman" charset="0"/>
                <a:ea typeface="楷体_GB2312" charset="0"/>
              </a:rPr>
              <a:t>Status</a:t>
            </a:r>
            <a:r>
              <a:rPr kumimoji="1" lang="en-US" altLang="zh-CN" sz="2800">
                <a:latin typeface="Times New Roman" charset="0"/>
                <a:ea typeface="楷体_GB2312" charset="0"/>
              </a:rPr>
              <a:t> FastTransposeSMatrix(TSMatrix M, TSMatrix </a:t>
            </a:r>
            <a:r>
              <a:rPr kumimoji="1" lang="en-US" altLang="zh-CN" sz="2800" b="1">
                <a:latin typeface="Times New Roman" charset="0"/>
                <a:ea typeface="楷体_GB2312" charset="0"/>
              </a:rPr>
              <a:t>&amp;</a:t>
            </a:r>
            <a:r>
              <a:rPr kumimoji="1" lang="en-US" altLang="zh-CN" sz="2800">
                <a:latin typeface="Times New Roman" charset="0"/>
                <a:ea typeface="楷体_GB2312" charset="0"/>
              </a:rPr>
              <a:t>T)</a:t>
            </a:r>
            <a:r>
              <a:rPr kumimoji="1" lang="en-US" altLang="zh-CN" sz="2800" b="1">
                <a:latin typeface="Times New Roman" charset="0"/>
                <a:ea typeface="楷体_GB2312" charset="0"/>
              </a:rPr>
              <a:t>{</a:t>
            </a:r>
            <a:endParaRPr kumimoji="1" lang="en-US" altLang="zh-CN" sz="2800">
              <a:latin typeface="Times New Roman" charset="0"/>
              <a:ea typeface="楷体_GB2312" charset="0"/>
            </a:endParaRPr>
          </a:p>
          <a:p>
            <a:pPr eaLnBrk="1" hangingPunct="1">
              <a:lnSpc>
                <a:spcPct val="115000"/>
              </a:lnSpc>
            </a:pPr>
            <a:r>
              <a:rPr kumimoji="1" lang="en-US" altLang="zh-CN" sz="3200">
                <a:latin typeface="Times New Roman" charset="0"/>
                <a:ea typeface="楷体_GB2312" charset="0"/>
              </a:rPr>
              <a:t>  T.mu = M.nu;  T.nu = M.mu;  T.tu = M.tu;</a:t>
            </a:r>
          </a:p>
          <a:p>
            <a:pPr eaLnBrk="1" hangingPunct="1">
              <a:lnSpc>
                <a:spcPct val="115000"/>
              </a:lnSpc>
            </a:pPr>
            <a:r>
              <a:rPr kumimoji="1" lang="en-US" altLang="zh-CN" sz="3200">
                <a:latin typeface="Times New Roman" charset="0"/>
                <a:ea typeface="楷体_GB2312" charset="0"/>
              </a:rPr>
              <a:t>  </a:t>
            </a:r>
            <a:r>
              <a:rPr kumimoji="1" lang="en-US" altLang="zh-CN" sz="3200" b="1">
                <a:solidFill>
                  <a:srgbClr val="990033"/>
                </a:solidFill>
                <a:latin typeface="Times New Roman" charset="0"/>
                <a:ea typeface="楷体_GB2312" charset="0"/>
              </a:rPr>
              <a:t>if</a:t>
            </a:r>
            <a:r>
              <a:rPr kumimoji="1" lang="en-US" altLang="zh-CN" sz="3200">
                <a:solidFill>
                  <a:srgbClr val="990033"/>
                </a:solidFill>
                <a:latin typeface="Times New Roman" charset="0"/>
                <a:ea typeface="楷体_GB2312" charset="0"/>
              </a:rPr>
              <a:t> (T.tu)</a:t>
            </a:r>
            <a:r>
              <a:rPr kumimoji="1" lang="en-US" altLang="zh-CN" sz="3200">
                <a:latin typeface="Times New Roman" charset="0"/>
                <a:ea typeface="楷体_GB2312" charset="0"/>
              </a:rPr>
              <a:t> </a:t>
            </a:r>
            <a:r>
              <a:rPr kumimoji="1" lang="en-US" altLang="zh-CN" sz="3200" b="1">
                <a:latin typeface="Times New Roman" charset="0"/>
                <a:ea typeface="楷体_GB2312" charset="0"/>
              </a:rPr>
              <a:t>{</a:t>
            </a:r>
            <a:endParaRPr kumimoji="1" lang="en-US" altLang="zh-CN" sz="3200">
              <a:latin typeface="Times New Roman" charset="0"/>
              <a:ea typeface="楷体_GB2312" charset="0"/>
            </a:endParaRPr>
          </a:p>
          <a:p>
            <a:pPr eaLnBrk="1" hangingPunct="1">
              <a:lnSpc>
                <a:spcPct val="115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for</a:t>
            </a:r>
            <a:r>
              <a:rPr kumimoji="1" lang="en-US" altLang="zh-CN" sz="3200">
                <a:latin typeface="Times New Roman" charset="0"/>
                <a:ea typeface="楷体_GB2312" charset="0"/>
              </a:rPr>
              <a:t> (col=1; col&lt;=M.nu; ++col)  num[col] = 0;</a:t>
            </a:r>
          </a:p>
          <a:p>
            <a:pPr eaLnBrk="1" hangingPunct="1">
              <a:lnSpc>
                <a:spcPct val="115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for</a:t>
            </a:r>
            <a:r>
              <a:rPr kumimoji="1" lang="en-US" altLang="zh-CN" sz="3200">
                <a:latin typeface="Times New Roman" charset="0"/>
                <a:ea typeface="楷体_GB2312" charset="0"/>
              </a:rPr>
              <a:t> (t=1; t&lt;=M.tu; ++t)  ++num[M.data[t].j];</a:t>
            </a:r>
          </a:p>
          <a:p>
            <a:pPr eaLnBrk="1" hangingPunct="1">
              <a:lnSpc>
                <a:spcPct val="115000"/>
              </a:lnSpc>
            </a:pPr>
            <a:r>
              <a:rPr kumimoji="1" lang="en-US" altLang="zh-CN" sz="3200">
                <a:latin typeface="Times New Roman" charset="0"/>
                <a:ea typeface="楷体_GB2312" charset="0"/>
              </a:rPr>
              <a:t>    </a:t>
            </a:r>
            <a:r>
              <a:rPr kumimoji="1" lang="en-US" altLang="zh-CN" sz="3200">
                <a:solidFill>
                  <a:srgbClr val="9933FF"/>
                </a:solidFill>
                <a:latin typeface="Times New Roman" charset="0"/>
                <a:ea typeface="楷体_GB2312" charset="0"/>
              </a:rPr>
              <a:t>cpot[1] = 1;</a:t>
            </a:r>
          </a:p>
          <a:p>
            <a:pPr eaLnBrk="1" hangingPunct="1">
              <a:lnSpc>
                <a:spcPct val="115000"/>
              </a:lnSpc>
            </a:pPr>
            <a:r>
              <a:rPr kumimoji="1" lang="en-US" altLang="zh-CN" sz="3200">
                <a:solidFill>
                  <a:srgbClr val="9933FF"/>
                </a:solidFill>
                <a:latin typeface="Times New Roman" charset="0"/>
                <a:ea typeface="楷体_GB2312" charset="0"/>
              </a:rPr>
              <a:t>    </a:t>
            </a:r>
            <a:r>
              <a:rPr kumimoji="1" lang="en-US" altLang="zh-CN" sz="3200" b="1">
                <a:solidFill>
                  <a:srgbClr val="9933FF"/>
                </a:solidFill>
                <a:latin typeface="Times New Roman" charset="0"/>
                <a:ea typeface="楷体_GB2312" charset="0"/>
              </a:rPr>
              <a:t>for</a:t>
            </a:r>
            <a:r>
              <a:rPr kumimoji="1" lang="en-US" altLang="zh-CN" sz="3200">
                <a:solidFill>
                  <a:srgbClr val="9933FF"/>
                </a:solidFill>
                <a:latin typeface="Times New Roman" charset="0"/>
                <a:ea typeface="楷体_GB2312" charset="0"/>
              </a:rPr>
              <a:t> (col=2; col&lt;=M.nu; ++col)</a:t>
            </a:r>
          </a:p>
          <a:p>
            <a:pPr eaLnBrk="1" hangingPunct="1">
              <a:lnSpc>
                <a:spcPct val="115000"/>
              </a:lnSpc>
            </a:pPr>
            <a:r>
              <a:rPr kumimoji="1" lang="en-US" altLang="zh-CN" sz="3200">
                <a:solidFill>
                  <a:srgbClr val="9933FF"/>
                </a:solidFill>
                <a:latin typeface="Times New Roman" charset="0"/>
                <a:ea typeface="楷体_GB2312" charset="0"/>
              </a:rPr>
              <a:t>       cpot[col] = cpot[col-1] + num[col-1];</a:t>
            </a:r>
          </a:p>
          <a:p>
            <a:pPr eaLnBrk="1" hangingPunct="1">
              <a:lnSpc>
                <a:spcPct val="115000"/>
              </a:lnSpc>
            </a:pPr>
            <a:r>
              <a:rPr kumimoji="1" lang="en-US" altLang="zh-CN" sz="3200" b="1">
                <a:latin typeface="Times New Roman" charset="0"/>
                <a:ea typeface="楷体_GB2312" charset="0"/>
              </a:rPr>
              <a:t>    for</a:t>
            </a:r>
            <a:r>
              <a:rPr kumimoji="1" lang="en-US" altLang="zh-CN" sz="3200">
                <a:latin typeface="Times New Roman" charset="0"/>
                <a:ea typeface="楷体_GB2312" charset="0"/>
              </a:rPr>
              <a:t> (p=1; p&lt;=M.tu; ++p) </a:t>
            </a:r>
            <a:r>
              <a:rPr kumimoji="1" lang="en-US" altLang="zh-CN" sz="3200" b="1">
                <a:latin typeface="Times New Roman" charset="0"/>
                <a:ea typeface="楷体_GB2312" charset="0"/>
              </a:rPr>
              <a:t>{                            }</a:t>
            </a:r>
            <a:endParaRPr kumimoji="1" lang="en-US" altLang="zh-CN" sz="3200">
              <a:latin typeface="Times New Roman" charset="0"/>
              <a:ea typeface="楷体_GB2312" charset="0"/>
            </a:endParaRPr>
          </a:p>
          <a:p>
            <a:pPr eaLnBrk="1" hangingPunct="1">
              <a:lnSpc>
                <a:spcPct val="115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 </a:t>
            </a:r>
            <a:r>
              <a:rPr kumimoji="1" lang="en-US" altLang="zh-CN" sz="3200">
                <a:latin typeface="Times New Roman" charset="0"/>
                <a:ea typeface="楷体_GB2312" charset="0"/>
              </a:rPr>
              <a:t>// if</a:t>
            </a:r>
          </a:p>
          <a:p>
            <a:pPr eaLnBrk="1" hangingPunct="1">
              <a:lnSpc>
                <a:spcPct val="115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return </a:t>
            </a:r>
            <a:r>
              <a:rPr kumimoji="1" lang="en-US" altLang="zh-CN" sz="3200">
                <a:latin typeface="Times New Roman" charset="0"/>
                <a:ea typeface="楷体_GB2312" charset="0"/>
              </a:rPr>
              <a:t>OK;</a:t>
            </a:r>
          </a:p>
          <a:p>
            <a:pPr eaLnBrk="1" hangingPunct="1">
              <a:lnSpc>
                <a:spcPct val="115000"/>
              </a:lnSpc>
            </a:pPr>
            <a:r>
              <a:rPr kumimoji="1" lang="en-US" altLang="zh-CN" sz="3200" b="1">
                <a:latin typeface="Times New Roman" charset="0"/>
                <a:ea typeface="楷体_GB2312" charset="0"/>
              </a:rPr>
              <a:t>}</a:t>
            </a:r>
            <a:r>
              <a:rPr kumimoji="1" lang="en-US" altLang="zh-CN" sz="3200">
                <a:latin typeface="Times New Roman" charset="0"/>
                <a:ea typeface="楷体_GB2312" charset="0"/>
              </a:rPr>
              <a:t> // FastTransposeSMatrix</a:t>
            </a:r>
          </a:p>
        </p:txBody>
      </p:sp>
      <p:sp>
        <p:nvSpPr>
          <p:cNvPr id="47107" name="Text Box 3">
            <a:hlinkClick r:id="" action="ppaction://hlinkshowjump?jump=nextslide"/>
          </p:cNvPr>
          <p:cNvSpPr txBox="1">
            <a:spLocks noChangeArrowheads="1"/>
          </p:cNvSpPr>
          <p:nvPr/>
        </p:nvSpPr>
        <p:spPr bwMode="auto">
          <a:xfrm>
            <a:off x="5013325" y="4667250"/>
            <a:ext cx="2724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latin typeface="Times New Roman" charset="0"/>
                <a:ea typeface="楷体_GB2312" charset="0"/>
              </a:rPr>
              <a:t> </a:t>
            </a:r>
            <a:r>
              <a:rPr kumimoji="1" lang="zh-CN" altLang="en-US" sz="3200">
                <a:solidFill>
                  <a:srgbClr val="CC3399"/>
                </a:solidFill>
                <a:latin typeface="Times New Roman" charset="0"/>
                <a:ea typeface="楷体_GB2312" charset="0"/>
              </a:rPr>
              <a:t>转置矩阵元素</a:t>
            </a:r>
            <a:endParaRPr kumimoji="1" lang="zh-CN" altLang="en-US" sz="3200">
              <a:latin typeface="Times New Roman" charset="0"/>
              <a:ea typeface="楷体_GB2312" charset="0"/>
            </a:endParaRPr>
          </a:p>
        </p:txBody>
      </p:sp>
      <p:sp>
        <p:nvSpPr>
          <p:cNvPr id="47108" name="AutoShape 4">
            <a:hlinkClick r:id="rId2" action="ppaction://hlinksldjump" highlightClick="1"/>
          </p:cNvPr>
          <p:cNvSpPr>
            <a:spLocks noChangeArrowheads="1"/>
          </p:cNvSpPr>
          <p:nvPr/>
        </p:nvSpPr>
        <p:spPr bwMode="auto">
          <a:xfrm>
            <a:off x="8382000" y="6172200"/>
            <a:ext cx="304800" cy="304800"/>
          </a:xfrm>
          <a:prstGeom prst="actionButtonForwardNext">
            <a:avLst/>
          </a:prstGeom>
          <a:solidFill>
            <a:schemeClr val="hlink"/>
          </a:solidFill>
          <a:ln w="9525">
            <a:solidFill>
              <a:srgbClr val="0066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711974106"/>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1554163" y="838200"/>
            <a:ext cx="5989637" cy="512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en-US" altLang="zh-CN" sz="4400">
                <a:solidFill>
                  <a:schemeClr val="accent2"/>
                </a:solidFill>
                <a:latin typeface="Times New Roman" charset="0"/>
              </a:rPr>
              <a:t>Col = M.data[p].j;</a:t>
            </a:r>
          </a:p>
          <a:p>
            <a:pPr eaLnBrk="1" hangingPunct="1">
              <a:lnSpc>
                <a:spcPct val="125000"/>
              </a:lnSpc>
            </a:pPr>
            <a:r>
              <a:rPr kumimoji="1" lang="en-US" altLang="zh-CN" sz="4400">
                <a:solidFill>
                  <a:schemeClr val="accent2"/>
                </a:solidFill>
                <a:latin typeface="Times New Roman" charset="0"/>
              </a:rPr>
              <a:t>q = cpot[col];</a:t>
            </a:r>
          </a:p>
          <a:p>
            <a:pPr eaLnBrk="1" hangingPunct="1">
              <a:lnSpc>
                <a:spcPct val="125000"/>
              </a:lnSpc>
            </a:pPr>
            <a:r>
              <a:rPr kumimoji="1" lang="en-US" altLang="zh-CN" sz="4400">
                <a:solidFill>
                  <a:schemeClr val="accent2"/>
                </a:solidFill>
                <a:latin typeface="Times New Roman" charset="0"/>
              </a:rPr>
              <a:t>T.data[q].i = M.data[p].j;</a:t>
            </a:r>
          </a:p>
          <a:p>
            <a:pPr eaLnBrk="1" hangingPunct="1">
              <a:lnSpc>
                <a:spcPct val="125000"/>
              </a:lnSpc>
            </a:pPr>
            <a:r>
              <a:rPr kumimoji="1" lang="en-US" altLang="zh-CN" sz="4400">
                <a:solidFill>
                  <a:schemeClr val="accent2"/>
                </a:solidFill>
                <a:latin typeface="Times New Roman" charset="0"/>
              </a:rPr>
              <a:t>T.data[q].j = M.data[p].i;</a:t>
            </a:r>
          </a:p>
          <a:p>
            <a:pPr eaLnBrk="1" hangingPunct="1">
              <a:lnSpc>
                <a:spcPct val="125000"/>
              </a:lnSpc>
            </a:pPr>
            <a:r>
              <a:rPr kumimoji="1" lang="en-US" altLang="zh-CN" sz="4400">
                <a:solidFill>
                  <a:schemeClr val="accent2"/>
                </a:solidFill>
                <a:latin typeface="Times New Roman" charset="0"/>
              </a:rPr>
              <a:t>T.data[q].e = M.data[p].e;</a:t>
            </a:r>
          </a:p>
          <a:p>
            <a:pPr eaLnBrk="1" hangingPunct="1">
              <a:lnSpc>
                <a:spcPct val="125000"/>
              </a:lnSpc>
            </a:pPr>
            <a:r>
              <a:rPr kumimoji="1" lang="en-US" altLang="zh-CN" sz="4400">
                <a:solidFill>
                  <a:schemeClr val="accent2"/>
                </a:solidFill>
                <a:latin typeface="Times New Roman" charset="0"/>
              </a:rPr>
              <a:t>++cpot[col]</a:t>
            </a:r>
          </a:p>
        </p:txBody>
      </p:sp>
      <p:sp>
        <p:nvSpPr>
          <p:cNvPr id="48131" name="AutoShape 3">
            <a:hlinkClick r:id="" action="ppaction://hlinkshowjump?jump=lastslideviewed" highlightClick="1"/>
          </p:cNvPr>
          <p:cNvSpPr>
            <a:spLocks noChangeArrowheads="1"/>
          </p:cNvSpPr>
          <p:nvPr/>
        </p:nvSpPr>
        <p:spPr bwMode="auto">
          <a:xfrm>
            <a:off x="8229600" y="5943600"/>
            <a:ext cx="457200" cy="457200"/>
          </a:xfrm>
          <a:prstGeom prst="actionButtonReturn">
            <a:avLst/>
          </a:prstGeom>
          <a:solidFill>
            <a:schemeClr val="hlink"/>
          </a:solidFill>
          <a:ln w="9525">
            <a:solidFill>
              <a:srgbClr val="9933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216397345"/>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914400" y="304800"/>
            <a:ext cx="839787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200">
                <a:latin typeface="Times New Roman" charset="0"/>
                <a:ea typeface="楷体_GB2312" charset="0"/>
              </a:rPr>
              <a:t>    </a:t>
            </a:r>
            <a:r>
              <a:rPr kumimoji="1" lang="zh-CN" altLang="en-US" sz="3200">
                <a:latin typeface="Times New Roman" charset="0"/>
                <a:ea typeface="楷体_GB2312" charset="0"/>
              </a:rPr>
              <a:t>分析算法</a:t>
            </a:r>
            <a:r>
              <a:rPr kumimoji="1" lang="en-US" altLang="zh-CN" sz="2800">
                <a:latin typeface="Times New Roman" charset="0"/>
                <a:ea typeface="楷体_GB2312" charset="0"/>
              </a:rPr>
              <a:t>FastTransposeSMatrix</a:t>
            </a:r>
            <a:r>
              <a:rPr kumimoji="1" lang="zh-CN" altLang="en-US" sz="3200">
                <a:latin typeface="Times New Roman" charset="0"/>
                <a:ea typeface="楷体_GB2312" charset="0"/>
              </a:rPr>
              <a:t>的时间复杂度：</a:t>
            </a:r>
            <a:endParaRPr kumimoji="1" lang="zh-CN" altLang="en-US" sz="2800">
              <a:latin typeface="Times New Roman" charset="0"/>
              <a:ea typeface="楷体_GB2312" charset="0"/>
            </a:endParaRPr>
          </a:p>
        </p:txBody>
      </p:sp>
      <p:sp>
        <p:nvSpPr>
          <p:cNvPr id="197635" name="Text Box 3"/>
          <p:cNvSpPr txBox="1">
            <a:spLocks noChangeArrowheads="1"/>
          </p:cNvSpPr>
          <p:nvPr/>
        </p:nvSpPr>
        <p:spPr bwMode="auto">
          <a:xfrm>
            <a:off x="815975" y="5165725"/>
            <a:ext cx="70326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FF0000"/>
                </a:solidFill>
                <a:latin typeface="楷体_GB2312" charset="0"/>
                <a:ea typeface="楷体_GB2312" charset="0"/>
              </a:rPr>
              <a:t>时间复杂度为</a:t>
            </a:r>
            <a:r>
              <a:rPr kumimoji="1" lang="en-US" altLang="zh-CN" sz="4000" b="1">
                <a:solidFill>
                  <a:srgbClr val="FF0000"/>
                </a:solidFill>
                <a:latin typeface="楷体_GB2312" charset="0"/>
                <a:ea typeface="楷体_GB2312" charset="0"/>
              </a:rPr>
              <a:t>: </a:t>
            </a:r>
            <a:r>
              <a:rPr kumimoji="1" lang="en-US" altLang="zh-CN" sz="4000" b="1">
                <a:solidFill>
                  <a:srgbClr val="FF0000"/>
                </a:solidFill>
                <a:latin typeface="Times New Roman" charset="0"/>
                <a:ea typeface="楷体_GB2312" charset="0"/>
              </a:rPr>
              <a:t>O(M.nu+M.tu)</a:t>
            </a:r>
            <a:endParaRPr kumimoji="1" lang="en-US" altLang="zh-CN" sz="4400">
              <a:latin typeface="Times New Roman" charset="0"/>
            </a:endParaRPr>
          </a:p>
        </p:txBody>
      </p:sp>
      <p:sp>
        <p:nvSpPr>
          <p:cNvPr id="49156" name="Comment 4"/>
          <p:cNvSpPr>
            <a:spLocks noChangeArrowheads="1"/>
          </p:cNvSpPr>
          <p:nvPr/>
        </p:nvSpPr>
        <p:spPr bwMode="auto">
          <a:xfrm>
            <a:off x="777875" y="2057400"/>
            <a:ext cx="7146925" cy="2805113"/>
          </a:xfrm>
          <a:prstGeom prst="rect">
            <a:avLst/>
          </a:prstGeom>
          <a:solidFill>
            <a:srgbClr val="CCFFCC"/>
          </a:solidFill>
          <a:ln w="9525">
            <a:solidFill>
              <a:schemeClr val="tx1"/>
            </a:solidFill>
            <a:miter lim="800000"/>
            <a:headEnd/>
            <a:tailEnd/>
          </a:ln>
          <a:effectLst>
            <a:outerShdw blurRad="63500" dist="107763" dir="2700000" algn="ctr" rotWithShape="0">
              <a:schemeClr val="bg2">
                <a:alpha val="74998"/>
              </a:schemeClr>
            </a:outerShdw>
          </a:effectLst>
          <a:extLst>
            <a:ext uri="{53640926-AAD7-44D8-BBD7-CCE9431645EC}">
              <a14:shadowObscured xmlns:a14="http://schemas.microsoft.com/office/drawing/2010/main" val="1"/>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200" b="1">
                <a:latin typeface="Times New Roman" charset="0"/>
                <a:ea typeface="楷体_GB2312" charset="0"/>
              </a:rPr>
              <a:t>for</a:t>
            </a:r>
            <a:r>
              <a:rPr kumimoji="1" lang="en-US" altLang="zh-CN" sz="3200">
                <a:latin typeface="Times New Roman" charset="0"/>
                <a:ea typeface="楷体_GB2312" charset="0"/>
              </a:rPr>
              <a:t> (col=1; col&lt;=M.nu; ++col) </a:t>
            </a:r>
            <a:r>
              <a:rPr kumimoji="1" lang="en-US" altLang="zh-CN" sz="3200">
                <a:latin typeface="Times New Roman" charset="0"/>
              </a:rPr>
              <a:t>… …</a:t>
            </a:r>
            <a:endParaRPr kumimoji="1" lang="en-US" altLang="zh-CN" sz="3200">
              <a:latin typeface="Times New Roman" charset="0"/>
              <a:ea typeface="楷体_GB2312" charset="0"/>
            </a:endParaRPr>
          </a:p>
          <a:p>
            <a:pPr eaLnBrk="1" hangingPunct="1">
              <a:lnSpc>
                <a:spcPct val="120000"/>
              </a:lnSpc>
            </a:pPr>
            <a:r>
              <a:rPr kumimoji="1" lang="en-US" altLang="zh-CN" sz="3200" b="1">
                <a:latin typeface="Times New Roman" charset="0"/>
                <a:ea typeface="楷体_GB2312" charset="0"/>
              </a:rPr>
              <a:t>for</a:t>
            </a:r>
            <a:r>
              <a:rPr kumimoji="1" lang="en-US" altLang="zh-CN" sz="3200">
                <a:latin typeface="Times New Roman" charset="0"/>
                <a:ea typeface="楷体_GB2312" charset="0"/>
              </a:rPr>
              <a:t> (t=1; t&lt;=M.tu; ++t) </a:t>
            </a:r>
            <a:r>
              <a:rPr kumimoji="1" lang="en-US" altLang="zh-CN" sz="3200">
                <a:latin typeface="Times New Roman" charset="0"/>
              </a:rPr>
              <a:t>… …</a:t>
            </a:r>
            <a:endParaRPr kumimoji="1" lang="en-US" altLang="zh-CN" sz="3200">
              <a:latin typeface="Times New Roman" charset="0"/>
              <a:ea typeface="楷体_GB2312" charset="0"/>
            </a:endParaRPr>
          </a:p>
          <a:p>
            <a:pPr eaLnBrk="1" hangingPunct="1">
              <a:lnSpc>
                <a:spcPct val="120000"/>
              </a:lnSpc>
            </a:pPr>
            <a:r>
              <a:rPr kumimoji="1" lang="en-US" altLang="zh-CN" sz="3200" b="1">
                <a:solidFill>
                  <a:srgbClr val="9933FF"/>
                </a:solidFill>
                <a:latin typeface="Times New Roman" charset="0"/>
                <a:ea typeface="楷体_GB2312" charset="0"/>
              </a:rPr>
              <a:t>for</a:t>
            </a:r>
            <a:r>
              <a:rPr kumimoji="1" lang="en-US" altLang="zh-CN" sz="3200">
                <a:solidFill>
                  <a:srgbClr val="9933FF"/>
                </a:solidFill>
                <a:latin typeface="Times New Roman" charset="0"/>
                <a:ea typeface="楷体_GB2312" charset="0"/>
              </a:rPr>
              <a:t> (col=2; col&lt;=M.nu; ++col) </a:t>
            </a:r>
            <a:r>
              <a:rPr kumimoji="1" lang="en-US" altLang="zh-CN" sz="3200">
                <a:latin typeface="Times New Roman" charset="0"/>
              </a:rPr>
              <a:t>… …</a:t>
            </a:r>
            <a:endParaRPr kumimoji="1" lang="en-US" altLang="zh-CN" sz="3200">
              <a:solidFill>
                <a:srgbClr val="9933FF"/>
              </a:solidFill>
              <a:latin typeface="Times New Roman" charset="0"/>
              <a:ea typeface="楷体_GB2312" charset="0"/>
            </a:endParaRPr>
          </a:p>
          <a:p>
            <a:pPr eaLnBrk="1" hangingPunct="1">
              <a:lnSpc>
                <a:spcPct val="120000"/>
              </a:lnSpc>
            </a:pPr>
            <a:r>
              <a:rPr kumimoji="1" lang="en-US" altLang="zh-CN" sz="3200" b="1">
                <a:latin typeface="Times New Roman" charset="0"/>
                <a:ea typeface="楷体_GB2312" charset="0"/>
              </a:rPr>
              <a:t>for</a:t>
            </a:r>
            <a:r>
              <a:rPr kumimoji="1" lang="en-US" altLang="zh-CN" sz="3200">
                <a:latin typeface="Times New Roman" charset="0"/>
                <a:ea typeface="楷体_GB2312" charset="0"/>
              </a:rPr>
              <a:t> (p=1; p&lt;=M.tu; ++p) </a:t>
            </a:r>
            <a:r>
              <a:rPr kumimoji="1" lang="en-US" altLang="zh-CN" sz="3200">
                <a:latin typeface="Times New Roman" charset="0"/>
              </a:rPr>
              <a:t>… …</a:t>
            </a:r>
            <a:endParaRPr kumimoji="1" lang="en-US" altLang="zh-CN" sz="3200">
              <a:latin typeface="Times New Roman" charset="0"/>
              <a:ea typeface="楷体_GB2312" charset="0"/>
            </a:endParaRPr>
          </a:p>
          <a:p>
            <a:pPr eaLnBrk="1" hangingPunct="1">
              <a:spcBef>
                <a:spcPct val="50000"/>
              </a:spcBef>
            </a:pPr>
            <a:endParaRPr kumimoji="1" lang="en-US" altLang="zh-CN" sz="1600">
              <a:solidFill>
                <a:srgbClr val="000000"/>
              </a:solidFill>
            </a:endParaRPr>
          </a:p>
        </p:txBody>
      </p:sp>
      <p:sp>
        <p:nvSpPr>
          <p:cNvPr id="197637" name="AutoShape 5">
            <a:hlinkClick r:id="rId2" action="ppaction://hlinksldjump" highlightClick="1"/>
          </p:cNvPr>
          <p:cNvSpPr>
            <a:spLocks noChangeArrowheads="1"/>
          </p:cNvSpPr>
          <p:nvPr/>
        </p:nvSpPr>
        <p:spPr bwMode="auto">
          <a:xfrm>
            <a:off x="84582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6226031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97635"/>
                                        </p:tgtEl>
                                        <p:attrNameLst>
                                          <p:attrName>style.visibility</p:attrName>
                                        </p:attrNameLst>
                                      </p:cBhvr>
                                      <p:to>
                                        <p:strVal val="visible"/>
                                      </p:to>
                                    </p:set>
                                    <p:animEffect transition="in" filter="wipe(left)">
                                      <p:cBhvr>
                                        <p:cTn id="7" dur="75"/>
                                        <p:tgtEl>
                                          <p:spTgt spid="197635"/>
                                        </p:tgtEl>
                                      </p:cBhvr>
                                    </p:animEffect>
                                  </p:childTnLst>
                                </p:cTn>
                              </p:par>
                            </p:childTnLst>
                          </p:cTn>
                        </p:par>
                        <p:par>
                          <p:cTn id="8" fill="hold" nodeType="afterGroup">
                            <p:stCondLst>
                              <p:cond delay="1425"/>
                            </p:stCondLst>
                            <p:childTnLst>
                              <p:par>
                                <p:cTn id="9" presetID="2" presetClass="entr" presetSubtype="6" fill="hold" grpId="0" nodeType="afterEffect">
                                  <p:stCondLst>
                                    <p:cond delay="0"/>
                                  </p:stCondLst>
                                  <p:childTnLst>
                                    <p:set>
                                      <p:cBhvr>
                                        <p:cTn id="10" dur="1" fill="hold">
                                          <p:stCondLst>
                                            <p:cond delay="0"/>
                                          </p:stCondLst>
                                        </p:cTn>
                                        <p:tgtEl>
                                          <p:spTgt spid="197637"/>
                                        </p:tgtEl>
                                        <p:attrNameLst>
                                          <p:attrName>style.visibility</p:attrName>
                                        </p:attrNameLst>
                                      </p:cBhvr>
                                      <p:to>
                                        <p:strVal val="visible"/>
                                      </p:to>
                                    </p:set>
                                    <p:anim calcmode="lin" valueType="num">
                                      <p:cBhvr additive="base">
                                        <p:cTn id="11" dur="500" fill="hold"/>
                                        <p:tgtEl>
                                          <p:spTgt spid="197637"/>
                                        </p:tgtEl>
                                        <p:attrNameLst>
                                          <p:attrName>ppt_x</p:attrName>
                                        </p:attrNameLst>
                                      </p:cBhvr>
                                      <p:tavLst>
                                        <p:tav tm="0">
                                          <p:val>
                                            <p:strVal val="1+#ppt_w/2"/>
                                          </p:val>
                                        </p:tav>
                                        <p:tav tm="100000">
                                          <p:val>
                                            <p:strVal val="#ppt_x"/>
                                          </p:val>
                                        </p:tav>
                                      </p:tavLst>
                                    </p:anim>
                                    <p:anim calcmode="lin" valueType="num">
                                      <p:cBhvr additive="base">
                                        <p:cTn id="12" dur="500" fill="hold"/>
                                        <p:tgtEl>
                                          <p:spTgt spid="197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autoUpdateAnimBg="0"/>
      <p:bldP spid="19763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p:cNvSpPr txBox="1">
            <a:spLocks noChangeArrowheads="1"/>
          </p:cNvSpPr>
          <p:nvPr/>
        </p:nvSpPr>
        <p:spPr bwMode="auto">
          <a:xfrm>
            <a:off x="457200" y="1143000"/>
            <a:ext cx="83820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4000">
                <a:latin typeface="Times New Roman" charset="0"/>
                <a:ea typeface="楷体_GB2312" charset="0"/>
              </a:rPr>
              <a:t>        </a:t>
            </a:r>
            <a:r>
              <a:rPr kumimoji="1" lang="zh-CN" altLang="en-US" sz="4000">
                <a:latin typeface="Times New Roman" charset="0"/>
                <a:ea typeface="楷体_GB2312" charset="0"/>
              </a:rPr>
              <a:t>三元组顺序表又称</a:t>
            </a:r>
            <a:r>
              <a:rPr kumimoji="1" lang="zh-CN" altLang="en-US" sz="4000" b="1">
                <a:solidFill>
                  <a:srgbClr val="990033"/>
                </a:solidFill>
                <a:latin typeface="Times New Roman" charset="0"/>
                <a:ea typeface="楷体_GB2312" charset="0"/>
              </a:rPr>
              <a:t>有序的双下标法</a:t>
            </a:r>
            <a:r>
              <a:rPr kumimoji="1" lang="zh-CN" altLang="en-US" sz="4000">
                <a:latin typeface="Times New Roman" charset="0"/>
                <a:ea typeface="楷体_GB2312" charset="0"/>
              </a:rPr>
              <a:t>，它的特点是，非零元在表中按行序有序存储，因此</a:t>
            </a:r>
            <a:r>
              <a:rPr kumimoji="1" lang="zh-CN" altLang="en-US" sz="4000" b="1">
                <a:solidFill>
                  <a:srgbClr val="990033"/>
                </a:solidFill>
                <a:latin typeface="Times New Roman" charset="0"/>
                <a:ea typeface="楷体_GB2312" charset="0"/>
              </a:rPr>
              <a:t>便于进行依行顺序处理的矩阵运算</a:t>
            </a:r>
            <a:r>
              <a:rPr kumimoji="1" lang="zh-CN" altLang="en-US" sz="4000">
                <a:latin typeface="Times New Roman" charset="0"/>
                <a:ea typeface="楷体_GB2312" charset="0"/>
              </a:rPr>
              <a:t>。然而，若需</a:t>
            </a:r>
            <a:r>
              <a:rPr kumimoji="1" lang="zh-CN" altLang="zh-CN" sz="4000">
                <a:latin typeface="Times New Roman" charset="0"/>
                <a:ea typeface="楷体_GB2312" charset="0"/>
              </a:rPr>
              <a:t>随机</a:t>
            </a:r>
            <a:r>
              <a:rPr kumimoji="1" lang="zh-CN" altLang="en-US" sz="4000">
                <a:latin typeface="Times New Roman" charset="0"/>
                <a:ea typeface="楷体_GB2312" charset="0"/>
              </a:rPr>
              <a:t>存取某一行中的非零元，则需从头开始进行查找。</a:t>
            </a:r>
          </a:p>
        </p:txBody>
      </p:sp>
      <p:sp>
        <p:nvSpPr>
          <p:cNvPr id="50179" name="Text Box 3"/>
          <p:cNvSpPr txBox="1">
            <a:spLocks noChangeArrowheads="1"/>
          </p:cNvSpPr>
          <p:nvPr/>
        </p:nvSpPr>
        <p:spPr bwMode="auto">
          <a:xfrm>
            <a:off x="1600200" y="152400"/>
            <a:ext cx="57896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0000FF"/>
                </a:solidFill>
                <a:latin typeface="Times New Roman" charset="0"/>
                <a:ea typeface="楷体_GB2312" charset="0"/>
              </a:rPr>
              <a:t>二、行逻辑联接的顺序表</a:t>
            </a:r>
          </a:p>
        </p:txBody>
      </p:sp>
    </p:spTree>
    <p:extLst>
      <p:ext uri="{BB962C8B-B14F-4D97-AF65-F5344CB8AC3E}">
        <p14:creationId xmlns:p14="http://schemas.microsoft.com/office/powerpoint/2010/main" val="19603291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animEffect transition="in" filter="dissolve">
                                      <p:cBhvr>
                                        <p:cTn id="7" dur="500"/>
                                        <p:tgtEl>
                                          <p:spTgt spid="198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p:cNvSpPr txBox="1">
            <a:spLocks noChangeArrowheads="1"/>
          </p:cNvSpPr>
          <p:nvPr/>
        </p:nvSpPr>
        <p:spPr bwMode="auto">
          <a:xfrm>
            <a:off x="0" y="2266950"/>
            <a:ext cx="9144000"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b="1">
                <a:latin typeface="Times New Roman" charset="0"/>
                <a:ea typeface="楷体_GB2312" charset="0"/>
              </a:rPr>
              <a:t>    #define</a:t>
            </a:r>
            <a:r>
              <a:rPr kumimoji="1" lang="en-US" altLang="zh-CN" sz="4000">
                <a:latin typeface="Times New Roman" charset="0"/>
                <a:ea typeface="楷体_GB2312" charset="0"/>
              </a:rPr>
              <a:t>  MAXMN  500  </a:t>
            </a:r>
          </a:p>
          <a:p>
            <a:pPr eaLnBrk="1" hangingPunct="1">
              <a:lnSpc>
                <a:spcPct val="115000"/>
              </a:lnSpc>
            </a:pPr>
            <a:r>
              <a:rPr kumimoji="1" lang="en-US" altLang="zh-CN" sz="4000" b="1">
                <a:latin typeface="Times New Roman" charset="0"/>
                <a:ea typeface="楷体_GB2312" charset="0"/>
              </a:rPr>
              <a:t>    typedef struct {</a:t>
            </a:r>
          </a:p>
          <a:p>
            <a:pPr eaLnBrk="1" hangingPunct="1">
              <a:lnSpc>
                <a:spcPct val="115000"/>
              </a:lnSpc>
            </a:pPr>
            <a:r>
              <a:rPr kumimoji="1" lang="en-US" altLang="zh-CN" sz="4000">
                <a:latin typeface="Times New Roman" charset="0"/>
                <a:ea typeface="楷体_GB2312" charset="0"/>
              </a:rPr>
              <a:t>        Triple  data[MAXSIZE + 1]; </a:t>
            </a:r>
          </a:p>
          <a:p>
            <a:pPr eaLnBrk="1" hangingPunct="1">
              <a:lnSpc>
                <a:spcPct val="115000"/>
              </a:lnSpc>
            </a:pPr>
            <a:r>
              <a:rPr kumimoji="1" lang="en-US" altLang="zh-CN" sz="4000">
                <a:latin typeface="Times New Roman" charset="0"/>
                <a:ea typeface="楷体_GB2312" charset="0"/>
              </a:rPr>
              <a:t>         </a:t>
            </a:r>
            <a:r>
              <a:rPr kumimoji="1" lang="en-US" altLang="zh-CN" sz="4000" b="1">
                <a:solidFill>
                  <a:srgbClr val="FF0000"/>
                </a:solidFill>
                <a:latin typeface="Times New Roman" charset="0"/>
                <a:ea typeface="楷体_GB2312" charset="0"/>
              </a:rPr>
              <a:t>int     rpos[MAXMN + 1];</a:t>
            </a:r>
            <a:r>
              <a:rPr kumimoji="1" lang="en-US" altLang="zh-CN" sz="4000">
                <a:latin typeface="Times New Roman" charset="0"/>
                <a:ea typeface="楷体_GB2312" charset="0"/>
              </a:rPr>
              <a:t> </a:t>
            </a:r>
          </a:p>
          <a:p>
            <a:pPr eaLnBrk="1" hangingPunct="1">
              <a:lnSpc>
                <a:spcPct val="115000"/>
              </a:lnSpc>
            </a:pPr>
            <a:r>
              <a:rPr kumimoji="1" lang="en-US" altLang="zh-CN" sz="4000">
                <a:latin typeface="Times New Roman" charset="0"/>
                <a:ea typeface="楷体_GB2312" charset="0"/>
              </a:rPr>
              <a:t>         </a:t>
            </a:r>
            <a:r>
              <a:rPr kumimoji="1" lang="en-US" altLang="zh-CN" sz="4000" b="1">
                <a:latin typeface="Times New Roman" charset="0"/>
                <a:ea typeface="楷体_GB2312" charset="0"/>
              </a:rPr>
              <a:t>int</a:t>
            </a:r>
            <a:r>
              <a:rPr kumimoji="1" lang="en-US" altLang="zh-CN" sz="4000">
                <a:latin typeface="Times New Roman" charset="0"/>
                <a:ea typeface="楷体_GB2312" charset="0"/>
              </a:rPr>
              <a:t>     mu, nu, tu;              </a:t>
            </a:r>
          </a:p>
          <a:p>
            <a:pPr eaLnBrk="1" hangingPunct="1">
              <a:lnSpc>
                <a:spcPct val="115000"/>
              </a:lnSpc>
            </a:pPr>
            <a:r>
              <a:rPr kumimoji="1" lang="en-US" altLang="zh-CN" sz="4000" b="1">
                <a:latin typeface="Times New Roman" charset="0"/>
                <a:ea typeface="楷体_GB2312" charset="0"/>
              </a:rPr>
              <a:t>    }</a:t>
            </a:r>
            <a:r>
              <a:rPr kumimoji="1" lang="en-US" altLang="zh-CN" sz="4000">
                <a:latin typeface="Times New Roman" charset="0"/>
                <a:ea typeface="楷体_GB2312" charset="0"/>
              </a:rPr>
              <a:t> RLSMatrix;   </a:t>
            </a:r>
            <a:r>
              <a:rPr kumimoji="1" lang="en-US" altLang="zh-CN" sz="3600">
                <a:latin typeface="Times New Roman" charset="0"/>
                <a:ea typeface="楷体_GB2312" charset="0"/>
              </a:rPr>
              <a:t>// </a:t>
            </a:r>
            <a:r>
              <a:rPr kumimoji="1" lang="zh-CN" altLang="en-US" sz="3600">
                <a:latin typeface="Times New Roman" charset="0"/>
                <a:ea typeface="楷体_GB2312" charset="0"/>
              </a:rPr>
              <a:t>行逻辑链接顺序表类型</a:t>
            </a:r>
            <a:endParaRPr kumimoji="1" lang="zh-CN" altLang="en-US" sz="4000">
              <a:latin typeface="Times New Roman" charset="0"/>
              <a:ea typeface="楷体_GB2312" charset="0"/>
            </a:endParaRPr>
          </a:p>
        </p:txBody>
      </p:sp>
      <p:sp>
        <p:nvSpPr>
          <p:cNvPr id="51203" name="Text Box 3"/>
          <p:cNvSpPr txBox="1">
            <a:spLocks noChangeArrowheads="1"/>
          </p:cNvSpPr>
          <p:nvPr/>
        </p:nvSpPr>
        <p:spPr bwMode="auto">
          <a:xfrm>
            <a:off x="1203325" y="222250"/>
            <a:ext cx="8016875"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3600">
                <a:latin typeface="Times New Roman" charset="0"/>
                <a:ea typeface="楷体_GB2312" charset="0"/>
              </a:rPr>
              <a:t>        </a:t>
            </a:r>
            <a:r>
              <a:rPr kumimoji="1" lang="zh-CN" altLang="en-US" sz="3600">
                <a:latin typeface="Times New Roman" charset="0"/>
                <a:ea typeface="楷体_GB2312" charset="0"/>
              </a:rPr>
              <a:t>修改前述的稀疏矩阵的结构定义，增加一个数据成员</a:t>
            </a:r>
            <a:r>
              <a:rPr kumimoji="1" lang="en-US" altLang="zh-CN" sz="3600">
                <a:latin typeface="Times New Roman" charset="0"/>
                <a:ea typeface="楷体_GB2312" charset="0"/>
              </a:rPr>
              <a:t>rpos</a:t>
            </a:r>
            <a:r>
              <a:rPr kumimoji="1" lang="zh-CN" altLang="en-US" sz="3600">
                <a:latin typeface="Times New Roman" charset="0"/>
                <a:ea typeface="楷体_GB2312" charset="0"/>
              </a:rPr>
              <a:t>，其值在稀疏矩阵的初始化函数中确定。</a:t>
            </a:r>
            <a:endParaRPr kumimoji="1" lang="zh-CN" altLang="en-US" sz="4400">
              <a:latin typeface="Times New Roman" charset="0"/>
            </a:endParaRPr>
          </a:p>
        </p:txBody>
      </p:sp>
    </p:spTree>
    <p:extLst>
      <p:ext uri="{BB962C8B-B14F-4D97-AF65-F5344CB8AC3E}">
        <p14:creationId xmlns:p14="http://schemas.microsoft.com/office/powerpoint/2010/main" val="11332218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grpId="0" nodeType="clickEffect">
                                  <p:stCondLst>
                                    <p:cond delay="0"/>
                                  </p:stCondLst>
                                  <p:childTnLst>
                                    <p:set>
                                      <p:cBhvr>
                                        <p:cTn id="6" dur="1" fill="hold">
                                          <p:stCondLst>
                                            <p:cond delay="0"/>
                                          </p:stCondLst>
                                        </p:cTn>
                                        <p:tgtEl>
                                          <p:spTgt spid="199682"/>
                                        </p:tgtEl>
                                        <p:attrNameLst>
                                          <p:attrName>style.visibility</p:attrName>
                                        </p:attrNameLst>
                                      </p:cBhvr>
                                      <p:to>
                                        <p:strVal val="visible"/>
                                      </p:to>
                                    </p:set>
                                    <p:animEffect transition="in" filter="checkerboard(down)">
                                      <p:cBhvr>
                                        <p:cTn id="7" dur="500"/>
                                        <p:tgtEl>
                                          <p:spTgt spid="199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1447800" y="228600"/>
            <a:ext cx="7391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a:solidFill>
                  <a:srgbClr val="990033"/>
                </a:solidFill>
                <a:latin typeface="Times New Roman" charset="0"/>
                <a:ea typeface="楷体_GB2312" charset="0"/>
              </a:rPr>
              <a:t>例如</a:t>
            </a:r>
            <a:r>
              <a:rPr kumimoji="1" lang="zh-CN" altLang="en-US" sz="3200">
                <a:solidFill>
                  <a:srgbClr val="990033"/>
                </a:solidFill>
                <a:latin typeface="Times New Roman" charset="0"/>
              </a:rPr>
              <a:t>：</a:t>
            </a:r>
            <a:r>
              <a:rPr kumimoji="1" lang="zh-CN" altLang="en-US" sz="3200">
                <a:solidFill>
                  <a:srgbClr val="990033"/>
                </a:solidFill>
                <a:latin typeface="Times New Roman" charset="0"/>
                <a:ea typeface="楷体_GB2312" charset="0"/>
              </a:rPr>
              <a:t>给定一组下标，求矩阵的元素值</a:t>
            </a:r>
            <a:endParaRPr kumimoji="1" lang="zh-CN" altLang="en-US" sz="3200">
              <a:latin typeface="Times New Roman" charset="0"/>
            </a:endParaRPr>
          </a:p>
        </p:txBody>
      </p:sp>
      <p:sp>
        <p:nvSpPr>
          <p:cNvPr id="200707" name="Text Box 3"/>
          <p:cNvSpPr txBox="1">
            <a:spLocks noChangeArrowheads="1"/>
          </p:cNvSpPr>
          <p:nvPr/>
        </p:nvSpPr>
        <p:spPr bwMode="auto">
          <a:xfrm>
            <a:off x="228600" y="1143000"/>
            <a:ext cx="8402638"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600">
                <a:latin typeface="Times New Roman" charset="0"/>
              </a:rPr>
              <a:t>ElemType value(RLSMatrix M, int r, int c) </a:t>
            </a:r>
            <a:r>
              <a:rPr kumimoji="1" lang="en-US" altLang="zh-CN" sz="3600" b="1">
                <a:latin typeface="Times New Roman" charset="0"/>
              </a:rPr>
              <a:t>{</a:t>
            </a:r>
          </a:p>
          <a:p>
            <a:pPr eaLnBrk="1" hangingPunct="1">
              <a:lnSpc>
                <a:spcPct val="120000"/>
              </a:lnSpc>
            </a:pPr>
            <a:r>
              <a:rPr kumimoji="1" lang="en-US" altLang="zh-CN" sz="3600" b="1">
                <a:latin typeface="Times New Roman" charset="0"/>
              </a:rPr>
              <a:t>  </a:t>
            </a:r>
            <a:r>
              <a:rPr kumimoji="1" lang="en-US" altLang="zh-CN" sz="3600">
                <a:latin typeface="Times New Roman" charset="0"/>
              </a:rPr>
              <a:t>p = M.rpos[r];</a:t>
            </a:r>
          </a:p>
          <a:p>
            <a:pPr eaLnBrk="1" hangingPunct="1">
              <a:lnSpc>
                <a:spcPct val="120000"/>
              </a:lnSpc>
            </a:pPr>
            <a:r>
              <a:rPr kumimoji="1" lang="en-US" altLang="zh-CN" sz="3600">
                <a:latin typeface="Times New Roman" charset="0"/>
              </a:rPr>
              <a:t>  </a:t>
            </a:r>
            <a:r>
              <a:rPr kumimoji="1" lang="en-US" altLang="zh-CN" sz="3600" b="1">
                <a:latin typeface="Times New Roman" charset="0"/>
              </a:rPr>
              <a:t>while</a:t>
            </a:r>
            <a:r>
              <a:rPr kumimoji="1" lang="en-US" altLang="zh-CN" sz="3600">
                <a:latin typeface="Times New Roman" charset="0"/>
              </a:rPr>
              <a:t> (M.data[p].i==r </a:t>
            </a:r>
            <a:r>
              <a:rPr kumimoji="1" lang="en-US" altLang="zh-CN" sz="3600" b="1">
                <a:latin typeface="Times New Roman" charset="0"/>
              </a:rPr>
              <a:t>&amp;&amp;</a:t>
            </a:r>
            <a:r>
              <a:rPr kumimoji="1" lang="en-US" altLang="zh-CN" sz="3600">
                <a:latin typeface="Times New Roman" charset="0"/>
              </a:rPr>
              <a:t>M.data[p].j &lt; c) </a:t>
            </a:r>
          </a:p>
          <a:p>
            <a:pPr eaLnBrk="1" hangingPunct="1">
              <a:lnSpc>
                <a:spcPct val="120000"/>
              </a:lnSpc>
            </a:pPr>
            <a:r>
              <a:rPr kumimoji="1" lang="en-US" altLang="zh-CN" sz="3600">
                <a:latin typeface="Times New Roman" charset="0"/>
              </a:rPr>
              <a:t>      p++;</a:t>
            </a:r>
          </a:p>
          <a:p>
            <a:pPr eaLnBrk="1" hangingPunct="1">
              <a:lnSpc>
                <a:spcPct val="120000"/>
              </a:lnSpc>
            </a:pPr>
            <a:r>
              <a:rPr kumimoji="1" lang="en-US" altLang="zh-CN" sz="3600">
                <a:latin typeface="Times New Roman" charset="0"/>
              </a:rPr>
              <a:t>  </a:t>
            </a:r>
            <a:r>
              <a:rPr kumimoji="1" lang="en-US" altLang="zh-CN" sz="3600" b="1">
                <a:latin typeface="Times New Roman" charset="0"/>
              </a:rPr>
              <a:t>if</a:t>
            </a:r>
            <a:r>
              <a:rPr kumimoji="1" lang="en-US" altLang="zh-CN" sz="3600">
                <a:latin typeface="Times New Roman" charset="0"/>
              </a:rPr>
              <a:t> (M.data[p].i==r </a:t>
            </a:r>
            <a:r>
              <a:rPr kumimoji="1" lang="en-US" altLang="zh-CN" sz="3600" b="1">
                <a:latin typeface="Times New Roman" charset="0"/>
              </a:rPr>
              <a:t>&amp;&amp;</a:t>
            </a:r>
            <a:r>
              <a:rPr kumimoji="1" lang="en-US" altLang="zh-CN" sz="3600">
                <a:latin typeface="Times New Roman" charset="0"/>
              </a:rPr>
              <a:t> M.data[p].j==c)</a:t>
            </a:r>
          </a:p>
          <a:p>
            <a:pPr eaLnBrk="1" hangingPunct="1">
              <a:lnSpc>
                <a:spcPct val="120000"/>
              </a:lnSpc>
            </a:pPr>
            <a:r>
              <a:rPr kumimoji="1" lang="en-US" altLang="zh-CN" sz="3600">
                <a:latin typeface="Times New Roman" charset="0"/>
              </a:rPr>
              <a:t>     </a:t>
            </a:r>
            <a:r>
              <a:rPr kumimoji="1" lang="en-US" altLang="zh-CN" sz="3600" b="1">
                <a:latin typeface="Times New Roman" charset="0"/>
              </a:rPr>
              <a:t>return</a:t>
            </a:r>
            <a:r>
              <a:rPr kumimoji="1" lang="en-US" altLang="zh-CN" sz="3600">
                <a:latin typeface="Times New Roman" charset="0"/>
              </a:rPr>
              <a:t> M.data[p].e;</a:t>
            </a:r>
          </a:p>
          <a:p>
            <a:pPr eaLnBrk="1" hangingPunct="1">
              <a:lnSpc>
                <a:spcPct val="120000"/>
              </a:lnSpc>
            </a:pPr>
            <a:r>
              <a:rPr kumimoji="1" lang="en-US" altLang="zh-CN" sz="3600">
                <a:latin typeface="Times New Roman" charset="0"/>
              </a:rPr>
              <a:t>  </a:t>
            </a:r>
            <a:r>
              <a:rPr kumimoji="1" lang="en-US" altLang="zh-CN" sz="3600" b="1">
                <a:latin typeface="Times New Roman" charset="0"/>
              </a:rPr>
              <a:t>else return</a:t>
            </a:r>
            <a:r>
              <a:rPr kumimoji="1" lang="en-US" altLang="zh-CN" sz="3600">
                <a:latin typeface="Times New Roman" charset="0"/>
              </a:rPr>
              <a:t> 0;</a:t>
            </a:r>
          </a:p>
          <a:p>
            <a:pPr eaLnBrk="1" hangingPunct="1">
              <a:lnSpc>
                <a:spcPct val="120000"/>
              </a:lnSpc>
            </a:pPr>
            <a:r>
              <a:rPr kumimoji="1" lang="en-US" altLang="zh-CN" sz="3600" b="1">
                <a:latin typeface="Times New Roman" charset="0"/>
              </a:rPr>
              <a:t>}</a:t>
            </a:r>
            <a:r>
              <a:rPr kumimoji="1" lang="en-US" altLang="zh-CN" sz="3600">
                <a:latin typeface="Times New Roman" charset="0"/>
              </a:rPr>
              <a:t> // value</a:t>
            </a:r>
            <a:endParaRPr kumimoji="1" lang="en-US" altLang="zh-CN" sz="4400">
              <a:latin typeface="Times New Roman" charset="0"/>
            </a:endParaRPr>
          </a:p>
        </p:txBody>
      </p:sp>
      <p:sp>
        <p:nvSpPr>
          <p:cNvPr id="200708" name="AutoShape 4">
            <a:hlinkClick r:id="rId2" action="ppaction://hlinksldjump" highlightClick="1"/>
          </p:cNvPr>
          <p:cNvSpPr>
            <a:spLocks noChangeArrowheads="1"/>
          </p:cNvSpPr>
          <p:nvPr/>
        </p:nvSpPr>
        <p:spPr bwMode="auto">
          <a:xfrm>
            <a:off x="84582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8482303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00707"/>
                                        </p:tgtEl>
                                        <p:attrNameLst>
                                          <p:attrName>style.visibility</p:attrName>
                                        </p:attrNameLst>
                                      </p:cBhvr>
                                      <p:to>
                                        <p:strVal val="visible"/>
                                      </p:to>
                                    </p:set>
                                    <p:animEffect transition="in" filter="slide(fromLeft)">
                                      <p:cBhvr>
                                        <p:cTn id="7" dur="500"/>
                                        <p:tgtEl>
                                          <p:spTgt spid="200707"/>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200708"/>
                                        </p:tgtEl>
                                        <p:attrNameLst>
                                          <p:attrName>style.visibility</p:attrName>
                                        </p:attrNameLst>
                                      </p:cBhvr>
                                      <p:to>
                                        <p:strVal val="visible"/>
                                      </p:to>
                                    </p:set>
                                    <p:anim calcmode="lin" valueType="num">
                                      <p:cBhvr additive="base">
                                        <p:cTn id="11" dur="500" fill="hold"/>
                                        <p:tgtEl>
                                          <p:spTgt spid="200708"/>
                                        </p:tgtEl>
                                        <p:attrNameLst>
                                          <p:attrName>ppt_x</p:attrName>
                                        </p:attrNameLst>
                                      </p:cBhvr>
                                      <p:tavLst>
                                        <p:tav tm="0">
                                          <p:val>
                                            <p:strVal val="1+#ppt_w/2"/>
                                          </p:val>
                                        </p:tav>
                                        <p:tav tm="100000">
                                          <p:val>
                                            <p:strVal val="#ppt_x"/>
                                          </p:val>
                                        </p:tav>
                                      </p:tavLst>
                                    </p:anim>
                                    <p:anim calcmode="lin" valueType="num">
                                      <p:cBhvr additive="base">
                                        <p:cTn id="12" dur="500" fill="hold"/>
                                        <p:tgtEl>
                                          <p:spTgt spid="2007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autoUpdateAnimBg="0"/>
      <p:bldP spid="20070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1409700" y="290513"/>
            <a:ext cx="7353300" cy="500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zh-CN" altLang="en-US" sz="4000" b="1">
                <a:latin typeface="Times New Roman" charset="0"/>
                <a:ea typeface="楷体_GB2312" charset="0"/>
              </a:rPr>
              <a:t>矩阵乘法的精典算法</a:t>
            </a:r>
            <a:r>
              <a:rPr kumimoji="1" lang="en-US" altLang="zh-CN" sz="4000" b="1">
                <a:latin typeface="Times New Roman" charset="0"/>
                <a:ea typeface="楷体_GB2312" charset="0"/>
              </a:rPr>
              <a:t>:</a:t>
            </a:r>
          </a:p>
          <a:p>
            <a:pPr eaLnBrk="1" hangingPunct="1">
              <a:lnSpc>
                <a:spcPct val="115000"/>
              </a:lnSpc>
            </a:pPr>
            <a:r>
              <a:rPr kumimoji="1" lang="en-US" altLang="zh-CN" sz="4000" b="1">
                <a:latin typeface="Times New Roman" charset="0"/>
                <a:ea typeface="楷体_GB2312" charset="0"/>
              </a:rPr>
              <a:t>   for</a:t>
            </a:r>
            <a:r>
              <a:rPr kumimoji="1" lang="en-US" altLang="zh-CN" sz="4000">
                <a:latin typeface="Times New Roman" charset="0"/>
                <a:ea typeface="楷体_GB2312" charset="0"/>
              </a:rPr>
              <a:t> (i=1; i&lt;=m1; ++i)</a:t>
            </a:r>
          </a:p>
          <a:p>
            <a:pPr eaLnBrk="1" hangingPunct="1">
              <a:lnSpc>
                <a:spcPct val="115000"/>
              </a:lnSpc>
            </a:pPr>
            <a:r>
              <a:rPr kumimoji="1" lang="en-US" altLang="zh-CN" sz="4000">
                <a:latin typeface="Times New Roman" charset="0"/>
                <a:ea typeface="楷体_GB2312" charset="0"/>
              </a:rPr>
              <a:t>     </a:t>
            </a:r>
            <a:r>
              <a:rPr kumimoji="1" lang="en-US" altLang="zh-CN" sz="4000" b="1">
                <a:latin typeface="Times New Roman" charset="0"/>
                <a:ea typeface="楷体_GB2312" charset="0"/>
              </a:rPr>
              <a:t>for</a:t>
            </a:r>
            <a:r>
              <a:rPr kumimoji="1" lang="en-US" altLang="zh-CN" sz="4000">
                <a:latin typeface="Times New Roman" charset="0"/>
                <a:ea typeface="楷体_GB2312" charset="0"/>
              </a:rPr>
              <a:t> (j=1; j&lt;=n2; ++j) </a:t>
            </a:r>
            <a:r>
              <a:rPr kumimoji="1" lang="en-US" altLang="zh-CN" sz="4000" b="1">
                <a:latin typeface="Times New Roman" charset="0"/>
                <a:ea typeface="楷体_GB2312" charset="0"/>
              </a:rPr>
              <a:t>{</a:t>
            </a:r>
            <a:endParaRPr kumimoji="1" lang="en-US" altLang="zh-CN" sz="4000">
              <a:latin typeface="Times New Roman" charset="0"/>
              <a:ea typeface="楷体_GB2312" charset="0"/>
            </a:endParaRPr>
          </a:p>
          <a:p>
            <a:pPr eaLnBrk="1" hangingPunct="1">
              <a:lnSpc>
                <a:spcPct val="115000"/>
              </a:lnSpc>
            </a:pPr>
            <a:r>
              <a:rPr kumimoji="1" lang="en-US" altLang="zh-CN" sz="4000">
                <a:latin typeface="Times New Roman" charset="0"/>
                <a:ea typeface="楷体_GB2312" charset="0"/>
              </a:rPr>
              <a:t>       Q[i][j] = 0;</a:t>
            </a:r>
          </a:p>
          <a:p>
            <a:pPr eaLnBrk="1" hangingPunct="1">
              <a:lnSpc>
                <a:spcPct val="115000"/>
              </a:lnSpc>
            </a:pPr>
            <a:r>
              <a:rPr kumimoji="1" lang="en-US" altLang="zh-CN" sz="4000">
                <a:latin typeface="Times New Roman" charset="0"/>
                <a:ea typeface="楷体_GB2312" charset="0"/>
              </a:rPr>
              <a:t>       </a:t>
            </a:r>
            <a:r>
              <a:rPr kumimoji="1" lang="en-US" altLang="zh-CN" sz="4000" b="1">
                <a:latin typeface="Times New Roman" charset="0"/>
                <a:ea typeface="楷体_GB2312" charset="0"/>
              </a:rPr>
              <a:t>for</a:t>
            </a:r>
            <a:r>
              <a:rPr kumimoji="1" lang="en-US" altLang="zh-CN" sz="4000">
                <a:latin typeface="Times New Roman" charset="0"/>
                <a:ea typeface="楷体_GB2312" charset="0"/>
              </a:rPr>
              <a:t> (k=1; k&lt;=n1; ++k) </a:t>
            </a:r>
          </a:p>
          <a:p>
            <a:pPr eaLnBrk="1" hangingPunct="1">
              <a:lnSpc>
                <a:spcPct val="115000"/>
              </a:lnSpc>
            </a:pPr>
            <a:r>
              <a:rPr kumimoji="1" lang="en-US" altLang="zh-CN" sz="4000">
                <a:latin typeface="Times New Roman" charset="0"/>
                <a:ea typeface="楷体_GB2312" charset="0"/>
              </a:rPr>
              <a:t>           Q[i][j] += M[i][k] * N[k][j];</a:t>
            </a:r>
          </a:p>
          <a:p>
            <a:pPr eaLnBrk="1" hangingPunct="1">
              <a:lnSpc>
                <a:spcPct val="115000"/>
              </a:lnSpc>
            </a:pPr>
            <a:r>
              <a:rPr kumimoji="1" lang="en-US" altLang="zh-CN" sz="4000">
                <a:latin typeface="Times New Roman" charset="0"/>
                <a:ea typeface="楷体_GB2312" charset="0"/>
              </a:rPr>
              <a:t>     </a:t>
            </a:r>
            <a:r>
              <a:rPr kumimoji="1" lang="en-US" altLang="zh-CN" sz="4000" b="1">
                <a:latin typeface="Times New Roman" charset="0"/>
                <a:ea typeface="楷体_GB2312" charset="0"/>
              </a:rPr>
              <a:t>}</a:t>
            </a:r>
          </a:p>
        </p:txBody>
      </p:sp>
      <p:sp>
        <p:nvSpPr>
          <p:cNvPr id="201731" name="Text Box 3"/>
          <p:cNvSpPr txBox="1">
            <a:spLocks noChangeArrowheads="1"/>
          </p:cNvSpPr>
          <p:nvPr/>
        </p:nvSpPr>
        <p:spPr bwMode="auto">
          <a:xfrm>
            <a:off x="898525" y="5546725"/>
            <a:ext cx="75390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990033"/>
                </a:solidFill>
                <a:latin typeface="Times New Roman" charset="0"/>
                <a:ea typeface="楷体_GB2312" charset="0"/>
              </a:rPr>
              <a:t>其时间复杂度为</a:t>
            </a:r>
            <a:r>
              <a:rPr kumimoji="1" lang="en-US" altLang="zh-CN" sz="4000" b="1">
                <a:solidFill>
                  <a:srgbClr val="990033"/>
                </a:solidFill>
                <a:latin typeface="Times New Roman" charset="0"/>
                <a:ea typeface="楷体_GB2312" charset="0"/>
              </a:rPr>
              <a:t>: O(m1</a:t>
            </a:r>
            <a:r>
              <a:rPr kumimoji="1" lang="en-US" altLang="zh-CN" sz="4000" b="1">
                <a:solidFill>
                  <a:srgbClr val="990033"/>
                </a:solidFill>
                <a:latin typeface="楷体_GB2312" charset="0"/>
                <a:ea typeface="楷体_GB2312" charset="0"/>
              </a:rPr>
              <a:t>×</a:t>
            </a:r>
            <a:r>
              <a:rPr kumimoji="1" lang="en-US" altLang="zh-CN" sz="4000" b="1">
                <a:solidFill>
                  <a:srgbClr val="990033"/>
                </a:solidFill>
                <a:latin typeface="Times New Roman" charset="0"/>
                <a:ea typeface="楷体_GB2312" charset="0"/>
              </a:rPr>
              <a:t>n2</a:t>
            </a:r>
            <a:r>
              <a:rPr kumimoji="1" lang="en-US" altLang="zh-CN" sz="4000" b="1">
                <a:solidFill>
                  <a:srgbClr val="990033"/>
                </a:solidFill>
                <a:latin typeface="楷体_GB2312" charset="0"/>
                <a:ea typeface="楷体_GB2312" charset="0"/>
              </a:rPr>
              <a:t>×</a:t>
            </a:r>
            <a:r>
              <a:rPr kumimoji="1" lang="en-US" altLang="zh-CN" sz="4000" b="1">
                <a:solidFill>
                  <a:srgbClr val="990033"/>
                </a:solidFill>
                <a:latin typeface="Times New Roman" charset="0"/>
                <a:ea typeface="楷体_GB2312" charset="0"/>
              </a:rPr>
              <a:t>n1)</a:t>
            </a:r>
            <a:endParaRPr kumimoji="1" lang="en-US" altLang="zh-CN" sz="4000" b="1">
              <a:latin typeface="Times New Roman" charset="0"/>
              <a:ea typeface="楷体_GB2312" charset="0"/>
            </a:endParaRPr>
          </a:p>
        </p:txBody>
      </p:sp>
    </p:spTree>
    <p:extLst>
      <p:ext uri="{BB962C8B-B14F-4D97-AF65-F5344CB8AC3E}">
        <p14:creationId xmlns:p14="http://schemas.microsoft.com/office/powerpoint/2010/main" val="9806498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1"/>
                                        </p:tgtEl>
                                        <p:attrNameLst>
                                          <p:attrName>style.visibility</p:attrName>
                                        </p:attrNameLst>
                                      </p:cBhvr>
                                      <p:to>
                                        <p:strVal val="visible"/>
                                      </p:to>
                                    </p:set>
                                    <p:animEffect transition="in" filter="wipe(left)">
                                      <p:cBhvr>
                                        <p:cTn id="7" dur="500"/>
                                        <p:tgtEl>
                                          <p:spTgt spid="201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xfrm>
            <a:off x="838200" y="990600"/>
            <a:ext cx="7772400" cy="5619750"/>
          </a:xfrm>
        </p:spPr>
        <p:txBody>
          <a:bodyPr/>
          <a:lstStyle/>
          <a:p>
            <a:pPr eaLnBrk="1" hangingPunct="1">
              <a:lnSpc>
                <a:spcPct val="90000"/>
              </a:lnSpc>
            </a:pPr>
            <a:r>
              <a:rPr lang="en-US" altLang="zh-CN" sz="2800" b="1">
                <a:latin typeface="楷体_GB2312" charset="0"/>
                <a:ea typeface="楷体_GB2312" charset="0"/>
              </a:rPr>
              <a:t>1</a:t>
            </a:r>
            <a:r>
              <a:rPr lang="zh-CN" altLang="en-US" sz="2800" b="1">
                <a:latin typeface="楷体_GB2312" charset="0"/>
                <a:ea typeface="楷体_GB2312" charset="0"/>
              </a:rPr>
              <a:t>）乘积矩阵</a:t>
            </a:r>
            <a:r>
              <a:rPr lang="en-US" altLang="zh-CN" sz="2800" b="1">
                <a:latin typeface="楷体_GB2312" charset="0"/>
                <a:ea typeface="楷体_GB2312" charset="0"/>
              </a:rPr>
              <a:t>Q</a:t>
            </a:r>
            <a:r>
              <a:rPr lang="zh-CN" altLang="en-US" sz="2800" b="1">
                <a:latin typeface="楷体_GB2312" charset="0"/>
                <a:ea typeface="楷体_GB2312" charset="0"/>
              </a:rPr>
              <a:t>的非零元仅由</a:t>
            </a:r>
            <a:r>
              <a:rPr lang="en-US" altLang="zh-CN" sz="2800" b="1">
                <a:latin typeface="楷体_GB2312" charset="0"/>
                <a:ea typeface="楷体_GB2312" charset="0"/>
              </a:rPr>
              <a:t>M</a:t>
            </a:r>
            <a:r>
              <a:rPr lang="zh-CN" altLang="en-US" sz="2800" b="1">
                <a:latin typeface="楷体_GB2312" charset="0"/>
                <a:ea typeface="楷体_GB2312" charset="0"/>
              </a:rPr>
              <a:t>和</a:t>
            </a:r>
            <a:r>
              <a:rPr lang="en-US" altLang="zh-CN" sz="2800" b="1">
                <a:latin typeface="楷体_GB2312" charset="0"/>
                <a:ea typeface="楷体_GB2312" charset="0"/>
              </a:rPr>
              <a:t>N</a:t>
            </a:r>
            <a:r>
              <a:rPr lang="zh-CN" altLang="en-US" sz="2800" b="1">
                <a:latin typeface="楷体_GB2312" charset="0"/>
                <a:ea typeface="楷体_GB2312" charset="0"/>
              </a:rPr>
              <a:t>中的非零元相乘得到，换句话说，为求得两个稀疏矩阵相乘的乘积，只需要对 </a:t>
            </a:r>
            <a:r>
              <a:rPr lang="en-US" altLang="zh-CN" sz="2800" b="1">
                <a:latin typeface="楷体_GB2312" charset="0"/>
                <a:ea typeface="楷体_GB2312" charset="0"/>
              </a:rPr>
              <a:t>M </a:t>
            </a:r>
            <a:r>
              <a:rPr lang="zh-CN" altLang="en-US" sz="2800" b="1">
                <a:latin typeface="楷体_GB2312" charset="0"/>
                <a:ea typeface="楷体_GB2312" charset="0"/>
              </a:rPr>
              <a:t>和 </a:t>
            </a:r>
            <a:r>
              <a:rPr lang="en-US" altLang="zh-CN" sz="2800" b="1">
                <a:latin typeface="楷体_GB2312" charset="0"/>
                <a:ea typeface="楷体_GB2312" charset="0"/>
              </a:rPr>
              <a:t>N </a:t>
            </a:r>
            <a:r>
              <a:rPr lang="zh-CN" altLang="en-US" sz="2800" b="1">
                <a:latin typeface="楷体_GB2312" charset="0"/>
                <a:ea typeface="楷体_GB2312" charset="0"/>
              </a:rPr>
              <a:t>中的非零元进行运算即可；</a:t>
            </a:r>
          </a:p>
          <a:p>
            <a:pPr eaLnBrk="1" hangingPunct="1">
              <a:lnSpc>
                <a:spcPct val="90000"/>
              </a:lnSpc>
            </a:pPr>
            <a:r>
              <a:rPr lang="en-US" altLang="zh-CN" sz="2800" b="1">
                <a:latin typeface="楷体_GB2312" charset="0"/>
                <a:ea typeface="楷体_GB2312" charset="0"/>
              </a:rPr>
              <a:t>2</a:t>
            </a:r>
            <a:r>
              <a:rPr lang="zh-CN" altLang="en-US" sz="2800" b="1">
                <a:latin typeface="楷体_GB2312" charset="0"/>
                <a:ea typeface="楷体_GB2312" charset="0"/>
              </a:rPr>
              <a:t>）从矩阵相乘的规则得知，并非两者中每个元素都要进行彼此相乘，对 </a:t>
            </a:r>
            <a:r>
              <a:rPr lang="en-US" altLang="zh-CN" sz="2800" b="1">
                <a:latin typeface="楷体_GB2312" charset="0"/>
                <a:ea typeface="楷体_GB2312" charset="0"/>
              </a:rPr>
              <a:t>M </a:t>
            </a:r>
            <a:r>
              <a:rPr lang="zh-CN" altLang="en-US" sz="2800" b="1">
                <a:latin typeface="楷体_GB2312" charset="0"/>
                <a:ea typeface="楷体_GB2312" charset="0"/>
              </a:rPr>
              <a:t>中的每个非零元，只要在 </a:t>
            </a:r>
            <a:r>
              <a:rPr lang="en-US" altLang="zh-CN" sz="2800" b="1">
                <a:latin typeface="楷体_GB2312" charset="0"/>
                <a:ea typeface="楷体_GB2312" charset="0"/>
              </a:rPr>
              <a:t>N </a:t>
            </a:r>
            <a:r>
              <a:rPr lang="zh-CN" altLang="en-US" sz="2800" b="1">
                <a:latin typeface="楷体_GB2312" charset="0"/>
                <a:ea typeface="楷体_GB2312" charset="0"/>
              </a:rPr>
              <a:t>中查找其行号等于它的列号的非零元相乘即可；</a:t>
            </a:r>
          </a:p>
          <a:p>
            <a:pPr eaLnBrk="1" hangingPunct="1">
              <a:lnSpc>
                <a:spcPct val="90000"/>
              </a:lnSpc>
            </a:pPr>
            <a:r>
              <a:rPr lang="en-US" altLang="zh-CN" sz="2800" b="1">
                <a:latin typeface="楷体_GB2312" charset="0"/>
                <a:ea typeface="楷体_GB2312" charset="0"/>
              </a:rPr>
              <a:t>3</a:t>
            </a:r>
            <a:r>
              <a:rPr lang="zh-CN" altLang="en-US" sz="2800" b="1">
                <a:latin typeface="楷体_GB2312" charset="0"/>
                <a:ea typeface="楷体_GB2312" charset="0"/>
              </a:rPr>
              <a:t>）在上述算法中，</a:t>
            </a:r>
            <a:r>
              <a:rPr lang="en-US" altLang="zh-CN" sz="2800" b="1">
                <a:latin typeface="楷体_GB2312" charset="0"/>
                <a:ea typeface="楷体_GB2312" charset="0"/>
              </a:rPr>
              <a:t>Q </a:t>
            </a:r>
            <a:r>
              <a:rPr lang="zh-CN" altLang="en-US" sz="2800" b="1">
                <a:latin typeface="楷体_GB2312" charset="0"/>
                <a:ea typeface="楷体_GB2312" charset="0"/>
              </a:rPr>
              <a:t>的每个元素是由 </a:t>
            </a:r>
            <a:r>
              <a:rPr lang="en-US" altLang="zh-CN" sz="2800" b="1">
                <a:latin typeface="楷体_GB2312" charset="0"/>
                <a:ea typeface="楷体_GB2312" charset="0"/>
              </a:rPr>
              <a:t>M </a:t>
            </a:r>
            <a:r>
              <a:rPr lang="zh-CN" altLang="en-US" sz="2800" b="1">
                <a:latin typeface="楷体_GB2312" charset="0"/>
                <a:ea typeface="楷体_GB2312" charset="0"/>
              </a:rPr>
              <a:t>中的一行和</a:t>
            </a:r>
            <a:r>
              <a:rPr lang="en-US" altLang="zh-CN" sz="2800" b="1">
                <a:latin typeface="楷体_GB2312" charset="0"/>
                <a:ea typeface="楷体_GB2312" charset="0"/>
              </a:rPr>
              <a:t>N</a:t>
            </a:r>
            <a:r>
              <a:rPr lang="zh-CN" altLang="en-US" sz="2800" b="1">
                <a:latin typeface="楷体_GB2312" charset="0"/>
                <a:ea typeface="楷体_GB2312" charset="0"/>
              </a:rPr>
              <a:t>中的一列相应元素连续相乘相加得到的，但在行逻辑链接的三元组顺序表中要连续找到同一列的元素是很不方便的，因此需要改变计算的顺序，寻找新的算法。</a:t>
            </a:r>
          </a:p>
        </p:txBody>
      </p:sp>
    </p:spTree>
    <p:extLst>
      <p:ext uri="{BB962C8B-B14F-4D97-AF65-F5344CB8AC3E}">
        <p14:creationId xmlns:p14="http://schemas.microsoft.com/office/powerpoint/2010/main" val="1758528059"/>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xfrm>
            <a:off x="685800" y="2174875"/>
            <a:ext cx="7772400" cy="3997325"/>
          </a:xfrm>
        </p:spPr>
        <p:txBody>
          <a:bodyPr/>
          <a:lstStyle/>
          <a:p>
            <a:pPr eaLnBrk="1" hangingPunct="1">
              <a:lnSpc>
                <a:spcPct val="90000"/>
              </a:lnSpc>
            </a:pPr>
            <a:r>
              <a:rPr lang="zh-CN" altLang="en-US" sz="4200" b="1">
                <a:latin typeface="楷体_GB2312" charset="0"/>
                <a:ea typeface="楷体_GB2312" charset="0"/>
              </a:rPr>
              <a:t>要顺着</a:t>
            </a:r>
            <a:r>
              <a:rPr lang="en-US" altLang="zh-CN" sz="4200" b="1">
                <a:latin typeface="楷体_GB2312" charset="0"/>
                <a:ea typeface="楷体_GB2312" charset="0"/>
              </a:rPr>
              <a:t>M</a:t>
            </a:r>
            <a:r>
              <a:rPr lang="zh-CN" altLang="en-US" sz="4200" b="1">
                <a:latin typeface="楷体_GB2312" charset="0"/>
                <a:ea typeface="楷体_GB2312" charset="0"/>
              </a:rPr>
              <a:t>中的非零元依次处理。</a:t>
            </a:r>
          </a:p>
          <a:p>
            <a:pPr eaLnBrk="1" hangingPunct="1">
              <a:lnSpc>
                <a:spcPct val="90000"/>
              </a:lnSpc>
            </a:pPr>
            <a:r>
              <a:rPr lang="zh-CN" altLang="en-US" sz="4200" b="1">
                <a:latin typeface="楷体_GB2312" charset="0"/>
                <a:ea typeface="楷体_GB2312" charset="0"/>
              </a:rPr>
              <a:t>对于</a:t>
            </a:r>
            <a:r>
              <a:rPr lang="en-US" altLang="zh-CN" sz="4200" b="1">
                <a:latin typeface="楷体_GB2312" charset="0"/>
                <a:ea typeface="楷体_GB2312" charset="0"/>
              </a:rPr>
              <a:t>M</a:t>
            </a:r>
            <a:r>
              <a:rPr lang="zh-CN" altLang="en-US" sz="4200" b="1">
                <a:latin typeface="楷体_GB2312" charset="0"/>
                <a:ea typeface="楷体_GB2312" charset="0"/>
              </a:rPr>
              <a:t>中的每个非零元，找到所有</a:t>
            </a:r>
            <a:r>
              <a:rPr lang="en-US" altLang="zh-CN" sz="4200" b="1">
                <a:latin typeface="楷体_GB2312" charset="0"/>
                <a:ea typeface="楷体_GB2312" charset="0"/>
              </a:rPr>
              <a:t>N</a:t>
            </a:r>
            <a:r>
              <a:rPr lang="zh-CN" altLang="en-US" sz="4200" b="1">
                <a:latin typeface="楷体_GB2312" charset="0"/>
                <a:ea typeface="楷体_GB2312" charset="0"/>
              </a:rPr>
              <a:t>中的行号与其列号相等的元素进行处理。</a:t>
            </a:r>
          </a:p>
          <a:p>
            <a:pPr eaLnBrk="1" hangingPunct="1">
              <a:lnSpc>
                <a:spcPct val="90000"/>
              </a:lnSpc>
            </a:pPr>
            <a:r>
              <a:rPr lang="zh-CN" altLang="en-US" sz="4200" b="1">
                <a:latin typeface="楷体_GB2312" charset="0"/>
                <a:ea typeface="楷体_GB2312" charset="0"/>
              </a:rPr>
              <a:t>对于</a:t>
            </a:r>
            <a:r>
              <a:rPr lang="en-US" altLang="zh-CN" sz="4200" b="1">
                <a:latin typeface="楷体_GB2312" charset="0"/>
                <a:ea typeface="楷体_GB2312" charset="0"/>
              </a:rPr>
              <a:t>Q</a:t>
            </a:r>
            <a:r>
              <a:rPr lang="zh-CN" altLang="en-US" sz="4200" b="1">
                <a:latin typeface="楷体_GB2312" charset="0"/>
                <a:ea typeface="楷体_GB2312" charset="0"/>
              </a:rPr>
              <a:t>中的元素是一行一行进行处理的。</a:t>
            </a:r>
          </a:p>
        </p:txBody>
      </p:sp>
      <p:sp>
        <p:nvSpPr>
          <p:cNvPr id="55299" name="Text Box 3"/>
          <p:cNvSpPr txBox="1">
            <a:spLocks noChangeArrowheads="1"/>
          </p:cNvSpPr>
          <p:nvPr/>
        </p:nvSpPr>
        <p:spPr bwMode="auto">
          <a:xfrm>
            <a:off x="755650" y="1309688"/>
            <a:ext cx="20161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zh-CN" altLang="en-US" sz="4000" b="1">
                <a:solidFill>
                  <a:srgbClr val="FF0000"/>
                </a:solidFill>
                <a:latin typeface="Times New Roman" charset="0"/>
                <a:ea typeface="楷体_GB2312" charset="0"/>
              </a:rPr>
              <a:t>结论：</a:t>
            </a:r>
          </a:p>
        </p:txBody>
      </p:sp>
    </p:spTree>
    <p:extLst>
      <p:ext uri="{BB962C8B-B14F-4D97-AF65-F5344CB8AC3E}">
        <p14:creationId xmlns:p14="http://schemas.microsoft.com/office/powerpoint/2010/main" val="539957300"/>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2"/>
          <p:cNvSpPr txBox="1">
            <a:spLocks noChangeArrowheads="1"/>
          </p:cNvSpPr>
          <p:nvPr/>
        </p:nvSpPr>
        <p:spPr bwMode="auto">
          <a:xfrm>
            <a:off x="49213" y="1187450"/>
            <a:ext cx="9340850" cy="551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a:latin typeface="Times New Roman" charset="0"/>
                <a:ea typeface="楷体_GB2312" charset="0"/>
              </a:rPr>
              <a:t>  Q</a:t>
            </a:r>
            <a:r>
              <a:rPr kumimoji="1" lang="zh-CN" altLang="en-US" sz="4000">
                <a:latin typeface="Times New Roman" charset="0"/>
                <a:ea typeface="楷体_GB2312" charset="0"/>
              </a:rPr>
              <a:t>初始化；</a:t>
            </a:r>
          </a:p>
          <a:p>
            <a:pPr eaLnBrk="1" hangingPunct="1"/>
            <a:r>
              <a:rPr kumimoji="1" lang="zh-CN" altLang="en-US" sz="4000">
                <a:latin typeface="Times New Roman" charset="0"/>
                <a:ea typeface="楷体_GB2312" charset="0"/>
              </a:rPr>
              <a:t>  </a:t>
            </a:r>
            <a:r>
              <a:rPr kumimoji="1" lang="en-US" altLang="zh-CN" sz="4000" b="1">
                <a:latin typeface="Times New Roman" charset="0"/>
                <a:ea typeface="楷体_GB2312" charset="0"/>
              </a:rPr>
              <a:t>if</a:t>
            </a:r>
            <a:r>
              <a:rPr kumimoji="1" lang="en-US" altLang="zh-CN" sz="4000">
                <a:latin typeface="Times New Roman" charset="0"/>
                <a:ea typeface="楷体_GB2312" charset="0"/>
              </a:rPr>
              <a:t>  Q</a:t>
            </a:r>
            <a:r>
              <a:rPr kumimoji="1" lang="zh-CN" altLang="en-US" sz="4000">
                <a:latin typeface="Times New Roman" charset="0"/>
                <a:ea typeface="楷体_GB2312" charset="0"/>
              </a:rPr>
              <a:t>是非零矩阵 </a:t>
            </a:r>
            <a:r>
              <a:rPr kumimoji="1" lang="en-US" altLang="zh-CN" sz="4000" b="1">
                <a:latin typeface="Times New Roman" charset="0"/>
                <a:ea typeface="楷体_GB2312" charset="0"/>
              </a:rPr>
              <a:t>{  </a:t>
            </a:r>
            <a:r>
              <a:rPr kumimoji="1" lang="en-US" altLang="zh-CN" sz="4000">
                <a:latin typeface="Times New Roman" charset="0"/>
                <a:ea typeface="楷体_GB2312" charset="0"/>
              </a:rPr>
              <a:t>// </a:t>
            </a:r>
            <a:r>
              <a:rPr kumimoji="1" lang="zh-CN" altLang="en-US" sz="4000">
                <a:latin typeface="Times New Roman" charset="0"/>
                <a:ea typeface="楷体_GB2312" charset="0"/>
              </a:rPr>
              <a:t>逐行求积</a:t>
            </a:r>
          </a:p>
          <a:p>
            <a:pPr eaLnBrk="1" hangingPunct="1"/>
            <a:r>
              <a:rPr kumimoji="1" lang="zh-CN" altLang="en-US" sz="4000" b="1">
                <a:latin typeface="Times New Roman" charset="0"/>
                <a:ea typeface="楷体_GB2312" charset="0"/>
              </a:rPr>
              <a:t>     </a:t>
            </a:r>
            <a:r>
              <a:rPr kumimoji="1" lang="en-US" altLang="zh-CN" sz="4000" b="1">
                <a:latin typeface="Times New Roman" charset="0"/>
                <a:ea typeface="楷体_GB2312" charset="0"/>
              </a:rPr>
              <a:t>for</a:t>
            </a:r>
            <a:r>
              <a:rPr kumimoji="1" lang="en-US" altLang="zh-CN" sz="4000">
                <a:latin typeface="Times New Roman" charset="0"/>
                <a:ea typeface="楷体_GB2312" charset="0"/>
              </a:rPr>
              <a:t> (arow=1; arow&lt;=M.mu; ++arow) </a:t>
            </a:r>
            <a:r>
              <a:rPr kumimoji="1" lang="en-US" altLang="zh-CN" sz="4000" b="1">
                <a:latin typeface="Times New Roman" charset="0"/>
                <a:ea typeface="楷体_GB2312" charset="0"/>
              </a:rPr>
              <a:t>{</a:t>
            </a:r>
          </a:p>
          <a:p>
            <a:pPr eaLnBrk="1" hangingPunct="1"/>
            <a:r>
              <a:rPr kumimoji="1" lang="en-US" altLang="zh-CN" sz="4000" b="1">
                <a:latin typeface="Times New Roman" charset="0"/>
                <a:ea typeface="楷体_GB2312" charset="0"/>
              </a:rPr>
              <a:t>                       </a:t>
            </a:r>
            <a:r>
              <a:rPr kumimoji="1" lang="en-US" altLang="zh-CN" sz="4000">
                <a:latin typeface="Times New Roman" charset="0"/>
                <a:ea typeface="楷体_GB2312" charset="0"/>
              </a:rPr>
              <a:t>//  </a:t>
            </a:r>
            <a:r>
              <a:rPr kumimoji="1" lang="zh-CN" altLang="en-US" sz="4000">
                <a:latin typeface="Times New Roman" charset="0"/>
                <a:ea typeface="楷体_GB2312" charset="0"/>
              </a:rPr>
              <a:t>处理</a:t>
            </a:r>
            <a:r>
              <a:rPr kumimoji="1" lang="en-US" altLang="zh-CN" sz="4000">
                <a:latin typeface="Times New Roman" charset="0"/>
                <a:ea typeface="楷体_GB2312" charset="0"/>
              </a:rPr>
              <a:t>M</a:t>
            </a:r>
            <a:r>
              <a:rPr kumimoji="1" lang="zh-CN" altLang="en-US" sz="4000">
                <a:latin typeface="Times New Roman" charset="0"/>
                <a:ea typeface="楷体_GB2312" charset="0"/>
              </a:rPr>
              <a:t>的每一行</a:t>
            </a:r>
            <a:endParaRPr kumimoji="1" lang="zh-CN" altLang="en-US" sz="4000" b="1">
              <a:latin typeface="Times New Roman" charset="0"/>
              <a:ea typeface="楷体_GB2312" charset="0"/>
            </a:endParaRPr>
          </a:p>
          <a:p>
            <a:pPr eaLnBrk="1" hangingPunct="1"/>
            <a:r>
              <a:rPr kumimoji="1" lang="zh-CN" altLang="en-US" sz="4000">
                <a:latin typeface="Times New Roman" charset="0"/>
                <a:ea typeface="楷体_GB2312" charset="0"/>
              </a:rPr>
              <a:t>        </a:t>
            </a:r>
            <a:r>
              <a:rPr kumimoji="1" lang="en-US" altLang="zh-CN" sz="4000">
                <a:latin typeface="Times New Roman" charset="0"/>
                <a:ea typeface="楷体_GB2312" charset="0"/>
              </a:rPr>
              <a:t>ctemp[] = 0;          // </a:t>
            </a:r>
            <a:r>
              <a:rPr kumimoji="1" lang="zh-CN" altLang="en-US" sz="4000">
                <a:latin typeface="Times New Roman" charset="0"/>
                <a:ea typeface="楷体_GB2312" charset="0"/>
              </a:rPr>
              <a:t>累加器清零</a:t>
            </a:r>
          </a:p>
          <a:p>
            <a:pPr eaLnBrk="1" hangingPunct="1"/>
            <a:r>
              <a:rPr kumimoji="1" lang="zh-CN" altLang="en-US" sz="4000">
                <a:latin typeface="Times New Roman" charset="0"/>
                <a:ea typeface="楷体_GB2312" charset="0"/>
              </a:rPr>
              <a:t>       </a:t>
            </a:r>
            <a:r>
              <a:rPr kumimoji="1" lang="zh-CN" altLang="en-US" sz="3600">
                <a:latin typeface="Times New Roman" charset="0"/>
                <a:ea typeface="楷体_GB2312" charset="0"/>
              </a:rPr>
              <a:t>计算</a:t>
            </a:r>
            <a:r>
              <a:rPr kumimoji="1" lang="en-US" altLang="zh-CN" sz="3600">
                <a:latin typeface="Times New Roman" charset="0"/>
                <a:ea typeface="楷体_GB2312" charset="0"/>
              </a:rPr>
              <a:t>Q</a:t>
            </a:r>
            <a:r>
              <a:rPr kumimoji="1" lang="zh-CN" altLang="en-US" sz="3600">
                <a:latin typeface="Times New Roman" charset="0"/>
                <a:ea typeface="楷体_GB2312" charset="0"/>
              </a:rPr>
              <a:t>中第</a:t>
            </a:r>
            <a:r>
              <a:rPr kumimoji="1" lang="en-US" altLang="zh-CN" sz="3600">
                <a:latin typeface="Times New Roman" charset="0"/>
                <a:ea typeface="楷体_GB2312" charset="0"/>
              </a:rPr>
              <a:t>arow</a:t>
            </a:r>
            <a:r>
              <a:rPr kumimoji="1" lang="zh-CN" altLang="en-US" sz="3600">
                <a:latin typeface="Times New Roman" charset="0"/>
                <a:ea typeface="楷体_GB2312" charset="0"/>
              </a:rPr>
              <a:t>行的积并存入</a:t>
            </a:r>
            <a:r>
              <a:rPr kumimoji="1" lang="en-US" altLang="zh-CN" sz="3600">
                <a:latin typeface="Times New Roman" charset="0"/>
                <a:ea typeface="楷体_GB2312" charset="0"/>
              </a:rPr>
              <a:t>ctemp[] </a:t>
            </a:r>
            <a:r>
              <a:rPr kumimoji="1" lang="zh-CN" altLang="en-US" sz="3600">
                <a:latin typeface="Times New Roman" charset="0"/>
                <a:ea typeface="楷体_GB2312" charset="0"/>
              </a:rPr>
              <a:t>中；</a:t>
            </a:r>
          </a:p>
          <a:p>
            <a:pPr eaLnBrk="1" hangingPunct="1"/>
            <a:r>
              <a:rPr kumimoji="1" lang="zh-CN" altLang="en-US" sz="3600">
                <a:latin typeface="Times New Roman" charset="0"/>
                <a:ea typeface="楷体_GB2312" charset="0"/>
              </a:rPr>
              <a:t>        将</a:t>
            </a:r>
            <a:r>
              <a:rPr kumimoji="1" lang="en-US" altLang="zh-CN" sz="3600">
                <a:latin typeface="Times New Roman" charset="0"/>
                <a:ea typeface="楷体_GB2312" charset="0"/>
              </a:rPr>
              <a:t>ctemp[] </a:t>
            </a:r>
            <a:r>
              <a:rPr kumimoji="1" lang="zh-CN" altLang="en-US" sz="3600">
                <a:latin typeface="Times New Roman" charset="0"/>
                <a:ea typeface="楷体_GB2312" charset="0"/>
              </a:rPr>
              <a:t>中非零元压缩存储到</a:t>
            </a:r>
            <a:r>
              <a:rPr kumimoji="1" lang="en-US" altLang="zh-CN" sz="3600">
                <a:latin typeface="Times New Roman" charset="0"/>
                <a:ea typeface="楷体_GB2312" charset="0"/>
              </a:rPr>
              <a:t>Q.data</a:t>
            </a:r>
            <a:r>
              <a:rPr kumimoji="1" lang="zh-CN" altLang="en-US" sz="3600">
                <a:latin typeface="Times New Roman" charset="0"/>
                <a:ea typeface="楷体_GB2312" charset="0"/>
              </a:rPr>
              <a:t>；</a:t>
            </a:r>
            <a:endParaRPr kumimoji="1" lang="zh-CN" altLang="en-US" sz="4000">
              <a:latin typeface="Times New Roman" charset="0"/>
              <a:ea typeface="楷体_GB2312" charset="0"/>
            </a:endParaRPr>
          </a:p>
          <a:p>
            <a:pPr eaLnBrk="1" hangingPunct="1"/>
            <a:r>
              <a:rPr kumimoji="1" lang="zh-CN" altLang="en-US" sz="4000" b="1">
                <a:latin typeface="Times New Roman" charset="0"/>
                <a:ea typeface="楷体_GB2312" charset="0"/>
              </a:rPr>
              <a:t>     </a:t>
            </a:r>
            <a:r>
              <a:rPr kumimoji="1" lang="en-US" altLang="zh-CN" sz="4000" b="1">
                <a:latin typeface="Times New Roman" charset="0"/>
                <a:ea typeface="楷体_GB2312" charset="0"/>
              </a:rPr>
              <a:t>} </a:t>
            </a:r>
            <a:r>
              <a:rPr kumimoji="1" lang="en-US" altLang="zh-CN" sz="4000">
                <a:latin typeface="Times New Roman" charset="0"/>
                <a:ea typeface="楷体_GB2312" charset="0"/>
              </a:rPr>
              <a:t>// for arow</a:t>
            </a:r>
          </a:p>
          <a:p>
            <a:pPr eaLnBrk="1" hangingPunct="1"/>
            <a:r>
              <a:rPr kumimoji="1" lang="en-US" altLang="zh-CN" sz="4000" b="1">
                <a:latin typeface="Times New Roman" charset="0"/>
                <a:ea typeface="楷体_GB2312" charset="0"/>
              </a:rPr>
              <a:t>  } </a:t>
            </a:r>
            <a:r>
              <a:rPr kumimoji="1" lang="en-US" altLang="zh-CN" sz="4000">
                <a:latin typeface="Times New Roman" charset="0"/>
                <a:ea typeface="楷体_GB2312" charset="0"/>
              </a:rPr>
              <a:t>// if </a:t>
            </a:r>
          </a:p>
        </p:txBody>
      </p:sp>
      <p:sp>
        <p:nvSpPr>
          <p:cNvPr id="56323" name="Text Box 3"/>
          <p:cNvSpPr txBox="1">
            <a:spLocks noChangeArrowheads="1"/>
          </p:cNvSpPr>
          <p:nvPr/>
        </p:nvSpPr>
        <p:spPr bwMode="auto">
          <a:xfrm>
            <a:off x="1219200" y="349250"/>
            <a:ext cx="822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800" b="1">
                <a:solidFill>
                  <a:srgbClr val="6600CC"/>
                </a:solidFill>
                <a:latin typeface="Times New Roman" charset="0"/>
                <a:ea typeface="楷体_GB2312" charset="0"/>
              </a:rPr>
              <a:t>两个稀疏矩阵相乘</a:t>
            </a:r>
            <a:r>
              <a:rPr kumimoji="1" lang="en-US" altLang="zh-CN" sz="2800" b="1">
                <a:solidFill>
                  <a:srgbClr val="6600CC"/>
                </a:solidFill>
                <a:latin typeface="Times New Roman" charset="0"/>
                <a:ea typeface="楷体_GB2312" charset="0"/>
              </a:rPr>
              <a:t>(Q</a:t>
            </a:r>
            <a:r>
              <a:rPr kumimoji="1" lang="en-US" altLang="zh-CN" sz="2800" b="1">
                <a:solidFill>
                  <a:srgbClr val="6600CC"/>
                </a:solidFill>
                <a:latin typeface="Times New Roman" charset="0"/>
                <a:ea typeface="楷体_GB2312" charset="0"/>
                <a:sym typeface="Symbol" charset="2"/>
              </a:rPr>
              <a:t></a:t>
            </a:r>
            <a:r>
              <a:rPr kumimoji="1" lang="en-US" altLang="zh-CN" sz="2800" b="1">
                <a:solidFill>
                  <a:srgbClr val="6600CC"/>
                </a:solidFill>
                <a:latin typeface="Times New Roman" charset="0"/>
                <a:ea typeface="楷体_GB2312" charset="0"/>
              </a:rPr>
              <a:t>M</a:t>
            </a:r>
            <a:r>
              <a:rPr kumimoji="1" lang="en-US" altLang="zh-CN" sz="2800" b="1">
                <a:solidFill>
                  <a:srgbClr val="6600CC"/>
                </a:solidFill>
                <a:latin typeface="Times New Roman" charset="0"/>
                <a:ea typeface="楷体_GB2312" charset="0"/>
                <a:sym typeface="Symbol" charset="2"/>
              </a:rPr>
              <a:t></a:t>
            </a:r>
            <a:r>
              <a:rPr kumimoji="1" lang="en-US" altLang="zh-CN" sz="2800" b="1">
                <a:solidFill>
                  <a:srgbClr val="6600CC"/>
                </a:solidFill>
                <a:latin typeface="Times New Roman" charset="0"/>
                <a:ea typeface="楷体_GB2312" charset="0"/>
              </a:rPr>
              <a:t>N)</a:t>
            </a:r>
            <a:r>
              <a:rPr kumimoji="1" lang="zh-CN" altLang="en-US" sz="2800" b="1">
                <a:solidFill>
                  <a:srgbClr val="6600CC"/>
                </a:solidFill>
                <a:latin typeface="Times New Roman" charset="0"/>
                <a:ea typeface="楷体_GB2312" charset="0"/>
              </a:rPr>
              <a:t>的过程大致描述如下：</a:t>
            </a:r>
            <a:endParaRPr kumimoji="1" lang="zh-CN" altLang="en-US" sz="2800" b="1">
              <a:latin typeface="Times New Roman" charset="0"/>
              <a:ea typeface="楷体_GB2312" charset="0"/>
            </a:endParaRPr>
          </a:p>
          <a:p>
            <a:pPr eaLnBrk="1" hangingPunct="1"/>
            <a:endParaRPr kumimoji="1" lang="en-US" altLang="zh-CN" sz="2800">
              <a:latin typeface="Times New Roman" charset="0"/>
            </a:endParaRPr>
          </a:p>
        </p:txBody>
      </p:sp>
    </p:spTree>
    <p:extLst>
      <p:ext uri="{BB962C8B-B14F-4D97-AF65-F5344CB8AC3E}">
        <p14:creationId xmlns:p14="http://schemas.microsoft.com/office/powerpoint/2010/main" val="19439325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strips(downRight)">
                                      <p:cBhvr>
                                        <p:cTn id="7" dur="500"/>
                                        <p:tgtEl>
                                          <p:spTgt spid="204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371600" y="0"/>
            <a:ext cx="7772400" cy="1143000"/>
          </a:xfrm>
        </p:spPr>
        <p:txBody>
          <a:bodyPr/>
          <a:lstStyle/>
          <a:p>
            <a:pPr eaLnBrk="1" hangingPunct="1"/>
            <a:r>
              <a:rPr lang="zh-CN" altLang="en-US" b="0">
                <a:solidFill>
                  <a:srgbClr val="FF0000"/>
                </a:solidFill>
                <a:latin typeface="楷体_GB2312" charset="0"/>
                <a:ea typeface="楷体_GB2312" charset="0"/>
              </a:rPr>
              <a:t>例：</a:t>
            </a:r>
            <a:r>
              <a:rPr lang="en-US" altLang="zh-CN" b="0">
                <a:solidFill>
                  <a:srgbClr val="FF0000"/>
                </a:solidFill>
                <a:latin typeface="楷体_GB2312" charset="0"/>
                <a:ea typeface="楷体_GB2312" charset="0"/>
              </a:rPr>
              <a:t>Q</a:t>
            </a:r>
            <a:r>
              <a:rPr lang="zh-CN" altLang="en-US" b="0">
                <a:solidFill>
                  <a:srgbClr val="FF0000"/>
                </a:solidFill>
                <a:latin typeface="楷体_GB2312" charset="0"/>
                <a:ea typeface="楷体_GB2312" charset="0"/>
              </a:rPr>
              <a:t>＝</a:t>
            </a:r>
            <a:r>
              <a:rPr lang="en-US" altLang="zh-CN" b="0">
                <a:solidFill>
                  <a:srgbClr val="FF0000"/>
                </a:solidFill>
                <a:latin typeface="楷体_GB2312" charset="0"/>
                <a:ea typeface="楷体_GB2312" charset="0"/>
              </a:rPr>
              <a:t>M×N</a:t>
            </a:r>
          </a:p>
        </p:txBody>
      </p:sp>
      <p:graphicFrame>
        <p:nvGraphicFramePr>
          <p:cNvPr id="205827" name="Group 3"/>
          <p:cNvGraphicFramePr>
            <a:graphicFrameLocks noGrp="1"/>
          </p:cNvGraphicFramePr>
          <p:nvPr>
            <p:ph sz="half" idx="1"/>
          </p:nvPr>
        </p:nvGraphicFramePr>
        <p:xfrm>
          <a:off x="1524000" y="3505200"/>
          <a:ext cx="3014663" cy="1322388"/>
        </p:xfrm>
        <a:graphic>
          <a:graphicData uri="http://schemas.openxmlformats.org/drawingml/2006/table">
            <a:tbl>
              <a:tblPr/>
              <a:tblGrid>
                <a:gridCol w="752475"/>
                <a:gridCol w="752475"/>
                <a:gridCol w="757238"/>
                <a:gridCol w="752475"/>
              </a:tblGrid>
              <a:tr h="6619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0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7364" name="Rectangle 20"/>
          <p:cNvSpPr>
            <a:spLocks noChangeArrowheads="1"/>
          </p:cNvSpPr>
          <p:nvPr/>
        </p:nvSpPr>
        <p:spPr bwMode="auto">
          <a:xfrm>
            <a:off x="827088" y="1773238"/>
            <a:ext cx="760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M</a:t>
            </a:r>
            <a:r>
              <a:rPr kumimoji="1" lang="zh-CN" altLang="en-US" sz="2400">
                <a:latin typeface="Times New Roman" charset="0"/>
              </a:rPr>
              <a:t>＝</a:t>
            </a:r>
          </a:p>
        </p:txBody>
      </p:sp>
      <p:graphicFrame>
        <p:nvGraphicFramePr>
          <p:cNvPr id="57365" name="Object 21"/>
          <p:cNvGraphicFramePr>
            <a:graphicFrameLocks noChangeAspect="1"/>
          </p:cNvGraphicFramePr>
          <p:nvPr/>
        </p:nvGraphicFramePr>
        <p:xfrm>
          <a:off x="1692275" y="1196975"/>
          <a:ext cx="2374900" cy="2192338"/>
        </p:xfrm>
        <a:graphic>
          <a:graphicData uri="http://schemas.openxmlformats.org/presentationml/2006/ole">
            <mc:AlternateContent xmlns:mc="http://schemas.openxmlformats.org/markup-compatibility/2006">
              <mc:Choice xmlns:v="urn:schemas-microsoft-com:vml" Requires="v">
                <p:oleObj spid="_x0000_s604165" name="公式" r:id="rId3" imgW="990600" imgH="914400" progId="Equation.3">
                  <p:embed/>
                </p:oleObj>
              </mc:Choice>
              <mc:Fallback>
                <p:oleObj name="公式" r:id="rId3" imgW="990600" imgH="914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1196975"/>
                        <a:ext cx="2374900" cy="219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66" name="Rectangle 22"/>
          <p:cNvSpPr>
            <a:spLocks noChangeArrowheads="1"/>
          </p:cNvSpPr>
          <p:nvPr/>
        </p:nvSpPr>
        <p:spPr bwMode="auto">
          <a:xfrm>
            <a:off x="3851275" y="1916113"/>
            <a:ext cx="1490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 	N=</a:t>
            </a:r>
          </a:p>
        </p:txBody>
      </p:sp>
      <p:graphicFrame>
        <p:nvGraphicFramePr>
          <p:cNvPr id="57367" name="Object 23"/>
          <p:cNvGraphicFramePr>
            <a:graphicFrameLocks noChangeAspect="1"/>
          </p:cNvGraphicFramePr>
          <p:nvPr/>
        </p:nvGraphicFramePr>
        <p:xfrm>
          <a:off x="5364163" y="1125538"/>
          <a:ext cx="3168650" cy="2220912"/>
        </p:xfrm>
        <a:graphic>
          <a:graphicData uri="http://schemas.openxmlformats.org/presentationml/2006/ole">
            <mc:AlternateContent xmlns:mc="http://schemas.openxmlformats.org/markup-compatibility/2006">
              <mc:Choice xmlns:v="urn:schemas-microsoft-com:vml" Requires="v">
                <p:oleObj spid="_x0000_s604166" name="公式" r:id="rId5" imgW="1016000" imgH="711200" progId="Equation.3">
                  <p:embed/>
                </p:oleObj>
              </mc:Choice>
              <mc:Fallback>
                <p:oleObj name="公式" r:id="rId5" imgW="1016000" imgH="71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1125538"/>
                        <a:ext cx="3168650"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68" name="Rectangle 24"/>
          <p:cNvSpPr>
            <a:spLocks noChangeArrowheads="1"/>
          </p:cNvSpPr>
          <p:nvPr/>
        </p:nvSpPr>
        <p:spPr bwMode="auto">
          <a:xfrm>
            <a:off x="4643438" y="4292600"/>
            <a:ext cx="1033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      Q=</a:t>
            </a:r>
          </a:p>
        </p:txBody>
      </p:sp>
      <p:graphicFrame>
        <p:nvGraphicFramePr>
          <p:cNvPr id="57369" name="Object 25"/>
          <p:cNvGraphicFramePr>
            <a:graphicFrameLocks noChangeAspect="1"/>
          </p:cNvGraphicFramePr>
          <p:nvPr/>
        </p:nvGraphicFramePr>
        <p:xfrm>
          <a:off x="5867400" y="3644900"/>
          <a:ext cx="2952750" cy="2197100"/>
        </p:xfrm>
        <a:graphic>
          <a:graphicData uri="http://schemas.openxmlformats.org/presentationml/2006/ole">
            <mc:AlternateContent xmlns:mc="http://schemas.openxmlformats.org/markup-compatibility/2006">
              <mc:Choice xmlns:v="urn:schemas-microsoft-com:vml" Requires="v">
                <p:oleObj spid="_x0000_s604167" name="公式" r:id="rId7" imgW="1231900" imgH="914400" progId="Equation.3">
                  <p:embed/>
                </p:oleObj>
              </mc:Choice>
              <mc:Fallback>
                <p:oleObj name="公式" r:id="rId7" imgW="12319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3644900"/>
                        <a:ext cx="2952750"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70" name="Rectangle 26"/>
          <p:cNvSpPr>
            <a:spLocks noChangeArrowheads="1"/>
          </p:cNvSpPr>
          <p:nvPr/>
        </p:nvSpPr>
        <p:spPr bwMode="auto">
          <a:xfrm>
            <a:off x="250825" y="4149725"/>
            <a:ext cx="1057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M.rpos</a:t>
            </a:r>
          </a:p>
        </p:txBody>
      </p:sp>
      <p:sp>
        <p:nvSpPr>
          <p:cNvPr id="57371" name="Rectangle 27"/>
          <p:cNvSpPr>
            <a:spLocks noChangeArrowheads="1"/>
          </p:cNvSpPr>
          <p:nvPr/>
        </p:nvSpPr>
        <p:spPr bwMode="auto">
          <a:xfrm>
            <a:off x="395288" y="5445125"/>
            <a:ext cx="1006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charset="0"/>
              </a:rPr>
              <a:t>N.rpos</a:t>
            </a:r>
          </a:p>
        </p:txBody>
      </p:sp>
      <p:graphicFrame>
        <p:nvGraphicFramePr>
          <p:cNvPr id="205852" name="Group 28"/>
          <p:cNvGraphicFramePr>
            <a:graphicFrameLocks noGrp="1"/>
          </p:cNvGraphicFramePr>
          <p:nvPr>
            <p:ph sz="half" idx="2"/>
          </p:nvPr>
        </p:nvGraphicFramePr>
        <p:xfrm>
          <a:off x="1547813" y="5229225"/>
          <a:ext cx="2322512" cy="1220788"/>
        </p:xfrm>
        <a:graphic>
          <a:graphicData uri="http://schemas.openxmlformats.org/drawingml/2006/table">
            <a:tbl>
              <a:tblPr/>
              <a:tblGrid>
                <a:gridCol w="773112"/>
                <a:gridCol w="776288"/>
                <a:gridCol w="773112"/>
              </a:tblGrid>
              <a:tr h="64151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1</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2</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3</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92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1</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3</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smtClean="0">
                          <a:ln>
                            <a:noFill/>
                          </a:ln>
                          <a:solidFill>
                            <a:schemeClr val="tx1"/>
                          </a:solidFill>
                          <a:effectLst/>
                          <a:latin typeface="Arial" charset="0"/>
                          <a:ea typeface="宋体" pitchFamily="2" charset="-122"/>
                        </a:rPr>
                        <a:t>4</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89193327"/>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0" y="1143000"/>
            <a:ext cx="9144000" cy="549751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2800" b="1">
                <a:latin typeface="Times New Roman" charset="0"/>
                <a:ea typeface="楷体_GB2312" charset="0"/>
              </a:rPr>
              <a:t>  Status</a:t>
            </a:r>
            <a:r>
              <a:rPr kumimoji="1" lang="en-US" altLang="zh-CN" sz="2800">
                <a:latin typeface="Times New Roman" charset="0"/>
                <a:ea typeface="楷体_GB2312" charset="0"/>
              </a:rPr>
              <a:t> MultSMatrix</a:t>
            </a:r>
          </a:p>
          <a:p>
            <a:pPr eaLnBrk="1" hangingPunct="1">
              <a:lnSpc>
                <a:spcPct val="115000"/>
              </a:lnSpc>
            </a:pPr>
            <a:r>
              <a:rPr kumimoji="1" lang="en-US" altLang="zh-CN" sz="2800">
                <a:latin typeface="Times New Roman" charset="0"/>
                <a:ea typeface="楷体_GB2312" charset="0"/>
              </a:rPr>
              <a:t>       (RLSMatrix M, RLSMatrix N, RLSMatrix </a:t>
            </a:r>
            <a:r>
              <a:rPr kumimoji="1" lang="en-US" altLang="zh-CN" sz="2800" b="1">
                <a:latin typeface="Times New Roman" charset="0"/>
                <a:ea typeface="楷体_GB2312" charset="0"/>
              </a:rPr>
              <a:t>&amp;</a:t>
            </a:r>
            <a:r>
              <a:rPr kumimoji="1" lang="en-US" altLang="zh-CN" sz="2800">
                <a:latin typeface="Times New Roman" charset="0"/>
                <a:ea typeface="楷体_GB2312" charset="0"/>
              </a:rPr>
              <a:t>Q) </a:t>
            </a:r>
            <a:r>
              <a:rPr kumimoji="1" lang="en-US" altLang="zh-CN" sz="2800" b="1">
                <a:latin typeface="Times New Roman" charset="0"/>
                <a:ea typeface="楷体_GB2312" charset="0"/>
              </a:rPr>
              <a:t>{</a:t>
            </a:r>
            <a:endParaRPr kumimoji="1" lang="en-US" altLang="zh-CN" sz="2800">
              <a:latin typeface="Times New Roman" charset="0"/>
              <a:ea typeface="楷体_GB2312" charset="0"/>
            </a:endParaRPr>
          </a:p>
          <a:p>
            <a:pPr eaLnBrk="1" hangingPunct="1">
              <a:lnSpc>
                <a:spcPct val="115000"/>
              </a:lnSpc>
            </a:pPr>
            <a:r>
              <a:rPr kumimoji="1" lang="en-US" altLang="zh-CN" sz="2800" b="1">
                <a:latin typeface="Times New Roman" charset="0"/>
                <a:ea typeface="楷体_GB2312" charset="0"/>
              </a:rPr>
              <a:t>   if</a:t>
            </a:r>
            <a:r>
              <a:rPr kumimoji="1" lang="en-US" altLang="zh-CN" sz="2800">
                <a:latin typeface="Times New Roman" charset="0"/>
                <a:ea typeface="楷体_GB2312" charset="0"/>
              </a:rPr>
              <a:t> (M.nu </a:t>
            </a:r>
            <a:r>
              <a:rPr kumimoji="1" lang="en-US" altLang="zh-CN" sz="2800" b="1">
                <a:latin typeface="Times New Roman" charset="0"/>
                <a:ea typeface="楷体_GB2312" charset="0"/>
              </a:rPr>
              <a:t>!=</a:t>
            </a:r>
            <a:r>
              <a:rPr kumimoji="1" lang="en-US" altLang="zh-CN" sz="2800">
                <a:latin typeface="Times New Roman" charset="0"/>
                <a:ea typeface="楷体_GB2312" charset="0"/>
              </a:rPr>
              <a:t> N.mu) </a:t>
            </a:r>
            <a:r>
              <a:rPr kumimoji="1" lang="en-US" altLang="zh-CN" sz="2800" b="1">
                <a:latin typeface="Times New Roman" charset="0"/>
                <a:ea typeface="楷体_GB2312" charset="0"/>
              </a:rPr>
              <a:t>return ERROR;</a:t>
            </a:r>
            <a:endParaRPr kumimoji="1" lang="en-US" altLang="zh-CN" sz="2800">
              <a:latin typeface="Times New Roman" charset="0"/>
              <a:ea typeface="楷体_GB2312" charset="0"/>
            </a:endParaRPr>
          </a:p>
          <a:p>
            <a:pPr eaLnBrk="1" hangingPunct="1">
              <a:lnSpc>
                <a:spcPct val="115000"/>
              </a:lnSpc>
            </a:pPr>
            <a:r>
              <a:rPr kumimoji="1" lang="en-US" altLang="zh-CN" sz="2800">
                <a:latin typeface="Times New Roman" charset="0"/>
                <a:ea typeface="楷体_GB2312" charset="0"/>
              </a:rPr>
              <a:t>   Q.mu = M.mu; Q.nu = N.nu; Q.tu = 0; </a:t>
            </a:r>
          </a:p>
          <a:p>
            <a:pPr eaLnBrk="1" hangingPunct="1">
              <a:lnSpc>
                <a:spcPct val="115000"/>
              </a:lnSpc>
            </a:pPr>
            <a:r>
              <a:rPr kumimoji="1" lang="en-US" altLang="zh-CN" sz="2800">
                <a:latin typeface="Times New Roman" charset="0"/>
                <a:ea typeface="楷体_GB2312" charset="0"/>
              </a:rPr>
              <a:t>   </a:t>
            </a:r>
            <a:r>
              <a:rPr kumimoji="1" lang="en-US" altLang="zh-CN" sz="2800" b="1">
                <a:latin typeface="Times New Roman" charset="0"/>
                <a:ea typeface="楷体_GB2312" charset="0"/>
              </a:rPr>
              <a:t>if</a:t>
            </a:r>
            <a:r>
              <a:rPr kumimoji="1" lang="en-US" altLang="zh-CN" sz="2800">
                <a:latin typeface="Times New Roman" charset="0"/>
                <a:ea typeface="楷体_GB2312" charset="0"/>
              </a:rPr>
              <a:t> (M.tu</a:t>
            </a:r>
            <a:r>
              <a:rPr kumimoji="1" lang="en-US" altLang="zh-CN" sz="2800" b="1">
                <a:latin typeface="Times New Roman" charset="0"/>
                <a:ea typeface="楷体_GB2312" charset="0"/>
              </a:rPr>
              <a:t>*</a:t>
            </a:r>
            <a:r>
              <a:rPr kumimoji="1" lang="en-US" altLang="zh-CN" sz="2800">
                <a:latin typeface="Times New Roman" charset="0"/>
                <a:ea typeface="楷体_GB2312" charset="0"/>
              </a:rPr>
              <a:t>N.tu </a:t>
            </a:r>
            <a:r>
              <a:rPr kumimoji="1" lang="en-US" altLang="zh-CN" sz="2800" b="1">
                <a:latin typeface="Times New Roman" charset="0"/>
                <a:ea typeface="楷体_GB2312" charset="0"/>
              </a:rPr>
              <a:t>!=</a:t>
            </a:r>
            <a:r>
              <a:rPr kumimoji="1" lang="en-US" altLang="zh-CN" sz="2800">
                <a:latin typeface="Times New Roman" charset="0"/>
                <a:ea typeface="楷体_GB2312" charset="0"/>
              </a:rPr>
              <a:t> 0) </a:t>
            </a:r>
            <a:r>
              <a:rPr kumimoji="1" lang="en-US" altLang="zh-CN" sz="2800" b="1">
                <a:latin typeface="Times New Roman" charset="0"/>
                <a:ea typeface="楷体_GB2312" charset="0"/>
              </a:rPr>
              <a:t>{ </a:t>
            </a:r>
            <a:r>
              <a:rPr kumimoji="1" lang="en-US" altLang="zh-CN" sz="2800">
                <a:latin typeface="Times New Roman" charset="0"/>
                <a:ea typeface="楷体_GB2312" charset="0"/>
              </a:rPr>
              <a:t>  // Q</a:t>
            </a:r>
            <a:r>
              <a:rPr kumimoji="1" lang="zh-CN" altLang="en-US" sz="2800">
                <a:latin typeface="Times New Roman" charset="0"/>
                <a:ea typeface="楷体_GB2312" charset="0"/>
              </a:rPr>
              <a:t>是非零矩阵</a:t>
            </a:r>
          </a:p>
          <a:p>
            <a:pPr eaLnBrk="1" hangingPunct="1">
              <a:lnSpc>
                <a:spcPct val="115000"/>
              </a:lnSpc>
            </a:pPr>
            <a:r>
              <a:rPr kumimoji="1" lang="zh-CN" altLang="en-US" sz="2800">
                <a:latin typeface="Times New Roman" charset="0"/>
                <a:ea typeface="楷体_GB2312" charset="0"/>
              </a:rPr>
              <a:t>      </a:t>
            </a:r>
            <a:r>
              <a:rPr kumimoji="1" lang="en-US" altLang="zh-CN" sz="2800" b="1">
                <a:latin typeface="Times New Roman" charset="0"/>
                <a:ea typeface="楷体_GB2312" charset="0"/>
              </a:rPr>
              <a:t>for</a:t>
            </a:r>
            <a:r>
              <a:rPr kumimoji="1" lang="en-US" altLang="zh-CN" sz="2800">
                <a:latin typeface="Times New Roman" charset="0"/>
                <a:ea typeface="楷体_GB2312" charset="0"/>
              </a:rPr>
              <a:t> (arow=1; arow&lt;=M.mu; ++arow) </a:t>
            </a:r>
            <a:r>
              <a:rPr kumimoji="1" lang="en-US" altLang="zh-CN" sz="2800" b="1">
                <a:latin typeface="Times New Roman" charset="0"/>
                <a:ea typeface="楷体_GB2312" charset="0"/>
              </a:rPr>
              <a:t>{ </a:t>
            </a:r>
          </a:p>
          <a:p>
            <a:pPr eaLnBrk="1" hangingPunct="1">
              <a:lnSpc>
                <a:spcPct val="115000"/>
              </a:lnSpc>
            </a:pPr>
            <a:r>
              <a:rPr kumimoji="1" lang="en-US" altLang="zh-CN" sz="2800" b="1">
                <a:latin typeface="Times New Roman" charset="0"/>
                <a:ea typeface="楷体_GB2312" charset="0"/>
              </a:rPr>
              <a:t>         </a:t>
            </a:r>
            <a:r>
              <a:rPr kumimoji="1" lang="en-US" altLang="zh-CN" sz="2800">
                <a:latin typeface="Times New Roman" charset="0"/>
                <a:ea typeface="楷体_GB2312" charset="0"/>
              </a:rPr>
              <a:t>// </a:t>
            </a:r>
            <a:r>
              <a:rPr kumimoji="1" lang="zh-CN" altLang="en-US" sz="2800">
                <a:latin typeface="Times New Roman" charset="0"/>
                <a:ea typeface="楷体_GB2312" charset="0"/>
              </a:rPr>
              <a:t>处理</a:t>
            </a:r>
            <a:r>
              <a:rPr kumimoji="1" lang="en-US" altLang="zh-CN" sz="2800">
                <a:latin typeface="Times New Roman" charset="0"/>
                <a:ea typeface="楷体_GB2312" charset="0"/>
              </a:rPr>
              <a:t>M</a:t>
            </a:r>
            <a:r>
              <a:rPr kumimoji="1" lang="zh-CN" altLang="en-US" sz="2800">
                <a:latin typeface="Times New Roman" charset="0"/>
                <a:ea typeface="楷体_GB2312" charset="0"/>
              </a:rPr>
              <a:t>的每一行</a:t>
            </a:r>
            <a:endParaRPr kumimoji="1" lang="zh-CN" altLang="en-US" sz="2800" b="1">
              <a:latin typeface="Times New Roman" charset="0"/>
              <a:ea typeface="楷体_GB2312" charset="0"/>
            </a:endParaRPr>
          </a:p>
          <a:p>
            <a:pPr eaLnBrk="1" hangingPunct="1">
              <a:lnSpc>
                <a:spcPct val="115000"/>
              </a:lnSpc>
            </a:pPr>
            <a:r>
              <a:rPr kumimoji="1" lang="zh-CN" altLang="en-US" sz="2800">
                <a:latin typeface="Times New Roman" charset="0"/>
                <a:ea typeface="楷体_GB2312" charset="0"/>
              </a:rPr>
              <a:t>      </a:t>
            </a:r>
            <a:r>
              <a:rPr kumimoji="1" lang="en-US" altLang="zh-CN" sz="2800" b="1">
                <a:latin typeface="Times New Roman" charset="0"/>
                <a:ea typeface="楷体_GB2312" charset="0"/>
              </a:rPr>
              <a:t>} </a:t>
            </a:r>
            <a:r>
              <a:rPr kumimoji="1" lang="en-US" altLang="zh-CN" sz="2800">
                <a:latin typeface="Times New Roman" charset="0"/>
                <a:ea typeface="楷体_GB2312" charset="0"/>
              </a:rPr>
              <a:t>// for arow</a:t>
            </a:r>
          </a:p>
          <a:p>
            <a:pPr eaLnBrk="1" hangingPunct="1">
              <a:lnSpc>
                <a:spcPct val="115000"/>
              </a:lnSpc>
            </a:pPr>
            <a:r>
              <a:rPr kumimoji="1" lang="en-US" altLang="zh-CN" sz="2800" b="1">
                <a:latin typeface="Times New Roman" charset="0"/>
                <a:ea typeface="楷体_GB2312" charset="0"/>
              </a:rPr>
              <a:t>   } </a:t>
            </a:r>
            <a:r>
              <a:rPr kumimoji="1" lang="en-US" altLang="zh-CN" sz="2800">
                <a:latin typeface="Times New Roman" charset="0"/>
                <a:ea typeface="楷体_GB2312" charset="0"/>
              </a:rPr>
              <a:t>// if    </a:t>
            </a:r>
          </a:p>
          <a:p>
            <a:pPr eaLnBrk="1" hangingPunct="1">
              <a:lnSpc>
                <a:spcPct val="115000"/>
              </a:lnSpc>
            </a:pPr>
            <a:r>
              <a:rPr kumimoji="1" lang="en-US" altLang="zh-CN" sz="2800" b="1">
                <a:latin typeface="Times New Roman" charset="0"/>
                <a:ea typeface="楷体_GB2312" charset="0"/>
              </a:rPr>
              <a:t>   return OK</a:t>
            </a:r>
            <a:r>
              <a:rPr kumimoji="1" lang="en-US" altLang="zh-CN" sz="2800">
                <a:latin typeface="Times New Roman" charset="0"/>
                <a:ea typeface="楷体_GB2312" charset="0"/>
              </a:rPr>
              <a:t>;</a:t>
            </a:r>
          </a:p>
          <a:p>
            <a:pPr eaLnBrk="1" hangingPunct="1">
              <a:lnSpc>
                <a:spcPct val="115000"/>
              </a:lnSpc>
            </a:pPr>
            <a:r>
              <a:rPr kumimoji="1" lang="en-US" altLang="zh-CN" sz="2800" b="1">
                <a:latin typeface="Times New Roman" charset="0"/>
                <a:ea typeface="楷体_GB2312" charset="0"/>
              </a:rPr>
              <a:t>  }</a:t>
            </a:r>
            <a:r>
              <a:rPr kumimoji="1" lang="en-US" altLang="zh-CN" sz="2800">
                <a:latin typeface="Times New Roman" charset="0"/>
                <a:ea typeface="楷体_GB2312" charset="0"/>
              </a:rPr>
              <a:t> // MultSMatrix</a:t>
            </a:r>
          </a:p>
        </p:txBody>
      </p:sp>
    </p:spTree>
    <p:extLst>
      <p:ext uri="{BB962C8B-B14F-4D97-AF65-F5344CB8AC3E}">
        <p14:creationId xmlns:p14="http://schemas.microsoft.com/office/powerpoint/2010/main" val="904928656"/>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a:spLocks noChangeArrowheads="1"/>
          </p:cNvSpPr>
          <p:nvPr/>
        </p:nvSpPr>
        <p:spPr bwMode="auto">
          <a:xfrm>
            <a:off x="1314450" y="-66675"/>
            <a:ext cx="8134350" cy="6924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ea typeface="楷体_GB2312" charset="0"/>
              </a:rPr>
              <a:t> ctemp[] = 0;                 // </a:t>
            </a:r>
            <a:r>
              <a:rPr kumimoji="1" lang="zh-CN" altLang="en-US" sz="2800">
                <a:latin typeface="Times New Roman" charset="0"/>
                <a:ea typeface="楷体_GB2312" charset="0"/>
              </a:rPr>
              <a:t>当前行各元素累加器清零</a:t>
            </a:r>
          </a:p>
          <a:p>
            <a:pPr eaLnBrk="1" hangingPunct="1"/>
            <a:r>
              <a:rPr kumimoji="1" lang="zh-CN" altLang="en-US" sz="2800">
                <a:latin typeface="Times New Roman" charset="0"/>
                <a:ea typeface="楷体_GB2312" charset="0"/>
              </a:rPr>
              <a:t>      </a:t>
            </a:r>
            <a:r>
              <a:rPr kumimoji="1" lang="en-US" altLang="zh-CN" sz="2800">
                <a:latin typeface="Times New Roman" charset="0"/>
                <a:ea typeface="楷体_GB2312" charset="0"/>
              </a:rPr>
              <a:t>Q.rpos[arow] = Q.tu+1;      </a:t>
            </a:r>
          </a:p>
          <a:p>
            <a:pPr eaLnBrk="1" hangingPunct="1"/>
            <a:r>
              <a:rPr kumimoji="1" lang="en-US" altLang="zh-CN" sz="2800" b="1">
                <a:latin typeface="Times New Roman" charset="0"/>
                <a:ea typeface="楷体_GB2312" charset="0"/>
              </a:rPr>
              <a:t>  for</a:t>
            </a:r>
            <a:r>
              <a:rPr kumimoji="1" lang="en-US" altLang="zh-CN" sz="2800">
                <a:latin typeface="Times New Roman" charset="0"/>
                <a:ea typeface="楷体_GB2312" charset="0"/>
              </a:rPr>
              <a:t> (p=M.rpos[arow]; p&lt;M.rpos[arow+1];++p) </a:t>
            </a:r>
            <a:r>
              <a:rPr kumimoji="1" lang="en-US" altLang="zh-CN" sz="2800" b="1">
                <a:latin typeface="Times New Roman" charset="0"/>
                <a:ea typeface="楷体_GB2312" charset="0"/>
              </a:rPr>
              <a:t>{</a:t>
            </a:r>
          </a:p>
          <a:p>
            <a:pPr eaLnBrk="1" hangingPunct="1"/>
            <a:r>
              <a:rPr kumimoji="1" lang="en-US" altLang="zh-CN" sz="2800" b="1">
                <a:latin typeface="Times New Roman" charset="0"/>
                <a:ea typeface="楷体_GB2312" charset="0"/>
              </a:rPr>
              <a:t>   //</a:t>
            </a:r>
            <a:r>
              <a:rPr kumimoji="1" lang="zh-CN" altLang="en-US" sz="2800">
                <a:latin typeface="Times New Roman" charset="0"/>
                <a:ea typeface="楷体_GB2312" charset="0"/>
              </a:rPr>
              <a:t>对当前行中每一个非零元</a:t>
            </a:r>
          </a:p>
          <a:p>
            <a:pPr eaLnBrk="1" hangingPunct="1"/>
            <a:r>
              <a:rPr kumimoji="1" lang="zh-CN" altLang="en-US" sz="2800">
                <a:latin typeface="Times New Roman" charset="0"/>
                <a:ea typeface="楷体_GB2312" charset="0"/>
              </a:rPr>
              <a:t>    </a:t>
            </a:r>
            <a:r>
              <a:rPr kumimoji="1" lang="en-US" altLang="zh-CN" sz="2800">
                <a:latin typeface="Times New Roman" charset="0"/>
                <a:ea typeface="楷体_GB2312" charset="0"/>
              </a:rPr>
              <a:t>brow=M.data[p].j;          </a:t>
            </a:r>
          </a:p>
          <a:p>
            <a:pPr eaLnBrk="1" hangingPunct="1"/>
            <a:r>
              <a:rPr kumimoji="1" lang="en-US" altLang="zh-CN" sz="2800" b="1">
                <a:latin typeface="Times New Roman" charset="0"/>
                <a:ea typeface="楷体_GB2312" charset="0"/>
              </a:rPr>
              <a:t>    if</a:t>
            </a:r>
            <a:r>
              <a:rPr kumimoji="1" lang="en-US" altLang="zh-CN" sz="2800">
                <a:latin typeface="Times New Roman" charset="0"/>
                <a:ea typeface="楷体_GB2312" charset="0"/>
              </a:rPr>
              <a:t> (brow &lt; N.mu )  t = N.rpos[brow+1];</a:t>
            </a:r>
          </a:p>
          <a:p>
            <a:pPr eaLnBrk="1" hangingPunct="1"/>
            <a:r>
              <a:rPr kumimoji="1" lang="en-US" altLang="zh-CN" sz="2800">
                <a:latin typeface="Times New Roman" charset="0"/>
                <a:ea typeface="楷体_GB2312" charset="0"/>
              </a:rPr>
              <a:t>        </a:t>
            </a:r>
            <a:r>
              <a:rPr kumimoji="1" lang="en-US" altLang="zh-CN" sz="2800" b="1">
                <a:latin typeface="Times New Roman" charset="0"/>
                <a:ea typeface="楷体_GB2312" charset="0"/>
              </a:rPr>
              <a:t>else</a:t>
            </a:r>
            <a:r>
              <a:rPr kumimoji="1" lang="en-US" altLang="zh-CN" sz="2800">
                <a:latin typeface="Times New Roman" charset="0"/>
                <a:ea typeface="楷体_GB2312" charset="0"/>
              </a:rPr>
              <a:t>  { t = N.tu+1 }</a:t>
            </a:r>
          </a:p>
          <a:p>
            <a:pPr eaLnBrk="1" hangingPunct="1"/>
            <a:r>
              <a:rPr kumimoji="1" lang="en-US" altLang="zh-CN" sz="2800">
                <a:latin typeface="Times New Roman" charset="0"/>
                <a:ea typeface="楷体_GB2312" charset="0"/>
              </a:rPr>
              <a:t>        </a:t>
            </a:r>
            <a:r>
              <a:rPr kumimoji="1" lang="en-US" altLang="zh-CN" sz="2800" b="1">
                <a:latin typeface="Times New Roman" charset="0"/>
                <a:ea typeface="楷体_GB2312" charset="0"/>
              </a:rPr>
              <a:t>for</a:t>
            </a:r>
            <a:r>
              <a:rPr kumimoji="1" lang="en-US" altLang="zh-CN" sz="2800">
                <a:latin typeface="Times New Roman" charset="0"/>
                <a:ea typeface="楷体_GB2312" charset="0"/>
              </a:rPr>
              <a:t> (q=N.rpos[brow];  q&lt; t;  ++q) </a:t>
            </a:r>
            <a:r>
              <a:rPr kumimoji="1" lang="en-US" altLang="zh-CN" sz="2800" b="1">
                <a:latin typeface="Times New Roman" charset="0"/>
                <a:ea typeface="楷体_GB2312" charset="0"/>
              </a:rPr>
              <a:t>{</a:t>
            </a:r>
            <a:endParaRPr kumimoji="1" lang="en-US" altLang="zh-CN" sz="2800">
              <a:latin typeface="Times New Roman" charset="0"/>
              <a:ea typeface="楷体_GB2312" charset="0"/>
            </a:endParaRPr>
          </a:p>
          <a:p>
            <a:pPr eaLnBrk="1" hangingPunct="1"/>
            <a:r>
              <a:rPr kumimoji="1" lang="en-US" altLang="zh-CN" sz="2800">
                <a:latin typeface="Times New Roman" charset="0"/>
                <a:ea typeface="楷体_GB2312" charset="0"/>
              </a:rPr>
              <a:t>          ccol = N.data[q].j;            // </a:t>
            </a:r>
            <a:r>
              <a:rPr kumimoji="1" lang="zh-CN" altLang="en-US" sz="2800">
                <a:latin typeface="Times New Roman" charset="0"/>
                <a:ea typeface="楷体_GB2312" charset="0"/>
              </a:rPr>
              <a:t>乘积元素在</a:t>
            </a:r>
            <a:r>
              <a:rPr kumimoji="1" lang="en-US" altLang="zh-CN" sz="2800">
                <a:latin typeface="Times New Roman" charset="0"/>
                <a:ea typeface="楷体_GB2312" charset="0"/>
              </a:rPr>
              <a:t>Q</a:t>
            </a:r>
            <a:r>
              <a:rPr kumimoji="1" lang="zh-CN" altLang="en-US" sz="2800">
                <a:latin typeface="Times New Roman" charset="0"/>
                <a:ea typeface="楷体_GB2312" charset="0"/>
              </a:rPr>
              <a:t>中列号</a:t>
            </a:r>
          </a:p>
          <a:p>
            <a:pPr eaLnBrk="1" hangingPunct="1"/>
            <a:r>
              <a:rPr kumimoji="1" lang="zh-CN" altLang="en-US" sz="2800">
                <a:latin typeface="Times New Roman" charset="0"/>
                <a:ea typeface="楷体_GB2312" charset="0"/>
              </a:rPr>
              <a:t>          </a:t>
            </a:r>
            <a:r>
              <a:rPr kumimoji="1" lang="en-US" altLang="zh-CN" sz="2800">
                <a:latin typeface="Times New Roman" charset="0"/>
                <a:ea typeface="楷体_GB2312" charset="0"/>
              </a:rPr>
              <a:t>ctemp[ccol] += M.data[p].e * N.data[q].e;</a:t>
            </a:r>
          </a:p>
          <a:p>
            <a:pPr eaLnBrk="1" hangingPunct="1"/>
            <a:r>
              <a:rPr kumimoji="1" lang="en-US" altLang="zh-CN" sz="2800">
                <a:latin typeface="Times New Roman" charset="0"/>
                <a:ea typeface="楷体_GB2312" charset="0"/>
              </a:rPr>
              <a:t>        </a:t>
            </a:r>
            <a:r>
              <a:rPr kumimoji="1" lang="en-US" altLang="zh-CN" sz="2800" b="1">
                <a:latin typeface="Times New Roman" charset="0"/>
                <a:ea typeface="楷体_GB2312" charset="0"/>
              </a:rPr>
              <a:t>} </a:t>
            </a:r>
            <a:r>
              <a:rPr kumimoji="1" lang="en-US" altLang="zh-CN" sz="2800">
                <a:latin typeface="Times New Roman" charset="0"/>
                <a:ea typeface="楷体_GB2312" charset="0"/>
              </a:rPr>
              <a:t>// for q</a:t>
            </a:r>
          </a:p>
          <a:p>
            <a:pPr eaLnBrk="1" hangingPunct="1"/>
            <a:r>
              <a:rPr kumimoji="1" lang="en-US" altLang="zh-CN" sz="2800">
                <a:latin typeface="Times New Roman" charset="0"/>
                <a:ea typeface="楷体_GB2312" charset="0"/>
              </a:rPr>
              <a:t>      </a:t>
            </a:r>
            <a:r>
              <a:rPr kumimoji="1" lang="en-US" altLang="zh-CN" sz="2800" b="1">
                <a:latin typeface="Times New Roman" charset="0"/>
                <a:ea typeface="楷体_GB2312" charset="0"/>
              </a:rPr>
              <a:t>} </a:t>
            </a:r>
            <a:r>
              <a:rPr kumimoji="1" lang="en-US" altLang="zh-CN" sz="2800">
                <a:latin typeface="Times New Roman" charset="0"/>
                <a:ea typeface="楷体_GB2312" charset="0"/>
              </a:rPr>
              <a:t>// </a:t>
            </a:r>
            <a:r>
              <a:rPr kumimoji="1" lang="zh-CN" altLang="en-US" sz="2800">
                <a:latin typeface="Times New Roman" charset="0"/>
                <a:ea typeface="楷体_GB2312" charset="0"/>
              </a:rPr>
              <a:t>求得</a:t>
            </a:r>
            <a:r>
              <a:rPr kumimoji="1" lang="en-US" altLang="zh-CN" sz="2800">
                <a:latin typeface="Times New Roman" charset="0"/>
                <a:ea typeface="楷体_GB2312" charset="0"/>
              </a:rPr>
              <a:t>Q</a:t>
            </a:r>
            <a:r>
              <a:rPr kumimoji="1" lang="zh-CN" altLang="en-US" sz="2800">
                <a:latin typeface="Times New Roman" charset="0"/>
                <a:ea typeface="楷体_GB2312" charset="0"/>
              </a:rPr>
              <a:t>中第</a:t>
            </a:r>
            <a:r>
              <a:rPr kumimoji="1" lang="en-US" altLang="zh-CN" sz="2800">
                <a:latin typeface="Times New Roman" charset="0"/>
                <a:ea typeface="楷体_GB2312" charset="0"/>
              </a:rPr>
              <a:t>crow( =arow)</a:t>
            </a:r>
            <a:r>
              <a:rPr kumimoji="1" lang="zh-CN" altLang="en-US" sz="2800">
                <a:latin typeface="Times New Roman" charset="0"/>
                <a:ea typeface="楷体_GB2312" charset="0"/>
              </a:rPr>
              <a:t>行的非零元</a:t>
            </a:r>
          </a:p>
          <a:p>
            <a:pPr eaLnBrk="1" hangingPunct="1"/>
            <a:r>
              <a:rPr kumimoji="1" lang="zh-CN" altLang="en-US" sz="2800">
                <a:latin typeface="Times New Roman" charset="0"/>
                <a:ea typeface="楷体_GB2312" charset="0"/>
              </a:rPr>
              <a:t>      </a:t>
            </a:r>
            <a:r>
              <a:rPr kumimoji="1" lang="en-US" altLang="zh-CN" sz="2800" b="1">
                <a:latin typeface="Times New Roman" charset="0"/>
                <a:ea typeface="楷体_GB2312" charset="0"/>
              </a:rPr>
              <a:t>for</a:t>
            </a:r>
            <a:r>
              <a:rPr kumimoji="1" lang="en-US" altLang="zh-CN" sz="2800">
                <a:latin typeface="Times New Roman" charset="0"/>
                <a:ea typeface="楷体_GB2312" charset="0"/>
              </a:rPr>
              <a:t> (ccol=1; ccol&lt;=Q.nu; ++ccol) </a:t>
            </a:r>
            <a:r>
              <a:rPr kumimoji="1" lang="en-US" altLang="zh-CN" sz="2800" b="1">
                <a:latin typeface="Times New Roman" charset="0"/>
                <a:ea typeface="楷体_GB2312" charset="0"/>
              </a:rPr>
              <a:t>if</a:t>
            </a:r>
            <a:r>
              <a:rPr kumimoji="1" lang="en-US" altLang="zh-CN" sz="2800">
                <a:latin typeface="Times New Roman" charset="0"/>
                <a:ea typeface="楷体_GB2312" charset="0"/>
              </a:rPr>
              <a:t> (ctemp[ccol]) </a:t>
            </a:r>
            <a:r>
              <a:rPr kumimoji="1" lang="en-US" altLang="zh-CN" sz="2800" b="1">
                <a:latin typeface="Times New Roman" charset="0"/>
                <a:ea typeface="楷体_GB2312" charset="0"/>
              </a:rPr>
              <a:t>{</a:t>
            </a:r>
            <a:endParaRPr kumimoji="1" lang="en-US" altLang="zh-CN" sz="2800">
              <a:latin typeface="Times New Roman" charset="0"/>
              <a:ea typeface="楷体_GB2312" charset="0"/>
            </a:endParaRPr>
          </a:p>
          <a:p>
            <a:pPr eaLnBrk="1" hangingPunct="1"/>
            <a:r>
              <a:rPr kumimoji="1" lang="en-US" altLang="zh-CN" sz="2800">
                <a:latin typeface="Times New Roman" charset="0"/>
                <a:ea typeface="楷体_GB2312" charset="0"/>
              </a:rPr>
              <a:t>        </a:t>
            </a:r>
            <a:r>
              <a:rPr kumimoji="1" lang="en-US" altLang="zh-CN" sz="2800" b="1">
                <a:latin typeface="Times New Roman" charset="0"/>
                <a:ea typeface="楷体_GB2312" charset="0"/>
              </a:rPr>
              <a:t>if</a:t>
            </a:r>
            <a:r>
              <a:rPr kumimoji="1" lang="en-US" altLang="zh-CN" sz="2800">
                <a:latin typeface="Times New Roman" charset="0"/>
                <a:ea typeface="楷体_GB2312" charset="0"/>
              </a:rPr>
              <a:t> (++Q.tu &gt; MAXSIZE) </a:t>
            </a:r>
            <a:r>
              <a:rPr kumimoji="1" lang="en-US" altLang="zh-CN" sz="2800" b="1">
                <a:latin typeface="Times New Roman" charset="0"/>
                <a:ea typeface="楷体_GB2312" charset="0"/>
              </a:rPr>
              <a:t>return ERROR</a:t>
            </a:r>
            <a:r>
              <a:rPr kumimoji="1" lang="en-US" altLang="zh-CN" sz="2800">
                <a:latin typeface="Times New Roman" charset="0"/>
                <a:ea typeface="楷体_GB2312" charset="0"/>
              </a:rPr>
              <a:t>;</a:t>
            </a:r>
          </a:p>
          <a:p>
            <a:pPr eaLnBrk="1" hangingPunct="1"/>
            <a:r>
              <a:rPr kumimoji="1" lang="en-US" altLang="zh-CN" sz="2800">
                <a:latin typeface="Times New Roman" charset="0"/>
                <a:ea typeface="楷体_GB2312" charset="0"/>
              </a:rPr>
              <a:t>        Q.data[Q.tu] = {arow, ccol, ctemp[ccol]};</a:t>
            </a:r>
          </a:p>
          <a:p>
            <a:pPr eaLnBrk="1" hangingPunct="1"/>
            <a:r>
              <a:rPr kumimoji="1" lang="en-US" altLang="zh-CN" sz="2800">
                <a:latin typeface="Times New Roman" charset="0"/>
                <a:ea typeface="楷体_GB2312" charset="0"/>
              </a:rPr>
              <a:t>      </a:t>
            </a:r>
            <a:r>
              <a:rPr kumimoji="1" lang="en-US" altLang="zh-CN" sz="2800" b="1">
                <a:latin typeface="Times New Roman" charset="0"/>
                <a:ea typeface="楷体_GB2312" charset="0"/>
              </a:rPr>
              <a:t>} </a:t>
            </a:r>
            <a:r>
              <a:rPr kumimoji="1" lang="en-US" altLang="zh-CN" sz="2800">
                <a:latin typeface="Times New Roman" charset="0"/>
                <a:ea typeface="楷体_GB2312" charset="0"/>
              </a:rPr>
              <a:t>// if</a:t>
            </a:r>
          </a:p>
        </p:txBody>
      </p:sp>
      <p:sp>
        <p:nvSpPr>
          <p:cNvPr id="59395" name="Text Box 3"/>
          <p:cNvSpPr txBox="1">
            <a:spLocks noChangeArrowheads="1"/>
          </p:cNvSpPr>
          <p:nvPr/>
        </p:nvSpPr>
        <p:spPr bwMode="auto">
          <a:xfrm>
            <a:off x="257175" y="1630363"/>
            <a:ext cx="733425" cy="329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solidFill>
                  <a:srgbClr val="FF0000"/>
                </a:solidFill>
                <a:latin typeface="Times New Roman" charset="0"/>
                <a:ea typeface="楷体_GB2312" charset="0"/>
              </a:rPr>
              <a:t>处理    的每一行</a:t>
            </a:r>
            <a:endParaRPr kumimoji="1" lang="zh-CN" altLang="en-US" sz="2400">
              <a:latin typeface="Times New Roman" charset="0"/>
            </a:endParaRPr>
          </a:p>
        </p:txBody>
      </p:sp>
      <p:sp>
        <p:nvSpPr>
          <p:cNvPr id="59396" name="Text Box 4"/>
          <p:cNvSpPr txBox="1">
            <a:spLocks noChangeArrowheads="1"/>
          </p:cNvSpPr>
          <p:nvPr/>
        </p:nvSpPr>
        <p:spPr bwMode="auto">
          <a:xfrm>
            <a:off x="323850" y="2482850"/>
            <a:ext cx="590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solidFill>
                  <a:srgbClr val="FF0000"/>
                </a:solidFill>
                <a:latin typeface="Times New Roman" charset="0"/>
                <a:ea typeface="楷体_GB2312" charset="0"/>
              </a:rPr>
              <a:t>M</a:t>
            </a:r>
          </a:p>
        </p:txBody>
      </p:sp>
    </p:spTree>
    <p:extLst>
      <p:ext uri="{BB962C8B-B14F-4D97-AF65-F5344CB8AC3E}">
        <p14:creationId xmlns:p14="http://schemas.microsoft.com/office/powerpoint/2010/main" val="17987498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box(out)">
                                      <p:cBhvr>
                                        <p:cTn id="7" dur="500"/>
                                        <p:tgtEl>
                                          <p:spTgt spid="207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447800" y="304800"/>
            <a:ext cx="628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FF0000"/>
                </a:solidFill>
                <a:latin typeface="Times New Roman" charset="0"/>
                <a:ea typeface="楷体_GB2312" charset="0"/>
              </a:rPr>
              <a:t>分析上述算法的时间复杂度</a:t>
            </a:r>
          </a:p>
        </p:txBody>
      </p:sp>
      <p:sp>
        <p:nvSpPr>
          <p:cNvPr id="60419" name="Text Box 3"/>
          <p:cNvSpPr txBox="1">
            <a:spLocks noChangeArrowheads="1"/>
          </p:cNvSpPr>
          <p:nvPr/>
        </p:nvSpPr>
        <p:spPr bwMode="auto">
          <a:xfrm>
            <a:off x="0" y="1158875"/>
            <a:ext cx="963136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800">
                <a:latin typeface="Times New Roman" charset="0"/>
                <a:ea typeface="楷体_GB2312" charset="0"/>
              </a:rPr>
              <a:t>累加器</a:t>
            </a:r>
            <a:r>
              <a:rPr kumimoji="1" lang="en-US" altLang="zh-CN" sz="2800">
                <a:solidFill>
                  <a:srgbClr val="0000FF"/>
                </a:solidFill>
                <a:latin typeface="Times New Roman" charset="0"/>
                <a:ea typeface="楷体_GB2312" charset="0"/>
              </a:rPr>
              <a:t>ctemp</a:t>
            </a:r>
            <a:r>
              <a:rPr kumimoji="1" lang="zh-CN" altLang="en-US" sz="2800">
                <a:solidFill>
                  <a:srgbClr val="0000FF"/>
                </a:solidFill>
                <a:latin typeface="Times New Roman" charset="0"/>
                <a:ea typeface="楷体_GB2312" charset="0"/>
              </a:rPr>
              <a:t>初始化</a:t>
            </a:r>
            <a:r>
              <a:rPr kumimoji="1" lang="zh-CN" altLang="en-US" sz="2800">
                <a:latin typeface="Times New Roman" charset="0"/>
                <a:ea typeface="楷体_GB2312" charset="0"/>
              </a:rPr>
              <a:t>的时间复杂度为</a:t>
            </a:r>
            <a:r>
              <a:rPr kumimoji="1" lang="zh-CN" altLang="en-US"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(M.mu</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N.nu)</a:t>
            </a:r>
            <a:r>
              <a:rPr kumimoji="1" lang="zh-CN" altLang="en-US" sz="3200">
                <a:latin typeface="Times New Roman" charset="0"/>
                <a:ea typeface="楷体_GB2312" charset="0"/>
              </a:rPr>
              <a:t>，</a:t>
            </a:r>
          </a:p>
          <a:p>
            <a:pPr eaLnBrk="1" hangingPunct="1"/>
            <a:r>
              <a:rPr kumimoji="1" lang="zh-CN" altLang="en-US" sz="2800">
                <a:solidFill>
                  <a:srgbClr val="0000FF"/>
                </a:solidFill>
                <a:latin typeface="Times New Roman" charset="0"/>
                <a:ea typeface="楷体_GB2312" charset="0"/>
              </a:rPr>
              <a:t>求</a:t>
            </a:r>
            <a:r>
              <a:rPr kumimoji="1" lang="en-US" altLang="zh-CN" sz="2800">
                <a:solidFill>
                  <a:srgbClr val="0000FF"/>
                </a:solidFill>
                <a:latin typeface="Times New Roman" charset="0"/>
                <a:ea typeface="楷体_GB2312" charset="0"/>
              </a:rPr>
              <a:t>Q</a:t>
            </a:r>
            <a:r>
              <a:rPr kumimoji="1" lang="zh-CN" altLang="en-US" sz="2800">
                <a:solidFill>
                  <a:srgbClr val="0000FF"/>
                </a:solidFill>
                <a:latin typeface="Times New Roman" charset="0"/>
                <a:ea typeface="楷体_GB2312" charset="0"/>
              </a:rPr>
              <a:t>的所有非零元</a:t>
            </a:r>
            <a:r>
              <a:rPr kumimoji="1" lang="zh-CN" altLang="en-US" sz="2800">
                <a:latin typeface="Times New Roman" charset="0"/>
                <a:ea typeface="楷体_GB2312" charset="0"/>
              </a:rPr>
              <a:t>的时间复杂度为</a:t>
            </a:r>
            <a:r>
              <a:rPr kumimoji="1" lang="zh-CN" altLang="en-US"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(M.tu</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N.tu/N.mu)</a:t>
            </a:r>
            <a:r>
              <a:rPr kumimoji="1" lang="zh-CN" altLang="en-US" sz="3200">
                <a:latin typeface="Times New Roman" charset="0"/>
                <a:ea typeface="楷体_GB2312" charset="0"/>
              </a:rPr>
              <a:t>，</a:t>
            </a:r>
          </a:p>
          <a:p>
            <a:pPr eaLnBrk="1" hangingPunct="1"/>
            <a:r>
              <a:rPr kumimoji="1" lang="zh-CN" altLang="en-US" sz="2800">
                <a:latin typeface="Times New Roman" charset="0"/>
                <a:ea typeface="楷体_GB2312" charset="0"/>
              </a:rPr>
              <a:t>进行</a:t>
            </a:r>
            <a:r>
              <a:rPr kumimoji="1" lang="zh-CN" altLang="en-US" sz="2800">
                <a:solidFill>
                  <a:srgbClr val="0000FF"/>
                </a:solidFill>
                <a:latin typeface="Times New Roman" charset="0"/>
                <a:ea typeface="楷体_GB2312" charset="0"/>
              </a:rPr>
              <a:t>压缩存储</a:t>
            </a:r>
            <a:r>
              <a:rPr kumimoji="1" lang="zh-CN" altLang="en-US" sz="2800">
                <a:latin typeface="Times New Roman" charset="0"/>
                <a:ea typeface="楷体_GB2312" charset="0"/>
              </a:rPr>
              <a:t>的时间复杂度为</a:t>
            </a:r>
            <a:r>
              <a:rPr kumimoji="1" lang="zh-CN" altLang="en-US"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(M.mu</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N.nu)</a:t>
            </a:r>
            <a:r>
              <a:rPr kumimoji="1" lang="zh-CN" altLang="en-US" sz="3200">
                <a:latin typeface="Times New Roman" charset="0"/>
                <a:ea typeface="楷体_GB2312" charset="0"/>
              </a:rPr>
              <a:t>，</a:t>
            </a:r>
          </a:p>
          <a:p>
            <a:pPr eaLnBrk="1" hangingPunct="1"/>
            <a:r>
              <a:rPr kumimoji="1" lang="zh-CN" altLang="en-US" sz="2800" b="1">
                <a:solidFill>
                  <a:srgbClr val="FF0000"/>
                </a:solidFill>
                <a:latin typeface="Times New Roman" charset="0"/>
                <a:ea typeface="楷体_GB2312" charset="0"/>
              </a:rPr>
              <a:t>总的时间复杂度就是</a:t>
            </a:r>
            <a:r>
              <a:rPr kumimoji="1" lang="zh-CN" altLang="en-US" sz="3200" b="1">
                <a:solidFill>
                  <a:srgbClr val="FF0000"/>
                </a:solidFill>
                <a:latin typeface="Times New Roman" charset="0"/>
                <a:ea typeface="楷体_GB2312" charset="0"/>
                <a:sym typeface="Symbol" charset="2"/>
              </a:rPr>
              <a:t></a:t>
            </a:r>
            <a:r>
              <a:rPr kumimoji="1" lang="en-US" altLang="zh-CN" sz="3200" b="1">
                <a:solidFill>
                  <a:srgbClr val="FF0000"/>
                </a:solidFill>
                <a:latin typeface="Times New Roman" charset="0"/>
                <a:ea typeface="楷体_GB2312" charset="0"/>
              </a:rPr>
              <a:t>(M.mu</a:t>
            </a:r>
            <a:r>
              <a:rPr kumimoji="1" lang="en-US" altLang="zh-CN" sz="3200" b="1">
                <a:solidFill>
                  <a:srgbClr val="FF0000"/>
                </a:solidFill>
                <a:latin typeface="Times New Roman" charset="0"/>
                <a:ea typeface="楷体_GB2312" charset="0"/>
                <a:sym typeface="Symbol" charset="2"/>
              </a:rPr>
              <a:t></a:t>
            </a:r>
            <a:r>
              <a:rPr kumimoji="1" lang="en-US" altLang="zh-CN" sz="3200" b="1">
                <a:solidFill>
                  <a:srgbClr val="FF0000"/>
                </a:solidFill>
                <a:latin typeface="Times New Roman" charset="0"/>
                <a:ea typeface="楷体_GB2312" charset="0"/>
              </a:rPr>
              <a:t>N.nu+M.tu</a:t>
            </a:r>
            <a:r>
              <a:rPr kumimoji="1" lang="en-US" altLang="zh-CN" sz="3200" b="1">
                <a:solidFill>
                  <a:srgbClr val="FF0000"/>
                </a:solidFill>
                <a:latin typeface="Times New Roman" charset="0"/>
                <a:ea typeface="楷体_GB2312" charset="0"/>
                <a:sym typeface="Symbol" charset="2"/>
              </a:rPr>
              <a:t></a:t>
            </a:r>
            <a:r>
              <a:rPr kumimoji="1" lang="en-US" altLang="zh-CN" sz="3200" b="1">
                <a:solidFill>
                  <a:srgbClr val="FF0000"/>
                </a:solidFill>
                <a:latin typeface="Times New Roman" charset="0"/>
                <a:ea typeface="楷体_GB2312" charset="0"/>
              </a:rPr>
              <a:t>N.tu/N.mu)</a:t>
            </a:r>
            <a:r>
              <a:rPr kumimoji="1" lang="zh-CN" altLang="en-US" sz="3200">
                <a:latin typeface="Times New Roman" charset="0"/>
                <a:ea typeface="楷体_GB2312" charset="0"/>
              </a:rPr>
              <a:t>。</a:t>
            </a:r>
          </a:p>
        </p:txBody>
      </p:sp>
      <p:sp>
        <p:nvSpPr>
          <p:cNvPr id="60420" name="Text Box 4"/>
          <p:cNvSpPr txBox="1">
            <a:spLocks noChangeArrowheads="1"/>
          </p:cNvSpPr>
          <p:nvPr/>
        </p:nvSpPr>
        <p:spPr bwMode="auto">
          <a:xfrm>
            <a:off x="-38100" y="3200400"/>
            <a:ext cx="9486900" cy="301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a:latin typeface="Times New Roman" charset="0"/>
                <a:ea typeface="楷体_GB2312" charset="0"/>
              </a:rPr>
              <a:t>若</a:t>
            </a:r>
            <a:r>
              <a:rPr kumimoji="1" lang="en-US" altLang="zh-CN" sz="3200">
                <a:latin typeface="Times New Roman" charset="0"/>
                <a:ea typeface="楷体_GB2312" charset="0"/>
              </a:rPr>
              <a:t>M</a:t>
            </a:r>
            <a:r>
              <a:rPr kumimoji="1" lang="zh-CN" altLang="en-US" sz="3200">
                <a:latin typeface="Times New Roman" charset="0"/>
                <a:ea typeface="楷体_GB2312" charset="0"/>
              </a:rPr>
              <a:t>是</a:t>
            </a:r>
            <a:r>
              <a:rPr kumimoji="1" lang="en-US" altLang="zh-CN" sz="3200">
                <a:latin typeface="Times New Roman" charset="0"/>
                <a:ea typeface="楷体_GB2312" charset="0"/>
              </a:rPr>
              <a:t>m</a:t>
            </a:r>
            <a:r>
              <a:rPr kumimoji="1" lang="zh-CN" altLang="en-US" sz="3200">
                <a:latin typeface="Times New Roman" charset="0"/>
                <a:ea typeface="楷体_GB2312" charset="0"/>
              </a:rPr>
              <a:t>行</a:t>
            </a:r>
            <a:r>
              <a:rPr kumimoji="1" lang="en-US" altLang="zh-CN" sz="3200">
                <a:latin typeface="Times New Roman" charset="0"/>
                <a:ea typeface="楷体_GB2312" charset="0"/>
              </a:rPr>
              <a:t>n</a:t>
            </a:r>
            <a:r>
              <a:rPr kumimoji="1" lang="zh-CN" altLang="en-US" sz="3200">
                <a:latin typeface="Times New Roman" charset="0"/>
                <a:ea typeface="楷体_GB2312" charset="0"/>
              </a:rPr>
              <a:t>列的稀疏矩阵，</a:t>
            </a:r>
            <a:r>
              <a:rPr kumimoji="1" lang="en-US" altLang="zh-CN" sz="3200">
                <a:latin typeface="Times New Roman" charset="0"/>
                <a:ea typeface="楷体_GB2312" charset="0"/>
              </a:rPr>
              <a:t>N</a:t>
            </a:r>
            <a:r>
              <a:rPr kumimoji="1" lang="zh-CN" altLang="en-US" sz="3200">
                <a:latin typeface="Times New Roman" charset="0"/>
                <a:ea typeface="楷体_GB2312" charset="0"/>
              </a:rPr>
              <a:t>是</a:t>
            </a:r>
            <a:r>
              <a:rPr kumimoji="1" lang="en-US" altLang="zh-CN" sz="3200">
                <a:latin typeface="Times New Roman" charset="0"/>
                <a:ea typeface="楷体_GB2312" charset="0"/>
              </a:rPr>
              <a:t>n</a:t>
            </a:r>
            <a:r>
              <a:rPr kumimoji="1" lang="zh-CN" altLang="en-US" sz="3200">
                <a:latin typeface="Times New Roman" charset="0"/>
                <a:ea typeface="楷体_GB2312" charset="0"/>
              </a:rPr>
              <a:t>行</a:t>
            </a:r>
            <a:r>
              <a:rPr kumimoji="1" lang="en-US" altLang="zh-CN" sz="3200">
                <a:latin typeface="Times New Roman" charset="0"/>
                <a:ea typeface="楷体_GB2312" charset="0"/>
              </a:rPr>
              <a:t>p</a:t>
            </a:r>
            <a:r>
              <a:rPr kumimoji="1" lang="zh-CN" altLang="en-US" sz="3200">
                <a:latin typeface="Times New Roman" charset="0"/>
                <a:ea typeface="楷体_GB2312" charset="0"/>
              </a:rPr>
              <a:t>列的稀疏矩阵，</a:t>
            </a:r>
          </a:p>
          <a:p>
            <a:pPr eaLnBrk="1" hangingPunct="1"/>
            <a:r>
              <a:rPr kumimoji="1" lang="zh-CN" altLang="en-US" sz="3200">
                <a:latin typeface="Times New Roman" charset="0"/>
                <a:ea typeface="楷体_GB2312" charset="0"/>
              </a:rPr>
              <a:t>则</a:t>
            </a:r>
            <a:r>
              <a:rPr kumimoji="1" lang="en-US" altLang="zh-CN" sz="3200">
                <a:latin typeface="Times New Roman" charset="0"/>
                <a:ea typeface="楷体_GB2312" charset="0"/>
              </a:rPr>
              <a:t>M</a:t>
            </a:r>
            <a:r>
              <a:rPr kumimoji="1" lang="zh-CN" altLang="en-US" sz="3200">
                <a:latin typeface="Times New Roman" charset="0"/>
                <a:ea typeface="楷体_GB2312" charset="0"/>
              </a:rPr>
              <a:t>中非零元的个数 </a:t>
            </a:r>
            <a:r>
              <a:rPr kumimoji="1" lang="en-US" altLang="zh-CN" sz="3200">
                <a:solidFill>
                  <a:srgbClr val="FF0000"/>
                </a:solidFill>
                <a:latin typeface="Times New Roman" charset="0"/>
                <a:ea typeface="楷体_GB2312" charset="0"/>
              </a:rPr>
              <a:t>M.tu = </a:t>
            </a:r>
            <a:r>
              <a:rPr kumimoji="1" lang="en-US" altLang="zh-CN" sz="3200">
                <a:solidFill>
                  <a:srgbClr val="FF0000"/>
                </a:solidFill>
                <a:latin typeface="Times New Roman" charset="0"/>
                <a:ea typeface="楷体_GB2312" charset="0"/>
                <a:sym typeface="Symbol" charset="2"/>
              </a:rPr>
              <a:t></a:t>
            </a:r>
            <a:r>
              <a:rPr kumimoji="1" lang="en-US" altLang="zh-CN" sz="3200" baseline="-25000">
                <a:solidFill>
                  <a:srgbClr val="FF0000"/>
                </a:solidFill>
                <a:latin typeface="Times New Roman" charset="0"/>
                <a:ea typeface="楷体_GB2312" charset="0"/>
              </a:rPr>
              <a:t>M</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m</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n</a:t>
            </a:r>
            <a:r>
              <a:rPr kumimoji="1" lang="zh-CN" altLang="en-US" sz="3200">
                <a:latin typeface="Times New Roman" charset="0"/>
                <a:ea typeface="楷体_GB2312" charset="0"/>
              </a:rPr>
              <a:t>，</a:t>
            </a:r>
          </a:p>
          <a:p>
            <a:pPr eaLnBrk="1" hangingPunct="1"/>
            <a:r>
              <a:rPr kumimoji="1" lang="zh-CN" altLang="en-US" sz="3200">
                <a:latin typeface="Times New Roman" charset="0"/>
                <a:ea typeface="楷体_GB2312" charset="0"/>
              </a:rPr>
              <a:t>   </a:t>
            </a:r>
            <a:r>
              <a:rPr kumimoji="1" lang="en-US" altLang="zh-CN" sz="3200">
                <a:latin typeface="Times New Roman" charset="0"/>
                <a:ea typeface="楷体_GB2312" charset="0"/>
              </a:rPr>
              <a:t>N</a:t>
            </a:r>
            <a:r>
              <a:rPr kumimoji="1" lang="zh-CN" altLang="en-US" sz="3200">
                <a:latin typeface="Times New Roman" charset="0"/>
                <a:ea typeface="楷体_GB2312" charset="0"/>
              </a:rPr>
              <a:t>中非零元的个数</a:t>
            </a:r>
            <a:r>
              <a:rPr kumimoji="1" lang="zh-CN" altLang="en-US" sz="3200">
                <a:solidFill>
                  <a:srgbClr val="FF0000"/>
                </a:solidFill>
                <a:latin typeface="Times New Roman" charset="0"/>
                <a:ea typeface="楷体_GB2312" charset="0"/>
              </a:rPr>
              <a:t> </a:t>
            </a:r>
            <a:r>
              <a:rPr kumimoji="1" lang="en-US" altLang="zh-CN" sz="3200">
                <a:solidFill>
                  <a:srgbClr val="FF0000"/>
                </a:solidFill>
                <a:latin typeface="Times New Roman" charset="0"/>
                <a:ea typeface="楷体_GB2312" charset="0"/>
              </a:rPr>
              <a:t>N.tu = </a:t>
            </a:r>
            <a:r>
              <a:rPr kumimoji="1" lang="en-US" altLang="zh-CN" sz="3200">
                <a:solidFill>
                  <a:srgbClr val="FF0000"/>
                </a:solidFill>
                <a:latin typeface="Times New Roman" charset="0"/>
                <a:ea typeface="楷体_GB2312" charset="0"/>
                <a:sym typeface="Symbol" charset="2"/>
              </a:rPr>
              <a:t></a:t>
            </a:r>
            <a:r>
              <a:rPr kumimoji="1" lang="en-US" altLang="zh-CN" sz="3200" baseline="-25000">
                <a:solidFill>
                  <a:srgbClr val="FF0000"/>
                </a:solidFill>
                <a:latin typeface="Times New Roman" charset="0"/>
                <a:ea typeface="楷体_GB2312" charset="0"/>
              </a:rPr>
              <a:t>N</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n</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p</a:t>
            </a:r>
            <a:r>
              <a:rPr kumimoji="1" lang="zh-CN" altLang="en-US" sz="3200">
                <a:latin typeface="Times New Roman" charset="0"/>
                <a:ea typeface="楷体_GB2312" charset="0"/>
              </a:rPr>
              <a:t>，</a:t>
            </a:r>
          </a:p>
          <a:p>
            <a:pPr eaLnBrk="1" hangingPunct="1"/>
            <a:r>
              <a:rPr kumimoji="1" lang="zh-CN" altLang="en-US" sz="3200">
                <a:latin typeface="Times New Roman" charset="0"/>
                <a:ea typeface="楷体_GB2312" charset="0"/>
              </a:rPr>
              <a:t>相乘算法的时间复杂度就是 </a:t>
            </a:r>
            <a:r>
              <a:rPr kumimoji="1" lang="zh-CN" altLang="en-US"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(m</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p</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(1+n</a:t>
            </a:r>
            <a:r>
              <a:rPr kumimoji="1" lang="en-US" altLang="zh-CN" sz="3200">
                <a:solidFill>
                  <a:srgbClr val="FF0000"/>
                </a:solidFill>
                <a:latin typeface="Times New Roman" charset="0"/>
                <a:ea typeface="楷体_GB2312" charset="0"/>
                <a:sym typeface="Symbol" charset="2"/>
              </a:rPr>
              <a:t></a:t>
            </a:r>
            <a:r>
              <a:rPr kumimoji="1" lang="en-US" altLang="zh-CN" sz="3200" baseline="-25000">
                <a:solidFill>
                  <a:srgbClr val="FF0000"/>
                </a:solidFill>
                <a:latin typeface="Times New Roman" charset="0"/>
                <a:ea typeface="楷体_GB2312" charset="0"/>
              </a:rPr>
              <a:t>M</a:t>
            </a:r>
            <a:r>
              <a:rPr kumimoji="1" lang="en-US" altLang="zh-CN" sz="3200">
                <a:solidFill>
                  <a:srgbClr val="FF0000"/>
                </a:solidFill>
                <a:latin typeface="Times New Roman" charset="0"/>
                <a:ea typeface="楷体_GB2312" charset="0"/>
                <a:sym typeface="Symbol" charset="2"/>
              </a:rPr>
              <a:t></a:t>
            </a:r>
            <a:r>
              <a:rPr kumimoji="1" lang="en-US" altLang="zh-CN" sz="3200" baseline="-25000">
                <a:solidFill>
                  <a:srgbClr val="FF0000"/>
                </a:solidFill>
                <a:latin typeface="Times New Roman" charset="0"/>
                <a:ea typeface="楷体_GB2312" charset="0"/>
              </a:rPr>
              <a:t>N</a:t>
            </a:r>
            <a:r>
              <a:rPr kumimoji="1" lang="en-US" altLang="zh-CN" sz="3200">
                <a:solidFill>
                  <a:srgbClr val="FF0000"/>
                </a:solidFill>
                <a:latin typeface="Times New Roman" charset="0"/>
                <a:ea typeface="楷体_GB2312" charset="0"/>
              </a:rPr>
              <a:t>))</a:t>
            </a:r>
            <a:r>
              <a:rPr kumimoji="1" lang="en-US" altLang="zh-CN" sz="3200">
                <a:latin typeface="Times New Roman" charset="0"/>
                <a:ea typeface="楷体_GB2312" charset="0"/>
              </a:rPr>
              <a:t> </a:t>
            </a:r>
            <a:r>
              <a:rPr kumimoji="1" lang="zh-CN" altLang="en-US" sz="3200">
                <a:latin typeface="Times New Roman" charset="0"/>
                <a:ea typeface="楷体_GB2312" charset="0"/>
              </a:rPr>
              <a:t>，</a:t>
            </a:r>
          </a:p>
          <a:p>
            <a:pPr eaLnBrk="1" hangingPunct="1"/>
            <a:r>
              <a:rPr kumimoji="1" lang="zh-CN" altLang="en-US" sz="3200">
                <a:latin typeface="Times New Roman" charset="0"/>
                <a:ea typeface="楷体_GB2312" charset="0"/>
              </a:rPr>
              <a:t>当</a:t>
            </a:r>
            <a:r>
              <a:rPr kumimoji="1" lang="zh-CN" altLang="en-US" sz="3200">
                <a:solidFill>
                  <a:srgbClr val="FF0000"/>
                </a:solidFill>
                <a:latin typeface="Times New Roman" charset="0"/>
                <a:ea typeface="楷体_GB2312" charset="0"/>
                <a:sym typeface="Symbol" charset="2"/>
              </a:rPr>
              <a:t></a:t>
            </a:r>
            <a:r>
              <a:rPr kumimoji="1" lang="en-US" altLang="zh-CN" sz="3200" baseline="-25000">
                <a:solidFill>
                  <a:srgbClr val="FF0000"/>
                </a:solidFill>
                <a:latin typeface="Times New Roman" charset="0"/>
                <a:ea typeface="楷体_GB2312" charset="0"/>
              </a:rPr>
              <a:t>M</a:t>
            </a:r>
            <a:r>
              <a:rPr kumimoji="1" lang="en-US" altLang="zh-CN" sz="3200">
                <a:solidFill>
                  <a:srgbClr val="FF0000"/>
                </a:solidFill>
                <a:latin typeface="Times New Roman" charset="0"/>
                <a:ea typeface="楷体_GB2312" charset="0"/>
              </a:rPr>
              <a:t>&lt;0.05 </a:t>
            </a:r>
            <a:r>
              <a:rPr kumimoji="1" lang="zh-CN" altLang="en-US" sz="3200">
                <a:solidFill>
                  <a:srgbClr val="FF0000"/>
                </a:solidFill>
                <a:latin typeface="Times New Roman" charset="0"/>
                <a:ea typeface="楷体_GB2312" charset="0"/>
              </a:rPr>
              <a:t>和</a:t>
            </a:r>
            <a:r>
              <a:rPr kumimoji="1" lang="zh-CN" altLang="en-US" sz="3200">
                <a:solidFill>
                  <a:srgbClr val="FF0000"/>
                </a:solidFill>
                <a:latin typeface="Times New Roman" charset="0"/>
                <a:ea typeface="楷体_GB2312" charset="0"/>
                <a:sym typeface="Symbol" charset="2"/>
              </a:rPr>
              <a:t></a:t>
            </a:r>
            <a:r>
              <a:rPr kumimoji="1" lang="en-US" altLang="zh-CN" sz="3200" baseline="-25000">
                <a:solidFill>
                  <a:srgbClr val="FF0000"/>
                </a:solidFill>
                <a:latin typeface="Times New Roman" charset="0"/>
                <a:ea typeface="楷体_GB2312" charset="0"/>
              </a:rPr>
              <a:t>N</a:t>
            </a:r>
            <a:r>
              <a:rPr kumimoji="1" lang="en-US" altLang="zh-CN" sz="3200">
                <a:solidFill>
                  <a:srgbClr val="FF0000"/>
                </a:solidFill>
                <a:latin typeface="Times New Roman" charset="0"/>
                <a:ea typeface="楷体_GB2312" charset="0"/>
              </a:rPr>
              <a:t>&lt;0.05</a:t>
            </a:r>
            <a:r>
              <a:rPr kumimoji="1" lang="zh-CN" altLang="en-US" sz="3200">
                <a:solidFill>
                  <a:srgbClr val="FF0000"/>
                </a:solidFill>
                <a:latin typeface="Times New Roman" charset="0"/>
                <a:ea typeface="楷体_GB2312" charset="0"/>
              </a:rPr>
              <a:t>及 </a:t>
            </a:r>
            <a:r>
              <a:rPr kumimoji="1" lang="en-US" altLang="zh-CN" sz="3200">
                <a:solidFill>
                  <a:srgbClr val="FF0000"/>
                </a:solidFill>
                <a:latin typeface="Times New Roman" charset="0"/>
                <a:ea typeface="楷体_GB2312" charset="0"/>
              </a:rPr>
              <a:t>n &lt;1000</a:t>
            </a:r>
            <a:r>
              <a:rPr kumimoji="1" lang="zh-CN" altLang="en-US" sz="3200">
                <a:latin typeface="Times New Roman" charset="0"/>
                <a:ea typeface="楷体_GB2312" charset="0"/>
              </a:rPr>
              <a:t>时，</a:t>
            </a:r>
          </a:p>
          <a:p>
            <a:pPr eaLnBrk="1" hangingPunct="1"/>
            <a:r>
              <a:rPr kumimoji="1" lang="zh-CN" altLang="en-US" sz="3200">
                <a:latin typeface="Times New Roman" charset="0"/>
                <a:ea typeface="楷体_GB2312" charset="0"/>
              </a:rPr>
              <a:t>相乘算法的时间复杂度就相当于 </a:t>
            </a:r>
            <a:r>
              <a:rPr kumimoji="1" lang="zh-CN" altLang="en-US"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(m</a:t>
            </a:r>
            <a:r>
              <a:rPr kumimoji="1" lang="en-US" altLang="zh-CN" sz="3200">
                <a:solidFill>
                  <a:srgbClr val="FF0000"/>
                </a:solidFill>
                <a:latin typeface="Times New Roman" charset="0"/>
                <a:ea typeface="楷体_GB2312" charset="0"/>
                <a:sym typeface="Symbol" charset="2"/>
              </a:rPr>
              <a:t></a:t>
            </a:r>
            <a:r>
              <a:rPr kumimoji="1" lang="en-US" altLang="zh-CN" sz="3200">
                <a:solidFill>
                  <a:srgbClr val="FF0000"/>
                </a:solidFill>
                <a:latin typeface="Times New Roman" charset="0"/>
                <a:ea typeface="楷体_GB2312" charset="0"/>
              </a:rPr>
              <a:t>p)</a:t>
            </a:r>
            <a:r>
              <a:rPr kumimoji="1" lang="zh-CN" altLang="en-US" sz="3200">
                <a:solidFill>
                  <a:srgbClr val="FF0000"/>
                </a:solidFill>
                <a:latin typeface="Times New Roman" charset="0"/>
                <a:ea typeface="楷体_GB2312" charset="0"/>
              </a:rPr>
              <a:t>。</a:t>
            </a:r>
          </a:p>
        </p:txBody>
      </p:sp>
    </p:spTree>
    <p:extLst>
      <p:ext uri="{BB962C8B-B14F-4D97-AF65-F5344CB8AC3E}">
        <p14:creationId xmlns:p14="http://schemas.microsoft.com/office/powerpoint/2010/main" val="435364458"/>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a:xfrm>
            <a:off x="838200" y="1066800"/>
            <a:ext cx="7772400" cy="5308600"/>
          </a:xfrm>
        </p:spPr>
        <p:txBody>
          <a:bodyPr/>
          <a:lstStyle/>
          <a:p>
            <a:pPr marL="609600" indent="-609600" eaLnBrk="1" hangingPunct="1"/>
            <a:r>
              <a:rPr lang="zh-CN" altLang="en-US" b="1">
                <a:ea typeface="楷体_GB2312" charset="0"/>
              </a:rPr>
              <a:t>三元组顺序表的局限：若非零元个数和位置在操作中变化较大，则会造成大量的移动</a:t>
            </a:r>
            <a:r>
              <a:rPr lang="en-US" altLang="zh-CN" b="1">
                <a:ea typeface="楷体_GB2312" charset="0"/>
              </a:rPr>
              <a:t>——</a:t>
            </a:r>
            <a:r>
              <a:rPr lang="zh-CN" altLang="en-US" b="1">
                <a:ea typeface="楷体_GB2312" charset="0"/>
              </a:rPr>
              <a:t>考虑链式存储。</a:t>
            </a:r>
          </a:p>
          <a:p>
            <a:pPr marL="609600" indent="-609600" eaLnBrk="1" hangingPunct="1"/>
            <a:r>
              <a:rPr lang="en-US" altLang="zh-CN" b="1">
                <a:ea typeface="楷体_GB2312" charset="0"/>
              </a:rPr>
              <a:t>·</a:t>
            </a:r>
            <a:r>
              <a:rPr lang="zh-CN" altLang="en-US" b="1">
                <a:ea typeface="楷体_GB2312" charset="0"/>
              </a:rPr>
              <a:t>结点：非零元的信息（三元组）、所在行和列的后继链域</a:t>
            </a:r>
          </a:p>
          <a:p>
            <a:pPr marL="609600" indent="-609600" eaLnBrk="1" hangingPunct="1"/>
            <a:r>
              <a:rPr lang="en-US" altLang="zh-CN" b="1">
                <a:ea typeface="楷体_GB2312" charset="0"/>
              </a:rPr>
              <a:t>·“</a:t>
            </a:r>
            <a:r>
              <a:rPr lang="zh-CN" altLang="en-US" b="1">
                <a:ea typeface="楷体_GB2312" charset="0"/>
              </a:rPr>
              <a:t>十字”：每一个非零元结点既是某行链表中的一个结点，又是某列链表中的一个结点。</a:t>
            </a:r>
          </a:p>
          <a:p>
            <a:pPr marL="609600" indent="-609600" eaLnBrk="1" hangingPunct="1"/>
            <a:r>
              <a:rPr lang="en-US" altLang="zh-CN" b="1">
                <a:ea typeface="楷体_GB2312" charset="0"/>
              </a:rPr>
              <a:t>·</a:t>
            </a:r>
            <a:r>
              <a:rPr lang="zh-CN" altLang="en-US" b="1">
                <a:ea typeface="楷体_GB2312" charset="0"/>
              </a:rPr>
              <a:t>稀疏矩阵的规模：行数、列数以及非零元的个数</a:t>
            </a:r>
          </a:p>
        </p:txBody>
      </p:sp>
      <p:sp>
        <p:nvSpPr>
          <p:cNvPr id="61443" name="Text Box 3"/>
          <p:cNvSpPr txBox="1">
            <a:spLocks noChangeArrowheads="1"/>
          </p:cNvSpPr>
          <p:nvPr/>
        </p:nvSpPr>
        <p:spPr bwMode="auto">
          <a:xfrm>
            <a:off x="2051050" y="260350"/>
            <a:ext cx="36861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b="1">
                <a:solidFill>
                  <a:srgbClr val="0000FF"/>
                </a:solidFill>
                <a:latin typeface="Times New Roman" charset="0"/>
                <a:ea typeface="楷体_GB2312" charset="0"/>
              </a:rPr>
              <a:t>三、 十字链表</a:t>
            </a:r>
          </a:p>
        </p:txBody>
      </p:sp>
    </p:spTree>
    <p:extLst>
      <p:ext uri="{BB962C8B-B14F-4D97-AF65-F5344CB8AC3E}">
        <p14:creationId xmlns:p14="http://schemas.microsoft.com/office/powerpoint/2010/main" val="207191362"/>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441450" y="68263"/>
            <a:ext cx="4125913" cy="581025"/>
          </a:xfrm>
        </p:spPr>
        <p:txBody>
          <a:bodyPr>
            <a:normAutofit fontScale="90000"/>
          </a:bodyPr>
          <a:lstStyle/>
          <a:p>
            <a:pPr eaLnBrk="1" hangingPunct="1"/>
            <a:endParaRPr lang="zh-CN" altLang="zh-CN"/>
          </a:p>
        </p:txBody>
      </p:sp>
      <p:sp>
        <p:nvSpPr>
          <p:cNvPr id="62467" name="Rectangle 3"/>
          <p:cNvSpPr>
            <a:spLocks noGrp="1" noChangeArrowheads="1"/>
          </p:cNvSpPr>
          <p:nvPr>
            <p:ph type="body" idx="1"/>
          </p:nvPr>
        </p:nvSpPr>
        <p:spPr>
          <a:xfrm>
            <a:off x="838200" y="1143000"/>
            <a:ext cx="7772400" cy="5475288"/>
          </a:xfrm>
        </p:spPr>
        <p:txBody>
          <a:bodyPr>
            <a:normAutofit fontScale="92500" lnSpcReduction="20000"/>
          </a:bodyPr>
          <a:lstStyle/>
          <a:p>
            <a:pPr eaLnBrk="1" hangingPunct="1">
              <a:lnSpc>
                <a:spcPct val="90000"/>
              </a:lnSpc>
              <a:buFontTx/>
              <a:buNone/>
            </a:pPr>
            <a:r>
              <a:rPr lang="en-US" altLang="zh-CN" sz="2800" b="1">
                <a:ea typeface="楷体_GB2312" charset="0"/>
              </a:rPr>
              <a:t>typedef 	struct  OLNode{</a:t>
            </a:r>
          </a:p>
          <a:p>
            <a:pPr eaLnBrk="1" hangingPunct="1">
              <a:lnSpc>
                <a:spcPct val="90000"/>
              </a:lnSpc>
              <a:buFontTx/>
              <a:buNone/>
            </a:pPr>
            <a:r>
              <a:rPr lang="en-US" altLang="zh-CN" sz="2800" b="1">
                <a:ea typeface="楷体_GB2312" charset="0"/>
              </a:rPr>
              <a:t>      int                i, j; </a:t>
            </a:r>
          </a:p>
          <a:p>
            <a:pPr eaLnBrk="1" hangingPunct="1">
              <a:lnSpc>
                <a:spcPct val="90000"/>
              </a:lnSpc>
              <a:buFontTx/>
              <a:buNone/>
            </a:pPr>
            <a:r>
              <a:rPr lang="en-US" altLang="zh-CN" sz="2800" b="1">
                <a:ea typeface="楷体_GB2312" charset="0"/>
              </a:rPr>
              <a:t>      ElemType	 e; struct OLNode	</a:t>
            </a:r>
          </a:p>
          <a:p>
            <a:pPr eaLnBrk="1" hangingPunct="1">
              <a:lnSpc>
                <a:spcPct val="90000"/>
              </a:lnSpc>
              <a:buFontTx/>
              <a:buNone/>
            </a:pPr>
            <a:r>
              <a:rPr lang="en-US" altLang="zh-CN" sz="2800" b="1">
                <a:ea typeface="楷体_GB2312" charset="0"/>
              </a:rPr>
              <a:t>    *right, *down; /* </a:t>
            </a:r>
            <a:r>
              <a:rPr lang="zh-CN" altLang="en-US" sz="2800" b="1">
                <a:ea typeface="楷体_GB2312" charset="0"/>
              </a:rPr>
              <a:t>非零元所在行表和列表的后继链域*</a:t>
            </a:r>
            <a:r>
              <a:rPr lang="en-US" altLang="zh-CN" sz="2800" b="1">
                <a:ea typeface="楷体_GB2312" charset="0"/>
              </a:rPr>
              <a:t>/</a:t>
            </a:r>
          </a:p>
          <a:p>
            <a:pPr eaLnBrk="1" hangingPunct="1">
              <a:lnSpc>
                <a:spcPct val="90000"/>
              </a:lnSpc>
              <a:buFontTx/>
              <a:buNone/>
            </a:pPr>
            <a:r>
              <a:rPr lang="en-US" altLang="zh-CN" sz="2800" b="1">
                <a:ea typeface="楷体_GB2312" charset="0"/>
              </a:rPr>
              <a:t>}OLNode, *OLink;</a:t>
            </a:r>
          </a:p>
          <a:p>
            <a:pPr eaLnBrk="1" hangingPunct="1">
              <a:lnSpc>
                <a:spcPct val="90000"/>
              </a:lnSpc>
              <a:buFontTx/>
              <a:buNone/>
            </a:pPr>
            <a:r>
              <a:rPr lang="en-US" altLang="zh-CN" sz="2800" b="1">
                <a:ea typeface="楷体_GB2312" charset="0"/>
              </a:rPr>
              <a:t>   typedef 	struct{</a:t>
            </a:r>
          </a:p>
          <a:p>
            <a:pPr eaLnBrk="1" hangingPunct="1">
              <a:lnSpc>
                <a:spcPct val="90000"/>
              </a:lnSpc>
              <a:buFontTx/>
              <a:buNone/>
            </a:pPr>
            <a:r>
              <a:rPr lang="en-US" altLang="zh-CN" sz="2800" b="1">
                <a:ea typeface="楷体_GB2312" charset="0"/>
              </a:rPr>
              <a:t>  OLink	*rhead, *chead;	</a:t>
            </a:r>
          </a:p>
          <a:p>
            <a:pPr eaLnBrk="1" hangingPunct="1">
              <a:lnSpc>
                <a:spcPct val="90000"/>
              </a:lnSpc>
              <a:buFontTx/>
              <a:buNone/>
            </a:pPr>
            <a:r>
              <a:rPr lang="en-US" altLang="zh-CN" sz="2800" b="1">
                <a:ea typeface="楷体_GB2312" charset="0"/>
              </a:rPr>
              <a:t>   /* </a:t>
            </a:r>
            <a:r>
              <a:rPr lang="zh-CN" altLang="en-US" sz="2800" b="1">
                <a:ea typeface="楷体_GB2312" charset="0"/>
              </a:rPr>
              <a:t>行和列链表头指针 	*</a:t>
            </a:r>
            <a:r>
              <a:rPr lang="en-US" altLang="zh-CN" sz="2800" b="1">
                <a:ea typeface="楷体_GB2312" charset="0"/>
              </a:rPr>
              <a:t>/</a:t>
            </a:r>
          </a:p>
          <a:p>
            <a:pPr eaLnBrk="1" hangingPunct="1">
              <a:lnSpc>
                <a:spcPct val="90000"/>
              </a:lnSpc>
              <a:buFontTx/>
              <a:buNone/>
            </a:pPr>
            <a:r>
              <a:rPr lang="en-US" altLang="zh-CN" sz="2800" b="1">
                <a:ea typeface="楷体_GB2312" charset="0"/>
              </a:rPr>
              <a:t>int	  mu, nu, tu;		/* </a:t>
            </a:r>
            <a:r>
              <a:rPr lang="zh-CN" altLang="en-US" sz="2800" b="1">
                <a:ea typeface="楷体_GB2312" charset="0"/>
              </a:rPr>
              <a:t>矩阵的行数、列数和非零元个数 	*</a:t>
            </a:r>
            <a:r>
              <a:rPr lang="en-US" altLang="zh-CN" sz="2800" b="1">
                <a:ea typeface="楷体_GB2312" charset="0"/>
              </a:rPr>
              <a:t>/	</a:t>
            </a:r>
          </a:p>
          <a:p>
            <a:pPr eaLnBrk="1" hangingPunct="1">
              <a:lnSpc>
                <a:spcPct val="90000"/>
              </a:lnSpc>
              <a:buFontTx/>
              <a:buNone/>
            </a:pPr>
            <a:r>
              <a:rPr lang="en-US" altLang="zh-CN" sz="2800" b="1">
                <a:ea typeface="楷体_GB2312" charset="0"/>
              </a:rPr>
              <a:t>}CrossList;</a:t>
            </a:r>
          </a:p>
        </p:txBody>
      </p:sp>
      <p:sp>
        <p:nvSpPr>
          <p:cNvPr id="62468" name="Text Box 4"/>
          <p:cNvSpPr txBox="1">
            <a:spLocks noChangeArrowheads="1"/>
          </p:cNvSpPr>
          <p:nvPr/>
        </p:nvSpPr>
        <p:spPr bwMode="auto">
          <a:xfrm>
            <a:off x="1600200" y="228600"/>
            <a:ext cx="52562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zh-CN" altLang="en-US" sz="4000" b="1">
                <a:solidFill>
                  <a:srgbClr val="800000"/>
                </a:solidFill>
                <a:latin typeface="Times New Roman" charset="0"/>
                <a:ea typeface="楷体_GB2312" charset="0"/>
              </a:rPr>
              <a:t>十字链表类型定义</a:t>
            </a:r>
          </a:p>
        </p:txBody>
      </p:sp>
    </p:spTree>
    <p:extLst>
      <p:ext uri="{BB962C8B-B14F-4D97-AF65-F5344CB8AC3E}">
        <p14:creationId xmlns:p14="http://schemas.microsoft.com/office/powerpoint/2010/main" val="81022020"/>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085975" y="76200"/>
            <a:ext cx="37052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b="1">
                <a:solidFill>
                  <a:srgbClr val="0000FF"/>
                </a:solidFill>
                <a:latin typeface="Times New Roman" charset="0"/>
                <a:ea typeface="楷体_GB2312" charset="0"/>
              </a:rPr>
              <a:t>三、 十字链表</a:t>
            </a:r>
          </a:p>
        </p:txBody>
      </p:sp>
      <p:graphicFrame>
        <p:nvGraphicFramePr>
          <p:cNvPr id="63491" name="Object 3"/>
          <p:cNvGraphicFramePr>
            <a:graphicFrameLocks noChangeAspect="1"/>
          </p:cNvGraphicFramePr>
          <p:nvPr/>
        </p:nvGraphicFramePr>
        <p:xfrm>
          <a:off x="914400" y="838200"/>
          <a:ext cx="6381750" cy="5410200"/>
        </p:xfrm>
        <a:graphic>
          <a:graphicData uri="http://schemas.openxmlformats.org/presentationml/2006/ole">
            <mc:AlternateContent xmlns:mc="http://schemas.openxmlformats.org/markup-compatibility/2006">
              <mc:Choice xmlns:v="urn:schemas-microsoft-com:vml" Requires="v">
                <p:oleObj spid="_x0000_s610307" name="文档" r:id="rId3" imgW="3068320" imgH="2600960" progId="Word.Document.8">
                  <p:embed/>
                </p:oleObj>
              </mc:Choice>
              <mc:Fallback>
                <p:oleObj name="文档" r:id="rId3" imgW="3068320" imgH="26009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838200"/>
                        <a:ext cx="638175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63492" name="Text Box 4"/>
          <p:cNvSpPr txBox="1">
            <a:spLocks noChangeArrowheads="1"/>
          </p:cNvSpPr>
          <p:nvPr/>
        </p:nvSpPr>
        <p:spPr bwMode="auto">
          <a:xfrm>
            <a:off x="6402388" y="4114800"/>
            <a:ext cx="2005012"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a:latin typeface="Times New Roman" charset="0"/>
              </a:rPr>
              <a:t>3  0  0  5</a:t>
            </a:r>
          </a:p>
          <a:p>
            <a:pPr eaLnBrk="1" hangingPunct="1"/>
            <a:r>
              <a:rPr kumimoji="1" lang="en-US" altLang="zh-CN" sz="4000">
                <a:latin typeface="Times New Roman" charset="0"/>
              </a:rPr>
              <a:t>0 -1  0  0</a:t>
            </a:r>
          </a:p>
          <a:p>
            <a:pPr eaLnBrk="1" hangingPunct="1"/>
            <a:r>
              <a:rPr kumimoji="1" lang="en-US" altLang="zh-CN" sz="4000">
                <a:latin typeface="Times New Roman" charset="0"/>
              </a:rPr>
              <a:t>2  0  0  0</a:t>
            </a:r>
          </a:p>
        </p:txBody>
      </p:sp>
      <p:sp>
        <p:nvSpPr>
          <p:cNvPr id="63493" name="Line 5"/>
          <p:cNvSpPr>
            <a:spLocks noChangeShapeType="1"/>
          </p:cNvSpPr>
          <p:nvPr/>
        </p:nvSpPr>
        <p:spPr bwMode="auto">
          <a:xfrm flipH="1">
            <a:off x="6172200" y="4191000"/>
            <a:ext cx="1524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3494" name="Line 6"/>
          <p:cNvSpPr>
            <a:spLocks noChangeShapeType="1"/>
          </p:cNvSpPr>
          <p:nvPr/>
        </p:nvSpPr>
        <p:spPr bwMode="auto">
          <a:xfrm>
            <a:off x="6172200" y="4343400"/>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3495" name="Line 7"/>
          <p:cNvSpPr>
            <a:spLocks noChangeShapeType="1"/>
          </p:cNvSpPr>
          <p:nvPr/>
        </p:nvSpPr>
        <p:spPr bwMode="auto">
          <a:xfrm>
            <a:off x="6172200" y="5943600"/>
            <a:ext cx="1524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3496" name="Line 8"/>
          <p:cNvSpPr>
            <a:spLocks noChangeShapeType="1"/>
          </p:cNvSpPr>
          <p:nvPr/>
        </p:nvSpPr>
        <p:spPr bwMode="auto">
          <a:xfrm flipH="1">
            <a:off x="8382000" y="609600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3497" name="Line 9"/>
          <p:cNvSpPr>
            <a:spLocks noChangeShapeType="1"/>
          </p:cNvSpPr>
          <p:nvPr/>
        </p:nvSpPr>
        <p:spPr bwMode="auto">
          <a:xfrm flipH="1">
            <a:off x="8382000" y="5943600"/>
            <a:ext cx="1524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3498" name="Line 10"/>
          <p:cNvSpPr>
            <a:spLocks noChangeShapeType="1"/>
          </p:cNvSpPr>
          <p:nvPr/>
        </p:nvSpPr>
        <p:spPr bwMode="auto">
          <a:xfrm>
            <a:off x="8382000" y="4191000"/>
            <a:ext cx="1524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3499" name="Line 11"/>
          <p:cNvSpPr>
            <a:spLocks noChangeShapeType="1"/>
          </p:cNvSpPr>
          <p:nvPr/>
        </p:nvSpPr>
        <p:spPr bwMode="auto">
          <a:xfrm>
            <a:off x="8534400" y="4343400"/>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3500" name="Text Box 12"/>
          <p:cNvSpPr txBox="1">
            <a:spLocks noChangeArrowheads="1"/>
          </p:cNvSpPr>
          <p:nvPr/>
        </p:nvSpPr>
        <p:spPr bwMode="auto">
          <a:xfrm>
            <a:off x="2727325" y="2590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1</a:t>
            </a:r>
            <a:endParaRPr kumimoji="1" lang="en-US" altLang="zh-CN" sz="4400">
              <a:latin typeface="Times New Roman" charset="0"/>
            </a:endParaRPr>
          </a:p>
        </p:txBody>
      </p:sp>
      <p:sp>
        <p:nvSpPr>
          <p:cNvPr id="63501" name="Text Box 13"/>
          <p:cNvSpPr txBox="1">
            <a:spLocks noChangeArrowheads="1"/>
          </p:cNvSpPr>
          <p:nvPr/>
        </p:nvSpPr>
        <p:spPr bwMode="auto">
          <a:xfrm>
            <a:off x="3048000" y="2590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1</a:t>
            </a:r>
            <a:endParaRPr kumimoji="1" lang="en-US" altLang="zh-CN" sz="4400">
              <a:latin typeface="Times New Roman" charset="0"/>
            </a:endParaRPr>
          </a:p>
        </p:txBody>
      </p:sp>
      <p:sp>
        <p:nvSpPr>
          <p:cNvPr id="63502" name="Text Box 14"/>
          <p:cNvSpPr txBox="1">
            <a:spLocks noChangeArrowheads="1"/>
          </p:cNvSpPr>
          <p:nvPr/>
        </p:nvSpPr>
        <p:spPr bwMode="auto">
          <a:xfrm>
            <a:off x="3352800" y="2590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3</a:t>
            </a:r>
            <a:endParaRPr kumimoji="1" lang="en-US" altLang="zh-CN" sz="4400">
              <a:latin typeface="Times New Roman" charset="0"/>
            </a:endParaRPr>
          </a:p>
        </p:txBody>
      </p:sp>
      <p:sp>
        <p:nvSpPr>
          <p:cNvPr id="63503" name="Text Box 15"/>
          <p:cNvSpPr txBox="1">
            <a:spLocks noChangeArrowheads="1"/>
          </p:cNvSpPr>
          <p:nvPr/>
        </p:nvSpPr>
        <p:spPr bwMode="auto">
          <a:xfrm>
            <a:off x="6080125" y="2590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1</a:t>
            </a:r>
            <a:endParaRPr kumimoji="1" lang="en-US" altLang="zh-CN" sz="4400">
              <a:latin typeface="Times New Roman" charset="0"/>
            </a:endParaRPr>
          </a:p>
        </p:txBody>
      </p:sp>
      <p:sp>
        <p:nvSpPr>
          <p:cNvPr id="63504" name="Text Box 16"/>
          <p:cNvSpPr txBox="1">
            <a:spLocks noChangeArrowheads="1"/>
          </p:cNvSpPr>
          <p:nvPr/>
        </p:nvSpPr>
        <p:spPr bwMode="auto">
          <a:xfrm>
            <a:off x="6400800" y="2590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4</a:t>
            </a:r>
            <a:endParaRPr kumimoji="1" lang="en-US" altLang="zh-CN" sz="4400">
              <a:latin typeface="Times New Roman" charset="0"/>
            </a:endParaRPr>
          </a:p>
        </p:txBody>
      </p:sp>
      <p:sp>
        <p:nvSpPr>
          <p:cNvPr id="63505" name="Text Box 17"/>
          <p:cNvSpPr txBox="1">
            <a:spLocks noChangeArrowheads="1"/>
          </p:cNvSpPr>
          <p:nvPr/>
        </p:nvSpPr>
        <p:spPr bwMode="auto">
          <a:xfrm>
            <a:off x="6705600" y="260032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5</a:t>
            </a:r>
            <a:endParaRPr kumimoji="1" lang="en-US" altLang="zh-CN" sz="4400">
              <a:latin typeface="Times New Roman" charset="0"/>
            </a:endParaRPr>
          </a:p>
        </p:txBody>
      </p:sp>
      <p:sp>
        <p:nvSpPr>
          <p:cNvPr id="63506" name="Text Box 18"/>
          <p:cNvSpPr txBox="1">
            <a:spLocks noChangeArrowheads="1"/>
          </p:cNvSpPr>
          <p:nvPr/>
        </p:nvSpPr>
        <p:spPr bwMode="auto">
          <a:xfrm>
            <a:off x="4038600" y="3810000"/>
            <a:ext cx="30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2800">
                <a:latin typeface="Times New Roman" charset="0"/>
              </a:rPr>
              <a:t>2</a:t>
            </a:r>
            <a:endParaRPr kumimoji="1" lang="en-US" altLang="zh-CN" sz="4400">
              <a:latin typeface="Times New Roman" charset="0"/>
            </a:endParaRPr>
          </a:p>
        </p:txBody>
      </p:sp>
      <p:sp>
        <p:nvSpPr>
          <p:cNvPr id="63507" name="Text Box 19"/>
          <p:cNvSpPr txBox="1">
            <a:spLocks noChangeArrowheads="1"/>
          </p:cNvSpPr>
          <p:nvPr/>
        </p:nvSpPr>
        <p:spPr bwMode="auto">
          <a:xfrm>
            <a:off x="4343400" y="3810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2</a:t>
            </a:r>
            <a:endParaRPr kumimoji="1" lang="en-US" altLang="zh-CN" sz="4400">
              <a:latin typeface="Times New Roman" charset="0"/>
            </a:endParaRPr>
          </a:p>
        </p:txBody>
      </p:sp>
      <p:sp>
        <p:nvSpPr>
          <p:cNvPr id="63508" name="Text Box 20"/>
          <p:cNvSpPr txBox="1">
            <a:spLocks noChangeArrowheads="1"/>
          </p:cNvSpPr>
          <p:nvPr/>
        </p:nvSpPr>
        <p:spPr bwMode="auto">
          <a:xfrm>
            <a:off x="4648200" y="3886200"/>
            <a:ext cx="66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2400">
                <a:latin typeface="Times New Roman" charset="0"/>
              </a:rPr>
              <a:t>-1</a:t>
            </a:r>
            <a:endParaRPr kumimoji="1" lang="en-US" altLang="zh-CN" sz="4400">
              <a:latin typeface="Times New Roman" charset="0"/>
            </a:endParaRPr>
          </a:p>
        </p:txBody>
      </p:sp>
      <p:sp>
        <p:nvSpPr>
          <p:cNvPr id="63509" name="Text Box 21"/>
          <p:cNvSpPr txBox="1">
            <a:spLocks noChangeArrowheads="1"/>
          </p:cNvSpPr>
          <p:nvPr/>
        </p:nvSpPr>
        <p:spPr bwMode="auto">
          <a:xfrm>
            <a:off x="2743200" y="50292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3</a:t>
            </a:r>
            <a:endParaRPr kumimoji="1" lang="en-US" altLang="zh-CN" sz="4400">
              <a:latin typeface="Times New Roman" charset="0"/>
            </a:endParaRPr>
          </a:p>
        </p:txBody>
      </p:sp>
      <p:sp>
        <p:nvSpPr>
          <p:cNvPr id="63510" name="Text Box 22"/>
          <p:cNvSpPr txBox="1">
            <a:spLocks noChangeArrowheads="1"/>
          </p:cNvSpPr>
          <p:nvPr/>
        </p:nvSpPr>
        <p:spPr bwMode="auto">
          <a:xfrm>
            <a:off x="3048000" y="50292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2800">
                <a:latin typeface="Times New Roman" charset="0"/>
              </a:rPr>
              <a:t>1</a:t>
            </a:r>
            <a:endParaRPr kumimoji="1" lang="en-US" altLang="zh-CN" sz="4400">
              <a:latin typeface="Times New Roman" charset="0"/>
            </a:endParaRPr>
          </a:p>
        </p:txBody>
      </p:sp>
      <p:sp>
        <p:nvSpPr>
          <p:cNvPr id="63511" name="Text Box 23"/>
          <p:cNvSpPr txBox="1">
            <a:spLocks noChangeArrowheads="1"/>
          </p:cNvSpPr>
          <p:nvPr/>
        </p:nvSpPr>
        <p:spPr bwMode="auto">
          <a:xfrm>
            <a:off x="3352800" y="50292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rPr>
              <a:t>2</a:t>
            </a:r>
            <a:endParaRPr kumimoji="1" lang="en-US" altLang="zh-CN" sz="4400">
              <a:latin typeface="Times New Roman" charset="0"/>
            </a:endParaRPr>
          </a:p>
        </p:txBody>
      </p:sp>
      <p:sp>
        <p:nvSpPr>
          <p:cNvPr id="63512" name="Text Box 24"/>
          <p:cNvSpPr txBox="1">
            <a:spLocks noChangeArrowheads="1"/>
          </p:cNvSpPr>
          <p:nvPr/>
        </p:nvSpPr>
        <p:spPr bwMode="auto">
          <a:xfrm>
            <a:off x="4900613" y="1295400"/>
            <a:ext cx="5095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a:t>
            </a:r>
            <a:endParaRPr kumimoji="1" lang="en-US" altLang="zh-CN" sz="4400">
              <a:latin typeface="Times New Roman" charset="0"/>
            </a:endParaRPr>
          </a:p>
        </p:txBody>
      </p:sp>
      <p:sp>
        <p:nvSpPr>
          <p:cNvPr id="63513" name="Text Box 25"/>
          <p:cNvSpPr txBox="1">
            <a:spLocks noChangeArrowheads="1"/>
          </p:cNvSpPr>
          <p:nvPr/>
        </p:nvSpPr>
        <p:spPr bwMode="auto">
          <a:xfrm>
            <a:off x="6629400" y="2895600"/>
            <a:ext cx="509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a:t>
            </a:r>
            <a:endParaRPr kumimoji="1" lang="en-US" altLang="zh-CN" sz="4400">
              <a:latin typeface="Times New Roman" charset="0"/>
            </a:endParaRPr>
          </a:p>
        </p:txBody>
      </p:sp>
      <p:sp>
        <p:nvSpPr>
          <p:cNvPr id="63514" name="Text Box 26"/>
          <p:cNvSpPr txBox="1">
            <a:spLocks noChangeArrowheads="1"/>
          </p:cNvSpPr>
          <p:nvPr/>
        </p:nvSpPr>
        <p:spPr bwMode="auto">
          <a:xfrm>
            <a:off x="6119813" y="2895600"/>
            <a:ext cx="5095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a:t>
            </a:r>
            <a:endParaRPr kumimoji="1" lang="en-US" altLang="zh-CN" sz="4400">
              <a:latin typeface="Times New Roman" charset="0"/>
            </a:endParaRPr>
          </a:p>
        </p:txBody>
      </p:sp>
      <p:sp>
        <p:nvSpPr>
          <p:cNvPr id="63515" name="Text Box 27"/>
          <p:cNvSpPr txBox="1">
            <a:spLocks noChangeArrowheads="1"/>
          </p:cNvSpPr>
          <p:nvPr/>
        </p:nvSpPr>
        <p:spPr bwMode="auto">
          <a:xfrm>
            <a:off x="4062413" y="4114800"/>
            <a:ext cx="5095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a:t>
            </a:r>
            <a:endParaRPr kumimoji="1" lang="en-US" altLang="zh-CN" sz="4400">
              <a:latin typeface="Times New Roman" charset="0"/>
            </a:endParaRPr>
          </a:p>
        </p:txBody>
      </p:sp>
      <p:sp>
        <p:nvSpPr>
          <p:cNvPr id="63516" name="Text Box 28"/>
          <p:cNvSpPr txBox="1">
            <a:spLocks noChangeArrowheads="1"/>
          </p:cNvSpPr>
          <p:nvPr/>
        </p:nvSpPr>
        <p:spPr bwMode="auto">
          <a:xfrm>
            <a:off x="4572000" y="4114800"/>
            <a:ext cx="509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a:t>
            </a:r>
            <a:endParaRPr kumimoji="1" lang="en-US" altLang="zh-CN" sz="4400">
              <a:latin typeface="Times New Roman" charset="0"/>
            </a:endParaRPr>
          </a:p>
        </p:txBody>
      </p:sp>
      <p:sp>
        <p:nvSpPr>
          <p:cNvPr id="63517" name="Text Box 29"/>
          <p:cNvSpPr txBox="1">
            <a:spLocks noChangeArrowheads="1"/>
          </p:cNvSpPr>
          <p:nvPr/>
        </p:nvSpPr>
        <p:spPr bwMode="auto">
          <a:xfrm>
            <a:off x="2819400" y="5334000"/>
            <a:ext cx="509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a:t>
            </a:r>
            <a:endParaRPr kumimoji="1" lang="en-US" altLang="zh-CN" sz="4400">
              <a:latin typeface="Times New Roman" charset="0"/>
            </a:endParaRPr>
          </a:p>
        </p:txBody>
      </p:sp>
      <p:sp>
        <p:nvSpPr>
          <p:cNvPr id="63518" name="Text Box 30"/>
          <p:cNvSpPr txBox="1">
            <a:spLocks noChangeArrowheads="1"/>
          </p:cNvSpPr>
          <p:nvPr/>
        </p:nvSpPr>
        <p:spPr bwMode="auto">
          <a:xfrm>
            <a:off x="3276600" y="5334000"/>
            <a:ext cx="509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latin typeface="Times New Roman" charset="0"/>
              </a:rPr>
              <a:t>^</a:t>
            </a:r>
            <a:endParaRPr kumimoji="1" lang="en-US" altLang="zh-CN" sz="4400">
              <a:latin typeface="Times New Roman" charset="0"/>
            </a:endParaRPr>
          </a:p>
        </p:txBody>
      </p:sp>
      <p:sp>
        <p:nvSpPr>
          <p:cNvPr id="211999" name="AutoShape 31">
            <a:hlinkClick r:id="rId5" action="ppaction://hlinksldjump" highlightClick="1"/>
          </p:cNvPr>
          <p:cNvSpPr>
            <a:spLocks noChangeArrowheads="1"/>
          </p:cNvSpPr>
          <p:nvPr/>
        </p:nvSpPr>
        <p:spPr bwMode="auto">
          <a:xfrm>
            <a:off x="84582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3472574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11999"/>
                                        </p:tgtEl>
                                        <p:attrNameLst>
                                          <p:attrName>style.visibility</p:attrName>
                                        </p:attrNameLst>
                                      </p:cBhvr>
                                      <p:to>
                                        <p:strVal val="visible"/>
                                      </p:to>
                                    </p:set>
                                    <p:anim calcmode="lin" valueType="num">
                                      <p:cBhvr additive="base">
                                        <p:cTn id="7" dur="500" fill="hold"/>
                                        <p:tgtEl>
                                          <p:spTgt spid="211999"/>
                                        </p:tgtEl>
                                        <p:attrNameLst>
                                          <p:attrName>ppt_x</p:attrName>
                                        </p:attrNameLst>
                                      </p:cBhvr>
                                      <p:tavLst>
                                        <p:tav tm="0">
                                          <p:val>
                                            <p:strVal val="1+#ppt_w/2"/>
                                          </p:val>
                                        </p:tav>
                                        <p:tav tm="100000">
                                          <p:val>
                                            <p:strVal val="#ppt_x"/>
                                          </p:val>
                                        </p:tav>
                                      </p:tavLst>
                                    </p:anim>
                                    <p:anim calcmode="lin" valueType="num">
                                      <p:cBhvr additive="base">
                                        <p:cTn id="8" dur="500" fill="hold"/>
                                        <p:tgtEl>
                                          <p:spTgt spid="2119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9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2"/>
          <p:cNvSpPr txBox="1">
            <a:spLocks noChangeArrowheads="1"/>
          </p:cNvSpPr>
          <p:nvPr/>
        </p:nvSpPr>
        <p:spPr bwMode="auto">
          <a:xfrm>
            <a:off x="1600200" y="0"/>
            <a:ext cx="67246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5400" b="1">
                <a:solidFill>
                  <a:srgbClr val="CC3399"/>
                </a:solidFill>
                <a:latin typeface="Times New Roman" charset="0"/>
              </a:rPr>
              <a:t>5.4 </a:t>
            </a:r>
            <a:r>
              <a:rPr kumimoji="1" lang="zh-CN" altLang="en-US" sz="5400" b="1">
                <a:solidFill>
                  <a:srgbClr val="CC3399"/>
                </a:solidFill>
                <a:latin typeface="Times New Roman" charset="0"/>
                <a:ea typeface="楷体_GB2312" charset="0"/>
              </a:rPr>
              <a:t>广义表的类型定义</a:t>
            </a:r>
          </a:p>
        </p:txBody>
      </p:sp>
      <p:sp>
        <p:nvSpPr>
          <p:cNvPr id="212995" name="Text Box 3"/>
          <p:cNvSpPr txBox="1">
            <a:spLocks noChangeArrowheads="1"/>
          </p:cNvSpPr>
          <p:nvPr/>
        </p:nvSpPr>
        <p:spPr bwMode="auto">
          <a:xfrm>
            <a:off x="241300" y="928688"/>
            <a:ext cx="8499475" cy="567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600" b="1">
                <a:latin typeface="Times New Roman" charset="0"/>
                <a:ea typeface="楷体_GB2312" charset="0"/>
              </a:rPr>
              <a:t>ADT Glist {</a:t>
            </a:r>
          </a:p>
          <a:p>
            <a:pPr eaLnBrk="1" hangingPunct="1">
              <a:lnSpc>
                <a:spcPct val="120000"/>
              </a:lnSpc>
            </a:pPr>
            <a:r>
              <a:rPr kumimoji="1" lang="en-US" altLang="zh-CN" sz="3600">
                <a:latin typeface="Times New Roman" charset="0"/>
                <a:ea typeface="楷体_GB2312" charset="0"/>
              </a:rPr>
              <a:t>  </a:t>
            </a:r>
            <a:r>
              <a:rPr kumimoji="1" lang="zh-CN" altLang="en-US" sz="3600" b="1">
                <a:solidFill>
                  <a:srgbClr val="9933FF"/>
                </a:solidFill>
                <a:latin typeface="Times New Roman" charset="0"/>
                <a:ea typeface="楷体_GB2312" charset="0"/>
              </a:rPr>
              <a:t>数据对象</a:t>
            </a:r>
            <a:r>
              <a:rPr kumimoji="1" lang="zh-CN" altLang="en-US" sz="3600">
                <a:solidFill>
                  <a:srgbClr val="9933FF"/>
                </a:solidFill>
                <a:latin typeface="Times New Roman" charset="0"/>
                <a:ea typeface="楷体_GB2312" charset="0"/>
              </a:rPr>
              <a:t>：</a:t>
            </a:r>
            <a:r>
              <a:rPr kumimoji="1" lang="en-US" altLang="zh-CN" sz="3600">
                <a:latin typeface="Times New Roman" charset="0"/>
                <a:ea typeface="楷体_GB2312" charset="0"/>
              </a:rPr>
              <a:t>D</a:t>
            </a:r>
            <a:r>
              <a:rPr kumimoji="1" lang="zh-CN" altLang="en-US" sz="3600">
                <a:latin typeface="Times New Roman" charset="0"/>
                <a:ea typeface="楷体_GB2312" charset="0"/>
              </a:rPr>
              <a:t>＝</a:t>
            </a:r>
            <a:r>
              <a:rPr kumimoji="1" lang="en-US" altLang="zh-CN" sz="3600">
                <a:latin typeface="Times New Roman" charset="0"/>
                <a:ea typeface="楷体_GB2312" charset="0"/>
              </a:rPr>
              <a:t>{e</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 i=1,2,..,n;  n≥0; </a:t>
            </a:r>
          </a:p>
          <a:p>
            <a:pPr eaLnBrk="1" hangingPunct="1">
              <a:lnSpc>
                <a:spcPct val="120000"/>
              </a:lnSpc>
            </a:pPr>
            <a:r>
              <a:rPr kumimoji="1" lang="en-US" altLang="zh-CN" sz="3600">
                <a:latin typeface="Times New Roman" charset="0"/>
                <a:ea typeface="楷体_GB2312" charset="0"/>
              </a:rPr>
              <a:t>                    e</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∈AtomSet </a:t>
            </a:r>
            <a:r>
              <a:rPr kumimoji="1" lang="zh-CN" altLang="en-US" sz="3600">
                <a:latin typeface="Times New Roman" charset="0"/>
                <a:ea typeface="楷体_GB2312" charset="0"/>
              </a:rPr>
              <a:t>或 </a:t>
            </a:r>
            <a:r>
              <a:rPr kumimoji="1" lang="en-US" altLang="zh-CN" sz="3600">
                <a:latin typeface="Times New Roman" charset="0"/>
                <a:ea typeface="楷体_GB2312" charset="0"/>
              </a:rPr>
              <a:t>e</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∈GList,</a:t>
            </a:r>
          </a:p>
          <a:p>
            <a:pPr eaLnBrk="1" hangingPunct="1">
              <a:lnSpc>
                <a:spcPct val="120000"/>
              </a:lnSpc>
            </a:pPr>
            <a:r>
              <a:rPr kumimoji="1" lang="en-US" altLang="zh-CN" sz="3600">
                <a:latin typeface="Times New Roman" charset="0"/>
                <a:ea typeface="楷体_GB2312" charset="0"/>
              </a:rPr>
              <a:t>                    AtomSet</a:t>
            </a:r>
            <a:r>
              <a:rPr kumimoji="1" lang="zh-CN" altLang="en-US" sz="3600">
                <a:latin typeface="Times New Roman" charset="0"/>
                <a:ea typeface="楷体_GB2312" charset="0"/>
              </a:rPr>
              <a:t>为某个数据对象  </a:t>
            </a:r>
            <a:r>
              <a:rPr kumimoji="1" lang="en-US" altLang="zh-CN" sz="3600">
                <a:latin typeface="Times New Roman" charset="0"/>
                <a:ea typeface="楷体_GB2312" charset="0"/>
              </a:rPr>
              <a:t>}</a:t>
            </a:r>
          </a:p>
          <a:p>
            <a:pPr eaLnBrk="1" hangingPunct="1">
              <a:lnSpc>
                <a:spcPct val="120000"/>
              </a:lnSpc>
            </a:pPr>
            <a:r>
              <a:rPr kumimoji="1" lang="en-US" altLang="zh-CN" sz="3600">
                <a:latin typeface="Times New Roman" charset="0"/>
                <a:ea typeface="楷体_GB2312" charset="0"/>
              </a:rPr>
              <a:t>  </a:t>
            </a:r>
            <a:r>
              <a:rPr kumimoji="1" lang="zh-CN" altLang="en-US" sz="3600" b="1">
                <a:solidFill>
                  <a:srgbClr val="9933FF"/>
                </a:solidFill>
                <a:latin typeface="Times New Roman" charset="0"/>
                <a:ea typeface="楷体_GB2312" charset="0"/>
              </a:rPr>
              <a:t>数据关系：</a:t>
            </a:r>
            <a:endParaRPr kumimoji="1" lang="zh-CN" altLang="en-US" sz="3600">
              <a:latin typeface="Times New Roman" charset="0"/>
              <a:ea typeface="楷体_GB2312" charset="0"/>
            </a:endParaRPr>
          </a:p>
          <a:p>
            <a:pPr eaLnBrk="1" hangingPunct="1">
              <a:lnSpc>
                <a:spcPct val="150000"/>
              </a:lnSpc>
            </a:pPr>
            <a:r>
              <a:rPr kumimoji="1" lang="zh-CN" altLang="en-US" sz="3600">
                <a:latin typeface="Times New Roman" charset="0"/>
                <a:ea typeface="楷体_GB2312" charset="0"/>
              </a:rPr>
              <a:t>            </a:t>
            </a:r>
            <a:r>
              <a:rPr kumimoji="1" lang="en-US" altLang="zh-CN" sz="3600">
                <a:latin typeface="Times New Roman" charset="0"/>
                <a:ea typeface="楷体_GB2312" charset="0"/>
              </a:rPr>
              <a:t>LR</a:t>
            </a:r>
            <a:r>
              <a:rPr kumimoji="1" lang="zh-CN" altLang="en-US" sz="3600">
                <a:latin typeface="Times New Roman" charset="0"/>
                <a:ea typeface="楷体_GB2312" charset="0"/>
              </a:rPr>
              <a:t>＝</a:t>
            </a:r>
            <a:r>
              <a:rPr kumimoji="1" lang="en-US" altLang="zh-CN" sz="3600">
                <a:latin typeface="Times New Roman" charset="0"/>
                <a:ea typeface="楷体_GB2312" charset="0"/>
              </a:rPr>
              <a:t>{&lt;e</a:t>
            </a:r>
            <a:r>
              <a:rPr kumimoji="1" lang="en-US" altLang="zh-CN" sz="3600" baseline="-25000">
                <a:latin typeface="Times New Roman" charset="0"/>
                <a:ea typeface="楷体_GB2312" charset="0"/>
              </a:rPr>
              <a:t>i-1</a:t>
            </a:r>
            <a:r>
              <a:rPr kumimoji="1" lang="en-US" altLang="zh-CN" sz="3600">
                <a:latin typeface="Times New Roman" charset="0"/>
                <a:ea typeface="楷体_GB2312" charset="0"/>
              </a:rPr>
              <a:t>, e</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&gt;| e</a:t>
            </a:r>
            <a:r>
              <a:rPr kumimoji="1" lang="en-US" altLang="zh-CN" sz="3600" baseline="-25000">
                <a:latin typeface="Times New Roman" charset="0"/>
                <a:ea typeface="楷体_GB2312" charset="0"/>
              </a:rPr>
              <a:t>i-1</a:t>
            </a:r>
            <a:r>
              <a:rPr kumimoji="1" lang="en-US" altLang="zh-CN" sz="3600">
                <a:latin typeface="Times New Roman" charset="0"/>
                <a:ea typeface="楷体_GB2312" charset="0"/>
              </a:rPr>
              <a:t> ,e</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∈D, 2≤i≤n}</a:t>
            </a:r>
          </a:p>
          <a:p>
            <a:pPr eaLnBrk="1" hangingPunct="1">
              <a:lnSpc>
                <a:spcPct val="150000"/>
              </a:lnSpc>
            </a:pPr>
            <a:endParaRPr kumimoji="1" lang="en-US" altLang="zh-CN" sz="3200" b="1">
              <a:latin typeface="Times New Roman" charset="0"/>
              <a:ea typeface="楷体_GB2312" charset="0"/>
            </a:endParaRPr>
          </a:p>
          <a:p>
            <a:pPr eaLnBrk="1" hangingPunct="1">
              <a:lnSpc>
                <a:spcPct val="150000"/>
              </a:lnSpc>
            </a:pPr>
            <a:r>
              <a:rPr kumimoji="1" lang="en-US" altLang="zh-CN" sz="3200" b="1">
                <a:latin typeface="Times New Roman" charset="0"/>
                <a:ea typeface="楷体_GB2312" charset="0"/>
              </a:rPr>
              <a:t>} ADT</a:t>
            </a:r>
            <a:r>
              <a:rPr kumimoji="1" lang="en-US" altLang="zh-CN" sz="3200">
                <a:latin typeface="Times New Roman" charset="0"/>
                <a:ea typeface="楷体_GB2312" charset="0"/>
              </a:rPr>
              <a:t> Glist</a:t>
            </a:r>
          </a:p>
        </p:txBody>
      </p:sp>
      <p:sp>
        <p:nvSpPr>
          <p:cNvPr id="212996" name="Rectangle 4"/>
          <p:cNvSpPr>
            <a:spLocks noChangeArrowheads="1"/>
          </p:cNvSpPr>
          <p:nvPr/>
        </p:nvSpPr>
        <p:spPr bwMode="auto">
          <a:xfrm>
            <a:off x="533400" y="4953000"/>
            <a:ext cx="21653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zh-CN" altLang="zh-CN" sz="3600" b="1" u="sng">
                <a:solidFill>
                  <a:srgbClr val="FF0000"/>
                </a:solidFill>
                <a:latin typeface="Times New Roman" charset="0"/>
                <a:ea typeface="楷体_GB2312" charset="0"/>
              </a:rPr>
              <a:t>基本操作:</a:t>
            </a:r>
          </a:p>
        </p:txBody>
      </p:sp>
      <p:sp>
        <p:nvSpPr>
          <p:cNvPr id="212997" name="AutoShape 5">
            <a:hlinkClick r:id="rId2" action="ppaction://hlinksldjump" highlightClick="1"/>
          </p:cNvPr>
          <p:cNvSpPr>
            <a:spLocks noChangeArrowheads="1"/>
          </p:cNvSpPr>
          <p:nvPr/>
        </p:nvSpPr>
        <p:spPr bwMode="auto">
          <a:xfrm>
            <a:off x="8153400" y="6172200"/>
            <a:ext cx="685800" cy="381000"/>
          </a:xfrm>
          <a:prstGeom prst="actionButtonBeginning">
            <a:avLst/>
          </a:prstGeom>
          <a:solidFill>
            <a:schemeClr val="bg2"/>
          </a:solidFill>
          <a:ln>
            <a:noFill/>
          </a:ln>
          <a:effectLst>
            <a:prstShdw prst="shdw17" dist="17961" dir="2700000">
              <a:srgbClr val="4D4D4D">
                <a:alpha val="74998"/>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defRPr/>
            </a:pPr>
            <a:endParaRPr lang="zh-CN" altLang="en-US">
              <a:ea typeface="宋体" pitchFamily="2" charset="-122"/>
            </a:endParaRPr>
          </a:p>
        </p:txBody>
      </p:sp>
      <p:sp>
        <p:nvSpPr>
          <p:cNvPr id="212998" name="AutoShape 6">
            <a:hlinkClick r:id="" action="ppaction://hlinkshowjump?jump=nextslide" highlightClick="1"/>
          </p:cNvPr>
          <p:cNvSpPr>
            <a:spLocks noChangeArrowheads="1"/>
          </p:cNvSpPr>
          <p:nvPr/>
        </p:nvSpPr>
        <p:spPr bwMode="auto">
          <a:xfrm>
            <a:off x="8153400" y="3810000"/>
            <a:ext cx="381000" cy="381000"/>
          </a:xfrm>
          <a:prstGeom prst="actionButtonForwardNext">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12999" name="AutoShape 7">
            <a:hlinkClick r:id="rId3" action="ppaction://hlinksldjump" highlightClick="1"/>
          </p:cNvPr>
          <p:cNvSpPr>
            <a:spLocks noChangeArrowheads="1"/>
          </p:cNvSpPr>
          <p:nvPr/>
        </p:nvSpPr>
        <p:spPr bwMode="auto">
          <a:xfrm>
            <a:off x="2895600" y="53340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6427251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2994"/>
                                        </p:tgtEl>
                                        <p:attrNameLst>
                                          <p:attrName>style.visibility</p:attrName>
                                        </p:attrNameLst>
                                      </p:cBhvr>
                                      <p:to>
                                        <p:strVal val="visible"/>
                                      </p:to>
                                    </p:set>
                                    <p:anim calcmode="lin" valueType="num">
                                      <p:cBhvr additive="base">
                                        <p:cTn id="7" dur="500" fill="hold"/>
                                        <p:tgtEl>
                                          <p:spTgt spid="212994"/>
                                        </p:tgtEl>
                                        <p:attrNameLst>
                                          <p:attrName>ppt_x</p:attrName>
                                        </p:attrNameLst>
                                      </p:cBhvr>
                                      <p:tavLst>
                                        <p:tav tm="0">
                                          <p:val>
                                            <p:strVal val="0-#ppt_w/2"/>
                                          </p:val>
                                        </p:tav>
                                        <p:tav tm="100000">
                                          <p:val>
                                            <p:strVal val="#ppt_x"/>
                                          </p:val>
                                        </p:tav>
                                      </p:tavLst>
                                    </p:anim>
                                    <p:anim calcmode="lin" valueType="num">
                                      <p:cBhvr additive="base">
                                        <p:cTn id="8" dur="500" fill="hold"/>
                                        <p:tgtEl>
                                          <p:spTgt spid="2129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212995"/>
                                        </p:tgtEl>
                                        <p:attrNameLst>
                                          <p:attrName>style.visibility</p:attrName>
                                        </p:attrNameLst>
                                      </p:cBhvr>
                                      <p:to>
                                        <p:strVal val="visible"/>
                                      </p:to>
                                    </p:set>
                                    <p:animEffect transition="in" filter="strips(downRight)">
                                      <p:cBhvr>
                                        <p:cTn id="13" dur="500"/>
                                        <p:tgtEl>
                                          <p:spTgt spid="212995"/>
                                        </p:tgtEl>
                                      </p:cBhvr>
                                    </p:animEffect>
                                  </p:childTnLst>
                                </p:cTn>
                              </p:par>
                            </p:childTnLst>
                          </p:cTn>
                        </p:par>
                        <p:par>
                          <p:cTn id="14" fill="hold" nodeType="afterGroup">
                            <p:stCondLst>
                              <p:cond delay="500"/>
                            </p:stCondLst>
                            <p:childTnLst>
                              <p:par>
                                <p:cTn id="15" presetID="2" presetClass="entr" presetSubtype="6" fill="hold" grpId="0" nodeType="afterEffect">
                                  <p:stCondLst>
                                    <p:cond delay="0"/>
                                  </p:stCondLst>
                                  <p:childTnLst>
                                    <p:set>
                                      <p:cBhvr>
                                        <p:cTn id="16" dur="1" fill="hold">
                                          <p:stCondLst>
                                            <p:cond delay="0"/>
                                          </p:stCondLst>
                                        </p:cTn>
                                        <p:tgtEl>
                                          <p:spTgt spid="212998"/>
                                        </p:tgtEl>
                                        <p:attrNameLst>
                                          <p:attrName>style.visibility</p:attrName>
                                        </p:attrNameLst>
                                      </p:cBhvr>
                                      <p:to>
                                        <p:strVal val="visible"/>
                                      </p:to>
                                    </p:set>
                                    <p:anim calcmode="lin" valueType="num">
                                      <p:cBhvr additive="base">
                                        <p:cTn id="17" dur="500" fill="hold"/>
                                        <p:tgtEl>
                                          <p:spTgt spid="212998"/>
                                        </p:tgtEl>
                                        <p:attrNameLst>
                                          <p:attrName>ppt_x</p:attrName>
                                        </p:attrNameLst>
                                      </p:cBhvr>
                                      <p:tavLst>
                                        <p:tav tm="0">
                                          <p:val>
                                            <p:strVal val="1+#ppt_w/2"/>
                                          </p:val>
                                        </p:tav>
                                        <p:tav tm="100000">
                                          <p:val>
                                            <p:strVal val="#ppt_x"/>
                                          </p:val>
                                        </p:tav>
                                      </p:tavLst>
                                    </p:anim>
                                    <p:anim calcmode="lin" valueType="num">
                                      <p:cBhvr additive="base">
                                        <p:cTn id="18" dur="500" fill="hold"/>
                                        <p:tgtEl>
                                          <p:spTgt spid="212998"/>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12996"/>
                                        </p:tgtEl>
                                        <p:attrNameLst>
                                          <p:attrName>style.visibility</p:attrName>
                                        </p:attrNameLst>
                                      </p:cBhvr>
                                      <p:to>
                                        <p:strVal val="visible"/>
                                      </p:to>
                                    </p:set>
                                    <p:anim calcmode="lin" valueType="num">
                                      <p:cBhvr additive="base">
                                        <p:cTn id="23" dur="500" fill="hold"/>
                                        <p:tgtEl>
                                          <p:spTgt spid="212996"/>
                                        </p:tgtEl>
                                        <p:attrNameLst>
                                          <p:attrName>ppt_x</p:attrName>
                                        </p:attrNameLst>
                                      </p:cBhvr>
                                      <p:tavLst>
                                        <p:tav tm="0">
                                          <p:val>
                                            <p:strVal val="0-#ppt_w/2"/>
                                          </p:val>
                                        </p:tav>
                                        <p:tav tm="100000">
                                          <p:val>
                                            <p:strVal val="#ppt_x"/>
                                          </p:val>
                                        </p:tav>
                                      </p:tavLst>
                                    </p:anim>
                                    <p:anim calcmode="lin" valueType="num">
                                      <p:cBhvr additive="base">
                                        <p:cTn id="24" dur="500" fill="hold"/>
                                        <p:tgtEl>
                                          <p:spTgt spid="212996"/>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6" fill="hold" grpId="0" nodeType="afterEffect">
                                  <p:stCondLst>
                                    <p:cond delay="0"/>
                                  </p:stCondLst>
                                  <p:childTnLst>
                                    <p:set>
                                      <p:cBhvr>
                                        <p:cTn id="27" dur="1" fill="hold">
                                          <p:stCondLst>
                                            <p:cond delay="0"/>
                                          </p:stCondLst>
                                        </p:cTn>
                                        <p:tgtEl>
                                          <p:spTgt spid="212999"/>
                                        </p:tgtEl>
                                        <p:attrNameLst>
                                          <p:attrName>style.visibility</p:attrName>
                                        </p:attrNameLst>
                                      </p:cBhvr>
                                      <p:to>
                                        <p:strVal val="visible"/>
                                      </p:to>
                                    </p:set>
                                    <p:anim calcmode="lin" valueType="num">
                                      <p:cBhvr additive="base">
                                        <p:cTn id="28" dur="500" fill="hold"/>
                                        <p:tgtEl>
                                          <p:spTgt spid="212999"/>
                                        </p:tgtEl>
                                        <p:attrNameLst>
                                          <p:attrName>ppt_x</p:attrName>
                                        </p:attrNameLst>
                                      </p:cBhvr>
                                      <p:tavLst>
                                        <p:tav tm="0">
                                          <p:val>
                                            <p:strVal val="1+#ppt_w/2"/>
                                          </p:val>
                                        </p:tav>
                                        <p:tav tm="100000">
                                          <p:val>
                                            <p:strVal val="#ppt_x"/>
                                          </p:val>
                                        </p:tav>
                                      </p:tavLst>
                                    </p:anim>
                                    <p:anim calcmode="lin" valueType="num">
                                      <p:cBhvr additive="base">
                                        <p:cTn id="29" dur="500" fill="hold"/>
                                        <p:tgtEl>
                                          <p:spTgt spid="212999"/>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1000"/>
                            </p:stCondLst>
                            <p:childTnLst>
                              <p:par>
                                <p:cTn id="31" presetID="2" presetClass="entr" presetSubtype="8" fill="hold" grpId="0" nodeType="afterEffect">
                                  <p:stCondLst>
                                    <p:cond delay="0"/>
                                  </p:stCondLst>
                                  <p:childTnLst>
                                    <p:set>
                                      <p:cBhvr>
                                        <p:cTn id="32" dur="1" fill="hold">
                                          <p:stCondLst>
                                            <p:cond delay="0"/>
                                          </p:stCondLst>
                                        </p:cTn>
                                        <p:tgtEl>
                                          <p:spTgt spid="212997"/>
                                        </p:tgtEl>
                                        <p:attrNameLst>
                                          <p:attrName>style.visibility</p:attrName>
                                        </p:attrNameLst>
                                      </p:cBhvr>
                                      <p:to>
                                        <p:strVal val="visible"/>
                                      </p:to>
                                    </p:set>
                                    <p:anim calcmode="lin" valueType="num">
                                      <p:cBhvr additive="base">
                                        <p:cTn id="33" dur="500" fill="hold"/>
                                        <p:tgtEl>
                                          <p:spTgt spid="212997"/>
                                        </p:tgtEl>
                                        <p:attrNameLst>
                                          <p:attrName>ppt_x</p:attrName>
                                        </p:attrNameLst>
                                      </p:cBhvr>
                                      <p:tavLst>
                                        <p:tav tm="0">
                                          <p:val>
                                            <p:strVal val="0-#ppt_w/2"/>
                                          </p:val>
                                        </p:tav>
                                        <p:tav tm="100000">
                                          <p:val>
                                            <p:strVal val="#ppt_x"/>
                                          </p:val>
                                        </p:tav>
                                      </p:tavLst>
                                    </p:anim>
                                    <p:anim calcmode="lin" valueType="num">
                                      <p:cBhvr additive="base">
                                        <p:cTn id="34" dur="500" fill="hold"/>
                                        <p:tgtEl>
                                          <p:spTgt spid="2129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autoUpdateAnimBg="0"/>
      <p:bldP spid="212995" grpId="0" autoUpdateAnimBg="0"/>
      <p:bldP spid="212996" grpId="0" autoUpdateAnimBg="0"/>
      <p:bldP spid="212997" grpId="0" animBg="1"/>
      <p:bldP spid="212998" grpId="0" animBg="1"/>
      <p:bldP spid="21299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1371600" y="152400"/>
            <a:ext cx="7305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a:latin typeface="Times New Roman" charset="0"/>
                <a:ea typeface="楷体_GB2312" charset="0"/>
              </a:rPr>
              <a:t>广义表是</a:t>
            </a:r>
            <a:r>
              <a:rPr kumimoji="1" lang="zh-CN" altLang="en-US" sz="4000" b="1">
                <a:solidFill>
                  <a:srgbClr val="FF0000"/>
                </a:solidFill>
                <a:latin typeface="Times New Roman" charset="0"/>
                <a:ea typeface="楷体_GB2312" charset="0"/>
              </a:rPr>
              <a:t>递归</a:t>
            </a:r>
            <a:r>
              <a:rPr kumimoji="1" lang="zh-CN" altLang="en-US" sz="4000">
                <a:latin typeface="Times New Roman" charset="0"/>
                <a:ea typeface="楷体_GB2312" charset="0"/>
              </a:rPr>
              <a:t>定义的</a:t>
            </a:r>
            <a:r>
              <a:rPr kumimoji="1" lang="zh-CN" altLang="en-US" sz="4000" b="1">
                <a:solidFill>
                  <a:srgbClr val="FF0000"/>
                </a:solidFill>
                <a:latin typeface="Times New Roman" charset="0"/>
                <a:ea typeface="楷体_GB2312" charset="0"/>
              </a:rPr>
              <a:t>线性结构</a:t>
            </a:r>
            <a:r>
              <a:rPr kumimoji="1" lang="zh-CN" altLang="en-US" sz="4000">
                <a:latin typeface="Times New Roman" charset="0"/>
                <a:ea typeface="楷体_GB2312" charset="0"/>
              </a:rPr>
              <a:t>，</a:t>
            </a:r>
            <a:endParaRPr kumimoji="1" lang="zh-CN" altLang="en-US" sz="4400">
              <a:latin typeface="Times New Roman" charset="0"/>
            </a:endParaRPr>
          </a:p>
        </p:txBody>
      </p:sp>
      <p:sp>
        <p:nvSpPr>
          <p:cNvPr id="214019" name="Text Box 3"/>
          <p:cNvSpPr txBox="1">
            <a:spLocks noChangeArrowheads="1"/>
          </p:cNvSpPr>
          <p:nvPr/>
        </p:nvSpPr>
        <p:spPr bwMode="auto">
          <a:xfrm>
            <a:off x="1309688" y="1028700"/>
            <a:ext cx="6386512"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600">
                <a:latin typeface="Times New Roman" charset="0"/>
                <a:ea typeface="楷体_GB2312" charset="0"/>
              </a:rPr>
              <a:t>       LS = ( </a:t>
            </a:r>
            <a:r>
              <a:rPr kumimoji="1" lang="en-US" altLang="zh-CN" sz="3600">
                <a:latin typeface="Times New Roman" charset="0"/>
                <a:ea typeface="楷体_GB2312" charset="0"/>
                <a:sym typeface="Symbol" charset="2"/>
              </a:rPr>
              <a:t></a:t>
            </a:r>
            <a:r>
              <a:rPr kumimoji="1" lang="en-US" altLang="zh-CN" sz="3600" baseline="-25000">
                <a:latin typeface="Times New Roman" charset="0"/>
                <a:ea typeface="楷体_GB2312" charset="0"/>
              </a:rPr>
              <a:t>1</a:t>
            </a:r>
            <a:r>
              <a:rPr kumimoji="1" lang="en-US" altLang="zh-CN" sz="3600">
                <a:latin typeface="Times New Roman" charset="0"/>
                <a:ea typeface="楷体_GB2312" charset="0"/>
              </a:rPr>
              <a:t>, </a:t>
            </a:r>
            <a:r>
              <a:rPr kumimoji="1" lang="en-US" altLang="zh-CN" sz="3600">
                <a:latin typeface="Times New Roman" charset="0"/>
                <a:ea typeface="楷体_GB2312" charset="0"/>
                <a:sym typeface="Symbol" charset="2"/>
              </a:rPr>
              <a:t></a:t>
            </a:r>
            <a:r>
              <a:rPr kumimoji="1" lang="en-US" altLang="zh-CN" sz="3600" baseline="-25000">
                <a:latin typeface="Times New Roman" charset="0"/>
                <a:ea typeface="楷体_GB2312" charset="0"/>
              </a:rPr>
              <a:t>2</a:t>
            </a:r>
            <a:r>
              <a:rPr kumimoji="1" lang="en-US" altLang="zh-CN" sz="3600">
                <a:latin typeface="Times New Roman" charset="0"/>
                <a:ea typeface="楷体_GB2312" charset="0"/>
              </a:rPr>
              <a:t>, </a:t>
            </a:r>
            <a:r>
              <a:rPr kumimoji="1" lang="en-US" altLang="zh-CN" sz="3600">
                <a:latin typeface="Times New Roman" charset="0"/>
                <a:ea typeface="楷体_GB2312" charset="0"/>
                <a:sym typeface="Symbol" charset="2"/>
              </a:rPr>
              <a:t></a:t>
            </a:r>
            <a:r>
              <a:rPr kumimoji="1" lang="en-US" altLang="zh-CN" sz="3600">
                <a:latin typeface="Times New Roman" charset="0"/>
                <a:ea typeface="楷体_GB2312" charset="0"/>
              </a:rPr>
              <a:t>, </a:t>
            </a:r>
            <a:r>
              <a:rPr kumimoji="1" lang="en-US" altLang="zh-CN" sz="3600">
                <a:latin typeface="Times New Roman" charset="0"/>
                <a:ea typeface="楷体_GB2312" charset="0"/>
                <a:sym typeface="Symbol" charset="2"/>
              </a:rPr>
              <a:t></a:t>
            </a:r>
            <a:r>
              <a:rPr kumimoji="1" lang="en-US" altLang="zh-CN" sz="3600" baseline="-25000">
                <a:latin typeface="Times New Roman" charset="0"/>
                <a:ea typeface="楷体_GB2312" charset="0"/>
              </a:rPr>
              <a:t>n</a:t>
            </a:r>
            <a:r>
              <a:rPr kumimoji="1" lang="en-US" altLang="zh-CN" sz="3600">
                <a:latin typeface="Times New Roman" charset="0"/>
                <a:ea typeface="楷体_GB2312" charset="0"/>
              </a:rPr>
              <a:t> )</a:t>
            </a:r>
          </a:p>
          <a:p>
            <a:pPr eaLnBrk="1" hangingPunct="1">
              <a:lnSpc>
                <a:spcPct val="120000"/>
              </a:lnSpc>
            </a:pPr>
            <a:r>
              <a:rPr kumimoji="1" lang="zh-CN" altLang="en-US" sz="3600">
                <a:latin typeface="Times New Roman" charset="0"/>
                <a:ea typeface="楷体_GB2312" charset="0"/>
              </a:rPr>
              <a:t>其中：</a:t>
            </a:r>
            <a:r>
              <a:rPr kumimoji="1" lang="zh-CN" altLang="en-US" sz="3600">
                <a:latin typeface="Times New Roman" charset="0"/>
                <a:ea typeface="楷体_GB2312" charset="0"/>
                <a:sym typeface="Symbol" charset="2"/>
              </a:rPr>
              <a:t></a:t>
            </a:r>
            <a:r>
              <a:rPr kumimoji="1" lang="en-US" altLang="zh-CN" sz="3600" baseline="-25000">
                <a:latin typeface="Times New Roman" charset="0"/>
                <a:ea typeface="楷体_GB2312" charset="0"/>
              </a:rPr>
              <a:t>i</a:t>
            </a:r>
            <a:r>
              <a:rPr kumimoji="1" lang="en-US" altLang="zh-CN" sz="3600">
                <a:latin typeface="Times New Roman" charset="0"/>
                <a:ea typeface="楷体_GB2312" charset="0"/>
              </a:rPr>
              <a:t>  </a:t>
            </a:r>
            <a:r>
              <a:rPr kumimoji="1" lang="zh-CN" altLang="en-US" sz="3600">
                <a:latin typeface="Times New Roman" charset="0"/>
                <a:ea typeface="楷体_GB2312" charset="0"/>
              </a:rPr>
              <a:t>或为原子 或为广义表</a:t>
            </a:r>
            <a:endParaRPr kumimoji="1" lang="zh-CN" altLang="en-US" sz="3200">
              <a:latin typeface="Times New Roman" charset="0"/>
              <a:ea typeface="楷体_GB2312" charset="0"/>
            </a:endParaRPr>
          </a:p>
        </p:txBody>
      </p:sp>
      <p:sp>
        <p:nvSpPr>
          <p:cNvPr id="214020" name="Text Box 4"/>
          <p:cNvSpPr txBox="1">
            <a:spLocks noChangeArrowheads="1"/>
          </p:cNvSpPr>
          <p:nvPr/>
        </p:nvSpPr>
        <p:spPr bwMode="auto">
          <a:xfrm>
            <a:off x="600075" y="2619375"/>
            <a:ext cx="8010525" cy="36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990033"/>
                </a:solidFill>
                <a:latin typeface="Times New Roman" charset="0"/>
                <a:ea typeface="楷体_GB2312" charset="0"/>
              </a:rPr>
              <a:t>例如</a:t>
            </a:r>
            <a:r>
              <a:rPr kumimoji="1" lang="en-US" altLang="zh-CN" sz="4000" b="1">
                <a:solidFill>
                  <a:srgbClr val="990033"/>
                </a:solidFill>
                <a:latin typeface="Times New Roman" charset="0"/>
                <a:ea typeface="楷体_GB2312" charset="0"/>
              </a:rPr>
              <a:t>:</a:t>
            </a:r>
            <a:r>
              <a:rPr kumimoji="1" lang="en-US" altLang="zh-CN" sz="4000">
                <a:latin typeface="Times New Roman" charset="0"/>
                <a:ea typeface="楷体_GB2312" charset="0"/>
              </a:rPr>
              <a:t>   A = (  )</a:t>
            </a:r>
          </a:p>
          <a:p>
            <a:pPr eaLnBrk="1" hangingPunct="1">
              <a:lnSpc>
                <a:spcPct val="120000"/>
              </a:lnSpc>
            </a:pPr>
            <a:r>
              <a:rPr kumimoji="1" lang="en-US" altLang="zh-CN" sz="4000">
                <a:latin typeface="Times New Roman" charset="0"/>
                <a:ea typeface="楷体_GB2312" charset="0"/>
              </a:rPr>
              <a:t>             F = (d, (e))</a:t>
            </a:r>
          </a:p>
          <a:p>
            <a:pPr eaLnBrk="1" hangingPunct="1">
              <a:lnSpc>
                <a:spcPct val="120000"/>
              </a:lnSpc>
            </a:pPr>
            <a:r>
              <a:rPr kumimoji="1" lang="en-US" altLang="zh-CN" sz="4000">
                <a:latin typeface="Times New Roman" charset="0"/>
                <a:ea typeface="楷体_GB2312" charset="0"/>
              </a:rPr>
              <a:t>             D = ((a,(b,c)), F)</a:t>
            </a:r>
          </a:p>
          <a:p>
            <a:pPr eaLnBrk="1" hangingPunct="1">
              <a:lnSpc>
                <a:spcPct val="120000"/>
              </a:lnSpc>
            </a:pPr>
            <a:r>
              <a:rPr kumimoji="1" lang="en-US" altLang="zh-CN" sz="4000">
                <a:latin typeface="Times New Roman" charset="0"/>
                <a:ea typeface="楷体_GB2312" charset="0"/>
              </a:rPr>
              <a:t>             C = (A, D, F)</a:t>
            </a:r>
          </a:p>
          <a:p>
            <a:pPr eaLnBrk="1" hangingPunct="1">
              <a:lnSpc>
                <a:spcPct val="120000"/>
              </a:lnSpc>
            </a:pPr>
            <a:r>
              <a:rPr kumimoji="1" lang="en-US" altLang="zh-CN" sz="4000">
                <a:latin typeface="Times New Roman" charset="0"/>
                <a:ea typeface="楷体_GB2312" charset="0"/>
              </a:rPr>
              <a:t>             B = (a, B) = (a, (a, (a, </a:t>
            </a:r>
            <a:r>
              <a:rPr kumimoji="1" lang="en-US" altLang="zh-CN" sz="4000">
                <a:latin typeface="Times New Roman" charset="0"/>
                <a:ea typeface="楷体_GB2312" charset="0"/>
                <a:sym typeface="Symbol" charset="2"/>
              </a:rPr>
              <a:t></a:t>
            </a:r>
            <a:r>
              <a:rPr kumimoji="1" lang="en-US" altLang="zh-CN" sz="4000">
                <a:latin typeface="Times New Roman" charset="0"/>
                <a:ea typeface="楷体_GB2312" charset="0"/>
              </a:rPr>
              <a:t> ,  ) ) )</a:t>
            </a:r>
          </a:p>
        </p:txBody>
      </p:sp>
      <p:sp>
        <p:nvSpPr>
          <p:cNvPr id="214021" name="AutoShape 5">
            <a:hlinkClick r:id="" action="ppaction://hlinkshowjump?jump=lastslideviewed" highlightClick="1"/>
          </p:cNvPr>
          <p:cNvSpPr>
            <a:spLocks noChangeArrowheads="1"/>
          </p:cNvSpPr>
          <p:nvPr/>
        </p:nvSpPr>
        <p:spPr bwMode="auto">
          <a:xfrm>
            <a:off x="8534400" y="6324600"/>
            <a:ext cx="304800" cy="304800"/>
          </a:xfrm>
          <a:prstGeom prst="actionButtonReturn">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2323512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4018"/>
                                        </p:tgtEl>
                                        <p:attrNameLst>
                                          <p:attrName>style.visibility</p:attrName>
                                        </p:attrNameLst>
                                      </p:cBhvr>
                                      <p:to>
                                        <p:strVal val="visible"/>
                                      </p:to>
                                    </p:set>
                                    <p:anim calcmode="lin" valueType="num">
                                      <p:cBhvr additive="base">
                                        <p:cTn id="7" dur="500" fill="hold"/>
                                        <p:tgtEl>
                                          <p:spTgt spid="214018"/>
                                        </p:tgtEl>
                                        <p:attrNameLst>
                                          <p:attrName>ppt_x</p:attrName>
                                        </p:attrNameLst>
                                      </p:cBhvr>
                                      <p:tavLst>
                                        <p:tav tm="0">
                                          <p:val>
                                            <p:strVal val="0-#ppt_w/2"/>
                                          </p:val>
                                        </p:tav>
                                        <p:tav tm="100000">
                                          <p:val>
                                            <p:strVal val="#ppt_x"/>
                                          </p:val>
                                        </p:tav>
                                      </p:tavLst>
                                    </p:anim>
                                    <p:anim calcmode="lin" valueType="num">
                                      <p:cBhvr additive="base">
                                        <p:cTn id="8" dur="500" fill="hold"/>
                                        <p:tgtEl>
                                          <p:spTgt spid="2140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3" fill="hold" grpId="0" nodeType="clickEffect">
                                  <p:stCondLst>
                                    <p:cond delay="0"/>
                                  </p:stCondLst>
                                  <p:childTnLst>
                                    <p:set>
                                      <p:cBhvr>
                                        <p:cTn id="12" dur="1" fill="hold">
                                          <p:stCondLst>
                                            <p:cond delay="0"/>
                                          </p:stCondLst>
                                        </p:cTn>
                                        <p:tgtEl>
                                          <p:spTgt spid="214019"/>
                                        </p:tgtEl>
                                        <p:attrNameLst>
                                          <p:attrName>style.visibility</p:attrName>
                                        </p:attrNameLst>
                                      </p:cBhvr>
                                      <p:to>
                                        <p:strVal val="visible"/>
                                      </p:to>
                                    </p:set>
                                    <p:animEffect transition="in" filter="strips(upRight)">
                                      <p:cBhvr>
                                        <p:cTn id="13" dur="500"/>
                                        <p:tgtEl>
                                          <p:spTgt spid="2140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14020"/>
                                        </p:tgtEl>
                                        <p:attrNameLst>
                                          <p:attrName>style.visibility</p:attrName>
                                        </p:attrNameLst>
                                      </p:cBhvr>
                                      <p:to>
                                        <p:strVal val="visible"/>
                                      </p:to>
                                    </p:set>
                                    <p:animEffect transition="in" filter="dissolve">
                                      <p:cBhvr>
                                        <p:cTn id="18" dur="500"/>
                                        <p:tgtEl>
                                          <p:spTgt spid="214020"/>
                                        </p:tgtEl>
                                      </p:cBhvr>
                                    </p:animEffect>
                                  </p:childTnLst>
                                </p:cTn>
                              </p:par>
                            </p:childTnLst>
                          </p:cTn>
                        </p:par>
                        <p:par>
                          <p:cTn id="19" fill="hold" nodeType="afterGroup">
                            <p:stCondLst>
                              <p:cond delay="500"/>
                            </p:stCondLst>
                            <p:childTnLst>
                              <p:par>
                                <p:cTn id="20" presetID="2" presetClass="entr" presetSubtype="12" fill="hold" grpId="0" nodeType="afterEffect">
                                  <p:stCondLst>
                                    <p:cond delay="0"/>
                                  </p:stCondLst>
                                  <p:childTnLst>
                                    <p:set>
                                      <p:cBhvr>
                                        <p:cTn id="21" dur="1" fill="hold">
                                          <p:stCondLst>
                                            <p:cond delay="0"/>
                                          </p:stCondLst>
                                        </p:cTn>
                                        <p:tgtEl>
                                          <p:spTgt spid="214021"/>
                                        </p:tgtEl>
                                        <p:attrNameLst>
                                          <p:attrName>style.visibility</p:attrName>
                                        </p:attrNameLst>
                                      </p:cBhvr>
                                      <p:to>
                                        <p:strVal val="visible"/>
                                      </p:to>
                                    </p:set>
                                    <p:anim calcmode="lin" valueType="num">
                                      <p:cBhvr additive="base">
                                        <p:cTn id="22" dur="500" fill="hold"/>
                                        <p:tgtEl>
                                          <p:spTgt spid="214021"/>
                                        </p:tgtEl>
                                        <p:attrNameLst>
                                          <p:attrName>ppt_x</p:attrName>
                                        </p:attrNameLst>
                                      </p:cBhvr>
                                      <p:tavLst>
                                        <p:tav tm="0">
                                          <p:val>
                                            <p:strVal val="0-#ppt_w/2"/>
                                          </p:val>
                                        </p:tav>
                                        <p:tav tm="100000">
                                          <p:val>
                                            <p:strVal val="#ppt_x"/>
                                          </p:val>
                                        </p:tav>
                                      </p:tavLst>
                                    </p:anim>
                                    <p:anim calcmode="lin" valueType="num">
                                      <p:cBhvr additive="base">
                                        <p:cTn id="23" dur="500" fill="hold"/>
                                        <p:tgtEl>
                                          <p:spTgt spid="2140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autoUpdateAnimBg="0"/>
      <p:bldP spid="214019" grpId="0" autoUpdateAnimBg="0"/>
      <p:bldP spid="214020" grpId="0" autoUpdateAnimBg="0"/>
      <p:bldP spid="21402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2"/>
          <p:cNvSpPr txBox="1">
            <a:spLocks noChangeArrowheads="1"/>
          </p:cNvSpPr>
          <p:nvPr/>
        </p:nvSpPr>
        <p:spPr bwMode="auto">
          <a:xfrm>
            <a:off x="1447800" y="331788"/>
            <a:ext cx="65960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latin typeface="Times New Roman" charset="0"/>
                <a:ea typeface="楷体_GB2312" charset="0"/>
              </a:rPr>
              <a:t>广义表是一个</a:t>
            </a:r>
            <a:r>
              <a:rPr kumimoji="1" lang="zh-CN" altLang="en-US" sz="3600" b="1">
                <a:solidFill>
                  <a:srgbClr val="FF0000"/>
                </a:solidFill>
                <a:latin typeface="Times New Roman" charset="0"/>
                <a:ea typeface="楷体_GB2312" charset="0"/>
              </a:rPr>
              <a:t>多层次</a:t>
            </a:r>
            <a:r>
              <a:rPr kumimoji="1" lang="zh-CN" altLang="en-US" sz="3600">
                <a:latin typeface="Times New Roman" charset="0"/>
                <a:ea typeface="楷体_GB2312" charset="0"/>
              </a:rPr>
              <a:t>的</a:t>
            </a:r>
            <a:r>
              <a:rPr kumimoji="1" lang="zh-CN" altLang="en-US" sz="3600" b="1">
                <a:solidFill>
                  <a:srgbClr val="FF0000"/>
                </a:solidFill>
                <a:latin typeface="Times New Roman" charset="0"/>
                <a:ea typeface="楷体_GB2312" charset="0"/>
              </a:rPr>
              <a:t>线性结构</a:t>
            </a:r>
          </a:p>
        </p:txBody>
      </p:sp>
      <p:sp>
        <p:nvSpPr>
          <p:cNvPr id="215043" name="Text Box 3"/>
          <p:cNvSpPr txBox="1">
            <a:spLocks noChangeArrowheads="1"/>
          </p:cNvSpPr>
          <p:nvPr/>
        </p:nvSpPr>
        <p:spPr bwMode="auto">
          <a:xfrm>
            <a:off x="304800" y="1371600"/>
            <a:ext cx="22558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5400" b="1">
                <a:latin typeface="Times New Roman" charset="0"/>
                <a:ea typeface="楷体_GB2312" charset="0"/>
              </a:rPr>
              <a:t>例如：</a:t>
            </a:r>
          </a:p>
        </p:txBody>
      </p:sp>
      <p:sp>
        <p:nvSpPr>
          <p:cNvPr id="215044" name="Text Box 4"/>
          <p:cNvSpPr txBox="1">
            <a:spLocks noChangeArrowheads="1"/>
          </p:cNvSpPr>
          <p:nvPr/>
        </p:nvSpPr>
        <p:spPr bwMode="auto">
          <a:xfrm>
            <a:off x="1066800" y="2286000"/>
            <a:ext cx="22717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FF0000"/>
                </a:solidFill>
                <a:latin typeface="Times New Roman" charset="0"/>
              </a:rPr>
              <a:t>D=(</a:t>
            </a:r>
            <a:r>
              <a:rPr kumimoji="1" lang="en-US" altLang="zh-CN" sz="4400" b="1">
                <a:solidFill>
                  <a:srgbClr val="0000FF"/>
                </a:solidFill>
                <a:latin typeface="Times New Roman" charset="0"/>
              </a:rPr>
              <a:t>E</a:t>
            </a:r>
            <a:r>
              <a:rPr kumimoji="1" lang="en-US" altLang="zh-CN" sz="4400" b="1">
                <a:solidFill>
                  <a:srgbClr val="FF0000"/>
                </a:solidFill>
                <a:latin typeface="Times New Roman" charset="0"/>
              </a:rPr>
              <a:t>, </a:t>
            </a:r>
            <a:r>
              <a:rPr kumimoji="1" lang="en-US" altLang="zh-CN" sz="4400" b="1">
                <a:solidFill>
                  <a:srgbClr val="0000FF"/>
                </a:solidFill>
                <a:latin typeface="Times New Roman" charset="0"/>
              </a:rPr>
              <a:t>F</a:t>
            </a:r>
            <a:r>
              <a:rPr kumimoji="1" lang="en-US" altLang="zh-CN" sz="4400" b="1">
                <a:solidFill>
                  <a:srgbClr val="FF0000"/>
                </a:solidFill>
                <a:latin typeface="Times New Roman" charset="0"/>
              </a:rPr>
              <a:t>)</a:t>
            </a:r>
          </a:p>
        </p:txBody>
      </p:sp>
      <p:sp>
        <p:nvSpPr>
          <p:cNvPr id="215045" name="Text Box 5"/>
          <p:cNvSpPr txBox="1">
            <a:spLocks noChangeArrowheads="1"/>
          </p:cNvSpPr>
          <p:nvPr/>
        </p:nvSpPr>
        <p:spPr bwMode="auto">
          <a:xfrm>
            <a:off x="228600" y="3009900"/>
            <a:ext cx="3260725"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zh-CN" altLang="zh-CN" sz="4400">
                <a:latin typeface="楷体_GB2312" charset="0"/>
                <a:ea typeface="楷体_GB2312" charset="0"/>
              </a:rPr>
              <a:t>其中:</a:t>
            </a:r>
          </a:p>
          <a:p>
            <a:pPr eaLnBrk="1" hangingPunct="1">
              <a:lnSpc>
                <a:spcPct val="120000"/>
              </a:lnSpc>
            </a:pPr>
            <a:r>
              <a:rPr kumimoji="1" lang="zh-CN" altLang="zh-CN" sz="4400">
                <a:latin typeface="楷体_GB2312" charset="0"/>
                <a:ea typeface="楷体_GB2312" charset="0"/>
              </a:rPr>
              <a:t> </a:t>
            </a:r>
            <a:r>
              <a:rPr kumimoji="1" lang="en-US" altLang="zh-CN" sz="4400">
                <a:solidFill>
                  <a:srgbClr val="0000FF"/>
                </a:solidFill>
                <a:latin typeface="Times New Roman" charset="0"/>
              </a:rPr>
              <a:t>E=(</a:t>
            </a:r>
            <a:r>
              <a:rPr kumimoji="1" lang="en-US" altLang="zh-CN" sz="4400" b="1">
                <a:solidFill>
                  <a:srgbClr val="990033"/>
                </a:solidFill>
                <a:latin typeface="Times New Roman" charset="0"/>
              </a:rPr>
              <a:t>a</a:t>
            </a:r>
            <a:r>
              <a:rPr kumimoji="1" lang="en-US" altLang="zh-CN" sz="4400">
                <a:solidFill>
                  <a:srgbClr val="0000FF"/>
                </a:solidFill>
                <a:latin typeface="Times New Roman" charset="0"/>
              </a:rPr>
              <a:t>,</a:t>
            </a:r>
            <a:r>
              <a:rPr kumimoji="1" lang="en-US" altLang="zh-CN" sz="4400">
                <a:latin typeface="Times New Roman" charset="0"/>
              </a:rPr>
              <a:t> </a:t>
            </a:r>
            <a:r>
              <a:rPr kumimoji="1" lang="en-US" altLang="zh-CN" sz="4400">
                <a:solidFill>
                  <a:srgbClr val="990033"/>
                </a:solidFill>
                <a:latin typeface="Times New Roman" charset="0"/>
              </a:rPr>
              <a:t>(</a:t>
            </a:r>
            <a:r>
              <a:rPr kumimoji="1" lang="en-US" altLang="zh-CN" sz="4400" b="1">
                <a:solidFill>
                  <a:srgbClr val="9933FF"/>
                </a:solidFill>
                <a:latin typeface="Times New Roman" charset="0"/>
              </a:rPr>
              <a:t>b</a:t>
            </a:r>
            <a:r>
              <a:rPr kumimoji="1" lang="en-US" altLang="zh-CN" sz="4400">
                <a:solidFill>
                  <a:srgbClr val="990033"/>
                </a:solidFill>
                <a:latin typeface="Times New Roman" charset="0"/>
              </a:rPr>
              <a:t>,</a:t>
            </a:r>
            <a:r>
              <a:rPr kumimoji="1" lang="en-US" altLang="zh-CN" sz="4400">
                <a:latin typeface="Times New Roman" charset="0"/>
              </a:rPr>
              <a:t> </a:t>
            </a:r>
            <a:r>
              <a:rPr kumimoji="1" lang="en-US" altLang="zh-CN" sz="4400" b="1">
                <a:solidFill>
                  <a:srgbClr val="9933FF"/>
                </a:solidFill>
                <a:latin typeface="Times New Roman" charset="0"/>
              </a:rPr>
              <a:t>c</a:t>
            </a:r>
            <a:r>
              <a:rPr kumimoji="1" lang="en-US" altLang="zh-CN" sz="4400">
                <a:solidFill>
                  <a:srgbClr val="990033"/>
                </a:solidFill>
                <a:latin typeface="Times New Roman" charset="0"/>
              </a:rPr>
              <a:t>)</a:t>
            </a:r>
            <a:r>
              <a:rPr kumimoji="1" lang="en-US" altLang="zh-CN" sz="4400">
                <a:solidFill>
                  <a:srgbClr val="0000FF"/>
                </a:solidFill>
                <a:latin typeface="Times New Roman" charset="0"/>
              </a:rPr>
              <a:t>)</a:t>
            </a:r>
            <a:endParaRPr kumimoji="1" lang="en-US" altLang="zh-CN" sz="4400">
              <a:latin typeface="Times New Roman" charset="0"/>
            </a:endParaRPr>
          </a:p>
          <a:p>
            <a:pPr eaLnBrk="1" hangingPunct="1">
              <a:lnSpc>
                <a:spcPct val="120000"/>
              </a:lnSpc>
            </a:pPr>
            <a:r>
              <a:rPr kumimoji="1" lang="en-US" altLang="zh-CN" sz="4400">
                <a:latin typeface="Times New Roman" charset="0"/>
              </a:rPr>
              <a:t>  </a:t>
            </a:r>
            <a:r>
              <a:rPr kumimoji="1" lang="en-US" altLang="zh-CN" sz="4400">
                <a:solidFill>
                  <a:srgbClr val="0000FF"/>
                </a:solidFill>
                <a:latin typeface="Times New Roman" charset="0"/>
              </a:rPr>
              <a:t>F=(</a:t>
            </a:r>
            <a:r>
              <a:rPr kumimoji="1" lang="en-US" altLang="zh-CN" sz="4400" b="1">
                <a:solidFill>
                  <a:srgbClr val="990033"/>
                </a:solidFill>
                <a:latin typeface="Times New Roman" charset="0"/>
              </a:rPr>
              <a:t>d</a:t>
            </a:r>
            <a:r>
              <a:rPr kumimoji="1" lang="en-US" altLang="zh-CN" sz="4400">
                <a:solidFill>
                  <a:srgbClr val="0000FF"/>
                </a:solidFill>
                <a:latin typeface="Times New Roman" charset="0"/>
              </a:rPr>
              <a:t>,</a:t>
            </a:r>
            <a:r>
              <a:rPr kumimoji="1" lang="en-US" altLang="zh-CN" sz="4400">
                <a:solidFill>
                  <a:srgbClr val="990033"/>
                </a:solidFill>
                <a:latin typeface="Times New Roman" charset="0"/>
              </a:rPr>
              <a:t> (</a:t>
            </a:r>
            <a:r>
              <a:rPr kumimoji="1" lang="en-US" altLang="zh-CN" sz="4400" b="1">
                <a:solidFill>
                  <a:srgbClr val="9933FF"/>
                </a:solidFill>
                <a:latin typeface="Times New Roman" charset="0"/>
              </a:rPr>
              <a:t>e</a:t>
            </a:r>
            <a:r>
              <a:rPr kumimoji="1" lang="en-US" altLang="zh-CN" sz="4400">
                <a:solidFill>
                  <a:srgbClr val="990033"/>
                </a:solidFill>
                <a:latin typeface="Times New Roman" charset="0"/>
              </a:rPr>
              <a:t>)</a:t>
            </a:r>
            <a:r>
              <a:rPr kumimoji="1" lang="en-US" altLang="zh-CN" sz="4400">
                <a:solidFill>
                  <a:srgbClr val="0000FF"/>
                </a:solidFill>
                <a:latin typeface="Times New Roman" charset="0"/>
              </a:rPr>
              <a:t>)</a:t>
            </a:r>
            <a:endParaRPr kumimoji="1" lang="en-US" altLang="zh-CN" sz="4400">
              <a:latin typeface="Times New Roman" charset="0"/>
            </a:endParaRPr>
          </a:p>
        </p:txBody>
      </p:sp>
      <p:sp>
        <p:nvSpPr>
          <p:cNvPr id="215046" name="Text Box 6"/>
          <p:cNvSpPr txBox="1">
            <a:spLocks noChangeArrowheads="1"/>
          </p:cNvSpPr>
          <p:nvPr/>
        </p:nvSpPr>
        <p:spPr bwMode="auto">
          <a:xfrm>
            <a:off x="5813425" y="19050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FF0000"/>
                </a:solidFill>
                <a:latin typeface="Times New Roman" charset="0"/>
              </a:rPr>
              <a:t>D</a:t>
            </a:r>
          </a:p>
        </p:txBody>
      </p:sp>
      <p:sp>
        <p:nvSpPr>
          <p:cNvPr id="215047" name="Text Box 7"/>
          <p:cNvSpPr txBox="1">
            <a:spLocks noChangeArrowheads="1"/>
          </p:cNvSpPr>
          <p:nvPr/>
        </p:nvSpPr>
        <p:spPr bwMode="auto">
          <a:xfrm>
            <a:off x="4572000" y="28956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0000FF"/>
                </a:solidFill>
                <a:latin typeface="Times New Roman" charset="0"/>
              </a:rPr>
              <a:t>E</a:t>
            </a:r>
            <a:endParaRPr kumimoji="1" lang="en-US" altLang="zh-CN" sz="4400">
              <a:latin typeface="Times New Roman" charset="0"/>
            </a:endParaRPr>
          </a:p>
        </p:txBody>
      </p:sp>
      <p:sp>
        <p:nvSpPr>
          <p:cNvPr id="215048" name="Text Box 8"/>
          <p:cNvSpPr txBox="1">
            <a:spLocks noChangeArrowheads="1"/>
          </p:cNvSpPr>
          <p:nvPr/>
        </p:nvSpPr>
        <p:spPr bwMode="auto">
          <a:xfrm>
            <a:off x="7353300" y="2895600"/>
            <a:ext cx="525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0000FF"/>
                </a:solidFill>
                <a:latin typeface="Times New Roman" charset="0"/>
              </a:rPr>
              <a:t>F</a:t>
            </a:r>
            <a:endParaRPr kumimoji="1" lang="en-US" altLang="zh-CN" sz="4400">
              <a:latin typeface="Times New Roman" charset="0"/>
            </a:endParaRPr>
          </a:p>
        </p:txBody>
      </p:sp>
      <p:sp>
        <p:nvSpPr>
          <p:cNvPr id="215049" name="Text Box 9"/>
          <p:cNvSpPr txBox="1">
            <a:spLocks noChangeArrowheads="1"/>
          </p:cNvSpPr>
          <p:nvPr/>
        </p:nvSpPr>
        <p:spPr bwMode="auto">
          <a:xfrm>
            <a:off x="3657600" y="3581400"/>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990033"/>
                </a:solidFill>
                <a:latin typeface="Times New Roman" charset="0"/>
              </a:rPr>
              <a:t>a</a:t>
            </a:r>
            <a:endParaRPr kumimoji="1" lang="en-US" altLang="zh-CN" sz="4400">
              <a:latin typeface="Times New Roman" charset="0"/>
            </a:endParaRPr>
          </a:p>
        </p:txBody>
      </p:sp>
      <p:sp>
        <p:nvSpPr>
          <p:cNvPr id="215050" name="Text Box 10"/>
          <p:cNvSpPr txBox="1">
            <a:spLocks noChangeArrowheads="1"/>
          </p:cNvSpPr>
          <p:nvPr/>
        </p:nvSpPr>
        <p:spPr bwMode="auto">
          <a:xfrm>
            <a:off x="5413375" y="3581400"/>
            <a:ext cx="835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  )</a:t>
            </a:r>
            <a:endParaRPr kumimoji="1" lang="en-US" altLang="zh-CN" sz="4400">
              <a:latin typeface="Times New Roman" charset="0"/>
            </a:endParaRPr>
          </a:p>
        </p:txBody>
      </p:sp>
      <p:sp>
        <p:nvSpPr>
          <p:cNvPr id="215051" name="Text Box 11"/>
          <p:cNvSpPr txBox="1">
            <a:spLocks noChangeArrowheads="1"/>
          </p:cNvSpPr>
          <p:nvPr/>
        </p:nvSpPr>
        <p:spPr bwMode="auto">
          <a:xfrm>
            <a:off x="6461125" y="35814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990033"/>
                </a:solidFill>
                <a:latin typeface="Times New Roman" charset="0"/>
              </a:rPr>
              <a:t>d</a:t>
            </a:r>
            <a:endParaRPr kumimoji="1" lang="en-US" altLang="zh-CN" sz="4400">
              <a:latin typeface="Times New Roman" charset="0"/>
            </a:endParaRPr>
          </a:p>
        </p:txBody>
      </p:sp>
      <p:sp>
        <p:nvSpPr>
          <p:cNvPr id="215052" name="Text Box 12"/>
          <p:cNvSpPr txBox="1">
            <a:spLocks noChangeArrowheads="1"/>
          </p:cNvSpPr>
          <p:nvPr/>
        </p:nvSpPr>
        <p:spPr bwMode="auto">
          <a:xfrm>
            <a:off x="8001000" y="3581400"/>
            <a:ext cx="835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solidFill>
                  <a:srgbClr val="990033"/>
                </a:solidFill>
                <a:latin typeface="Times New Roman" charset="0"/>
              </a:rPr>
              <a:t>(  )</a:t>
            </a:r>
            <a:endParaRPr kumimoji="1" lang="en-US" altLang="zh-CN" sz="4400">
              <a:latin typeface="Times New Roman" charset="0"/>
            </a:endParaRPr>
          </a:p>
        </p:txBody>
      </p:sp>
      <p:sp>
        <p:nvSpPr>
          <p:cNvPr id="215053" name="Text Box 13"/>
          <p:cNvSpPr txBox="1">
            <a:spLocks noChangeArrowheads="1"/>
          </p:cNvSpPr>
          <p:nvPr/>
        </p:nvSpPr>
        <p:spPr bwMode="auto">
          <a:xfrm>
            <a:off x="5029200" y="47244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9933FF"/>
                </a:solidFill>
                <a:latin typeface="Times New Roman" charset="0"/>
              </a:rPr>
              <a:t>b</a:t>
            </a:r>
            <a:endParaRPr kumimoji="1" lang="en-US" altLang="zh-CN" sz="4400">
              <a:latin typeface="Times New Roman" charset="0"/>
            </a:endParaRPr>
          </a:p>
        </p:txBody>
      </p:sp>
      <p:sp>
        <p:nvSpPr>
          <p:cNvPr id="215054" name="Text Box 14"/>
          <p:cNvSpPr txBox="1">
            <a:spLocks noChangeArrowheads="1"/>
          </p:cNvSpPr>
          <p:nvPr/>
        </p:nvSpPr>
        <p:spPr bwMode="auto">
          <a:xfrm>
            <a:off x="6148388" y="4724400"/>
            <a:ext cx="43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9933FF"/>
                </a:solidFill>
                <a:latin typeface="Times New Roman" charset="0"/>
              </a:rPr>
              <a:t>c</a:t>
            </a:r>
            <a:endParaRPr kumimoji="1" lang="en-US" altLang="zh-CN" sz="4400">
              <a:latin typeface="Times New Roman" charset="0"/>
            </a:endParaRPr>
          </a:p>
        </p:txBody>
      </p:sp>
      <p:sp>
        <p:nvSpPr>
          <p:cNvPr id="215055" name="Text Box 15"/>
          <p:cNvSpPr txBox="1">
            <a:spLocks noChangeArrowheads="1"/>
          </p:cNvSpPr>
          <p:nvPr/>
        </p:nvSpPr>
        <p:spPr bwMode="auto">
          <a:xfrm>
            <a:off x="8255000" y="4648200"/>
            <a:ext cx="43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9933FF"/>
                </a:solidFill>
                <a:latin typeface="Times New Roman" charset="0"/>
              </a:rPr>
              <a:t>e</a:t>
            </a:r>
            <a:endParaRPr kumimoji="1" lang="en-US" altLang="zh-CN" sz="4400">
              <a:latin typeface="Times New Roman" charset="0"/>
            </a:endParaRPr>
          </a:p>
        </p:txBody>
      </p:sp>
      <p:sp>
        <p:nvSpPr>
          <p:cNvPr id="215056" name="Line 16"/>
          <p:cNvSpPr>
            <a:spLocks noChangeShapeType="1"/>
          </p:cNvSpPr>
          <p:nvPr/>
        </p:nvSpPr>
        <p:spPr bwMode="auto">
          <a:xfrm flipH="1">
            <a:off x="5029200" y="2514600"/>
            <a:ext cx="83820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57" name="Line 17"/>
          <p:cNvSpPr>
            <a:spLocks noChangeShapeType="1"/>
          </p:cNvSpPr>
          <p:nvPr/>
        </p:nvSpPr>
        <p:spPr bwMode="auto">
          <a:xfrm>
            <a:off x="6324600" y="2514600"/>
            <a:ext cx="1066800" cy="685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58" name="Line 18"/>
          <p:cNvSpPr>
            <a:spLocks noChangeShapeType="1"/>
          </p:cNvSpPr>
          <p:nvPr/>
        </p:nvSpPr>
        <p:spPr bwMode="auto">
          <a:xfrm flipH="1">
            <a:off x="3962400" y="3429000"/>
            <a:ext cx="6858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59" name="Line 19"/>
          <p:cNvSpPr>
            <a:spLocks noChangeShapeType="1"/>
          </p:cNvSpPr>
          <p:nvPr/>
        </p:nvSpPr>
        <p:spPr bwMode="auto">
          <a:xfrm>
            <a:off x="5105400" y="3505200"/>
            <a:ext cx="685800" cy="228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60" name="Line 20"/>
          <p:cNvSpPr>
            <a:spLocks noChangeShapeType="1"/>
          </p:cNvSpPr>
          <p:nvPr/>
        </p:nvSpPr>
        <p:spPr bwMode="auto">
          <a:xfrm flipH="1">
            <a:off x="5257800" y="4343400"/>
            <a:ext cx="45720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61" name="Line 21"/>
          <p:cNvSpPr>
            <a:spLocks noChangeShapeType="1"/>
          </p:cNvSpPr>
          <p:nvPr/>
        </p:nvSpPr>
        <p:spPr bwMode="auto">
          <a:xfrm>
            <a:off x="5867400" y="4343400"/>
            <a:ext cx="45720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62" name="Line 22"/>
          <p:cNvSpPr>
            <a:spLocks noChangeShapeType="1"/>
          </p:cNvSpPr>
          <p:nvPr/>
        </p:nvSpPr>
        <p:spPr bwMode="auto">
          <a:xfrm flipH="1">
            <a:off x="6858000" y="3505200"/>
            <a:ext cx="5334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63" name="Line 23"/>
          <p:cNvSpPr>
            <a:spLocks noChangeShapeType="1"/>
          </p:cNvSpPr>
          <p:nvPr/>
        </p:nvSpPr>
        <p:spPr bwMode="auto">
          <a:xfrm>
            <a:off x="7848600" y="3429000"/>
            <a:ext cx="6096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64" name="Line 24"/>
          <p:cNvSpPr>
            <a:spLocks noChangeShapeType="1"/>
          </p:cNvSpPr>
          <p:nvPr/>
        </p:nvSpPr>
        <p:spPr bwMode="auto">
          <a:xfrm>
            <a:off x="8458200" y="4267200"/>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949149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15042"/>
                                        </p:tgtEl>
                                        <p:attrNameLst>
                                          <p:attrName>style.visibility</p:attrName>
                                        </p:attrNameLst>
                                      </p:cBhvr>
                                      <p:to>
                                        <p:strVal val="visible"/>
                                      </p:to>
                                    </p:set>
                                    <p:anim calcmode="lin" valueType="num">
                                      <p:cBhvr additive="base">
                                        <p:cTn id="7" dur="500" fill="hold"/>
                                        <p:tgtEl>
                                          <p:spTgt spid="215042"/>
                                        </p:tgtEl>
                                        <p:attrNameLst>
                                          <p:attrName>ppt_x</p:attrName>
                                        </p:attrNameLst>
                                      </p:cBhvr>
                                      <p:tavLst>
                                        <p:tav tm="0">
                                          <p:val>
                                            <p:strVal val="#ppt_x"/>
                                          </p:val>
                                        </p:tav>
                                        <p:tav tm="100000">
                                          <p:val>
                                            <p:strVal val="#ppt_x"/>
                                          </p:val>
                                        </p:tav>
                                      </p:tavLst>
                                    </p:anim>
                                    <p:anim calcmode="lin" valueType="num">
                                      <p:cBhvr additive="base">
                                        <p:cTn id="8" dur="500" fill="hold"/>
                                        <p:tgtEl>
                                          <p:spTgt spid="21504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043"/>
                                        </p:tgtEl>
                                        <p:attrNameLst>
                                          <p:attrName>style.visibility</p:attrName>
                                        </p:attrNameLst>
                                      </p:cBhvr>
                                      <p:to>
                                        <p:strVal val="visible"/>
                                      </p:to>
                                    </p:set>
                                    <p:anim calcmode="lin" valueType="num">
                                      <p:cBhvr additive="base">
                                        <p:cTn id="13" dur="500" fill="hold"/>
                                        <p:tgtEl>
                                          <p:spTgt spid="215043"/>
                                        </p:tgtEl>
                                        <p:attrNameLst>
                                          <p:attrName>ppt_x</p:attrName>
                                        </p:attrNameLst>
                                      </p:cBhvr>
                                      <p:tavLst>
                                        <p:tav tm="0">
                                          <p:val>
                                            <p:strVal val="0-#ppt_w/2"/>
                                          </p:val>
                                        </p:tav>
                                        <p:tav tm="100000">
                                          <p:val>
                                            <p:strVal val="#ppt_x"/>
                                          </p:val>
                                        </p:tav>
                                      </p:tavLst>
                                    </p:anim>
                                    <p:anim calcmode="lin" valueType="num">
                                      <p:cBhvr additive="base">
                                        <p:cTn id="14" dur="500" fill="hold"/>
                                        <p:tgtEl>
                                          <p:spTgt spid="21504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15044"/>
                                        </p:tgtEl>
                                        <p:attrNameLst>
                                          <p:attrName>style.visibility</p:attrName>
                                        </p:attrNameLst>
                                      </p:cBhvr>
                                      <p:to>
                                        <p:strVal val="visible"/>
                                      </p:to>
                                    </p:set>
                                    <p:animEffect transition="in" filter="wipe(left)">
                                      <p:cBhvr>
                                        <p:cTn id="19" dur="500"/>
                                        <p:tgtEl>
                                          <p:spTgt spid="21504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215045"/>
                                        </p:tgtEl>
                                        <p:attrNameLst>
                                          <p:attrName>style.visibility</p:attrName>
                                        </p:attrNameLst>
                                      </p:cBhvr>
                                      <p:to>
                                        <p:strVal val="visible"/>
                                      </p:to>
                                    </p:set>
                                    <p:animEffect transition="in" filter="strips(downRight)">
                                      <p:cBhvr>
                                        <p:cTn id="24" dur="500"/>
                                        <p:tgtEl>
                                          <p:spTgt spid="21504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15046"/>
                                        </p:tgtEl>
                                        <p:attrNameLst>
                                          <p:attrName>style.visibility</p:attrName>
                                        </p:attrNameLst>
                                      </p:cBhvr>
                                      <p:to>
                                        <p:strVal val="visible"/>
                                      </p:to>
                                    </p:set>
                                    <p:animEffect transition="in" filter="wipe(up)">
                                      <p:cBhvr>
                                        <p:cTn id="29" dur="500"/>
                                        <p:tgtEl>
                                          <p:spTgt spid="21504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15056"/>
                                        </p:tgtEl>
                                        <p:attrNameLst>
                                          <p:attrName>style.visibility</p:attrName>
                                        </p:attrNameLst>
                                      </p:cBhvr>
                                      <p:to>
                                        <p:strVal val="visible"/>
                                      </p:to>
                                    </p:set>
                                    <p:animEffect transition="in" filter="wipe(up)">
                                      <p:cBhvr>
                                        <p:cTn id="34" dur="500"/>
                                        <p:tgtEl>
                                          <p:spTgt spid="215056"/>
                                        </p:tgtEl>
                                      </p:cBhvr>
                                    </p:animEffect>
                                  </p:childTnLst>
                                </p:cTn>
                              </p:par>
                            </p:childTnLst>
                          </p:cTn>
                        </p:par>
                        <p:par>
                          <p:cTn id="35" fill="hold" nodeType="afterGroup">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215047"/>
                                        </p:tgtEl>
                                        <p:attrNameLst>
                                          <p:attrName>style.visibility</p:attrName>
                                        </p:attrNameLst>
                                      </p:cBhvr>
                                      <p:to>
                                        <p:strVal val="visible"/>
                                      </p:to>
                                    </p:set>
                                    <p:animEffect transition="in" filter="wipe(up)">
                                      <p:cBhvr>
                                        <p:cTn id="38" dur="500"/>
                                        <p:tgtEl>
                                          <p:spTgt spid="21504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15057"/>
                                        </p:tgtEl>
                                        <p:attrNameLst>
                                          <p:attrName>style.visibility</p:attrName>
                                        </p:attrNameLst>
                                      </p:cBhvr>
                                      <p:to>
                                        <p:strVal val="visible"/>
                                      </p:to>
                                    </p:set>
                                    <p:animEffect transition="in" filter="wipe(up)">
                                      <p:cBhvr>
                                        <p:cTn id="43" dur="500"/>
                                        <p:tgtEl>
                                          <p:spTgt spid="215057"/>
                                        </p:tgtEl>
                                      </p:cBhvr>
                                    </p:animEffect>
                                  </p:childTnLst>
                                </p:cTn>
                              </p:par>
                            </p:childTnLst>
                          </p:cTn>
                        </p:par>
                        <p:par>
                          <p:cTn id="44" fill="hold" nodeType="afterGroup">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215048"/>
                                        </p:tgtEl>
                                        <p:attrNameLst>
                                          <p:attrName>style.visibility</p:attrName>
                                        </p:attrNameLst>
                                      </p:cBhvr>
                                      <p:to>
                                        <p:strVal val="visible"/>
                                      </p:to>
                                    </p:set>
                                    <p:animEffect transition="in" filter="wipe(up)">
                                      <p:cBhvr>
                                        <p:cTn id="47" dur="500"/>
                                        <p:tgtEl>
                                          <p:spTgt spid="2150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15058"/>
                                        </p:tgtEl>
                                        <p:attrNameLst>
                                          <p:attrName>style.visibility</p:attrName>
                                        </p:attrNameLst>
                                      </p:cBhvr>
                                      <p:to>
                                        <p:strVal val="visible"/>
                                      </p:to>
                                    </p:set>
                                    <p:animEffect transition="in" filter="wipe(up)">
                                      <p:cBhvr>
                                        <p:cTn id="52" dur="500"/>
                                        <p:tgtEl>
                                          <p:spTgt spid="215058"/>
                                        </p:tgtEl>
                                      </p:cBhvr>
                                    </p:animEffect>
                                  </p:childTnLst>
                                </p:cTn>
                              </p:par>
                            </p:childTnLst>
                          </p:cTn>
                        </p:par>
                        <p:par>
                          <p:cTn id="53" fill="hold" nodeType="afterGroup">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215049"/>
                                        </p:tgtEl>
                                        <p:attrNameLst>
                                          <p:attrName>style.visibility</p:attrName>
                                        </p:attrNameLst>
                                      </p:cBhvr>
                                      <p:to>
                                        <p:strVal val="visible"/>
                                      </p:to>
                                    </p:set>
                                    <p:animEffect transition="in" filter="wipe(up)">
                                      <p:cBhvr>
                                        <p:cTn id="56" dur="500"/>
                                        <p:tgtEl>
                                          <p:spTgt spid="21504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15059"/>
                                        </p:tgtEl>
                                        <p:attrNameLst>
                                          <p:attrName>style.visibility</p:attrName>
                                        </p:attrNameLst>
                                      </p:cBhvr>
                                      <p:to>
                                        <p:strVal val="visible"/>
                                      </p:to>
                                    </p:set>
                                    <p:animEffect transition="in" filter="wipe(up)">
                                      <p:cBhvr>
                                        <p:cTn id="61" dur="500"/>
                                        <p:tgtEl>
                                          <p:spTgt spid="215059"/>
                                        </p:tgtEl>
                                      </p:cBhvr>
                                    </p:animEffect>
                                  </p:childTnLst>
                                </p:cTn>
                              </p:par>
                            </p:childTnLst>
                          </p:cTn>
                        </p:par>
                        <p:par>
                          <p:cTn id="62" fill="hold" nodeType="afterGroup">
                            <p:stCondLst>
                              <p:cond delay="500"/>
                            </p:stCondLst>
                            <p:childTnLst>
                              <p:par>
                                <p:cTn id="63" presetID="22" presetClass="entr" presetSubtype="1" fill="hold" grpId="0" nodeType="afterEffect">
                                  <p:stCondLst>
                                    <p:cond delay="0"/>
                                  </p:stCondLst>
                                  <p:childTnLst>
                                    <p:set>
                                      <p:cBhvr>
                                        <p:cTn id="64" dur="1" fill="hold">
                                          <p:stCondLst>
                                            <p:cond delay="0"/>
                                          </p:stCondLst>
                                        </p:cTn>
                                        <p:tgtEl>
                                          <p:spTgt spid="215050"/>
                                        </p:tgtEl>
                                        <p:attrNameLst>
                                          <p:attrName>style.visibility</p:attrName>
                                        </p:attrNameLst>
                                      </p:cBhvr>
                                      <p:to>
                                        <p:strVal val="visible"/>
                                      </p:to>
                                    </p:set>
                                    <p:animEffect transition="in" filter="wipe(up)">
                                      <p:cBhvr>
                                        <p:cTn id="65" dur="500"/>
                                        <p:tgtEl>
                                          <p:spTgt spid="21505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215060"/>
                                        </p:tgtEl>
                                        <p:attrNameLst>
                                          <p:attrName>style.visibility</p:attrName>
                                        </p:attrNameLst>
                                      </p:cBhvr>
                                      <p:to>
                                        <p:strVal val="visible"/>
                                      </p:to>
                                    </p:set>
                                    <p:animEffect transition="in" filter="wipe(up)">
                                      <p:cBhvr>
                                        <p:cTn id="70" dur="500"/>
                                        <p:tgtEl>
                                          <p:spTgt spid="215060"/>
                                        </p:tgtEl>
                                      </p:cBhvr>
                                    </p:animEffect>
                                  </p:childTnLst>
                                </p:cTn>
                              </p:par>
                            </p:childTnLst>
                          </p:cTn>
                        </p:par>
                        <p:par>
                          <p:cTn id="71" fill="hold" nodeType="afterGroup">
                            <p:stCondLst>
                              <p:cond delay="500"/>
                            </p:stCondLst>
                            <p:childTnLst>
                              <p:par>
                                <p:cTn id="72" presetID="22" presetClass="entr" presetSubtype="1" fill="hold" grpId="0" nodeType="afterEffect">
                                  <p:stCondLst>
                                    <p:cond delay="0"/>
                                  </p:stCondLst>
                                  <p:childTnLst>
                                    <p:set>
                                      <p:cBhvr>
                                        <p:cTn id="73" dur="1" fill="hold">
                                          <p:stCondLst>
                                            <p:cond delay="0"/>
                                          </p:stCondLst>
                                        </p:cTn>
                                        <p:tgtEl>
                                          <p:spTgt spid="215053"/>
                                        </p:tgtEl>
                                        <p:attrNameLst>
                                          <p:attrName>style.visibility</p:attrName>
                                        </p:attrNameLst>
                                      </p:cBhvr>
                                      <p:to>
                                        <p:strVal val="visible"/>
                                      </p:to>
                                    </p:set>
                                    <p:animEffect transition="in" filter="wipe(up)">
                                      <p:cBhvr>
                                        <p:cTn id="74" dur="500"/>
                                        <p:tgtEl>
                                          <p:spTgt spid="215053"/>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215061"/>
                                        </p:tgtEl>
                                        <p:attrNameLst>
                                          <p:attrName>style.visibility</p:attrName>
                                        </p:attrNameLst>
                                      </p:cBhvr>
                                      <p:to>
                                        <p:strVal val="visible"/>
                                      </p:to>
                                    </p:set>
                                    <p:animEffect transition="in" filter="wipe(up)">
                                      <p:cBhvr>
                                        <p:cTn id="79" dur="500"/>
                                        <p:tgtEl>
                                          <p:spTgt spid="215061"/>
                                        </p:tgtEl>
                                      </p:cBhvr>
                                    </p:animEffect>
                                  </p:childTnLst>
                                </p:cTn>
                              </p:par>
                            </p:childTnLst>
                          </p:cTn>
                        </p:par>
                        <p:par>
                          <p:cTn id="80" fill="hold" nodeType="afterGroup">
                            <p:stCondLst>
                              <p:cond delay="500"/>
                            </p:stCondLst>
                            <p:childTnLst>
                              <p:par>
                                <p:cTn id="81" presetID="22" presetClass="entr" presetSubtype="1" fill="hold" grpId="0" nodeType="afterEffect">
                                  <p:stCondLst>
                                    <p:cond delay="0"/>
                                  </p:stCondLst>
                                  <p:childTnLst>
                                    <p:set>
                                      <p:cBhvr>
                                        <p:cTn id="82" dur="1" fill="hold">
                                          <p:stCondLst>
                                            <p:cond delay="0"/>
                                          </p:stCondLst>
                                        </p:cTn>
                                        <p:tgtEl>
                                          <p:spTgt spid="215054"/>
                                        </p:tgtEl>
                                        <p:attrNameLst>
                                          <p:attrName>style.visibility</p:attrName>
                                        </p:attrNameLst>
                                      </p:cBhvr>
                                      <p:to>
                                        <p:strVal val="visible"/>
                                      </p:to>
                                    </p:set>
                                    <p:animEffect transition="in" filter="wipe(up)">
                                      <p:cBhvr>
                                        <p:cTn id="83" dur="500"/>
                                        <p:tgtEl>
                                          <p:spTgt spid="21505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215062"/>
                                        </p:tgtEl>
                                        <p:attrNameLst>
                                          <p:attrName>style.visibility</p:attrName>
                                        </p:attrNameLst>
                                      </p:cBhvr>
                                      <p:to>
                                        <p:strVal val="visible"/>
                                      </p:to>
                                    </p:set>
                                    <p:animEffect transition="in" filter="wipe(up)">
                                      <p:cBhvr>
                                        <p:cTn id="88" dur="500"/>
                                        <p:tgtEl>
                                          <p:spTgt spid="215062"/>
                                        </p:tgtEl>
                                      </p:cBhvr>
                                    </p:animEffect>
                                  </p:childTnLst>
                                </p:cTn>
                              </p:par>
                            </p:childTnLst>
                          </p:cTn>
                        </p:par>
                        <p:par>
                          <p:cTn id="89" fill="hold" nodeType="afterGroup">
                            <p:stCondLst>
                              <p:cond delay="500"/>
                            </p:stCondLst>
                            <p:childTnLst>
                              <p:par>
                                <p:cTn id="90" presetID="22" presetClass="entr" presetSubtype="1" fill="hold" grpId="0" nodeType="afterEffect">
                                  <p:stCondLst>
                                    <p:cond delay="0"/>
                                  </p:stCondLst>
                                  <p:childTnLst>
                                    <p:set>
                                      <p:cBhvr>
                                        <p:cTn id="91" dur="1" fill="hold">
                                          <p:stCondLst>
                                            <p:cond delay="0"/>
                                          </p:stCondLst>
                                        </p:cTn>
                                        <p:tgtEl>
                                          <p:spTgt spid="215051"/>
                                        </p:tgtEl>
                                        <p:attrNameLst>
                                          <p:attrName>style.visibility</p:attrName>
                                        </p:attrNameLst>
                                      </p:cBhvr>
                                      <p:to>
                                        <p:strVal val="visible"/>
                                      </p:to>
                                    </p:set>
                                    <p:animEffect transition="in" filter="wipe(up)">
                                      <p:cBhvr>
                                        <p:cTn id="92" dur="500"/>
                                        <p:tgtEl>
                                          <p:spTgt spid="21505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215063"/>
                                        </p:tgtEl>
                                        <p:attrNameLst>
                                          <p:attrName>style.visibility</p:attrName>
                                        </p:attrNameLst>
                                      </p:cBhvr>
                                      <p:to>
                                        <p:strVal val="visible"/>
                                      </p:to>
                                    </p:set>
                                    <p:animEffect transition="in" filter="wipe(up)">
                                      <p:cBhvr>
                                        <p:cTn id="97" dur="500"/>
                                        <p:tgtEl>
                                          <p:spTgt spid="215063"/>
                                        </p:tgtEl>
                                      </p:cBhvr>
                                    </p:animEffect>
                                  </p:childTnLst>
                                </p:cTn>
                              </p:par>
                            </p:childTnLst>
                          </p:cTn>
                        </p:par>
                        <p:par>
                          <p:cTn id="98" fill="hold" nodeType="afterGroup">
                            <p:stCondLst>
                              <p:cond delay="500"/>
                            </p:stCondLst>
                            <p:childTnLst>
                              <p:par>
                                <p:cTn id="99" presetID="22" presetClass="entr" presetSubtype="1" fill="hold" grpId="0" nodeType="afterEffect">
                                  <p:stCondLst>
                                    <p:cond delay="0"/>
                                  </p:stCondLst>
                                  <p:childTnLst>
                                    <p:set>
                                      <p:cBhvr>
                                        <p:cTn id="100" dur="1" fill="hold">
                                          <p:stCondLst>
                                            <p:cond delay="0"/>
                                          </p:stCondLst>
                                        </p:cTn>
                                        <p:tgtEl>
                                          <p:spTgt spid="215052"/>
                                        </p:tgtEl>
                                        <p:attrNameLst>
                                          <p:attrName>style.visibility</p:attrName>
                                        </p:attrNameLst>
                                      </p:cBhvr>
                                      <p:to>
                                        <p:strVal val="visible"/>
                                      </p:to>
                                    </p:set>
                                    <p:animEffect transition="in" filter="wipe(up)">
                                      <p:cBhvr>
                                        <p:cTn id="101" dur="500"/>
                                        <p:tgtEl>
                                          <p:spTgt spid="215052"/>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215064"/>
                                        </p:tgtEl>
                                        <p:attrNameLst>
                                          <p:attrName>style.visibility</p:attrName>
                                        </p:attrNameLst>
                                      </p:cBhvr>
                                      <p:to>
                                        <p:strVal val="visible"/>
                                      </p:to>
                                    </p:set>
                                    <p:animEffect transition="in" filter="wipe(up)">
                                      <p:cBhvr>
                                        <p:cTn id="106" dur="500"/>
                                        <p:tgtEl>
                                          <p:spTgt spid="215064"/>
                                        </p:tgtEl>
                                      </p:cBhvr>
                                    </p:animEffect>
                                  </p:childTnLst>
                                </p:cTn>
                              </p:par>
                            </p:childTnLst>
                          </p:cTn>
                        </p:par>
                        <p:par>
                          <p:cTn id="107" fill="hold" nodeType="afterGroup">
                            <p:stCondLst>
                              <p:cond delay="500"/>
                            </p:stCondLst>
                            <p:childTnLst>
                              <p:par>
                                <p:cTn id="108" presetID="22" presetClass="entr" presetSubtype="1" fill="hold" grpId="0" nodeType="afterEffect">
                                  <p:stCondLst>
                                    <p:cond delay="0"/>
                                  </p:stCondLst>
                                  <p:childTnLst>
                                    <p:set>
                                      <p:cBhvr>
                                        <p:cTn id="109" dur="1" fill="hold">
                                          <p:stCondLst>
                                            <p:cond delay="0"/>
                                          </p:stCondLst>
                                        </p:cTn>
                                        <p:tgtEl>
                                          <p:spTgt spid="215055"/>
                                        </p:tgtEl>
                                        <p:attrNameLst>
                                          <p:attrName>style.visibility</p:attrName>
                                        </p:attrNameLst>
                                      </p:cBhvr>
                                      <p:to>
                                        <p:strVal val="visible"/>
                                      </p:to>
                                    </p:set>
                                    <p:animEffect transition="in" filter="wipe(up)">
                                      <p:cBhvr>
                                        <p:cTn id="110" dur="500"/>
                                        <p:tgtEl>
                                          <p:spTgt spid="215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autoUpdateAnimBg="0"/>
      <p:bldP spid="215043" grpId="0" autoUpdateAnimBg="0"/>
      <p:bldP spid="215044" grpId="0" autoUpdateAnimBg="0"/>
      <p:bldP spid="215045" grpId="0" autoUpdateAnimBg="0"/>
      <p:bldP spid="215046" grpId="0" autoUpdateAnimBg="0"/>
      <p:bldP spid="215047" grpId="0" autoUpdateAnimBg="0"/>
      <p:bldP spid="215048" grpId="0" autoUpdateAnimBg="0"/>
      <p:bldP spid="215049" grpId="0" autoUpdateAnimBg="0"/>
      <p:bldP spid="215050" grpId="0" autoUpdateAnimBg="0"/>
      <p:bldP spid="215051" grpId="0" autoUpdateAnimBg="0"/>
      <p:bldP spid="215052" grpId="0" autoUpdateAnimBg="0"/>
      <p:bldP spid="215053" grpId="0" autoUpdateAnimBg="0"/>
      <p:bldP spid="215054" grpId="0" autoUpdateAnimBg="0"/>
      <p:bldP spid="215055" grpId="0" autoUpdateAnimBg="0"/>
      <p:bldP spid="215056" grpId="0" animBg="1"/>
      <p:bldP spid="215057" grpId="0" animBg="1"/>
      <p:bldP spid="215058" grpId="0" animBg="1"/>
      <p:bldP spid="215059" grpId="0" animBg="1"/>
      <p:bldP spid="215060" grpId="0" animBg="1"/>
      <p:bldP spid="215061" grpId="0" animBg="1"/>
      <p:bldP spid="215062" grpId="0" animBg="1"/>
      <p:bldP spid="215063" grpId="0" animBg="1"/>
      <p:bldP spid="21506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ext Box 2"/>
          <p:cNvSpPr txBox="1">
            <a:spLocks noChangeArrowheads="1"/>
          </p:cNvSpPr>
          <p:nvPr/>
        </p:nvSpPr>
        <p:spPr bwMode="auto">
          <a:xfrm>
            <a:off x="1447800" y="228600"/>
            <a:ext cx="73152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05000"/>
              </a:lnSpc>
            </a:pPr>
            <a:r>
              <a:rPr kumimoji="1" lang="zh-CN" altLang="en-US" sz="3200" b="1">
                <a:solidFill>
                  <a:srgbClr val="CC3399"/>
                </a:solidFill>
                <a:latin typeface="Times New Roman" charset="0"/>
                <a:ea typeface="楷体_GB2312" charset="0"/>
              </a:rPr>
              <a:t>广义表</a:t>
            </a:r>
            <a:r>
              <a:rPr kumimoji="1" lang="zh-CN" altLang="en-US" sz="3200" b="1">
                <a:solidFill>
                  <a:srgbClr val="6600CC"/>
                </a:solidFill>
                <a:latin typeface="Times New Roman" charset="0"/>
                <a:ea typeface="楷体_GB2312" charset="0"/>
              </a:rPr>
              <a:t> </a:t>
            </a:r>
            <a:r>
              <a:rPr kumimoji="1" lang="en-US" altLang="zh-CN" sz="3200" b="1">
                <a:solidFill>
                  <a:srgbClr val="6600CC"/>
                </a:solidFill>
                <a:latin typeface="Times New Roman" charset="0"/>
                <a:ea typeface="楷体_GB2312" charset="0"/>
              </a:rPr>
              <a:t>LS = ( </a:t>
            </a:r>
            <a:r>
              <a:rPr kumimoji="1" lang="en-US" altLang="zh-CN" sz="3200" b="1">
                <a:solidFill>
                  <a:srgbClr val="6600CC"/>
                </a:solidFill>
                <a:latin typeface="Times New Roman" charset="0"/>
                <a:ea typeface="楷体_GB2312" charset="0"/>
                <a:sym typeface="Symbol" charset="2"/>
              </a:rPr>
              <a:t></a:t>
            </a:r>
            <a:r>
              <a:rPr kumimoji="1" lang="en-US" altLang="zh-CN" sz="3200" b="1" baseline="-25000">
                <a:solidFill>
                  <a:srgbClr val="6600CC"/>
                </a:solidFill>
                <a:latin typeface="Times New Roman" charset="0"/>
                <a:ea typeface="楷体_GB2312" charset="0"/>
              </a:rPr>
              <a:t>1</a:t>
            </a:r>
            <a:r>
              <a:rPr kumimoji="1" lang="en-US" altLang="zh-CN" sz="3200" b="1">
                <a:solidFill>
                  <a:srgbClr val="6600CC"/>
                </a:solidFill>
                <a:latin typeface="Times New Roman" charset="0"/>
                <a:ea typeface="楷体_GB2312" charset="0"/>
              </a:rPr>
              <a:t>, </a:t>
            </a:r>
            <a:r>
              <a:rPr kumimoji="1" lang="en-US" altLang="zh-CN" sz="3200" b="1">
                <a:solidFill>
                  <a:srgbClr val="6600CC"/>
                </a:solidFill>
                <a:latin typeface="Times New Roman" charset="0"/>
                <a:ea typeface="楷体_GB2312" charset="0"/>
                <a:sym typeface="Symbol" charset="2"/>
              </a:rPr>
              <a:t></a:t>
            </a:r>
            <a:r>
              <a:rPr kumimoji="1" lang="en-US" altLang="zh-CN" sz="3200" b="1" baseline="-25000">
                <a:solidFill>
                  <a:srgbClr val="6600CC"/>
                </a:solidFill>
                <a:latin typeface="Times New Roman" charset="0"/>
                <a:ea typeface="楷体_GB2312" charset="0"/>
              </a:rPr>
              <a:t>2</a:t>
            </a:r>
            <a:r>
              <a:rPr kumimoji="1" lang="en-US" altLang="zh-CN" sz="3200" b="1">
                <a:solidFill>
                  <a:srgbClr val="6600CC"/>
                </a:solidFill>
                <a:latin typeface="Times New Roman" charset="0"/>
                <a:ea typeface="楷体_GB2312" charset="0"/>
              </a:rPr>
              <a:t>, …, </a:t>
            </a:r>
            <a:r>
              <a:rPr kumimoji="1" lang="en-US" altLang="zh-CN" sz="3200" b="1">
                <a:solidFill>
                  <a:srgbClr val="6600CC"/>
                </a:solidFill>
                <a:latin typeface="Times New Roman" charset="0"/>
                <a:ea typeface="楷体_GB2312" charset="0"/>
                <a:sym typeface="Symbol" charset="2"/>
              </a:rPr>
              <a:t></a:t>
            </a:r>
            <a:r>
              <a:rPr kumimoji="1" lang="en-US" altLang="zh-CN" sz="3200" b="1" baseline="-25000">
                <a:solidFill>
                  <a:srgbClr val="6600CC"/>
                </a:solidFill>
                <a:latin typeface="Times New Roman" charset="0"/>
                <a:ea typeface="楷体_GB2312" charset="0"/>
              </a:rPr>
              <a:t>n</a:t>
            </a:r>
            <a:r>
              <a:rPr kumimoji="1" lang="en-US" altLang="zh-CN" sz="3200" b="1">
                <a:solidFill>
                  <a:srgbClr val="6600CC"/>
                </a:solidFill>
                <a:latin typeface="Times New Roman" charset="0"/>
                <a:ea typeface="楷体_GB2312" charset="0"/>
              </a:rPr>
              <a:t> )</a:t>
            </a:r>
            <a:r>
              <a:rPr kumimoji="1" lang="zh-CN" altLang="en-US" sz="3200" b="1">
                <a:solidFill>
                  <a:srgbClr val="6600CC"/>
                </a:solidFill>
                <a:latin typeface="Times New Roman" charset="0"/>
                <a:ea typeface="楷体_GB2312" charset="0"/>
              </a:rPr>
              <a:t>的结构特点</a:t>
            </a:r>
            <a:r>
              <a:rPr kumimoji="1" lang="en-US" altLang="zh-CN" sz="3200" b="1">
                <a:solidFill>
                  <a:srgbClr val="6600CC"/>
                </a:solidFill>
                <a:latin typeface="Times New Roman" charset="0"/>
                <a:ea typeface="楷体_GB2312" charset="0"/>
              </a:rPr>
              <a:t>:</a:t>
            </a:r>
          </a:p>
        </p:txBody>
      </p:sp>
      <p:sp>
        <p:nvSpPr>
          <p:cNvPr id="216067" name="Text Box 3"/>
          <p:cNvSpPr txBox="1">
            <a:spLocks noChangeArrowheads="1"/>
          </p:cNvSpPr>
          <p:nvPr/>
        </p:nvSpPr>
        <p:spPr bwMode="auto">
          <a:xfrm>
            <a:off x="76200" y="1406525"/>
            <a:ext cx="68246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latin typeface="Times New Roman" charset="0"/>
                <a:ea typeface="楷体_GB2312" charset="0"/>
              </a:rPr>
              <a:t>1)  </a:t>
            </a:r>
            <a:r>
              <a:rPr kumimoji="1" lang="zh-CN" altLang="en-US" sz="3200">
                <a:latin typeface="Times New Roman" charset="0"/>
                <a:ea typeface="楷体_GB2312" charset="0"/>
              </a:rPr>
              <a:t>广义表中的数据元素有相对</a:t>
            </a:r>
            <a:r>
              <a:rPr kumimoji="1" lang="zh-CN" altLang="en-US" sz="3200" b="1">
                <a:solidFill>
                  <a:srgbClr val="FF0000"/>
                </a:solidFill>
                <a:latin typeface="Times New Roman" charset="0"/>
                <a:ea typeface="楷体_GB2312" charset="0"/>
              </a:rPr>
              <a:t>次序</a:t>
            </a:r>
            <a:r>
              <a:rPr kumimoji="1" lang="zh-CN" altLang="en-US" sz="3200">
                <a:latin typeface="Times New Roman" charset="0"/>
                <a:ea typeface="楷体_GB2312" charset="0"/>
              </a:rPr>
              <a:t>；</a:t>
            </a:r>
          </a:p>
        </p:txBody>
      </p:sp>
      <p:sp>
        <p:nvSpPr>
          <p:cNvPr id="216068" name="Text Box 4"/>
          <p:cNvSpPr txBox="1">
            <a:spLocks noChangeArrowheads="1"/>
          </p:cNvSpPr>
          <p:nvPr/>
        </p:nvSpPr>
        <p:spPr bwMode="auto">
          <a:xfrm>
            <a:off x="76200" y="2117725"/>
            <a:ext cx="9372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latin typeface="Times New Roman" charset="0"/>
                <a:ea typeface="楷体_GB2312" charset="0"/>
              </a:rPr>
              <a:t>2)  </a:t>
            </a:r>
            <a:r>
              <a:rPr kumimoji="1" lang="zh-CN" altLang="en-US" sz="3200">
                <a:latin typeface="Times New Roman" charset="0"/>
                <a:ea typeface="楷体_GB2312" charset="0"/>
              </a:rPr>
              <a:t>广义表的</a:t>
            </a:r>
            <a:r>
              <a:rPr kumimoji="1" lang="zh-CN" altLang="en-US" sz="3200" b="1">
                <a:solidFill>
                  <a:srgbClr val="FF0000"/>
                </a:solidFill>
                <a:latin typeface="Times New Roman" charset="0"/>
                <a:ea typeface="楷体_GB2312" charset="0"/>
              </a:rPr>
              <a:t>长度</a:t>
            </a:r>
            <a:r>
              <a:rPr kumimoji="1" lang="zh-CN" altLang="en-US" sz="3200">
                <a:latin typeface="Times New Roman" charset="0"/>
                <a:ea typeface="楷体_GB2312" charset="0"/>
              </a:rPr>
              <a:t>定义为最外层包含元素个数；</a:t>
            </a:r>
          </a:p>
        </p:txBody>
      </p:sp>
      <p:sp>
        <p:nvSpPr>
          <p:cNvPr id="216069" name="Text Box 5"/>
          <p:cNvSpPr txBox="1">
            <a:spLocks noChangeArrowheads="1"/>
          </p:cNvSpPr>
          <p:nvPr/>
        </p:nvSpPr>
        <p:spPr bwMode="auto">
          <a:xfrm>
            <a:off x="76200" y="2803525"/>
            <a:ext cx="93726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3200">
                <a:latin typeface="Times New Roman" charset="0"/>
                <a:ea typeface="楷体_GB2312" charset="0"/>
              </a:rPr>
              <a:t>3)  </a:t>
            </a:r>
            <a:r>
              <a:rPr kumimoji="1" lang="zh-CN" altLang="en-US" sz="3200">
                <a:latin typeface="Times New Roman" charset="0"/>
                <a:ea typeface="楷体_GB2312" charset="0"/>
              </a:rPr>
              <a:t>广义表的</a:t>
            </a:r>
            <a:r>
              <a:rPr kumimoji="1" lang="zh-CN" altLang="en-US" sz="3200" b="1">
                <a:solidFill>
                  <a:srgbClr val="FF0000"/>
                </a:solidFill>
                <a:latin typeface="Times New Roman" charset="0"/>
                <a:ea typeface="楷体_GB2312" charset="0"/>
              </a:rPr>
              <a:t>深度</a:t>
            </a:r>
            <a:r>
              <a:rPr kumimoji="1" lang="zh-CN" altLang="en-US" sz="3200">
                <a:latin typeface="Times New Roman" charset="0"/>
                <a:ea typeface="楷体_GB2312" charset="0"/>
              </a:rPr>
              <a:t>定义为所含括弧的重数；</a:t>
            </a:r>
          </a:p>
          <a:p>
            <a:pPr eaLnBrk="1" hangingPunct="1">
              <a:lnSpc>
                <a:spcPct val="120000"/>
              </a:lnSpc>
            </a:pPr>
            <a:r>
              <a:rPr kumimoji="1" lang="zh-CN" altLang="en-US" sz="3200">
                <a:latin typeface="Times New Roman" charset="0"/>
                <a:ea typeface="楷体_GB2312" charset="0"/>
              </a:rPr>
              <a:t>   注意：“原子”的深度为 </a:t>
            </a:r>
            <a:r>
              <a:rPr kumimoji="1" lang="en-US" altLang="zh-CN" sz="3200" b="1">
                <a:solidFill>
                  <a:srgbClr val="9933FF"/>
                </a:solidFill>
                <a:latin typeface="Times New Roman" charset="0"/>
                <a:ea typeface="楷体_GB2312" charset="0"/>
              </a:rPr>
              <a:t>0 </a:t>
            </a:r>
            <a:r>
              <a:rPr kumimoji="1" lang="en-US" altLang="zh-CN" sz="3200">
                <a:latin typeface="Times New Roman" charset="0"/>
                <a:ea typeface="楷体_GB2312" charset="0"/>
              </a:rPr>
              <a:t> </a:t>
            </a:r>
          </a:p>
          <a:p>
            <a:pPr eaLnBrk="1" hangingPunct="1">
              <a:lnSpc>
                <a:spcPct val="120000"/>
              </a:lnSpc>
            </a:pPr>
            <a:r>
              <a:rPr kumimoji="1" lang="en-US" altLang="zh-CN" sz="3200">
                <a:latin typeface="Times New Roman" charset="0"/>
                <a:ea typeface="楷体_GB2312" charset="0"/>
              </a:rPr>
              <a:t>           </a:t>
            </a:r>
            <a:r>
              <a:rPr kumimoji="1" lang="zh-CN" altLang="en-US" sz="3200">
                <a:latin typeface="Times New Roman" charset="0"/>
                <a:ea typeface="楷体_GB2312" charset="0"/>
              </a:rPr>
              <a:t>　“空表”的深度为 </a:t>
            </a:r>
            <a:r>
              <a:rPr kumimoji="1" lang="en-US" altLang="zh-CN" sz="3200" b="1">
                <a:solidFill>
                  <a:srgbClr val="9933FF"/>
                </a:solidFill>
                <a:latin typeface="Times New Roman" charset="0"/>
                <a:ea typeface="楷体_GB2312" charset="0"/>
              </a:rPr>
              <a:t>1 </a:t>
            </a:r>
          </a:p>
        </p:txBody>
      </p:sp>
      <p:sp>
        <p:nvSpPr>
          <p:cNvPr id="216070" name="Text Box 6"/>
          <p:cNvSpPr txBox="1">
            <a:spLocks noChangeArrowheads="1"/>
          </p:cNvSpPr>
          <p:nvPr/>
        </p:nvSpPr>
        <p:spPr bwMode="auto">
          <a:xfrm>
            <a:off x="76200" y="4699000"/>
            <a:ext cx="3979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latin typeface="Times New Roman" charset="0"/>
                <a:ea typeface="楷体_GB2312" charset="0"/>
              </a:rPr>
              <a:t>4)  </a:t>
            </a:r>
            <a:r>
              <a:rPr kumimoji="1" lang="zh-CN" altLang="en-US" sz="3200">
                <a:latin typeface="Times New Roman" charset="0"/>
                <a:ea typeface="楷体_GB2312" charset="0"/>
              </a:rPr>
              <a:t>广义表可以</a:t>
            </a:r>
            <a:r>
              <a:rPr kumimoji="1" lang="zh-CN" altLang="en-US" sz="3200" b="1">
                <a:solidFill>
                  <a:srgbClr val="FF0000"/>
                </a:solidFill>
                <a:latin typeface="Times New Roman" charset="0"/>
                <a:ea typeface="楷体_GB2312" charset="0"/>
              </a:rPr>
              <a:t>共享</a:t>
            </a:r>
            <a:r>
              <a:rPr kumimoji="1" lang="zh-CN" altLang="en-US" sz="3200">
                <a:latin typeface="Times New Roman" charset="0"/>
                <a:ea typeface="楷体_GB2312" charset="0"/>
              </a:rPr>
              <a:t>；</a:t>
            </a:r>
          </a:p>
        </p:txBody>
      </p:sp>
      <p:sp>
        <p:nvSpPr>
          <p:cNvPr id="216071" name="Text Box 7"/>
          <p:cNvSpPr txBox="1">
            <a:spLocks noChangeArrowheads="1"/>
          </p:cNvSpPr>
          <p:nvPr/>
        </p:nvSpPr>
        <p:spPr bwMode="auto">
          <a:xfrm>
            <a:off x="76200" y="5413375"/>
            <a:ext cx="8007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latin typeface="Times New Roman" charset="0"/>
                <a:ea typeface="楷体_GB2312" charset="0"/>
              </a:rPr>
              <a:t>5)  </a:t>
            </a:r>
            <a:r>
              <a:rPr kumimoji="1" lang="zh-CN" altLang="en-US" sz="3200">
                <a:latin typeface="Times New Roman" charset="0"/>
                <a:ea typeface="楷体_GB2312" charset="0"/>
              </a:rPr>
              <a:t>广义表可以是一个</a:t>
            </a:r>
            <a:r>
              <a:rPr kumimoji="1" lang="zh-CN" altLang="en-US" sz="3200" b="1">
                <a:solidFill>
                  <a:srgbClr val="FF0000"/>
                </a:solidFill>
                <a:latin typeface="Times New Roman" charset="0"/>
                <a:ea typeface="楷体_GB2312" charset="0"/>
              </a:rPr>
              <a:t>递归</a:t>
            </a:r>
            <a:r>
              <a:rPr kumimoji="1" lang="zh-CN" altLang="en-US" sz="3200">
                <a:latin typeface="Times New Roman" charset="0"/>
                <a:ea typeface="楷体_GB2312" charset="0"/>
              </a:rPr>
              <a:t>的表。</a:t>
            </a:r>
          </a:p>
          <a:p>
            <a:pPr eaLnBrk="1" hangingPunct="1"/>
            <a:r>
              <a:rPr kumimoji="1" lang="zh-CN" altLang="en-US" sz="3200">
                <a:solidFill>
                  <a:srgbClr val="0000FF"/>
                </a:solidFill>
                <a:latin typeface="Times New Roman" charset="0"/>
                <a:ea typeface="楷体_GB2312" charset="0"/>
              </a:rPr>
              <a:t>     递归表的深度是无穷值，长度是有限值</a:t>
            </a:r>
            <a:r>
              <a:rPr kumimoji="1" lang="zh-CN" altLang="en-US" sz="3200">
                <a:latin typeface="Times New Roman" charset="0"/>
                <a:ea typeface="楷体_GB2312" charset="0"/>
              </a:rPr>
              <a:t>。</a:t>
            </a:r>
          </a:p>
        </p:txBody>
      </p:sp>
      <p:sp>
        <p:nvSpPr>
          <p:cNvPr id="216072" name="AutoShape 8">
            <a:hlinkClick r:id="rId2" action="ppaction://hlinksldjump" highlightClick="1"/>
          </p:cNvPr>
          <p:cNvSpPr>
            <a:spLocks noChangeArrowheads="1"/>
          </p:cNvSpPr>
          <p:nvPr/>
        </p:nvSpPr>
        <p:spPr bwMode="auto">
          <a:xfrm>
            <a:off x="8382000" y="4876800"/>
            <a:ext cx="381000" cy="381000"/>
          </a:xfrm>
          <a:prstGeom prst="actionButtonBackPrevious">
            <a:avLst/>
          </a:prstGeom>
          <a:solidFill>
            <a:srgbClr val="33CCFF"/>
          </a:solidFill>
          <a:ln w="9525">
            <a:solidFill>
              <a:srgbClr val="0066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9156048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wipe(left)">
                                      <p:cBhvr>
                                        <p:cTn id="7" dur="500"/>
                                        <p:tgtEl>
                                          <p:spTgt spid="216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6067"/>
                                        </p:tgtEl>
                                        <p:attrNameLst>
                                          <p:attrName>style.visibility</p:attrName>
                                        </p:attrNameLst>
                                      </p:cBhvr>
                                      <p:to>
                                        <p:strVal val="visible"/>
                                      </p:to>
                                    </p:set>
                                    <p:animEffect transition="in" filter="strips(downRight)">
                                      <p:cBhvr>
                                        <p:cTn id="12" dur="500"/>
                                        <p:tgtEl>
                                          <p:spTgt spid="2160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6068"/>
                                        </p:tgtEl>
                                        <p:attrNameLst>
                                          <p:attrName>style.visibility</p:attrName>
                                        </p:attrNameLst>
                                      </p:cBhvr>
                                      <p:to>
                                        <p:strVal val="visible"/>
                                      </p:to>
                                    </p:set>
                                    <p:animEffect transition="in" filter="strips(downRight)">
                                      <p:cBhvr>
                                        <p:cTn id="17" dur="500"/>
                                        <p:tgtEl>
                                          <p:spTgt spid="2160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16069"/>
                                        </p:tgtEl>
                                        <p:attrNameLst>
                                          <p:attrName>style.visibility</p:attrName>
                                        </p:attrNameLst>
                                      </p:cBhvr>
                                      <p:to>
                                        <p:strVal val="visible"/>
                                      </p:to>
                                    </p:set>
                                    <p:animEffect transition="in" filter="strips(downRight)">
                                      <p:cBhvr>
                                        <p:cTn id="22" dur="500"/>
                                        <p:tgtEl>
                                          <p:spTgt spid="2160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16070"/>
                                        </p:tgtEl>
                                        <p:attrNameLst>
                                          <p:attrName>style.visibility</p:attrName>
                                        </p:attrNameLst>
                                      </p:cBhvr>
                                      <p:to>
                                        <p:strVal val="visible"/>
                                      </p:to>
                                    </p:set>
                                    <p:animEffect transition="in" filter="strips(downRight)">
                                      <p:cBhvr>
                                        <p:cTn id="27" dur="500"/>
                                        <p:tgtEl>
                                          <p:spTgt spid="2160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16071"/>
                                        </p:tgtEl>
                                        <p:attrNameLst>
                                          <p:attrName>style.visibility</p:attrName>
                                        </p:attrNameLst>
                                      </p:cBhvr>
                                      <p:to>
                                        <p:strVal val="visible"/>
                                      </p:to>
                                    </p:set>
                                    <p:animEffect transition="in" filter="strips(downRight)">
                                      <p:cBhvr>
                                        <p:cTn id="32" dur="500"/>
                                        <p:tgtEl>
                                          <p:spTgt spid="216071"/>
                                        </p:tgtEl>
                                      </p:cBhvr>
                                    </p:animEffect>
                                  </p:childTnLst>
                                </p:cTn>
                              </p:par>
                            </p:childTnLst>
                          </p:cTn>
                        </p:par>
                        <p:par>
                          <p:cTn id="33" fill="hold" nodeType="afterGroup">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216072"/>
                                        </p:tgtEl>
                                        <p:attrNameLst>
                                          <p:attrName>style.visibility</p:attrName>
                                        </p:attrNameLst>
                                      </p:cBhvr>
                                      <p:to>
                                        <p:strVal val="visible"/>
                                      </p:to>
                                    </p:set>
                                    <p:anim calcmode="lin" valueType="num">
                                      <p:cBhvr additive="base">
                                        <p:cTn id="36" dur="500" fill="hold"/>
                                        <p:tgtEl>
                                          <p:spTgt spid="216072"/>
                                        </p:tgtEl>
                                        <p:attrNameLst>
                                          <p:attrName>ppt_x</p:attrName>
                                        </p:attrNameLst>
                                      </p:cBhvr>
                                      <p:tavLst>
                                        <p:tav tm="0">
                                          <p:val>
                                            <p:strVal val="1+#ppt_w/2"/>
                                          </p:val>
                                        </p:tav>
                                        <p:tav tm="100000">
                                          <p:val>
                                            <p:strVal val="#ppt_x"/>
                                          </p:val>
                                        </p:tav>
                                      </p:tavLst>
                                    </p:anim>
                                    <p:anim calcmode="lin" valueType="num">
                                      <p:cBhvr additive="base">
                                        <p:cTn id="37" dur="500" fill="hold"/>
                                        <p:tgtEl>
                                          <p:spTgt spid="2160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autoUpdateAnimBg="0"/>
      <p:bldP spid="216067" grpId="0" autoUpdateAnimBg="0"/>
      <p:bldP spid="216068" grpId="0" autoUpdateAnimBg="0"/>
      <p:bldP spid="216069" grpId="0" autoUpdateAnimBg="0"/>
      <p:bldP spid="216070" grpId="0" autoUpdateAnimBg="0"/>
      <p:bldP spid="216071" grpId="0" autoUpdateAnimBg="0"/>
      <p:bldP spid="21607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371600" y="152400"/>
            <a:ext cx="76295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charset="0"/>
                <a:ea typeface="楷体_GB2312" charset="0"/>
              </a:rPr>
              <a:t>6)  </a:t>
            </a:r>
            <a:r>
              <a:rPr kumimoji="1" lang="zh-CN" altLang="en-US" sz="2800">
                <a:latin typeface="Times New Roman" charset="0"/>
                <a:ea typeface="楷体_GB2312" charset="0"/>
              </a:rPr>
              <a:t>任何一个</a:t>
            </a:r>
            <a:r>
              <a:rPr kumimoji="1" lang="zh-CN" altLang="en-US" sz="2800" b="1">
                <a:latin typeface="Times New Roman" charset="0"/>
                <a:ea typeface="楷体_GB2312" charset="0"/>
              </a:rPr>
              <a:t>非空广义表</a:t>
            </a:r>
            <a:r>
              <a:rPr kumimoji="1" lang="zh-CN" altLang="en-US" sz="2800">
                <a:latin typeface="Times New Roman" charset="0"/>
                <a:ea typeface="楷体_GB2312" charset="0"/>
              </a:rPr>
              <a:t>    </a:t>
            </a:r>
            <a:r>
              <a:rPr kumimoji="1" lang="en-US" altLang="zh-CN" sz="2800">
                <a:latin typeface="Times New Roman" charset="0"/>
                <a:ea typeface="楷体_GB2312" charset="0"/>
              </a:rPr>
              <a:t>LS = ( </a:t>
            </a:r>
            <a:r>
              <a:rPr kumimoji="1" lang="en-US" altLang="zh-CN" sz="2800">
                <a:latin typeface="Times New Roman" charset="0"/>
                <a:ea typeface="楷体_GB2312" charset="0"/>
                <a:sym typeface="Symbol" charset="2"/>
              </a:rPr>
              <a:t></a:t>
            </a:r>
            <a:r>
              <a:rPr kumimoji="1" lang="en-US" altLang="zh-CN" sz="2800">
                <a:latin typeface="Times New Roman" charset="0"/>
                <a:ea typeface="楷体_GB2312" charset="0"/>
              </a:rPr>
              <a:t>1, </a:t>
            </a:r>
            <a:r>
              <a:rPr kumimoji="1" lang="en-US" altLang="zh-CN" sz="2800">
                <a:latin typeface="Times New Roman" charset="0"/>
                <a:ea typeface="楷体_GB2312" charset="0"/>
                <a:sym typeface="Symbol" charset="2"/>
              </a:rPr>
              <a:t></a:t>
            </a:r>
            <a:r>
              <a:rPr kumimoji="1" lang="en-US" altLang="zh-CN" sz="2800">
                <a:latin typeface="Times New Roman" charset="0"/>
                <a:ea typeface="楷体_GB2312" charset="0"/>
              </a:rPr>
              <a:t>2, …, </a:t>
            </a:r>
            <a:r>
              <a:rPr kumimoji="1" lang="en-US" altLang="zh-CN" sz="2800">
                <a:latin typeface="Times New Roman" charset="0"/>
                <a:ea typeface="楷体_GB2312" charset="0"/>
                <a:sym typeface="Symbol" charset="2"/>
              </a:rPr>
              <a:t></a:t>
            </a:r>
            <a:r>
              <a:rPr kumimoji="1" lang="en-US" altLang="zh-CN" sz="2800">
                <a:latin typeface="Times New Roman" charset="0"/>
                <a:ea typeface="楷体_GB2312" charset="0"/>
              </a:rPr>
              <a:t>n)</a:t>
            </a:r>
            <a:endParaRPr kumimoji="1" lang="en-US" altLang="zh-CN" sz="3600">
              <a:latin typeface="Times New Roman" charset="0"/>
              <a:ea typeface="楷体_GB2312" charset="0"/>
            </a:endParaRPr>
          </a:p>
          <a:p>
            <a:pPr eaLnBrk="1" hangingPunct="1"/>
            <a:r>
              <a:rPr kumimoji="1" lang="en-US" altLang="zh-CN" sz="2800">
                <a:latin typeface="Times New Roman" charset="0"/>
                <a:ea typeface="楷体_GB2312" charset="0"/>
              </a:rPr>
              <a:t>     </a:t>
            </a:r>
            <a:r>
              <a:rPr kumimoji="1" lang="zh-CN" altLang="en-US" sz="2800">
                <a:latin typeface="Times New Roman" charset="0"/>
                <a:ea typeface="楷体_GB2312" charset="0"/>
              </a:rPr>
              <a:t>均可分解为</a:t>
            </a:r>
          </a:p>
          <a:p>
            <a:pPr eaLnBrk="1" hangingPunct="1"/>
            <a:r>
              <a:rPr kumimoji="1" lang="zh-CN" altLang="en-US" sz="2800">
                <a:latin typeface="Times New Roman" charset="0"/>
                <a:ea typeface="楷体_GB2312" charset="0"/>
              </a:rPr>
              <a:t>           </a:t>
            </a:r>
            <a:r>
              <a:rPr kumimoji="1" lang="zh-CN" altLang="en-US" sz="2800" b="1">
                <a:solidFill>
                  <a:srgbClr val="FF0000"/>
                </a:solidFill>
                <a:latin typeface="Times New Roman" charset="0"/>
                <a:ea typeface="楷体_GB2312" charset="0"/>
              </a:rPr>
              <a:t>表头</a:t>
            </a:r>
            <a:r>
              <a:rPr kumimoji="1" lang="zh-CN" altLang="en-US" sz="2800">
                <a:latin typeface="Times New Roman" charset="0"/>
                <a:ea typeface="楷体_GB2312" charset="0"/>
              </a:rPr>
              <a:t>  </a:t>
            </a:r>
            <a:r>
              <a:rPr kumimoji="1" lang="en-US" altLang="zh-CN" sz="2800">
                <a:latin typeface="Times New Roman" charset="0"/>
                <a:ea typeface="楷体_GB2312" charset="0"/>
              </a:rPr>
              <a:t>Head(LS) = </a:t>
            </a:r>
            <a:r>
              <a:rPr kumimoji="1" lang="en-US" altLang="zh-CN" sz="2800">
                <a:latin typeface="Times New Roman" charset="0"/>
                <a:ea typeface="楷体_GB2312" charset="0"/>
                <a:sym typeface="Symbol" charset="2"/>
              </a:rPr>
              <a:t></a:t>
            </a:r>
            <a:r>
              <a:rPr kumimoji="1" lang="en-US" altLang="zh-CN" sz="2800">
                <a:latin typeface="Times New Roman" charset="0"/>
                <a:ea typeface="楷体_GB2312" charset="0"/>
              </a:rPr>
              <a:t>1   </a:t>
            </a:r>
            <a:r>
              <a:rPr kumimoji="1" lang="zh-CN" altLang="en-US" sz="2800">
                <a:latin typeface="Times New Roman" charset="0"/>
                <a:ea typeface="楷体_GB2312" charset="0"/>
              </a:rPr>
              <a:t>和</a:t>
            </a:r>
          </a:p>
          <a:p>
            <a:pPr eaLnBrk="1" hangingPunct="1"/>
            <a:r>
              <a:rPr kumimoji="1" lang="zh-CN" altLang="en-US" sz="2800">
                <a:latin typeface="Times New Roman" charset="0"/>
                <a:ea typeface="楷体_GB2312" charset="0"/>
              </a:rPr>
              <a:t>           </a:t>
            </a:r>
            <a:r>
              <a:rPr kumimoji="1" lang="zh-CN" altLang="en-US" sz="2800" b="1">
                <a:solidFill>
                  <a:srgbClr val="FF0000"/>
                </a:solidFill>
                <a:latin typeface="Times New Roman" charset="0"/>
                <a:ea typeface="楷体_GB2312" charset="0"/>
              </a:rPr>
              <a:t>表尾</a:t>
            </a:r>
            <a:r>
              <a:rPr kumimoji="1" lang="zh-CN" altLang="en-US" sz="2800">
                <a:latin typeface="Times New Roman" charset="0"/>
                <a:ea typeface="楷体_GB2312" charset="0"/>
              </a:rPr>
              <a:t>  </a:t>
            </a:r>
            <a:r>
              <a:rPr kumimoji="1" lang="en-US" altLang="zh-CN" sz="2800">
                <a:latin typeface="Times New Roman" charset="0"/>
                <a:ea typeface="楷体_GB2312" charset="0"/>
              </a:rPr>
              <a:t>Tail(LS) = ( </a:t>
            </a:r>
            <a:r>
              <a:rPr kumimoji="1" lang="en-US" altLang="zh-CN" sz="2800">
                <a:latin typeface="Times New Roman" charset="0"/>
                <a:ea typeface="楷体_GB2312" charset="0"/>
                <a:sym typeface="Symbol" charset="2"/>
              </a:rPr>
              <a:t></a:t>
            </a:r>
            <a:r>
              <a:rPr kumimoji="1" lang="en-US" altLang="zh-CN" sz="2800">
                <a:latin typeface="Times New Roman" charset="0"/>
                <a:ea typeface="楷体_GB2312" charset="0"/>
              </a:rPr>
              <a:t>2, …, </a:t>
            </a:r>
            <a:r>
              <a:rPr kumimoji="1" lang="en-US" altLang="zh-CN" sz="2800">
                <a:latin typeface="Times New Roman" charset="0"/>
                <a:ea typeface="楷体_GB2312" charset="0"/>
                <a:sym typeface="Symbol" charset="2"/>
              </a:rPr>
              <a:t></a:t>
            </a:r>
            <a:r>
              <a:rPr kumimoji="1" lang="en-US" altLang="zh-CN" sz="2800">
                <a:latin typeface="Times New Roman" charset="0"/>
                <a:ea typeface="楷体_GB2312" charset="0"/>
              </a:rPr>
              <a:t>n)     </a:t>
            </a:r>
            <a:r>
              <a:rPr kumimoji="1" lang="zh-CN" altLang="en-US" sz="2800">
                <a:latin typeface="Times New Roman" charset="0"/>
                <a:ea typeface="楷体_GB2312" charset="0"/>
              </a:rPr>
              <a:t>两部分。</a:t>
            </a:r>
          </a:p>
        </p:txBody>
      </p:sp>
      <p:sp>
        <p:nvSpPr>
          <p:cNvPr id="217091" name="Text Box 3"/>
          <p:cNvSpPr txBox="1">
            <a:spLocks noChangeArrowheads="1"/>
          </p:cNvSpPr>
          <p:nvPr/>
        </p:nvSpPr>
        <p:spPr bwMode="auto">
          <a:xfrm>
            <a:off x="339725" y="2362200"/>
            <a:ext cx="6365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b="1">
                <a:solidFill>
                  <a:srgbClr val="990033"/>
                </a:solidFill>
                <a:latin typeface="Times New Roman" charset="0"/>
                <a:ea typeface="楷体_GB2312" charset="0"/>
              </a:rPr>
              <a:t>例如</a:t>
            </a:r>
            <a:r>
              <a:rPr kumimoji="1" lang="en-US" altLang="zh-CN" sz="3200" b="1">
                <a:solidFill>
                  <a:srgbClr val="990033"/>
                </a:solidFill>
                <a:latin typeface="Times New Roman" charset="0"/>
                <a:ea typeface="楷体_GB2312" charset="0"/>
              </a:rPr>
              <a:t>:</a:t>
            </a:r>
            <a:r>
              <a:rPr kumimoji="1" lang="en-US" altLang="zh-CN" sz="3200" b="1">
                <a:latin typeface="Times New Roman" charset="0"/>
                <a:ea typeface="楷体_GB2312" charset="0"/>
              </a:rPr>
              <a:t> </a:t>
            </a:r>
            <a:r>
              <a:rPr kumimoji="1" lang="en-US" altLang="zh-CN" sz="3200">
                <a:latin typeface="Times New Roman" charset="0"/>
                <a:ea typeface="楷体_GB2312" charset="0"/>
              </a:rPr>
              <a:t>  D = ( E, F ) =  ((a, (b, c))</a:t>
            </a:r>
            <a:r>
              <a:rPr kumimoji="1" lang="zh-CN" altLang="en-US" sz="3200">
                <a:latin typeface="Times New Roman" charset="0"/>
                <a:ea typeface="楷体_GB2312" charset="0"/>
              </a:rPr>
              <a:t>，</a:t>
            </a:r>
            <a:r>
              <a:rPr kumimoji="1" lang="en-US" altLang="zh-CN" sz="3200">
                <a:latin typeface="Times New Roman" charset="0"/>
                <a:ea typeface="楷体_GB2312" charset="0"/>
              </a:rPr>
              <a:t>F )</a:t>
            </a:r>
            <a:endParaRPr kumimoji="1" lang="en-US" altLang="zh-CN" sz="2800">
              <a:latin typeface="Times New Roman" charset="0"/>
              <a:ea typeface="楷体_GB2312" charset="0"/>
            </a:endParaRPr>
          </a:p>
        </p:txBody>
      </p:sp>
      <p:sp>
        <p:nvSpPr>
          <p:cNvPr id="217092" name="Text Box 4"/>
          <p:cNvSpPr txBox="1">
            <a:spLocks noChangeArrowheads="1"/>
          </p:cNvSpPr>
          <p:nvPr/>
        </p:nvSpPr>
        <p:spPr bwMode="auto">
          <a:xfrm>
            <a:off x="685800" y="3048000"/>
            <a:ext cx="6565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Head( </a:t>
            </a:r>
            <a:r>
              <a:rPr kumimoji="1" lang="en-US" altLang="zh-CN" sz="3600" b="1">
                <a:solidFill>
                  <a:srgbClr val="0000FF"/>
                </a:solidFill>
                <a:latin typeface="Times New Roman" charset="0"/>
                <a:ea typeface="楷体_GB2312" charset="0"/>
              </a:rPr>
              <a:t>D </a:t>
            </a:r>
            <a:r>
              <a:rPr kumimoji="1" lang="en-US" altLang="zh-CN" sz="3600">
                <a:latin typeface="Times New Roman" charset="0"/>
                <a:ea typeface="楷体_GB2312" charset="0"/>
              </a:rPr>
              <a:t>) = </a:t>
            </a:r>
            <a:r>
              <a:rPr kumimoji="1" lang="en-US" altLang="zh-CN" sz="3600">
                <a:solidFill>
                  <a:srgbClr val="9933FF"/>
                </a:solidFill>
                <a:latin typeface="Times New Roman" charset="0"/>
                <a:ea typeface="楷体_GB2312" charset="0"/>
              </a:rPr>
              <a:t>E</a:t>
            </a:r>
            <a:r>
              <a:rPr kumimoji="1" lang="en-US" altLang="zh-CN" sz="3600">
                <a:latin typeface="Times New Roman" charset="0"/>
                <a:ea typeface="楷体_GB2312" charset="0"/>
              </a:rPr>
              <a:t>        Tail( </a:t>
            </a:r>
            <a:r>
              <a:rPr kumimoji="1" lang="en-US" altLang="zh-CN" sz="3600" b="1">
                <a:solidFill>
                  <a:srgbClr val="0000FF"/>
                </a:solidFill>
                <a:latin typeface="Times New Roman" charset="0"/>
                <a:ea typeface="楷体_GB2312" charset="0"/>
              </a:rPr>
              <a:t>D</a:t>
            </a:r>
            <a:r>
              <a:rPr kumimoji="1" lang="en-US" altLang="zh-CN" sz="3600">
                <a:latin typeface="Times New Roman" charset="0"/>
                <a:ea typeface="楷体_GB2312" charset="0"/>
              </a:rPr>
              <a:t> ) = </a:t>
            </a:r>
            <a:r>
              <a:rPr kumimoji="1" lang="en-US" altLang="zh-CN" sz="3600">
                <a:solidFill>
                  <a:srgbClr val="9933FF"/>
                </a:solidFill>
                <a:latin typeface="Times New Roman" charset="0"/>
                <a:ea typeface="楷体_GB2312" charset="0"/>
              </a:rPr>
              <a:t>( F )</a:t>
            </a:r>
            <a:endParaRPr kumimoji="1" lang="en-US" altLang="zh-CN" sz="3600">
              <a:latin typeface="Times New Roman" charset="0"/>
              <a:ea typeface="楷体_GB2312" charset="0"/>
            </a:endParaRPr>
          </a:p>
        </p:txBody>
      </p:sp>
      <p:sp>
        <p:nvSpPr>
          <p:cNvPr id="217093" name="Text Box 5"/>
          <p:cNvSpPr txBox="1">
            <a:spLocks noChangeArrowheads="1"/>
          </p:cNvSpPr>
          <p:nvPr/>
        </p:nvSpPr>
        <p:spPr bwMode="auto">
          <a:xfrm>
            <a:off x="685800" y="3733800"/>
            <a:ext cx="7378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Head(</a:t>
            </a:r>
            <a:r>
              <a:rPr kumimoji="1" lang="en-US" altLang="zh-CN" sz="3600" b="1">
                <a:solidFill>
                  <a:srgbClr val="0000FF"/>
                </a:solidFill>
                <a:latin typeface="Times New Roman" charset="0"/>
                <a:ea typeface="楷体_GB2312" charset="0"/>
              </a:rPr>
              <a:t> E </a:t>
            </a:r>
            <a:r>
              <a:rPr kumimoji="1" lang="en-US" altLang="zh-CN" sz="3600">
                <a:latin typeface="Times New Roman" charset="0"/>
                <a:ea typeface="楷体_GB2312" charset="0"/>
              </a:rPr>
              <a:t>) = </a:t>
            </a:r>
            <a:r>
              <a:rPr kumimoji="1" lang="en-US" altLang="zh-CN" sz="3600">
                <a:solidFill>
                  <a:srgbClr val="9933FF"/>
                </a:solidFill>
                <a:latin typeface="Times New Roman" charset="0"/>
                <a:ea typeface="楷体_GB2312" charset="0"/>
              </a:rPr>
              <a:t>a</a:t>
            </a:r>
            <a:r>
              <a:rPr kumimoji="1" lang="en-US" altLang="zh-CN" sz="3600">
                <a:latin typeface="Times New Roman" charset="0"/>
                <a:ea typeface="楷体_GB2312" charset="0"/>
              </a:rPr>
              <a:t>         Tail(</a:t>
            </a:r>
            <a:r>
              <a:rPr kumimoji="1" lang="en-US" altLang="zh-CN" sz="3600" b="1">
                <a:solidFill>
                  <a:srgbClr val="0000FF"/>
                </a:solidFill>
                <a:latin typeface="Times New Roman" charset="0"/>
                <a:ea typeface="楷体_GB2312" charset="0"/>
              </a:rPr>
              <a:t> E</a:t>
            </a:r>
            <a:r>
              <a:rPr kumimoji="1" lang="en-US" altLang="zh-CN" sz="3600">
                <a:latin typeface="Times New Roman" charset="0"/>
                <a:ea typeface="楷体_GB2312" charset="0"/>
              </a:rPr>
              <a:t> ) = </a:t>
            </a:r>
            <a:r>
              <a:rPr kumimoji="1" lang="en-US" altLang="zh-CN" sz="3600">
                <a:solidFill>
                  <a:srgbClr val="9933FF"/>
                </a:solidFill>
                <a:latin typeface="Times New Roman" charset="0"/>
                <a:ea typeface="楷体_GB2312" charset="0"/>
              </a:rPr>
              <a:t>( ( b, c) )</a:t>
            </a:r>
            <a:endParaRPr kumimoji="1" lang="en-US" altLang="zh-CN" sz="4400">
              <a:latin typeface="Times New Roman" charset="0"/>
            </a:endParaRPr>
          </a:p>
        </p:txBody>
      </p:sp>
      <p:sp>
        <p:nvSpPr>
          <p:cNvPr id="217094" name="Text Box 6"/>
          <p:cNvSpPr txBox="1">
            <a:spLocks noChangeArrowheads="1"/>
          </p:cNvSpPr>
          <p:nvPr/>
        </p:nvSpPr>
        <p:spPr bwMode="auto">
          <a:xfrm>
            <a:off x="254000" y="4464050"/>
            <a:ext cx="8585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Head(</a:t>
            </a:r>
            <a:r>
              <a:rPr kumimoji="1" lang="en-US" altLang="zh-CN" sz="3600" b="1">
                <a:solidFill>
                  <a:srgbClr val="0000FF"/>
                </a:solidFill>
                <a:latin typeface="Times New Roman" charset="0"/>
                <a:ea typeface="楷体_GB2312" charset="0"/>
              </a:rPr>
              <a:t> (( b, c))</a:t>
            </a:r>
            <a:r>
              <a:rPr kumimoji="1" lang="en-US" altLang="zh-CN" sz="3600">
                <a:latin typeface="Times New Roman" charset="0"/>
                <a:ea typeface="楷体_GB2312" charset="0"/>
              </a:rPr>
              <a:t> ) = </a:t>
            </a:r>
            <a:r>
              <a:rPr kumimoji="1" lang="en-US" altLang="zh-CN" sz="3600">
                <a:solidFill>
                  <a:srgbClr val="9933FF"/>
                </a:solidFill>
                <a:latin typeface="Times New Roman" charset="0"/>
                <a:ea typeface="楷体_GB2312" charset="0"/>
              </a:rPr>
              <a:t>( b, c)</a:t>
            </a:r>
            <a:r>
              <a:rPr kumimoji="1" lang="en-US" altLang="zh-CN" sz="3600">
                <a:latin typeface="Times New Roman" charset="0"/>
                <a:ea typeface="楷体_GB2312" charset="0"/>
              </a:rPr>
              <a:t>   Tail( </a:t>
            </a:r>
            <a:r>
              <a:rPr kumimoji="1" lang="en-US" altLang="zh-CN" sz="3600" b="1">
                <a:solidFill>
                  <a:srgbClr val="0000FF"/>
                </a:solidFill>
                <a:latin typeface="Times New Roman" charset="0"/>
                <a:ea typeface="楷体_GB2312" charset="0"/>
              </a:rPr>
              <a:t>(( b, c))</a:t>
            </a:r>
            <a:r>
              <a:rPr kumimoji="1" lang="en-US" altLang="zh-CN" sz="3600">
                <a:latin typeface="Times New Roman" charset="0"/>
                <a:ea typeface="楷体_GB2312" charset="0"/>
              </a:rPr>
              <a:t> ) = </a:t>
            </a:r>
            <a:r>
              <a:rPr kumimoji="1" lang="en-US" altLang="zh-CN" sz="3600">
                <a:solidFill>
                  <a:srgbClr val="9933FF"/>
                </a:solidFill>
                <a:latin typeface="Times New Roman" charset="0"/>
                <a:ea typeface="楷体_GB2312" charset="0"/>
              </a:rPr>
              <a:t>( )</a:t>
            </a:r>
            <a:endParaRPr kumimoji="1" lang="en-US" altLang="zh-CN" sz="3600">
              <a:latin typeface="Times New Roman" charset="0"/>
              <a:ea typeface="楷体_GB2312" charset="0"/>
            </a:endParaRPr>
          </a:p>
        </p:txBody>
      </p:sp>
      <p:sp>
        <p:nvSpPr>
          <p:cNvPr id="217095" name="Text Box 7"/>
          <p:cNvSpPr txBox="1">
            <a:spLocks noChangeArrowheads="1"/>
          </p:cNvSpPr>
          <p:nvPr/>
        </p:nvSpPr>
        <p:spPr bwMode="auto">
          <a:xfrm>
            <a:off x="292100" y="5181600"/>
            <a:ext cx="7556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Head(</a:t>
            </a:r>
            <a:r>
              <a:rPr kumimoji="1" lang="en-US" altLang="zh-CN" sz="3600" b="1">
                <a:solidFill>
                  <a:srgbClr val="0000FF"/>
                </a:solidFill>
                <a:latin typeface="Times New Roman" charset="0"/>
                <a:ea typeface="楷体_GB2312" charset="0"/>
              </a:rPr>
              <a:t> ( b, c) </a:t>
            </a:r>
            <a:r>
              <a:rPr kumimoji="1" lang="en-US" altLang="zh-CN" sz="3600">
                <a:latin typeface="Times New Roman" charset="0"/>
                <a:ea typeface="楷体_GB2312" charset="0"/>
              </a:rPr>
              <a:t>) =</a:t>
            </a:r>
            <a:r>
              <a:rPr kumimoji="1" lang="en-US" altLang="zh-CN" sz="3600">
                <a:solidFill>
                  <a:srgbClr val="9933FF"/>
                </a:solidFill>
                <a:latin typeface="Times New Roman" charset="0"/>
                <a:ea typeface="楷体_GB2312" charset="0"/>
              </a:rPr>
              <a:t> b</a:t>
            </a:r>
            <a:r>
              <a:rPr kumimoji="1" lang="en-US" altLang="zh-CN" sz="3600">
                <a:latin typeface="Times New Roman" charset="0"/>
                <a:ea typeface="楷体_GB2312" charset="0"/>
              </a:rPr>
              <a:t>    Tail( </a:t>
            </a:r>
            <a:r>
              <a:rPr kumimoji="1" lang="en-US" altLang="zh-CN" sz="3600" b="1">
                <a:solidFill>
                  <a:srgbClr val="0000FF"/>
                </a:solidFill>
                <a:latin typeface="Times New Roman" charset="0"/>
                <a:ea typeface="楷体_GB2312" charset="0"/>
              </a:rPr>
              <a:t>( b, c)</a:t>
            </a:r>
            <a:r>
              <a:rPr kumimoji="1" lang="en-US" altLang="zh-CN" sz="3600">
                <a:latin typeface="Times New Roman" charset="0"/>
                <a:ea typeface="楷体_GB2312" charset="0"/>
              </a:rPr>
              <a:t> ) = </a:t>
            </a:r>
            <a:r>
              <a:rPr kumimoji="1" lang="en-US" altLang="zh-CN" sz="3600">
                <a:solidFill>
                  <a:srgbClr val="9933FF"/>
                </a:solidFill>
                <a:latin typeface="Times New Roman" charset="0"/>
                <a:ea typeface="楷体_GB2312" charset="0"/>
              </a:rPr>
              <a:t>( c )</a:t>
            </a:r>
            <a:endParaRPr kumimoji="1" lang="en-US" altLang="zh-CN" sz="4400">
              <a:latin typeface="Times New Roman" charset="0"/>
            </a:endParaRPr>
          </a:p>
        </p:txBody>
      </p:sp>
      <p:sp>
        <p:nvSpPr>
          <p:cNvPr id="217096" name="Text Box 8"/>
          <p:cNvSpPr txBox="1">
            <a:spLocks noChangeArrowheads="1"/>
          </p:cNvSpPr>
          <p:nvPr/>
        </p:nvSpPr>
        <p:spPr bwMode="auto">
          <a:xfrm>
            <a:off x="304800" y="5943600"/>
            <a:ext cx="6934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latin typeface="Times New Roman" charset="0"/>
                <a:ea typeface="楷体_GB2312" charset="0"/>
              </a:rPr>
              <a:t>Head( </a:t>
            </a:r>
            <a:r>
              <a:rPr kumimoji="1" lang="en-US" altLang="zh-CN" sz="3600" b="1">
                <a:solidFill>
                  <a:srgbClr val="0000FF"/>
                </a:solidFill>
                <a:latin typeface="Times New Roman" charset="0"/>
                <a:ea typeface="楷体_GB2312" charset="0"/>
              </a:rPr>
              <a:t>( c )</a:t>
            </a:r>
            <a:r>
              <a:rPr kumimoji="1" lang="en-US" altLang="zh-CN" sz="3600">
                <a:latin typeface="Times New Roman" charset="0"/>
                <a:ea typeface="楷体_GB2312" charset="0"/>
              </a:rPr>
              <a:t> ) =</a:t>
            </a:r>
            <a:r>
              <a:rPr kumimoji="1" lang="en-US" altLang="zh-CN" sz="3600">
                <a:solidFill>
                  <a:srgbClr val="9933FF"/>
                </a:solidFill>
                <a:latin typeface="Times New Roman" charset="0"/>
                <a:ea typeface="楷体_GB2312" charset="0"/>
              </a:rPr>
              <a:t> c</a:t>
            </a:r>
            <a:r>
              <a:rPr kumimoji="1" lang="en-US" altLang="zh-CN" sz="3600">
                <a:latin typeface="Times New Roman" charset="0"/>
                <a:ea typeface="楷体_GB2312" charset="0"/>
              </a:rPr>
              <a:t>        Tail( </a:t>
            </a:r>
            <a:r>
              <a:rPr kumimoji="1" lang="en-US" altLang="zh-CN" sz="3600" b="1">
                <a:solidFill>
                  <a:srgbClr val="0000FF"/>
                </a:solidFill>
                <a:latin typeface="Times New Roman" charset="0"/>
                <a:ea typeface="楷体_GB2312" charset="0"/>
              </a:rPr>
              <a:t>( c )</a:t>
            </a:r>
            <a:r>
              <a:rPr kumimoji="1" lang="en-US" altLang="zh-CN" sz="3600">
                <a:latin typeface="Times New Roman" charset="0"/>
                <a:ea typeface="楷体_GB2312" charset="0"/>
              </a:rPr>
              <a:t> ) = </a:t>
            </a:r>
            <a:r>
              <a:rPr kumimoji="1" lang="en-US" altLang="zh-CN" sz="3600">
                <a:solidFill>
                  <a:srgbClr val="9933FF"/>
                </a:solidFill>
                <a:latin typeface="Times New Roman" charset="0"/>
                <a:ea typeface="楷体_GB2312" charset="0"/>
              </a:rPr>
              <a:t>( )</a:t>
            </a:r>
            <a:endParaRPr kumimoji="1" lang="en-US" altLang="zh-CN" sz="3600">
              <a:latin typeface="Times New Roman" charset="0"/>
              <a:ea typeface="楷体_GB2312" charset="0"/>
            </a:endParaRPr>
          </a:p>
        </p:txBody>
      </p:sp>
      <p:sp>
        <p:nvSpPr>
          <p:cNvPr id="217097" name="AutoShape 9">
            <a:hlinkClick r:id="rId2" action="ppaction://hlinksldjump" highlightClick="1"/>
          </p:cNvPr>
          <p:cNvSpPr>
            <a:spLocks noChangeArrowheads="1"/>
          </p:cNvSpPr>
          <p:nvPr/>
        </p:nvSpPr>
        <p:spPr bwMode="auto">
          <a:xfrm>
            <a:off x="8382000" y="6172200"/>
            <a:ext cx="381000" cy="381000"/>
          </a:xfrm>
          <a:prstGeom prst="actionButtonBackPrevious">
            <a:avLst/>
          </a:prstGeom>
          <a:solidFill>
            <a:srgbClr val="33CCFF"/>
          </a:solidFill>
          <a:ln w="9525">
            <a:solidFill>
              <a:srgbClr val="0066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7602794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strips(downRight)">
                                      <p:cBhvr>
                                        <p:cTn id="7" dur="500"/>
                                        <p:tgtEl>
                                          <p:spTgt spid="217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7091"/>
                                        </p:tgtEl>
                                        <p:attrNameLst>
                                          <p:attrName>style.visibility</p:attrName>
                                        </p:attrNameLst>
                                      </p:cBhvr>
                                      <p:to>
                                        <p:strVal val="visible"/>
                                      </p:to>
                                    </p:set>
                                    <p:animEffect transition="in" filter="wipe(left)">
                                      <p:cBhvr>
                                        <p:cTn id="12" dur="500"/>
                                        <p:tgtEl>
                                          <p:spTgt spid="2170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7092"/>
                                        </p:tgtEl>
                                        <p:attrNameLst>
                                          <p:attrName>style.visibility</p:attrName>
                                        </p:attrNameLst>
                                      </p:cBhvr>
                                      <p:to>
                                        <p:strVal val="visible"/>
                                      </p:to>
                                    </p:set>
                                    <p:animEffect transition="in" filter="wipe(left)">
                                      <p:cBhvr>
                                        <p:cTn id="17" dur="500"/>
                                        <p:tgtEl>
                                          <p:spTgt spid="2170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7093"/>
                                        </p:tgtEl>
                                        <p:attrNameLst>
                                          <p:attrName>style.visibility</p:attrName>
                                        </p:attrNameLst>
                                      </p:cBhvr>
                                      <p:to>
                                        <p:strVal val="visible"/>
                                      </p:to>
                                    </p:set>
                                    <p:animEffect transition="in" filter="wipe(left)">
                                      <p:cBhvr>
                                        <p:cTn id="22" dur="500"/>
                                        <p:tgtEl>
                                          <p:spTgt spid="2170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7094"/>
                                        </p:tgtEl>
                                        <p:attrNameLst>
                                          <p:attrName>style.visibility</p:attrName>
                                        </p:attrNameLst>
                                      </p:cBhvr>
                                      <p:to>
                                        <p:strVal val="visible"/>
                                      </p:to>
                                    </p:set>
                                    <p:animEffect transition="in" filter="wipe(left)">
                                      <p:cBhvr>
                                        <p:cTn id="27" dur="500"/>
                                        <p:tgtEl>
                                          <p:spTgt spid="2170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7095"/>
                                        </p:tgtEl>
                                        <p:attrNameLst>
                                          <p:attrName>style.visibility</p:attrName>
                                        </p:attrNameLst>
                                      </p:cBhvr>
                                      <p:to>
                                        <p:strVal val="visible"/>
                                      </p:to>
                                    </p:set>
                                    <p:animEffect transition="in" filter="wipe(left)">
                                      <p:cBhvr>
                                        <p:cTn id="32" dur="500"/>
                                        <p:tgtEl>
                                          <p:spTgt spid="2170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7096"/>
                                        </p:tgtEl>
                                        <p:attrNameLst>
                                          <p:attrName>style.visibility</p:attrName>
                                        </p:attrNameLst>
                                      </p:cBhvr>
                                      <p:to>
                                        <p:strVal val="visible"/>
                                      </p:to>
                                    </p:set>
                                    <p:animEffect transition="in" filter="wipe(left)">
                                      <p:cBhvr>
                                        <p:cTn id="37" dur="500"/>
                                        <p:tgtEl>
                                          <p:spTgt spid="217096"/>
                                        </p:tgtEl>
                                      </p:cBhvr>
                                    </p:animEffect>
                                  </p:childTnLst>
                                </p:cTn>
                              </p:par>
                            </p:childTnLst>
                          </p:cTn>
                        </p:par>
                        <p:par>
                          <p:cTn id="38" fill="hold" nodeType="afterGroup">
                            <p:stCondLst>
                              <p:cond delay="500"/>
                            </p:stCondLst>
                            <p:childTnLst>
                              <p:par>
                                <p:cTn id="39" presetID="2" presetClass="entr" presetSubtype="6" fill="hold" grpId="0" nodeType="afterEffect">
                                  <p:stCondLst>
                                    <p:cond delay="0"/>
                                  </p:stCondLst>
                                  <p:childTnLst>
                                    <p:set>
                                      <p:cBhvr>
                                        <p:cTn id="40" dur="1" fill="hold">
                                          <p:stCondLst>
                                            <p:cond delay="0"/>
                                          </p:stCondLst>
                                        </p:cTn>
                                        <p:tgtEl>
                                          <p:spTgt spid="217097"/>
                                        </p:tgtEl>
                                        <p:attrNameLst>
                                          <p:attrName>style.visibility</p:attrName>
                                        </p:attrNameLst>
                                      </p:cBhvr>
                                      <p:to>
                                        <p:strVal val="visible"/>
                                      </p:to>
                                    </p:set>
                                    <p:anim calcmode="lin" valueType="num">
                                      <p:cBhvr additive="base">
                                        <p:cTn id="41" dur="500" fill="hold"/>
                                        <p:tgtEl>
                                          <p:spTgt spid="217097"/>
                                        </p:tgtEl>
                                        <p:attrNameLst>
                                          <p:attrName>ppt_x</p:attrName>
                                        </p:attrNameLst>
                                      </p:cBhvr>
                                      <p:tavLst>
                                        <p:tav tm="0">
                                          <p:val>
                                            <p:strVal val="1+#ppt_w/2"/>
                                          </p:val>
                                        </p:tav>
                                        <p:tav tm="100000">
                                          <p:val>
                                            <p:strVal val="#ppt_x"/>
                                          </p:val>
                                        </p:tav>
                                      </p:tavLst>
                                    </p:anim>
                                    <p:anim calcmode="lin" valueType="num">
                                      <p:cBhvr additive="base">
                                        <p:cTn id="42" dur="500" fill="hold"/>
                                        <p:tgtEl>
                                          <p:spTgt spid="2170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autoUpdateAnimBg="0"/>
      <p:bldP spid="217091" grpId="0" autoUpdateAnimBg="0"/>
      <p:bldP spid="217092" grpId="0" autoUpdateAnimBg="0"/>
      <p:bldP spid="217093" grpId="0" autoUpdateAnimBg="0"/>
      <p:bldP spid="217094" grpId="0" autoUpdateAnimBg="0"/>
      <p:bldP spid="217095" grpId="0" autoUpdateAnimBg="0"/>
      <p:bldP spid="217096" grpId="0" autoUpdateAnimBg="0"/>
      <p:bldP spid="21709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2"/>
          <p:cNvSpPr txBox="1">
            <a:spLocks noChangeArrowheads="1"/>
          </p:cNvSpPr>
          <p:nvPr/>
        </p:nvSpPr>
        <p:spPr bwMode="auto">
          <a:xfrm>
            <a:off x="914400" y="228600"/>
            <a:ext cx="74041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solidFill>
                  <a:srgbClr val="990033"/>
                </a:solidFill>
                <a:latin typeface="Times New Roman" charset="0"/>
                <a:ea typeface="楷体_GB2312" charset="0"/>
                <a:sym typeface="Symbol" charset="2"/>
              </a:rPr>
              <a:t></a:t>
            </a:r>
            <a:r>
              <a:rPr kumimoji="1" lang="en-US" altLang="zh-CN" sz="3600">
                <a:latin typeface="Times New Roman" charset="0"/>
                <a:ea typeface="楷体_GB2312" charset="0"/>
              </a:rPr>
              <a:t>  </a:t>
            </a:r>
            <a:r>
              <a:rPr kumimoji="1" lang="zh-CN" altLang="en-US" sz="3600" b="1">
                <a:solidFill>
                  <a:srgbClr val="990033"/>
                </a:solidFill>
                <a:latin typeface="Times New Roman" charset="0"/>
                <a:ea typeface="楷体_GB2312" charset="0"/>
              </a:rPr>
              <a:t>结构的创建和销毁</a:t>
            </a:r>
            <a:endParaRPr kumimoji="1" lang="zh-CN" altLang="en-US" sz="3200" b="1">
              <a:solidFill>
                <a:srgbClr val="990033"/>
              </a:solidFill>
              <a:latin typeface="Times New Roman" charset="0"/>
              <a:ea typeface="楷体_GB2312" charset="0"/>
            </a:endParaRPr>
          </a:p>
          <a:p>
            <a:pPr eaLnBrk="1" hangingPunct="1">
              <a:lnSpc>
                <a:spcPct val="110000"/>
              </a:lnSpc>
            </a:pPr>
            <a:r>
              <a:rPr kumimoji="1" lang="zh-CN" altLang="en-US" sz="3200">
                <a:latin typeface="Times New Roman" charset="0"/>
                <a:ea typeface="楷体_GB2312" charset="0"/>
              </a:rPr>
              <a:t>   </a:t>
            </a:r>
            <a:r>
              <a:rPr kumimoji="1" lang="en-US" altLang="zh-CN" sz="3200">
                <a:solidFill>
                  <a:srgbClr val="0000FF"/>
                </a:solidFill>
                <a:latin typeface="Times New Roman" charset="0"/>
                <a:ea typeface="楷体_GB2312" charset="0"/>
              </a:rPr>
              <a:t>InitGList(</a:t>
            </a:r>
            <a:r>
              <a:rPr kumimoji="1" lang="en-US" altLang="zh-CN" sz="3200" b="1">
                <a:solidFill>
                  <a:srgbClr val="0000FF"/>
                </a:solidFill>
                <a:latin typeface="Times New Roman" charset="0"/>
                <a:ea typeface="楷体_GB2312" charset="0"/>
              </a:rPr>
              <a:t>&amp;</a:t>
            </a:r>
            <a:r>
              <a:rPr kumimoji="1" lang="en-US" altLang="zh-CN" sz="3200">
                <a:solidFill>
                  <a:srgbClr val="0000FF"/>
                </a:solidFill>
                <a:latin typeface="Times New Roman" charset="0"/>
                <a:ea typeface="楷体_GB2312" charset="0"/>
              </a:rPr>
              <a:t>L);      DestroyGList(</a:t>
            </a:r>
            <a:r>
              <a:rPr kumimoji="1" lang="en-US" altLang="zh-CN" sz="3200" b="1">
                <a:solidFill>
                  <a:srgbClr val="0000FF"/>
                </a:solidFill>
                <a:latin typeface="Times New Roman" charset="0"/>
                <a:ea typeface="楷体_GB2312" charset="0"/>
              </a:rPr>
              <a:t>&amp;</a:t>
            </a:r>
            <a:r>
              <a:rPr kumimoji="1" lang="en-US" altLang="zh-CN" sz="3200">
                <a:solidFill>
                  <a:srgbClr val="0000FF"/>
                </a:solidFill>
                <a:latin typeface="Times New Roman" charset="0"/>
                <a:ea typeface="楷体_GB2312" charset="0"/>
              </a:rPr>
              <a:t>L);</a:t>
            </a:r>
          </a:p>
          <a:p>
            <a:pPr eaLnBrk="1" hangingPunct="1">
              <a:lnSpc>
                <a:spcPct val="110000"/>
              </a:lnSpc>
            </a:pPr>
            <a:r>
              <a:rPr kumimoji="1" lang="en-US" altLang="zh-CN" sz="3200">
                <a:solidFill>
                  <a:srgbClr val="0000FF"/>
                </a:solidFill>
                <a:latin typeface="Times New Roman" charset="0"/>
                <a:ea typeface="楷体_GB2312" charset="0"/>
              </a:rPr>
              <a:t>   CreateGList(</a:t>
            </a:r>
            <a:r>
              <a:rPr kumimoji="1" lang="en-US" altLang="zh-CN" sz="3200" b="1">
                <a:solidFill>
                  <a:srgbClr val="0000FF"/>
                </a:solidFill>
                <a:latin typeface="Times New Roman" charset="0"/>
                <a:ea typeface="楷体_GB2312" charset="0"/>
              </a:rPr>
              <a:t>&amp;</a:t>
            </a:r>
            <a:r>
              <a:rPr kumimoji="1" lang="en-US" altLang="zh-CN" sz="3200">
                <a:solidFill>
                  <a:srgbClr val="0000FF"/>
                </a:solidFill>
                <a:latin typeface="Times New Roman" charset="0"/>
                <a:ea typeface="楷体_GB2312" charset="0"/>
              </a:rPr>
              <a:t>L, S);   CopyGList(</a:t>
            </a:r>
            <a:r>
              <a:rPr kumimoji="1" lang="en-US" altLang="zh-CN" sz="3200" b="1">
                <a:solidFill>
                  <a:srgbClr val="0000FF"/>
                </a:solidFill>
                <a:latin typeface="Times New Roman" charset="0"/>
                <a:ea typeface="楷体_GB2312" charset="0"/>
              </a:rPr>
              <a:t>&amp;</a:t>
            </a:r>
            <a:r>
              <a:rPr kumimoji="1" lang="en-US" altLang="zh-CN" sz="3200">
                <a:solidFill>
                  <a:srgbClr val="0000FF"/>
                </a:solidFill>
                <a:latin typeface="Times New Roman" charset="0"/>
                <a:ea typeface="楷体_GB2312" charset="0"/>
              </a:rPr>
              <a:t>T, L);</a:t>
            </a:r>
          </a:p>
        </p:txBody>
      </p:sp>
      <p:sp>
        <p:nvSpPr>
          <p:cNvPr id="218115" name="Text Box 3"/>
          <p:cNvSpPr txBox="1">
            <a:spLocks noChangeArrowheads="1"/>
          </p:cNvSpPr>
          <p:nvPr/>
        </p:nvSpPr>
        <p:spPr bwMode="auto">
          <a:xfrm>
            <a:off x="0" y="1905000"/>
            <a:ext cx="85407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b="1">
                <a:solidFill>
                  <a:srgbClr val="CC3399"/>
                </a:solidFill>
                <a:latin typeface="Times New Roman" charset="0"/>
                <a:ea typeface="楷体_GB2312" charset="0"/>
              </a:rPr>
              <a:t>基本操作</a:t>
            </a:r>
            <a:endParaRPr kumimoji="1" lang="zh-CN" altLang="en-US" sz="4400">
              <a:latin typeface="Times New Roman" charset="0"/>
            </a:endParaRPr>
          </a:p>
        </p:txBody>
      </p:sp>
      <p:sp>
        <p:nvSpPr>
          <p:cNvPr id="218116" name="Text Box 4"/>
          <p:cNvSpPr txBox="1">
            <a:spLocks noChangeArrowheads="1"/>
          </p:cNvSpPr>
          <p:nvPr/>
        </p:nvSpPr>
        <p:spPr bwMode="auto">
          <a:xfrm>
            <a:off x="822325" y="1943100"/>
            <a:ext cx="7786688"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990033"/>
                </a:solidFill>
                <a:latin typeface="Times New Roman" charset="0"/>
                <a:ea typeface="楷体_GB2312" charset="0"/>
                <a:sym typeface="Symbol" charset="2"/>
              </a:rPr>
              <a:t></a:t>
            </a:r>
            <a:r>
              <a:rPr kumimoji="1" lang="en-US" altLang="zh-CN" sz="3600" b="1">
                <a:solidFill>
                  <a:srgbClr val="990033"/>
                </a:solidFill>
                <a:latin typeface="Times New Roman" charset="0"/>
                <a:ea typeface="楷体_GB2312" charset="0"/>
              </a:rPr>
              <a:t>  </a:t>
            </a:r>
            <a:r>
              <a:rPr kumimoji="1" lang="zh-CN" altLang="en-US" sz="3600" b="1">
                <a:solidFill>
                  <a:srgbClr val="990033"/>
                </a:solidFill>
                <a:latin typeface="Times New Roman" charset="0"/>
                <a:ea typeface="楷体_GB2312" charset="0"/>
              </a:rPr>
              <a:t>状态函数</a:t>
            </a:r>
            <a:endParaRPr kumimoji="1" lang="zh-CN" altLang="en-US" sz="3200">
              <a:latin typeface="Times New Roman" charset="0"/>
              <a:ea typeface="楷体_GB2312" charset="0"/>
            </a:endParaRPr>
          </a:p>
          <a:p>
            <a:pPr eaLnBrk="1" hangingPunct="1">
              <a:lnSpc>
                <a:spcPct val="110000"/>
              </a:lnSpc>
            </a:pPr>
            <a:r>
              <a:rPr kumimoji="1" lang="zh-CN" altLang="en-US" sz="3200">
                <a:latin typeface="Times New Roman" charset="0"/>
                <a:ea typeface="楷体_GB2312" charset="0"/>
              </a:rPr>
              <a:t>   </a:t>
            </a:r>
            <a:r>
              <a:rPr kumimoji="1" lang="en-US" altLang="zh-CN" sz="3200">
                <a:solidFill>
                  <a:srgbClr val="0000FF"/>
                </a:solidFill>
                <a:latin typeface="Times New Roman" charset="0"/>
                <a:ea typeface="楷体_GB2312" charset="0"/>
              </a:rPr>
              <a:t>GListLength(L);   GListDepth(L);</a:t>
            </a:r>
          </a:p>
          <a:p>
            <a:pPr eaLnBrk="1" hangingPunct="1">
              <a:lnSpc>
                <a:spcPct val="110000"/>
              </a:lnSpc>
            </a:pPr>
            <a:r>
              <a:rPr kumimoji="1" lang="en-US" altLang="zh-CN" sz="3200">
                <a:solidFill>
                  <a:srgbClr val="0000FF"/>
                </a:solidFill>
                <a:latin typeface="Times New Roman" charset="0"/>
                <a:ea typeface="楷体_GB2312" charset="0"/>
              </a:rPr>
              <a:t>   GListEmpty(L);   GetHead(L);    GetTail(L);</a:t>
            </a:r>
          </a:p>
        </p:txBody>
      </p:sp>
      <p:sp>
        <p:nvSpPr>
          <p:cNvPr id="218117" name="Text Box 5"/>
          <p:cNvSpPr txBox="1">
            <a:spLocks noChangeArrowheads="1"/>
          </p:cNvSpPr>
          <p:nvPr/>
        </p:nvSpPr>
        <p:spPr bwMode="auto">
          <a:xfrm>
            <a:off x="898525" y="3695700"/>
            <a:ext cx="473075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990033"/>
                </a:solidFill>
                <a:latin typeface="Times New Roman" charset="0"/>
                <a:ea typeface="楷体_GB2312" charset="0"/>
                <a:sym typeface="Symbol" charset="2"/>
              </a:rPr>
              <a:t></a:t>
            </a:r>
            <a:r>
              <a:rPr kumimoji="1" lang="en-US" altLang="zh-CN" sz="3600" b="1">
                <a:solidFill>
                  <a:srgbClr val="990033"/>
                </a:solidFill>
                <a:latin typeface="Times New Roman" charset="0"/>
                <a:ea typeface="楷体_GB2312" charset="0"/>
              </a:rPr>
              <a:t>  </a:t>
            </a:r>
            <a:r>
              <a:rPr kumimoji="1" lang="zh-CN" altLang="en-US" sz="3600" b="1">
                <a:solidFill>
                  <a:srgbClr val="990033"/>
                </a:solidFill>
                <a:latin typeface="Times New Roman" charset="0"/>
                <a:ea typeface="楷体_GB2312" charset="0"/>
              </a:rPr>
              <a:t>插入和删除操作</a:t>
            </a:r>
            <a:endParaRPr kumimoji="1" lang="zh-CN" altLang="en-US" sz="3200" b="1">
              <a:solidFill>
                <a:srgbClr val="990033"/>
              </a:solidFill>
              <a:latin typeface="Times New Roman" charset="0"/>
              <a:ea typeface="楷体_GB2312" charset="0"/>
            </a:endParaRPr>
          </a:p>
          <a:p>
            <a:pPr eaLnBrk="1" hangingPunct="1">
              <a:lnSpc>
                <a:spcPct val="110000"/>
              </a:lnSpc>
            </a:pPr>
            <a:r>
              <a:rPr kumimoji="1" lang="zh-CN" altLang="en-US" sz="3200">
                <a:latin typeface="Times New Roman" charset="0"/>
                <a:ea typeface="楷体_GB2312" charset="0"/>
              </a:rPr>
              <a:t>   </a:t>
            </a:r>
            <a:r>
              <a:rPr kumimoji="1" lang="en-US" altLang="zh-CN" sz="3200">
                <a:solidFill>
                  <a:srgbClr val="0000FF"/>
                </a:solidFill>
                <a:latin typeface="Times New Roman" charset="0"/>
                <a:ea typeface="楷体_GB2312" charset="0"/>
              </a:rPr>
              <a:t>InsertFirst_GL(</a:t>
            </a:r>
            <a:r>
              <a:rPr kumimoji="1" lang="en-US" altLang="zh-CN" sz="3200" b="1">
                <a:solidFill>
                  <a:srgbClr val="0000FF"/>
                </a:solidFill>
                <a:latin typeface="Times New Roman" charset="0"/>
                <a:ea typeface="楷体_GB2312" charset="0"/>
              </a:rPr>
              <a:t>&amp;</a:t>
            </a:r>
            <a:r>
              <a:rPr kumimoji="1" lang="en-US" altLang="zh-CN" sz="3200">
                <a:solidFill>
                  <a:srgbClr val="0000FF"/>
                </a:solidFill>
                <a:latin typeface="Times New Roman" charset="0"/>
                <a:ea typeface="楷体_GB2312" charset="0"/>
              </a:rPr>
              <a:t>L, e);</a:t>
            </a:r>
          </a:p>
          <a:p>
            <a:pPr eaLnBrk="1" hangingPunct="1">
              <a:lnSpc>
                <a:spcPct val="110000"/>
              </a:lnSpc>
            </a:pPr>
            <a:r>
              <a:rPr kumimoji="1" lang="en-US" altLang="zh-CN" sz="3200">
                <a:solidFill>
                  <a:srgbClr val="0000FF"/>
                </a:solidFill>
                <a:latin typeface="Times New Roman" charset="0"/>
                <a:ea typeface="楷体_GB2312" charset="0"/>
              </a:rPr>
              <a:t>   DeleteFirst_GL(</a:t>
            </a:r>
            <a:r>
              <a:rPr kumimoji="1" lang="en-US" altLang="zh-CN" sz="3200" b="1">
                <a:solidFill>
                  <a:srgbClr val="0000FF"/>
                </a:solidFill>
                <a:latin typeface="Times New Roman" charset="0"/>
                <a:ea typeface="楷体_GB2312" charset="0"/>
              </a:rPr>
              <a:t>&amp;</a:t>
            </a:r>
            <a:r>
              <a:rPr kumimoji="1" lang="en-US" altLang="zh-CN" sz="3200">
                <a:solidFill>
                  <a:srgbClr val="0000FF"/>
                </a:solidFill>
                <a:latin typeface="Times New Roman" charset="0"/>
                <a:ea typeface="楷体_GB2312" charset="0"/>
              </a:rPr>
              <a:t>L, </a:t>
            </a:r>
            <a:r>
              <a:rPr kumimoji="1" lang="en-US" altLang="zh-CN" sz="3200" b="1">
                <a:solidFill>
                  <a:srgbClr val="0000FF"/>
                </a:solidFill>
                <a:latin typeface="Times New Roman" charset="0"/>
                <a:ea typeface="楷体_GB2312" charset="0"/>
              </a:rPr>
              <a:t>&amp;</a:t>
            </a:r>
            <a:r>
              <a:rPr kumimoji="1" lang="en-US" altLang="zh-CN" sz="3200">
                <a:solidFill>
                  <a:srgbClr val="0000FF"/>
                </a:solidFill>
                <a:latin typeface="Times New Roman" charset="0"/>
                <a:ea typeface="楷体_GB2312" charset="0"/>
              </a:rPr>
              <a:t>e);</a:t>
            </a:r>
            <a:endParaRPr kumimoji="1" lang="en-US" altLang="zh-CN" sz="3200">
              <a:latin typeface="Times New Roman" charset="0"/>
              <a:ea typeface="楷体_GB2312" charset="0"/>
            </a:endParaRPr>
          </a:p>
        </p:txBody>
      </p:sp>
      <p:sp>
        <p:nvSpPr>
          <p:cNvPr id="218118" name="Text Box 6"/>
          <p:cNvSpPr txBox="1">
            <a:spLocks noChangeArrowheads="1"/>
          </p:cNvSpPr>
          <p:nvPr/>
        </p:nvSpPr>
        <p:spPr bwMode="auto">
          <a:xfrm>
            <a:off x="898525" y="5348288"/>
            <a:ext cx="4549775" cy="112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990033"/>
                </a:solidFill>
                <a:latin typeface="Times New Roman" charset="0"/>
                <a:ea typeface="楷体_GB2312" charset="0"/>
                <a:sym typeface="Symbol" charset="2"/>
              </a:rPr>
              <a:t></a:t>
            </a:r>
            <a:r>
              <a:rPr kumimoji="1" lang="en-US" altLang="zh-CN" sz="3600" b="1">
                <a:solidFill>
                  <a:srgbClr val="990033"/>
                </a:solidFill>
                <a:latin typeface="Times New Roman" charset="0"/>
                <a:ea typeface="楷体_GB2312" charset="0"/>
              </a:rPr>
              <a:t>  </a:t>
            </a:r>
            <a:r>
              <a:rPr kumimoji="1" lang="zh-CN" altLang="en-US" sz="3600" b="1">
                <a:solidFill>
                  <a:srgbClr val="990033"/>
                </a:solidFill>
                <a:latin typeface="Times New Roman" charset="0"/>
                <a:ea typeface="楷体_GB2312" charset="0"/>
              </a:rPr>
              <a:t>遍历</a:t>
            </a:r>
            <a:endParaRPr kumimoji="1" lang="zh-CN" altLang="en-US" sz="3200" b="1">
              <a:solidFill>
                <a:srgbClr val="990033"/>
              </a:solidFill>
              <a:latin typeface="Times New Roman" charset="0"/>
              <a:ea typeface="楷体_GB2312" charset="0"/>
            </a:endParaRPr>
          </a:p>
          <a:p>
            <a:pPr eaLnBrk="1" hangingPunct="1"/>
            <a:r>
              <a:rPr kumimoji="1" lang="zh-CN" altLang="en-US" sz="3200">
                <a:latin typeface="Times New Roman" charset="0"/>
                <a:ea typeface="楷体_GB2312" charset="0"/>
              </a:rPr>
              <a:t>   </a:t>
            </a:r>
            <a:r>
              <a:rPr kumimoji="1" lang="en-US" altLang="zh-CN" sz="3200">
                <a:solidFill>
                  <a:srgbClr val="0000FF"/>
                </a:solidFill>
                <a:latin typeface="Times New Roman" charset="0"/>
                <a:ea typeface="楷体_GB2312" charset="0"/>
              </a:rPr>
              <a:t>Traverse_GL(L, Visit());</a:t>
            </a:r>
            <a:endParaRPr kumimoji="1" lang="en-US" altLang="zh-CN" sz="3200">
              <a:latin typeface="Times New Roman" charset="0"/>
              <a:ea typeface="楷体_GB2312" charset="0"/>
            </a:endParaRPr>
          </a:p>
        </p:txBody>
      </p:sp>
      <p:sp>
        <p:nvSpPr>
          <p:cNvPr id="218119" name="AutoShape 7">
            <a:hlinkClick r:id="rId3" action="ppaction://hlinksldjump" highlightClick="1"/>
          </p:cNvPr>
          <p:cNvSpPr>
            <a:spLocks noChangeArrowheads="1"/>
          </p:cNvSpPr>
          <p:nvPr/>
        </p:nvSpPr>
        <p:spPr bwMode="auto">
          <a:xfrm>
            <a:off x="8382000" y="6172200"/>
            <a:ext cx="381000" cy="381000"/>
          </a:xfrm>
          <a:prstGeom prst="actionButtonBackPrevious">
            <a:avLst/>
          </a:prstGeom>
          <a:solidFill>
            <a:srgbClr val="33CCFF"/>
          </a:solidFill>
          <a:ln w="9525">
            <a:solidFill>
              <a:srgbClr val="0066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11248006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218115"/>
                                        </p:tgtEl>
                                        <p:attrNameLst>
                                          <p:attrName>style.visibility</p:attrName>
                                        </p:attrNameLst>
                                      </p:cBhvr>
                                      <p:to>
                                        <p:strVal val="visible"/>
                                      </p:to>
                                    </p:set>
                                    <p:anim calcmode="lin" valueType="num">
                                      <p:cBhvr>
                                        <p:cTn id="7" dur="500" fill="hold"/>
                                        <p:tgtEl>
                                          <p:spTgt spid="218115"/>
                                        </p:tgtEl>
                                        <p:attrNameLst>
                                          <p:attrName>ppt_x</p:attrName>
                                        </p:attrNameLst>
                                      </p:cBhvr>
                                      <p:tavLst>
                                        <p:tav tm="0">
                                          <p:val>
                                            <p:strVal val="#ppt_x"/>
                                          </p:val>
                                        </p:tav>
                                        <p:tav tm="100000">
                                          <p:val>
                                            <p:strVal val="#ppt_x"/>
                                          </p:val>
                                        </p:tav>
                                      </p:tavLst>
                                    </p:anim>
                                    <p:anim calcmode="lin" valueType="num">
                                      <p:cBhvr>
                                        <p:cTn id="8" dur="500" fill="hold"/>
                                        <p:tgtEl>
                                          <p:spTgt spid="218115"/>
                                        </p:tgtEl>
                                        <p:attrNameLst>
                                          <p:attrName>ppt_y</p:attrName>
                                        </p:attrNameLst>
                                      </p:cBhvr>
                                      <p:tavLst>
                                        <p:tav tm="0">
                                          <p:val>
                                            <p:strVal val="#ppt_y-#ppt_h/2"/>
                                          </p:val>
                                        </p:tav>
                                        <p:tav tm="100000">
                                          <p:val>
                                            <p:strVal val="#ppt_y"/>
                                          </p:val>
                                        </p:tav>
                                      </p:tavLst>
                                    </p:anim>
                                    <p:anim calcmode="lin" valueType="num">
                                      <p:cBhvr>
                                        <p:cTn id="9" dur="500" fill="hold"/>
                                        <p:tgtEl>
                                          <p:spTgt spid="218115"/>
                                        </p:tgtEl>
                                        <p:attrNameLst>
                                          <p:attrName>ppt_w</p:attrName>
                                        </p:attrNameLst>
                                      </p:cBhvr>
                                      <p:tavLst>
                                        <p:tav tm="0">
                                          <p:val>
                                            <p:strVal val="#ppt_w"/>
                                          </p:val>
                                        </p:tav>
                                        <p:tav tm="100000">
                                          <p:val>
                                            <p:strVal val="#ppt_w"/>
                                          </p:val>
                                        </p:tav>
                                      </p:tavLst>
                                    </p:anim>
                                    <p:anim calcmode="lin" valueType="num">
                                      <p:cBhvr>
                                        <p:cTn id="10" dur="500" fill="hold"/>
                                        <p:tgtEl>
                                          <p:spTgt spid="218115"/>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218114"/>
                                        </p:tgtEl>
                                        <p:attrNameLst>
                                          <p:attrName>style.visibility</p:attrName>
                                        </p:attrNameLst>
                                      </p:cBhvr>
                                      <p:to>
                                        <p:strVal val="visible"/>
                                      </p:to>
                                    </p:set>
                                    <p:anim calcmode="lin" valueType="num">
                                      <p:cBhvr additive="base">
                                        <p:cTn id="15" dur="500" fill="hold"/>
                                        <p:tgtEl>
                                          <p:spTgt spid="218114"/>
                                        </p:tgtEl>
                                        <p:attrNameLst>
                                          <p:attrName>ppt_x</p:attrName>
                                        </p:attrNameLst>
                                      </p:cBhvr>
                                      <p:tavLst>
                                        <p:tav tm="0">
                                          <p:val>
                                            <p:strVal val="0-#ppt_w/2"/>
                                          </p:val>
                                        </p:tav>
                                        <p:tav tm="100000">
                                          <p:val>
                                            <p:strVal val="#ppt_x"/>
                                          </p:val>
                                        </p:tav>
                                      </p:tavLst>
                                    </p:anim>
                                    <p:anim calcmode="lin" valueType="num">
                                      <p:cBhvr additive="base">
                                        <p:cTn id="16" dur="500" fill="hold"/>
                                        <p:tgtEl>
                                          <p:spTgt spid="218114"/>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218116"/>
                                        </p:tgtEl>
                                        <p:attrNameLst>
                                          <p:attrName>style.visibility</p:attrName>
                                        </p:attrNameLst>
                                      </p:cBhvr>
                                      <p:to>
                                        <p:strVal val="visible"/>
                                      </p:to>
                                    </p:set>
                                    <p:anim calcmode="lin" valueType="num">
                                      <p:cBhvr additive="base">
                                        <p:cTn id="21" dur="500" fill="hold"/>
                                        <p:tgtEl>
                                          <p:spTgt spid="218116"/>
                                        </p:tgtEl>
                                        <p:attrNameLst>
                                          <p:attrName>ppt_x</p:attrName>
                                        </p:attrNameLst>
                                      </p:cBhvr>
                                      <p:tavLst>
                                        <p:tav tm="0">
                                          <p:val>
                                            <p:strVal val="1+#ppt_w/2"/>
                                          </p:val>
                                        </p:tav>
                                        <p:tav tm="100000">
                                          <p:val>
                                            <p:strVal val="#ppt_x"/>
                                          </p:val>
                                        </p:tav>
                                      </p:tavLst>
                                    </p:anim>
                                    <p:anim calcmode="lin" valueType="num">
                                      <p:cBhvr additive="base">
                                        <p:cTn id="22" dur="500" fill="hold"/>
                                        <p:tgtEl>
                                          <p:spTgt spid="218116"/>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18117"/>
                                        </p:tgtEl>
                                        <p:attrNameLst>
                                          <p:attrName>style.visibility</p:attrName>
                                        </p:attrNameLst>
                                      </p:cBhvr>
                                      <p:to>
                                        <p:strVal val="visible"/>
                                      </p:to>
                                    </p:set>
                                    <p:anim calcmode="lin" valueType="num">
                                      <p:cBhvr additive="base">
                                        <p:cTn id="27" dur="500" fill="hold"/>
                                        <p:tgtEl>
                                          <p:spTgt spid="218117"/>
                                        </p:tgtEl>
                                        <p:attrNameLst>
                                          <p:attrName>ppt_x</p:attrName>
                                        </p:attrNameLst>
                                      </p:cBhvr>
                                      <p:tavLst>
                                        <p:tav tm="0">
                                          <p:val>
                                            <p:strVal val="0-#ppt_w/2"/>
                                          </p:val>
                                        </p:tav>
                                        <p:tav tm="100000">
                                          <p:val>
                                            <p:strVal val="#ppt_x"/>
                                          </p:val>
                                        </p:tav>
                                      </p:tavLst>
                                    </p:anim>
                                    <p:anim calcmode="lin" valueType="num">
                                      <p:cBhvr additive="base">
                                        <p:cTn id="28" dur="500" fill="hold"/>
                                        <p:tgtEl>
                                          <p:spTgt spid="218117"/>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18118"/>
                                        </p:tgtEl>
                                        <p:attrNameLst>
                                          <p:attrName>style.visibility</p:attrName>
                                        </p:attrNameLst>
                                      </p:cBhvr>
                                      <p:to>
                                        <p:strVal val="visible"/>
                                      </p:to>
                                    </p:set>
                                    <p:anim calcmode="lin" valueType="num">
                                      <p:cBhvr additive="base">
                                        <p:cTn id="33" dur="500" fill="hold"/>
                                        <p:tgtEl>
                                          <p:spTgt spid="218118"/>
                                        </p:tgtEl>
                                        <p:attrNameLst>
                                          <p:attrName>ppt_x</p:attrName>
                                        </p:attrNameLst>
                                      </p:cBhvr>
                                      <p:tavLst>
                                        <p:tav tm="0">
                                          <p:val>
                                            <p:strVal val="1+#ppt_w/2"/>
                                          </p:val>
                                        </p:tav>
                                        <p:tav tm="100000">
                                          <p:val>
                                            <p:strVal val="#ppt_x"/>
                                          </p:val>
                                        </p:tav>
                                      </p:tavLst>
                                    </p:anim>
                                    <p:anim calcmode="lin" valueType="num">
                                      <p:cBhvr additive="base">
                                        <p:cTn id="34" dur="500" fill="hold"/>
                                        <p:tgtEl>
                                          <p:spTgt spid="218118"/>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500"/>
                            </p:stCondLst>
                            <p:childTnLst>
                              <p:par>
                                <p:cTn id="36" presetID="2" presetClass="entr" presetSubtype="6" fill="hold" grpId="0" nodeType="afterEffect">
                                  <p:stCondLst>
                                    <p:cond delay="0"/>
                                  </p:stCondLst>
                                  <p:childTnLst>
                                    <p:set>
                                      <p:cBhvr>
                                        <p:cTn id="37" dur="1" fill="hold">
                                          <p:stCondLst>
                                            <p:cond delay="0"/>
                                          </p:stCondLst>
                                        </p:cTn>
                                        <p:tgtEl>
                                          <p:spTgt spid="218119"/>
                                        </p:tgtEl>
                                        <p:attrNameLst>
                                          <p:attrName>style.visibility</p:attrName>
                                        </p:attrNameLst>
                                      </p:cBhvr>
                                      <p:to>
                                        <p:strVal val="visible"/>
                                      </p:to>
                                    </p:set>
                                    <p:anim calcmode="lin" valueType="num">
                                      <p:cBhvr additive="base">
                                        <p:cTn id="38" dur="500" fill="hold"/>
                                        <p:tgtEl>
                                          <p:spTgt spid="218119"/>
                                        </p:tgtEl>
                                        <p:attrNameLst>
                                          <p:attrName>ppt_x</p:attrName>
                                        </p:attrNameLst>
                                      </p:cBhvr>
                                      <p:tavLst>
                                        <p:tav tm="0">
                                          <p:val>
                                            <p:strVal val="1+#ppt_w/2"/>
                                          </p:val>
                                        </p:tav>
                                        <p:tav tm="100000">
                                          <p:val>
                                            <p:strVal val="#ppt_x"/>
                                          </p:val>
                                        </p:tav>
                                      </p:tavLst>
                                    </p:anim>
                                    <p:anim calcmode="lin" valueType="num">
                                      <p:cBhvr additive="base">
                                        <p:cTn id="39" dur="500" fill="hold"/>
                                        <p:tgtEl>
                                          <p:spTgt spid="2181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autoUpdateAnimBg="0"/>
      <p:bldP spid="218115" grpId="0" autoUpdateAnimBg="0"/>
      <p:bldP spid="218116" grpId="0" autoUpdateAnimBg="0"/>
      <p:bldP spid="218117" grpId="0" autoUpdateAnimBg="0"/>
      <p:bldP spid="218118" grpId="0" autoUpdateAnimBg="0"/>
      <p:bldP spid="21811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Text Box 2"/>
          <p:cNvSpPr txBox="1">
            <a:spLocks noChangeArrowheads="1"/>
          </p:cNvSpPr>
          <p:nvPr/>
        </p:nvSpPr>
        <p:spPr bwMode="auto">
          <a:xfrm>
            <a:off x="1479550" y="292100"/>
            <a:ext cx="46561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CC3399"/>
                </a:solidFill>
                <a:latin typeface="Times New Roman" charset="0"/>
                <a:ea typeface="楷体_GB2312" charset="0"/>
              </a:rPr>
              <a:t>5.5</a:t>
            </a:r>
            <a:r>
              <a:rPr kumimoji="1" lang="en-US" altLang="zh-CN" sz="3600" b="1">
                <a:solidFill>
                  <a:srgbClr val="CC3399"/>
                </a:solidFill>
                <a:latin typeface="楷体_GB2312" charset="0"/>
                <a:ea typeface="楷体_GB2312" charset="0"/>
              </a:rPr>
              <a:t> </a:t>
            </a:r>
            <a:r>
              <a:rPr kumimoji="1" lang="zh-CN" altLang="en-US" sz="3600" b="1">
                <a:solidFill>
                  <a:srgbClr val="CC3399"/>
                </a:solidFill>
                <a:latin typeface="楷体_GB2312" charset="0"/>
                <a:ea typeface="楷体_GB2312" charset="0"/>
              </a:rPr>
              <a:t>广义表的表示方法</a:t>
            </a:r>
            <a:endParaRPr kumimoji="1" lang="zh-CN" altLang="en-US" sz="3600">
              <a:latin typeface="Times New Roman" charset="0"/>
            </a:endParaRPr>
          </a:p>
        </p:txBody>
      </p:sp>
      <p:sp>
        <p:nvSpPr>
          <p:cNvPr id="220163" name="Rectangle 3"/>
          <p:cNvSpPr>
            <a:spLocks noChangeArrowheads="1"/>
          </p:cNvSpPr>
          <p:nvPr/>
        </p:nvSpPr>
        <p:spPr bwMode="auto">
          <a:xfrm>
            <a:off x="685800" y="1905000"/>
            <a:ext cx="8007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a:solidFill>
                  <a:srgbClr val="0000FF"/>
                </a:solidFill>
                <a:latin typeface="楷体_GB2312" charset="0"/>
                <a:ea typeface="楷体_GB2312" charset="0"/>
              </a:rPr>
              <a:t>通常采用头、尾指针的链表结构</a:t>
            </a:r>
            <a:endParaRPr kumimoji="1" lang="zh-CN" altLang="en-US" sz="4400">
              <a:latin typeface="楷体_GB2312" charset="0"/>
              <a:ea typeface="楷体_GB2312" charset="0"/>
            </a:endParaRPr>
          </a:p>
        </p:txBody>
      </p:sp>
      <p:sp>
        <p:nvSpPr>
          <p:cNvPr id="220164" name="Rectangle 4"/>
          <p:cNvSpPr>
            <a:spLocks noChangeArrowheads="1"/>
          </p:cNvSpPr>
          <p:nvPr/>
        </p:nvSpPr>
        <p:spPr bwMode="auto">
          <a:xfrm>
            <a:off x="685800" y="3394075"/>
            <a:ext cx="3001963"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b="1">
                <a:solidFill>
                  <a:srgbClr val="FF0000"/>
                </a:solidFill>
                <a:latin typeface="楷体_GB2312" charset="0"/>
                <a:ea typeface="楷体_GB2312" charset="0"/>
              </a:rPr>
              <a:t>表结点</a:t>
            </a:r>
            <a:r>
              <a:rPr kumimoji="1" lang="en-US" altLang="zh-CN" sz="4400">
                <a:solidFill>
                  <a:srgbClr val="FF0000"/>
                </a:solidFill>
                <a:latin typeface="楷体_GB2312" charset="0"/>
                <a:ea typeface="楷体_GB2312" charset="0"/>
              </a:rPr>
              <a:t>:</a:t>
            </a:r>
          </a:p>
          <a:p>
            <a:pPr eaLnBrk="1" hangingPunct="1"/>
            <a:endParaRPr kumimoji="1" lang="en-US" altLang="zh-CN" sz="4400">
              <a:solidFill>
                <a:srgbClr val="FF0000"/>
              </a:solidFill>
              <a:latin typeface="楷体_GB2312" charset="0"/>
              <a:ea typeface="楷体_GB2312" charset="0"/>
            </a:endParaRPr>
          </a:p>
          <a:p>
            <a:pPr eaLnBrk="1" hangingPunct="1"/>
            <a:r>
              <a:rPr kumimoji="1" lang="zh-CN" altLang="en-US" sz="4400" b="1">
                <a:solidFill>
                  <a:srgbClr val="FF0000"/>
                </a:solidFill>
                <a:latin typeface="Times New Roman" charset="0"/>
                <a:ea typeface="楷体_GB2312" charset="0"/>
              </a:rPr>
              <a:t>原子结点：</a:t>
            </a:r>
          </a:p>
        </p:txBody>
      </p:sp>
      <p:sp>
        <p:nvSpPr>
          <p:cNvPr id="220165" name="Rectangle 5"/>
          <p:cNvSpPr>
            <a:spLocks noChangeArrowheads="1"/>
          </p:cNvSpPr>
          <p:nvPr/>
        </p:nvSpPr>
        <p:spPr bwMode="auto">
          <a:xfrm>
            <a:off x="3886200" y="3429000"/>
            <a:ext cx="3224213" cy="78105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0000FF"/>
                </a:solidFill>
                <a:latin typeface="Times New Roman" charset="0"/>
                <a:ea typeface="楷体_GB2312" charset="0"/>
              </a:rPr>
              <a:t>tag=1  hp  tp</a:t>
            </a:r>
            <a:endParaRPr kumimoji="1" lang="en-US" altLang="zh-CN" sz="4400">
              <a:latin typeface="Times New Roman" charset="0"/>
              <a:ea typeface="楷体_GB2312" charset="0"/>
            </a:endParaRPr>
          </a:p>
        </p:txBody>
      </p:sp>
      <p:sp>
        <p:nvSpPr>
          <p:cNvPr id="220166" name="Rectangle 6"/>
          <p:cNvSpPr>
            <a:spLocks noChangeArrowheads="1"/>
          </p:cNvSpPr>
          <p:nvPr/>
        </p:nvSpPr>
        <p:spPr bwMode="auto">
          <a:xfrm>
            <a:off x="3900488" y="4876800"/>
            <a:ext cx="2881312" cy="781050"/>
          </a:xfrm>
          <a:prstGeom prst="rect">
            <a:avLst/>
          </a:prstGeom>
          <a:solidFill>
            <a:srgbClr val="FFFF99"/>
          </a:solidFill>
          <a:ln w="1905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990033"/>
                </a:solidFill>
                <a:latin typeface="Times New Roman" charset="0"/>
                <a:ea typeface="楷体_GB2312" charset="0"/>
              </a:rPr>
              <a:t>tag=0  data</a:t>
            </a:r>
            <a:endParaRPr kumimoji="1" lang="en-US" altLang="zh-CN" sz="4400">
              <a:latin typeface="Times New Roman" charset="0"/>
              <a:ea typeface="楷体_GB2312" charset="0"/>
            </a:endParaRPr>
          </a:p>
        </p:txBody>
      </p:sp>
      <p:sp>
        <p:nvSpPr>
          <p:cNvPr id="220167" name="Line 7"/>
          <p:cNvSpPr>
            <a:spLocks noChangeShapeType="1"/>
          </p:cNvSpPr>
          <p:nvPr/>
        </p:nvSpPr>
        <p:spPr bwMode="auto">
          <a:xfrm>
            <a:off x="5424488" y="4876800"/>
            <a:ext cx="0" cy="838200"/>
          </a:xfrm>
          <a:prstGeom prst="line">
            <a:avLst/>
          </a:prstGeom>
          <a:noFill/>
          <a:ln w="9525">
            <a:solidFill>
              <a:srgbClr val="9900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0168" name="Line 8"/>
          <p:cNvSpPr>
            <a:spLocks noChangeShapeType="1"/>
          </p:cNvSpPr>
          <p:nvPr/>
        </p:nvSpPr>
        <p:spPr bwMode="auto">
          <a:xfrm>
            <a:off x="5410200" y="3429000"/>
            <a:ext cx="0" cy="8382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0169" name="Line 9"/>
          <p:cNvSpPr>
            <a:spLocks noChangeShapeType="1"/>
          </p:cNvSpPr>
          <p:nvPr/>
        </p:nvSpPr>
        <p:spPr bwMode="auto">
          <a:xfrm>
            <a:off x="6324600" y="3429000"/>
            <a:ext cx="0" cy="762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5593381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20162"/>
                                        </p:tgtEl>
                                        <p:attrNameLst>
                                          <p:attrName>style.visibility</p:attrName>
                                        </p:attrNameLst>
                                      </p:cBhvr>
                                      <p:to>
                                        <p:strVal val="visible"/>
                                      </p:to>
                                    </p:set>
                                    <p:anim calcmode="lin" valueType="num">
                                      <p:cBhvr additive="base">
                                        <p:cTn id="7" dur="500" fill="hold"/>
                                        <p:tgtEl>
                                          <p:spTgt spid="220162"/>
                                        </p:tgtEl>
                                        <p:attrNameLst>
                                          <p:attrName>ppt_x</p:attrName>
                                        </p:attrNameLst>
                                      </p:cBhvr>
                                      <p:tavLst>
                                        <p:tav tm="0">
                                          <p:val>
                                            <p:strVal val="#ppt_x"/>
                                          </p:val>
                                        </p:tav>
                                        <p:tav tm="100000">
                                          <p:val>
                                            <p:strVal val="#ppt_x"/>
                                          </p:val>
                                        </p:tav>
                                      </p:tavLst>
                                    </p:anim>
                                    <p:anim calcmode="lin" valueType="num">
                                      <p:cBhvr additive="base">
                                        <p:cTn id="8" dur="500" fill="hold"/>
                                        <p:tgtEl>
                                          <p:spTgt spid="2201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0163"/>
                                        </p:tgtEl>
                                        <p:attrNameLst>
                                          <p:attrName>style.visibility</p:attrName>
                                        </p:attrNameLst>
                                      </p:cBhvr>
                                      <p:to>
                                        <p:strVal val="visible"/>
                                      </p:to>
                                    </p:set>
                                    <p:anim calcmode="lin" valueType="num">
                                      <p:cBhvr additive="base">
                                        <p:cTn id="13" dur="500" fill="hold"/>
                                        <p:tgtEl>
                                          <p:spTgt spid="220163"/>
                                        </p:tgtEl>
                                        <p:attrNameLst>
                                          <p:attrName>ppt_x</p:attrName>
                                        </p:attrNameLst>
                                      </p:cBhvr>
                                      <p:tavLst>
                                        <p:tav tm="0">
                                          <p:val>
                                            <p:strVal val="0-#ppt_w/2"/>
                                          </p:val>
                                        </p:tav>
                                        <p:tav tm="100000">
                                          <p:val>
                                            <p:strVal val="#ppt_x"/>
                                          </p:val>
                                        </p:tav>
                                      </p:tavLst>
                                    </p:anim>
                                    <p:anim calcmode="lin" valueType="num">
                                      <p:cBhvr additive="base">
                                        <p:cTn id="14" dur="500" fill="hold"/>
                                        <p:tgtEl>
                                          <p:spTgt spid="22016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1" fill="hold" grpId="0" nodeType="clickEffect">
                                  <p:stCondLst>
                                    <p:cond delay="0"/>
                                  </p:stCondLst>
                                  <p:childTnLst>
                                    <p:set>
                                      <p:cBhvr>
                                        <p:cTn id="18" dur="1" fill="hold">
                                          <p:stCondLst>
                                            <p:cond delay="0"/>
                                          </p:stCondLst>
                                        </p:cTn>
                                        <p:tgtEl>
                                          <p:spTgt spid="220164"/>
                                        </p:tgtEl>
                                        <p:attrNameLst>
                                          <p:attrName>style.visibility</p:attrName>
                                        </p:attrNameLst>
                                      </p:cBhvr>
                                      <p:to>
                                        <p:strVal val="visible"/>
                                      </p:to>
                                    </p:set>
                                    <p:animEffect transition="in" filter="slide(fromTop)">
                                      <p:cBhvr>
                                        <p:cTn id="19" dur="500"/>
                                        <p:tgtEl>
                                          <p:spTgt spid="22016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20165"/>
                                        </p:tgtEl>
                                        <p:attrNameLst>
                                          <p:attrName>style.visibility</p:attrName>
                                        </p:attrNameLst>
                                      </p:cBhvr>
                                      <p:to>
                                        <p:strVal val="visible"/>
                                      </p:to>
                                    </p:set>
                                    <p:animEffect transition="in" filter="wipe(left)">
                                      <p:cBhvr>
                                        <p:cTn id="24" dur="500"/>
                                        <p:tgtEl>
                                          <p:spTgt spid="220165"/>
                                        </p:tgtEl>
                                      </p:cBhvr>
                                    </p:animEffect>
                                  </p:childTnLst>
                                </p:cTn>
                              </p:par>
                            </p:childTnLst>
                          </p:cTn>
                        </p:par>
                        <p:par>
                          <p:cTn id="25" fill="hold" nodeType="afterGroup">
                            <p:stCondLst>
                              <p:cond delay="500"/>
                            </p:stCondLst>
                            <p:childTnLst>
                              <p:par>
                                <p:cTn id="26" presetID="17" presetClass="entr" presetSubtype="1" fill="hold" grpId="0" nodeType="afterEffect">
                                  <p:stCondLst>
                                    <p:cond delay="0"/>
                                  </p:stCondLst>
                                  <p:childTnLst>
                                    <p:set>
                                      <p:cBhvr>
                                        <p:cTn id="27" dur="1" fill="hold">
                                          <p:stCondLst>
                                            <p:cond delay="0"/>
                                          </p:stCondLst>
                                        </p:cTn>
                                        <p:tgtEl>
                                          <p:spTgt spid="220168"/>
                                        </p:tgtEl>
                                        <p:attrNameLst>
                                          <p:attrName>style.visibility</p:attrName>
                                        </p:attrNameLst>
                                      </p:cBhvr>
                                      <p:to>
                                        <p:strVal val="visible"/>
                                      </p:to>
                                    </p:set>
                                    <p:anim calcmode="lin" valueType="num">
                                      <p:cBhvr>
                                        <p:cTn id="28" dur="500" fill="hold"/>
                                        <p:tgtEl>
                                          <p:spTgt spid="220168"/>
                                        </p:tgtEl>
                                        <p:attrNameLst>
                                          <p:attrName>ppt_x</p:attrName>
                                        </p:attrNameLst>
                                      </p:cBhvr>
                                      <p:tavLst>
                                        <p:tav tm="0">
                                          <p:val>
                                            <p:strVal val="#ppt_x"/>
                                          </p:val>
                                        </p:tav>
                                        <p:tav tm="100000">
                                          <p:val>
                                            <p:strVal val="#ppt_x"/>
                                          </p:val>
                                        </p:tav>
                                      </p:tavLst>
                                    </p:anim>
                                    <p:anim calcmode="lin" valueType="num">
                                      <p:cBhvr>
                                        <p:cTn id="29" dur="500" fill="hold"/>
                                        <p:tgtEl>
                                          <p:spTgt spid="220168"/>
                                        </p:tgtEl>
                                        <p:attrNameLst>
                                          <p:attrName>ppt_y</p:attrName>
                                        </p:attrNameLst>
                                      </p:cBhvr>
                                      <p:tavLst>
                                        <p:tav tm="0">
                                          <p:val>
                                            <p:strVal val="#ppt_y-#ppt_h/2"/>
                                          </p:val>
                                        </p:tav>
                                        <p:tav tm="100000">
                                          <p:val>
                                            <p:strVal val="#ppt_y"/>
                                          </p:val>
                                        </p:tav>
                                      </p:tavLst>
                                    </p:anim>
                                    <p:anim calcmode="lin" valueType="num">
                                      <p:cBhvr>
                                        <p:cTn id="30" dur="500" fill="hold"/>
                                        <p:tgtEl>
                                          <p:spTgt spid="220168"/>
                                        </p:tgtEl>
                                        <p:attrNameLst>
                                          <p:attrName>ppt_w</p:attrName>
                                        </p:attrNameLst>
                                      </p:cBhvr>
                                      <p:tavLst>
                                        <p:tav tm="0">
                                          <p:val>
                                            <p:strVal val="#ppt_w"/>
                                          </p:val>
                                        </p:tav>
                                        <p:tav tm="100000">
                                          <p:val>
                                            <p:strVal val="#ppt_w"/>
                                          </p:val>
                                        </p:tav>
                                      </p:tavLst>
                                    </p:anim>
                                    <p:anim calcmode="lin" valueType="num">
                                      <p:cBhvr>
                                        <p:cTn id="31" dur="500" fill="hold"/>
                                        <p:tgtEl>
                                          <p:spTgt spid="220168"/>
                                        </p:tgtEl>
                                        <p:attrNameLst>
                                          <p:attrName>ppt_h</p:attrName>
                                        </p:attrNameLst>
                                      </p:cBhvr>
                                      <p:tavLst>
                                        <p:tav tm="0">
                                          <p:val>
                                            <p:fltVal val="0"/>
                                          </p:val>
                                        </p:tav>
                                        <p:tav tm="100000">
                                          <p:val>
                                            <p:strVal val="#ppt_h"/>
                                          </p:val>
                                        </p:tav>
                                      </p:tavLst>
                                    </p:anim>
                                  </p:childTnLst>
                                </p:cTn>
                              </p:par>
                            </p:childTnLst>
                          </p:cTn>
                        </p:par>
                        <p:par>
                          <p:cTn id="32" fill="hold" nodeType="afterGroup">
                            <p:stCondLst>
                              <p:cond delay="1000"/>
                            </p:stCondLst>
                            <p:childTnLst>
                              <p:par>
                                <p:cTn id="33" presetID="17" presetClass="entr" presetSubtype="1" fill="hold" grpId="0" nodeType="afterEffect">
                                  <p:stCondLst>
                                    <p:cond delay="0"/>
                                  </p:stCondLst>
                                  <p:childTnLst>
                                    <p:set>
                                      <p:cBhvr>
                                        <p:cTn id="34" dur="1" fill="hold">
                                          <p:stCondLst>
                                            <p:cond delay="0"/>
                                          </p:stCondLst>
                                        </p:cTn>
                                        <p:tgtEl>
                                          <p:spTgt spid="220169"/>
                                        </p:tgtEl>
                                        <p:attrNameLst>
                                          <p:attrName>style.visibility</p:attrName>
                                        </p:attrNameLst>
                                      </p:cBhvr>
                                      <p:to>
                                        <p:strVal val="visible"/>
                                      </p:to>
                                    </p:set>
                                    <p:anim calcmode="lin" valueType="num">
                                      <p:cBhvr>
                                        <p:cTn id="35" dur="500" fill="hold"/>
                                        <p:tgtEl>
                                          <p:spTgt spid="220169"/>
                                        </p:tgtEl>
                                        <p:attrNameLst>
                                          <p:attrName>ppt_x</p:attrName>
                                        </p:attrNameLst>
                                      </p:cBhvr>
                                      <p:tavLst>
                                        <p:tav tm="0">
                                          <p:val>
                                            <p:strVal val="#ppt_x"/>
                                          </p:val>
                                        </p:tav>
                                        <p:tav tm="100000">
                                          <p:val>
                                            <p:strVal val="#ppt_x"/>
                                          </p:val>
                                        </p:tav>
                                      </p:tavLst>
                                    </p:anim>
                                    <p:anim calcmode="lin" valueType="num">
                                      <p:cBhvr>
                                        <p:cTn id="36" dur="500" fill="hold"/>
                                        <p:tgtEl>
                                          <p:spTgt spid="220169"/>
                                        </p:tgtEl>
                                        <p:attrNameLst>
                                          <p:attrName>ppt_y</p:attrName>
                                        </p:attrNameLst>
                                      </p:cBhvr>
                                      <p:tavLst>
                                        <p:tav tm="0">
                                          <p:val>
                                            <p:strVal val="#ppt_y-#ppt_h/2"/>
                                          </p:val>
                                        </p:tav>
                                        <p:tav tm="100000">
                                          <p:val>
                                            <p:strVal val="#ppt_y"/>
                                          </p:val>
                                        </p:tav>
                                      </p:tavLst>
                                    </p:anim>
                                    <p:anim calcmode="lin" valueType="num">
                                      <p:cBhvr>
                                        <p:cTn id="37" dur="500" fill="hold"/>
                                        <p:tgtEl>
                                          <p:spTgt spid="220169"/>
                                        </p:tgtEl>
                                        <p:attrNameLst>
                                          <p:attrName>ppt_w</p:attrName>
                                        </p:attrNameLst>
                                      </p:cBhvr>
                                      <p:tavLst>
                                        <p:tav tm="0">
                                          <p:val>
                                            <p:strVal val="#ppt_w"/>
                                          </p:val>
                                        </p:tav>
                                        <p:tav tm="100000">
                                          <p:val>
                                            <p:strVal val="#ppt_w"/>
                                          </p:val>
                                        </p:tav>
                                      </p:tavLst>
                                    </p:anim>
                                    <p:anim calcmode="lin" valueType="num">
                                      <p:cBhvr>
                                        <p:cTn id="38" dur="500" fill="hold"/>
                                        <p:tgtEl>
                                          <p:spTgt spid="220169"/>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20166"/>
                                        </p:tgtEl>
                                        <p:attrNameLst>
                                          <p:attrName>style.visibility</p:attrName>
                                        </p:attrNameLst>
                                      </p:cBhvr>
                                      <p:to>
                                        <p:strVal val="visible"/>
                                      </p:to>
                                    </p:set>
                                    <p:animEffect transition="in" filter="wipe(left)">
                                      <p:cBhvr>
                                        <p:cTn id="43" dur="500"/>
                                        <p:tgtEl>
                                          <p:spTgt spid="220166"/>
                                        </p:tgtEl>
                                      </p:cBhvr>
                                    </p:animEffect>
                                  </p:childTnLst>
                                </p:cTn>
                              </p:par>
                            </p:childTnLst>
                          </p:cTn>
                        </p:par>
                        <p:par>
                          <p:cTn id="44" fill="hold" nodeType="afterGroup">
                            <p:stCondLst>
                              <p:cond delay="500"/>
                            </p:stCondLst>
                            <p:childTnLst>
                              <p:par>
                                <p:cTn id="45" presetID="17" presetClass="entr" presetSubtype="1" fill="hold" grpId="0" nodeType="afterEffect">
                                  <p:stCondLst>
                                    <p:cond delay="0"/>
                                  </p:stCondLst>
                                  <p:childTnLst>
                                    <p:set>
                                      <p:cBhvr>
                                        <p:cTn id="46" dur="1" fill="hold">
                                          <p:stCondLst>
                                            <p:cond delay="0"/>
                                          </p:stCondLst>
                                        </p:cTn>
                                        <p:tgtEl>
                                          <p:spTgt spid="220167"/>
                                        </p:tgtEl>
                                        <p:attrNameLst>
                                          <p:attrName>style.visibility</p:attrName>
                                        </p:attrNameLst>
                                      </p:cBhvr>
                                      <p:to>
                                        <p:strVal val="visible"/>
                                      </p:to>
                                    </p:set>
                                    <p:anim calcmode="lin" valueType="num">
                                      <p:cBhvr>
                                        <p:cTn id="47" dur="500" fill="hold"/>
                                        <p:tgtEl>
                                          <p:spTgt spid="220167"/>
                                        </p:tgtEl>
                                        <p:attrNameLst>
                                          <p:attrName>ppt_x</p:attrName>
                                        </p:attrNameLst>
                                      </p:cBhvr>
                                      <p:tavLst>
                                        <p:tav tm="0">
                                          <p:val>
                                            <p:strVal val="#ppt_x"/>
                                          </p:val>
                                        </p:tav>
                                        <p:tav tm="100000">
                                          <p:val>
                                            <p:strVal val="#ppt_x"/>
                                          </p:val>
                                        </p:tav>
                                      </p:tavLst>
                                    </p:anim>
                                    <p:anim calcmode="lin" valueType="num">
                                      <p:cBhvr>
                                        <p:cTn id="48" dur="500" fill="hold"/>
                                        <p:tgtEl>
                                          <p:spTgt spid="220167"/>
                                        </p:tgtEl>
                                        <p:attrNameLst>
                                          <p:attrName>ppt_y</p:attrName>
                                        </p:attrNameLst>
                                      </p:cBhvr>
                                      <p:tavLst>
                                        <p:tav tm="0">
                                          <p:val>
                                            <p:strVal val="#ppt_y-#ppt_h/2"/>
                                          </p:val>
                                        </p:tav>
                                        <p:tav tm="100000">
                                          <p:val>
                                            <p:strVal val="#ppt_y"/>
                                          </p:val>
                                        </p:tav>
                                      </p:tavLst>
                                    </p:anim>
                                    <p:anim calcmode="lin" valueType="num">
                                      <p:cBhvr>
                                        <p:cTn id="49" dur="500" fill="hold"/>
                                        <p:tgtEl>
                                          <p:spTgt spid="220167"/>
                                        </p:tgtEl>
                                        <p:attrNameLst>
                                          <p:attrName>ppt_w</p:attrName>
                                        </p:attrNameLst>
                                      </p:cBhvr>
                                      <p:tavLst>
                                        <p:tav tm="0">
                                          <p:val>
                                            <p:strVal val="#ppt_w"/>
                                          </p:val>
                                        </p:tav>
                                        <p:tav tm="100000">
                                          <p:val>
                                            <p:strVal val="#ppt_w"/>
                                          </p:val>
                                        </p:tav>
                                      </p:tavLst>
                                    </p:anim>
                                    <p:anim calcmode="lin" valueType="num">
                                      <p:cBhvr>
                                        <p:cTn id="50" dur="500" fill="hold"/>
                                        <p:tgtEl>
                                          <p:spTgt spid="22016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2" grpId="0" autoUpdateAnimBg="0"/>
      <p:bldP spid="220163" grpId="0" autoUpdateAnimBg="0"/>
      <p:bldP spid="220164" grpId="0" autoUpdateAnimBg="0"/>
      <p:bldP spid="220165" grpId="0" animBg="1" autoUpdateAnimBg="0"/>
      <p:bldP spid="220166" grpId="0" animBg="1" autoUpdateAnimBg="0"/>
      <p:bldP spid="220167" grpId="0" animBg="1"/>
      <p:bldP spid="220168" grpId="0" animBg="1"/>
      <p:bldP spid="22016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p:cNvSpPr txBox="1">
            <a:spLocks noChangeArrowheads="1"/>
          </p:cNvSpPr>
          <p:nvPr/>
        </p:nvSpPr>
        <p:spPr bwMode="auto">
          <a:xfrm>
            <a:off x="107950" y="1219200"/>
            <a:ext cx="4794250"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0000"/>
              </a:lnSpc>
            </a:pPr>
            <a:r>
              <a:rPr kumimoji="1" lang="en-US" altLang="zh-CN" sz="3600">
                <a:solidFill>
                  <a:srgbClr val="0000FF"/>
                </a:solidFill>
                <a:latin typeface="Times New Roman" charset="0"/>
              </a:rPr>
              <a:t>1) </a:t>
            </a:r>
            <a:r>
              <a:rPr kumimoji="1" lang="zh-CN" altLang="en-US" sz="3600">
                <a:solidFill>
                  <a:srgbClr val="0000FF"/>
                </a:solidFill>
                <a:latin typeface="Times New Roman" charset="0"/>
              </a:rPr>
              <a:t>表头、表尾分析法：</a:t>
            </a:r>
            <a:endParaRPr kumimoji="1" lang="zh-CN" altLang="en-US" sz="4000">
              <a:latin typeface="楷体_GB2312" charset="0"/>
              <a:ea typeface="楷体_GB2312" charset="0"/>
            </a:endParaRPr>
          </a:p>
        </p:txBody>
      </p:sp>
      <p:sp>
        <p:nvSpPr>
          <p:cNvPr id="221187" name="Line 3"/>
          <p:cNvSpPr>
            <a:spLocks noChangeShapeType="1"/>
          </p:cNvSpPr>
          <p:nvPr/>
        </p:nvSpPr>
        <p:spPr bwMode="auto">
          <a:xfrm>
            <a:off x="2133600" y="3581400"/>
            <a:ext cx="990600" cy="0"/>
          </a:xfrm>
          <a:prstGeom prst="line">
            <a:avLst/>
          </a:prstGeom>
          <a:noFill/>
          <a:ln w="25400">
            <a:solidFill>
              <a:srgbClr val="9933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1188" name="Text Box 4"/>
          <p:cNvSpPr txBox="1">
            <a:spLocks noChangeArrowheads="1"/>
          </p:cNvSpPr>
          <p:nvPr/>
        </p:nvSpPr>
        <p:spPr bwMode="auto">
          <a:xfrm>
            <a:off x="1354138" y="228600"/>
            <a:ext cx="77501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400" b="1">
                <a:solidFill>
                  <a:srgbClr val="990033"/>
                </a:solidFill>
                <a:latin typeface="楷体_GB2312" charset="0"/>
                <a:ea typeface="楷体_GB2312" charset="0"/>
              </a:rPr>
              <a:t>构造存储结构的两种分析方法</a:t>
            </a:r>
            <a:r>
              <a:rPr kumimoji="1" lang="en-US" altLang="zh-CN" sz="4400" b="1">
                <a:solidFill>
                  <a:srgbClr val="990033"/>
                </a:solidFill>
                <a:latin typeface="楷体_GB2312" charset="0"/>
                <a:ea typeface="楷体_GB2312" charset="0"/>
              </a:rPr>
              <a:t>:</a:t>
            </a:r>
            <a:endParaRPr kumimoji="1" lang="en-US" altLang="zh-CN" sz="4400">
              <a:solidFill>
                <a:srgbClr val="CC3399"/>
              </a:solidFill>
              <a:latin typeface="Times New Roman" charset="0"/>
            </a:endParaRPr>
          </a:p>
        </p:txBody>
      </p:sp>
      <p:sp>
        <p:nvSpPr>
          <p:cNvPr id="221189" name="Text Box 5"/>
          <p:cNvSpPr txBox="1">
            <a:spLocks noChangeArrowheads="1"/>
          </p:cNvSpPr>
          <p:nvPr/>
        </p:nvSpPr>
        <p:spPr bwMode="auto">
          <a:xfrm>
            <a:off x="762000" y="4929188"/>
            <a:ext cx="4327525"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0000"/>
              </a:lnSpc>
            </a:pPr>
            <a:r>
              <a:rPr kumimoji="1" lang="zh-CN" altLang="en-US" sz="3600" b="1">
                <a:solidFill>
                  <a:srgbClr val="990033"/>
                </a:solidFill>
                <a:latin typeface="楷体_GB2312" charset="0"/>
                <a:ea typeface="楷体_GB2312" charset="0"/>
              </a:rPr>
              <a:t>若表头为原子，则为</a:t>
            </a:r>
            <a:endParaRPr kumimoji="1" lang="zh-CN" altLang="en-US" sz="4400">
              <a:latin typeface="Times New Roman" charset="0"/>
            </a:endParaRPr>
          </a:p>
        </p:txBody>
      </p:sp>
      <p:sp>
        <p:nvSpPr>
          <p:cNvPr id="221190" name="Text Box 6"/>
          <p:cNvSpPr txBox="1">
            <a:spLocks noChangeArrowheads="1"/>
          </p:cNvSpPr>
          <p:nvPr/>
        </p:nvSpPr>
        <p:spPr bwMode="auto">
          <a:xfrm>
            <a:off x="593725" y="2101850"/>
            <a:ext cx="3143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b="1">
                <a:solidFill>
                  <a:srgbClr val="9933FF"/>
                </a:solidFill>
                <a:latin typeface="Times New Roman" charset="0"/>
                <a:ea typeface="楷体_GB2312" charset="0"/>
              </a:rPr>
              <a:t>空表 </a:t>
            </a:r>
            <a:r>
              <a:rPr kumimoji="1" lang="zh-CN" altLang="en-US" sz="3600">
                <a:latin typeface="Times New Roman" charset="0"/>
                <a:ea typeface="楷体_GB2312" charset="0"/>
              </a:rPr>
              <a:t>     </a:t>
            </a:r>
            <a:r>
              <a:rPr kumimoji="1" lang="en-US" altLang="zh-CN" sz="3600" b="1" i="1">
                <a:solidFill>
                  <a:srgbClr val="9933FF"/>
                </a:solidFill>
                <a:latin typeface="Times New Roman" charset="0"/>
                <a:ea typeface="楷体_GB2312" charset="0"/>
              </a:rPr>
              <a:t>ls=NIL</a:t>
            </a:r>
            <a:endParaRPr kumimoji="1" lang="en-US" altLang="zh-CN" sz="3600">
              <a:latin typeface="Times New Roman" charset="0"/>
              <a:ea typeface="楷体_GB2312" charset="0"/>
            </a:endParaRPr>
          </a:p>
        </p:txBody>
      </p:sp>
      <p:sp>
        <p:nvSpPr>
          <p:cNvPr id="221191" name="Text Box 7"/>
          <p:cNvSpPr txBox="1">
            <a:spLocks noChangeArrowheads="1"/>
          </p:cNvSpPr>
          <p:nvPr/>
        </p:nvSpPr>
        <p:spPr bwMode="auto">
          <a:xfrm>
            <a:off x="593725" y="2940050"/>
            <a:ext cx="2098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b="1">
                <a:solidFill>
                  <a:srgbClr val="9933FF"/>
                </a:solidFill>
                <a:latin typeface="Times New Roman" charset="0"/>
                <a:ea typeface="楷体_GB2312" charset="0"/>
              </a:rPr>
              <a:t>非空表  </a:t>
            </a:r>
            <a:r>
              <a:rPr kumimoji="1" lang="en-US" altLang="zh-CN" sz="3600" b="1" i="1">
                <a:solidFill>
                  <a:srgbClr val="9933FF"/>
                </a:solidFill>
                <a:latin typeface="Times New Roman" charset="0"/>
                <a:ea typeface="楷体_GB2312" charset="0"/>
              </a:rPr>
              <a:t>ls</a:t>
            </a:r>
            <a:endParaRPr kumimoji="1" lang="en-US" altLang="zh-CN" sz="3600">
              <a:latin typeface="Times New Roman" charset="0"/>
              <a:ea typeface="楷体_GB2312" charset="0"/>
            </a:endParaRPr>
          </a:p>
        </p:txBody>
      </p:sp>
      <p:sp>
        <p:nvSpPr>
          <p:cNvPr id="221192" name="Rectangle 8"/>
          <p:cNvSpPr>
            <a:spLocks noChangeArrowheads="1"/>
          </p:cNvSpPr>
          <p:nvPr/>
        </p:nvSpPr>
        <p:spPr bwMode="auto">
          <a:xfrm>
            <a:off x="3124200" y="3200400"/>
            <a:ext cx="267335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tag=1            </a:t>
            </a:r>
            <a:endParaRPr kumimoji="1" lang="en-US" altLang="zh-CN" sz="4400">
              <a:latin typeface="Times New Roman" charset="0"/>
              <a:ea typeface="楷体_GB2312" charset="0"/>
            </a:endParaRPr>
          </a:p>
        </p:txBody>
      </p:sp>
      <p:sp>
        <p:nvSpPr>
          <p:cNvPr id="221193" name="Line 9"/>
          <p:cNvSpPr>
            <a:spLocks noChangeShapeType="1"/>
          </p:cNvSpPr>
          <p:nvPr/>
        </p:nvSpPr>
        <p:spPr bwMode="auto">
          <a:xfrm>
            <a:off x="4419600" y="32004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1194" name="Line 10"/>
          <p:cNvSpPr>
            <a:spLocks noChangeShapeType="1"/>
          </p:cNvSpPr>
          <p:nvPr/>
        </p:nvSpPr>
        <p:spPr bwMode="auto">
          <a:xfrm>
            <a:off x="5105400" y="32004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1195" name="Line 11"/>
          <p:cNvSpPr>
            <a:spLocks noChangeShapeType="1"/>
          </p:cNvSpPr>
          <p:nvPr/>
        </p:nvSpPr>
        <p:spPr bwMode="auto">
          <a:xfrm>
            <a:off x="4724400" y="3581400"/>
            <a:ext cx="0" cy="53340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1196" name="Line 12"/>
          <p:cNvSpPr>
            <a:spLocks noChangeShapeType="1"/>
          </p:cNvSpPr>
          <p:nvPr/>
        </p:nvSpPr>
        <p:spPr bwMode="auto">
          <a:xfrm>
            <a:off x="5486400" y="3581400"/>
            <a:ext cx="609600"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1197" name="Text Box 13"/>
          <p:cNvSpPr txBox="1">
            <a:spLocks noChangeArrowheads="1"/>
          </p:cNvSpPr>
          <p:nvPr/>
        </p:nvSpPr>
        <p:spPr bwMode="auto">
          <a:xfrm>
            <a:off x="3733800" y="3930650"/>
            <a:ext cx="338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solidFill>
                  <a:srgbClr val="0000FF"/>
                </a:solidFill>
                <a:latin typeface="Times New Roman" charset="0"/>
                <a:ea typeface="隶书" charset="0"/>
              </a:rPr>
              <a:t>指向表头的指针</a:t>
            </a:r>
            <a:endParaRPr kumimoji="1" lang="zh-CN" altLang="en-US" sz="3600">
              <a:latin typeface="Times New Roman" charset="0"/>
              <a:ea typeface="隶书" charset="0"/>
            </a:endParaRPr>
          </a:p>
        </p:txBody>
      </p:sp>
      <p:sp>
        <p:nvSpPr>
          <p:cNvPr id="221198" name="Text Box 14"/>
          <p:cNvSpPr txBox="1">
            <a:spLocks noChangeArrowheads="1"/>
          </p:cNvSpPr>
          <p:nvPr/>
        </p:nvSpPr>
        <p:spPr bwMode="auto">
          <a:xfrm>
            <a:off x="5791200" y="2971800"/>
            <a:ext cx="338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solidFill>
                  <a:srgbClr val="0000FF"/>
                </a:solidFill>
                <a:latin typeface="Times New Roman" charset="0"/>
                <a:ea typeface="隶书" charset="0"/>
              </a:rPr>
              <a:t>指向表尾的指针</a:t>
            </a:r>
            <a:endParaRPr kumimoji="1" lang="zh-CN" altLang="en-US" sz="3600">
              <a:latin typeface="Times New Roman" charset="0"/>
              <a:ea typeface="隶书" charset="0"/>
            </a:endParaRPr>
          </a:p>
        </p:txBody>
      </p:sp>
      <p:sp>
        <p:nvSpPr>
          <p:cNvPr id="221199" name="Rectangle 15"/>
          <p:cNvSpPr>
            <a:spLocks noChangeArrowheads="1"/>
          </p:cNvSpPr>
          <p:nvPr/>
        </p:nvSpPr>
        <p:spPr bwMode="auto">
          <a:xfrm>
            <a:off x="5181600" y="4973638"/>
            <a:ext cx="2393950" cy="660400"/>
          </a:xfrm>
          <a:prstGeom prst="rect">
            <a:avLst/>
          </a:prstGeom>
          <a:solidFill>
            <a:srgbClr val="FFFF99"/>
          </a:solidFill>
          <a:ln w="1905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990033"/>
                </a:solidFill>
                <a:latin typeface="Times New Roman" charset="0"/>
                <a:ea typeface="楷体_GB2312" charset="0"/>
              </a:rPr>
              <a:t>tag=0  data</a:t>
            </a:r>
            <a:endParaRPr kumimoji="1" lang="en-US" altLang="zh-CN" sz="4400">
              <a:latin typeface="Times New Roman" charset="0"/>
              <a:ea typeface="楷体_GB2312" charset="0"/>
            </a:endParaRPr>
          </a:p>
        </p:txBody>
      </p:sp>
      <p:sp>
        <p:nvSpPr>
          <p:cNvPr id="221200" name="Line 16"/>
          <p:cNvSpPr>
            <a:spLocks noChangeShapeType="1"/>
          </p:cNvSpPr>
          <p:nvPr/>
        </p:nvSpPr>
        <p:spPr bwMode="auto">
          <a:xfrm>
            <a:off x="6477000" y="4953000"/>
            <a:ext cx="0" cy="685800"/>
          </a:xfrm>
          <a:prstGeom prst="line">
            <a:avLst/>
          </a:prstGeom>
          <a:noFill/>
          <a:ln w="9525">
            <a:solidFill>
              <a:srgbClr val="9900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1201" name="Rectangle 17"/>
          <p:cNvSpPr>
            <a:spLocks noChangeArrowheads="1"/>
          </p:cNvSpPr>
          <p:nvPr/>
        </p:nvSpPr>
        <p:spPr bwMode="auto">
          <a:xfrm>
            <a:off x="762000" y="5791200"/>
            <a:ext cx="386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b="1">
                <a:solidFill>
                  <a:srgbClr val="0000FF"/>
                </a:solidFill>
                <a:latin typeface="楷体_GB2312" charset="0"/>
                <a:ea typeface="楷体_GB2312" charset="0"/>
              </a:rPr>
              <a:t>否则，依次类推。</a:t>
            </a:r>
          </a:p>
        </p:txBody>
      </p:sp>
      <p:sp>
        <p:nvSpPr>
          <p:cNvPr id="221202" name="AutoShape 18">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Tree>
    <p:extLst>
      <p:ext uri="{BB962C8B-B14F-4D97-AF65-F5344CB8AC3E}">
        <p14:creationId xmlns:p14="http://schemas.microsoft.com/office/powerpoint/2010/main" val="20533427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21188"/>
                                        </p:tgtEl>
                                        <p:attrNameLst>
                                          <p:attrName>style.visibility</p:attrName>
                                        </p:attrNameLst>
                                      </p:cBhvr>
                                      <p:to>
                                        <p:strVal val="visible"/>
                                      </p:to>
                                    </p:set>
                                    <p:anim calcmode="lin" valueType="num">
                                      <p:cBhvr additive="base">
                                        <p:cTn id="7" dur="500" fill="hold"/>
                                        <p:tgtEl>
                                          <p:spTgt spid="221188"/>
                                        </p:tgtEl>
                                        <p:attrNameLst>
                                          <p:attrName>ppt_x</p:attrName>
                                        </p:attrNameLst>
                                      </p:cBhvr>
                                      <p:tavLst>
                                        <p:tav tm="0">
                                          <p:val>
                                            <p:strVal val="#ppt_x"/>
                                          </p:val>
                                        </p:tav>
                                        <p:tav tm="100000">
                                          <p:val>
                                            <p:strVal val="#ppt_x"/>
                                          </p:val>
                                        </p:tav>
                                      </p:tavLst>
                                    </p:anim>
                                    <p:anim calcmode="lin" valueType="num">
                                      <p:cBhvr additive="base">
                                        <p:cTn id="8" dur="500" fill="hold"/>
                                        <p:tgtEl>
                                          <p:spTgt spid="22118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1186"/>
                                        </p:tgtEl>
                                        <p:attrNameLst>
                                          <p:attrName>style.visibility</p:attrName>
                                        </p:attrNameLst>
                                      </p:cBhvr>
                                      <p:to>
                                        <p:strVal val="visible"/>
                                      </p:to>
                                    </p:set>
                                    <p:anim calcmode="lin" valueType="num">
                                      <p:cBhvr additive="base">
                                        <p:cTn id="13" dur="500" fill="hold"/>
                                        <p:tgtEl>
                                          <p:spTgt spid="221186"/>
                                        </p:tgtEl>
                                        <p:attrNameLst>
                                          <p:attrName>ppt_x</p:attrName>
                                        </p:attrNameLst>
                                      </p:cBhvr>
                                      <p:tavLst>
                                        <p:tav tm="0">
                                          <p:val>
                                            <p:strVal val="0-#ppt_w/2"/>
                                          </p:val>
                                        </p:tav>
                                        <p:tav tm="100000">
                                          <p:val>
                                            <p:strVal val="#ppt_x"/>
                                          </p:val>
                                        </p:tav>
                                      </p:tavLst>
                                    </p:anim>
                                    <p:anim calcmode="lin" valueType="num">
                                      <p:cBhvr additive="base">
                                        <p:cTn id="14" dur="500" fill="hold"/>
                                        <p:tgtEl>
                                          <p:spTgt spid="22118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1190"/>
                                        </p:tgtEl>
                                        <p:attrNameLst>
                                          <p:attrName>style.visibility</p:attrName>
                                        </p:attrNameLst>
                                      </p:cBhvr>
                                      <p:to>
                                        <p:strVal val="visible"/>
                                      </p:to>
                                    </p:set>
                                    <p:anim calcmode="lin" valueType="num">
                                      <p:cBhvr additive="base">
                                        <p:cTn id="19" dur="500" fill="hold"/>
                                        <p:tgtEl>
                                          <p:spTgt spid="221190"/>
                                        </p:tgtEl>
                                        <p:attrNameLst>
                                          <p:attrName>ppt_x</p:attrName>
                                        </p:attrNameLst>
                                      </p:cBhvr>
                                      <p:tavLst>
                                        <p:tav tm="0">
                                          <p:val>
                                            <p:strVal val="0-#ppt_w/2"/>
                                          </p:val>
                                        </p:tav>
                                        <p:tav tm="100000">
                                          <p:val>
                                            <p:strVal val="#ppt_x"/>
                                          </p:val>
                                        </p:tav>
                                      </p:tavLst>
                                    </p:anim>
                                    <p:anim calcmode="lin" valueType="num">
                                      <p:cBhvr additive="base">
                                        <p:cTn id="20" dur="500" fill="hold"/>
                                        <p:tgtEl>
                                          <p:spTgt spid="22119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1191"/>
                                        </p:tgtEl>
                                        <p:attrNameLst>
                                          <p:attrName>style.visibility</p:attrName>
                                        </p:attrNameLst>
                                      </p:cBhvr>
                                      <p:to>
                                        <p:strVal val="visible"/>
                                      </p:to>
                                    </p:set>
                                    <p:anim calcmode="lin" valueType="num">
                                      <p:cBhvr additive="base">
                                        <p:cTn id="25" dur="500" fill="hold"/>
                                        <p:tgtEl>
                                          <p:spTgt spid="221191"/>
                                        </p:tgtEl>
                                        <p:attrNameLst>
                                          <p:attrName>ppt_x</p:attrName>
                                        </p:attrNameLst>
                                      </p:cBhvr>
                                      <p:tavLst>
                                        <p:tav tm="0">
                                          <p:val>
                                            <p:strVal val="0-#ppt_w/2"/>
                                          </p:val>
                                        </p:tav>
                                        <p:tav tm="100000">
                                          <p:val>
                                            <p:strVal val="#ppt_x"/>
                                          </p:val>
                                        </p:tav>
                                      </p:tavLst>
                                    </p:anim>
                                    <p:anim calcmode="lin" valueType="num">
                                      <p:cBhvr additive="base">
                                        <p:cTn id="26" dur="500" fill="hold"/>
                                        <p:tgtEl>
                                          <p:spTgt spid="22119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221187"/>
                                        </p:tgtEl>
                                        <p:attrNameLst>
                                          <p:attrName>style.visibility</p:attrName>
                                        </p:attrNameLst>
                                      </p:cBhvr>
                                      <p:to>
                                        <p:strVal val="visible"/>
                                      </p:to>
                                    </p:set>
                                    <p:anim calcmode="lin" valueType="num">
                                      <p:cBhvr>
                                        <p:cTn id="31" dur="500" fill="hold"/>
                                        <p:tgtEl>
                                          <p:spTgt spid="221187"/>
                                        </p:tgtEl>
                                        <p:attrNameLst>
                                          <p:attrName>ppt_x</p:attrName>
                                        </p:attrNameLst>
                                      </p:cBhvr>
                                      <p:tavLst>
                                        <p:tav tm="0">
                                          <p:val>
                                            <p:strVal val="#ppt_x-#ppt_w/2"/>
                                          </p:val>
                                        </p:tav>
                                        <p:tav tm="100000">
                                          <p:val>
                                            <p:strVal val="#ppt_x"/>
                                          </p:val>
                                        </p:tav>
                                      </p:tavLst>
                                    </p:anim>
                                    <p:anim calcmode="lin" valueType="num">
                                      <p:cBhvr>
                                        <p:cTn id="32" dur="500" fill="hold"/>
                                        <p:tgtEl>
                                          <p:spTgt spid="221187"/>
                                        </p:tgtEl>
                                        <p:attrNameLst>
                                          <p:attrName>ppt_y</p:attrName>
                                        </p:attrNameLst>
                                      </p:cBhvr>
                                      <p:tavLst>
                                        <p:tav tm="0">
                                          <p:val>
                                            <p:strVal val="#ppt_y"/>
                                          </p:val>
                                        </p:tav>
                                        <p:tav tm="100000">
                                          <p:val>
                                            <p:strVal val="#ppt_y"/>
                                          </p:val>
                                        </p:tav>
                                      </p:tavLst>
                                    </p:anim>
                                    <p:anim calcmode="lin" valueType="num">
                                      <p:cBhvr>
                                        <p:cTn id="33" dur="500" fill="hold"/>
                                        <p:tgtEl>
                                          <p:spTgt spid="221187"/>
                                        </p:tgtEl>
                                        <p:attrNameLst>
                                          <p:attrName>ppt_w</p:attrName>
                                        </p:attrNameLst>
                                      </p:cBhvr>
                                      <p:tavLst>
                                        <p:tav tm="0">
                                          <p:val>
                                            <p:fltVal val="0"/>
                                          </p:val>
                                        </p:tav>
                                        <p:tav tm="100000">
                                          <p:val>
                                            <p:strVal val="#ppt_w"/>
                                          </p:val>
                                        </p:tav>
                                      </p:tavLst>
                                    </p:anim>
                                    <p:anim calcmode="lin" valueType="num">
                                      <p:cBhvr>
                                        <p:cTn id="34" dur="500" fill="hold"/>
                                        <p:tgtEl>
                                          <p:spTgt spid="221187"/>
                                        </p:tgtEl>
                                        <p:attrNameLst>
                                          <p:attrName>ppt_h</p:attrName>
                                        </p:attrNameLst>
                                      </p:cBhvr>
                                      <p:tavLst>
                                        <p:tav tm="0">
                                          <p:val>
                                            <p:strVal val="#ppt_h"/>
                                          </p:val>
                                        </p:tav>
                                        <p:tav tm="100000">
                                          <p:val>
                                            <p:strVal val="#ppt_h"/>
                                          </p:val>
                                        </p:tav>
                                      </p:tavLst>
                                    </p:anim>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21192"/>
                                        </p:tgtEl>
                                        <p:attrNameLst>
                                          <p:attrName>style.visibility</p:attrName>
                                        </p:attrNameLst>
                                      </p:cBhvr>
                                      <p:to>
                                        <p:strVal val="visible"/>
                                      </p:to>
                                    </p:set>
                                    <p:animEffect transition="in" filter="wipe(left)">
                                      <p:cBhvr>
                                        <p:cTn id="38" dur="500"/>
                                        <p:tgtEl>
                                          <p:spTgt spid="221192"/>
                                        </p:tgtEl>
                                      </p:cBhvr>
                                    </p:animEffect>
                                  </p:childTnLst>
                                </p:cTn>
                              </p:par>
                            </p:childTnLst>
                          </p:cTn>
                        </p:par>
                        <p:par>
                          <p:cTn id="39" fill="hold" nodeType="afterGroup">
                            <p:stCondLst>
                              <p:cond delay="1000"/>
                            </p:stCondLst>
                            <p:childTnLst>
                              <p:par>
                                <p:cTn id="40" presetID="17" presetClass="entr" presetSubtype="1" fill="hold" grpId="0" nodeType="afterEffect">
                                  <p:stCondLst>
                                    <p:cond delay="0"/>
                                  </p:stCondLst>
                                  <p:childTnLst>
                                    <p:set>
                                      <p:cBhvr>
                                        <p:cTn id="41" dur="1" fill="hold">
                                          <p:stCondLst>
                                            <p:cond delay="0"/>
                                          </p:stCondLst>
                                        </p:cTn>
                                        <p:tgtEl>
                                          <p:spTgt spid="221193"/>
                                        </p:tgtEl>
                                        <p:attrNameLst>
                                          <p:attrName>style.visibility</p:attrName>
                                        </p:attrNameLst>
                                      </p:cBhvr>
                                      <p:to>
                                        <p:strVal val="visible"/>
                                      </p:to>
                                    </p:set>
                                    <p:anim calcmode="lin" valueType="num">
                                      <p:cBhvr>
                                        <p:cTn id="42" dur="500" fill="hold"/>
                                        <p:tgtEl>
                                          <p:spTgt spid="221193"/>
                                        </p:tgtEl>
                                        <p:attrNameLst>
                                          <p:attrName>ppt_x</p:attrName>
                                        </p:attrNameLst>
                                      </p:cBhvr>
                                      <p:tavLst>
                                        <p:tav tm="0">
                                          <p:val>
                                            <p:strVal val="#ppt_x"/>
                                          </p:val>
                                        </p:tav>
                                        <p:tav tm="100000">
                                          <p:val>
                                            <p:strVal val="#ppt_x"/>
                                          </p:val>
                                        </p:tav>
                                      </p:tavLst>
                                    </p:anim>
                                    <p:anim calcmode="lin" valueType="num">
                                      <p:cBhvr>
                                        <p:cTn id="43" dur="500" fill="hold"/>
                                        <p:tgtEl>
                                          <p:spTgt spid="221193"/>
                                        </p:tgtEl>
                                        <p:attrNameLst>
                                          <p:attrName>ppt_y</p:attrName>
                                        </p:attrNameLst>
                                      </p:cBhvr>
                                      <p:tavLst>
                                        <p:tav tm="0">
                                          <p:val>
                                            <p:strVal val="#ppt_y-#ppt_h/2"/>
                                          </p:val>
                                        </p:tav>
                                        <p:tav tm="100000">
                                          <p:val>
                                            <p:strVal val="#ppt_y"/>
                                          </p:val>
                                        </p:tav>
                                      </p:tavLst>
                                    </p:anim>
                                    <p:anim calcmode="lin" valueType="num">
                                      <p:cBhvr>
                                        <p:cTn id="44" dur="500" fill="hold"/>
                                        <p:tgtEl>
                                          <p:spTgt spid="221193"/>
                                        </p:tgtEl>
                                        <p:attrNameLst>
                                          <p:attrName>ppt_w</p:attrName>
                                        </p:attrNameLst>
                                      </p:cBhvr>
                                      <p:tavLst>
                                        <p:tav tm="0">
                                          <p:val>
                                            <p:strVal val="#ppt_w"/>
                                          </p:val>
                                        </p:tav>
                                        <p:tav tm="100000">
                                          <p:val>
                                            <p:strVal val="#ppt_w"/>
                                          </p:val>
                                        </p:tav>
                                      </p:tavLst>
                                    </p:anim>
                                    <p:anim calcmode="lin" valueType="num">
                                      <p:cBhvr>
                                        <p:cTn id="45" dur="500" fill="hold"/>
                                        <p:tgtEl>
                                          <p:spTgt spid="221193"/>
                                        </p:tgtEl>
                                        <p:attrNameLst>
                                          <p:attrName>ppt_h</p:attrName>
                                        </p:attrNameLst>
                                      </p:cBhvr>
                                      <p:tavLst>
                                        <p:tav tm="0">
                                          <p:val>
                                            <p:fltVal val="0"/>
                                          </p:val>
                                        </p:tav>
                                        <p:tav tm="100000">
                                          <p:val>
                                            <p:strVal val="#ppt_h"/>
                                          </p:val>
                                        </p:tav>
                                      </p:tavLst>
                                    </p:anim>
                                  </p:childTnLst>
                                </p:cTn>
                              </p:par>
                            </p:childTnLst>
                          </p:cTn>
                        </p:par>
                        <p:par>
                          <p:cTn id="46" fill="hold" nodeType="afterGroup">
                            <p:stCondLst>
                              <p:cond delay="1500"/>
                            </p:stCondLst>
                            <p:childTnLst>
                              <p:par>
                                <p:cTn id="47" presetID="17" presetClass="entr" presetSubtype="1" fill="hold" grpId="0" nodeType="afterEffect">
                                  <p:stCondLst>
                                    <p:cond delay="0"/>
                                  </p:stCondLst>
                                  <p:childTnLst>
                                    <p:set>
                                      <p:cBhvr>
                                        <p:cTn id="48" dur="1" fill="hold">
                                          <p:stCondLst>
                                            <p:cond delay="0"/>
                                          </p:stCondLst>
                                        </p:cTn>
                                        <p:tgtEl>
                                          <p:spTgt spid="221194"/>
                                        </p:tgtEl>
                                        <p:attrNameLst>
                                          <p:attrName>style.visibility</p:attrName>
                                        </p:attrNameLst>
                                      </p:cBhvr>
                                      <p:to>
                                        <p:strVal val="visible"/>
                                      </p:to>
                                    </p:set>
                                    <p:anim calcmode="lin" valueType="num">
                                      <p:cBhvr>
                                        <p:cTn id="49" dur="500" fill="hold"/>
                                        <p:tgtEl>
                                          <p:spTgt spid="221194"/>
                                        </p:tgtEl>
                                        <p:attrNameLst>
                                          <p:attrName>ppt_x</p:attrName>
                                        </p:attrNameLst>
                                      </p:cBhvr>
                                      <p:tavLst>
                                        <p:tav tm="0">
                                          <p:val>
                                            <p:strVal val="#ppt_x"/>
                                          </p:val>
                                        </p:tav>
                                        <p:tav tm="100000">
                                          <p:val>
                                            <p:strVal val="#ppt_x"/>
                                          </p:val>
                                        </p:tav>
                                      </p:tavLst>
                                    </p:anim>
                                    <p:anim calcmode="lin" valueType="num">
                                      <p:cBhvr>
                                        <p:cTn id="50" dur="500" fill="hold"/>
                                        <p:tgtEl>
                                          <p:spTgt spid="221194"/>
                                        </p:tgtEl>
                                        <p:attrNameLst>
                                          <p:attrName>ppt_y</p:attrName>
                                        </p:attrNameLst>
                                      </p:cBhvr>
                                      <p:tavLst>
                                        <p:tav tm="0">
                                          <p:val>
                                            <p:strVal val="#ppt_y-#ppt_h/2"/>
                                          </p:val>
                                        </p:tav>
                                        <p:tav tm="100000">
                                          <p:val>
                                            <p:strVal val="#ppt_y"/>
                                          </p:val>
                                        </p:tav>
                                      </p:tavLst>
                                    </p:anim>
                                    <p:anim calcmode="lin" valueType="num">
                                      <p:cBhvr>
                                        <p:cTn id="51" dur="500" fill="hold"/>
                                        <p:tgtEl>
                                          <p:spTgt spid="221194"/>
                                        </p:tgtEl>
                                        <p:attrNameLst>
                                          <p:attrName>ppt_w</p:attrName>
                                        </p:attrNameLst>
                                      </p:cBhvr>
                                      <p:tavLst>
                                        <p:tav tm="0">
                                          <p:val>
                                            <p:strVal val="#ppt_w"/>
                                          </p:val>
                                        </p:tav>
                                        <p:tav tm="100000">
                                          <p:val>
                                            <p:strVal val="#ppt_w"/>
                                          </p:val>
                                        </p:tav>
                                      </p:tavLst>
                                    </p:anim>
                                    <p:anim calcmode="lin" valueType="num">
                                      <p:cBhvr>
                                        <p:cTn id="52" dur="500" fill="hold"/>
                                        <p:tgtEl>
                                          <p:spTgt spid="221194"/>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21195"/>
                                        </p:tgtEl>
                                        <p:attrNameLst>
                                          <p:attrName>style.visibility</p:attrName>
                                        </p:attrNameLst>
                                      </p:cBhvr>
                                      <p:to>
                                        <p:strVal val="visible"/>
                                      </p:to>
                                    </p:set>
                                    <p:animEffect transition="in" filter="wipe(up)">
                                      <p:cBhvr>
                                        <p:cTn id="57" dur="500"/>
                                        <p:tgtEl>
                                          <p:spTgt spid="221195"/>
                                        </p:tgtEl>
                                      </p:cBhvr>
                                    </p:animEffect>
                                  </p:childTnLst>
                                </p:cTn>
                              </p:par>
                            </p:childTnLst>
                          </p:cTn>
                        </p:par>
                        <p:par>
                          <p:cTn id="58" fill="hold" nodeType="afterGroup">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221197"/>
                                        </p:tgtEl>
                                        <p:attrNameLst>
                                          <p:attrName>style.visibility</p:attrName>
                                        </p:attrNameLst>
                                      </p:cBhvr>
                                      <p:to>
                                        <p:strVal val="visible"/>
                                      </p:to>
                                    </p:set>
                                    <p:animEffect transition="in" filter="wipe(left)">
                                      <p:cBhvr>
                                        <p:cTn id="61" dur="500"/>
                                        <p:tgtEl>
                                          <p:spTgt spid="22119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1196"/>
                                        </p:tgtEl>
                                        <p:attrNameLst>
                                          <p:attrName>style.visibility</p:attrName>
                                        </p:attrNameLst>
                                      </p:cBhvr>
                                      <p:to>
                                        <p:strVal val="visible"/>
                                      </p:to>
                                    </p:set>
                                    <p:animEffect transition="in" filter="wipe(left)">
                                      <p:cBhvr>
                                        <p:cTn id="66" dur="500"/>
                                        <p:tgtEl>
                                          <p:spTgt spid="221196"/>
                                        </p:tgtEl>
                                      </p:cBhvr>
                                    </p:animEffect>
                                  </p:childTnLst>
                                </p:cTn>
                              </p:par>
                            </p:childTnLst>
                          </p:cTn>
                        </p:par>
                        <p:par>
                          <p:cTn id="67" fill="hold" nodeType="afterGroup">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221198"/>
                                        </p:tgtEl>
                                        <p:attrNameLst>
                                          <p:attrName>style.visibility</p:attrName>
                                        </p:attrNameLst>
                                      </p:cBhvr>
                                      <p:to>
                                        <p:strVal val="visible"/>
                                      </p:to>
                                    </p:set>
                                    <p:animEffect transition="in" filter="wipe(left)">
                                      <p:cBhvr>
                                        <p:cTn id="70" dur="500"/>
                                        <p:tgtEl>
                                          <p:spTgt spid="22119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21189"/>
                                        </p:tgtEl>
                                        <p:attrNameLst>
                                          <p:attrName>style.visibility</p:attrName>
                                        </p:attrNameLst>
                                      </p:cBhvr>
                                      <p:to>
                                        <p:strVal val="visible"/>
                                      </p:to>
                                    </p:set>
                                    <p:animEffect transition="in" filter="wipe(left)">
                                      <p:cBhvr>
                                        <p:cTn id="75" dur="500"/>
                                        <p:tgtEl>
                                          <p:spTgt spid="221189"/>
                                        </p:tgtEl>
                                      </p:cBhvr>
                                    </p:animEffect>
                                  </p:childTnLst>
                                </p:cTn>
                              </p:par>
                            </p:childTnLst>
                          </p:cTn>
                        </p:par>
                        <p:par>
                          <p:cTn id="76" fill="hold" nodeType="afterGroup">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221199"/>
                                        </p:tgtEl>
                                        <p:attrNameLst>
                                          <p:attrName>style.visibility</p:attrName>
                                        </p:attrNameLst>
                                      </p:cBhvr>
                                      <p:to>
                                        <p:strVal val="visible"/>
                                      </p:to>
                                    </p:set>
                                    <p:animEffect transition="in" filter="wipe(left)">
                                      <p:cBhvr>
                                        <p:cTn id="79" dur="500"/>
                                        <p:tgtEl>
                                          <p:spTgt spid="221199"/>
                                        </p:tgtEl>
                                      </p:cBhvr>
                                    </p:animEffect>
                                  </p:childTnLst>
                                </p:cTn>
                              </p:par>
                            </p:childTnLst>
                          </p:cTn>
                        </p:par>
                        <p:par>
                          <p:cTn id="80" fill="hold" nodeType="afterGroup">
                            <p:stCondLst>
                              <p:cond delay="1000"/>
                            </p:stCondLst>
                            <p:childTnLst>
                              <p:par>
                                <p:cTn id="81" presetID="17" presetClass="entr" presetSubtype="1" fill="hold" grpId="0" nodeType="afterEffect">
                                  <p:stCondLst>
                                    <p:cond delay="0"/>
                                  </p:stCondLst>
                                  <p:childTnLst>
                                    <p:set>
                                      <p:cBhvr>
                                        <p:cTn id="82" dur="1" fill="hold">
                                          <p:stCondLst>
                                            <p:cond delay="0"/>
                                          </p:stCondLst>
                                        </p:cTn>
                                        <p:tgtEl>
                                          <p:spTgt spid="221200"/>
                                        </p:tgtEl>
                                        <p:attrNameLst>
                                          <p:attrName>style.visibility</p:attrName>
                                        </p:attrNameLst>
                                      </p:cBhvr>
                                      <p:to>
                                        <p:strVal val="visible"/>
                                      </p:to>
                                    </p:set>
                                    <p:anim calcmode="lin" valueType="num">
                                      <p:cBhvr>
                                        <p:cTn id="83" dur="500" fill="hold"/>
                                        <p:tgtEl>
                                          <p:spTgt spid="221200"/>
                                        </p:tgtEl>
                                        <p:attrNameLst>
                                          <p:attrName>ppt_x</p:attrName>
                                        </p:attrNameLst>
                                      </p:cBhvr>
                                      <p:tavLst>
                                        <p:tav tm="0">
                                          <p:val>
                                            <p:strVal val="#ppt_x"/>
                                          </p:val>
                                        </p:tav>
                                        <p:tav tm="100000">
                                          <p:val>
                                            <p:strVal val="#ppt_x"/>
                                          </p:val>
                                        </p:tav>
                                      </p:tavLst>
                                    </p:anim>
                                    <p:anim calcmode="lin" valueType="num">
                                      <p:cBhvr>
                                        <p:cTn id="84" dur="500" fill="hold"/>
                                        <p:tgtEl>
                                          <p:spTgt spid="221200"/>
                                        </p:tgtEl>
                                        <p:attrNameLst>
                                          <p:attrName>ppt_y</p:attrName>
                                        </p:attrNameLst>
                                      </p:cBhvr>
                                      <p:tavLst>
                                        <p:tav tm="0">
                                          <p:val>
                                            <p:strVal val="#ppt_y-#ppt_h/2"/>
                                          </p:val>
                                        </p:tav>
                                        <p:tav tm="100000">
                                          <p:val>
                                            <p:strVal val="#ppt_y"/>
                                          </p:val>
                                        </p:tav>
                                      </p:tavLst>
                                    </p:anim>
                                    <p:anim calcmode="lin" valueType="num">
                                      <p:cBhvr>
                                        <p:cTn id="85" dur="500" fill="hold"/>
                                        <p:tgtEl>
                                          <p:spTgt spid="221200"/>
                                        </p:tgtEl>
                                        <p:attrNameLst>
                                          <p:attrName>ppt_w</p:attrName>
                                        </p:attrNameLst>
                                      </p:cBhvr>
                                      <p:tavLst>
                                        <p:tav tm="0">
                                          <p:val>
                                            <p:strVal val="#ppt_w"/>
                                          </p:val>
                                        </p:tav>
                                        <p:tav tm="100000">
                                          <p:val>
                                            <p:strVal val="#ppt_w"/>
                                          </p:val>
                                        </p:tav>
                                      </p:tavLst>
                                    </p:anim>
                                    <p:anim calcmode="lin" valueType="num">
                                      <p:cBhvr>
                                        <p:cTn id="86" dur="500" fill="hold"/>
                                        <p:tgtEl>
                                          <p:spTgt spid="221200"/>
                                        </p:tgtEl>
                                        <p:attrNameLst>
                                          <p:attrName>ppt_h</p:attrName>
                                        </p:attrNameLst>
                                      </p:cBhvr>
                                      <p:tavLst>
                                        <p:tav tm="0">
                                          <p:val>
                                            <p:fltVal val="0"/>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221201"/>
                                        </p:tgtEl>
                                        <p:attrNameLst>
                                          <p:attrName>style.visibility</p:attrName>
                                        </p:attrNameLst>
                                      </p:cBhvr>
                                      <p:to>
                                        <p:strVal val="visible"/>
                                      </p:to>
                                    </p:set>
                                    <p:anim calcmode="lin" valueType="num">
                                      <p:cBhvr additive="base">
                                        <p:cTn id="91" dur="500" fill="hold"/>
                                        <p:tgtEl>
                                          <p:spTgt spid="221201"/>
                                        </p:tgtEl>
                                        <p:attrNameLst>
                                          <p:attrName>ppt_x</p:attrName>
                                        </p:attrNameLst>
                                      </p:cBhvr>
                                      <p:tavLst>
                                        <p:tav tm="0">
                                          <p:val>
                                            <p:strVal val="#ppt_x"/>
                                          </p:val>
                                        </p:tav>
                                        <p:tav tm="100000">
                                          <p:val>
                                            <p:strVal val="#ppt_x"/>
                                          </p:val>
                                        </p:tav>
                                      </p:tavLst>
                                    </p:anim>
                                    <p:anim calcmode="lin" valueType="num">
                                      <p:cBhvr additive="base">
                                        <p:cTn id="92" dur="500" fill="hold"/>
                                        <p:tgtEl>
                                          <p:spTgt spid="221201"/>
                                        </p:tgtEl>
                                        <p:attrNameLst>
                                          <p:attrName>ppt_y</p:attrName>
                                        </p:attrNameLst>
                                      </p:cBhvr>
                                      <p:tavLst>
                                        <p:tav tm="0">
                                          <p:val>
                                            <p:strVal val="1+#ppt_h/2"/>
                                          </p:val>
                                        </p:tav>
                                        <p:tav tm="100000">
                                          <p:val>
                                            <p:strVal val="#ppt_y"/>
                                          </p:val>
                                        </p:tav>
                                      </p:tavLst>
                                    </p:anim>
                                  </p:childTnLst>
                                </p:cTn>
                              </p:par>
                            </p:childTnLst>
                          </p:cTn>
                        </p:par>
                        <p:par>
                          <p:cTn id="93" fill="hold" nodeType="afterGroup">
                            <p:stCondLst>
                              <p:cond delay="500"/>
                            </p:stCondLst>
                            <p:childTnLst>
                              <p:par>
                                <p:cTn id="94" presetID="2" presetClass="entr" presetSubtype="6" fill="hold" grpId="0" nodeType="afterEffect">
                                  <p:stCondLst>
                                    <p:cond delay="0"/>
                                  </p:stCondLst>
                                  <p:childTnLst>
                                    <p:set>
                                      <p:cBhvr>
                                        <p:cTn id="95" dur="1" fill="hold">
                                          <p:stCondLst>
                                            <p:cond delay="0"/>
                                          </p:stCondLst>
                                        </p:cTn>
                                        <p:tgtEl>
                                          <p:spTgt spid="221202"/>
                                        </p:tgtEl>
                                        <p:attrNameLst>
                                          <p:attrName>style.visibility</p:attrName>
                                        </p:attrNameLst>
                                      </p:cBhvr>
                                      <p:to>
                                        <p:strVal val="visible"/>
                                      </p:to>
                                    </p:set>
                                    <p:anim calcmode="lin" valueType="num">
                                      <p:cBhvr additive="base">
                                        <p:cTn id="96" dur="500" fill="hold"/>
                                        <p:tgtEl>
                                          <p:spTgt spid="221202"/>
                                        </p:tgtEl>
                                        <p:attrNameLst>
                                          <p:attrName>ppt_x</p:attrName>
                                        </p:attrNameLst>
                                      </p:cBhvr>
                                      <p:tavLst>
                                        <p:tav tm="0">
                                          <p:val>
                                            <p:strVal val="1+#ppt_w/2"/>
                                          </p:val>
                                        </p:tav>
                                        <p:tav tm="100000">
                                          <p:val>
                                            <p:strVal val="#ppt_x"/>
                                          </p:val>
                                        </p:tav>
                                      </p:tavLst>
                                    </p:anim>
                                    <p:anim calcmode="lin" valueType="num">
                                      <p:cBhvr additive="base">
                                        <p:cTn id="97" dur="500" fill="hold"/>
                                        <p:tgtEl>
                                          <p:spTgt spid="2212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autoUpdateAnimBg="0"/>
      <p:bldP spid="221187" grpId="0" animBg="1"/>
      <p:bldP spid="221188" grpId="0" autoUpdateAnimBg="0"/>
      <p:bldP spid="221189" grpId="0" autoUpdateAnimBg="0"/>
      <p:bldP spid="221190" grpId="0" autoUpdateAnimBg="0"/>
      <p:bldP spid="221191" grpId="0" autoUpdateAnimBg="0"/>
      <p:bldP spid="221192" grpId="0" animBg="1" autoUpdateAnimBg="0"/>
      <p:bldP spid="221193" grpId="0" animBg="1"/>
      <p:bldP spid="221194" grpId="0" animBg="1"/>
      <p:bldP spid="221195" grpId="0" animBg="1"/>
      <p:bldP spid="221196" grpId="0" animBg="1"/>
      <p:bldP spid="221197" grpId="0" autoUpdateAnimBg="0"/>
      <p:bldP spid="221198" grpId="0" autoUpdateAnimBg="0"/>
      <p:bldP spid="221199" grpId="0" animBg="1" autoUpdateAnimBg="0"/>
      <p:bldP spid="221200" grpId="0" animBg="1"/>
      <p:bldP spid="221201" grpId="0" autoUpdateAnimBg="0"/>
      <p:bldP spid="22120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6" name="Object 2"/>
          <p:cNvGraphicFramePr>
            <a:graphicFrameLocks noChangeAspect="1"/>
          </p:cNvGraphicFramePr>
          <p:nvPr/>
        </p:nvGraphicFramePr>
        <p:xfrm>
          <a:off x="1219200" y="1219200"/>
          <a:ext cx="7467600" cy="5449888"/>
        </p:xfrm>
        <a:graphic>
          <a:graphicData uri="http://schemas.openxmlformats.org/presentationml/2006/ole">
            <mc:AlternateContent xmlns:mc="http://schemas.openxmlformats.org/markup-compatibility/2006">
              <mc:Choice xmlns:v="urn:schemas-microsoft-com:vml" Requires="v">
                <p:oleObj spid="_x0000_s620547" name="幻灯片" r:id="rId3" imgW="4125292" imgH="3093896" progId="PowerPoint.Slide.8">
                  <p:embed/>
                </p:oleObj>
              </mc:Choice>
              <mc:Fallback>
                <p:oleObj name="幻灯片" r:id="rId3" imgW="4125292" imgH="3093896" progId="PowerPoint.Slid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219200"/>
                        <a:ext cx="7467600" cy="54498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519169315"/>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p:cNvSpPr txBox="1">
            <a:spLocks noChangeArrowheads="1"/>
          </p:cNvSpPr>
          <p:nvPr/>
        </p:nvSpPr>
        <p:spPr bwMode="auto">
          <a:xfrm>
            <a:off x="1590675" y="196850"/>
            <a:ext cx="4657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solidFill>
                  <a:srgbClr val="AA55FF"/>
                </a:solidFill>
                <a:latin typeface="Times New Roman" charset="0"/>
              </a:rPr>
              <a:t>L = ( a, ( x, y ), ( ( x ) ) )</a:t>
            </a:r>
            <a:endParaRPr kumimoji="1" lang="en-US" altLang="zh-CN" sz="3600" b="1">
              <a:solidFill>
                <a:srgbClr val="0000FF"/>
              </a:solidFill>
              <a:latin typeface="Times New Roman" charset="0"/>
            </a:endParaRPr>
          </a:p>
        </p:txBody>
      </p:sp>
      <p:sp>
        <p:nvSpPr>
          <p:cNvPr id="223235" name="Rectangle 3"/>
          <p:cNvSpPr>
            <a:spLocks noChangeArrowheads="1"/>
          </p:cNvSpPr>
          <p:nvPr/>
        </p:nvSpPr>
        <p:spPr bwMode="auto">
          <a:xfrm>
            <a:off x="2590800" y="1968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rPr>
              <a:t>a</a:t>
            </a:r>
          </a:p>
        </p:txBody>
      </p:sp>
      <p:sp>
        <p:nvSpPr>
          <p:cNvPr id="223236" name="Rectangle 4"/>
          <p:cNvSpPr>
            <a:spLocks noChangeArrowheads="1"/>
          </p:cNvSpPr>
          <p:nvPr/>
        </p:nvSpPr>
        <p:spPr bwMode="auto">
          <a:xfrm>
            <a:off x="3048000" y="196850"/>
            <a:ext cx="140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rPr>
              <a:t>( x, y )</a:t>
            </a:r>
          </a:p>
        </p:txBody>
      </p:sp>
      <p:sp>
        <p:nvSpPr>
          <p:cNvPr id="223237" name="Rectangle 5"/>
          <p:cNvSpPr>
            <a:spLocks noChangeArrowheads="1"/>
          </p:cNvSpPr>
          <p:nvPr/>
        </p:nvSpPr>
        <p:spPr bwMode="auto">
          <a:xfrm>
            <a:off x="4502150" y="196850"/>
            <a:ext cx="1517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rPr>
              <a:t>( </a:t>
            </a:r>
            <a:r>
              <a:rPr kumimoji="1" lang="en-US" altLang="zh-CN" sz="3600">
                <a:solidFill>
                  <a:srgbClr val="0000FF"/>
                </a:solidFill>
                <a:latin typeface="Times New Roman" charset="0"/>
              </a:rPr>
              <a:t>       </a:t>
            </a:r>
            <a:r>
              <a:rPr kumimoji="1" lang="en-US" altLang="zh-CN" sz="3600" b="1">
                <a:solidFill>
                  <a:srgbClr val="0000FF"/>
                </a:solidFill>
                <a:latin typeface="Times New Roman" charset="0"/>
              </a:rPr>
              <a:t> )</a:t>
            </a:r>
          </a:p>
        </p:txBody>
      </p:sp>
      <p:sp>
        <p:nvSpPr>
          <p:cNvPr id="223238" name="Rectangle 6"/>
          <p:cNvSpPr>
            <a:spLocks noChangeArrowheads="1"/>
          </p:cNvSpPr>
          <p:nvPr/>
        </p:nvSpPr>
        <p:spPr bwMode="auto">
          <a:xfrm>
            <a:off x="1958975" y="1905000"/>
            <a:ext cx="16383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a:t>
            </a:r>
            <a:r>
              <a:rPr kumimoji="1" lang="en-US" altLang="zh-CN" sz="3200" b="1">
                <a:solidFill>
                  <a:srgbClr val="0000FF"/>
                </a:solidFill>
                <a:latin typeface="Times New Roman" charset="0"/>
                <a:ea typeface="楷体_GB2312" charset="0"/>
              </a:rPr>
              <a:t>1           </a:t>
            </a:r>
            <a:endParaRPr kumimoji="1" lang="en-US" altLang="zh-CN" sz="4400">
              <a:latin typeface="Times New Roman" charset="0"/>
              <a:ea typeface="楷体_GB2312" charset="0"/>
            </a:endParaRPr>
          </a:p>
        </p:txBody>
      </p:sp>
      <p:sp>
        <p:nvSpPr>
          <p:cNvPr id="223239" name="Line 7"/>
          <p:cNvSpPr>
            <a:spLocks noChangeShapeType="1"/>
          </p:cNvSpPr>
          <p:nvPr/>
        </p:nvSpPr>
        <p:spPr bwMode="auto">
          <a:xfrm>
            <a:off x="2568575" y="1905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0" name="Line 8"/>
          <p:cNvSpPr>
            <a:spLocks noChangeShapeType="1"/>
          </p:cNvSpPr>
          <p:nvPr/>
        </p:nvSpPr>
        <p:spPr bwMode="auto">
          <a:xfrm>
            <a:off x="3101975" y="1905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1" name="Line 9"/>
          <p:cNvSpPr>
            <a:spLocks noChangeShapeType="1"/>
          </p:cNvSpPr>
          <p:nvPr/>
        </p:nvSpPr>
        <p:spPr bwMode="auto">
          <a:xfrm>
            <a:off x="1158875" y="2209800"/>
            <a:ext cx="838200" cy="0"/>
          </a:xfrm>
          <a:prstGeom prst="line">
            <a:avLst/>
          </a:prstGeom>
          <a:noFill/>
          <a:ln w="22225">
            <a:solidFill>
              <a:srgbClr val="952B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2" name="Text Box 10"/>
          <p:cNvSpPr txBox="1">
            <a:spLocks noChangeArrowheads="1"/>
          </p:cNvSpPr>
          <p:nvPr/>
        </p:nvSpPr>
        <p:spPr bwMode="auto">
          <a:xfrm>
            <a:off x="990600" y="1644650"/>
            <a:ext cx="48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952BFF"/>
                </a:solidFill>
                <a:latin typeface="Times New Roman" charset="0"/>
              </a:rPr>
              <a:t>L</a:t>
            </a:r>
            <a:endParaRPr kumimoji="1" lang="en-US" altLang="zh-CN" sz="3600">
              <a:latin typeface="Times New Roman" charset="0"/>
            </a:endParaRPr>
          </a:p>
        </p:txBody>
      </p:sp>
      <p:sp>
        <p:nvSpPr>
          <p:cNvPr id="223243" name="Rectangle 11"/>
          <p:cNvSpPr>
            <a:spLocks noChangeArrowheads="1"/>
          </p:cNvSpPr>
          <p:nvPr/>
        </p:nvSpPr>
        <p:spPr bwMode="auto">
          <a:xfrm>
            <a:off x="1524000" y="196850"/>
            <a:ext cx="4711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rPr>
              <a:t>L = (                              )</a:t>
            </a:r>
            <a:endParaRPr kumimoji="1" lang="en-US" altLang="zh-CN" sz="3600">
              <a:solidFill>
                <a:srgbClr val="AA55FF"/>
              </a:solidFill>
              <a:latin typeface="Times New Roman" charset="0"/>
            </a:endParaRPr>
          </a:p>
        </p:txBody>
      </p:sp>
      <p:sp>
        <p:nvSpPr>
          <p:cNvPr id="223244" name="Line 12"/>
          <p:cNvSpPr>
            <a:spLocks noChangeShapeType="1"/>
          </p:cNvSpPr>
          <p:nvPr/>
        </p:nvSpPr>
        <p:spPr bwMode="auto">
          <a:xfrm>
            <a:off x="2835275" y="2286000"/>
            <a:ext cx="0" cy="83820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5" name="Text Box 13"/>
          <p:cNvSpPr txBox="1">
            <a:spLocks noChangeArrowheads="1"/>
          </p:cNvSpPr>
          <p:nvPr/>
        </p:nvSpPr>
        <p:spPr bwMode="auto">
          <a:xfrm>
            <a:off x="2301875" y="3128963"/>
            <a:ext cx="1022350" cy="604837"/>
          </a:xfrm>
          <a:prstGeom prst="rect">
            <a:avLst/>
          </a:prstGeom>
          <a:solidFill>
            <a:srgbClr val="FFFF99">
              <a:alpha val="50195"/>
            </a:srgbClr>
          </a:solidFill>
          <a:ln w="25400">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800000"/>
                </a:solidFill>
                <a:latin typeface="Times New Roman" charset="0"/>
              </a:rPr>
              <a:t>0   a </a:t>
            </a:r>
            <a:endParaRPr kumimoji="1" lang="en-US" altLang="zh-CN" sz="3200">
              <a:latin typeface="Times New Roman" charset="0"/>
            </a:endParaRPr>
          </a:p>
        </p:txBody>
      </p:sp>
      <p:sp>
        <p:nvSpPr>
          <p:cNvPr id="223246" name="Line 14"/>
          <p:cNvSpPr>
            <a:spLocks noChangeShapeType="1"/>
          </p:cNvSpPr>
          <p:nvPr/>
        </p:nvSpPr>
        <p:spPr bwMode="auto">
          <a:xfrm>
            <a:off x="2682875" y="3124200"/>
            <a:ext cx="0" cy="6096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7" name="Rectangle 15"/>
          <p:cNvSpPr>
            <a:spLocks noChangeArrowheads="1"/>
          </p:cNvSpPr>
          <p:nvPr/>
        </p:nvSpPr>
        <p:spPr bwMode="auto">
          <a:xfrm>
            <a:off x="4168775" y="1905000"/>
            <a:ext cx="16383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a:t>
            </a:r>
            <a:r>
              <a:rPr kumimoji="1" lang="en-US" altLang="zh-CN" sz="3200" b="1">
                <a:solidFill>
                  <a:srgbClr val="0000FF"/>
                </a:solidFill>
                <a:latin typeface="Times New Roman" charset="0"/>
                <a:ea typeface="楷体_GB2312" charset="0"/>
              </a:rPr>
              <a:t>1           </a:t>
            </a:r>
            <a:endParaRPr kumimoji="1" lang="en-US" altLang="zh-CN" sz="4400">
              <a:latin typeface="Times New Roman" charset="0"/>
              <a:ea typeface="楷体_GB2312" charset="0"/>
            </a:endParaRPr>
          </a:p>
        </p:txBody>
      </p:sp>
      <p:sp>
        <p:nvSpPr>
          <p:cNvPr id="223248" name="Line 16"/>
          <p:cNvSpPr>
            <a:spLocks noChangeShapeType="1"/>
          </p:cNvSpPr>
          <p:nvPr/>
        </p:nvSpPr>
        <p:spPr bwMode="auto">
          <a:xfrm>
            <a:off x="4778375" y="1905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9" name="Line 17"/>
          <p:cNvSpPr>
            <a:spLocks noChangeShapeType="1"/>
          </p:cNvSpPr>
          <p:nvPr/>
        </p:nvSpPr>
        <p:spPr bwMode="auto">
          <a:xfrm>
            <a:off x="5311775" y="1905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0" name="Line 18"/>
          <p:cNvSpPr>
            <a:spLocks noChangeShapeType="1"/>
          </p:cNvSpPr>
          <p:nvPr/>
        </p:nvSpPr>
        <p:spPr bwMode="auto">
          <a:xfrm>
            <a:off x="3368675" y="2209800"/>
            <a:ext cx="838200" cy="0"/>
          </a:xfrm>
          <a:prstGeom prst="line">
            <a:avLst/>
          </a:prstGeom>
          <a:noFill/>
          <a:ln w="22225">
            <a:solidFill>
              <a:srgbClr val="952B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1" name="Rectangle 19"/>
          <p:cNvSpPr>
            <a:spLocks noChangeArrowheads="1"/>
          </p:cNvSpPr>
          <p:nvPr/>
        </p:nvSpPr>
        <p:spPr bwMode="auto">
          <a:xfrm>
            <a:off x="6378575" y="1905000"/>
            <a:ext cx="16383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a:t>
            </a:r>
            <a:r>
              <a:rPr kumimoji="1" lang="en-US" altLang="zh-CN" sz="3200" b="1">
                <a:solidFill>
                  <a:srgbClr val="0000FF"/>
                </a:solidFill>
                <a:latin typeface="Times New Roman" charset="0"/>
                <a:ea typeface="楷体_GB2312" charset="0"/>
              </a:rPr>
              <a:t>1           </a:t>
            </a:r>
            <a:endParaRPr kumimoji="1" lang="en-US" altLang="zh-CN" sz="4400">
              <a:latin typeface="Times New Roman" charset="0"/>
              <a:ea typeface="楷体_GB2312" charset="0"/>
            </a:endParaRPr>
          </a:p>
        </p:txBody>
      </p:sp>
      <p:sp>
        <p:nvSpPr>
          <p:cNvPr id="223252" name="Line 20"/>
          <p:cNvSpPr>
            <a:spLocks noChangeShapeType="1"/>
          </p:cNvSpPr>
          <p:nvPr/>
        </p:nvSpPr>
        <p:spPr bwMode="auto">
          <a:xfrm>
            <a:off x="6988175" y="1905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3" name="Line 21"/>
          <p:cNvSpPr>
            <a:spLocks noChangeShapeType="1"/>
          </p:cNvSpPr>
          <p:nvPr/>
        </p:nvSpPr>
        <p:spPr bwMode="auto">
          <a:xfrm>
            <a:off x="7521575" y="1905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4" name="Line 22"/>
          <p:cNvSpPr>
            <a:spLocks noChangeShapeType="1"/>
          </p:cNvSpPr>
          <p:nvPr/>
        </p:nvSpPr>
        <p:spPr bwMode="auto">
          <a:xfrm>
            <a:off x="5578475" y="2209800"/>
            <a:ext cx="838200" cy="0"/>
          </a:xfrm>
          <a:prstGeom prst="line">
            <a:avLst/>
          </a:prstGeom>
          <a:noFill/>
          <a:ln w="22225">
            <a:solidFill>
              <a:srgbClr val="952B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5" name="Rectangle 23"/>
          <p:cNvSpPr>
            <a:spLocks noChangeArrowheads="1"/>
          </p:cNvSpPr>
          <p:nvPr/>
        </p:nvSpPr>
        <p:spPr bwMode="auto">
          <a:xfrm>
            <a:off x="4549775" y="3048000"/>
            <a:ext cx="16383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a:t>
            </a:r>
            <a:r>
              <a:rPr kumimoji="1" lang="en-US" altLang="zh-CN" sz="3200" b="1">
                <a:solidFill>
                  <a:srgbClr val="0000FF"/>
                </a:solidFill>
                <a:latin typeface="Times New Roman" charset="0"/>
                <a:ea typeface="楷体_GB2312" charset="0"/>
              </a:rPr>
              <a:t>1           </a:t>
            </a:r>
            <a:endParaRPr kumimoji="1" lang="en-US" altLang="zh-CN" sz="4400">
              <a:latin typeface="Times New Roman" charset="0"/>
              <a:ea typeface="楷体_GB2312" charset="0"/>
            </a:endParaRPr>
          </a:p>
        </p:txBody>
      </p:sp>
      <p:sp>
        <p:nvSpPr>
          <p:cNvPr id="223256" name="Line 24"/>
          <p:cNvSpPr>
            <a:spLocks noChangeShapeType="1"/>
          </p:cNvSpPr>
          <p:nvPr/>
        </p:nvSpPr>
        <p:spPr bwMode="auto">
          <a:xfrm>
            <a:off x="5159375" y="3048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7" name="Line 25"/>
          <p:cNvSpPr>
            <a:spLocks noChangeShapeType="1"/>
          </p:cNvSpPr>
          <p:nvPr/>
        </p:nvSpPr>
        <p:spPr bwMode="auto">
          <a:xfrm>
            <a:off x="5692775" y="3048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8" name="Line 26"/>
          <p:cNvSpPr>
            <a:spLocks noChangeShapeType="1"/>
          </p:cNvSpPr>
          <p:nvPr/>
        </p:nvSpPr>
        <p:spPr bwMode="auto">
          <a:xfrm>
            <a:off x="5045075" y="2209800"/>
            <a:ext cx="0" cy="83820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9" name="Rectangle 27"/>
          <p:cNvSpPr>
            <a:spLocks noChangeArrowheads="1"/>
          </p:cNvSpPr>
          <p:nvPr/>
        </p:nvSpPr>
        <p:spPr bwMode="auto">
          <a:xfrm>
            <a:off x="6759575" y="3048000"/>
            <a:ext cx="16383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a:t>
            </a:r>
            <a:r>
              <a:rPr kumimoji="1" lang="en-US" altLang="zh-CN" sz="3200" b="1">
                <a:solidFill>
                  <a:srgbClr val="0000FF"/>
                </a:solidFill>
                <a:latin typeface="Times New Roman" charset="0"/>
                <a:ea typeface="楷体_GB2312" charset="0"/>
              </a:rPr>
              <a:t>1           </a:t>
            </a:r>
            <a:endParaRPr kumimoji="1" lang="en-US" altLang="zh-CN" sz="4400">
              <a:latin typeface="Times New Roman" charset="0"/>
              <a:ea typeface="楷体_GB2312" charset="0"/>
            </a:endParaRPr>
          </a:p>
        </p:txBody>
      </p:sp>
      <p:sp>
        <p:nvSpPr>
          <p:cNvPr id="223260" name="Line 28"/>
          <p:cNvSpPr>
            <a:spLocks noChangeShapeType="1"/>
          </p:cNvSpPr>
          <p:nvPr/>
        </p:nvSpPr>
        <p:spPr bwMode="auto">
          <a:xfrm>
            <a:off x="7369175" y="3048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1" name="Line 29"/>
          <p:cNvSpPr>
            <a:spLocks noChangeShapeType="1"/>
          </p:cNvSpPr>
          <p:nvPr/>
        </p:nvSpPr>
        <p:spPr bwMode="auto">
          <a:xfrm>
            <a:off x="7902575" y="3048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2" name="Line 30"/>
          <p:cNvSpPr>
            <a:spLocks noChangeShapeType="1"/>
          </p:cNvSpPr>
          <p:nvPr/>
        </p:nvSpPr>
        <p:spPr bwMode="auto">
          <a:xfrm>
            <a:off x="7254875" y="2209800"/>
            <a:ext cx="0" cy="83820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3" name="Rectangle 31"/>
          <p:cNvSpPr>
            <a:spLocks noChangeArrowheads="1"/>
          </p:cNvSpPr>
          <p:nvPr/>
        </p:nvSpPr>
        <p:spPr bwMode="auto">
          <a:xfrm>
            <a:off x="7140575" y="4191000"/>
            <a:ext cx="16383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a:t>
            </a:r>
            <a:r>
              <a:rPr kumimoji="1" lang="en-US" altLang="zh-CN" sz="3200" b="1">
                <a:solidFill>
                  <a:srgbClr val="0000FF"/>
                </a:solidFill>
                <a:latin typeface="Times New Roman" charset="0"/>
                <a:ea typeface="楷体_GB2312" charset="0"/>
              </a:rPr>
              <a:t>1           </a:t>
            </a:r>
            <a:endParaRPr kumimoji="1" lang="en-US" altLang="zh-CN" sz="4400">
              <a:latin typeface="Times New Roman" charset="0"/>
              <a:ea typeface="楷体_GB2312" charset="0"/>
            </a:endParaRPr>
          </a:p>
        </p:txBody>
      </p:sp>
      <p:sp>
        <p:nvSpPr>
          <p:cNvPr id="223264" name="Line 32"/>
          <p:cNvSpPr>
            <a:spLocks noChangeShapeType="1"/>
          </p:cNvSpPr>
          <p:nvPr/>
        </p:nvSpPr>
        <p:spPr bwMode="auto">
          <a:xfrm>
            <a:off x="7750175" y="4191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5" name="Line 33"/>
          <p:cNvSpPr>
            <a:spLocks noChangeShapeType="1"/>
          </p:cNvSpPr>
          <p:nvPr/>
        </p:nvSpPr>
        <p:spPr bwMode="auto">
          <a:xfrm>
            <a:off x="8283575" y="41910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6" name="Line 34"/>
          <p:cNvSpPr>
            <a:spLocks noChangeShapeType="1"/>
          </p:cNvSpPr>
          <p:nvPr/>
        </p:nvSpPr>
        <p:spPr bwMode="auto">
          <a:xfrm>
            <a:off x="7635875" y="3352800"/>
            <a:ext cx="0" cy="83820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7" name="Line 35"/>
          <p:cNvSpPr>
            <a:spLocks noChangeShapeType="1"/>
          </p:cNvSpPr>
          <p:nvPr/>
        </p:nvSpPr>
        <p:spPr bwMode="auto">
          <a:xfrm>
            <a:off x="8061325" y="4495800"/>
            <a:ext cx="0" cy="83820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8" name="Text Box 36"/>
          <p:cNvSpPr txBox="1">
            <a:spLocks noChangeArrowheads="1"/>
          </p:cNvSpPr>
          <p:nvPr/>
        </p:nvSpPr>
        <p:spPr bwMode="auto">
          <a:xfrm>
            <a:off x="7527925" y="5338763"/>
            <a:ext cx="1022350" cy="604837"/>
          </a:xfrm>
          <a:prstGeom prst="rect">
            <a:avLst/>
          </a:prstGeom>
          <a:solidFill>
            <a:srgbClr val="FFFF99">
              <a:alpha val="50195"/>
            </a:srgbClr>
          </a:solidFill>
          <a:ln w="25400">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800000"/>
                </a:solidFill>
                <a:latin typeface="Times New Roman" charset="0"/>
              </a:rPr>
              <a:t>0   a </a:t>
            </a:r>
            <a:endParaRPr kumimoji="1" lang="en-US" altLang="zh-CN" sz="3200">
              <a:latin typeface="Times New Roman" charset="0"/>
            </a:endParaRPr>
          </a:p>
        </p:txBody>
      </p:sp>
      <p:sp>
        <p:nvSpPr>
          <p:cNvPr id="223269" name="Line 37"/>
          <p:cNvSpPr>
            <a:spLocks noChangeShapeType="1"/>
          </p:cNvSpPr>
          <p:nvPr/>
        </p:nvSpPr>
        <p:spPr bwMode="auto">
          <a:xfrm>
            <a:off x="7908925" y="5334000"/>
            <a:ext cx="0" cy="6096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70" name="Text Box 38"/>
          <p:cNvSpPr txBox="1">
            <a:spLocks noChangeArrowheads="1"/>
          </p:cNvSpPr>
          <p:nvPr/>
        </p:nvSpPr>
        <p:spPr bwMode="auto">
          <a:xfrm>
            <a:off x="8288338" y="4114800"/>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b="1">
                <a:solidFill>
                  <a:srgbClr val="9B37FF"/>
                </a:solidFill>
                <a:latin typeface="Times New Roman" charset="0"/>
                <a:sym typeface="Symbol" charset="2"/>
              </a:rPr>
              <a:t></a:t>
            </a:r>
            <a:endParaRPr kumimoji="1" lang="en-US" altLang="zh-CN" sz="3600">
              <a:latin typeface="Times New Roman" charset="0"/>
            </a:endParaRPr>
          </a:p>
        </p:txBody>
      </p:sp>
      <p:sp>
        <p:nvSpPr>
          <p:cNvPr id="223271" name="Text Box 39"/>
          <p:cNvSpPr txBox="1">
            <a:spLocks noChangeArrowheads="1"/>
          </p:cNvSpPr>
          <p:nvPr/>
        </p:nvSpPr>
        <p:spPr bwMode="auto">
          <a:xfrm>
            <a:off x="7907338" y="29559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b="1">
                <a:solidFill>
                  <a:srgbClr val="9B37FF"/>
                </a:solidFill>
                <a:latin typeface="Times New Roman" charset="0"/>
                <a:sym typeface="Symbol" charset="2"/>
              </a:rPr>
              <a:t></a:t>
            </a:r>
            <a:endParaRPr kumimoji="1" lang="en-US" altLang="zh-CN" sz="3600">
              <a:latin typeface="Times New Roman" charset="0"/>
            </a:endParaRPr>
          </a:p>
        </p:txBody>
      </p:sp>
      <p:sp>
        <p:nvSpPr>
          <p:cNvPr id="223272" name="Text Box 40"/>
          <p:cNvSpPr txBox="1">
            <a:spLocks noChangeArrowheads="1"/>
          </p:cNvSpPr>
          <p:nvPr/>
        </p:nvSpPr>
        <p:spPr bwMode="auto">
          <a:xfrm>
            <a:off x="7526338" y="1828800"/>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b="1">
                <a:solidFill>
                  <a:srgbClr val="9B37FF"/>
                </a:solidFill>
                <a:latin typeface="Times New Roman" charset="0"/>
                <a:sym typeface="Symbol" charset="2"/>
              </a:rPr>
              <a:t></a:t>
            </a:r>
            <a:endParaRPr kumimoji="1" lang="en-US" altLang="zh-CN" sz="3600">
              <a:latin typeface="Times New Roman" charset="0"/>
            </a:endParaRPr>
          </a:p>
        </p:txBody>
      </p:sp>
      <p:sp>
        <p:nvSpPr>
          <p:cNvPr id="223273" name="Rectangle 41"/>
          <p:cNvSpPr>
            <a:spLocks noChangeArrowheads="1"/>
          </p:cNvSpPr>
          <p:nvPr/>
        </p:nvSpPr>
        <p:spPr bwMode="auto">
          <a:xfrm>
            <a:off x="4768850" y="196850"/>
            <a:ext cx="94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rPr>
              <a:t>(    )</a:t>
            </a:r>
          </a:p>
        </p:txBody>
      </p:sp>
      <p:sp>
        <p:nvSpPr>
          <p:cNvPr id="223274" name="Rectangle 42"/>
          <p:cNvSpPr>
            <a:spLocks noChangeArrowheads="1"/>
          </p:cNvSpPr>
          <p:nvPr/>
        </p:nvSpPr>
        <p:spPr bwMode="auto">
          <a:xfrm>
            <a:off x="5029200" y="1968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rPr>
              <a:t>x</a:t>
            </a:r>
          </a:p>
        </p:txBody>
      </p:sp>
    </p:spTree>
    <p:extLst>
      <p:ext uri="{BB962C8B-B14F-4D97-AF65-F5344CB8AC3E}">
        <p14:creationId xmlns:p14="http://schemas.microsoft.com/office/powerpoint/2010/main" val="17509653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23234"/>
                                        </p:tgtEl>
                                        <p:attrNameLst>
                                          <p:attrName>style.visibility</p:attrName>
                                        </p:attrNameLst>
                                      </p:cBhvr>
                                      <p:to>
                                        <p:strVal val="visible"/>
                                      </p:to>
                                    </p:set>
                                    <p:anim calcmode="lin" valueType="num">
                                      <p:cBhvr additive="base">
                                        <p:cTn id="7" dur="500" fill="hold"/>
                                        <p:tgtEl>
                                          <p:spTgt spid="223234"/>
                                        </p:tgtEl>
                                        <p:attrNameLst>
                                          <p:attrName>ppt_x</p:attrName>
                                        </p:attrNameLst>
                                      </p:cBhvr>
                                      <p:tavLst>
                                        <p:tav tm="0">
                                          <p:val>
                                            <p:strVal val="#ppt_x"/>
                                          </p:val>
                                        </p:tav>
                                        <p:tav tm="100000">
                                          <p:val>
                                            <p:strVal val="#ppt_x"/>
                                          </p:val>
                                        </p:tav>
                                      </p:tavLst>
                                    </p:anim>
                                    <p:anim calcmode="lin" valueType="num">
                                      <p:cBhvr additive="base">
                                        <p:cTn id="8" dur="500" fill="hold"/>
                                        <p:tgtEl>
                                          <p:spTgt spid="22323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23243"/>
                                        </p:tgtEl>
                                        <p:attrNameLst>
                                          <p:attrName>style.visibility</p:attrName>
                                        </p:attrNameLst>
                                      </p:cBhvr>
                                      <p:to>
                                        <p:strVal val="visible"/>
                                      </p:to>
                                    </p:set>
                                    <p:animEffect transition="in" filter="wipe(left)">
                                      <p:cBhvr>
                                        <p:cTn id="13" dur="500"/>
                                        <p:tgtEl>
                                          <p:spTgt spid="22324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3242"/>
                                        </p:tgtEl>
                                        <p:attrNameLst>
                                          <p:attrName>style.visibility</p:attrName>
                                        </p:attrNameLst>
                                      </p:cBhvr>
                                      <p:to>
                                        <p:strVal val="visible"/>
                                      </p:to>
                                    </p:set>
                                    <p:animEffect transition="in" filter="wipe(left)">
                                      <p:cBhvr>
                                        <p:cTn id="18" dur="500"/>
                                        <p:tgtEl>
                                          <p:spTgt spid="223242"/>
                                        </p:tgtEl>
                                      </p:cBhvr>
                                    </p:animEffec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23241"/>
                                        </p:tgtEl>
                                        <p:attrNameLst>
                                          <p:attrName>style.visibility</p:attrName>
                                        </p:attrNameLst>
                                      </p:cBhvr>
                                      <p:to>
                                        <p:strVal val="visible"/>
                                      </p:to>
                                    </p:set>
                                    <p:animEffect transition="in" filter="wipe(left)">
                                      <p:cBhvr>
                                        <p:cTn id="22" dur="500"/>
                                        <p:tgtEl>
                                          <p:spTgt spid="223241"/>
                                        </p:tgtEl>
                                      </p:cBhvr>
                                    </p:animEffect>
                                  </p:childTnLst>
                                </p:cTn>
                              </p:par>
                            </p:childTnLst>
                          </p:cTn>
                        </p:par>
                        <p:par>
                          <p:cTn id="23" fill="hold" nodeType="afterGroup">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23238"/>
                                        </p:tgtEl>
                                        <p:attrNameLst>
                                          <p:attrName>style.visibility</p:attrName>
                                        </p:attrNameLst>
                                      </p:cBhvr>
                                      <p:to>
                                        <p:strVal val="visible"/>
                                      </p:to>
                                    </p:set>
                                    <p:animEffect transition="in" filter="wipe(left)">
                                      <p:cBhvr>
                                        <p:cTn id="26" dur="500"/>
                                        <p:tgtEl>
                                          <p:spTgt spid="223238"/>
                                        </p:tgtEl>
                                      </p:cBhvr>
                                    </p:animEffect>
                                  </p:childTnLst>
                                </p:cTn>
                              </p:par>
                            </p:childTnLst>
                          </p:cTn>
                        </p:par>
                        <p:par>
                          <p:cTn id="27" fill="hold" nodeType="afterGroup">
                            <p:stCondLst>
                              <p:cond delay="1500"/>
                            </p:stCondLst>
                            <p:childTnLst>
                              <p:par>
                                <p:cTn id="28" presetID="17" presetClass="entr" presetSubtype="1" fill="hold" grpId="0" nodeType="afterEffect">
                                  <p:stCondLst>
                                    <p:cond delay="0"/>
                                  </p:stCondLst>
                                  <p:childTnLst>
                                    <p:set>
                                      <p:cBhvr>
                                        <p:cTn id="29" dur="1" fill="hold">
                                          <p:stCondLst>
                                            <p:cond delay="0"/>
                                          </p:stCondLst>
                                        </p:cTn>
                                        <p:tgtEl>
                                          <p:spTgt spid="223239"/>
                                        </p:tgtEl>
                                        <p:attrNameLst>
                                          <p:attrName>style.visibility</p:attrName>
                                        </p:attrNameLst>
                                      </p:cBhvr>
                                      <p:to>
                                        <p:strVal val="visible"/>
                                      </p:to>
                                    </p:set>
                                    <p:anim calcmode="lin" valueType="num">
                                      <p:cBhvr>
                                        <p:cTn id="30" dur="500" fill="hold"/>
                                        <p:tgtEl>
                                          <p:spTgt spid="223239"/>
                                        </p:tgtEl>
                                        <p:attrNameLst>
                                          <p:attrName>ppt_x</p:attrName>
                                        </p:attrNameLst>
                                      </p:cBhvr>
                                      <p:tavLst>
                                        <p:tav tm="0">
                                          <p:val>
                                            <p:strVal val="#ppt_x"/>
                                          </p:val>
                                        </p:tav>
                                        <p:tav tm="100000">
                                          <p:val>
                                            <p:strVal val="#ppt_x"/>
                                          </p:val>
                                        </p:tav>
                                      </p:tavLst>
                                    </p:anim>
                                    <p:anim calcmode="lin" valueType="num">
                                      <p:cBhvr>
                                        <p:cTn id="31" dur="500" fill="hold"/>
                                        <p:tgtEl>
                                          <p:spTgt spid="223239"/>
                                        </p:tgtEl>
                                        <p:attrNameLst>
                                          <p:attrName>ppt_y</p:attrName>
                                        </p:attrNameLst>
                                      </p:cBhvr>
                                      <p:tavLst>
                                        <p:tav tm="0">
                                          <p:val>
                                            <p:strVal val="#ppt_y-#ppt_h/2"/>
                                          </p:val>
                                        </p:tav>
                                        <p:tav tm="100000">
                                          <p:val>
                                            <p:strVal val="#ppt_y"/>
                                          </p:val>
                                        </p:tav>
                                      </p:tavLst>
                                    </p:anim>
                                    <p:anim calcmode="lin" valueType="num">
                                      <p:cBhvr>
                                        <p:cTn id="32" dur="500" fill="hold"/>
                                        <p:tgtEl>
                                          <p:spTgt spid="223239"/>
                                        </p:tgtEl>
                                        <p:attrNameLst>
                                          <p:attrName>ppt_w</p:attrName>
                                        </p:attrNameLst>
                                      </p:cBhvr>
                                      <p:tavLst>
                                        <p:tav tm="0">
                                          <p:val>
                                            <p:strVal val="#ppt_w"/>
                                          </p:val>
                                        </p:tav>
                                        <p:tav tm="100000">
                                          <p:val>
                                            <p:strVal val="#ppt_w"/>
                                          </p:val>
                                        </p:tav>
                                      </p:tavLst>
                                    </p:anim>
                                    <p:anim calcmode="lin" valueType="num">
                                      <p:cBhvr>
                                        <p:cTn id="33" dur="500" fill="hold"/>
                                        <p:tgtEl>
                                          <p:spTgt spid="223239"/>
                                        </p:tgtEl>
                                        <p:attrNameLst>
                                          <p:attrName>ppt_h</p:attrName>
                                        </p:attrNameLst>
                                      </p:cBhvr>
                                      <p:tavLst>
                                        <p:tav tm="0">
                                          <p:val>
                                            <p:fltVal val="0"/>
                                          </p:val>
                                        </p:tav>
                                        <p:tav tm="100000">
                                          <p:val>
                                            <p:strVal val="#ppt_h"/>
                                          </p:val>
                                        </p:tav>
                                      </p:tavLst>
                                    </p:anim>
                                  </p:childTnLst>
                                </p:cTn>
                              </p:par>
                            </p:childTnLst>
                          </p:cTn>
                        </p:par>
                        <p:par>
                          <p:cTn id="34" fill="hold" nodeType="afterGroup">
                            <p:stCondLst>
                              <p:cond delay="2000"/>
                            </p:stCondLst>
                            <p:childTnLst>
                              <p:par>
                                <p:cTn id="35" presetID="17" presetClass="entr" presetSubtype="1" fill="hold" grpId="0" nodeType="afterEffect">
                                  <p:stCondLst>
                                    <p:cond delay="0"/>
                                  </p:stCondLst>
                                  <p:childTnLst>
                                    <p:set>
                                      <p:cBhvr>
                                        <p:cTn id="36" dur="1" fill="hold">
                                          <p:stCondLst>
                                            <p:cond delay="0"/>
                                          </p:stCondLst>
                                        </p:cTn>
                                        <p:tgtEl>
                                          <p:spTgt spid="223240"/>
                                        </p:tgtEl>
                                        <p:attrNameLst>
                                          <p:attrName>style.visibility</p:attrName>
                                        </p:attrNameLst>
                                      </p:cBhvr>
                                      <p:to>
                                        <p:strVal val="visible"/>
                                      </p:to>
                                    </p:set>
                                    <p:anim calcmode="lin" valueType="num">
                                      <p:cBhvr>
                                        <p:cTn id="37" dur="500" fill="hold"/>
                                        <p:tgtEl>
                                          <p:spTgt spid="223240"/>
                                        </p:tgtEl>
                                        <p:attrNameLst>
                                          <p:attrName>ppt_x</p:attrName>
                                        </p:attrNameLst>
                                      </p:cBhvr>
                                      <p:tavLst>
                                        <p:tav tm="0">
                                          <p:val>
                                            <p:strVal val="#ppt_x"/>
                                          </p:val>
                                        </p:tav>
                                        <p:tav tm="100000">
                                          <p:val>
                                            <p:strVal val="#ppt_x"/>
                                          </p:val>
                                        </p:tav>
                                      </p:tavLst>
                                    </p:anim>
                                    <p:anim calcmode="lin" valueType="num">
                                      <p:cBhvr>
                                        <p:cTn id="38" dur="500" fill="hold"/>
                                        <p:tgtEl>
                                          <p:spTgt spid="223240"/>
                                        </p:tgtEl>
                                        <p:attrNameLst>
                                          <p:attrName>ppt_y</p:attrName>
                                        </p:attrNameLst>
                                      </p:cBhvr>
                                      <p:tavLst>
                                        <p:tav tm="0">
                                          <p:val>
                                            <p:strVal val="#ppt_y-#ppt_h/2"/>
                                          </p:val>
                                        </p:tav>
                                        <p:tav tm="100000">
                                          <p:val>
                                            <p:strVal val="#ppt_y"/>
                                          </p:val>
                                        </p:tav>
                                      </p:tavLst>
                                    </p:anim>
                                    <p:anim calcmode="lin" valueType="num">
                                      <p:cBhvr>
                                        <p:cTn id="39" dur="500" fill="hold"/>
                                        <p:tgtEl>
                                          <p:spTgt spid="223240"/>
                                        </p:tgtEl>
                                        <p:attrNameLst>
                                          <p:attrName>ppt_w</p:attrName>
                                        </p:attrNameLst>
                                      </p:cBhvr>
                                      <p:tavLst>
                                        <p:tav tm="0">
                                          <p:val>
                                            <p:strVal val="#ppt_w"/>
                                          </p:val>
                                        </p:tav>
                                        <p:tav tm="100000">
                                          <p:val>
                                            <p:strVal val="#ppt_w"/>
                                          </p:val>
                                        </p:tav>
                                      </p:tavLst>
                                    </p:anim>
                                    <p:anim calcmode="lin" valueType="num">
                                      <p:cBhvr>
                                        <p:cTn id="40" dur="500" fill="hold"/>
                                        <p:tgtEl>
                                          <p:spTgt spid="223240"/>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23235"/>
                                        </p:tgtEl>
                                        <p:attrNameLst>
                                          <p:attrName>style.visibility</p:attrName>
                                        </p:attrNameLst>
                                      </p:cBhvr>
                                      <p:to>
                                        <p:strVal val="visible"/>
                                      </p:to>
                                    </p:set>
                                    <p:animEffect transition="in" filter="wipe(left)">
                                      <p:cBhvr>
                                        <p:cTn id="45" dur="500"/>
                                        <p:tgtEl>
                                          <p:spTgt spid="22323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223244"/>
                                        </p:tgtEl>
                                        <p:attrNameLst>
                                          <p:attrName>style.visibility</p:attrName>
                                        </p:attrNameLst>
                                      </p:cBhvr>
                                      <p:to>
                                        <p:strVal val="visible"/>
                                      </p:to>
                                    </p:set>
                                    <p:animEffect transition="in" filter="wipe(up)">
                                      <p:cBhvr>
                                        <p:cTn id="50" dur="500"/>
                                        <p:tgtEl>
                                          <p:spTgt spid="223244"/>
                                        </p:tgtEl>
                                      </p:cBhvr>
                                    </p:animEffect>
                                  </p:childTnLst>
                                </p:cTn>
                              </p:par>
                            </p:childTnLst>
                          </p:cTn>
                        </p:par>
                        <p:par>
                          <p:cTn id="51" fill="hold" nodeType="afterGroup">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223245"/>
                                        </p:tgtEl>
                                        <p:attrNameLst>
                                          <p:attrName>style.visibility</p:attrName>
                                        </p:attrNameLst>
                                      </p:cBhvr>
                                      <p:to>
                                        <p:strVal val="visible"/>
                                      </p:to>
                                    </p:set>
                                    <p:animEffect transition="in" filter="wipe(up)">
                                      <p:cBhvr>
                                        <p:cTn id="54" dur="500"/>
                                        <p:tgtEl>
                                          <p:spTgt spid="223245"/>
                                        </p:tgtEl>
                                      </p:cBhvr>
                                    </p:animEffect>
                                  </p:childTnLst>
                                </p:cTn>
                              </p:par>
                            </p:childTnLst>
                          </p:cTn>
                        </p:par>
                        <p:par>
                          <p:cTn id="55" fill="hold" nodeType="afterGroup">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223246"/>
                                        </p:tgtEl>
                                        <p:attrNameLst>
                                          <p:attrName>style.visibility</p:attrName>
                                        </p:attrNameLst>
                                      </p:cBhvr>
                                      <p:to>
                                        <p:strVal val="visible"/>
                                      </p:to>
                                    </p:set>
                                    <p:animEffect transition="in" filter="wipe(up)">
                                      <p:cBhvr>
                                        <p:cTn id="58" dur="500"/>
                                        <p:tgtEl>
                                          <p:spTgt spid="22324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3250"/>
                                        </p:tgtEl>
                                        <p:attrNameLst>
                                          <p:attrName>style.visibility</p:attrName>
                                        </p:attrNameLst>
                                      </p:cBhvr>
                                      <p:to>
                                        <p:strVal val="visible"/>
                                      </p:to>
                                    </p:set>
                                    <p:animEffect transition="in" filter="wipe(left)">
                                      <p:cBhvr>
                                        <p:cTn id="63" dur="500"/>
                                        <p:tgtEl>
                                          <p:spTgt spid="223250"/>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223247"/>
                                        </p:tgtEl>
                                        <p:attrNameLst>
                                          <p:attrName>style.visibility</p:attrName>
                                        </p:attrNameLst>
                                      </p:cBhvr>
                                      <p:to>
                                        <p:strVal val="visible"/>
                                      </p:to>
                                    </p:set>
                                    <p:animEffect transition="in" filter="wipe(left)">
                                      <p:cBhvr>
                                        <p:cTn id="67" dur="500"/>
                                        <p:tgtEl>
                                          <p:spTgt spid="223247"/>
                                        </p:tgtEl>
                                      </p:cBhvr>
                                    </p:animEffect>
                                  </p:childTnLst>
                                </p:cTn>
                              </p:par>
                            </p:childTnLst>
                          </p:cTn>
                        </p:par>
                        <p:par>
                          <p:cTn id="68" fill="hold" nodeType="afterGroup">
                            <p:stCondLst>
                              <p:cond delay="1000"/>
                            </p:stCondLst>
                            <p:childTnLst>
                              <p:par>
                                <p:cTn id="69" presetID="17" presetClass="entr" presetSubtype="1" fill="hold" grpId="0" nodeType="afterEffect">
                                  <p:stCondLst>
                                    <p:cond delay="0"/>
                                  </p:stCondLst>
                                  <p:childTnLst>
                                    <p:set>
                                      <p:cBhvr>
                                        <p:cTn id="70" dur="1" fill="hold">
                                          <p:stCondLst>
                                            <p:cond delay="0"/>
                                          </p:stCondLst>
                                        </p:cTn>
                                        <p:tgtEl>
                                          <p:spTgt spid="223248"/>
                                        </p:tgtEl>
                                        <p:attrNameLst>
                                          <p:attrName>style.visibility</p:attrName>
                                        </p:attrNameLst>
                                      </p:cBhvr>
                                      <p:to>
                                        <p:strVal val="visible"/>
                                      </p:to>
                                    </p:set>
                                    <p:anim calcmode="lin" valueType="num">
                                      <p:cBhvr>
                                        <p:cTn id="71" dur="500" fill="hold"/>
                                        <p:tgtEl>
                                          <p:spTgt spid="223248"/>
                                        </p:tgtEl>
                                        <p:attrNameLst>
                                          <p:attrName>ppt_x</p:attrName>
                                        </p:attrNameLst>
                                      </p:cBhvr>
                                      <p:tavLst>
                                        <p:tav tm="0">
                                          <p:val>
                                            <p:strVal val="#ppt_x"/>
                                          </p:val>
                                        </p:tav>
                                        <p:tav tm="100000">
                                          <p:val>
                                            <p:strVal val="#ppt_x"/>
                                          </p:val>
                                        </p:tav>
                                      </p:tavLst>
                                    </p:anim>
                                    <p:anim calcmode="lin" valueType="num">
                                      <p:cBhvr>
                                        <p:cTn id="72" dur="500" fill="hold"/>
                                        <p:tgtEl>
                                          <p:spTgt spid="223248"/>
                                        </p:tgtEl>
                                        <p:attrNameLst>
                                          <p:attrName>ppt_y</p:attrName>
                                        </p:attrNameLst>
                                      </p:cBhvr>
                                      <p:tavLst>
                                        <p:tav tm="0">
                                          <p:val>
                                            <p:strVal val="#ppt_y-#ppt_h/2"/>
                                          </p:val>
                                        </p:tav>
                                        <p:tav tm="100000">
                                          <p:val>
                                            <p:strVal val="#ppt_y"/>
                                          </p:val>
                                        </p:tav>
                                      </p:tavLst>
                                    </p:anim>
                                    <p:anim calcmode="lin" valueType="num">
                                      <p:cBhvr>
                                        <p:cTn id="73" dur="500" fill="hold"/>
                                        <p:tgtEl>
                                          <p:spTgt spid="223248"/>
                                        </p:tgtEl>
                                        <p:attrNameLst>
                                          <p:attrName>ppt_w</p:attrName>
                                        </p:attrNameLst>
                                      </p:cBhvr>
                                      <p:tavLst>
                                        <p:tav tm="0">
                                          <p:val>
                                            <p:strVal val="#ppt_w"/>
                                          </p:val>
                                        </p:tav>
                                        <p:tav tm="100000">
                                          <p:val>
                                            <p:strVal val="#ppt_w"/>
                                          </p:val>
                                        </p:tav>
                                      </p:tavLst>
                                    </p:anim>
                                    <p:anim calcmode="lin" valueType="num">
                                      <p:cBhvr>
                                        <p:cTn id="74" dur="500" fill="hold"/>
                                        <p:tgtEl>
                                          <p:spTgt spid="223248"/>
                                        </p:tgtEl>
                                        <p:attrNameLst>
                                          <p:attrName>ppt_h</p:attrName>
                                        </p:attrNameLst>
                                      </p:cBhvr>
                                      <p:tavLst>
                                        <p:tav tm="0">
                                          <p:val>
                                            <p:fltVal val="0"/>
                                          </p:val>
                                        </p:tav>
                                        <p:tav tm="100000">
                                          <p:val>
                                            <p:strVal val="#ppt_h"/>
                                          </p:val>
                                        </p:tav>
                                      </p:tavLst>
                                    </p:anim>
                                  </p:childTnLst>
                                </p:cTn>
                              </p:par>
                            </p:childTnLst>
                          </p:cTn>
                        </p:par>
                        <p:par>
                          <p:cTn id="75" fill="hold" nodeType="afterGroup">
                            <p:stCondLst>
                              <p:cond delay="1500"/>
                            </p:stCondLst>
                            <p:childTnLst>
                              <p:par>
                                <p:cTn id="76" presetID="17" presetClass="entr" presetSubtype="1" fill="hold" grpId="0" nodeType="afterEffect">
                                  <p:stCondLst>
                                    <p:cond delay="0"/>
                                  </p:stCondLst>
                                  <p:childTnLst>
                                    <p:set>
                                      <p:cBhvr>
                                        <p:cTn id="77" dur="1" fill="hold">
                                          <p:stCondLst>
                                            <p:cond delay="0"/>
                                          </p:stCondLst>
                                        </p:cTn>
                                        <p:tgtEl>
                                          <p:spTgt spid="223249"/>
                                        </p:tgtEl>
                                        <p:attrNameLst>
                                          <p:attrName>style.visibility</p:attrName>
                                        </p:attrNameLst>
                                      </p:cBhvr>
                                      <p:to>
                                        <p:strVal val="visible"/>
                                      </p:to>
                                    </p:set>
                                    <p:anim calcmode="lin" valueType="num">
                                      <p:cBhvr>
                                        <p:cTn id="78" dur="500" fill="hold"/>
                                        <p:tgtEl>
                                          <p:spTgt spid="223249"/>
                                        </p:tgtEl>
                                        <p:attrNameLst>
                                          <p:attrName>ppt_x</p:attrName>
                                        </p:attrNameLst>
                                      </p:cBhvr>
                                      <p:tavLst>
                                        <p:tav tm="0">
                                          <p:val>
                                            <p:strVal val="#ppt_x"/>
                                          </p:val>
                                        </p:tav>
                                        <p:tav tm="100000">
                                          <p:val>
                                            <p:strVal val="#ppt_x"/>
                                          </p:val>
                                        </p:tav>
                                      </p:tavLst>
                                    </p:anim>
                                    <p:anim calcmode="lin" valueType="num">
                                      <p:cBhvr>
                                        <p:cTn id="79" dur="500" fill="hold"/>
                                        <p:tgtEl>
                                          <p:spTgt spid="223249"/>
                                        </p:tgtEl>
                                        <p:attrNameLst>
                                          <p:attrName>ppt_y</p:attrName>
                                        </p:attrNameLst>
                                      </p:cBhvr>
                                      <p:tavLst>
                                        <p:tav tm="0">
                                          <p:val>
                                            <p:strVal val="#ppt_y-#ppt_h/2"/>
                                          </p:val>
                                        </p:tav>
                                        <p:tav tm="100000">
                                          <p:val>
                                            <p:strVal val="#ppt_y"/>
                                          </p:val>
                                        </p:tav>
                                      </p:tavLst>
                                    </p:anim>
                                    <p:anim calcmode="lin" valueType="num">
                                      <p:cBhvr>
                                        <p:cTn id="80" dur="500" fill="hold"/>
                                        <p:tgtEl>
                                          <p:spTgt spid="223249"/>
                                        </p:tgtEl>
                                        <p:attrNameLst>
                                          <p:attrName>ppt_w</p:attrName>
                                        </p:attrNameLst>
                                      </p:cBhvr>
                                      <p:tavLst>
                                        <p:tav tm="0">
                                          <p:val>
                                            <p:strVal val="#ppt_w"/>
                                          </p:val>
                                        </p:tav>
                                        <p:tav tm="100000">
                                          <p:val>
                                            <p:strVal val="#ppt_w"/>
                                          </p:val>
                                        </p:tav>
                                      </p:tavLst>
                                    </p:anim>
                                    <p:anim calcmode="lin" valueType="num">
                                      <p:cBhvr>
                                        <p:cTn id="81" dur="500" fill="hold"/>
                                        <p:tgtEl>
                                          <p:spTgt spid="223249"/>
                                        </p:tgtEl>
                                        <p:attrNameLst>
                                          <p:attrName>ppt_h</p:attrName>
                                        </p:attrNameLst>
                                      </p:cBhvr>
                                      <p:tavLst>
                                        <p:tav tm="0">
                                          <p:val>
                                            <p:fltVal val="0"/>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23236"/>
                                        </p:tgtEl>
                                        <p:attrNameLst>
                                          <p:attrName>style.visibility</p:attrName>
                                        </p:attrNameLst>
                                      </p:cBhvr>
                                      <p:to>
                                        <p:strVal val="visible"/>
                                      </p:to>
                                    </p:set>
                                    <p:animEffect transition="in" filter="wipe(left)">
                                      <p:cBhvr>
                                        <p:cTn id="86" dur="500"/>
                                        <p:tgtEl>
                                          <p:spTgt spid="223236"/>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23258"/>
                                        </p:tgtEl>
                                        <p:attrNameLst>
                                          <p:attrName>style.visibility</p:attrName>
                                        </p:attrNameLst>
                                      </p:cBhvr>
                                      <p:to>
                                        <p:strVal val="visible"/>
                                      </p:to>
                                    </p:set>
                                    <p:animEffect transition="in" filter="wipe(left)">
                                      <p:cBhvr>
                                        <p:cTn id="91" dur="500"/>
                                        <p:tgtEl>
                                          <p:spTgt spid="223258"/>
                                        </p:tgtEl>
                                      </p:cBhvr>
                                    </p:animEffect>
                                  </p:childTnLst>
                                </p:cTn>
                              </p:par>
                            </p:childTnLst>
                          </p:cTn>
                        </p:par>
                        <p:par>
                          <p:cTn id="92" fill="hold" nodeType="afterGroup">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223255"/>
                                        </p:tgtEl>
                                        <p:attrNameLst>
                                          <p:attrName>style.visibility</p:attrName>
                                        </p:attrNameLst>
                                      </p:cBhvr>
                                      <p:to>
                                        <p:strVal val="visible"/>
                                      </p:to>
                                    </p:set>
                                    <p:animEffect transition="in" filter="wipe(left)">
                                      <p:cBhvr>
                                        <p:cTn id="95" dur="500"/>
                                        <p:tgtEl>
                                          <p:spTgt spid="223255"/>
                                        </p:tgtEl>
                                      </p:cBhvr>
                                    </p:animEffect>
                                  </p:childTnLst>
                                </p:cTn>
                              </p:par>
                            </p:childTnLst>
                          </p:cTn>
                        </p:par>
                        <p:par>
                          <p:cTn id="96" fill="hold" nodeType="afterGroup">
                            <p:stCondLst>
                              <p:cond delay="1000"/>
                            </p:stCondLst>
                            <p:childTnLst>
                              <p:par>
                                <p:cTn id="97" presetID="22" presetClass="entr" presetSubtype="8" fill="hold" grpId="0" nodeType="afterEffect">
                                  <p:stCondLst>
                                    <p:cond delay="0"/>
                                  </p:stCondLst>
                                  <p:childTnLst>
                                    <p:set>
                                      <p:cBhvr>
                                        <p:cTn id="98" dur="1" fill="hold">
                                          <p:stCondLst>
                                            <p:cond delay="0"/>
                                          </p:stCondLst>
                                        </p:cTn>
                                        <p:tgtEl>
                                          <p:spTgt spid="223256"/>
                                        </p:tgtEl>
                                        <p:attrNameLst>
                                          <p:attrName>style.visibility</p:attrName>
                                        </p:attrNameLst>
                                      </p:cBhvr>
                                      <p:to>
                                        <p:strVal val="visible"/>
                                      </p:to>
                                    </p:set>
                                    <p:animEffect transition="in" filter="wipe(left)">
                                      <p:cBhvr>
                                        <p:cTn id="99" dur="500"/>
                                        <p:tgtEl>
                                          <p:spTgt spid="223256"/>
                                        </p:tgtEl>
                                      </p:cBhvr>
                                    </p:animEffect>
                                  </p:childTnLst>
                                </p:cTn>
                              </p:par>
                            </p:childTnLst>
                          </p:cTn>
                        </p:par>
                        <p:par>
                          <p:cTn id="100" fill="hold" nodeType="afterGroup">
                            <p:stCondLst>
                              <p:cond delay="1500"/>
                            </p:stCondLst>
                            <p:childTnLst>
                              <p:par>
                                <p:cTn id="101" presetID="22" presetClass="entr" presetSubtype="8" fill="hold" grpId="0" nodeType="afterEffect">
                                  <p:stCondLst>
                                    <p:cond delay="0"/>
                                  </p:stCondLst>
                                  <p:childTnLst>
                                    <p:set>
                                      <p:cBhvr>
                                        <p:cTn id="102" dur="1" fill="hold">
                                          <p:stCondLst>
                                            <p:cond delay="0"/>
                                          </p:stCondLst>
                                        </p:cTn>
                                        <p:tgtEl>
                                          <p:spTgt spid="223257"/>
                                        </p:tgtEl>
                                        <p:attrNameLst>
                                          <p:attrName>style.visibility</p:attrName>
                                        </p:attrNameLst>
                                      </p:cBhvr>
                                      <p:to>
                                        <p:strVal val="visible"/>
                                      </p:to>
                                    </p:set>
                                    <p:animEffect transition="in" filter="wipe(left)">
                                      <p:cBhvr>
                                        <p:cTn id="103" dur="500"/>
                                        <p:tgtEl>
                                          <p:spTgt spid="223257"/>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23254"/>
                                        </p:tgtEl>
                                        <p:attrNameLst>
                                          <p:attrName>style.visibility</p:attrName>
                                        </p:attrNameLst>
                                      </p:cBhvr>
                                      <p:to>
                                        <p:strVal val="visible"/>
                                      </p:to>
                                    </p:set>
                                    <p:animEffect transition="in" filter="wipe(left)">
                                      <p:cBhvr>
                                        <p:cTn id="108" dur="500"/>
                                        <p:tgtEl>
                                          <p:spTgt spid="223254"/>
                                        </p:tgtEl>
                                      </p:cBhvr>
                                    </p:animEffect>
                                  </p:childTnLst>
                                </p:cTn>
                              </p:par>
                            </p:childTnLst>
                          </p:cTn>
                        </p:par>
                        <p:par>
                          <p:cTn id="109" fill="hold" nodeType="afterGroup">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223251"/>
                                        </p:tgtEl>
                                        <p:attrNameLst>
                                          <p:attrName>style.visibility</p:attrName>
                                        </p:attrNameLst>
                                      </p:cBhvr>
                                      <p:to>
                                        <p:strVal val="visible"/>
                                      </p:to>
                                    </p:set>
                                    <p:animEffect transition="in" filter="wipe(left)">
                                      <p:cBhvr>
                                        <p:cTn id="112" dur="500"/>
                                        <p:tgtEl>
                                          <p:spTgt spid="223251"/>
                                        </p:tgtEl>
                                      </p:cBhvr>
                                    </p:animEffect>
                                  </p:childTnLst>
                                </p:cTn>
                              </p:par>
                            </p:childTnLst>
                          </p:cTn>
                        </p:par>
                        <p:par>
                          <p:cTn id="113" fill="hold" nodeType="afterGroup">
                            <p:stCondLst>
                              <p:cond delay="1000"/>
                            </p:stCondLst>
                            <p:childTnLst>
                              <p:par>
                                <p:cTn id="114" presetID="17" presetClass="entr" presetSubtype="1" fill="hold" grpId="0" nodeType="afterEffect">
                                  <p:stCondLst>
                                    <p:cond delay="0"/>
                                  </p:stCondLst>
                                  <p:childTnLst>
                                    <p:set>
                                      <p:cBhvr>
                                        <p:cTn id="115" dur="1" fill="hold">
                                          <p:stCondLst>
                                            <p:cond delay="0"/>
                                          </p:stCondLst>
                                        </p:cTn>
                                        <p:tgtEl>
                                          <p:spTgt spid="223252"/>
                                        </p:tgtEl>
                                        <p:attrNameLst>
                                          <p:attrName>style.visibility</p:attrName>
                                        </p:attrNameLst>
                                      </p:cBhvr>
                                      <p:to>
                                        <p:strVal val="visible"/>
                                      </p:to>
                                    </p:set>
                                    <p:anim calcmode="lin" valueType="num">
                                      <p:cBhvr>
                                        <p:cTn id="116" dur="500" fill="hold"/>
                                        <p:tgtEl>
                                          <p:spTgt spid="223252"/>
                                        </p:tgtEl>
                                        <p:attrNameLst>
                                          <p:attrName>ppt_x</p:attrName>
                                        </p:attrNameLst>
                                      </p:cBhvr>
                                      <p:tavLst>
                                        <p:tav tm="0">
                                          <p:val>
                                            <p:strVal val="#ppt_x"/>
                                          </p:val>
                                        </p:tav>
                                        <p:tav tm="100000">
                                          <p:val>
                                            <p:strVal val="#ppt_x"/>
                                          </p:val>
                                        </p:tav>
                                      </p:tavLst>
                                    </p:anim>
                                    <p:anim calcmode="lin" valueType="num">
                                      <p:cBhvr>
                                        <p:cTn id="117" dur="500" fill="hold"/>
                                        <p:tgtEl>
                                          <p:spTgt spid="223252"/>
                                        </p:tgtEl>
                                        <p:attrNameLst>
                                          <p:attrName>ppt_y</p:attrName>
                                        </p:attrNameLst>
                                      </p:cBhvr>
                                      <p:tavLst>
                                        <p:tav tm="0">
                                          <p:val>
                                            <p:strVal val="#ppt_y-#ppt_h/2"/>
                                          </p:val>
                                        </p:tav>
                                        <p:tav tm="100000">
                                          <p:val>
                                            <p:strVal val="#ppt_y"/>
                                          </p:val>
                                        </p:tav>
                                      </p:tavLst>
                                    </p:anim>
                                    <p:anim calcmode="lin" valueType="num">
                                      <p:cBhvr>
                                        <p:cTn id="118" dur="500" fill="hold"/>
                                        <p:tgtEl>
                                          <p:spTgt spid="223252"/>
                                        </p:tgtEl>
                                        <p:attrNameLst>
                                          <p:attrName>ppt_w</p:attrName>
                                        </p:attrNameLst>
                                      </p:cBhvr>
                                      <p:tavLst>
                                        <p:tav tm="0">
                                          <p:val>
                                            <p:strVal val="#ppt_w"/>
                                          </p:val>
                                        </p:tav>
                                        <p:tav tm="100000">
                                          <p:val>
                                            <p:strVal val="#ppt_w"/>
                                          </p:val>
                                        </p:tav>
                                      </p:tavLst>
                                    </p:anim>
                                    <p:anim calcmode="lin" valueType="num">
                                      <p:cBhvr>
                                        <p:cTn id="119" dur="500" fill="hold"/>
                                        <p:tgtEl>
                                          <p:spTgt spid="223252"/>
                                        </p:tgtEl>
                                        <p:attrNameLst>
                                          <p:attrName>ppt_h</p:attrName>
                                        </p:attrNameLst>
                                      </p:cBhvr>
                                      <p:tavLst>
                                        <p:tav tm="0">
                                          <p:val>
                                            <p:fltVal val="0"/>
                                          </p:val>
                                        </p:tav>
                                        <p:tav tm="100000">
                                          <p:val>
                                            <p:strVal val="#ppt_h"/>
                                          </p:val>
                                        </p:tav>
                                      </p:tavLst>
                                    </p:anim>
                                  </p:childTnLst>
                                </p:cTn>
                              </p:par>
                            </p:childTnLst>
                          </p:cTn>
                        </p:par>
                        <p:par>
                          <p:cTn id="120" fill="hold" nodeType="afterGroup">
                            <p:stCondLst>
                              <p:cond delay="1500"/>
                            </p:stCondLst>
                            <p:childTnLst>
                              <p:par>
                                <p:cTn id="121" presetID="17" presetClass="entr" presetSubtype="1" fill="hold" grpId="0" nodeType="afterEffect">
                                  <p:stCondLst>
                                    <p:cond delay="0"/>
                                  </p:stCondLst>
                                  <p:childTnLst>
                                    <p:set>
                                      <p:cBhvr>
                                        <p:cTn id="122" dur="1" fill="hold">
                                          <p:stCondLst>
                                            <p:cond delay="0"/>
                                          </p:stCondLst>
                                        </p:cTn>
                                        <p:tgtEl>
                                          <p:spTgt spid="223253"/>
                                        </p:tgtEl>
                                        <p:attrNameLst>
                                          <p:attrName>style.visibility</p:attrName>
                                        </p:attrNameLst>
                                      </p:cBhvr>
                                      <p:to>
                                        <p:strVal val="visible"/>
                                      </p:to>
                                    </p:set>
                                    <p:anim calcmode="lin" valueType="num">
                                      <p:cBhvr>
                                        <p:cTn id="123" dur="500" fill="hold"/>
                                        <p:tgtEl>
                                          <p:spTgt spid="223253"/>
                                        </p:tgtEl>
                                        <p:attrNameLst>
                                          <p:attrName>ppt_x</p:attrName>
                                        </p:attrNameLst>
                                      </p:cBhvr>
                                      <p:tavLst>
                                        <p:tav tm="0">
                                          <p:val>
                                            <p:strVal val="#ppt_x"/>
                                          </p:val>
                                        </p:tav>
                                        <p:tav tm="100000">
                                          <p:val>
                                            <p:strVal val="#ppt_x"/>
                                          </p:val>
                                        </p:tav>
                                      </p:tavLst>
                                    </p:anim>
                                    <p:anim calcmode="lin" valueType="num">
                                      <p:cBhvr>
                                        <p:cTn id="124" dur="500" fill="hold"/>
                                        <p:tgtEl>
                                          <p:spTgt spid="223253"/>
                                        </p:tgtEl>
                                        <p:attrNameLst>
                                          <p:attrName>ppt_y</p:attrName>
                                        </p:attrNameLst>
                                      </p:cBhvr>
                                      <p:tavLst>
                                        <p:tav tm="0">
                                          <p:val>
                                            <p:strVal val="#ppt_y-#ppt_h/2"/>
                                          </p:val>
                                        </p:tav>
                                        <p:tav tm="100000">
                                          <p:val>
                                            <p:strVal val="#ppt_y"/>
                                          </p:val>
                                        </p:tav>
                                      </p:tavLst>
                                    </p:anim>
                                    <p:anim calcmode="lin" valueType="num">
                                      <p:cBhvr>
                                        <p:cTn id="125" dur="500" fill="hold"/>
                                        <p:tgtEl>
                                          <p:spTgt spid="223253"/>
                                        </p:tgtEl>
                                        <p:attrNameLst>
                                          <p:attrName>ppt_w</p:attrName>
                                        </p:attrNameLst>
                                      </p:cBhvr>
                                      <p:tavLst>
                                        <p:tav tm="0">
                                          <p:val>
                                            <p:strVal val="#ppt_w"/>
                                          </p:val>
                                        </p:tav>
                                        <p:tav tm="100000">
                                          <p:val>
                                            <p:strVal val="#ppt_w"/>
                                          </p:val>
                                        </p:tav>
                                      </p:tavLst>
                                    </p:anim>
                                    <p:anim calcmode="lin" valueType="num">
                                      <p:cBhvr>
                                        <p:cTn id="126" dur="500" fill="hold"/>
                                        <p:tgtEl>
                                          <p:spTgt spid="223253"/>
                                        </p:tgtEl>
                                        <p:attrNameLst>
                                          <p:attrName>ppt_h</p:attrName>
                                        </p:attrNameLst>
                                      </p:cBhvr>
                                      <p:tavLst>
                                        <p:tav tm="0">
                                          <p:val>
                                            <p:fltVal val="0"/>
                                          </p:val>
                                        </p:tav>
                                        <p:tav tm="100000">
                                          <p:val>
                                            <p:strVal val="#ppt_h"/>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23237"/>
                                        </p:tgtEl>
                                        <p:attrNameLst>
                                          <p:attrName>style.visibility</p:attrName>
                                        </p:attrNameLst>
                                      </p:cBhvr>
                                      <p:to>
                                        <p:strVal val="visible"/>
                                      </p:to>
                                    </p:set>
                                    <p:animEffect transition="in" filter="wipe(left)">
                                      <p:cBhvr>
                                        <p:cTn id="131" dur="500"/>
                                        <p:tgtEl>
                                          <p:spTgt spid="223237"/>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1" fill="hold" grpId="0" nodeType="clickEffect">
                                  <p:stCondLst>
                                    <p:cond delay="0"/>
                                  </p:stCondLst>
                                  <p:childTnLst>
                                    <p:set>
                                      <p:cBhvr>
                                        <p:cTn id="135" dur="1" fill="hold">
                                          <p:stCondLst>
                                            <p:cond delay="0"/>
                                          </p:stCondLst>
                                        </p:cTn>
                                        <p:tgtEl>
                                          <p:spTgt spid="223262"/>
                                        </p:tgtEl>
                                        <p:attrNameLst>
                                          <p:attrName>style.visibility</p:attrName>
                                        </p:attrNameLst>
                                      </p:cBhvr>
                                      <p:to>
                                        <p:strVal val="visible"/>
                                      </p:to>
                                    </p:set>
                                    <p:animEffect transition="in" filter="wipe(up)">
                                      <p:cBhvr>
                                        <p:cTn id="136" dur="500"/>
                                        <p:tgtEl>
                                          <p:spTgt spid="223262"/>
                                        </p:tgtEl>
                                      </p:cBhvr>
                                    </p:animEffect>
                                  </p:childTnLst>
                                </p:cTn>
                              </p:par>
                            </p:childTnLst>
                          </p:cTn>
                        </p:par>
                        <p:par>
                          <p:cTn id="137" fill="hold" nodeType="afterGroup">
                            <p:stCondLst>
                              <p:cond delay="500"/>
                            </p:stCondLst>
                            <p:childTnLst>
                              <p:par>
                                <p:cTn id="138" presetID="22" presetClass="entr" presetSubtype="1" fill="hold" grpId="0" nodeType="afterEffect">
                                  <p:stCondLst>
                                    <p:cond delay="0"/>
                                  </p:stCondLst>
                                  <p:childTnLst>
                                    <p:set>
                                      <p:cBhvr>
                                        <p:cTn id="139" dur="1" fill="hold">
                                          <p:stCondLst>
                                            <p:cond delay="0"/>
                                          </p:stCondLst>
                                        </p:cTn>
                                        <p:tgtEl>
                                          <p:spTgt spid="223259"/>
                                        </p:tgtEl>
                                        <p:attrNameLst>
                                          <p:attrName>style.visibility</p:attrName>
                                        </p:attrNameLst>
                                      </p:cBhvr>
                                      <p:to>
                                        <p:strVal val="visible"/>
                                      </p:to>
                                    </p:set>
                                    <p:animEffect transition="in" filter="wipe(up)">
                                      <p:cBhvr>
                                        <p:cTn id="140" dur="500"/>
                                        <p:tgtEl>
                                          <p:spTgt spid="223259"/>
                                        </p:tgtEl>
                                      </p:cBhvr>
                                    </p:animEffect>
                                  </p:childTnLst>
                                </p:cTn>
                              </p:par>
                            </p:childTnLst>
                          </p:cTn>
                        </p:par>
                        <p:par>
                          <p:cTn id="141" fill="hold" nodeType="afterGroup">
                            <p:stCondLst>
                              <p:cond delay="1000"/>
                            </p:stCondLst>
                            <p:childTnLst>
                              <p:par>
                                <p:cTn id="142" presetID="22" presetClass="entr" presetSubtype="1" fill="hold" grpId="0" nodeType="afterEffect">
                                  <p:stCondLst>
                                    <p:cond delay="0"/>
                                  </p:stCondLst>
                                  <p:childTnLst>
                                    <p:set>
                                      <p:cBhvr>
                                        <p:cTn id="143" dur="1" fill="hold">
                                          <p:stCondLst>
                                            <p:cond delay="0"/>
                                          </p:stCondLst>
                                        </p:cTn>
                                        <p:tgtEl>
                                          <p:spTgt spid="223260"/>
                                        </p:tgtEl>
                                        <p:attrNameLst>
                                          <p:attrName>style.visibility</p:attrName>
                                        </p:attrNameLst>
                                      </p:cBhvr>
                                      <p:to>
                                        <p:strVal val="visible"/>
                                      </p:to>
                                    </p:set>
                                    <p:animEffect transition="in" filter="wipe(up)">
                                      <p:cBhvr>
                                        <p:cTn id="144" dur="500"/>
                                        <p:tgtEl>
                                          <p:spTgt spid="223260"/>
                                        </p:tgtEl>
                                      </p:cBhvr>
                                    </p:animEffect>
                                  </p:childTnLst>
                                </p:cTn>
                              </p:par>
                            </p:childTnLst>
                          </p:cTn>
                        </p:par>
                        <p:par>
                          <p:cTn id="145" fill="hold" nodeType="afterGroup">
                            <p:stCondLst>
                              <p:cond delay="1500"/>
                            </p:stCondLst>
                            <p:childTnLst>
                              <p:par>
                                <p:cTn id="146" presetID="22" presetClass="entr" presetSubtype="1" fill="hold" grpId="0" nodeType="afterEffect">
                                  <p:stCondLst>
                                    <p:cond delay="0"/>
                                  </p:stCondLst>
                                  <p:childTnLst>
                                    <p:set>
                                      <p:cBhvr>
                                        <p:cTn id="147" dur="1" fill="hold">
                                          <p:stCondLst>
                                            <p:cond delay="0"/>
                                          </p:stCondLst>
                                        </p:cTn>
                                        <p:tgtEl>
                                          <p:spTgt spid="223261"/>
                                        </p:tgtEl>
                                        <p:attrNameLst>
                                          <p:attrName>style.visibility</p:attrName>
                                        </p:attrNameLst>
                                      </p:cBhvr>
                                      <p:to>
                                        <p:strVal val="visible"/>
                                      </p:to>
                                    </p:set>
                                    <p:animEffect transition="in" filter="wipe(up)">
                                      <p:cBhvr>
                                        <p:cTn id="148" dur="500"/>
                                        <p:tgtEl>
                                          <p:spTgt spid="223261"/>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223273"/>
                                        </p:tgtEl>
                                        <p:attrNameLst>
                                          <p:attrName>style.visibility</p:attrName>
                                        </p:attrNameLst>
                                      </p:cBhvr>
                                      <p:to>
                                        <p:strVal val="visible"/>
                                      </p:to>
                                    </p:set>
                                    <p:animEffect transition="in" filter="wipe(left)">
                                      <p:cBhvr>
                                        <p:cTn id="153" dur="500"/>
                                        <p:tgtEl>
                                          <p:spTgt spid="223273"/>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1" fill="hold" grpId="0" nodeType="clickEffect">
                                  <p:stCondLst>
                                    <p:cond delay="0"/>
                                  </p:stCondLst>
                                  <p:childTnLst>
                                    <p:set>
                                      <p:cBhvr>
                                        <p:cTn id="157" dur="1" fill="hold">
                                          <p:stCondLst>
                                            <p:cond delay="0"/>
                                          </p:stCondLst>
                                        </p:cTn>
                                        <p:tgtEl>
                                          <p:spTgt spid="223266"/>
                                        </p:tgtEl>
                                        <p:attrNameLst>
                                          <p:attrName>style.visibility</p:attrName>
                                        </p:attrNameLst>
                                      </p:cBhvr>
                                      <p:to>
                                        <p:strVal val="visible"/>
                                      </p:to>
                                    </p:set>
                                    <p:animEffect transition="in" filter="wipe(up)">
                                      <p:cBhvr>
                                        <p:cTn id="158" dur="500"/>
                                        <p:tgtEl>
                                          <p:spTgt spid="223266"/>
                                        </p:tgtEl>
                                      </p:cBhvr>
                                    </p:animEffect>
                                  </p:childTnLst>
                                </p:cTn>
                              </p:par>
                            </p:childTnLst>
                          </p:cTn>
                        </p:par>
                        <p:par>
                          <p:cTn id="159" fill="hold" nodeType="afterGroup">
                            <p:stCondLst>
                              <p:cond delay="500"/>
                            </p:stCondLst>
                            <p:childTnLst>
                              <p:par>
                                <p:cTn id="160" presetID="22" presetClass="entr" presetSubtype="1" fill="hold" grpId="0" nodeType="afterEffect">
                                  <p:stCondLst>
                                    <p:cond delay="0"/>
                                  </p:stCondLst>
                                  <p:childTnLst>
                                    <p:set>
                                      <p:cBhvr>
                                        <p:cTn id="161" dur="1" fill="hold">
                                          <p:stCondLst>
                                            <p:cond delay="0"/>
                                          </p:stCondLst>
                                        </p:cTn>
                                        <p:tgtEl>
                                          <p:spTgt spid="223263"/>
                                        </p:tgtEl>
                                        <p:attrNameLst>
                                          <p:attrName>style.visibility</p:attrName>
                                        </p:attrNameLst>
                                      </p:cBhvr>
                                      <p:to>
                                        <p:strVal val="visible"/>
                                      </p:to>
                                    </p:set>
                                    <p:animEffect transition="in" filter="wipe(up)">
                                      <p:cBhvr>
                                        <p:cTn id="162" dur="500"/>
                                        <p:tgtEl>
                                          <p:spTgt spid="223263"/>
                                        </p:tgtEl>
                                      </p:cBhvr>
                                    </p:animEffect>
                                  </p:childTnLst>
                                </p:cTn>
                              </p:par>
                            </p:childTnLst>
                          </p:cTn>
                        </p:par>
                        <p:par>
                          <p:cTn id="163" fill="hold" nodeType="afterGroup">
                            <p:stCondLst>
                              <p:cond delay="1000"/>
                            </p:stCondLst>
                            <p:childTnLst>
                              <p:par>
                                <p:cTn id="164" presetID="22" presetClass="entr" presetSubtype="1" fill="hold" grpId="0" nodeType="afterEffect">
                                  <p:stCondLst>
                                    <p:cond delay="0"/>
                                  </p:stCondLst>
                                  <p:childTnLst>
                                    <p:set>
                                      <p:cBhvr>
                                        <p:cTn id="165" dur="1" fill="hold">
                                          <p:stCondLst>
                                            <p:cond delay="0"/>
                                          </p:stCondLst>
                                        </p:cTn>
                                        <p:tgtEl>
                                          <p:spTgt spid="223264"/>
                                        </p:tgtEl>
                                        <p:attrNameLst>
                                          <p:attrName>style.visibility</p:attrName>
                                        </p:attrNameLst>
                                      </p:cBhvr>
                                      <p:to>
                                        <p:strVal val="visible"/>
                                      </p:to>
                                    </p:set>
                                    <p:animEffect transition="in" filter="wipe(up)">
                                      <p:cBhvr>
                                        <p:cTn id="166" dur="500"/>
                                        <p:tgtEl>
                                          <p:spTgt spid="223264"/>
                                        </p:tgtEl>
                                      </p:cBhvr>
                                    </p:animEffect>
                                  </p:childTnLst>
                                </p:cTn>
                              </p:par>
                            </p:childTnLst>
                          </p:cTn>
                        </p:par>
                        <p:par>
                          <p:cTn id="167" fill="hold" nodeType="afterGroup">
                            <p:stCondLst>
                              <p:cond delay="1500"/>
                            </p:stCondLst>
                            <p:childTnLst>
                              <p:par>
                                <p:cTn id="168" presetID="22" presetClass="entr" presetSubtype="1" fill="hold" grpId="0" nodeType="afterEffect">
                                  <p:stCondLst>
                                    <p:cond delay="0"/>
                                  </p:stCondLst>
                                  <p:childTnLst>
                                    <p:set>
                                      <p:cBhvr>
                                        <p:cTn id="169" dur="1" fill="hold">
                                          <p:stCondLst>
                                            <p:cond delay="0"/>
                                          </p:stCondLst>
                                        </p:cTn>
                                        <p:tgtEl>
                                          <p:spTgt spid="223265"/>
                                        </p:tgtEl>
                                        <p:attrNameLst>
                                          <p:attrName>style.visibility</p:attrName>
                                        </p:attrNameLst>
                                      </p:cBhvr>
                                      <p:to>
                                        <p:strVal val="visible"/>
                                      </p:to>
                                    </p:set>
                                    <p:animEffect transition="in" filter="wipe(up)">
                                      <p:cBhvr>
                                        <p:cTn id="170" dur="500"/>
                                        <p:tgtEl>
                                          <p:spTgt spid="223265"/>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223274"/>
                                        </p:tgtEl>
                                        <p:attrNameLst>
                                          <p:attrName>style.visibility</p:attrName>
                                        </p:attrNameLst>
                                      </p:cBhvr>
                                      <p:to>
                                        <p:strVal val="visible"/>
                                      </p:to>
                                    </p:set>
                                    <p:animEffect transition="in" filter="wipe(left)">
                                      <p:cBhvr>
                                        <p:cTn id="175" dur="500"/>
                                        <p:tgtEl>
                                          <p:spTgt spid="223274"/>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1" fill="hold" grpId="0" nodeType="clickEffect">
                                  <p:stCondLst>
                                    <p:cond delay="0"/>
                                  </p:stCondLst>
                                  <p:childTnLst>
                                    <p:set>
                                      <p:cBhvr>
                                        <p:cTn id="179" dur="1" fill="hold">
                                          <p:stCondLst>
                                            <p:cond delay="0"/>
                                          </p:stCondLst>
                                        </p:cTn>
                                        <p:tgtEl>
                                          <p:spTgt spid="223267"/>
                                        </p:tgtEl>
                                        <p:attrNameLst>
                                          <p:attrName>style.visibility</p:attrName>
                                        </p:attrNameLst>
                                      </p:cBhvr>
                                      <p:to>
                                        <p:strVal val="visible"/>
                                      </p:to>
                                    </p:set>
                                    <p:animEffect transition="in" filter="wipe(up)">
                                      <p:cBhvr>
                                        <p:cTn id="180" dur="500"/>
                                        <p:tgtEl>
                                          <p:spTgt spid="223267"/>
                                        </p:tgtEl>
                                      </p:cBhvr>
                                    </p:animEffect>
                                  </p:childTnLst>
                                </p:cTn>
                              </p:par>
                            </p:childTnLst>
                          </p:cTn>
                        </p:par>
                        <p:par>
                          <p:cTn id="181" fill="hold" nodeType="afterGroup">
                            <p:stCondLst>
                              <p:cond delay="500"/>
                            </p:stCondLst>
                            <p:childTnLst>
                              <p:par>
                                <p:cTn id="182" presetID="22" presetClass="entr" presetSubtype="1" fill="hold" grpId="0" nodeType="afterEffect">
                                  <p:stCondLst>
                                    <p:cond delay="0"/>
                                  </p:stCondLst>
                                  <p:childTnLst>
                                    <p:set>
                                      <p:cBhvr>
                                        <p:cTn id="183" dur="1" fill="hold">
                                          <p:stCondLst>
                                            <p:cond delay="0"/>
                                          </p:stCondLst>
                                        </p:cTn>
                                        <p:tgtEl>
                                          <p:spTgt spid="223268"/>
                                        </p:tgtEl>
                                        <p:attrNameLst>
                                          <p:attrName>style.visibility</p:attrName>
                                        </p:attrNameLst>
                                      </p:cBhvr>
                                      <p:to>
                                        <p:strVal val="visible"/>
                                      </p:to>
                                    </p:set>
                                    <p:animEffect transition="in" filter="wipe(up)">
                                      <p:cBhvr>
                                        <p:cTn id="184" dur="500"/>
                                        <p:tgtEl>
                                          <p:spTgt spid="223268"/>
                                        </p:tgtEl>
                                      </p:cBhvr>
                                    </p:animEffect>
                                  </p:childTnLst>
                                </p:cTn>
                              </p:par>
                            </p:childTnLst>
                          </p:cTn>
                        </p:par>
                        <p:par>
                          <p:cTn id="185" fill="hold" nodeType="afterGroup">
                            <p:stCondLst>
                              <p:cond delay="1000"/>
                            </p:stCondLst>
                            <p:childTnLst>
                              <p:par>
                                <p:cTn id="186" presetID="22" presetClass="entr" presetSubtype="1" fill="hold" grpId="0" nodeType="afterEffect">
                                  <p:stCondLst>
                                    <p:cond delay="0"/>
                                  </p:stCondLst>
                                  <p:childTnLst>
                                    <p:set>
                                      <p:cBhvr>
                                        <p:cTn id="187" dur="1" fill="hold">
                                          <p:stCondLst>
                                            <p:cond delay="0"/>
                                          </p:stCondLst>
                                        </p:cTn>
                                        <p:tgtEl>
                                          <p:spTgt spid="223269"/>
                                        </p:tgtEl>
                                        <p:attrNameLst>
                                          <p:attrName>style.visibility</p:attrName>
                                        </p:attrNameLst>
                                      </p:cBhvr>
                                      <p:to>
                                        <p:strVal val="visible"/>
                                      </p:to>
                                    </p:set>
                                    <p:animEffect transition="in" filter="wipe(up)">
                                      <p:cBhvr>
                                        <p:cTn id="188" dur="500"/>
                                        <p:tgtEl>
                                          <p:spTgt spid="223269"/>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1" fill="hold" grpId="0" nodeType="clickEffect">
                                  <p:stCondLst>
                                    <p:cond delay="0"/>
                                  </p:stCondLst>
                                  <p:childTnLst>
                                    <p:set>
                                      <p:cBhvr>
                                        <p:cTn id="192" dur="1" fill="hold">
                                          <p:stCondLst>
                                            <p:cond delay="0"/>
                                          </p:stCondLst>
                                        </p:cTn>
                                        <p:tgtEl>
                                          <p:spTgt spid="223270"/>
                                        </p:tgtEl>
                                        <p:attrNameLst>
                                          <p:attrName>style.visibility</p:attrName>
                                        </p:attrNameLst>
                                      </p:cBhvr>
                                      <p:to>
                                        <p:strVal val="visible"/>
                                      </p:to>
                                    </p:set>
                                    <p:animEffect transition="in" filter="wipe(up)">
                                      <p:cBhvr>
                                        <p:cTn id="193" dur="500"/>
                                        <p:tgtEl>
                                          <p:spTgt spid="223270"/>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1" fill="hold" grpId="0" nodeType="clickEffect">
                                  <p:stCondLst>
                                    <p:cond delay="0"/>
                                  </p:stCondLst>
                                  <p:childTnLst>
                                    <p:set>
                                      <p:cBhvr>
                                        <p:cTn id="197" dur="1" fill="hold">
                                          <p:stCondLst>
                                            <p:cond delay="0"/>
                                          </p:stCondLst>
                                        </p:cTn>
                                        <p:tgtEl>
                                          <p:spTgt spid="223271"/>
                                        </p:tgtEl>
                                        <p:attrNameLst>
                                          <p:attrName>style.visibility</p:attrName>
                                        </p:attrNameLst>
                                      </p:cBhvr>
                                      <p:to>
                                        <p:strVal val="visible"/>
                                      </p:to>
                                    </p:set>
                                    <p:animEffect transition="in" filter="wipe(up)">
                                      <p:cBhvr>
                                        <p:cTn id="198" dur="500"/>
                                        <p:tgtEl>
                                          <p:spTgt spid="223271"/>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1" fill="hold" grpId="0" nodeType="clickEffect">
                                  <p:stCondLst>
                                    <p:cond delay="0"/>
                                  </p:stCondLst>
                                  <p:childTnLst>
                                    <p:set>
                                      <p:cBhvr>
                                        <p:cTn id="202" dur="1" fill="hold">
                                          <p:stCondLst>
                                            <p:cond delay="0"/>
                                          </p:stCondLst>
                                        </p:cTn>
                                        <p:tgtEl>
                                          <p:spTgt spid="223272"/>
                                        </p:tgtEl>
                                        <p:attrNameLst>
                                          <p:attrName>style.visibility</p:attrName>
                                        </p:attrNameLst>
                                      </p:cBhvr>
                                      <p:to>
                                        <p:strVal val="visible"/>
                                      </p:to>
                                    </p:set>
                                    <p:animEffect transition="in" filter="wipe(up)">
                                      <p:cBhvr>
                                        <p:cTn id="203" dur="500"/>
                                        <p:tgtEl>
                                          <p:spTgt spid="223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autoUpdateAnimBg="0"/>
      <p:bldP spid="223235" grpId="0" autoUpdateAnimBg="0"/>
      <p:bldP spid="223236" grpId="0" autoUpdateAnimBg="0"/>
      <p:bldP spid="223237" grpId="0" autoUpdateAnimBg="0"/>
      <p:bldP spid="223238" grpId="0" animBg="1" autoUpdateAnimBg="0"/>
      <p:bldP spid="223239" grpId="0" animBg="1"/>
      <p:bldP spid="223240" grpId="0" animBg="1"/>
      <p:bldP spid="223241" grpId="0" animBg="1"/>
      <p:bldP spid="223242" grpId="0" autoUpdateAnimBg="0"/>
      <p:bldP spid="223243" grpId="0" autoUpdateAnimBg="0"/>
      <p:bldP spid="223244" grpId="0" animBg="1"/>
      <p:bldP spid="223245" grpId="0" animBg="1" autoUpdateAnimBg="0"/>
      <p:bldP spid="223246" grpId="0" animBg="1"/>
      <p:bldP spid="223247" grpId="0" animBg="1" autoUpdateAnimBg="0"/>
      <p:bldP spid="223248" grpId="0" animBg="1"/>
      <p:bldP spid="223249" grpId="0" animBg="1"/>
      <p:bldP spid="223250" grpId="0" animBg="1"/>
      <p:bldP spid="223251" grpId="0" animBg="1" autoUpdateAnimBg="0"/>
      <p:bldP spid="223252" grpId="0" animBg="1"/>
      <p:bldP spid="223253" grpId="0" animBg="1"/>
      <p:bldP spid="223254" grpId="0" animBg="1"/>
      <p:bldP spid="223255" grpId="0" animBg="1" autoUpdateAnimBg="0"/>
      <p:bldP spid="223256" grpId="0" animBg="1"/>
      <p:bldP spid="223257" grpId="0" animBg="1"/>
      <p:bldP spid="223258" grpId="0" animBg="1"/>
      <p:bldP spid="223259" grpId="0" animBg="1" autoUpdateAnimBg="0"/>
      <p:bldP spid="223260" grpId="0" animBg="1"/>
      <p:bldP spid="223261" grpId="0" animBg="1"/>
      <p:bldP spid="223262" grpId="0" animBg="1"/>
      <p:bldP spid="223263" grpId="0" animBg="1" autoUpdateAnimBg="0"/>
      <p:bldP spid="223264" grpId="0" animBg="1"/>
      <p:bldP spid="223265" grpId="0" animBg="1"/>
      <p:bldP spid="223266" grpId="0" animBg="1"/>
      <p:bldP spid="223267" grpId="0" animBg="1"/>
      <p:bldP spid="223268" grpId="0" animBg="1" autoUpdateAnimBg="0"/>
      <p:bldP spid="223269" grpId="0" animBg="1"/>
      <p:bldP spid="223270" grpId="0" autoUpdateAnimBg="0"/>
      <p:bldP spid="223271" grpId="0" autoUpdateAnimBg="0"/>
      <p:bldP spid="223272" grpId="0" autoUpdateAnimBg="0"/>
      <p:bldP spid="223273" grpId="0" autoUpdateAnimBg="0"/>
      <p:bldP spid="223274"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Text Box 2"/>
          <p:cNvSpPr txBox="1">
            <a:spLocks noChangeArrowheads="1"/>
          </p:cNvSpPr>
          <p:nvPr/>
        </p:nvSpPr>
        <p:spPr bwMode="auto">
          <a:xfrm>
            <a:off x="1295400" y="152400"/>
            <a:ext cx="3422650"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0000"/>
              </a:lnSpc>
            </a:pPr>
            <a:r>
              <a:rPr kumimoji="1" lang="en-US" altLang="zh-CN" sz="3600">
                <a:solidFill>
                  <a:srgbClr val="0000FF"/>
                </a:solidFill>
                <a:latin typeface="Times New Roman" charset="0"/>
              </a:rPr>
              <a:t>2) </a:t>
            </a:r>
            <a:r>
              <a:rPr kumimoji="1" lang="zh-CN" altLang="en-US" sz="3600">
                <a:solidFill>
                  <a:srgbClr val="0000FF"/>
                </a:solidFill>
                <a:latin typeface="Times New Roman" charset="0"/>
              </a:rPr>
              <a:t>子表分析法：</a:t>
            </a:r>
            <a:endParaRPr kumimoji="1" lang="zh-CN" altLang="en-US" sz="4000">
              <a:latin typeface="楷体_GB2312" charset="0"/>
              <a:ea typeface="楷体_GB2312" charset="0"/>
            </a:endParaRPr>
          </a:p>
        </p:txBody>
      </p:sp>
      <p:sp>
        <p:nvSpPr>
          <p:cNvPr id="224259" name="Line 3"/>
          <p:cNvSpPr>
            <a:spLocks noChangeShapeType="1"/>
          </p:cNvSpPr>
          <p:nvPr/>
        </p:nvSpPr>
        <p:spPr bwMode="auto">
          <a:xfrm>
            <a:off x="457200" y="3124200"/>
            <a:ext cx="990600" cy="0"/>
          </a:xfrm>
          <a:prstGeom prst="line">
            <a:avLst/>
          </a:prstGeom>
          <a:noFill/>
          <a:ln w="25400">
            <a:solidFill>
              <a:srgbClr val="9933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60" name="Text Box 4"/>
          <p:cNvSpPr txBox="1">
            <a:spLocks noChangeArrowheads="1"/>
          </p:cNvSpPr>
          <p:nvPr/>
        </p:nvSpPr>
        <p:spPr bwMode="auto">
          <a:xfrm>
            <a:off x="730250" y="4973638"/>
            <a:ext cx="4327525"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0000"/>
              </a:lnSpc>
            </a:pPr>
            <a:r>
              <a:rPr kumimoji="1" lang="zh-CN" altLang="en-US" sz="3600" b="1">
                <a:solidFill>
                  <a:srgbClr val="990033"/>
                </a:solidFill>
                <a:latin typeface="楷体_GB2312" charset="0"/>
                <a:ea typeface="楷体_GB2312" charset="0"/>
              </a:rPr>
              <a:t>若子表为原子，则为</a:t>
            </a:r>
            <a:endParaRPr kumimoji="1" lang="zh-CN" altLang="en-US" sz="4400">
              <a:latin typeface="Times New Roman" charset="0"/>
            </a:endParaRPr>
          </a:p>
        </p:txBody>
      </p:sp>
      <p:sp>
        <p:nvSpPr>
          <p:cNvPr id="224261" name="Text Box 5"/>
          <p:cNvSpPr txBox="1">
            <a:spLocks noChangeArrowheads="1"/>
          </p:cNvSpPr>
          <p:nvPr/>
        </p:nvSpPr>
        <p:spPr bwMode="auto">
          <a:xfrm>
            <a:off x="714375" y="1111250"/>
            <a:ext cx="3143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b="1">
                <a:solidFill>
                  <a:srgbClr val="9933FF"/>
                </a:solidFill>
                <a:latin typeface="Times New Roman" charset="0"/>
                <a:ea typeface="楷体_GB2312" charset="0"/>
              </a:rPr>
              <a:t>空表 </a:t>
            </a:r>
            <a:r>
              <a:rPr kumimoji="1" lang="zh-CN" altLang="en-US" sz="3600">
                <a:latin typeface="Times New Roman" charset="0"/>
                <a:ea typeface="楷体_GB2312" charset="0"/>
              </a:rPr>
              <a:t>     </a:t>
            </a:r>
            <a:r>
              <a:rPr kumimoji="1" lang="en-US" altLang="zh-CN" sz="3600" b="1" i="1">
                <a:solidFill>
                  <a:srgbClr val="9933FF"/>
                </a:solidFill>
                <a:latin typeface="Times New Roman" charset="0"/>
                <a:ea typeface="楷体_GB2312" charset="0"/>
              </a:rPr>
              <a:t>ls=NIL</a:t>
            </a:r>
            <a:endParaRPr kumimoji="1" lang="en-US" altLang="zh-CN" sz="3600">
              <a:latin typeface="Times New Roman" charset="0"/>
              <a:ea typeface="楷体_GB2312" charset="0"/>
            </a:endParaRPr>
          </a:p>
        </p:txBody>
      </p:sp>
      <p:sp>
        <p:nvSpPr>
          <p:cNvPr id="224262" name="Text Box 6"/>
          <p:cNvSpPr txBox="1">
            <a:spLocks noChangeArrowheads="1"/>
          </p:cNvSpPr>
          <p:nvPr/>
        </p:nvSpPr>
        <p:spPr bwMode="auto">
          <a:xfrm>
            <a:off x="714375" y="1920875"/>
            <a:ext cx="1565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b="1">
                <a:solidFill>
                  <a:srgbClr val="9933FF"/>
                </a:solidFill>
                <a:latin typeface="Times New Roman" charset="0"/>
                <a:ea typeface="楷体_GB2312" charset="0"/>
              </a:rPr>
              <a:t>非空表</a:t>
            </a:r>
            <a:endParaRPr kumimoji="1" lang="zh-CN" altLang="en-US" sz="3600">
              <a:latin typeface="Times New Roman" charset="0"/>
              <a:ea typeface="楷体_GB2312" charset="0"/>
            </a:endParaRPr>
          </a:p>
        </p:txBody>
      </p:sp>
      <p:sp>
        <p:nvSpPr>
          <p:cNvPr id="224263" name="Rectangle 7"/>
          <p:cNvSpPr>
            <a:spLocks noChangeArrowheads="1"/>
          </p:cNvSpPr>
          <p:nvPr/>
        </p:nvSpPr>
        <p:spPr bwMode="auto">
          <a:xfrm>
            <a:off x="1447800" y="2743200"/>
            <a:ext cx="18034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1           </a:t>
            </a:r>
            <a:endParaRPr kumimoji="1" lang="en-US" altLang="zh-CN" sz="4400">
              <a:latin typeface="Times New Roman" charset="0"/>
              <a:ea typeface="楷体_GB2312" charset="0"/>
            </a:endParaRPr>
          </a:p>
        </p:txBody>
      </p:sp>
      <p:sp>
        <p:nvSpPr>
          <p:cNvPr id="224264" name="Line 8"/>
          <p:cNvSpPr>
            <a:spLocks noChangeShapeType="1"/>
          </p:cNvSpPr>
          <p:nvPr/>
        </p:nvSpPr>
        <p:spPr bwMode="auto">
          <a:xfrm>
            <a:off x="2057400" y="27432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65" name="Line 9"/>
          <p:cNvSpPr>
            <a:spLocks noChangeShapeType="1"/>
          </p:cNvSpPr>
          <p:nvPr/>
        </p:nvSpPr>
        <p:spPr bwMode="auto">
          <a:xfrm>
            <a:off x="2667000" y="27432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66" name="Line 10"/>
          <p:cNvSpPr>
            <a:spLocks noChangeShapeType="1"/>
          </p:cNvSpPr>
          <p:nvPr/>
        </p:nvSpPr>
        <p:spPr bwMode="auto">
          <a:xfrm>
            <a:off x="2362200" y="3124200"/>
            <a:ext cx="0" cy="60960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67" name="Text Box 11"/>
          <p:cNvSpPr txBox="1">
            <a:spLocks noChangeArrowheads="1"/>
          </p:cNvSpPr>
          <p:nvPr/>
        </p:nvSpPr>
        <p:spPr bwMode="auto">
          <a:xfrm>
            <a:off x="914400" y="3578225"/>
            <a:ext cx="22415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solidFill>
                  <a:srgbClr val="0000FF"/>
                </a:solidFill>
                <a:latin typeface="Times New Roman" charset="0"/>
                <a:ea typeface="隶书" charset="0"/>
              </a:rPr>
              <a:t>指向子表</a:t>
            </a:r>
            <a:r>
              <a:rPr kumimoji="1" lang="en-US" altLang="zh-CN" sz="3600">
                <a:solidFill>
                  <a:srgbClr val="0000FF"/>
                </a:solidFill>
                <a:latin typeface="Times New Roman" charset="0"/>
                <a:ea typeface="隶书" charset="0"/>
              </a:rPr>
              <a:t>1</a:t>
            </a:r>
          </a:p>
          <a:p>
            <a:pPr eaLnBrk="1" hangingPunct="1"/>
            <a:r>
              <a:rPr kumimoji="1" lang="en-US" altLang="zh-CN" sz="3600">
                <a:solidFill>
                  <a:srgbClr val="0000FF"/>
                </a:solidFill>
                <a:latin typeface="Times New Roman" charset="0"/>
                <a:ea typeface="隶书" charset="0"/>
              </a:rPr>
              <a:t>  </a:t>
            </a:r>
            <a:r>
              <a:rPr kumimoji="1" lang="zh-CN" altLang="en-US" sz="3600">
                <a:solidFill>
                  <a:srgbClr val="0000FF"/>
                </a:solidFill>
                <a:latin typeface="Times New Roman" charset="0"/>
                <a:ea typeface="隶书" charset="0"/>
              </a:rPr>
              <a:t>的指针</a:t>
            </a:r>
            <a:endParaRPr kumimoji="1" lang="zh-CN" altLang="en-US" sz="3600">
              <a:latin typeface="Times New Roman" charset="0"/>
              <a:ea typeface="隶书" charset="0"/>
            </a:endParaRPr>
          </a:p>
        </p:txBody>
      </p:sp>
      <p:sp>
        <p:nvSpPr>
          <p:cNvPr id="224268" name="Rectangle 12"/>
          <p:cNvSpPr>
            <a:spLocks noChangeArrowheads="1"/>
          </p:cNvSpPr>
          <p:nvPr/>
        </p:nvSpPr>
        <p:spPr bwMode="auto">
          <a:xfrm>
            <a:off x="5149850" y="5018088"/>
            <a:ext cx="2393950" cy="660400"/>
          </a:xfrm>
          <a:prstGeom prst="rect">
            <a:avLst/>
          </a:prstGeom>
          <a:solidFill>
            <a:srgbClr val="FFFF99"/>
          </a:solidFill>
          <a:ln w="19050">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990033"/>
                </a:solidFill>
                <a:latin typeface="Times New Roman" charset="0"/>
                <a:ea typeface="楷体_GB2312" charset="0"/>
              </a:rPr>
              <a:t>tag=0  data</a:t>
            </a:r>
            <a:endParaRPr kumimoji="1" lang="en-US" altLang="zh-CN" sz="4400">
              <a:latin typeface="Times New Roman" charset="0"/>
              <a:ea typeface="楷体_GB2312" charset="0"/>
            </a:endParaRPr>
          </a:p>
        </p:txBody>
      </p:sp>
      <p:sp>
        <p:nvSpPr>
          <p:cNvPr id="224269" name="Line 13"/>
          <p:cNvSpPr>
            <a:spLocks noChangeShapeType="1"/>
          </p:cNvSpPr>
          <p:nvPr/>
        </p:nvSpPr>
        <p:spPr bwMode="auto">
          <a:xfrm>
            <a:off x="6445250" y="4997450"/>
            <a:ext cx="0" cy="685800"/>
          </a:xfrm>
          <a:prstGeom prst="line">
            <a:avLst/>
          </a:prstGeom>
          <a:noFill/>
          <a:ln w="9525">
            <a:solidFill>
              <a:srgbClr val="9900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70" name="Rectangle 14"/>
          <p:cNvSpPr>
            <a:spLocks noChangeArrowheads="1"/>
          </p:cNvSpPr>
          <p:nvPr/>
        </p:nvSpPr>
        <p:spPr bwMode="auto">
          <a:xfrm>
            <a:off x="730250" y="5835650"/>
            <a:ext cx="386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b="1">
                <a:solidFill>
                  <a:srgbClr val="0000FF"/>
                </a:solidFill>
                <a:latin typeface="楷体_GB2312" charset="0"/>
                <a:ea typeface="楷体_GB2312" charset="0"/>
              </a:rPr>
              <a:t>否则，依次类推。</a:t>
            </a:r>
          </a:p>
        </p:txBody>
      </p:sp>
      <p:sp>
        <p:nvSpPr>
          <p:cNvPr id="224271" name="Rectangle 15"/>
          <p:cNvSpPr>
            <a:spLocks noChangeArrowheads="1"/>
          </p:cNvSpPr>
          <p:nvPr/>
        </p:nvSpPr>
        <p:spPr bwMode="auto">
          <a:xfrm>
            <a:off x="3657600" y="2743200"/>
            <a:ext cx="18034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1           </a:t>
            </a:r>
            <a:endParaRPr kumimoji="1" lang="en-US" altLang="zh-CN" sz="4400">
              <a:latin typeface="Times New Roman" charset="0"/>
              <a:ea typeface="楷体_GB2312" charset="0"/>
            </a:endParaRPr>
          </a:p>
        </p:txBody>
      </p:sp>
      <p:sp>
        <p:nvSpPr>
          <p:cNvPr id="224272" name="Line 16"/>
          <p:cNvSpPr>
            <a:spLocks noChangeShapeType="1"/>
          </p:cNvSpPr>
          <p:nvPr/>
        </p:nvSpPr>
        <p:spPr bwMode="auto">
          <a:xfrm>
            <a:off x="4267200" y="27432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73" name="Line 17"/>
          <p:cNvSpPr>
            <a:spLocks noChangeShapeType="1"/>
          </p:cNvSpPr>
          <p:nvPr/>
        </p:nvSpPr>
        <p:spPr bwMode="auto">
          <a:xfrm>
            <a:off x="4876800" y="27432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74" name="Line 18"/>
          <p:cNvSpPr>
            <a:spLocks noChangeShapeType="1"/>
          </p:cNvSpPr>
          <p:nvPr/>
        </p:nvSpPr>
        <p:spPr bwMode="auto">
          <a:xfrm>
            <a:off x="4572000" y="3124200"/>
            <a:ext cx="0" cy="60960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75" name="Text Box 19"/>
          <p:cNvSpPr txBox="1">
            <a:spLocks noChangeArrowheads="1"/>
          </p:cNvSpPr>
          <p:nvPr/>
        </p:nvSpPr>
        <p:spPr bwMode="auto">
          <a:xfrm>
            <a:off x="3263900" y="3578225"/>
            <a:ext cx="22415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solidFill>
                  <a:srgbClr val="0000FF"/>
                </a:solidFill>
                <a:latin typeface="Times New Roman" charset="0"/>
                <a:ea typeface="隶书" charset="0"/>
              </a:rPr>
              <a:t>指向子表</a:t>
            </a:r>
            <a:r>
              <a:rPr kumimoji="1" lang="en-US" altLang="zh-CN" sz="3600">
                <a:solidFill>
                  <a:srgbClr val="0000FF"/>
                </a:solidFill>
                <a:latin typeface="Times New Roman" charset="0"/>
                <a:ea typeface="隶书" charset="0"/>
              </a:rPr>
              <a:t>2</a:t>
            </a:r>
          </a:p>
          <a:p>
            <a:pPr eaLnBrk="1" hangingPunct="1"/>
            <a:r>
              <a:rPr kumimoji="1" lang="en-US" altLang="zh-CN" sz="3600">
                <a:solidFill>
                  <a:srgbClr val="0000FF"/>
                </a:solidFill>
                <a:latin typeface="Times New Roman" charset="0"/>
                <a:ea typeface="隶书" charset="0"/>
              </a:rPr>
              <a:t>  </a:t>
            </a:r>
            <a:r>
              <a:rPr kumimoji="1" lang="zh-CN" altLang="en-US" sz="3600">
                <a:solidFill>
                  <a:srgbClr val="0000FF"/>
                </a:solidFill>
                <a:latin typeface="Times New Roman" charset="0"/>
                <a:ea typeface="隶书" charset="0"/>
              </a:rPr>
              <a:t>的指针</a:t>
            </a:r>
            <a:endParaRPr kumimoji="1" lang="zh-CN" altLang="en-US" sz="3600">
              <a:latin typeface="Times New Roman" charset="0"/>
              <a:ea typeface="隶书" charset="0"/>
            </a:endParaRPr>
          </a:p>
        </p:txBody>
      </p:sp>
      <p:sp>
        <p:nvSpPr>
          <p:cNvPr id="224276" name="Rectangle 20"/>
          <p:cNvSpPr>
            <a:spLocks noChangeArrowheads="1"/>
          </p:cNvSpPr>
          <p:nvPr/>
        </p:nvSpPr>
        <p:spPr bwMode="auto">
          <a:xfrm>
            <a:off x="7112000" y="2743200"/>
            <a:ext cx="1803400" cy="660400"/>
          </a:xfrm>
          <a:prstGeom prst="rect">
            <a:avLst/>
          </a:prstGeom>
          <a:solidFill>
            <a:srgbClr val="99CCFF"/>
          </a:solidFill>
          <a:ln w="1905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a:solidFill>
                  <a:srgbClr val="0000FF"/>
                </a:solidFill>
                <a:latin typeface="Times New Roman" charset="0"/>
                <a:ea typeface="楷体_GB2312" charset="0"/>
              </a:rPr>
              <a:t> 1           </a:t>
            </a:r>
            <a:endParaRPr kumimoji="1" lang="en-US" altLang="zh-CN" sz="4400">
              <a:latin typeface="Times New Roman" charset="0"/>
              <a:ea typeface="楷体_GB2312" charset="0"/>
            </a:endParaRPr>
          </a:p>
        </p:txBody>
      </p:sp>
      <p:sp>
        <p:nvSpPr>
          <p:cNvPr id="224277" name="Line 21"/>
          <p:cNvSpPr>
            <a:spLocks noChangeShapeType="1"/>
          </p:cNvSpPr>
          <p:nvPr/>
        </p:nvSpPr>
        <p:spPr bwMode="auto">
          <a:xfrm>
            <a:off x="7721600" y="27432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78" name="Line 22"/>
          <p:cNvSpPr>
            <a:spLocks noChangeShapeType="1"/>
          </p:cNvSpPr>
          <p:nvPr/>
        </p:nvSpPr>
        <p:spPr bwMode="auto">
          <a:xfrm>
            <a:off x="8331200" y="2743200"/>
            <a:ext cx="0" cy="6858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79" name="Line 23"/>
          <p:cNvSpPr>
            <a:spLocks noChangeShapeType="1"/>
          </p:cNvSpPr>
          <p:nvPr/>
        </p:nvSpPr>
        <p:spPr bwMode="auto">
          <a:xfrm>
            <a:off x="8001000" y="3124200"/>
            <a:ext cx="0" cy="68580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80" name="Text Box 24"/>
          <p:cNvSpPr txBox="1">
            <a:spLocks noChangeArrowheads="1"/>
          </p:cNvSpPr>
          <p:nvPr/>
        </p:nvSpPr>
        <p:spPr bwMode="auto">
          <a:xfrm>
            <a:off x="6464300" y="3578225"/>
            <a:ext cx="22415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600">
                <a:solidFill>
                  <a:srgbClr val="0000FF"/>
                </a:solidFill>
                <a:latin typeface="Times New Roman" charset="0"/>
                <a:ea typeface="隶书" charset="0"/>
              </a:rPr>
              <a:t>指向子表</a:t>
            </a:r>
            <a:r>
              <a:rPr kumimoji="1" lang="en-US" altLang="zh-CN" sz="3600">
                <a:solidFill>
                  <a:srgbClr val="0000FF"/>
                </a:solidFill>
                <a:latin typeface="Times New Roman" charset="0"/>
                <a:ea typeface="隶书" charset="0"/>
              </a:rPr>
              <a:t>n</a:t>
            </a:r>
          </a:p>
          <a:p>
            <a:pPr eaLnBrk="1" hangingPunct="1"/>
            <a:r>
              <a:rPr kumimoji="1" lang="en-US" altLang="zh-CN" sz="3600">
                <a:solidFill>
                  <a:srgbClr val="0000FF"/>
                </a:solidFill>
                <a:latin typeface="Times New Roman" charset="0"/>
                <a:ea typeface="隶书" charset="0"/>
              </a:rPr>
              <a:t>  </a:t>
            </a:r>
            <a:r>
              <a:rPr kumimoji="1" lang="zh-CN" altLang="en-US" sz="3600">
                <a:solidFill>
                  <a:srgbClr val="0000FF"/>
                </a:solidFill>
                <a:latin typeface="Times New Roman" charset="0"/>
                <a:ea typeface="隶书" charset="0"/>
              </a:rPr>
              <a:t>的指针</a:t>
            </a:r>
            <a:endParaRPr kumimoji="1" lang="zh-CN" altLang="en-US" sz="3600">
              <a:latin typeface="Times New Roman" charset="0"/>
              <a:ea typeface="隶书" charset="0"/>
            </a:endParaRPr>
          </a:p>
        </p:txBody>
      </p:sp>
      <p:sp>
        <p:nvSpPr>
          <p:cNvPr id="224281" name="Line 25"/>
          <p:cNvSpPr>
            <a:spLocks noChangeShapeType="1"/>
          </p:cNvSpPr>
          <p:nvPr/>
        </p:nvSpPr>
        <p:spPr bwMode="auto">
          <a:xfrm>
            <a:off x="2971800" y="3124200"/>
            <a:ext cx="685800"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82" name="Line 26"/>
          <p:cNvSpPr>
            <a:spLocks noChangeShapeType="1"/>
          </p:cNvSpPr>
          <p:nvPr/>
        </p:nvSpPr>
        <p:spPr bwMode="auto">
          <a:xfrm>
            <a:off x="5181600" y="3124200"/>
            <a:ext cx="685800"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83" name="Line 27"/>
          <p:cNvSpPr>
            <a:spLocks noChangeShapeType="1"/>
          </p:cNvSpPr>
          <p:nvPr/>
        </p:nvSpPr>
        <p:spPr bwMode="auto">
          <a:xfrm>
            <a:off x="6400800" y="3124200"/>
            <a:ext cx="685800"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4284" name="Rectangle 28"/>
          <p:cNvSpPr>
            <a:spLocks noChangeArrowheads="1"/>
          </p:cNvSpPr>
          <p:nvPr/>
        </p:nvSpPr>
        <p:spPr bwMode="auto">
          <a:xfrm>
            <a:off x="349250" y="2559050"/>
            <a:ext cx="48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b="1" i="1">
                <a:solidFill>
                  <a:srgbClr val="9933FF"/>
                </a:solidFill>
                <a:latin typeface="Times New Roman" charset="0"/>
                <a:ea typeface="楷体_GB2312" charset="0"/>
              </a:rPr>
              <a:t>ls</a:t>
            </a:r>
          </a:p>
        </p:txBody>
      </p:sp>
      <p:sp>
        <p:nvSpPr>
          <p:cNvPr id="224285" name="Text Box 29"/>
          <p:cNvSpPr txBox="1">
            <a:spLocks noChangeArrowheads="1"/>
          </p:cNvSpPr>
          <p:nvPr/>
        </p:nvSpPr>
        <p:spPr bwMode="auto">
          <a:xfrm>
            <a:off x="5810250" y="2590800"/>
            <a:ext cx="7429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0000FF"/>
                </a:solidFill>
                <a:latin typeface="Times New Roman" charset="0"/>
              </a:rPr>
              <a:t>…</a:t>
            </a:r>
            <a:endParaRPr kumimoji="1" lang="en-US" altLang="zh-CN" sz="4400">
              <a:latin typeface="Times New Roman" charset="0"/>
            </a:endParaRPr>
          </a:p>
        </p:txBody>
      </p:sp>
      <p:sp>
        <p:nvSpPr>
          <p:cNvPr id="224286" name="Text Box 30"/>
          <p:cNvSpPr txBox="1">
            <a:spLocks noChangeArrowheads="1"/>
          </p:cNvSpPr>
          <p:nvPr/>
        </p:nvSpPr>
        <p:spPr bwMode="auto">
          <a:xfrm>
            <a:off x="8393113" y="2667000"/>
            <a:ext cx="5222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a:solidFill>
                  <a:srgbClr val="0000FF"/>
                </a:solidFill>
                <a:latin typeface="Times New Roman" charset="0"/>
                <a:sym typeface="Symbol" charset="2"/>
              </a:rPr>
              <a:t></a:t>
            </a:r>
            <a:endParaRPr kumimoji="1" lang="en-US" altLang="zh-CN" sz="4400">
              <a:latin typeface="Times New Roman" charset="0"/>
            </a:endParaRPr>
          </a:p>
        </p:txBody>
      </p:sp>
    </p:spTree>
    <p:extLst>
      <p:ext uri="{BB962C8B-B14F-4D97-AF65-F5344CB8AC3E}">
        <p14:creationId xmlns:p14="http://schemas.microsoft.com/office/powerpoint/2010/main" val="15035734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24258"/>
                                        </p:tgtEl>
                                        <p:attrNameLst>
                                          <p:attrName>style.visibility</p:attrName>
                                        </p:attrNameLst>
                                      </p:cBhvr>
                                      <p:to>
                                        <p:strVal val="visible"/>
                                      </p:to>
                                    </p:set>
                                    <p:anim calcmode="lin" valueType="num">
                                      <p:cBhvr additive="base">
                                        <p:cTn id="7" dur="500" fill="hold"/>
                                        <p:tgtEl>
                                          <p:spTgt spid="224258"/>
                                        </p:tgtEl>
                                        <p:attrNameLst>
                                          <p:attrName>ppt_x</p:attrName>
                                        </p:attrNameLst>
                                      </p:cBhvr>
                                      <p:tavLst>
                                        <p:tav tm="0">
                                          <p:val>
                                            <p:strVal val="0-#ppt_w/2"/>
                                          </p:val>
                                        </p:tav>
                                        <p:tav tm="100000">
                                          <p:val>
                                            <p:strVal val="#ppt_x"/>
                                          </p:val>
                                        </p:tav>
                                      </p:tavLst>
                                    </p:anim>
                                    <p:anim calcmode="lin" valueType="num">
                                      <p:cBhvr additive="base">
                                        <p:cTn id="8" dur="500" fill="hold"/>
                                        <p:tgtEl>
                                          <p:spTgt spid="2242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4261"/>
                                        </p:tgtEl>
                                        <p:attrNameLst>
                                          <p:attrName>style.visibility</p:attrName>
                                        </p:attrNameLst>
                                      </p:cBhvr>
                                      <p:to>
                                        <p:strVal val="visible"/>
                                      </p:to>
                                    </p:set>
                                    <p:anim calcmode="lin" valueType="num">
                                      <p:cBhvr additive="base">
                                        <p:cTn id="13" dur="500" fill="hold"/>
                                        <p:tgtEl>
                                          <p:spTgt spid="224261"/>
                                        </p:tgtEl>
                                        <p:attrNameLst>
                                          <p:attrName>ppt_x</p:attrName>
                                        </p:attrNameLst>
                                      </p:cBhvr>
                                      <p:tavLst>
                                        <p:tav tm="0">
                                          <p:val>
                                            <p:strVal val="0-#ppt_w/2"/>
                                          </p:val>
                                        </p:tav>
                                        <p:tav tm="100000">
                                          <p:val>
                                            <p:strVal val="#ppt_x"/>
                                          </p:val>
                                        </p:tav>
                                      </p:tavLst>
                                    </p:anim>
                                    <p:anim calcmode="lin" valueType="num">
                                      <p:cBhvr additive="base">
                                        <p:cTn id="14" dur="500" fill="hold"/>
                                        <p:tgtEl>
                                          <p:spTgt spid="2242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4262"/>
                                        </p:tgtEl>
                                        <p:attrNameLst>
                                          <p:attrName>style.visibility</p:attrName>
                                        </p:attrNameLst>
                                      </p:cBhvr>
                                      <p:to>
                                        <p:strVal val="visible"/>
                                      </p:to>
                                    </p:set>
                                    <p:anim calcmode="lin" valueType="num">
                                      <p:cBhvr additive="base">
                                        <p:cTn id="19" dur="500" fill="hold"/>
                                        <p:tgtEl>
                                          <p:spTgt spid="224262"/>
                                        </p:tgtEl>
                                        <p:attrNameLst>
                                          <p:attrName>ppt_x</p:attrName>
                                        </p:attrNameLst>
                                      </p:cBhvr>
                                      <p:tavLst>
                                        <p:tav tm="0">
                                          <p:val>
                                            <p:strVal val="0-#ppt_w/2"/>
                                          </p:val>
                                        </p:tav>
                                        <p:tav tm="100000">
                                          <p:val>
                                            <p:strVal val="#ppt_x"/>
                                          </p:val>
                                        </p:tav>
                                      </p:tavLst>
                                    </p:anim>
                                    <p:anim calcmode="lin" valueType="num">
                                      <p:cBhvr additive="base">
                                        <p:cTn id="20" dur="500" fill="hold"/>
                                        <p:tgtEl>
                                          <p:spTgt spid="22426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224259"/>
                                        </p:tgtEl>
                                        <p:attrNameLst>
                                          <p:attrName>style.visibility</p:attrName>
                                        </p:attrNameLst>
                                      </p:cBhvr>
                                      <p:to>
                                        <p:strVal val="visible"/>
                                      </p:to>
                                    </p:set>
                                    <p:anim calcmode="lin" valueType="num">
                                      <p:cBhvr>
                                        <p:cTn id="25" dur="500" fill="hold"/>
                                        <p:tgtEl>
                                          <p:spTgt spid="224259"/>
                                        </p:tgtEl>
                                        <p:attrNameLst>
                                          <p:attrName>ppt_x</p:attrName>
                                        </p:attrNameLst>
                                      </p:cBhvr>
                                      <p:tavLst>
                                        <p:tav tm="0">
                                          <p:val>
                                            <p:strVal val="#ppt_x-#ppt_w/2"/>
                                          </p:val>
                                        </p:tav>
                                        <p:tav tm="100000">
                                          <p:val>
                                            <p:strVal val="#ppt_x"/>
                                          </p:val>
                                        </p:tav>
                                      </p:tavLst>
                                    </p:anim>
                                    <p:anim calcmode="lin" valueType="num">
                                      <p:cBhvr>
                                        <p:cTn id="26" dur="500" fill="hold"/>
                                        <p:tgtEl>
                                          <p:spTgt spid="224259"/>
                                        </p:tgtEl>
                                        <p:attrNameLst>
                                          <p:attrName>ppt_y</p:attrName>
                                        </p:attrNameLst>
                                      </p:cBhvr>
                                      <p:tavLst>
                                        <p:tav tm="0">
                                          <p:val>
                                            <p:strVal val="#ppt_y"/>
                                          </p:val>
                                        </p:tav>
                                        <p:tav tm="100000">
                                          <p:val>
                                            <p:strVal val="#ppt_y"/>
                                          </p:val>
                                        </p:tav>
                                      </p:tavLst>
                                    </p:anim>
                                    <p:anim calcmode="lin" valueType="num">
                                      <p:cBhvr>
                                        <p:cTn id="27" dur="500" fill="hold"/>
                                        <p:tgtEl>
                                          <p:spTgt spid="224259"/>
                                        </p:tgtEl>
                                        <p:attrNameLst>
                                          <p:attrName>ppt_w</p:attrName>
                                        </p:attrNameLst>
                                      </p:cBhvr>
                                      <p:tavLst>
                                        <p:tav tm="0">
                                          <p:val>
                                            <p:fltVal val="0"/>
                                          </p:val>
                                        </p:tav>
                                        <p:tav tm="100000">
                                          <p:val>
                                            <p:strVal val="#ppt_w"/>
                                          </p:val>
                                        </p:tav>
                                      </p:tavLst>
                                    </p:anim>
                                    <p:anim calcmode="lin" valueType="num">
                                      <p:cBhvr>
                                        <p:cTn id="28" dur="500" fill="hold"/>
                                        <p:tgtEl>
                                          <p:spTgt spid="224259"/>
                                        </p:tgtEl>
                                        <p:attrNameLst>
                                          <p:attrName>ppt_h</p:attrName>
                                        </p:attrNameLst>
                                      </p:cBhvr>
                                      <p:tavLst>
                                        <p:tav tm="0">
                                          <p:val>
                                            <p:strVal val="#ppt_h"/>
                                          </p:val>
                                        </p:tav>
                                        <p:tav tm="100000">
                                          <p:val>
                                            <p:strVal val="#ppt_h"/>
                                          </p:val>
                                        </p:tav>
                                      </p:tavLst>
                                    </p:anim>
                                  </p:childTnLst>
                                </p:cTn>
                              </p:par>
                            </p:childTnLst>
                          </p:cTn>
                        </p:par>
                        <p:par>
                          <p:cTn id="29" fill="hold" nodeType="afterGroup">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24263"/>
                                        </p:tgtEl>
                                        <p:attrNameLst>
                                          <p:attrName>style.visibility</p:attrName>
                                        </p:attrNameLst>
                                      </p:cBhvr>
                                      <p:to>
                                        <p:strVal val="visible"/>
                                      </p:to>
                                    </p:set>
                                    <p:animEffect transition="in" filter="wipe(left)">
                                      <p:cBhvr>
                                        <p:cTn id="32" dur="500"/>
                                        <p:tgtEl>
                                          <p:spTgt spid="224263"/>
                                        </p:tgtEl>
                                      </p:cBhvr>
                                    </p:animEffect>
                                  </p:childTnLst>
                                </p:cTn>
                              </p:par>
                            </p:childTnLst>
                          </p:cTn>
                        </p:par>
                        <p:par>
                          <p:cTn id="33" fill="hold" nodeType="afterGroup">
                            <p:stCondLst>
                              <p:cond delay="1000"/>
                            </p:stCondLst>
                            <p:childTnLst>
                              <p:par>
                                <p:cTn id="34" presetID="17" presetClass="entr" presetSubtype="1" fill="hold" grpId="0" nodeType="afterEffect">
                                  <p:stCondLst>
                                    <p:cond delay="0"/>
                                  </p:stCondLst>
                                  <p:childTnLst>
                                    <p:set>
                                      <p:cBhvr>
                                        <p:cTn id="35" dur="1" fill="hold">
                                          <p:stCondLst>
                                            <p:cond delay="0"/>
                                          </p:stCondLst>
                                        </p:cTn>
                                        <p:tgtEl>
                                          <p:spTgt spid="224264"/>
                                        </p:tgtEl>
                                        <p:attrNameLst>
                                          <p:attrName>style.visibility</p:attrName>
                                        </p:attrNameLst>
                                      </p:cBhvr>
                                      <p:to>
                                        <p:strVal val="visible"/>
                                      </p:to>
                                    </p:set>
                                    <p:anim calcmode="lin" valueType="num">
                                      <p:cBhvr>
                                        <p:cTn id="36" dur="500" fill="hold"/>
                                        <p:tgtEl>
                                          <p:spTgt spid="224264"/>
                                        </p:tgtEl>
                                        <p:attrNameLst>
                                          <p:attrName>ppt_x</p:attrName>
                                        </p:attrNameLst>
                                      </p:cBhvr>
                                      <p:tavLst>
                                        <p:tav tm="0">
                                          <p:val>
                                            <p:strVal val="#ppt_x"/>
                                          </p:val>
                                        </p:tav>
                                        <p:tav tm="100000">
                                          <p:val>
                                            <p:strVal val="#ppt_x"/>
                                          </p:val>
                                        </p:tav>
                                      </p:tavLst>
                                    </p:anim>
                                    <p:anim calcmode="lin" valueType="num">
                                      <p:cBhvr>
                                        <p:cTn id="37" dur="500" fill="hold"/>
                                        <p:tgtEl>
                                          <p:spTgt spid="224264"/>
                                        </p:tgtEl>
                                        <p:attrNameLst>
                                          <p:attrName>ppt_y</p:attrName>
                                        </p:attrNameLst>
                                      </p:cBhvr>
                                      <p:tavLst>
                                        <p:tav tm="0">
                                          <p:val>
                                            <p:strVal val="#ppt_y-#ppt_h/2"/>
                                          </p:val>
                                        </p:tav>
                                        <p:tav tm="100000">
                                          <p:val>
                                            <p:strVal val="#ppt_y"/>
                                          </p:val>
                                        </p:tav>
                                      </p:tavLst>
                                    </p:anim>
                                    <p:anim calcmode="lin" valueType="num">
                                      <p:cBhvr>
                                        <p:cTn id="38" dur="500" fill="hold"/>
                                        <p:tgtEl>
                                          <p:spTgt spid="224264"/>
                                        </p:tgtEl>
                                        <p:attrNameLst>
                                          <p:attrName>ppt_w</p:attrName>
                                        </p:attrNameLst>
                                      </p:cBhvr>
                                      <p:tavLst>
                                        <p:tav tm="0">
                                          <p:val>
                                            <p:strVal val="#ppt_w"/>
                                          </p:val>
                                        </p:tav>
                                        <p:tav tm="100000">
                                          <p:val>
                                            <p:strVal val="#ppt_w"/>
                                          </p:val>
                                        </p:tav>
                                      </p:tavLst>
                                    </p:anim>
                                    <p:anim calcmode="lin" valueType="num">
                                      <p:cBhvr>
                                        <p:cTn id="39" dur="500" fill="hold"/>
                                        <p:tgtEl>
                                          <p:spTgt spid="224264"/>
                                        </p:tgtEl>
                                        <p:attrNameLst>
                                          <p:attrName>ppt_h</p:attrName>
                                        </p:attrNameLst>
                                      </p:cBhvr>
                                      <p:tavLst>
                                        <p:tav tm="0">
                                          <p:val>
                                            <p:fltVal val="0"/>
                                          </p:val>
                                        </p:tav>
                                        <p:tav tm="100000">
                                          <p:val>
                                            <p:strVal val="#ppt_h"/>
                                          </p:val>
                                        </p:tav>
                                      </p:tavLst>
                                    </p:anim>
                                  </p:childTnLst>
                                </p:cTn>
                              </p:par>
                            </p:childTnLst>
                          </p:cTn>
                        </p:par>
                        <p:par>
                          <p:cTn id="40" fill="hold" nodeType="afterGroup">
                            <p:stCondLst>
                              <p:cond delay="1500"/>
                            </p:stCondLst>
                            <p:childTnLst>
                              <p:par>
                                <p:cTn id="41" presetID="17" presetClass="entr" presetSubtype="1" fill="hold" grpId="0" nodeType="afterEffect">
                                  <p:stCondLst>
                                    <p:cond delay="0"/>
                                  </p:stCondLst>
                                  <p:childTnLst>
                                    <p:set>
                                      <p:cBhvr>
                                        <p:cTn id="42" dur="1" fill="hold">
                                          <p:stCondLst>
                                            <p:cond delay="0"/>
                                          </p:stCondLst>
                                        </p:cTn>
                                        <p:tgtEl>
                                          <p:spTgt spid="224265"/>
                                        </p:tgtEl>
                                        <p:attrNameLst>
                                          <p:attrName>style.visibility</p:attrName>
                                        </p:attrNameLst>
                                      </p:cBhvr>
                                      <p:to>
                                        <p:strVal val="visible"/>
                                      </p:to>
                                    </p:set>
                                    <p:anim calcmode="lin" valueType="num">
                                      <p:cBhvr>
                                        <p:cTn id="43" dur="500" fill="hold"/>
                                        <p:tgtEl>
                                          <p:spTgt spid="224265"/>
                                        </p:tgtEl>
                                        <p:attrNameLst>
                                          <p:attrName>ppt_x</p:attrName>
                                        </p:attrNameLst>
                                      </p:cBhvr>
                                      <p:tavLst>
                                        <p:tav tm="0">
                                          <p:val>
                                            <p:strVal val="#ppt_x"/>
                                          </p:val>
                                        </p:tav>
                                        <p:tav tm="100000">
                                          <p:val>
                                            <p:strVal val="#ppt_x"/>
                                          </p:val>
                                        </p:tav>
                                      </p:tavLst>
                                    </p:anim>
                                    <p:anim calcmode="lin" valueType="num">
                                      <p:cBhvr>
                                        <p:cTn id="44" dur="500" fill="hold"/>
                                        <p:tgtEl>
                                          <p:spTgt spid="224265"/>
                                        </p:tgtEl>
                                        <p:attrNameLst>
                                          <p:attrName>ppt_y</p:attrName>
                                        </p:attrNameLst>
                                      </p:cBhvr>
                                      <p:tavLst>
                                        <p:tav tm="0">
                                          <p:val>
                                            <p:strVal val="#ppt_y-#ppt_h/2"/>
                                          </p:val>
                                        </p:tav>
                                        <p:tav tm="100000">
                                          <p:val>
                                            <p:strVal val="#ppt_y"/>
                                          </p:val>
                                        </p:tav>
                                      </p:tavLst>
                                    </p:anim>
                                    <p:anim calcmode="lin" valueType="num">
                                      <p:cBhvr>
                                        <p:cTn id="45" dur="500" fill="hold"/>
                                        <p:tgtEl>
                                          <p:spTgt spid="224265"/>
                                        </p:tgtEl>
                                        <p:attrNameLst>
                                          <p:attrName>ppt_w</p:attrName>
                                        </p:attrNameLst>
                                      </p:cBhvr>
                                      <p:tavLst>
                                        <p:tav tm="0">
                                          <p:val>
                                            <p:strVal val="#ppt_w"/>
                                          </p:val>
                                        </p:tav>
                                        <p:tav tm="100000">
                                          <p:val>
                                            <p:strVal val="#ppt_w"/>
                                          </p:val>
                                        </p:tav>
                                      </p:tavLst>
                                    </p:anim>
                                    <p:anim calcmode="lin" valueType="num">
                                      <p:cBhvr>
                                        <p:cTn id="46" dur="500" fill="hold"/>
                                        <p:tgtEl>
                                          <p:spTgt spid="224265"/>
                                        </p:tgtEl>
                                        <p:attrNameLst>
                                          <p:attrName>ppt_h</p:attrName>
                                        </p:attrNameLst>
                                      </p:cBhvr>
                                      <p:tavLst>
                                        <p:tav tm="0">
                                          <p:val>
                                            <p:fltVal val="0"/>
                                          </p:val>
                                        </p:tav>
                                        <p:tav tm="100000">
                                          <p:val>
                                            <p:strVal val="#ppt_h"/>
                                          </p:val>
                                        </p:tav>
                                      </p:tavLst>
                                    </p:anim>
                                  </p:childTnLst>
                                </p:cTn>
                              </p:par>
                            </p:childTnLst>
                          </p:cTn>
                        </p:par>
                        <p:par>
                          <p:cTn id="47" fill="hold" nodeType="afterGroup">
                            <p:stCondLst>
                              <p:cond delay="2000"/>
                            </p:stCondLst>
                            <p:childTnLst>
                              <p:par>
                                <p:cTn id="48" presetID="22" presetClass="entr" presetSubtype="8" fill="hold" grpId="0" nodeType="afterEffect">
                                  <p:stCondLst>
                                    <p:cond delay="0"/>
                                  </p:stCondLst>
                                  <p:childTnLst>
                                    <p:set>
                                      <p:cBhvr>
                                        <p:cTn id="49" dur="1" fill="hold">
                                          <p:stCondLst>
                                            <p:cond delay="0"/>
                                          </p:stCondLst>
                                        </p:cTn>
                                        <p:tgtEl>
                                          <p:spTgt spid="224281"/>
                                        </p:tgtEl>
                                        <p:attrNameLst>
                                          <p:attrName>style.visibility</p:attrName>
                                        </p:attrNameLst>
                                      </p:cBhvr>
                                      <p:to>
                                        <p:strVal val="visible"/>
                                      </p:to>
                                    </p:set>
                                    <p:animEffect transition="in" filter="wipe(left)">
                                      <p:cBhvr>
                                        <p:cTn id="50" dur="500"/>
                                        <p:tgtEl>
                                          <p:spTgt spid="224281"/>
                                        </p:tgtEl>
                                      </p:cBhvr>
                                    </p:animEffect>
                                  </p:childTnLst>
                                </p:cTn>
                              </p:par>
                            </p:childTnLst>
                          </p:cTn>
                        </p:par>
                        <p:par>
                          <p:cTn id="51" fill="hold" nodeType="afterGroup">
                            <p:stCondLst>
                              <p:cond delay="2500"/>
                            </p:stCondLst>
                            <p:childTnLst>
                              <p:par>
                                <p:cTn id="52" presetID="22" presetClass="entr" presetSubtype="8" fill="hold" grpId="0" nodeType="afterEffect">
                                  <p:stCondLst>
                                    <p:cond delay="0"/>
                                  </p:stCondLst>
                                  <p:childTnLst>
                                    <p:set>
                                      <p:cBhvr>
                                        <p:cTn id="53" dur="1" fill="hold">
                                          <p:stCondLst>
                                            <p:cond delay="0"/>
                                          </p:stCondLst>
                                        </p:cTn>
                                        <p:tgtEl>
                                          <p:spTgt spid="224271"/>
                                        </p:tgtEl>
                                        <p:attrNameLst>
                                          <p:attrName>style.visibility</p:attrName>
                                        </p:attrNameLst>
                                      </p:cBhvr>
                                      <p:to>
                                        <p:strVal val="visible"/>
                                      </p:to>
                                    </p:set>
                                    <p:animEffect transition="in" filter="wipe(left)">
                                      <p:cBhvr>
                                        <p:cTn id="54" dur="500"/>
                                        <p:tgtEl>
                                          <p:spTgt spid="224271"/>
                                        </p:tgtEl>
                                      </p:cBhvr>
                                    </p:animEffect>
                                  </p:childTnLst>
                                </p:cTn>
                              </p:par>
                            </p:childTnLst>
                          </p:cTn>
                        </p:par>
                        <p:par>
                          <p:cTn id="55" fill="hold" nodeType="afterGroup">
                            <p:stCondLst>
                              <p:cond delay="3000"/>
                            </p:stCondLst>
                            <p:childTnLst>
                              <p:par>
                                <p:cTn id="56" presetID="17" presetClass="entr" presetSubtype="1" fill="hold" grpId="0" nodeType="afterEffect">
                                  <p:stCondLst>
                                    <p:cond delay="0"/>
                                  </p:stCondLst>
                                  <p:childTnLst>
                                    <p:set>
                                      <p:cBhvr>
                                        <p:cTn id="57" dur="1" fill="hold">
                                          <p:stCondLst>
                                            <p:cond delay="0"/>
                                          </p:stCondLst>
                                        </p:cTn>
                                        <p:tgtEl>
                                          <p:spTgt spid="224272"/>
                                        </p:tgtEl>
                                        <p:attrNameLst>
                                          <p:attrName>style.visibility</p:attrName>
                                        </p:attrNameLst>
                                      </p:cBhvr>
                                      <p:to>
                                        <p:strVal val="visible"/>
                                      </p:to>
                                    </p:set>
                                    <p:anim calcmode="lin" valueType="num">
                                      <p:cBhvr>
                                        <p:cTn id="58" dur="500" fill="hold"/>
                                        <p:tgtEl>
                                          <p:spTgt spid="224272"/>
                                        </p:tgtEl>
                                        <p:attrNameLst>
                                          <p:attrName>ppt_x</p:attrName>
                                        </p:attrNameLst>
                                      </p:cBhvr>
                                      <p:tavLst>
                                        <p:tav tm="0">
                                          <p:val>
                                            <p:strVal val="#ppt_x"/>
                                          </p:val>
                                        </p:tav>
                                        <p:tav tm="100000">
                                          <p:val>
                                            <p:strVal val="#ppt_x"/>
                                          </p:val>
                                        </p:tav>
                                      </p:tavLst>
                                    </p:anim>
                                    <p:anim calcmode="lin" valueType="num">
                                      <p:cBhvr>
                                        <p:cTn id="59" dur="500" fill="hold"/>
                                        <p:tgtEl>
                                          <p:spTgt spid="224272"/>
                                        </p:tgtEl>
                                        <p:attrNameLst>
                                          <p:attrName>ppt_y</p:attrName>
                                        </p:attrNameLst>
                                      </p:cBhvr>
                                      <p:tavLst>
                                        <p:tav tm="0">
                                          <p:val>
                                            <p:strVal val="#ppt_y-#ppt_h/2"/>
                                          </p:val>
                                        </p:tav>
                                        <p:tav tm="100000">
                                          <p:val>
                                            <p:strVal val="#ppt_y"/>
                                          </p:val>
                                        </p:tav>
                                      </p:tavLst>
                                    </p:anim>
                                    <p:anim calcmode="lin" valueType="num">
                                      <p:cBhvr>
                                        <p:cTn id="60" dur="500" fill="hold"/>
                                        <p:tgtEl>
                                          <p:spTgt spid="224272"/>
                                        </p:tgtEl>
                                        <p:attrNameLst>
                                          <p:attrName>ppt_w</p:attrName>
                                        </p:attrNameLst>
                                      </p:cBhvr>
                                      <p:tavLst>
                                        <p:tav tm="0">
                                          <p:val>
                                            <p:strVal val="#ppt_w"/>
                                          </p:val>
                                        </p:tav>
                                        <p:tav tm="100000">
                                          <p:val>
                                            <p:strVal val="#ppt_w"/>
                                          </p:val>
                                        </p:tav>
                                      </p:tavLst>
                                    </p:anim>
                                    <p:anim calcmode="lin" valueType="num">
                                      <p:cBhvr>
                                        <p:cTn id="61" dur="500" fill="hold"/>
                                        <p:tgtEl>
                                          <p:spTgt spid="224272"/>
                                        </p:tgtEl>
                                        <p:attrNameLst>
                                          <p:attrName>ppt_h</p:attrName>
                                        </p:attrNameLst>
                                      </p:cBhvr>
                                      <p:tavLst>
                                        <p:tav tm="0">
                                          <p:val>
                                            <p:fltVal val="0"/>
                                          </p:val>
                                        </p:tav>
                                        <p:tav tm="100000">
                                          <p:val>
                                            <p:strVal val="#ppt_h"/>
                                          </p:val>
                                        </p:tav>
                                      </p:tavLst>
                                    </p:anim>
                                  </p:childTnLst>
                                </p:cTn>
                              </p:par>
                            </p:childTnLst>
                          </p:cTn>
                        </p:par>
                        <p:par>
                          <p:cTn id="62" fill="hold" nodeType="afterGroup">
                            <p:stCondLst>
                              <p:cond delay="3500"/>
                            </p:stCondLst>
                            <p:childTnLst>
                              <p:par>
                                <p:cTn id="63" presetID="17" presetClass="entr" presetSubtype="1" fill="hold" grpId="0" nodeType="afterEffect">
                                  <p:stCondLst>
                                    <p:cond delay="0"/>
                                  </p:stCondLst>
                                  <p:childTnLst>
                                    <p:set>
                                      <p:cBhvr>
                                        <p:cTn id="64" dur="1" fill="hold">
                                          <p:stCondLst>
                                            <p:cond delay="0"/>
                                          </p:stCondLst>
                                        </p:cTn>
                                        <p:tgtEl>
                                          <p:spTgt spid="224273"/>
                                        </p:tgtEl>
                                        <p:attrNameLst>
                                          <p:attrName>style.visibility</p:attrName>
                                        </p:attrNameLst>
                                      </p:cBhvr>
                                      <p:to>
                                        <p:strVal val="visible"/>
                                      </p:to>
                                    </p:set>
                                    <p:anim calcmode="lin" valueType="num">
                                      <p:cBhvr>
                                        <p:cTn id="65" dur="500" fill="hold"/>
                                        <p:tgtEl>
                                          <p:spTgt spid="224273"/>
                                        </p:tgtEl>
                                        <p:attrNameLst>
                                          <p:attrName>ppt_x</p:attrName>
                                        </p:attrNameLst>
                                      </p:cBhvr>
                                      <p:tavLst>
                                        <p:tav tm="0">
                                          <p:val>
                                            <p:strVal val="#ppt_x"/>
                                          </p:val>
                                        </p:tav>
                                        <p:tav tm="100000">
                                          <p:val>
                                            <p:strVal val="#ppt_x"/>
                                          </p:val>
                                        </p:tav>
                                      </p:tavLst>
                                    </p:anim>
                                    <p:anim calcmode="lin" valueType="num">
                                      <p:cBhvr>
                                        <p:cTn id="66" dur="500" fill="hold"/>
                                        <p:tgtEl>
                                          <p:spTgt spid="224273"/>
                                        </p:tgtEl>
                                        <p:attrNameLst>
                                          <p:attrName>ppt_y</p:attrName>
                                        </p:attrNameLst>
                                      </p:cBhvr>
                                      <p:tavLst>
                                        <p:tav tm="0">
                                          <p:val>
                                            <p:strVal val="#ppt_y-#ppt_h/2"/>
                                          </p:val>
                                        </p:tav>
                                        <p:tav tm="100000">
                                          <p:val>
                                            <p:strVal val="#ppt_y"/>
                                          </p:val>
                                        </p:tav>
                                      </p:tavLst>
                                    </p:anim>
                                    <p:anim calcmode="lin" valueType="num">
                                      <p:cBhvr>
                                        <p:cTn id="67" dur="500" fill="hold"/>
                                        <p:tgtEl>
                                          <p:spTgt spid="224273"/>
                                        </p:tgtEl>
                                        <p:attrNameLst>
                                          <p:attrName>ppt_w</p:attrName>
                                        </p:attrNameLst>
                                      </p:cBhvr>
                                      <p:tavLst>
                                        <p:tav tm="0">
                                          <p:val>
                                            <p:strVal val="#ppt_w"/>
                                          </p:val>
                                        </p:tav>
                                        <p:tav tm="100000">
                                          <p:val>
                                            <p:strVal val="#ppt_w"/>
                                          </p:val>
                                        </p:tav>
                                      </p:tavLst>
                                    </p:anim>
                                    <p:anim calcmode="lin" valueType="num">
                                      <p:cBhvr>
                                        <p:cTn id="68" dur="500" fill="hold"/>
                                        <p:tgtEl>
                                          <p:spTgt spid="224273"/>
                                        </p:tgtEl>
                                        <p:attrNameLst>
                                          <p:attrName>ppt_h</p:attrName>
                                        </p:attrNameLst>
                                      </p:cBhvr>
                                      <p:tavLst>
                                        <p:tav tm="0">
                                          <p:val>
                                            <p:fltVal val="0"/>
                                          </p:val>
                                        </p:tav>
                                        <p:tav tm="100000">
                                          <p:val>
                                            <p:strVal val="#ppt_h"/>
                                          </p:val>
                                        </p:tav>
                                      </p:tavLst>
                                    </p:anim>
                                  </p:childTnLst>
                                </p:cTn>
                              </p:par>
                            </p:childTnLst>
                          </p:cTn>
                        </p:par>
                        <p:par>
                          <p:cTn id="69" fill="hold" nodeType="afterGroup">
                            <p:stCondLst>
                              <p:cond delay="4000"/>
                            </p:stCondLst>
                            <p:childTnLst>
                              <p:par>
                                <p:cTn id="70" presetID="22" presetClass="entr" presetSubtype="8" fill="hold" grpId="0" nodeType="afterEffect">
                                  <p:stCondLst>
                                    <p:cond delay="0"/>
                                  </p:stCondLst>
                                  <p:childTnLst>
                                    <p:set>
                                      <p:cBhvr>
                                        <p:cTn id="71" dur="1" fill="hold">
                                          <p:stCondLst>
                                            <p:cond delay="0"/>
                                          </p:stCondLst>
                                        </p:cTn>
                                        <p:tgtEl>
                                          <p:spTgt spid="224282"/>
                                        </p:tgtEl>
                                        <p:attrNameLst>
                                          <p:attrName>style.visibility</p:attrName>
                                        </p:attrNameLst>
                                      </p:cBhvr>
                                      <p:to>
                                        <p:strVal val="visible"/>
                                      </p:to>
                                    </p:set>
                                    <p:animEffect transition="in" filter="wipe(left)">
                                      <p:cBhvr>
                                        <p:cTn id="72" dur="500"/>
                                        <p:tgtEl>
                                          <p:spTgt spid="224282"/>
                                        </p:tgtEl>
                                      </p:cBhvr>
                                    </p:animEffect>
                                  </p:childTnLst>
                                </p:cTn>
                              </p:par>
                            </p:childTnLst>
                          </p:cTn>
                        </p:par>
                        <p:par>
                          <p:cTn id="73" fill="hold" nodeType="afterGroup">
                            <p:stCondLst>
                              <p:cond delay="4500"/>
                            </p:stCondLst>
                            <p:childTnLst>
                              <p:par>
                                <p:cTn id="74" presetID="22" presetClass="entr" presetSubtype="8" fill="hold" grpId="0" nodeType="afterEffect">
                                  <p:stCondLst>
                                    <p:cond delay="0"/>
                                  </p:stCondLst>
                                  <p:childTnLst>
                                    <p:set>
                                      <p:cBhvr>
                                        <p:cTn id="75" dur="1" fill="hold">
                                          <p:stCondLst>
                                            <p:cond delay="0"/>
                                          </p:stCondLst>
                                        </p:cTn>
                                        <p:tgtEl>
                                          <p:spTgt spid="224285"/>
                                        </p:tgtEl>
                                        <p:attrNameLst>
                                          <p:attrName>style.visibility</p:attrName>
                                        </p:attrNameLst>
                                      </p:cBhvr>
                                      <p:to>
                                        <p:strVal val="visible"/>
                                      </p:to>
                                    </p:set>
                                    <p:animEffect transition="in" filter="wipe(left)">
                                      <p:cBhvr>
                                        <p:cTn id="76" dur="500"/>
                                        <p:tgtEl>
                                          <p:spTgt spid="224285"/>
                                        </p:tgtEl>
                                      </p:cBhvr>
                                    </p:animEffect>
                                  </p:childTnLst>
                                </p:cTn>
                              </p:par>
                            </p:childTnLst>
                          </p:cTn>
                        </p:par>
                        <p:par>
                          <p:cTn id="77" fill="hold" nodeType="afterGroup">
                            <p:stCondLst>
                              <p:cond delay="5000"/>
                            </p:stCondLst>
                            <p:childTnLst>
                              <p:par>
                                <p:cTn id="78" presetID="22" presetClass="entr" presetSubtype="8" fill="hold" grpId="0" nodeType="afterEffect">
                                  <p:stCondLst>
                                    <p:cond delay="0"/>
                                  </p:stCondLst>
                                  <p:childTnLst>
                                    <p:set>
                                      <p:cBhvr>
                                        <p:cTn id="79" dur="1" fill="hold">
                                          <p:stCondLst>
                                            <p:cond delay="0"/>
                                          </p:stCondLst>
                                        </p:cTn>
                                        <p:tgtEl>
                                          <p:spTgt spid="224283"/>
                                        </p:tgtEl>
                                        <p:attrNameLst>
                                          <p:attrName>style.visibility</p:attrName>
                                        </p:attrNameLst>
                                      </p:cBhvr>
                                      <p:to>
                                        <p:strVal val="visible"/>
                                      </p:to>
                                    </p:set>
                                    <p:animEffect transition="in" filter="wipe(left)">
                                      <p:cBhvr>
                                        <p:cTn id="80" dur="500"/>
                                        <p:tgtEl>
                                          <p:spTgt spid="224283"/>
                                        </p:tgtEl>
                                      </p:cBhvr>
                                    </p:animEffect>
                                  </p:childTnLst>
                                </p:cTn>
                              </p:par>
                            </p:childTnLst>
                          </p:cTn>
                        </p:par>
                        <p:par>
                          <p:cTn id="81" fill="hold" nodeType="afterGroup">
                            <p:stCondLst>
                              <p:cond delay="5500"/>
                            </p:stCondLst>
                            <p:childTnLst>
                              <p:par>
                                <p:cTn id="82" presetID="22" presetClass="entr" presetSubtype="8" fill="hold" grpId="0" nodeType="afterEffect">
                                  <p:stCondLst>
                                    <p:cond delay="0"/>
                                  </p:stCondLst>
                                  <p:childTnLst>
                                    <p:set>
                                      <p:cBhvr>
                                        <p:cTn id="83" dur="1" fill="hold">
                                          <p:stCondLst>
                                            <p:cond delay="0"/>
                                          </p:stCondLst>
                                        </p:cTn>
                                        <p:tgtEl>
                                          <p:spTgt spid="224276"/>
                                        </p:tgtEl>
                                        <p:attrNameLst>
                                          <p:attrName>style.visibility</p:attrName>
                                        </p:attrNameLst>
                                      </p:cBhvr>
                                      <p:to>
                                        <p:strVal val="visible"/>
                                      </p:to>
                                    </p:set>
                                    <p:animEffect transition="in" filter="wipe(left)">
                                      <p:cBhvr>
                                        <p:cTn id="84" dur="500"/>
                                        <p:tgtEl>
                                          <p:spTgt spid="224276"/>
                                        </p:tgtEl>
                                      </p:cBhvr>
                                    </p:animEffect>
                                  </p:childTnLst>
                                </p:cTn>
                              </p:par>
                            </p:childTnLst>
                          </p:cTn>
                        </p:par>
                        <p:par>
                          <p:cTn id="85" fill="hold" nodeType="afterGroup">
                            <p:stCondLst>
                              <p:cond delay="6000"/>
                            </p:stCondLst>
                            <p:childTnLst>
                              <p:par>
                                <p:cTn id="86" presetID="17" presetClass="entr" presetSubtype="1" fill="hold" grpId="0" nodeType="afterEffect">
                                  <p:stCondLst>
                                    <p:cond delay="0"/>
                                  </p:stCondLst>
                                  <p:childTnLst>
                                    <p:set>
                                      <p:cBhvr>
                                        <p:cTn id="87" dur="1" fill="hold">
                                          <p:stCondLst>
                                            <p:cond delay="0"/>
                                          </p:stCondLst>
                                        </p:cTn>
                                        <p:tgtEl>
                                          <p:spTgt spid="224277"/>
                                        </p:tgtEl>
                                        <p:attrNameLst>
                                          <p:attrName>style.visibility</p:attrName>
                                        </p:attrNameLst>
                                      </p:cBhvr>
                                      <p:to>
                                        <p:strVal val="visible"/>
                                      </p:to>
                                    </p:set>
                                    <p:anim calcmode="lin" valueType="num">
                                      <p:cBhvr>
                                        <p:cTn id="88" dur="500" fill="hold"/>
                                        <p:tgtEl>
                                          <p:spTgt spid="224277"/>
                                        </p:tgtEl>
                                        <p:attrNameLst>
                                          <p:attrName>ppt_x</p:attrName>
                                        </p:attrNameLst>
                                      </p:cBhvr>
                                      <p:tavLst>
                                        <p:tav tm="0">
                                          <p:val>
                                            <p:strVal val="#ppt_x"/>
                                          </p:val>
                                        </p:tav>
                                        <p:tav tm="100000">
                                          <p:val>
                                            <p:strVal val="#ppt_x"/>
                                          </p:val>
                                        </p:tav>
                                      </p:tavLst>
                                    </p:anim>
                                    <p:anim calcmode="lin" valueType="num">
                                      <p:cBhvr>
                                        <p:cTn id="89" dur="500" fill="hold"/>
                                        <p:tgtEl>
                                          <p:spTgt spid="224277"/>
                                        </p:tgtEl>
                                        <p:attrNameLst>
                                          <p:attrName>ppt_y</p:attrName>
                                        </p:attrNameLst>
                                      </p:cBhvr>
                                      <p:tavLst>
                                        <p:tav tm="0">
                                          <p:val>
                                            <p:strVal val="#ppt_y-#ppt_h/2"/>
                                          </p:val>
                                        </p:tav>
                                        <p:tav tm="100000">
                                          <p:val>
                                            <p:strVal val="#ppt_y"/>
                                          </p:val>
                                        </p:tav>
                                      </p:tavLst>
                                    </p:anim>
                                    <p:anim calcmode="lin" valueType="num">
                                      <p:cBhvr>
                                        <p:cTn id="90" dur="500" fill="hold"/>
                                        <p:tgtEl>
                                          <p:spTgt spid="224277"/>
                                        </p:tgtEl>
                                        <p:attrNameLst>
                                          <p:attrName>ppt_w</p:attrName>
                                        </p:attrNameLst>
                                      </p:cBhvr>
                                      <p:tavLst>
                                        <p:tav tm="0">
                                          <p:val>
                                            <p:strVal val="#ppt_w"/>
                                          </p:val>
                                        </p:tav>
                                        <p:tav tm="100000">
                                          <p:val>
                                            <p:strVal val="#ppt_w"/>
                                          </p:val>
                                        </p:tav>
                                      </p:tavLst>
                                    </p:anim>
                                    <p:anim calcmode="lin" valueType="num">
                                      <p:cBhvr>
                                        <p:cTn id="91" dur="500" fill="hold"/>
                                        <p:tgtEl>
                                          <p:spTgt spid="224277"/>
                                        </p:tgtEl>
                                        <p:attrNameLst>
                                          <p:attrName>ppt_h</p:attrName>
                                        </p:attrNameLst>
                                      </p:cBhvr>
                                      <p:tavLst>
                                        <p:tav tm="0">
                                          <p:val>
                                            <p:fltVal val="0"/>
                                          </p:val>
                                        </p:tav>
                                        <p:tav tm="100000">
                                          <p:val>
                                            <p:strVal val="#ppt_h"/>
                                          </p:val>
                                        </p:tav>
                                      </p:tavLst>
                                    </p:anim>
                                  </p:childTnLst>
                                </p:cTn>
                              </p:par>
                            </p:childTnLst>
                          </p:cTn>
                        </p:par>
                        <p:par>
                          <p:cTn id="92" fill="hold" nodeType="afterGroup">
                            <p:stCondLst>
                              <p:cond delay="6500"/>
                            </p:stCondLst>
                            <p:childTnLst>
                              <p:par>
                                <p:cTn id="93" presetID="17" presetClass="entr" presetSubtype="1" fill="hold" grpId="0" nodeType="afterEffect">
                                  <p:stCondLst>
                                    <p:cond delay="0"/>
                                  </p:stCondLst>
                                  <p:childTnLst>
                                    <p:set>
                                      <p:cBhvr>
                                        <p:cTn id="94" dur="1" fill="hold">
                                          <p:stCondLst>
                                            <p:cond delay="0"/>
                                          </p:stCondLst>
                                        </p:cTn>
                                        <p:tgtEl>
                                          <p:spTgt spid="224278"/>
                                        </p:tgtEl>
                                        <p:attrNameLst>
                                          <p:attrName>style.visibility</p:attrName>
                                        </p:attrNameLst>
                                      </p:cBhvr>
                                      <p:to>
                                        <p:strVal val="visible"/>
                                      </p:to>
                                    </p:set>
                                    <p:anim calcmode="lin" valueType="num">
                                      <p:cBhvr>
                                        <p:cTn id="95" dur="500" fill="hold"/>
                                        <p:tgtEl>
                                          <p:spTgt spid="224278"/>
                                        </p:tgtEl>
                                        <p:attrNameLst>
                                          <p:attrName>ppt_x</p:attrName>
                                        </p:attrNameLst>
                                      </p:cBhvr>
                                      <p:tavLst>
                                        <p:tav tm="0">
                                          <p:val>
                                            <p:strVal val="#ppt_x"/>
                                          </p:val>
                                        </p:tav>
                                        <p:tav tm="100000">
                                          <p:val>
                                            <p:strVal val="#ppt_x"/>
                                          </p:val>
                                        </p:tav>
                                      </p:tavLst>
                                    </p:anim>
                                    <p:anim calcmode="lin" valueType="num">
                                      <p:cBhvr>
                                        <p:cTn id="96" dur="500" fill="hold"/>
                                        <p:tgtEl>
                                          <p:spTgt spid="224278"/>
                                        </p:tgtEl>
                                        <p:attrNameLst>
                                          <p:attrName>ppt_y</p:attrName>
                                        </p:attrNameLst>
                                      </p:cBhvr>
                                      <p:tavLst>
                                        <p:tav tm="0">
                                          <p:val>
                                            <p:strVal val="#ppt_y-#ppt_h/2"/>
                                          </p:val>
                                        </p:tav>
                                        <p:tav tm="100000">
                                          <p:val>
                                            <p:strVal val="#ppt_y"/>
                                          </p:val>
                                        </p:tav>
                                      </p:tavLst>
                                    </p:anim>
                                    <p:anim calcmode="lin" valueType="num">
                                      <p:cBhvr>
                                        <p:cTn id="97" dur="500" fill="hold"/>
                                        <p:tgtEl>
                                          <p:spTgt spid="224278"/>
                                        </p:tgtEl>
                                        <p:attrNameLst>
                                          <p:attrName>ppt_w</p:attrName>
                                        </p:attrNameLst>
                                      </p:cBhvr>
                                      <p:tavLst>
                                        <p:tav tm="0">
                                          <p:val>
                                            <p:strVal val="#ppt_w"/>
                                          </p:val>
                                        </p:tav>
                                        <p:tav tm="100000">
                                          <p:val>
                                            <p:strVal val="#ppt_w"/>
                                          </p:val>
                                        </p:tav>
                                      </p:tavLst>
                                    </p:anim>
                                    <p:anim calcmode="lin" valueType="num">
                                      <p:cBhvr>
                                        <p:cTn id="98" dur="500" fill="hold"/>
                                        <p:tgtEl>
                                          <p:spTgt spid="224278"/>
                                        </p:tgtEl>
                                        <p:attrNameLst>
                                          <p:attrName>ppt_h</p:attrName>
                                        </p:attrNameLst>
                                      </p:cBhvr>
                                      <p:tavLst>
                                        <p:tav tm="0">
                                          <p:val>
                                            <p:fltVal val="0"/>
                                          </p:val>
                                        </p:tav>
                                        <p:tav tm="100000">
                                          <p:val>
                                            <p:strVal val="#ppt_h"/>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1" fill="hold" grpId="0" nodeType="clickEffect">
                                  <p:stCondLst>
                                    <p:cond delay="0"/>
                                  </p:stCondLst>
                                  <p:childTnLst>
                                    <p:set>
                                      <p:cBhvr>
                                        <p:cTn id="102" dur="1" fill="hold">
                                          <p:stCondLst>
                                            <p:cond delay="0"/>
                                          </p:stCondLst>
                                        </p:cTn>
                                        <p:tgtEl>
                                          <p:spTgt spid="224266"/>
                                        </p:tgtEl>
                                        <p:attrNameLst>
                                          <p:attrName>style.visibility</p:attrName>
                                        </p:attrNameLst>
                                      </p:cBhvr>
                                      <p:to>
                                        <p:strVal val="visible"/>
                                      </p:to>
                                    </p:set>
                                    <p:animEffect transition="in" filter="wipe(up)">
                                      <p:cBhvr>
                                        <p:cTn id="103" dur="500"/>
                                        <p:tgtEl>
                                          <p:spTgt spid="224266"/>
                                        </p:tgtEl>
                                      </p:cBhvr>
                                    </p:animEffect>
                                  </p:childTnLst>
                                </p:cTn>
                              </p:par>
                            </p:childTnLst>
                          </p:cTn>
                        </p:par>
                        <p:par>
                          <p:cTn id="104" fill="hold" nodeType="afterGroup">
                            <p:stCondLst>
                              <p:cond delay="500"/>
                            </p:stCondLst>
                            <p:childTnLst>
                              <p:par>
                                <p:cTn id="105" presetID="22" presetClass="entr" presetSubtype="8" fill="hold" grpId="0" nodeType="afterEffect">
                                  <p:stCondLst>
                                    <p:cond delay="0"/>
                                  </p:stCondLst>
                                  <p:childTnLst>
                                    <p:set>
                                      <p:cBhvr>
                                        <p:cTn id="106" dur="1" fill="hold">
                                          <p:stCondLst>
                                            <p:cond delay="0"/>
                                          </p:stCondLst>
                                        </p:cTn>
                                        <p:tgtEl>
                                          <p:spTgt spid="224267"/>
                                        </p:tgtEl>
                                        <p:attrNameLst>
                                          <p:attrName>style.visibility</p:attrName>
                                        </p:attrNameLst>
                                      </p:cBhvr>
                                      <p:to>
                                        <p:strVal val="visible"/>
                                      </p:to>
                                    </p:set>
                                    <p:animEffect transition="in" filter="wipe(left)">
                                      <p:cBhvr>
                                        <p:cTn id="107" dur="500"/>
                                        <p:tgtEl>
                                          <p:spTgt spid="224267"/>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224274"/>
                                        </p:tgtEl>
                                        <p:attrNameLst>
                                          <p:attrName>style.visibility</p:attrName>
                                        </p:attrNameLst>
                                      </p:cBhvr>
                                      <p:to>
                                        <p:strVal val="visible"/>
                                      </p:to>
                                    </p:set>
                                    <p:animEffect transition="in" filter="wipe(up)">
                                      <p:cBhvr>
                                        <p:cTn id="112" dur="500"/>
                                        <p:tgtEl>
                                          <p:spTgt spid="224274"/>
                                        </p:tgtEl>
                                      </p:cBhvr>
                                    </p:animEffect>
                                  </p:childTnLst>
                                </p:cTn>
                              </p:par>
                            </p:childTnLst>
                          </p:cTn>
                        </p:par>
                        <p:par>
                          <p:cTn id="113" fill="hold" nodeType="afterGroup">
                            <p:stCondLst>
                              <p:cond delay="500"/>
                            </p:stCondLst>
                            <p:childTnLst>
                              <p:par>
                                <p:cTn id="114" presetID="22" presetClass="entr" presetSubtype="8" fill="hold" grpId="0" nodeType="afterEffect">
                                  <p:stCondLst>
                                    <p:cond delay="0"/>
                                  </p:stCondLst>
                                  <p:childTnLst>
                                    <p:set>
                                      <p:cBhvr>
                                        <p:cTn id="115" dur="1" fill="hold">
                                          <p:stCondLst>
                                            <p:cond delay="0"/>
                                          </p:stCondLst>
                                        </p:cTn>
                                        <p:tgtEl>
                                          <p:spTgt spid="224275"/>
                                        </p:tgtEl>
                                        <p:attrNameLst>
                                          <p:attrName>style.visibility</p:attrName>
                                        </p:attrNameLst>
                                      </p:cBhvr>
                                      <p:to>
                                        <p:strVal val="visible"/>
                                      </p:to>
                                    </p:set>
                                    <p:animEffect transition="in" filter="wipe(left)">
                                      <p:cBhvr>
                                        <p:cTn id="116" dur="500"/>
                                        <p:tgtEl>
                                          <p:spTgt spid="224275"/>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1" fill="hold" grpId="0" nodeType="clickEffect">
                                  <p:stCondLst>
                                    <p:cond delay="0"/>
                                  </p:stCondLst>
                                  <p:childTnLst>
                                    <p:set>
                                      <p:cBhvr>
                                        <p:cTn id="120" dur="1" fill="hold">
                                          <p:stCondLst>
                                            <p:cond delay="0"/>
                                          </p:stCondLst>
                                        </p:cTn>
                                        <p:tgtEl>
                                          <p:spTgt spid="224279"/>
                                        </p:tgtEl>
                                        <p:attrNameLst>
                                          <p:attrName>style.visibility</p:attrName>
                                        </p:attrNameLst>
                                      </p:cBhvr>
                                      <p:to>
                                        <p:strVal val="visible"/>
                                      </p:to>
                                    </p:set>
                                    <p:animEffect transition="in" filter="wipe(up)">
                                      <p:cBhvr>
                                        <p:cTn id="121" dur="500"/>
                                        <p:tgtEl>
                                          <p:spTgt spid="224279"/>
                                        </p:tgtEl>
                                      </p:cBhvr>
                                    </p:animEffect>
                                  </p:childTnLst>
                                </p:cTn>
                              </p:par>
                            </p:childTnLst>
                          </p:cTn>
                        </p:par>
                        <p:par>
                          <p:cTn id="122" fill="hold" nodeType="afterGroup">
                            <p:stCondLst>
                              <p:cond delay="500"/>
                            </p:stCondLst>
                            <p:childTnLst>
                              <p:par>
                                <p:cTn id="123" presetID="22" presetClass="entr" presetSubtype="8" fill="hold" grpId="0" nodeType="afterEffect">
                                  <p:stCondLst>
                                    <p:cond delay="0"/>
                                  </p:stCondLst>
                                  <p:childTnLst>
                                    <p:set>
                                      <p:cBhvr>
                                        <p:cTn id="124" dur="1" fill="hold">
                                          <p:stCondLst>
                                            <p:cond delay="0"/>
                                          </p:stCondLst>
                                        </p:cTn>
                                        <p:tgtEl>
                                          <p:spTgt spid="224280"/>
                                        </p:tgtEl>
                                        <p:attrNameLst>
                                          <p:attrName>style.visibility</p:attrName>
                                        </p:attrNameLst>
                                      </p:cBhvr>
                                      <p:to>
                                        <p:strVal val="visible"/>
                                      </p:to>
                                    </p:set>
                                    <p:animEffect transition="in" filter="wipe(left)">
                                      <p:cBhvr>
                                        <p:cTn id="125" dur="500"/>
                                        <p:tgtEl>
                                          <p:spTgt spid="224280"/>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 presetClass="entr" presetSubtype="8" fill="hold" grpId="0" nodeType="clickEffect">
                                  <p:stCondLst>
                                    <p:cond delay="0"/>
                                  </p:stCondLst>
                                  <p:childTnLst>
                                    <p:set>
                                      <p:cBhvr>
                                        <p:cTn id="129" dur="1" fill="hold">
                                          <p:stCondLst>
                                            <p:cond delay="0"/>
                                          </p:stCondLst>
                                        </p:cTn>
                                        <p:tgtEl>
                                          <p:spTgt spid="224284"/>
                                        </p:tgtEl>
                                        <p:attrNameLst>
                                          <p:attrName>style.visibility</p:attrName>
                                        </p:attrNameLst>
                                      </p:cBhvr>
                                      <p:to>
                                        <p:strVal val="visible"/>
                                      </p:to>
                                    </p:set>
                                    <p:anim calcmode="lin" valueType="num">
                                      <p:cBhvr additive="base">
                                        <p:cTn id="130" dur="500" fill="hold"/>
                                        <p:tgtEl>
                                          <p:spTgt spid="224284"/>
                                        </p:tgtEl>
                                        <p:attrNameLst>
                                          <p:attrName>ppt_x</p:attrName>
                                        </p:attrNameLst>
                                      </p:cBhvr>
                                      <p:tavLst>
                                        <p:tav tm="0">
                                          <p:val>
                                            <p:strVal val="0-#ppt_w/2"/>
                                          </p:val>
                                        </p:tav>
                                        <p:tav tm="100000">
                                          <p:val>
                                            <p:strVal val="#ppt_x"/>
                                          </p:val>
                                        </p:tav>
                                      </p:tavLst>
                                    </p:anim>
                                    <p:anim calcmode="lin" valueType="num">
                                      <p:cBhvr additive="base">
                                        <p:cTn id="131" dur="500" fill="hold"/>
                                        <p:tgtEl>
                                          <p:spTgt spid="224284"/>
                                        </p:tgtEl>
                                        <p:attrNameLst>
                                          <p:attrName>ppt_y</p:attrName>
                                        </p:attrNameLst>
                                      </p:cBhvr>
                                      <p:tavLst>
                                        <p:tav tm="0">
                                          <p:val>
                                            <p:strVal val="#ppt_y"/>
                                          </p:val>
                                        </p:tav>
                                        <p:tav tm="100000">
                                          <p:val>
                                            <p:strVal val="#ppt_y"/>
                                          </p:val>
                                        </p:tav>
                                      </p:tavLst>
                                    </p:anim>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7" presetClass="entr" presetSubtype="1" fill="hold" grpId="0" nodeType="clickEffect">
                                  <p:stCondLst>
                                    <p:cond delay="0"/>
                                  </p:stCondLst>
                                  <p:childTnLst>
                                    <p:set>
                                      <p:cBhvr>
                                        <p:cTn id="135" dur="1" fill="hold">
                                          <p:stCondLst>
                                            <p:cond delay="0"/>
                                          </p:stCondLst>
                                        </p:cTn>
                                        <p:tgtEl>
                                          <p:spTgt spid="224286"/>
                                        </p:tgtEl>
                                        <p:attrNameLst>
                                          <p:attrName>style.visibility</p:attrName>
                                        </p:attrNameLst>
                                      </p:cBhvr>
                                      <p:to>
                                        <p:strVal val="visible"/>
                                      </p:to>
                                    </p:set>
                                    <p:anim calcmode="lin" valueType="num">
                                      <p:cBhvr>
                                        <p:cTn id="136" dur="500" fill="hold"/>
                                        <p:tgtEl>
                                          <p:spTgt spid="224286"/>
                                        </p:tgtEl>
                                        <p:attrNameLst>
                                          <p:attrName>ppt_x</p:attrName>
                                        </p:attrNameLst>
                                      </p:cBhvr>
                                      <p:tavLst>
                                        <p:tav tm="0">
                                          <p:val>
                                            <p:strVal val="#ppt_x"/>
                                          </p:val>
                                        </p:tav>
                                        <p:tav tm="100000">
                                          <p:val>
                                            <p:strVal val="#ppt_x"/>
                                          </p:val>
                                        </p:tav>
                                      </p:tavLst>
                                    </p:anim>
                                    <p:anim calcmode="lin" valueType="num">
                                      <p:cBhvr>
                                        <p:cTn id="137" dur="500" fill="hold"/>
                                        <p:tgtEl>
                                          <p:spTgt spid="224286"/>
                                        </p:tgtEl>
                                        <p:attrNameLst>
                                          <p:attrName>ppt_y</p:attrName>
                                        </p:attrNameLst>
                                      </p:cBhvr>
                                      <p:tavLst>
                                        <p:tav tm="0">
                                          <p:val>
                                            <p:strVal val="#ppt_y-#ppt_h/2"/>
                                          </p:val>
                                        </p:tav>
                                        <p:tav tm="100000">
                                          <p:val>
                                            <p:strVal val="#ppt_y"/>
                                          </p:val>
                                        </p:tav>
                                      </p:tavLst>
                                    </p:anim>
                                    <p:anim calcmode="lin" valueType="num">
                                      <p:cBhvr>
                                        <p:cTn id="138" dur="500" fill="hold"/>
                                        <p:tgtEl>
                                          <p:spTgt spid="224286"/>
                                        </p:tgtEl>
                                        <p:attrNameLst>
                                          <p:attrName>ppt_w</p:attrName>
                                        </p:attrNameLst>
                                      </p:cBhvr>
                                      <p:tavLst>
                                        <p:tav tm="0">
                                          <p:val>
                                            <p:strVal val="#ppt_w"/>
                                          </p:val>
                                        </p:tav>
                                        <p:tav tm="100000">
                                          <p:val>
                                            <p:strVal val="#ppt_w"/>
                                          </p:val>
                                        </p:tav>
                                      </p:tavLst>
                                    </p:anim>
                                    <p:anim calcmode="lin" valueType="num">
                                      <p:cBhvr>
                                        <p:cTn id="139" dur="500" fill="hold"/>
                                        <p:tgtEl>
                                          <p:spTgt spid="224286"/>
                                        </p:tgtEl>
                                        <p:attrNameLst>
                                          <p:attrName>ppt_h</p:attrName>
                                        </p:attrNameLst>
                                      </p:cBhvr>
                                      <p:tavLst>
                                        <p:tav tm="0">
                                          <p:val>
                                            <p:fltVal val="0"/>
                                          </p:val>
                                        </p:tav>
                                        <p:tav tm="100000">
                                          <p:val>
                                            <p:strVal val="#ppt_h"/>
                                          </p:val>
                                        </p:tav>
                                      </p:tavLst>
                                    </p:anim>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224260"/>
                                        </p:tgtEl>
                                        <p:attrNameLst>
                                          <p:attrName>style.visibility</p:attrName>
                                        </p:attrNameLst>
                                      </p:cBhvr>
                                      <p:to>
                                        <p:strVal val="visible"/>
                                      </p:to>
                                    </p:set>
                                    <p:animEffect transition="in" filter="wipe(left)">
                                      <p:cBhvr>
                                        <p:cTn id="144" dur="500"/>
                                        <p:tgtEl>
                                          <p:spTgt spid="224260"/>
                                        </p:tgtEl>
                                      </p:cBhvr>
                                    </p:animEffect>
                                  </p:childTnLst>
                                </p:cTn>
                              </p:par>
                            </p:childTnLst>
                          </p:cTn>
                        </p:par>
                        <p:par>
                          <p:cTn id="145" fill="hold" nodeType="afterGroup">
                            <p:stCondLst>
                              <p:cond delay="500"/>
                            </p:stCondLst>
                            <p:childTnLst>
                              <p:par>
                                <p:cTn id="146" presetID="22" presetClass="entr" presetSubtype="8" fill="hold" grpId="0" nodeType="afterEffect">
                                  <p:stCondLst>
                                    <p:cond delay="0"/>
                                  </p:stCondLst>
                                  <p:childTnLst>
                                    <p:set>
                                      <p:cBhvr>
                                        <p:cTn id="147" dur="1" fill="hold">
                                          <p:stCondLst>
                                            <p:cond delay="0"/>
                                          </p:stCondLst>
                                        </p:cTn>
                                        <p:tgtEl>
                                          <p:spTgt spid="224268"/>
                                        </p:tgtEl>
                                        <p:attrNameLst>
                                          <p:attrName>style.visibility</p:attrName>
                                        </p:attrNameLst>
                                      </p:cBhvr>
                                      <p:to>
                                        <p:strVal val="visible"/>
                                      </p:to>
                                    </p:set>
                                    <p:animEffect transition="in" filter="wipe(left)">
                                      <p:cBhvr>
                                        <p:cTn id="148" dur="500"/>
                                        <p:tgtEl>
                                          <p:spTgt spid="224268"/>
                                        </p:tgtEl>
                                      </p:cBhvr>
                                    </p:animEffect>
                                  </p:childTnLst>
                                </p:cTn>
                              </p:par>
                            </p:childTnLst>
                          </p:cTn>
                        </p:par>
                        <p:par>
                          <p:cTn id="149" fill="hold" nodeType="afterGroup">
                            <p:stCondLst>
                              <p:cond delay="1000"/>
                            </p:stCondLst>
                            <p:childTnLst>
                              <p:par>
                                <p:cTn id="150" presetID="17" presetClass="entr" presetSubtype="1" fill="hold" grpId="0" nodeType="afterEffect">
                                  <p:stCondLst>
                                    <p:cond delay="0"/>
                                  </p:stCondLst>
                                  <p:childTnLst>
                                    <p:set>
                                      <p:cBhvr>
                                        <p:cTn id="151" dur="1" fill="hold">
                                          <p:stCondLst>
                                            <p:cond delay="0"/>
                                          </p:stCondLst>
                                        </p:cTn>
                                        <p:tgtEl>
                                          <p:spTgt spid="224269"/>
                                        </p:tgtEl>
                                        <p:attrNameLst>
                                          <p:attrName>style.visibility</p:attrName>
                                        </p:attrNameLst>
                                      </p:cBhvr>
                                      <p:to>
                                        <p:strVal val="visible"/>
                                      </p:to>
                                    </p:set>
                                    <p:anim calcmode="lin" valueType="num">
                                      <p:cBhvr>
                                        <p:cTn id="152" dur="500" fill="hold"/>
                                        <p:tgtEl>
                                          <p:spTgt spid="224269"/>
                                        </p:tgtEl>
                                        <p:attrNameLst>
                                          <p:attrName>ppt_x</p:attrName>
                                        </p:attrNameLst>
                                      </p:cBhvr>
                                      <p:tavLst>
                                        <p:tav tm="0">
                                          <p:val>
                                            <p:strVal val="#ppt_x"/>
                                          </p:val>
                                        </p:tav>
                                        <p:tav tm="100000">
                                          <p:val>
                                            <p:strVal val="#ppt_x"/>
                                          </p:val>
                                        </p:tav>
                                      </p:tavLst>
                                    </p:anim>
                                    <p:anim calcmode="lin" valueType="num">
                                      <p:cBhvr>
                                        <p:cTn id="153" dur="500" fill="hold"/>
                                        <p:tgtEl>
                                          <p:spTgt spid="224269"/>
                                        </p:tgtEl>
                                        <p:attrNameLst>
                                          <p:attrName>ppt_y</p:attrName>
                                        </p:attrNameLst>
                                      </p:cBhvr>
                                      <p:tavLst>
                                        <p:tav tm="0">
                                          <p:val>
                                            <p:strVal val="#ppt_y-#ppt_h/2"/>
                                          </p:val>
                                        </p:tav>
                                        <p:tav tm="100000">
                                          <p:val>
                                            <p:strVal val="#ppt_y"/>
                                          </p:val>
                                        </p:tav>
                                      </p:tavLst>
                                    </p:anim>
                                    <p:anim calcmode="lin" valueType="num">
                                      <p:cBhvr>
                                        <p:cTn id="154" dur="500" fill="hold"/>
                                        <p:tgtEl>
                                          <p:spTgt spid="224269"/>
                                        </p:tgtEl>
                                        <p:attrNameLst>
                                          <p:attrName>ppt_w</p:attrName>
                                        </p:attrNameLst>
                                      </p:cBhvr>
                                      <p:tavLst>
                                        <p:tav tm="0">
                                          <p:val>
                                            <p:strVal val="#ppt_w"/>
                                          </p:val>
                                        </p:tav>
                                        <p:tav tm="100000">
                                          <p:val>
                                            <p:strVal val="#ppt_w"/>
                                          </p:val>
                                        </p:tav>
                                      </p:tavLst>
                                    </p:anim>
                                    <p:anim calcmode="lin" valueType="num">
                                      <p:cBhvr>
                                        <p:cTn id="155" dur="500" fill="hold"/>
                                        <p:tgtEl>
                                          <p:spTgt spid="224269"/>
                                        </p:tgtEl>
                                        <p:attrNameLst>
                                          <p:attrName>ppt_h</p:attrName>
                                        </p:attrNameLst>
                                      </p:cBhvr>
                                      <p:tavLst>
                                        <p:tav tm="0">
                                          <p:val>
                                            <p:fltVal val="0"/>
                                          </p:val>
                                        </p:tav>
                                        <p:tav tm="100000">
                                          <p:val>
                                            <p:strVal val="#ppt_h"/>
                                          </p:val>
                                        </p:tav>
                                      </p:tavLst>
                                    </p:anim>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 presetClass="entr" presetSubtype="4" fill="hold" grpId="0" nodeType="clickEffect">
                                  <p:stCondLst>
                                    <p:cond delay="0"/>
                                  </p:stCondLst>
                                  <p:childTnLst>
                                    <p:set>
                                      <p:cBhvr>
                                        <p:cTn id="159" dur="1" fill="hold">
                                          <p:stCondLst>
                                            <p:cond delay="0"/>
                                          </p:stCondLst>
                                        </p:cTn>
                                        <p:tgtEl>
                                          <p:spTgt spid="224270"/>
                                        </p:tgtEl>
                                        <p:attrNameLst>
                                          <p:attrName>style.visibility</p:attrName>
                                        </p:attrNameLst>
                                      </p:cBhvr>
                                      <p:to>
                                        <p:strVal val="visible"/>
                                      </p:to>
                                    </p:set>
                                    <p:anim calcmode="lin" valueType="num">
                                      <p:cBhvr additive="base">
                                        <p:cTn id="160" dur="500" fill="hold"/>
                                        <p:tgtEl>
                                          <p:spTgt spid="224270"/>
                                        </p:tgtEl>
                                        <p:attrNameLst>
                                          <p:attrName>ppt_x</p:attrName>
                                        </p:attrNameLst>
                                      </p:cBhvr>
                                      <p:tavLst>
                                        <p:tav tm="0">
                                          <p:val>
                                            <p:strVal val="#ppt_x"/>
                                          </p:val>
                                        </p:tav>
                                        <p:tav tm="100000">
                                          <p:val>
                                            <p:strVal val="#ppt_x"/>
                                          </p:val>
                                        </p:tav>
                                      </p:tavLst>
                                    </p:anim>
                                    <p:anim calcmode="lin" valueType="num">
                                      <p:cBhvr additive="base">
                                        <p:cTn id="161" dur="500" fill="hold"/>
                                        <p:tgtEl>
                                          <p:spTgt spid="2242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autoUpdateAnimBg="0"/>
      <p:bldP spid="224259" grpId="0" animBg="1"/>
      <p:bldP spid="224260" grpId="0" autoUpdateAnimBg="0"/>
      <p:bldP spid="224261" grpId="0" autoUpdateAnimBg="0"/>
      <p:bldP spid="224262" grpId="0" autoUpdateAnimBg="0"/>
      <p:bldP spid="224263" grpId="0" animBg="1" autoUpdateAnimBg="0"/>
      <p:bldP spid="224264" grpId="0" animBg="1"/>
      <p:bldP spid="224265" grpId="0" animBg="1"/>
      <p:bldP spid="224266" grpId="0" animBg="1"/>
      <p:bldP spid="224267" grpId="0" autoUpdateAnimBg="0"/>
      <p:bldP spid="224268" grpId="0" animBg="1" autoUpdateAnimBg="0"/>
      <p:bldP spid="224269" grpId="0" animBg="1"/>
      <p:bldP spid="224270" grpId="0" autoUpdateAnimBg="0"/>
      <p:bldP spid="224271" grpId="0" animBg="1" autoUpdateAnimBg="0"/>
      <p:bldP spid="224272" grpId="0" animBg="1"/>
      <p:bldP spid="224273" grpId="0" animBg="1"/>
      <p:bldP spid="224274" grpId="0" animBg="1"/>
      <p:bldP spid="224275" grpId="0" autoUpdateAnimBg="0"/>
      <p:bldP spid="224276" grpId="0" animBg="1" autoUpdateAnimBg="0"/>
      <p:bldP spid="224277" grpId="0" animBg="1"/>
      <p:bldP spid="224278" grpId="0" animBg="1"/>
      <p:bldP spid="224279" grpId="0" animBg="1"/>
      <p:bldP spid="224280" grpId="0" autoUpdateAnimBg="0"/>
      <p:bldP spid="224281" grpId="0" animBg="1"/>
      <p:bldP spid="224282" grpId="0" animBg="1"/>
      <p:bldP spid="224283" grpId="0" animBg="1"/>
      <p:bldP spid="224284" grpId="0" autoUpdateAnimBg="0"/>
      <p:bldP spid="224285" grpId="0" autoUpdateAnimBg="0"/>
      <p:bldP spid="224286"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952500" y="1127125"/>
            <a:ext cx="19685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6000" b="1">
                <a:solidFill>
                  <a:srgbClr val="CC3399"/>
                </a:solidFill>
                <a:latin typeface="Times New Roman" charset="0"/>
                <a:ea typeface="楷体_GB2312" charset="0"/>
              </a:rPr>
              <a:t>例如</a:t>
            </a:r>
            <a:r>
              <a:rPr kumimoji="1" lang="en-US" altLang="zh-CN" sz="6000" b="1">
                <a:solidFill>
                  <a:srgbClr val="CC3399"/>
                </a:solidFill>
                <a:latin typeface="Times New Roman" charset="0"/>
                <a:ea typeface="楷体_GB2312" charset="0"/>
              </a:rPr>
              <a:t>:</a:t>
            </a:r>
            <a:endParaRPr kumimoji="1" lang="en-US" altLang="zh-CN" sz="6600" b="1">
              <a:solidFill>
                <a:srgbClr val="CC3399"/>
              </a:solidFill>
              <a:latin typeface="Times New Roman" charset="0"/>
              <a:ea typeface="楷体_GB2312" charset="0"/>
            </a:endParaRPr>
          </a:p>
        </p:txBody>
      </p:sp>
      <p:sp>
        <p:nvSpPr>
          <p:cNvPr id="75779" name="Line 3"/>
          <p:cNvSpPr>
            <a:spLocks noChangeShapeType="1"/>
          </p:cNvSpPr>
          <p:nvPr/>
        </p:nvSpPr>
        <p:spPr bwMode="auto">
          <a:xfrm>
            <a:off x="12192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0" name="Line 4"/>
          <p:cNvSpPr>
            <a:spLocks noChangeShapeType="1"/>
          </p:cNvSpPr>
          <p:nvPr/>
        </p:nvSpPr>
        <p:spPr bwMode="auto">
          <a:xfrm>
            <a:off x="18288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1" name="Line 5"/>
          <p:cNvSpPr>
            <a:spLocks noChangeShapeType="1"/>
          </p:cNvSpPr>
          <p:nvPr/>
        </p:nvSpPr>
        <p:spPr bwMode="auto">
          <a:xfrm>
            <a:off x="30480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2" name="Line 6"/>
          <p:cNvSpPr>
            <a:spLocks noChangeShapeType="1"/>
          </p:cNvSpPr>
          <p:nvPr/>
        </p:nvSpPr>
        <p:spPr bwMode="auto">
          <a:xfrm>
            <a:off x="1219200" y="2743200"/>
            <a:ext cx="1828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3" name="Line 7"/>
          <p:cNvSpPr>
            <a:spLocks noChangeShapeType="1"/>
          </p:cNvSpPr>
          <p:nvPr/>
        </p:nvSpPr>
        <p:spPr bwMode="auto">
          <a:xfrm>
            <a:off x="24384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4" name="Line 8"/>
          <p:cNvSpPr>
            <a:spLocks noChangeShapeType="1"/>
          </p:cNvSpPr>
          <p:nvPr/>
        </p:nvSpPr>
        <p:spPr bwMode="auto">
          <a:xfrm>
            <a:off x="1219200" y="3429000"/>
            <a:ext cx="1828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5" name="Line 9"/>
          <p:cNvSpPr>
            <a:spLocks noChangeShapeType="1"/>
          </p:cNvSpPr>
          <p:nvPr/>
        </p:nvSpPr>
        <p:spPr bwMode="auto">
          <a:xfrm>
            <a:off x="38862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6" name="Line 10"/>
          <p:cNvSpPr>
            <a:spLocks noChangeShapeType="1"/>
          </p:cNvSpPr>
          <p:nvPr/>
        </p:nvSpPr>
        <p:spPr bwMode="auto">
          <a:xfrm>
            <a:off x="44958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7" name="Line 11"/>
          <p:cNvSpPr>
            <a:spLocks noChangeShapeType="1"/>
          </p:cNvSpPr>
          <p:nvPr/>
        </p:nvSpPr>
        <p:spPr bwMode="auto">
          <a:xfrm>
            <a:off x="57150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8" name="Line 12"/>
          <p:cNvSpPr>
            <a:spLocks noChangeShapeType="1"/>
          </p:cNvSpPr>
          <p:nvPr/>
        </p:nvSpPr>
        <p:spPr bwMode="auto">
          <a:xfrm>
            <a:off x="3886200" y="2743200"/>
            <a:ext cx="1828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89" name="Line 13"/>
          <p:cNvSpPr>
            <a:spLocks noChangeShapeType="1"/>
          </p:cNvSpPr>
          <p:nvPr/>
        </p:nvSpPr>
        <p:spPr bwMode="auto">
          <a:xfrm>
            <a:off x="51054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0" name="Line 14"/>
          <p:cNvSpPr>
            <a:spLocks noChangeShapeType="1"/>
          </p:cNvSpPr>
          <p:nvPr/>
        </p:nvSpPr>
        <p:spPr bwMode="auto">
          <a:xfrm>
            <a:off x="3886200" y="3429000"/>
            <a:ext cx="1828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1" name="Line 15"/>
          <p:cNvSpPr>
            <a:spLocks noChangeShapeType="1"/>
          </p:cNvSpPr>
          <p:nvPr/>
        </p:nvSpPr>
        <p:spPr bwMode="auto">
          <a:xfrm>
            <a:off x="69342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2" name="Line 16"/>
          <p:cNvSpPr>
            <a:spLocks noChangeShapeType="1"/>
          </p:cNvSpPr>
          <p:nvPr/>
        </p:nvSpPr>
        <p:spPr bwMode="auto">
          <a:xfrm>
            <a:off x="75438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3" name="Line 17"/>
          <p:cNvSpPr>
            <a:spLocks noChangeShapeType="1"/>
          </p:cNvSpPr>
          <p:nvPr/>
        </p:nvSpPr>
        <p:spPr bwMode="auto">
          <a:xfrm>
            <a:off x="87630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4" name="Line 18"/>
          <p:cNvSpPr>
            <a:spLocks noChangeShapeType="1"/>
          </p:cNvSpPr>
          <p:nvPr/>
        </p:nvSpPr>
        <p:spPr bwMode="auto">
          <a:xfrm>
            <a:off x="6934200" y="2743200"/>
            <a:ext cx="1828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5" name="Line 19"/>
          <p:cNvSpPr>
            <a:spLocks noChangeShapeType="1"/>
          </p:cNvSpPr>
          <p:nvPr/>
        </p:nvSpPr>
        <p:spPr bwMode="auto">
          <a:xfrm>
            <a:off x="8153400" y="2743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6" name="Line 20"/>
          <p:cNvSpPr>
            <a:spLocks noChangeShapeType="1"/>
          </p:cNvSpPr>
          <p:nvPr/>
        </p:nvSpPr>
        <p:spPr bwMode="auto">
          <a:xfrm>
            <a:off x="6934200" y="3429000"/>
            <a:ext cx="1828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7" name="Line 21"/>
          <p:cNvSpPr>
            <a:spLocks noChangeShapeType="1"/>
          </p:cNvSpPr>
          <p:nvPr/>
        </p:nvSpPr>
        <p:spPr bwMode="auto">
          <a:xfrm>
            <a:off x="457200" y="3124200"/>
            <a:ext cx="762000"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8" name="Line 22"/>
          <p:cNvSpPr>
            <a:spLocks noChangeShapeType="1"/>
          </p:cNvSpPr>
          <p:nvPr/>
        </p:nvSpPr>
        <p:spPr bwMode="auto">
          <a:xfrm>
            <a:off x="2819400" y="3124200"/>
            <a:ext cx="1066800"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799" name="Line 23"/>
          <p:cNvSpPr>
            <a:spLocks noChangeShapeType="1"/>
          </p:cNvSpPr>
          <p:nvPr/>
        </p:nvSpPr>
        <p:spPr bwMode="auto">
          <a:xfrm>
            <a:off x="5486400" y="3124200"/>
            <a:ext cx="1447800"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800" name="Line 24"/>
          <p:cNvSpPr>
            <a:spLocks noChangeShapeType="1"/>
          </p:cNvSpPr>
          <p:nvPr/>
        </p:nvSpPr>
        <p:spPr bwMode="auto">
          <a:xfrm>
            <a:off x="2133600" y="3200400"/>
            <a:ext cx="0" cy="9906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801" name="Line 25"/>
          <p:cNvSpPr>
            <a:spLocks noChangeShapeType="1"/>
          </p:cNvSpPr>
          <p:nvPr/>
        </p:nvSpPr>
        <p:spPr bwMode="auto">
          <a:xfrm>
            <a:off x="4800600" y="3200400"/>
            <a:ext cx="0" cy="9906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802" name="Line 26"/>
          <p:cNvSpPr>
            <a:spLocks noChangeShapeType="1"/>
          </p:cNvSpPr>
          <p:nvPr/>
        </p:nvSpPr>
        <p:spPr bwMode="auto">
          <a:xfrm>
            <a:off x="7848600" y="3200400"/>
            <a:ext cx="0" cy="9906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803" name="Text Box 27"/>
          <p:cNvSpPr txBox="1">
            <a:spLocks noChangeArrowheads="1"/>
          </p:cNvSpPr>
          <p:nvPr/>
        </p:nvSpPr>
        <p:spPr bwMode="auto">
          <a:xfrm>
            <a:off x="8213725" y="2727325"/>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000">
                <a:latin typeface="Times New Roman" charset="0"/>
                <a:ea typeface="楷体_GB2312" charset="0"/>
                <a:sym typeface="Symbol" charset="2"/>
              </a:rPr>
              <a:t></a:t>
            </a:r>
          </a:p>
        </p:txBody>
      </p:sp>
      <p:sp>
        <p:nvSpPr>
          <p:cNvPr id="75804" name="Text Box 28"/>
          <p:cNvSpPr txBox="1">
            <a:spLocks noChangeArrowheads="1"/>
          </p:cNvSpPr>
          <p:nvPr/>
        </p:nvSpPr>
        <p:spPr bwMode="auto">
          <a:xfrm>
            <a:off x="1524000" y="4038600"/>
            <a:ext cx="72739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en-US" sz="4400">
                <a:latin typeface="Times New Roman" charset="0"/>
              </a:rPr>
              <a:t>   </a:t>
            </a:r>
            <a:r>
              <a:rPr kumimoji="1" lang="en-US" altLang="zh-CN" sz="4400">
                <a:latin typeface="Times New Roman" charset="0"/>
              </a:rPr>
              <a:t>a              (x, y)              ((x))  </a:t>
            </a:r>
          </a:p>
        </p:txBody>
      </p:sp>
      <p:sp>
        <p:nvSpPr>
          <p:cNvPr id="75805" name="Text Box 29"/>
          <p:cNvSpPr txBox="1">
            <a:spLocks noChangeArrowheads="1"/>
          </p:cNvSpPr>
          <p:nvPr/>
        </p:nvSpPr>
        <p:spPr bwMode="auto">
          <a:xfrm>
            <a:off x="3298825" y="1355725"/>
            <a:ext cx="47021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a:latin typeface="Times New Roman" charset="0"/>
              </a:rPr>
              <a:t>LS=( a, (x,y), ((x)) )</a:t>
            </a:r>
          </a:p>
        </p:txBody>
      </p:sp>
      <p:sp>
        <p:nvSpPr>
          <p:cNvPr id="75806" name="Text Box 30"/>
          <p:cNvSpPr txBox="1">
            <a:spLocks noChangeArrowheads="1"/>
          </p:cNvSpPr>
          <p:nvPr/>
        </p:nvSpPr>
        <p:spPr bwMode="auto">
          <a:xfrm>
            <a:off x="288925" y="2462213"/>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4400" b="1" i="1">
                <a:latin typeface="Times New Roman" charset="0"/>
              </a:rPr>
              <a:t>ls</a:t>
            </a:r>
            <a:endParaRPr kumimoji="1" lang="en-US" altLang="zh-CN" sz="4400">
              <a:latin typeface="Times New Roman" charset="0"/>
            </a:endParaRPr>
          </a:p>
        </p:txBody>
      </p:sp>
      <p:sp>
        <p:nvSpPr>
          <p:cNvPr id="225311" name="AutoShape 31">
            <a:hlinkClick r:id="rId2" action="ppaction://hlinksldjump" highlightClick="1"/>
          </p:cNvPr>
          <p:cNvSpPr>
            <a:spLocks noChangeArrowheads="1"/>
          </p:cNvSpPr>
          <p:nvPr/>
        </p:nvSpPr>
        <p:spPr bwMode="auto">
          <a:xfrm>
            <a:off x="8229600" y="6172200"/>
            <a:ext cx="685800" cy="381000"/>
          </a:xfrm>
          <a:prstGeom prst="actionButtonBeginning">
            <a:avLst/>
          </a:prstGeom>
          <a:solidFill>
            <a:schemeClr val="bg2"/>
          </a:solidFill>
          <a:ln>
            <a:noFill/>
          </a:ln>
          <a:effectLst>
            <a:prstShdw prst="shdw17" dist="17961" dir="2700000">
              <a:srgbClr val="4D4D4D">
                <a:alpha val="74998"/>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defRPr/>
            </a:pPr>
            <a:endParaRPr lang="zh-CN" altLang="en-US">
              <a:ea typeface="宋体" pitchFamily="2" charset="-122"/>
            </a:endParaRPr>
          </a:p>
        </p:txBody>
      </p:sp>
    </p:spTree>
    <p:extLst>
      <p:ext uri="{BB962C8B-B14F-4D97-AF65-F5344CB8AC3E}">
        <p14:creationId xmlns:p14="http://schemas.microsoft.com/office/powerpoint/2010/main" val="20200228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25311"/>
                                        </p:tgtEl>
                                        <p:attrNameLst>
                                          <p:attrName>style.visibility</p:attrName>
                                        </p:attrNameLst>
                                      </p:cBhvr>
                                      <p:to>
                                        <p:strVal val="visible"/>
                                      </p:to>
                                    </p:set>
                                    <p:anim calcmode="lin" valueType="num">
                                      <p:cBhvr additive="base">
                                        <p:cTn id="7" dur="500" fill="hold"/>
                                        <p:tgtEl>
                                          <p:spTgt spid="225311"/>
                                        </p:tgtEl>
                                        <p:attrNameLst>
                                          <p:attrName>ppt_x</p:attrName>
                                        </p:attrNameLst>
                                      </p:cBhvr>
                                      <p:tavLst>
                                        <p:tav tm="0">
                                          <p:val>
                                            <p:strVal val="0-#ppt_w/2"/>
                                          </p:val>
                                        </p:tav>
                                        <p:tav tm="100000">
                                          <p:val>
                                            <p:strVal val="#ppt_x"/>
                                          </p:val>
                                        </p:tav>
                                      </p:tavLst>
                                    </p:anim>
                                    <p:anim calcmode="lin" valueType="num">
                                      <p:cBhvr additive="base">
                                        <p:cTn id="8" dur="500" fill="hold"/>
                                        <p:tgtEl>
                                          <p:spTgt spid="2253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Text Box 2"/>
          <p:cNvSpPr txBox="1">
            <a:spLocks noChangeArrowheads="1"/>
          </p:cNvSpPr>
          <p:nvPr/>
        </p:nvSpPr>
        <p:spPr bwMode="auto">
          <a:xfrm>
            <a:off x="1524000" y="152400"/>
            <a:ext cx="628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a:solidFill>
                  <a:srgbClr val="64008C"/>
                </a:solidFill>
                <a:latin typeface="楷体_GB2312" charset="0"/>
                <a:ea typeface="楷体_GB2312" charset="0"/>
              </a:rPr>
              <a:t>广义表从结构上可以分解成</a:t>
            </a:r>
            <a:endParaRPr kumimoji="1" lang="zh-CN" altLang="en-US" sz="5400">
              <a:solidFill>
                <a:srgbClr val="000000"/>
              </a:solidFill>
              <a:latin typeface="楷体_GB2312" charset="0"/>
              <a:ea typeface="楷体_GB2312" charset="0"/>
            </a:endParaRPr>
          </a:p>
        </p:txBody>
      </p:sp>
      <p:sp>
        <p:nvSpPr>
          <p:cNvPr id="234499" name="Text Box 3"/>
          <p:cNvSpPr txBox="1">
            <a:spLocks noChangeArrowheads="1"/>
          </p:cNvSpPr>
          <p:nvPr/>
        </p:nvSpPr>
        <p:spPr bwMode="auto">
          <a:xfrm>
            <a:off x="1295400" y="1219200"/>
            <a:ext cx="6051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0000FF"/>
                </a:solidFill>
                <a:latin typeface="楷体_GB2312" charset="0"/>
                <a:ea typeface="楷体_GB2312" charset="0"/>
              </a:rPr>
              <a:t>广义表 </a:t>
            </a:r>
            <a:r>
              <a:rPr kumimoji="1" lang="en-US" altLang="zh-CN" sz="4000" b="1">
                <a:solidFill>
                  <a:srgbClr val="0000FF"/>
                </a:solidFill>
                <a:latin typeface="楷体_GB2312" charset="0"/>
                <a:ea typeface="楷体_GB2312" charset="0"/>
              </a:rPr>
              <a:t>= </a:t>
            </a:r>
            <a:r>
              <a:rPr kumimoji="1" lang="zh-CN" altLang="en-US" sz="4000" b="1">
                <a:solidFill>
                  <a:srgbClr val="0000FF"/>
                </a:solidFill>
                <a:latin typeface="楷体_GB2312" charset="0"/>
                <a:ea typeface="楷体_GB2312" charset="0"/>
              </a:rPr>
              <a:t>表头 </a:t>
            </a:r>
            <a:r>
              <a:rPr kumimoji="1" lang="en-US" altLang="zh-CN" sz="4000" b="1">
                <a:solidFill>
                  <a:srgbClr val="0000FF"/>
                </a:solidFill>
                <a:latin typeface="楷体_GB2312" charset="0"/>
                <a:ea typeface="楷体_GB2312" charset="0"/>
              </a:rPr>
              <a:t>+ </a:t>
            </a:r>
            <a:r>
              <a:rPr kumimoji="1" lang="zh-CN" altLang="en-US" sz="4000" b="1">
                <a:solidFill>
                  <a:srgbClr val="0000FF"/>
                </a:solidFill>
                <a:latin typeface="楷体_GB2312" charset="0"/>
                <a:ea typeface="楷体_GB2312" charset="0"/>
              </a:rPr>
              <a:t>表尾   </a:t>
            </a:r>
          </a:p>
        </p:txBody>
      </p:sp>
      <p:sp>
        <p:nvSpPr>
          <p:cNvPr id="234500" name="Text Box 4"/>
          <p:cNvSpPr txBox="1">
            <a:spLocks noChangeArrowheads="1"/>
          </p:cNvSpPr>
          <p:nvPr/>
        </p:nvSpPr>
        <p:spPr bwMode="auto">
          <a:xfrm>
            <a:off x="3200400" y="2057400"/>
            <a:ext cx="12033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64008C"/>
                </a:solidFill>
                <a:latin typeface="楷体_GB2312" charset="0"/>
                <a:ea typeface="楷体_GB2312" charset="0"/>
              </a:rPr>
              <a:t>或者</a:t>
            </a:r>
            <a:endParaRPr kumimoji="1" lang="zh-CN" altLang="en-US" sz="4400" b="1">
              <a:solidFill>
                <a:srgbClr val="000000"/>
              </a:solidFill>
              <a:latin typeface="楷体_GB2312" charset="0"/>
              <a:ea typeface="楷体_GB2312" charset="0"/>
            </a:endParaRPr>
          </a:p>
        </p:txBody>
      </p:sp>
      <p:sp>
        <p:nvSpPr>
          <p:cNvPr id="234501" name="Text Box 5"/>
          <p:cNvSpPr txBox="1">
            <a:spLocks noChangeArrowheads="1"/>
          </p:cNvSpPr>
          <p:nvPr/>
        </p:nvSpPr>
        <p:spPr bwMode="auto">
          <a:xfrm>
            <a:off x="776288" y="2514600"/>
            <a:ext cx="722312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5000"/>
              </a:lnSpc>
            </a:pPr>
            <a:r>
              <a:rPr kumimoji="1" lang="zh-CN" altLang="en-US" sz="4000" b="1">
                <a:solidFill>
                  <a:srgbClr val="0000FF"/>
                </a:solidFill>
                <a:latin typeface="楷体_GB2312" charset="0"/>
                <a:ea typeface="楷体_GB2312" charset="0"/>
              </a:rPr>
              <a:t>广义表 </a:t>
            </a:r>
            <a:r>
              <a:rPr kumimoji="1" lang="en-US" altLang="zh-CN" sz="4000" b="1">
                <a:solidFill>
                  <a:srgbClr val="0000FF"/>
                </a:solidFill>
                <a:latin typeface="楷体_GB2312" charset="0"/>
                <a:ea typeface="楷体_GB2312" charset="0"/>
              </a:rPr>
              <a:t>= </a:t>
            </a:r>
          </a:p>
          <a:p>
            <a:pPr eaLnBrk="1" hangingPunct="1">
              <a:lnSpc>
                <a:spcPct val="125000"/>
              </a:lnSpc>
            </a:pPr>
            <a:r>
              <a:rPr kumimoji="1" lang="en-US" altLang="zh-CN" sz="4000" b="1">
                <a:solidFill>
                  <a:srgbClr val="0000FF"/>
                </a:solidFill>
                <a:latin typeface="楷体_GB2312" charset="0"/>
                <a:ea typeface="楷体_GB2312" charset="0"/>
              </a:rPr>
              <a:t>    </a:t>
            </a:r>
            <a:r>
              <a:rPr kumimoji="1" lang="zh-CN" altLang="en-US" sz="4000" b="1">
                <a:solidFill>
                  <a:srgbClr val="0000FF"/>
                </a:solidFill>
                <a:latin typeface="楷体_GB2312" charset="0"/>
                <a:ea typeface="楷体_GB2312" charset="0"/>
              </a:rPr>
              <a:t>子表</a:t>
            </a:r>
            <a:r>
              <a:rPr kumimoji="1" lang="en-US" altLang="zh-CN" sz="4000" b="1">
                <a:solidFill>
                  <a:srgbClr val="0000FF"/>
                </a:solidFill>
                <a:latin typeface="Times New Roman" charset="0"/>
                <a:ea typeface="楷体_GB2312" charset="0"/>
              </a:rPr>
              <a:t>1 + </a:t>
            </a:r>
            <a:r>
              <a:rPr kumimoji="1" lang="zh-CN" altLang="en-US" sz="4000" b="1">
                <a:solidFill>
                  <a:srgbClr val="0000FF"/>
                </a:solidFill>
                <a:latin typeface="Times New Roman" charset="0"/>
                <a:ea typeface="楷体_GB2312" charset="0"/>
              </a:rPr>
              <a:t>子表</a:t>
            </a:r>
            <a:r>
              <a:rPr kumimoji="1" lang="en-US" altLang="zh-CN" sz="4000" b="1">
                <a:solidFill>
                  <a:srgbClr val="0000FF"/>
                </a:solidFill>
                <a:latin typeface="Times New Roman" charset="0"/>
                <a:ea typeface="楷体_GB2312" charset="0"/>
              </a:rPr>
              <a:t>2 +  ··· + </a:t>
            </a:r>
            <a:r>
              <a:rPr kumimoji="1" lang="zh-CN" altLang="en-US" sz="4000" b="1">
                <a:solidFill>
                  <a:srgbClr val="0000FF"/>
                </a:solidFill>
                <a:latin typeface="Times New Roman" charset="0"/>
                <a:ea typeface="楷体_GB2312" charset="0"/>
              </a:rPr>
              <a:t>子表</a:t>
            </a:r>
            <a:r>
              <a:rPr kumimoji="1" lang="en-US" altLang="zh-CN" sz="4000" b="1">
                <a:solidFill>
                  <a:srgbClr val="0000FF"/>
                </a:solidFill>
                <a:latin typeface="Times New Roman" charset="0"/>
                <a:ea typeface="楷体_GB2312" charset="0"/>
              </a:rPr>
              <a:t>n</a:t>
            </a:r>
          </a:p>
        </p:txBody>
      </p:sp>
      <p:sp>
        <p:nvSpPr>
          <p:cNvPr id="234502" name="Text Box 6"/>
          <p:cNvSpPr txBox="1">
            <a:spLocks noChangeArrowheads="1"/>
          </p:cNvSpPr>
          <p:nvPr/>
        </p:nvSpPr>
        <p:spPr bwMode="auto">
          <a:xfrm>
            <a:off x="527050" y="4191000"/>
            <a:ext cx="8388350" cy="246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4000">
                <a:solidFill>
                  <a:srgbClr val="64008C"/>
                </a:solidFill>
                <a:latin typeface="楷体_GB2312" charset="0"/>
                <a:ea typeface="楷体_GB2312" charset="0"/>
              </a:rPr>
              <a:t>   </a:t>
            </a:r>
            <a:r>
              <a:rPr kumimoji="1" lang="zh-CN" altLang="en-US" sz="4000">
                <a:solidFill>
                  <a:srgbClr val="64008C"/>
                </a:solidFill>
                <a:latin typeface="楷体_GB2312" charset="0"/>
                <a:ea typeface="楷体_GB2312" charset="0"/>
              </a:rPr>
              <a:t>因此常利用分治法求解之。</a:t>
            </a:r>
          </a:p>
          <a:p>
            <a:pPr eaLnBrk="1" hangingPunct="1">
              <a:lnSpc>
                <a:spcPct val="130000"/>
              </a:lnSpc>
            </a:pPr>
            <a:r>
              <a:rPr kumimoji="1" lang="zh-CN" altLang="en-US" sz="4000">
                <a:solidFill>
                  <a:srgbClr val="64008C"/>
                </a:solidFill>
                <a:latin typeface="楷体_GB2312" charset="0"/>
                <a:ea typeface="楷体_GB2312" charset="0"/>
              </a:rPr>
              <a:t>算法设计中的关键问题是，</a:t>
            </a:r>
            <a:r>
              <a:rPr kumimoji="1" lang="zh-CN" altLang="en-US" sz="4000" b="1">
                <a:solidFill>
                  <a:srgbClr val="990033"/>
                </a:solidFill>
                <a:latin typeface="楷体_GB2312" charset="0"/>
                <a:ea typeface="楷体_GB2312" charset="0"/>
              </a:rPr>
              <a:t>如何将 </a:t>
            </a:r>
            <a:r>
              <a:rPr kumimoji="1" lang="en-US" altLang="zh-CN" sz="4000" b="1" i="1">
                <a:solidFill>
                  <a:srgbClr val="990033"/>
                </a:solidFill>
                <a:latin typeface="Times New Roman" charset="0"/>
                <a:ea typeface="楷体_GB2312" charset="0"/>
              </a:rPr>
              <a:t>l</a:t>
            </a:r>
            <a:r>
              <a:rPr kumimoji="1" lang="en-US" altLang="zh-CN" sz="4000" b="1">
                <a:solidFill>
                  <a:srgbClr val="990033"/>
                </a:solidFill>
                <a:latin typeface="楷体_GB2312" charset="0"/>
                <a:ea typeface="楷体_GB2312" charset="0"/>
              </a:rPr>
              <a:t> </a:t>
            </a:r>
            <a:r>
              <a:rPr kumimoji="1" lang="zh-CN" altLang="en-US" sz="4000" b="1">
                <a:solidFill>
                  <a:srgbClr val="990033"/>
                </a:solidFill>
                <a:latin typeface="楷体_GB2312" charset="0"/>
                <a:ea typeface="楷体_GB2312" charset="0"/>
              </a:rPr>
              <a:t>个子问题的解组合成原问题的解。</a:t>
            </a:r>
            <a:endParaRPr kumimoji="1" lang="zh-CN" altLang="en-US" sz="4000">
              <a:solidFill>
                <a:srgbClr val="64008C"/>
              </a:solidFill>
              <a:latin typeface="楷体_GB2312" charset="0"/>
              <a:ea typeface="楷体_GB2312" charset="0"/>
            </a:endParaRPr>
          </a:p>
        </p:txBody>
      </p:sp>
    </p:spTree>
    <p:extLst>
      <p:ext uri="{BB962C8B-B14F-4D97-AF65-F5344CB8AC3E}">
        <p14:creationId xmlns:p14="http://schemas.microsoft.com/office/powerpoint/2010/main" val="16378815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strips(downRight)">
                                      <p:cBhvr>
                                        <p:cTn id="7" dur="500"/>
                                        <p:tgtEl>
                                          <p:spTgt spid="2344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34499"/>
                                        </p:tgtEl>
                                        <p:attrNameLst>
                                          <p:attrName>style.visibility</p:attrName>
                                        </p:attrNameLst>
                                      </p:cBhvr>
                                      <p:to>
                                        <p:strVal val="visible"/>
                                      </p:to>
                                    </p:set>
                                    <p:animEffect transition="in" filter="strips(downRight)">
                                      <p:cBhvr>
                                        <p:cTn id="12" dur="500"/>
                                        <p:tgtEl>
                                          <p:spTgt spid="2344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34500"/>
                                        </p:tgtEl>
                                        <p:attrNameLst>
                                          <p:attrName>style.visibility</p:attrName>
                                        </p:attrNameLst>
                                      </p:cBhvr>
                                      <p:to>
                                        <p:strVal val="visible"/>
                                      </p:to>
                                    </p:set>
                                    <p:animEffect transition="in" filter="strips(downRight)">
                                      <p:cBhvr>
                                        <p:cTn id="17" dur="500"/>
                                        <p:tgtEl>
                                          <p:spTgt spid="2345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34501"/>
                                        </p:tgtEl>
                                        <p:attrNameLst>
                                          <p:attrName>style.visibility</p:attrName>
                                        </p:attrNameLst>
                                      </p:cBhvr>
                                      <p:to>
                                        <p:strVal val="visible"/>
                                      </p:to>
                                    </p:set>
                                    <p:animEffect transition="in" filter="strips(downRight)">
                                      <p:cBhvr>
                                        <p:cTn id="22" dur="500"/>
                                        <p:tgtEl>
                                          <p:spTgt spid="2345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34502"/>
                                        </p:tgtEl>
                                        <p:attrNameLst>
                                          <p:attrName>style.visibility</p:attrName>
                                        </p:attrNameLst>
                                      </p:cBhvr>
                                      <p:to>
                                        <p:strVal val="visible"/>
                                      </p:to>
                                    </p:set>
                                    <p:animEffect transition="in" filter="strips(downRight)">
                                      <p:cBhvr>
                                        <p:cTn id="27" dur="500"/>
                                        <p:tgtEl>
                                          <p:spTgt spid="234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autoUpdateAnimBg="0"/>
      <p:bldP spid="234499" grpId="0" autoUpdateAnimBg="0"/>
      <p:bldP spid="234500" grpId="0" autoUpdateAnimBg="0"/>
      <p:bldP spid="234501" grpId="0" autoUpdateAnimBg="0"/>
      <p:bldP spid="234502"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Text Box 2"/>
          <p:cNvSpPr txBox="1">
            <a:spLocks noChangeArrowheads="1"/>
          </p:cNvSpPr>
          <p:nvPr/>
        </p:nvSpPr>
        <p:spPr bwMode="auto">
          <a:xfrm>
            <a:off x="1447800" y="152400"/>
            <a:ext cx="68087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4000" b="1">
                <a:solidFill>
                  <a:srgbClr val="9900FF"/>
                </a:solidFill>
                <a:latin typeface="Times New Roman" charset="0"/>
                <a:ea typeface="楷体_GB2312" charset="0"/>
              </a:rPr>
              <a:t>广义表的头尾链表存储表示：</a:t>
            </a:r>
            <a:endParaRPr kumimoji="1" lang="zh-CN" altLang="en-US" sz="4400">
              <a:latin typeface="Times New Roman" charset="0"/>
            </a:endParaRPr>
          </a:p>
        </p:txBody>
      </p:sp>
      <p:sp>
        <p:nvSpPr>
          <p:cNvPr id="226307" name="Text Box 3"/>
          <p:cNvSpPr txBox="1">
            <a:spLocks noChangeArrowheads="1"/>
          </p:cNvSpPr>
          <p:nvPr/>
        </p:nvSpPr>
        <p:spPr bwMode="auto">
          <a:xfrm>
            <a:off x="730250" y="990600"/>
            <a:ext cx="8312150" cy="577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3600" b="1">
                <a:solidFill>
                  <a:srgbClr val="990033"/>
                </a:solidFill>
                <a:latin typeface="Times New Roman" charset="0"/>
              </a:rPr>
              <a:t>typedef</a:t>
            </a:r>
            <a:r>
              <a:rPr kumimoji="1" lang="en-US" altLang="zh-CN" sz="3600">
                <a:solidFill>
                  <a:srgbClr val="990033"/>
                </a:solidFill>
                <a:latin typeface="Times New Roman" charset="0"/>
              </a:rPr>
              <a:t> enum {ATOM, LIST} ElemTag;</a:t>
            </a:r>
          </a:p>
          <a:p>
            <a:pPr eaLnBrk="1" hangingPunct="1">
              <a:lnSpc>
                <a:spcPct val="115000"/>
              </a:lnSpc>
            </a:pPr>
            <a:r>
              <a:rPr kumimoji="1" lang="en-US" altLang="zh-CN" sz="3600">
                <a:solidFill>
                  <a:srgbClr val="990033"/>
                </a:solidFill>
                <a:latin typeface="Times New Roman" charset="0"/>
              </a:rPr>
              <a:t>          </a:t>
            </a:r>
            <a:r>
              <a:rPr kumimoji="1" lang="en-US" altLang="zh-CN" sz="3200">
                <a:solidFill>
                  <a:srgbClr val="990033"/>
                </a:solidFill>
                <a:latin typeface="Times New Roman" charset="0"/>
              </a:rPr>
              <a:t>// ATOM==0:</a:t>
            </a:r>
            <a:r>
              <a:rPr kumimoji="1" lang="zh-CN" altLang="en-US" sz="3200">
                <a:solidFill>
                  <a:srgbClr val="990033"/>
                </a:solidFill>
                <a:latin typeface="Times New Roman" charset="0"/>
                <a:ea typeface="楷体_GB2312" charset="0"/>
              </a:rPr>
              <a:t>原子</a:t>
            </a:r>
            <a:r>
              <a:rPr kumimoji="1" lang="en-US" altLang="zh-CN" sz="3200">
                <a:solidFill>
                  <a:srgbClr val="990033"/>
                </a:solidFill>
                <a:latin typeface="Times New Roman" charset="0"/>
              </a:rPr>
              <a:t>, LIST==1:</a:t>
            </a:r>
            <a:r>
              <a:rPr kumimoji="1" lang="zh-CN" altLang="en-US" sz="3200">
                <a:solidFill>
                  <a:srgbClr val="990033"/>
                </a:solidFill>
                <a:latin typeface="Times New Roman" charset="0"/>
                <a:ea typeface="楷体_GB2312" charset="0"/>
              </a:rPr>
              <a:t>子表</a:t>
            </a:r>
            <a:endParaRPr kumimoji="1" lang="zh-CN" altLang="en-US" sz="3600">
              <a:solidFill>
                <a:srgbClr val="990033"/>
              </a:solidFill>
              <a:latin typeface="Times New Roman" charset="0"/>
              <a:ea typeface="楷体_GB2312" charset="0"/>
            </a:endParaRPr>
          </a:p>
          <a:p>
            <a:pPr eaLnBrk="1" hangingPunct="1">
              <a:lnSpc>
                <a:spcPct val="115000"/>
              </a:lnSpc>
            </a:pPr>
            <a:r>
              <a:rPr kumimoji="1" lang="en-US" altLang="zh-CN" sz="3600" b="1">
                <a:solidFill>
                  <a:srgbClr val="990033"/>
                </a:solidFill>
                <a:latin typeface="Times New Roman" charset="0"/>
                <a:ea typeface="楷体_GB2312" charset="0"/>
              </a:rPr>
              <a:t>typedef </a:t>
            </a:r>
            <a:r>
              <a:rPr kumimoji="1" lang="en-US" altLang="zh-CN" sz="3600">
                <a:solidFill>
                  <a:srgbClr val="990033"/>
                </a:solidFill>
                <a:latin typeface="Times New Roman" charset="0"/>
                <a:ea typeface="楷体_GB2312" charset="0"/>
              </a:rPr>
              <a:t>struct GLNode </a:t>
            </a:r>
            <a:r>
              <a:rPr kumimoji="1" lang="en-US" altLang="zh-CN" sz="3600" b="1">
                <a:solidFill>
                  <a:srgbClr val="990033"/>
                </a:solidFill>
                <a:latin typeface="Times New Roman" charset="0"/>
                <a:ea typeface="楷体_GB2312" charset="0"/>
              </a:rPr>
              <a:t>{</a:t>
            </a:r>
            <a:endParaRPr kumimoji="1" lang="en-US" altLang="zh-CN" sz="3600">
              <a:solidFill>
                <a:srgbClr val="990033"/>
              </a:solidFill>
              <a:latin typeface="Times New Roman" charset="0"/>
              <a:ea typeface="楷体_GB2312" charset="0"/>
            </a:endParaRPr>
          </a:p>
          <a:p>
            <a:pPr eaLnBrk="1" hangingPunct="1">
              <a:lnSpc>
                <a:spcPct val="115000"/>
              </a:lnSpc>
            </a:pPr>
            <a:r>
              <a:rPr kumimoji="1" lang="en-US" altLang="zh-CN" sz="3600">
                <a:solidFill>
                  <a:srgbClr val="990033"/>
                </a:solidFill>
                <a:latin typeface="Times New Roman" charset="0"/>
                <a:ea typeface="楷体_GB2312" charset="0"/>
              </a:rPr>
              <a:t>   ElemTag  tag;   </a:t>
            </a:r>
            <a:r>
              <a:rPr kumimoji="1" lang="en-US" altLang="zh-CN" sz="3200">
                <a:solidFill>
                  <a:srgbClr val="990033"/>
                </a:solidFill>
                <a:latin typeface="Times New Roman" charset="0"/>
                <a:ea typeface="楷体_GB2312" charset="0"/>
              </a:rPr>
              <a:t>// </a:t>
            </a:r>
            <a:r>
              <a:rPr kumimoji="1" lang="zh-CN" altLang="en-US" sz="3200">
                <a:solidFill>
                  <a:srgbClr val="990033"/>
                </a:solidFill>
                <a:latin typeface="Times New Roman" charset="0"/>
                <a:ea typeface="楷体_GB2312" charset="0"/>
              </a:rPr>
              <a:t>标志域</a:t>
            </a:r>
            <a:endParaRPr kumimoji="1" lang="zh-CN" altLang="en-US" sz="3600">
              <a:solidFill>
                <a:srgbClr val="990033"/>
              </a:solidFill>
              <a:latin typeface="Times New Roman" charset="0"/>
              <a:ea typeface="楷体_GB2312" charset="0"/>
            </a:endParaRPr>
          </a:p>
          <a:p>
            <a:pPr eaLnBrk="1" hangingPunct="1">
              <a:lnSpc>
                <a:spcPct val="115000"/>
              </a:lnSpc>
            </a:pPr>
            <a:r>
              <a:rPr kumimoji="1" lang="zh-CN" altLang="en-US" sz="3600">
                <a:solidFill>
                  <a:srgbClr val="990033"/>
                </a:solidFill>
                <a:latin typeface="Times New Roman" charset="0"/>
                <a:ea typeface="楷体_GB2312" charset="0"/>
              </a:rPr>
              <a:t>   </a:t>
            </a:r>
            <a:r>
              <a:rPr kumimoji="1" lang="en-US" altLang="zh-CN" sz="3600" b="1">
                <a:solidFill>
                  <a:srgbClr val="990033"/>
                </a:solidFill>
                <a:latin typeface="Times New Roman" charset="0"/>
                <a:ea typeface="楷体_GB2312" charset="0"/>
              </a:rPr>
              <a:t>union{</a:t>
            </a:r>
            <a:endParaRPr kumimoji="1" lang="en-US" altLang="zh-CN" sz="3600">
              <a:solidFill>
                <a:srgbClr val="990033"/>
              </a:solidFill>
              <a:latin typeface="Times New Roman" charset="0"/>
              <a:ea typeface="楷体_GB2312" charset="0"/>
            </a:endParaRPr>
          </a:p>
          <a:p>
            <a:pPr eaLnBrk="1" hangingPunct="1">
              <a:lnSpc>
                <a:spcPct val="115000"/>
              </a:lnSpc>
            </a:pPr>
            <a:r>
              <a:rPr kumimoji="1" lang="en-US" altLang="zh-CN" sz="3600">
                <a:solidFill>
                  <a:srgbClr val="990033"/>
                </a:solidFill>
                <a:latin typeface="Times New Roman" charset="0"/>
                <a:ea typeface="楷体_GB2312" charset="0"/>
              </a:rPr>
              <a:t>     AtomType  atom;      // </a:t>
            </a:r>
            <a:r>
              <a:rPr kumimoji="1" lang="zh-CN" altLang="en-US" sz="3200">
                <a:solidFill>
                  <a:srgbClr val="990033"/>
                </a:solidFill>
                <a:latin typeface="Times New Roman" charset="0"/>
                <a:ea typeface="楷体_GB2312" charset="0"/>
              </a:rPr>
              <a:t>原子结点的数据域</a:t>
            </a:r>
            <a:endParaRPr kumimoji="1" lang="zh-CN" altLang="en-US" sz="3600">
              <a:solidFill>
                <a:srgbClr val="990033"/>
              </a:solidFill>
              <a:latin typeface="Times New Roman" charset="0"/>
              <a:ea typeface="楷体_GB2312" charset="0"/>
            </a:endParaRPr>
          </a:p>
          <a:p>
            <a:pPr eaLnBrk="1" hangingPunct="1">
              <a:lnSpc>
                <a:spcPct val="115000"/>
              </a:lnSpc>
            </a:pPr>
            <a:r>
              <a:rPr kumimoji="1" lang="zh-CN" altLang="en-US" sz="3600">
                <a:solidFill>
                  <a:srgbClr val="990033"/>
                </a:solidFill>
                <a:latin typeface="Times New Roman" charset="0"/>
                <a:ea typeface="楷体_GB2312" charset="0"/>
              </a:rPr>
              <a:t>     </a:t>
            </a:r>
            <a:r>
              <a:rPr kumimoji="1" lang="en-US" altLang="zh-CN" sz="3600" b="1">
                <a:solidFill>
                  <a:srgbClr val="990033"/>
                </a:solidFill>
                <a:latin typeface="Times New Roman" charset="0"/>
                <a:ea typeface="楷体_GB2312" charset="0"/>
              </a:rPr>
              <a:t>struct</a:t>
            </a:r>
            <a:r>
              <a:rPr kumimoji="1" lang="en-US" altLang="zh-CN" sz="3600">
                <a:solidFill>
                  <a:srgbClr val="990033"/>
                </a:solidFill>
                <a:latin typeface="Times New Roman" charset="0"/>
                <a:ea typeface="楷体_GB2312" charset="0"/>
              </a:rPr>
              <a:t> {</a:t>
            </a:r>
            <a:r>
              <a:rPr kumimoji="1" lang="en-US" altLang="zh-CN" sz="3600" b="1">
                <a:solidFill>
                  <a:srgbClr val="990033"/>
                </a:solidFill>
                <a:latin typeface="Times New Roman" charset="0"/>
                <a:ea typeface="楷体_GB2312" charset="0"/>
              </a:rPr>
              <a:t>struct</a:t>
            </a:r>
            <a:r>
              <a:rPr kumimoji="1" lang="en-US" altLang="zh-CN" sz="3600">
                <a:solidFill>
                  <a:srgbClr val="990033"/>
                </a:solidFill>
                <a:latin typeface="Times New Roman" charset="0"/>
                <a:ea typeface="楷体_GB2312" charset="0"/>
              </a:rPr>
              <a:t> GLNode *hp, *tp;} ptr;</a:t>
            </a:r>
          </a:p>
          <a:p>
            <a:pPr eaLnBrk="1" hangingPunct="1">
              <a:lnSpc>
                <a:spcPct val="115000"/>
              </a:lnSpc>
            </a:pPr>
            <a:r>
              <a:rPr kumimoji="1" lang="en-US" altLang="zh-CN" sz="3600">
                <a:solidFill>
                  <a:srgbClr val="990033"/>
                </a:solidFill>
                <a:latin typeface="Times New Roman" charset="0"/>
                <a:ea typeface="楷体_GB2312" charset="0"/>
              </a:rPr>
              <a:t>   </a:t>
            </a:r>
            <a:r>
              <a:rPr kumimoji="1" lang="en-US" altLang="zh-CN" sz="3600" b="1">
                <a:solidFill>
                  <a:srgbClr val="990033"/>
                </a:solidFill>
                <a:latin typeface="Times New Roman" charset="0"/>
                <a:ea typeface="楷体_GB2312" charset="0"/>
              </a:rPr>
              <a:t>}</a:t>
            </a:r>
            <a:r>
              <a:rPr kumimoji="1" lang="en-US" altLang="zh-CN" sz="3600">
                <a:solidFill>
                  <a:srgbClr val="990033"/>
                </a:solidFill>
                <a:latin typeface="Times New Roman" charset="0"/>
                <a:ea typeface="楷体_GB2312" charset="0"/>
              </a:rPr>
              <a:t>;</a:t>
            </a:r>
          </a:p>
          <a:p>
            <a:pPr eaLnBrk="1" hangingPunct="1">
              <a:lnSpc>
                <a:spcPct val="115000"/>
              </a:lnSpc>
            </a:pPr>
            <a:r>
              <a:rPr kumimoji="1" lang="en-US" altLang="zh-CN" sz="3600" b="1">
                <a:solidFill>
                  <a:srgbClr val="990033"/>
                </a:solidFill>
                <a:latin typeface="Times New Roman" charset="0"/>
                <a:ea typeface="楷体_GB2312" charset="0"/>
              </a:rPr>
              <a:t>}</a:t>
            </a:r>
            <a:r>
              <a:rPr kumimoji="1" lang="en-US" altLang="zh-CN" sz="3600">
                <a:solidFill>
                  <a:srgbClr val="990033"/>
                </a:solidFill>
                <a:latin typeface="Times New Roman" charset="0"/>
                <a:ea typeface="楷体_GB2312" charset="0"/>
              </a:rPr>
              <a:t> *GList</a:t>
            </a:r>
            <a:endParaRPr kumimoji="1" lang="en-US" altLang="zh-CN" sz="3600">
              <a:solidFill>
                <a:srgbClr val="990033"/>
              </a:solidFill>
              <a:latin typeface="Times New Roman" charset="0"/>
            </a:endParaRPr>
          </a:p>
        </p:txBody>
      </p:sp>
      <p:sp>
        <p:nvSpPr>
          <p:cNvPr id="226308" name="Text Box 4"/>
          <p:cNvSpPr txBox="1">
            <a:spLocks noChangeArrowheads="1"/>
          </p:cNvSpPr>
          <p:nvPr/>
        </p:nvSpPr>
        <p:spPr bwMode="auto">
          <a:xfrm>
            <a:off x="5181600" y="5581650"/>
            <a:ext cx="1122363" cy="588963"/>
          </a:xfrm>
          <a:prstGeom prst="rect">
            <a:avLst/>
          </a:prstGeom>
          <a:solidFill>
            <a:srgbClr val="FFFF99">
              <a:alpha val="50195"/>
            </a:srgbClr>
          </a:solidFill>
          <a:ln w="9525">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990033"/>
                </a:solidFill>
                <a:latin typeface="Times New Roman" charset="0"/>
              </a:rPr>
              <a:t>tag=1</a:t>
            </a:r>
            <a:endParaRPr kumimoji="1" lang="en-US" altLang="zh-CN" sz="3200">
              <a:latin typeface="Times New Roman" charset="0"/>
            </a:endParaRPr>
          </a:p>
        </p:txBody>
      </p:sp>
      <p:sp>
        <p:nvSpPr>
          <p:cNvPr id="226309" name="Text Box 5"/>
          <p:cNvSpPr txBox="1">
            <a:spLocks noChangeArrowheads="1"/>
          </p:cNvSpPr>
          <p:nvPr/>
        </p:nvSpPr>
        <p:spPr bwMode="auto">
          <a:xfrm>
            <a:off x="6324600" y="5583238"/>
            <a:ext cx="1463675" cy="588962"/>
          </a:xfrm>
          <a:prstGeom prst="rect">
            <a:avLst/>
          </a:prstGeom>
          <a:solidFill>
            <a:srgbClr val="CCFFCC"/>
          </a:solidFill>
          <a:ln w="9525">
            <a:solidFill>
              <a:srgbClr val="990033"/>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latin typeface="Times New Roman" charset="0"/>
              </a:rPr>
              <a:t> </a:t>
            </a:r>
            <a:r>
              <a:rPr kumimoji="1" lang="en-US" altLang="zh-CN" sz="3200">
                <a:solidFill>
                  <a:srgbClr val="006666"/>
                </a:solidFill>
                <a:latin typeface="Times New Roman" charset="0"/>
              </a:rPr>
              <a:t> hp</a:t>
            </a:r>
            <a:r>
              <a:rPr kumimoji="1" lang="en-US" altLang="zh-CN" sz="3200">
                <a:latin typeface="Times New Roman" charset="0"/>
              </a:rPr>
              <a:t>   </a:t>
            </a:r>
            <a:r>
              <a:rPr kumimoji="1" lang="en-US" altLang="zh-CN" sz="3200">
                <a:solidFill>
                  <a:srgbClr val="006666"/>
                </a:solidFill>
                <a:latin typeface="Times New Roman" charset="0"/>
              </a:rPr>
              <a:t>tp</a:t>
            </a:r>
            <a:endParaRPr kumimoji="1" lang="en-US" altLang="zh-CN" sz="3200">
              <a:latin typeface="Times New Roman" charset="0"/>
            </a:endParaRPr>
          </a:p>
        </p:txBody>
      </p:sp>
      <p:sp>
        <p:nvSpPr>
          <p:cNvPr id="226310" name="Line 6"/>
          <p:cNvSpPr>
            <a:spLocks noChangeShapeType="1"/>
          </p:cNvSpPr>
          <p:nvPr/>
        </p:nvSpPr>
        <p:spPr bwMode="auto">
          <a:xfrm>
            <a:off x="7086600" y="5562600"/>
            <a:ext cx="0" cy="60960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11" name="AutoShape 7"/>
          <p:cNvSpPr>
            <a:spLocks/>
          </p:cNvSpPr>
          <p:nvPr/>
        </p:nvSpPr>
        <p:spPr bwMode="auto">
          <a:xfrm rot="16221709" flipV="1">
            <a:off x="6971506" y="5599907"/>
            <a:ext cx="227013" cy="1371600"/>
          </a:xfrm>
          <a:prstGeom prst="leftBrace">
            <a:avLst>
              <a:gd name="adj1" fmla="val 50350"/>
              <a:gd name="adj2" fmla="val 47074"/>
            </a:avLst>
          </a:prstGeom>
          <a:noFill/>
          <a:ln w="28575">
            <a:solidFill>
              <a:srgbClr val="0066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26312" name="Text Box 8"/>
          <p:cNvSpPr txBox="1">
            <a:spLocks noChangeArrowheads="1"/>
          </p:cNvSpPr>
          <p:nvPr/>
        </p:nvSpPr>
        <p:spPr bwMode="auto">
          <a:xfrm>
            <a:off x="6765925" y="6248400"/>
            <a:ext cx="69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600">
                <a:solidFill>
                  <a:srgbClr val="006666"/>
                </a:solidFill>
                <a:latin typeface="Times New Roman" charset="0"/>
              </a:rPr>
              <a:t>ptr</a:t>
            </a:r>
            <a:endParaRPr kumimoji="1" lang="en-US" altLang="zh-CN" sz="3600">
              <a:latin typeface="Times New Roman" charset="0"/>
            </a:endParaRPr>
          </a:p>
        </p:txBody>
      </p:sp>
      <p:sp>
        <p:nvSpPr>
          <p:cNvPr id="226313" name="Text Box 9"/>
          <p:cNvSpPr txBox="1">
            <a:spLocks noChangeArrowheads="1"/>
          </p:cNvSpPr>
          <p:nvPr/>
        </p:nvSpPr>
        <p:spPr bwMode="auto">
          <a:xfrm>
            <a:off x="3733800" y="5592763"/>
            <a:ext cx="1403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a:solidFill>
                  <a:srgbClr val="990033"/>
                </a:solidFill>
                <a:latin typeface="Times New Roman" charset="0"/>
                <a:ea typeface="楷体_GB2312" charset="0"/>
              </a:rPr>
              <a:t>表结点</a:t>
            </a:r>
            <a:endParaRPr kumimoji="1" lang="zh-CN" altLang="en-US" sz="3200">
              <a:latin typeface="Times New Roman" charset="0"/>
              <a:ea typeface="楷体_GB2312" charset="0"/>
            </a:endParaRPr>
          </a:p>
        </p:txBody>
      </p:sp>
    </p:spTree>
    <p:extLst>
      <p:ext uri="{BB962C8B-B14F-4D97-AF65-F5344CB8AC3E}">
        <p14:creationId xmlns:p14="http://schemas.microsoft.com/office/powerpoint/2010/main" val="4788451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26306"/>
                                        </p:tgtEl>
                                        <p:attrNameLst>
                                          <p:attrName>style.visibility</p:attrName>
                                        </p:attrNameLst>
                                      </p:cBhvr>
                                      <p:to>
                                        <p:strVal val="visible"/>
                                      </p:to>
                                    </p:set>
                                    <p:anim calcmode="lin" valueType="num">
                                      <p:cBhvr additive="base">
                                        <p:cTn id="7" dur="500" fill="hold"/>
                                        <p:tgtEl>
                                          <p:spTgt spid="226306"/>
                                        </p:tgtEl>
                                        <p:attrNameLst>
                                          <p:attrName>ppt_x</p:attrName>
                                        </p:attrNameLst>
                                      </p:cBhvr>
                                      <p:tavLst>
                                        <p:tav tm="0">
                                          <p:val>
                                            <p:strVal val="0-#ppt_w/2"/>
                                          </p:val>
                                        </p:tav>
                                        <p:tav tm="100000">
                                          <p:val>
                                            <p:strVal val="#ppt_x"/>
                                          </p:val>
                                        </p:tav>
                                      </p:tavLst>
                                    </p:anim>
                                    <p:anim calcmode="lin" valueType="num">
                                      <p:cBhvr additive="base">
                                        <p:cTn id="8" dur="500" fill="hold"/>
                                        <p:tgtEl>
                                          <p:spTgt spid="2263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9" fill="hold" grpId="0" nodeType="clickEffect">
                                  <p:stCondLst>
                                    <p:cond delay="0"/>
                                  </p:stCondLst>
                                  <p:childTnLst>
                                    <p:set>
                                      <p:cBhvr>
                                        <p:cTn id="12" dur="1" fill="hold">
                                          <p:stCondLst>
                                            <p:cond delay="0"/>
                                          </p:stCondLst>
                                        </p:cTn>
                                        <p:tgtEl>
                                          <p:spTgt spid="226307"/>
                                        </p:tgtEl>
                                        <p:attrNameLst>
                                          <p:attrName>style.visibility</p:attrName>
                                        </p:attrNameLst>
                                      </p:cBhvr>
                                      <p:to>
                                        <p:strVal val="visible"/>
                                      </p:to>
                                    </p:set>
                                    <p:animEffect transition="in" filter="strips(upLeft)">
                                      <p:cBhvr>
                                        <p:cTn id="13" dur="500"/>
                                        <p:tgtEl>
                                          <p:spTgt spid="22630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6313"/>
                                        </p:tgtEl>
                                        <p:attrNameLst>
                                          <p:attrName>style.visibility</p:attrName>
                                        </p:attrNameLst>
                                      </p:cBhvr>
                                      <p:to>
                                        <p:strVal val="visible"/>
                                      </p:to>
                                    </p:set>
                                    <p:animEffect transition="in" filter="wipe(left)">
                                      <p:cBhvr>
                                        <p:cTn id="18" dur="500"/>
                                        <p:tgtEl>
                                          <p:spTgt spid="22631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6308"/>
                                        </p:tgtEl>
                                        <p:attrNameLst>
                                          <p:attrName>style.visibility</p:attrName>
                                        </p:attrNameLst>
                                      </p:cBhvr>
                                      <p:to>
                                        <p:strVal val="visible"/>
                                      </p:to>
                                    </p:set>
                                    <p:animEffect transition="in" filter="wipe(left)">
                                      <p:cBhvr>
                                        <p:cTn id="23" dur="500"/>
                                        <p:tgtEl>
                                          <p:spTgt spid="22630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6309"/>
                                        </p:tgtEl>
                                        <p:attrNameLst>
                                          <p:attrName>style.visibility</p:attrName>
                                        </p:attrNameLst>
                                      </p:cBhvr>
                                      <p:to>
                                        <p:strVal val="visible"/>
                                      </p:to>
                                    </p:set>
                                    <p:animEffect transition="in" filter="wipe(left)">
                                      <p:cBhvr>
                                        <p:cTn id="28" dur="500"/>
                                        <p:tgtEl>
                                          <p:spTgt spid="226309"/>
                                        </p:tgtEl>
                                      </p:cBhvr>
                                    </p:animEffect>
                                  </p:childTnLst>
                                </p:cTn>
                              </p:par>
                            </p:childTnLst>
                          </p:cTn>
                        </p:par>
                        <p:par>
                          <p:cTn id="29" fill="hold" nodeType="afterGroup">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26311"/>
                                        </p:tgtEl>
                                        <p:attrNameLst>
                                          <p:attrName>style.visibility</p:attrName>
                                        </p:attrNameLst>
                                      </p:cBhvr>
                                      <p:to>
                                        <p:strVal val="visible"/>
                                      </p:to>
                                    </p:set>
                                    <p:animEffect transition="in" filter="wipe(left)">
                                      <p:cBhvr>
                                        <p:cTn id="32" dur="500"/>
                                        <p:tgtEl>
                                          <p:spTgt spid="226311"/>
                                        </p:tgtEl>
                                      </p:cBhvr>
                                    </p:animEffect>
                                  </p:childTnLst>
                                </p:cTn>
                              </p:par>
                            </p:childTnLst>
                          </p:cTn>
                        </p:par>
                        <p:par>
                          <p:cTn id="33" fill="hold" nodeType="afterGroup">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26312"/>
                                        </p:tgtEl>
                                        <p:attrNameLst>
                                          <p:attrName>style.visibility</p:attrName>
                                        </p:attrNameLst>
                                      </p:cBhvr>
                                      <p:to>
                                        <p:strVal val="visible"/>
                                      </p:to>
                                    </p:set>
                                    <p:animEffect transition="in" filter="wipe(left)">
                                      <p:cBhvr>
                                        <p:cTn id="36" dur="500"/>
                                        <p:tgtEl>
                                          <p:spTgt spid="2263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26310"/>
                                        </p:tgtEl>
                                        <p:attrNameLst>
                                          <p:attrName>style.visibility</p:attrName>
                                        </p:attrNameLst>
                                      </p:cBhvr>
                                      <p:to>
                                        <p:strVal val="visible"/>
                                      </p:to>
                                    </p:set>
                                    <p:animEffect transition="in" filter="wipe(up)">
                                      <p:cBhvr>
                                        <p:cTn id="41" dur="500"/>
                                        <p:tgtEl>
                                          <p:spTgt spid="226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autoUpdateAnimBg="0"/>
      <p:bldP spid="226307" grpId="0" autoUpdateAnimBg="0"/>
      <p:bldP spid="226308" grpId="0" animBg="1" autoUpdateAnimBg="0"/>
      <p:bldP spid="226309" grpId="0" animBg="1" autoUpdateAnimBg="0"/>
      <p:bldP spid="226310" grpId="0" animBg="1"/>
      <p:bldP spid="226311" grpId="0" animBg="1"/>
      <p:bldP spid="226312" grpId="0" autoUpdateAnimBg="0"/>
      <p:bldP spid="226313"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304800" y="1295400"/>
            <a:ext cx="8321675" cy="457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lnSpc>
                <a:spcPct val="115000"/>
              </a:lnSpc>
            </a:pPr>
            <a:r>
              <a:rPr kumimoji="1" lang="en-US" altLang="zh-CN" sz="3200" b="1">
                <a:solidFill>
                  <a:srgbClr val="000066"/>
                </a:solidFill>
                <a:latin typeface="楷体_GB2312" charset="0"/>
                <a:ea typeface="楷体_GB2312" charset="0"/>
              </a:rPr>
              <a:t>1. </a:t>
            </a:r>
            <a:r>
              <a:rPr kumimoji="1" lang="zh-CN" altLang="en-US" sz="3200" b="1">
                <a:solidFill>
                  <a:srgbClr val="000066"/>
                </a:solidFill>
                <a:latin typeface="楷体_GB2312" charset="0"/>
                <a:ea typeface="楷体_GB2312" charset="0"/>
              </a:rPr>
              <a:t>了解数组的两种存储表示方法，并掌握数组在以行为主的存储结构中的地址计算方法。</a:t>
            </a:r>
          </a:p>
          <a:p>
            <a:pPr algn="just" eaLnBrk="1" hangingPunct="1">
              <a:lnSpc>
                <a:spcPct val="115000"/>
              </a:lnSpc>
            </a:pPr>
            <a:r>
              <a:rPr kumimoji="1" lang="en-US" altLang="zh-CN" sz="3200" b="1">
                <a:solidFill>
                  <a:srgbClr val="000066"/>
                </a:solidFill>
                <a:latin typeface="楷体_GB2312" charset="0"/>
                <a:ea typeface="楷体_GB2312" charset="0"/>
              </a:rPr>
              <a:t>2. </a:t>
            </a:r>
            <a:r>
              <a:rPr kumimoji="1" lang="zh-CN" altLang="en-US" sz="3200" b="1">
                <a:solidFill>
                  <a:srgbClr val="000066"/>
                </a:solidFill>
                <a:latin typeface="楷体_GB2312" charset="0"/>
                <a:ea typeface="楷体_GB2312" charset="0"/>
              </a:rPr>
              <a:t>掌握对特殊矩阵进行压缩存储时的下标变换公式。</a:t>
            </a:r>
          </a:p>
          <a:p>
            <a:pPr algn="just" eaLnBrk="1" hangingPunct="1">
              <a:lnSpc>
                <a:spcPct val="115000"/>
              </a:lnSpc>
            </a:pPr>
            <a:r>
              <a:rPr kumimoji="1" lang="en-US" altLang="zh-CN" sz="3200" b="1">
                <a:solidFill>
                  <a:srgbClr val="000066"/>
                </a:solidFill>
                <a:latin typeface="楷体_GB2312" charset="0"/>
                <a:ea typeface="楷体_GB2312" charset="0"/>
              </a:rPr>
              <a:t>3. </a:t>
            </a:r>
            <a:r>
              <a:rPr kumimoji="1" lang="zh-CN" altLang="en-US" sz="3200" b="1">
                <a:solidFill>
                  <a:srgbClr val="000066"/>
                </a:solidFill>
                <a:latin typeface="楷体_GB2312" charset="0"/>
                <a:ea typeface="楷体_GB2312" charset="0"/>
              </a:rPr>
              <a:t>了解稀疏矩阵的两类压缩存储方法的特点和适用范围，领会以三元组表示稀疏矩阵时进行矩阵运算采用的处理方法</a:t>
            </a:r>
            <a:r>
              <a:rPr kumimoji="1" lang="zh-CN" altLang="en-US" sz="3200" b="1">
                <a:solidFill>
                  <a:srgbClr val="000066"/>
                </a:solidFill>
                <a:latin typeface="Times New Roman" charset="0"/>
              </a:rPr>
              <a:t>。</a:t>
            </a:r>
            <a:endParaRPr kumimoji="1" lang="zh-CN" altLang="en-US" sz="3200">
              <a:latin typeface="Times New Roman" charset="0"/>
            </a:endParaRPr>
          </a:p>
        </p:txBody>
      </p:sp>
    </p:spTree>
    <p:extLst>
      <p:ext uri="{BB962C8B-B14F-4D97-AF65-F5344CB8AC3E}">
        <p14:creationId xmlns:p14="http://schemas.microsoft.com/office/powerpoint/2010/main" val="727249382"/>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457200" y="1600200"/>
            <a:ext cx="8382000" cy="345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5000"/>
              </a:lnSpc>
            </a:pPr>
            <a:r>
              <a:rPr kumimoji="1" lang="en-US" altLang="zh-CN" sz="3200" b="1">
                <a:solidFill>
                  <a:srgbClr val="000066"/>
                </a:solidFill>
                <a:latin typeface="楷体_GB2312" charset="0"/>
                <a:ea typeface="楷体_GB2312" charset="0"/>
              </a:rPr>
              <a:t>4. </a:t>
            </a:r>
            <a:r>
              <a:rPr kumimoji="1" lang="zh-CN" altLang="en-US" sz="3200" b="1">
                <a:solidFill>
                  <a:srgbClr val="000066"/>
                </a:solidFill>
                <a:latin typeface="楷体_GB2312" charset="0"/>
                <a:ea typeface="楷体_GB2312" charset="0"/>
              </a:rPr>
              <a:t>掌握广义表的结构特点及其存储表示方法，读者可根据自己的习惯熟练掌握任意一种结构的链表，学会对非空广义表进行分解的两种分析方法：即可将一个非空广义表分解为表头和表尾两部分或者分解为</a:t>
            </a:r>
            <a:r>
              <a:rPr kumimoji="1" lang="en-US" altLang="zh-CN" sz="3200" b="1">
                <a:solidFill>
                  <a:srgbClr val="000066"/>
                </a:solidFill>
                <a:latin typeface="楷体_GB2312" charset="0"/>
                <a:ea typeface="楷体_GB2312" charset="0"/>
              </a:rPr>
              <a:t>n</a:t>
            </a:r>
            <a:r>
              <a:rPr kumimoji="1" lang="zh-CN" altLang="en-US" sz="3200" b="1">
                <a:solidFill>
                  <a:srgbClr val="000066"/>
                </a:solidFill>
                <a:latin typeface="楷体_GB2312" charset="0"/>
                <a:ea typeface="楷体_GB2312" charset="0"/>
              </a:rPr>
              <a:t>个子表。</a:t>
            </a:r>
          </a:p>
          <a:p>
            <a:pPr eaLnBrk="1" hangingPunct="1">
              <a:lnSpc>
                <a:spcPct val="115000"/>
              </a:lnSpc>
            </a:pPr>
            <a:endParaRPr kumimoji="1" lang="en-US" altLang="zh-CN" sz="3200" b="1">
              <a:latin typeface="Times New Roman" charset="0"/>
            </a:endParaRPr>
          </a:p>
        </p:txBody>
      </p:sp>
    </p:spTree>
    <p:extLst>
      <p:ext uri="{BB962C8B-B14F-4D97-AF65-F5344CB8AC3E}">
        <p14:creationId xmlns:p14="http://schemas.microsoft.com/office/powerpoint/2010/main" val="2019335900"/>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TM03457496[[fn=视差]]</Template>
  <TotalTime>21</TotalTime>
  <Words>4770</Words>
  <Application>Microsoft Macintosh PowerPoint</Application>
  <PresentationFormat>全屏显示(4:3)</PresentationFormat>
  <Paragraphs>621</Paragraphs>
  <Slides>73</Slides>
  <Notes>3</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4</vt:i4>
      </vt:variant>
      <vt:variant>
        <vt:lpstr>幻灯片标题</vt:lpstr>
      </vt:variant>
      <vt:variant>
        <vt:i4>73</vt:i4>
      </vt:variant>
    </vt:vector>
  </HeadingPairs>
  <TitlesOfParts>
    <vt:vector size="96" baseType="lpstr">
      <vt:lpstr>Calibri</vt:lpstr>
      <vt:lpstr>Lucida Sans Unicode</vt:lpstr>
      <vt:lpstr>Verdana</vt:lpstr>
      <vt:lpstr>Wingdings</vt:lpstr>
      <vt:lpstr>Wingdings 2</vt:lpstr>
      <vt:lpstr>Wingdings 3</vt:lpstr>
      <vt:lpstr>仿宋_GB2312</vt:lpstr>
      <vt:lpstr>黑体</vt:lpstr>
      <vt:lpstr>华文行楷</vt:lpstr>
      <vt:lpstr>华文楷体</vt:lpstr>
      <vt:lpstr>华文新魏</vt:lpstr>
      <vt:lpstr>楷体_GB2312</vt:lpstr>
      <vt:lpstr>隶书</vt:lpstr>
      <vt:lpstr>宋体</vt:lpstr>
      <vt:lpstr>Arial</vt:lpstr>
      <vt:lpstr>Courier New</vt:lpstr>
      <vt:lpstr>Symbol</vt:lpstr>
      <vt:lpstr>Times New Roman</vt:lpstr>
      <vt:lpstr>聚合</vt:lpstr>
      <vt:lpstr>公式</vt:lpstr>
      <vt:lpstr>Equation</vt:lpstr>
      <vt:lpstr>文档</vt:lpstr>
      <vt:lpstr>幻灯片</vt:lpstr>
      <vt:lpstr>PowerPoint 演示文稿</vt:lpstr>
      <vt:lpstr>PowerPoint 演示文稿</vt:lpstr>
      <vt:lpstr>PowerPoint 演示文稿</vt:lpstr>
      <vt:lpstr>PowerPoint 演示文稿</vt:lpstr>
      <vt:lpstr>PowerPoint 演示文稿</vt:lpstr>
      <vt:lpstr>基本操作：</vt:lpstr>
      <vt:lpstr>PowerPoint 演示文稿</vt:lpstr>
      <vt:lpstr> DestroyArray(&amp;A)    操作结果：销毁数组A。</vt:lpstr>
      <vt:lpstr>PowerPoint 演示文稿</vt:lpstr>
      <vt:lpstr>PowerPoint 演示文稿</vt:lpstr>
      <vt:lpstr>PowerPoint 演示文稿</vt:lpstr>
      <vt:lpstr>PowerPoint 演示文稿</vt:lpstr>
      <vt:lpstr>PowerPoint 演示文稿</vt:lpstr>
      <vt:lpstr>PowerPoint 演示文稿</vt:lpstr>
      <vt:lpstr> 三维数组</vt:lpstr>
      <vt:lpstr>PowerPoint 演示文稿</vt:lpstr>
      <vt:lpstr>PowerPoint 演示文稿</vt:lpstr>
      <vt:lpstr>PowerPoint 演示文稿</vt:lpstr>
      <vt:lpstr>PowerPoint 演示文稿</vt:lpstr>
      <vt:lpstr>对称矩阵的压缩存储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例：Q＝M×N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Microsoft Office User</cp:lastModifiedBy>
  <cp:revision>70</cp:revision>
  <dcterms:created xsi:type="dcterms:W3CDTF">2021-09-07T07:00:29Z</dcterms:created>
  <dcterms:modified xsi:type="dcterms:W3CDTF">2021-09-13T01:02:36Z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2052-3.0.0.4824</vt:lpwstr>
  </property>
</Properties>
</file>