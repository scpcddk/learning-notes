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Lst>
  <p:sldSz cx="9144000" cy="6858000" type="screen4x3"/>
  <p:notesSz cx="6858000" cy="9144000"/>
  <p:custDataLst>
    <p:tags r:id="rId15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0" userDrawn="1">
          <p15:clr>
            <a:srgbClr val="A4A3A4"/>
          </p15:clr>
        </p15:guide>
        <p15:guide id="2" pos="29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21"/>
  </p:normalViewPr>
  <p:slideViewPr>
    <p:cSldViewPr showGuides="1">
      <p:cViewPr varScale="1">
        <p:scale>
          <a:sx n="107" d="100"/>
          <a:sy n="107" d="100"/>
        </p:scale>
        <p:origin x="1536" y="102"/>
      </p:cViewPr>
      <p:guideLst>
        <p:guide orient="horz" pos="2190"/>
        <p:guide pos="29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5" Type="http://schemas.openxmlformats.org/officeDocument/2006/relationships/tags" Target="tags/tag1.xml"/><Relationship Id="rId154" Type="http://schemas.openxmlformats.org/officeDocument/2006/relationships/tableStyles" Target="tableStyles.xml"/><Relationship Id="rId153" Type="http://schemas.openxmlformats.org/officeDocument/2006/relationships/viewProps" Target="viewProps.xml"/><Relationship Id="rId152" Type="http://schemas.openxmlformats.org/officeDocument/2006/relationships/presProps" Target="presProps.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FC51EC-6FD5-4863-83B5-92D981B3290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E40C3E-DC0F-454B-B64E-DAEF5FEB767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55675">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55675">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55675">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55675">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FC858CD-6E53-7E48-96EA-26C43ABF7627}" type="slidenum">
              <a:rPr lang="en-US" altLang="zh-CN" sz="1300"/>
            </a:fld>
            <a:endParaRPr lang="en-US" altLang="zh-CN" sz="1300"/>
          </a:p>
        </p:txBody>
      </p:sp>
      <p:sp>
        <p:nvSpPr>
          <p:cNvPr id="16386" name="Rectangle 2"/>
          <p:cNvSpPr>
            <a:spLocks noGrp="1" noRot="1" noChangeAspect="1" noChangeArrowheads="1" noTextEdit="1"/>
          </p:cNvSpPr>
          <p:nvPr>
            <p:ph type="sldImg"/>
          </p:nvPr>
        </p:nvSpPr>
        <p:spPr>
          <a:xfrm>
            <a:off x="503238" y="242888"/>
            <a:ext cx="3575050" cy="2681287"/>
          </a:xfrm>
        </p:spPr>
      </p:sp>
      <p:sp>
        <p:nvSpPr>
          <p:cNvPr id="16387" name="Rectangle 3"/>
          <p:cNvSpPr>
            <a:spLocks noGrp="1" noChangeArrowheads="1"/>
          </p:cNvSpPr>
          <p:nvPr>
            <p:ph type="body" idx="1"/>
          </p:nvPr>
        </p:nvSpPr>
        <p:spPr>
          <a:xfrm>
            <a:off x="663575" y="3254375"/>
            <a:ext cx="5613400" cy="6261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40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Rot="1" noChangeAspect="1" noChangeArrowheads="1" noTextEdit="1"/>
          </p:cNvSpPr>
          <p:nvPr>
            <p:ph type="sldImg"/>
          </p:nvPr>
        </p:nvSpPr>
        <p:spPr>
          <a:xfrm>
            <a:off x="917575" y="744538"/>
            <a:ext cx="4962525" cy="3722687"/>
          </a:xfrm>
        </p:spPr>
      </p:sp>
      <p:sp>
        <p:nvSpPr>
          <p:cNvPr id="63490" name="Rectangle 3"/>
          <p:cNvSpPr>
            <a:spLocks noGrp="1" noChangeArrowheads="1"/>
          </p:cNvSpPr>
          <p:nvPr>
            <p:ph type="body" idx="1"/>
          </p:nvPr>
        </p:nvSpPr>
        <p:spPr>
          <a:xfrm>
            <a:off x="906463" y="4714875"/>
            <a:ext cx="4984750"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626"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50627"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endParaRPr lang="zh-CN" altLang="en-US">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674"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52675"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r>
              <a:rPr lang="zh-CN" altLang="en-US">
                <a:ea typeface="宋体" panose="02010600030101010101" pitchFamily="2" charset="-122"/>
              </a:rPr>
              <a:t>讲课时板书教案上的几种常见的指针操作</a:t>
            </a:r>
            <a:r>
              <a:rPr lang="zh-CN" altLang="en-US" sz="1000">
                <a:latin typeface="宋体" panose="02010600030101010101" pitchFamily="2" charset="-122"/>
                <a:ea typeface="宋体" panose="02010600030101010101" pitchFamily="2" charset="-122"/>
              </a:rPr>
              <a:t>。</a:t>
            </a:r>
            <a:endParaRPr lang="zh-CN" altLang="en-US">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22"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54723"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r>
              <a:rPr lang="zh-CN" altLang="en-US">
                <a:ea typeface="宋体" panose="02010600030101010101" pitchFamily="2" charset="-122"/>
              </a:rPr>
              <a:t>讲课时板书教案上的几种常见的指针操作</a:t>
            </a:r>
            <a:r>
              <a:rPr lang="zh-CN" altLang="en-US" sz="1000">
                <a:latin typeface="宋体" panose="02010600030101010101" pitchFamily="2" charset="-122"/>
                <a:ea typeface="宋体" panose="02010600030101010101" pitchFamily="2" charset="-122"/>
              </a:rPr>
              <a:t>。</a:t>
            </a:r>
            <a:endParaRPr lang="zh-CN" altLang="en-US">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770"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56771"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r>
              <a:rPr lang="zh-CN" altLang="en-US">
                <a:ea typeface="宋体" panose="02010600030101010101" pitchFamily="2" charset="-122"/>
              </a:rPr>
              <a:t>讲课时板书教案上的几种常见的指针操作</a:t>
            </a:r>
            <a:r>
              <a:rPr lang="zh-CN" altLang="en-US" sz="1000">
                <a:latin typeface="宋体" panose="02010600030101010101" pitchFamily="2" charset="-122"/>
                <a:ea typeface="宋体" panose="02010600030101010101" pitchFamily="2" charset="-122"/>
              </a:rPr>
              <a:t>。</a:t>
            </a:r>
            <a:endParaRPr lang="zh-CN" altLang="en-US">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8818"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58819"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endParaRPr lang="zh-CN" altLang="en-US">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6"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60867"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endParaRPr lang="zh-CN" altLang="en-US">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4"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62915"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endParaRPr lang="zh-CN" altLang="en-US">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2"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64963"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endParaRPr lang="zh-CN" altLang="en-US">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p:cNvSpPr>
            <a:spLocks noGrp="1" noRot="1" noChangeAspect="1" noChangeArrowheads="1" noTextEdit="1"/>
          </p:cNvSpPr>
          <p:nvPr>
            <p:ph type="sldImg"/>
          </p:nvPr>
        </p:nvSpPr>
        <p:spPr>
          <a:xfrm>
            <a:off x="917575" y="744538"/>
            <a:ext cx="4962525" cy="3722687"/>
          </a:xfrm>
        </p:spPr>
      </p:sp>
      <p:sp>
        <p:nvSpPr>
          <p:cNvPr id="171010" name="Rectangle 3"/>
          <p:cNvSpPr>
            <a:spLocks noGrp="1" noChangeArrowheads="1"/>
          </p:cNvSpPr>
          <p:nvPr>
            <p:ph type="body" idx="1"/>
          </p:nvPr>
        </p:nvSpPr>
        <p:spPr>
          <a:xfrm>
            <a:off x="906463" y="4714875"/>
            <a:ext cx="4984750"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a:solidFill>
                  <a:srgbClr val="660033"/>
                </a:solidFill>
                <a:ea typeface="宋体" panose="02010600030101010101" pitchFamily="2" charset="-122"/>
              </a:rPr>
              <a:t>InsAfter(Lc, </a:t>
            </a:r>
            <a:r>
              <a:rPr lang="en-US" altLang="zh-CN">
                <a:solidFill>
                  <a:srgbClr val="660033"/>
                </a:solidFill>
                <a:ea typeface="宋体" panose="02010600030101010101" pitchFamily="2" charset="-122"/>
              </a:rPr>
              <a:t>e2</a:t>
            </a:r>
            <a:r>
              <a:rPr lang="zh-CN" altLang="zh-CN">
                <a:solidFill>
                  <a:srgbClr val="660033"/>
                </a:solidFill>
                <a:ea typeface="宋体" panose="02010600030101010101" pitchFamily="2" charset="-122"/>
              </a:rPr>
              <a:t>);</a:t>
            </a:r>
            <a:r>
              <a:rPr lang="en-US" altLang="zh-CN">
                <a:solidFill>
                  <a:srgbClr val="660033"/>
                </a:solidFill>
                <a:ea typeface="宋体" panose="02010600030101010101" pitchFamily="2" charset="-122"/>
              </a:rPr>
              <a:t>   </a:t>
            </a:r>
            <a:endParaRPr lang="en-US" altLang="zh-CN">
              <a:solidFill>
                <a:srgbClr val="660033"/>
              </a:solidFill>
              <a:ea typeface="宋体" panose="02010600030101010101" pitchFamily="2" charset="-122"/>
            </a:endParaRPr>
          </a:p>
          <a:p>
            <a:r>
              <a:rPr lang="en-US" altLang="zh-CN">
                <a:solidFill>
                  <a:srgbClr val="660033"/>
                </a:solidFill>
                <a:ea typeface="宋体" panose="02010600030101010101" pitchFamily="2" charset="-122"/>
              </a:rPr>
              <a:t>             </a:t>
            </a:r>
            <a:r>
              <a:rPr lang="zh-CN" altLang="zh-CN">
                <a:solidFill>
                  <a:srgbClr val="660033"/>
                </a:solidFill>
                <a:ea typeface="宋体" panose="02010600030101010101" pitchFamily="2" charset="-122"/>
              </a:rPr>
              <a:t>if ( DelAfter( </a:t>
            </a:r>
            <a:r>
              <a:rPr lang="en-US" altLang="zh-CN">
                <a:solidFill>
                  <a:srgbClr val="660033"/>
                </a:solidFill>
                <a:ea typeface="宋体" panose="02010600030101010101" pitchFamily="2" charset="-122"/>
              </a:rPr>
              <a:t>Pb</a:t>
            </a:r>
            <a:r>
              <a:rPr lang="zh-CN" altLang="zh-CN">
                <a:solidFill>
                  <a:srgbClr val="660033"/>
                </a:solidFill>
                <a:ea typeface="宋体" panose="02010600030101010101" pitchFamily="2" charset="-122"/>
              </a:rPr>
              <a:t>, e</a:t>
            </a:r>
            <a:r>
              <a:rPr lang="en-US" altLang="zh-CN">
                <a:solidFill>
                  <a:srgbClr val="660033"/>
                </a:solidFill>
                <a:ea typeface="宋体" panose="02010600030101010101" pitchFamily="2" charset="-122"/>
              </a:rPr>
              <a:t>2</a:t>
            </a:r>
            <a:r>
              <a:rPr lang="zh-CN" altLang="zh-CN">
                <a:solidFill>
                  <a:srgbClr val="660033"/>
                </a:solidFill>
                <a:ea typeface="宋体" panose="02010600030101010101" pitchFamily="2" charset="-122"/>
              </a:rPr>
              <a:t>) ) </a:t>
            </a:r>
            <a:r>
              <a:rPr lang="en-US" altLang="zh-CN">
                <a:solidFill>
                  <a:srgbClr val="660033"/>
                </a:solidFill>
                <a:ea typeface="宋体" panose="02010600030101010101" pitchFamily="2" charset="-122"/>
              </a:rPr>
              <a:t>b</a:t>
            </a:r>
            <a:r>
              <a:rPr lang="zh-CN" altLang="zh-CN">
                <a:solidFill>
                  <a:srgbClr val="660033"/>
                </a:solidFill>
                <a:ea typeface="宋体" panose="02010600030101010101" pitchFamily="2" charset="-122"/>
              </a:rPr>
              <a:t>=</a:t>
            </a:r>
            <a:r>
              <a:rPr lang="en-US" altLang="zh-CN">
                <a:solidFill>
                  <a:srgbClr val="660033"/>
                </a:solidFill>
                <a:ea typeface="宋体" panose="02010600030101010101" pitchFamily="2" charset="-122"/>
              </a:rPr>
              <a:t>e2.expn</a:t>
            </a:r>
            <a:r>
              <a:rPr lang="zh-CN" altLang="zh-CN">
                <a:solidFill>
                  <a:srgbClr val="660033"/>
                </a:solidFill>
                <a:ea typeface="宋体" panose="02010600030101010101" pitchFamily="2" charset="-122"/>
              </a:rPr>
              <a:t>;</a:t>
            </a:r>
            <a:endParaRPr lang="zh-CN" altLang="zh-CN">
              <a:solidFill>
                <a:srgbClr val="660033"/>
              </a:solidFill>
              <a:ea typeface="宋体" panose="02010600030101010101" pitchFamily="2" charset="-122"/>
            </a:endParaRPr>
          </a:p>
          <a:p>
            <a:r>
              <a:rPr lang="zh-CN" altLang="zh-CN">
                <a:solidFill>
                  <a:srgbClr val="660033"/>
                </a:solidFill>
                <a:ea typeface="宋体" panose="02010600030101010101" pitchFamily="2" charset="-122"/>
              </a:rPr>
              <a:t>      </a:t>
            </a:r>
            <a:r>
              <a:rPr lang="en-US" altLang="zh-CN">
                <a:solidFill>
                  <a:srgbClr val="660033"/>
                </a:solidFill>
                <a:ea typeface="宋体" panose="02010600030101010101" pitchFamily="2" charset="-122"/>
              </a:rPr>
              <a:t>        </a:t>
            </a:r>
            <a:r>
              <a:rPr lang="zh-CN" altLang="zh-CN">
                <a:solidFill>
                  <a:srgbClr val="660033"/>
                </a:solidFill>
                <a:ea typeface="宋体" panose="02010600030101010101" pitchFamily="2" charset="-122"/>
              </a:rPr>
              <a:t>else </a:t>
            </a:r>
            <a:r>
              <a:rPr lang="en-US" altLang="zh-CN">
                <a:solidFill>
                  <a:srgbClr val="660033"/>
                </a:solidFill>
                <a:ea typeface="宋体" panose="02010600030101010101" pitchFamily="2" charset="-122"/>
              </a:rPr>
              <a:t>b</a:t>
            </a:r>
            <a:r>
              <a:rPr lang="zh-CN" altLang="zh-CN">
                <a:solidFill>
                  <a:srgbClr val="660033"/>
                </a:solidFill>
                <a:ea typeface="宋体" panose="02010600030101010101" pitchFamily="2" charset="-122"/>
              </a:rPr>
              <a:t> = MAXC;</a:t>
            </a:r>
            <a:endParaRPr lang="en-US" altLang="zh-CN">
              <a:solidFill>
                <a:srgbClr val="660033"/>
              </a:solidFill>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latin typeface="华文楷体" panose="02010600040101010101" pitchFamily="2" charset="-122"/>
              <a:ea typeface="华文楷体" panose="02010600040101010101" pitchFamily="2" charset="-122"/>
            </a:endParaRPr>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latin typeface="华文楷体" panose="02010600040101010101" pitchFamily="2" charset="-122"/>
                <a:ea typeface="华文楷体" panose="02010600040101010101" pitchFamily="2" charset="-122"/>
              </a:defRPr>
            </a:lvl1pPr>
          </a:lstStyle>
          <a:p>
            <a:r>
              <a:rPr kumimoji="0" lang="zh-CN" altLang="en-US" dirty="0"/>
              <a:t>单击此处编辑母版标题样式</a:t>
            </a:r>
            <a:endParaRPr kumimoji="0" lang="en-US" dirty="0"/>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latin typeface="华文楷体" panose="02010600040101010101" pitchFamily="2" charset="-122"/>
                <a:ea typeface="华文楷体" panose="02010600040101010101" pitchFamily="2"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grpSp>
        <p:nvGrpSpPr>
          <p:cNvPr id="2" name="组合 1"/>
          <p:cNvGrpSpPr/>
          <p:nvPr userDrawn="1"/>
        </p:nvGrpSpPr>
        <p:grpSpPr>
          <a:xfrm>
            <a:off x="3322" y="4945912"/>
            <a:ext cx="9147765" cy="1912088"/>
            <a:chOff x="-3765" y="4832896"/>
            <a:chExt cx="9147765" cy="2032192"/>
          </a:xfrm>
        </p:grpSpPr>
        <p:sp>
          <p:nvSpPr>
            <p:cNvPr id="7" name="任意多边形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p:nvPr userDrawn="1"/>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a:xfrm>
            <a:off x="5868144" y="6431864"/>
            <a:ext cx="1920240" cy="365760"/>
          </a:xfrm>
        </p:spPr>
        <p:txBody>
          <a:bodyPr/>
          <a:lstStyle>
            <a:lvl1pPr>
              <a:defRPr>
                <a:solidFill>
                  <a:srgbClr val="FFFFFF"/>
                </a:solidFill>
              </a:defRPr>
            </a:lvl1pPr>
          </a:lstStyle>
          <a:p>
            <a:fld id="{C85226CB-B0C2-4344-A5A0-B57BD90EDBDF}" type="datetimeFigureOut">
              <a:rPr lang="zh-CN" altLang="en-US" smtClean="0"/>
            </a:fld>
            <a:endParaRPr lang="zh-CN" altLang="en-US"/>
          </a:p>
        </p:txBody>
      </p:sp>
      <p:sp>
        <p:nvSpPr>
          <p:cNvPr id="19" name="页脚占位符 18"/>
          <p:cNvSpPr>
            <a:spLocks noGrp="1"/>
          </p:cNvSpPr>
          <p:nvPr>
            <p:ph type="ftr" sz="quarter" idx="11"/>
          </p:nvPr>
        </p:nvSpPr>
        <p:spPr>
          <a:xfrm>
            <a:off x="468785" y="6407943"/>
            <a:ext cx="2350681" cy="365125"/>
          </a:xfrm>
        </p:spPr>
        <p:txBody>
          <a:bodyPr/>
          <a:lstStyle>
            <a:lvl1pPr>
              <a:defRPr>
                <a:solidFill>
                  <a:schemeClr val="accent1">
                    <a:tint val="20000"/>
                  </a:schemeClr>
                </a:solidFill>
              </a:defRPr>
            </a:lvl1pPr>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lstStyle>
          <a:p>
            <a:fld id="{6E1C0148-8E4B-4B2F-95CE-20B4709700A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spcAft>
                <a:spcPts val="1000"/>
              </a:spcAft>
              <a:defRPr>
                <a:solidFill>
                  <a:schemeClr val="tx2">
                    <a:lumMod val="75000"/>
                  </a:schemeClr>
                </a:solidFill>
                <a:latin typeface="华文楷体" panose="02010600040101010101" pitchFamily="2" charset="-122"/>
                <a:ea typeface="华文楷体" panose="02010600040101010101" pitchFamily="2" charset="-122"/>
              </a:defRPr>
            </a:lvl1pPr>
            <a:lvl2pPr>
              <a:spcAft>
                <a:spcPts val="1000"/>
              </a:spcAft>
              <a:defRPr>
                <a:solidFill>
                  <a:schemeClr val="tx2">
                    <a:lumMod val="75000"/>
                  </a:schemeClr>
                </a:solidFill>
                <a:latin typeface="华文楷体" panose="02010600040101010101" pitchFamily="2" charset="-122"/>
                <a:ea typeface="华文楷体" panose="02010600040101010101" pitchFamily="2" charset="-122"/>
              </a:defRPr>
            </a:lvl2pPr>
            <a:lvl3pPr>
              <a:spcAft>
                <a:spcPts val="1000"/>
              </a:spcAft>
              <a:defRPr>
                <a:solidFill>
                  <a:schemeClr val="tx2">
                    <a:lumMod val="75000"/>
                  </a:schemeClr>
                </a:solidFill>
                <a:latin typeface="华文楷体" panose="02010600040101010101" pitchFamily="2" charset="-122"/>
                <a:ea typeface="华文楷体" panose="02010600040101010101" pitchFamily="2" charset="-122"/>
              </a:defRPr>
            </a:lvl3pPr>
          </a:lstStyle>
          <a:p>
            <a:pPr lvl="0" eaLnBrk="1" latinLnBrk="0" hangingPunct="1"/>
            <a:r>
              <a:rPr lang="zh-CN" altLang="en-US" dirty="0"/>
              <a:t>单击此处编辑母版文本样式</a:t>
            </a:r>
            <a:endParaRPr lang="zh-CN" altLang="en-US" dirty="0"/>
          </a:p>
          <a:p>
            <a:pPr lvl="1" eaLnBrk="1" latinLnBrk="0" hangingPunct="1"/>
            <a:r>
              <a:rPr lang="zh-CN" altLang="en-US" dirty="0"/>
              <a:t>第二级</a:t>
            </a:r>
            <a:endParaRPr lang="zh-CN" altLang="en-US" dirty="0"/>
          </a:p>
          <a:p>
            <a:pPr lvl="2" eaLnBrk="1" latinLnBrk="0" hangingPunct="1"/>
            <a:r>
              <a:rPr lang="zh-CN" altLang="en-US"/>
              <a:t>第三级</a:t>
            </a:r>
            <a:endParaRPr lang="zh-CN" altLang="en-US" dirty="0"/>
          </a:p>
        </p:txBody>
      </p:sp>
      <p:sp>
        <p:nvSpPr>
          <p:cNvPr id="4" name="日期占位符 3"/>
          <p:cNvSpPr>
            <a:spLocks noGrp="1"/>
          </p:cNvSpPr>
          <p:nvPr>
            <p:ph type="dt" sz="half" idx="10"/>
          </p:nvPr>
        </p:nvSpPr>
        <p:spPr>
          <a:xfrm>
            <a:off x="6164422" y="6407309"/>
            <a:ext cx="1920240" cy="365760"/>
          </a:xfrm>
        </p:spPr>
        <p:txBody>
          <a:bodyPr/>
          <a:lstStyle>
            <a:lvl1pPr>
              <a:defRPr>
                <a:latin typeface="华文楷体" panose="02010600040101010101" pitchFamily="2" charset="-122"/>
                <a:ea typeface="华文楷体" panose="02010600040101010101" pitchFamily="2" charset="-122"/>
              </a:defRPr>
            </a:lvl1pPr>
          </a:lstStyle>
          <a:p>
            <a:fld id="{C85226CB-B0C2-4344-A5A0-B57BD90EDBDF}" type="datetimeFigureOut">
              <a:rPr lang="zh-CN" altLang="en-US" smtClean="0"/>
            </a:fld>
            <a:endParaRPr lang="zh-CN" altLang="en-US"/>
          </a:p>
        </p:txBody>
      </p:sp>
      <p:sp>
        <p:nvSpPr>
          <p:cNvPr id="5" name="页脚占位符 4"/>
          <p:cNvSpPr>
            <a:spLocks noGrp="1"/>
          </p:cNvSpPr>
          <p:nvPr>
            <p:ph type="ftr" sz="quarter" idx="11"/>
          </p:nvPr>
        </p:nvSpPr>
        <p:spPr>
          <a:xfrm>
            <a:off x="3570447" y="6408579"/>
            <a:ext cx="2350681" cy="365125"/>
          </a:xfrm>
        </p:spPr>
        <p:txBody>
          <a:bodyPr/>
          <a:lstStyle>
            <a:lvl1pPr>
              <a:defRPr>
                <a:latin typeface="华文楷体" panose="02010600040101010101" pitchFamily="2" charset="-122"/>
                <a:ea typeface="华文楷体" panose="02010600040101010101" pitchFamily="2" charset="-122"/>
              </a:defRPr>
            </a:lvl1pPr>
          </a:lstStyle>
          <a:p>
            <a:endParaRPr lang="zh-CN" altLang="en-US"/>
          </a:p>
        </p:txBody>
      </p:sp>
      <p:sp>
        <p:nvSpPr>
          <p:cNvPr id="6" name="灯片编号占位符 5"/>
          <p:cNvSpPr>
            <a:spLocks noGrp="1"/>
          </p:cNvSpPr>
          <p:nvPr>
            <p:ph type="sldNum" sz="quarter" idx="12"/>
          </p:nvPr>
        </p:nvSpPr>
        <p:spPr>
          <a:xfrm>
            <a:off x="8084185" y="6407785"/>
            <a:ext cx="929005" cy="365125"/>
          </a:xfrm>
        </p:spPr>
        <p:txBody>
          <a:bodyPr/>
          <a:lstStyle>
            <a:lvl1pPr>
              <a:defRPr>
                <a:latin typeface="华文楷体" panose="02010600040101010101" pitchFamily="2" charset="-122"/>
                <a:ea typeface="华文楷体" panose="02010600040101010101" pitchFamily="2" charset="-122"/>
              </a:defRPr>
            </a:lvl1pPr>
          </a:lstStyle>
          <a:p>
            <a:fld id="{6E1C0148-8E4B-4B2F-95CE-20B4709700AE}" type="slidenum">
              <a:rPr lang="zh-CN" altLang="en-US" smtClean="0"/>
            </a:fld>
            <a:endParaRPr lang="zh-CN" altLang="en-US" dirty="0"/>
          </a:p>
        </p:txBody>
      </p:sp>
      <p:sp>
        <p:nvSpPr>
          <p:cNvPr id="7" name="标题 6"/>
          <p:cNvSpPr>
            <a:spLocks noGrp="1"/>
          </p:cNvSpPr>
          <p:nvPr>
            <p:ph type="title"/>
          </p:nvPr>
        </p:nvSpPr>
        <p:spPr/>
        <p:txBody>
          <a:bodyPr rtlCol="0"/>
          <a:lstStyle>
            <a:lvl1pPr>
              <a:defRPr>
                <a:latin typeface="华文楷体" panose="02010600040101010101" pitchFamily="2" charset="-122"/>
                <a:ea typeface="华文楷体" panose="02010600040101010101" pitchFamily="2" charset="-122"/>
              </a:defRPr>
            </a:lvl1pPr>
          </a:lstStyle>
          <a:p>
            <a:r>
              <a:rPr kumimoji="0" lang="zh-CN" altLang="en-US" dirty="0"/>
              <a:t>单击此处编辑母版标题样式</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endParaRPr kumimoji="0" lang="zh-CN" alt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fld>
            <a:endParaRPr lang="zh-CN" altLang="en-US"/>
          </a:p>
        </p:txBody>
      </p:sp>
      <p:sp>
        <p:nvSpPr>
          <p:cNvPr id="8" name="标题 7"/>
          <p:cNvSpPr>
            <a:spLocks noGrp="1"/>
          </p:cNvSpPr>
          <p:nvPr>
            <p:ph type="title"/>
          </p:nvPr>
        </p:nvSpPr>
        <p:spPr/>
        <p:txBody>
          <a:bodyPr rtlCol="0"/>
          <a:lstStyle/>
          <a:p>
            <a:r>
              <a:rPr kumimoji="0" lang="zh-CN" altLang="en-US"/>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a:p>
        </p:txBody>
      </p:sp>
      <p:sp>
        <p:nvSpPr>
          <p:cNvPr id="6" name="标题 5"/>
          <p:cNvSpPr>
            <a:spLocks noGrp="1"/>
          </p:cNvSpPr>
          <p:nvPr>
            <p:ph type="title"/>
          </p:nvPr>
        </p:nvSpPr>
        <p:spPr/>
        <p:txBody>
          <a:bodyPr rtlCol="0"/>
          <a:lstStyle/>
          <a:p>
            <a:r>
              <a:rPr kumimoji="0" lang="zh-CN" altLang="en-US"/>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a:xfrm>
            <a:off x="6727032" y="6407944"/>
            <a:ext cx="1920240" cy="365760"/>
          </a:xfrm>
        </p:spPr>
        <p:txBody>
          <a:bodyPr/>
          <a:lstStyle/>
          <a:p>
            <a:fld id="{C85226CB-B0C2-4344-A5A0-B57BD90EDBD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endParaRPr kumimoji="0" lang="zh-CN" altLang="en-US"/>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zh-CN" altLang="en-US"/>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lstStyle>
          <a:p>
            <a:fld id="{C85226CB-B0C2-4344-A5A0-B57BD90EDBDF}" type="datetimeFigureOut">
              <a:rPr lang="zh-CN" altLang="en-US" smtClean="0"/>
            </a:fld>
            <a:endParaRPr lang="zh-CN" altLang="en-US"/>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lstStyle>
          <a:p>
            <a:fld id="{6E1C0148-8E4B-4B2F-95CE-20B4709700AE}" type="slidenum">
              <a:rPr lang="zh-CN" altLang="en-US" smtClean="0"/>
            </a:fld>
            <a:endParaRPr lang="zh-CN" altLang="en-US"/>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zh-CN" altLang="en-US"/>
              <a:t>单击此处编辑母版标题样式</a:t>
            </a:r>
            <a:endParaRPr kumimoji="0" lang="en-US"/>
          </a:p>
        </p:txBody>
      </p:sp>
      <p:sp>
        <p:nvSpPr>
          <p:cNvPr id="8" name="任意多边形 7"/>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任意多边形 8"/>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274638" y="68263"/>
            <a:ext cx="8718550" cy="602773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 name="Rectangle 5"/>
          <p:cNvSpPr>
            <a:spLocks noGrp="1" noChangeArrowheads="1"/>
          </p:cNvSpPr>
          <p:nvPr>
            <p:ph type="sldNum" sz="quarter" idx="10"/>
          </p:nvPr>
        </p:nvSpPr>
        <p:spPr/>
        <p:txBody>
          <a:bodyPr/>
          <a:lstStyle>
            <a:lvl1pPr>
              <a:defRPr/>
            </a:lvl1pPr>
          </a:lstStyle>
          <a:p>
            <a:pPr>
              <a:defRPr/>
            </a:pPr>
            <a:fld id="{5052724B-ECCE-E742-88E8-82136114C3BA}" type="slidenum">
              <a:rPr lang="en-US" altLang="zh-CN"/>
            </a:fld>
            <a:r>
              <a:rPr lang="en-US" altLang="zh-CN"/>
              <a:t>/62</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p:nvPr userDrawn="1"/>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p:nvPr userDrawn="1"/>
        </p:nvSpPr>
        <p:spPr bwMode="auto">
          <a:xfrm>
            <a:off x="557472"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cxnSp>
        <p:nvCxnSpPr>
          <p:cNvPr id="15" name="直接连接符 14"/>
          <p:cNvCxnSpPr/>
          <p:nvPr userDrawn="1"/>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10" name="日期占位符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C85226CB-B0C2-4344-A5A0-B57BD90EDBDF}" type="datetimeFigureOut">
              <a:rPr lang="zh-CN" altLang="en-US" smtClean="0"/>
            </a:fld>
            <a:endParaRPr lang="zh-CN" altLang="en-US"/>
          </a:p>
        </p:txBody>
      </p:sp>
      <p:sp>
        <p:nvSpPr>
          <p:cNvPr id="22" name="页脚占位符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zh-CN" altLang="en-US"/>
          </a:p>
        </p:txBody>
      </p:sp>
      <p:sp>
        <p:nvSpPr>
          <p:cNvPr id="18" name="灯片编号占位符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6E1C0148-8E4B-4B2F-95CE-20B4709700A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slide" Target="slide38.xml"/><Relationship Id="rId3" Type="http://schemas.openxmlformats.org/officeDocument/2006/relationships/slide" Target="slide124.xml"/><Relationship Id="rId2" Type="http://schemas.openxmlformats.org/officeDocument/2006/relationships/slide" Target="slide58.xml"/><Relationship Id="rId1"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slide" Target="slide23.xml"/><Relationship Id="rId4" Type="http://schemas.openxmlformats.org/officeDocument/2006/relationships/slide" Target="slide18.xml"/><Relationship Id="rId3" Type="http://schemas.openxmlformats.org/officeDocument/2006/relationships/slide" Target="slide10.xml"/><Relationship Id="rId2" Type="http://schemas.openxmlformats.org/officeDocument/2006/relationships/slide" Target="slide9.xml"/><Relationship Id="rId1"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slide" Target="slide17.xml"/><Relationship Id="rId6" Type="http://schemas.openxmlformats.org/officeDocument/2006/relationships/slide" Target="slide16.xml"/><Relationship Id="rId5" Type="http://schemas.openxmlformats.org/officeDocument/2006/relationships/slide" Target="slide15.xml"/><Relationship Id="rId4" Type="http://schemas.openxmlformats.org/officeDocument/2006/relationships/slide" Target="slide14.xml"/><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slide" Target="slide7.xml"/><Relationship Id="rId3" Type="http://schemas.openxmlformats.org/officeDocument/2006/relationships/slide" Target="slide22.xml"/><Relationship Id="rId2" Type="http://schemas.openxmlformats.org/officeDocument/2006/relationships/slide" Target="slide21.xml"/><Relationship Id="rId1" Type="http://schemas.openxmlformats.org/officeDocument/2006/relationships/slide" Target="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 Target="slide27.xml"/><Relationship Id="rId1" Type="http://schemas.openxmlformats.org/officeDocument/2006/relationships/slide" Target="slide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oleObject" Target="../embeddings/oleObject5.bin"/><Relationship Id="rId7" Type="http://schemas.openxmlformats.org/officeDocument/2006/relationships/oleObject" Target="../embeddings/oleObject4.bin"/><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 Id="rId3" Type="http://schemas.openxmlformats.org/officeDocument/2006/relationships/oleObject" Target="../embeddings/oleObject2.bin"/><Relationship Id="rId2" Type="http://schemas.openxmlformats.org/officeDocument/2006/relationships/image" Target="../media/image3.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slide" Target="slide52.xml"/><Relationship Id="rId2" Type="http://schemas.openxmlformats.org/officeDocument/2006/relationships/slide" Target="slide46.xml"/><Relationship Id="rId1" Type="http://schemas.openxmlformats.org/officeDocument/2006/relationships/slide" Target="slide4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4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 Target="slide49.xml"/><Relationship Id="rId1" Type="http://schemas.openxmlformats.org/officeDocument/2006/relationships/slide" Target="slide5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wmf"/><Relationship Id="rId7" Type="http://schemas.openxmlformats.org/officeDocument/2006/relationships/oleObject" Target="../embeddings/oleObject9.bin"/><Relationship Id="rId6" Type="http://schemas.openxmlformats.org/officeDocument/2006/relationships/image" Target="../media/image8.wmf"/><Relationship Id="rId5" Type="http://schemas.openxmlformats.org/officeDocument/2006/relationships/oleObject" Target="../embeddings/oleObject8.bin"/><Relationship Id="rId4" Type="http://schemas.openxmlformats.org/officeDocument/2006/relationships/image" Target="../media/image7.wmf"/><Relationship Id="rId3" Type="http://schemas.openxmlformats.org/officeDocument/2006/relationships/oleObject" Target="../embeddings/oleObject7.bin"/><Relationship Id="rId2" Type="http://schemas.openxmlformats.org/officeDocument/2006/relationships/image" Target="../media/image6.wmf"/><Relationship Id="rId10" Type="http://schemas.openxmlformats.org/officeDocument/2006/relationships/vmlDrawing" Target="../drawings/vmlDrawing2.vml"/><Relationship Id="rId1" Type="http://schemas.openxmlformats.org/officeDocument/2006/relationships/oleObject" Target="../embeddings/oleObject6.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56.xml"/></Relationships>
</file>

<file path=ppt/slides/_rels/slide55.xml.rels><?xml version="1.0" encoding="UTF-8" standalone="yes"?>
<Relationships xmlns="http://schemas.openxmlformats.org/package/2006/relationships"><Relationship Id="rId9" Type="http://schemas.openxmlformats.org/officeDocument/2006/relationships/slide" Target="slide42.xml"/><Relationship Id="rId8" Type="http://schemas.openxmlformats.org/officeDocument/2006/relationships/image" Target="../media/image13.wmf"/><Relationship Id="rId7" Type="http://schemas.openxmlformats.org/officeDocument/2006/relationships/oleObject" Target="../embeddings/oleObject13.bin"/><Relationship Id="rId6" Type="http://schemas.openxmlformats.org/officeDocument/2006/relationships/image" Target="../media/image12.wmf"/><Relationship Id="rId5" Type="http://schemas.openxmlformats.org/officeDocument/2006/relationships/oleObject" Target="../embeddings/oleObject12.bin"/><Relationship Id="rId4" Type="http://schemas.openxmlformats.org/officeDocument/2006/relationships/image" Target="../media/image11.wmf"/><Relationship Id="rId3" Type="http://schemas.openxmlformats.org/officeDocument/2006/relationships/oleObject" Target="../embeddings/oleObject11.bin"/><Relationship Id="rId2" Type="http://schemas.openxmlformats.org/officeDocument/2006/relationships/image" Target="../media/image10.wmf"/><Relationship Id="rId11" Type="http://schemas.openxmlformats.org/officeDocument/2006/relationships/vmlDrawing" Target="../drawings/vmlDrawing3.vml"/><Relationship Id="rId10" Type="http://schemas.openxmlformats.org/officeDocument/2006/relationships/slideLayout" Target="../slideLayouts/slideLayout7.xml"/><Relationship Id="rId1" Type="http://schemas.openxmlformats.org/officeDocument/2006/relationships/oleObject" Target="../embeddings/oleObject10.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slide" Target="slide94.xml"/><Relationship Id="rId4" Type="http://schemas.openxmlformats.org/officeDocument/2006/relationships/slide" Target="slide102.xml"/><Relationship Id="rId3" Type="http://schemas.openxmlformats.org/officeDocument/2006/relationships/slide" Target="slide81.xml"/><Relationship Id="rId2" Type="http://schemas.openxmlformats.org/officeDocument/2006/relationships/slide" Target="slide70.xml"/><Relationship Id="rId1" Type="http://schemas.openxmlformats.org/officeDocument/2006/relationships/slide" Target="slide6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7.xml"/><Relationship Id="rId3" Type="http://schemas.openxmlformats.org/officeDocument/2006/relationships/slide" Target="slide59.xml"/><Relationship Id="rId2" Type="http://schemas.openxmlformats.org/officeDocument/2006/relationships/image" Target="../media/image14.wmf"/><Relationship Id="rId1" Type="http://schemas.openxmlformats.org/officeDocument/2006/relationships/oleObject" Target="../embeddings/oleObject14.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5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slide" Target="slide59.xml"/><Relationship Id="rId4" Type="http://schemas.openxmlformats.org/officeDocument/2006/relationships/slide" Target="slide82.xml"/><Relationship Id="rId3" Type="http://schemas.openxmlformats.org/officeDocument/2006/relationships/slide" Target="slide81.xml"/><Relationship Id="rId2" Type="http://schemas.openxmlformats.org/officeDocument/2006/relationships/slide" Target="slide78.xml"/><Relationship Id="rId1" Type="http://schemas.openxmlformats.org/officeDocument/2006/relationships/slide" Target="slide7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9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7.wmf"/><Relationship Id="rId1" Type="http://schemas.openxmlformats.org/officeDocument/2006/relationships/oleObject" Target="../embeddings/oleObject15.bin"/></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5.jpeg"/></Relationships>
</file>

<file path=ppt/slides/_rels/slide1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5.jpeg"/></Relationships>
</file>

<file path=ppt/slides/_rels/slide1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5.jpeg"/></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5.jpeg"/></Relationships>
</file>

<file path=ppt/slides/_rels/slide1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5.jpeg"/></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5.jpeg"/></Relationships>
</file>

<file path=ppt/slides/_rels/slide1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5.jpeg"/></Relationships>
</file>

<file path=ppt/slides/_rels/slide14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slide" Target="slide96.xml"/><Relationship Id="rId2" Type="http://schemas.openxmlformats.org/officeDocument/2006/relationships/image" Target="../media/image18.jpeg"/><Relationship Id="rId1" Type="http://schemas.openxmlformats.org/officeDocument/2006/relationships/image" Target="../media/image15.jpeg"/></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4.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1" name="Text Box 3"/>
          <p:cNvSpPr txBox="1">
            <a:spLocks noChangeArrowheads="1"/>
          </p:cNvSpPr>
          <p:nvPr/>
        </p:nvSpPr>
        <p:spPr bwMode="auto">
          <a:xfrm>
            <a:off x="-152400" y="2603121"/>
            <a:ext cx="9109075" cy="694496"/>
          </a:xfrm>
          <a:prstGeom prst="rect">
            <a:avLst/>
          </a:prstGeom>
          <a:noFill/>
          <a:ln w="12700">
            <a:noFill/>
            <a:miter lim="800000"/>
          </a:ln>
          <a:effectLst/>
        </p:spPr>
        <p:txBody>
          <a:bodyPr lIns="91703" tIns="45852" rIns="91703" bIns="45852" anchor="ctr">
            <a:spAutoFit/>
          </a:bodyPr>
          <a:lstStyle>
            <a:lvl1pPr defTabSz="824230" eaLnBrk="0" hangingPunct="0">
              <a:defRPr kumimoji="1" sz="2000">
                <a:solidFill>
                  <a:schemeClr val="tx1"/>
                </a:solidFill>
                <a:latin typeface="Times New Roman" panose="02020603050405020304" charset="0"/>
                <a:ea typeface="宋体" panose="02010600030101010101" pitchFamily="2" charset="-122"/>
              </a:defRPr>
            </a:lvl1pPr>
            <a:lvl2pPr marL="742950" indent="-285750" defTabSz="824230" eaLnBrk="0" hangingPunct="0">
              <a:defRPr kumimoji="1" sz="2000">
                <a:solidFill>
                  <a:schemeClr val="tx1"/>
                </a:solidFill>
                <a:latin typeface="Times New Roman" panose="02020603050405020304" charset="0"/>
                <a:ea typeface="宋体" panose="02010600030101010101" pitchFamily="2" charset="-122"/>
              </a:defRPr>
            </a:lvl2pPr>
            <a:lvl3pPr marL="1143000" indent="-228600" defTabSz="824230" eaLnBrk="0" hangingPunct="0">
              <a:defRPr kumimoji="1" sz="2000">
                <a:solidFill>
                  <a:schemeClr val="tx1"/>
                </a:solidFill>
                <a:latin typeface="Times New Roman" panose="02020603050405020304" charset="0"/>
                <a:ea typeface="宋体" panose="02010600030101010101" pitchFamily="2" charset="-122"/>
              </a:defRPr>
            </a:lvl3pPr>
            <a:lvl4pPr marL="1600200" indent="-228600" defTabSz="824230" eaLnBrk="0" hangingPunct="0">
              <a:defRPr kumimoji="1" sz="2000">
                <a:solidFill>
                  <a:schemeClr val="tx1"/>
                </a:solidFill>
                <a:latin typeface="Times New Roman" panose="02020603050405020304" charset="0"/>
                <a:ea typeface="宋体" panose="02010600030101010101" pitchFamily="2" charset="-122"/>
              </a:defRPr>
            </a:lvl4pPr>
            <a:lvl5pPr marL="2057400" indent="-228600" defTabSz="824230" eaLnBrk="0" hangingPunct="0">
              <a:defRPr kumimoji="1" sz="2000">
                <a:solidFill>
                  <a:schemeClr val="tx1"/>
                </a:solidFill>
                <a:latin typeface="Times New Roman" panose="02020603050405020304" charset="0"/>
                <a:ea typeface="宋体" panose="02010600030101010101" pitchFamily="2" charset="-122"/>
              </a:defRPr>
            </a:lvl5pPr>
            <a:lvl6pPr marL="25146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ctr">
              <a:lnSpc>
                <a:spcPct val="80000"/>
              </a:lnSpc>
              <a:spcAft>
                <a:spcPct val="20000"/>
              </a:spcAft>
              <a:defRPr/>
            </a:pPr>
            <a:r>
              <a:rPr lang="zh-CN" altLang="zh-CN" sz="4700" b="1" dirty="0">
                <a:effectLst>
                  <a:outerShdw blurRad="38100" dist="38100" dir="2700000" algn="tl">
                    <a:srgbClr val="C0C0C0"/>
                  </a:outerShdw>
                </a:effectLst>
                <a:latin typeface="华文楷体" panose="02010600040101010101" pitchFamily="2" charset="-122"/>
                <a:ea typeface="华文楷体" panose="02010600040101010101" pitchFamily="2" charset="-122"/>
              </a:rPr>
              <a:t>第二章</a:t>
            </a:r>
            <a:r>
              <a:rPr lang="zh-CN" altLang="en-US" sz="4700" b="1" dirty="0">
                <a:effectLst>
                  <a:outerShdw blurRad="38100" dist="38100" dir="2700000" algn="tl">
                    <a:srgbClr val="C0C0C0"/>
                  </a:outerShdw>
                </a:effectLst>
                <a:latin typeface="华文楷体" panose="02010600040101010101" pitchFamily="2" charset="-122"/>
                <a:ea typeface="华文楷体" panose="02010600040101010101" pitchFamily="2" charset="-122"/>
              </a:rPr>
              <a:t> 线性表</a:t>
            </a:r>
            <a:endParaRPr lang="en-US" altLang="zh-CN" sz="4700" b="1" dirty="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2"/>
    </mc:Choice>
    <mc:Fallback>
      <p:transition spd="slow" advTm="42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body" idx="1"/>
          </p:nvPr>
        </p:nvSpPr>
        <p:spPr>
          <a:xfrm>
            <a:off x="228600" y="1471613"/>
            <a:ext cx="8763000" cy="5386387"/>
          </a:xfrm>
        </p:spPr>
        <p:txBody>
          <a:bodyPr>
            <a:normAutofit/>
          </a:bodyPr>
          <a:lstStyle/>
          <a:p>
            <a:pPr>
              <a:lnSpc>
                <a:spcPct val="80000"/>
              </a:lnSpc>
            </a:pPr>
            <a:r>
              <a:rPr lang="zh-CN" altLang="en-US" sz="3200" b="1" dirty="0">
                <a:solidFill>
                  <a:schemeClr val="bg2"/>
                </a:solidFill>
                <a:latin typeface="楷体_GB2312" charset="0"/>
                <a:ea typeface="楷体_GB2312" charset="0"/>
              </a:rPr>
              <a:t> </a:t>
            </a:r>
            <a:r>
              <a:rPr lang="zh-CN" altLang="en-US" sz="3200" b="1" dirty="0">
                <a:solidFill>
                  <a:srgbClr val="990000"/>
                </a:solidFill>
                <a:latin typeface="楷体_GB2312" charset="0"/>
                <a:ea typeface="楷体_GB2312" charset="0"/>
              </a:rPr>
              <a:t>线性表是一种最基本的数据结构，它不仅自己有广泛的应用，也是其它一些数据结构的基础，后面几章即将讨论的栈、队、串等就是线性表的特例。</a:t>
            </a:r>
            <a:endParaRPr lang="zh-CN" altLang="en-US" sz="3200" b="1" dirty="0">
              <a:solidFill>
                <a:srgbClr val="990000"/>
              </a:solidFill>
              <a:latin typeface="楷体_GB2312" charset="0"/>
              <a:ea typeface="楷体_GB2312" charset="0"/>
            </a:endParaRPr>
          </a:p>
          <a:p>
            <a:pPr>
              <a:lnSpc>
                <a:spcPct val="80000"/>
              </a:lnSpc>
            </a:pPr>
            <a:r>
              <a:rPr lang="zh-CN" altLang="en-US" sz="3200" b="1" dirty="0">
                <a:solidFill>
                  <a:srgbClr val="990000"/>
                </a:solidFill>
                <a:latin typeface="楷体_GB2312" charset="0"/>
                <a:ea typeface="楷体_GB2312" charset="0"/>
              </a:rPr>
              <a:t>本章先讨论线性表的逻辑结构与抽象操作，接着给出线性表的两种存贮映射方法，最后以一个经典的问题──一元</a:t>
            </a:r>
            <a:r>
              <a:rPr lang="en-US" altLang="zh-CN" sz="3200" b="1" dirty="0">
                <a:solidFill>
                  <a:srgbClr val="990000"/>
                </a:solidFill>
                <a:latin typeface="楷体_GB2312" charset="0"/>
                <a:ea typeface="楷体_GB2312" charset="0"/>
              </a:rPr>
              <a:t>n</a:t>
            </a:r>
            <a:r>
              <a:rPr lang="zh-CN" altLang="en-US" sz="3200" b="1" dirty="0">
                <a:solidFill>
                  <a:srgbClr val="990000"/>
                </a:solidFill>
                <a:latin typeface="楷体_GB2312" charset="0"/>
                <a:ea typeface="楷体_GB2312" charset="0"/>
              </a:rPr>
              <a:t>次多项式相加说明线性表的应用。</a:t>
            </a:r>
            <a:endParaRPr lang="zh-CN" altLang="en-US" sz="3200" b="1" dirty="0">
              <a:solidFill>
                <a:srgbClr val="990000"/>
              </a:solidFill>
              <a:latin typeface="楷体_GB2312" charset="0"/>
              <a:ea typeface="楷体_GB2312" charset="0"/>
            </a:endParaRPr>
          </a:p>
          <a:p>
            <a:pPr>
              <a:lnSpc>
                <a:spcPct val="80000"/>
              </a:lnSpc>
            </a:pPr>
            <a:r>
              <a:rPr lang="zh-CN" altLang="en-US" sz="3200" b="1" dirty="0">
                <a:solidFill>
                  <a:srgbClr val="990000"/>
                </a:solidFill>
                <a:latin typeface="楷体_GB2312" charset="0"/>
                <a:ea typeface="楷体_GB2312" charset="0"/>
              </a:rPr>
              <a:t>本章虽讨论的是线性表</a:t>
            </a:r>
            <a:r>
              <a:rPr lang="en-US" altLang="zh-CN" sz="3200" b="1" dirty="0">
                <a:solidFill>
                  <a:srgbClr val="990000"/>
                </a:solidFill>
                <a:latin typeface="楷体_GB2312" charset="0"/>
                <a:ea typeface="楷体_GB2312" charset="0"/>
              </a:rPr>
              <a:t>,</a:t>
            </a:r>
            <a:r>
              <a:rPr lang="zh-CN" altLang="en-US" sz="3200" b="1" dirty="0">
                <a:solidFill>
                  <a:srgbClr val="990000"/>
                </a:solidFill>
                <a:latin typeface="楷体_GB2312" charset="0"/>
                <a:ea typeface="楷体_GB2312" charset="0"/>
              </a:rPr>
              <a:t>但涉及的许多问题（如存贮映射的实现、抽象操作的表示与应用方式等）带有一定的普遍性。</a:t>
            </a:r>
            <a:endParaRPr lang="zh-CN" altLang="en-US" sz="3200" b="1" dirty="0">
              <a:solidFill>
                <a:srgbClr val="990000"/>
              </a:solidFill>
              <a:latin typeface="楷体_GB2312" charset="0"/>
              <a:ea typeface="楷体_GB2312"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8" name="Text Box 2"/>
          <p:cNvSpPr txBox="1">
            <a:spLocks noChangeArrowheads="1"/>
          </p:cNvSpPr>
          <p:nvPr/>
        </p:nvSpPr>
        <p:spPr bwMode="auto">
          <a:xfrm>
            <a:off x="381000" y="1219200"/>
            <a:ext cx="7391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just" eaLnBrk="1" hangingPunct="1">
              <a:defRPr/>
            </a:pPr>
            <a:r>
              <a:rPr lang="zh-CN" altLang="en-US" sz="3200" b="1">
                <a:latin typeface="楷体_GB2312" charset="0"/>
                <a:ea typeface="楷体_GB2312" charset="0"/>
              </a:rPr>
              <a:t>线性结构的</a:t>
            </a:r>
            <a:r>
              <a:rPr lang="zh-CN" altLang="en-US" sz="3200" b="1">
                <a:solidFill>
                  <a:srgbClr val="FF0000"/>
                </a:solidFill>
                <a:latin typeface="楷体_GB2312" charset="0"/>
                <a:ea typeface="楷体_GB2312" charset="0"/>
              </a:rPr>
              <a:t>基本特征</a:t>
            </a:r>
            <a:r>
              <a:rPr lang="zh-CN" altLang="en-US" sz="3200" b="1">
                <a:latin typeface="楷体_GB2312" charset="0"/>
                <a:ea typeface="楷体_GB2312" charset="0"/>
              </a:rPr>
              <a:t>为</a:t>
            </a:r>
            <a:r>
              <a:rPr lang="en-US" altLang="zh-CN" sz="3200" b="1">
                <a:latin typeface="楷体_GB2312" charset="0"/>
                <a:ea typeface="楷体_GB2312" charset="0"/>
              </a:rPr>
              <a:t>:</a:t>
            </a:r>
            <a:endParaRPr lang="en-US" altLang="zh-CN" sz="3200"/>
          </a:p>
        </p:txBody>
      </p:sp>
      <p:sp>
        <p:nvSpPr>
          <p:cNvPr id="889859" name="Text Box 3"/>
          <p:cNvSpPr txBox="1">
            <a:spLocks noChangeArrowheads="1"/>
          </p:cNvSpPr>
          <p:nvPr/>
        </p:nvSpPr>
        <p:spPr bwMode="auto">
          <a:xfrm>
            <a:off x="464368" y="2852936"/>
            <a:ext cx="9220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dirty="0">
                <a:ea typeface="楷体_GB2312" charset="0"/>
              </a:rPr>
              <a:t>1</a:t>
            </a:r>
            <a:r>
              <a:rPr lang="zh-CN" altLang="en-US" sz="3200" b="1" dirty="0">
                <a:ea typeface="楷体_GB2312" charset="0"/>
              </a:rPr>
              <a:t>．集合中必存在唯一的一个</a:t>
            </a:r>
            <a:r>
              <a:rPr lang="zh-CN" altLang="en-US" sz="3200" b="1" dirty="0">
                <a:solidFill>
                  <a:srgbClr val="FF0000"/>
                </a:solidFill>
                <a:ea typeface="楷体_GB2312" charset="0"/>
              </a:rPr>
              <a:t>“第一元素”</a:t>
            </a:r>
            <a:r>
              <a:rPr lang="zh-CN" altLang="en-US" sz="3200" b="1" dirty="0">
                <a:ea typeface="楷体_GB2312" charset="0"/>
              </a:rPr>
              <a:t>；</a:t>
            </a:r>
            <a:endParaRPr lang="zh-CN" altLang="en-US" sz="3200" b="1" dirty="0">
              <a:ea typeface="楷体_GB2312" charset="0"/>
            </a:endParaRPr>
          </a:p>
        </p:txBody>
      </p:sp>
      <p:sp>
        <p:nvSpPr>
          <p:cNvPr id="889860" name="Text Box 4"/>
          <p:cNvSpPr txBox="1">
            <a:spLocks noChangeArrowheads="1"/>
          </p:cNvSpPr>
          <p:nvPr/>
        </p:nvSpPr>
        <p:spPr bwMode="auto">
          <a:xfrm>
            <a:off x="464368" y="3659386"/>
            <a:ext cx="9220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a:ea typeface="楷体_GB2312" charset="0"/>
              </a:rPr>
              <a:t>2</a:t>
            </a:r>
            <a:r>
              <a:rPr lang="zh-CN" altLang="en-US" sz="3200" b="1">
                <a:ea typeface="楷体_GB2312" charset="0"/>
              </a:rPr>
              <a:t>．集合中必存在唯一的一个 </a:t>
            </a:r>
            <a:r>
              <a:rPr lang="zh-CN" altLang="en-US" sz="3200" b="1">
                <a:solidFill>
                  <a:srgbClr val="FF0000"/>
                </a:solidFill>
                <a:ea typeface="楷体_GB2312" charset="0"/>
              </a:rPr>
              <a:t>“最后元素” </a:t>
            </a:r>
            <a:r>
              <a:rPr lang="zh-CN" altLang="en-US" sz="3200" b="1">
                <a:ea typeface="楷体_GB2312" charset="0"/>
              </a:rPr>
              <a:t>；</a:t>
            </a:r>
            <a:endParaRPr lang="zh-CN" altLang="en-US" sz="3200" b="1">
              <a:ea typeface="楷体_GB2312" charset="0"/>
            </a:endParaRPr>
          </a:p>
        </p:txBody>
      </p:sp>
      <p:sp>
        <p:nvSpPr>
          <p:cNvPr id="889861" name="Text Box 5"/>
          <p:cNvSpPr txBox="1">
            <a:spLocks noChangeArrowheads="1"/>
          </p:cNvSpPr>
          <p:nvPr/>
        </p:nvSpPr>
        <p:spPr bwMode="auto">
          <a:xfrm>
            <a:off x="464368" y="4421386"/>
            <a:ext cx="8534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a:ea typeface="楷体_GB2312" charset="0"/>
              </a:rPr>
              <a:t>3</a:t>
            </a:r>
            <a:r>
              <a:rPr lang="zh-CN" altLang="en-US" sz="3200" b="1">
                <a:ea typeface="楷体_GB2312" charset="0"/>
              </a:rPr>
              <a:t>．除最后元素在外，均有 </a:t>
            </a:r>
            <a:r>
              <a:rPr lang="zh-CN" altLang="en-US" sz="3200" b="1">
                <a:solidFill>
                  <a:srgbClr val="FF0000"/>
                </a:solidFill>
                <a:ea typeface="楷体_GB2312" charset="0"/>
              </a:rPr>
              <a:t>唯一的后继</a:t>
            </a:r>
            <a:r>
              <a:rPr lang="zh-CN" altLang="en-US" sz="3200" b="1">
                <a:ea typeface="楷体_GB2312" charset="0"/>
              </a:rPr>
              <a:t>；</a:t>
            </a:r>
            <a:endParaRPr lang="zh-CN" altLang="en-US" sz="3200" b="1">
              <a:ea typeface="楷体_GB2312" charset="0"/>
            </a:endParaRPr>
          </a:p>
        </p:txBody>
      </p:sp>
      <p:sp>
        <p:nvSpPr>
          <p:cNvPr id="889862" name="Text Box 6"/>
          <p:cNvSpPr txBox="1">
            <a:spLocks noChangeArrowheads="1"/>
          </p:cNvSpPr>
          <p:nvPr/>
        </p:nvSpPr>
        <p:spPr bwMode="auto">
          <a:xfrm>
            <a:off x="464368" y="5183386"/>
            <a:ext cx="8534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a:ea typeface="楷体_GB2312" charset="0"/>
              </a:rPr>
              <a:t>4</a:t>
            </a:r>
            <a:r>
              <a:rPr lang="zh-CN" altLang="en-US" sz="3200" b="1">
                <a:ea typeface="楷体_GB2312" charset="0"/>
              </a:rPr>
              <a:t>．除第一元素之外，均有 </a:t>
            </a:r>
            <a:r>
              <a:rPr lang="zh-CN" altLang="en-US" sz="3200" b="1">
                <a:solidFill>
                  <a:srgbClr val="FF0000"/>
                </a:solidFill>
                <a:ea typeface="楷体_GB2312" charset="0"/>
              </a:rPr>
              <a:t>唯一的前驱</a:t>
            </a:r>
            <a:r>
              <a:rPr lang="zh-CN" altLang="en-US" sz="3200" b="1">
                <a:ea typeface="楷体_GB2312" charset="0"/>
              </a:rPr>
              <a:t>。</a:t>
            </a:r>
            <a:endParaRPr lang="zh-CN" altLang="en-US" sz="3200"/>
          </a:p>
        </p:txBody>
      </p:sp>
      <p:sp>
        <p:nvSpPr>
          <p:cNvPr id="889863" name="Text Box 7"/>
          <p:cNvSpPr txBox="1">
            <a:spLocks noChangeArrowheads="1"/>
          </p:cNvSpPr>
          <p:nvPr/>
        </p:nvSpPr>
        <p:spPr bwMode="auto">
          <a:xfrm>
            <a:off x="179512" y="2133600"/>
            <a:ext cx="883927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dirty="0">
                <a:solidFill>
                  <a:schemeClr val="bg2"/>
                </a:solidFill>
                <a:latin typeface="楷体_GB2312" charset="0"/>
                <a:ea typeface="楷体_GB2312" charset="0"/>
              </a:rPr>
              <a:t>   </a:t>
            </a:r>
            <a:r>
              <a:rPr lang="zh-CN" altLang="en-US" sz="3200" b="1" dirty="0">
                <a:solidFill>
                  <a:schemeClr val="accent1">
                    <a:lumMod val="50000"/>
                  </a:schemeClr>
                </a:solidFill>
                <a:latin typeface="楷体_GB2312" charset="0"/>
                <a:ea typeface="楷体_GB2312" charset="0"/>
              </a:rPr>
              <a:t>线性结构</a:t>
            </a:r>
            <a:r>
              <a:rPr lang="zh-CN" altLang="en-US" sz="3200" b="1" dirty="0">
                <a:latin typeface="楷体_GB2312" charset="0"/>
                <a:ea typeface="楷体_GB2312" charset="0"/>
              </a:rPr>
              <a:t>是一个数据元素的</a:t>
            </a:r>
            <a:r>
              <a:rPr lang="zh-CN" altLang="en-US" sz="3200" b="1" dirty="0">
                <a:solidFill>
                  <a:srgbClr val="FF0000"/>
                </a:solidFill>
                <a:latin typeface="楷体_GB2312" charset="0"/>
                <a:ea typeface="楷体_GB2312" charset="0"/>
              </a:rPr>
              <a:t>有序（次序）集</a:t>
            </a:r>
            <a:endParaRPr lang="zh-CN" altLang="en-US" sz="3200" b="1" dirty="0">
              <a:solidFill>
                <a:srgbClr val="FF0000"/>
              </a:solidFill>
              <a:latin typeface="楷体_GB2312" charset="0"/>
              <a:ea typeface="楷体_GB2312" charset="0"/>
            </a:endParaRPr>
          </a:p>
        </p:txBody>
      </p:sp>
      <p:sp>
        <p:nvSpPr>
          <p:cNvPr id="889864" name="Text Box 8"/>
          <p:cNvSpPr txBox="1">
            <a:spLocks noChangeArrowheads="1"/>
          </p:cNvSpPr>
          <p:nvPr/>
        </p:nvSpPr>
        <p:spPr bwMode="auto">
          <a:xfrm>
            <a:off x="1103313" y="228600"/>
            <a:ext cx="5941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dirty="0">
                <a:solidFill>
                  <a:srgbClr val="003399"/>
                </a:solidFill>
                <a:ea typeface="楷体_GB2312" charset="0"/>
              </a:rPr>
              <a:t>线性表</a:t>
            </a:r>
            <a:r>
              <a:rPr lang="zh-CN" altLang="en-US" sz="3200" dirty="0">
                <a:ea typeface="楷体_GB2312" charset="0"/>
              </a:rPr>
              <a:t>是一种最简单的</a:t>
            </a:r>
            <a:r>
              <a:rPr lang="zh-CN" altLang="en-US" sz="3200" b="1" dirty="0">
                <a:solidFill>
                  <a:srgbClr val="CC0000"/>
                </a:solidFill>
                <a:ea typeface="楷体_GB2312" charset="0"/>
              </a:rPr>
              <a:t>线性结构</a:t>
            </a:r>
            <a:endParaRPr lang="zh-CN" altLang="en-US" sz="32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9858"/>
                                        </p:tgtEl>
                                        <p:attrNameLst>
                                          <p:attrName>style.visibility</p:attrName>
                                        </p:attrNameLst>
                                      </p:cBhvr>
                                      <p:to>
                                        <p:strVal val="visible"/>
                                      </p:to>
                                    </p:set>
                                    <p:animEffect transition="in" filter="wipe(left)">
                                      <p:cBhvr>
                                        <p:cTn id="7" dur="500"/>
                                        <p:tgtEl>
                                          <p:spTgt spid="8898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9863"/>
                                        </p:tgtEl>
                                        <p:attrNameLst>
                                          <p:attrName>style.visibility</p:attrName>
                                        </p:attrNameLst>
                                      </p:cBhvr>
                                      <p:to>
                                        <p:strVal val="visible"/>
                                      </p:to>
                                    </p:set>
                                    <p:animEffect transition="in" filter="wipe(left)">
                                      <p:cBhvr>
                                        <p:cTn id="12" dur="500"/>
                                        <p:tgtEl>
                                          <p:spTgt spid="8898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9859"/>
                                        </p:tgtEl>
                                        <p:attrNameLst>
                                          <p:attrName>style.visibility</p:attrName>
                                        </p:attrNameLst>
                                      </p:cBhvr>
                                      <p:to>
                                        <p:strVal val="visible"/>
                                      </p:to>
                                    </p:set>
                                    <p:animEffect transition="in" filter="wipe(left)">
                                      <p:cBhvr>
                                        <p:cTn id="17" dur="500"/>
                                        <p:tgtEl>
                                          <p:spTgt spid="88985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9860"/>
                                        </p:tgtEl>
                                        <p:attrNameLst>
                                          <p:attrName>style.visibility</p:attrName>
                                        </p:attrNameLst>
                                      </p:cBhvr>
                                      <p:to>
                                        <p:strVal val="visible"/>
                                      </p:to>
                                    </p:set>
                                    <p:animEffect transition="in" filter="wipe(left)">
                                      <p:cBhvr>
                                        <p:cTn id="22" dur="500"/>
                                        <p:tgtEl>
                                          <p:spTgt spid="8898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89861"/>
                                        </p:tgtEl>
                                        <p:attrNameLst>
                                          <p:attrName>style.visibility</p:attrName>
                                        </p:attrNameLst>
                                      </p:cBhvr>
                                      <p:to>
                                        <p:strVal val="visible"/>
                                      </p:to>
                                    </p:set>
                                    <p:animEffect transition="in" filter="wipe(left)">
                                      <p:cBhvr>
                                        <p:cTn id="27" dur="500"/>
                                        <p:tgtEl>
                                          <p:spTgt spid="88986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89862"/>
                                        </p:tgtEl>
                                        <p:attrNameLst>
                                          <p:attrName>style.visibility</p:attrName>
                                        </p:attrNameLst>
                                      </p:cBhvr>
                                      <p:to>
                                        <p:strVal val="visible"/>
                                      </p:to>
                                    </p:set>
                                    <p:animEffect transition="in" filter="wipe(left)">
                                      <p:cBhvr>
                                        <p:cTn id="32" dur="500"/>
                                        <p:tgtEl>
                                          <p:spTgt spid="889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9858" grpId="0" autoUpdateAnimBg="0"/>
      <p:bldP spid="889859" grpId="0" autoUpdateAnimBg="0"/>
      <p:bldP spid="889860" grpId="0" autoUpdateAnimBg="0"/>
      <p:bldP spid="889861" grpId="0" autoUpdateAnimBg="0"/>
      <p:bldP spid="889862" grpId="0" autoUpdateAnimBg="0"/>
      <p:bldP spid="88986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Text Box 2">
            <a:hlinkClick r:id="rId1" action="ppaction://hlinksldjump"/>
          </p:cNvPr>
          <p:cNvSpPr txBox="1">
            <a:spLocks noChangeArrowheads="1"/>
          </p:cNvSpPr>
          <p:nvPr/>
        </p:nvSpPr>
        <p:spPr bwMode="auto">
          <a:xfrm>
            <a:off x="543744" y="1311275"/>
            <a:ext cx="56324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009999"/>
                </a:solidFill>
                <a:ea typeface="楷体_GB2312" charset="0"/>
              </a:rPr>
              <a:t>2.1 </a:t>
            </a:r>
            <a:r>
              <a:rPr lang="en-US" altLang="zh-CN" sz="4400">
                <a:solidFill>
                  <a:srgbClr val="009999"/>
                </a:solidFill>
                <a:ea typeface="楷体_GB2312" charset="0"/>
              </a:rPr>
              <a:t> </a:t>
            </a:r>
            <a:r>
              <a:rPr lang="zh-CN" altLang="en-US" sz="4400" b="1">
                <a:solidFill>
                  <a:srgbClr val="009999"/>
                </a:solidFill>
                <a:ea typeface="楷体_GB2312" charset="0"/>
              </a:rPr>
              <a:t>线性表的类型定义</a:t>
            </a:r>
            <a:endParaRPr lang="zh-CN" altLang="en-US" sz="4400"/>
          </a:p>
        </p:txBody>
      </p:sp>
      <p:sp>
        <p:nvSpPr>
          <p:cNvPr id="890883" name="Text Box 3">
            <a:hlinkClick r:id="rId2" action="ppaction://hlinksldjump"/>
          </p:cNvPr>
          <p:cNvSpPr txBox="1">
            <a:spLocks noChangeArrowheads="1"/>
          </p:cNvSpPr>
          <p:nvPr/>
        </p:nvSpPr>
        <p:spPr bwMode="auto">
          <a:xfrm>
            <a:off x="467544" y="4114800"/>
            <a:ext cx="730885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009999"/>
                </a:solidFill>
                <a:ea typeface="楷体_GB2312" charset="0"/>
              </a:rPr>
              <a:t>2.3  </a:t>
            </a:r>
            <a:r>
              <a:rPr lang="zh-CN" altLang="en-US" sz="4400" b="1">
                <a:solidFill>
                  <a:srgbClr val="009999"/>
                </a:solidFill>
                <a:ea typeface="楷体_GB2312" charset="0"/>
              </a:rPr>
              <a:t>线性表类型的实现</a:t>
            </a:r>
            <a:endParaRPr lang="zh-CN" altLang="en-US" sz="4400" b="1">
              <a:solidFill>
                <a:srgbClr val="009999"/>
              </a:solidFill>
              <a:ea typeface="楷体_GB2312" charset="0"/>
            </a:endParaRPr>
          </a:p>
          <a:p>
            <a:pPr eaLnBrk="1" hangingPunct="1">
              <a:defRPr/>
            </a:pPr>
            <a:r>
              <a:rPr lang="zh-CN" altLang="en-US" sz="4400" b="1">
                <a:solidFill>
                  <a:srgbClr val="009999"/>
                </a:solidFill>
                <a:ea typeface="楷体_GB2312" charset="0"/>
              </a:rPr>
              <a:t>                              </a:t>
            </a:r>
            <a:r>
              <a:rPr lang="zh-CN" altLang="en-US" sz="4400" b="1">
                <a:solidFill>
                  <a:srgbClr val="009999"/>
                </a:solidFill>
                <a:ea typeface="楷体_GB2312" charset="0"/>
                <a:sym typeface="Symbol" panose="05050102010706020507" charset="2"/>
              </a:rPr>
              <a:t></a:t>
            </a:r>
            <a:r>
              <a:rPr lang="zh-CN" altLang="en-US" sz="4400" b="1">
                <a:solidFill>
                  <a:srgbClr val="009999"/>
                </a:solidFill>
                <a:ea typeface="楷体_GB2312" charset="0"/>
              </a:rPr>
              <a:t> 链式映象</a:t>
            </a:r>
            <a:endParaRPr lang="zh-CN" altLang="en-US" sz="5400"/>
          </a:p>
        </p:txBody>
      </p:sp>
      <p:sp>
        <p:nvSpPr>
          <p:cNvPr id="890884" name="Text Box 4">
            <a:hlinkClick r:id="rId3" action="ppaction://hlinksldjump"/>
          </p:cNvPr>
          <p:cNvSpPr txBox="1">
            <a:spLocks noChangeArrowheads="1"/>
          </p:cNvSpPr>
          <p:nvPr/>
        </p:nvSpPr>
        <p:spPr bwMode="auto">
          <a:xfrm>
            <a:off x="543744" y="5486400"/>
            <a:ext cx="5670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009999"/>
                </a:solidFill>
                <a:ea typeface="楷体_GB2312" charset="0"/>
              </a:rPr>
              <a:t>2.4  </a:t>
            </a:r>
            <a:r>
              <a:rPr lang="zh-CN" altLang="en-US" sz="4400" b="1">
                <a:solidFill>
                  <a:srgbClr val="009999"/>
                </a:solidFill>
                <a:latin typeface="楷体_GB2312" charset="0"/>
                <a:ea typeface="楷体_GB2312" charset="0"/>
              </a:rPr>
              <a:t>一元多项式的表示</a:t>
            </a:r>
            <a:endParaRPr lang="zh-CN" altLang="en-US" sz="2400" b="1">
              <a:solidFill>
                <a:srgbClr val="0000FF"/>
              </a:solidFill>
              <a:latin typeface="楷体_GB2312" charset="0"/>
              <a:ea typeface="楷体_GB2312" charset="0"/>
            </a:endParaRPr>
          </a:p>
        </p:txBody>
      </p:sp>
      <p:sp>
        <p:nvSpPr>
          <p:cNvPr id="890885" name="Text Box 5">
            <a:hlinkClick r:id="rId4" action="ppaction://hlinksldjump"/>
          </p:cNvPr>
          <p:cNvSpPr txBox="1">
            <a:spLocks noChangeArrowheads="1"/>
          </p:cNvSpPr>
          <p:nvPr/>
        </p:nvSpPr>
        <p:spPr bwMode="auto">
          <a:xfrm>
            <a:off x="467544" y="2362200"/>
            <a:ext cx="744855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dirty="0">
                <a:solidFill>
                  <a:srgbClr val="009999"/>
                </a:solidFill>
                <a:ea typeface="楷体_GB2312" charset="0"/>
              </a:rPr>
              <a:t>2.2  </a:t>
            </a:r>
            <a:r>
              <a:rPr lang="zh-CN" altLang="en-US" sz="4400" b="1" dirty="0">
                <a:solidFill>
                  <a:srgbClr val="009999"/>
                </a:solidFill>
                <a:ea typeface="楷体_GB2312" charset="0"/>
              </a:rPr>
              <a:t>线性表类型的实现</a:t>
            </a:r>
            <a:endParaRPr lang="zh-CN" altLang="en-US" sz="4400" b="1" dirty="0">
              <a:solidFill>
                <a:srgbClr val="009999"/>
              </a:solidFill>
              <a:ea typeface="楷体_GB2312" charset="0"/>
            </a:endParaRPr>
          </a:p>
          <a:p>
            <a:pPr eaLnBrk="1" hangingPunct="1">
              <a:defRPr/>
            </a:pPr>
            <a:r>
              <a:rPr lang="zh-CN" altLang="en-US" sz="4400" b="1" dirty="0">
                <a:solidFill>
                  <a:srgbClr val="009999"/>
                </a:solidFill>
                <a:ea typeface="楷体_GB2312" charset="0"/>
              </a:rPr>
              <a:t>                               </a:t>
            </a:r>
            <a:r>
              <a:rPr lang="zh-CN" altLang="en-US" sz="4400" b="1" dirty="0">
                <a:solidFill>
                  <a:srgbClr val="009999"/>
                </a:solidFill>
                <a:ea typeface="楷体_GB2312" charset="0"/>
                <a:sym typeface="Symbol" panose="05050102010706020507" charset="2"/>
              </a:rPr>
              <a:t></a:t>
            </a:r>
            <a:r>
              <a:rPr lang="zh-CN" altLang="en-US" sz="4400" b="1" dirty="0">
                <a:solidFill>
                  <a:srgbClr val="009999"/>
                </a:solidFill>
                <a:ea typeface="楷体_GB2312" charset="0"/>
              </a:rPr>
              <a:t> 顺序映象</a:t>
            </a:r>
            <a:endParaRPr lang="zh-CN" altLang="en-US" sz="2400" dirty="0"/>
          </a:p>
        </p:txBody>
      </p:sp>
      <p:sp>
        <p:nvSpPr>
          <p:cNvPr id="890886" name="AutoShape 6">
            <a:hlinkClick r:id="" action="ppaction://hlinkshowjump?jump=lastslide" highlightClick="1"/>
          </p:cNvPr>
          <p:cNvSpPr>
            <a:spLocks noChangeArrowheads="1"/>
          </p:cNvSpPr>
          <p:nvPr/>
        </p:nvSpPr>
        <p:spPr bwMode="auto">
          <a:xfrm>
            <a:off x="7706544" y="6096000"/>
            <a:ext cx="685800" cy="381000"/>
          </a:xfrm>
          <a:prstGeom prst="actionButtonEnd">
            <a:avLst/>
          </a:prstGeom>
          <a:solidFill>
            <a:schemeClr val="bg2"/>
          </a:solidFill>
          <a:ln>
            <a:noFill/>
          </a:ln>
          <a:effectLst>
            <a:prstShdw prst="shdw17" dist="17961" dir="2700000">
              <a:srgbClr val="4D4D4D">
                <a:alpha val="74997"/>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eaLnBrk="1" hangingPunct="1">
              <a:defRPr/>
            </a:pPr>
            <a:endParaRPr lang="zh-CN" alt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Text Box 2"/>
          <p:cNvSpPr txBox="1">
            <a:spLocks noChangeArrowheads="1"/>
          </p:cNvSpPr>
          <p:nvPr/>
        </p:nvSpPr>
        <p:spPr bwMode="auto">
          <a:xfrm>
            <a:off x="381000" y="1066800"/>
            <a:ext cx="8375650"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lnSpc>
                <a:spcPct val="125000"/>
              </a:lnSpc>
              <a:defRPr/>
            </a:pPr>
            <a:r>
              <a:rPr lang="en-US" altLang="zh-CN" sz="8000" b="1">
                <a:solidFill>
                  <a:srgbClr val="990000"/>
                </a:solidFill>
                <a:ea typeface="楷体_GB2312" charset="0"/>
              </a:rPr>
              <a:t>2.1</a:t>
            </a:r>
            <a:endParaRPr lang="en-US" altLang="zh-CN" sz="8000" b="1">
              <a:solidFill>
                <a:srgbClr val="990000"/>
              </a:solidFill>
              <a:latin typeface="楷体_GB2312" charset="0"/>
              <a:ea typeface="楷体_GB2312" charset="0"/>
            </a:endParaRPr>
          </a:p>
          <a:p>
            <a:pPr algn="ctr" eaLnBrk="1" hangingPunct="1">
              <a:lnSpc>
                <a:spcPct val="125000"/>
              </a:lnSpc>
              <a:defRPr/>
            </a:pPr>
            <a:r>
              <a:rPr lang="zh-CN" altLang="en-US" sz="8000" b="1">
                <a:solidFill>
                  <a:srgbClr val="990000"/>
                </a:solidFill>
                <a:latin typeface="楷体_GB2312" charset="0"/>
                <a:ea typeface="楷体_GB2312" charset="0"/>
              </a:rPr>
              <a:t>线性表的类型定义</a:t>
            </a:r>
            <a:endParaRPr lang="zh-CN" altLang="en-US" sz="800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Text Box 2"/>
          <p:cNvSpPr txBox="1">
            <a:spLocks noChangeArrowheads="1"/>
          </p:cNvSpPr>
          <p:nvPr/>
        </p:nvSpPr>
        <p:spPr bwMode="auto">
          <a:xfrm>
            <a:off x="755576" y="279400"/>
            <a:ext cx="788389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dirty="0">
                <a:latin typeface="楷体_GB2312" charset="0"/>
                <a:ea typeface="楷体_GB2312" charset="0"/>
              </a:rPr>
              <a:t>抽象数据类型</a:t>
            </a:r>
            <a:r>
              <a:rPr lang="zh-CN" altLang="en-US" sz="4000" b="1" dirty="0">
                <a:solidFill>
                  <a:schemeClr val="bg2">
                    <a:lumMod val="25000"/>
                  </a:schemeClr>
                </a:solidFill>
                <a:latin typeface="楷体_GB2312" charset="0"/>
                <a:ea typeface="楷体_GB2312" charset="0"/>
              </a:rPr>
              <a:t>线性表</a:t>
            </a:r>
            <a:r>
              <a:rPr lang="zh-CN" altLang="en-US" sz="4000" dirty="0">
                <a:latin typeface="楷体_GB2312" charset="0"/>
                <a:ea typeface="楷体_GB2312" charset="0"/>
              </a:rPr>
              <a:t>的定义如下：</a:t>
            </a:r>
            <a:endParaRPr lang="zh-CN" altLang="en-US" sz="4000" dirty="0">
              <a:latin typeface="楷体_GB2312" charset="0"/>
              <a:ea typeface="楷体_GB2312" charset="0"/>
            </a:endParaRPr>
          </a:p>
        </p:txBody>
      </p:sp>
      <p:sp>
        <p:nvSpPr>
          <p:cNvPr id="892931" name="Text Box 3"/>
          <p:cNvSpPr txBox="1">
            <a:spLocks noChangeArrowheads="1"/>
          </p:cNvSpPr>
          <p:nvPr/>
        </p:nvSpPr>
        <p:spPr bwMode="auto">
          <a:xfrm>
            <a:off x="787326" y="1282700"/>
            <a:ext cx="25574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dirty="0">
                <a:ea typeface="楷体_GB2312" charset="0"/>
              </a:rPr>
              <a:t>ADT List {</a:t>
            </a:r>
            <a:endParaRPr lang="en-US" altLang="zh-CN" sz="3200" dirty="0"/>
          </a:p>
        </p:txBody>
      </p:sp>
      <p:sp>
        <p:nvSpPr>
          <p:cNvPr id="892932" name="Text Box 4"/>
          <p:cNvSpPr txBox="1">
            <a:spLocks noChangeArrowheads="1"/>
          </p:cNvSpPr>
          <p:nvPr/>
        </p:nvSpPr>
        <p:spPr bwMode="auto">
          <a:xfrm>
            <a:off x="863526" y="1816100"/>
            <a:ext cx="2546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a:solidFill>
                  <a:srgbClr val="FF0000"/>
                </a:solidFill>
                <a:latin typeface="楷体_GB2312" charset="0"/>
                <a:ea typeface="楷体_GB2312" charset="0"/>
              </a:rPr>
              <a:t> </a:t>
            </a:r>
            <a:r>
              <a:rPr lang="zh-CN" altLang="en-US" sz="3600" b="1">
                <a:solidFill>
                  <a:srgbClr val="FF0000"/>
                </a:solidFill>
                <a:latin typeface="楷体_GB2312" charset="0"/>
                <a:ea typeface="楷体_GB2312" charset="0"/>
              </a:rPr>
              <a:t>数据对象</a:t>
            </a:r>
            <a:r>
              <a:rPr lang="zh-CN" altLang="en-US" sz="3200">
                <a:solidFill>
                  <a:srgbClr val="FF0000"/>
                </a:solidFill>
                <a:latin typeface="楷体_GB2312" charset="0"/>
                <a:ea typeface="楷体_GB2312" charset="0"/>
              </a:rPr>
              <a:t>：</a:t>
            </a:r>
            <a:endParaRPr lang="zh-CN" altLang="en-US" sz="3600">
              <a:latin typeface="楷体_GB2312" charset="0"/>
              <a:ea typeface="楷体_GB2312" charset="0"/>
            </a:endParaRPr>
          </a:p>
        </p:txBody>
      </p:sp>
      <p:sp>
        <p:nvSpPr>
          <p:cNvPr id="892933" name="Text Box 5"/>
          <p:cNvSpPr txBox="1">
            <a:spLocks noChangeArrowheads="1"/>
          </p:cNvSpPr>
          <p:nvPr/>
        </p:nvSpPr>
        <p:spPr bwMode="auto">
          <a:xfrm>
            <a:off x="1244526" y="2335213"/>
            <a:ext cx="7038975"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a:ea typeface="楷体_GB2312" charset="0"/>
              </a:rPr>
              <a:t>D</a:t>
            </a:r>
            <a:r>
              <a:rPr lang="zh-CN" altLang="en-US" sz="3200">
                <a:ea typeface="楷体_GB2312" charset="0"/>
              </a:rPr>
              <a:t>＝</a:t>
            </a:r>
            <a:r>
              <a:rPr lang="en-US" altLang="zh-CN" sz="3200">
                <a:ea typeface="楷体_GB2312" charset="0"/>
              </a:rPr>
              <a:t>{ a</a:t>
            </a:r>
            <a:r>
              <a:rPr lang="en-US" altLang="zh-CN" sz="3200" baseline="-25000">
                <a:ea typeface="楷体_GB2312" charset="0"/>
              </a:rPr>
              <a:t>i</a:t>
            </a:r>
            <a:r>
              <a:rPr lang="en-US" altLang="zh-CN" sz="3200">
                <a:ea typeface="楷体_GB2312" charset="0"/>
              </a:rPr>
              <a:t> | a</a:t>
            </a:r>
            <a:r>
              <a:rPr lang="en-US" altLang="zh-CN" sz="3200" baseline="-25000">
                <a:ea typeface="楷体_GB2312" charset="0"/>
              </a:rPr>
              <a:t>i</a:t>
            </a:r>
            <a:r>
              <a:rPr lang="en-US" altLang="zh-CN" sz="3200">
                <a:ea typeface="楷体_GB2312" charset="0"/>
              </a:rPr>
              <a:t> ∈ElemSet, i=1,2,...,n,  n≥0 }</a:t>
            </a:r>
            <a:endParaRPr lang="en-US" altLang="zh-CN" sz="3200">
              <a:ea typeface="楷体_GB2312" charset="0"/>
            </a:endParaRPr>
          </a:p>
          <a:p>
            <a:pPr eaLnBrk="1" hangingPunct="1">
              <a:lnSpc>
                <a:spcPct val="120000"/>
              </a:lnSpc>
              <a:defRPr/>
            </a:pPr>
            <a:r>
              <a:rPr lang="en-US" altLang="zh-CN" sz="3200">
                <a:ea typeface="楷体_GB2312" charset="0"/>
              </a:rPr>
              <a:t>             {</a:t>
            </a:r>
            <a:r>
              <a:rPr lang="zh-CN" altLang="en-US" sz="3200">
                <a:ea typeface="楷体_GB2312" charset="0"/>
              </a:rPr>
              <a:t>称 </a:t>
            </a:r>
            <a:r>
              <a:rPr lang="en-US" altLang="zh-CN" sz="3200" b="1">
                <a:solidFill>
                  <a:srgbClr val="CC3300"/>
                </a:solidFill>
                <a:ea typeface="楷体_GB2312" charset="0"/>
              </a:rPr>
              <a:t>n</a:t>
            </a:r>
            <a:r>
              <a:rPr lang="en-US" altLang="zh-CN" sz="3200">
                <a:ea typeface="楷体_GB2312" charset="0"/>
              </a:rPr>
              <a:t> </a:t>
            </a:r>
            <a:r>
              <a:rPr lang="zh-CN" altLang="en-US" sz="3200">
                <a:ea typeface="楷体_GB2312" charset="0"/>
              </a:rPr>
              <a:t>为线性表的</a:t>
            </a:r>
            <a:r>
              <a:rPr lang="zh-CN" altLang="en-US" sz="3200" b="1">
                <a:solidFill>
                  <a:srgbClr val="FF00FF"/>
                </a:solidFill>
                <a:ea typeface="楷体_GB2312" charset="0"/>
              </a:rPr>
              <a:t>表长</a:t>
            </a:r>
            <a:r>
              <a:rPr lang="en-US" altLang="zh-CN" sz="3200">
                <a:ea typeface="楷体_GB2312" charset="0"/>
              </a:rPr>
              <a:t>; </a:t>
            </a:r>
            <a:endParaRPr lang="en-US" altLang="zh-CN" sz="3200">
              <a:ea typeface="楷体_GB2312" charset="0"/>
            </a:endParaRPr>
          </a:p>
          <a:p>
            <a:pPr eaLnBrk="1" hangingPunct="1">
              <a:lnSpc>
                <a:spcPct val="120000"/>
              </a:lnSpc>
              <a:defRPr/>
            </a:pPr>
            <a:r>
              <a:rPr lang="en-US" altLang="zh-CN" sz="3200">
                <a:ea typeface="楷体_GB2312" charset="0"/>
              </a:rPr>
              <a:t>              </a:t>
            </a:r>
            <a:r>
              <a:rPr lang="zh-CN" altLang="en-US" sz="3200">
                <a:ea typeface="楷体_GB2312" charset="0"/>
              </a:rPr>
              <a:t>称 </a:t>
            </a:r>
            <a:r>
              <a:rPr lang="en-US" altLang="zh-CN" sz="3200" b="1">
                <a:solidFill>
                  <a:srgbClr val="CC3300"/>
                </a:solidFill>
                <a:ea typeface="楷体_GB2312" charset="0"/>
              </a:rPr>
              <a:t>n=0</a:t>
            </a:r>
            <a:r>
              <a:rPr lang="en-US" altLang="zh-CN" sz="3200">
                <a:ea typeface="楷体_GB2312" charset="0"/>
              </a:rPr>
              <a:t> </a:t>
            </a:r>
            <a:r>
              <a:rPr lang="zh-CN" altLang="en-US" sz="3200">
                <a:ea typeface="楷体_GB2312" charset="0"/>
              </a:rPr>
              <a:t>时的线性表为</a:t>
            </a:r>
            <a:r>
              <a:rPr lang="zh-CN" altLang="en-US" sz="3200" b="1">
                <a:solidFill>
                  <a:srgbClr val="FF00FF"/>
                </a:solidFill>
                <a:ea typeface="楷体_GB2312" charset="0"/>
              </a:rPr>
              <a:t>空表</a:t>
            </a:r>
            <a:r>
              <a:rPr lang="zh-CN" altLang="en-US" sz="3200">
                <a:ea typeface="楷体_GB2312" charset="0"/>
              </a:rPr>
              <a:t>。</a:t>
            </a:r>
            <a:r>
              <a:rPr lang="en-US" altLang="zh-CN" sz="3200">
                <a:ea typeface="楷体_GB2312" charset="0"/>
              </a:rPr>
              <a:t>}</a:t>
            </a:r>
            <a:endParaRPr lang="en-US" altLang="zh-CN" sz="3200">
              <a:latin typeface="楷体_GB2312" charset="0"/>
              <a:ea typeface="楷体_GB2312" charset="0"/>
            </a:endParaRPr>
          </a:p>
        </p:txBody>
      </p:sp>
      <p:sp>
        <p:nvSpPr>
          <p:cNvPr id="892934" name="Text Box 6"/>
          <p:cNvSpPr txBox="1">
            <a:spLocks noChangeArrowheads="1"/>
          </p:cNvSpPr>
          <p:nvPr/>
        </p:nvSpPr>
        <p:spPr bwMode="auto">
          <a:xfrm>
            <a:off x="1015926" y="4178300"/>
            <a:ext cx="247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FF0000"/>
                </a:solidFill>
                <a:latin typeface="楷体_GB2312" charset="0"/>
                <a:ea typeface="楷体_GB2312" charset="0"/>
              </a:rPr>
              <a:t>数据关系</a:t>
            </a:r>
            <a:r>
              <a:rPr lang="zh-CN" altLang="en-US" sz="3600">
                <a:solidFill>
                  <a:srgbClr val="FF0000"/>
                </a:solidFill>
                <a:latin typeface="楷体_GB2312" charset="0"/>
                <a:ea typeface="楷体_GB2312" charset="0"/>
              </a:rPr>
              <a:t>：</a:t>
            </a:r>
            <a:endParaRPr lang="zh-CN" altLang="en-US">
              <a:solidFill>
                <a:srgbClr val="FF0000"/>
              </a:solidFill>
              <a:latin typeface="楷体_GB2312" charset="0"/>
              <a:ea typeface="楷体_GB2312" charset="0"/>
            </a:endParaRPr>
          </a:p>
        </p:txBody>
      </p:sp>
      <p:sp>
        <p:nvSpPr>
          <p:cNvPr id="892935" name="Text Box 7"/>
          <p:cNvSpPr txBox="1">
            <a:spLocks noChangeArrowheads="1"/>
          </p:cNvSpPr>
          <p:nvPr/>
        </p:nvSpPr>
        <p:spPr bwMode="auto">
          <a:xfrm>
            <a:off x="1320726" y="4838700"/>
            <a:ext cx="6432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a:ea typeface="楷体_GB2312" charset="0"/>
              </a:rPr>
              <a:t>R1</a:t>
            </a:r>
            <a:r>
              <a:rPr lang="zh-CN" altLang="en-US" sz="3200">
                <a:ea typeface="楷体_GB2312" charset="0"/>
              </a:rPr>
              <a:t>＝</a:t>
            </a:r>
            <a:r>
              <a:rPr lang="en-US" altLang="zh-CN" sz="3200">
                <a:ea typeface="楷体_GB2312" charset="0"/>
              </a:rPr>
              <a:t>{ &lt;a</a:t>
            </a:r>
            <a:r>
              <a:rPr lang="en-US" altLang="zh-CN" sz="3200" baseline="-25000">
                <a:ea typeface="楷体_GB2312" charset="0"/>
              </a:rPr>
              <a:t>i-1</a:t>
            </a:r>
            <a:r>
              <a:rPr lang="en-US" altLang="zh-CN" sz="3200">
                <a:ea typeface="楷体_GB2312" charset="0"/>
              </a:rPr>
              <a:t> ,a</a:t>
            </a:r>
            <a:r>
              <a:rPr lang="en-US" altLang="zh-CN" sz="3200" baseline="-25000">
                <a:ea typeface="楷体_GB2312" charset="0"/>
              </a:rPr>
              <a:t>i</a:t>
            </a:r>
            <a:r>
              <a:rPr lang="en-US" altLang="zh-CN" sz="3200">
                <a:ea typeface="楷体_GB2312" charset="0"/>
              </a:rPr>
              <a:t> &gt;|a</a:t>
            </a:r>
            <a:r>
              <a:rPr lang="en-US" altLang="zh-CN" sz="3200" baseline="-25000">
                <a:ea typeface="楷体_GB2312" charset="0"/>
              </a:rPr>
              <a:t>i-1</a:t>
            </a:r>
            <a:r>
              <a:rPr lang="en-US" altLang="zh-CN" sz="3200">
                <a:ea typeface="楷体_GB2312" charset="0"/>
              </a:rPr>
              <a:t> ,a</a:t>
            </a:r>
            <a:r>
              <a:rPr lang="en-US" altLang="zh-CN" sz="3200" baseline="-25000">
                <a:ea typeface="楷体_GB2312" charset="0"/>
              </a:rPr>
              <a:t>i</a:t>
            </a:r>
            <a:r>
              <a:rPr lang="en-US" altLang="zh-CN" sz="3200">
                <a:ea typeface="楷体_GB2312" charset="0"/>
              </a:rPr>
              <a:t>∈D,  i=2,...,n }</a:t>
            </a:r>
            <a:endParaRPr lang="en-US" altLang="zh-CN"/>
          </a:p>
        </p:txBody>
      </p:sp>
      <p:sp>
        <p:nvSpPr>
          <p:cNvPr id="892936" name="Text Box 8"/>
          <p:cNvSpPr txBox="1">
            <a:spLocks noChangeArrowheads="1"/>
          </p:cNvSpPr>
          <p:nvPr/>
        </p:nvSpPr>
        <p:spPr bwMode="auto">
          <a:xfrm>
            <a:off x="1319213" y="5527675"/>
            <a:ext cx="8434387" cy="148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en-US" altLang="zh-CN" sz="2800">
                <a:ea typeface="楷体_GB2312" charset="0"/>
              </a:rPr>
              <a:t>{</a:t>
            </a:r>
            <a:r>
              <a:rPr lang="zh-CN" altLang="en-US" sz="2800">
                <a:ea typeface="楷体_GB2312" charset="0"/>
              </a:rPr>
              <a:t>设线性表为 </a:t>
            </a:r>
            <a:r>
              <a:rPr lang="en-US" altLang="zh-CN" sz="2800">
                <a:ea typeface="楷体_GB2312" charset="0"/>
              </a:rPr>
              <a:t>(a</a:t>
            </a:r>
            <a:r>
              <a:rPr lang="en-US" altLang="zh-CN" sz="2800" baseline="-25000">
                <a:ea typeface="楷体_GB2312" charset="0"/>
              </a:rPr>
              <a:t>1</a:t>
            </a:r>
            <a:r>
              <a:rPr lang="zh-CN" altLang="en-US" sz="2800">
                <a:ea typeface="楷体_GB2312" charset="0"/>
              </a:rPr>
              <a:t>，</a:t>
            </a:r>
            <a:r>
              <a:rPr lang="en-US" altLang="zh-CN" sz="2800">
                <a:ea typeface="楷体_GB2312" charset="0"/>
              </a:rPr>
              <a:t>a</a:t>
            </a:r>
            <a:r>
              <a:rPr lang="en-US" altLang="zh-CN" sz="2800" baseline="-25000">
                <a:ea typeface="楷体_GB2312" charset="0"/>
              </a:rPr>
              <a:t>2</a:t>
            </a:r>
            <a:r>
              <a:rPr lang="en-US" altLang="zh-CN" sz="2800">
                <a:ea typeface="楷体_GB2312" charset="0"/>
              </a:rPr>
              <a:t>,  . . . </a:t>
            </a:r>
            <a:r>
              <a:rPr lang="zh-CN" altLang="en-US" sz="2800">
                <a:ea typeface="楷体_GB2312" charset="0"/>
              </a:rPr>
              <a:t>，</a:t>
            </a:r>
            <a:r>
              <a:rPr lang="en-US" altLang="zh-CN" sz="2800">
                <a:ea typeface="楷体_GB2312" charset="0"/>
              </a:rPr>
              <a:t>a</a:t>
            </a:r>
            <a:r>
              <a:rPr lang="en-US" altLang="zh-CN" sz="2800" baseline="-25000">
                <a:ea typeface="楷体_GB2312" charset="0"/>
              </a:rPr>
              <a:t>i</a:t>
            </a:r>
            <a:r>
              <a:rPr lang="zh-CN" altLang="en-US" sz="2800">
                <a:ea typeface="楷体_GB2312" charset="0"/>
              </a:rPr>
              <a:t>，</a:t>
            </a:r>
            <a:r>
              <a:rPr lang="en-US" altLang="zh-CN" sz="2800">
                <a:ea typeface="楷体_GB2312" charset="0"/>
              </a:rPr>
              <a:t>. . . </a:t>
            </a:r>
            <a:r>
              <a:rPr lang="zh-CN" altLang="en-US" sz="2800">
                <a:ea typeface="楷体_GB2312" charset="0"/>
              </a:rPr>
              <a:t>，</a:t>
            </a:r>
            <a:r>
              <a:rPr lang="en-US" altLang="zh-CN" sz="2800">
                <a:ea typeface="楷体_GB2312" charset="0"/>
              </a:rPr>
              <a:t>a</a:t>
            </a:r>
            <a:r>
              <a:rPr lang="en-US" altLang="zh-CN" sz="2800" baseline="-25000">
                <a:ea typeface="楷体_GB2312" charset="0"/>
              </a:rPr>
              <a:t>n</a:t>
            </a:r>
            <a:r>
              <a:rPr lang="en-US" altLang="zh-CN" sz="2800">
                <a:ea typeface="楷体_GB2312" charset="0"/>
              </a:rPr>
              <a:t>), </a:t>
            </a:r>
            <a:endParaRPr lang="en-US" altLang="zh-CN" sz="2800">
              <a:ea typeface="楷体_GB2312" charset="0"/>
            </a:endParaRPr>
          </a:p>
          <a:p>
            <a:pPr eaLnBrk="1" hangingPunct="1">
              <a:lnSpc>
                <a:spcPct val="120000"/>
              </a:lnSpc>
              <a:defRPr/>
            </a:pPr>
            <a:r>
              <a:rPr lang="en-US" altLang="zh-CN" sz="2800">
                <a:ea typeface="楷体_GB2312" charset="0"/>
              </a:rPr>
              <a:t>                    </a:t>
            </a:r>
            <a:r>
              <a:rPr lang="zh-CN" altLang="en-US" sz="2800">
                <a:ea typeface="楷体_GB2312" charset="0"/>
              </a:rPr>
              <a:t>称 </a:t>
            </a:r>
            <a:r>
              <a:rPr lang="en-US" altLang="zh-CN" sz="2800">
                <a:ea typeface="楷体_GB2312" charset="0"/>
              </a:rPr>
              <a:t>i </a:t>
            </a:r>
            <a:r>
              <a:rPr lang="zh-CN" altLang="en-US" sz="2800">
                <a:ea typeface="楷体_GB2312" charset="0"/>
              </a:rPr>
              <a:t>为 </a:t>
            </a:r>
            <a:r>
              <a:rPr lang="en-US" altLang="zh-CN" sz="2800">
                <a:ea typeface="楷体_GB2312" charset="0"/>
              </a:rPr>
              <a:t>a</a:t>
            </a:r>
            <a:r>
              <a:rPr lang="en-US" altLang="zh-CN" sz="2800" baseline="-25000">
                <a:ea typeface="楷体_GB2312" charset="0"/>
              </a:rPr>
              <a:t>i </a:t>
            </a:r>
            <a:r>
              <a:rPr lang="zh-CN" altLang="en-US" sz="2800">
                <a:ea typeface="楷体_GB2312" charset="0"/>
              </a:rPr>
              <a:t>在线性表中的</a:t>
            </a:r>
            <a:r>
              <a:rPr lang="zh-CN" altLang="en-US" sz="2800" b="1">
                <a:solidFill>
                  <a:srgbClr val="FF00FF"/>
                </a:solidFill>
                <a:ea typeface="楷体_GB2312" charset="0"/>
              </a:rPr>
              <a:t>位序</a:t>
            </a:r>
            <a:r>
              <a:rPr lang="zh-CN" altLang="en-US" sz="2800">
                <a:ea typeface="楷体_GB2312" charset="0"/>
              </a:rPr>
              <a:t>。</a:t>
            </a:r>
            <a:r>
              <a:rPr lang="en-US" altLang="zh-CN" sz="2800">
                <a:ea typeface="楷体_GB2312" charset="0"/>
              </a:rPr>
              <a:t>}</a:t>
            </a:r>
            <a:endParaRPr lang="en-US" altLang="zh-CN" sz="2800">
              <a:ea typeface="楷体_GB2312" charset="0"/>
            </a:endParaRPr>
          </a:p>
          <a:p>
            <a:pPr eaLnBrk="1" hangingPunct="1">
              <a:lnSpc>
                <a:spcPct val="120000"/>
              </a:lnSpc>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92934"/>
                                        </p:tgtEl>
                                        <p:attrNameLst>
                                          <p:attrName>style.visibility</p:attrName>
                                        </p:attrNameLst>
                                      </p:cBhvr>
                                      <p:to>
                                        <p:strVal val="visible"/>
                                      </p:to>
                                    </p:set>
                                    <p:animEffect transition="in" filter="diamond(in)">
                                      <p:cBhvr>
                                        <p:cTn id="7" dur="2000"/>
                                        <p:tgtEl>
                                          <p:spTgt spid="892934"/>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892935"/>
                                        </p:tgtEl>
                                        <p:attrNameLst>
                                          <p:attrName>style.visibility</p:attrName>
                                        </p:attrNameLst>
                                      </p:cBhvr>
                                      <p:to>
                                        <p:strVal val="visible"/>
                                      </p:to>
                                    </p:set>
                                    <p:animEffect transition="in" filter="diamond(in)">
                                      <p:cBhvr>
                                        <p:cTn id="10" dur="2000"/>
                                        <p:tgtEl>
                                          <p:spTgt spid="892935"/>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892936"/>
                                        </p:tgtEl>
                                        <p:attrNameLst>
                                          <p:attrName>style.visibility</p:attrName>
                                        </p:attrNameLst>
                                      </p:cBhvr>
                                      <p:to>
                                        <p:strVal val="visible"/>
                                      </p:to>
                                    </p:set>
                                    <p:animEffect transition="in" filter="diamond(in)">
                                      <p:cBhvr>
                                        <p:cTn id="13" dur="2000"/>
                                        <p:tgtEl>
                                          <p:spTgt spid="892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2934" grpId="0"/>
      <p:bldP spid="892935" grpId="0"/>
      <p:bldP spid="8929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Text Box 2"/>
          <p:cNvSpPr txBox="1">
            <a:spLocks noChangeArrowheads="1"/>
          </p:cNvSpPr>
          <p:nvPr/>
        </p:nvSpPr>
        <p:spPr bwMode="auto">
          <a:xfrm>
            <a:off x="1404938" y="192088"/>
            <a:ext cx="27318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dirty="0">
                <a:latin typeface="楷体_GB2312" charset="0"/>
                <a:ea typeface="楷体_GB2312" charset="0"/>
              </a:rPr>
              <a:t> </a:t>
            </a:r>
            <a:r>
              <a:rPr lang="zh-CN" altLang="en-US" sz="3600" b="1" dirty="0">
                <a:solidFill>
                  <a:srgbClr val="CC0000"/>
                </a:solidFill>
                <a:latin typeface="楷体_GB2312" charset="0"/>
                <a:ea typeface="楷体_GB2312" charset="0"/>
              </a:rPr>
              <a:t>基本操作：</a:t>
            </a:r>
            <a:endParaRPr lang="zh-CN" altLang="en-US" sz="3600" dirty="0"/>
          </a:p>
        </p:txBody>
      </p:sp>
      <p:sp>
        <p:nvSpPr>
          <p:cNvPr id="893955" name="Text Box 3">
            <a:hlinkClick r:id="rId1" action="ppaction://hlinksldjump"/>
          </p:cNvPr>
          <p:cNvSpPr txBox="1">
            <a:spLocks noChangeArrowheads="1"/>
          </p:cNvSpPr>
          <p:nvPr/>
        </p:nvSpPr>
        <p:spPr bwMode="auto">
          <a:xfrm>
            <a:off x="2025650" y="1050925"/>
            <a:ext cx="36583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 </a:t>
            </a:r>
            <a:r>
              <a:rPr lang="zh-CN" altLang="en-US" sz="3600" b="1">
                <a:solidFill>
                  <a:srgbClr val="660033"/>
                </a:solidFill>
                <a:latin typeface="隶书" panose="02010509060101010101" charset="-122"/>
                <a:ea typeface="隶书" panose="02010509060101010101" charset="-122"/>
              </a:rPr>
              <a:t>结构初始化操作</a:t>
            </a:r>
            <a:endParaRPr lang="zh-CN" altLang="en-US" sz="3600"/>
          </a:p>
        </p:txBody>
      </p:sp>
      <p:sp>
        <p:nvSpPr>
          <p:cNvPr id="893956" name="Text Box 4">
            <a:hlinkClick r:id="rId2" action="ppaction://hlinksldjump"/>
          </p:cNvPr>
          <p:cNvSpPr txBox="1">
            <a:spLocks noChangeArrowheads="1"/>
          </p:cNvSpPr>
          <p:nvPr/>
        </p:nvSpPr>
        <p:spPr bwMode="auto">
          <a:xfrm>
            <a:off x="2166938" y="2057400"/>
            <a:ext cx="296427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latin typeface="隶书" panose="02010509060101010101" charset="-122"/>
                <a:ea typeface="隶书" panose="02010509060101010101" charset="-122"/>
              </a:rPr>
              <a:t>结构销毁操作</a:t>
            </a:r>
            <a:endParaRPr lang="zh-CN" altLang="en-US" sz="3600"/>
          </a:p>
        </p:txBody>
      </p:sp>
      <p:sp>
        <p:nvSpPr>
          <p:cNvPr id="893957" name="Text Box 5">
            <a:hlinkClick r:id="rId3" action="ppaction://hlinksldjump"/>
          </p:cNvPr>
          <p:cNvSpPr txBox="1">
            <a:spLocks noChangeArrowheads="1"/>
          </p:cNvSpPr>
          <p:nvPr/>
        </p:nvSpPr>
        <p:spPr bwMode="auto">
          <a:xfrm>
            <a:off x="1882775" y="3032125"/>
            <a:ext cx="27334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latin typeface="楷体_GB2312" charset="0"/>
                <a:ea typeface="楷体_GB2312" charset="0"/>
              </a:rPr>
              <a:t> </a:t>
            </a:r>
            <a:r>
              <a:rPr lang="zh-CN" altLang="en-US" sz="3600" b="1">
                <a:solidFill>
                  <a:srgbClr val="660033"/>
                </a:solidFill>
                <a:latin typeface="隶书" panose="02010509060101010101" charset="-122"/>
                <a:ea typeface="隶书" panose="02010509060101010101" charset="-122"/>
              </a:rPr>
              <a:t>引用型操作</a:t>
            </a:r>
            <a:endParaRPr lang="zh-CN" altLang="en-US" sz="3600" b="1">
              <a:latin typeface="楷体_GB2312" charset="0"/>
              <a:ea typeface="楷体_GB2312" charset="0"/>
            </a:endParaRPr>
          </a:p>
        </p:txBody>
      </p:sp>
      <p:sp>
        <p:nvSpPr>
          <p:cNvPr id="893958" name="Text Box 6">
            <a:hlinkClick r:id="rId4" action="ppaction://hlinksldjump"/>
          </p:cNvPr>
          <p:cNvSpPr txBox="1">
            <a:spLocks noChangeArrowheads="1"/>
          </p:cNvSpPr>
          <p:nvPr/>
        </p:nvSpPr>
        <p:spPr bwMode="auto">
          <a:xfrm>
            <a:off x="1862138" y="4022725"/>
            <a:ext cx="296427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latin typeface="楷体_GB2312" charset="0"/>
                <a:ea typeface="楷体_GB2312" charset="0"/>
              </a:rPr>
              <a:t> </a:t>
            </a:r>
            <a:r>
              <a:rPr lang="zh-CN" altLang="en-US" sz="3600" b="1">
                <a:solidFill>
                  <a:srgbClr val="660033"/>
                </a:solidFill>
                <a:latin typeface="隶书" panose="02010509060101010101" charset="-122"/>
                <a:ea typeface="隶书" panose="02010509060101010101" charset="-122"/>
              </a:rPr>
              <a:t>加工型操作</a:t>
            </a:r>
            <a:r>
              <a:rPr lang="zh-CN" altLang="en-US" sz="3600">
                <a:latin typeface="楷体_GB2312" charset="0"/>
                <a:ea typeface="楷体_GB2312" charset="0"/>
              </a:rPr>
              <a:t> </a:t>
            </a:r>
            <a:endParaRPr lang="zh-CN" altLang="en-US" sz="3600">
              <a:ea typeface="楷体_GB2312" charset="0"/>
            </a:endParaRPr>
          </a:p>
        </p:txBody>
      </p:sp>
      <p:sp>
        <p:nvSpPr>
          <p:cNvPr id="893959" name="AutoShape 7">
            <a:hlinkClick r:id="rId5" action="ppaction://hlinksldjump" highlightClick="1"/>
          </p:cNvPr>
          <p:cNvSpPr>
            <a:spLocks noChangeArrowheads="1"/>
          </p:cNvSpPr>
          <p:nvPr/>
        </p:nvSpPr>
        <p:spPr bwMode="auto">
          <a:xfrm>
            <a:off x="8382000" y="6172200"/>
            <a:ext cx="457200" cy="457200"/>
          </a:xfrm>
          <a:prstGeom prst="actionButtonForwardNext">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893960" name="Text Box 8"/>
          <p:cNvSpPr txBox="1">
            <a:spLocks noChangeArrowheads="1"/>
          </p:cNvSpPr>
          <p:nvPr/>
        </p:nvSpPr>
        <p:spPr bwMode="auto">
          <a:xfrm>
            <a:off x="1252538" y="5165725"/>
            <a:ext cx="237276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ea typeface="楷体_GB2312" charset="0"/>
              </a:rPr>
              <a:t>} ADT</a:t>
            </a:r>
            <a:r>
              <a:rPr lang="en-US" altLang="zh-CN" sz="3600">
                <a:ea typeface="楷体_GB2312" charset="0"/>
              </a:rPr>
              <a:t> List</a:t>
            </a:r>
            <a:endParaRPr lang="en-US" altLang="zh-CN" sz="360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Text Box 2"/>
          <p:cNvSpPr txBox="1">
            <a:spLocks noChangeArrowheads="1"/>
          </p:cNvSpPr>
          <p:nvPr/>
        </p:nvSpPr>
        <p:spPr bwMode="auto">
          <a:xfrm>
            <a:off x="1741488" y="2879725"/>
            <a:ext cx="309251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 </a:t>
            </a:r>
            <a:r>
              <a:rPr lang="en-US" altLang="zh-CN" sz="3600" b="1">
                <a:solidFill>
                  <a:srgbClr val="333399"/>
                </a:solidFill>
                <a:ea typeface="楷体_GB2312" charset="0"/>
              </a:rPr>
              <a:t>InitList( &amp;L )</a:t>
            </a:r>
            <a:endParaRPr lang="en-US" altLang="zh-CN" sz="3600">
              <a:ea typeface="楷体_GB2312" charset="0"/>
            </a:endParaRPr>
          </a:p>
          <a:p>
            <a:pPr eaLnBrk="1" hangingPunct="1">
              <a:defRPr/>
            </a:pPr>
            <a:endParaRPr lang="zh-CN" altLang="en-US" sz="3600"/>
          </a:p>
        </p:txBody>
      </p:sp>
      <p:sp>
        <p:nvSpPr>
          <p:cNvPr id="894979" name="Text Box 3"/>
          <p:cNvSpPr txBox="1">
            <a:spLocks noChangeArrowheads="1"/>
          </p:cNvSpPr>
          <p:nvPr/>
        </p:nvSpPr>
        <p:spPr bwMode="auto">
          <a:xfrm>
            <a:off x="1131888" y="4175125"/>
            <a:ext cx="25010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FF0000"/>
                </a:solidFill>
                <a:latin typeface="楷体_GB2312" charset="0"/>
                <a:ea typeface="楷体_GB2312" charset="0"/>
              </a:rPr>
              <a:t>操作结果：</a:t>
            </a:r>
            <a:endParaRPr lang="zh-CN" altLang="en-US" sz="3600">
              <a:latin typeface="楷体_GB2312" charset="0"/>
              <a:ea typeface="楷体_GB2312" charset="0"/>
            </a:endParaRPr>
          </a:p>
        </p:txBody>
      </p:sp>
      <p:sp>
        <p:nvSpPr>
          <p:cNvPr id="894980" name="Text Box 4"/>
          <p:cNvSpPr txBox="1">
            <a:spLocks noChangeArrowheads="1"/>
          </p:cNvSpPr>
          <p:nvPr/>
        </p:nvSpPr>
        <p:spPr bwMode="auto">
          <a:xfrm>
            <a:off x="2274888" y="5241925"/>
            <a:ext cx="504817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构造一个空的线性表</a:t>
            </a:r>
            <a:r>
              <a:rPr lang="en-US" altLang="zh-CN" sz="3600">
                <a:ea typeface="楷体_GB2312" charset="0"/>
              </a:rPr>
              <a:t>L</a:t>
            </a:r>
            <a:r>
              <a:rPr lang="zh-CN" altLang="en-US" sz="3600">
                <a:latin typeface="楷体_GB2312" charset="0"/>
                <a:ea typeface="楷体_GB2312" charset="0"/>
              </a:rPr>
              <a:t>。</a:t>
            </a:r>
            <a:endParaRPr lang="zh-CN" altLang="en-US" sz="3600">
              <a:latin typeface="楷体_GB2312" charset="0"/>
              <a:ea typeface="楷体_GB2312" charset="0"/>
            </a:endParaRPr>
          </a:p>
        </p:txBody>
      </p:sp>
      <p:sp>
        <p:nvSpPr>
          <p:cNvPr id="894981" name="Text Box 5"/>
          <p:cNvSpPr txBox="1">
            <a:spLocks noChangeArrowheads="1"/>
          </p:cNvSpPr>
          <p:nvPr/>
        </p:nvSpPr>
        <p:spPr bwMode="auto">
          <a:xfrm>
            <a:off x="1055688" y="1274763"/>
            <a:ext cx="25010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latin typeface="隶书" panose="02010509060101010101" charset="-122"/>
                <a:ea typeface="隶书" panose="02010509060101010101" charset="-122"/>
              </a:rPr>
              <a:t>初始化操作</a:t>
            </a:r>
            <a:endParaRPr lang="zh-CN" altLang="en-US" sz="360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Text Box 2"/>
          <p:cNvSpPr txBox="1">
            <a:spLocks noChangeArrowheads="1"/>
          </p:cNvSpPr>
          <p:nvPr/>
        </p:nvSpPr>
        <p:spPr bwMode="auto">
          <a:xfrm>
            <a:off x="609600" y="1398588"/>
            <a:ext cx="319670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latin typeface="楷体_GB2312" charset="0"/>
                <a:ea typeface="楷体_GB2312" charset="0"/>
              </a:rPr>
              <a:t> </a:t>
            </a:r>
            <a:r>
              <a:rPr lang="zh-CN" altLang="en-US" sz="3600" b="1">
                <a:solidFill>
                  <a:srgbClr val="660033"/>
                </a:solidFill>
                <a:latin typeface="隶书" panose="02010509060101010101" charset="-122"/>
                <a:ea typeface="隶书" panose="02010509060101010101" charset="-122"/>
              </a:rPr>
              <a:t>结构销毁操作</a:t>
            </a:r>
            <a:endParaRPr lang="zh-CN" altLang="en-US" sz="3600"/>
          </a:p>
        </p:txBody>
      </p:sp>
      <p:sp>
        <p:nvSpPr>
          <p:cNvPr id="896003" name="Text Box 3"/>
          <p:cNvSpPr txBox="1">
            <a:spLocks noChangeArrowheads="1"/>
          </p:cNvSpPr>
          <p:nvPr/>
        </p:nvSpPr>
        <p:spPr bwMode="auto">
          <a:xfrm>
            <a:off x="1524000" y="2698750"/>
            <a:ext cx="38635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333399"/>
                </a:solidFill>
                <a:ea typeface="楷体_GB2312" charset="0"/>
              </a:rPr>
              <a:t>DestroyList( &amp;L )</a:t>
            </a:r>
            <a:endParaRPr lang="en-US" altLang="zh-CN" sz="3600"/>
          </a:p>
        </p:txBody>
      </p:sp>
      <p:sp>
        <p:nvSpPr>
          <p:cNvPr id="896004" name="Text Box 4"/>
          <p:cNvSpPr txBox="1">
            <a:spLocks noChangeArrowheads="1"/>
          </p:cNvSpPr>
          <p:nvPr/>
        </p:nvSpPr>
        <p:spPr bwMode="auto">
          <a:xfrm>
            <a:off x="1524000" y="3613150"/>
            <a:ext cx="323215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a:solidFill>
                  <a:srgbClr val="FF0000"/>
                </a:solidFill>
                <a:latin typeface="楷体_GB2312" charset="0"/>
                <a:ea typeface="楷体_GB2312" charset="0"/>
              </a:rPr>
              <a:t>初始条件：</a:t>
            </a:r>
            <a:endParaRPr lang="zh-CN" altLang="en-US" sz="3600">
              <a:solidFill>
                <a:srgbClr val="FF0000"/>
              </a:solidFill>
              <a:latin typeface="楷体_GB2312" charset="0"/>
              <a:ea typeface="楷体_GB2312" charset="0"/>
            </a:endParaRPr>
          </a:p>
          <a:p>
            <a:pPr eaLnBrk="1" hangingPunct="1">
              <a:defRPr/>
            </a:pPr>
            <a:endParaRPr lang="zh-CN" altLang="en-US" sz="3600">
              <a:ea typeface="楷体_GB2312" charset="0"/>
            </a:endParaRPr>
          </a:p>
          <a:p>
            <a:pPr eaLnBrk="1" hangingPunct="1">
              <a:defRPr/>
            </a:pPr>
            <a:r>
              <a:rPr lang="zh-CN" altLang="en-US" sz="3600">
                <a:solidFill>
                  <a:srgbClr val="FF0000"/>
                </a:solidFill>
                <a:latin typeface="楷体_GB2312" charset="0"/>
                <a:ea typeface="楷体_GB2312" charset="0"/>
              </a:rPr>
              <a:t>操作结果：</a:t>
            </a:r>
            <a:endParaRPr lang="zh-CN" altLang="en-US" sz="3600">
              <a:solidFill>
                <a:srgbClr val="FF0000"/>
              </a:solidFill>
              <a:latin typeface="楷体_GB2312" charset="0"/>
              <a:ea typeface="楷体_GB2312" charset="0"/>
            </a:endParaRPr>
          </a:p>
        </p:txBody>
      </p:sp>
      <p:sp>
        <p:nvSpPr>
          <p:cNvPr id="896005" name="Text Box 5"/>
          <p:cNvSpPr txBox="1">
            <a:spLocks noChangeArrowheads="1"/>
          </p:cNvSpPr>
          <p:nvPr/>
        </p:nvSpPr>
        <p:spPr bwMode="auto">
          <a:xfrm>
            <a:off x="4267200" y="3689350"/>
            <a:ext cx="40398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线性表 </a:t>
            </a:r>
            <a:r>
              <a:rPr lang="en-US" altLang="zh-CN" sz="3600">
                <a:ea typeface="楷体_GB2312" charset="0"/>
              </a:rPr>
              <a:t>L </a:t>
            </a:r>
            <a:r>
              <a:rPr lang="zh-CN" altLang="en-US" sz="3600">
                <a:latin typeface="楷体_GB2312" charset="0"/>
                <a:ea typeface="楷体_GB2312" charset="0"/>
              </a:rPr>
              <a:t>已存在。</a:t>
            </a:r>
            <a:endParaRPr lang="zh-CN" altLang="en-US" sz="3600">
              <a:latin typeface="楷体_GB2312" charset="0"/>
              <a:ea typeface="楷体_GB2312" charset="0"/>
            </a:endParaRPr>
          </a:p>
        </p:txBody>
      </p:sp>
      <p:sp>
        <p:nvSpPr>
          <p:cNvPr id="896006" name="Text Box 6"/>
          <p:cNvSpPr txBox="1">
            <a:spLocks noChangeArrowheads="1"/>
          </p:cNvSpPr>
          <p:nvPr/>
        </p:nvSpPr>
        <p:spPr bwMode="auto">
          <a:xfrm>
            <a:off x="4267200" y="4984750"/>
            <a:ext cx="34323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销毁线性表 </a:t>
            </a:r>
            <a:r>
              <a:rPr lang="en-US" altLang="zh-CN" sz="3600">
                <a:ea typeface="楷体_GB2312" charset="0"/>
              </a:rPr>
              <a:t>L</a:t>
            </a:r>
            <a:r>
              <a:rPr lang="zh-CN" altLang="en-US" sz="3600">
                <a:latin typeface="楷体_GB2312" charset="0"/>
                <a:ea typeface="楷体_GB2312" charset="0"/>
              </a:rPr>
              <a:t>。</a:t>
            </a:r>
            <a:endParaRPr lang="zh-CN" altLang="en-US" sz="3600">
              <a:latin typeface="楷体_GB2312" charset="0"/>
              <a:ea typeface="楷体_GB2312"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Text Box 2">
            <a:hlinkClick r:id="rId1" action="ppaction://hlinksldjump"/>
          </p:cNvPr>
          <p:cNvSpPr txBox="1">
            <a:spLocks noChangeArrowheads="1"/>
          </p:cNvSpPr>
          <p:nvPr/>
        </p:nvSpPr>
        <p:spPr bwMode="auto">
          <a:xfrm>
            <a:off x="990600" y="1190625"/>
            <a:ext cx="286488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333399"/>
                </a:solidFill>
                <a:ea typeface="楷体_GB2312" charset="0"/>
              </a:rPr>
              <a:t>ListEmpty( L )</a:t>
            </a:r>
            <a:endParaRPr lang="en-US" altLang="zh-CN" sz="3200">
              <a:solidFill>
                <a:srgbClr val="333399"/>
              </a:solidFill>
            </a:endParaRPr>
          </a:p>
        </p:txBody>
      </p:sp>
      <p:sp>
        <p:nvSpPr>
          <p:cNvPr id="897027" name="Text Box 3">
            <a:hlinkClick r:id="rId2" action="ppaction://hlinksldjump"/>
          </p:cNvPr>
          <p:cNvSpPr txBox="1">
            <a:spLocks noChangeArrowheads="1"/>
          </p:cNvSpPr>
          <p:nvPr/>
        </p:nvSpPr>
        <p:spPr bwMode="auto">
          <a:xfrm>
            <a:off x="2514600" y="2105025"/>
            <a:ext cx="300114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333399"/>
                </a:solidFill>
                <a:ea typeface="楷体_GB2312" charset="0"/>
              </a:rPr>
              <a:t>ListLength( L )</a:t>
            </a:r>
            <a:endParaRPr lang="en-US" altLang="zh-CN" sz="3200">
              <a:ea typeface="楷体_GB2312" charset="0"/>
            </a:endParaRPr>
          </a:p>
        </p:txBody>
      </p:sp>
      <p:sp>
        <p:nvSpPr>
          <p:cNvPr id="897028" name="Text Box 4">
            <a:hlinkClick r:id="rId3" action="ppaction://hlinksldjump"/>
          </p:cNvPr>
          <p:cNvSpPr txBox="1">
            <a:spLocks noChangeArrowheads="1"/>
          </p:cNvSpPr>
          <p:nvPr/>
        </p:nvSpPr>
        <p:spPr bwMode="auto">
          <a:xfrm>
            <a:off x="914400" y="2943225"/>
            <a:ext cx="578235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333399"/>
                </a:solidFill>
                <a:ea typeface="楷体_GB2312" charset="0"/>
              </a:rPr>
              <a:t>PriorElem( L, cur_e, &amp;pre_e )</a:t>
            </a:r>
            <a:endParaRPr lang="en-US" altLang="zh-CN" sz="3200"/>
          </a:p>
        </p:txBody>
      </p:sp>
      <p:sp>
        <p:nvSpPr>
          <p:cNvPr id="897029" name="Text Box 5">
            <a:hlinkClick r:id="rId4" action="ppaction://hlinksldjump"/>
          </p:cNvPr>
          <p:cNvSpPr txBox="1">
            <a:spLocks noChangeArrowheads="1"/>
          </p:cNvSpPr>
          <p:nvPr/>
        </p:nvSpPr>
        <p:spPr bwMode="auto">
          <a:xfrm>
            <a:off x="2438400" y="3857625"/>
            <a:ext cx="601959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333399"/>
                </a:solidFill>
                <a:ea typeface="楷体_GB2312" charset="0"/>
              </a:rPr>
              <a:t>NextElem( L, cur_e, &amp;next_e )</a:t>
            </a:r>
            <a:endParaRPr lang="en-US" altLang="zh-CN" sz="3200"/>
          </a:p>
        </p:txBody>
      </p:sp>
      <p:sp>
        <p:nvSpPr>
          <p:cNvPr id="897030" name="Text Box 6">
            <a:hlinkClick r:id="rId5" action="ppaction://hlinksldjump"/>
          </p:cNvPr>
          <p:cNvSpPr txBox="1">
            <a:spLocks noChangeArrowheads="1"/>
          </p:cNvSpPr>
          <p:nvPr/>
        </p:nvSpPr>
        <p:spPr bwMode="auto">
          <a:xfrm>
            <a:off x="762000" y="4695825"/>
            <a:ext cx="39228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a:latin typeface="楷体_GB2312" charset="0"/>
                <a:ea typeface="楷体_GB2312" charset="0"/>
              </a:rPr>
              <a:t> </a:t>
            </a:r>
            <a:r>
              <a:rPr lang="en-US" altLang="zh-CN" sz="3200" b="1">
                <a:solidFill>
                  <a:srgbClr val="333399"/>
                </a:solidFill>
                <a:ea typeface="楷体_GB2312" charset="0"/>
              </a:rPr>
              <a:t>GetElem( L, i, &amp;e )</a:t>
            </a:r>
            <a:endParaRPr lang="en-US" altLang="zh-CN" sz="3200"/>
          </a:p>
        </p:txBody>
      </p:sp>
      <p:sp>
        <p:nvSpPr>
          <p:cNvPr id="897031" name="Text Box 7">
            <a:hlinkClick r:id="rId6" action="ppaction://hlinksldjump"/>
          </p:cNvPr>
          <p:cNvSpPr txBox="1">
            <a:spLocks noChangeArrowheads="1"/>
          </p:cNvSpPr>
          <p:nvPr/>
        </p:nvSpPr>
        <p:spPr bwMode="auto">
          <a:xfrm>
            <a:off x="2438400" y="5486400"/>
            <a:ext cx="6934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a:solidFill>
                  <a:srgbClr val="333399"/>
                </a:solidFill>
                <a:ea typeface="楷体_GB2312" charset="0"/>
              </a:rPr>
              <a:t>LocateElem( L, e, compare( ) )</a:t>
            </a:r>
            <a:endParaRPr lang="en-US" altLang="zh-CN" sz="3200" b="1">
              <a:solidFill>
                <a:srgbClr val="333399"/>
              </a:solidFill>
            </a:endParaRPr>
          </a:p>
        </p:txBody>
      </p:sp>
      <p:sp>
        <p:nvSpPr>
          <p:cNvPr id="897032" name="Text Box 8">
            <a:hlinkClick r:id="rId7" action="ppaction://hlinksldjump"/>
          </p:cNvPr>
          <p:cNvSpPr txBox="1">
            <a:spLocks noChangeArrowheads="1"/>
          </p:cNvSpPr>
          <p:nvPr/>
        </p:nvSpPr>
        <p:spPr bwMode="auto">
          <a:xfrm>
            <a:off x="914400" y="6219825"/>
            <a:ext cx="454804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333399"/>
                </a:solidFill>
                <a:ea typeface="楷体_GB2312" charset="0"/>
              </a:rPr>
              <a:t>ListTraverse(L, visit( ))</a:t>
            </a:r>
            <a:endParaRPr lang="en-US" altLang="zh-CN" sz="3200">
              <a:ea typeface="楷体_GB2312" charset="0"/>
            </a:endParaRPr>
          </a:p>
          <a:p>
            <a:pPr eaLnBrk="1" hangingPunct="1">
              <a:defRPr/>
            </a:pPr>
            <a:endParaRPr lang="zh-CN" altLang="en-US" sz="3200"/>
          </a:p>
        </p:txBody>
      </p:sp>
      <p:sp>
        <p:nvSpPr>
          <p:cNvPr id="897033" name="Text Box 9"/>
          <p:cNvSpPr txBox="1">
            <a:spLocks noChangeArrowheads="1"/>
          </p:cNvSpPr>
          <p:nvPr/>
        </p:nvSpPr>
        <p:spPr bwMode="auto">
          <a:xfrm>
            <a:off x="867428" y="239138"/>
            <a:ext cx="27334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defRPr/>
            </a:pPr>
            <a:r>
              <a:rPr lang="zh-CN" altLang="en-US" sz="3600" b="1" dirty="0">
                <a:solidFill>
                  <a:srgbClr val="660033"/>
                </a:solidFill>
                <a:latin typeface="隶书" panose="02010509060101010101" charset="-122"/>
                <a:ea typeface="隶书" panose="02010509060101010101" charset="-122"/>
              </a:rPr>
              <a:t>引用型操作</a:t>
            </a:r>
            <a:r>
              <a:rPr lang="en-US" altLang="zh-CN" sz="3600" b="1" dirty="0">
                <a:solidFill>
                  <a:srgbClr val="660033"/>
                </a:solidFill>
                <a:latin typeface="隶书" panose="02010509060101010101" charset="-122"/>
                <a:ea typeface="隶书" panose="02010509060101010101" charset="-122"/>
              </a:rPr>
              <a:t>:</a:t>
            </a:r>
            <a:endParaRPr lang="en-US" altLang="zh-CN" sz="36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97026"/>
                                        </p:tgtEl>
                                        <p:attrNameLst>
                                          <p:attrName>style.visibility</p:attrName>
                                        </p:attrNameLst>
                                      </p:cBhvr>
                                      <p:to>
                                        <p:strVal val="visible"/>
                                      </p:to>
                                    </p:set>
                                    <p:anim calcmode="lin" valueType="num">
                                      <p:cBhvr additive="base">
                                        <p:cTn id="7" dur="500" fill="hold"/>
                                        <p:tgtEl>
                                          <p:spTgt spid="897026"/>
                                        </p:tgtEl>
                                        <p:attrNameLst>
                                          <p:attrName>ppt_x</p:attrName>
                                        </p:attrNameLst>
                                      </p:cBhvr>
                                      <p:tavLst>
                                        <p:tav tm="0">
                                          <p:val>
                                            <p:strVal val="0-#ppt_w/2"/>
                                          </p:val>
                                        </p:tav>
                                        <p:tav tm="100000">
                                          <p:val>
                                            <p:strVal val="#ppt_x"/>
                                          </p:val>
                                        </p:tav>
                                      </p:tavLst>
                                    </p:anim>
                                    <p:anim calcmode="lin" valueType="num">
                                      <p:cBhvr additive="base">
                                        <p:cTn id="8" dur="500" fill="hold"/>
                                        <p:tgtEl>
                                          <p:spTgt spid="8970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97027"/>
                                        </p:tgtEl>
                                        <p:attrNameLst>
                                          <p:attrName>style.visibility</p:attrName>
                                        </p:attrNameLst>
                                      </p:cBhvr>
                                      <p:to>
                                        <p:strVal val="visible"/>
                                      </p:to>
                                    </p:set>
                                    <p:anim calcmode="lin" valueType="num">
                                      <p:cBhvr additive="base">
                                        <p:cTn id="13" dur="500" fill="hold"/>
                                        <p:tgtEl>
                                          <p:spTgt spid="897027"/>
                                        </p:tgtEl>
                                        <p:attrNameLst>
                                          <p:attrName>ppt_x</p:attrName>
                                        </p:attrNameLst>
                                      </p:cBhvr>
                                      <p:tavLst>
                                        <p:tav tm="0">
                                          <p:val>
                                            <p:strVal val="1+#ppt_w/2"/>
                                          </p:val>
                                        </p:tav>
                                        <p:tav tm="100000">
                                          <p:val>
                                            <p:strVal val="#ppt_x"/>
                                          </p:val>
                                        </p:tav>
                                      </p:tavLst>
                                    </p:anim>
                                    <p:anim calcmode="lin" valueType="num">
                                      <p:cBhvr additive="base">
                                        <p:cTn id="14" dur="500" fill="hold"/>
                                        <p:tgtEl>
                                          <p:spTgt spid="89702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97028"/>
                                        </p:tgtEl>
                                        <p:attrNameLst>
                                          <p:attrName>style.visibility</p:attrName>
                                        </p:attrNameLst>
                                      </p:cBhvr>
                                      <p:to>
                                        <p:strVal val="visible"/>
                                      </p:to>
                                    </p:set>
                                    <p:anim calcmode="lin" valueType="num">
                                      <p:cBhvr additive="base">
                                        <p:cTn id="19" dur="500" fill="hold"/>
                                        <p:tgtEl>
                                          <p:spTgt spid="897028"/>
                                        </p:tgtEl>
                                        <p:attrNameLst>
                                          <p:attrName>ppt_x</p:attrName>
                                        </p:attrNameLst>
                                      </p:cBhvr>
                                      <p:tavLst>
                                        <p:tav tm="0">
                                          <p:val>
                                            <p:strVal val="0-#ppt_w/2"/>
                                          </p:val>
                                        </p:tav>
                                        <p:tav tm="100000">
                                          <p:val>
                                            <p:strVal val="#ppt_x"/>
                                          </p:val>
                                        </p:tav>
                                      </p:tavLst>
                                    </p:anim>
                                    <p:anim calcmode="lin" valueType="num">
                                      <p:cBhvr additive="base">
                                        <p:cTn id="20" dur="500" fill="hold"/>
                                        <p:tgtEl>
                                          <p:spTgt spid="89702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97029"/>
                                        </p:tgtEl>
                                        <p:attrNameLst>
                                          <p:attrName>style.visibility</p:attrName>
                                        </p:attrNameLst>
                                      </p:cBhvr>
                                      <p:to>
                                        <p:strVal val="visible"/>
                                      </p:to>
                                    </p:set>
                                    <p:anim calcmode="lin" valueType="num">
                                      <p:cBhvr additive="base">
                                        <p:cTn id="25" dur="500" fill="hold"/>
                                        <p:tgtEl>
                                          <p:spTgt spid="897029"/>
                                        </p:tgtEl>
                                        <p:attrNameLst>
                                          <p:attrName>ppt_x</p:attrName>
                                        </p:attrNameLst>
                                      </p:cBhvr>
                                      <p:tavLst>
                                        <p:tav tm="0">
                                          <p:val>
                                            <p:strVal val="1+#ppt_w/2"/>
                                          </p:val>
                                        </p:tav>
                                        <p:tav tm="100000">
                                          <p:val>
                                            <p:strVal val="#ppt_x"/>
                                          </p:val>
                                        </p:tav>
                                      </p:tavLst>
                                    </p:anim>
                                    <p:anim calcmode="lin" valueType="num">
                                      <p:cBhvr additive="base">
                                        <p:cTn id="26" dur="500" fill="hold"/>
                                        <p:tgtEl>
                                          <p:spTgt spid="89702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97030"/>
                                        </p:tgtEl>
                                        <p:attrNameLst>
                                          <p:attrName>style.visibility</p:attrName>
                                        </p:attrNameLst>
                                      </p:cBhvr>
                                      <p:to>
                                        <p:strVal val="visible"/>
                                      </p:to>
                                    </p:set>
                                    <p:anim calcmode="lin" valueType="num">
                                      <p:cBhvr additive="base">
                                        <p:cTn id="31" dur="500" fill="hold"/>
                                        <p:tgtEl>
                                          <p:spTgt spid="897030"/>
                                        </p:tgtEl>
                                        <p:attrNameLst>
                                          <p:attrName>ppt_x</p:attrName>
                                        </p:attrNameLst>
                                      </p:cBhvr>
                                      <p:tavLst>
                                        <p:tav tm="0">
                                          <p:val>
                                            <p:strVal val="0-#ppt_w/2"/>
                                          </p:val>
                                        </p:tav>
                                        <p:tav tm="100000">
                                          <p:val>
                                            <p:strVal val="#ppt_x"/>
                                          </p:val>
                                        </p:tav>
                                      </p:tavLst>
                                    </p:anim>
                                    <p:anim calcmode="lin" valueType="num">
                                      <p:cBhvr additive="base">
                                        <p:cTn id="32" dur="500" fill="hold"/>
                                        <p:tgtEl>
                                          <p:spTgt spid="89703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97031"/>
                                        </p:tgtEl>
                                        <p:attrNameLst>
                                          <p:attrName>style.visibility</p:attrName>
                                        </p:attrNameLst>
                                      </p:cBhvr>
                                      <p:to>
                                        <p:strVal val="visible"/>
                                      </p:to>
                                    </p:set>
                                    <p:anim calcmode="lin" valueType="num">
                                      <p:cBhvr additive="base">
                                        <p:cTn id="37" dur="500" fill="hold"/>
                                        <p:tgtEl>
                                          <p:spTgt spid="897031"/>
                                        </p:tgtEl>
                                        <p:attrNameLst>
                                          <p:attrName>ppt_x</p:attrName>
                                        </p:attrNameLst>
                                      </p:cBhvr>
                                      <p:tavLst>
                                        <p:tav tm="0">
                                          <p:val>
                                            <p:strVal val="1+#ppt_w/2"/>
                                          </p:val>
                                        </p:tav>
                                        <p:tav tm="100000">
                                          <p:val>
                                            <p:strVal val="#ppt_x"/>
                                          </p:val>
                                        </p:tav>
                                      </p:tavLst>
                                    </p:anim>
                                    <p:anim calcmode="lin" valueType="num">
                                      <p:cBhvr additive="base">
                                        <p:cTn id="38" dur="500" fill="hold"/>
                                        <p:tgtEl>
                                          <p:spTgt spid="89703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97032"/>
                                        </p:tgtEl>
                                        <p:attrNameLst>
                                          <p:attrName>style.visibility</p:attrName>
                                        </p:attrNameLst>
                                      </p:cBhvr>
                                      <p:to>
                                        <p:strVal val="visible"/>
                                      </p:to>
                                    </p:set>
                                    <p:anim calcmode="lin" valueType="num">
                                      <p:cBhvr additive="base">
                                        <p:cTn id="43" dur="500" fill="hold"/>
                                        <p:tgtEl>
                                          <p:spTgt spid="897032"/>
                                        </p:tgtEl>
                                        <p:attrNameLst>
                                          <p:attrName>ppt_x</p:attrName>
                                        </p:attrNameLst>
                                      </p:cBhvr>
                                      <p:tavLst>
                                        <p:tav tm="0">
                                          <p:val>
                                            <p:strVal val="0-#ppt_w/2"/>
                                          </p:val>
                                        </p:tav>
                                        <p:tav tm="100000">
                                          <p:val>
                                            <p:strVal val="#ppt_x"/>
                                          </p:val>
                                        </p:tav>
                                      </p:tavLst>
                                    </p:anim>
                                    <p:anim calcmode="lin" valueType="num">
                                      <p:cBhvr additive="base">
                                        <p:cTn id="44" dur="500" fill="hold"/>
                                        <p:tgtEl>
                                          <p:spTgt spid="8970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7026" grpId="0" autoUpdateAnimBg="0"/>
      <p:bldP spid="897027" grpId="0" autoUpdateAnimBg="0"/>
      <p:bldP spid="897028" grpId="0" autoUpdateAnimBg="0"/>
      <p:bldP spid="897029" grpId="0" autoUpdateAnimBg="0"/>
      <p:bldP spid="897030" grpId="0" autoUpdateAnimBg="0"/>
      <p:bldP spid="897031" grpId="0" autoUpdateAnimBg="0"/>
      <p:bldP spid="897032"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Text Box 2"/>
          <p:cNvSpPr txBox="1">
            <a:spLocks noChangeArrowheads="1"/>
          </p:cNvSpPr>
          <p:nvPr/>
        </p:nvSpPr>
        <p:spPr bwMode="auto">
          <a:xfrm>
            <a:off x="2189163" y="990600"/>
            <a:ext cx="3830637"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a:ea typeface="楷体_GB2312" charset="0"/>
              </a:rPr>
              <a:t> </a:t>
            </a:r>
            <a:r>
              <a:rPr lang="en-US" altLang="zh-CN" sz="4400" b="1">
                <a:solidFill>
                  <a:srgbClr val="333399"/>
                </a:solidFill>
                <a:ea typeface="楷体_GB2312" charset="0"/>
              </a:rPr>
              <a:t>ListEmpty( L )</a:t>
            </a:r>
            <a:endParaRPr lang="en-US" altLang="zh-CN" sz="2400">
              <a:ea typeface="楷体_GB2312" charset="0"/>
            </a:endParaRPr>
          </a:p>
          <a:p>
            <a:pPr eaLnBrk="1" hangingPunct="1">
              <a:defRPr/>
            </a:pPr>
            <a:endParaRPr lang="zh-CN" altLang="en-US" sz="2400"/>
          </a:p>
        </p:txBody>
      </p:sp>
      <p:sp>
        <p:nvSpPr>
          <p:cNvPr id="898051" name="Text Box 3"/>
          <p:cNvSpPr txBox="1">
            <a:spLocks noChangeArrowheads="1"/>
          </p:cNvSpPr>
          <p:nvPr/>
        </p:nvSpPr>
        <p:spPr bwMode="auto">
          <a:xfrm>
            <a:off x="381000" y="2590800"/>
            <a:ext cx="320040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4400">
                <a:solidFill>
                  <a:srgbClr val="FF0000"/>
                </a:solidFill>
                <a:latin typeface="楷体_GB2312" charset="0"/>
                <a:ea typeface="楷体_GB2312" charset="0"/>
              </a:rPr>
              <a:t>初始条件：</a:t>
            </a:r>
            <a:endParaRPr lang="zh-CN" altLang="en-US" sz="4400">
              <a:solidFill>
                <a:srgbClr val="FF0000"/>
              </a:solidFill>
              <a:latin typeface="楷体_GB2312" charset="0"/>
              <a:ea typeface="楷体_GB2312" charset="0"/>
            </a:endParaRPr>
          </a:p>
          <a:p>
            <a:pPr eaLnBrk="1" hangingPunct="1">
              <a:defRPr/>
            </a:pPr>
            <a:endParaRPr lang="zh-CN" altLang="en-US" sz="4400">
              <a:solidFill>
                <a:srgbClr val="FF0000"/>
              </a:solidFill>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2400">
              <a:solidFill>
                <a:srgbClr val="FF0000"/>
              </a:solidFill>
              <a:latin typeface="楷体_GB2312" charset="0"/>
              <a:ea typeface="楷体_GB2312" charset="0"/>
            </a:endParaRPr>
          </a:p>
        </p:txBody>
      </p:sp>
      <p:sp>
        <p:nvSpPr>
          <p:cNvPr id="898052" name="Text Box 4"/>
          <p:cNvSpPr txBox="1">
            <a:spLocks noChangeArrowheads="1"/>
          </p:cNvSpPr>
          <p:nvPr/>
        </p:nvSpPr>
        <p:spPr bwMode="auto">
          <a:xfrm>
            <a:off x="3124200" y="2743200"/>
            <a:ext cx="40782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latin typeface="楷体_GB2312" charset="0"/>
                <a:ea typeface="楷体_GB2312" charset="0"/>
              </a:rPr>
              <a:t>线性表</a:t>
            </a:r>
            <a:r>
              <a:rPr lang="en-US" altLang="zh-CN" sz="4000" b="1">
                <a:solidFill>
                  <a:srgbClr val="003399"/>
                </a:solidFill>
                <a:ea typeface="楷体_GB2312" charset="0"/>
              </a:rPr>
              <a:t>L</a:t>
            </a:r>
            <a:r>
              <a:rPr lang="zh-CN" altLang="en-US" sz="4000">
                <a:latin typeface="楷体_GB2312" charset="0"/>
                <a:ea typeface="楷体_GB2312" charset="0"/>
              </a:rPr>
              <a:t>已存在。</a:t>
            </a:r>
            <a:endParaRPr lang="zh-CN" altLang="en-US" sz="2400">
              <a:latin typeface="楷体_GB2312" charset="0"/>
              <a:ea typeface="楷体_GB2312" charset="0"/>
            </a:endParaRPr>
          </a:p>
        </p:txBody>
      </p:sp>
      <p:sp>
        <p:nvSpPr>
          <p:cNvPr id="898053" name="Text Box 5"/>
          <p:cNvSpPr txBox="1">
            <a:spLocks noChangeArrowheads="1"/>
          </p:cNvSpPr>
          <p:nvPr/>
        </p:nvSpPr>
        <p:spPr bwMode="auto">
          <a:xfrm>
            <a:off x="3048000" y="3940175"/>
            <a:ext cx="5091113"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4000">
                <a:latin typeface="楷体_GB2312" charset="0"/>
                <a:ea typeface="楷体_GB2312" charset="0"/>
              </a:rPr>
              <a:t>若</a:t>
            </a:r>
            <a:r>
              <a:rPr lang="en-US" altLang="zh-CN" sz="4000" b="1">
                <a:solidFill>
                  <a:srgbClr val="003399"/>
                </a:solidFill>
                <a:ea typeface="楷体_GB2312" charset="0"/>
              </a:rPr>
              <a:t>L</a:t>
            </a:r>
            <a:r>
              <a:rPr lang="zh-CN" altLang="en-US" sz="4000">
                <a:latin typeface="楷体_GB2312" charset="0"/>
                <a:ea typeface="楷体_GB2312" charset="0"/>
              </a:rPr>
              <a:t>为空表，则返回</a:t>
            </a:r>
            <a:endParaRPr lang="zh-CN" altLang="en-US" sz="4000">
              <a:latin typeface="楷体_GB2312" charset="0"/>
              <a:ea typeface="楷体_GB2312" charset="0"/>
            </a:endParaRPr>
          </a:p>
          <a:p>
            <a:pPr eaLnBrk="1" hangingPunct="1">
              <a:lnSpc>
                <a:spcPct val="120000"/>
              </a:lnSpc>
              <a:defRPr/>
            </a:pPr>
            <a:r>
              <a:rPr lang="en-US" altLang="zh-CN" sz="4000">
                <a:solidFill>
                  <a:srgbClr val="660066"/>
                </a:solidFill>
                <a:ea typeface="楷体_GB2312" charset="0"/>
              </a:rPr>
              <a:t>TRUE</a:t>
            </a:r>
            <a:r>
              <a:rPr lang="zh-CN" altLang="en-US" sz="4000">
                <a:latin typeface="楷体_GB2312" charset="0"/>
                <a:ea typeface="楷体_GB2312" charset="0"/>
              </a:rPr>
              <a:t>，否则</a:t>
            </a:r>
            <a:r>
              <a:rPr lang="en-US" altLang="zh-CN" sz="4000">
                <a:solidFill>
                  <a:srgbClr val="660066"/>
                </a:solidFill>
                <a:ea typeface="楷体_GB2312" charset="0"/>
              </a:rPr>
              <a:t>FALSE</a:t>
            </a:r>
            <a:r>
              <a:rPr lang="zh-CN" altLang="en-US" sz="4000">
                <a:latin typeface="楷体_GB2312" charset="0"/>
                <a:ea typeface="楷体_GB2312" charset="0"/>
              </a:rPr>
              <a:t>。</a:t>
            </a:r>
            <a:endParaRPr lang="zh-CN" altLang="en-US" sz="4000">
              <a:latin typeface="楷体_GB2312" charset="0"/>
              <a:ea typeface="楷体_GB2312" charset="0"/>
            </a:endParaRPr>
          </a:p>
        </p:txBody>
      </p:sp>
      <p:sp>
        <p:nvSpPr>
          <p:cNvPr id="898055" name="Text Box 7"/>
          <p:cNvSpPr txBox="1">
            <a:spLocks noChangeArrowheads="1"/>
          </p:cNvSpPr>
          <p:nvPr/>
        </p:nvSpPr>
        <p:spPr bwMode="auto">
          <a:xfrm>
            <a:off x="2286000" y="1600200"/>
            <a:ext cx="374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（线性表判空）</a:t>
            </a:r>
            <a:endParaRPr lang="zh-CN" altLang="en-US" sz="240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Text Box 2"/>
          <p:cNvSpPr txBox="1">
            <a:spLocks noChangeArrowheads="1"/>
          </p:cNvSpPr>
          <p:nvPr/>
        </p:nvSpPr>
        <p:spPr bwMode="auto">
          <a:xfrm>
            <a:off x="2438400" y="914400"/>
            <a:ext cx="38481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333399"/>
                </a:solidFill>
                <a:ea typeface="楷体_GB2312" charset="0"/>
              </a:rPr>
              <a:t>ListLength( L )</a:t>
            </a:r>
            <a:endParaRPr lang="en-US" altLang="zh-CN" sz="2400">
              <a:solidFill>
                <a:srgbClr val="FF0000"/>
              </a:solidFill>
              <a:latin typeface="楷体_GB2312" charset="0"/>
              <a:ea typeface="楷体_GB2312" charset="0"/>
            </a:endParaRPr>
          </a:p>
        </p:txBody>
      </p:sp>
      <p:sp>
        <p:nvSpPr>
          <p:cNvPr id="899075" name="Text Box 3"/>
          <p:cNvSpPr txBox="1">
            <a:spLocks noChangeArrowheads="1"/>
          </p:cNvSpPr>
          <p:nvPr/>
        </p:nvSpPr>
        <p:spPr bwMode="auto">
          <a:xfrm>
            <a:off x="1295400" y="3048000"/>
            <a:ext cx="297815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FF0000"/>
                </a:solidFill>
                <a:latin typeface="楷体_GB2312" charset="0"/>
                <a:ea typeface="楷体_GB2312" charset="0"/>
              </a:rPr>
              <a:t>初始条件：</a:t>
            </a:r>
            <a:endParaRPr lang="zh-CN" altLang="en-US" sz="4400">
              <a:solidFill>
                <a:srgbClr val="FF0000"/>
              </a:solidFill>
              <a:latin typeface="楷体_GB2312" charset="0"/>
              <a:ea typeface="楷体_GB2312" charset="0"/>
            </a:endParaRPr>
          </a:p>
          <a:p>
            <a:pPr eaLnBrk="1" hangingPunct="1">
              <a:defRPr/>
            </a:pPr>
            <a:endParaRPr lang="zh-CN" altLang="en-US" sz="4400">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2400">
              <a:solidFill>
                <a:srgbClr val="FF0000"/>
              </a:solidFill>
              <a:latin typeface="楷体_GB2312" charset="0"/>
              <a:ea typeface="楷体_GB2312" charset="0"/>
            </a:endParaRPr>
          </a:p>
        </p:txBody>
      </p:sp>
      <p:sp>
        <p:nvSpPr>
          <p:cNvPr id="899076" name="Text Box 4"/>
          <p:cNvSpPr txBox="1">
            <a:spLocks noChangeArrowheads="1"/>
          </p:cNvSpPr>
          <p:nvPr/>
        </p:nvSpPr>
        <p:spPr bwMode="auto">
          <a:xfrm>
            <a:off x="3962400" y="3048000"/>
            <a:ext cx="4468813"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latin typeface="楷体_GB2312" charset="0"/>
                <a:ea typeface="楷体_GB2312" charset="0"/>
              </a:rPr>
              <a:t>线性表</a:t>
            </a:r>
            <a:r>
              <a:rPr lang="en-US" altLang="zh-CN" sz="4400" b="1">
                <a:solidFill>
                  <a:srgbClr val="003399"/>
                </a:solidFill>
                <a:ea typeface="楷体_GB2312" charset="0"/>
              </a:rPr>
              <a:t>L</a:t>
            </a:r>
            <a:r>
              <a:rPr lang="zh-CN" altLang="en-US" sz="4400">
                <a:latin typeface="楷体_GB2312" charset="0"/>
                <a:ea typeface="楷体_GB2312" charset="0"/>
              </a:rPr>
              <a:t>已存在。</a:t>
            </a:r>
            <a:endParaRPr lang="zh-CN" altLang="en-US" sz="2400">
              <a:latin typeface="楷体_GB2312" charset="0"/>
              <a:ea typeface="楷体_GB2312" charset="0"/>
            </a:endParaRPr>
          </a:p>
          <a:p>
            <a:pPr eaLnBrk="1" hangingPunct="1">
              <a:defRPr/>
            </a:pPr>
            <a:endParaRPr lang="zh-CN" altLang="en-US" sz="2400"/>
          </a:p>
        </p:txBody>
      </p:sp>
      <p:sp>
        <p:nvSpPr>
          <p:cNvPr id="899077" name="Text Box 5"/>
          <p:cNvSpPr txBox="1">
            <a:spLocks noChangeArrowheads="1"/>
          </p:cNvSpPr>
          <p:nvPr/>
        </p:nvSpPr>
        <p:spPr bwMode="auto">
          <a:xfrm>
            <a:off x="3962400" y="4419600"/>
            <a:ext cx="50276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latin typeface="楷体_GB2312" charset="0"/>
                <a:ea typeface="楷体_GB2312" charset="0"/>
              </a:rPr>
              <a:t>返回</a:t>
            </a:r>
            <a:r>
              <a:rPr lang="en-US" altLang="zh-CN" sz="4400" b="1">
                <a:solidFill>
                  <a:srgbClr val="003399"/>
                </a:solidFill>
                <a:ea typeface="楷体_GB2312" charset="0"/>
              </a:rPr>
              <a:t>L</a:t>
            </a:r>
            <a:r>
              <a:rPr lang="zh-CN" altLang="en-US" sz="4400">
                <a:latin typeface="楷体_GB2312" charset="0"/>
                <a:ea typeface="楷体_GB2312" charset="0"/>
              </a:rPr>
              <a:t>中元素个数。</a:t>
            </a:r>
            <a:endParaRPr lang="zh-CN" altLang="en-US" sz="2400">
              <a:latin typeface="楷体_GB2312" charset="0"/>
              <a:ea typeface="楷体_GB2312" charset="0"/>
            </a:endParaRPr>
          </a:p>
        </p:txBody>
      </p:sp>
      <p:sp>
        <p:nvSpPr>
          <p:cNvPr id="899078" name="AutoShape 6">
            <a:hlinkClick r:id="" action="ppaction://hlinkshowjump?jump=lastslideviewed" highlightClick="1"/>
          </p:cNvPr>
          <p:cNvSpPr>
            <a:spLocks noChangeArrowheads="1"/>
          </p:cNvSpPr>
          <p:nvPr/>
        </p:nvSpPr>
        <p:spPr bwMode="auto">
          <a:xfrm>
            <a:off x="8153400" y="5943600"/>
            <a:ext cx="457200" cy="457200"/>
          </a:xfrm>
          <a:prstGeom prst="actionButtonReturn">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899079" name="Text Box 7"/>
          <p:cNvSpPr txBox="1">
            <a:spLocks noChangeArrowheads="1"/>
          </p:cNvSpPr>
          <p:nvPr/>
        </p:nvSpPr>
        <p:spPr bwMode="auto">
          <a:xfrm>
            <a:off x="2057400" y="1676400"/>
            <a:ext cx="475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（求线性表的长度）</a:t>
            </a:r>
            <a:endParaRPr lang="zh-CN" altLang="en-US" sz="2400">
              <a:solidFill>
                <a:srgbClr val="660066"/>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98" name="Text Box 2"/>
          <p:cNvSpPr txBox="1">
            <a:spLocks noChangeArrowheads="1"/>
          </p:cNvSpPr>
          <p:nvPr/>
        </p:nvSpPr>
        <p:spPr bwMode="auto">
          <a:xfrm>
            <a:off x="588963" y="1497013"/>
            <a:ext cx="688498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a:latin typeface="楷体_GB2312" charset="0"/>
                <a:ea typeface="楷体_GB2312" charset="0"/>
              </a:rPr>
              <a:t> </a:t>
            </a:r>
            <a:r>
              <a:rPr lang="en-US" altLang="zh-CN" sz="4000" b="1">
                <a:solidFill>
                  <a:srgbClr val="333399"/>
                </a:solidFill>
                <a:ea typeface="楷体_GB2312" charset="0"/>
              </a:rPr>
              <a:t>PriorElem( L, cur_e, &amp;pre_e )</a:t>
            </a:r>
            <a:endParaRPr lang="en-US" altLang="zh-CN">
              <a:ea typeface="楷体_GB2312" charset="0"/>
            </a:endParaRPr>
          </a:p>
          <a:p>
            <a:pPr eaLnBrk="1" hangingPunct="1">
              <a:defRPr/>
            </a:pPr>
            <a:endParaRPr lang="zh-CN" altLang="en-US"/>
          </a:p>
        </p:txBody>
      </p:sp>
      <p:sp>
        <p:nvSpPr>
          <p:cNvPr id="900099" name="Text Box 3"/>
          <p:cNvSpPr txBox="1">
            <a:spLocks noChangeArrowheads="1"/>
          </p:cNvSpPr>
          <p:nvPr/>
        </p:nvSpPr>
        <p:spPr bwMode="auto">
          <a:xfrm>
            <a:off x="152400" y="3282950"/>
            <a:ext cx="272415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FF0000"/>
                </a:solidFill>
                <a:latin typeface="楷体_GB2312" charset="0"/>
                <a:ea typeface="楷体_GB2312" charset="0"/>
              </a:rPr>
              <a:t>初始条件：</a:t>
            </a:r>
            <a:endParaRPr lang="zh-CN" altLang="en-US" sz="4000">
              <a:solidFill>
                <a:srgbClr val="FF0000"/>
              </a:solidFill>
              <a:latin typeface="楷体_GB2312" charset="0"/>
              <a:ea typeface="楷体_GB2312" charset="0"/>
            </a:endParaRPr>
          </a:p>
          <a:p>
            <a:pPr eaLnBrk="1" hangingPunct="1">
              <a:defRPr/>
            </a:pPr>
            <a:endParaRPr lang="zh-CN" altLang="en-US" sz="4000">
              <a:latin typeface="楷体_GB2312" charset="0"/>
              <a:ea typeface="楷体_GB2312" charset="0"/>
            </a:endParaRPr>
          </a:p>
          <a:p>
            <a:pPr eaLnBrk="1" hangingPunct="1">
              <a:defRPr/>
            </a:pPr>
            <a:r>
              <a:rPr lang="zh-CN" altLang="en-US" sz="4000">
                <a:solidFill>
                  <a:srgbClr val="FF0000"/>
                </a:solidFill>
                <a:latin typeface="楷体_GB2312" charset="0"/>
                <a:ea typeface="楷体_GB2312" charset="0"/>
              </a:rPr>
              <a:t>操作结果：</a:t>
            </a:r>
            <a:endParaRPr lang="zh-CN" altLang="en-US">
              <a:solidFill>
                <a:srgbClr val="FF0000"/>
              </a:solidFill>
              <a:latin typeface="楷体_GB2312" charset="0"/>
              <a:ea typeface="楷体_GB2312" charset="0"/>
            </a:endParaRPr>
          </a:p>
        </p:txBody>
      </p:sp>
      <p:sp>
        <p:nvSpPr>
          <p:cNvPr id="900100" name="Text Box 4"/>
          <p:cNvSpPr txBox="1">
            <a:spLocks noChangeArrowheads="1"/>
          </p:cNvSpPr>
          <p:nvPr/>
        </p:nvSpPr>
        <p:spPr bwMode="auto">
          <a:xfrm>
            <a:off x="2895600" y="3371850"/>
            <a:ext cx="4572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200">
                <a:latin typeface="楷体_GB2312" charset="0"/>
                <a:ea typeface="楷体_GB2312" charset="0"/>
              </a:rPr>
              <a:t>线性表</a:t>
            </a:r>
            <a:r>
              <a:rPr lang="en-US" altLang="zh-CN" sz="3200">
                <a:ea typeface="楷体_GB2312" charset="0"/>
              </a:rPr>
              <a:t>L</a:t>
            </a:r>
            <a:r>
              <a:rPr lang="zh-CN" altLang="en-US" sz="3200">
                <a:latin typeface="楷体_GB2312" charset="0"/>
                <a:ea typeface="楷体_GB2312" charset="0"/>
              </a:rPr>
              <a:t>已存在。</a:t>
            </a:r>
            <a:endParaRPr lang="zh-CN" altLang="en-US">
              <a:latin typeface="楷体_GB2312" charset="0"/>
              <a:ea typeface="楷体_GB2312" charset="0"/>
            </a:endParaRPr>
          </a:p>
        </p:txBody>
      </p:sp>
      <p:sp>
        <p:nvSpPr>
          <p:cNvPr id="900101" name="Text Box 5"/>
          <p:cNvSpPr txBox="1">
            <a:spLocks noChangeArrowheads="1"/>
          </p:cNvSpPr>
          <p:nvPr/>
        </p:nvSpPr>
        <p:spPr bwMode="auto">
          <a:xfrm>
            <a:off x="2819400" y="4587875"/>
            <a:ext cx="60198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a:latin typeface="楷体_GB2312" charset="0"/>
                <a:ea typeface="楷体_GB2312" charset="0"/>
              </a:rPr>
              <a:t>若</a:t>
            </a:r>
            <a:r>
              <a:rPr lang="en-US" altLang="zh-CN" sz="3200">
                <a:ea typeface="楷体_GB2312" charset="0"/>
              </a:rPr>
              <a:t>cur_e</a:t>
            </a:r>
            <a:r>
              <a:rPr lang="zh-CN" altLang="en-US" sz="3200">
                <a:latin typeface="楷体_GB2312" charset="0"/>
                <a:ea typeface="楷体_GB2312" charset="0"/>
              </a:rPr>
              <a:t>是</a:t>
            </a:r>
            <a:r>
              <a:rPr lang="en-US" altLang="zh-CN" sz="3200">
                <a:ea typeface="楷体_GB2312" charset="0"/>
              </a:rPr>
              <a:t>L</a:t>
            </a:r>
            <a:r>
              <a:rPr lang="zh-CN" altLang="en-US" sz="3200">
                <a:latin typeface="楷体_GB2312" charset="0"/>
                <a:ea typeface="楷体_GB2312" charset="0"/>
              </a:rPr>
              <a:t>的元素，但不是第一个，则用</a:t>
            </a:r>
            <a:r>
              <a:rPr lang="en-US" altLang="zh-CN" sz="3200">
                <a:ea typeface="楷体_GB2312" charset="0"/>
              </a:rPr>
              <a:t>pre_e </a:t>
            </a:r>
            <a:r>
              <a:rPr lang="zh-CN" altLang="en-US" sz="3200">
                <a:latin typeface="楷体_GB2312" charset="0"/>
                <a:ea typeface="楷体_GB2312" charset="0"/>
              </a:rPr>
              <a:t>返回它的前驱，否则操作失败，</a:t>
            </a:r>
            <a:r>
              <a:rPr lang="en-US" altLang="zh-CN" sz="3200">
                <a:ea typeface="楷体_GB2312" charset="0"/>
              </a:rPr>
              <a:t>pre_e</a:t>
            </a:r>
            <a:r>
              <a:rPr lang="zh-CN" altLang="en-US" sz="3200">
                <a:latin typeface="楷体_GB2312" charset="0"/>
                <a:ea typeface="楷体_GB2312" charset="0"/>
              </a:rPr>
              <a:t>无定义。</a:t>
            </a:r>
            <a:endParaRPr lang="zh-CN" altLang="en-US" sz="3600"/>
          </a:p>
        </p:txBody>
      </p:sp>
      <p:sp>
        <p:nvSpPr>
          <p:cNvPr id="900103" name="Text Box 7"/>
          <p:cNvSpPr txBox="1">
            <a:spLocks noChangeArrowheads="1"/>
          </p:cNvSpPr>
          <p:nvPr/>
        </p:nvSpPr>
        <p:spPr bwMode="auto">
          <a:xfrm>
            <a:off x="1517650" y="2322513"/>
            <a:ext cx="4756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660066"/>
                </a:solidFill>
                <a:ea typeface="隶书" panose="02010509060101010101" charset="-122"/>
              </a:rPr>
              <a:t>（求数据元素的前驱）</a:t>
            </a:r>
            <a:endParaRPr lang="zh-CN" alt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Text Box 2"/>
          <p:cNvSpPr txBox="1">
            <a:spLocks noChangeArrowheads="1"/>
          </p:cNvSpPr>
          <p:nvPr/>
        </p:nvSpPr>
        <p:spPr bwMode="auto">
          <a:xfrm>
            <a:off x="1136650" y="1192213"/>
            <a:ext cx="6816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solidFill>
                  <a:srgbClr val="333399"/>
                </a:solidFill>
                <a:ea typeface="楷体_GB2312" charset="0"/>
              </a:rPr>
              <a:t>NextElem( L, cur_e, &amp;next_e )</a:t>
            </a:r>
            <a:endParaRPr lang="en-US" altLang="zh-CN" sz="4000"/>
          </a:p>
        </p:txBody>
      </p:sp>
      <p:sp>
        <p:nvSpPr>
          <p:cNvPr id="901123" name="Text Box 3"/>
          <p:cNvSpPr txBox="1">
            <a:spLocks noChangeArrowheads="1"/>
          </p:cNvSpPr>
          <p:nvPr/>
        </p:nvSpPr>
        <p:spPr bwMode="auto">
          <a:xfrm>
            <a:off x="228600" y="3022600"/>
            <a:ext cx="272415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FF0000"/>
                </a:solidFill>
                <a:latin typeface="楷体_GB2312" charset="0"/>
                <a:ea typeface="楷体_GB2312" charset="0"/>
              </a:rPr>
              <a:t>初始条件：</a:t>
            </a:r>
            <a:endParaRPr lang="zh-CN" altLang="en-US" sz="4000">
              <a:solidFill>
                <a:srgbClr val="FF0000"/>
              </a:solidFill>
              <a:latin typeface="楷体_GB2312" charset="0"/>
              <a:ea typeface="楷体_GB2312" charset="0"/>
            </a:endParaRPr>
          </a:p>
          <a:p>
            <a:pPr eaLnBrk="1" hangingPunct="1">
              <a:defRPr/>
            </a:pPr>
            <a:endParaRPr lang="zh-CN" altLang="en-US" sz="4000">
              <a:latin typeface="楷体_GB2312" charset="0"/>
              <a:ea typeface="楷体_GB2312" charset="0"/>
            </a:endParaRPr>
          </a:p>
          <a:p>
            <a:pPr eaLnBrk="1" hangingPunct="1">
              <a:defRPr/>
            </a:pPr>
            <a:r>
              <a:rPr lang="zh-CN" altLang="en-US" sz="4000">
                <a:solidFill>
                  <a:srgbClr val="FF0000"/>
                </a:solidFill>
                <a:latin typeface="楷体_GB2312" charset="0"/>
                <a:ea typeface="楷体_GB2312" charset="0"/>
              </a:rPr>
              <a:t>操作结果：</a:t>
            </a:r>
            <a:endParaRPr lang="zh-CN" altLang="en-US" sz="4000">
              <a:solidFill>
                <a:srgbClr val="FF0000"/>
              </a:solidFill>
              <a:latin typeface="楷体_GB2312" charset="0"/>
              <a:ea typeface="楷体_GB2312" charset="0"/>
            </a:endParaRPr>
          </a:p>
        </p:txBody>
      </p:sp>
      <p:sp>
        <p:nvSpPr>
          <p:cNvPr id="901124" name="Text Box 4"/>
          <p:cNvSpPr txBox="1">
            <a:spLocks noChangeArrowheads="1"/>
          </p:cNvSpPr>
          <p:nvPr/>
        </p:nvSpPr>
        <p:spPr bwMode="auto">
          <a:xfrm>
            <a:off x="2813050" y="3175000"/>
            <a:ext cx="49593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200">
                <a:latin typeface="楷体_GB2312" charset="0"/>
                <a:ea typeface="楷体_GB2312" charset="0"/>
              </a:rPr>
              <a:t>线性表</a:t>
            </a:r>
            <a:r>
              <a:rPr lang="en-US" altLang="zh-CN" sz="3200">
                <a:ea typeface="楷体_GB2312" charset="0"/>
              </a:rPr>
              <a:t>L</a:t>
            </a:r>
            <a:r>
              <a:rPr lang="zh-CN" altLang="en-US" sz="3200">
                <a:latin typeface="楷体_GB2312" charset="0"/>
                <a:ea typeface="楷体_GB2312" charset="0"/>
              </a:rPr>
              <a:t>已存在。</a:t>
            </a:r>
            <a:endParaRPr lang="zh-CN" altLang="en-US" sz="3200">
              <a:latin typeface="楷体_GB2312" charset="0"/>
              <a:ea typeface="楷体_GB2312" charset="0"/>
            </a:endParaRPr>
          </a:p>
          <a:p>
            <a:pPr eaLnBrk="1" hangingPunct="1">
              <a:defRPr/>
            </a:pPr>
            <a:endParaRPr lang="zh-CN" altLang="en-US" sz="3200"/>
          </a:p>
        </p:txBody>
      </p:sp>
      <p:sp>
        <p:nvSpPr>
          <p:cNvPr id="901125" name="Text Box 5">
            <a:hlinkClick r:id="rId1" action="ppaction://hlinksldjump"/>
          </p:cNvPr>
          <p:cNvSpPr txBox="1">
            <a:spLocks noChangeArrowheads="1"/>
          </p:cNvSpPr>
          <p:nvPr/>
        </p:nvSpPr>
        <p:spPr bwMode="auto">
          <a:xfrm>
            <a:off x="2819400" y="4359275"/>
            <a:ext cx="60198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a:latin typeface="楷体_GB2312" charset="0"/>
                <a:ea typeface="楷体_GB2312" charset="0"/>
              </a:rPr>
              <a:t>若</a:t>
            </a:r>
            <a:r>
              <a:rPr lang="en-US" altLang="zh-CN" sz="3200">
                <a:ea typeface="楷体_GB2312" charset="0"/>
              </a:rPr>
              <a:t>cur_e</a:t>
            </a:r>
            <a:r>
              <a:rPr lang="zh-CN" altLang="en-US" sz="3200">
                <a:ea typeface="楷体_GB2312" charset="0"/>
              </a:rPr>
              <a:t>是</a:t>
            </a:r>
            <a:r>
              <a:rPr lang="en-US" altLang="zh-CN" sz="3200">
                <a:ea typeface="楷体_GB2312" charset="0"/>
              </a:rPr>
              <a:t>L</a:t>
            </a:r>
            <a:r>
              <a:rPr lang="zh-CN" altLang="en-US" sz="3200">
                <a:latin typeface="楷体_GB2312" charset="0"/>
                <a:ea typeface="楷体_GB2312" charset="0"/>
              </a:rPr>
              <a:t>的元素，但不是最后一个，则用</a:t>
            </a:r>
            <a:r>
              <a:rPr lang="en-US" altLang="zh-CN" sz="3200">
                <a:ea typeface="楷体_GB2312" charset="0"/>
              </a:rPr>
              <a:t>next_e</a:t>
            </a:r>
            <a:r>
              <a:rPr lang="zh-CN" altLang="en-US" sz="3200">
                <a:latin typeface="楷体_GB2312" charset="0"/>
                <a:ea typeface="楷体_GB2312" charset="0"/>
              </a:rPr>
              <a:t>返回它的后继，否则操作失败，</a:t>
            </a:r>
            <a:r>
              <a:rPr lang="en-US" altLang="zh-CN" sz="3200">
                <a:ea typeface="楷体_GB2312" charset="0"/>
              </a:rPr>
              <a:t>next_e</a:t>
            </a:r>
            <a:r>
              <a:rPr lang="zh-CN" altLang="en-US" sz="3200">
                <a:latin typeface="楷体_GB2312" charset="0"/>
                <a:ea typeface="楷体_GB2312" charset="0"/>
              </a:rPr>
              <a:t>无定义。</a:t>
            </a:r>
            <a:endParaRPr lang="zh-CN" altLang="en-US" sz="3200"/>
          </a:p>
        </p:txBody>
      </p:sp>
      <p:sp>
        <p:nvSpPr>
          <p:cNvPr id="901127" name="Text Box 7"/>
          <p:cNvSpPr txBox="1">
            <a:spLocks noChangeArrowheads="1"/>
          </p:cNvSpPr>
          <p:nvPr/>
        </p:nvSpPr>
        <p:spPr bwMode="auto">
          <a:xfrm>
            <a:off x="1898650" y="1881188"/>
            <a:ext cx="4756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660066"/>
                </a:solidFill>
                <a:ea typeface="隶书" panose="02010509060101010101" charset="-122"/>
              </a:rPr>
              <a:t>（求数据元素的后继）</a:t>
            </a:r>
            <a:endParaRPr lang="zh-CN" alt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Text Box 2"/>
          <p:cNvSpPr txBox="1">
            <a:spLocks noChangeArrowheads="1"/>
          </p:cNvSpPr>
          <p:nvPr/>
        </p:nvSpPr>
        <p:spPr bwMode="auto">
          <a:xfrm>
            <a:off x="1981200" y="1176338"/>
            <a:ext cx="4333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solidFill>
                  <a:srgbClr val="333399"/>
                </a:solidFill>
                <a:ea typeface="楷体_GB2312" charset="0"/>
              </a:rPr>
              <a:t>GetElem( L, i, &amp;e )</a:t>
            </a:r>
            <a:endParaRPr lang="en-US" altLang="zh-CN"/>
          </a:p>
        </p:txBody>
      </p:sp>
      <p:sp>
        <p:nvSpPr>
          <p:cNvPr id="902147" name="Text Box 3"/>
          <p:cNvSpPr txBox="1">
            <a:spLocks noChangeArrowheads="1"/>
          </p:cNvSpPr>
          <p:nvPr/>
        </p:nvSpPr>
        <p:spPr bwMode="auto">
          <a:xfrm>
            <a:off x="0" y="3143250"/>
            <a:ext cx="297815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a:solidFill>
                  <a:srgbClr val="FF0000"/>
                </a:solidFill>
                <a:latin typeface="楷体_GB2312" charset="0"/>
                <a:ea typeface="楷体_GB2312" charset="0"/>
              </a:rPr>
              <a:t> </a:t>
            </a:r>
            <a:r>
              <a:rPr lang="zh-CN" altLang="en-US" sz="4000">
                <a:solidFill>
                  <a:srgbClr val="FF0000"/>
                </a:solidFill>
                <a:latin typeface="楷体_GB2312" charset="0"/>
                <a:ea typeface="楷体_GB2312" charset="0"/>
              </a:rPr>
              <a:t>初始条件：</a:t>
            </a:r>
            <a:endParaRPr lang="zh-CN" altLang="en-US" sz="4000">
              <a:solidFill>
                <a:srgbClr val="FF0000"/>
              </a:solidFill>
              <a:latin typeface="楷体_GB2312" charset="0"/>
              <a:ea typeface="楷体_GB2312" charset="0"/>
            </a:endParaRPr>
          </a:p>
          <a:p>
            <a:pPr eaLnBrk="1" hangingPunct="1">
              <a:defRPr/>
            </a:pPr>
            <a:endParaRPr lang="zh-CN" altLang="en-US" sz="4000">
              <a:solidFill>
                <a:srgbClr val="FF0000"/>
              </a:solidFill>
              <a:latin typeface="楷体_GB2312" charset="0"/>
              <a:ea typeface="楷体_GB2312" charset="0"/>
            </a:endParaRPr>
          </a:p>
          <a:p>
            <a:pPr eaLnBrk="1" hangingPunct="1">
              <a:defRPr/>
            </a:pPr>
            <a:endParaRPr lang="zh-CN" altLang="en-US" sz="4000">
              <a:solidFill>
                <a:srgbClr val="FF0000"/>
              </a:solidFill>
              <a:latin typeface="楷体_GB2312" charset="0"/>
              <a:ea typeface="楷体_GB2312" charset="0"/>
            </a:endParaRPr>
          </a:p>
          <a:p>
            <a:pPr eaLnBrk="1" hangingPunct="1">
              <a:defRPr/>
            </a:pPr>
            <a:r>
              <a:rPr lang="zh-CN" altLang="en-US" sz="4000">
                <a:latin typeface="楷体_GB2312" charset="0"/>
                <a:ea typeface="楷体_GB2312" charset="0"/>
              </a:rPr>
              <a:t> </a:t>
            </a:r>
            <a:r>
              <a:rPr lang="zh-CN" altLang="en-US" sz="4000">
                <a:solidFill>
                  <a:srgbClr val="FF0000"/>
                </a:solidFill>
                <a:latin typeface="楷体_GB2312" charset="0"/>
                <a:ea typeface="楷体_GB2312" charset="0"/>
              </a:rPr>
              <a:t>操作结果：</a:t>
            </a:r>
            <a:endParaRPr lang="zh-CN" altLang="en-US" sz="4000">
              <a:solidFill>
                <a:srgbClr val="FF0000"/>
              </a:solidFill>
              <a:latin typeface="楷体_GB2312" charset="0"/>
              <a:ea typeface="楷体_GB2312" charset="0"/>
            </a:endParaRPr>
          </a:p>
        </p:txBody>
      </p:sp>
      <p:sp>
        <p:nvSpPr>
          <p:cNvPr id="902148" name="Text Box 4"/>
          <p:cNvSpPr txBox="1">
            <a:spLocks noChangeArrowheads="1"/>
          </p:cNvSpPr>
          <p:nvPr/>
        </p:nvSpPr>
        <p:spPr bwMode="auto">
          <a:xfrm>
            <a:off x="2667000" y="3155950"/>
            <a:ext cx="6629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3200">
                <a:latin typeface="楷体_GB2312" charset="0"/>
                <a:ea typeface="楷体_GB2312" charset="0"/>
              </a:rPr>
              <a:t>线性表</a:t>
            </a:r>
            <a:r>
              <a:rPr lang="en-US" altLang="zh-CN" sz="3200" b="1">
                <a:solidFill>
                  <a:srgbClr val="660066"/>
                </a:solidFill>
                <a:ea typeface="楷体_GB2312" charset="0"/>
              </a:rPr>
              <a:t>L</a:t>
            </a:r>
            <a:r>
              <a:rPr lang="zh-CN" altLang="en-US" sz="3200">
                <a:latin typeface="楷体_GB2312" charset="0"/>
                <a:ea typeface="楷体_GB2312" charset="0"/>
              </a:rPr>
              <a:t>已存在，</a:t>
            </a:r>
            <a:endParaRPr lang="zh-CN" altLang="en-US" sz="3200">
              <a:latin typeface="楷体_GB2312" charset="0"/>
              <a:ea typeface="楷体_GB2312" charset="0"/>
            </a:endParaRPr>
          </a:p>
          <a:p>
            <a:pPr eaLnBrk="1" hangingPunct="1">
              <a:lnSpc>
                <a:spcPct val="125000"/>
              </a:lnSpc>
              <a:defRPr/>
            </a:pPr>
            <a:r>
              <a:rPr lang="zh-CN" altLang="en-US" sz="3200">
                <a:latin typeface="楷体_GB2312" charset="0"/>
                <a:ea typeface="楷体_GB2312" charset="0"/>
              </a:rPr>
              <a:t>且 </a:t>
            </a:r>
            <a:r>
              <a:rPr lang="en-US" altLang="zh-CN" sz="3200" b="1">
                <a:ea typeface="楷体_GB2312" charset="0"/>
              </a:rPr>
              <a:t>1≤i≤LengthList(L)</a:t>
            </a:r>
            <a:r>
              <a:rPr lang="zh-CN" altLang="en-US" sz="3200" b="1">
                <a:ea typeface="楷体_GB2312" charset="0"/>
              </a:rPr>
              <a:t>。</a:t>
            </a:r>
            <a:endParaRPr lang="zh-CN" altLang="en-US" sz="3200" b="1">
              <a:ea typeface="楷体_GB2312" charset="0"/>
            </a:endParaRPr>
          </a:p>
        </p:txBody>
      </p:sp>
      <p:sp>
        <p:nvSpPr>
          <p:cNvPr id="902149" name="Text Box 5"/>
          <p:cNvSpPr txBox="1">
            <a:spLocks noChangeArrowheads="1"/>
          </p:cNvSpPr>
          <p:nvPr/>
        </p:nvSpPr>
        <p:spPr bwMode="auto">
          <a:xfrm>
            <a:off x="2819400" y="5276850"/>
            <a:ext cx="5829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a:latin typeface="楷体_GB2312" charset="0"/>
                <a:ea typeface="楷体_GB2312" charset="0"/>
              </a:rPr>
              <a:t>用</a:t>
            </a:r>
            <a:r>
              <a:rPr lang="zh-CN" altLang="en-US" sz="3200">
                <a:solidFill>
                  <a:srgbClr val="660066"/>
                </a:solidFill>
                <a:latin typeface="楷体_GB2312" charset="0"/>
                <a:ea typeface="楷体_GB2312" charset="0"/>
              </a:rPr>
              <a:t> </a:t>
            </a:r>
            <a:r>
              <a:rPr lang="en-US" altLang="zh-CN" sz="3200">
                <a:solidFill>
                  <a:srgbClr val="660066"/>
                </a:solidFill>
                <a:ea typeface="楷体_GB2312" charset="0"/>
              </a:rPr>
              <a:t>e </a:t>
            </a:r>
            <a:r>
              <a:rPr lang="zh-CN" altLang="en-US" sz="3200">
                <a:latin typeface="楷体_GB2312" charset="0"/>
                <a:ea typeface="楷体_GB2312" charset="0"/>
              </a:rPr>
              <a:t>返回</a:t>
            </a:r>
            <a:r>
              <a:rPr lang="en-US" altLang="zh-CN" sz="3200" b="1">
                <a:solidFill>
                  <a:srgbClr val="003399"/>
                </a:solidFill>
                <a:ea typeface="楷体_GB2312" charset="0"/>
              </a:rPr>
              <a:t>L</a:t>
            </a:r>
            <a:r>
              <a:rPr lang="zh-CN" altLang="en-US" sz="3200">
                <a:latin typeface="楷体_GB2312" charset="0"/>
                <a:ea typeface="楷体_GB2312" charset="0"/>
              </a:rPr>
              <a:t>中第 </a:t>
            </a:r>
            <a:r>
              <a:rPr lang="en-US" altLang="zh-CN" sz="3200">
                <a:solidFill>
                  <a:srgbClr val="660066"/>
                </a:solidFill>
                <a:ea typeface="楷体_GB2312" charset="0"/>
              </a:rPr>
              <a:t>i</a:t>
            </a:r>
            <a:r>
              <a:rPr lang="en-US" altLang="zh-CN" sz="3200">
                <a:ea typeface="楷体_GB2312" charset="0"/>
              </a:rPr>
              <a:t> </a:t>
            </a:r>
            <a:r>
              <a:rPr lang="zh-CN" altLang="en-US" sz="3200">
                <a:latin typeface="楷体_GB2312" charset="0"/>
                <a:ea typeface="楷体_GB2312" charset="0"/>
              </a:rPr>
              <a:t>个元素的值。</a:t>
            </a:r>
            <a:endParaRPr lang="zh-CN" altLang="en-US" sz="3200">
              <a:latin typeface="楷体_GB2312" charset="0"/>
              <a:ea typeface="楷体_GB2312" charset="0"/>
            </a:endParaRPr>
          </a:p>
        </p:txBody>
      </p:sp>
      <p:sp>
        <p:nvSpPr>
          <p:cNvPr id="902151" name="Text Box 7"/>
          <p:cNvSpPr txBox="1">
            <a:spLocks noChangeArrowheads="1"/>
          </p:cNvSpPr>
          <p:nvPr/>
        </p:nvSpPr>
        <p:spPr bwMode="auto">
          <a:xfrm>
            <a:off x="914400" y="1849438"/>
            <a:ext cx="6127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660066"/>
                </a:solidFill>
                <a:ea typeface="隶书" panose="02010509060101010101" charset="-122"/>
              </a:rPr>
              <a:t>（求线性表中某个数据元素）</a:t>
            </a:r>
            <a:endParaRPr lang="zh-CN" alt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Text Box 2"/>
          <p:cNvSpPr txBox="1">
            <a:spLocks noChangeArrowheads="1"/>
          </p:cNvSpPr>
          <p:nvPr/>
        </p:nvSpPr>
        <p:spPr bwMode="auto">
          <a:xfrm>
            <a:off x="1076325" y="1192213"/>
            <a:ext cx="6802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solidFill>
                  <a:srgbClr val="333399"/>
                </a:solidFill>
                <a:ea typeface="楷体_GB2312" charset="0"/>
              </a:rPr>
              <a:t>LocateElem( L, e, compare( ) )</a:t>
            </a:r>
            <a:endParaRPr lang="en-US" altLang="zh-CN" sz="4000">
              <a:ea typeface="楷体_GB2312" charset="0"/>
            </a:endParaRPr>
          </a:p>
        </p:txBody>
      </p:sp>
      <p:sp>
        <p:nvSpPr>
          <p:cNvPr id="903171" name="Text Box 3"/>
          <p:cNvSpPr txBox="1">
            <a:spLocks noChangeArrowheads="1"/>
          </p:cNvSpPr>
          <p:nvPr/>
        </p:nvSpPr>
        <p:spPr bwMode="auto">
          <a:xfrm>
            <a:off x="304800" y="2749550"/>
            <a:ext cx="272415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FF0000"/>
                </a:solidFill>
                <a:latin typeface="楷体_GB2312" charset="0"/>
                <a:ea typeface="楷体_GB2312" charset="0"/>
              </a:rPr>
              <a:t>初始条件：</a:t>
            </a:r>
            <a:endParaRPr lang="zh-CN" altLang="en-US" sz="4000">
              <a:solidFill>
                <a:srgbClr val="FF0000"/>
              </a:solidFill>
              <a:latin typeface="楷体_GB2312" charset="0"/>
              <a:ea typeface="楷体_GB2312" charset="0"/>
            </a:endParaRPr>
          </a:p>
          <a:p>
            <a:pPr eaLnBrk="1" hangingPunct="1">
              <a:defRPr/>
            </a:pPr>
            <a:endParaRPr lang="zh-CN" altLang="en-US" sz="4000">
              <a:solidFill>
                <a:srgbClr val="FF0000"/>
              </a:solidFill>
              <a:latin typeface="楷体_GB2312" charset="0"/>
              <a:ea typeface="楷体_GB2312" charset="0"/>
            </a:endParaRPr>
          </a:p>
          <a:p>
            <a:pPr eaLnBrk="1" hangingPunct="1">
              <a:defRPr/>
            </a:pPr>
            <a:r>
              <a:rPr lang="zh-CN" altLang="en-US" sz="4000">
                <a:solidFill>
                  <a:srgbClr val="FF0000"/>
                </a:solidFill>
                <a:latin typeface="楷体_GB2312" charset="0"/>
                <a:ea typeface="楷体_GB2312" charset="0"/>
              </a:rPr>
              <a:t>操作结果：</a:t>
            </a:r>
            <a:endParaRPr lang="zh-CN" altLang="en-US">
              <a:solidFill>
                <a:srgbClr val="FF0000"/>
              </a:solidFill>
              <a:latin typeface="楷体_GB2312" charset="0"/>
              <a:ea typeface="楷体_GB2312" charset="0"/>
            </a:endParaRPr>
          </a:p>
        </p:txBody>
      </p:sp>
      <p:sp>
        <p:nvSpPr>
          <p:cNvPr id="903172" name="Text Box 4"/>
          <p:cNvSpPr txBox="1">
            <a:spLocks noChangeArrowheads="1"/>
          </p:cNvSpPr>
          <p:nvPr/>
        </p:nvSpPr>
        <p:spPr bwMode="auto">
          <a:xfrm>
            <a:off x="3003550" y="2767013"/>
            <a:ext cx="56134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a:latin typeface="楷体_GB2312" charset="0"/>
                <a:ea typeface="楷体_GB2312" charset="0"/>
              </a:rPr>
              <a:t>线性表</a:t>
            </a:r>
            <a:r>
              <a:rPr lang="en-US" altLang="zh-CN" sz="3200" b="1">
                <a:solidFill>
                  <a:srgbClr val="003399"/>
                </a:solidFill>
                <a:ea typeface="楷体_GB2312" charset="0"/>
              </a:rPr>
              <a:t>L</a:t>
            </a:r>
            <a:r>
              <a:rPr lang="zh-CN" altLang="en-US" sz="3200">
                <a:latin typeface="楷体_GB2312" charset="0"/>
                <a:ea typeface="楷体_GB2312" charset="0"/>
              </a:rPr>
              <a:t>已存在，</a:t>
            </a:r>
            <a:r>
              <a:rPr lang="en-US" altLang="zh-CN" sz="3200">
                <a:latin typeface="楷体_GB2312" charset="0"/>
                <a:ea typeface="楷体_GB2312" charset="0"/>
              </a:rPr>
              <a:t>e</a:t>
            </a:r>
            <a:r>
              <a:rPr lang="zh-CN" altLang="en-US" sz="3200">
                <a:latin typeface="楷体_GB2312" charset="0"/>
                <a:ea typeface="楷体_GB2312" charset="0"/>
              </a:rPr>
              <a:t>为给定值，</a:t>
            </a:r>
            <a:endParaRPr lang="zh-CN" altLang="en-US" sz="3200">
              <a:latin typeface="楷体_GB2312" charset="0"/>
              <a:ea typeface="楷体_GB2312" charset="0"/>
            </a:endParaRPr>
          </a:p>
          <a:p>
            <a:pPr eaLnBrk="1" hangingPunct="1">
              <a:lnSpc>
                <a:spcPct val="120000"/>
              </a:lnSpc>
              <a:defRPr/>
            </a:pPr>
            <a:r>
              <a:rPr lang="zh-CN" altLang="en-US" sz="3200">
                <a:latin typeface="楷体_GB2312" charset="0"/>
                <a:ea typeface="楷体_GB2312" charset="0"/>
              </a:rPr>
              <a:t>  </a:t>
            </a:r>
            <a:r>
              <a:rPr lang="en-US" altLang="zh-CN" sz="3200">
                <a:ea typeface="楷体_GB2312" charset="0"/>
              </a:rPr>
              <a:t>compare( )</a:t>
            </a:r>
            <a:r>
              <a:rPr lang="zh-CN" altLang="en-US" sz="3200">
                <a:latin typeface="楷体_GB2312" charset="0"/>
                <a:ea typeface="楷体_GB2312" charset="0"/>
              </a:rPr>
              <a:t>是元素判定函数。</a:t>
            </a:r>
            <a:endParaRPr lang="zh-CN" altLang="en-US" sz="3200"/>
          </a:p>
        </p:txBody>
      </p:sp>
      <p:sp>
        <p:nvSpPr>
          <p:cNvPr id="903173" name="Text Box 5"/>
          <p:cNvSpPr txBox="1">
            <a:spLocks noChangeArrowheads="1"/>
          </p:cNvSpPr>
          <p:nvPr/>
        </p:nvSpPr>
        <p:spPr bwMode="auto">
          <a:xfrm>
            <a:off x="2978150" y="4192588"/>
            <a:ext cx="4903788"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a:latin typeface="楷体_GB2312" charset="0"/>
                <a:ea typeface="楷体_GB2312" charset="0"/>
              </a:rPr>
              <a:t>返回</a:t>
            </a:r>
            <a:r>
              <a:rPr lang="en-US" altLang="zh-CN" sz="3200" b="1">
                <a:solidFill>
                  <a:srgbClr val="003399"/>
                </a:solidFill>
                <a:ea typeface="楷体_GB2312" charset="0"/>
              </a:rPr>
              <a:t>L</a:t>
            </a:r>
            <a:r>
              <a:rPr lang="zh-CN" altLang="en-US" sz="3200" b="1">
                <a:solidFill>
                  <a:srgbClr val="003399"/>
                </a:solidFill>
                <a:latin typeface="楷体_GB2312" charset="0"/>
                <a:ea typeface="楷体_GB2312" charset="0"/>
              </a:rPr>
              <a:t>中第</a:t>
            </a:r>
            <a:r>
              <a:rPr lang="en-US" altLang="zh-CN" sz="3200" b="1">
                <a:solidFill>
                  <a:srgbClr val="003399"/>
                </a:solidFill>
                <a:ea typeface="楷体_GB2312" charset="0"/>
              </a:rPr>
              <a:t>1</a:t>
            </a:r>
            <a:r>
              <a:rPr lang="zh-CN" altLang="en-US" sz="3200" b="1">
                <a:solidFill>
                  <a:srgbClr val="003399"/>
                </a:solidFill>
                <a:latin typeface="楷体_GB2312" charset="0"/>
                <a:ea typeface="楷体_GB2312" charset="0"/>
              </a:rPr>
              <a:t>个</a:t>
            </a:r>
            <a:r>
              <a:rPr lang="zh-CN" altLang="en-US" sz="3200">
                <a:latin typeface="楷体_GB2312" charset="0"/>
                <a:ea typeface="楷体_GB2312" charset="0"/>
              </a:rPr>
              <a:t>与</a:t>
            </a:r>
            <a:r>
              <a:rPr lang="en-US" altLang="zh-CN" sz="3200">
                <a:solidFill>
                  <a:srgbClr val="660066"/>
                </a:solidFill>
                <a:ea typeface="楷体_GB2312" charset="0"/>
              </a:rPr>
              <a:t>e</a:t>
            </a:r>
            <a:r>
              <a:rPr lang="zh-CN" altLang="en-US" sz="3200" b="1">
                <a:solidFill>
                  <a:srgbClr val="660066"/>
                </a:solidFill>
                <a:latin typeface="楷体_GB2312" charset="0"/>
                <a:ea typeface="楷体_GB2312" charset="0"/>
              </a:rPr>
              <a:t>满足</a:t>
            </a:r>
            <a:r>
              <a:rPr lang="zh-CN" altLang="en-US" sz="3200">
                <a:solidFill>
                  <a:srgbClr val="660066"/>
                </a:solidFill>
                <a:latin typeface="楷体_GB2312" charset="0"/>
                <a:ea typeface="楷体_GB2312" charset="0"/>
              </a:rPr>
              <a:t>关系</a:t>
            </a:r>
            <a:endParaRPr lang="zh-CN" altLang="en-US" sz="3200">
              <a:latin typeface="楷体_GB2312" charset="0"/>
              <a:ea typeface="楷体_GB2312" charset="0"/>
            </a:endParaRPr>
          </a:p>
          <a:p>
            <a:pPr eaLnBrk="1" hangingPunct="1">
              <a:lnSpc>
                <a:spcPct val="120000"/>
              </a:lnSpc>
              <a:defRPr/>
            </a:pPr>
            <a:r>
              <a:rPr lang="en-US" altLang="zh-CN" sz="3200">
                <a:ea typeface="楷体_GB2312" charset="0"/>
              </a:rPr>
              <a:t>compare( )</a:t>
            </a:r>
            <a:r>
              <a:rPr lang="zh-CN" altLang="en-US" sz="3200">
                <a:latin typeface="楷体_GB2312" charset="0"/>
                <a:ea typeface="楷体_GB2312" charset="0"/>
              </a:rPr>
              <a:t>的元素的位序。</a:t>
            </a:r>
            <a:endParaRPr lang="zh-CN" altLang="en-US" sz="3200">
              <a:latin typeface="楷体_GB2312" charset="0"/>
              <a:ea typeface="楷体_GB2312" charset="0"/>
            </a:endParaRPr>
          </a:p>
          <a:p>
            <a:pPr eaLnBrk="1" hangingPunct="1">
              <a:lnSpc>
                <a:spcPct val="120000"/>
              </a:lnSpc>
              <a:defRPr/>
            </a:pPr>
            <a:r>
              <a:rPr lang="zh-CN" altLang="en-US" sz="3200">
                <a:latin typeface="楷体_GB2312" charset="0"/>
                <a:ea typeface="楷体_GB2312" charset="0"/>
              </a:rPr>
              <a:t>若这样的元素不存在，</a:t>
            </a:r>
            <a:endParaRPr lang="zh-CN" altLang="en-US" sz="3200">
              <a:latin typeface="楷体_GB2312" charset="0"/>
              <a:ea typeface="楷体_GB2312" charset="0"/>
            </a:endParaRPr>
          </a:p>
          <a:p>
            <a:pPr eaLnBrk="1" hangingPunct="1">
              <a:lnSpc>
                <a:spcPct val="120000"/>
              </a:lnSpc>
              <a:defRPr/>
            </a:pPr>
            <a:r>
              <a:rPr lang="zh-CN" altLang="en-US" sz="3200">
                <a:latin typeface="楷体_GB2312" charset="0"/>
                <a:ea typeface="楷体_GB2312" charset="0"/>
              </a:rPr>
              <a:t>则返回值为</a:t>
            </a:r>
            <a:r>
              <a:rPr lang="en-US" altLang="zh-CN" sz="3200">
                <a:ea typeface="楷体_GB2312" charset="0"/>
              </a:rPr>
              <a:t>0</a:t>
            </a:r>
            <a:r>
              <a:rPr lang="zh-CN" altLang="en-US" sz="3200">
                <a:latin typeface="楷体_GB2312" charset="0"/>
                <a:ea typeface="楷体_GB2312" charset="0"/>
              </a:rPr>
              <a:t>。</a:t>
            </a:r>
            <a:endParaRPr lang="zh-CN" altLang="en-US" sz="3200"/>
          </a:p>
        </p:txBody>
      </p:sp>
      <p:sp>
        <p:nvSpPr>
          <p:cNvPr id="903175" name="Text Box 7"/>
          <p:cNvSpPr txBox="1">
            <a:spLocks noChangeArrowheads="1"/>
          </p:cNvSpPr>
          <p:nvPr/>
        </p:nvSpPr>
        <p:spPr bwMode="auto">
          <a:xfrm>
            <a:off x="1568450" y="1789113"/>
            <a:ext cx="292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660066"/>
                </a:solidFill>
                <a:ea typeface="隶书" panose="02010509060101010101" charset="-122"/>
              </a:rPr>
              <a:t>（定位函数）</a:t>
            </a:r>
            <a:endParaRPr lang="zh-CN"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Text Box 2"/>
          <p:cNvSpPr txBox="1">
            <a:spLocks noChangeArrowheads="1"/>
          </p:cNvSpPr>
          <p:nvPr/>
        </p:nvSpPr>
        <p:spPr bwMode="auto">
          <a:xfrm>
            <a:off x="1530350" y="990600"/>
            <a:ext cx="59372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a:latin typeface="楷体_GB2312" charset="0"/>
                <a:ea typeface="楷体_GB2312" charset="0"/>
              </a:rPr>
              <a:t> </a:t>
            </a:r>
            <a:r>
              <a:rPr lang="en-US" altLang="zh-CN" sz="4400" b="1">
                <a:solidFill>
                  <a:srgbClr val="333399"/>
                </a:solidFill>
                <a:ea typeface="楷体_GB2312" charset="0"/>
              </a:rPr>
              <a:t>ListTraverse(L, visit( ))</a:t>
            </a:r>
            <a:endParaRPr lang="en-US" altLang="zh-CN" sz="4400"/>
          </a:p>
        </p:txBody>
      </p:sp>
      <p:sp>
        <p:nvSpPr>
          <p:cNvPr id="904195" name="Text Box 3"/>
          <p:cNvSpPr txBox="1">
            <a:spLocks noChangeArrowheads="1"/>
          </p:cNvSpPr>
          <p:nvPr/>
        </p:nvSpPr>
        <p:spPr bwMode="auto">
          <a:xfrm>
            <a:off x="228600" y="2667000"/>
            <a:ext cx="297815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FF0000"/>
                </a:solidFill>
                <a:latin typeface="楷体_GB2312" charset="0"/>
                <a:ea typeface="楷体_GB2312" charset="0"/>
              </a:rPr>
              <a:t>初始条件：</a:t>
            </a:r>
            <a:endParaRPr lang="zh-CN" altLang="en-US" sz="4400">
              <a:solidFill>
                <a:srgbClr val="FF0000"/>
              </a:solidFill>
              <a:latin typeface="楷体_GB2312" charset="0"/>
              <a:ea typeface="楷体_GB2312" charset="0"/>
            </a:endParaRPr>
          </a:p>
          <a:p>
            <a:pPr eaLnBrk="1" hangingPunct="1">
              <a:defRPr/>
            </a:pPr>
            <a:endParaRPr lang="zh-CN" altLang="en-US" sz="4400">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4400">
              <a:solidFill>
                <a:srgbClr val="FF0000"/>
              </a:solidFill>
              <a:latin typeface="楷体_GB2312" charset="0"/>
              <a:ea typeface="楷体_GB2312" charset="0"/>
            </a:endParaRPr>
          </a:p>
        </p:txBody>
      </p:sp>
      <p:sp>
        <p:nvSpPr>
          <p:cNvPr id="904196" name="Text Box 4"/>
          <p:cNvSpPr txBox="1">
            <a:spLocks noChangeArrowheads="1"/>
          </p:cNvSpPr>
          <p:nvPr/>
        </p:nvSpPr>
        <p:spPr bwMode="auto">
          <a:xfrm>
            <a:off x="2895600" y="2819400"/>
            <a:ext cx="51498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线性表</a:t>
            </a:r>
            <a:r>
              <a:rPr lang="en-US" altLang="zh-CN" sz="3600" b="1">
                <a:solidFill>
                  <a:srgbClr val="003399"/>
                </a:solidFill>
                <a:ea typeface="楷体_GB2312" charset="0"/>
              </a:rPr>
              <a:t>L</a:t>
            </a:r>
            <a:r>
              <a:rPr lang="zh-CN" altLang="en-US" sz="3600">
                <a:latin typeface="楷体_GB2312" charset="0"/>
                <a:ea typeface="楷体_GB2312" charset="0"/>
              </a:rPr>
              <a:t>已存在，</a:t>
            </a:r>
            <a:endParaRPr lang="zh-CN" altLang="en-US" sz="3600">
              <a:latin typeface="楷体_GB2312" charset="0"/>
              <a:ea typeface="楷体_GB2312" charset="0"/>
            </a:endParaRPr>
          </a:p>
          <a:p>
            <a:pPr eaLnBrk="1" hangingPunct="1">
              <a:defRPr/>
            </a:pPr>
            <a:r>
              <a:rPr lang="en-US" altLang="zh-CN" sz="3600">
                <a:ea typeface="楷体_GB2312" charset="0"/>
              </a:rPr>
              <a:t>Visit() </a:t>
            </a:r>
            <a:r>
              <a:rPr lang="zh-CN" altLang="en-US" sz="3600">
                <a:latin typeface="楷体_GB2312" charset="0"/>
                <a:ea typeface="楷体_GB2312" charset="0"/>
              </a:rPr>
              <a:t>为某个访问函数。</a:t>
            </a:r>
            <a:endParaRPr lang="zh-CN" altLang="en-US" sz="2400">
              <a:latin typeface="楷体_GB2312" charset="0"/>
              <a:ea typeface="楷体_GB2312" charset="0"/>
            </a:endParaRPr>
          </a:p>
        </p:txBody>
      </p:sp>
      <p:sp>
        <p:nvSpPr>
          <p:cNvPr id="904197" name="Text Box 5"/>
          <p:cNvSpPr txBox="1">
            <a:spLocks noChangeArrowheads="1"/>
          </p:cNvSpPr>
          <p:nvPr/>
        </p:nvSpPr>
        <p:spPr bwMode="auto">
          <a:xfrm>
            <a:off x="2819400" y="4114800"/>
            <a:ext cx="5943600" cy="206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600" b="1">
                <a:solidFill>
                  <a:srgbClr val="003399"/>
                </a:solidFill>
                <a:latin typeface="楷体_GB2312" charset="0"/>
                <a:ea typeface="楷体_GB2312" charset="0"/>
              </a:rPr>
              <a:t>依次</a:t>
            </a:r>
            <a:r>
              <a:rPr lang="zh-CN" altLang="en-US" sz="3600">
                <a:latin typeface="楷体_GB2312" charset="0"/>
                <a:ea typeface="楷体_GB2312" charset="0"/>
              </a:rPr>
              <a:t>对</a:t>
            </a:r>
            <a:r>
              <a:rPr lang="en-US" altLang="zh-CN" sz="3600" b="1">
                <a:solidFill>
                  <a:srgbClr val="003399"/>
                </a:solidFill>
                <a:ea typeface="楷体_GB2312" charset="0"/>
              </a:rPr>
              <a:t>L</a:t>
            </a:r>
            <a:r>
              <a:rPr lang="zh-CN" altLang="en-US" sz="3600">
                <a:latin typeface="楷体_GB2312" charset="0"/>
                <a:ea typeface="楷体_GB2312" charset="0"/>
              </a:rPr>
              <a:t>的每个元素调用</a:t>
            </a:r>
            <a:endParaRPr lang="zh-CN" altLang="en-US" sz="3600">
              <a:latin typeface="楷体_GB2312" charset="0"/>
              <a:ea typeface="楷体_GB2312" charset="0"/>
            </a:endParaRPr>
          </a:p>
          <a:p>
            <a:pPr eaLnBrk="1" hangingPunct="1">
              <a:lnSpc>
                <a:spcPct val="120000"/>
              </a:lnSpc>
              <a:defRPr/>
            </a:pPr>
            <a:r>
              <a:rPr lang="zh-CN" altLang="en-US" sz="3600">
                <a:latin typeface="楷体_GB2312" charset="0"/>
                <a:ea typeface="楷体_GB2312" charset="0"/>
              </a:rPr>
              <a:t>函数</a:t>
            </a:r>
            <a:r>
              <a:rPr lang="en-US" altLang="zh-CN" sz="3600">
                <a:ea typeface="楷体_GB2312" charset="0"/>
              </a:rPr>
              <a:t>visit( )</a:t>
            </a:r>
            <a:r>
              <a:rPr lang="zh-CN" altLang="en-US" sz="3600">
                <a:latin typeface="楷体_GB2312" charset="0"/>
                <a:ea typeface="楷体_GB2312" charset="0"/>
              </a:rPr>
              <a:t>。一旦</a:t>
            </a:r>
            <a:r>
              <a:rPr lang="en-US" altLang="zh-CN" sz="3600">
                <a:ea typeface="楷体_GB2312" charset="0"/>
              </a:rPr>
              <a:t>visit( )</a:t>
            </a:r>
            <a:r>
              <a:rPr lang="zh-CN" altLang="en-US" sz="3600">
                <a:latin typeface="楷体_GB2312" charset="0"/>
                <a:ea typeface="楷体_GB2312" charset="0"/>
              </a:rPr>
              <a:t>失败，则操作失败。</a:t>
            </a:r>
            <a:endParaRPr lang="zh-CN" altLang="en-US" sz="2400">
              <a:latin typeface="楷体_GB2312" charset="0"/>
              <a:ea typeface="楷体_GB2312" charset="0"/>
            </a:endParaRPr>
          </a:p>
        </p:txBody>
      </p:sp>
      <p:sp>
        <p:nvSpPr>
          <p:cNvPr id="904199" name="Text Box 7"/>
          <p:cNvSpPr txBox="1">
            <a:spLocks noChangeArrowheads="1"/>
          </p:cNvSpPr>
          <p:nvPr/>
        </p:nvSpPr>
        <p:spPr bwMode="auto">
          <a:xfrm>
            <a:off x="2051050" y="1676400"/>
            <a:ext cx="374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（遍历线性表）</a:t>
            </a:r>
            <a:endParaRPr lang="zh-CN" altLang="en-US" sz="240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Text Box 2"/>
          <p:cNvSpPr txBox="1">
            <a:spLocks noChangeArrowheads="1"/>
          </p:cNvSpPr>
          <p:nvPr/>
        </p:nvSpPr>
        <p:spPr bwMode="auto">
          <a:xfrm>
            <a:off x="1066800" y="1143000"/>
            <a:ext cx="42989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6000" b="1">
                <a:solidFill>
                  <a:srgbClr val="660033"/>
                </a:solidFill>
                <a:latin typeface="隶书" panose="02010509060101010101" charset="-122"/>
                <a:ea typeface="隶书" panose="02010509060101010101" charset="-122"/>
              </a:rPr>
              <a:t>加工型操作</a:t>
            </a:r>
            <a:r>
              <a:rPr lang="zh-CN" altLang="en-US" sz="2400">
                <a:latin typeface="楷体_GB2312" charset="0"/>
                <a:ea typeface="楷体_GB2312" charset="0"/>
              </a:rPr>
              <a:t>  </a:t>
            </a:r>
            <a:endParaRPr lang="zh-CN" altLang="en-US" sz="4800">
              <a:ea typeface="楷体_GB2312" charset="0"/>
            </a:endParaRPr>
          </a:p>
        </p:txBody>
      </p:sp>
      <p:sp>
        <p:nvSpPr>
          <p:cNvPr id="905219" name="Text Box 3">
            <a:hlinkClick r:id="" action="ppaction://hlinkshowjump?jump=nextslide"/>
          </p:cNvPr>
          <p:cNvSpPr txBox="1">
            <a:spLocks noChangeArrowheads="1"/>
          </p:cNvSpPr>
          <p:nvPr/>
        </p:nvSpPr>
        <p:spPr bwMode="auto">
          <a:xfrm>
            <a:off x="1752600" y="2133600"/>
            <a:ext cx="42799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800" b="1">
                <a:solidFill>
                  <a:srgbClr val="333399"/>
                </a:solidFill>
                <a:ea typeface="楷体_GB2312" charset="0"/>
              </a:rPr>
              <a:t>ClearList( &amp;L )</a:t>
            </a:r>
            <a:endParaRPr lang="en-US" altLang="zh-CN" sz="2400"/>
          </a:p>
        </p:txBody>
      </p:sp>
      <p:sp>
        <p:nvSpPr>
          <p:cNvPr id="905220" name="Text Box 4">
            <a:hlinkClick r:id="rId1" action="ppaction://hlinksldjump"/>
          </p:cNvPr>
          <p:cNvSpPr txBox="1">
            <a:spLocks noChangeArrowheads="1"/>
          </p:cNvSpPr>
          <p:nvPr/>
        </p:nvSpPr>
        <p:spPr bwMode="auto">
          <a:xfrm>
            <a:off x="1752600" y="3124200"/>
            <a:ext cx="56372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800" b="1">
                <a:solidFill>
                  <a:srgbClr val="333399"/>
                </a:solidFill>
                <a:ea typeface="楷体_GB2312" charset="0"/>
              </a:rPr>
              <a:t>PutElem( &amp;L, i, &amp;e )</a:t>
            </a:r>
            <a:endParaRPr lang="en-US" altLang="zh-CN" sz="2400"/>
          </a:p>
        </p:txBody>
      </p:sp>
      <p:sp>
        <p:nvSpPr>
          <p:cNvPr id="905221" name="Text Box 5">
            <a:hlinkClick r:id="rId2" action="ppaction://hlinksldjump"/>
          </p:cNvPr>
          <p:cNvSpPr txBox="1">
            <a:spLocks noChangeArrowheads="1"/>
          </p:cNvSpPr>
          <p:nvPr/>
        </p:nvSpPr>
        <p:spPr bwMode="auto">
          <a:xfrm>
            <a:off x="1752600" y="4114800"/>
            <a:ext cx="5430838"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800" b="1">
                <a:solidFill>
                  <a:srgbClr val="333399"/>
                </a:solidFill>
                <a:ea typeface="楷体_GB2312" charset="0"/>
              </a:rPr>
              <a:t>ListInsert( &amp;L, i, e )</a:t>
            </a:r>
            <a:endParaRPr lang="en-US" altLang="zh-CN" sz="4800">
              <a:ea typeface="楷体_GB2312" charset="0"/>
            </a:endParaRPr>
          </a:p>
          <a:p>
            <a:pPr eaLnBrk="1" hangingPunct="1">
              <a:defRPr/>
            </a:pPr>
            <a:endParaRPr lang="zh-CN" altLang="en-US" sz="2400"/>
          </a:p>
        </p:txBody>
      </p:sp>
      <p:sp>
        <p:nvSpPr>
          <p:cNvPr id="905222" name="Text Box 6">
            <a:hlinkClick r:id="rId3" action="ppaction://hlinksldjump"/>
          </p:cNvPr>
          <p:cNvSpPr txBox="1">
            <a:spLocks noChangeArrowheads="1"/>
          </p:cNvSpPr>
          <p:nvPr/>
        </p:nvSpPr>
        <p:spPr bwMode="auto">
          <a:xfrm>
            <a:off x="1752600" y="5165725"/>
            <a:ext cx="60055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800" b="1">
                <a:solidFill>
                  <a:srgbClr val="333399"/>
                </a:solidFill>
                <a:ea typeface="楷体_GB2312" charset="0"/>
              </a:rPr>
              <a:t>ListDelete(&amp;L, i, &amp;e)</a:t>
            </a:r>
            <a:r>
              <a:rPr lang="en-US" altLang="zh-CN" sz="4800"/>
              <a:t>  </a:t>
            </a:r>
            <a:endParaRPr lang="en-US" altLang="zh-CN" sz="2400"/>
          </a:p>
        </p:txBody>
      </p:sp>
      <p:sp>
        <p:nvSpPr>
          <p:cNvPr id="905223" name="AutoShape 7">
            <a:hlinkClick r:id="rId4" action="ppaction://hlinksldjump" highlightClick="1"/>
          </p:cNvPr>
          <p:cNvSpPr>
            <a:spLocks noChangeArrowheads="1"/>
          </p:cNvSpPr>
          <p:nvPr/>
        </p:nvSpPr>
        <p:spPr bwMode="auto">
          <a:xfrm>
            <a:off x="8534400" y="64770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Text Box 2"/>
          <p:cNvSpPr txBox="1">
            <a:spLocks noChangeArrowheads="1"/>
          </p:cNvSpPr>
          <p:nvPr/>
        </p:nvSpPr>
        <p:spPr bwMode="auto">
          <a:xfrm>
            <a:off x="2386013" y="1371600"/>
            <a:ext cx="39385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333399"/>
                </a:solidFill>
                <a:ea typeface="楷体_GB2312" charset="0"/>
              </a:rPr>
              <a:t>ClearList( &amp;L )</a:t>
            </a:r>
            <a:endParaRPr lang="en-US" altLang="zh-CN" sz="2400"/>
          </a:p>
        </p:txBody>
      </p:sp>
      <p:sp>
        <p:nvSpPr>
          <p:cNvPr id="906243" name="Text Box 3"/>
          <p:cNvSpPr txBox="1">
            <a:spLocks noChangeArrowheads="1"/>
          </p:cNvSpPr>
          <p:nvPr/>
        </p:nvSpPr>
        <p:spPr bwMode="auto">
          <a:xfrm>
            <a:off x="1371600" y="3505200"/>
            <a:ext cx="297815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FF0000"/>
                </a:solidFill>
                <a:latin typeface="楷体_GB2312" charset="0"/>
                <a:ea typeface="楷体_GB2312" charset="0"/>
              </a:rPr>
              <a:t>初始条件：</a:t>
            </a:r>
            <a:endParaRPr lang="zh-CN" altLang="en-US" sz="4400">
              <a:solidFill>
                <a:srgbClr val="FF0000"/>
              </a:solidFill>
              <a:latin typeface="楷体_GB2312" charset="0"/>
              <a:ea typeface="楷体_GB2312" charset="0"/>
            </a:endParaRPr>
          </a:p>
          <a:p>
            <a:pPr eaLnBrk="1" hangingPunct="1">
              <a:defRPr/>
            </a:pPr>
            <a:endParaRPr lang="zh-CN" altLang="en-US" sz="4400">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2400">
              <a:solidFill>
                <a:srgbClr val="FF0000"/>
              </a:solidFill>
              <a:latin typeface="楷体_GB2312" charset="0"/>
              <a:ea typeface="楷体_GB2312" charset="0"/>
            </a:endParaRPr>
          </a:p>
        </p:txBody>
      </p:sp>
      <p:sp>
        <p:nvSpPr>
          <p:cNvPr id="906244" name="Text Box 4"/>
          <p:cNvSpPr txBox="1">
            <a:spLocks noChangeArrowheads="1"/>
          </p:cNvSpPr>
          <p:nvPr/>
        </p:nvSpPr>
        <p:spPr bwMode="auto">
          <a:xfrm>
            <a:off x="4343400" y="3581400"/>
            <a:ext cx="40782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latin typeface="楷体_GB2312" charset="0"/>
                <a:ea typeface="楷体_GB2312" charset="0"/>
              </a:rPr>
              <a:t>线性表</a:t>
            </a:r>
            <a:r>
              <a:rPr lang="en-US" altLang="zh-CN" sz="4000" b="1">
                <a:solidFill>
                  <a:srgbClr val="003399"/>
                </a:solidFill>
                <a:ea typeface="楷体_GB2312" charset="0"/>
              </a:rPr>
              <a:t>L</a:t>
            </a:r>
            <a:r>
              <a:rPr lang="zh-CN" altLang="en-US" sz="4000">
                <a:latin typeface="楷体_GB2312" charset="0"/>
                <a:ea typeface="楷体_GB2312" charset="0"/>
              </a:rPr>
              <a:t>已存在。</a:t>
            </a:r>
            <a:endParaRPr lang="zh-CN" altLang="en-US" sz="2400">
              <a:latin typeface="楷体_GB2312" charset="0"/>
              <a:ea typeface="楷体_GB2312" charset="0"/>
            </a:endParaRPr>
          </a:p>
        </p:txBody>
      </p:sp>
      <p:sp>
        <p:nvSpPr>
          <p:cNvPr id="906245" name="Text Box 5"/>
          <p:cNvSpPr txBox="1">
            <a:spLocks noChangeArrowheads="1"/>
          </p:cNvSpPr>
          <p:nvPr/>
        </p:nvSpPr>
        <p:spPr bwMode="auto">
          <a:xfrm>
            <a:off x="4419600" y="4876800"/>
            <a:ext cx="407828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latin typeface="楷体_GB2312" charset="0"/>
                <a:ea typeface="楷体_GB2312" charset="0"/>
              </a:rPr>
              <a:t>将</a:t>
            </a:r>
            <a:r>
              <a:rPr lang="en-US" altLang="zh-CN" sz="4000" b="1">
                <a:solidFill>
                  <a:srgbClr val="003399"/>
                </a:solidFill>
                <a:ea typeface="楷体_GB2312" charset="0"/>
              </a:rPr>
              <a:t>L</a:t>
            </a:r>
            <a:r>
              <a:rPr lang="zh-CN" altLang="en-US" sz="4000">
                <a:latin typeface="楷体_GB2312" charset="0"/>
                <a:ea typeface="楷体_GB2312" charset="0"/>
              </a:rPr>
              <a:t>重置为空表。</a:t>
            </a:r>
            <a:endParaRPr lang="zh-CN" altLang="en-US" sz="4000">
              <a:latin typeface="楷体_GB2312" charset="0"/>
              <a:ea typeface="楷体_GB2312" charset="0"/>
            </a:endParaRPr>
          </a:p>
          <a:p>
            <a:pPr eaLnBrk="1" hangingPunct="1">
              <a:defRPr/>
            </a:pPr>
            <a:endParaRPr lang="zh-CN" altLang="en-US" sz="2400"/>
          </a:p>
        </p:txBody>
      </p:sp>
      <p:sp>
        <p:nvSpPr>
          <p:cNvPr id="906246" name="Text Box 6"/>
          <p:cNvSpPr txBox="1">
            <a:spLocks noChangeArrowheads="1"/>
          </p:cNvSpPr>
          <p:nvPr/>
        </p:nvSpPr>
        <p:spPr bwMode="auto">
          <a:xfrm>
            <a:off x="2432050" y="2041525"/>
            <a:ext cx="374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（线性表置空）</a:t>
            </a:r>
            <a:endParaRPr lang="zh-CN" altLang="en-US" sz="240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Text Box 2"/>
          <p:cNvSpPr txBox="1">
            <a:spLocks noChangeArrowheads="1"/>
          </p:cNvSpPr>
          <p:nvPr/>
        </p:nvSpPr>
        <p:spPr bwMode="auto">
          <a:xfrm>
            <a:off x="1752600" y="1219200"/>
            <a:ext cx="51800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333399"/>
                </a:solidFill>
                <a:ea typeface="楷体_GB2312" charset="0"/>
              </a:rPr>
              <a:t>PutElem( &amp;L, i, &amp;e )</a:t>
            </a:r>
            <a:endParaRPr lang="en-US" altLang="zh-CN" sz="2400"/>
          </a:p>
        </p:txBody>
      </p:sp>
      <p:sp>
        <p:nvSpPr>
          <p:cNvPr id="907267" name="Text Box 3"/>
          <p:cNvSpPr txBox="1">
            <a:spLocks noChangeArrowheads="1"/>
          </p:cNvSpPr>
          <p:nvPr/>
        </p:nvSpPr>
        <p:spPr bwMode="auto">
          <a:xfrm>
            <a:off x="685800" y="3171825"/>
            <a:ext cx="2978150"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FF0000"/>
                </a:solidFill>
                <a:latin typeface="楷体_GB2312" charset="0"/>
                <a:ea typeface="楷体_GB2312" charset="0"/>
              </a:rPr>
              <a:t>初始条件：</a:t>
            </a:r>
            <a:endParaRPr lang="zh-CN" altLang="en-US" sz="4400">
              <a:solidFill>
                <a:srgbClr val="FF0000"/>
              </a:solidFill>
              <a:latin typeface="楷体_GB2312" charset="0"/>
              <a:ea typeface="楷体_GB2312" charset="0"/>
            </a:endParaRPr>
          </a:p>
          <a:p>
            <a:pPr eaLnBrk="1" hangingPunct="1">
              <a:defRPr/>
            </a:pPr>
            <a:endParaRPr lang="zh-CN" altLang="en-US" sz="4400">
              <a:latin typeface="楷体_GB2312" charset="0"/>
              <a:ea typeface="楷体_GB2312" charset="0"/>
            </a:endParaRPr>
          </a:p>
          <a:p>
            <a:pPr eaLnBrk="1" hangingPunct="1">
              <a:defRPr/>
            </a:pPr>
            <a:endParaRPr lang="zh-CN" altLang="en-US" sz="4400">
              <a:solidFill>
                <a:srgbClr val="FF0000"/>
              </a:solidFill>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2400">
              <a:solidFill>
                <a:srgbClr val="FF0000"/>
              </a:solidFill>
              <a:latin typeface="楷体_GB2312" charset="0"/>
              <a:ea typeface="楷体_GB2312" charset="0"/>
            </a:endParaRPr>
          </a:p>
        </p:txBody>
      </p:sp>
      <p:sp>
        <p:nvSpPr>
          <p:cNvPr id="907268" name="Text Box 4"/>
          <p:cNvSpPr txBox="1">
            <a:spLocks noChangeArrowheads="1"/>
          </p:cNvSpPr>
          <p:nvPr/>
        </p:nvSpPr>
        <p:spPr bwMode="auto">
          <a:xfrm>
            <a:off x="3276600" y="3251200"/>
            <a:ext cx="61722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a:latin typeface="楷体_GB2312" charset="0"/>
                <a:ea typeface="楷体_GB2312" charset="0"/>
              </a:rPr>
              <a:t>线性表</a:t>
            </a:r>
            <a:r>
              <a:rPr lang="en-US" altLang="zh-CN" sz="3600" b="1">
                <a:solidFill>
                  <a:srgbClr val="3333CC"/>
                </a:solidFill>
                <a:ea typeface="楷体_GB2312" charset="0"/>
              </a:rPr>
              <a:t>L</a:t>
            </a:r>
            <a:r>
              <a:rPr lang="zh-CN" altLang="en-US" sz="3600">
                <a:latin typeface="楷体_GB2312" charset="0"/>
                <a:ea typeface="楷体_GB2312" charset="0"/>
              </a:rPr>
              <a:t>已存在，</a:t>
            </a:r>
            <a:endParaRPr lang="zh-CN" altLang="en-US" sz="3600">
              <a:latin typeface="楷体_GB2312" charset="0"/>
              <a:ea typeface="楷体_GB2312" charset="0"/>
            </a:endParaRPr>
          </a:p>
          <a:p>
            <a:pPr eaLnBrk="1" hangingPunct="1">
              <a:defRPr/>
            </a:pPr>
            <a:r>
              <a:rPr lang="zh-CN" altLang="en-US" sz="3600">
                <a:latin typeface="楷体_GB2312" charset="0"/>
                <a:ea typeface="楷体_GB2312" charset="0"/>
              </a:rPr>
              <a:t>且 </a:t>
            </a:r>
            <a:r>
              <a:rPr lang="en-US" altLang="zh-CN" sz="3600" b="1">
                <a:solidFill>
                  <a:srgbClr val="3333CC"/>
                </a:solidFill>
                <a:ea typeface="楷体_GB2312" charset="0"/>
              </a:rPr>
              <a:t>1≤i≤LengthList(L) </a:t>
            </a:r>
            <a:r>
              <a:rPr lang="zh-CN" altLang="en-US" sz="3600">
                <a:latin typeface="楷体_GB2312" charset="0"/>
                <a:ea typeface="楷体_GB2312" charset="0"/>
              </a:rPr>
              <a:t>。</a:t>
            </a:r>
            <a:endParaRPr lang="zh-CN" altLang="en-US" sz="3600">
              <a:latin typeface="楷体_GB2312" charset="0"/>
              <a:ea typeface="楷体_GB2312" charset="0"/>
            </a:endParaRPr>
          </a:p>
          <a:p>
            <a:pPr eaLnBrk="1" hangingPunct="1">
              <a:defRPr/>
            </a:pPr>
            <a:endParaRPr lang="zh-CN" altLang="en-US" sz="2400"/>
          </a:p>
        </p:txBody>
      </p:sp>
      <p:sp>
        <p:nvSpPr>
          <p:cNvPr id="907269" name="Text Box 5"/>
          <p:cNvSpPr txBox="1">
            <a:spLocks noChangeArrowheads="1"/>
          </p:cNvSpPr>
          <p:nvPr/>
        </p:nvSpPr>
        <p:spPr bwMode="auto">
          <a:xfrm>
            <a:off x="3295650" y="5229225"/>
            <a:ext cx="5848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a:solidFill>
                  <a:srgbClr val="3333CC"/>
                </a:solidFill>
                <a:ea typeface="楷体_GB2312" charset="0"/>
              </a:rPr>
              <a:t>L</a:t>
            </a:r>
            <a:r>
              <a:rPr lang="zh-CN" altLang="en-US" sz="3600">
                <a:latin typeface="楷体_GB2312" charset="0"/>
                <a:ea typeface="楷体_GB2312" charset="0"/>
              </a:rPr>
              <a:t>中第</a:t>
            </a:r>
            <a:r>
              <a:rPr lang="en-US" altLang="zh-CN" sz="3600">
                <a:solidFill>
                  <a:srgbClr val="3333CC"/>
                </a:solidFill>
                <a:ea typeface="楷体_GB2312" charset="0"/>
              </a:rPr>
              <a:t>i</a:t>
            </a:r>
            <a:r>
              <a:rPr lang="zh-CN" altLang="en-US" sz="3600">
                <a:latin typeface="楷体_GB2312" charset="0"/>
                <a:ea typeface="楷体_GB2312" charset="0"/>
              </a:rPr>
              <a:t>个元素赋值同</a:t>
            </a:r>
            <a:r>
              <a:rPr lang="en-US" altLang="zh-CN" sz="3600">
                <a:latin typeface="楷体_GB2312" charset="0"/>
                <a:ea typeface="楷体_GB2312" charset="0"/>
              </a:rPr>
              <a:t>e</a:t>
            </a:r>
            <a:r>
              <a:rPr lang="zh-CN" altLang="en-US" sz="3600">
                <a:latin typeface="楷体_GB2312" charset="0"/>
                <a:ea typeface="楷体_GB2312" charset="0"/>
              </a:rPr>
              <a:t>的值。</a:t>
            </a:r>
            <a:endParaRPr lang="zh-CN" altLang="en-US" sz="2400"/>
          </a:p>
        </p:txBody>
      </p:sp>
      <p:sp>
        <p:nvSpPr>
          <p:cNvPr id="907270" name="Text Box 6"/>
          <p:cNvSpPr txBox="1">
            <a:spLocks noChangeArrowheads="1"/>
          </p:cNvSpPr>
          <p:nvPr/>
        </p:nvSpPr>
        <p:spPr bwMode="auto">
          <a:xfrm>
            <a:off x="1752600" y="1889125"/>
            <a:ext cx="526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（改变数据元素的值）</a:t>
            </a:r>
            <a:endParaRPr lang="zh-CN" altLang="en-US" sz="240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Text Box 2"/>
          <p:cNvSpPr txBox="1">
            <a:spLocks noChangeArrowheads="1"/>
          </p:cNvSpPr>
          <p:nvPr/>
        </p:nvSpPr>
        <p:spPr bwMode="auto">
          <a:xfrm>
            <a:off x="1863725" y="1203325"/>
            <a:ext cx="51466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a:latin typeface="楷体_GB2312" charset="0"/>
                <a:ea typeface="楷体_GB2312" charset="0"/>
              </a:rPr>
              <a:t> </a:t>
            </a:r>
            <a:r>
              <a:rPr lang="en-US" altLang="zh-CN" sz="4400" b="1">
                <a:solidFill>
                  <a:srgbClr val="333399"/>
                </a:solidFill>
                <a:ea typeface="楷体_GB2312" charset="0"/>
              </a:rPr>
              <a:t>ListInsert( &amp;L, i, e )</a:t>
            </a:r>
            <a:endParaRPr lang="en-US" altLang="zh-CN" sz="2400">
              <a:ea typeface="楷体_GB2312" charset="0"/>
            </a:endParaRPr>
          </a:p>
        </p:txBody>
      </p:sp>
      <p:sp>
        <p:nvSpPr>
          <p:cNvPr id="908291" name="Text Box 3"/>
          <p:cNvSpPr txBox="1">
            <a:spLocks noChangeArrowheads="1"/>
          </p:cNvSpPr>
          <p:nvPr/>
        </p:nvSpPr>
        <p:spPr bwMode="auto">
          <a:xfrm>
            <a:off x="457200" y="2895600"/>
            <a:ext cx="297815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FF0000"/>
                </a:solidFill>
                <a:latin typeface="楷体_GB2312" charset="0"/>
                <a:ea typeface="楷体_GB2312" charset="0"/>
              </a:rPr>
              <a:t>初始条件：</a:t>
            </a:r>
            <a:endParaRPr lang="zh-CN" altLang="en-US" sz="4000">
              <a:solidFill>
                <a:srgbClr val="FF0000"/>
              </a:solidFill>
              <a:latin typeface="楷体_GB2312" charset="0"/>
              <a:ea typeface="楷体_GB2312" charset="0"/>
            </a:endParaRPr>
          </a:p>
          <a:p>
            <a:pPr eaLnBrk="1" hangingPunct="1">
              <a:defRPr/>
            </a:pPr>
            <a:endParaRPr lang="zh-CN" altLang="en-US" sz="4000">
              <a:solidFill>
                <a:srgbClr val="FF0000"/>
              </a:solidFill>
              <a:latin typeface="楷体_GB2312" charset="0"/>
              <a:ea typeface="楷体_GB2312" charset="0"/>
            </a:endParaRPr>
          </a:p>
          <a:p>
            <a:pPr eaLnBrk="1" hangingPunct="1">
              <a:defRPr/>
            </a:pPr>
            <a:endParaRPr lang="zh-CN" altLang="en-US" sz="4000" b="1">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4400">
              <a:solidFill>
                <a:srgbClr val="FF0000"/>
              </a:solidFill>
              <a:latin typeface="楷体_GB2312" charset="0"/>
              <a:ea typeface="楷体_GB2312" charset="0"/>
            </a:endParaRPr>
          </a:p>
        </p:txBody>
      </p:sp>
      <p:sp>
        <p:nvSpPr>
          <p:cNvPr id="908292" name="Text Box 4"/>
          <p:cNvSpPr txBox="1">
            <a:spLocks noChangeArrowheads="1"/>
          </p:cNvSpPr>
          <p:nvPr/>
        </p:nvSpPr>
        <p:spPr bwMode="auto">
          <a:xfrm>
            <a:off x="2794000" y="2971800"/>
            <a:ext cx="6578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a:latin typeface="楷体_GB2312" charset="0"/>
                <a:ea typeface="楷体_GB2312" charset="0"/>
              </a:rPr>
              <a:t>线性表</a:t>
            </a:r>
            <a:r>
              <a:rPr lang="en-US" altLang="zh-CN" sz="3600" b="1">
                <a:solidFill>
                  <a:srgbClr val="003399"/>
                </a:solidFill>
                <a:ea typeface="楷体_GB2312" charset="0"/>
              </a:rPr>
              <a:t>L</a:t>
            </a:r>
            <a:r>
              <a:rPr lang="zh-CN" altLang="en-US" sz="3600">
                <a:latin typeface="楷体_GB2312" charset="0"/>
                <a:ea typeface="楷体_GB2312" charset="0"/>
              </a:rPr>
              <a:t>已存在</a:t>
            </a:r>
            <a:r>
              <a:rPr lang="zh-CN" altLang="en-US" sz="3600">
                <a:ea typeface="楷体_GB2312" charset="0"/>
              </a:rPr>
              <a:t>，</a:t>
            </a:r>
            <a:endParaRPr lang="zh-CN" altLang="en-US" sz="3600">
              <a:ea typeface="楷体_GB2312" charset="0"/>
            </a:endParaRPr>
          </a:p>
          <a:p>
            <a:pPr eaLnBrk="1" hangingPunct="1">
              <a:defRPr/>
            </a:pPr>
            <a:r>
              <a:rPr lang="zh-CN" altLang="en-US" sz="3600">
                <a:ea typeface="楷体_GB2312" charset="0"/>
              </a:rPr>
              <a:t> 且   </a:t>
            </a:r>
            <a:r>
              <a:rPr lang="en-US" altLang="zh-CN" sz="3600" b="1">
                <a:solidFill>
                  <a:srgbClr val="660066"/>
                </a:solidFill>
                <a:ea typeface="楷体_GB2312" charset="0"/>
              </a:rPr>
              <a:t>1≤i≤LengthList(L)+1 </a:t>
            </a:r>
            <a:r>
              <a:rPr lang="zh-CN" altLang="en-US" sz="3600">
                <a:latin typeface="楷体_GB2312" charset="0"/>
                <a:ea typeface="楷体_GB2312" charset="0"/>
              </a:rPr>
              <a:t>。</a:t>
            </a:r>
            <a:endParaRPr lang="zh-CN" altLang="en-US" sz="3600">
              <a:latin typeface="楷体_GB2312" charset="0"/>
              <a:ea typeface="楷体_GB2312" charset="0"/>
            </a:endParaRPr>
          </a:p>
        </p:txBody>
      </p:sp>
      <p:sp>
        <p:nvSpPr>
          <p:cNvPr id="908293" name="Text Box 5"/>
          <p:cNvSpPr txBox="1">
            <a:spLocks noChangeArrowheads="1"/>
          </p:cNvSpPr>
          <p:nvPr/>
        </p:nvSpPr>
        <p:spPr bwMode="auto">
          <a:xfrm>
            <a:off x="2971800" y="4876800"/>
            <a:ext cx="54673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在</a:t>
            </a:r>
            <a:r>
              <a:rPr lang="en-US" altLang="zh-CN" sz="3600" b="1">
                <a:solidFill>
                  <a:srgbClr val="003399"/>
                </a:solidFill>
                <a:ea typeface="楷体_GB2312" charset="0"/>
              </a:rPr>
              <a:t>L</a:t>
            </a:r>
            <a:r>
              <a:rPr lang="zh-CN" altLang="en-US" sz="3600">
                <a:latin typeface="楷体_GB2312" charset="0"/>
                <a:ea typeface="楷体_GB2312" charset="0"/>
              </a:rPr>
              <a:t>的第</a:t>
            </a:r>
            <a:r>
              <a:rPr lang="en-US" altLang="zh-CN" sz="3600" b="1">
                <a:solidFill>
                  <a:srgbClr val="003399"/>
                </a:solidFill>
                <a:ea typeface="楷体_GB2312" charset="0"/>
              </a:rPr>
              <a:t>i</a:t>
            </a:r>
            <a:r>
              <a:rPr lang="zh-CN" altLang="en-US" sz="3600">
                <a:latin typeface="楷体_GB2312" charset="0"/>
                <a:ea typeface="楷体_GB2312" charset="0"/>
              </a:rPr>
              <a:t>个元素之前</a:t>
            </a:r>
            <a:r>
              <a:rPr lang="zh-CN" altLang="en-US" sz="3600" b="1">
                <a:solidFill>
                  <a:srgbClr val="660066"/>
                </a:solidFill>
                <a:latin typeface="楷体_GB2312" charset="0"/>
                <a:ea typeface="楷体_GB2312" charset="0"/>
              </a:rPr>
              <a:t>插入</a:t>
            </a:r>
            <a:endParaRPr lang="zh-CN" altLang="en-US" sz="3600">
              <a:latin typeface="楷体_GB2312" charset="0"/>
              <a:ea typeface="楷体_GB2312" charset="0"/>
            </a:endParaRPr>
          </a:p>
          <a:p>
            <a:pPr eaLnBrk="1" hangingPunct="1">
              <a:defRPr/>
            </a:pPr>
            <a:r>
              <a:rPr lang="zh-CN" altLang="en-US" sz="3600">
                <a:solidFill>
                  <a:srgbClr val="660066"/>
                </a:solidFill>
                <a:latin typeface="楷体_GB2312" charset="0"/>
                <a:ea typeface="楷体_GB2312" charset="0"/>
              </a:rPr>
              <a:t>新的元素</a:t>
            </a:r>
            <a:r>
              <a:rPr lang="en-US" altLang="zh-CN" sz="3600">
                <a:solidFill>
                  <a:srgbClr val="660066"/>
                </a:solidFill>
                <a:ea typeface="楷体_GB2312" charset="0"/>
              </a:rPr>
              <a:t>e</a:t>
            </a:r>
            <a:r>
              <a:rPr lang="zh-CN" altLang="en-US" sz="3600">
                <a:ea typeface="楷体_GB2312" charset="0"/>
              </a:rPr>
              <a:t>，</a:t>
            </a:r>
            <a:r>
              <a:rPr lang="en-US" altLang="zh-CN" sz="3600">
                <a:solidFill>
                  <a:srgbClr val="660066"/>
                </a:solidFill>
                <a:ea typeface="楷体_GB2312" charset="0"/>
              </a:rPr>
              <a:t>L</a:t>
            </a:r>
            <a:r>
              <a:rPr lang="zh-CN" altLang="en-US" sz="3600">
                <a:solidFill>
                  <a:srgbClr val="660066"/>
                </a:solidFill>
                <a:latin typeface="楷体_GB2312" charset="0"/>
                <a:ea typeface="楷体_GB2312" charset="0"/>
              </a:rPr>
              <a:t>的长度增</a:t>
            </a:r>
            <a:r>
              <a:rPr lang="en-US" altLang="zh-CN" sz="3600">
                <a:solidFill>
                  <a:srgbClr val="660066"/>
                </a:solidFill>
                <a:ea typeface="楷体_GB2312" charset="0"/>
              </a:rPr>
              <a:t>1</a:t>
            </a:r>
            <a:r>
              <a:rPr lang="zh-CN" altLang="en-US" sz="3600">
                <a:latin typeface="楷体_GB2312" charset="0"/>
                <a:ea typeface="楷体_GB2312" charset="0"/>
              </a:rPr>
              <a:t>。</a:t>
            </a:r>
            <a:endParaRPr lang="zh-CN" altLang="en-US" sz="3600">
              <a:latin typeface="楷体_GB2312" charset="0"/>
              <a:ea typeface="楷体_GB2312" charset="0"/>
            </a:endParaRPr>
          </a:p>
        </p:txBody>
      </p:sp>
      <p:sp>
        <p:nvSpPr>
          <p:cNvPr id="908294" name="Text Box 6"/>
          <p:cNvSpPr txBox="1">
            <a:spLocks noChangeArrowheads="1"/>
          </p:cNvSpPr>
          <p:nvPr/>
        </p:nvSpPr>
        <p:spPr bwMode="auto">
          <a:xfrm>
            <a:off x="2362200" y="1889125"/>
            <a:ext cx="424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（插入数据元素）</a:t>
            </a:r>
            <a:endParaRPr lang="zh-CN" altLang="en-US" sz="240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Text Box 2"/>
          <p:cNvSpPr txBox="1">
            <a:spLocks noChangeArrowheads="1"/>
          </p:cNvSpPr>
          <p:nvPr/>
        </p:nvSpPr>
        <p:spPr bwMode="auto">
          <a:xfrm>
            <a:off x="1930400" y="1066800"/>
            <a:ext cx="5156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333399"/>
                </a:solidFill>
                <a:ea typeface="楷体_GB2312" charset="0"/>
              </a:rPr>
              <a:t>ListDelete(&amp;L, i, &amp;e</a:t>
            </a:r>
            <a:r>
              <a:rPr lang="en-US" altLang="zh-CN" sz="2400" b="1">
                <a:solidFill>
                  <a:srgbClr val="333399"/>
                </a:solidFill>
                <a:ea typeface="楷体_GB2312" charset="0"/>
              </a:rPr>
              <a:t>)</a:t>
            </a:r>
            <a:endParaRPr lang="en-US" altLang="zh-CN" sz="2400"/>
          </a:p>
        </p:txBody>
      </p:sp>
      <p:sp>
        <p:nvSpPr>
          <p:cNvPr id="909315" name="Text Box 3"/>
          <p:cNvSpPr txBox="1">
            <a:spLocks noChangeArrowheads="1"/>
          </p:cNvSpPr>
          <p:nvPr/>
        </p:nvSpPr>
        <p:spPr bwMode="auto">
          <a:xfrm>
            <a:off x="838200" y="3048000"/>
            <a:ext cx="297815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FF0000"/>
                </a:solidFill>
                <a:latin typeface="楷体_GB2312" charset="0"/>
                <a:ea typeface="楷体_GB2312" charset="0"/>
              </a:rPr>
              <a:t>初始条件：</a:t>
            </a:r>
            <a:endParaRPr lang="zh-CN" altLang="en-US" sz="4400">
              <a:solidFill>
                <a:srgbClr val="FF0000"/>
              </a:solidFill>
              <a:latin typeface="楷体_GB2312" charset="0"/>
              <a:ea typeface="楷体_GB2312" charset="0"/>
            </a:endParaRPr>
          </a:p>
          <a:p>
            <a:pPr eaLnBrk="1" hangingPunct="1">
              <a:defRPr/>
            </a:pPr>
            <a:endParaRPr lang="zh-CN" altLang="en-US" sz="4400">
              <a:solidFill>
                <a:srgbClr val="FF0000"/>
              </a:solidFill>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2400">
              <a:solidFill>
                <a:srgbClr val="FF0000"/>
              </a:solidFill>
              <a:latin typeface="楷体_GB2312" charset="0"/>
              <a:ea typeface="楷体_GB2312" charset="0"/>
            </a:endParaRPr>
          </a:p>
        </p:txBody>
      </p:sp>
      <p:sp>
        <p:nvSpPr>
          <p:cNvPr id="909316" name="Text Box 4"/>
          <p:cNvSpPr txBox="1">
            <a:spLocks noChangeArrowheads="1"/>
          </p:cNvSpPr>
          <p:nvPr/>
        </p:nvSpPr>
        <p:spPr bwMode="auto">
          <a:xfrm>
            <a:off x="3352800" y="3200400"/>
            <a:ext cx="50355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线性表</a:t>
            </a:r>
            <a:r>
              <a:rPr lang="en-US" altLang="zh-CN" sz="3600">
                <a:ea typeface="楷体_GB2312" charset="0"/>
              </a:rPr>
              <a:t>L</a:t>
            </a:r>
            <a:r>
              <a:rPr lang="zh-CN" altLang="en-US" sz="3600">
                <a:latin typeface="楷体_GB2312" charset="0"/>
                <a:ea typeface="楷体_GB2312" charset="0"/>
              </a:rPr>
              <a:t>已存在且非空，</a:t>
            </a:r>
            <a:endParaRPr lang="zh-CN" altLang="en-US" sz="3600">
              <a:latin typeface="楷体_GB2312" charset="0"/>
              <a:ea typeface="楷体_GB2312" charset="0"/>
            </a:endParaRPr>
          </a:p>
          <a:p>
            <a:pPr eaLnBrk="1" hangingPunct="1">
              <a:defRPr/>
            </a:pPr>
            <a:r>
              <a:rPr lang="zh-CN" altLang="en-US" sz="3600">
                <a:latin typeface="楷体_GB2312" charset="0"/>
                <a:ea typeface="楷体_GB2312" charset="0"/>
              </a:rPr>
              <a:t> </a:t>
            </a:r>
            <a:r>
              <a:rPr lang="en-US" altLang="zh-CN" sz="3600" b="1">
                <a:ea typeface="楷体_GB2312" charset="0"/>
              </a:rPr>
              <a:t>1≤i≤LengthList(L) </a:t>
            </a:r>
            <a:r>
              <a:rPr lang="zh-CN" altLang="en-US" sz="3600">
                <a:latin typeface="楷体_GB2312" charset="0"/>
                <a:ea typeface="楷体_GB2312" charset="0"/>
              </a:rPr>
              <a:t>。</a:t>
            </a:r>
            <a:endParaRPr lang="zh-CN" altLang="en-US" sz="3600">
              <a:latin typeface="楷体_GB2312" charset="0"/>
              <a:ea typeface="楷体_GB2312" charset="0"/>
            </a:endParaRPr>
          </a:p>
        </p:txBody>
      </p:sp>
      <p:sp>
        <p:nvSpPr>
          <p:cNvPr id="909317" name="Text Box 5"/>
          <p:cNvSpPr txBox="1">
            <a:spLocks noChangeArrowheads="1"/>
          </p:cNvSpPr>
          <p:nvPr/>
        </p:nvSpPr>
        <p:spPr bwMode="auto">
          <a:xfrm>
            <a:off x="3505200" y="4572000"/>
            <a:ext cx="51816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a:latin typeface="楷体_GB2312" charset="0"/>
                <a:ea typeface="楷体_GB2312" charset="0"/>
              </a:rPr>
              <a:t>删除</a:t>
            </a:r>
            <a:r>
              <a:rPr lang="en-US" altLang="zh-CN" sz="3600">
                <a:ea typeface="楷体_GB2312" charset="0"/>
              </a:rPr>
              <a:t>L</a:t>
            </a:r>
            <a:r>
              <a:rPr lang="zh-CN" altLang="en-US" sz="3600">
                <a:latin typeface="楷体_GB2312" charset="0"/>
                <a:ea typeface="楷体_GB2312" charset="0"/>
              </a:rPr>
              <a:t>的第</a:t>
            </a:r>
            <a:r>
              <a:rPr lang="en-US" altLang="zh-CN" sz="3600">
                <a:ea typeface="楷体_GB2312" charset="0"/>
              </a:rPr>
              <a:t>i</a:t>
            </a:r>
            <a:r>
              <a:rPr lang="zh-CN" altLang="en-US" sz="3600">
                <a:latin typeface="楷体_GB2312" charset="0"/>
                <a:ea typeface="楷体_GB2312" charset="0"/>
              </a:rPr>
              <a:t>个元素，并用</a:t>
            </a:r>
            <a:r>
              <a:rPr lang="en-US" altLang="zh-CN" sz="3600">
                <a:ea typeface="楷体_GB2312" charset="0"/>
              </a:rPr>
              <a:t>e</a:t>
            </a:r>
            <a:r>
              <a:rPr lang="zh-CN" altLang="en-US" sz="3600">
                <a:latin typeface="楷体_GB2312" charset="0"/>
                <a:ea typeface="楷体_GB2312" charset="0"/>
              </a:rPr>
              <a:t>返回其值，</a:t>
            </a:r>
            <a:r>
              <a:rPr lang="en-US" altLang="zh-CN" sz="3600">
                <a:ea typeface="楷体_GB2312" charset="0"/>
              </a:rPr>
              <a:t>L</a:t>
            </a:r>
            <a:r>
              <a:rPr lang="zh-CN" altLang="en-US" sz="3600">
                <a:latin typeface="楷体_GB2312" charset="0"/>
                <a:ea typeface="楷体_GB2312" charset="0"/>
              </a:rPr>
              <a:t>的长度减</a:t>
            </a:r>
            <a:r>
              <a:rPr lang="en-US" altLang="zh-CN" sz="3600">
                <a:ea typeface="楷体_GB2312" charset="0"/>
              </a:rPr>
              <a:t>1</a:t>
            </a:r>
            <a:r>
              <a:rPr lang="zh-CN" altLang="en-US" sz="3600">
                <a:latin typeface="楷体_GB2312" charset="0"/>
                <a:ea typeface="楷体_GB2312" charset="0"/>
              </a:rPr>
              <a:t>。</a:t>
            </a:r>
            <a:endParaRPr lang="zh-CN" altLang="en-US" sz="2400">
              <a:latin typeface="楷体_GB2312" charset="0"/>
              <a:ea typeface="楷体_GB2312" charset="0"/>
            </a:endParaRPr>
          </a:p>
        </p:txBody>
      </p:sp>
      <p:sp>
        <p:nvSpPr>
          <p:cNvPr id="909318" name="Text Box 6"/>
          <p:cNvSpPr txBox="1">
            <a:spLocks noChangeArrowheads="1"/>
          </p:cNvSpPr>
          <p:nvPr/>
        </p:nvSpPr>
        <p:spPr bwMode="auto">
          <a:xfrm>
            <a:off x="2381250" y="1736725"/>
            <a:ext cx="424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（删除数据元素）</a:t>
            </a:r>
            <a:endParaRPr lang="zh-CN" altLang="en-US" sz="240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Text Box 2"/>
          <p:cNvSpPr txBox="1">
            <a:spLocks noChangeArrowheads="1"/>
          </p:cNvSpPr>
          <p:nvPr/>
        </p:nvSpPr>
        <p:spPr bwMode="auto">
          <a:xfrm>
            <a:off x="1219200" y="1058863"/>
            <a:ext cx="7727950" cy="196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40000"/>
              </a:lnSpc>
              <a:defRPr/>
            </a:pPr>
            <a:r>
              <a:rPr lang="zh-CN" altLang="en-US" sz="4400">
                <a:solidFill>
                  <a:srgbClr val="660033"/>
                </a:solidFill>
                <a:latin typeface="楷体_GB2312" charset="0"/>
                <a:ea typeface="楷体_GB2312" charset="0"/>
              </a:rPr>
              <a:t>利用上述定义的</a:t>
            </a:r>
            <a:r>
              <a:rPr lang="zh-CN" altLang="en-US" sz="4400" b="1">
                <a:solidFill>
                  <a:srgbClr val="FF0000"/>
                </a:solidFill>
                <a:latin typeface="楷体_GB2312" charset="0"/>
                <a:ea typeface="楷体_GB2312" charset="0"/>
              </a:rPr>
              <a:t>线性表</a:t>
            </a:r>
            <a:endParaRPr lang="zh-CN" altLang="en-US" sz="4400">
              <a:solidFill>
                <a:srgbClr val="660033"/>
              </a:solidFill>
              <a:latin typeface="楷体_GB2312" charset="0"/>
              <a:ea typeface="楷体_GB2312" charset="0"/>
            </a:endParaRPr>
          </a:p>
          <a:p>
            <a:pPr eaLnBrk="1" hangingPunct="1">
              <a:lnSpc>
                <a:spcPct val="140000"/>
              </a:lnSpc>
              <a:defRPr/>
            </a:pPr>
            <a:r>
              <a:rPr lang="zh-CN" altLang="en-US" sz="4400">
                <a:solidFill>
                  <a:srgbClr val="660033"/>
                </a:solidFill>
                <a:latin typeface="楷体_GB2312" charset="0"/>
                <a:ea typeface="楷体_GB2312" charset="0"/>
              </a:rPr>
              <a:t>   可以实现其它更复杂的操作</a:t>
            </a:r>
            <a:endParaRPr lang="zh-CN" altLang="en-US"/>
          </a:p>
        </p:txBody>
      </p:sp>
      <p:sp>
        <p:nvSpPr>
          <p:cNvPr id="910339" name="Text Box 3">
            <a:hlinkClick r:id="rId1" action="ppaction://hlinksldjump"/>
          </p:cNvPr>
          <p:cNvSpPr txBox="1">
            <a:spLocks noChangeArrowheads="1"/>
          </p:cNvSpPr>
          <p:nvPr/>
        </p:nvSpPr>
        <p:spPr bwMode="auto">
          <a:xfrm>
            <a:off x="2057400" y="4068763"/>
            <a:ext cx="2152650"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6000" b="1">
                <a:solidFill>
                  <a:srgbClr val="008080"/>
                </a:solidFill>
                <a:ea typeface="隶书" panose="02010509060101010101" charset="-122"/>
              </a:rPr>
              <a:t>例</a:t>
            </a:r>
            <a:r>
              <a:rPr lang="zh-CN" altLang="en-US" sz="6000" b="1">
                <a:solidFill>
                  <a:srgbClr val="008080"/>
                </a:solidFill>
                <a:ea typeface="楷体_GB2312" charset="0"/>
              </a:rPr>
              <a:t> </a:t>
            </a:r>
            <a:r>
              <a:rPr lang="en-US" altLang="zh-CN" sz="6000" b="1">
                <a:solidFill>
                  <a:srgbClr val="008080"/>
                </a:solidFill>
                <a:ea typeface="楷体_GB2312" charset="0"/>
              </a:rPr>
              <a:t>2-2</a:t>
            </a:r>
            <a:endParaRPr lang="en-US" altLang="zh-CN" sz="2400"/>
          </a:p>
        </p:txBody>
      </p:sp>
      <p:sp>
        <p:nvSpPr>
          <p:cNvPr id="910340" name="Text Box 4">
            <a:hlinkClick r:id="rId2" action="ppaction://hlinksldjump"/>
          </p:cNvPr>
          <p:cNvSpPr txBox="1">
            <a:spLocks noChangeArrowheads="1"/>
          </p:cNvSpPr>
          <p:nvPr/>
        </p:nvSpPr>
        <p:spPr bwMode="auto">
          <a:xfrm>
            <a:off x="3175000" y="5257800"/>
            <a:ext cx="2159000"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6000" b="1">
                <a:solidFill>
                  <a:srgbClr val="008080"/>
                </a:solidFill>
                <a:ea typeface="隶书" panose="02010509060101010101" charset="-122"/>
              </a:rPr>
              <a:t>例</a:t>
            </a:r>
            <a:r>
              <a:rPr lang="zh-CN" altLang="en-US" sz="6000" b="1">
                <a:solidFill>
                  <a:srgbClr val="008080"/>
                </a:solidFill>
                <a:ea typeface="楷体_GB2312" charset="0"/>
              </a:rPr>
              <a:t> </a:t>
            </a:r>
            <a:r>
              <a:rPr lang="en-US" altLang="zh-CN" sz="6000" b="1">
                <a:solidFill>
                  <a:srgbClr val="008080"/>
                </a:solidFill>
                <a:ea typeface="楷体_GB2312" charset="0"/>
              </a:rPr>
              <a:t>2-3</a:t>
            </a:r>
            <a:endParaRPr lang="en-US" altLang="zh-CN" sz="2400"/>
          </a:p>
        </p:txBody>
      </p:sp>
      <p:sp>
        <p:nvSpPr>
          <p:cNvPr id="910341" name="Text Box 5">
            <a:hlinkClick r:id="" action="ppaction://hlinkshowjump?jump=nextslide"/>
          </p:cNvPr>
          <p:cNvSpPr txBox="1">
            <a:spLocks noChangeArrowheads="1"/>
          </p:cNvSpPr>
          <p:nvPr/>
        </p:nvSpPr>
        <p:spPr bwMode="auto">
          <a:xfrm>
            <a:off x="889000" y="2925763"/>
            <a:ext cx="2152650"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6000" b="1">
                <a:solidFill>
                  <a:srgbClr val="008080"/>
                </a:solidFill>
                <a:ea typeface="隶书" panose="02010509060101010101" charset="-122"/>
              </a:rPr>
              <a:t>例</a:t>
            </a:r>
            <a:r>
              <a:rPr lang="zh-CN" altLang="en-US" sz="6000" b="1">
                <a:solidFill>
                  <a:srgbClr val="008080"/>
                </a:solidFill>
                <a:ea typeface="楷体_GB2312" charset="0"/>
              </a:rPr>
              <a:t> </a:t>
            </a:r>
            <a:r>
              <a:rPr lang="en-US" altLang="zh-CN" sz="6000" b="1">
                <a:solidFill>
                  <a:srgbClr val="008080"/>
                </a:solidFill>
                <a:ea typeface="楷体_GB2312" charset="0"/>
              </a:rPr>
              <a:t>2-1</a:t>
            </a:r>
            <a:endParaRPr lang="en-US" altLang="zh-CN" sz="240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2" name="Text Box 2"/>
          <p:cNvSpPr txBox="1">
            <a:spLocks noChangeArrowheads="1"/>
          </p:cNvSpPr>
          <p:nvPr/>
        </p:nvSpPr>
        <p:spPr bwMode="auto">
          <a:xfrm>
            <a:off x="685800" y="1295400"/>
            <a:ext cx="78486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3200">
                <a:latin typeface="楷体_GB2312" charset="0"/>
                <a:ea typeface="楷体_GB2312" charset="0"/>
              </a:rPr>
              <a:t>  </a:t>
            </a:r>
            <a:r>
              <a:rPr lang="zh-CN" altLang="en-US" sz="4000">
                <a:solidFill>
                  <a:srgbClr val="008080"/>
                </a:solidFill>
                <a:latin typeface="楷体_GB2312" charset="0"/>
                <a:ea typeface="楷体_GB2312" charset="0"/>
              </a:rPr>
              <a:t>假设</a:t>
            </a:r>
            <a:r>
              <a:rPr lang="en-US" altLang="zh-CN" sz="4000">
                <a:solidFill>
                  <a:srgbClr val="008080"/>
                </a:solidFill>
                <a:latin typeface="楷体_GB2312" charset="0"/>
                <a:ea typeface="楷体_GB2312" charset="0"/>
              </a:rPr>
              <a:t>:</a:t>
            </a:r>
            <a:r>
              <a:rPr lang="zh-CN" altLang="en-US" sz="4000">
                <a:solidFill>
                  <a:srgbClr val="008080"/>
                </a:solidFill>
                <a:latin typeface="楷体_GB2312" charset="0"/>
                <a:ea typeface="楷体_GB2312" charset="0"/>
              </a:rPr>
              <a:t>有两个</a:t>
            </a:r>
            <a:r>
              <a:rPr lang="zh-CN" altLang="en-US" sz="4000" b="1">
                <a:solidFill>
                  <a:srgbClr val="008080"/>
                </a:solidFill>
                <a:latin typeface="楷体_GB2312" charset="0"/>
                <a:ea typeface="楷体_GB2312" charset="0"/>
              </a:rPr>
              <a:t>集合 </a:t>
            </a:r>
            <a:r>
              <a:rPr lang="en-US" altLang="zh-CN" sz="4000" b="1">
                <a:solidFill>
                  <a:srgbClr val="008080"/>
                </a:solidFill>
                <a:ea typeface="楷体_GB2312" charset="0"/>
              </a:rPr>
              <a:t>A </a:t>
            </a:r>
            <a:r>
              <a:rPr lang="zh-CN" altLang="en-US" sz="4000" b="1">
                <a:solidFill>
                  <a:srgbClr val="008080"/>
                </a:solidFill>
                <a:ea typeface="楷体_GB2312" charset="0"/>
              </a:rPr>
              <a:t>和 </a:t>
            </a:r>
            <a:r>
              <a:rPr lang="en-US" altLang="zh-CN" sz="4000" b="1">
                <a:solidFill>
                  <a:srgbClr val="008080"/>
                </a:solidFill>
                <a:ea typeface="楷体_GB2312" charset="0"/>
              </a:rPr>
              <a:t>B </a:t>
            </a:r>
            <a:r>
              <a:rPr lang="zh-CN" altLang="en-US" sz="4000">
                <a:solidFill>
                  <a:srgbClr val="008080"/>
                </a:solidFill>
                <a:ea typeface="楷体_GB2312" charset="0"/>
              </a:rPr>
              <a:t>分别用两个</a:t>
            </a:r>
            <a:r>
              <a:rPr lang="zh-CN" altLang="en-US" sz="4000" b="1">
                <a:solidFill>
                  <a:srgbClr val="008080"/>
                </a:solidFill>
                <a:ea typeface="楷体_GB2312" charset="0"/>
              </a:rPr>
              <a:t>线性表 </a:t>
            </a:r>
            <a:r>
              <a:rPr lang="en-US" altLang="zh-CN" sz="4000" b="1">
                <a:solidFill>
                  <a:srgbClr val="008080"/>
                </a:solidFill>
                <a:ea typeface="楷体_GB2312" charset="0"/>
              </a:rPr>
              <a:t>LA </a:t>
            </a:r>
            <a:r>
              <a:rPr lang="zh-CN" altLang="en-US" sz="4000" b="1">
                <a:solidFill>
                  <a:srgbClr val="008080"/>
                </a:solidFill>
                <a:ea typeface="楷体_GB2312" charset="0"/>
              </a:rPr>
              <a:t>和 </a:t>
            </a:r>
            <a:r>
              <a:rPr lang="en-US" altLang="zh-CN" sz="4000" b="1">
                <a:solidFill>
                  <a:srgbClr val="008080"/>
                </a:solidFill>
                <a:ea typeface="楷体_GB2312" charset="0"/>
              </a:rPr>
              <a:t>LB </a:t>
            </a:r>
            <a:r>
              <a:rPr lang="zh-CN" altLang="en-US" sz="4000">
                <a:solidFill>
                  <a:srgbClr val="008080"/>
                </a:solidFill>
                <a:latin typeface="楷体_GB2312" charset="0"/>
                <a:ea typeface="楷体_GB2312" charset="0"/>
              </a:rPr>
              <a:t>表示，即：线性表中的数据元素即为集合中的成员。</a:t>
            </a:r>
            <a:endParaRPr lang="zh-CN" altLang="en-US" sz="4000">
              <a:solidFill>
                <a:srgbClr val="008080"/>
              </a:solidFill>
              <a:latin typeface="楷体_GB2312" charset="0"/>
              <a:ea typeface="楷体_GB2312" charset="0"/>
            </a:endParaRPr>
          </a:p>
          <a:p>
            <a:pPr eaLnBrk="1" hangingPunct="1">
              <a:lnSpc>
                <a:spcPct val="140000"/>
              </a:lnSpc>
              <a:defRPr/>
            </a:pPr>
            <a:r>
              <a:rPr lang="zh-CN" altLang="en-US" sz="4000">
                <a:solidFill>
                  <a:srgbClr val="008080"/>
                </a:solidFill>
                <a:latin typeface="楷体_GB2312" charset="0"/>
                <a:ea typeface="楷体_GB2312" charset="0"/>
              </a:rPr>
              <a:t> </a:t>
            </a:r>
            <a:r>
              <a:rPr lang="zh-CN" altLang="en-US" sz="4000" b="1">
                <a:solidFill>
                  <a:srgbClr val="008080"/>
                </a:solidFill>
                <a:latin typeface="楷体_GB2312" charset="0"/>
                <a:ea typeface="楷体_GB2312" charset="0"/>
              </a:rPr>
              <a:t>现要求一个新的集合</a:t>
            </a:r>
            <a:r>
              <a:rPr lang="en-US" altLang="zh-CN" sz="4000" b="1">
                <a:solidFill>
                  <a:srgbClr val="008080"/>
                </a:solidFill>
                <a:ea typeface="楷体_GB2312" charset="0"/>
              </a:rPr>
              <a:t>A</a:t>
            </a:r>
            <a:r>
              <a:rPr lang="zh-CN" altLang="en-US" sz="4000" b="1">
                <a:solidFill>
                  <a:srgbClr val="008080"/>
                </a:solidFill>
                <a:ea typeface="楷体_GB2312" charset="0"/>
              </a:rPr>
              <a:t>＝</a:t>
            </a:r>
            <a:r>
              <a:rPr lang="en-US" altLang="zh-CN" sz="4000" b="1">
                <a:solidFill>
                  <a:srgbClr val="008080"/>
                </a:solidFill>
                <a:ea typeface="楷体_GB2312" charset="0"/>
              </a:rPr>
              <a:t>A∪B</a:t>
            </a:r>
            <a:r>
              <a:rPr lang="zh-CN" altLang="en-US" sz="4000">
                <a:solidFill>
                  <a:srgbClr val="008080"/>
                </a:solidFill>
                <a:latin typeface="楷体_GB2312" charset="0"/>
                <a:ea typeface="楷体_GB2312" charset="0"/>
              </a:rPr>
              <a:t>。</a:t>
            </a:r>
            <a:endParaRPr lang="zh-CN" altLang="en-US" sz="3600"/>
          </a:p>
        </p:txBody>
      </p:sp>
      <p:sp>
        <p:nvSpPr>
          <p:cNvPr id="911363" name="Text Box 3"/>
          <p:cNvSpPr txBox="1">
            <a:spLocks noChangeArrowheads="1"/>
          </p:cNvSpPr>
          <p:nvPr/>
        </p:nvSpPr>
        <p:spPr bwMode="auto">
          <a:xfrm>
            <a:off x="1676400" y="228600"/>
            <a:ext cx="20462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b="1">
                <a:solidFill>
                  <a:srgbClr val="008080"/>
                </a:solidFill>
                <a:latin typeface="隶书" panose="02010509060101010101" charset="-122"/>
                <a:ea typeface="隶书" panose="02010509060101010101" charset="-122"/>
              </a:rPr>
              <a:t>例 </a:t>
            </a:r>
            <a:r>
              <a:rPr lang="en-US" altLang="zh-CN" sz="4400" b="1">
                <a:solidFill>
                  <a:srgbClr val="008080"/>
                </a:solidFill>
                <a:ea typeface="隶书" panose="02010509060101010101" charset="-122"/>
              </a:rPr>
              <a:t>2-1</a:t>
            </a:r>
            <a:r>
              <a:rPr lang="en-US" altLang="zh-CN" sz="4400">
                <a:solidFill>
                  <a:srgbClr val="008080"/>
                </a:solidFill>
                <a:latin typeface="楷体_GB2312" charset="0"/>
                <a:ea typeface="楷体_GB2312" charset="0"/>
              </a:rPr>
              <a:t> </a:t>
            </a:r>
            <a:endParaRPr lang="en-US" altLang="zh-CN" sz="4400">
              <a:solidFill>
                <a:srgbClr val="008080"/>
              </a:solidFill>
              <a:latin typeface="楷体_GB2312" charset="0"/>
              <a:ea typeface="楷体_GB2312"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6" name="Text Box 2"/>
          <p:cNvSpPr txBox="1">
            <a:spLocks noChangeArrowheads="1"/>
          </p:cNvSpPr>
          <p:nvPr/>
        </p:nvSpPr>
        <p:spPr bwMode="auto">
          <a:xfrm>
            <a:off x="685800" y="2422525"/>
            <a:ext cx="8001000"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50000"/>
              </a:lnSpc>
              <a:defRPr/>
            </a:pPr>
            <a:r>
              <a:rPr lang="zh-CN" altLang="en-US" sz="4000">
                <a:latin typeface="楷体_GB2312" charset="0"/>
                <a:ea typeface="楷体_GB2312" charset="0"/>
              </a:rPr>
              <a:t>    要求对线性表作如下操作：</a:t>
            </a:r>
            <a:endParaRPr lang="zh-CN" altLang="en-US" sz="4000">
              <a:latin typeface="楷体_GB2312" charset="0"/>
              <a:ea typeface="楷体_GB2312" charset="0"/>
            </a:endParaRPr>
          </a:p>
          <a:p>
            <a:pPr eaLnBrk="1" hangingPunct="1">
              <a:lnSpc>
                <a:spcPct val="150000"/>
              </a:lnSpc>
              <a:defRPr/>
            </a:pPr>
            <a:r>
              <a:rPr lang="zh-CN" altLang="en-US" sz="4000">
                <a:solidFill>
                  <a:srgbClr val="9A009A"/>
                </a:solidFill>
                <a:latin typeface="楷体_GB2312" charset="0"/>
                <a:ea typeface="楷体_GB2312" charset="0"/>
              </a:rPr>
              <a:t>扩大线性表 </a:t>
            </a:r>
            <a:r>
              <a:rPr lang="en-US" altLang="zh-CN" sz="4000">
                <a:solidFill>
                  <a:srgbClr val="9A009A"/>
                </a:solidFill>
                <a:ea typeface="楷体_GB2312" charset="0"/>
              </a:rPr>
              <a:t>LA</a:t>
            </a:r>
            <a:r>
              <a:rPr lang="zh-CN" altLang="en-US" sz="4000">
                <a:solidFill>
                  <a:srgbClr val="9A009A"/>
                </a:solidFill>
                <a:latin typeface="楷体_GB2312" charset="0"/>
                <a:ea typeface="楷体_GB2312" charset="0"/>
              </a:rPr>
              <a:t>，将</a:t>
            </a:r>
            <a:r>
              <a:rPr lang="zh-CN" altLang="en-US" sz="4000" b="1">
                <a:solidFill>
                  <a:srgbClr val="660066"/>
                </a:solidFill>
                <a:latin typeface="楷体_GB2312" charset="0"/>
                <a:ea typeface="楷体_GB2312" charset="0"/>
              </a:rPr>
              <a:t>存在于线性表</a:t>
            </a:r>
            <a:r>
              <a:rPr lang="en-US" altLang="zh-CN" sz="4000" b="1">
                <a:solidFill>
                  <a:srgbClr val="660066"/>
                </a:solidFill>
                <a:ea typeface="楷体_GB2312" charset="0"/>
              </a:rPr>
              <a:t>LB </a:t>
            </a:r>
            <a:r>
              <a:rPr lang="zh-CN" altLang="en-US" sz="4000" b="1">
                <a:solidFill>
                  <a:srgbClr val="660066"/>
                </a:solidFill>
                <a:latin typeface="楷体_GB2312" charset="0"/>
                <a:ea typeface="楷体_GB2312" charset="0"/>
              </a:rPr>
              <a:t>中</a:t>
            </a:r>
            <a:r>
              <a:rPr lang="zh-CN" altLang="en-US" sz="4000">
                <a:solidFill>
                  <a:srgbClr val="9A009A"/>
                </a:solidFill>
                <a:latin typeface="楷体_GB2312" charset="0"/>
                <a:ea typeface="楷体_GB2312" charset="0"/>
              </a:rPr>
              <a:t>而</a:t>
            </a:r>
            <a:r>
              <a:rPr lang="zh-CN" altLang="en-US" sz="4000" b="1">
                <a:solidFill>
                  <a:srgbClr val="660066"/>
                </a:solidFill>
                <a:latin typeface="楷体_GB2312" charset="0"/>
                <a:ea typeface="楷体_GB2312" charset="0"/>
              </a:rPr>
              <a:t>不存在于线性表</a:t>
            </a:r>
            <a:r>
              <a:rPr lang="zh-CN" altLang="en-US" sz="4000" b="1">
                <a:solidFill>
                  <a:srgbClr val="333399"/>
                </a:solidFill>
                <a:latin typeface="楷体_GB2312" charset="0"/>
                <a:ea typeface="楷体_GB2312" charset="0"/>
              </a:rPr>
              <a:t> </a:t>
            </a:r>
            <a:r>
              <a:rPr lang="en-US" altLang="zh-CN" sz="4000" b="1">
                <a:solidFill>
                  <a:srgbClr val="660066"/>
                </a:solidFill>
                <a:ea typeface="楷体_GB2312" charset="0"/>
              </a:rPr>
              <a:t>LA </a:t>
            </a:r>
            <a:r>
              <a:rPr lang="zh-CN" altLang="en-US" sz="4000" b="1">
                <a:solidFill>
                  <a:srgbClr val="660066"/>
                </a:solidFill>
                <a:ea typeface="楷体_GB2312" charset="0"/>
              </a:rPr>
              <a:t>中</a:t>
            </a:r>
            <a:r>
              <a:rPr lang="zh-CN" altLang="en-US" sz="4000">
                <a:solidFill>
                  <a:srgbClr val="9A009A"/>
                </a:solidFill>
                <a:ea typeface="楷体_GB2312" charset="0"/>
              </a:rPr>
              <a:t>的数据元素</a:t>
            </a:r>
            <a:r>
              <a:rPr lang="zh-CN" altLang="en-US" sz="4000" b="1">
                <a:solidFill>
                  <a:srgbClr val="660066"/>
                </a:solidFill>
                <a:ea typeface="楷体_GB2312" charset="0"/>
              </a:rPr>
              <a:t>插入到线性表 </a:t>
            </a:r>
            <a:r>
              <a:rPr lang="en-US" altLang="zh-CN" sz="4000" b="1">
                <a:solidFill>
                  <a:srgbClr val="660066"/>
                </a:solidFill>
                <a:ea typeface="楷体_GB2312" charset="0"/>
              </a:rPr>
              <a:t>LA</a:t>
            </a:r>
            <a:r>
              <a:rPr lang="en-US" altLang="zh-CN" sz="4000" b="1">
                <a:solidFill>
                  <a:srgbClr val="333399"/>
                </a:solidFill>
                <a:ea typeface="楷体_GB2312" charset="0"/>
              </a:rPr>
              <a:t> </a:t>
            </a:r>
            <a:r>
              <a:rPr lang="zh-CN" altLang="en-US" sz="4000" b="1">
                <a:solidFill>
                  <a:srgbClr val="660066"/>
                </a:solidFill>
                <a:latin typeface="楷体_GB2312" charset="0"/>
                <a:ea typeface="楷体_GB2312" charset="0"/>
              </a:rPr>
              <a:t>中</a:t>
            </a:r>
            <a:r>
              <a:rPr lang="zh-CN" altLang="en-US" sz="4000">
                <a:solidFill>
                  <a:srgbClr val="9A009A"/>
                </a:solidFill>
                <a:latin typeface="楷体_GB2312" charset="0"/>
                <a:ea typeface="楷体_GB2312" charset="0"/>
              </a:rPr>
              <a:t>去。</a:t>
            </a:r>
            <a:endParaRPr lang="zh-CN" altLang="en-US" sz="4000"/>
          </a:p>
        </p:txBody>
      </p:sp>
      <p:sp>
        <p:nvSpPr>
          <p:cNvPr id="912387" name="Text Box 3"/>
          <p:cNvSpPr txBox="1">
            <a:spLocks noChangeArrowheads="1"/>
          </p:cNvSpPr>
          <p:nvPr/>
        </p:nvSpPr>
        <p:spPr bwMode="auto">
          <a:xfrm>
            <a:off x="425450" y="1517650"/>
            <a:ext cx="52133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3333CC"/>
                </a:solidFill>
                <a:latin typeface="楷体_GB2312" charset="0"/>
                <a:ea typeface="楷体_GB2312" charset="0"/>
              </a:rPr>
              <a:t>上述问题可演绎为：</a:t>
            </a:r>
            <a:endParaRPr lang="zh-CN" altLang="en-US" sz="4000">
              <a:latin typeface="楷体_GB2312" charset="0"/>
              <a:ea typeface="楷体_GB2312"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Text Box 2"/>
          <p:cNvSpPr txBox="1">
            <a:spLocks noChangeArrowheads="1"/>
          </p:cNvSpPr>
          <p:nvPr/>
        </p:nvSpPr>
        <p:spPr bwMode="auto">
          <a:xfrm>
            <a:off x="400050" y="1552575"/>
            <a:ext cx="8439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ea typeface="楷体_GB2312" charset="0"/>
              </a:rPr>
              <a:t>1</a:t>
            </a:r>
            <a:r>
              <a:rPr lang="zh-CN" altLang="en-US" sz="3600" b="1">
                <a:ea typeface="楷体_GB2312" charset="0"/>
              </a:rPr>
              <a:t>．</a:t>
            </a:r>
            <a:r>
              <a:rPr lang="zh-CN" altLang="en-US" sz="3600">
                <a:ea typeface="楷体_GB2312" charset="0"/>
              </a:rPr>
              <a:t>从线性表</a:t>
            </a:r>
            <a:r>
              <a:rPr lang="en-US" altLang="zh-CN" sz="3600">
                <a:ea typeface="楷体_GB2312" charset="0"/>
              </a:rPr>
              <a:t>LB</a:t>
            </a:r>
            <a:r>
              <a:rPr lang="zh-CN" altLang="en-US" sz="3600">
                <a:ea typeface="楷体_GB2312" charset="0"/>
              </a:rPr>
              <a:t>中依次察看每个数据元素</a:t>
            </a:r>
            <a:r>
              <a:rPr lang="en-US" altLang="zh-CN" sz="3600">
                <a:ea typeface="楷体_GB2312" charset="0"/>
              </a:rPr>
              <a:t>;</a:t>
            </a:r>
            <a:endParaRPr lang="en-US" altLang="zh-CN" sz="3600">
              <a:ea typeface="楷体_GB2312" charset="0"/>
            </a:endParaRPr>
          </a:p>
        </p:txBody>
      </p:sp>
      <p:sp>
        <p:nvSpPr>
          <p:cNvPr id="913411" name="Text Box 3"/>
          <p:cNvSpPr txBox="1">
            <a:spLocks noChangeArrowheads="1"/>
          </p:cNvSpPr>
          <p:nvPr/>
        </p:nvSpPr>
        <p:spPr bwMode="auto">
          <a:xfrm>
            <a:off x="476250" y="3228975"/>
            <a:ext cx="6750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ea typeface="楷体_GB2312" charset="0"/>
              </a:rPr>
              <a:t>2</a:t>
            </a:r>
            <a:r>
              <a:rPr lang="zh-CN" altLang="en-US" sz="3600" b="1">
                <a:ea typeface="楷体_GB2312" charset="0"/>
              </a:rPr>
              <a:t>．</a:t>
            </a:r>
            <a:r>
              <a:rPr lang="zh-CN" altLang="en-US" sz="3600">
                <a:ea typeface="楷体_GB2312" charset="0"/>
              </a:rPr>
              <a:t>依值在线性表</a:t>
            </a:r>
            <a:r>
              <a:rPr lang="en-US" altLang="zh-CN" sz="3600">
                <a:ea typeface="楷体_GB2312" charset="0"/>
              </a:rPr>
              <a:t>LA</a:t>
            </a:r>
            <a:r>
              <a:rPr lang="zh-CN" altLang="en-US" sz="3600">
                <a:ea typeface="楷体_GB2312" charset="0"/>
              </a:rPr>
              <a:t>中进行查访</a:t>
            </a:r>
            <a:r>
              <a:rPr lang="en-US" altLang="zh-CN" sz="3600">
                <a:ea typeface="楷体_GB2312" charset="0"/>
              </a:rPr>
              <a:t>; </a:t>
            </a:r>
            <a:endParaRPr lang="en-US" altLang="zh-CN" sz="3600">
              <a:ea typeface="楷体_GB2312" charset="0"/>
            </a:endParaRPr>
          </a:p>
        </p:txBody>
      </p:sp>
      <p:sp>
        <p:nvSpPr>
          <p:cNvPr id="913412" name="Text Box 4"/>
          <p:cNvSpPr txBox="1">
            <a:spLocks noChangeArrowheads="1"/>
          </p:cNvSpPr>
          <p:nvPr/>
        </p:nvSpPr>
        <p:spPr bwMode="auto">
          <a:xfrm>
            <a:off x="476250" y="4937125"/>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ea typeface="楷体_GB2312" charset="0"/>
              </a:rPr>
              <a:t>3</a:t>
            </a:r>
            <a:r>
              <a:rPr lang="zh-CN" altLang="en-US" sz="3600" b="1">
                <a:ea typeface="楷体_GB2312" charset="0"/>
              </a:rPr>
              <a:t>．</a:t>
            </a:r>
            <a:r>
              <a:rPr lang="zh-CN" altLang="en-US" sz="3600">
                <a:latin typeface="楷体_GB2312" charset="0"/>
                <a:ea typeface="楷体_GB2312" charset="0"/>
              </a:rPr>
              <a:t>若不存在，则插入之。</a:t>
            </a:r>
            <a:endParaRPr lang="zh-CN" altLang="en-US" sz="2400">
              <a:latin typeface="楷体_GB2312" charset="0"/>
              <a:ea typeface="楷体_GB2312" charset="0"/>
            </a:endParaRPr>
          </a:p>
        </p:txBody>
      </p:sp>
      <p:sp>
        <p:nvSpPr>
          <p:cNvPr id="913413" name="Text Box 5"/>
          <p:cNvSpPr txBox="1">
            <a:spLocks noChangeArrowheads="1"/>
          </p:cNvSpPr>
          <p:nvPr/>
        </p:nvSpPr>
        <p:spPr bwMode="auto">
          <a:xfrm>
            <a:off x="1660525" y="2254250"/>
            <a:ext cx="38417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333399"/>
                </a:solidFill>
                <a:ea typeface="楷体_GB2312" charset="0"/>
              </a:rPr>
              <a:t>GetElem(LB, i)</a:t>
            </a:r>
            <a:r>
              <a:rPr lang="en-US" altLang="zh-CN" sz="3600" b="1">
                <a:solidFill>
                  <a:srgbClr val="333399"/>
                </a:solidFill>
                <a:latin typeface="楷体_GB2312" charset="0"/>
                <a:ea typeface="楷体_GB2312" charset="0"/>
              </a:rPr>
              <a:t>→</a:t>
            </a:r>
            <a:r>
              <a:rPr lang="en-US" altLang="zh-CN" sz="3600" b="1">
                <a:solidFill>
                  <a:srgbClr val="333399"/>
                </a:solidFill>
                <a:ea typeface="楷体_GB2312" charset="0"/>
              </a:rPr>
              <a:t>e</a:t>
            </a:r>
            <a:endParaRPr lang="en-US" altLang="zh-CN" sz="3600">
              <a:ea typeface="楷体_GB2312" charset="0"/>
            </a:endParaRPr>
          </a:p>
          <a:p>
            <a:pPr eaLnBrk="1" hangingPunct="1">
              <a:defRPr/>
            </a:pPr>
            <a:endParaRPr lang="zh-CN" altLang="en-US" sz="2400"/>
          </a:p>
        </p:txBody>
      </p:sp>
      <p:sp>
        <p:nvSpPr>
          <p:cNvPr id="913414" name="Text Box 6"/>
          <p:cNvSpPr txBox="1">
            <a:spLocks noChangeArrowheads="1"/>
          </p:cNvSpPr>
          <p:nvPr/>
        </p:nvSpPr>
        <p:spPr bwMode="auto">
          <a:xfrm>
            <a:off x="1619250" y="3854450"/>
            <a:ext cx="56832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a:ea typeface="楷体_GB2312" charset="0"/>
              </a:rPr>
              <a:t> </a:t>
            </a:r>
            <a:r>
              <a:rPr lang="en-US" altLang="zh-CN" sz="3600" b="1">
                <a:solidFill>
                  <a:srgbClr val="333399"/>
                </a:solidFill>
                <a:ea typeface="楷体_GB2312" charset="0"/>
              </a:rPr>
              <a:t>LocateElem(LA, e, equal( ))</a:t>
            </a:r>
            <a:endParaRPr lang="en-US" altLang="zh-CN" sz="2400">
              <a:ea typeface="楷体_GB2312" charset="0"/>
            </a:endParaRPr>
          </a:p>
          <a:p>
            <a:pPr eaLnBrk="1" hangingPunct="1">
              <a:defRPr/>
            </a:pPr>
            <a:endParaRPr lang="zh-CN" altLang="en-US" sz="2400"/>
          </a:p>
        </p:txBody>
      </p:sp>
      <p:sp>
        <p:nvSpPr>
          <p:cNvPr id="913415" name="Text Box 7"/>
          <p:cNvSpPr txBox="1">
            <a:spLocks noChangeArrowheads="1"/>
          </p:cNvSpPr>
          <p:nvPr/>
        </p:nvSpPr>
        <p:spPr bwMode="auto">
          <a:xfrm>
            <a:off x="1619250" y="5622925"/>
            <a:ext cx="46101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a:latin typeface="楷体_GB2312" charset="0"/>
                <a:ea typeface="楷体_GB2312" charset="0"/>
              </a:rPr>
              <a:t> </a:t>
            </a:r>
            <a:r>
              <a:rPr lang="en-US" altLang="zh-CN" sz="3600" b="1">
                <a:solidFill>
                  <a:srgbClr val="333399"/>
                </a:solidFill>
                <a:ea typeface="楷体_GB2312" charset="0"/>
              </a:rPr>
              <a:t>ListInsert(LA, n+1, e)</a:t>
            </a:r>
            <a:endParaRPr lang="en-US" altLang="zh-CN" sz="2400">
              <a:latin typeface="楷体_GB2312" charset="0"/>
              <a:ea typeface="楷体_GB2312" charset="0"/>
            </a:endParaRPr>
          </a:p>
          <a:p>
            <a:pPr eaLnBrk="1" hangingPunct="1">
              <a:defRPr/>
            </a:pPr>
            <a:endParaRPr lang="zh-CN" altLang="en-US" sz="2400"/>
          </a:p>
        </p:txBody>
      </p:sp>
      <p:sp>
        <p:nvSpPr>
          <p:cNvPr id="913416" name="Text Box 8"/>
          <p:cNvSpPr txBox="1">
            <a:spLocks noChangeArrowheads="1"/>
          </p:cNvSpPr>
          <p:nvPr/>
        </p:nvSpPr>
        <p:spPr bwMode="auto">
          <a:xfrm>
            <a:off x="1524000" y="152400"/>
            <a:ext cx="272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0066"/>
                </a:solidFill>
                <a:ea typeface="隶书" panose="02010509060101010101" charset="-122"/>
              </a:rPr>
              <a:t>操作步骤：</a:t>
            </a:r>
            <a:endParaRPr lang="zh-CN" altLang="en-US"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13410"/>
                                        </p:tgtEl>
                                        <p:attrNameLst>
                                          <p:attrName>style.visibility</p:attrName>
                                        </p:attrNameLst>
                                      </p:cBhvr>
                                      <p:to>
                                        <p:strVal val="visible"/>
                                      </p:to>
                                    </p:set>
                                    <p:animEffect transition="in" filter="slide(fromBottom)">
                                      <p:cBhvr>
                                        <p:cTn id="7" dur="500"/>
                                        <p:tgtEl>
                                          <p:spTgt spid="91341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913411"/>
                                        </p:tgtEl>
                                        <p:attrNameLst>
                                          <p:attrName>style.visibility</p:attrName>
                                        </p:attrNameLst>
                                      </p:cBhvr>
                                      <p:to>
                                        <p:strVal val="visible"/>
                                      </p:to>
                                    </p:set>
                                    <p:animEffect transition="in" filter="slide(fromBottom)">
                                      <p:cBhvr>
                                        <p:cTn id="12" dur="500"/>
                                        <p:tgtEl>
                                          <p:spTgt spid="91341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913412"/>
                                        </p:tgtEl>
                                        <p:attrNameLst>
                                          <p:attrName>style.visibility</p:attrName>
                                        </p:attrNameLst>
                                      </p:cBhvr>
                                      <p:to>
                                        <p:strVal val="visible"/>
                                      </p:to>
                                    </p:set>
                                    <p:animEffect transition="in" filter="slide(fromBottom)">
                                      <p:cBhvr>
                                        <p:cTn id="17" dur="500"/>
                                        <p:tgtEl>
                                          <p:spTgt spid="91341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913413"/>
                                        </p:tgtEl>
                                        <p:attrNameLst>
                                          <p:attrName>style.visibility</p:attrName>
                                        </p:attrNameLst>
                                      </p:cBhvr>
                                      <p:to>
                                        <p:strVal val="visible"/>
                                      </p:to>
                                    </p:set>
                                    <p:animEffect transition="in" filter="slide(fromRight)">
                                      <p:cBhvr>
                                        <p:cTn id="22" dur="500"/>
                                        <p:tgtEl>
                                          <p:spTgt spid="91341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2" fill="hold" grpId="0" nodeType="clickEffect">
                                  <p:stCondLst>
                                    <p:cond delay="0"/>
                                  </p:stCondLst>
                                  <p:childTnLst>
                                    <p:set>
                                      <p:cBhvr>
                                        <p:cTn id="26" dur="1" fill="hold">
                                          <p:stCondLst>
                                            <p:cond delay="0"/>
                                          </p:stCondLst>
                                        </p:cTn>
                                        <p:tgtEl>
                                          <p:spTgt spid="913414"/>
                                        </p:tgtEl>
                                        <p:attrNameLst>
                                          <p:attrName>style.visibility</p:attrName>
                                        </p:attrNameLst>
                                      </p:cBhvr>
                                      <p:to>
                                        <p:strVal val="visible"/>
                                      </p:to>
                                    </p:set>
                                    <p:animEffect transition="in" filter="slide(fromRight)">
                                      <p:cBhvr>
                                        <p:cTn id="27" dur="500"/>
                                        <p:tgtEl>
                                          <p:spTgt spid="913414"/>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2" fill="hold" grpId="0" nodeType="clickEffect">
                                  <p:stCondLst>
                                    <p:cond delay="0"/>
                                  </p:stCondLst>
                                  <p:childTnLst>
                                    <p:set>
                                      <p:cBhvr>
                                        <p:cTn id="31" dur="1" fill="hold">
                                          <p:stCondLst>
                                            <p:cond delay="0"/>
                                          </p:stCondLst>
                                        </p:cTn>
                                        <p:tgtEl>
                                          <p:spTgt spid="913415"/>
                                        </p:tgtEl>
                                        <p:attrNameLst>
                                          <p:attrName>style.visibility</p:attrName>
                                        </p:attrNameLst>
                                      </p:cBhvr>
                                      <p:to>
                                        <p:strVal val="visible"/>
                                      </p:to>
                                    </p:set>
                                    <p:animEffect transition="in" filter="slide(fromRight)">
                                      <p:cBhvr>
                                        <p:cTn id="32" dur="500"/>
                                        <p:tgtEl>
                                          <p:spTgt spid="913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3410" grpId="0" autoUpdateAnimBg="0"/>
      <p:bldP spid="913411" grpId="0" autoUpdateAnimBg="0"/>
      <p:bldP spid="913412" grpId="0" autoUpdateAnimBg="0"/>
      <p:bldP spid="913413" grpId="0" autoUpdateAnimBg="0"/>
      <p:bldP spid="913414" grpId="0" autoUpdateAnimBg="0"/>
      <p:bldP spid="91341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4" name="Text Box 2"/>
          <p:cNvSpPr txBox="1">
            <a:spLocks noChangeArrowheads="1"/>
          </p:cNvSpPr>
          <p:nvPr/>
        </p:nvSpPr>
        <p:spPr bwMode="auto">
          <a:xfrm>
            <a:off x="463551" y="3608388"/>
            <a:ext cx="7993062" cy="272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600">
                <a:ea typeface="楷体_GB2312" charset="0"/>
              </a:rPr>
              <a:t>    </a:t>
            </a:r>
            <a:r>
              <a:rPr lang="en-US" altLang="zh-CN" sz="3600">
                <a:solidFill>
                  <a:srgbClr val="333399"/>
                </a:solidFill>
                <a:ea typeface="楷体_GB2312" charset="0"/>
              </a:rPr>
              <a:t>GetElem(Lb, i, e)</a:t>
            </a:r>
            <a:r>
              <a:rPr lang="en-US" altLang="zh-CN" sz="3600">
                <a:ea typeface="楷体_GB2312" charset="0"/>
              </a:rPr>
              <a:t>; </a:t>
            </a:r>
            <a:r>
              <a:rPr lang="en-US" altLang="zh-CN" sz="2400">
                <a:ea typeface="楷体_GB2312" charset="0"/>
              </a:rPr>
              <a:t>// </a:t>
            </a:r>
            <a:r>
              <a:rPr lang="zh-CN" altLang="en-US" sz="2400" b="1">
                <a:ea typeface="楷体_GB2312" charset="0"/>
              </a:rPr>
              <a:t>取</a:t>
            </a:r>
            <a:r>
              <a:rPr lang="en-US" altLang="zh-CN" sz="2400" b="1">
                <a:ea typeface="楷体_GB2312" charset="0"/>
              </a:rPr>
              <a:t>Lb</a:t>
            </a:r>
            <a:r>
              <a:rPr lang="zh-CN" altLang="en-US" sz="2400" b="1">
                <a:ea typeface="楷体_GB2312" charset="0"/>
              </a:rPr>
              <a:t>中第</a:t>
            </a:r>
            <a:r>
              <a:rPr lang="en-US" altLang="zh-CN" sz="2400" b="1">
                <a:ea typeface="楷体_GB2312" charset="0"/>
              </a:rPr>
              <a:t>i</a:t>
            </a:r>
            <a:r>
              <a:rPr lang="zh-CN" altLang="en-US" sz="2400" b="1">
                <a:ea typeface="楷体_GB2312" charset="0"/>
              </a:rPr>
              <a:t>个数据元素赋给</a:t>
            </a:r>
            <a:r>
              <a:rPr lang="en-US" altLang="zh-CN" sz="2400" b="1">
                <a:ea typeface="楷体_GB2312" charset="0"/>
              </a:rPr>
              <a:t>e</a:t>
            </a:r>
            <a:endParaRPr lang="en-US" altLang="zh-CN" sz="2400">
              <a:ea typeface="楷体_GB2312" charset="0"/>
            </a:endParaRPr>
          </a:p>
          <a:p>
            <a:pPr eaLnBrk="1" hangingPunct="1">
              <a:lnSpc>
                <a:spcPct val="120000"/>
              </a:lnSpc>
              <a:defRPr/>
            </a:pPr>
            <a:r>
              <a:rPr lang="en-US" altLang="zh-CN" sz="3600">
                <a:ea typeface="楷体_GB2312" charset="0"/>
              </a:rPr>
              <a:t>    </a:t>
            </a:r>
            <a:r>
              <a:rPr lang="en-US" altLang="zh-CN" sz="3600" b="1">
                <a:ea typeface="楷体_GB2312" charset="0"/>
              </a:rPr>
              <a:t>if </a:t>
            </a:r>
            <a:r>
              <a:rPr lang="en-US" altLang="zh-CN" sz="3600">
                <a:ea typeface="楷体_GB2312" charset="0"/>
              </a:rPr>
              <a:t>(</a:t>
            </a:r>
            <a:r>
              <a:rPr lang="en-US" altLang="zh-CN" sz="3600" b="1">
                <a:ea typeface="楷体_GB2312" charset="0"/>
              </a:rPr>
              <a:t>!</a:t>
            </a:r>
            <a:r>
              <a:rPr lang="en-US" altLang="zh-CN" sz="3600">
                <a:solidFill>
                  <a:srgbClr val="333399"/>
                </a:solidFill>
                <a:ea typeface="楷体_GB2312" charset="0"/>
              </a:rPr>
              <a:t>LocateElem(La, e, equal( )) </a:t>
            </a:r>
            <a:r>
              <a:rPr lang="en-US" altLang="zh-CN" sz="3600">
                <a:ea typeface="楷体_GB2312" charset="0"/>
              </a:rPr>
              <a:t>)</a:t>
            </a:r>
            <a:r>
              <a:rPr lang="en-US" altLang="zh-CN" sz="3600">
                <a:solidFill>
                  <a:srgbClr val="333399"/>
                </a:solidFill>
                <a:ea typeface="楷体_GB2312" charset="0"/>
              </a:rPr>
              <a:t> </a:t>
            </a:r>
            <a:endParaRPr lang="en-US" altLang="zh-CN" sz="3600">
              <a:ea typeface="楷体_GB2312" charset="0"/>
            </a:endParaRPr>
          </a:p>
          <a:p>
            <a:pPr eaLnBrk="1" hangingPunct="1">
              <a:lnSpc>
                <a:spcPct val="120000"/>
              </a:lnSpc>
              <a:defRPr/>
            </a:pPr>
            <a:r>
              <a:rPr lang="en-US" altLang="zh-CN" sz="3600">
                <a:ea typeface="楷体_GB2312" charset="0"/>
              </a:rPr>
              <a:t>       </a:t>
            </a:r>
            <a:r>
              <a:rPr lang="en-US" altLang="zh-CN" sz="3600">
                <a:solidFill>
                  <a:srgbClr val="333399"/>
                </a:solidFill>
                <a:ea typeface="楷体_GB2312" charset="0"/>
              </a:rPr>
              <a:t>ListInsert(La, ++La_len, e)</a:t>
            </a:r>
            <a:r>
              <a:rPr lang="en-US" altLang="zh-CN" sz="3600">
                <a:ea typeface="楷体_GB2312" charset="0"/>
              </a:rPr>
              <a:t>;</a:t>
            </a:r>
            <a:endParaRPr lang="en-US" altLang="zh-CN" sz="3600">
              <a:ea typeface="楷体_GB2312" charset="0"/>
            </a:endParaRPr>
          </a:p>
          <a:p>
            <a:pPr eaLnBrk="1" hangingPunct="1">
              <a:lnSpc>
                <a:spcPct val="120000"/>
              </a:lnSpc>
              <a:defRPr/>
            </a:pPr>
            <a:r>
              <a:rPr lang="en-US" altLang="zh-CN" sz="3600">
                <a:ea typeface="楷体_GB2312" charset="0"/>
              </a:rPr>
              <a:t>      </a:t>
            </a:r>
            <a:r>
              <a:rPr lang="en-US" altLang="zh-CN" sz="2400">
                <a:ea typeface="楷体_GB2312" charset="0"/>
              </a:rPr>
              <a:t>// </a:t>
            </a:r>
            <a:r>
              <a:rPr lang="en-US" altLang="zh-CN" sz="2400" b="1">
                <a:ea typeface="楷体_GB2312" charset="0"/>
              </a:rPr>
              <a:t>La</a:t>
            </a:r>
            <a:r>
              <a:rPr lang="zh-CN" altLang="en-US" sz="2400" b="1">
                <a:ea typeface="楷体_GB2312" charset="0"/>
              </a:rPr>
              <a:t>中不存在和 </a:t>
            </a:r>
            <a:r>
              <a:rPr lang="en-US" altLang="zh-CN" sz="2400" b="1">
                <a:ea typeface="楷体_GB2312" charset="0"/>
              </a:rPr>
              <a:t>e </a:t>
            </a:r>
            <a:r>
              <a:rPr lang="zh-CN" altLang="en-US" sz="2400" b="1">
                <a:ea typeface="楷体_GB2312" charset="0"/>
              </a:rPr>
              <a:t>相同的数据元素，则插入之</a:t>
            </a:r>
            <a:endParaRPr lang="zh-CN" altLang="en-US" sz="3600" b="1"/>
          </a:p>
        </p:txBody>
      </p:sp>
      <p:sp>
        <p:nvSpPr>
          <p:cNvPr id="914435" name="Text Box 3"/>
          <p:cNvSpPr txBox="1">
            <a:spLocks noChangeArrowheads="1"/>
          </p:cNvSpPr>
          <p:nvPr/>
        </p:nvSpPr>
        <p:spPr bwMode="auto">
          <a:xfrm>
            <a:off x="1182688" y="990600"/>
            <a:ext cx="6027738" cy="206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600" b="1" dirty="0">
                <a:solidFill>
                  <a:schemeClr val="tx2"/>
                </a:solidFill>
                <a:ea typeface="楷体_GB2312" charset="0"/>
              </a:rPr>
              <a:t>void</a:t>
            </a:r>
            <a:r>
              <a:rPr lang="en-US" altLang="zh-CN" sz="3600" dirty="0">
                <a:solidFill>
                  <a:schemeClr val="tx2"/>
                </a:solidFill>
                <a:ea typeface="楷体_GB2312" charset="0"/>
              </a:rPr>
              <a:t> union(List </a:t>
            </a:r>
            <a:r>
              <a:rPr lang="en-US" altLang="zh-CN" sz="3600" b="1" dirty="0">
                <a:solidFill>
                  <a:schemeClr val="tx2"/>
                </a:solidFill>
                <a:ea typeface="楷体_GB2312" charset="0"/>
              </a:rPr>
              <a:t>&amp;</a:t>
            </a:r>
            <a:r>
              <a:rPr lang="en-US" altLang="zh-CN" sz="3600" dirty="0">
                <a:solidFill>
                  <a:schemeClr val="tx2"/>
                </a:solidFill>
                <a:ea typeface="楷体_GB2312" charset="0"/>
              </a:rPr>
              <a:t>La, List </a:t>
            </a:r>
            <a:r>
              <a:rPr lang="en-US" altLang="zh-CN" sz="3600" dirty="0" err="1">
                <a:solidFill>
                  <a:schemeClr val="tx2"/>
                </a:solidFill>
                <a:ea typeface="楷体_GB2312" charset="0"/>
              </a:rPr>
              <a:t>Lb</a:t>
            </a:r>
            <a:r>
              <a:rPr lang="en-US" altLang="zh-CN" sz="3600" dirty="0">
                <a:solidFill>
                  <a:schemeClr val="tx2"/>
                </a:solidFill>
                <a:ea typeface="楷体_GB2312" charset="0"/>
              </a:rPr>
              <a:t>) </a:t>
            </a:r>
            <a:r>
              <a:rPr lang="en-US" altLang="zh-CN" sz="3600" b="1" dirty="0">
                <a:solidFill>
                  <a:schemeClr val="tx2"/>
                </a:solidFill>
                <a:ea typeface="楷体_GB2312" charset="0"/>
              </a:rPr>
              <a:t>{</a:t>
            </a:r>
            <a:endParaRPr lang="en-US" altLang="zh-CN" sz="3600" dirty="0">
              <a:ea typeface="楷体_GB2312" charset="0"/>
            </a:endParaRPr>
          </a:p>
          <a:p>
            <a:pPr eaLnBrk="1" hangingPunct="1">
              <a:lnSpc>
                <a:spcPct val="120000"/>
              </a:lnSpc>
              <a:defRPr/>
            </a:pPr>
            <a:r>
              <a:rPr lang="en-US" altLang="zh-CN" sz="3600" dirty="0">
                <a:ea typeface="楷体_GB2312" charset="0"/>
              </a:rPr>
              <a:t>    </a:t>
            </a:r>
            <a:r>
              <a:rPr lang="en-US" altLang="zh-CN" sz="3600" dirty="0" err="1">
                <a:ea typeface="楷体_GB2312" charset="0"/>
              </a:rPr>
              <a:t>La_len</a:t>
            </a:r>
            <a:r>
              <a:rPr lang="en-US" altLang="zh-CN" sz="3600" dirty="0">
                <a:ea typeface="楷体_GB2312" charset="0"/>
              </a:rPr>
              <a:t> = </a:t>
            </a:r>
            <a:r>
              <a:rPr lang="en-US" altLang="zh-CN" sz="3600" dirty="0" err="1">
                <a:solidFill>
                  <a:srgbClr val="333399"/>
                </a:solidFill>
                <a:ea typeface="楷体_GB2312" charset="0"/>
              </a:rPr>
              <a:t>ListLength</a:t>
            </a:r>
            <a:r>
              <a:rPr lang="en-US" altLang="zh-CN" sz="3600" dirty="0">
                <a:solidFill>
                  <a:srgbClr val="333399"/>
                </a:solidFill>
                <a:ea typeface="楷体_GB2312" charset="0"/>
              </a:rPr>
              <a:t>(La)</a:t>
            </a:r>
            <a:r>
              <a:rPr lang="en-US" altLang="zh-CN" sz="3600" dirty="0">
                <a:ea typeface="楷体_GB2312" charset="0"/>
              </a:rPr>
              <a:t>;</a:t>
            </a:r>
            <a:endParaRPr lang="en-US" altLang="zh-CN" sz="3600" dirty="0">
              <a:ea typeface="楷体_GB2312" charset="0"/>
            </a:endParaRPr>
          </a:p>
          <a:p>
            <a:pPr eaLnBrk="1" hangingPunct="1">
              <a:lnSpc>
                <a:spcPct val="120000"/>
              </a:lnSpc>
              <a:defRPr/>
            </a:pPr>
            <a:r>
              <a:rPr lang="en-US" altLang="zh-CN" sz="3600" dirty="0">
                <a:ea typeface="楷体_GB2312" charset="0"/>
              </a:rPr>
              <a:t>    </a:t>
            </a:r>
            <a:r>
              <a:rPr lang="en-US" altLang="zh-CN" sz="3600" dirty="0" err="1">
                <a:ea typeface="楷体_GB2312" charset="0"/>
              </a:rPr>
              <a:t>Lb_len</a:t>
            </a:r>
            <a:r>
              <a:rPr lang="en-US" altLang="zh-CN" sz="3600" dirty="0">
                <a:ea typeface="楷体_GB2312" charset="0"/>
              </a:rPr>
              <a:t> = </a:t>
            </a:r>
            <a:r>
              <a:rPr lang="en-US" altLang="zh-CN" sz="3600" dirty="0" err="1">
                <a:solidFill>
                  <a:srgbClr val="333399"/>
                </a:solidFill>
                <a:ea typeface="楷体_GB2312" charset="0"/>
              </a:rPr>
              <a:t>ListLength</a:t>
            </a:r>
            <a:r>
              <a:rPr lang="en-US" altLang="zh-CN" sz="3600" dirty="0">
                <a:solidFill>
                  <a:srgbClr val="333399"/>
                </a:solidFill>
                <a:ea typeface="楷体_GB2312" charset="0"/>
              </a:rPr>
              <a:t>(</a:t>
            </a:r>
            <a:r>
              <a:rPr lang="en-US" altLang="zh-CN" sz="3600" dirty="0" err="1">
                <a:solidFill>
                  <a:srgbClr val="333399"/>
                </a:solidFill>
                <a:ea typeface="楷体_GB2312" charset="0"/>
              </a:rPr>
              <a:t>Lb</a:t>
            </a:r>
            <a:r>
              <a:rPr lang="en-US" altLang="zh-CN" sz="3600" dirty="0">
                <a:solidFill>
                  <a:srgbClr val="333399"/>
                </a:solidFill>
                <a:ea typeface="楷体_GB2312" charset="0"/>
              </a:rPr>
              <a:t>)</a:t>
            </a:r>
            <a:r>
              <a:rPr lang="en-US" altLang="zh-CN" sz="3600" dirty="0">
                <a:ea typeface="楷体_GB2312" charset="0"/>
              </a:rPr>
              <a:t>;   </a:t>
            </a:r>
            <a:endParaRPr lang="en-US" altLang="zh-CN" sz="3600" dirty="0">
              <a:ea typeface="楷体_GB2312" charset="0"/>
            </a:endParaRPr>
          </a:p>
        </p:txBody>
      </p:sp>
      <p:sp>
        <p:nvSpPr>
          <p:cNvPr id="914436" name="Text Box 4"/>
          <p:cNvSpPr txBox="1">
            <a:spLocks noChangeArrowheads="1"/>
          </p:cNvSpPr>
          <p:nvPr/>
        </p:nvSpPr>
        <p:spPr bwMode="auto">
          <a:xfrm>
            <a:off x="1106488" y="2971800"/>
            <a:ext cx="5840413"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600" b="1">
                <a:solidFill>
                  <a:srgbClr val="660066"/>
                </a:solidFill>
                <a:ea typeface="楷体_GB2312" charset="0"/>
              </a:rPr>
              <a:t>for</a:t>
            </a:r>
            <a:r>
              <a:rPr lang="en-US" altLang="zh-CN" sz="3600">
                <a:solidFill>
                  <a:srgbClr val="660066"/>
                </a:solidFill>
                <a:ea typeface="楷体_GB2312" charset="0"/>
              </a:rPr>
              <a:t> (i = 1;  i &lt;= Lb_len;  i++)</a:t>
            </a:r>
            <a:r>
              <a:rPr lang="en-US" altLang="zh-CN" sz="3600" b="1">
                <a:solidFill>
                  <a:srgbClr val="660066"/>
                </a:solidFill>
                <a:ea typeface="楷体_GB2312" charset="0"/>
              </a:rPr>
              <a:t> {</a:t>
            </a:r>
            <a:endParaRPr lang="en-US" altLang="zh-CN" sz="2400"/>
          </a:p>
        </p:txBody>
      </p:sp>
      <p:sp>
        <p:nvSpPr>
          <p:cNvPr id="914437" name="Text Box 5"/>
          <p:cNvSpPr txBox="1">
            <a:spLocks noChangeArrowheads="1"/>
          </p:cNvSpPr>
          <p:nvPr/>
        </p:nvSpPr>
        <p:spPr bwMode="auto">
          <a:xfrm>
            <a:off x="7431088" y="5562600"/>
            <a:ext cx="363538"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600" b="1">
                <a:solidFill>
                  <a:srgbClr val="660066"/>
                </a:solidFill>
                <a:ea typeface="楷体_GB2312" charset="0"/>
              </a:rPr>
              <a:t>}</a:t>
            </a:r>
            <a:endParaRPr lang="en-US" altLang="zh-CN" sz="3600">
              <a:ea typeface="楷体_GB2312" charset="0"/>
            </a:endParaRPr>
          </a:p>
        </p:txBody>
      </p:sp>
      <p:sp>
        <p:nvSpPr>
          <p:cNvPr id="914438" name="Text Box 6"/>
          <p:cNvSpPr txBox="1">
            <a:spLocks noChangeArrowheads="1"/>
          </p:cNvSpPr>
          <p:nvPr/>
        </p:nvSpPr>
        <p:spPr bwMode="auto">
          <a:xfrm>
            <a:off x="-36512" y="6216650"/>
            <a:ext cx="18875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chemeClr val="tx2"/>
                </a:solidFill>
                <a:ea typeface="楷体_GB2312" charset="0"/>
              </a:rPr>
              <a:t>}</a:t>
            </a:r>
            <a:r>
              <a:rPr lang="en-US" altLang="zh-CN" sz="3600">
                <a:solidFill>
                  <a:schemeClr val="tx2"/>
                </a:solidFill>
                <a:ea typeface="楷体_GB2312" charset="0"/>
              </a:rPr>
              <a:t> // union</a:t>
            </a:r>
            <a:endParaRPr lang="en-US" altLang="zh-CN" sz="3600">
              <a:ea typeface="楷体_GB2312" charset="0"/>
            </a:endParaRPr>
          </a:p>
        </p:txBody>
      </p:sp>
      <p:sp>
        <p:nvSpPr>
          <p:cNvPr id="914439" name="AutoShape 7">
            <a:hlinkClick r:id="rId1" action="ppaction://hlinksldjump" highlightClick="1"/>
          </p:cNvPr>
          <p:cNvSpPr>
            <a:spLocks noChangeArrowheads="1"/>
          </p:cNvSpPr>
          <p:nvPr/>
        </p:nvSpPr>
        <p:spPr bwMode="auto">
          <a:xfrm>
            <a:off x="8269288" y="70866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914436"/>
                                        </p:tgtEl>
                                        <p:attrNameLst>
                                          <p:attrName>style.visibility</p:attrName>
                                        </p:attrNameLst>
                                      </p:cBhvr>
                                      <p:to>
                                        <p:strVal val="visible"/>
                                      </p:to>
                                    </p:set>
                                    <p:animEffect transition="in" filter="wipe(left)">
                                      <p:cBhvr>
                                        <p:cTn id="7" dur="300"/>
                                        <p:tgtEl>
                                          <p:spTgt spid="914436"/>
                                        </p:tgtEl>
                                      </p:cBhvr>
                                    </p:animEffect>
                                  </p:childTnLst>
                                </p:cTn>
                              </p:par>
                            </p:childTnLst>
                          </p:cTn>
                        </p:par>
                        <p:par>
                          <p:cTn id="8" fill="hold">
                            <p:stCondLst>
                              <p:cond delay="99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914437"/>
                                        </p:tgtEl>
                                        <p:attrNameLst>
                                          <p:attrName>style.visibility</p:attrName>
                                        </p:attrNameLst>
                                      </p:cBhvr>
                                      <p:to>
                                        <p:strVal val="visible"/>
                                      </p:to>
                                    </p:set>
                                    <p:animEffect transition="in" filter="wipe(left)">
                                      <p:cBhvr>
                                        <p:cTn id="11" dur="300"/>
                                        <p:tgtEl>
                                          <p:spTgt spid="91443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wd">
                                    <p:tmPct val="100000"/>
                                  </p:iterate>
                                  <p:childTnLst>
                                    <p:set>
                                      <p:cBhvr>
                                        <p:cTn id="15" dur="1" fill="hold">
                                          <p:stCondLst>
                                            <p:cond delay="0"/>
                                          </p:stCondLst>
                                        </p:cTn>
                                        <p:tgtEl>
                                          <p:spTgt spid="914435"/>
                                        </p:tgtEl>
                                        <p:attrNameLst>
                                          <p:attrName>style.visibility</p:attrName>
                                        </p:attrNameLst>
                                      </p:cBhvr>
                                      <p:to>
                                        <p:strVal val="visible"/>
                                      </p:to>
                                    </p:set>
                                    <p:animEffect transition="in" filter="wipe(left)">
                                      <p:cBhvr>
                                        <p:cTn id="16" dur="300"/>
                                        <p:tgtEl>
                                          <p:spTgt spid="914435"/>
                                        </p:tgtEl>
                                      </p:cBhvr>
                                    </p:animEffect>
                                  </p:childTnLst>
                                </p:cTn>
                              </p:par>
                            </p:childTnLst>
                          </p:cTn>
                        </p:par>
                        <p:par>
                          <p:cTn id="17" fill="hold">
                            <p:stCondLst>
                              <p:cond delay="27000"/>
                            </p:stCondLst>
                            <p:childTnLst>
                              <p:par>
                                <p:cTn id="18" presetID="22" presetClass="entr" presetSubtype="8" fill="hold" grpId="0" nodeType="afterEffect">
                                  <p:stCondLst>
                                    <p:cond delay="0"/>
                                  </p:stCondLst>
                                  <p:iterate type="wd">
                                    <p:tmPct val="100000"/>
                                  </p:iterate>
                                  <p:childTnLst>
                                    <p:set>
                                      <p:cBhvr>
                                        <p:cTn id="19" dur="1" fill="hold">
                                          <p:stCondLst>
                                            <p:cond delay="0"/>
                                          </p:stCondLst>
                                        </p:cTn>
                                        <p:tgtEl>
                                          <p:spTgt spid="914438"/>
                                        </p:tgtEl>
                                        <p:attrNameLst>
                                          <p:attrName>style.visibility</p:attrName>
                                        </p:attrNameLst>
                                      </p:cBhvr>
                                      <p:to>
                                        <p:strVal val="visible"/>
                                      </p:to>
                                    </p:set>
                                    <p:animEffect transition="in" filter="wipe(left)">
                                      <p:cBhvr>
                                        <p:cTn id="20" dur="300"/>
                                        <p:tgtEl>
                                          <p:spTgt spid="914438"/>
                                        </p:tgtEl>
                                      </p:cBhvr>
                                    </p:animEffect>
                                  </p:childTnLst>
                                </p:cTn>
                              </p:par>
                            </p:childTnLst>
                          </p:cTn>
                        </p:par>
                        <p:par>
                          <p:cTn id="21" fill="hold">
                            <p:stCondLst>
                              <p:cond delay="30000"/>
                            </p:stCondLst>
                            <p:childTnLst>
                              <p:par>
                                <p:cTn id="22" presetID="2" presetClass="entr" presetSubtype="6" fill="hold" grpId="0" nodeType="afterEffect">
                                  <p:stCondLst>
                                    <p:cond delay="0"/>
                                  </p:stCondLst>
                                  <p:childTnLst>
                                    <p:set>
                                      <p:cBhvr>
                                        <p:cTn id="23" dur="1" fill="hold">
                                          <p:stCondLst>
                                            <p:cond delay="0"/>
                                          </p:stCondLst>
                                        </p:cTn>
                                        <p:tgtEl>
                                          <p:spTgt spid="914439"/>
                                        </p:tgtEl>
                                        <p:attrNameLst>
                                          <p:attrName>style.visibility</p:attrName>
                                        </p:attrNameLst>
                                      </p:cBhvr>
                                      <p:to>
                                        <p:strVal val="visible"/>
                                      </p:to>
                                    </p:set>
                                    <p:anim calcmode="lin" valueType="num">
                                      <p:cBhvr additive="base">
                                        <p:cTn id="24" dur="500" fill="hold"/>
                                        <p:tgtEl>
                                          <p:spTgt spid="914439"/>
                                        </p:tgtEl>
                                        <p:attrNameLst>
                                          <p:attrName>ppt_x</p:attrName>
                                        </p:attrNameLst>
                                      </p:cBhvr>
                                      <p:tavLst>
                                        <p:tav tm="0">
                                          <p:val>
                                            <p:strVal val="1+#ppt_w/2"/>
                                          </p:val>
                                        </p:tav>
                                        <p:tav tm="100000">
                                          <p:val>
                                            <p:strVal val="#ppt_x"/>
                                          </p:val>
                                        </p:tav>
                                      </p:tavLst>
                                    </p:anim>
                                    <p:anim calcmode="lin" valueType="num">
                                      <p:cBhvr additive="base">
                                        <p:cTn id="25" dur="500" fill="hold"/>
                                        <p:tgtEl>
                                          <p:spTgt spid="9144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4435" grpId="0" autoUpdateAnimBg="0"/>
      <p:bldP spid="914436" grpId="0" autoUpdateAnimBg="0"/>
      <p:bldP spid="914437" grpId="0" autoUpdateAnimBg="0"/>
      <p:bldP spid="914438" grpId="0" autoUpdateAnimBg="0"/>
      <p:bldP spid="91443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8" name="Text Box 2"/>
          <p:cNvSpPr txBox="1">
            <a:spLocks noChangeArrowheads="1"/>
          </p:cNvSpPr>
          <p:nvPr/>
        </p:nvSpPr>
        <p:spPr bwMode="auto">
          <a:xfrm>
            <a:off x="228600" y="1676400"/>
            <a:ext cx="8915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4000" b="1">
                <a:ea typeface="楷体_GB2312" charset="0"/>
              </a:rPr>
              <a:t>       </a:t>
            </a:r>
            <a:r>
              <a:rPr lang="zh-CN" altLang="en-US" sz="4000" b="1">
                <a:solidFill>
                  <a:srgbClr val="008080"/>
                </a:solidFill>
                <a:ea typeface="楷体_GB2312" charset="0"/>
              </a:rPr>
              <a:t>已知</a:t>
            </a:r>
            <a:r>
              <a:rPr lang="zh-CN" altLang="en-US" sz="4000">
                <a:solidFill>
                  <a:srgbClr val="008080"/>
                </a:solidFill>
                <a:ea typeface="楷体_GB2312" charset="0"/>
              </a:rPr>
              <a:t>一个</a:t>
            </a:r>
            <a:r>
              <a:rPr lang="zh-CN" altLang="en-US" sz="4000" b="1">
                <a:solidFill>
                  <a:srgbClr val="008080"/>
                </a:solidFill>
                <a:ea typeface="楷体_GB2312" charset="0"/>
              </a:rPr>
              <a:t>非纯集合 </a:t>
            </a:r>
            <a:r>
              <a:rPr lang="en-US" altLang="zh-CN" sz="4000">
                <a:solidFill>
                  <a:srgbClr val="008080"/>
                </a:solidFill>
                <a:ea typeface="楷体_GB2312" charset="0"/>
              </a:rPr>
              <a:t>B</a:t>
            </a:r>
            <a:r>
              <a:rPr lang="zh-CN" altLang="en-US" sz="4000">
                <a:solidFill>
                  <a:srgbClr val="008080"/>
                </a:solidFill>
                <a:ea typeface="楷体_GB2312" charset="0"/>
              </a:rPr>
              <a:t>，试</a:t>
            </a:r>
            <a:r>
              <a:rPr lang="zh-CN" altLang="en-US" sz="4000" b="1">
                <a:solidFill>
                  <a:srgbClr val="008080"/>
                </a:solidFill>
                <a:ea typeface="楷体_GB2312" charset="0"/>
              </a:rPr>
              <a:t>构造</a:t>
            </a:r>
            <a:r>
              <a:rPr lang="zh-CN" altLang="en-US" sz="4000">
                <a:solidFill>
                  <a:srgbClr val="008080"/>
                </a:solidFill>
                <a:ea typeface="楷体_GB2312" charset="0"/>
              </a:rPr>
              <a:t>一个</a:t>
            </a:r>
            <a:r>
              <a:rPr lang="zh-CN" altLang="en-US" sz="4000" b="1">
                <a:solidFill>
                  <a:srgbClr val="008080"/>
                </a:solidFill>
                <a:ea typeface="楷体_GB2312" charset="0"/>
              </a:rPr>
              <a:t>纯集合 </a:t>
            </a:r>
            <a:r>
              <a:rPr lang="en-US" altLang="zh-CN" sz="4000">
                <a:solidFill>
                  <a:srgbClr val="008080"/>
                </a:solidFill>
                <a:ea typeface="楷体_GB2312" charset="0"/>
              </a:rPr>
              <a:t>A</a:t>
            </a:r>
            <a:r>
              <a:rPr lang="zh-CN" altLang="en-US" sz="4000">
                <a:solidFill>
                  <a:srgbClr val="008080"/>
                </a:solidFill>
                <a:ea typeface="楷体_GB2312" charset="0"/>
              </a:rPr>
              <a:t>，</a:t>
            </a:r>
            <a:r>
              <a:rPr lang="zh-CN" altLang="en-US" sz="4000" b="1">
                <a:solidFill>
                  <a:srgbClr val="008080"/>
                </a:solidFill>
                <a:ea typeface="楷体_GB2312" charset="0"/>
              </a:rPr>
              <a:t>使 </a:t>
            </a:r>
            <a:r>
              <a:rPr lang="en-US" altLang="zh-CN" sz="4000" b="1">
                <a:solidFill>
                  <a:srgbClr val="008080"/>
                </a:solidFill>
                <a:ea typeface="楷体_GB2312" charset="0"/>
              </a:rPr>
              <a:t>A</a:t>
            </a:r>
            <a:r>
              <a:rPr lang="zh-CN" altLang="en-US" sz="4000" b="1">
                <a:solidFill>
                  <a:srgbClr val="008080"/>
                </a:solidFill>
                <a:ea typeface="楷体_GB2312" charset="0"/>
              </a:rPr>
              <a:t>中只包含 </a:t>
            </a:r>
            <a:r>
              <a:rPr lang="en-US" altLang="zh-CN" sz="4000" b="1">
                <a:solidFill>
                  <a:srgbClr val="008080"/>
                </a:solidFill>
                <a:ea typeface="楷体_GB2312" charset="0"/>
              </a:rPr>
              <a:t>B </a:t>
            </a:r>
            <a:r>
              <a:rPr lang="zh-CN" altLang="en-US" sz="4000" b="1">
                <a:solidFill>
                  <a:srgbClr val="008080"/>
                </a:solidFill>
                <a:ea typeface="楷体_GB2312" charset="0"/>
              </a:rPr>
              <a:t>中所有值各不相 同的数据元素</a:t>
            </a:r>
            <a:r>
              <a:rPr lang="zh-CN" altLang="en-US" sz="4000">
                <a:solidFill>
                  <a:srgbClr val="008080"/>
                </a:solidFill>
                <a:ea typeface="楷体_GB2312" charset="0"/>
              </a:rPr>
              <a:t>。</a:t>
            </a:r>
            <a:endParaRPr lang="zh-CN" altLang="en-US" sz="2400">
              <a:solidFill>
                <a:srgbClr val="008080"/>
              </a:solidFill>
            </a:endParaRPr>
          </a:p>
        </p:txBody>
      </p:sp>
      <p:sp>
        <p:nvSpPr>
          <p:cNvPr id="915459" name="Text Box 3"/>
          <p:cNvSpPr txBox="1">
            <a:spLocks noChangeArrowheads="1"/>
          </p:cNvSpPr>
          <p:nvPr/>
        </p:nvSpPr>
        <p:spPr bwMode="auto">
          <a:xfrm>
            <a:off x="806450" y="4819650"/>
            <a:ext cx="5772150" cy="701675"/>
          </a:xfrm>
          <a:prstGeom prst="rect">
            <a:avLst/>
          </a:prstGeom>
          <a:noFill/>
          <a:ln>
            <a:noFill/>
          </a:ln>
          <a:effectLst/>
          <a:extLst>
            <a:ext uri="{909E8E84-426E-40DD-AFC4-6F175D3DCCD1}">
              <a14:hiddenFill xmlns:a14="http://schemas.microsoft.com/office/drawing/2010/main">
                <a:solidFill>
                  <a:srgbClr val="CC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9A009A"/>
                </a:solidFill>
                <a:ea typeface="楷体_GB2312" charset="0"/>
              </a:rPr>
              <a:t>仍选用</a:t>
            </a:r>
            <a:r>
              <a:rPr lang="zh-CN" altLang="en-US" sz="4000" b="1">
                <a:solidFill>
                  <a:srgbClr val="660066"/>
                </a:solidFill>
                <a:ea typeface="楷体_GB2312" charset="0"/>
              </a:rPr>
              <a:t>线性表</a:t>
            </a:r>
            <a:r>
              <a:rPr lang="zh-CN" altLang="en-US" sz="4000">
                <a:solidFill>
                  <a:srgbClr val="9A009A"/>
                </a:solidFill>
                <a:ea typeface="楷体_GB2312" charset="0"/>
              </a:rPr>
              <a:t>表示集合。</a:t>
            </a:r>
            <a:endParaRPr lang="zh-CN" altLang="en-US" sz="2400"/>
          </a:p>
        </p:txBody>
      </p:sp>
      <p:sp>
        <p:nvSpPr>
          <p:cNvPr id="915460" name="Text Box 4"/>
          <p:cNvSpPr txBox="1">
            <a:spLocks noChangeArrowheads="1"/>
          </p:cNvSpPr>
          <p:nvPr/>
        </p:nvSpPr>
        <p:spPr bwMode="auto">
          <a:xfrm>
            <a:off x="1524000" y="0"/>
            <a:ext cx="1627188"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4400" b="1">
                <a:solidFill>
                  <a:srgbClr val="008080"/>
                </a:solidFill>
                <a:ea typeface="隶书" panose="02010509060101010101" charset="-122"/>
              </a:rPr>
              <a:t>例</a:t>
            </a:r>
            <a:r>
              <a:rPr lang="zh-CN" altLang="en-US" sz="4400" b="1">
                <a:solidFill>
                  <a:srgbClr val="008080"/>
                </a:solidFill>
                <a:ea typeface="楷体_GB2312" charset="0"/>
              </a:rPr>
              <a:t> </a:t>
            </a:r>
            <a:r>
              <a:rPr lang="en-US" altLang="zh-CN" sz="4400" b="1">
                <a:solidFill>
                  <a:srgbClr val="008080"/>
                </a:solidFill>
                <a:ea typeface="楷体_GB2312" charset="0"/>
              </a:rPr>
              <a:t>2-2</a:t>
            </a:r>
            <a:endParaRPr lang="en-US" altLang="zh-CN"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915458"/>
                                        </p:tgtEl>
                                        <p:attrNameLst>
                                          <p:attrName>style.visibility</p:attrName>
                                        </p:attrNameLst>
                                      </p:cBhvr>
                                      <p:to>
                                        <p:strVal val="visible"/>
                                      </p:to>
                                    </p:set>
                                    <p:animEffect transition="in" filter="barn(outVertical)">
                                      <p:cBhvr>
                                        <p:cTn id="7" dur="500"/>
                                        <p:tgtEl>
                                          <p:spTgt spid="91545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15459"/>
                                        </p:tgtEl>
                                        <p:attrNameLst>
                                          <p:attrName>style.visibility</p:attrName>
                                        </p:attrNameLst>
                                      </p:cBhvr>
                                      <p:to>
                                        <p:strVal val="visible"/>
                                      </p:to>
                                    </p:set>
                                    <p:anim calcmode="lin" valueType="num">
                                      <p:cBhvr additive="base">
                                        <p:cTn id="12" dur="500" fill="hold"/>
                                        <p:tgtEl>
                                          <p:spTgt spid="915459"/>
                                        </p:tgtEl>
                                        <p:attrNameLst>
                                          <p:attrName>ppt_x</p:attrName>
                                        </p:attrNameLst>
                                      </p:cBhvr>
                                      <p:tavLst>
                                        <p:tav tm="0">
                                          <p:val>
                                            <p:strVal val="#ppt_x"/>
                                          </p:val>
                                        </p:tav>
                                        <p:tav tm="100000">
                                          <p:val>
                                            <p:strVal val="#ppt_x"/>
                                          </p:val>
                                        </p:tav>
                                      </p:tavLst>
                                    </p:anim>
                                    <p:anim calcmode="lin" valueType="num">
                                      <p:cBhvr additive="base">
                                        <p:cTn id="13" dur="500" fill="hold"/>
                                        <p:tgtEl>
                                          <p:spTgt spid="915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5458" grpId="0" autoUpdateAnimBg="0"/>
      <p:bldP spid="91545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57" name="Object 2"/>
          <p:cNvGraphicFramePr>
            <a:graphicFrameLocks noChangeAspect="1"/>
          </p:cNvGraphicFramePr>
          <p:nvPr/>
        </p:nvGraphicFramePr>
        <p:xfrm>
          <a:off x="1143000" y="457200"/>
          <a:ext cx="2667000" cy="2667000"/>
        </p:xfrm>
        <a:graphic>
          <a:graphicData uri="http://schemas.openxmlformats.org/presentationml/2006/ole">
            <mc:AlternateContent xmlns:mc="http://schemas.openxmlformats.org/markup-compatibility/2006">
              <mc:Choice xmlns:v="urn:schemas-microsoft-com:vml" Requires="v">
                <p:oleObj spid="_x0000_s36907" name="剪辑" r:id="rId1" imgW="888365" imgH="1294130" progId="MS_ClipArt_Gallery.2">
                  <p:embed/>
                </p:oleObj>
              </mc:Choice>
              <mc:Fallback>
                <p:oleObj name="剪辑" r:id="rId1" imgW="888365" imgH="1294130" progId="MS_ClipArt_Gallery.2">
                  <p:embed/>
                  <p:pic>
                    <p:nvPicPr>
                      <p:cNvPr id="0" name="图片 3689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57200"/>
                        <a:ext cx="2667000" cy="266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45058" name="Object 3"/>
          <p:cNvGraphicFramePr>
            <a:graphicFrameLocks noChangeAspect="1"/>
          </p:cNvGraphicFramePr>
          <p:nvPr/>
        </p:nvGraphicFramePr>
        <p:xfrm>
          <a:off x="5334000" y="457200"/>
          <a:ext cx="2667000" cy="2667000"/>
        </p:xfrm>
        <a:graphic>
          <a:graphicData uri="http://schemas.openxmlformats.org/presentationml/2006/ole">
            <mc:AlternateContent xmlns:mc="http://schemas.openxmlformats.org/markup-compatibility/2006">
              <mc:Choice xmlns:v="urn:schemas-microsoft-com:vml" Requires="v">
                <p:oleObj spid="_x0000_s36908" name="剪辑" r:id="rId3" imgW="739140" imgH="1076325" progId="MS_ClipArt_Gallery.2">
                  <p:embed/>
                </p:oleObj>
              </mc:Choice>
              <mc:Fallback>
                <p:oleObj name="剪辑" r:id="rId3" imgW="739140" imgH="1076325" progId="MS_ClipArt_Gallery.2">
                  <p:embed/>
                  <p:pic>
                    <p:nvPicPr>
                      <p:cNvPr id="0" name="图片 3689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457200"/>
                        <a:ext cx="2667000" cy="266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916484" name="Text Box 4"/>
          <p:cNvSpPr txBox="1">
            <a:spLocks noChangeArrowheads="1"/>
          </p:cNvSpPr>
          <p:nvPr/>
        </p:nvSpPr>
        <p:spPr bwMode="auto">
          <a:xfrm>
            <a:off x="1828800" y="3276600"/>
            <a:ext cx="15081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rPr>
              <a:t>集合 </a:t>
            </a:r>
            <a:r>
              <a:rPr lang="en-US" altLang="zh-CN" sz="3600" b="1">
                <a:solidFill>
                  <a:srgbClr val="660033"/>
                </a:solidFill>
              </a:rPr>
              <a:t>B</a:t>
            </a:r>
            <a:endParaRPr lang="en-US" altLang="zh-CN" sz="3600" b="1">
              <a:solidFill>
                <a:srgbClr val="660033"/>
              </a:solidFill>
            </a:endParaRPr>
          </a:p>
        </p:txBody>
      </p:sp>
      <p:sp>
        <p:nvSpPr>
          <p:cNvPr id="916485" name="Text Box 5"/>
          <p:cNvSpPr txBox="1">
            <a:spLocks noChangeArrowheads="1"/>
          </p:cNvSpPr>
          <p:nvPr/>
        </p:nvSpPr>
        <p:spPr bwMode="auto">
          <a:xfrm>
            <a:off x="6000750" y="3276600"/>
            <a:ext cx="1533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CC0000"/>
                </a:solidFill>
              </a:rPr>
              <a:t>集合 </a:t>
            </a:r>
            <a:r>
              <a:rPr lang="en-US" altLang="zh-CN" sz="3600" b="1">
                <a:solidFill>
                  <a:srgbClr val="CC0000"/>
                </a:solidFill>
              </a:rPr>
              <a:t>A</a:t>
            </a:r>
            <a:endParaRPr lang="en-US" altLang="zh-CN" sz="3600" b="1">
              <a:solidFill>
                <a:srgbClr val="660033"/>
              </a:solidFill>
            </a:endParaRPr>
          </a:p>
        </p:txBody>
      </p:sp>
      <p:graphicFrame>
        <p:nvGraphicFramePr>
          <p:cNvPr id="45061" name="Object 6"/>
          <p:cNvGraphicFramePr>
            <a:graphicFrameLocks noChangeAspect="1"/>
          </p:cNvGraphicFramePr>
          <p:nvPr/>
        </p:nvGraphicFramePr>
        <p:xfrm>
          <a:off x="1676400" y="1143000"/>
          <a:ext cx="814388" cy="581025"/>
        </p:xfrm>
        <a:graphic>
          <a:graphicData uri="http://schemas.openxmlformats.org/presentationml/2006/ole">
            <mc:AlternateContent xmlns:mc="http://schemas.openxmlformats.org/markup-compatibility/2006">
              <mc:Choice xmlns:v="urn:schemas-microsoft-com:vml" Requires="v">
                <p:oleObj spid="_x0000_s36909" name="剪辑" r:id="rId5" imgW="815340" imgH="582930" progId="MS_ClipArt_Gallery.2">
                  <p:embed/>
                </p:oleObj>
              </mc:Choice>
              <mc:Fallback>
                <p:oleObj name="剪辑" r:id="rId5" imgW="815340" imgH="582930" progId="MS_ClipArt_Gallery.2">
                  <p:embed/>
                  <p:pic>
                    <p:nvPicPr>
                      <p:cNvPr id="0" name="图片 3689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1143000"/>
                        <a:ext cx="814388"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916487" name="Object 7"/>
          <p:cNvGraphicFramePr>
            <a:graphicFrameLocks noChangeAspect="1"/>
          </p:cNvGraphicFramePr>
          <p:nvPr/>
        </p:nvGraphicFramePr>
        <p:xfrm>
          <a:off x="6248400" y="1552575"/>
          <a:ext cx="814388" cy="581025"/>
        </p:xfrm>
        <a:graphic>
          <a:graphicData uri="http://schemas.openxmlformats.org/presentationml/2006/ole">
            <mc:AlternateContent xmlns:mc="http://schemas.openxmlformats.org/markup-compatibility/2006">
              <mc:Choice xmlns:v="urn:schemas-microsoft-com:vml" Requires="v">
                <p:oleObj spid="_x0000_s36910" name="剪辑" r:id="rId7" imgW="815340" imgH="582930" progId="MS_ClipArt_Gallery.2">
                  <p:embed/>
                </p:oleObj>
              </mc:Choice>
              <mc:Fallback>
                <p:oleObj name="剪辑" r:id="rId7" imgW="815340" imgH="582930" progId="MS_ClipArt_Gallery.2">
                  <p:embed/>
                  <p:pic>
                    <p:nvPicPr>
                      <p:cNvPr id="0" name="图片 3689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1552575"/>
                        <a:ext cx="814388"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useBgFill="1">
        <p:nvSpPr>
          <p:cNvPr id="916488" name="Freeform 8"/>
          <p:cNvSpPr/>
          <p:nvPr/>
        </p:nvSpPr>
        <p:spPr bwMode="auto">
          <a:xfrm>
            <a:off x="1809750" y="1162050"/>
            <a:ext cx="714375" cy="533400"/>
          </a:xfrm>
          <a:custGeom>
            <a:avLst/>
            <a:gdLst>
              <a:gd name="T0" fmla="*/ 48 w 450"/>
              <a:gd name="T1" fmla="*/ 24 h 336"/>
              <a:gd name="T2" fmla="*/ 0 w 450"/>
              <a:gd name="T3" fmla="*/ 132 h 336"/>
              <a:gd name="T4" fmla="*/ 60 w 450"/>
              <a:gd name="T5" fmla="*/ 240 h 336"/>
              <a:gd name="T6" fmla="*/ 72 w 450"/>
              <a:gd name="T7" fmla="*/ 276 h 336"/>
              <a:gd name="T8" fmla="*/ 120 w 450"/>
              <a:gd name="T9" fmla="*/ 288 h 336"/>
              <a:gd name="T10" fmla="*/ 300 w 450"/>
              <a:gd name="T11" fmla="*/ 336 h 336"/>
              <a:gd name="T12" fmla="*/ 336 w 450"/>
              <a:gd name="T13" fmla="*/ 324 h 336"/>
              <a:gd name="T14" fmla="*/ 408 w 450"/>
              <a:gd name="T15" fmla="*/ 276 h 336"/>
              <a:gd name="T16" fmla="*/ 444 w 450"/>
              <a:gd name="T17" fmla="*/ 204 h 336"/>
              <a:gd name="T18" fmla="*/ 372 w 450"/>
              <a:gd name="T19" fmla="*/ 168 h 336"/>
              <a:gd name="T20" fmla="*/ 384 w 450"/>
              <a:gd name="T21" fmla="*/ 132 h 336"/>
              <a:gd name="T22" fmla="*/ 252 w 450"/>
              <a:gd name="T23" fmla="*/ 96 h 336"/>
              <a:gd name="T24" fmla="*/ 156 w 450"/>
              <a:gd name="T25" fmla="*/ 96 h 336"/>
              <a:gd name="T26" fmla="*/ 144 w 450"/>
              <a:gd name="T27" fmla="*/ 60 h 336"/>
              <a:gd name="T28" fmla="*/ 72 w 450"/>
              <a:gd name="T29" fmla="*/ 0 h 336"/>
              <a:gd name="T30" fmla="*/ 48 w 450"/>
              <a:gd name="T31" fmla="*/ 2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0" h="336">
                <a:moveTo>
                  <a:pt x="48" y="24"/>
                </a:moveTo>
                <a:cubicBezTo>
                  <a:pt x="35" y="63"/>
                  <a:pt x="13" y="93"/>
                  <a:pt x="0" y="132"/>
                </a:cubicBezTo>
                <a:cubicBezTo>
                  <a:pt x="13" y="171"/>
                  <a:pt x="47" y="201"/>
                  <a:pt x="60" y="240"/>
                </a:cubicBezTo>
                <a:cubicBezTo>
                  <a:pt x="64" y="252"/>
                  <a:pt x="62" y="268"/>
                  <a:pt x="72" y="276"/>
                </a:cubicBezTo>
                <a:cubicBezTo>
                  <a:pt x="85" y="286"/>
                  <a:pt x="104" y="283"/>
                  <a:pt x="120" y="288"/>
                </a:cubicBezTo>
                <a:cubicBezTo>
                  <a:pt x="181" y="306"/>
                  <a:pt x="239" y="321"/>
                  <a:pt x="300" y="336"/>
                </a:cubicBezTo>
                <a:cubicBezTo>
                  <a:pt x="312" y="332"/>
                  <a:pt x="325" y="330"/>
                  <a:pt x="336" y="324"/>
                </a:cubicBezTo>
                <a:cubicBezTo>
                  <a:pt x="361" y="310"/>
                  <a:pt x="408" y="276"/>
                  <a:pt x="408" y="276"/>
                </a:cubicBezTo>
                <a:cubicBezTo>
                  <a:pt x="413" y="268"/>
                  <a:pt x="450" y="220"/>
                  <a:pt x="444" y="204"/>
                </a:cubicBezTo>
                <a:cubicBezTo>
                  <a:pt x="437" y="186"/>
                  <a:pt x="387" y="173"/>
                  <a:pt x="372" y="168"/>
                </a:cubicBezTo>
                <a:cubicBezTo>
                  <a:pt x="376" y="156"/>
                  <a:pt x="389" y="144"/>
                  <a:pt x="384" y="132"/>
                </a:cubicBezTo>
                <a:cubicBezTo>
                  <a:pt x="370" y="96"/>
                  <a:pt x="254" y="96"/>
                  <a:pt x="252" y="96"/>
                </a:cubicBezTo>
                <a:cubicBezTo>
                  <a:pt x="222" y="104"/>
                  <a:pt x="186" y="120"/>
                  <a:pt x="156" y="96"/>
                </a:cubicBezTo>
                <a:cubicBezTo>
                  <a:pt x="146" y="88"/>
                  <a:pt x="151" y="71"/>
                  <a:pt x="144" y="60"/>
                </a:cubicBezTo>
                <a:cubicBezTo>
                  <a:pt x="139" y="53"/>
                  <a:pt x="87" y="0"/>
                  <a:pt x="72" y="0"/>
                </a:cubicBezTo>
                <a:cubicBezTo>
                  <a:pt x="61" y="0"/>
                  <a:pt x="56" y="16"/>
                  <a:pt x="48" y="24"/>
                </a:cubicBezTo>
                <a:close/>
              </a:path>
            </a:pathLst>
          </a:custGeom>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16489" name="Text Box 9"/>
          <p:cNvSpPr txBox="1">
            <a:spLocks noChangeArrowheads="1"/>
          </p:cNvSpPr>
          <p:nvPr/>
        </p:nvSpPr>
        <p:spPr bwMode="auto">
          <a:xfrm>
            <a:off x="685800" y="3933825"/>
            <a:ext cx="786447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40000"/>
              </a:lnSpc>
              <a:defRPr/>
            </a:pPr>
            <a:r>
              <a:rPr lang="zh-CN" altLang="en-US" sz="3600">
                <a:solidFill>
                  <a:srgbClr val="660033"/>
                </a:solidFill>
                <a:latin typeface="楷体_GB2312" charset="0"/>
                <a:ea typeface="楷体_GB2312" charset="0"/>
              </a:rPr>
              <a:t>从集合 </a:t>
            </a:r>
            <a:r>
              <a:rPr lang="en-US" altLang="zh-CN" sz="3600">
                <a:solidFill>
                  <a:srgbClr val="660033"/>
                </a:solidFill>
                <a:ea typeface="楷体_GB2312" charset="0"/>
              </a:rPr>
              <a:t>B</a:t>
            </a:r>
            <a:r>
              <a:rPr lang="en-US" altLang="zh-CN" sz="3600">
                <a:solidFill>
                  <a:srgbClr val="660033"/>
                </a:solidFill>
                <a:latin typeface="楷体_GB2312" charset="0"/>
                <a:ea typeface="楷体_GB2312" charset="0"/>
              </a:rPr>
              <a:t> </a:t>
            </a:r>
            <a:r>
              <a:rPr lang="zh-CN" altLang="en-US" sz="3600">
                <a:solidFill>
                  <a:srgbClr val="660033"/>
                </a:solidFill>
                <a:latin typeface="楷体_GB2312" charset="0"/>
                <a:ea typeface="楷体_GB2312" charset="0"/>
              </a:rPr>
              <a:t>取出物件放入集合 </a:t>
            </a:r>
            <a:r>
              <a:rPr lang="en-US" altLang="zh-CN" sz="3600">
                <a:solidFill>
                  <a:srgbClr val="660033"/>
                </a:solidFill>
                <a:ea typeface="楷体_GB2312" charset="0"/>
              </a:rPr>
              <a:t>A</a:t>
            </a:r>
            <a:endParaRPr lang="en-US" altLang="zh-CN" sz="3600">
              <a:solidFill>
                <a:srgbClr val="660033"/>
              </a:solidFill>
              <a:ea typeface="楷体_GB2312" charset="0"/>
            </a:endParaRPr>
          </a:p>
          <a:p>
            <a:pPr eaLnBrk="1" hangingPunct="1">
              <a:lnSpc>
                <a:spcPct val="140000"/>
              </a:lnSpc>
              <a:defRPr/>
            </a:pPr>
            <a:r>
              <a:rPr lang="zh-CN" altLang="en-US" sz="3600">
                <a:solidFill>
                  <a:srgbClr val="660033"/>
                </a:solidFill>
                <a:ea typeface="楷体_GB2312" charset="0"/>
              </a:rPr>
              <a:t>要求集合</a:t>
            </a:r>
            <a:r>
              <a:rPr lang="en-US" altLang="zh-CN" sz="3600">
                <a:solidFill>
                  <a:srgbClr val="660033"/>
                </a:solidFill>
                <a:ea typeface="楷体_GB2312" charset="0"/>
              </a:rPr>
              <a:t>A</a:t>
            </a:r>
            <a:r>
              <a:rPr lang="zh-CN" altLang="en-US" sz="3600">
                <a:solidFill>
                  <a:srgbClr val="660033"/>
                </a:solidFill>
                <a:ea typeface="楷体_GB2312" charset="0"/>
              </a:rPr>
              <a:t>中</a:t>
            </a:r>
            <a:r>
              <a:rPr lang="zh-CN" altLang="en-US" sz="3600" b="1">
                <a:solidFill>
                  <a:srgbClr val="CC3300"/>
                </a:solidFill>
                <a:ea typeface="楷体_GB2312" charset="0"/>
              </a:rPr>
              <a:t>同样物件不能有两件以上</a:t>
            </a:r>
            <a:endParaRPr lang="zh-CN" altLang="en-US" sz="3600"/>
          </a:p>
        </p:txBody>
      </p:sp>
      <p:graphicFrame>
        <p:nvGraphicFramePr>
          <p:cNvPr id="45065" name="Object 10"/>
          <p:cNvGraphicFramePr>
            <a:graphicFrameLocks noChangeAspect="1"/>
          </p:cNvGraphicFramePr>
          <p:nvPr/>
        </p:nvGraphicFramePr>
        <p:xfrm>
          <a:off x="2514600" y="1295400"/>
          <a:ext cx="814388" cy="581025"/>
        </p:xfrm>
        <a:graphic>
          <a:graphicData uri="http://schemas.openxmlformats.org/presentationml/2006/ole">
            <mc:AlternateContent xmlns:mc="http://schemas.openxmlformats.org/markup-compatibility/2006">
              <mc:Choice xmlns:v="urn:schemas-microsoft-com:vml" Requires="v">
                <p:oleObj spid="_x0000_s36911" name="剪辑" r:id="rId8" imgW="815340" imgH="582930" progId="MS_ClipArt_Gallery.2">
                  <p:embed/>
                </p:oleObj>
              </mc:Choice>
              <mc:Fallback>
                <p:oleObj name="剪辑" r:id="rId8" imgW="815340" imgH="582930" progId="MS_ClipArt_Gallery.2">
                  <p:embed/>
                  <p:pic>
                    <p:nvPicPr>
                      <p:cNvPr id="0" name="图片 368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1295400"/>
                        <a:ext cx="814388"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useBgFill="1">
        <p:nvSpPr>
          <p:cNvPr id="916491" name="Freeform 11"/>
          <p:cNvSpPr/>
          <p:nvPr/>
        </p:nvSpPr>
        <p:spPr bwMode="auto">
          <a:xfrm>
            <a:off x="2638425" y="1295400"/>
            <a:ext cx="714375" cy="533400"/>
          </a:xfrm>
          <a:custGeom>
            <a:avLst/>
            <a:gdLst>
              <a:gd name="T0" fmla="*/ 48 w 450"/>
              <a:gd name="T1" fmla="*/ 24 h 336"/>
              <a:gd name="T2" fmla="*/ 0 w 450"/>
              <a:gd name="T3" fmla="*/ 132 h 336"/>
              <a:gd name="T4" fmla="*/ 60 w 450"/>
              <a:gd name="T5" fmla="*/ 240 h 336"/>
              <a:gd name="T6" fmla="*/ 72 w 450"/>
              <a:gd name="T7" fmla="*/ 276 h 336"/>
              <a:gd name="T8" fmla="*/ 120 w 450"/>
              <a:gd name="T9" fmla="*/ 288 h 336"/>
              <a:gd name="T10" fmla="*/ 300 w 450"/>
              <a:gd name="T11" fmla="*/ 336 h 336"/>
              <a:gd name="T12" fmla="*/ 336 w 450"/>
              <a:gd name="T13" fmla="*/ 324 h 336"/>
              <a:gd name="T14" fmla="*/ 408 w 450"/>
              <a:gd name="T15" fmla="*/ 276 h 336"/>
              <a:gd name="T16" fmla="*/ 444 w 450"/>
              <a:gd name="T17" fmla="*/ 204 h 336"/>
              <a:gd name="T18" fmla="*/ 372 w 450"/>
              <a:gd name="T19" fmla="*/ 168 h 336"/>
              <a:gd name="T20" fmla="*/ 384 w 450"/>
              <a:gd name="T21" fmla="*/ 132 h 336"/>
              <a:gd name="T22" fmla="*/ 252 w 450"/>
              <a:gd name="T23" fmla="*/ 96 h 336"/>
              <a:gd name="T24" fmla="*/ 156 w 450"/>
              <a:gd name="T25" fmla="*/ 96 h 336"/>
              <a:gd name="T26" fmla="*/ 144 w 450"/>
              <a:gd name="T27" fmla="*/ 60 h 336"/>
              <a:gd name="T28" fmla="*/ 72 w 450"/>
              <a:gd name="T29" fmla="*/ 0 h 336"/>
              <a:gd name="T30" fmla="*/ 48 w 450"/>
              <a:gd name="T31" fmla="*/ 2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0" h="336">
                <a:moveTo>
                  <a:pt x="48" y="24"/>
                </a:moveTo>
                <a:cubicBezTo>
                  <a:pt x="35" y="63"/>
                  <a:pt x="13" y="93"/>
                  <a:pt x="0" y="132"/>
                </a:cubicBezTo>
                <a:cubicBezTo>
                  <a:pt x="13" y="171"/>
                  <a:pt x="47" y="201"/>
                  <a:pt x="60" y="240"/>
                </a:cubicBezTo>
                <a:cubicBezTo>
                  <a:pt x="64" y="252"/>
                  <a:pt x="62" y="268"/>
                  <a:pt x="72" y="276"/>
                </a:cubicBezTo>
                <a:cubicBezTo>
                  <a:pt x="85" y="286"/>
                  <a:pt x="104" y="283"/>
                  <a:pt x="120" y="288"/>
                </a:cubicBezTo>
                <a:cubicBezTo>
                  <a:pt x="181" y="306"/>
                  <a:pt x="239" y="321"/>
                  <a:pt x="300" y="336"/>
                </a:cubicBezTo>
                <a:cubicBezTo>
                  <a:pt x="312" y="332"/>
                  <a:pt x="325" y="330"/>
                  <a:pt x="336" y="324"/>
                </a:cubicBezTo>
                <a:cubicBezTo>
                  <a:pt x="361" y="310"/>
                  <a:pt x="408" y="276"/>
                  <a:pt x="408" y="276"/>
                </a:cubicBezTo>
                <a:cubicBezTo>
                  <a:pt x="413" y="268"/>
                  <a:pt x="450" y="220"/>
                  <a:pt x="444" y="204"/>
                </a:cubicBezTo>
                <a:cubicBezTo>
                  <a:pt x="437" y="186"/>
                  <a:pt x="387" y="173"/>
                  <a:pt x="372" y="168"/>
                </a:cubicBezTo>
                <a:cubicBezTo>
                  <a:pt x="376" y="156"/>
                  <a:pt x="389" y="144"/>
                  <a:pt x="384" y="132"/>
                </a:cubicBezTo>
                <a:cubicBezTo>
                  <a:pt x="370" y="96"/>
                  <a:pt x="254" y="96"/>
                  <a:pt x="252" y="96"/>
                </a:cubicBezTo>
                <a:cubicBezTo>
                  <a:pt x="222" y="104"/>
                  <a:pt x="186" y="120"/>
                  <a:pt x="156" y="96"/>
                </a:cubicBezTo>
                <a:cubicBezTo>
                  <a:pt x="146" y="88"/>
                  <a:pt x="151" y="71"/>
                  <a:pt x="144" y="60"/>
                </a:cubicBezTo>
                <a:cubicBezTo>
                  <a:pt x="139" y="53"/>
                  <a:pt x="87" y="0"/>
                  <a:pt x="72" y="0"/>
                </a:cubicBezTo>
                <a:cubicBezTo>
                  <a:pt x="61" y="0"/>
                  <a:pt x="56" y="16"/>
                  <a:pt x="48" y="24"/>
                </a:cubicBezTo>
                <a:close/>
              </a:path>
            </a:pathLst>
          </a:custGeom>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16492" name="Text Box 12"/>
          <p:cNvSpPr txBox="1">
            <a:spLocks noChangeArrowheads="1"/>
          </p:cNvSpPr>
          <p:nvPr/>
        </p:nvSpPr>
        <p:spPr bwMode="auto">
          <a:xfrm>
            <a:off x="669925" y="5759450"/>
            <a:ext cx="72294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ea typeface="楷体_GB2312" charset="0"/>
              </a:rPr>
              <a:t>因此，</a:t>
            </a:r>
            <a:r>
              <a:rPr lang="zh-CN" altLang="en-US" sz="3600" b="1">
                <a:solidFill>
                  <a:srgbClr val="9900CC"/>
                </a:solidFill>
              </a:rPr>
              <a:t>算法的策略应该和例</a:t>
            </a:r>
            <a:r>
              <a:rPr lang="en-US" altLang="zh-CN" sz="3600" b="1">
                <a:solidFill>
                  <a:srgbClr val="9900CC"/>
                </a:solidFill>
              </a:rPr>
              <a:t>2-1</a:t>
            </a:r>
            <a:r>
              <a:rPr lang="zh-CN" altLang="en-US" sz="3600" b="1">
                <a:solidFill>
                  <a:srgbClr val="9900CC"/>
                </a:solidFill>
              </a:rPr>
              <a:t>相同</a:t>
            </a:r>
            <a:endParaRPr lang="zh-CN" altLang="en-US"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wd">
                                    <p:tmPct val="100000"/>
                                  </p:iterate>
                                  <p:childTnLst>
                                    <p:set>
                                      <p:cBhvr>
                                        <p:cTn id="6" dur="1" fill="hold">
                                          <p:stCondLst>
                                            <p:cond delay="0"/>
                                          </p:stCondLst>
                                        </p:cTn>
                                        <p:tgtEl>
                                          <p:spTgt spid="916489"/>
                                        </p:tgtEl>
                                        <p:attrNameLst>
                                          <p:attrName>style.visibility</p:attrName>
                                        </p:attrNameLst>
                                      </p:cBhvr>
                                      <p:to>
                                        <p:strVal val="visible"/>
                                      </p:to>
                                    </p:set>
                                    <p:animEffect transition="in" filter="strips(downRight)">
                                      <p:cBhvr>
                                        <p:cTn id="7" dur="300"/>
                                        <p:tgtEl>
                                          <p:spTgt spid="91648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16488"/>
                                        </p:tgtEl>
                                        <p:attrNameLst>
                                          <p:attrName>style.visibility</p:attrName>
                                        </p:attrNameLst>
                                      </p:cBhvr>
                                      <p:to>
                                        <p:strVal val="visible"/>
                                      </p:to>
                                    </p:set>
                                    <p:animEffect transition="in" filter="wipe(down)">
                                      <p:cBhvr>
                                        <p:cTn id="12" dur="500"/>
                                        <p:tgtEl>
                                          <p:spTgt spid="91648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nodeType="clickEffect">
                                  <p:stCondLst>
                                    <p:cond delay="0"/>
                                  </p:stCondLst>
                                  <p:childTnLst>
                                    <p:set>
                                      <p:cBhvr>
                                        <p:cTn id="16" dur="1" fill="hold">
                                          <p:stCondLst>
                                            <p:cond delay="0"/>
                                          </p:stCondLst>
                                        </p:cTn>
                                        <p:tgtEl>
                                          <p:spTgt spid="916487"/>
                                        </p:tgtEl>
                                        <p:attrNameLst>
                                          <p:attrName>style.visibility</p:attrName>
                                        </p:attrNameLst>
                                      </p:cBhvr>
                                      <p:to>
                                        <p:strVal val="visible"/>
                                      </p:to>
                                    </p:set>
                                    <p:animEffect transition="in" filter="slide(fromTop)">
                                      <p:cBhvr>
                                        <p:cTn id="17" dur="500"/>
                                        <p:tgtEl>
                                          <p:spTgt spid="91648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916491"/>
                                        </p:tgtEl>
                                        <p:attrNameLst>
                                          <p:attrName>style.visibility</p:attrName>
                                        </p:attrNameLst>
                                      </p:cBhvr>
                                      <p:to>
                                        <p:strVal val="visible"/>
                                      </p:to>
                                    </p:set>
                                    <p:animEffect transition="in" filter="dissolve">
                                      <p:cBhvr>
                                        <p:cTn id="22" dur="500"/>
                                        <p:tgtEl>
                                          <p:spTgt spid="91649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916492"/>
                                        </p:tgtEl>
                                        <p:attrNameLst>
                                          <p:attrName>style.visibility</p:attrName>
                                        </p:attrNameLst>
                                      </p:cBhvr>
                                      <p:to>
                                        <p:strVal val="visible"/>
                                      </p:to>
                                    </p:set>
                                    <p:animEffect transition="in" filter="wipe(left)">
                                      <p:cBhvr>
                                        <p:cTn id="27" dur="75"/>
                                        <p:tgtEl>
                                          <p:spTgt spid="916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6489" grpId="0" autoUpdateAnimBg="0"/>
      <p:bldP spid="91649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Text Box 2"/>
          <p:cNvSpPr txBox="1">
            <a:spLocks noChangeArrowheads="1"/>
          </p:cNvSpPr>
          <p:nvPr/>
        </p:nvSpPr>
        <p:spPr bwMode="auto">
          <a:xfrm>
            <a:off x="179512" y="0"/>
            <a:ext cx="5953874" cy="656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b="1" dirty="0">
                <a:solidFill>
                  <a:schemeClr val="tx2"/>
                </a:solidFill>
                <a:ea typeface="楷体_GB2312" charset="0"/>
              </a:rPr>
              <a:t>void</a:t>
            </a:r>
            <a:r>
              <a:rPr lang="en-US" altLang="zh-CN" sz="3200" dirty="0">
                <a:solidFill>
                  <a:schemeClr val="tx2"/>
                </a:solidFill>
                <a:ea typeface="楷体_GB2312" charset="0"/>
              </a:rPr>
              <a:t> union(List </a:t>
            </a:r>
            <a:r>
              <a:rPr lang="en-US" altLang="zh-CN" sz="3200" b="1" dirty="0">
                <a:solidFill>
                  <a:schemeClr val="tx2"/>
                </a:solidFill>
                <a:ea typeface="楷体_GB2312" charset="0"/>
              </a:rPr>
              <a:t>&amp;</a:t>
            </a:r>
            <a:r>
              <a:rPr lang="en-US" altLang="zh-CN" sz="3200" dirty="0">
                <a:solidFill>
                  <a:schemeClr val="tx2"/>
                </a:solidFill>
                <a:ea typeface="楷体_GB2312" charset="0"/>
              </a:rPr>
              <a:t>La, List </a:t>
            </a:r>
            <a:r>
              <a:rPr lang="en-US" altLang="zh-CN" sz="3200" dirty="0" err="1">
                <a:solidFill>
                  <a:schemeClr val="tx2"/>
                </a:solidFill>
                <a:ea typeface="楷体_GB2312" charset="0"/>
              </a:rPr>
              <a:t>Lb</a:t>
            </a:r>
            <a:r>
              <a:rPr lang="en-US" altLang="zh-CN" sz="3200" dirty="0">
                <a:solidFill>
                  <a:schemeClr val="tx2"/>
                </a:solidFill>
                <a:ea typeface="楷体_GB2312" charset="0"/>
              </a:rPr>
              <a:t>) </a:t>
            </a:r>
            <a:r>
              <a:rPr lang="en-US" altLang="zh-CN" sz="3200" b="1" dirty="0">
                <a:solidFill>
                  <a:schemeClr val="tx2"/>
                </a:solidFill>
                <a:ea typeface="楷体_GB2312" charset="0"/>
              </a:rPr>
              <a:t>{</a:t>
            </a:r>
            <a:endParaRPr lang="en-US" altLang="zh-CN" sz="3200" dirty="0">
              <a:ea typeface="楷体_GB2312" charset="0"/>
            </a:endParaRPr>
          </a:p>
          <a:p>
            <a:pPr eaLnBrk="1" hangingPunct="1">
              <a:lnSpc>
                <a:spcPct val="120000"/>
              </a:lnSpc>
              <a:defRPr/>
            </a:pPr>
            <a:r>
              <a:rPr lang="en-US" altLang="zh-CN" sz="3200" dirty="0">
                <a:ea typeface="楷体_GB2312" charset="0"/>
              </a:rPr>
              <a:t>    </a:t>
            </a:r>
            <a:endParaRPr lang="en-US" altLang="zh-CN" sz="3200" dirty="0">
              <a:ea typeface="楷体_GB2312" charset="0"/>
            </a:endParaRPr>
          </a:p>
          <a:p>
            <a:pPr eaLnBrk="1" hangingPunct="1">
              <a:lnSpc>
                <a:spcPct val="120000"/>
              </a:lnSpc>
              <a:defRPr/>
            </a:pPr>
            <a:r>
              <a:rPr lang="en-US" altLang="zh-CN" sz="3200" dirty="0">
                <a:ea typeface="楷体_GB2312" charset="0"/>
              </a:rPr>
              <a:t>   </a:t>
            </a:r>
            <a:r>
              <a:rPr lang="en-US" altLang="zh-CN" sz="3200" dirty="0" err="1">
                <a:ea typeface="楷体_GB2312" charset="0"/>
              </a:rPr>
              <a:t>La_len</a:t>
            </a:r>
            <a:r>
              <a:rPr lang="en-US" altLang="zh-CN" sz="3200" dirty="0">
                <a:ea typeface="楷体_GB2312" charset="0"/>
              </a:rPr>
              <a:t>=</a:t>
            </a:r>
            <a:r>
              <a:rPr lang="en-US" altLang="zh-CN" sz="3200" dirty="0" err="1">
                <a:solidFill>
                  <a:srgbClr val="333399"/>
                </a:solidFill>
                <a:ea typeface="楷体_GB2312" charset="0"/>
              </a:rPr>
              <a:t>ListLength</a:t>
            </a:r>
            <a:r>
              <a:rPr lang="en-US" altLang="zh-CN" sz="3200" dirty="0">
                <a:solidFill>
                  <a:srgbClr val="333399"/>
                </a:solidFill>
                <a:ea typeface="楷体_GB2312" charset="0"/>
              </a:rPr>
              <a:t>(La)</a:t>
            </a:r>
            <a:r>
              <a:rPr lang="en-US" altLang="zh-CN" sz="3200" dirty="0">
                <a:ea typeface="楷体_GB2312" charset="0"/>
              </a:rPr>
              <a:t>;   </a:t>
            </a:r>
            <a:endParaRPr lang="en-US" altLang="zh-CN" sz="3200" dirty="0">
              <a:ea typeface="楷体_GB2312" charset="0"/>
            </a:endParaRPr>
          </a:p>
          <a:p>
            <a:pPr eaLnBrk="1" hangingPunct="1">
              <a:lnSpc>
                <a:spcPct val="120000"/>
              </a:lnSpc>
              <a:defRPr/>
            </a:pPr>
            <a:r>
              <a:rPr lang="en-US" altLang="zh-CN" sz="3200" dirty="0">
                <a:ea typeface="楷体_GB2312" charset="0"/>
              </a:rPr>
              <a:t>   </a:t>
            </a:r>
            <a:r>
              <a:rPr lang="en-US" altLang="zh-CN" sz="3200" dirty="0" err="1">
                <a:ea typeface="楷体_GB2312" charset="0"/>
              </a:rPr>
              <a:t>Lb_len</a:t>
            </a:r>
            <a:r>
              <a:rPr lang="en-US" altLang="zh-CN" sz="3200" dirty="0">
                <a:ea typeface="楷体_GB2312" charset="0"/>
              </a:rPr>
              <a:t>=</a:t>
            </a:r>
            <a:r>
              <a:rPr lang="en-US" altLang="zh-CN" sz="3200" dirty="0" err="1">
                <a:solidFill>
                  <a:srgbClr val="333399"/>
                </a:solidFill>
                <a:ea typeface="楷体_GB2312" charset="0"/>
              </a:rPr>
              <a:t>ListLength</a:t>
            </a:r>
            <a:r>
              <a:rPr lang="en-US" altLang="zh-CN" sz="3200" dirty="0">
                <a:solidFill>
                  <a:srgbClr val="333399"/>
                </a:solidFill>
                <a:ea typeface="楷体_GB2312" charset="0"/>
              </a:rPr>
              <a:t>(</a:t>
            </a:r>
            <a:r>
              <a:rPr lang="en-US" altLang="zh-CN" sz="3200" dirty="0" err="1">
                <a:solidFill>
                  <a:srgbClr val="333399"/>
                </a:solidFill>
                <a:ea typeface="楷体_GB2312" charset="0"/>
              </a:rPr>
              <a:t>Lb</a:t>
            </a:r>
            <a:r>
              <a:rPr lang="en-US" altLang="zh-CN" sz="3200" dirty="0">
                <a:solidFill>
                  <a:srgbClr val="333399"/>
                </a:solidFill>
                <a:ea typeface="楷体_GB2312" charset="0"/>
              </a:rPr>
              <a:t>)</a:t>
            </a:r>
            <a:r>
              <a:rPr lang="en-US" altLang="zh-CN" sz="3200" dirty="0">
                <a:ea typeface="楷体_GB2312" charset="0"/>
              </a:rPr>
              <a:t>; </a:t>
            </a:r>
            <a:endParaRPr lang="en-US" altLang="zh-CN" sz="3200" dirty="0">
              <a:ea typeface="楷体_GB2312" charset="0"/>
            </a:endParaRPr>
          </a:p>
          <a:p>
            <a:pPr eaLnBrk="1" hangingPunct="1">
              <a:lnSpc>
                <a:spcPct val="120000"/>
              </a:lnSpc>
              <a:defRPr/>
            </a:pPr>
            <a:endParaRPr lang="en-US" altLang="zh-CN" sz="3200" dirty="0">
              <a:ea typeface="楷体_GB2312" charset="0"/>
            </a:endParaRPr>
          </a:p>
          <a:p>
            <a:pPr eaLnBrk="1" hangingPunct="1">
              <a:lnSpc>
                <a:spcPct val="120000"/>
              </a:lnSpc>
              <a:defRPr/>
            </a:pPr>
            <a:endParaRPr lang="en-US" altLang="zh-CN" sz="3200" dirty="0">
              <a:ea typeface="楷体_GB2312" charset="0"/>
            </a:endParaRPr>
          </a:p>
          <a:p>
            <a:pPr eaLnBrk="1" hangingPunct="1">
              <a:lnSpc>
                <a:spcPct val="120000"/>
              </a:lnSpc>
              <a:defRPr/>
            </a:pPr>
            <a:endParaRPr lang="en-US" altLang="zh-CN" sz="3200" dirty="0">
              <a:ea typeface="楷体_GB2312" charset="0"/>
            </a:endParaRPr>
          </a:p>
          <a:p>
            <a:pPr eaLnBrk="1" hangingPunct="1">
              <a:lnSpc>
                <a:spcPct val="120000"/>
              </a:lnSpc>
              <a:defRPr/>
            </a:pPr>
            <a:endParaRPr lang="en-US" altLang="zh-CN" sz="3200" dirty="0">
              <a:ea typeface="楷体_GB2312" charset="0"/>
            </a:endParaRPr>
          </a:p>
          <a:p>
            <a:pPr eaLnBrk="1" hangingPunct="1">
              <a:lnSpc>
                <a:spcPct val="120000"/>
              </a:lnSpc>
              <a:defRPr/>
            </a:pPr>
            <a:endParaRPr lang="en-US" altLang="zh-CN" sz="3200" dirty="0">
              <a:ea typeface="楷体_GB2312" charset="0"/>
            </a:endParaRPr>
          </a:p>
          <a:p>
            <a:pPr eaLnBrk="1" hangingPunct="1">
              <a:lnSpc>
                <a:spcPct val="120000"/>
              </a:lnSpc>
              <a:defRPr/>
            </a:pPr>
            <a:endParaRPr lang="en-US" altLang="zh-CN" sz="3200" dirty="0">
              <a:ea typeface="楷体_GB2312" charset="0"/>
            </a:endParaRPr>
          </a:p>
          <a:p>
            <a:pPr eaLnBrk="1" hangingPunct="1">
              <a:lnSpc>
                <a:spcPct val="120000"/>
              </a:lnSpc>
              <a:defRPr/>
            </a:pPr>
            <a:r>
              <a:rPr lang="en-US" altLang="zh-CN" sz="3200" b="1" dirty="0">
                <a:solidFill>
                  <a:schemeClr val="tx2"/>
                </a:solidFill>
                <a:ea typeface="楷体_GB2312" charset="0"/>
              </a:rPr>
              <a:t>}</a:t>
            </a:r>
            <a:r>
              <a:rPr lang="en-US" altLang="zh-CN" sz="3200" dirty="0">
                <a:solidFill>
                  <a:schemeClr val="tx2"/>
                </a:solidFill>
                <a:ea typeface="楷体_GB2312" charset="0"/>
              </a:rPr>
              <a:t> // union</a:t>
            </a:r>
            <a:endParaRPr lang="en-US" altLang="zh-CN" sz="3200" dirty="0">
              <a:solidFill>
                <a:schemeClr val="tx2"/>
              </a:solidFill>
              <a:ea typeface="楷体_GB2312" charset="0"/>
            </a:endParaRPr>
          </a:p>
        </p:txBody>
      </p:sp>
      <p:sp>
        <p:nvSpPr>
          <p:cNvPr id="917507" name="Text Box 3"/>
          <p:cNvSpPr txBox="1">
            <a:spLocks noChangeArrowheads="1"/>
          </p:cNvSpPr>
          <p:nvPr/>
        </p:nvSpPr>
        <p:spPr bwMode="auto">
          <a:xfrm>
            <a:off x="107504" y="3286125"/>
            <a:ext cx="8635697"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dirty="0">
                <a:ea typeface="楷体_GB2312" charset="0"/>
              </a:rPr>
              <a:t>    </a:t>
            </a:r>
            <a:r>
              <a:rPr lang="en-US" altLang="zh-CN" sz="3200" dirty="0" err="1">
                <a:solidFill>
                  <a:srgbClr val="333399"/>
                </a:solidFill>
                <a:ea typeface="楷体_GB2312" charset="0"/>
              </a:rPr>
              <a:t>GetElem</a:t>
            </a:r>
            <a:r>
              <a:rPr lang="en-US" altLang="zh-CN" sz="3200" dirty="0">
                <a:solidFill>
                  <a:srgbClr val="333399"/>
                </a:solidFill>
                <a:ea typeface="楷体_GB2312" charset="0"/>
              </a:rPr>
              <a:t>(</a:t>
            </a:r>
            <a:r>
              <a:rPr lang="en-US" altLang="zh-CN" sz="3200" dirty="0" err="1">
                <a:solidFill>
                  <a:srgbClr val="333399"/>
                </a:solidFill>
                <a:ea typeface="楷体_GB2312" charset="0"/>
              </a:rPr>
              <a:t>Lb</a:t>
            </a:r>
            <a:r>
              <a:rPr lang="en-US" altLang="zh-CN" sz="3200" dirty="0">
                <a:solidFill>
                  <a:srgbClr val="333399"/>
                </a:solidFill>
                <a:ea typeface="楷体_GB2312" charset="0"/>
              </a:rPr>
              <a:t>, </a:t>
            </a:r>
            <a:r>
              <a:rPr lang="en-US" altLang="zh-CN" sz="3200" dirty="0" err="1">
                <a:solidFill>
                  <a:srgbClr val="333399"/>
                </a:solidFill>
                <a:ea typeface="楷体_GB2312" charset="0"/>
              </a:rPr>
              <a:t>i</a:t>
            </a:r>
            <a:r>
              <a:rPr lang="en-US" altLang="zh-CN" sz="3200" dirty="0">
                <a:solidFill>
                  <a:srgbClr val="333399"/>
                </a:solidFill>
                <a:ea typeface="楷体_GB2312" charset="0"/>
              </a:rPr>
              <a:t>, e)</a:t>
            </a:r>
            <a:r>
              <a:rPr lang="en-US" altLang="zh-CN" sz="3200" dirty="0">
                <a:ea typeface="楷体_GB2312" charset="0"/>
              </a:rPr>
              <a:t>; </a:t>
            </a:r>
            <a:r>
              <a:rPr lang="en-US" altLang="zh-CN" sz="2400" dirty="0">
                <a:ea typeface="楷体_GB2312" charset="0"/>
              </a:rPr>
              <a:t>// </a:t>
            </a:r>
            <a:r>
              <a:rPr lang="zh-CN" altLang="en-US" sz="2400" b="1" dirty="0">
                <a:ea typeface="楷体_GB2312" charset="0"/>
              </a:rPr>
              <a:t>取</a:t>
            </a:r>
            <a:r>
              <a:rPr lang="en-US" altLang="zh-CN" sz="2400" b="1" dirty="0" err="1">
                <a:ea typeface="楷体_GB2312" charset="0"/>
              </a:rPr>
              <a:t>Lb</a:t>
            </a:r>
            <a:r>
              <a:rPr lang="zh-CN" altLang="en-US" sz="2400" b="1" dirty="0">
                <a:ea typeface="楷体_GB2312" charset="0"/>
              </a:rPr>
              <a:t>中第 </a:t>
            </a:r>
            <a:r>
              <a:rPr lang="en-US" altLang="zh-CN" sz="2400" b="1" dirty="0" err="1">
                <a:ea typeface="楷体_GB2312" charset="0"/>
              </a:rPr>
              <a:t>i</a:t>
            </a:r>
            <a:r>
              <a:rPr lang="en-US" altLang="zh-CN" sz="2400" b="1" dirty="0">
                <a:ea typeface="楷体_GB2312" charset="0"/>
              </a:rPr>
              <a:t> </a:t>
            </a:r>
            <a:r>
              <a:rPr lang="zh-CN" altLang="en-US" sz="2400" b="1" dirty="0">
                <a:ea typeface="楷体_GB2312" charset="0"/>
              </a:rPr>
              <a:t>个数据元素赋给 </a:t>
            </a:r>
            <a:r>
              <a:rPr lang="en-US" altLang="zh-CN" sz="2400" b="1" dirty="0">
                <a:ea typeface="楷体_GB2312" charset="0"/>
              </a:rPr>
              <a:t>e</a:t>
            </a:r>
            <a:endParaRPr lang="en-US" altLang="zh-CN" sz="2400" dirty="0">
              <a:ea typeface="楷体_GB2312" charset="0"/>
            </a:endParaRPr>
          </a:p>
          <a:p>
            <a:pPr eaLnBrk="1" hangingPunct="1">
              <a:lnSpc>
                <a:spcPct val="120000"/>
              </a:lnSpc>
              <a:defRPr/>
            </a:pPr>
            <a:r>
              <a:rPr lang="en-US" altLang="zh-CN" sz="3200" dirty="0">
                <a:ea typeface="楷体_GB2312" charset="0"/>
              </a:rPr>
              <a:t>    </a:t>
            </a:r>
            <a:r>
              <a:rPr lang="en-US" altLang="zh-CN" sz="3200" b="1" dirty="0">
                <a:ea typeface="楷体_GB2312" charset="0"/>
              </a:rPr>
              <a:t>if </a:t>
            </a:r>
            <a:r>
              <a:rPr lang="en-US" altLang="zh-CN" sz="3200" dirty="0">
                <a:ea typeface="楷体_GB2312" charset="0"/>
              </a:rPr>
              <a:t>(</a:t>
            </a:r>
            <a:r>
              <a:rPr lang="en-US" altLang="zh-CN" sz="3200" b="1" dirty="0">
                <a:ea typeface="楷体_GB2312" charset="0"/>
              </a:rPr>
              <a:t>!</a:t>
            </a:r>
            <a:r>
              <a:rPr lang="en-US" altLang="zh-CN" sz="3200" dirty="0" err="1">
                <a:solidFill>
                  <a:srgbClr val="333399"/>
                </a:solidFill>
                <a:ea typeface="楷体_GB2312" charset="0"/>
              </a:rPr>
              <a:t>LocateElem</a:t>
            </a:r>
            <a:r>
              <a:rPr lang="en-US" altLang="zh-CN" sz="3200" dirty="0">
                <a:solidFill>
                  <a:srgbClr val="333399"/>
                </a:solidFill>
                <a:ea typeface="楷体_GB2312" charset="0"/>
              </a:rPr>
              <a:t>(La, e, equal( )) </a:t>
            </a:r>
            <a:r>
              <a:rPr lang="en-US" altLang="zh-CN" sz="3200" dirty="0">
                <a:ea typeface="楷体_GB2312" charset="0"/>
              </a:rPr>
              <a:t>)</a:t>
            </a:r>
            <a:r>
              <a:rPr lang="en-US" altLang="zh-CN" sz="3200" dirty="0">
                <a:solidFill>
                  <a:srgbClr val="333399"/>
                </a:solidFill>
                <a:ea typeface="楷体_GB2312" charset="0"/>
              </a:rPr>
              <a:t> </a:t>
            </a:r>
            <a:endParaRPr lang="en-US" altLang="zh-CN" sz="3200" dirty="0">
              <a:ea typeface="楷体_GB2312" charset="0"/>
            </a:endParaRPr>
          </a:p>
          <a:p>
            <a:pPr eaLnBrk="1" hangingPunct="1">
              <a:lnSpc>
                <a:spcPct val="120000"/>
              </a:lnSpc>
              <a:defRPr/>
            </a:pPr>
            <a:r>
              <a:rPr lang="en-US" altLang="zh-CN" sz="3200" dirty="0">
                <a:ea typeface="楷体_GB2312" charset="0"/>
              </a:rPr>
              <a:t>       </a:t>
            </a:r>
            <a:r>
              <a:rPr lang="en-US" altLang="zh-CN" sz="3200" dirty="0" err="1">
                <a:solidFill>
                  <a:srgbClr val="333399"/>
                </a:solidFill>
                <a:ea typeface="楷体_GB2312" charset="0"/>
              </a:rPr>
              <a:t>ListInsert</a:t>
            </a:r>
            <a:r>
              <a:rPr lang="en-US" altLang="zh-CN" sz="3200" dirty="0">
                <a:solidFill>
                  <a:srgbClr val="333399"/>
                </a:solidFill>
                <a:ea typeface="楷体_GB2312" charset="0"/>
              </a:rPr>
              <a:t>(La, ++</a:t>
            </a:r>
            <a:r>
              <a:rPr lang="en-US" altLang="zh-CN" sz="3200" dirty="0" err="1">
                <a:solidFill>
                  <a:srgbClr val="333399"/>
                </a:solidFill>
                <a:ea typeface="楷体_GB2312" charset="0"/>
              </a:rPr>
              <a:t>La_len</a:t>
            </a:r>
            <a:r>
              <a:rPr lang="en-US" altLang="zh-CN" sz="3200" dirty="0">
                <a:solidFill>
                  <a:srgbClr val="333399"/>
                </a:solidFill>
                <a:ea typeface="楷体_GB2312" charset="0"/>
              </a:rPr>
              <a:t>, e)</a:t>
            </a:r>
            <a:r>
              <a:rPr lang="en-US" altLang="zh-CN" sz="3200" dirty="0">
                <a:ea typeface="楷体_GB2312" charset="0"/>
              </a:rPr>
              <a:t>;</a:t>
            </a:r>
            <a:endParaRPr lang="en-US" altLang="zh-CN" sz="3200" dirty="0">
              <a:ea typeface="楷体_GB2312" charset="0"/>
            </a:endParaRPr>
          </a:p>
          <a:p>
            <a:pPr eaLnBrk="1" hangingPunct="1">
              <a:lnSpc>
                <a:spcPct val="120000"/>
              </a:lnSpc>
              <a:defRPr/>
            </a:pPr>
            <a:r>
              <a:rPr lang="en-US" altLang="zh-CN" sz="3200" dirty="0">
                <a:ea typeface="楷体_GB2312" charset="0"/>
              </a:rPr>
              <a:t>       </a:t>
            </a:r>
            <a:r>
              <a:rPr lang="en-US" altLang="zh-CN" sz="2400" dirty="0">
                <a:ea typeface="楷体_GB2312" charset="0"/>
              </a:rPr>
              <a:t>// </a:t>
            </a:r>
            <a:r>
              <a:rPr lang="en-US" altLang="zh-CN" sz="2400" b="1" dirty="0">
                <a:ea typeface="楷体_GB2312" charset="0"/>
              </a:rPr>
              <a:t>La</a:t>
            </a:r>
            <a:r>
              <a:rPr lang="zh-CN" altLang="en-US" sz="2400" b="1" dirty="0">
                <a:ea typeface="楷体_GB2312" charset="0"/>
              </a:rPr>
              <a:t>中不存在和 </a:t>
            </a:r>
            <a:r>
              <a:rPr lang="en-US" altLang="zh-CN" sz="2400" b="1" dirty="0">
                <a:ea typeface="楷体_GB2312" charset="0"/>
              </a:rPr>
              <a:t>e </a:t>
            </a:r>
            <a:r>
              <a:rPr lang="zh-CN" altLang="en-US" sz="2400" b="1" dirty="0">
                <a:ea typeface="楷体_GB2312" charset="0"/>
              </a:rPr>
              <a:t>相同的数据元素，则插入之</a:t>
            </a:r>
            <a:endParaRPr lang="zh-CN" altLang="en-US" sz="2400" dirty="0"/>
          </a:p>
        </p:txBody>
      </p:sp>
      <p:sp>
        <p:nvSpPr>
          <p:cNvPr id="917508" name="Text Box 4"/>
          <p:cNvSpPr txBox="1">
            <a:spLocks noChangeArrowheads="1"/>
          </p:cNvSpPr>
          <p:nvPr/>
        </p:nvSpPr>
        <p:spPr bwMode="auto">
          <a:xfrm>
            <a:off x="603795" y="2508250"/>
            <a:ext cx="6248827" cy="3613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b="1" dirty="0">
                <a:solidFill>
                  <a:srgbClr val="660066"/>
                </a:solidFill>
                <a:ea typeface="楷体_GB2312" charset="0"/>
              </a:rPr>
              <a:t>for</a:t>
            </a:r>
            <a:r>
              <a:rPr lang="en-US" altLang="zh-CN" sz="3200" dirty="0">
                <a:solidFill>
                  <a:srgbClr val="660066"/>
                </a:solidFill>
                <a:ea typeface="楷体_GB2312" charset="0"/>
              </a:rPr>
              <a:t> (</a:t>
            </a:r>
            <a:r>
              <a:rPr lang="en-US" altLang="zh-CN" sz="3200" dirty="0" err="1">
                <a:solidFill>
                  <a:srgbClr val="660066"/>
                </a:solidFill>
                <a:ea typeface="楷体_GB2312" charset="0"/>
              </a:rPr>
              <a:t>i</a:t>
            </a:r>
            <a:r>
              <a:rPr lang="en-US" altLang="zh-CN" sz="3200" dirty="0">
                <a:solidFill>
                  <a:srgbClr val="660066"/>
                </a:solidFill>
                <a:ea typeface="楷体_GB2312" charset="0"/>
              </a:rPr>
              <a:t> = 1;  </a:t>
            </a:r>
            <a:r>
              <a:rPr lang="en-US" altLang="zh-CN" sz="3200" dirty="0" err="1">
                <a:solidFill>
                  <a:srgbClr val="660066"/>
                </a:solidFill>
                <a:ea typeface="楷体_GB2312" charset="0"/>
              </a:rPr>
              <a:t>i</a:t>
            </a:r>
            <a:r>
              <a:rPr lang="en-US" altLang="zh-CN" sz="3200" dirty="0">
                <a:solidFill>
                  <a:srgbClr val="660066"/>
                </a:solidFill>
                <a:ea typeface="楷体_GB2312" charset="0"/>
              </a:rPr>
              <a:t> &lt;= </a:t>
            </a:r>
            <a:r>
              <a:rPr lang="en-US" altLang="zh-CN" sz="3200" dirty="0" err="1">
                <a:solidFill>
                  <a:srgbClr val="660066"/>
                </a:solidFill>
                <a:ea typeface="楷体_GB2312" charset="0"/>
              </a:rPr>
              <a:t>Lb_len</a:t>
            </a:r>
            <a:r>
              <a:rPr lang="en-US" altLang="zh-CN" sz="3200" dirty="0">
                <a:solidFill>
                  <a:srgbClr val="660066"/>
                </a:solidFill>
                <a:ea typeface="楷体_GB2312" charset="0"/>
              </a:rPr>
              <a:t>;  </a:t>
            </a:r>
            <a:r>
              <a:rPr lang="en-US" altLang="zh-CN" sz="3200" dirty="0" err="1">
                <a:solidFill>
                  <a:srgbClr val="660066"/>
                </a:solidFill>
                <a:ea typeface="楷体_GB2312" charset="0"/>
              </a:rPr>
              <a:t>i</a:t>
            </a:r>
            <a:r>
              <a:rPr lang="en-US" altLang="zh-CN" sz="3200" dirty="0">
                <a:solidFill>
                  <a:srgbClr val="660066"/>
                </a:solidFill>
                <a:ea typeface="楷体_GB2312" charset="0"/>
              </a:rPr>
              <a:t>++)</a:t>
            </a:r>
            <a:r>
              <a:rPr lang="en-US" altLang="zh-CN" sz="3200" b="1" dirty="0">
                <a:solidFill>
                  <a:srgbClr val="660066"/>
                </a:solidFill>
                <a:ea typeface="楷体_GB2312" charset="0"/>
              </a:rPr>
              <a:t> {</a:t>
            </a:r>
            <a:endParaRPr lang="en-US" altLang="zh-CN" sz="3200" b="1" dirty="0">
              <a:solidFill>
                <a:srgbClr val="660066"/>
              </a:solidFill>
              <a:ea typeface="楷体_GB2312" charset="0"/>
            </a:endParaRPr>
          </a:p>
          <a:p>
            <a:pPr eaLnBrk="1" hangingPunct="1">
              <a:lnSpc>
                <a:spcPct val="120000"/>
              </a:lnSpc>
              <a:defRPr/>
            </a:pPr>
            <a:endParaRPr lang="en-US" altLang="zh-CN" sz="3200" b="1" dirty="0">
              <a:solidFill>
                <a:srgbClr val="660066"/>
              </a:solidFill>
              <a:ea typeface="楷体_GB2312" charset="0"/>
            </a:endParaRPr>
          </a:p>
          <a:p>
            <a:pPr eaLnBrk="1" hangingPunct="1">
              <a:lnSpc>
                <a:spcPct val="120000"/>
              </a:lnSpc>
              <a:defRPr/>
            </a:pPr>
            <a:endParaRPr lang="en-US" altLang="zh-CN" sz="3200" b="1" dirty="0">
              <a:solidFill>
                <a:srgbClr val="660066"/>
              </a:solidFill>
              <a:ea typeface="楷体_GB2312" charset="0"/>
            </a:endParaRPr>
          </a:p>
          <a:p>
            <a:pPr eaLnBrk="1" hangingPunct="1">
              <a:lnSpc>
                <a:spcPct val="120000"/>
              </a:lnSpc>
              <a:defRPr/>
            </a:pPr>
            <a:endParaRPr lang="en-US" altLang="zh-CN" sz="3200" b="1" dirty="0">
              <a:solidFill>
                <a:srgbClr val="660066"/>
              </a:solidFill>
              <a:ea typeface="楷体_GB2312" charset="0"/>
            </a:endParaRPr>
          </a:p>
          <a:p>
            <a:pPr eaLnBrk="1" hangingPunct="1">
              <a:lnSpc>
                <a:spcPct val="120000"/>
              </a:lnSpc>
              <a:defRPr/>
            </a:pPr>
            <a:endParaRPr lang="en-US" altLang="zh-CN" sz="3200" b="1" dirty="0">
              <a:solidFill>
                <a:srgbClr val="660066"/>
              </a:solidFill>
              <a:ea typeface="楷体_GB2312" charset="0"/>
            </a:endParaRPr>
          </a:p>
          <a:p>
            <a:pPr eaLnBrk="1" hangingPunct="1">
              <a:lnSpc>
                <a:spcPct val="120000"/>
              </a:lnSpc>
              <a:defRPr/>
            </a:pPr>
            <a:r>
              <a:rPr lang="en-US" altLang="zh-CN" sz="3200" b="1" dirty="0">
                <a:solidFill>
                  <a:srgbClr val="660066"/>
                </a:solidFill>
                <a:ea typeface="楷体_GB2312" charset="0"/>
              </a:rPr>
              <a:t>}</a:t>
            </a:r>
            <a:endParaRPr lang="en-US" altLang="zh-CN" sz="3200" b="1" dirty="0">
              <a:solidFill>
                <a:srgbClr val="660066"/>
              </a:solidFill>
              <a:ea typeface="楷体_GB2312" charset="0"/>
            </a:endParaRPr>
          </a:p>
        </p:txBody>
      </p:sp>
      <p:sp>
        <p:nvSpPr>
          <p:cNvPr id="917509" name="Text Box 5"/>
          <p:cNvSpPr txBox="1">
            <a:spLocks noChangeArrowheads="1"/>
          </p:cNvSpPr>
          <p:nvPr/>
        </p:nvSpPr>
        <p:spPr bwMode="auto">
          <a:xfrm>
            <a:off x="558354" y="620688"/>
            <a:ext cx="711124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dirty="0" err="1">
                <a:solidFill>
                  <a:srgbClr val="990033"/>
                </a:solidFill>
              </a:rPr>
              <a:t>InitList</a:t>
            </a:r>
            <a:r>
              <a:rPr lang="en-US" altLang="zh-CN" sz="3200" b="1" dirty="0">
                <a:solidFill>
                  <a:srgbClr val="990033"/>
                </a:solidFill>
              </a:rPr>
              <a:t>(La);   </a:t>
            </a:r>
            <a:r>
              <a:rPr lang="en-US" altLang="zh-CN" sz="3200" dirty="0">
                <a:solidFill>
                  <a:srgbClr val="990033"/>
                </a:solidFill>
              </a:rPr>
              <a:t>// </a:t>
            </a:r>
            <a:r>
              <a:rPr lang="zh-CN" altLang="en-US" sz="3200" dirty="0">
                <a:solidFill>
                  <a:srgbClr val="990033"/>
                </a:solidFill>
                <a:latin typeface="楷体_GB2312" charset="0"/>
                <a:ea typeface="楷体_GB2312" charset="0"/>
              </a:rPr>
              <a:t>构造</a:t>
            </a:r>
            <a:r>
              <a:rPr lang="en-US" altLang="zh-CN" sz="3200" dirty="0">
                <a:solidFill>
                  <a:srgbClr val="990033"/>
                </a:solidFill>
                <a:latin typeface="楷体_GB2312" charset="0"/>
                <a:ea typeface="楷体_GB2312" charset="0"/>
              </a:rPr>
              <a:t>(</a:t>
            </a:r>
            <a:r>
              <a:rPr lang="zh-CN" altLang="en-US" sz="3200" dirty="0">
                <a:solidFill>
                  <a:srgbClr val="990033"/>
                </a:solidFill>
                <a:latin typeface="楷体_GB2312" charset="0"/>
                <a:ea typeface="楷体_GB2312" charset="0"/>
              </a:rPr>
              <a:t>空的</a:t>
            </a:r>
            <a:r>
              <a:rPr lang="en-US" altLang="zh-CN" sz="3200" dirty="0">
                <a:solidFill>
                  <a:srgbClr val="990033"/>
                </a:solidFill>
                <a:latin typeface="楷体_GB2312" charset="0"/>
                <a:ea typeface="楷体_GB2312" charset="0"/>
              </a:rPr>
              <a:t>)</a:t>
            </a:r>
            <a:r>
              <a:rPr lang="zh-CN" altLang="en-US" sz="3200" dirty="0">
                <a:solidFill>
                  <a:srgbClr val="990033"/>
                </a:solidFill>
                <a:latin typeface="楷体_GB2312" charset="0"/>
                <a:ea typeface="楷体_GB2312" charset="0"/>
              </a:rPr>
              <a:t>线性表</a:t>
            </a:r>
            <a:r>
              <a:rPr lang="en-US" altLang="zh-CN" sz="3200" dirty="0">
                <a:solidFill>
                  <a:srgbClr val="990033"/>
                </a:solidFill>
              </a:rPr>
              <a:t>LA</a:t>
            </a:r>
            <a:endParaRPr lang="en-US" altLang="zh-CN" sz="32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917508"/>
                                        </p:tgtEl>
                                        <p:attrNameLst>
                                          <p:attrName>style.visibility</p:attrName>
                                        </p:attrNameLst>
                                      </p:cBhvr>
                                      <p:to>
                                        <p:strVal val="visible"/>
                                      </p:to>
                                    </p:set>
                                    <p:animEffect transition="in" filter="wipe(left)">
                                      <p:cBhvr>
                                        <p:cTn id="7" dur="300"/>
                                        <p:tgtEl>
                                          <p:spTgt spid="9175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917506"/>
                                        </p:tgtEl>
                                        <p:attrNameLst>
                                          <p:attrName>style.visibility</p:attrName>
                                        </p:attrNameLst>
                                      </p:cBhvr>
                                      <p:to>
                                        <p:strVal val="visible"/>
                                      </p:to>
                                    </p:set>
                                    <p:animEffect transition="in" filter="wipe(left)">
                                      <p:cBhvr>
                                        <p:cTn id="12" dur="300"/>
                                        <p:tgtEl>
                                          <p:spTgt spid="9175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917509"/>
                                        </p:tgtEl>
                                        <p:attrNameLst>
                                          <p:attrName>style.visibility</p:attrName>
                                        </p:attrNameLst>
                                      </p:cBhvr>
                                      <p:to>
                                        <p:strVal val="visible"/>
                                      </p:to>
                                    </p:set>
                                    <p:animEffect transition="in" filter="wipe(left)">
                                      <p:cBhvr>
                                        <p:cTn id="17" dur="300"/>
                                        <p:tgtEl>
                                          <p:spTgt spid="917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7506" grpId="0" autoUpdateAnimBg="0"/>
      <p:bldP spid="917508" grpId="0" autoUpdateAnimBg="0"/>
      <p:bldP spid="917509"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0" name="Text Box 2"/>
          <p:cNvSpPr txBox="1">
            <a:spLocks noChangeArrowheads="1"/>
          </p:cNvSpPr>
          <p:nvPr/>
        </p:nvSpPr>
        <p:spPr bwMode="auto">
          <a:xfrm>
            <a:off x="609600" y="1447800"/>
            <a:ext cx="8077200" cy="3905043"/>
          </a:xfrm>
          <a:prstGeom prst="rect">
            <a:avLst/>
          </a:prstGeom>
          <a:noFill/>
          <a:ln w="9525">
            <a:solidFill>
              <a:srgbClr val="8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3600">
                <a:solidFill>
                  <a:srgbClr val="660033"/>
                </a:solidFill>
                <a:latin typeface="华文楷体" panose="02010600040101010101" pitchFamily="2" charset="-122"/>
                <a:ea typeface="华文楷体" panose="02010600040101010101" pitchFamily="2" charset="-122"/>
              </a:rPr>
              <a:t>若线性表中的数据元素相互之间可以</a:t>
            </a:r>
            <a:r>
              <a:rPr lang="zh-CN" altLang="en-US" sz="3600" b="1">
                <a:solidFill>
                  <a:srgbClr val="660033"/>
                </a:solidFill>
                <a:latin typeface="华文楷体" panose="02010600040101010101" pitchFamily="2" charset="-122"/>
                <a:ea typeface="华文楷体" panose="02010600040101010101" pitchFamily="2" charset="-122"/>
              </a:rPr>
              <a:t>比较</a:t>
            </a:r>
            <a:r>
              <a:rPr lang="zh-CN" altLang="en-US" sz="3600">
                <a:solidFill>
                  <a:srgbClr val="660033"/>
                </a:solidFill>
                <a:latin typeface="华文楷体" panose="02010600040101010101" pitchFamily="2" charset="-122"/>
                <a:ea typeface="华文楷体" panose="02010600040101010101" pitchFamily="2" charset="-122"/>
              </a:rPr>
              <a:t>，并且数据元素在线性表中</a:t>
            </a:r>
            <a:r>
              <a:rPr lang="zh-CN" altLang="en-US" sz="3600" b="1">
                <a:solidFill>
                  <a:srgbClr val="660033"/>
                </a:solidFill>
                <a:latin typeface="华文楷体" panose="02010600040101010101" pitchFamily="2" charset="-122"/>
                <a:ea typeface="华文楷体" panose="02010600040101010101" pitchFamily="2" charset="-122"/>
              </a:rPr>
              <a:t>依值非递减或非递增有序</a:t>
            </a:r>
            <a:r>
              <a:rPr lang="zh-CN" altLang="en-US" sz="3600">
                <a:solidFill>
                  <a:srgbClr val="660033"/>
                </a:solidFill>
                <a:latin typeface="华文楷体" panose="02010600040101010101" pitchFamily="2" charset="-122"/>
                <a:ea typeface="华文楷体" panose="02010600040101010101" pitchFamily="2" charset="-122"/>
              </a:rPr>
              <a:t>排列，即 </a:t>
            </a:r>
            <a:endParaRPr lang="zh-CN" altLang="en-US" sz="3600">
              <a:solidFill>
                <a:srgbClr val="660033"/>
              </a:solidFill>
              <a:latin typeface="华文楷体" panose="02010600040101010101" pitchFamily="2" charset="-122"/>
              <a:ea typeface="华文楷体" panose="02010600040101010101" pitchFamily="2" charset="-122"/>
            </a:endParaRPr>
          </a:p>
          <a:p>
            <a:pPr eaLnBrk="1" hangingPunct="1">
              <a:lnSpc>
                <a:spcPct val="140000"/>
              </a:lnSpc>
              <a:defRPr/>
            </a:pPr>
            <a:r>
              <a:rPr lang="en-US" altLang="zh-CN" sz="3600">
                <a:solidFill>
                  <a:srgbClr val="660033"/>
                </a:solidFill>
                <a:latin typeface="华文楷体" panose="02010600040101010101" pitchFamily="2" charset="-122"/>
                <a:ea typeface="华文楷体" panose="02010600040101010101" pitchFamily="2" charset="-122"/>
              </a:rPr>
              <a:t>a</a:t>
            </a:r>
            <a:r>
              <a:rPr lang="en-US" altLang="zh-CN" sz="3600" baseline="-25000">
                <a:solidFill>
                  <a:srgbClr val="660033"/>
                </a:solidFill>
                <a:latin typeface="华文楷体" panose="02010600040101010101" pitchFamily="2" charset="-122"/>
                <a:ea typeface="华文楷体" panose="02010600040101010101" pitchFamily="2" charset="-122"/>
              </a:rPr>
              <a:t>i</a:t>
            </a:r>
            <a:r>
              <a:rPr lang="en-US" altLang="zh-CN" sz="3600">
                <a:solidFill>
                  <a:srgbClr val="660033"/>
                </a:solidFill>
                <a:latin typeface="华文楷体" panose="02010600040101010101" pitchFamily="2" charset="-122"/>
                <a:ea typeface="华文楷体" panose="02010600040101010101" pitchFamily="2" charset="-122"/>
              </a:rPr>
              <a:t>≥a</a:t>
            </a:r>
            <a:r>
              <a:rPr lang="en-US" altLang="zh-CN" sz="3600" baseline="-25000">
                <a:solidFill>
                  <a:srgbClr val="660033"/>
                </a:solidFill>
                <a:latin typeface="华文楷体" panose="02010600040101010101" pitchFamily="2" charset="-122"/>
                <a:ea typeface="华文楷体" panose="02010600040101010101" pitchFamily="2" charset="-122"/>
              </a:rPr>
              <a:t>i-1</a:t>
            </a:r>
            <a:r>
              <a:rPr lang="en-US" altLang="zh-CN" sz="3600">
                <a:solidFill>
                  <a:srgbClr val="660033"/>
                </a:solidFill>
                <a:latin typeface="华文楷体" panose="02010600040101010101" pitchFamily="2" charset="-122"/>
                <a:ea typeface="华文楷体" panose="02010600040101010101" pitchFamily="2" charset="-122"/>
              </a:rPr>
              <a:t> </a:t>
            </a:r>
            <a:r>
              <a:rPr lang="zh-CN" altLang="en-US" sz="3600">
                <a:solidFill>
                  <a:srgbClr val="660033"/>
                </a:solidFill>
                <a:latin typeface="华文楷体" panose="02010600040101010101" pitchFamily="2" charset="-122"/>
                <a:ea typeface="华文楷体" panose="02010600040101010101" pitchFamily="2" charset="-122"/>
              </a:rPr>
              <a:t>或 </a:t>
            </a:r>
            <a:r>
              <a:rPr lang="en-US" altLang="zh-CN" sz="3600">
                <a:solidFill>
                  <a:srgbClr val="660033"/>
                </a:solidFill>
                <a:latin typeface="华文楷体" panose="02010600040101010101" pitchFamily="2" charset="-122"/>
                <a:ea typeface="华文楷体" panose="02010600040101010101" pitchFamily="2" charset="-122"/>
              </a:rPr>
              <a:t>a</a:t>
            </a:r>
            <a:r>
              <a:rPr lang="en-US" altLang="zh-CN" sz="3600" baseline="-25000">
                <a:solidFill>
                  <a:srgbClr val="660033"/>
                </a:solidFill>
                <a:latin typeface="华文楷体" panose="02010600040101010101" pitchFamily="2" charset="-122"/>
                <a:ea typeface="华文楷体" panose="02010600040101010101" pitchFamily="2" charset="-122"/>
              </a:rPr>
              <a:t>i</a:t>
            </a:r>
            <a:r>
              <a:rPr lang="en-US" altLang="zh-CN" sz="3600">
                <a:solidFill>
                  <a:srgbClr val="660033"/>
                </a:solidFill>
                <a:latin typeface="华文楷体" panose="02010600040101010101" pitchFamily="2" charset="-122"/>
                <a:ea typeface="华文楷体" panose="02010600040101010101" pitchFamily="2" charset="-122"/>
              </a:rPr>
              <a:t>≤a</a:t>
            </a:r>
            <a:r>
              <a:rPr lang="en-US" altLang="zh-CN" sz="3600" baseline="-25000">
                <a:solidFill>
                  <a:srgbClr val="660033"/>
                </a:solidFill>
                <a:latin typeface="华文楷体" panose="02010600040101010101" pitchFamily="2" charset="-122"/>
                <a:ea typeface="华文楷体" panose="02010600040101010101" pitchFamily="2" charset="-122"/>
              </a:rPr>
              <a:t>i-1</a:t>
            </a:r>
            <a:r>
              <a:rPr lang="en-US" altLang="zh-CN" sz="3600">
                <a:solidFill>
                  <a:srgbClr val="660033"/>
                </a:solidFill>
                <a:latin typeface="华文楷体" panose="02010600040101010101" pitchFamily="2" charset="-122"/>
                <a:ea typeface="华文楷体" panose="02010600040101010101" pitchFamily="2" charset="-122"/>
              </a:rPr>
              <a:t>(i = 2,3,…, n)</a:t>
            </a:r>
            <a:r>
              <a:rPr lang="zh-CN" altLang="en-US" sz="3600">
                <a:solidFill>
                  <a:srgbClr val="660033"/>
                </a:solidFill>
                <a:latin typeface="华文楷体" panose="02010600040101010101" pitchFamily="2" charset="-122"/>
                <a:ea typeface="华文楷体" panose="02010600040101010101" pitchFamily="2" charset="-122"/>
              </a:rPr>
              <a:t>，则称该线性表为</a:t>
            </a:r>
            <a:r>
              <a:rPr lang="zh-CN" altLang="en-US" sz="3600" b="1">
                <a:solidFill>
                  <a:srgbClr val="CC0000"/>
                </a:solidFill>
                <a:latin typeface="华文楷体" panose="02010600040101010101" pitchFamily="2" charset="-122"/>
                <a:ea typeface="华文楷体" panose="02010600040101010101" pitchFamily="2" charset="-122"/>
              </a:rPr>
              <a:t>有序表</a:t>
            </a:r>
            <a:r>
              <a:rPr lang="en-US" altLang="zh-CN" sz="3600" b="1">
                <a:solidFill>
                  <a:srgbClr val="660033"/>
                </a:solidFill>
                <a:latin typeface="华文楷体" panose="02010600040101010101" pitchFamily="2" charset="-122"/>
                <a:ea typeface="华文楷体" panose="02010600040101010101" pitchFamily="2" charset="-122"/>
              </a:rPr>
              <a:t>(Ordered List)</a:t>
            </a:r>
            <a:r>
              <a:rPr lang="zh-CN" altLang="en-US" sz="3600">
                <a:solidFill>
                  <a:srgbClr val="660033"/>
                </a:solidFill>
                <a:latin typeface="华文楷体" panose="02010600040101010101" pitchFamily="2" charset="-122"/>
                <a:ea typeface="华文楷体" panose="02010600040101010101" pitchFamily="2" charset="-122"/>
              </a:rPr>
              <a:t>。</a:t>
            </a:r>
            <a:endParaRPr lang="zh-CN" altLang="en-US" sz="3600">
              <a:solidFill>
                <a:srgbClr val="660033"/>
              </a:solidFill>
              <a:latin typeface="华文楷体" panose="02010600040101010101" pitchFamily="2" charset="-122"/>
              <a:ea typeface="华文楷体" panose="02010600040101010101" pitchFamily="2" charset="-122"/>
            </a:endParaRPr>
          </a:p>
        </p:txBody>
      </p:sp>
      <p:sp>
        <p:nvSpPr>
          <p:cNvPr id="918531" name="Text Box 3"/>
          <p:cNvSpPr txBox="1">
            <a:spLocks noChangeArrowheads="1"/>
          </p:cNvSpPr>
          <p:nvPr/>
        </p:nvSpPr>
        <p:spPr bwMode="auto">
          <a:xfrm>
            <a:off x="1447800" y="381000"/>
            <a:ext cx="7042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华文楷体" panose="02010600040101010101" pitchFamily="2" charset="-122"/>
                <a:ea typeface="华文楷体" panose="02010600040101010101" pitchFamily="2" charset="-122"/>
              </a:rPr>
              <a:t>试改变结构，以</a:t>
            </a:r>
            <a:r>
              <a:rPr lang="zh-CN" altLang="en-US" sz="3600" b="1">
                <a:solidFill>
                  <a:srgbClr val="CC0000"/>
                </a:solidFill>
                <a:latin typeface="华文楷体" panose="02010600040101010101" pitchFamily="2" charset="-122"/>
                <a:ea typeface="华文楷体" panose="02010600040101010101" pitchFamily="2" charset="-122"/>
              </a:rPr>
              <a:t>有序表</a:t>
            </a:r>
            <a:r>
              <a:rPr lang="zh-CN" altLang="en-US" sz="3600">
                <a:latin typeface="华文楷体" panose="02010600040101010101" pitchFamily="2" charset="-122"/>
                <a:ea typeface="华文楷体" panose="02010600040101010101" pitchFamily="2" charset="-122"/>
              </a:rPr>
              <a:t>表示集合。</a:t>
            </a:r>
            <a:endParaRPr lang="zh-CN" altLang="en-US" sz="360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918531"/>
                                        </p:tgtEl>
                                        <p:attrNameLst>
                                          <p:attrName>style.visibility</p:attrName>
                                        </p:attrNameLst>
                                      </p:cBhvr>
                                      <p:to>
                                        <p:strVal val="visible"/>
                                      </p:to>
                                    </p:set>
                                    <p:animEffect transition="in" filter="wipe(left)">
                                      <p:cBhvr>
                                        <p:cTn id="7" dur="300"/>
                                        <p:tgtEl>
                                          <p:spTgt spid="91853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918530"/>
                                        </p:tgtEl>
                                        <p:attrNameLst>
                                          <p:attrName>style.visibility</p:attrName>
                                        </p:attrNameLst>
                                      </p:cBhvr>
                                      <p:to>
                                        <p:strVal val="visible"/>
                                      </p:to>
                                    </p:set>
                                    <p:animEffect transition="in" filter="strips(downRight)">
                                      <p:cBhvr>
                                        <p:cTn id="12" dur="300"/>
                                        <p:tgtEl>
                                          <p:spTgt spid="918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8530" grpId="0" animBg="1" autoUpdateAnimBg="0"/>
      <p:bldP spid="918531"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4" name="Text Box 2"/>
          <p:cNvSpPr txBox="1">
            <a:spLocks noChangeArrowheads="1"/>
          </p:cNvSpPr>
          <p:nvPr/>
        </p:nvSpPr>
        <p:spPr bwMode="auto">
          <a:xfrm>
            <a:off x="539552" y="241412"/>
            <a:ext cx="70421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600" b="1" dirty="0">
                <a:ea typeface="楷体_GB2312" charset="0"/>
              </a:rPr>
              <a:t>例如</a:t>
            </a:r>
            <a:r>
              <a:rPr lang="zh-CN" altLang="en-US" sz="3600" dirty="0"/>
              <a:t>：</a:t>
            </a:r>
            <a:endParaRPr lang="zh-CN" altLang="en-US" sz="3600" dirty="0"/>
          </a:p>
          <a:p>
            <a:pPr eaLnBrk="1" hangingPunct="1">
              <a:lnSpc>
                <a:spcPct val="120000"/>
              </a:lnSpc>
              <a:defRPr/>
            </a:pPr>
            <a:r>
              <a:rPr lang="zh-CN" altLang="en-US" sz="3600" dirty="0"/>
              <a:t>（</a:t>
            </a:r>
            <a:r>
              <a:rPr lang="en-US" altLang="zh-CN" sz="3600" b="1" dirty="0"/>
              <a:t>2</a:t>
            </a:r>
            <a:r>
              <a:rPr lang="zh-CN" altLang="en-US" sz="3600" b="1" dirty="0"/>
              <a:t>，</a:t>
            </a:r>
            <a:r>
              <a:rPr lang="en-US" altLang="zh-CN" sz="3600" b="1" dirty="0"/>
              <a:t>3</a:t>
            </a:r>
            <a:r>
              <a:rPr lang="zh-CN" altLang="en-US" sz="3600" b="1" dirty="0"/>
              <a:t>，</a:t>
            </a:r>
            <a:r>
              <a:rPr lang="en-US" altLang="zh-CN" sz="3600" b="1" dirty="0"/>
              <a:t>3</a:t>
            </a:r>
            <a:r>
              <a:rPr lang="zh-CN" altLang="en-US" sz="3600" b="1" dirty="0"/>
              <a:t>，</a:t>
            </a:r>
            <a:r>
              <a:rPr lang="en-US" altLang="zh-CN" sz="3600" b="1" dirty="0"/>
              <a:t>5</a:t>
            </a:r>
            <a:r>
              <a:rPr lang="zh-CN" altLang="en-US" sz="3600" b="1" dirty="0"/>
              <a:t>，</a:t>
            </a:r>
            <a:r>
              <a:rPr lang="en-US" altLang="zh-CN" sz="3600" b="1" dirty="0"/>
              <a:t>6</a:t>
            </a:r>
            <a:r>
              <a:rPr lang="zh-CN" altLang="en-US" sz="3600" b="1" dirty="0"/>
              <a:t>，</a:t>
            </a:r>
            <a:r>
              <a:rPr lang="en-US" altLang="zh-CN" sz="3600" b="1" dirty="0"/>
              <a:t>6</a:t>
            </a:r>
            <a:r>
              <a:rPr lang="zh-CN" altLang="en-US" sz="3600" b="1" dirty="0"/>
              <a:t>，</a:t>
            </a:r>
            <a:r>
              <a:rPr lang="en-US" altLang="zh-CN" sz="3600" b="1" dirty="0"/>
              <a:t>6</a:t>
            </a:r>
            <a:r>
              <a:rPr lang="zh-CN" altLang="en-US" sz="3600" b="1" dirty="0"/>
              <a:t>，</a:t>
            </a:r>
            <a:r>
              <a:rPr lang="en-US" altLang="zh-CN" sz="3600" b="1" dirty="0"/>
              <a:t>8</a:t>
            </a:r>
            <a:r>
              <a:rPr lang="zh-CN" altLang="en-US" sz="3600" b="1" dirty="0"/>
              <a:t>，</a:t>
            </a:r>
            <a:r>
              <a:rPr lang="en-US" altLang="zh-CN" sz="3600" b="1" dirty="0"/>
              <a:t>12</a:t>
            </a:r>
            <a:r>
              <a:rPr lang="zh-CN" altLang="en-US" sz="3600" dirty="0"/>
              <a:t>）</a:t>
            </a:r>
            <a:endParaRPr lang="zh-CN" altLang="en-US" sz="3600" dirty="0"/>
          </a:p>
        </p:txBody>
      </p:sp>
      <p:sp>
        <p:nvSpPr>
          <p:cNvPr id="919555" name="Text Box 3"/>
          <p:cNvSpPr txBox="1">
            <a:spLocks noChangeArrowheads="1"/>
          </p:cNvSpPr>
          <p:nvPr/>
        </p:nvSpPr>
        <p:spPr bwMode="auto">
          <a:xfrm>
            <a:off x="1384300" y="1798638"/>
            <a:ext cx="65849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600" dirty="0">
                <a:solidFill>
                  <a:srgbClr val="660033"/>
                </a:solidFill>
                <a:ea typeface="楷体_GB2312" charset="0"/>
              </a:rPr>
              <a:t>对集合 </a:t>
            </a:r>
            <a:r>
              <a:rPr lang="en-US" altLang="zh-CN" sz="3600" dirty="0">
                <a:solidFill>
                  <a:srgbClr val="660033"/>
                </a:solidFill>
                <a:ea typeface="楷体_GB2312" charset="0"/>
              </a:rPr>
              <a:t>B </a:t>
            </a:r>
            <a:r>
              <a:rPr lang="zh-CN" altLang="en-US" sz="3600" dirty="0">
                <a:solidFill>
                  <a:srgbClr val="660033"/>
                </a:solidFill>
                <a:ea typeface="楷体_GB2312" charset="0"/>
              </a:rPr>
              <a:t>而言，</a:t>
            </a:r>
            <a:endParaRPr lang="zh-CN" altLang="en-US" sz="3600" dirty="0">
              <a:solidFill>
                <a:srgbClr val="660033"/>
              </a:solidFill>
              <a:ea typeface="楷体_GB2312" charset="0"/>
            </a:endParaRPr>
          </a:p>
          <a:p>
            <a:pPr eaLnBrk="1" hangingPunct="1">
              <a:lnSpc>
                <a:spcPct val="120000"/>
              </a:lnSpc>
              <a:defRPr/>
            </a:pPr>
            <a:r>
              <a:rPr lang="zh-CN" altLang="en-US" sz="3600" dirty="0">
                <a:solidFill>
                  <a:srgbClr val="660033"/>
                </a:solidFill>
                <a:ea typeface="楷体_GB2312" charset="0"/>
              </a:rPr>
              <a:t>    </a:t>
            </a:r>
            <a:r>
              <a:rPr lang="zh-CN" altLang="en-US" sz="3600" b="1" dirty="0">
                <a:solidFill>
                  <a:srgbClr val="660033"/>
                </a:solidFill>
                <a:ea typeface="楷体_GB2312" charset="0"/>
              </a:rPr>
              <a:t>值相同的数据元素必定相邻；</a:t>
            </a:r>
            <a:endParaRPr lang="zh-CN" altLang="en-US" sz="3600" dirty="0"/>
          </a:p>
        </p:txBody>
      </p:sp>
      <p:sp>
        <p:nvSpPr>
          <p:cNvPr id="919556" name="Text Box 4"/>
          <p:cNvSpPr txBox="1">
            <a:spLocks noChangeArrowheads="1"/>
          </p:cNvSpPr>
          <p:nvPr/>
        </p:nvSpPr>
        <p:spPr bwMode="auto">
          <a:xfrm>
            <a:off x="1339850" y="3365500"/>
            <a:ext cx="79565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600" dirty="0">
                <a:solidFill>
                  <a:srgbClr val="660033"/>
                </a:solidFill>
                <a:ea typeface="楷体_GB2312" charset="0"/>
              </a:rPr>
              <a:t>对集合 </a:t>
            </a:r>
            <a:r>
              <a:rPr lang="en-US" altLang="zh-CN" sz="3600" dirty="0">
                <a:solidFill>
                  <a:srgbClr val="660033"/>
                </a:solidFill>
                <a:ea typeface="楷体_GB2312" charset="0"/>
              </a:rPr>
              <a:t>A </a:t>
            </a:r>
            <a:r>
              <a:rPr lang="zh-CN" altLang="en-US" sz="3600" dirty="0">
                <a:solidFill>
                  <a:srgbClr val="660033"/>
                </a:solidFill>
                <a:ea typeface="楷体_GB2312" charset="0"/>
              </a:rPr>
              <a:t>而言，</a:t>
            </a:r>
            <a:endParaRPr lang="zh-CN" altLang="en-US" sz="3600" dirty="0">
              <a:solidFill>
                <a:srgbClr val="660033"/>
              </a:solidFill>
              <a:ea typeface="楷体_GB2312" charset="0"/>
            </a:endParaRPr>
          </a:p>
          <a:p>
            <a:pPr eaLnBrk="1" hangingPunct="1">
              <a:lnSpc>
                <a:spcPct val="120000"/>
              </a:lnSpc>
              <a:defRPr/>
            </a:pPr>
            <a:r>
              <a:rPr lang="zh-CN" altLang="en-US" sz="3600" dirty="0">
                <a:solidFill>
                  <a:srgbClr val="660033"/>
                </a:solidFill>
                <a:ea typeface="楷体_GB2312" charset="0"/>
              </a:rPr>
              <a:t>    </a:t>
            </a:r>
            <a:r>
              <a:rPr lang="zh-CN" altLang="en-US" sz="3600" b="1" dirty="0">
                <a:solidFill>
                  <a:srgbClr val="660033"/>
                </a:solidFill>
                <a:ea typeface="楷体_GB2312" charset="0"/>
              </a:rPr>
              <a:t>数据元素依值从小至大的顺序插入。</a:t>
            </a:r>
            <a:endParaRPr lang="zh-CN" altLang="en-US" sz="3600" dirty="0"/>
          </a:p>
        </p:txBody>
      </p:sp>
      <p:sp>
        <p:nvSpPr>
          <p:cNvPr id="919557" name="Text Box 5"/>
          <p:cNvSpPr txBox="1">
            <a:spLocks noChangeArrowheads="1"/>
          </p:cNvSpPr>
          <p:nvPr/>
        </p:nvSpPr>
        <p:spPr bwMode="auto">
          <a:xfrm>
            <a:off x="1339850" y="4927600"/>
            <a:ext cx="70421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600">
                <a:solidFill>
                  <a:srgbClr val="3333CC"/>
                </a:solidFill>
                <a:ea typeface="楷体_GB2312" charset="0"/>
              </a:rPr>
              <a:t>因此，</a:t>
            </a:r>
            <a:r>
              <a:rPr lang="zh-CN" altLang="en-US" sz="3600" b="1">
                <a:solidFill>
                  <a:srgbClr val="3333CC"/>
                </a:solidFill>
                <a:ea typeface="楷体_GB2312" charset="0"/>
              </a:rPr>
              <a:t>数据结构改变了，</a:t>
            </a:r>
            <a:endParaRPr lang="zh-CN" altLang="en-US" sz="3600" b="1">
              <a:solidFill>
                <a:srgbClr val="3333CC"/>
              </a:solidFill>
              <a:ea typeface="楷体_GB2312" charset="0"/>
            </a:endParaRPr>
          </a:p>
          <a:p>
            <a:pPr eaLnBrk="1" hangingPunct="1">
              <a:lnSpc>
                <a:spcPct val="120000"/>
              </a:lnSpc>
              <a:defRPr/>
            </a:pPr>
            <a:r>
              <a:rPr lang="zh-CN" altLang="en-US" sz="3600" b="1">
                <a:solidFill>
                  <a:srgbClr val="3333CC"/>
                </a:solidFill>
                <a:ea typeface="楷体_GB2312" charset="0"/>
              </a:rPr>
              <a:t>    解决问题的策略也相应要改变。</a:t>
            </a:r>
            <a:endParaRPr lang="zh-CN" altLang="en-US" sz="360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8" name="Text Box 2"/>
          <p:cNvSpPr txBox="1">
            <a:spLocks noChangeArrowheads="1"/>
          </p:cNvSpPr>
          <p:nvPr/>
        </p:nvSpPr>
        <p:spPr bwMode="auto">
          <a:xfrm>
            <a:off x="442392" y="188640"/>
            <a:ext cx="8610600" cy="6617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dirty="0">
                <a:ea typeface="楷体_GB2312" charset="0"/>
              </a:rPr>
              <a:t>void</a:t>
            </a:r>
            <a:r>
              <a:rPr lang="en-US" altLang="zh-CN" sz="3200" dirty="0">
                <a:ea typeface="楷体_GB2312" charset="0"/>
              </a:rPr>
              <a:t> purge(List </a:t>
            </a:r>
            <a:r>
              <a:rPr lang="en-US" altLang="zh-CN" sz="3200" b="1" dirty="0">
                <a:ea typeface="楷体_GB2312" charset="0"/>
              </a:rPr>
              <a:t>&amp;</a:t>
            </a:r>
            <a:r>
              <a:rPr lang="en-US" altLang="zh-CN" sz="3200" dirty="0">
                <a:ea typeface="楷体_GB2312" charset="0"/>
              </a:rPr>
              <a:t>La, List </a:t>
            </a:r>
            <a:r>
              <a:rPr lang="en-US" altLang="zh-CN" sz="3200" dirty="0" err="1">
                <a:ea typeface="楷体_GB2312" charset="0"/>
              </a:rPr>
              <a:t>Lb</a:t>
            </a:r>
            <a:r>
              <a:rPr lang="en-US" altLang="zh-CN" sz="3200" dirty="0">
                <a:ea typeface="楷体_GB2312" charset="0"/>
              </a:rPr>
              <a:t>) </a:t>
            </a:r>
            <a:r>
              <a:rPr lang="en-US" altLang="zh-CN" sz="3200" b="1" dirty="0">
                <a:ea typeface="楷体_GB2312" charset="0"/>
              </a:rPr>
              <a:t>{</a:t>
            </a:r>
            <a:endParaRPr lang="en-US" altLang="zh-CN" sz="3200" dirty="0">
              <a:ea typeface="楷体_GB2312" charset="0"/>
            </a:endParaRPr>
          </a:p>
          <a:p>
            <a:pPr eaLnBrk="1" hangingPunct="1">
              <a:lnSpc>
                <a:spcPct val="115000"/>
              </a:lnSpc>
              <a:defRPr/>
            </a:pPr>
            <a:r>
              <a:rPr lang="en-US" altLang="zh-CN" sz="3200" dirty="0">
                <a:ea typeface="楷体_GB2312" charset="0"/>
              </a:rPr>
              <a:t>  </a:t>
            </a:r>
            <a:r>
              <a:rPr lang="en-US" altLang="zh-CN" sz="3200" dirty="0" err="1">
                <a:ea typeface="楷体_GB2312" charset="0"/>
              </a:rPr>
              <a:t>InitList</a:t>
            </a:r>
            <a:r>
              <a:rPr lang="en-US" altLang="zh-CN" sz="3200" dirty="0">
                <a:ea typeface="楷体_GB2312" charset="0"/>
              </a:rPr>
              <a:t>(LA)</a:t>
            </a:r>
            <a:r>
              <a:rPr lang="en-US" altLang="zh-CN" sz="3200" dirty="0">
                <a:latin typeface="楷体_GB2312" charset="0"/>
                <a:ea typeface="楷体_GB2312" charset="0"/>
              </a:rPr>
              <a:t>;  </a:t>
            </a:r>
            <a:r>
              <a:rPr lang="en-US" altLang="zh-CN" sz="3200" dirty="0">
                <a:ea typeface="楷体_GB2312" charset="0"/>
              </a:rPr>
              <a:t>  </a:t>
            </a:r>
            <a:r>
              <a:rPr lang="en-US" altLang="zh-CN" sz="3200" dirty="0" err="1">
                <a:ea typeface="楷体_GB2312" charset="0"/>
              </a:rPr>
              <a:t>La_len</a:t>
            </a:r>
            <a:r>
              <a:rPr lang="en-US" altLang="zh-CN" sz="3200" dirty="0">
                <a:ea typeface="楷体_GB2312" charset="0"/>
              </a:rPr>
              <a:t> = </a:t>
            </a:r>
            <a:r>
              <a:rPr lang="en-US" altLang="zh-CN" sz="3200" dirty="0" err="1">
                <a:ea typeface="楷体_GB2312" charset="0"/>
              </a:rPr>
              <a:t>ListLength</a:t>
            </a:r>
            <a:r>
              <a:rPr lang="en-US" altLang="zh-CN" sz="3200" dirty="0">
                <a:ea typeface="楷体_GB2312" charset="0"/>
              </a:rPr>
              <a:t>(La);</a:t>
            </a:r>
            <a:endParaRPr lang="en-US" altLang="zh-CN" sz="3200" dirty="0">
              <a:ea typeface="楷体_GB2312" charset="0"/>
            </a:endParaRPr>
          </a:p>
          <a:p>
            <a:pPr eaLnBrk="1" hangingPunct="1">
              <a:lnSpc>
                <a:spcPct val="115000"/>
              </a:lnSpc>
              <a:defRPr/>
            </a:pPr>
            <a:r>
              <a:rPr lang="en-US" altLang="zh-CN" sz="3200" dirty="0">
                <a:ea typeface="楷体_GB2312" charset="0"/>
              </a:rPr>
              <a:t>  </a:t>
            </a:r>
            <a:r>
              <a:rPr lang="en-US" altLang="zh-CN" sz="3200" dirty="0" err="1">
                <a:ea typeface="楷体_GB2312" charset="0"/>
              </a:rPr>
              <a:t>Lb_len</a:t>
            </a:r>
            <a:r>
              <a:rPr lang="en-US" altLang="zh-CN" sz="3200" dirty="0">
                <a:ea typeface="楷体_GB2312" charset="0"/>
              </a:rPr>
              <a:t> =</a:t>
            </a:r>
            <a:r>
              <a:rPr lang="en-US" altLang="zh-CN" sz="3200" dirty="0" err="1">
                <a:ea typeface="楷体_GB2312" charset="0"/>
              </a:rPr>
              <a:t>ListLength</a:t>
            </a:r>
            <a:r>
              <a:rPr lang="en-US" altLang="zh-CN" sz="3200" dirty="0">
                <a:ea typeface="楷体_GB2312" charset="0"/>
              </a:rPr>
              <a:t>(</a:t>
            </a:r>
            <a:r>
              <a:rPr lang="en-US" altLang="zh-CN" sz="3200" dirty="0" err="1">
                <a:ea typeface="楷体_GB2312" charset="0"/>
              </a:rPr>
              <a:t>Lb</a:t>
            </a:r>
            <a:r>
              <a:rPr lang="en-US" altLang="zh-CN" sz="3200" dirty="0">
                <a:ea typeface="楷体_GB2312" charset="0"/>
              </a:rPr>
              <a:t>);   // </a:t>
            </a:r>
            <a:r>
              <a:rPr lang="zh-CN" altLang="en-US" sz="3200" b="1" dirty="0">
                <a:ea typeface="楷体_GB2312" charset="0"/>
              </a:rPr>
              <a:t>求线性表的长度</a:t>
            </a:r>
            <a:endParaRPr lang="zh-CN" altLang="en-US" sz="3200" dirty="0">
              <a:ea typeface="楷体_GB2312" charset="0"/>
            </a:endParaRPr>
          </a:p>
          <a:p>
            <a:pPr eaLnBrk="1" hangingPunct="1">
              <a:lnSpc>
                <a:spcPct val="110000"/>
              </a:lnSpc>
              <a:defRPr/>
            </a:pPr>
            <a:r>
              <a:rPr lang="zh-CN" altLang="en-US" sz="3200" dirty="0">
                <a:ea typeface="楷体_GB2312" charset="0"/>
              </a:rPr>
              <a:t>  </a:t>
            </a:r>
            <a:r>
              <a:rPr lang="en-US" altLang="zh-CN" sz="3200" b="1" dirty="0">
                <a:solidFill>
                  <a:srgbClr val="333399"/>
                </a:solidFill>
                <a:ea typeface="楷体_GB2312" charset="0"/>
              </a:rPr>
              <a:t>for</a:t>
            </a:r>
            <a:r>
              <a:rPr lang="en-US" altLang="zh-CN" sz="3200" dirty="0">
                <a:solidFill>
                  <a:srgbClr val="333399"/>
                </a:solidFill>
                <a:ea typeface="楷体_GB2312" charset="0"/>
              </a:rPr>
              <a:t> (</a:t>
            </a:r>
            <a:r>
              <a:rPr lang="en-US" altLang="zh-CN" sz="3200" dirty="0" err="1">
                <a:solidFill>
                  <a:srgbClr val="333399"/>
                </a:solidFill>
                <a:ea typeface="楷体_GB2312" charset="0"/>
              </a:rPr>
              <a:t>i</a:t>
            </a:r>
            <a:r>
              <a:rPr lang="en-US" altLang="zh-CN" sz="3200" dirty="0">
                <a:solidFill>
                  <a:srgbClr val="333399"/>
                </a:solidFill>
                <a:ea typeface="楷体_GB2312" charset="0"/>
              </a:rPr>
              <a:t> = 1;  </a:t>
            </a:r>
            <a:r>
              <a:rPr lang="en-US" altLang="zh-CN" sz="3200" dirty="0" err="1">
                <a:solidFill>
                  <a:srgbClr val="333399"/>
                </a:solidFill>
                <a:ea typeface="楷体_GB2312" charset="0"/>
              </a:rPr>
              <a:t>i</a:t>
            </a:r>
            <a:r>
              <a:rPr lang="en-US" altLang="zh-CN" sz="3200" dirty="0">
                <a:solidFill>
                  <a:srgbClr val="333399"/>
                </a:solidFill>
                <a:ea typeface="楷体_GB2312" charset="0"/>
              </a:rPr>
              <a:t> &lt;= </a:t>
            </a:r>
            <a:r>
              <a:rPr lang="en-US" altLang="zh-CN" sz="3200" dirty="0" err="1">
                <a:solidFill>
                  <a:srgbClr val="333399"/>
                </a:solidFill>
                <a:ea typeface="楷体_GB2312" charset="0"/>
              </a:rPr>
              <a:t>Lb_len</a:t>
            </a:r>
            <a:r>
              <a:rPr lang="en-US" altLang="zh-CN" sz="3200" dirty="0">
                <a:solidFill>
                  <a:srgbClr val="333399"/>
                </a:solidFill>
                <a:ea typeface="楷体_GB2312" charset="0"/>
              </a:rPr>
              <a:t>;  </a:t>
            </a:r>
            <a:r>
              <a:rPr lang="en-US" altLang="zh-CN" sz="3200" dirty="0" err="1">
                <a:solidFill>
                  <a:srgbClr val="333399"/>
                </a:solidFill>
                <a:ea typeface="楷体_GB2312" charset="0"/>
              </a:rPr>
              <a:t>i</a:t>
            </a:r>
            <a:r>
              <a:rPr lang="en-US" altLang="zh-CN" sz="3200" dirty="0">
                <a:solidFill>
                  <a:srgbClr val="333399"/>
                </a:solidFill>
                <a:ea typeface="楷体_GB2312" charset="0"/>
              </a:rPr>
              <a:t>++)</a:t>
            </a:r>
            <a:r>
              <a:rPr lang="en-US" altLang="zh-CN" sz="3200" b="1" dirty="0">
                <a:solidFill>
                  <a:srgbClr val="333399"/>
                </a:solidFill>
                <a:ea typeface="楷体_GB2312" charset="0"/>
              </a:rPr>
              <a:t> {</a:t>
            </a:r>
            <a:endParaRPr lang="en-US" altLang="zh-CN" sz="3200" dirty="0">
              <a:solidFill>
                <a:srgbClr val="333399"/>
              </a:solidFill>
              <a:ea typeface="楷体_GB2312" charset="0"/>
            </a:endParaRPr>
          </a:p>
          <a:p>
            <a:pPr eaLnBrk="1" hangingPunct="1">
              <a:lnSpc>
                <a:spcPct val="110000"/>
              </a:lnSpc>
              <a:defRPr/>
            </a:pPr>
            <a:endParaRPr lang="en-US" altLang="zh-CN" sz="3200" b="1" dirty="0">
              <a:ea typeface="楷体_GB2312" charset="0"/>
            </a:endParaRPr>
          </a:p>
          <a:p>
            <a:pPr eaLnBrk="1" hangingPunct="1">
              <a:lnSpc>
                <a:spcPct val="110000"/>
              </a:lnSpc>
              <a:defRPr/>
            </a:pPr>
            <a:endParaRPr lang="en-US" altLang="zh-CN" sz="3200" b="1" dirty="0">
              <a:ea typeface="楷体_GB2312" charset="0"/>
            </a:endParaRPr>
          </a:p>
          <a:p>
            <a:pPr eaLnBrk="1" hangingPunct="1">
              <a:lnSpc>
                <a:spcPct val="110000"/>
              </a:lnSpc>
              <a:defRPr/>
            </a:pPr>
            <a:endParaRPr lang="en-US" altLang="zh-CN" sz="3200" b="1" dirty="0">
              <a:ea typeface="楷体_GB2312" charset="0"/>
            </a:endParaRPr>
          </a:p>
          <a:p>
            <a:pPr eaLnBrk="1" hangingPunct="1">
              <a:lnSpc>
                <a:spcPct val="110000"/>
              </a:lnSpc>
              <a:defRPr/>
            </a:pPr>
            <a:endParaRPr lang="en-US" altLang="zh-CN" sz="3200" b="1" dirty="0">
              <a:ea typeface="楷体_GB2312" charset="0"/>
            </a:endParaRPr>
          </a:p>
          <a:p>
            <a:pPr eaLnBrk="1" hangingPunct="1">
              <a:lnSpc>
                <a:spcPct val="110000"/>
              </a:lnSpc>
              <a:defRPr/>
            </a:pPr>
            <a:endParaRPr lang="en-US" altLang="zh-CN" sz="3200" b="1" dirty="0">
              <a:ea typeface="楷体_GB2312" charset="0"/>
            </a:endParaRPr>
          </a:p>
          <a:p>
            <a:pPr eaLnBrk="1" hangingPunct="1">
              <a:lnSpc>
                <a:spcPct val="110000"/>
              </a:lnSpc>
              <a:defRPr/>
            </a:pPr>
            <a:r>
              <a:rPr lang="en-US" altLang="zh-CN" sz="3200" b="1" dirty="0">
                <a:solidFill>
                  <a:srgbClr val="3333CC"/>
                </a:solidFill>
                <a:ea typeface="楷体_GB2312" charset="0"/>
              </a:rPr>
              <a:t>  }</a:t>
            </a:r>
            <a:endParaRPr lang="en-US" altLang="zh-CN" sz="3200" dirty="0">
              <a:ea typeface="楷体_GB2312" charset="0"/>
            </a:endParaRPr>
          </a:p>
          <a:p>
            <a:pPr eaLnBrk="1" hangingPunct="1">
              <a:lnSpc>
                <a:spcPct val="110000"/>
              </a:lnSpc>
              <a:defRPr/>
            </a:pPr>
            <a:r>
              <a:rPr lang="en-US" altLang="zh-CN" sz="3200" b="1" dirty="0">
                <a:ea typeface="楷体_GB2312" charset="0"/>
              </a:rPr>
              <a:t>}</a:t>
            </a:r>
            <a:r>
              <a:rPr lang="en-US" altLang="zh-CN" sz="3200" dirty="0">
                <a:ea typeface="楷体_GB2312" charset="0"/>
              </a:rPr>
              <a:t> // purge</a:t>
            </a:r>
            <a:r>
              <a:rPr lang="en-US" altLang="zh-CN" sz="3200" b="1" dirty="0">
                <a:ea typeface="楷体_GB2312" charset="0"/>
              </a:rPr>
              <a:t>                                                  </a:t>
            </a:r>
            <a:endParaRPr lang="en-US" altLang="zh-CN" sz="3200" dirty="0"/>
          </a:p>
        </p:txBody>
      </p:sp>
      <p:sp>
        <p:nvSpPr>
          <p:cNvPr id="920579" name="Rectangle 3"/>
          <p:cNvSpPr>
            <a:spLocks noChangeArrowheads="1"/>
          </p:cNvSpPr>
          <p:nvPr/>
        </p:nvSpPr>
        <p:spPr bwMode="auto">
          <a:xfrm>
            <a:off x="899592" y="2915693"/>
            <a:ext cx="8020144" cy="2905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3200" dirty="0" err="1">
                <a:solidFill>
                  <a:srgbClr val="990000"/>
                </a:solidFill>
                <a:ea typeface="楷体_GB2312" charset="0"/>
              </a:rPr>
              <a:t>GetElem</a:t>
            </a:r>
            <a:r>
              <a:rPr lang="en-US" altLang="zh-CN" sz="3200" dirty="0">
                <a:solidFill>
                  <a:srgbClr val="990000"/>
                </a:solidFill>
                <a:ea typeface="楷体_GB2312" charset="0"/>
              </a:rPr>
              <a:t>(</a:t>
            </a:r>
            <a:r>
              <a:rPr lang="en-US" altLang="zh-CN" sz="3200" dirty="0" err="1">
                <a:solidFill>
                  <a:srgbClr val="990000"/>
                </a:solidFill>
                <a:ea typeface="楷体_GB2312" charset="0"/>
              </a:rPr>
              <a:t>Lb</a:t>
            </a:r>
            <a:r>
              <a:rPr lang="en-US" altLang="zh-CN" sz="3200" dirty="0">
                <a:solidFill>
                  <a:srgbClr val="990000"/>
                </a:solidFill>
                <a:ea typeface="楷体_GB2312" charset="0"/>
              </a:rPr>
              <a:t>, </a:t>
            </a:r>
            <a:r>
              <a:rPr lang="en-US" altLang="zh-CN" sz="3200" dirty="0" err="1">
                <a:solidFill>
                  <a:srgbClr val="990000"/>
                </a:solidFill>
                <a:ea typeface="楷体_GB2312" charset="0"/>
              </a:rPr>
              <a:t>i</a:t>
            </a:r>
            <a:r>
              <a:rPr lang="en-US" altLang="zh-CN" sz="3200" dirty="0">
                <a:solidFill>
                  <a:srgbClr val="990000"/>
                </a:solidFill>
                <a:ea typeface="楷体_GB2312" charset="0"/>
              </a:rPr>
              <a:t>, e); </a:t>
            </a:r>
            <a:r>
              <a:rPr lang="en-US" altLang="zh-CN" sz="2400" dirty="0">
                <a:solidFill>
                  <a:srgbClr val="990000"/>
                </a:solidFill>
                <a:ea typeface="楷体_GB2312" charset="0"/>
              </a:rPr>
              <a:t>// </a:t>
            </a:r>
            <a:r>
              <a:rPr lang="zh-CN" altLang="en-US" sz="2400" b="1" dirty="0">
                <a:solidFill>
                  <a:srgbClr val="990000"/>
                </a:solidFill>
                <a:ea typeface="楷体_GB2312" charset="0"/>
              </a:rPr>
              <a:t>取</a:t>
            </a:r>
            <a:r>
              <a:rPr lang="en-US" altLang="zh-CN" sz="2400" b="1" dirty="0" err="1">
                <a:solidFill>
                  <a:srgbClr val="990000"/>
                </a:solidFill>
                <a:ea typeface="楷体_GB2312" charset="0"/>
              </a:rPr>
              <a:t>Lb</a:t>
            </a:r>
            <a:r>
              <a:rPr lang="zh-CN" altLang="en-US" sz="2400" b="1" dirty="0">
                <a:solidFill>
                  <a:srgbClr val="990000"/>
                </a:solidFill>
                <a:ea typeface="楷体_GB2312" charset="0"/>
              </a:rPr>
              <a:t>中第</a:t>
            </a:r>
            <a:r>
              <a:rPr lang="en-US" altLang="zh-CN" sz="2400" b="1" dirty="0" err="1">
                <a:solidFill>
                  <a:srgbClr val="990000"/>
                </a:solidFill>
                <a:ea typeface="楷体_GB2312" charset="0"/>
              </a:rPr>
              <a:t>i</a:t>
            </a:r>
            <a:r>
              <a:rPr lang="zh-CN" altLang="en-US" sz="2400" b="1" dirty="0">
                <a:solidFill>
                  <a:srgbClr val="990000"/>
                </a:solidFill>
                <a:ea typeface="楷体_GB2312" charset="0"/>
              </a:rPr>
              <a:t>个数据元素赋给 </a:t>
            </a:r>
            <a:r>
              <a:rPr lang="en-US" altLang="zh-CN" sz="2400" b="1" dirty="0">
                <a:solidFill>
                  <a:srgbClr val="990000"/>
                </a:solidFill>
                <a:ea typeface="楷体_GB2312" charset="0"/>
              </a:rPr>
              <a:t>e</a:t>
            </a:r>
            <a:endParaRPr lang="en-US" altLang="zh-CN" sz="2400" dirty="0">
              <a:solidFill>
                <a:srgbClr val="333399"/>
              </a:solidFill>
              <a:ea typeface="楷体_GB2312" charset="0"/>
            </a:endParaRPr>
          </a:p>
          <a:p>
            <a:pPr eaLnBrk="1" hangingPunct="1">
              <a:lnSpc>
                <a:spcPct val="115000"/>
              </a:lnSpc>
              <a:defRPr/>
            </a:pPr>
            <a:r>
              <a:rPr lang="en-US" altLang="zh-CN" sz="3200" b="1" dirty="0">
                <a:solidFill>
                  <a:srgbClr val="990000"/>
                </a:solidFill>
                <a:ea typeface="楷体_GB2312" charset="0"/>
              </a:rPr>
              <a:t>if</a:t>
            </a:r>
            <a:r>
              <a:rPr lang="en-US" altLang="zh-CN" sz="3200" b="1" dirty="0">
                <a:solidFill>
                  <a:srgbClr val="333399"/>
                </a:solidFill>
                <a:ea typeface="楷体_GB2312" charset="0"/>
              </a:rPr>
              <a:t> </a:t>
            </a:r>
            <a:r>
              <a:rPr lang="en-US" altLang="zh-CN" sz="3200" b="1" dirty="0">
                <a:solidFill>
                  <a:srgbClr val="660033"/>
                </a:solidFill>
                <a:ea typeface="楷体_GB2312" charset="0"/>
              </a:rPr>
              <a:t>(</a:t>
            </a:r>
            <a:r>
              <a:rPr lang="en-US" altLang="zh-CN" sz="3200" b="1" dirty="0" err="1">
                <a:solidFill>
                  <a:srgbClr val="660033"/>
                </a:solidFill>
                <a:ea typeface="楷体_GB2312" charset="0"/>
              </a:rPr>
              <a:t>ListEmpty</a:t>
            </a:r>
            <a:r>
              <a:rPr lang="en-US" altLang="zh-CN" sz="3200" b="1" dirty="0">
                <a:solidFill>
                  <a:srgbClr val="660033"/>
                </a:solidFill>
                <a:ea typeface="楷体_GB2312" charset="0"/>
              </a:rPr>
              <a:t>(La) || !equal (</a:t>
            </a:r>
            <a:r>
              <a:rPr lang="en-US" altLang="zh-CN" sz="3200" b="1" dirty="0" err="1">
                <a:solidFill>
                  <a:srgbClr val="660033"/>
                </a:solidFill>
                <a:ea typeface="楷体_GB2312" charset="0"/>
              </a:rPr>
              <a:t>en</a:t>
            </a:r>
            <a:r>
              <a:rPr lang="en-US" altLang="zh-CN" sz="3200" b="1" dirty="0">
                <a:solidFill>
                  <a:srgbClr val="660033"/>
                </a:solidFill>
                <a:ea typeface="楷体_GB2312" charset="0"/>
              </a:rPr>
              <a:t>, e))</a:t>
            </a:r>
            <a:r>
              <a:rPr lang="en-US" altLang="zh-CN" sz="3200" dirty="0">
                <a:solidFill>
                  <a:srgbClr val="333399"/>
                </a:solidFill>
                <a:ea typeface="楷体_GB2312" charset="0"/>
              </a:rPr>
              <a:t> </a:t>
            </a:r>
            <a:r>
              <a:rPr lang="en-US" altLang="zh-CN" sz="3200" b="1" dirty="0">
                <a:solidFill>
                  <a:srgbClr val="990000"/>
                </a:solidFill>
                <a:ea typeface="楷体_GB2312" charset="0"/>
              </a:rPr>
              <a:t>{</a:t>
            </a:r>
            <a:r>
              <a:rPr lang="en-US" altLang="zh-CN" sz="3200" dirty="0">
                <a:solidFill>
                  <a:srgbClr val="333399"/>
                </a:solidFill>
                <a:ea typeface="楷体_GB2312" charset="0"/>
              </a:rPr>
              <a:t>  </a:t>
            </a:r>
            <a:endParaRPr lang="en-US" altLang="zh-CN" sz="3200" dirty="0">
              <a:solidFill>
                <a:srgbClr val="333399"/>
              </a:solidFill>
              <a:ea typeface="楷体_GB2312" charset="0"/>
            </a:endParaRPr>
          </a:p>
          <a:p>
            <a:pPr eaLnBrk="1" hangingPunct="1">
              <a:lnSpc>
                <a:spcPct val="115000"/>
              </a:lnSpc>
              <a:defRPr/>
            </a:pPr>
            <a:r>
              <a:rPr lang="en-US" altLang="zh-CN" sz="3200" dirty="0">
                <a:solidFill>
                  <a:srgbClr val="333399"/>
                </a:solidFill>
                <a:ea typeface="楷体_GB2312" charset="0"/>
              </a:rPr>
              <a:t>       </a:t>
            </a:r>
            <a:r>
              <a:rPr lang="en-US" altLang="zh-CN" sz="3200" dirty="0" err="1">
                <a:solidFill>
                  <a:srgbClr val="990000"/>
                </a:solidFill>
                <a:ea typeface="楷体_GB2312" charset="0"/>
              </a:rPr>
              <a:t>ListInsert</a:t>
            </a:r>
            <a:r>
              <a:rPr lang="en-US" altLang="zh-CN" sz="3200" dirty="0">
                <a:solidFill>
                  <a:srgbClr val="990000"/>
                </a:solidFill>
                <a:ea typeface="楷体_GB2312" charset="0"/>
              </a:rPr>
              <a:t>(La, ++</a:t>
            </a:r>
            <a:r>
              <a:rPr lang="en-US" altLang="zh-CN" sz="3200" dirty="0" err="1">
                <a:solidFill>
                  <a:srgbClr val="990000"/>
                </a:solidFill>
                <a:ea typeface="楷体_GB2312" charset="0"/>
              </a:rPr>
              <a:t>La_len</a:t>
            </a:r>
            <a:r>
              <a:rPr lang="en-US" altLang="zh-CN" sz="3200" dirty="0">
                <a:solidFill>
                  <a:srgbClr val="990000"/>
                </a:solidFill>
                <a:ea typeface="楷体_GB2312" charset="0"/>
              </a:rPr>
              <a:t>, e);</a:t>
            </a:r>
            <a:endParaRPr lang="en-US" altLang="zh-CN" sz="3200" dirty="0">
              <a:solidFill>
                <a:srgbClr val="990000"/>
              </a:solidFill>
              <a:ea typeface="楷体_GB2312" charset="0"/>
            </a:endParaRPr>
          </a:p>
          <a:p>
            <a:pPr eaLnBrk="1" hangingPunct="1">
              <a:lnSpc>
                <a:spcPct val="115000"/>
              </a:lnSpc>
              <a:defRPr/>
            </a:pPr>
            <a:r>
              <a:rPr lang="en-US" altLang="zh-CN" sz="3200" dirty="0">
                <a:solidFill>
                  <a:srgbClr val="333399"/>
                </a:solidFill>
                <a:ea typeface="楷体_GB2312" charset="0"/>
              </a:rPr>
              <a:t>       </a:t>
            </a:r>
            <a:r>
              <a:rPr lang="en-US" altLang="zh-CN" sz="3200" dirty="0" err="1">
                <a:solidFill>
                  <a:srgbClr val="660033"/>
                </a:solidFill>
                <a:ea typeface="楷体_GB2312" charset="0"/>
              </a:rPr>
              <a:t>en</a:t>
            </a:r>
            <a:r>
              <a:rPr lang="en-US" altLang="zh-CN" sz="3200" dirty="0">
                <a:solidFill>
                  <a:srgbClr val="660033"/>
                </a:solidFill>
                <a:ea typeface="楷体_GB2312" charset="0"/>
              </a:rPr>
              <a:t> = e</a:t>
            </a:r>
            <a:r>
              <a:rPr lang="en-US" altLang="zh-CN" sz="3200" dirty="0">
                <a:solidFill>
                  <a:srgbClr val="333399"/>
                </a:solidFill>
                <a:ea typeface="楷体_GB2312" charset="0"/>
              </a:rPr>
              <a:t>;</a:t>
            </a:r>
            <a:endParaRPr lang="en-US" altLang="zh-CN" sz="3200" dirty="0">
              <a:solidFill>
                <a:srgbClr val="333399"/>
              </a:solidFill>
              <a:ea typeface="楷体_GB2312" charset="0"/>
            </a:endParaRPr>
          </a:p>
          <a:p>
            <a:pPr eaLnBrk="1" hangingPunct="1">
              <a:lnSpc>
                <a:spcPct val="115000"/>
              </a:lnSpc>
              <a:defRPr/>
            </a:pPr>
            <a:r>
              <a:rPr lang="en-US" altLang="zh-CN" sz="3200" b="1" dirty="0">
                <a:solidFill>
                  <a:srgbClr val="990000"/>
                </a:solidFill>
                <a:ea typeface="楷体_GB2312" charset="0"/>
              </a:rPr>
              <a:t>}</a:t>
            </a:r>
            <a:r>
              <a:rPr lang="en-US" altLang="zh-CN" sz="3200" dirty="0">
                <a:solidFill>
                  <a:srgbClr val="990000"/>
                </a:solidFill>
                <a:ea typeface="楷体_GB2312" charset="0"/>
              </a:rPr>
              <a:t>  </a:t>
            </a:r>
            <a:r>
              <a:rPr lang="en-US" altLang="zh-CN" sz="2800" b="1" dirty="0">
                <a:solidFill>
                  <a:srgbClr val="990000"/>
                </a:solidFill>
                <a:ea typeface="楷体_GB2312" charset="0"/>
              </a:rPr>
              <a:t>// La</a:t>
            </a:r>
            <a:r>
              <a:rPr lang="zh-CN" altLang="en-US" sz="2800" b="1" dirty="0">
                <a:solidFill>
                  <a:srgbClr val="990000"/>
                </a:solidFill>
                <a:ea typeface="楷体_GB2312" charset="0"/>
              </a:rPr>
              <a:t>中不存在和 </a:t>
            </a:r>
            <a:r>
              <a:rPr lang="en-US" altLang="zh-CN" sz="2800" b="1" dirty="0">
                <a:solidFill>
                  <a:srgbClr val="990000"/>
                </a:solidFill>
                <a:ea typeface="楷体_GB2312" charset="0"/>
              </a:rPr>
              <a:t>e </a:t>
            </a:r>
            <a:r>
              <a:rPr lang="zh-CN" altLang="en-US" sz="2800" b="1" dirty="0">
                <a:solidFill>
                  <a:srgbClr val="990000"/>
                </a:solidFill>
                <a:ea typeface="楷体_GB2312" charset="0"/>
              </a:rPr>
              <a:t>相同的数据元素，则插入之</a:t>
            </a:r>
            <a:endParaRPr lang="zh-CN" altLang="en-US" sz="2800" b="1" dirty="0">
              <a:solidFill>
                <a:srgbClr val="333399"/>
              </a:solidFill>
              <a:ea typeface="楷体_GB2312" charset="0"/>
            </a:endParaRPr>
          </a:p>
        </p:txBody>
      </p:sp>
      <p:sp>
        <p:nvSpPr>
          <p:cNvPr id="920580" name="AutoShape 4">
            <a:hlinkClick r:id="rId1" action="ppaction://hlinksldjump" highlightClick="1"/>
          </p:cNvPr>
          <p:cNvSpPr>
            <a:spLocks noChangeArrowheads="1"/>
          </p:cNvSpPr>
          <p:nvPr/>
        </p:nvSpPr>
        <p:spPr bwMode="auto">
          <a:xfrm>
            <a:off x="8320608" y="593247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920578"/>
                                        </p:tgtEl>
                                        <p:attrNameLst>
                                          <p:attrName>style.visibility</p:attrName>
                                        </p:attrNameLst>
                                      </p:cBhvr>
                                      <p:to>
                                        <p:strVal val="visible"/>
                                      </p:to>
                                    </p:set>
                                    <p:animEffect transition="in" filter="strips(downRight)">
                                      <p:cBhvr>
                                        <p:cTn id="7" dur="300"/>
                                        <p:tgtEl>
                                          <p:spTgt spid="92057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920579"/>
                                        </p:tgtEl>
                                        <p:attrNameLst>
                                          <p:attrName>style.visibility</p:attrName>
                                        </p:attrNameLst>
                                      </p:cBhvr>
                                      <p:to>
                                        <p:strVal val="visible"/>
                                      </p:to>
                                    </p:set>
                                    <p:animEffect transition="in" filter="strips(downRight)">
                                      <p:cBhvr>
                                        <p:cTn id="12" dur="300"/>
                                        <p:tgtEl>
                                          <p:spTgt spid="920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578" grpId="0" autoUpdateAnimBg="0"/>
      <p:bldP spid="920579"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Text Box 2"/>
          <p:cNvSpPr txBox="1">
            <a:spLocks noChangeArrowheads="1"/>
          </p:cNvSpPr>
          <p:nvPr/>
        </p:nvSpPr>
        <p:spPr bwMode="auto">
          <a:xfrm>
            <a:off x="228600" y="1676400"/>
            <a:ext cx="8915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4000" b="1">
                <a:ea typeface="楷体_GB2312" charset="0"/>
              </a:rPr>
              <a:t>       </a:t>
            </a:r>
            <a:r>
              <a:rPr lang="zh-CN" altLang="en-US" sz="4000" b="1">
                <a:solidFill>
                  <a:srgbClr val="008080"/>
                </a:solidFill>
                <a:ea typeface="楷体_GB2312" charset="0"/>
              </a:rPr>
              <a:t>已知</a:t>
            </a:r>
            <a:r>
              <a:rPr lang="zh-CN" altLang="en-US" sz="4000">
                <a:solidFill>
                  <a:srgbClr val="008080"/>
                </a:solidFill>
                <a:ea typeface="楷体_GB2312" charset="0"/>
              </a:rPr>
              <a:t>线性表</a:t>
            </a:r>
            <a:r>
              <a:rPr lang="en-US" altLang="zh-CN" sz="4000">
                <a:solidFill>
                  <a:srgbClr val="008080"/>
                </a:solidFill>
                <a:ea typeface="楷体_GB2312" charset="0"/>
              </a:rPr>
              <a:t>LA</a:t>
            </a:r>
            <a:r>
              <a:rPr lang="zh-CN" altLang="en-US" sz="4000">
                <a:solidFill>
                  <a:srgbClr val="008080"/>
                </a:solidFill>
                <a:ea typeface="楷体_GB2312" charset="0"/>
              </a:rPr>
              <a:t>和</a:t>
            </a:r>
            <a:r>
              <a:rPr lang="en-US" altLang="zh-CN" sz="4000">
                <a:solidFill>
                  <a:srgbClr val="008080"/>
                </a:solidFill>
                <a:ea typeface="楷体_GB2312" charset="0"/>
              </a:rPr>
              <a:t>LB</a:t>
            </a:r>
            <a:r>
              <a:rPr lang="zh-CN" altLang="en-US" sz="4000">
                <a:solidFill>
                  <a:srgbClr val="008080"/>
                </a:solidFill>
                <a:ea typeface="楷体_GB2312" charset="0"/>
              </a:rPr>
              <a:t>的数据元素按值非递减有序排列。现要求将</a:t>
            </a:r>
            <a:r>
              <a:rPr lang="en-US" altLang="zh-CN" sz="4000">
                <a:solidFill>
                  <a:srgbClr val="008080"/>
                </a:solidFill>
                <a:ea typeface="楷体_GB2312" charset="0"/>
              </a:rPr>
              <a:t>LA</a:t>
            </a:r>
            <a:r>
              <a:rPr lang="zh-CN" altLang="en-US" sz="4000">
                <a:solidFill>
                  <a:srgbClr val="008080"/>
                </a:solidFill>
                <a:ea typeface="楷体_GB2312" charset="0"/>
              </a:rPr>
              <a:t>和</a:t>
            </a:r>
            <a:r>
              <a:rPr lang="en-US" altLang="zh-CN" sz="4000">
                <a:solidFill>
                  <a:srgbClr val="008080"/>
                </a:solidFill>
                <a:ea typeface="楷体_GB2312" charset="0"/>
              </a:rPr>
              <a:t>LB</a:t>
            </a:r>
            <a:r>
              <a:rPr lang="zh-CN" altLang="en-US" sz="4000">
                <a:solidFill>
                  <a:srgbClr val="008080"/>
                </a:solidFill>
                <a:ea typeface="楷体_GB2312" charset="0"/>
              </a:rPr>
              <a:t>并归为一个新的线性表</a:t>
            </a:r>
            <a:r>
              <a:rPr lang="en-US" altLang="zh-CN" sz="4000">
                <a:solidFill>
                  <a:srgbClr val="008080"/>
                </a:solidFill>
                <a:ea typeface="楷体_GB2312" charset="0"/>
              </a:rPr>
              <a:t>LC,</a:t>
            </a:r>
            <a:r>
              <a:rPr lang="zh-CN" altLang="en-US" sz="4000">
                <a:solidFill>
                  <a:srgbClr val="008080"/>
                </a:solidFill>
                <a:ea typeface="楷体_GB2312" charset="0"/>
              </a:rPr>
              <a:t>且</a:t>
            </a:r>
            <a:r>
              <a:rPr lang="en-US" altLang="zh-CN" sz="4000">
                <a:solidFill>
                  <a:srgbClr val="008080"/>
                </a:solidFill>
                <a:ea typeface="楷体_GB2312" charset="0"/>
              </a:rPr>
              <a:t>LC</a:t>
            </a:r>
            <a:r>
              <a:rPr lang="zh-CN" altLang="en-US" sz="4000">
                <a:solidFill>
                  <a:srgbClr val="008080"/>
                </a:solidFill>
                <a:ea typeface="楷体_GB2312" charset="0"/>
              </a:rPr>
              <a:t>的数据元素仍按值非递减有序排列。</a:t>
            </a:r>
            <a:endParaRPr lang="zh-CN" altLang="en-US" sz="2400">
              <a:solidFill>
                <a:srgbClr val="008080"/>
              </a:solidFill>
            </a:endParaRPr>
          </a:p>
        </p:txBody>
      </p:sp>
      <p:sp>
        <p:nvSpPr>
          <p:cNvPr id="921603" name="Text Box 3"/>
          <p:cNvSpPr txBox="1">
            <a:spLocks noChangeArrowheads="1"/>
          </p:cNvSpPr>
          <p:nvPr/>
        </p:nvSpPr>
        <p:spPr bwMode="auto">
          <a:xfrm>
            <a:off x="1524000" y="152400"/>
            <a:ext cx="1628775"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4400" b="1">
                <a:solidFill>
                  <a:srgbClr val="008080"/>
                </a:solidFill>
                <a:ea typeface="隶书" panose="02010509060101010101" charset="-122"/>
              </a:rPr>
              <a:t>例</a:t>
            </a:r>
            <a:r>
              <a:rPr lang="zh-CN" altLang="en-US" sz="4400" b="1">
                <a:solidFill>
                  <a:srgbClr val="008080"/>
                </a:solidFill>
                <a:ea typeface="楷体_GB2312" charset="0"/>
              </a:rPr>
              <a:t> </a:t>
            </a:r>
            <a:r>
              <a:rPr lang="en-US" altLang="zh-CN" sz="4400" b="1">
                <a:solidFill>
                  <a:srgbClr val="008080"/>
                </a:solidFill>
                <a:ea typeface="楷体_GB2312" charset="0"/>
              </a:rPr>
              <a:t>2-3</a:t>
            </a:r>
            <a:endParaRPr lang="en-US" altLang="zh-CN" sz="240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6" name="Text Box 2"/>
          <p:cNvSpPr txBox="1">
            <a:spLocks noChangeArrowheads="1"/>
          </p:cNvSpPr>
          <p:nvPr/>
        </p:nvSpPr>
        <p:spPr bwMode="auto">
          <a:xfrm>
            <a:off x="179512" y="142875"/>
            <a:ext cx="8534400" cy="657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5000"/>
              </a:lnSpc>
              <a:defRPr/>
            </a:pPr>
            <a:r>
              <a:rPr lang="en-US" altLang="zh-CN" sz="3200" b="1" dirty="0">
                <a:solidFill>
                  <a:schemeClr val="tx2"/>
                </a:solidFill>
                <a:ea typeface="楷体_GB2312" charset="0"/>
              </a:rPr>
              <a:t>void</a:t>
            </a:r>
            <a:r>
              <a:rPr lang="en-US" altLang="zh-CN" sz="3200" dirty="0">
                <a:solidFill>
                  <a:schemeClr val="tx2"/>
                </a:solidFill>
                <a:ea typeface="楷体_GB2312" charset="0"/>
              </a:rPr>
              <a:t> </a:t>
            </a:r>
            <a:r>
              <a:rPr lang="en-US" altLang="zh-CN" sz="3200" dirty="0" err="1">
                <a:solidFill>
                  <a:schemeClr val="tx2"/>
                </a:solidFill>
                <a:ea typeface="楷体_GB2312" charset="0"/>
              </a:rPr>
              <a:t>MergeList</a:t>
            </a:r>
            <a:r>
              <a:rPr lang="en-US" altLang="zh-CN" sz="3200" dirty="0">
                <a:solidFill>
                  <a:schemeClr val="tx2"/>
                </a:solidFill>
                <a:ea typeface="楷体_GB2312" charset="0"/>
              </a:rPr>
              <a:t>(List La, List </a:t>
            </a:r>
            <a:r>
              <a:rPr lang="en-US" altLang="zh-CN" sz="3200" dirty="0" err="1">
                <a:solidFill>
                  <a:schemeClr val="tx2"/>
                </a:solidFill>
                <a:ea typeface="楷体_GB2312" charset="0"/>
              </a:rPr>
              <a:t>Lb</a:t>
            </a:r>
            <a:r>
              <a:rPr lang="en-US" altLang="zh-CN" sz="3200" dirty="0">
                <a:solidFill>
                  <a:schemeClr val="tx2"/>
                </a:solidFill>
                <a:ea typeface="楷体_GB2312" charset="0"/>
              </a:rPr>
              <a:t>, List </a:t>
            </a:r>
            <a:r>
              <a:rPr lang="en-US" altLang="zh-CN" sz="3200" b="1" dirty="0">
                <a:solidFill>
                  <a:schemeClr val="tx2"/>
                </a:solidFill>
                <a:ea typeface="楷体_GB2312" charset="0"/>
              </a:rPr>
              <a:t>&amp;</a:t>
            </a:r>
            <a:r>
              <a:rPr lang="en-US" altLang="zh-CN" sz="3200" dirty="0">
                <a:solidFill>
                  <a:schemeClr val="tx2"/>
                </a:solidFill>
                <a:ea typeface="楷体_GB2312" charset="0"/>
              </a:rPr>
              <a:t>Lc) </a:t>
            </a:r>
            <a:r>
              <a:rPr lang="en-US" altLang="zh-CN" sz="3200" b="1" dirty="0">
                <a:solidFill>
                  <a:schemeClr val="tx2"/>
                </a:solidFill>
                <a:ea typeface="楷体_GB2312" charset="0"/>
              </a:rPr>
              <a:t>{</a:t>
            </a:r>
            <a:endParaRPr lang="en-US" altLang="zh-CN" sz="3200" b="1" dirty="0">
              <a:solidFill>
                <a:schemeClr val="tx2"/>
              </a:solidFill>
              <a:ea typeface="楷体_GB2312" charset="0"/>
            </a:endParaRPr>
          </a:p>
          <a:p>
            <a:pPr eaLnBrk="1" hangingPunct="1">
              <a:lnSpc>
                <a:spcPct val="115000"/>
              </a:lnSpc>
              <a:defRPr/>
            </a:pPr>
            <a:r>
              <a:rPr lang="en-US" altLang="zh-CN" sz="3200" b="1" dirty="0">
                <a:solidFill>
                  <a:schemeClr val="tx2"/>
                </a:solidFill>
                <a:ea typeface="楷体_GB2312" charset="0"/>
              </a:rPr>
              <a:t>  </a:t>
            </a:r>
            <a:r>
              <a:rPr lang="en-US" altLang="zh-CN" sz="2800" dirty="0">
                <a:solidFill>
                  <a:schemeClr val="tx2"/>
                </a:solidFill>
                <a:ea typeface="楷体_GB2312" charset="0"/>
              </a:rPr>
              <a:t>// </a:t>
            </a:r>
            <a:r>
              <a:rPr lang="zh-CN" altLang="en-US" sz="2800" dirty="0">
                <a:solidFill>
                  <a:schemeClr val="tx2"/>
                </a:solidFill>
                <a:ea typeface="楷体_GB2312" charset="0"/>
              </a:rPr>
              <a:t>本算法将非递减的有序表 </a:t>
            </a:r>
            <a:r>
              <a:rPr lang="en-US" altLang="zh-CN" sz="2800" dirty="0">
                <a:solidFill>
                  <a:schemeClr val="tx2"/>
                </a:solidFill>
                <a:ea typeface="楷体_GB2312" charset="0"/>
              </a:rPr>
              <a:t>La </a:t>
            </a:r>
            <a:r>
              <a:rPr lang="zh-CN" altLang="en-US" sz="2800" dirty="0">
                <a:solidFill>
                  <a:schemeClr val="tx2"/>
                </a:solidFill>
                <a:ea typeface="楷体_GB2312" charset="0"/>
              </a:rPr>
              <a:t>和 </a:t>
            </a:r>
            <a:r>
              <a:rPr lang="en-US" altLang="zh-CN" sz="2800" dirty="0" err="1">
                <a:solidFill>
                  <a:schemeClr val="tx2"/>
                </a:solidFill>
                <a:ea typeface="楷体_GB2312" charset="0"/>
              </a:rPr>
              <a:t>Lb</a:t>
            </a:r>
            <a:r>
              <a:rPr lang="en-US" altLang="zh-CN" sz="2800" dirty="0">
                <a:solidFill>
                  <a:schemeClr val="tx2"/>
                </a:solidFill>
                <a:ea typeface="楷体_GB2312" charset="0"/>
              </a:rPr>
              <a:t> </a:t>
            </a:r>
            <a:r>
              <a:rPr lang="zh-CN" altLang="en-US" sz="2800" dirty="0">
                <a:solidFill>
                  <a:schemeClr val="tx2"/>
                </a:solidFill>
                <a:ea typeface="楷体_GB2312" charset="0"/>
              </a:rPr>
              <a:t>归并为 </a:t>
            </a:r>
            <a:r>
              <a:rPr lang="en-US" altLang="zh-CN" sz="2800" dirty="0">
                <a:solidFill>
                  <a:schemeClr val="tx2"/>
                </a:solidFill>
                <a:ea typeface="楷体_GB2312" charset="0"/>
              </a:rPr>
              <a:t>Lc</a:t>
            </a:r>
            <a:endParaRPr lang="en-US" altLang="zh-CN" sz="3200"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r>
              <a:rPr lang="en-US" altLang="zh-CN" sz="4000" b="1" dirty="0">
                <a:solidFill>
                  <a:schemeClr val="tx2"/>
                </a:solidFill>
                <a:ea typeface="楷体_GB2312" charset="0"/>
              </a:rPr>
              <a:t>}</a:t>
            </a:r>
            <a:r>
              <a:rPr lang="en-US" altLang="zh-CN" sz="3600" dirty="0">
                <a:solidFill>
                  <a:schemeClr val="tx2"/>
                </a:solidFill>
                <a:ea typeface="楷体_GB2312" charset="0"/>
              </a:rPr>
              <a:t> // </a:t>
            </a:r>
            <a:r>
              <a:rPr lang="en-US" altLang="zh-CN" sz="3600" dirty="0" err="1">
                <a:solidFill>
                  <a:schemeClr val="tx2"/>
                </a:solidFill>
                <a:ea typeface="楷体_GB2312" charset="0"/>
              </a:rPr>
              <a:t>merge_list</a:t>
            </a:r>
            <a:endParaRPr lang="en-US" altLang="zh-CN" sz="3600" dirty="0">
              <a:solidFill>
                <a:schemeClr val="tx2"/>
              </a:solidFill>
              <a:ea typeface="楷体_GB2312" charset="0"/>
            </a:endParaRPr>
          </a:p>
        </p:txBody>
      </p:sp>
      <p:sp>
        <p:nvSpPr>
          <p:cNvPr id="922627" name="Rectangle 3">
            <a:hlinkClick r:id="" action="ppaction://hlinkshowjump?jump=nextslide"/>
          </p:cNvPr>
          <p:cNvSpPr>
            <a:spLocks noChangeArrowheads="1"/>
          </p:cNvSpPr>
          <p:nvPr/>
        </p:nvSpPr>
        <p:spPr bwMode="auto">
          <a:xfrm>
            <a:off x="1187624" y="3565525"/>
            <a:ext cx="6827837"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en-US" altLang="zh-CN" sz="3200" b="1">
                <a:solidFill>
                  <a:srgbClr val="660033"/>
                </a:solidFill>
                <a:ea typeface="楷体_GB2312" charset="0"/>
              </a:rPr>
              <a:t>while</a:t>
            </a:r>
            <a:r>
              <a:rPr lang="en-US" altLang="zh-CN" sz="3200">
                <a:solidFill>
                  <a:srgbClr val="660033"/>
                </a:solidFill>
                <a:ea typeface="楷体_GB2312" charset="0"/>
              </a:rPr>
              <a:t> ((i &lt;= La_len) </a:t>
            </a:r>
            <a:r>
              <a:rPr lang="en-US" altLang="zh-CN" sz="3200" b="1">
                <a:solidFill>
                  <a:srgbClr val="660033"/>
                </a:solidFill>
                <a:ea typeface="楷体_GB2312" charset="0"/>
              </a:rPr>
              <a:t>&amp;&amp;</a:t>
            </a:r>
            <a:r>
              <a:rPr lang="en-US" altLang="zh-CN" sz="3200">
                <a:solidFill>
                  <a:srgbClr val="660033"/>
                </a:solidFill>
                <a:ea typeface="楷体_GB2312" charset="0"/>
              </a:rPr>
              <a:t> (j &lt;= Lb_len)) </a:t>
            </a:r>
            <a:endParaRPr lang="en-US" altLang="zh-CN" sz="3200">
              <a:solidFill>
                <a:srgbClr val="660033"/>
              </a:solidFill>
              <a:ea typeface="楷体_GB2312" charset="0"/>
            </a:endParaRPr>
          </a:p>
          <a:p>
            <a:pPr eaLnBrk="1" hangingPunct="1">
              <a:lnSpc>
                <a:spcPct val="125000"/>
              </a:lnSpc>
              <a:defRPr/>
            </a:pPr>
            <a:r>
              <a:rPr lang="en-US" altLang="zh-CN" sz="3200">
                <a:solidFill>
                  <a:srgbClr val="660033"/>
                </a:solidFill>
                <a:ea typeface="楷体_GB2312" charset="0"/>
              </a:rPr>
              <a:t>      </a:t>
            </a:r>
            <a:r>
              <a:rPr lang="en-US" altLang="zh-CN" sz="3200" b="1">
                <a:solidFill>
                  <a:srgbClr val="660033"/>
                </a:solidFill>
                <a:ea typeface="楷体_GB2312" charset="0"/>
              </a:rPr>
              <a:t>{  // La </a:t>
            </a:r>
            <a:r>
              <a:rPr lang="zh-CN" altLang="en-US" sz="3200" b="1">
                <a:solidFill>
                  <a:srgbClr val="660033"/>
                </a:solidFill>
                <a:ea typeface="楷体_GB2312" charset="0"/>
              </a:rPr>
              <a:t>和 </a:t>
            </a:r>
            <a:r>
              <a:rPr lang="en-US" altLang="zh-CN" sz="3200" b="1">
                <a:solidFill>
                  <a:srgbClr val="660033"/>
                </a:solidFill>
                <a:ea typeface="楷体_GB2312" charset="0"/>
              </a:rPr>
              <a:t>Lb </a:t>
            </a:r>
            <a:r>
              <a:rPr lang="zh-CN" altLang="en-US" sz="3200" b="1">
                <a:solidFill>
                  <a:srgbClr val="660033"/>
                </a:solidFill>
                <a:ea typeface="楷体_GB2312" charset="0"/>
              </a:rPr>
              <a:t>均不空 </a:t>
            </a:r>
            <a:r>
              <a:rPr lang="en-US" altLang="zh-CN" sz="3200" b="1">
                <a:solidFill>
                  <a:srgbClr val="660033"/>
                </a:solidFill>
                <a:ea typeface="楷体_GB2312" charset="0"/>
              </a:rPr>
              <a:t>}</a:t>
            </a:r>
            <a:endParaRPr lang="en-US" altLang="zh-CN" sz="3200" b="1">
              <a:solidFill>
                <a:srgbClr val="660033"/>
              </a:solidFill>
              <a:ea typeface="楷体_GB2312" charset="0"/>
            </a:endParaRPr>
          </a:p>
          <a:p>
            <a:pPr eaLnBrk="1" hangingPunct="1">
              <a:lnSpc>
                <a:spcPct val="125000"/>
              </a:lnSpc>
              <a:defRPr/>
            </a:pPr>
            <a:r>
              <a:rPr lang="en-US" altLang="zh-CN" sz="3200" b="1">
                <a:solidFill>
                  <a:srgbClr val="660033"/>
                </a:solidFill>
                <a:ea typeface="楷体_GB2312" charset="0"/>
              </a:rPr>
              <a:t>while </a:t>
            </a:r>
            <a:r>
              <a:rPr lang="en-US" altLang="zh-CN" sz="3200">
                <a:solidFill>
                  <a:srgbClr val="660033"/>
                </a:solidFill>
                <a:ea typeface="楷体_GB2312" charset="0"/>
              </a:rPr>
              <a:t>(i&lt;=La_len)</a:t>
            </a:r>
            <a:r>
              <a:rPr lang="en-US" altLang="zh-CN" sz="3200" b="1">
                <a:solidFill>
                  <a:srgbClr val="660033"/>
                </a:solidFill>
                <a:ea typeface="楷体_GB2312" charset="0"/>
              </a:rPr>
              <a:t>  </a:t>
            </a:r>
            <a:r>
              <a:rPr lang="en-US" altLang="zh-CN" sz="3200">
                <a:solidFill>
                  <a:srgbClr val="660033"/>
                </a:solidFill>
                <a:ea typeface="楷体_GB2312" charset="0"/>
              </a:rPr>
              <a:t>// </a:t>
            </a:r>
            <a:r>
              <a:rPr lang="zh-CN" altLang="en-US" sz="3200">
                <a:solidFill>
                  <a:srgbClr val="660033"/>
                </a:solidFill>
                <a:ea typeface="楷体_GB2312" charset="0"/>
              </a:rPr>
              <a:t>若 </a:t>
            </a:r>
            <a:r>
              <a:rPr lang="en-US" altLang="zh-CN" sz="3200">
                <a:solidFill>
                  <a:srgbClr val="660033"/>
                </a:solidFill>
                <a:ea typeface="楷体_GB2312" charset="0"/>
              </a:rPr>
              <a:t>La </a:t>
            </a:r>
            <a:r>
              <a:rPr lang="zh-CN" altLang="en-US" sz="3200">
                <a:solidFill>
                  <a:srgbClr val="660033"/>
                </a:solidFill>
                <a:ea typeface="楷体_GB2312" charset="0"/>
              </a:rPr>
              <a:t>不空</a:t>
            </a:r>
            <a:endParaRPr lang="zh-CN" altLang="en-US" sz="3200">
              <a:solidFill>
                <a:srgbClr val="660033"/>
              </a:solidFill>
              <a:ea typeface="楷体_GB2312" charset="0"/>
            </a:endParaRPr>
          </a:p>
          <a:p>
            <a:pPr eaLnBrk="1" hangingPunct="1">
              <a:lnSpc>
                <a:spcPct val="125000"/>
              </a:lnSpc>
              <a:defRPr/>
            </a:pPr>
            <a:r>
              <a:rPr lang="en-US" altLang="zh-CN" sz="3200" b="1">
                <a:solidFill>
                  <a:srgbClr val="660033"/>
                </a:solidFill>
                <a:ea typeface="楷体_GB2312" charset="0"/>
              </a:rPr>
              <a:t>while</a:t>
            </a:r>
            <a:r>
              <a:rPr lang="en-US" altLang="zh-CN" sz="3200">
                <a:solidFill>
                  <a:srgbClr val="660033"/>
                </a:solidFill>
                <a:ea typeface="楷体_GB2312" charset="0"/>
              </a:rPr>
              <a:t> (j&lt;=Lb_len)  // </a:t>
            </a:r>
            <a:r>
              <a:rPr lang="zh-CN" altLang="en-US" sz="3200">
                <a:solidFill>
                  <a:srgbClr val="660033"/>
                </a:solidFill>
                <a:ea typeface="楷体_GB2312" charset="0"/>
              </a:rPr>
              <a:t>若 </a:t>
            </a:r>
            <a:r>
              <a:rPr lang="en-US" altLang="zh-CN" sz="3200">
                <a:solidFill>
                  <a:srgbClr val="660033"/>
                </a:solidFill>
                <a:ea typeface="楷体_GB2312" charset="0"/>
              </a:rPr>
              <a:t>Lb </a:t>
            </a:r>
            <a:r>
              <a:rPr lang="zh-CN" altLang="en-US" sz="3200">
                <a:solidFill>
                  <a:srgbClr val="660033"/>
                </a:solidFill>
                <a:ea typeface="楷体_GB2312" charset="0"/>
              </a:rPr>
              <a:t>不空</a:t>
            </a:r>
            <a:endParaRPr lang="zh-CN" altLang="en-US" sz="3200">
              <a:solidFill>
                <a:srgbClr val="660033"/>
              </a:solidFill>
              <a:ea typeface="楷体_GB2312" charset="0"/>
            </a:endParaRPr>
          </a:p>
        </p:txBody>
      </p:sp>
      <p:sp>
        <p:nvSpPr>
          <p:cNvPr id="922628" name="Rectangle 4"/>
          <p:cNvSpPr>
            <a:spLocks noChangeArrowheads="1"/>
          </p:cNvSpPr>
          <p:nvPr/>
        </p:nvSpPr>
        <p:spPr bwMode="auto">
          <a:xfrm>
            <a:off x="1187624" y="1247775"/>
            <a:ext cx="6096000"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3200">
                <a:solidFill>
                  <a:srgbClr val="990000"/>
                </a:solidFill>
                <a:ea typeface="楷体_GB2312" charset="0"/>
              </a:rPr>
              <a:t>InitList(Lc);  // </a:t>
            </a:r>
            <a:r>
              <a:rPr lang="zh-CN" altLang="en-US" sz="3200">
                <a:solidFill>
                  <a:srgbClr val="990000"/>
                </a:solidFill>
                <a:ea typeface="楷体_GB2312" charset="0"/>
              </a:rPr>
              <a:t>构造空的线性表 </a:t>
            </a:r>
            <a:r>
              <a:rPr lang="en-US" altLang="zh-CN" sz="3200">
                <a:solidFill>
                  <a:srgbClr val="990000"/>
                </a:solidFill>
                <a:ea typeface="楷体_GB2312" charset="0"/>
              </a:rPr>
              <a:t>Lc</a:t>
            </a:r>
            <a:endParaRPr lang="en-US" altLang="zh-CN" sz="3200">
              <a:solidFill>
                <a:srgbClr val="990000"/>
              </a:solidFill>
              <a:ea typeface="楷体_GB2312" charset="0"/>
            </a:endParaRPr>
          </a:p>
          <a:p>
            <a:pPr eaLnBrk="1" hangingPunct="1">
              <a:lnSpc>
                <a:spcPct val="115000"/>
              </a:lnSpc>
              <a:defRPr/>
            </a:pPr>
            <a:r>
              <a:rPr lang="en-US" altLang="zh-CN" sz="3200">
                <a:solidFill>
                  <a:srgbClr val="990000"/>
                </a:solidFill>
                <a:ea typeface="楷体_GB2312" charset="0"/>
              </a:rPr>
              <a:t>i = j = 1;    k = 0;</a:t>
            </a:r>
            <a:endParaRPr lang="en-US" altLang="zh-CN" sz="3200">
              <a:solidFill>
                <a:srgbClr val="990000"/>
              </a:solidFill>
              <a:ea typeface="楷体_GB2312" charset="0"/>
            </a:endParaRPr>
          </a:p>
          <a:p>
            <a:pPr eaLnBrk="1" hangingPunct="1">
              <a:lnSpc>
                <a:spcPct val="115000"/>
              </a:lnSpc>
              <a:defRPr/>
            </a:pPr>
            <a:r>
              <a:rPr lang="en-US" altLang="zh-CN" sz="3200">
                <a:solidFill>
                  <a:srgbClr val="990000"/>
                </a:solidFill>
                <a:ea typeface="楷体_GB2312" charset="0"/>
              </a:rPr>
              <a:t>La_len = ListLength(La);</a:t>
            </a:r>
            <a:endParaRPr lang="en-US" altLang="zh-CN" sz="3200">
              <a:solidFill>
                <a:srgbClr val="990000"/>
              </a:solidFill>
              <a:ea typeface="楷体_GB2312" charset="0"/>
            </a:endParaRPr>
          </a:p>
          <a:p>
            <a:pPr eaLnBrk="1" hangingPunct="1">
              <a:lnSpc>
                <a:spcPct val="115000"/>
              </a:lnSpc>
              <a:defRPr/>
            </a:pPr>
            <a:r>
              <a:rPr lang="en-US" altLang="zh-CN" sz="3200">
                <a:solidFill>
                  <a:srgbClr val="990000"/>
                </a:solidFill>
                <a:ea typeface="楷体_GB2312" charset="0"/>
              </a:rPr>
              <a:t>Lb_len = ListLength(Lb);</a:t>
            </a:r>
            <a:endParaRPr lang="en-US" altLang="zh-CN" sz="3200">
              <a:solidFill>
                <a:srgbClr val="990000"/>
              </a:solidFill>
              <a:ea typeface="楷体_GB2312" charset="0"/>
            </a:endParaRPr>
          </a:p>
        </p:txBody>
      </p:sp>
      <p:sp>
        <p:nvSpPr>
          <p:cNvPr id="922629" name="AutoShape 5">
            <a:hlinkClick r:id="rId1" action="ppaction://hlinksldjump" highlightClick="1"/>
          </p:cNvPr>
          <p:cNvSpPr>
            <a:spLocks noChangeArrowheads="1"/>
          </p:cNvSpPr>
          <p:nvPr/>
        </p:nvSpPr>
        <p:spPr bwMode="auto">
          <a:xfrm>
            <a:off x="8015461"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922626"/>
                                        </p:tgtEl>
                                        <p:attrNameLst>
                                          <p:attrName>style.visibility</p:attrName>
                                        </p:attrNameLst>
                                      </p:cBhvr>
                                      <p:to>
                                        <p:strVal val="visible"/>
                                      </p:to>
                                    </p:set>
                                    <p:animEffect transition="in" filter="strips(downRight)">
                                      <p:cBhvr>
                                        <p:cTn id="7" dur="300"/>
                                        <p:tgtEl>
                                          <p:spTgt spid="92262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922627"/>
                                        </p:tgtEl>
                                        <p:attrNameLst>
                                          <p:attrName>style.visibility</p:attrName>
                                        </p:attrNameLst>
                                      </p:cBhvr>
                                      <p:to>
                                        <p:strVal val="visible"/>
                                      </p:to>
                                    </p:set>
                                    <p:animEffect transition="in" filter="strips(downRight)">
                                      <p:cBhvr>
                                        <p:cTn id="12" dur="300"/>
                                        <p:tgtEl>
                                          <p:spTgt spid="92262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iterate type="lt">
                                    <p:tmPct val="100000"/>
                                  </p:iterate>
                                  <p:childTnLst>
                                    <p:set>
                                      <p:cBhvr>
                                        <p:cTn id="16" dur="1" fill="hold">
                                          <p:stCondLst>
                                            <p:cond delay="0"/>
                                          </p:stCondLst>
                                        </p:cTn>
                                        <p:tgtEl>
                                          <p:spTgt spid="922628"/>
                                        </p:tgtEl>
                                        <p:attrNameLst>
                                          <p:attrName>style.visibility</p:attrName>
                                        </p:attrNameLst>
                                      </p:cBhvr>
                                      <p:to>
                                        <p:strVal val="visible"/>
                                      </p:to>
                                    </p:set>
                                    <p:animEffect transition="in" filter="strips(downRight)">
                                      <p:cBhvr>
                                        <p:cTn id="17" dur="75"/>
                                        <p:tgtEl>
                                          <p:spTgt spid="922628"/>
                                        </p:tgtEl>
                                      </p:cBhvr>
                                    </p:animEffect>
                                  </p:childTnLst>
                                </p:cTn>
                              </p:par>
                            </p:childTnLst>
                          </p:cTn>
                        </p:par>
                        <p:par>
                          <p:cTn id="18" fill="hold">
                            <p:stCondLst>
                              <p:cond delay="7200"/>
                            </p:stCondLst>
                            <p:childTnLst>
                              <p:par>
                                <p:cTn id="19" presetID="2" presetClass="entr" presetSubtype="6" fill="hold" grpId="0" nodeType="afterEffect">
                                  <p:stCondLst>
                                    <p:cond delay="0"/>
                                  </p:stCondLst>
                                  <p:childTnLst>
                                    <p:set>
                                      <p:cBhvr>
                                        <p:cTn id="20" dur="1" fill="hold">
                                          <p:stCondLst>
                                            <p:cond delay="0"/>
                                          </p:stCondLst>
                                        </p:cTn>
                                        <p:tgtEl>
                                          <p:spTgt spid="922629"/>
                                        </p:tgtEl>
                                        <p:attrNameLst>
                                          <p:attrName>style.visibility</p:attrName>
                                        </p:attrNameLst>
                                      </p:cBhvr>
                                      <p:to>
                                        <p:strVal val="visible"/>
                                      </p:to>
                                    </p:set>
                                    <p:anim calcmode="lin" valueType="num">
                                      <p:cBhvr additive="base">
                                        <p:cTn id="21" dur="500" fill="hold"/>
                                        <p:tgtEl>
                                          <p:spTgt spid="922629"/>
                                        </p:tgtEl>
                                        <p:attrNameLst>
                                          <p:attrName>ppt_x</p:attrName>
                                        </p:attrNameLst>
                                      </p:cBhvr>
                                      <p:tavLst>
                                        <p:tav tm="0">
                                          <p:val>
                                            <p:strVal val="1+#ppt_w/2"/>
                                          </p:val>
                                        </p:tav>
                                        <p:tav tm="100000">
                                          <p:val>
                                            <p:strVal val="#ppt_x"/>
                                          </p:val>
                                        </p:tav>
                                      </p:tavLst>
                                    </p:anim>
                                    <p:anim calcmode="lin" valueType="num">
                                      <p:cBhvr additive="base">
                                        <p:cTn id="22" dur="500" fill="hold"/>
                                        <p:tgtEl>
                                          <p:spTgt spid="9226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626" grpId="0" autoUpdateAnimBg="0"/>
      <p:bldP spid="922627" grpId="0" autoUpdateAnimBg="0"/>
      <p:bldP spid="922628" grpId="0" autoUpdateAnimBg="0"/>
      <p:bldP spid="92262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ChangeArrowheads="1"/>
          </p:cNvSpPr>
          <p:nvPr/>
        </p:nvSpPr>
        <p:spPr bwMode="auto">
          <a:xfrm>
            <a:off x="755576" y="499269"/>
            <a:ext cx="7391767" cy="5201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50000"/>
              </a:lnSpc>
              <a:defRPr/>
            </a:pPr>
            <a:r>
              <a:rPr lang="zh-CN" altLang="en-US" sz="3200" dirty="0">
                <a:ea typeface="楷体_GB2312" charset="0"/>
              </a:rPr>
              <a:t>  </a:t>
            </a:r>
            <a:r>
              <a:rPr lang="en-US" altLang="zh-CN" sz="3200" dirty="0">
                <a:solidFill>
                  <a:srgbClr val="9A009A"/>
                </a:solidFill>
                <a:ea typeface="楷体_GB2312" charset="0"/>
              </a:rPr>
              <a:t>// La </a:t>
            </a:r>
            <a:r>
              <a:rPr lang="zh-CN" altLang="en-US" sz="3200" dirty="0">
                <a:solidFill>
                  <a:srgbClr val="9A009A"/>
                </a:solidFill>
                <a:ea typeface="楷体_GB2312" charset="0"/>
              </a:rPr>
              <a:t>和 </a:t>
            </a:r>
            <a:r>
              <a:rPr lang="en-US" altLang="zh-CN" sz="3200" dirty="0" err="1">
                <a:solidFill>
                  <a:srgbClr val="9A009A"/>
                </a:solidFill>
                <a:ea typeface="楷体_GB2312" charset="0"/>
              </a:rPr>
              <a:t>Lb</a:t>
            </a:r>
            <a:r>
              <a:rPr lang="en-US" altLang="zh-CN" sz="3200" dirty="0">
                <a:solidFill>
                  <a:srgbClr val="9A009A"/>
                </a:solidFill>
                <a:ea typeface="楷体_GB2312" charset="0"/>
              </a:rPr>
              <a:t> </a:t>
            </a:r>
            <a:r>
              <a:rPr lang="zh-CN" altLang="en-US" sz="3200" dirty="0">
                <a:solidFill>
                  <a:srgbClr val="9A009A"/>
                </a:solidFill>
                <a:ea typeface="楷体_GB2312" charset="0"/>
              </a:rPr>
              <a:t>均非空，</a:t>
            </a:r>
            <a:r>
              <a:rPr lang="en-US" altLang="zh-CN" sz="3200" dirty="0" err="1">
                <a:solidFill>
                  <a:srgbClr val="9A009A"/>
                </a:solidFill>
                <a:ea typeface="楷体_GB2312" charset="0"/>
              </a:rPr>
              <a:t>i</a:t>
            </a:r>
            <a:r>
              <a:rPr lang="en-US" altLang="zh-CN" sz="3200" dirty="0">
                <a:solidFill>
                  <a:srgbClr val="9A009A"/>
                </a:solidFill>
                <a:ea typeface="楷体_GB2312" charset="0"/>
              </a:rPr>
              <a:t> = j = 1, k = 0</a:t>
            </a:r>
            <a:endParaRPr lang="en-US" altLang="zh-CN" sz="3200" dirty="0">
              <a:solidFill>
                <a:srgbClr val="9A009A"/>
              </a:solidFill>
              <a:ea typeface="楷体_GB2312" charset="0"/>
            </a:endParaRPr>
          </a:p>
          <a:p>
            <a:pPr eaLnBrk="1" hangingPunct="1">
              <a:lnSpc>
                <a:spcPct val="150000"/>
              </a:lnSpc>
              <a:defRPr/>
            </a:pPr>
            <a:r>
              <a:rPr lang="en-US" altLang="zh-CN" sz="3200" dirty="0">
                <a:solidFill>
                  <a:srgbClr val="9A009A"/>
                </a:solidFill>
                <a:ea typeface="楷体_GB2312" charset="0"/>
              </a:rPr>
              <a:t> </a:t>
            </a:r>
            <a:r>
              <a:rPr lang="en-US" altLang="zh-CN" sz="3200" dirty="0" err="1">
                <a:solidFill>
                  <a:srgbClr val="9A009A"/>
                </a:solidFill>
                <a:ea typeface="楷体_GB2312" charset="0"/>
              </a:rPr>
              <a:t>GetElem</a:t>
            </a:r>
            <a:r>
              <a:rPr lang="en-US" altLang="zh-CN" sz="3200" dirty="0">
                <a:solidFill>
                  <a:srgbClr val="9A009A"/>
                </a:solidFill>
                <a:ea typeface="楷体_GB2312" charset="0"/>
              </a:rPr>
              <a:t>(La, </a:t>
            </a:r>
            <a:r>
              <a:rPr lang="en-US" altLang="zh-CN" sz="3200" dirty="0" err="1">
                <a:solidFill>
                  <a:srgbClr val="9A009A"/>
                </a:solidFill>
                <a:ea typeface="楷体_GB2312" charset="0"/>
              </a:rPr>
              <a:t>i</a:t>
            </a:r>
            <a:r>
              <a:rPr lang="en-US" altLang="zh-CN" sz="3200" dirty="0">
                <a:solidFill>
                  <a:srgbClr val="9A009A"/>
                </a:solidFill>
                <a:ea typeface="楷体_GB2312" charset="0"/>
              </a:rPr>
              <a:t>, ai);    </a:t>
            </a:r>
            <a:endParaRPr lang="en-US" altLang="zh-CN" sz="3200" dirty="0">
              <a:solidFill>
                <a:srgbClr val="9A009A"/>
              </a:solidFill>
              <a:ea typeface="楷体_GB2312" charset="0"/>
            </a:endParaRPr>
          </a:p>
          <a:p>
            <a:pPr eaLnBrk="1" hangingPunct="1">
              <a:lnSpc>
                <a:spcPct val="150000"/>
              </a:lnSpc>
              <a:defRPr/>
            </a:pPr>
            <a:r>
              <a:rPr lang="en-US" altLang="zh-CN" sz="3200" dirty="0">
                <a:solidFill>
                  <a:srgbClr val="9A009A"/>
                </a:solidFill>
                <a:ea typeface="楷体_GB2312" charset="0"/>
              </a:rPr>
              <a:t> </a:t>
            </a:r>
            <a:r>
              <a:rPr lang="en-US" altLang="zh-CN" sz="3200" dirty="0" err="1">
                <a:solidFill>
                  <a:srgbClr val="9A009A"/>
                </a:solidFill>
                <a:ea typeface="楷体_GB2312" charset="0"/>
              </a:rPr>
              <a:t>GetElem</a:t>
            </a:r>
            <a:r>
              <a:rPr lang="en-US" altLang="zh-CN" sz="3200" dirty="0">
                <a:solidFill>
                  <a:srgbClr val="9A009A"/>
                </a:solidFill>
                <a:ea typeface="楷体_GB2312" charset="0"/>
              </a:rPr>
              <a:t>(</a:t>
            </a:r>
            <a:r>
              <a:rPr lang="en-US" altLang="zh-CN" sz="3200" dirty="0" err="1">
                <a:solidFill>
                  <a:srgbClr val="9A009A"/>
                </a:solidFill>
                <a:ea typeface="楷体_GB2312" charset="0"/>
              </a:rPr>
              <a:t>Lb</a:t>
            </a:r>
            <a:r>
              <a:rPr lang="en-US" altLang="zh-CN" sz="3200" dirty="0">
                <a:solidFill>
                  <a:srgbClr val="9A009A"/>
                </a:solidFill>
                <a:ea typeface="楷体_GB2312" charset="0"/>
              </a:rPr>
              <a:t>, j, </a:t>
            </a:r>
            <a:r>
              <a:rPr lang="en-US" altLang="zh-CN" sz="3200" dirty="0" err="1">
                <a:solidFill>
                  <a:srgbClr val="9A009A"/>
                </a:solidFill>
                <a:ea typeface="楷体_GB2312" charset="0"/>
              </a:rPr>
              <a:t>bj</a:t>
            </a:r>
            <a:r>
              <a:rPr lang="en-US" altLang="zh-CN" sz="3200" dirty="0">
                <a:solidFill>
                  <a:srgbClr val="9A009A"/>
                </a:solidFill>
                <a:ea typeface="楷体_GB2312" charset="0"/>
              </a:rPr>
              <a:t>);</a:t>
            </a:r>
            <a:endParaRPr lang="en-US" altLang="zh-CN" sz="3200" dirty="0">
              <a:solidFill>
                <a:srgbClr val="9A009A"/>
              </a:solidFill>
              <a:ea typeface="楷体_GB2312" charset="0"/>
            </a:endParaRPr>
          </a:p>
          <a:p>
            <a:pPr eaLnBrk="1" hangingPunct="1">
              <a:lnSpc>
                <a:spcPct val="150000"/>
              </a:lnSpc>
              <a:defRPr/>
            </a:pPr>
            <a:r>
              <a:rPr lang="en-US" altLang="zh-CN" sz="3200" dirty="0">
                <a:ea typeface="楷体_GB2312" charset="0"/>
              </a:rPr>
              <a:t> </a:t>
            </a:r>
            <a:r>
              <a:rPr lang="en-US" altLang="zh-CN" sz="3200" b="1" dirty="0">
                <a:solidFill>
                  <a:srgbClr val="660033"/>
                </a:solidFill>
                <a:ea typeface="楷体_GB2312" charset="0"/>
              </a:rPr>
              <a:t>if</a:t>
            </a:r>
            <a:r>
              <a:rPr lang="en-US" altLang="zh-CN" sz="3200" dirty="0">
                <a:solidFill>
                  <a:srgbClr val="660033"/>
                </a:solidFill>
                <a:ea typeface="楷体_GB2312" charset="0"/>
              </a:rPr>
              <a:t> (ai &lt;= </a:t>
            </a:r>
            <a:r>
              <a:rPr lang="en-US" altLang="zh-CN" sz="3200" dirty="0" err="1">
                <a:solidFill>
                  <a:srgbClr val="660033"/>
                </a:solidFill>
                <a:ea typeface="楷体_GB2312" charset="0"/>
              </a:rPr>
              <a:t>bj</a:t>
            </a:r>
            <a:r>
              <a:rPr lang="en-US" altLang="zh-CN" sz="3200" dirty="0">
                <a:solidFill>
                  <a:srgbClr val="660033"/>
                </a:solidFill>
                <a:ea typeface="楷体_GB2312" charset="0"/>
              </a:rPr>
              <a:t>) </a:t>
            </a:r>
            <a:r>
              <a:rPr lang="en-US" altLang="zh-CN" sz="3200" b="1" dirty="0">
                <a:solidFill>
                  <a:srgbClr val="660033"/>
                </a:solidFill>
                <a:ea typeface="楷体_GB2312" charset="0"/>
              </a:rPr>
              <a:t>{  </a:t>
            </a:r>
            <a:r>
              <a:rPr lang="en-US" altLang="zh-CN" sz="3200" dirty="0">
                <a:solidFill>
                  <a:srgbClr val="660033"/>
                </a:solidFill>
                <a:ea typeface="楷体_GB2312" charset="0"/>
              </a:rPr>
              <a:t>// </a:t>
            </a:r>
            <a:r>
              <a:rPr lang="zh-CN" altLang="en-US" sz="3200" dirty="0">
                <a:solidFill>
                  <a:srgbClr val="660033"/>
                </a:solidFill>
                <a:ea typeface="楷体_GB2312" charset="0"/>
              </a:rPr>
              <a:t>将 </a:t>
            </a:r>
            <a:r>
              <a:rPr lang="en-US" altLang="zh-CN" sz="3200" dirty="0">
                <a:solidFill>
                  <a:srgbClr val="660033"/>
                </a:solidFill>
                <a:ea typeface="楷体_GB2312" charset="0"/>
              </a:rPr>
              <a:t>ai </a:t>
            </a:r>
            <a:r>
              <a:rPr lang="zh-CN" altLang="en-US" sz="3200" dirty="0">
                <a:solidFill>
                  <a:srgbClr val="660033"/>
                </a:solidFill>
                <a:ea typeface="楷体_GB2312" charset="0"/>
              </a:rPr>
              <a:t>插入到 </a:t>
            </a:r>
            <a:r>
              <a:rPr lang="en-US" altLang="zh-CN" sz="3200" dirty="0">
                <a:solidFill>
                  <a:srgbClr val="660033"/>
                </a:solidFill>
                <a:ea typeface="楷体_GB2312" charset="0"/>
              </a:rPr>
              <a:t>Lc </a:t>
            </a:r>
            <a:r>
              <a:rPr lang="zh-CN" altLang="en-US" sz="3200" dirty="0">
                <a:solidFill>
                  <a:srgbClr val="660033"/>
                </a:solidFill>
                <a:ea typeface="楷体_GB2312" charset="0"/>
              </a:rPr>
              <a:t>中</a:t>
            </a:r>
            <a:endParaRPr lang="zh-CN" altLang="en-US" sz="3200" b="1" dirty="0">
              <a:solidFill>
                <a:srgbClr val="660033"/>
              </a:solidFill>
              <a:ea typeface="楷体_GB2312" charset="0"/>
            </a:endParaRPr>
          </a:p>
          <a:p>
            <a:pPr eaLnBrk="1" hangingPunct="1">
              <a:lnSpc>
                <a:spcPct val="150000"/>
              </a:lnSpc>
              <a:defRPr/>
            </a:pPr>
            <a:r>
              <a:rPr lang="zh-CN" altLang="en-US" sz="3200" dirty="0">
                <a:solidFill>
                  <a:srgbClr val="660033"/>
                </a:solidFill>
                <a:ea typeface="楷体_GB2312" charset="0"/>
              </a:rPr>
              <a:t>    </a:t>
            </a:r>
            <a:r>
              <a:rPr lang="en-US" altLang="zh-CN" sz="3200" dirty="0" err="1">
                <a:solidFill>
                  <a:srgbClr val="660033"/>
                </a:solidFill>
                <a:ea typeface="楷体_GB2312" charset="0"/>
              </a:rPr>
              <a:t>ListInsert</a:t>
            </a:r>
            <a:r>
              <a:rPr lang="en-US" altLang="zh-CN" sz="3200" dirty="0">
                <a:solidFill>
                  <a:srgbClr val="660033"/>
                </a:solidFill>
                <a:ea typeface="楷体_GB2312" charset="0"/>
              </a:rPr>
              <a:t>(Lc, ++k, ai);  ++</a:t>
            </a:r>
            <a:r>
              <a:rPr lang="en-US" altLang="zh-CN" sz="3200" dirty="0" err="1">
                <a:solidFill>
                  <a:srgbClr val="660033"/>
                </a:solidFill>
                <a:ea typeface="楷体_GB2312" charset="0"/>
              </a:rPr>
              <a:t>i</a:t>
            </a:r>
            <a:r>
              <a:rPr lang="en-US" altLang="zh-CN" sz="3200" dirty="0">
                <a:solidFill>
                  <a:srgbClr val="660033"/>
                </a:solidFill>
                <a:ea typeface="楷体_GB2312" charset="0"/>
              </a:rPr>
              <a:t>; </a:t>
            </a:r>
            <a:r>
              <a:rPr lang="en-US" altLang="zh-CN" sz="3200" b="1" dirty="0">
                <a:solidFill>
                  <a:srgbClr val="660033"/>
                </a:solidFill>
                <a:ea typeface="楷体_GB2312" charset="0"/>
              </a:rPr>
              <a:t>}</a:t>
            </a:r>
            <a:endParaRPr lang="en-US" altLang="zh-CN" sz="3200" dirty="0">
              <a:solidFill>
                <a:srgbClr val="660033"/>
              </a:solidFill>
              <a:ea typeface="楷体_GB2312" charset="0"/>
            </a:endParaRPr>
          </a:p>
          <a:p>
            <a:pPr eaLnBrk="1" hangingPunct="1">
              <a:lnSpc>
                <a:spcPct val="150000"/>
              </a:lnSpc>
              <a:defRPr/>
            </a:pPr>
            <a:r>
              <a:rPr lang="en-US" altLang="zh-CN" sz="3200" b="1" dirty="0">
                <a:solidFill>
                  <a:srgbClr val="660033"/>
                </a:solidFill>
                <a:ea typeface="楷体_GB2312" charset="0"/>
              </a:rPr>
              <a:t>else {</a:t>
            </a:r>
            <a:r>
              <a:rPr lang="en-US" altLang="zh-CN" sz="3200" dirty="0">
                <a:solidFill>
                  <a:srgbClr val="660033"/>
                </a:solidFill>
                <a:ea typeface="楷体_GB2312" charset="0"/>
              </a:rPr>
              <a:t>   // </a:t>
            </a:r>
            <a:r>
              <a:rPr lang="zh-CN" altLang="en-US" sz="3200" dirty="0">
                <a:solidFill>
                  <a:srgbClr val="660033"/>
                </a:solidFill>
                <a:ea typeface="楷体_GB2312" charset="0"/>
              </a:rPr>
              <a:t>将 </a:t>
            </a:r>
            <a:r>
              <a:rPr lang="en-US" altLang="zh-CN" sz="3200" dirty="0" err="1">
                <a:solidFill>
                  <a:srgbClr val="660033"/>
                </a:solidFill>
                <a:ea typeface="楷体_GB2312" charset="0"/>
              </a:rPr>
              <a:t>bj</a:t>
            </a:r>
            <a:r>
              <a:rPr lang="en-US" altLang="zh-CN" sz="3200" dirty="0">
                <a:solidFill>
                  <a:srgbClr val="660033"/>
                </a:solidFill>
                <a:ea typeface="楷体_GB2312" charset="0"/>
              </a:rPr>
              <a:t> </a:t>
            </a:r>
            <a:r>
              <a:rPr lang="zh-CN" altLang="en-US" sz="3200" dirty="0">
                <a:solidFill>
                  <a:srgbClr val="660033"/>
                </a:solidFill>
                <a:ea typeface="楷体_GB2312" charset="0"/>
              </a:rPr>
              <a:t>插入到 </a:t>
            </a:r>
            <a:r>
              <a:rPr lang="en-US" altLang="zh-CN" sz="3200" dirty="0">
                <a:solidFill>
                  <a:srgbClr val="660033"/>
                </a:solidFill>
                <a:ea typeface="楷体_GB2312" charset="0"/>
              </a:rPr>
              <a:t>Lc </a:t>
            </a:r>
            <a:r>
              <a:rPr lang="zh-CN" altLang="en-US" sz="3200" dirty="0">
                <a:solidFill>
                  <a:srgbClr val="660033"/>
                </a:solidFill>
                <a:ea typeface="楷体_GB2312" charset="0"/>
              </a:rPr>
              <a:t>中</a:t>
            </a:r>
            <a:endParaRPr lang="zh-CN" altLang="en-US" sz="3200" dirty="0">
              <a:solidFill>
                <a:srgbClr val="660033"/>
              </a:solidFill>
              <a:ea typeface="楷体_GB2312" charset="0"/>
            </a:endParaRPr>
          </a:p>
          <a:p>
            <a:pPr eaLnBrk="1" hangingPunct="1">
              <a:lnSpc>
                <a:spcPct val="150000"/>
              </a:lnSpc>
              <a:defRPr/>
            </a:pPr>
            <a:r>
              <a:rPr lang="zh-CN" altLang="en-US" sz="3200" dirty="0">
                <a:solidFill>
                  <a:srgbClr val="660033"/>
                </a:solidFill>
                <a:ea typeface="楷体_GB2312" charset="0"/>
              </a:rPr>
              <a:t>    </a:t>
            </a:r>
            <a:r>
              <a:rPr lang="en-US" altLang="zh-CN" sz="3200" dirty="0" err="1">
                <a:solidFill>
                  <a:srgbClr val="660033"/>
                </a:solidFill>
                <a:ea typeface="楷体_GB2312" charset="0"/>
              </a:rPr>
              <a:t>ListInsert</a:t>
            </a:r>
            <a:r>
              <a:rPr lang="en-US" altLang="zh-CN" sz="3200" dirty="0">
                <a:solidFill>
                  <a:srgbClr val="660033"/>
                </a:solidFill>
                <a:ea typeface="楷体_GB2312" charset="0"/>
              </a:rPr>
              <a:t>(Lc, ++k, </a:t>
            </a:r>
            <a:r>
              <a:rPr lang="en-US" altLang="zh-CN" sz="3200" dirty="0" err="1">
                <a:solidFill>
                  <a:srgbClr val="660033"/>
                </a:solidFill>
                <a:ea typeface="楷体_GB2312" charset="0"/>
              </a:rPr>
              <a:t>bj</a:t>
            </a:r>
            <a:r>
              <a:rPr lang="en-US" altLang="zh-CN" sz="3200" dirty="0">
                <a:solidFill>
                  <a:srgbClr val="660033"/>
                </a:solidFill>
                <a:ea typeface="楷体_GB2312" charset="0"/>
              </a:rPr>
              <a:t>);  ++j; </a:t>
            </a:r>
            <a:r>
              <a:rPr lang="en-US" altLang="zh-CN" sz="3200" b="1" dirty="0">
                <a:solidFill>
                  <a:srgbClr val="660033"/>
                </a:solidFill>
                <a:ea typeface="楷体_GB2312" charset="0"/>
              </a:rPr>
              <a:t>}</a:t>
            </a:r>
            <a:endParaRPr lang="en-US" altLang="zh-CN" sz="3200" b="1" dirty="0">
              <a:solidFill>
                <a:srgbClr val="660033"/>
              </a:solidFill>
              <a:ea typeface="楷体_GB2312"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4" name="Text Box 2"/>
          <p:cNvSpPr txBox="1">
            <a:spLocks noChangeArrowheads="1"/>
          </p:cNvSpPr>
          <p:nvPr/>
        </p:nvSpPr>
        <p:spPr bwMode="auto">
          <a:xfrm>
            <a:off x="685800" y="838200"/>
            <a:ext cx="7543800" cy="2431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b="1">
                <a:ea typeface="楷体_GB2312" charset="0"/>
              </a:rPr>
              <a:t>     </a:t>
            </a:r>
            <a:r>
              <a:rPr lang="en-US" altLang="zh-CN" sz="3200" b="1">
                <a:solidFill>
                  <a:srgbClr val="000099"/>
                </a:solidFill>
                <a:ea typeface="楷体_GB2312" charset="0"/>
              </a:rPr>
              <a:t>while</a:t>
            </a:r>
            <a:r>
              <a:rPr lang="en-US" altLang="zh-CN" sz="3200">
                <a:solidFill>
                  <a:srgbClr val="000099"/>
                </a:solidFill>
                <a:ea typeface="楷体_GB2312" charset="0"/>
              </a:rPr>
              <a:t> (i &lt;= La_len) </a:t>
            </a:r>
            <a:r>
              <a:rPr lang="en-US" altLang="zh-CN" sz="3200" b="1">
                <a:solidFill>
                  <a:srgbClr val="000099"/>
                </a:solidFill>
                <a:ea typeface="楷体_GB2312" charset="0"/>
              </a:rPr>
              <a:t>{ </a:t>
            </a:r>
            <a:r>
              <a:rPr lang="en-US" altLang="zh-CN" sz="3200">
                <a:solidFill>
                  <a:srgbClr val="000099"/>
                </a:solidFill>
                <a:ea typeface="楷体_GB2312" charset="0"/>
              </a:rPr>
              <a:t>// </a:t>
            </a:r>
            <a:r>
              <a:rPr lang="zh-CN" altLang="en-US" sz="3200">
                <a:solidFill>
                  <a:srgbClr val="000099"/>
                </a:solidFill>
                <a:ea typeface="楷体_GB2312" charset="0"/>
              </a:rPr>
              <a:t>当</a:t>
            </a:r>
            <a:r>
              <a:rPr lang="en-US" altLang="zh-CN" sz="3200">
                <a:solidFill>
                  <a:srgbClr val="000099"/>
                </a:solidFill>
                <a:ea typeface="楷体_GB2312" charset="0"/>
              </a:rPr>
              <a:t>La</a:t>
            </a:r>
            <a:r>
              <a:rPr lang="zh-CN" altLang="en-US" sz="3200">
                <a:solidFill>
                  <a:srgbClr val="000099"/>
                </a:solidFill>
                <a:ea typeface="楷体_GB2312" charset="0"/>
              </a:rPr>
              <a:t>不空时</a:t>
            </a:r>
            <a:endParaRPr lang="zh-CN" altLang="en-US" sz="3200">
              <a:solidFill>
                <a:srgbClr val="000099"/>
              </a:solidFill>
              <a:ea typeface="楷体_GB2312" charset="0"/>
            </a:endParaRPr>
          </a:p>
          <a:p>
            <a:pPr eaLnBrk="1" hangingPunct="1">
              <a:lnSpc>
                <a:spcPct val="120000"/>
              </a:lnSpc>
              <a:defRPr/>
            </a:pPr>
            <a:r>
              <a:rPr lang="zh-CN" altLang="en-US" sz="3200">
                <a:ea typeface="楷体_GB2312" charset="0"/>
              </a:rPr>
              <a:t>         </a:t>
            </a:r>
            <a:r>
              <a:rPr lang="en-US" altLang="zh-CN" sz="3200">
                <a:ea typeface="楷体_GB2312" charset="0"/>
              </a:rPr>
              <a:t>GetElem(La, i++, ai);   </a:t>
            </a:r>
            <a:endParaRPr lang="en-US" altLang="zh-CN" sz="3200">
              <a:ea typeface="楷体_GB2312" charset="0"/>
            </a:endParaRPr>
          </a:p>
          <a:p>
            <a:pPr eaLnBrk="1" hangingPunct="1">
              <a:lnSpc>
                <a:spcPct val="120000"/>
              </a:lnSpc>
              <a:defRPr/>
            </a:pPr>
            <a:r>
              <a:rPr lang="en-US" altLang="zh-CN" sz="3200">
                <a:ea typeface="楷体_GB2312" charset="0"/>
              </a:rPr>
              <a:t>         ListInsert(Lc, ++k, ai);</a:t>
            </a:r>
            <a:endParaRPr lang="en-US" altLang="zh-CN" sz="3200">
              <a:ea typeface="楷体_GB2312" charset="0"/>
            </a:endParaRPr>
          </a:p>
          <a:p>
            <a:pPr eaLnBrk="1" hangingPunct="1">
              <a:lnSpc>
                <a:spcPct val="120000"/>
              </a:lnSpc>
              <a:defRPr/>
            </a:pPr>
            <a:r>
              <a:rPr lang="en-US" altLang="zh-CN" sz="3200">
                <a:ea typeface="楷体_GB2312" charset="0"/>
              </a:rPr>
              <a:t>     </a:t>
            </a:r>
            <a:r>
              <a:rPr lang="en-US" altLang="zh-CN" sz="3200" b="1">
                <a:solidFill>
                  <a:srgbClr val="000099"/>
                </a:solidFill>
                <a:ea typeface="楷体_GB2312" charset="0"/>
              </a:rPr>
              <a:t>}</a:t>
            </a:r>
            <a:r>
              <a:rPr lang="en-US" altLang="zh-CN" sz="3200" b="1">
                <a:solidFill>
                  <a:srgbClr val="003399"/>
                </a:solidFill>
                <a:ea typeface="楷体_GB2312" charset="0"/>
              </a:rPr>
              <a:t> </a:t>
            </a:r>
            <a:r>
              <a:rPr lang="en-US" altLang="zh-CN" sz="3200" b="1">
                <a:ea typeface="楷体_GB2312" charset="0"/>
              </a:rPr>
              <a:t>  // </a:t>
            </a:r>
            <a:r>
              <a:rPr lang="zh-CN" altLang="en-US" sz="3200" b="1">
                <a:ea typeface="楷体_GB2312" charset="0"/>
              </a:rPr>
              <a:t>插入 </a:t>
            </a:r>
            <a:r>
              <a:rPr lang="en-US" altLang="zh-CN" sz="3200" b="1">
                <a:ea typeface="楷体_GB2312" charset="0"/>
              </a:rPr>
              <a:t>La </a:t>
            </a:r>
            <a:r>
              <a:rPr lang="zh-CN" altLang="en-US" sz="3200" b="1">
                <a:ea typeface="楷体_GB2312" charset="0"/>
              </a:rPr>
              <a:t>表中剩余元素</a:t>
            </a:r>
            <a:endParaRPr lang="zh-CN" altLang="en-US" sz="3200" b="1">
              <a:ea typeface="楷体_GB2312" charset="0"/>
            </a:endParaRPr>
          </a:p>
        </p:txBody>
      </p:sp>
      <p:sp>
        <p:nvSpPr>
          <p:cNvPr id="924676" name="Rectangle 4"/>
          <p:cNvSpPr>
            <a:spLocks noChangeArrowheads="1"/>
          </p:cNvSpPr>
          <p:nvPr/>
        </p:nvSpPr>
        <p:spPr bwMode="auto">
          <a:xfrm>
            <a:off x="1143000" y="3749675"/>
            <a:ext cx="7143302" cy="2431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a:ea typeface="楷体_GB2312" charset="0"/>
              </a:rPr>
              <a:t> </a:t>
            </a:r>
            <a:r>
              <a:rPr lang="en-US" altLang="zh-CN" sz="3200" b="1">
                <a:solidFill>
                  <a:srgbClr val="000099"/>
                </a:solidFill>
                <a:ea typeface="楷体_GB2312" charset="0"/>
              </a:rPr>
              <a:t>while</a:t>
            </a:r>
            <a:r>
              <a:rPr lang="en-US" altLang="zh-CN" sz="3200">
                <a:solidFill>
                  <a:srgbClr val="000099"/>
                </a:solidFill>
                <a:ea typeface="楷体_GB2312" charset="0"/>
              </a:rPr>
              <a:t> (j &lt;= Lb_len) </a:t>
            </a:r>
            <a:r>
              <a:rPr lang="en-US" altLang="zh-CN" sz="3200" b="1">
                <a:solidFill>
                  <a:srgbClr val="000099"/>
                </a:solidFill>
                <a:ea typeface="楷体_GB2312" charset="0"/>
              </a:rPr>
              <a:t>{</a:t>
            </a:r>
            <a:r>
              <a:rPr lang="en-US" altLang="zh-CN" sz="3200">
                <a:solidFill>
                  <a:srgbClr val="000099"/>
                </a:solidFill>
                <a:ea typeface="楷体_GB2312" charset="0"/>
              </a:rPr>
              <a:t> // </a:t>
            </a:r>
            <a:r>
              <a:rPr lang="zh-CN" altLang="en-US" sz="3200">
                <a:solidFill>
                  <a:srgbClr val="000099"/>
                </a:solidFill>
                <a:ea typeface="楷体_GB2312" charset="0"/>
              </a:rPr>
              <a:t>当</a:t>
            </a:r>
            <a:r>
              <a:rPr lang="en-US" altLang="zh-CN" sz="3200">
                <a:solidFill>
                  <a:srgbClr val="000099"/>
                </a:solidFill>
                <a:ea typeface="楷体_GB2312" charset="0"/>
              </a:rPr>
              <a:t>Lb</a:t>
            </a:r>
            <a:r>
              <a:rPr lang="zh-CN" altLang="en-US" sz="3200">
                <a:solidFill>
                  <a:srgbClr val="000099"/>
                </a:solidFill>
                <a:ea typeface="楷体_GB2312" charset="0"/>
              </a:rPr>
              <a:t>不空时</a:t>
            </a:r>
            <a:endParaRPr lang="zh-CN" altLang="en-US" sz="3200">
              <a:ea typeface="楷体_GB2312" charset="0"/>
            </a:endParaRPr>
          </a:p>
          <a:p>
            <a:pPr eaLnBrk="1" hangingPunct="1">
              <a:lnSpc>
                <a:spcPct val="120000"/>
              </a:lnSpc>
              <a:defRPr/>
            </a:pPr>
            <a:r>
              <a:rPr lang="zh-CN" altLang="en-US" sz="3200">
                <a:ea typeface="楷体_GB2312" charset="0"/>
              </a:rPr>
              <a:t>         </a:t>
            </a:r>
            <a:r>
              <a:rPr lang="en-US" altLang="zh-CN" sz="3200">
                <a:ea typeface="楷体_GB2312" charset="0"/>
              </a:rPr>
              <a:t>GetElem(Lb, j++, bj);</a:t>
            </a:r>
            <a:endParaRPr lang="en-US" altLang="zh-CN" sz="3200">
              <a:ea typeface="楷体_GB2312" charset="0"/>
            </a:endParaRPr>
          </a:p>
          <a:p>
            <a:pPr eaLnBrk="1" hangingPunct="1">
              <a:lnSpc>
                <a:spcPct val="120000"/>
              </a:lnSpc>
              <a:defRPr/>
            </a:pPr>
            <a:r>
              <a:rPr lang="en-US" altLang="zh-CN" sz="3200">
                <a:ea typeface="楷体_GB2312" charset="0"/>
              </a:rPr>
              <a:t>         ListInsert(Lc, ++k, bj);</a:t>
            </a:r>
            <a:endParaRPr lang="en-US" altLang="zh-CN" sz="3200">
              <a:ea typeface="楷体_GB2312" charset="0"/>
            </a:endParaRPr>
          </a:p>
          <a:p>
            <a:pPr eaLnBrk="1" hangingPunct="1">
              <a:lnSpc>
                <a:spcPct val="120000"/>
              </a:lnSpc>
              <a:defRPr/>
            </a:pPr>
            <a:r>
              <a:rPr lang="en-US" altLang="zh-CN" sz="3200">
                <a:ea typeface="楷体_GB2312" charset="0"/>
              </a:rPr>
              <a:t> </a:t>
            </a:r>
            <a:r>
              <a:rPr lang="en-US" altLang="zh-CN" sz="3200" b="1">
                <a:solidFill>
                  <a:srgbClr val="000099"/>
                </a:solidFill>
                <a:ea typeface="楷体_GB2312" charset="0"/>
              </a:rPr>
              <a:t>}</a:t>
            </a:r>
            <a:r>
              <a:rPr lang="en-US" altLang="zh-CN" sz="3200" b="1">
                <a:ea typeface="楷体_GB2312" charset="0"/>
              </a:rPr>
              <a:t>   // </a:t>
            </a:r>
            <a:r>
              <a:rPr lang="zh-CN" altLang="en-US" sz="3200" b="1">
                <a:ea typeface="楷体_GB2312" charset="0"/>
              </a:rPr>
              <a:t>插入 </a:t>
            </a:r>
            <a:r>
              <a:rPr lang="en-US" altLang="zh-CN" sz="3200" b="1">
                <a:ea typeface="楷体_GB2312" charset="0"/>
              </a:rPr>
              <a:t>Lb </a:t>
            </a:r>
            <a:r>
              <a:rPr lang="zh-CN" altLang="en-US" sz="3200" b="1">
                <a:ea typeface="楷体_GB2312" charset="0"/>
              </a:rPr>
              <a:t>表中剩余元素</a:t>
            </a:r>
            <a:endParaRPr lang="zh-CN" altLang="en-US" sz="3200" b="1">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924674"/>
                                        </p:tgtEl>
                                        <p:attrNameLst>
                                          <p:attrName>style.visibility</p:attrName>
                                        </p:attrNameLst>
                                      </p:cBhvr>
                                      <p:to>
                                        <p:strVal val="visible"/>
                                      </p:to>
                                    </p:set>
                                    <p:animEffect transition="in" filter="strips(downRight)">
                                      <p:cBhvr>
                                        <p:cTn id="7" dur="500"/>
                                        <p:tgtEl>
                                          <p:spTgt spid="92467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24676"/>
                                        </p:tgtEl>
                                        <p:attrNameLst>
                                          <p:attrName>style.visibility</p:attrName>
                                        </p:attrNameLst>
                                      </p:cBhvr>
                                      <p:to>
                                        <p:strVal val="visible"/>
                                      </p:to>
                                    </p:set>
                                    <p:animEffect transition="in" filter="strips(downRight)">
                                      <p:cBhvr>
                                        <p:cTn id="12" dur="500"/>
                                        <p:tgtEl>
                                          <p:spTgt spid="924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674" grpId="0" autoUpdateAnimBg="0"/>
      <p:bldP spid="924676"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WordArt 2"/>
          <p:cNvSpPr>
            <a:spLocks noChangeArrowheads="1" noChangeShapeType="1" noTextEdit="1"/>
          </p:cNvSpPr>
          <p:nvPr/>
        </p:nvSpPr>
        <p:spPr bwMode="auto">
          <a:xfrm>
            <a:off x="381000" y="1219200"/>
            <a:ext cx="8305800" cy="4114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611"/>
              </a:avLst>
            </a:prstTxWarp>
          </a:bodyPr>
          <a:lstStyle/>
          <a:p>
            <a:pPr algn="ctr" eaLnBrk="1" hangingPunct="1">
              <a:defRPr/>
            </a:pPr>
            <a:r>
              <a:rPr lang="en-US" altLang="zh-CN"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rPr>
              <a:t>2.2 </a:t>
            </a:r>
            <a:r>
              <a:rPr lang="zh-CN" altLang="en-US"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rPr>
              <a:t>线性表类型</a:t>
            </a:r>
            <a:endParaRPr lang="zh-CN" altLang="en-US"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endParaRPr>
          </a:p>
          <a:p>
            <a:pPr algn="ctr" eaLnBrk="1" hangingPunct="1">
              <a:defRPr/>
            </a:pPr>
            <a:r>
              <a:rPr lang="zh-CN" altLang="en-US"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rPr>
              <a:t>的实现</a:t>
            </a:r>
            <a:r>
              <a:rPr lang="en-US" altLang="zh-CN"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rPr>
              <a:t>----</a:t>
            </a:r>
            <a:r>
              <a:rPr lang="zh-CN" altLang="en-US"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rPr>
              <a:t>顺序映象</a:t>
            </a:r>
            <a:endParaRPr lang="zh-CN" altLang="en-US"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Text Box 2"/>
          <p:cNvSpPr txBox="1">
            <a:spLocks noChangeArrowheads="1"/>
          </p:cNvSpPr>
          <p:nvPr/>
        </p:nvSpPr>
        <p:spPr bwMode="auto">
          <a:xfrm>
            <a:off x="669925" y="4156075"/>
            <a:ext cx="7864475"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3600" b="1">
                <a:solidFill>
                  <a:srgbClr val="990000"/>
                </a:solidFill>
                <a:latin typeface="楷体_GB2312" charset="0"/>
                <a:ea typeface="楷体_GB2312" charset="0"/>
              </a:rPr>
              <a:t>最简单的一种顺序映象方法是：</a:t>
            </a:r>
            <a:endParaRPr lang="zh-CN" altLang="en-US" sz="3600">
              <a:latin typeface="楷体_GB2312" charset="0"/>
              <a:ea typeface="楷体_GB2312" charset="0"/>
            </a:endParaRPr>
          </a:p>
          <a:p>
            <a:pPr eaLnBrk="1" hangingPunct="1">
              <a:lnSpc>
                <a:spcPct val="140000"/>
              </a:lnSpc>
              <a:defRPr/>
            </a:pPr>
            <a:r>
              <a:rPr lang="zh-CN" altLang="en-US" sz="3600">
                <a:latin typeface="楷体_GB2312" charset="0"/>
                <a:ea typeface="楷体_GB2312" charset="0"/>
              </a:rPr>
              <a:t>  </a:t>
            </a:r>
            <a:r>
              <a:rPr lang="zh-CN" altLang="en-US" sz="3600" b="1">
                <a:solidFill>
                  <a:srgbClr val="660033"/>
                </a:solidFill>
                <a:latin typeface="楷体_GB2312" charset="0"/>
                <a:ea typeface="楷体_GB2312" charset="0"/>
              </a:rPr>
              <a:t>令 </a:t>
            </a:r>
            <a:r>
              <a:rPr lang="en-US" altLang="zh-CN" sz="3600" b="1">
                <a:solidFill>
                  <a:srgbClr val="660033"/>
                </a:solidFill>
                <a:latin typeface="楷体_GB2312" charset="0"/>
                <a:ea typeface="楷体_GB2312" charset="0"/>
              </a:rPr>
              <a:t>y </a:t>
            </a:r>
            <a:r>
              <a:rPr lang="zh-CN" altLang="en-US" sz="3600" b="1">
                <a:solidFill>
                  <a:srgbClr val="660033"/>
                </a:solidFill>
                <a:latin typeface="楷体_GB2312" charset="0"/>
                <a:ea typeface="楷体_GB2312" charset="0"/>
              </a:rPr>
              <a:t>的存储位置和 </a:t>
            </a:r>
            <a:r>
              <a:rPr lang="en-US" altLang="zh-CN" sz="3600" b="1">
                <a:solidFill>
                  <a:srgbClr val="660033"/>
                </a:solidFill>
                <a:latin typeface="楷体_GB2312" charset="0"/>
                <a:ea typeface="楷体_GB2312" charset="0"/>
              </a:rPr>
              <a:t>x </a:t>
            </a:r>
            <a:r>
              <a:rPr lang="zh-CN" altLang="en-US" sz="3600" b="1">
                <a:solidFill>
                  <a:srgbClr val="660033"/>
                </a:solidFill>
                <a:latin typeface="楷体_GB2312" charset="0"/>
                <a:ea typeface="楷体_GB2312" charset="0"/>
              </a:rPr>
              <a:t>的存储位置相邻</a:t>
            </a:r>
            <a:r>
              <a:rPr lang="zh-CN" altLang="en-US" sz="3600">
                <a:solidFill>
                  <a:srgbClr val="660033"/>
                </a:solidFill>
                <a:latin typeface="楷体_GB2312" charset="0"/>
                <a:ea typeface="楷体_GB2312" charset="0"/>
              </a:rPr>
              <a:t>。</a:t>
            </a:r>
            <a:endParaRPr lang="zh-CN" altLang="en-US" sz="3600">
              <a:solidFill>
                <a:srgbClr val="660033"/>
              </a:solidFill>
            </a:endParaRPr>
          </a:p>
        </p:txBody>
      </p:sp>
      <p:sp>
        <p:nvSpPr>
          <p:cNvPr id="926723" name="Text Box 3"/>
          <p:cNvSpPr txBox="1">
            <a:spLocks noChangeArrowheads="1"/>
          </p:cNvSpPr>
          <p:nvPr/>
        </p:nvSpPr>
        <p:spPr bwMode="auto">
          <a:xfrm>
            <a:off x="669925" y="1381125"/>
            <a:ext cx="2012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990000"/>
                </a:solidFill>
              </a:rPr>
              <a:t>顺序映象</a:t>
            </a:r>
            <a:endParaRPr lang="zh-CN" altLang="en-US" sz="3600"/>
          </a:p>
        </p:txBody>
      </p:sp>
      <p:sp>
        <p:nvSpPr>
          <p:cNvPr id="926724" name="Text Box 4"/>
          <p:cNvSpPr txBox="1">
            <a:spLocks noChangeArrowheads="1"/>
          </p:cNvSpPr>
          <p:nvPr/>
        </p:nvSpPr>
        <p:spPr bwMode="auto">
          <a:xfrm>
            <a:off x="1127125" y="2066925"/>
            <a:ext cx="763587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en-US" altLang="zh-CN" sz="3600" b="1"/>
              <a:t>——</a:t>
            </a:r>
            <a:r>
              <a:rPr lang="en-US" altLang="zh-CN" sz="3600"/>
              <a:t> </a:t>
            </a:r>
            <a:r>
              <a:rPr lang="zh-CN" altLang="en-US" sz="3600" b="1">
                <a:solidFill>
                  <a:srgbClr val="660033"/>
                </a:solidFill>
                <a:ea typeface="楷体_GB2312" charset="0"/>
              </a:rPr>
              <a:t>以 </a:t>
            </a:r>
            <a:r>
              <a:rPr lang="en-US" altLang="zh-CN" sz="3600" b="1">
                <a:solidFill>
                  <a:srgbClr val="660033"/>
                </a:solidFill>
                <a:ea typeface="楷体_GB2312" charset="0"/>
              </a:rPr>
              <a:t>x </a:t>
            </a:r>
            <a:r>
              <a:rPr lang="zh-CN" altLang="en-US" sz="3600" b="1">
                <a:solidFill>
                  <a:srgbClr val="660033"/>
                </a:solidFill>
                <a:ea typeface="楷体_GB2312" charset="0"/>
              </a:rPr>
              <a:t>的存储位置和 </a:t>
            </a:r>
            <a:r>
              <a:rPr lang="en-US" altLang="zh-CN" sz="3600" b="1">
                <a:solidFill>
                  <a:srgbClr val="660033"/>
                </a:solidFill>
                <a:ea typeface="楷体_GB2312" charset="0"/>
              </a:rPr>
              <a:t>y </a:t>
            </a:r>
            <a:r>
              <a:rPr lang="zh-CN" altLang="en-US" sz="3600" b="1">
                <a:solidFill>
                  <a:srgbClr val="660033"/>
                </a:solidFill>
                <a:ea typeface="楷体_GB2312" charset="0"/>
              </a:rPr>
              <a:t>的存储位置之间某种关系表示逻辑关系</a:t>
            </a:r>
            <a:r>
              <a:rPr lang="en-US" altLang="zh-CN" sz="3600" b="1">
                <a:solidFill>
                  <a:srgbClr val="660033"/>
                </a:solidFill>
                <a:ea typeface="楷体_GB2312" charset="0"/>
              </a:rPr>
              <a:t>&lt;x,y&gt;</a:t>
            </a:r>
            <a:r>
              <a:rPr lang="zh-CN" altLang="en-US" sz="3600" b="1">
                <a:solidFill>
                  <a:srgbClr val="660033"/>
                </a:solidFill>
                <a:ea typeface="楷体_GB2312" charset="0"/>
              </a:rPr>
              <a:t>。</a:t>
            </a:r>
            <a:endParaRPr lang="zh-CN" altLang="en-US" sz="3600" b="1">
              <a:solidFill>
                <a:srgbClr val="660033"/>
              </a:solidFill>
              <a:ea typeface="楷体_GB2312"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02" name="Rectangle 2"/>
          <p:cNvSpPr>
            <a:spLocks noChangeArrowheads="1"/>
          </p:cNvSpPr>
          <p:nvPr/>
        </p:nvSpPr>
        <p:spPr bwMode="auto">
          <a:xfrm>
            <a:off x="381000" y="381000"/>
            <a:ext cx="7772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indent="374650" eaLnBrk="0" hangingPunct="0">
              <a:defRPr kumimoji="1" sz="2000">
                <a:solidFill>
                  <a:schemeClr val="tx1"/>
                </a:solidFill>
                <a:latin typeface="Times New Roman" panose="02020603050405020304" charset="0"/>
                <a:ea typeface="宋体" panose="02010600030101010101" pitchFamily="2" charset="-122"/>
              </a:defRPr>
            </a:lvl1pPr>
            <a:lvl2pPr marL="565150"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defRPr/>
            </a:pPr>
            <a:endParaRPr lang="zh-CN" altLang="en-US" sz="2400">
              <a:latin typeface="宋体" panose="02010600030101010101" pitchFamily="2" charset="-122"/>
            </a:endParaRPr>
          </a:p>
          <a:p>
            <a:pPr>
              <a:defRPr/>
            </a:pPr>
            <a:endParaRPr lang="zh-CN" altLang="en-US" sz="2400"/>
          </a:p>
        </p:txBody>
      </p:sp>
      <p:graphicFrame>
        <p:nvGraphicFramePr>
          <p:cNvPr id="1024079" name="Group 79"/>
          <p:cNvGraphicFramePr>
            <a:graphicFrameLocks noGrp="1"/>
          </p:cNvGraphicFramePr>
          <p:nvPr/>
        </p:nvGraphicFramePr>
        <p:xfrm>
          <a:off x="609600" y="914400"/>
          <a:ext cx="8001000" cy="4086226"/>
        </p:xfrm>
        <a:graphic>
          <a:graphicData uri="http://schemas.openxmlformats.org/drawingml/2006/table">
            <a:tbl>
              <a:tblPr/>
              <a:tblGrid>
                <a:gridCol w="1447800"/>
                <a:gridCol w="1447800"/>
                <a:gridCol w="1219200"/>
                <a:gridCol w="2413000"/>
                <a:gridCol w="1473200"/>
              </a:tblGrid>
              <a:tr h="609600">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2400" b="1" i="0" u="none" strike="noStrike" cap="none" normalizeH="0" baseline="0">
                          <a:ln>
                            <a:noFill/>
                          </a:ln>
                          <a:solidFill>
                            <a:srgbClr val="FF0000"/>
                          </a:solidFill>
                          <a:effectLst/>
                          <a:latin typeface="楷体_GB2312" charset="0"/>
                          <a:ea typeface="楷体_GB2312" charset="0"/>
                        </a:rPr>
                        <a:t>逻辑地址</a:t>
                      </a:r>
                      <a:endParaRPr kumimoji="1" lang="zh-CN" altLang="en-US" sz="2400" b="1" i="0" u="none" strike="noStrike" cap="none" normalizeH="0" baseline="0">
                        <a:ln>
                          <a:noFill/>
                        </a:ln>
                        <a:solidFill>
                          <a:srgbClr val="FF0000"/>
                        </a:solidFill>
                        <a:effectLst/>
                        <a:latin typeface="楷体_GB2312" charset="0"/>
                        <a:ea typeface="楷体_GB2312" charset="0"/>
                      </a:endParaRPr>
                    </a:p>
                  </a:txBody>
                  <a:tcPr horzOverflow="overflow">
                    <a:lnL cap="flat">
                      <a:noFill/>
                    </a:lnL>
                    <a:lnR>
                      <a:noFill/>
                    </a:lnR>
                    <a:lnT cap="fla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数据元素</a:t>
                      </a:r>
                      <a:endParaRPr kumimoji="1"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zh-CN" altLang="en-US" sz="2400" b="1" i="0" u="none" strike="noStrike" cap="none" normalizeH="0" baseline="0">
                          <a:ln>
                            <a:noFill/>
                          </a:ln>
                          <a:solidFill>
                            <a:srgbClr val="FF0000"/>
                          </a:solidFill>
                          <a:effectLst/>
                          <a:latin typeface="楷体_GB2312" charset="0"/>
                          <a:ea typeface="楷体_GB2312" charset="0"/>
                        </a:rPr>
                        <a:t>存储地址</a:t>
                      </a:r>
                      <a:endParaRPr kumimoji="1" lang="zh-CN" altLang="en-US" sz="2400" b="1" i="0" u="none" strike="noStrike" cap="none" normalizeH="0" baseline="0">
                        <a:ln>
                          <a:noFill/>
                        </a:ln>
                        <a:solidFill>
                          <a:srgbClr val="FF0000"/>
                        </a:solidFill>
                        <a:effectLst/>
                        <a:latin typeface="楷体_GB2312" charset="0"/>
                        <a:ea typeface="楷体_GB2312" charset="0"/>
                      </a:endParaRPr>
                    </a:p>
                  </a:txBody>
                  <a:tcPr horzOverflow="overflow">
                    <a:lnL>
                      <a:noFill/>
                    </a:lnL>
                    <a:lnR>
                      <a:noFill/>
                    </a:lnR>
                    <a:lnT cap="fla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数据元素</a:t>
                      </a:r>
                      <a:endParaRPr kumimoji="1"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r>
              <a:tr h="579438">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1</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Loc(a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1</a:t>
                      </a: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1</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2138">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2</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Loc(a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1</a:t>
                      </a: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2</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1025">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1025">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i</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i</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Loc(a</a:t>
                      </a:r>
                      <a:r>
                        <a:rPr kumimoji="1" lang="en-US" altLang="zh-CN" sz="2400" b="0" i="0" u="none" strike="noStrike" cap="none" normalizeH="0" baseline="-25000">
                          <a:ln>
                            <a:noFill/>
                          </a:ln>
                          <a:solidFill>
                            <a:schemeClr val="tx1"/>
                          </a:solidFill>
                          <a:effectLst/>
                          <a:latin typeface="Arial" panose="020B0604020202020204" pitchFamily="34" charset="0"/>
                          <a:ea typeface="宋体" panose="02010600030101010101" pitchFamily="2" charset="-122"/>
                        </a:rPr>
                        <a:t>1</a:t>
                      </a: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)+(i-1)*c</a:t>
                      </a:r>
                      <a:endPar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i</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1975">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1025">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n</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n</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cap="flat">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Loc(k</a:t>
                      </a:r>
                      <a:r>
                        <a:rPr kumimoji="1" lang="en-US" altLang="zh-CN" sz="2400" b="0" i="0" u="none" strike="noStrike" cap="none" normalizeH="0" baseline="-25000">
                          <a:ln>
                            <a:noFill/>
                          </a:ln>
                          <a:solidFill>
                            <a:schemeClr val="tx1"/>
                          </a:solidFill>
                          <a:effectLst/>
                          <a:latin typeface="Arial" panose="020B0604020202020204" pitchFamily="34" charset="0"/>
                          <a:ea typeface="宋体" panose="02010600030101010101" pitchFamily="2" charset="-122"/>
                        </a:rPr>
                        <a:t>0</a:t>
                      </a: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)+(n-1)*c</a:t>
                      </a:r>
                      <a:endPar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n</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6376" name="Rectangle 73"/>
          <p:cNvSpPr>
            <a:spLocks noGrp="1" noChangeArrowheads="1"/>
          </p:cNvSpPr>
          <p:nvPr>
            <p:ph type="title" idx="4294967295"/>
          </p:nvPr>
        </p:nvSpPr>
        <p:spPr>
          <a:xfrm>
            <a:off x="1600200" y="0"/>
            <a:ext cx="6019800" cy="762000"/>
          </a:xfrm>
        </p:spPr>
        <p:txBody>
          <a:bodyPr/>
          <a:lstStyle/>
          <a:p>
            <a:r>
              <a:rPr lang="zh-CN" altLang="en-US" sz="2800">
                <a:solidFill>
                  <a:srgbClr val="FF0000"/>
                </a:solidFill>
                <a:latin typeface="楷体_GB2312" charset="0"/>
                <a:ea typeface="楷体_GB2312" charset="0"/>
              </a:rPr>
              <a:t>线性表的顺序存储结构示意图</a:t>
            </a:r>
            <a:endParaRPr lang="zh-CN" altLang="en-US" sz="2800">
              <a:solidFill>
                <a:srgbClr val="FF0000"/>
              </a:solidFill>
              <a:latin typeface="楷体_GB2312" charset="0"/>
              <a:ea typeface="楷体_GB2312" charset="0"/>
            </a:endParaRPr>
          </a:p>
        </p:txBody>
      </p:sp>
      <p:sp>
        <p:nvSpPr>
          <p:cNvPr id="1024074" name="AutoShape 74"/>
          <p:cNvSpPr>
            <a:spLocks noChangeArrowheads="1"/>
          </p:cNvSpPr>
          <p:nvPr/>
        </p:nvSpPr>
        <p:spPr bwMode="auto">
          <a:xfrm>
            <a:off x="4191000" y="2667000"/>
            <a:ext cx="914400" cy="609600"/>
          </a:xfrm>
          <a:prstGeom prst="rightArrow">
            <a:avLst>
              <a:gd name="adj1" fmla="val 33333"/>
              <a:gd name="adj2" fmla="val 4452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4075" name="Rectangle 75"/>
          <p:cNvSpPr>
            <a:spLocks noChangeArrowheads="1"/>
          </p:cNvSpPr>
          <p:nvPr/>
        </p:nvSpPr>
        <p:spPr bwMode="auto">
          <a:xfrm>
            <a:off x="457200" y="5105400"/>
            <a:ext cx="8458200"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eaLnBrk="1" hangingPunct="1">
              <a:spcBef>
                <a:spcPct val="50000"/>
              </a:spcBef>
              <a:defRPr/>
            </a:pPr>
            <a:r>
              <a:rPr lang="zh-CN" altLang="en-US" sz="2400"/>
              <a:t>        </a:t>
            </a:r>
            <a:r>
              <a:rPr lang="en-US" altLang="zh-CN" sz="2800" b="1"/>
              <a:t>Locate(</a:t>
            </a:r>
            <a:r>
              <a:rPr lang="en-US" altLang="zh-CN" sz="2800" b="1">
                <a:solidFill>
                  <a:srgbClr val="FF0000"/>
                </a:solidFill>
              </a:rPr>
              <a:t>a</a:t>
            </a:r>
            <a:r>
              <a:rPr lang="en-US" altLang="zh-CN" sz="2800" b="1" baseline="-25000">
                <a:solidFill>
                  <a:srgbClr val="FF0000"/>
                </a:solidFill>
              </a:rPr>
              <a:t>i+1</a:t>
            </a:r>
            <a:r>
              <a:rPr lang="en-US" altLang="zh-CN" sz="2800" b="1"/>
              <a:t>) = Locate(</a:t>
            </a:r>
            <a:r>
              <a:rPr lang="en-US" altLang="zh-CN" sz="2800" b="1">
                <a:solidFill>
                  <a:srgbClr val="FF0000"/>
                </a:solidFill>
              </a:rPr>
              <a:t>a</a:t>
            </a:r>
            <a:r>
              <a:rPr lang="en-US" altLang="zh-CN" sz="2800" b="1" baseline="-25000">
                <a:solidFill>
                  <a:srgbClr val="FF0000"/>
                </a:solidFill>
              </a:rPr>
              <a:t>i</a:t>
            </a:r>
            <a:r>
              <a:rPr lang="en-US" altLang="zh-CN" sz="2800" b="1"/>
              <a:t>) + sizeof(ElemType)</a:t>
            </a:r>
            <a:endParaRPr lang="en-US" altLang="zh-CN" sz="2800" b="1"/>
          </a:p>
          <a:p>
            <a:pPr eaLnBrk="1" hangingPunct="1">
              <a:spcBef>
                <a:spcPct val="50000"/>
              </a:spcBef>
              <a:defRPr/>
            </a:pPr>
            <a:r>
              <a:rPr lang="en-US" altLang="zh-CN" sz="2800" b="1"/>
              <a:t>       Locate(</a:t>
            </a:r>
            <a:r>
              <a:rPr lang="en-US" altLang="zh-CN" sz="2800" b="1">
                <a:solidFill>
                  <a:srgbClr val="FF0000"/>
                </a:solidFill>
              </a:rPr>
              <a:t>a</a:t>
            </a:r>
            <a:r>
              <a:rPr lang="en-US" altLang="zh-CN" sz="2800" b="1" baseline="-25000">
                <a:solidFill>
                  <a:srgbClr val="FF0000"/>
                </a:solidFill>
              </a:rPr>
              <a:t>i</a:t>
            </a:r>
            <a:r>
              <a:rPr lang="en-US" altLang="zh-CN" sz="2800" b="1"/>
              <a:t>) = Locate(</a:t>
            </a:r>
            <a:r>
              <a:rPr lang="en-US" altLang="zh-CN" sz="2800" b="1">
                <a:solidFill>
                  <a:srgbClr val="FF0000"/>
                </a:solidFill>
              </a:rPr>
              <a:t>a</a:t>
            </a:r>
            <a:r>
              <a:rPr lang="en-US" altLang="zh-CN" sz="2800" b="1" baseline="-25000">
                <a:solidFill>
                  <a:srgbClr val="FF0000"/>
                </a:solidFill>
              </a:rPr>
              <a:t>1</a:t>
            </a:r>
            <a:r>
              <a:rPr lang="en-US" altLang="zh-CN" sz="2800" b="1"/>
              <a:t>) + sizeof(ElemType) *( i-1)</a:t>
            </a:r>
            <a:endParaRPr lang="en-US" altLang="zh-CN" sz="2800" b="1"/>
          </a:p>
        </p:txBody>
      </p:sp>
      <p:sp>
        <p:nvSpPr>
          <p:cNvPr id="1024080" name="Rectangle 80"/>
          <p:cNvSpPr>
            <a:spLocks noChangeArrowheads="1"/>
          </p:cNvSpPr>
          <p:nvPr/>
        </p:nvSpPr>
        <p:spPr bwMode="auto">
          <a:xfrm>
            <a:off x="3352800" y="6248400"/>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b="1">
                <a:solidFill>
                  <a:srgbClr val="660033"/>
                </a:solidFill>
              </a:rPr>
              <a:t>基地址</a:t>
            </a:r>
            <a:endParaRPr lang="zh-CN" altLang="en-US" b="1">
              <a:solidFill>
                <a:srgbClr val="660033"/>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24075"/>
                                        </p:tgtEl>
                                        <p:attrNameLst>
                                          <p:attrName>style.visibility</p:attrName>
                                        </p:attrNameLst>
                                      </p:cBhvr>
                                      <p:to>
                                        <p:strVal val="visible"/>
                                      </p:to>
                                    </p:set>
                                    <p:animEffect transition="in" filter="slide(fromBottom)">
                                      <p:cBhvr>
                                        <p:cTn id="7" dur="500"/>
                                        <p:tgtEl>
                                          <p:spTgt spid="102407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24080"/>
                                        </p:tgtEl>
                                        <p:attrNameLst>
                                          <p:attrName>style.visibility</p:attrName>
                                        </p:attrNameLst>
                                      </p:cBhvr>
                                      <p:to>
                                        <p:strVal val="visible"/>
                                      </p:to>
                                    </p:set>
                                    <p:anim calcmode="lin" valueType="num">
                                      <p:cBhvr additive="base">
                                        <p:cTn id="12" dur="500" fill="hold"/>
                                        <p:tgtEl>
                                          <p:spTgt spid="1024080"/>
                                        </p:tgtEl>
                                        <p:attrNameLst>
                                          <p:attrName>ppt_x</p:attrName>
                                        </p:attrNameLst>
                                      </p:cBhvr>
                                      <p:tavLst>
                                        <p:tav tm="0">
                                          <p:val>
                                            <p:strVal val="#ppt_x"/>
                                          </p:val>
                                        </p:tav>
                                        <p:tav tm="100000">
                                          <p:val>
                                            <p:strVal val="#ppt_x"/>
                                          </p:val>
                                        </p:tav>
                                      </p:tavLst>
                                    </p:anim>
                                    <p:anim calcmode="lin" valueType="num">
                                      <p:cBhvr additive="base">
                                        <p:cTn id="13" dur="500" fill="hold"/>
                                        <p:tgtEl>
                                          <p:spTgt spid="10240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75" grpId="0" autoUpdateAnimBg="0"/>
      <p:bldP spid="102408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4" name="Text Box 2"/>
          <p:cNvSpPr txBox="1">
            <a:spLocks noChangeArrowheads="1"/>
          </p:cNvSpPr>
          <p:nvPr/>
        </p:nvSpPr>
        <p:spPr bwMode="auto">
          <a:xfrm>
            <a:off x="1524000" y="228600"/>
            <a:ext cx="5105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b="1">
                <a:solidFill>
                  <a:srgbClr val="660033"/>
                </a:solidFill>
                <a:ea typeface="楷体_GB2312" charset="0"/>
              </a:rPr>
              <a:t>顺序映像的 </a:t>
            </a:r>
            <a:r>
              <a:rPr lang="en-US" altLang="zh-CN" sz="3600" b="1">
                <a:solidFill>
                  <a:srgbClr val="660033"/>
                </a:solidFill>
                <a:ea typeface="楷体_GB2312" charset="0"/>
              </a:rPr>
              <a:t>C </a:t>
            </a:r>
            <a:r>
              <a:rPr lang="zh-CN" altLang="en-US" sz="3600" b="1">
                <a:solidFill>
                  <a:srgbClr val="660033"/>
                </a:solidFill>
                <a:ea typeface="楷体_GB2312" charset="0"/>
              </a:rPr>
              <a:t>语言描述</a:t>
            </a:r>
            <a:endParaRPr lang="zh-CN" altLang="en-US" sz="3600">
              <a:solidFill>
                <a:srgbClr val="660033"/>
              </a:solidFill>
            </a:endParaRPr>
          </a:p>
        </p:txBody>
      </p:sp>
      <p:sp>
        <p:nvSpPr>
          <p:cNvPr id="929795" name="Rectangle 3"/>
          <p:cNvSpPr>
            <a:spLocks noChangeArrowheads="1"/>
          </p:cNvSpPr>
          <p:nvPr/>
        </p:nvSpPr>
        <p:spPr bwMode="auto">
          <a:xfrm>
            <a:off x="107504" y="3184525"/>
            <a:ext cx="4287838" cy="359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b="1">
                <a:solidFill>
                  <a:srgbClr val="660033"/>
                </a:solidFill>
              </a:rPr>
              <a:t>typedef  struct {</a:t>
            </a:r>
            <a:endParaRPr lang="en-US" altLang="zh-CN" sz="3200">
              <a:solidFill>
                <a:srgbClr val="660033"/>
              </a:solidFill>
            </a:endParaRPr>
          </a:p>
          <a:p>
            <a:pPr eaLnBrk="1" hangingPunct="1">
              <a:lnSpc>
                <a:spcPct val="120000"/>
              </a:lnSpc>
              <a:defRPr/>
            </a:pPr>
            <a:r>
              <a:rPr lang="en-US" altLang="zh-CN" sz="3200">
                <a:solidFill>
                  <a:srgbClr val="660033"/>
                </a:solidFill>
              </a:rPr>
              <a:t>     </a:t>
            </a:r>
            <a:endParaRPr lang="en-US" altLang="zh-CN" sz="3200">
              <a:solidFill>
                <a:srgbClr val="660033"/>
              </a:solidFill>
            </a:endParaRPr>
          </a:p>
          <a:p>
            <a:pPr eaLnBrk="1" hangingPunct="1">
              <a:lnSpc>
                <a:spcPct val="120000"/>
              </a:lnSpc>
              <a:defRPr/>
            </a:pPr>
            <a:endParaRPr lang="en-US" altLang="zh-CN" sz="3200">
              <a:solidFill>
                <a:srgbClr val="660033"/>
              </a:solidFill>
            </a:endParaRPr>
          </a:p>
          <a:p>
            <a:pPr eaLnBrk="1" hangingPunct="1">
              <a:lnSpc>
                <a:spcPct val="120000"/>
              </a:lnSpc>
              <a:defRPr/>
            </a:pPr>
            <a:endParaRPr lang="en-US" altLang="zh-CN" sz="3200">
              <a:solidFill>
                <a:srgbClr val="660033"/>
              </a:solidFill>
            </a:endParaRPr>
          </a:p>
          <a:p>
            <a:pPr eaLnBrk="1" hangingPunct="1">
              <a:lnSpc>
                <a:spcPct val="120000"/>
              </a:lnSpc>
              <a:defRPr/>
            </a:pPr>
            <a:endParaRPr lang="en-US" altLang="zh-CN" sz="3200">
              <a:solidFill>
                <a:srgbClr val="660033"/>
              </a:solidFill>
            </a:endParaRPr>
          </a:p>
          <a:p>
            <a:pPr eaLnBrk="1" hangingPunct="1">
              <a:lnSpc>
                <a:spcPct val="120000"/>
              </a:lnSpc>
              <a:defRPr/>
            </a:pPr>
            <a:r>
              <a:rPr lang="en-US" altLang="zh-CN" sz="3200" b="1">
                <a:solidFill>
                  <a:srgbClr val="660033"/>
                </a:solidFill>
              </a:rPr>
              <a:t>} </a:t>
            </a:r>
            <a:r>
              <a:rPr lang="en-US" altLang="zh-CN" sz="3200">
                <a:solidFill>
                  <a:srgbClr val="660033"/>
                </a:solidFill>
              </a:rPr>
              <a:t>SqList;  // </a:t>
            </a:r>
            <a:r>
              <a:rPr lang="zh-CN" altLang="en-US" sz="3200">
                <a:solidFill>
                  <a:srgbClr val="660033"/>
                </a:solidFill>
              </a:rPr>
              <a:t>俗称 </a:t>
            </a:r>
            <a:r>
              <a:rPr lang="zh-CN" altLang="en-US" sz="3200" b="1">
                <a:solidFill>
                  <a:srgbClr val="660033"/>
                </a:solidFill>
              </a:rPr>
              <a:t>顺序表</a:t>
            </a:r>
            <a:endParaRPr lang="zh-CN" altLang="en-US" sz="3200" b="1">
              <a:solidFill>
                <a:srgbClr val="660033"/>
              </a:solidFill>
            </a:endParaRPr>
          </a:p>
        </p:txBody>
      </p:sp>
      <p:sp>
        <p:nvSpPr>
          <p:cNvPr id="929796" name="Rectangle 4"/>
          <p:cNvSpPr>
            <a:spLocks noChangeArrowheads="1"/>
          </p:cNvSpPr>
          <p:nvPr/>
        </p:nvSpPr>
        <p:spPr bwMode="auto">
          <a:xfrm>
            <a:off x="107504" y="1346200"/>
            <a:ext cx="66040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660033"/>
                </a:solidFill>
              </a:rPr>
              <a:t>#define</a:t>
            </a:r>
            <a:r>
              <a:rPr lang="en-US" altLang="zh-CN" sz="2800">
                <a:solidFill>
                  <a:srgbClr val="660033"/>
                </a:solidFill>
              </a:rPr>
              <a:t>  LIST_INIT_SIZE     80  </a:t>
            </a:r>
            <a:endParaRPr lang="en-US" altLang="zh-CN" sz="2800">
              <a:solidFill>
                <a:srgbClr val="660033"/>
              </a:solidFill>
            </a:endParaRPr>
          </a:p>
          <a:p>
            <a:pPr eaLnBrk="1" hangingPunct="1">
              <a:defRPr/>
            </a:pPr>
            <a:r>
              <a:rPr lang="en-US" altLang="zh-CN" sz="2800">
                <a:solidFill>
                  <a:srgbClr val="660033"/>
                </a:solidFill>
              </a:rPr>
              <a:t>                 // </a:t>
            </a:r>
            <a:r>
              <a:rPr lang="zh-CN" altLang="en-US" sz="2800">
                <a:solidFill>
                  <a:srgbClr val="660033"/>
                </a:solidFill>
                <a:ea typeface="隶书" panose="02010509060101010101" charset="-122"/>
              </a:rPr>
              <a:t>线性表存储空间的初始分配量</a:t>
            </a:r>
            <a:endParaRPr lang="zh-CN" altLang="en-US" sz="2800">
              <a:solidFill>
                <a:srgbClr val="660033"/>
              </a:solidFill>
            </a:endParaRPr>
          </a:p>
          <a:p>
            <a:pPr eaLnBrk="1" hangingPunct="1">
              <a:defRPr/>
            </a:pPr>
            <a:r>
              <a:rPr lang="en-US" altLang="zh-CN" sz="2800" b="1">
                <a:solidFill>
                  <a:srgbClr val="660033"/>
                </a:solidFill>
              </a:rPr>
              <a:t>#define </a:t>
            </a:r>
            <a:r>
              <a:rPr lang="en-US" altLang="zh-CN" sz="2800">
                <a:solidFill>
                  <a:srgbClr val="660033"/>
                </a:solidFill>
              </a:rPr>
              <a:t> LISTINCREMENT    10 </a:t>
            </a:r>
            <a:endParaRPr lang="en-US" altLang="zh-CN" sz="2800">
              <a:solidFill>
                <a:srgbClr val="660033"/>
              </a:solidFill>
            </a:endParaRPr>
          </a:p>
          <a:p>
            <a:pPr eaLnBrk="1" hangingPunct="1">
              <a:defRPr/>
            </a:pPr>
            <a:r>
              <a:rPr lang="en-US" altLang="zh-CN" sz="2800">
                <a:solidFill>
                  <a:srgbClr val="660033"/>
                </a:solidFill>
              </a:rPr>
              <a:t>                // </a:t>
            </a:r>
            <a:r>
              <a:rPr lang="zh-CN" altLang="en-US" sz="2800">
                <a:solidFill>
                  <a:srgbClr val="660033"/>
                </a:solidFill>
                <a:ea typeface="隶书" panose="02010509060101010101" charset="-122"/>
              </a:rPr>
              <a:t>线性表存储空间的分配增量</a:t>
            </a:r>
            <a:endParaRPr lang="zh-CN" altLang="en-US" sz="2800">
              <a:solidFill>
                <a:srgbClr val="660033"/>
              </a:solidFill>
              <a:ea typeface="隶书" panose="02010509060101010101" charset="-122"/>
            </a:endParaRPr>
          </a:p>
        </p:txBody>
      </p:sp>
      <p:sp>
        <p:nvSpPr>
          <p:cNvPr id="929797" name="Rectangle 5"/>
          <p:cNvSpPr>
            <a:spLocks noChangeArrowheads="1"/>
          </p:cNvSpPr>
          <p:nvPr/>
        </p:nvSpPr>
        <p:spPr bwMode="auto">
          <a:xfrm>
            <a:off x="694879" y="3933825"/>
            <a:ext cx="59737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dirty="0" err="1">
                <a:solidFill>
                  <a:srgbClr val="660033"/>
                </a:solidFill>
              </a:rPr>
              <a:t>ElemType</a:t>
            </a:r>
            <a:r>
              <a:rPr lang="en-US" altLang="zh-CN" sz="3200" dirty="0">
                <a:solidFill>
                  <a:srgbClr val="660033"/>
                </a:solidFill>
              </a:rPr>
              <a:t> </a:t>
            </a:r>
            <a:r>
              <a:rPr lang="en-US" altLang="zh-CN" sz="3200" b="1" dirty="0">
                <a:solidFill>
                  <a:srgbClr val="990000"/>
                </a:solidFill>
              </a:rPr>
              <a:t>*</a:t>
            </a:r>
            <a:r>
              <a:rPr lang="en-US" altLang="zh-CN" sz="3200" b="1" dirty="0" err="1">
                <a:solidFill>
                  <a:srgbClr val="990000"/>
                </a:solidFill>
              </a:rPr>
              <a:t>elem</a:t>
            </a:r>
            <a:r>
              <a:rPr lang="en-US" altLang="zh-CN" sz="3200" dirty="0">
                <a:solidFill>
                  <a:srgbClr val="660033"/>
                </a:solidFill>
              </a:rPr>
              <a:t>;    // </a:t>
            </a:r>
            <a:r>
              <a:rPr lang="zh-CN" altLang="en-US" sz="2800" dirty="0">
                <a:solidFill>
                  <a:srgbClr val="660033"/>
                </a:solidFill>
                <a:ea typeface="楷体_GB2312" charset="0"/>
              </a:rPr>
              <a:t>存储空间基址</a:t>
            </a:r>
            <a:endParaRPr lang="zh-CN" altLang="en-US" sz="2800" dirty="0">
              <a:solidFill>
                <a:srgbClr val="660033"/>
              </a:solidFill>
            </a:endParaRPr>
          </a:p>
        </p:txBody>
      </p:sp>
      <p:sp>
        <p:nvSpPr>
          <p:cNvPr id="929798" name="Rectangle 6"/>
          <p:cNvSpPr>
            <a:spLocks noChangeArrowheads="1"/>
          </p:cNvSpPr>
          <p:nvPr/>
        </p:nvSpPr>
        <p:spPr bwMode="auto">
          <a:xfrm>
            <a:off x="771079" y="4695825"/>
            <a:ext cx="4516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660033"/>
                </a:solidFill>
              </a:rPr>
              <a:t>int</a:t>
            </a:r>
            <a:r>
              <a:rPr lang="en-US" altLang="zh-CN" sz="3200">
                <a:solidFill>
                  <a:srgbClr val="660033"/>
                </a:solidFill>
              </a:rPr>
              <a:t>     </a:t>
            </a:r>
            <a:r>
              <a:rPr lang="en-US" altLang="zh-CN" sz="3200" b="1">
                <a:solidFill>
                  <a:srgbClr val="660033"/>
                </a:solidFill>
              </a:rPr>
              <a:t> </a:t>
            </a:r>
            <a:r>
              <a:rPr lang="en-US" altLang="zh-CN" sz="3200" b="1">
                <a:solidFill>
                  <a:srgbClr val="990000"/>
                </a:solidFill>
              </a:rPr>
              <a:t>length</a:t>
            </a:r>
            <a:r>
              <a:rPr lang="en-US" altLang="zh-CN" sz="3200">
                <a:solidFill>
                  <a:srgbClr val="660033"/>
                </a:solidFill>
              </a:rPr>
              <a:t>;   // </a:t>
            </a:r>
            <a:r>
              <a:rPr lang="zh-CN" altLang="en-US" sz="2800">
                <a:solidFill>
                  <a:srgbClr val="660033"/>
                </a:solidFill>
                <a:ea typeface="楷体_GB2312" charset="0"/>
              </a:rPr>
              <a:t>当前长度</a:t>
            </a:r>
            <a:endParaRPr lang="zh-CN" altLang="en-US" sz="2800">
              <a:solidFill>
                <a:srgbClr val="660033"/>
              </a:solidFill>
            </a:endParaRPr>
          </a:p>
        </p:txBody>
      </p:sp>
      <p:sp>
        <p:nvSpPr>
          <p:cNvPr id="929799" name="Rectangle 7"/>
          <p:cNvSpPr>
            <a:spLocks noChangeArrowheads="1"/>
          </p:cNvSpPr>
          <p:nvPr/>
        </p:nvSpPr>
        <p:spPr bwMode="auto">
          <a:xfrm>
            <a:off x="771079" y="5365750"/>
            <a:ext cx="72358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dirty="0">
                <a:solidFill>
                  <a:srgbClr val="660033"/>
                </a:solidFill>
              </a:rPr>
              <a:t>int</a:t>
            </a:r>
            <a:r>
              <a:rPr lang="en-US" altLang="zh-CN" sz="3200" dirty="0">
                <a:solidFill>
                  <a:srgbClr val="660033"/>
                </a:solidFill>
              </a:rPr>
              <a:t>     </a:t>
            </a:r>
            <a:r>
              <a:rPr lang="en-US" altLang="zh-CN" sz="3200" b="1" dirty="0">
                <a:solidFill>
                  <a:srgbClr val="660033"/>
                </a:solidFill>
              </a:rPr>
              <a:t> </a:t>
            </a:r>
            <a:r>
              <a:rPr lang="en-US" altLang="zh-CN" sz="3200" b="1" dirty="0" err="1">
                <a:solidFill>
                  <a:srgbClr val="990000"/>
                </a:solidFill>
              </a:rPr>
              <a:t>listsize</a:t>
            </a:r>
            <a:r>
              <a:rPr lang="en-US" altLang="zh-CN" sz="3200" dirty="0">
                <a:solidFill>
                  <a:srgbClr val="660033"/>
                </a:solidFill>
              </a:rPr>
              <a:t>;  // </a:t>
            </a:r>
            <a:r>
              <a:rPr lang="zh-CN" altLang="en-US" sz="2800" dirty="0">
                <a:solidFill>
                  <a:srgbClr val="660033"/>
                </a:solidFill>
                <a:ea typeface="楷体_GB2312" charset="0"/>
              </a:rPr>
              <a:t>当前分配的存储容量</a:t>
            </a:r>
            <a:r>
              <a:rPr lang="zh-CN" altLang="en-US" sz="3200" dirty="0">
                <a:solidFill>
                  <a:srgbClr val="660033"/>
                </a:solidFill>
              </a:rPr>
              <a:t>  </a:t>
            </a:r>
            <a:endParaRPr lang="zh-CN" altLang="en-US" sz="3200" dirty="0">
              <a:solidFill>
                <a:srgbClr val="660033"/>
              </a:solidFill>
            </a:endParaRPr>
          </a:p>
          <a:p>
            <a:pPr eaLnBrk="1" hangingPunct="1">
              <a:defRPr/>
            </a:pPr>
            <a:r>
              <a:rPr lang="zh-CN" altLang="en-US" sz="3200" dirty="0">
                <a:solidFill>
                  <a:srgbClr val="660033"/>
                </a:solidFill>
              </a:rPr>
              <a:t>                         </a:t>
            </a:r>
            <a:r>
              <a:rPr lang="en-US" altLang="zh-CN" sz="2800" dirty="0">
                <a:solidFill>
                  <a:srgbClr val="660033"/>
                </a:solidFill>
              </a:rPr>
              <a:t>// (</a:t>
            </a:r>
            <a:r>
              <a:rPr lang="zh-CN" altLang="en-US" sz="2800" dirty="0">
                <a:solidFill>
                  <a:srgbClr val="660033"/>
                </a:solidFill>
                <a:ea typeface="楷体_GB2312" charset="0"/>
              </a:rPr>
              <a:t>以</a:t>
            </a:r>
            <a:r>
              <a:rPr lang="en-US" altLang="zh-CN" sz="2800" dirty="0" err="1">
                <a:solidFill>
                  <a:srgbClr val="660033"/>
                </a:solidFill>
              </a:rPr>
              <a:t>sizeof</a:t>
            </a:r>
            <a:r>
              <a:rPr lang="en-US" altLang="zh-CN" sz="2800" dirty="0">
                <a:solidFill>
                  <a:srgbClr val="660033"/>
                </a:solidFill>
              </a:rPr>
              <a:t>(</a:t>
            </a:r>
            <a:r>
              <a:rPr lang="en-US" altLang="zh-CN" sz="2800" dirty="0" err="1">
                <a:solidFill>
                  <a:srgbClr val="660033"/>
                </a:solidFill>
              </a:rPr>
              <a:t>ElemType</a:t>
            </a:r>
            <a:r>
              <a:rPr lang="en-US" altLang="zh-CN" sz="2800" dirty="0">
                <a:solidFill>
                  <a:srgbClr val="660033"/>
                </a:solidFill>
              </a:rPr>
              <a:t>)</a:t>
            </a:r>
            <a:r>
              <a:rPr lang="zh-CN" altLang="en-US" sz="2800" dirty="0">
                <a:solidFill>
                  <a:srgbClr val="660033"/>
                </a:solidFill>
                <a:ea typeface="楷体_GB2312" charset="0"/>
              </a:rPr>
              <a:t>为单位</a:t>
            </a:r>
            <a:r>
              <a:rPr lang="en-US" altLang="zh-CN" sz="2800" dirty="0">
                <a:solidFill>
                  <a:srgbClr val="660033"/>
                </a:solidFill>
              </a:rPr>
              <a:t>)</a:t>
            </a:r>
            <a:endParaRPr lang="en-US" altLang="zh-CN" sz="2800" dirty="0">
              <a:solidFill>
                <a:srgbClr val="660033"/>
              </a:solidFill>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18" name="Text Box 2"/>
          <p:cNvSpPr txBox="1">
            <a:spLocks noChangeArrowheads="1"/>
          </p:cNvSpPr>
          <p:nvPr/>
        </p:nvSpPr>
        <p:spPr bwMode="auto">
          <a:xfrm>
            <a:off x="1593850" y="304800"/>
            <a:ext cx="7499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ea typeface="楷体_GB2312" charset="0"/>
              </a:rPr>
              <a:t>线性表的基本操作在顺序表中的实现</a:t>
            </a:r>
            <a:endParaRPr lang="zh-CN" altLang="en-US" sz="3600"/>
          </a:p>
        </p:txBody>
      </p:sp>
      <p:sp>
        <p:nvSpPr>
          <p:cNvPr id="930819" name="Text Box 3">
            <a:hlinkClick r:id="" action="ppaction://hlinkshowjump?jump=nextslide"/>
          </p:cNvPr>
          <p:cNvSpPr txBox="1">
            <a:spLocks noChangeArrowheads="1"/>
          </p:cNvSpPr>
          <p:nvPr/>
        </p:nvSpPr>
        <p:spPr bwMode="auto">
          <a:xfrm>
            <a:off x="683568" y="1752600"/>
            <a:ext cx="5645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InitList(&amp;L)   // </a:t>
            </a:r>
            <a:r>
              <a:rPr lang="zh-CN" altLang="en-US" sz="3600" b="1">
                <a:solidFill>
                  <a:srgbClr val="990000"/>
                </a:solidFill>
                <a:ea typeface="楷体_GB2312" charset="0"/>
              </a:rPr>
              <a:t>结构初始化</a:t>
            </a:r>
            <a:endParaRPr lang="zh-CN" altLang="en-US" sz="3600"/>
          </a:p>
        </p:txBody>
      </p:sp>
      <p:sp>
        <p:nvSpPr>
          <p:cNvPr id="930820" name="Text Box 4">
            <a:hlinkClick r:id="rId1" action="ppaction://hlinksldjump"/>
          </p:cNvPr>
          <p:cNvSpPr txBox="1">
            <a:spLocks noChangeArrowheads="1"/>
          </p:cNvSpPr>
          <p:nvPr/>
        </p:nvSpPr>
        <p:spPr bwMode="auto">
          <a:xfrm>
            <a:off x="759768" y="2819400"/>
            <a:ext cx="74263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LocateElem(L, e, compare())   // </a:t>
            </a:r>
            <a:r>
              <a:rPr lang="zh-CN" altLang="en-US" sz="3600" b="1">
                <a:solidFill>
                  <a:srgbClr val="990000"/>
                </a:solidFill>
                <a:ea typeface="楷体_GB2312" charset="0"/>
              </a:rPr>
              <a:t>查找</a:t>
            </a:r>
            <a:endParaRPr lang="zh-CN" altLang="en-US" sz="3600"/>
          </a:p>
        </p:txBody>
      </p:sp>
      <p:sp>
        <p:nvSpPr>
          <p:cNvPr id="930821" name="Text Box 5">
            <a:hlinkClick r:id="rId2" action="ppaction://hlinksldjump"/>
          </p:cNvPr>
          <p:cNvSpPr txBox="1">
            <a:spLocks noChangeArrowheads="1"/>
          </p:cNvSpPr>
          <p:nvPr/>
        </p:nvSpPr>
        <p:spPr bwMode="auto">
          <a:xfrm>
            <a:off x="683568" y="4006850"/>
            <a:ext cx="6432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ListInsert(&amp;L, i, e)   // </a:t>
            </a:r>
            <a:r>
              <a:rPr lang="zh-CN" altLang="en-US" sz="3600" b="1">
                <a:solidFill>
                  <a:srgbClr val="990000"/>
                </a:solidFill>
                <a:ea typeface="楷体_GB2312" charset="0"/>
              </a:rPr>
              <a:t>插入元素</a:t>
            </a:r>
            <a:endParaRPr lang="zh-CN" altLang="en-US" sz="3600"/>
          </a:p>
        </p:txBody>
      </p:sp>
      <p:sp>
        <p:nvSpPr>
          <p:cNvPr id="930822" name="Text Box 6">
            <a:hlinkClick r:id="rId3" action="ppaction://hlinksldjump"/>
          </p:cNvPr>
          <p:cNvSpPr txBox="1">
            <a:spLocks noChangeArrowheads="1"/>
          </p:cNvSpPr>
          <p:nvPr/>
        </p:nvSpPr>
        <p:spPr bwMode="auto">
          <a:xfrm>
            <a:off x="683568" y="5149850"/>
            <a:ext cx="605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ListDelete(&amp;L, i)   // </a:t>
            </a:r>
            <a:r>
              <a:rPr lang="zh-CN" altLang="en-US" sz="3600" b="1">
                <a:solidFill>
                  <a:srgbClr val="990000"/>
                </a:solidFill>
                <a:ea typeface="楷体_GB2312" charset="0"/>
              </a:rPr>
              <a:t>删除元素</a:t>
            </a:r>
            <a:endParaRPr lang="zh-CN" altLang="en-US" sz="360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Text Box 2"/>
          <p:cNvSpPr txBox="1">
            <a:spLocks noChangeArrowheads="1"/>
          </p:cNvSpPr>
          <p:nvPr/>
        </p:nvSpPr>
        <p:spPr bwMode="auto">
          <a:xfrm>
            <a:off x="447675" y="692696"/>
            <a:ext cx="5678488" cy="534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b="1">
                <a:solidFill>
                  <a:srgbClr val="660033"/>
                </a:solidFill>
              </a:rPr>
              <a:t>Status</a:t>
            </a:r>
            <a:r>
              <a:rPr lang="en-US" altLang="zh-CN" sz="3200">
                <a:solidFill>
                  <a:srgbClr val="660033"/>
                </a:solidFill>
              </a:rPr>
              <a:t> </a:t>
            </a:r>
            <a:r>
              <a:rPr lang="en-US" altLang="zh-CN" sz="3200">
                <a:solidFill>
                  <a:srgbClr val="990000"/>
                </a:solidFill>
              </a:rPr>
              <a:t>InitList_Sq( SqList</a:t>
            </a:r>
            <a:r>
              <a:rPr lang="en-US" altLang="zh-CN" sz="3200" b="1">
                <a:solidFill>
                  <a:srgbClr val="990000"/>
                </a:solidFill>
              </a:rPr>
              <a:t>&amp;</a:t>
            </a:r>
            <a:r>
              <a:rPr lang="en-US" altLang="zh-CN" sz="3200">
                <a:solidFill>
                  <a:srgbClr val="990000"/>
                </a:solidFill>
              </a:rPr>
              <a:t> L )</a:t>
            </a:r>
            <a:r>
              <a:rPr lang="en-US" altLang="zh-CN" sz="3200">
                <a:solidFill>
                  <a:srgbClr val="660033"/>
                </a:solidFill>
              </a:rPr>
              <a:t> </a:t>
            </a:r>
            <a:r>
              <a:rPr lang="en-US" altLang="zh-CN" sz="3200" b="1">
                <a:solidFill>
                  <a:srgbClr val="660033"/>
                </a:solidFill>
              </a:rPr>
              <a:t>{</a:t>
            </a:r>
            <a:endParaRPr lang="en-US" altLang="zh-CN" sz="3200">
              <a:solidFill>
                <a:srgbClr val="660033"/>
              </a:solidFill>
            </a:endParaRPr>
          </a:p>
          <a:p>
            <a:pPr eaLnBrk="1" hangingPunct="1">
              <a:lnSpc>
                <a:spcPct val="120000"/>
              </a:lnSpc>
              <a:defRPr/>
            </a:pPr>
            <a:r>
              <a:rPr lang="en-US" altLang="zh-CN" sz="3200">
                <a:solidFill>
                  <a:srgbClr val="660033"/>
                </a:solidFill>
              </a:rPr>
              <a:t>  // </a:t>
            </a:r>
            <a:r>
              <a:rPr lang="zh-CN" altLang="en-US" sz="3200">
                <a:solidFill>
                  <a:srgbClr val="660033"/>
                </a:solidFill>
                <a:ea typeface="楷体_GB2312" charset="0"/>
              </a:rPr>
              <a:t>构造一个空的线性表</a:t>
            </a:r>
            <a:r>
              <a:rPr lang="zh-CN" altLang="en-US" sz="3200">
                <a:solidFill>
                  <a:srgbClr val="660033"/>
                </a:solidFill>
              </a:rPr>
              <a:t> </a:t>
            </a:r>
            <a:endParaRPr lang="zh-CN" altLang="en-US" sz="3200">
              <a:solidFill>
                <a:srgbClr val="660033"/>
              </a:solidFill>
            </a:endParaRPr>
          </a:p>
          <a:p>
            <a:pPr eaLnBrk="1" hangingPunct="1">
              <a:lnSpc>
                <a:spcPct val="120000"/>
              </a:lnSpc>
              <a:defRPr/>
            </a:pPr>
            <a:endParaRPr lang="zh-CN" altLang="en-US" sz="3200" b="1">
              <a:solidFill>
                <a:srgbClr val="660033"/>
              </a:solidFill>
            </a:endParaRPr>
          </a:p>
          <a:p>
            <a:pPr eaLnBrk="1" hangingPunct="1">
              <a:lnSpc>
                <a:spcPct val="120000"/>
              </a:lnSpc>
              <a:defRPr/>
            </a:pPr>
            <a:endParaRPr lang="zh-CN" altLang="en-US" sz="3200" b="1">
              <a:solidFill>
                <a:srgbClr val="660033"/>
              </a:solidFill>
            </a:endParaRPr>
          </a:p>
          <a:p>
            <a:pPr eaLnBrk="1" hangingPunct="1">
              <a:lnSpc>
                <a:spcPct val="120000"/>
              </a:lnSpc>
              <a:defRPr/>
            </a:pPr>
            <a:endParaRPr lang="zh-CN" altLang="en-US" sz="3200" b="1">
              <a:solidFill>
                <a:srgbClr val="660033"/>
              </a:solidFill>
            </a:endParaRPr>
          </a:p>
          <a:p>
            <a:pPr eaLnBrk="1" hangingPunct="1">
              <a:lnSpc>
                <a:spcPct val="120000"/>
              </a:lnSpc>
              <a:defRPr/>
            </a:pPr>
            <a:endParaRPr lang="zh-CN" altLang="en-US" sz="3200" b="1">
              <a:solidFill>
                <a:srgbClr val="660033"/>
              </a:solidFill>
            </a:endParaRPr>
          </a:p>
          <a:p>
            <a:pPr eaLnBrk="1" hangingPunct="1">
              <a:lnSpc>
                <a:spcPct val="120000"/>
              </a:lnSpc>
              <a:defRPr/>
            </a:pPr>
            <a:endParaRPr lang="zh-CN" altLang="en-US" sz="3200" b="1">
              <a:solidFill>
                <a:srgbClr val="660033"/>
              </a:solidFill>
            </a:endParaRPr>
          </a:p>
          <a:p>
            <a:pPr eaLnBrk="1" hangingPunct="1">
              <a:lnSpc>
                <a:spcPct val="120000"/>
              </a:lnSpc>
              <a:defRPr/>
            </a:pPr>
            <a:endParaRPr lang="zh-CN" altLang="en-US" sz="3200" b="1">
              <a:solidFill>
                <a:srgbClr val="660033"/>
              </a:solidFill>
            </a:endParaRPr>
          </a:p>
          <a:p>
            <a:pPr eaLnBrk="1" hangingPunct="1">
              <a:lnSpc>
                <a:spcPct val="120000"/>
              </a:lnSpc>
              <a:defRPr/>
            </a:pPr>
            <a:r>
              <a:rPr lang="en-US" altLang="zh-CN" sz="3200" b="1">
                <a:solidFill>
                  <a:srgbClr val="660033"/>
                </a:solidFill>
              </a:rPr>
              <a:t>}</a:t>
            </a:r>
            <a:r>
              <a:rPr lang="en-US" altLang="zh-CN" sz="3200">
                <a:solidFill>
                  <a:srgbClr val="660033"/>
                </a:solidFill>
              </a:rPr>
              <a:t> // InitList_Sq</a:t>
            </a:r>
            <a:endParaRPr lang="en-US" altLang="zh-CN" sz="3200">
              <a:solidFill>
                <a:srgbClr val="660033"/>
              </a:solidFill>
            </a:endParaRPr>
          </a:p>
        </p:txBody>
      </p:sp>
      <p:sp>
        <p:nvSpPr>
          <p:cNvPr id="931843" name="Text Box 3"/>
          <p:cNvSpPr txBox="1">
            <a:spLocks noChangeArrowheads="1"/>
          </p:cNvSpPr>
          <p:nvPr/>
        </p:nvSpPr>
        <p:spPr bwMode="auto">
          <a:xfrm>
            <a:off x="3990975" y="5325021"/>
            <a:ext cx="3841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990000"/>
                </a:solidFill>
                <a:ea typeface="隶书" panose="02010509060101010101" charset="-122"/>
              </a:rPr>
              <a:t>算法</a:t>
            </a:r>
            <a:r>
              <a:rPr lang="zh-CN" altLang="en-US" sz="3600" b="1">
                <a:solidFill>
                  <a:srgbClr val="990000"/>
                </a:solidFill>
                <a:ea typeface="隶书" panose="02010509060101010101" charset="-122"/>
              </a:rPr>
              <a:t>时间复杂度</a:t>
            </a:r>
            <a:r>
              <a:rPr lang="zh-CN" altLang="en-US" sz="3600">
                <a:solidFill>
                  <a:srgbClr val="990000"/>
                </a:solidFill>
                <a:ea typeface="隶书" panose="02010509060101010101" charset="-122"/>
              </a:rPr>
              <a:t>：</a:t>
            </a:r>
            <a:endParaRPr lang="zh-CN" altLang="en-US" sz="2400"/>
          </a:p>
        </p:txBody>
      </p:sp>
      <p:sp>
        <p:nvSpPr>
          <p:cNvPr id="931844" name="Text Box 4"/>
          <p:cNvSpPr txBox="1">
            <a:spLocks noChangeArrowheads="1"/>
          </p:cNvSpPr>
          <p:nvPr/>
        </p:nvSpPr>
        <p:spPr bwMode="auto">
          <a:xfrm>
            <a:off x="7467600" y="5280571"/>
            <a:ext cx="11731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solidFill>
                  <a:srgbClr val="CC0000"/>
                </a:solidFill>
              </a:rPr>
              <a:t>O(1)</a:t>
            </a:r>
            <a:endParaRPr lang="en-US" altLang="zh-CN" sz="2400"/>
          </a:p>
        </p:txBody>
      </p:sp>
      <p:sp>
        <p:nvSpPr>
          <p:cNvPr id="931845" name="Rectangle 5"/>
          <p:cNvSpPr>
            <a:spLocks noChangeArrowheads="1"/>
          </p:cNvSpPr>
          <p:nvPr/>
        </p:nvSpPr>
        <p:spPr bwMode="auto">
          <a:xfrm>
            <a:off x="784225" y="1988096"/>
            <a:ext cx="7369175"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a:solidFill>
                  <a:srgbClr val="990000"/>
                </a:solidFill>
              </a:rPr>
              <a:t>L.elem = (ElemType*) </a:t>
            </a:r>
            <a:r>
              <a:rPr lang="en-US" altLang="zh-CN" sz="3200" b="1">
                <a:solidFill>
                  <a:srgbClr val="990000"/>
                </a:solidFill>
              </a:rPr>
              <a:t>malloc </a:t>
            </a:r>
            <a:r>
              <a:rPr lang="en-US" altLang="zh-CN" sz="3200">
                <a:solidFill>
                  <a:srgbClr val="990000"/>
                </a:solidFill>
              </a:rPr>
              <a:t>(LIST_</a:t>
            </a:r>
            <a:endParaRPr lang="en-US" altLang="zh-CN" sz="3200">
              <a:solidFill>
                <a:srgbClr val="990000"/>
              </a:solidFill>
            </a:endParaRPr>
          </a:p>
          <a:p>
            <a:pPr eaLnBrk="1" hangingPunct="1">
              <a:lnSpc>
                <a:spcPct val="120000"/>
              </a:lnSpc>
              <a:defRPr/>
            </a:pPr>
            <a:r>
              <a:rPr lang="en-US" altLang="zh-CN" sz="3200">
                <a:solidFill>
                  <a:srgbClr val="990000"/>
                </a:solidFill>
              </a:rPr>
              <a:t>                  INIT_SIZE</a:t>
            </a:r>
            <a:r>
              <a:rPr lang="en-US" altLang="zh-CN" sz="3200" b="1">
                <a:solidFill>
                  <a:srgbClr val="990000"/>
                </a:solidFill>
                <a:sym typeface="Symbol" panose="05050102010706020507" charset="2"/>
              </a:rPr>
              <a:t></a:t>
            </a:r>
            <a:r>
              <a:rPr lang="en-US" altLang="zh-CN" sz="3200" b="1">
                <a:solidFill>
                  <a:srgbClr val="990000"/>
                </a:solidFill>
              </a:rPr>
              <a:t>sizeof </a:t>
            </a:r>
            <a:r>
              <a:rPr lang="en-US" altLang="zh-CN" sz="3200">
                <a:solidFill>
                  <a:srgbClr val="990000"/>
                </a:solidFill>
              </a:rPr>
              <a:t>(ElemType));</a:t>
            </a:r>
            <a:endParaRPr lang="en-US" altLang="zh-CN" sz="3200">
              <a:solidFill>
                <a:srgbClr val="660033"/>
              </a:solidFill>
            </a:endParaRPr>
          </a:p>
          <a:p>
            <a:pPr eaLnBrk="1" hangingPunct="1">
              <a:lnSpc>
                <a:spcPct val="120000"/>
              </a:lnSpc>
              <a:defRPr/>
            </a:pPr>
            <a:r>
              <a:rPr lang="en-US" altLang="zh-CN" sz="3200" b="1">
                <a:solidFill>
                  <a:srgbClr val="660033"/>
                </a:solidFill>
              </a:rPr>
              <a:t>if</a:t>
            </a:r>
            <a:r>
              <a:rPr lang="en-US" altLang="zh-CN" sz="3200">
                <a:solidFill>
                  <a:srgbClr val="660033"/>
                </a:solidFill>
              </a:rPr>
              <a:t> (</a:t>
            </a:r>
            <a:r>
              <a:rPr lang="en-US" altLang="zh-CN" sz="3200" b="1">
                <a:solidFill>
                  <a:srgbClr val="660033"/>
                </a:solidFill>
              </a:rPr>
              <a:t>!</a:t>
            </a:r>
            <a:r>
              <a:rPr lang="en-US" altLang="zh-CN" sz="3200">
                <a:solidFill>
                  <a:srgbClr val="660033"/>
                </a:solidFill>
              </a:rPr>
              <a:t>L.elem) </a:t>
            </a:r>
            <a:r>
              <a:rPr lang="en-US" altLang="zh-CN" sz="3200" b="1">
                <a:solidFill>
                  <a:srgbClr val="660033"/>
                </a:solidFill>
              </a:rPr>
              <a:t>exit</a:t>
            </a:r>
            <a:r>
              <a:rPr lang="en-US" altLang="zh-CN" sz="3200">
                <a:solidFill>
                  <a:srgbClr val="660033"/>
                </a:solidFill>
              </a:rPr>
              <a:t>(OVERFLOW);</a:t>
            </a:r>
            <a:endParaRPr lang="en-US" altLang="zh-CN" sz="3200">
              <a:solidFill>
                <a:srgbClr val="660033"/>
              </a:solidFill>
            </a:endParaRPr>
          </a:p>
        </p:txBody>
      </p:sp>
      <p:sp>
        <p:nvSpPr>
          <p:cNvPr id="931846" name="Rectangle 6"/>
          <p:cNvSpPr>
            <a:spLocks noChangeArrowheads="1"/>
          </p:cNvSpPr>
          <p:nvPr/>
        </p:nvSpPr>
        <p:spPr bwMode="auto">
          <a:xfrm>
            <a:off x="752475" y="3680371"/>
            <a:ext cx="5024438"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a:solidFill>
                  <a:srgbClr val="990000"/>
                </a:solidFill>
              </a:rPr>
              <a:t>L.length = 0;</a:t>
            </a:r>
            <a:endParaRPr lang="en-US" altLang="zh-CN" sz="3200">
              <a:solidFill>
                <a:srgbClr val="990000"/>
              </a:solidFill>
            </a:endParaRPr>
          </a:p>
          <a:p>
            <a:pPr eaLnBrk="1" hangingPunct="1">
              <a:lnSpc>
                <a:spcPct val="120000"/>
              </a:lnSpc>
              <a:defRPr/>
            </a:pPr>
            <a:r>
              <a:rPr lang="en-US" altLang="zh-CN" sz="3200">
                <a:solidFill>
                  <a:srgbClr val="990000"/>
                </a:solidFill>
              </a:rPr>
              <a:t>L.listsize = LIST_INIT_SIZE</a:t>
            </a:r>
            <a:endParaRPr lang="en-US" altLang="zh-CN" sz="3200">
              <a:solidFill>
                <a:srgbClr val="990000"/>
              </a:solidFill>
            </a:endParaRPr>
          </a:p>
          <a:p>
            <a:pPr eaLnBrk="1" hangingPunct="1">
              <a:lnSpc>
                <a:spcPct val="120000"/>
              </a:lnSpc>
              <a:defRPr/>
            </a:pPr>
            <a:r>
              <a:rPr lang="en-US" altLang="zh-CN" sz="3200" b="1">
                <a:solidFill>
                  <a:srgbClr val="660033"/>
                </a:solidFill>
              </a:rPr>
              <a:t>return</a:t>
            </a:r>
            <a:r>
              <a:rPr lang="en-US" altLang="zh-CN" sz="3200">
                <a:solidFill>
                  <a:srgbClr val="660033"/>
                </a:solidFill>
              </a:rPr>
              <a:t> OK;</a:t>
            </a:r>
            <a:endParaRPr lang="en-US" altLang="zh-CN" sz="3200">
              <a:solidFill>
                <a:srgbClr val="660033"/>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31842"/>
                                        </p:tgtEl>
                                        <p:attrNameLst>
                                          <p:attrName>style.visibility</p:attrName>
                                        </p:attrNameLst>
                                      </p:cBhvr>
                                      <p:to>
                                        <p:strVal val="visible"/>
                                      </p:to>
                                    </p:set>
                                    <p:anim calcmode="lin" valueType="num">
                                      <p:cBhvr additive="base">
                                        <p:cTn id="7" dur="500" fill="hold"/>
                                        <p:tgtEl>
                                          <p:spTgt spid="931842"/>
                                        </p:tgtEl>
                                        <p:attrNameLst>
                                          <p:attrName>ppt_x</p:attrName>
                                        </p:attrNameLst>
                                      </p:cBhvr>
                                      <p:tavLst>
                                        <p:tav tm="0">
                                          <p:val>
                                            <p:strVal val="1+#ppt_w/2"/>
                                          </p:val>
                                        </p:tav>
                                        <p:tav tm="100000">
                                          <p:val>
                                            <p:strVal val="#ppt_x"/>
                                          </p:val>
                                        </p:tav>
                                      </p:tavLst>
                                    </p:anim>
                                    <p:anim calcmode="lin" valueType="num">
                                      <p:cBhvr additive="base">
                                        <p:cTn id="8" dur="500" fill="hold"/>
                                        <p:tgtEl>
                                          <p:spTgt spid="9318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wd">
                                    <p:tmPct val="100000"/>
                                  </p:iterate>
                                  <p:childTnLst>
                                    <p:set>
                                      <p:cBhvr>
                                        <p:cTn id="12" dur="1" fill="hold">
                                          <p:stCondLst>
                                            <p:cond delay="0"/>
                                          </p:stCondLst>
                                        </p:cTn>
                                        <p:tgtEl>
                                          <p:spTgt spid="931845"/>
                                        </p:tgtEl>
                                        <p:attrNameLst>
                                          <p:attrName>style.visibility</p:attrName>
                                        </p:attrNameLst>
                                      </p:cBhvr>
                                      <p:to>
                                        <p:strVal val="visible"/>
                                      </p:to>
                                    </p:set>
                                    <p:animEffect transition="in" filter="wipe(left)">
                                      <p:cBhvr>
                                        <p:cTn id="13" dur="300"/>
                                        <p:tgtEl>
                                          <p:spTgt spid="93184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931846"/>
                                        </p:tgtEl>
                                        <p:attrNameLst>
                                          <p:attrName>style.visibility</p:attrName>
                                        </p:attrNameLst>
                                      </p:cBhvr>
                                      <p:to>
                                        <p:strVal val="visible"/>
                                      </p:to>
                                    </p:set>
                                    <p:animEffect transition="in" filter="wipe(left)">
                                      <p:cBhvr>
                                        <p:cTn id="18" dur="300"/>
                                        <p:tgtEl>
                                          <p:spTgt spid="93184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6" fill="hold" grpId="0" nodeType="clickEffect">
                                  <p:stCondLst>
                                    <p:cond delay="0"/>
                                  </p:stCondLst>
                                  <p:childTnLst>
                                    <p:set>
                                      <p:cBhvr>
                                        <p:cTn id="22" dur="1" fill="hold">
                                          <p:stCondLst>
                                            <p:cond delay="0"/>
                                          </p:stCondLst>
                                        </p:cTn>
                                        <p:tgtEl>
                                          <p:spTgt spid="931843"/>
                                        </p:tgtEl>
                                        <p:attrNameLst>
                                          <p:attrName>style.visibility</p:attrName>
                                        </p:attrNameLst>
                                      </p:cBhvr>
                                      <p:to>
                                        <p:strVal val="visible"/>
                                      </p:to>
                                    </p:set>
                                    <p:anim calcmode="lin" valueType="num">
                                      <p:cBhvr additive="base">
                                        <p:cTn id="23" dur="500" fill="hold"/>
                                        <p:tgtEl>
                                          <p:spTgt spid="931843"/>
                                        </p:tgtEl>
                                        <p:attrNameLst>
                                          <p:attrName>ppt_x</p:attrName>
                                        </p:attrNameLst>
                                      </p:cBhvr>
                                      <p:tavLst>
                                        <p:tav tm="0">
                                          <p:val>
                                            <p:strVal val="1+#ppt_w/2"/>
                                          </p:val>
                                        </p:tav>
                                        <p:tav tm="100000">
                                          <p:val>
                                            <p:strVal val="#ppt_x"/>
                                          </p:val>
                                        </p:tav>
                                      </p:tavLst>
                                    </p:anim>
                                    <p:anim calcmode="lin" valueType="num">
                                      <p:cBhvr additive="base">
                                        <p:cTn id="24" dur="500" fill="hold"/>
                                        <p:tgtEl>
                                          <p:spTgt spid="93184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6" fill="hold" grpId="0" nodeType="clickEffect">
                                  <p:stCondLst>
                                    <p:cond delay="0"/>
                                  </p:stCondLst>
                                  <p:childTnLst>
                                    <p:set>
                                      <p:cBhvr>
                                        <p:cTn id="28" dur="1" fill="hold">
                                          <p:stCondLst>
                                            <p:cond delay="0"/>
                                          </p:stCondLst>
                                        </p:cTn>
                                        <p:tgtEl>
                                          <p:spTgt spid="931844"/>
                                        </p:tgtEl>
                                        <p:attrNameLst>
                                          <p:attrName>style.visibility</p:attrName>
                                        </p:attrNameLst>
                                      </p:cBhvr>
                                      <p:to>
                                        <p:strVal val="visible"/>
                                      </p:to>
                                    </p:set>
                                    <p:anim calcmode="lin" valueType="num">
                                      <p:cBhvr additive="base">
                                        <p:cTn id="29" dur="500" fill="hold"/>
                                        <p:tgtEl>
                                          <p:spTgt spid="931844"/>
                                        </p:tgtEl>
                                        <p:attrNameLst>
                                          <p:attrName>ppt_x</p:attrName>
                                        </p:attrNameLst>
                                      </p:cBhvr>
                                      <p:tavLst>
                                        <p:tav tm="0">
                                          <p:val>
                                            <p:strVal val="1+#ppt_w/2"/>
                                          </p:val>
                                        </p:tav>
                                        <p:tav tm="100000">
                                          <p:val>
                                            <p:strVal val="#ppt_x"/>
                                          </p:val>
                                        </p:tav>
                                      </p:tavLst>
                                    </p:anim>
                                    <p:anim calcmode="lin" valueType="num">
                                      <p:cBhvr additive="base">
                                        <p:cTn id="30" dur="500" fill="hold"/>
                                        <p:tgtEl>
                                          <p:spTgt spid="9318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42" grpId="0" autoUpdateAnimBg="0"/>
      <p:bldP spid="931843" grpId="0" autoUpdateAnimBg="0"/>
      <p:bldP spid="931844" grpId="0" autoUpdateAnimBg="0"/>
      <p:bldP spid="931845" grpId="0" autoUpdateAnimBg="0"/>
      <p:bldP spid="931846"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Text Box 2"/>
          <p:cNvSpPr txBox="1">
            <a:spLocks noChangeArrowheads="1"/>
          </p:cNvSpPr>
          <p:nvPr/>
        </p:nvSpPr>
        <p:spPr bwMode="auto">
          <a:xfrm>
            <a:off x="1447800" y="228600"/>
            <a:ext cx="292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000099"/>
                </a:solidFill>
              </a:rPr>
              <a:t>例如：顺序表</a:t>
            </a:r>
            <a:endParaRPr lang="zh-CN" altLang="en-US" sz="3600"/>
          </a:p>
        </p:txBody>
      </p:sp>
      <p:grpSp>
        <p:nvGrpSpPr>
          <p:cNvPr id="932867" name="Group 3"/>
          <p:cNvGrpSpPr/>
          <p:nvPr/>
        </p:nvGrpSpPr>
        <p:grpSpPr bwMode="auto">
          <a:xfrm>
            <a:off x="593725" y="1438276"/>
            <a:ext cx="7712075" cy="1001713"/>
            <a:chOff x="374" y="906"/>
            <a:chExt cx="4858" cy="631"/>
          </a:xfrm>
        </p:grpSpPr>
        <p:sp>
          <p:nvSpPr>
            <p:cNvPr id="932868" name="Text Box 4"/>
            <p:cNvSpPr txBox="1">
              <a:spLocks noChangeArrowheads="1"/>
            </p:cNvSpPr>
            <p:nvPr/>
          </p:nvSpPr>
          <p:spPr bwMode="auto">
            <a:xfrm>
              <a:off x="471" y="1207"/>
              <a:ext cx="327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9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000099"/>
                  </a:solidFill>
                </a:rPr>
                <a:t>23   75   41  38   54   62  17</a:t>
              </a:r>
              <a:endParaRPr lang="en-US" altLang="zh-CN" sz="2800" dirty="0"/>
            </a:p>
          </p:txBody>
        </p:sp>
        <p:grpSp>
          <p:nvGrpSpPr>
            <p:cNvPr id="60460" name="Group 5"/>
            <p:cNvGrpSpPr/>
            <p:nvPr/>
          </p:nvGrpSpPr>
          <p:grpSpPr bwMode="auto">
            <a:xfrm>
              <a:off x="374" y="906"/>
              <a:ext cx="4858" cy="582"/>
              <a:chOff x="374" y="906"/>
              <a:chExt cx="4858" cy="582"/>
            </a:xfrm>
          </p:grpSpPr>
          <p:grpSp>
            <p:nvGrpSpPr>
              <p:cNvPr id="60461" name="Group 6"/>
              <p:cNvGrpSpPr/>
              <p:nvPr/>
            </p:nvGrpSpPr>
            <p:grpSpPr bwMode="auto">
              <a:xfrm>
                <a:off x="432" y="1200"/>
                <a:ext cx="4800" cy="288"/>
                <a:chOff x="432" y="1200"/>
                <a:chExt cx="4800" cy="288"/>
              </a:xfrm>
            </p:grpSpPr>
            <p:sp>
              <p:nvSpPr>
                <p:cNvPr id="932871" name="Rectangle 7"/>
                <p:cNvSpPr>
                  <a:spLocks noChangeArrowheads="1"/>
                </p:cNvSpPr>
                <p:nvPr/>
              </p:nvSpPr>
              <p:spPr bwMode="auto">
                <a:xfrm>
                  <a:off x="432" y="1200"/>
                  <a:ext cx="4800" cy="288"/>
                </a:xfrm>
                <a:prstGeom prst="rect">
                  <a:avLst/>
                </a:prstGeom>
                <a:noFill/>
                <a:ln w="9525">
                  <a:solidFill>
                    <a:srgbClr val="0000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2" name="Line 8"/>
                <p:cNvSpPr>
                  <a:spLocks noChangeShapeType="1"/>
                </p:cNvSpPr>
                <p:nvPr/>
              </p:nvSpPr>
              <p:spPr bwMode="auto">
                <a:xfrm>
                  <a:off x="91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3" name="Line 9"/>
                <p:cNvSpPr>
                  <a:spLocks noChangeShapeType="1"/>
                </p:cNvSpPr>
                <p:nvPr/>
              </p:nvSpPr>
              <p:spPr bwMode="auto">
                <a:xfrm>
                  <a:off x="139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4" name="Line 10"/>
                <p:cNvSpPr>
                  <a:spLocks noChangeShapeType="1"/>
                </p:cNvSpPr>
                <p:nvPr/>
              </p:nvSpPr>
              <p:spPr bwMode="auto">
                <a:xfrm>
                  <a:off x="187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5" name="Line 11"/>
                <p:cNvSpPr>
                  <a:spLocks noChangeShapeType="1"/>
                </p:cNvSpPr>
                <p:nvPr/>
              </p:nvSpPr>
              <p:spPr bwMode="auto">
                <a:xfrm>
                  <a:off x="235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6" name="Line 12"/>
                <p:cNvSpPr>
                  <a:spLocks noChangeShapeType="1"/>
                </p:cNvSpPr>
                <p:nvPr/>
              </p:nvSpPr>
              <p:spPr bwMode="auto">
                <a:xfrm>
                  <a:off x="283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7" name="Line 13"/>
                <p:cNvSpPr>
                  <a:spLocks noChangeShapeType="1"/>
                </p:cNvSpPr>
                <p:nvPr/>
              </p:nvSpPr>
              <p:spPr bwMode="auto">
                <a:xfrm>
                  <a:off x="331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8" name="Line 14"/>
                <p:cNvSpPr>
                  <a:spLocks noChangeShapeType="1"/>
                </p:cNvSpPr>
                <p:nvPr/>
              </p:nvSpPr>
              <p:spPr bwMode="auto">
                <a:xfrm>
                  <a:off x="379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9" name="Line 15"/>
                <p:cNvSpPr>
                  <a:spLocks noChangeShapeType="1"/>
                </p:cNvSpPr>
                <p:nvPr/>
              </p:nvSpPr>
              <p:spPr bwMode="auto">
                <a:xfrm>
                  <a:off x="475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32880" name="Text Box 16"/>
              <p:cNvSpPr txBox="1">
                <a:spLocks noChangeArrowheads="1"/>
              </p:cNvSpPr>
              <p:nvPr/>
            </p:nvSpPr>
            <p:spPr bwMode="auto">
              <a:xfrm>
                <a:off x="374" y="906"/>
                <a:ext cx="7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000099"/>
                    </a:solidFill>
                  </a:rPr>
                  <a:t>L.elem</a:t>
                </a:r>
                <a:endParaRPr lang="en-US" altLang="zh-CN" sz="3600"/>
              </a:p>
            </p:txBody>
          </p:sp>
        </p:grpSp>
      </p:grpSp>
      <p:grpSp>
        <p:nvGrpSpPr>
          <p:cNvPr id="932881" name="Group 17"/>
          <p:cNvGrpSpPr/>
          <p:nvPr/>
        </p:nvGrpSpPr>
        <p:grpSpPr bwMode="auto">
          <a:xfrm>
            <a:off x="5410200" y="2362200"/>
            <a:ext cx="1438275" cy="838200"/>
            <a:chOff x="3408" y="1488"/>
            <a:chExt cx="906" cy="528"/>
          </a:xfrm>
        </p:grpSpPr>
        <p:sp>
          <p:nvSpPr>
            <p:cNvPr id="932882" name="Line 18"/>
            <p:cNvSpPr>
              <a:spLocks noChangeShapeType="1"/>
            </p:cNvSpPr>
            <p:nvPr/>
          </p:nvSpPr>
          <p:spPr bwMode="auto">
            <a:xfrm>
              <a:off x="3408" y="1488"/>
              <a:ext cx="0" cy="528"/>
            </a:xfrm>
            <a:prstGeom prst="line">
              <a:avLst/>
            </a:prstGeom>
            <a:noFill/>
            <a:ln w="31750">
              <a:solidFill>
                <a:srgbClr val="000099"/>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83" name="Text Box 19"/>
            <p:cNvSpPr txBox="1">
              <a:spLocks noChangeArrowheads="1"/>
            </p:cNvSpPr>
            <p:nvPr/>
          </p:nvSpPr>
          <p:spPr bwMode="auto">
            <a:xfrm>
              <a:off x="3446" y="1674"/>
              <a:ext cx="8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a:solidFill>
                    <a:srgbClr val="000099"/>
                  </a:solidFill>
                </a:rPr>
                <a:t>L.length</a:t>
              </a:r>
              <a:endParaRPr lang="en-US" altLang="zh-CN" sz="3600"/>
            </a:p>
          </p:txBody>
        </p:sp>
      </p:grpSp>
      <p:grpSp>
        <p:nvGrpSpPr>
          <p:cNvPr id="932884" name="Group 20"/>
          <p:cNvGrpSpPr/>
          <p:nvPr/>
        </p:nvGrpSpPr>
        <p:grpSpPr bwMode="auto">
          <a:xfrm>
            <a:off x="6477000" y="1066800"/>
            <a:ext cx="1524000" cy="838200"/>
            <a:chOff x="4080" y="672"/>
            <a:chExt cx="960" cy="528"/>
          </a:xfrm>
        </p:grpSpPr>
        <p:sp>
          <p:nvSpPr>
            <p:cNvPr id="932885" name="Text Box 21"/>
            <p:cNvSpPr txBox="1">
              <a:spLocks noChangeArrowheads="1"/>
            </p:cNvSpPr>
            <p:nvPr/>
          </p:nvSpPr>
          <p:spPr bwMode="auto">
            <a:xfrm>
              <a:off x="4080" y="816"/>
              <a:ext cx="9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a:solidFill>
                    <a:srgbClr val="000099"/>
                  </a:solidFill>
                </a:rPr>
                <a:t>L.listsize</a:t>
              </a:r>
              <a:endParaRPr lang="en-US" altLang="zh-CN" sz="3600"/>
            </a:p>
          </p:txBody>
        </p:sp>
        <p:sp>
          <p:nvSpPr>
            <p:cNvPr id="932886" name="Line 22"/>
            <p:cNvSpPr>
              <a:spLocks noChangeShapeType="1"/>
            </p:cNvSpPr>
            <p:nvPr/>
          </p:nvSpPr>
          <p:spPr bwMode="auto">
            <a:xfrm>
              <a:off x="5040" y="672"/>
              <a:ext cx="0" cy="528"/>
            </a:xfrm>
            <a:prstGeom prst="line">
              <a:avLst/>
            </a:prstGeom>
            <a:noFill/>
            <a:ln w="31750">
              <a:solidFill>
                <a:srgbClr val="0000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32887" name="Text Box 23"/>
          <p:cNvSpPr txBox="1">
            <a:spLocks noChangeArrowheads="1"/>
          </p:cNvSpPr>
          <p:nvPr/>
        </p:nvSpPr>
        <p:spPr bwMode="auto">
          <a:xfrm>
            <a:off x="669925" y="4724400"/>
            <a:ext cx="8905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660033"/>
                </a:solidFill>
              </a:rPr>
              <a:t>e =</a:t>
            </a:r>
            <a:endParaRPr lang="en-US" altLang="zh-CN" sz="3600"/>
          </a:p>
        </p:txBody>
      </p:sp>
      <p:sp>
        <p:nvSpPr>
          <p:cNvPr id="932888" name="Text Box 24"/>
          <p:cNvSpPr txBox="1">
            <a:spLocks noChangeArrowheads="1"/>
          </p:cNvSpPr>
          <p:nvPr/>
        </p:nvSpPr>
        <p:spPr bwMode="auto">
          <a:xfrm>
            <a:off x="1644650" y="4821238"/>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38</a:t>
            </a:r>
            <a:endParaRPr lang="en-US" altLang="zh-CN" sz="3600"/>
          </a:p>
        </p:txBody>
      </p:sp>
      <p:grpSp>
        <p:nvGrpSpPr>
          <p:cNvPr id="932889" name="Group 25"/>
          <p:cNvGrpSpPr/>
          <p:nvPr/>
        </p:nvGrpSpPr>
        <p:grpSpPr bwMode="auto">
          <a:xfrm>
            <a:off x="1066800" y="2438400"/>
            <a:ext cx="457200" cy="838200"/>
            <a:chOff x="672" y="1488"/>
            <a:chExt cx="288" cy="528"/>
          </a:xfrm>
        </p:grpSpPr>
        <p:sp>
          <p:nvSpPr>
            <p:cNvPr id="932890" name="Line 26"/>
            <p:cNvSpPr>
              <a:spLocks noChangeShapeType="1"/>
            </p:cNvSpPr>
            <p:nvPr/>
          </p:nvSpPr>
          <p:spPr bwMode="auto">
            <a:xfrm>
              <a:off x="672" y="1488"/>
              <a:ext cx="0" cy="480"/>
            </a:xfrm>
            <a:prstGeom prst="line">
              <a:avLst/>
            </a:prstGeom>
            <a:noFill/>
            <a:ln w="38100">
              <a:solidFill>
                <a:srgbClr val="CC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91" name="Text Box 27"/>
            <p:cNvSpPr txBox="1">
              <a:spLocks noChangeArrowheads="1"/>
            </p:cNvSpPr>
            <p:nvPr/>
          </p:nvSpPr>
          <p:spPr bwMode="auto">
            <a:xfrm>
              <a:off x="684" y="161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p</a:t>
              </a:r>
              <a:endParaRPr lang="en-US" altLang="zh-CN" sz="3600"/>
            </a:p>
          </p:txBody>
        </p:sp>
      </p:grpSp>
      <p:grpSp>
        <p:nvGrpSpPr>
          <p:cNvPr id="932892" name="Group 28"/>
          <p:cNvGrpSpPr/>
          <p:nvPr/>
        </p:nvGrpSpPr>
        <p:grpSpPr bwMode="auto">
          <a:xfrm>
            <a:off x="1828800" y="2438400"/>
            <a:ext cx="457200" cy="838200"/>
            <a:chOff x="672" y="1488"/>
            <a:chExt cx="288" cy="528"/>
          </a:xfrm>
        </p:grpSpPr>
        <p:sp>
          <p:nvSpPr>
            <p:cNvPr id="932893" name="Line 29"/>
            <p:cNvSpPr>
              <a:spLocks noChangeShapeType="1"/>
            </p:cNvSpPr>
            <p:nvPr/>
          </p:nvSpPr>
          <p:spPr bwMode="auto">
            <a:xfrm>
              <a:off x="672" y="1488"/>
              <a:ext cx="0" cy="480"/>
            </a:xfrm>
            <a:prstGeom prst="line">
              <a:avLst/>
            </a:prstGeom>
            <a:noFill/>
            <a:ln w="38100">
              <a:solidFill>
                <a:srgbClr val="CC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94" name="Text Box 30"/>
            <p:cNvSpPr txBox="1">
              <a:spLocks noChangeArrowheads="1"/>
            </p:cNvSpPr>
            <p:nvPr/>
          </p:nvSpPr>
          <p:spPr bwMode="auto">
            <a:xfrm>
              <a:off x="684" y="161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p</a:t>
              </a:r>
              <a:endParaRPr lang="en-US" altLang="zh-CN" sz="3600"/>
            </a:p>
          </p:txBody>
        </p:sp>
      </p:grpSp>
      <p:grpSp>
        <p:nvGrpSpPr>
          <p:cNvPr id="932895" name="Group 31"/>
          <p:cNvGrpSpPr/>
          <p:nvPr/>
        </p:nvGrpSpPr>
        <p:grpSpPr bwMode="auto">
          <a:xfrm>
            <a:off x="2590800" y="2438400"/>
            <a:ext cx="457200" cy="838200"/>
            <a:chOff x="672" y="1488"/>
            <a:chExt cx="288" cy="528"/>
          </a:xfrm>
        </p:grpSpPr>
        <p:sp>
          <p:nvSpPr>
            <p:cNvPr id="932896" name="Line 32"/>
            <p:cNvSpPr>
              <a:spLocks noChangeShapeType="1"/>
            </p:cNvSpPr>
            <p:nvPr/>
          </p:nvSpPr>
          <p:spPr bwMode="auto">
            <a:xfrm>
              <a:off x="672" y="1488"/>
              <a:ext cx="0" cy="480"/>
            </a:xfrm>
            <a:prstGeom prst="line">
              <a:avLst/>
            </a:prstGeom>
            <a:noFill/>
            <a:ln w="38100">
              <a:solidFill>
                <a:srgbClr val="CC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97" name="Text Box 33"/>
            <p:cNvSpPr txBox="1">
              <a:spLocks noChangeArrowheads="1"/>
            </p:cNvSpPr>
            <p:nvPr/>
          </p:nvSpPr>
          <p:spPr bwMode="auto">
            <a:xfrm>
              <a:off x="684" y="161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p</a:t>
              </a:r>
              <a:endParaRPr lang="en-US" altLang="zh-CN" sz="3600"/>
            </a:p>
          </p:txBody>
        </p:sp>
      </p:grpSp>
      <p:grpSp>
        <p:nvGrpSpPr>
          <p:cNvPr id="932898" name="Group 34"/>
          <p:cNvGrpSpPr/>
          <p:nvPr/>
        </p:nvGrpSpPr>
        <p:grpSpPr bwMode="auto">
          <a:xfrm>
            <a:off x="3352800" y="2438400"/>
            <a:ext cx="457200" cy="838200"/>
            <a:chOff x="672" y="1488"/>
            <a:chExt cx="288" cy="528"/>
          </a:xfrm>
        </p:grpSpPr>
        <p:sp>
          <p:nvSpPr>
            <p:cNvPr id="932899" name="Line 35"/>
            <p:cNvSpPr>
              <a:spLocks noChangeShapeType="1"/>
            </p:cNvSpPr>
            <p:nvPr/>
          </p:nvSpPr>
          <p:spPr bwMode="auto">
            <a:xfrm>
              <a:off x="672" y="1488"/>
              <a:ext cx="0" cy="480"/>
            </a:xfrm>
            <a:prstGeom prst="line">
              <a:avLst/>
            </a:prstGeom>
            <a:noFill/>
            <a:ln w="38100">
              <a:solidFill>
                <a:srgbClr val="CC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900" name="Text Box 36"/>
            <p:cNvSpPr txBox="1">
              <a:spLocks noChangeArrowheads="1"/>
            </p:cNvSpPr>
            <p:nvPr/>
          </p:nvSpPr>
          <p:spPr bwMode="auto">
            <a:xfrm>
              <a:off x="684" y="161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p</a:t>
              </a:r>
              <a:endParaRPr lang="en-US" altLang="zh-CN" sz="3600"/>
            </a:p>
          </p:txBody>
        </p:sp>
      </p:grpSp>
      <p:grpSp>
        <p:nvGrpSpPr>
          <p:cNvPr id="932901" name="Group 37"/>
          <p:cNvGrpSpPr/>
          <p:nvPr/>
        </p:nvGrpSpPr>
        <p:grpSpPr bwMode="auto">
          <a:xfrm>
            <a:off x="6324600" y="2438400"/>
            <a:ext cx="457200" cy="838200"/>
            <a:chOff x="672" y="1488"/>
            <a:chExt cx="288" cy="528"/>
          </a:xfrm>
        </p:grpSpPr>
        <p:sp>
          <p:nvSpPr>
            <p:cNvPr id="932902" name="Line 38"/>
            <p:cNvSpPr>
              <a:spLocks noChangeShapeType="1"/>
            </p:cNvSpPr>
            <p:nvPr/>
          </p:nvSpPr>
          <p:spPr bwMode="auto">
            <a:xfrm>
              <a:off x="672" y="1488"/>
              <a:ext cx="0" cy="480"/>
            </a:xfrm>
            <a:prstGeom prst="line">
              <a:avLst/>
            </a:prstGeom>
            <a:noFill/>
            <a:ln w="38100">
              <a:solidFill>
                <a:srgbClr val="CC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903" name="Text Box 39"/>
            <p:cNvSpPr txBox="1">
              <a:spLocks noChangeArrowheads="1"/>
            </p:cNvSpPr>
            <p:nvPr/>
          </p:nvSpPr>
          <p:spPr bwMode="auto">
            <a:xfrm>
              <a:off x="684" y="161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p</a:t>
              </a:r>
              <a:endParaRPr lang="en-US" altLang="zh-CN" sz="3600"/>
            </a:p>
          </p:txBody>
        </p:sp>
      </p:grpSp>
      <p:sp>
        <p:nvSpPr>
          <p:cNvPr id="932904" name="Text Box 40"/>
          <p:cNvSpPr txBox="1">
            <a:spLocks noChangeArrowheads="1"/>
          </p:cNvSpPr>
          <p:nvPr/>
        </p:nvSpPr>
        <p:spPr bwMode="auto">
          <a:xfrm>
            <a:off x="1828800" y="3768725"/>
            <a:ext cx="311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009999"/>
                </a:solidFill>
              </a:rPr>
              <a:t>i</a:t>
            </a:r>
            <a:endParaRPr lang="en-US" altLang="zh-CN" sz="3600"/>
          </a:p>
        </p:txBody>
      </p:sp>
      <p:sp>
        <p:nvSpPr>
          <p:cNvPr id="932905" name="Text Box 41"/>
          <p:cNvSpPr txBox="1">
            <a:spLocks noChangeArrowheads="1"/>
          </p:cNvSpPr>
          <p:nvPr/>
        </p:nvSpPr>
        <p:spPr bwMode="auto">
          <a:xfrm>
            <a:off x="2149475" y="3768725"/>
            <a:ext cx="685800" cy="650875"/>
          </a:xfrm>
          <a:prstGeom prst="rect">
            <a:avLst/>
          </a:prstGeom>
          <a:solidFill>
            <a:srgbClr val="CCFFCC"/>
          </a:solidFill>
          <a:ln w="9525">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009999"/>
                </a:solidFill>
              </a:rPr>
              <a:t>1</a:t>
            </a:r>
            <a:endParaRPr lang="en-US" altLang="zh-CN" sz="3600"/>
          </a:p>
        </p:txBody>
      </p:sp>
      <p:sp>
        <p:nvSpPr>
          <p:cNvPr id="932906" name="Text Box 42"/>
          <p:cNvSpPr txBox="1">
            <a:spLocks noChangeArrowheads="1"/>
          </p:cNvSpPr>
          <p:nvPr/>
        </p:nvSpPr>
        <p:spPr bwMode="auto">
          <a:xfrm>
            <a:off x="2149475" y="3768725"/>
            <a:ext cx="685800" cy="650875"/>
          </a:xfrm>
          <a:prstGeom prst="rect">
            <a:avLst/>
          </a:prstGeom>
          <a:solidFill>
            <a:srgbClr val="CCFFCC"/>
          </a:solidFill>
          <a:ln w="9525">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009999"/>
                </a:solidFill>
              </a:rPr>
              <a:t>2</a:t>
            </a:r>
            <a:endParaRPr lang="en-US" altLang="zh-CN" sz="3600"/>
          </a:p>
        </p:txBody>
      </p:sp>
      <p:sp>
        <p:nvSpPr>
          <p:cNvPr id="932907" name="Text Box 43"/>
          <p:cNvSpPr txBox="1">
            <a:spLocks noChangeArrowheads="1"/>
          </p:cNvSpPr>
          <p:nvPr/>
        </p:nvSpPr>
        <p:spPr bwMode="auto">
          <a:xfrm>
            <a:off x="2149475" y="3768725"/>
            <a:ext cx="685800" cy="650875"/>
          </a:xfrm>
          <a:prstGeom prst="rect">
            <a:avLst/>
          </a:prstGeom>
          <a:solidFill>
            <a:srgbClr val="CCFFCC"/>
          </a:solidFill>
          <a:ln w="9525">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009999"/>
                </a:solidFill>
              </a:rPr>
              <a:t>3</a:t>
            </a:r>
            <a:endParaRPr lang="en-US" altLang="zh-CN" sz="3600"/>
          </a:p>
        </p:txBody>
      </p:sp>
      <p:sp>
        <p:nvSpPr>
          <p:cNvPr id="932908" name="Text Box 44"/>
          <p:cNvSpPr txBox="1">
            <a:spLocks noChangeArrowheads="1"/>
          </p:cNvSpPr>
          <p:nvPr/>
        </p:nvSpPr>
        <p:spPr bwMode="auto">
          <a:xfrm>
            <a:off x="2149475" y="3768725"/>
            <a:ext cx="685800" cy="650875"/>
          </a:xfrm>
          <a:prstGeom prst="rect">
            <a:avLst/>
          </a:prstGeom>
          <a:solidFill>
            <a:srgbClr val="CCFFCC"/>
          </a:solidFill>
          <a:ln w="9525">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009999"/>
                </a:solidFill>
              </a:rPr>
              <a:t>4</a:t>
            </a:r>
            <a:endParaRPr lang="en-US" altLang="zh-CN" sz="3600"/>
          </a:p>
        </p:txBody>
      </p:sp>
      <p:sp>
        <p:nvSpPr>
          <p:cNvPr id="932909" name="Text Box 45"/>
          <p:cNvSpPr txBox="1">
            <a:spLocks noChangeArrowheads="1"/>
          </p:cNvSpPr>
          <p:nvPr/>
        </p:nvSpPr>
        <p:spPr bwMode="auto">
          <a:xfrm>
            <a:off x="2149475" y="3768725"/>
            <a:ext cx="685800" cy="650875"/>
          </a:xfrm>
          <a:prstGeom prst="rect">
            <a:avLst/>
          </a:prstGeom>
          <a:solidFill>
            <a:srgbClr val="CCFFCC"/>
          </a:solidFill>
          <a:ln w="9525">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009999"/>
                </a:solidFill>
              </a:rPr>
              <a:t>1</a:t>
            </a:r>
            <a:endParaRPr lang="en-US" altLang="zh-CN" sz="3600"/>
          </a:p>
        </p:txBody>
      </p:sp>
      <p:sp>
        <p:nvSpPr>
          <p:cNvPr id="932910" name="Text Box 46"/>
          <p:cNvSpPr txBox="1">
            <a:spLocks noChangeArrowheads="1"/>
          </p:cNvSpPr>
          <p:nvPr/>
        </p:nvSpPr>
        <p:spPr bwMode="auto">
          <a:xfrm>
            <a:off x="2149475" y="3768725"/>
            <a:ext cx="685800" cy="650875"/>
          </a:xfrm>
          <a:prstGeom prst="rect">
            <a:avLst/>
          </a:prstGeom>
          <a:solidFill>
            <a:srgbClr val="CCFFCC"/>
          </a:solidFill>
          <a:ln w="9525">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009999"/>
                </a:solidFill>
              </a:rPr>
              <a:t>8</a:t>
            </a:r>
            <a:endParaRPr lang="en-US" altLang="zh-CN" sz="3600"/>
          </a:p>
        </p:txBody>
      </p:sp>
      <p:sp>
        <p:nvSpPr>
          <p:cNvPr id="932911" name="Text Box 47"/>
          <p:cNvSpPr txBox="1">
            <a:spLocks noChangeArrowheads="1"/>
          </p:cNvSpPr>
          <p:nvPr/>
        </p:nvSpPr>
        <p:spPr bwMode="auto">
          <a:xfrm>
            <a:off x="2406650" y="484505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chemeClr val="tx2"/>
                </a:solidFill>
              </a:rPr>
              <a:t>50</a:t>
            </a:r>
            <a:endParaRPr lang="en-US" altLang="zh-CN" sz="3600"/>
          </a:p>
        </p:txBody>
      </p:sp>
      <p:sp useBgFill="1">
        <p:nvSpPr>
          <p:cNvPr id="932912" name="Rectangle 48"/>
          <p:cNvSpPr>
            <a:spLocks noChangeArrowheads="1"/>
          </p:cNvSpPr>
          <p:nvPr/>
        </p:nvSpPr>
        <p:spPr bwMode="auto">
          <a:xfrm>
            <a:off x="838200" y="2438400"/>
            <a:ext cx="6096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useBgFill="1">
        <p:nvSpPr>
          <p:cNvPr id="932913" name="Rectangle 49"/>
          <p:cNvSpPr>
            <a:spLocks noChangeArrowheads="1"/>
          </p:cNvSpPr>
          <p:nvPr/>
        </p:nvSpPr>
        <p:spPr bwMode="auto">
          <a:xfrm>
            <a:off x="1600200" y="2438400"/>
            <a:ext cx="6096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useBgFill="1">
        <p:nvSpPr>
          <p:cNvPr id="932914" name="Rectangle 50"/>
          <p:cNvSpPr>
            <a:spLocks noChangeArrowheads="1"/>
          </p:cNvSpPr>
          <p:nvPr/>
        </p:nvSpPr>
        <p:spPr bwMode="auto">
          <a:xfrm>
            <a:off x="2362200" y="2438400"/>
            <a:ext cx="6096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useBgFill="1">
        <p:nvSpPr>
          <p:cNvPr id="932915" name="Rectangle 51"/>
          <p:cNvSpPr>
            <a:spLocks noChangeArrowheads="1"/>
          </p:cNvSpPr>
          <p:nvPr/>
        </p:nvSpPr>
        <p:spPr bwMode="auto">
          <a:xfrm>
            <a:off x="3124200" y="2438400"/>
            <a:ext cx="6096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nvGrpSpPr>
          <p:cNvPr id="932916" name="Group 52"/>
          <p:cNvGrpSpPr/>
          <p:nvPr/>
        </p:nvGrpSpPr>
        <p:grpSpPr bwMode="auto">
          <a:xfrm>
            <a:off x="990600" y="2438400"/>
            <a:ext cx="457200" cy="838200"/>
            <a:chOff x="672" y="1488"/>
            <a:chExt cx="288" cy="528"/>
          </a:xfrm>
        </p:grpSpPr>
        <p:sp>
          <p:nvSpPr>
            <p:cNvPr id="932917" name="Line 53"/>
            <p:cNvSpPr>
              <a:spLocks noChangeShapeType="1"/>
            </p:cNvSpPr>
            <p:nvPr/>
          </p:nvSpPr>
          <p:spPr bwMode="auto">
            <a:xfrm>
              <a:off x="672" y="1488"/>
              <a:ext cx="0" cy="480"/>
            </a:xfrm>
            <a:prstGeom prst="line">
              <a:avLst/>
            </a:prstGeom>
            <a:noFill/>
            <a:ln w="38100">
              <a:solidFill>
                <a:srgbClr val="CC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918" name="Text Box 54"/>
            <p:cNvSpPr txBox="1">
              <a:spLocks noChangeArrowheads="1"/>
            </p:cNvSpPr>
            <p:nvPr/>
          </p:nvSpPr>
          <p:spPr bwMode="auto">
            <a:xfrm>
              <a:off x="684" y="161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p</a:t>
              </a:r>
              <a:endParaRPr lang="en-US" altLang="zh-CN" sz="3600"/>
            </a:p>
          </p:txBody>
        </p:sp>
      </p:grpSp>
      <p:sp useBgFill="1">
        <p:nvSpPr>
          <p:cNvPr id="932919" name="Rectangle 55"/>
          <p:cNvSpPr>
            <a:spLocks noChangeArrowheads="1"/>
          </p:cNvSpPr>
          <p:nvPr/>
        </p:nvSpPr>
        <p:spPr bwMode="auto">
          <a:xfrm>
            <a:off x="838200" y="2438400"/>
            <a:ext cx="6096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920" name="Text Box 56"/>
          <p:cNvSpPr txBox="1">
            <a:spLocks noChangeArrowheads="1"/>
          </p:cNvSpPr>
          <p:nvPr/>
        </p:nvSpPr>
        <p:spPr bwMode="auto">
          <a:xfrm>
            <a:off x="4479925" y="3660775"/>
            <a:ext cx="4298950" cy="251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zh-CN" altLang="en-US" sz="3600">
                <a:solidFill>
                  <a:srgbClr val="660033"/>
                </a:solidFill>
                <a:latin typeface="隶书" panose="02010509060101010101" charset="-122"/>
                <a:ea typeface="隶书" panose="02010509060101010101" charset="-122"/>
              </a:rPr>
              <a:t>可见，基本操作是：</a:t>
            </a:r>
            <a:endParaRPr lang="zh-CN" altLang="en-US" sz="3600">
              <a:solidFill>
                <a:srgbClr val="660033"/>
              </a:solidFill>
              <a:latin typeface="隶书" panose="02010509060101010101" charset="-122"/>
              <a:ea typeface="隶书" panose="02010509060101010101" charset="-122"/>
            </a:endParaRPr>
          </a:p>
          <a:p>
            <a:pPr eaLnBrk="1" hangingPunct="1">
              <a:lnSpc>
                <a:spcPct val="110000"/>
              </a:lnSpc>
              <a:defRPr/>
            </a:pPr>
            <a:r>
              <a:rPr lang="zh-CN" altLang="en-US" sz="3600">
                <a:solidFill>
                  <a:srgbClr val="660033"/>
                </a:solidFill>
                <a:latin typeface="隶书" panose="02010509060101010101" charset="-122"/>
                <a:ea typeface="隶书" panose="02010509060101010101" charset="-122"/>
              </a:rPr>
              <a:t>将顺序表中的元素</a:t>
            </a:r>
            <a:endParaRPr lang="zh-CN" altLang="en-US" sz="3600">
              <a:solidFill>
                <a:srgbClr val="660033"/>
              </a:solidFill>
              <a:latin typeface="隶书" panose="02010509060101010101" charset="-122"/>
              <a:ea typeface="隶书" panose="02010509060101010101" charset="-122"/>
            </a:endParaRPr>
          </a:p>
          <a:p>
            <a:pPr eaLnBrk="1" hangingPunct="1">
              <a:lnSpc>
                <a:spcPct val="110000"/>
              </a:lnSpc>
              <a:defRPr/>
            </a:pPr>
            <a:r>
              <a:rPr lang="zh-CN" altLang="en-US" sz="3600">
                <a:solidFill>
                  <a:srgbClr val="660033"/>
                </a:solidFill>
                <a:latin typeface="隶书" panose="02010509060101010101" charset="-122"/>
                <a:ea typeface="隶书" panose="02010509060101010101" charset="-122"/>
              </a:rPr>
              <a:t>逐个和给定值 </a:t>
            </a:r>
            <a:r>
              <a:rPr lang="en-US" altLang="zh-CN" sz="3600">
                <a:solidFill>
                  <a:srgbClr val="660033"/>
                </a:solidFill>
                <a:latin typeface="隶书" panose="02010509060101010101" charset="-122"/>
                <a:ea typeface="隶书" panose="02010509060101010101" charset="-122"/>
              </a:rPr>
              <a:t>e </a:t>
            </a:r>
            <a:endParaRPr lang="en-US" altLang="zh-CN" sz="3600">
              <a:solidFill>
                <a:srgbClr val="660033"/>
              </a:solidFill>
              <a:latin typeface="隶书" panose="02010509060101010101" charset="-122"/>
              <a:ea typeface="隶书" panose="02010509060101010101" charset="-122"/>
            </a:endParaRPr>
          </a:p>
          <a:p>
            <a:pPr eaLnBrk="1" hangingPunct="1">
              <a:lnSpc>
                <a:spcPct val="110000"/>
              </a:lnSpc>
              <a:defRPr/>
            </a:pPr>
            <a:r>
              <a:rPr lang="zh-CN" altLang="en-US" sz="3600">
                <a:solidFill>
                  <a:srgbClr val="660033"/>
                </a:solidFill>
                <a:latin typeface="隶书" panose="02010509060101010101" charset="-122"/>
                <a:ea typeface="隶书" panose="02010509060101010101" charset="-122"/>
              </a:rPr>
              <a:t>相比较。</a:t>
            </a:r>
            <a:endParaRPr lang="zh-CN" altLang="en-US" sz="3600">
              <a:solidFill>
                <a:srgbClr val="660033"/>
              </a:solidFill>
              <a:latin typeface="隶书" panose="02010509060101010101" charset="-122"/>
              <a:ea typeface="隶书" panose="020105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32866"/>
                                        </p:tgtEl>
                                        <p:attrNameLst>
                                          <p:attrName>style.visibility</p:attrName>
                                        </p:attrNameLst>
                                      </p:cBhvr>
                                      <p:to>
                                        <p:strVal val="visible"/>
                                      </p:to>
                                    </p:set>
                                    <p:anim calcmode="lin" valueType="num">
                                      <p:cBhvr additive="base">
                                        <p:cTn id="7" dur="500" fill="hold"/>
                                        <p:tgtEl>
                                          <p:spTgt spid="932866"/>
                                        </p:tgtEl>
                                        <p:attrNameLst>
                                          <p:attrName>ppt_x</p:attrName>
                                        </p:attrNameLst>
                                      </p:cBhvr>
                                      <p:tavLst>
                                        <p:tav tm="0">
                                          <p:val>
                                            <p:strVal val="0-#ppt_w/2"/>
                                          </p:val>
                                        </p:tav>
                                        <p:tav tm="100000">
                                          <p:val>
                                            <p:strVal val="#ppt_x"/>
                                          </p:val>
                                        </p:tav>
                                      </p:tavLst>
                                    </p:anim>
                                    <p:anim calcmode="lin" valueType="num">
                                      <p:cBhvr additive="base">
                                        <p:cTn id="8" dur="500" fill="hold"/>
                                        <p:tgtEl>
                                          <p:spTgt spid="9328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32867"/>
                                        </p:tgtEl>
                                        <p:attrNameLst>
                                          <p:attrName>style.visibility</p:attrName>
                                        </p:attrNameLst>
                                      </p:cBhvr>
                                      <p:to>
                                        <p:strVal val="visible"/>
                                      </p:to>
                                    </p:set>
                                    <p:animEffect transition="in" filter="wipe(left)">
                                      <p:cBhvr>
                                        <p:cTn id="13" dur="500"/>
                                        <p:tgtEl>
                                          <p:spTgt spid="932867"/>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 fill="hold" nodeType="clickEffect">
                                  <p:stCondLst>
                                    <p:cond delay="0"/>
                                  </p:stCondLst>
                                  <p:childTnLst>
                                    <p:set>
                                      <p:cBhvr>
                                        <p:cTn id="17" dur="1" fill="hold">
                                          <p:stCondLst>
                                            <p:cond delay="0"/>
                                          </p:stCondLst>
                                        </p:cTn>
                                        <p:tgtEl>
                                          <p:spTgt spid="932881"/>
                                        </p:tgtEl>
                                        <p:attrNameLst>
                                          <p:attrName>style.visibility</p:attrName>
                                        </p:attrNameLst>
                                      </p:cBhvr>
                                      <p:to>
                                        <p:strVal val="visible"/>
                                      </p:to>
                                    </p:set>
                                    <p:anim calcmode="lin" valueType="num">
                                      <p:cBhvr>
                                        <p:cTn id="18" dur="500" fill="hold"/>
                                        <p:tgtEl>
                                          <p:spTgt spid="932881"/>
                                        </p:tgtEl>
                                        <p:attrNameLst>
                                          <p:attrName>ppt_x</p:attrName>
                                        </p:attrNameLst>
                                      </p:cBhvr>
                                      <p:tavLst>
                                        <p:tav tm="0">
                                          <p:val>
                                            <p:strVal val="#ppt_x"/>
                                          </p:val>
                                        </p:tav>
                                        <p:tav tm="100000">
                                          <p:val>
                                            <p:strVal val="#ppt_x"/>
                                          </p:val>
                                        </p:tav>
                                      </p:tavLst>
                                    </p:anim>
                                    <p:anim calcmode="lin" valueType="num">
                                      <p:cBhvr>
                                        <p:cTn id="19" dur="500" fill="hold"/>
                                        <p:tgtEl>
                                          <p:spTgt spid="932881"/>
                                        </p:tgtEl>
                                        <p:attrNameLst>
                                          <p:attrName>ppt_y</p:attrName>
                                        </p:attrNameLst>
                                      </p:cBhvr>
                                      <p:tavLst>
                                        <p:tav tm="0">
                                          <p:val>
                                            <p:strVal val="#ppt_y-#ppt_h/2"/>
                                          </p:val>
                                        </p:tav>
                                        <p:tav tm="100000">
                                          <p:val>
                                            <p:strVal val="#ppt_y"/>
                                          </p:val>
                                        </p:tav>
                                      </p:tavLst>
                                    </p:anim>
                                    <p:anim calcmode="lin" valueType="num">
                                      <p:cBhvr>
                                        <p:cTn id="20" dur="500" fill="hold"/>
                                        <p:tgtEl>
                                          <p:spTgt spid="932881"/>
                                        </p:tgtEl>
                                        <p:attrNameLst>
                                          <p:attrName>ppt_w</p:attrName>
                                        </p:attrNameLst>
                                      </p:cBhvr>
                                      <p:tavLst>
                                        <p:tav tm="0">
                                          <p:val>
                                            <p:strVal val="#ppt_w"/>
                                          </p:val>
                                        </p:tav>
                                        <p:tav tm="100000">
                                          <p:val>
                                            <p:strVal val="#ppt_w"/>
                                          </p:val>
                                        </p:tav>
                                      </p:tavLst>
                                    </p:anim>
                                    <p:anim calcmode="lin" valueType="num">
                                      <p:cBhvr>
                                        <p:cTn id="21" dur="500" fill="hold"/>
                                        <p:tgtEl>
                                          <p:spTgt spid="932881"/>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7" presetClass="entr" presetSubtype="1" fill="hold" nodeType="clickEffect">
                                  <p:stCondLst>
                                    <p:cond delay="0"/>
                                  </p:stCondLst>
                                  <p:childTnLst>
                                    <p:set>
                                      <p:cBhvr>
                                        <p:cTn id="25" dur="1" fill="hold">
                                          <p:stCondLst>
                                            <p:cond delay="0"/>
                                          </p:stCondLst>
                                        </p:cTn>
                                        <p:tgtEl>
                                          <p:spTgt spid="932884"/>
                                        </p:tgtEl>
                                        <p:attrNameLst>
                                          <p:attrName>style.visibility</p:attrName>
                                        </p:attrNameLst>
                                      </p:cBhvr>
                                      <p:to>
                                        <p:strVal val="visible"/>
                                      </p:to>
                                    </p:set>
                                    <p:anim calcmode="lin" valueType="num">
                                      <p:cBhvr>
                                        <p:cTn id="26" dur="500" fill="hold"/>
                                        <p:tgtEl>
                                          <p:spTgt spid="932884"/>
                                        </p:tgtEl>
                                        <p:attrNameLst>
                                          <p:attrName>ppt_x</p:attrName>
                                        </p:attrNameLst>
                                      </p:cBhvr>
                                      <p:tavLst>
                                        <p:tav tm="0">
                                          <p:val>
                                            <p:strVal val="#ppt_x"/>
                                          </p:val>
                                        </p:tav>
                                        <p:tav tm="100000">
                                          <p:val>
                                            <p:strVal val="#ppt_x"/>
                                          </p:val>
                                        </p:tav>
                                      </p:tavLst>
                                    </p:anim>
                                    <p:anim calcmode="lin" valueType="num">
                                      <p:cBhvr>
                                        <p:cTn id="27" dur="500" fill="hold"/>
                                        <p:tgtEl>
                                          <p:spTgt spid="932884"/>
                                        </p:tgtEl>
                                        <p:attrNameLst>
                                          <p:attrName>ppt_y</p:attrName>
                                        </p:attrNameLst>
                                      </p:cBhvr>
                                      <p:tavLst>
                                        <p:tav tm="0">
                                          <p:val>
                                            <p:strVal val="#ppt_y-#ppt_h/2"/>
                                          </p:val>
                                        </p:tav>
                                        <p:tav tm="100000">
                                          <p:val>
                                            <p:strVal val="#ppt_y"/>
                                          </p:val>
                                        </p:tav>
                                      </p:tavLst>
                                    </p:anim>
                                    <p:anim calcmode="lin" valueType="num">
                                      <p:cBhvr>
                                        <p:cTn id="28" dur="500" fill="hold"/>
                                        <p:tgtEl>
                                          <p:spTgt spid="932884"/>
                                        </p:tgtEl>
                                        <p:attrNameLst>
                                          <p:attrName>ppt_w</p:attrName>
                                        </p:attrNameLst>
                                      </p:cBhvr>
                                      <p:tavLst>
                                        <p:tav tm="0">
                                          <p:val>
                                            <p:strVal val="#ppt_w"/>
                                          </p:val>
                                        </p:tav>
                                        <p:tav tm="100000">
                                          <p:val>
                                            <p:strVal val="#ppt_w"/>
                                          </p:val>
                                        </p:tav>
                                      </p:tavLst>
                                    </p:anim>
                                    <p:anim calcmode="lin" valueType="num">
                                      <p:cBhvr>
                                        <p:cTn id="29" dur="500" fill="hold"/>
                                        <p:tgtEl>
                                          <p:spTgt spid="932884"/>
                                        </p:tgtEl>
                                        <p:attrNameLst>
                                          <p:attrName>ppt_h</p:attrName>
                                        </p:attrNameLst>
                                      </p:cBhvr>
                                      <p:tavLst>
                                        <p:tav tm="0">
                                          <p:val>
                                            <p:flt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932887"/>
                                        </p:tgtEl>
                                        <p:attrNameLst>
                                          <p:attrName>style.visibility</p:attrName>
                                        </p:attrNameLst>
                                      </p:cBhvr>
                                      <p:to>
                                        <p:strVal val="visible"/>
                                      </p:to>
                                    </p:set>
                                    <p:animEffect transition="in" filter="wipe(left)">
                                      <p:cBhvr>
                                        <p:cTn id="34" dur="500"/>
                                        <p:tgtEl>
                                          <p:spTgt spid="932887"/>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932888"/>
                                        </p:tgtEl>
                                        <p:attrNameLst>
                                          <p:attrName>style.visibility</p:attrName>
                                        </p:attrNameLst>
                                      </p:cBhvr>
                                      <p:to>
                                        <p:strVal val="visible"/>
                                      </p:to>
                                    </p:set>
                                    <p:animEffect transition="in" filter="wipe(left)">
                                      <p:cBhvr>
                                        <p:cTn id="38" dur="500"/>
                                        <p:tgtEl>
                                          <p:spTgt spid="932888"/>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nodeType="clickEffect">
                                  <p:stCondLst>
                                    <p:cond delay="0"/>
                                  </p:stCondLst>
                                  <p:childTnLst>
                                    <p:set>
                                      <p:cBhvr>
                                        <p:cTn id="42" dur="1" fill="hold">
                                          <p:stCondLst>
                                            <p:cond delay="0"/>
                                          </p:stCondLst>
                                        </p:cTn>
                                        <p:tgtEl>
                                          <p:spTgt spid="932889"/>
                                        </p:tgtEl>
                                        <p:attrNameLst>
                                          <p:attrName>style.visibility</p:attrName>
                                        </p:attrNameLst>
                                      </p:cBhvr>
                                      <p:to>
                                        <p:strVal val="visible"/>
                                      </p:to>
                                    </p:set>
                                    <p:animEffect transition="in" filter="slide(fromLeft)">
                                      <p:cBhvr>
                                        <p:cTn id="43" dur="500"/>
                                        <p:tgtEl>
                                          <p:spTgt spid="93288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32904"/>
                                        </p:tgtEl>
                                        <p:attrNameLst>
                                          <p:attrName>style.visibility</p:attrName>
                                        </p:attrNameLst>
                                      </p:cBhvr>
                                      <p:to>
                                        <p:strVal val="visible"/>
                                      </p:to>
                                    </p:set>
                                    <p:animEffect transition="in" filter="wipe(left)">
                                      <p:cBhvr>
                                        <p:cTn id="48" dur="500"/>
                                        <p:tgtEl>
                                          <p:spTgt spid="932904"/>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932905"/>
                                        </p:tgtEl>
                                        <p:attrNameLst>
                                          <p:attrName>style.visibility</p:attrName>
                                        </p:attrNameLst>
                                      </p:cBhvr>
                                      <p:to>
                                        <p:strVal val="visible"/>
                                      </p:to>
                                    </p:set>
                                    <p:animEffect transition="in" filter="wipe(left)">
                                      <p:cBhvr>
                                        <p:cTn id="52" dur="500"/>
                                        <p:tgtEl>
                                          <p:spTgt spid="93290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32912"/>
                                        </p:tgtEl>
                                        <p:attrNameLst>
                                          <p:attrName>style.visibility</p:attrName>
                                        </p:attrNameLst>
                                      </p:cBhvr>
                                      <p:to>
                                        <p:strVal val="visible"/>
                                      </p:to>
                                    </p:set>
                                    <p:animEffect transition="in" filter="wipe(left)">
                                      <p:cBhvr>
                                        <p:cTn id="57" dur="500"/>
                                        <p:tgtEl>
                                          <p:spTgt spid="932912"/>
                                        </p:tgtEl>
                                      </p:cBhvr>
                                    </p:animEffect>
                                  </p:childTnLst>
                                </p:cTn>
                              </p:par>
                            </p:childTnLst>
                          </p:cTn>
                        </p:par>
                        <p:par>
                          <p:cTn id="58" fill="hold">
                            <p:stCondLst>
                              <p:cond delay="500"/>
                            </p:stCondLst>
                            <p:childTnLst>
                              <p:par>
                                <p:cTn id="59" presetID="12" presetClass="entr" presetSubtype="8" fill="hold" nodeType="afterEffect">
                                  <p:stCondLst>
                                    <p:cond delay="0"/>
                                  </p:stCondLst>
                                  <p:childTnLst>
                                    <p:set>
                                      <p:cBhvr>
                                        <p:cTn id="60" dur="1" fill="hold">
                                          <p:stCondLst>
                                            <p:cond delay="0"/>
                                          </p:stCondLst>
                                        </p:cTn>
                                        <p:tgtEl>
                                          <p:spTgt spid="932892"/>
                                        </p:tgtEl>
                                        <p:attrNameLst>
                                          <p:attrName>style.visibility</p:attrName>
                                        </p:attrNameLst>
                                      </p:cBhvr>
                                      <p:to>
                                        <p:strVal val="visible"/>
                                      </p:to>
                                    </p:set>
                                    <p:animEffect transition="in" filter="slide(fromLeft)">
                                      <p:cBhvr>
                                        <p:cTn id="61" dur="500"/>
                                        <p:tgtEl>
                                          <p:spTgt spid="932892"/>
                                        </p:tgtEl>
                                      </p:cBhvr>
                                    </p:animEffect>
                                  </p:childTnLst>
                                </p:cTn>
                              </p:par>
                            </p:childTnLst>
                          </p:cTn>
                        </p:par>
                        <p:par>
                          <p:cTn id="62" fill="hold">
                            <p:stCondLst>
                              <p:cond delay="1000"/>
                            </p:stCondLst>
                            <p:childTnLst>
                              <p:par>
                                <p:cTn id="63" presetID="22" presetClass="entr" presetSubtype="8" fill="hold" grpId="0" nodeType="afterEffect">
                                  <p:stCondLst>
                                    <p:cond delay="0"/>
                                  </p:stCondLst>
                                  <p:childTnLst>
                                    <p:set>
                                      <p:cBhvr>
                                        <p:cTn id="64" dur="1" fill="hold">
                                          <p:stCondLst>
                                            <p:cond delay="0"/>
                                          </p:stCondLst>
                                        </p:cTn>
                                        <p:tgtEl>
                                          <p:spTgt spid="932906"/>
                                        </p:tgtEl>
                                        <p:attrNameLst>
                                          <p:attrName>style.visibility</p:attrName>
                                        </p:attrNameLst>
                                      </p:cBhvr>
                                      <p:to>
                                        <p:strVal val="visible"/>
                                      </p:to>
                                    </p:set>
                                    <p:animEffect transition="in" filter="wipe(left)">
                                      <p:cBhvr>
                                        <p:cTn id="65" dur="500"/>
                                        <p:tgtEl>
                                          <p:spTgt spid="93290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932913"/>
                                        </p:tgtEl>
                                        <p:attrNameLst>
                                          <p:attrName>style.visibility</p:attrName>
                                        </p:attrNameLst>
                                      </p:cBhvr>
                                      <p:to>
                                        <p:strVal val="visible"/>
                                      </p:to>
                                    </p:set>
                                    <p:animEffect transition="in" filter="wipe(left)">
                                      <p:cBhvr>
                                        <p:cTn id="70" dur="500"/>
                                        <p:tgtEl>
                                          <p:spTgt spid="932913"/>
                                        </p:tgtEl>
                                      </p:cBhvr>
                                    </p:animEffect>
                                  </p:childTnLst>
                                </p:cTn>
                              </p:par>
                            </p:childTnLst>
                          </p:cTn>
                        </p:par>
                        <p:par>
                          <p:cTn id="71" fill="hold">
                            <p:stCondLst>
                              <p:cond delay="500"/>
                            </p:stCondLst>
                            <p:childTnLst>
                              <p:par>
                                <p:cTn id="72" presetID="12" presetClass="entr" presetSubtype="8" fill="hold" nodeType="afterEffect">
                                  <p:stCondLst>
                                    <p:cond delay="0"/>
                                  </p:stCondLst>
                                  <p:childTnLst>
                                    <p:set>
                                      <p:cBhvr>
                                        <p:cTn id="73" dur="1" fill="hold">
                                          <p:stCondLst>
                                            <p:cond delay="0"/>
                                          </p:stCondLst>
                                        </p:cTn>
                                        <p:tgtEl>
                                          <p:spTgt spid="932895"/>
                                        </p:tgtEl>
                                        <p:attrNameLst>
                                          <p:attrName>style.visibility</p:attrName>
                                        </p:attrNameLst>
                                      </p:cBhvr>
                                      <p:to>
                                        <p:strVal val="visible"/>
                                      </p:to>
                                    </p:set>
                                    <p:animEffect transition="in" filter="slide(fromLeft)">
                                      <p:cBhvr>
                                        <p:cTn id="74" dur="500"/>
                                        <p:tgtEl>
                                          <p:spTgt spid="932895"/>
                                        </p:tgtEl>
                                      </p:cBhvr>
                                    </p:animEffect>
                                  </p:childTnLst>
                                </p:cTn>
                              </p:par>
                            </p:childTnLst>
                          </p:cTn>
                        </p:par>
                        <p:par>
                          <p:cTn id="75" fill="hold">
                            <p:stCondLst>
                              <p:cond delay="1000"/>
                            </p:stCondLst>
                            <p:childTnLst>
                              <p:par>
                                <p:cTn id="76" presetID="22" presetClass="entr" presetSubtype="8" fill="hold" grpId="0" nodeType="afterEffect">
                                  <p:stCondLst>
                                    <p:cond delay="0"/>
                                  </p:stCondLst>
                                  <p:childTnLst>
                                    <p:set>
                                      <p:cBhvr>
                                        <p:cTn id="77" dur="1" fill="hold">
                                          <p:stCondLst>
                                            <p:cond delay="0"/>
                                          </p:stCondLst>
                                        </p:cTn>
                                        <p:tgtEl>
                                          <p:spTgt spid="932907"/>
                                        </p:tgtEl>
                                        <p:attrNameLst>
                                          <p:attrName>style.visibility</p:attrName>
                                        </p:attrNameLst>
                                      </p:cBhvr>
                                      <p:to>
                                        <p:strVal val="visible"/>
                                      </p:to>
                                    </p:set>
                                    <p:animEffect transition="in" filter="wipe(left)">
                                      <p:cBhvr>
                                        <p:cTn id="78" dur="500"/>
                                        <p:tgtEl>
                                          <p:spTgt spid="932907"/>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932914"/>
                                        </p:tgtEl>
                                        <p:attrNameLst>
                                          <p:attrName>style.visibility</p:attrName>
                                        </p:attrNameLst>
                                      </p:cBhvr>
                                      <p:to>
                                        <p:strVal val="visible"/>
                                      </p:to>
                                    </p:set>
                                    <p:animEffect transition="in" filter="wipe(left)">
                                      <p:cBhvr>
                                        <p:cTn id="83" dur="500"/>
                                        <p:tgtEl>
                                          <p:spTgt spid="932914"/>
                                        </p:tgtEl>
                                      </p:cBhvr>
                                    </p:animEffect>
                                  </p:childTnLst>
                                </p:cTn>
                              </p:par>
                            </p:childTnLst>
                          </p:cTn>
                        </p:par>
                        <p:par>
                          <p:cTn id="84" fill="hold">
                            <p:stCondLst>
                              <p:cond delay="500"/>
                            </p:stCondLst>
                            <p:childTnLst>
                              <p:par>
                                <p:cTn id="85" presetID="12" presetClass="entr" presetSubtype="8" fill="hold" nodeType="afterEffect">
                                  <p:stCondLst>
                                    <p:cond delay="0"/>
                                  </p:stCondLst>
                                  <p:childTnLst>
                                    <p:set>
                                      <p:cBhvr>
                                        <p:cTn id="86" dur="1" fill="hold">
                                          <p:stCondLst>
                                            <p:cond delay="0"/>
                                          </p:stCondLst>
                                        </p:cTn>
                                        <p:tgtEl>
                                          <p:spTgt spid="932898"/>
                                        </p:tgtEl>
                                        <p:attrNameLst>
                                          <p:attrName>style.visibility</p:attrName>
                                        </p:attrNameLst>
                                      </p:cBhvr>
                                      <p:to>
                                        <p:strVal val="visible"/>
                                      </p:to>
                                    </p:set>
                                    <p:animEffect transition="in" filter="slide(fromLeft)">
                                      <p:cBhvr>
                                        <p:cTn id="87" dur="500"/>
                                        <p:tgtEl>
                                          <p:spTgt spid="932898"/>
                                        </p:tgtEl>
                                      </p:cBhvr>
                                    </p:animEffect>
                                  </p:childTnLst>
                                </p:cTn>
                              </p:par>
                            </p:childTnLst>
                          </p:cTn>
                        </p:par>
                        <p:par>
                          <p:cTn id="88" fill="hold">
                            <p:stCondLst>
                              <p:cond delay="1000"/>
                            </p:stCondLst>
                            <p:childTnLst>
                              <p:par>
                                <p:cTn id="89" presetID="22" presetClass="entr" presetSubtype="8" fill="hold" grpId="0" nodeType="afterEffect">
                                  <p:stCondLst>
                                    <p:cond delay="0"/>
                                  </p:stCondLst>
                                  <p:childTnLst>
                                    <p:set>
                                      <p:cBhvr>
                                        <p:cTn id="90" dur="1" fill="hold">
                                          <p:stCondLst>
                                            <p:cond delay="0"/>
                                          </p:stCondLst>
                                        </p:cTn>
                                        <p:tgtEl>
                                          <p:spTgt spid="932908"/>
                                        </p:tgtEl>
                                        <p:attrNameLst>
                                          <p:attrName>style.visibility</p:attrName>
                                        </p:attrNameLst>
                                      </p:cBhvr>
                                      <p:to>
                                        <p:strVal val="visible"/>
                                      </p:to>
                                    </p:set>
                                    <p:animEffect transition="in" filter="wipe(left)">
                                      <p:cBhvr>
                                        <p:cTn id="91" dur="500"/>
                                        <p:tgtEl>
                                          <p:spTgt spid="932908"/>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932911"/>
                                        </p:tgtEl>
                                        <p:attrNameLst>
                                          <p:attrName>style.visibility</p:attrName>
                                        </p:attrNameLst>
                                      </p:cBhvr>
                                      <p:to>
                                        <p:strVal val="visible"/>
                                      </p:to>
                                    </p:set>
                                    <p:animEffect transition="in" filter="wipe(left)">
                                      <p:cBhvr>
                                        <p:cTn id="96" dur="500"/>
                                        <p:tgtEl>
                                          <p:spTgt spid="932911"/>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932915"/>
                                        </p:tgtEl>
                                        <p:attrNameLst>
                                          <p:attrName>style.visibility</p:attrName>
                                        </p:attrNameLst>
                                      </p:cBhvr>
                                      <p:to>
                                        <p:strVal val="visible"/>
                                      </p:to>
                                    </p:set>
                                    <p:animEffect transition="in" filter="wipe(left)">
                                      <p:cBhvr>
                                        <p:cTn id="101" dur="500"/>
                                        <p:tgtEl>
                                          <p:spTgt spid="932915"/>
                                        </p:tgtEl>
                                      </p:cBhvr>
                                    </p:animEffect>
                                  </p:childTnLst>
                                </p:cTn>
                              </p:par>
                            </p:childTnLst>
                          </p:cTn>
                        </p:par>
                        <p:par>
                          <p:cTn id="102" fill="hold">
                            <p:stCondLst>
                              <p:cond delay="500"/>
                            </p:stCondLst>
                            <p:childTnLst>
                              <p:par>
                                <p:cTn id="103" presetID="12" presetClass="entr" presetSubtype="8" fill="hold" nodeType="afterEffect">
                                  <p:stCondLst>
                                    <p:cond delay="0"/>
                                  </p:stCondLst>
                                  <p:childTnLst>
                                    <p:set>
                                      <p:cBhvr>
                                        <p:cTn id="104" dur="1" fill="hold">
                                          <p:stCondLst>
                                            <p:cond delay="0"/>
                                          </p:stCondLst>
                                        </p:cTn>
                                        <p:tgtEl>
                                          <p:spTgt spid="932916"/>
                                        </p:tgtEl>
                                        <p:attrNameLst>
                                          <p:attrName>style.visibility</p:attrName>
                                        </p:attrNameLst>
                                      </p:cBhvr>
                                      <p:to>
                                        <p:strVal val="visible"/>
                                      </p:to>
                                    </p:set>
                                    <p:animEffect transition="in" filter="slide(fromLeft)">
                                      <p:cBhvr>
                                        <p:cTn id="105" dur="500"/>
                                        <p:tgtEl>
                                          <p:spTgt spid="932916"/>
                                        </p:tgtEl>
                                      </p:cBhvr>
                                    </p:animEffect>
                                  </p:childTnLst>
                                </p:cTn>
                              </p:par>
                            </p:childTnLst>
                          </p:cTn>
                        </p:par>
                        <p:par>
                          <p:cTn id="106" fill="hold">
                            <p:stCondLst>
                              <p:cond delay="1000"/>
                            </p:stCondLst>
                            <p:childTnLst>
                              <p:par>
                                <p:cTn id="107" presetID="22" presetClass="entr" presetSubtype="8" fill="hold" grpId="0" nodeType="afterEffect">
                                  <p:stCondLst>
                                    <p:cond delay="0"/>
                                  </p:stCondLst>
                                  <p:childTnLst>
                                    <p:set>
                                      <p:cBhvr>
                                        <p:cTn id="108" dur="1" fill="hold">
                                          <p:stCondLst>
                                            <p:cond delay="0"/>
                                          </p:stCondLst>
                                        </p:cTn>
                                        <p:tgtEl>
                                          <p:spTgt spid="932909"/>
                                        </p:tgtEl>
                                        <p:attrNameLst>
                                          <p:attrName>style.visibility</p:attrName>
                                        </p:attrNameLst>
                                      </p:cBhvr>
                                      <p:to>
                                        <p:strVal val="visible"/>
                                      </p:to>
                                    </p:set>
                                    <p:animEffect transition="in" filter="wipe(left)">
                                      <p:cBhvr>
                                        <p:cTn id="109" dur="500"/>
                                        <p:tgtEl>
                                          <p:spTgt spid="932909"/>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932919"/>
                                        </p:tgtEl>
                                        <p:attrNameLst>
                                          <p:attrName>style.visibility</p:attrName>
                                        </p:attrNameLst>
                                      </p:cBhvr>
                                      <p:to>
                                        <p:strVal val="visible"/>
                                      </p:to>
                                    </p:set>
                                    <p:animEffect transition="in" filter="wipe(left)">
                                      <p:cBhvr>
                                        <p:cTn id="114" dur="500"/>
                                        <p:tgtEl>
                                          <p:spTgt spid="932919"/>
                                        </p:tgtEl>
                                      </p:cBhvr>
                                    </p:animEffect>
                                  </p:childTnLst>
                                </p:cTn>
                              </p:par>
                            </p:childTnLst>
                          </p:cTn>
                        </p:par>
                        <p:par>
                          <p:cTn id="115" fill="hold">
                            <p:stCondLst>
                              <p:cond delay="500"/>
                            </p:stCondLst>
                            <p:childTnLst>
                              <p:par>
                                <p:cTn id="116" presetID="12" presetClass="entr" presetSubtype="8" fill="hold" nodeType="afterEffect">
                                  <p:stCondLst>
                                    <p:cond delay="0"/>
                                  </p:stCondLst>
                                  <p:childTnLst>
                                    <p:set>
                                      <p:cBhvr>
                                        <p:cTn id="117" dur="1" fill="hold">
                                          <p:stCondLst>
                                            <p:cond delay="0"/>
                                          </p:stCondLst>
                                        </p:cTn>
                                        <p:tgtEl>
                                          <p:spTgt spid="932901"/>
                                        </p:tgtEl>
                                        <p:attrNameLst>
                                          <p:attrName>style.visibility</p:attrName>
                                        </p:attrNameLst>
                                      </p:cBhvr>
                                      <p:to>
                                        <p:strVal val="visible"/>
                                      </p:to>
                                    </p:set>
                                    <p:animEffect transition="in" filter="slide(fromLeft)">
                                      <p:cBhvr>
                                        <p:cTn id="118" dur="500"/>
                                        <p:tgtEl>
                                          <p:spTgt spid="932901"/>
                                        </p:tgtEl>
                                      </p:cBhvr>
                                    </p:animEffect>
                                  </p:childTnLst>
                                </p:cTn>
                              </p:par>
                            </p:childTnLst>
                          </p:cTn>
                        </p:par>
                        <p:par>
                          <p:cTn id="119" fill="hold">
                            <p:stCondLst>
                              <p:cond delay="1000"/>
                            </p:stCondLst>
                            <p:childTnLst>
                              <p:par>
                                <p:cTn id="120" presetID="22" presetClass="entr" presetSubtype="8" fill="hold" grpId="0" nodeType="afterEffect">
                                  <p:stCondLst>
                                    <p:cond delay="0"/>
                                  </p:stCondLst>
                                  <p:childTnLst>
                                    <p:set>
                                      <p:cBhvr>
                                        <p:cTn id="121" dur="1" fill="hold">
                                          <p:stCondLst>
                                            <p:cond delay="0"/>
                                          </p:stCondLst>
                                        </p:cTn>
                                        <p:tgtEl>
                                          <p:spTgt spid="932910"/>
                                        </p:tgtEl>
                                        <p:attrNameLst>
                                          <p:attrName>style.visibility</p:attrName>
                                        </p:attrNameLst>
                                      </p:cBhvr>
                                      <p:to>
                                        <p:strVal val="visible"/>
                                      </p:to>
                                    </p:set>
                                    <p:animEffect transition="in" filter="wipe(left)">
                                      <p:cBhvr>
                                        <p:cTn id="122" dur="500"/>
                                        <p:tgtEl>
                                          <p:spTgt spid="932910"/>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iterate type="lt">
                                    <p:tmPct val="100000"/>
                                  </p:iterate>
                                  <p:childTnLst>
                                    <p:set>
                                      <p:cBhvr>
                                        <p:cTn id="126" dur="1" fill="hold">
                                          <p:stCondLst>
                                            <p:cond delay="0"/>
                                          </p:stCondLst>
                                        </p:cTn>
                                        <p:tgtEl>
                                          <p:spTgt spid="932920"/>
                                        </p:tgtEl>
                                        <p:attrNameLst>
                                          <p:attrName>style.visibility</p:attrName>
                                        </p:attrNameLst>
                                      </p:cBhvr>
                                      <p:to>
                                        <p:strVal val="visible"/>
                                      </p:to>
                                    </p:set>
                                    <p:animEffect transition="in" filter="wipe(left)">
                                      <p:cBhvr>
                                        <p:cTn id="127" dur="75"/>
                                        <p:tgtEl>
                                          <p:spTgt spid="932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866" grpId="0" autoUpdateAnimBg="0"/>
      <p:bldP spid="932887" grpId="0" autoUpdateAnimBg="0"/>
      <p:bldP spid="932888" grpId="0" autoUpdateAnimBg="0"/>
      <p:bldP spid="932904" grpId="0" autoUpdateAnimBg="0"/>
      <p:bldP spid="932905" grpId="0" animBg="1" autoUpdateAnimBg="0"/>
      <p:bldP spid="932906" grpId="0" animBg="1" autoUpdateAnimBg="0"/>
      <p:bldP spid="932907" grpId="0" animBg="1" autoUpdateAnimBg="0"/>
      <p:bldP spid="932908" grpId="0" animBg="1" autoUpdateAnimBg="0"/>
      <p:bldP spid="932909" grpId="0" animBg="1" autoUpdateAnimBg="0"/>
      <p:bldP spid="932910" grpId="0" animBg="1" autoUpdateAnimBg="0"/>
      <p:bldP spid="932911" grpId="0" autoUpdateAnimBg="0"/>
      <p:bldP spid="932912" grpId="0" animBg="1"/>
      <p:bldP spid="932913" grpId="0" animBg="1"/>
      <p:bldP spid="932914" grpId="0" animBg="1"/>
      <p:bldP spid="932915" grpId="0" animBg="1"/>
      <p:bldP spid="932919" grpId="0" animBg="1"/>
      <p:bldP spid="932920"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0" name="Text Box 2"/>
          <p:cNvSpPr txBox="1">
            <a:spLocks noChangeArrowheads="1"/>
          </p:cNvSpPr>
          <p:nvPr/>
        </p:nvSpPr>
        <p:spPr bwMode="auto">
          <a:xfrm>
            <a:off x="-41399" y="342106"/>
            <a:ext cx="9005887" cy="617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5000"/>
              </a:lnSpc>
              <a:defRPr/>
            </a:pPr>
            <a:r>
              <a:rPr lang="zh-CN" altLang="en-US" dirty="0"/>
              <a:t> </a:t>
            </a:r>
            <a:r>
              <a:rPr lang="en-US" altLang="zh-CN" sz="2800" b="1" dirty="0"/>
              <a:t>int</a:t>
            </a:r>
            <a:r>
              <a:rPr lang="en-US" altLang="zh-CN" sz="2800" dirty="0"/>
              <a:t> </a:t>
            </a:r>
            <a:r>
              <a:rPr lang="en-US" altLang="zh-CN" sz="2800" dirty="0" err="1"/>
              <a:t>LocateElem_Sq</a:t>
            </a:r>
            <a:r>
              <a:rPr lang="en-US" altLang="zh-CN" sz="2800" dirty="0"/>
              <a:t>(</a:t>
            </a:r>
            <a:r>
              <a:rPr lang="en-US" altLang="zh-CN" sz="2800" dirty="0" err="1"/>
              <a:t>SqList</a:t>
            </a:r>
            <a:r>
              <a:rPr lang="en-US" altLang="zh-CN" sz="2800" dirty="0"/>
              <a:t> L, </a:t>
            </a:r>
            <a:r>
              <a:rPr lang="en-US" altLang="zh-CN" sz="2800" dirty="0" err="1"/>
              <a:t>ElemType</a:t>
            </a:r>
            <a:r>
              <a:rPr lang="en-US" altLang="zh-CN" sz="2800" dirty="0"/>
              <a:t> e,</a:t>
            </a:r>
            <a:endParaRPr lang="en-US" altLang="zh-CN" sz="2800" dirty="0"/>
          </a:p>
          <a:p>
            <a:pPr eaLnBrk="1" hangingPunct="1">
              <a:lnSpc>
                <a:spcPct val="115000"/>
              </a:lnSpc>
              <a:defRPr/>
            </a:pPr>
            <a:r>
              <a:rPr lang="en-US" altLang="zh-CN" sz="2800" dirty="0"/>
              <a:t>   </a:t>
            </a:r>
            <a:r>
              <a:rPr lang="en-US" altLang="zh-CN" sz="2800" b="1" dirty="0"/>
              <a:t>Status</a:t>
            </a:r>
            <a:r>
              <a:rPr lang="en-US" altLang="zh-CN" sz="2800" dirty="0"/>
              <a:t> (*compare)(</a:t>
            </a:r>
            <a:r>
              <a:rPr lang="en-US" altLang="zh-CN" sz="2800" dirty="0" err="1"/>
              <a:t>ElemType</a:t>
            </a:r>
            <a:r>
              <a:rPr lang="en-US" altLang="zh-CN" sz="2800" dirty="0"/>
              <a:t>, </a:t>
            </a:r>
            <a:r>
              <a:rPr lang="en-US" altLang="zh-CN" sz="2800" dirty="0" err="1"/>
              <a:t>ElemType</a:t>
            </a:r>
            <a:r>
              <a:rPr lang="en-US" altLang="zh-CN" sz="2800" dirty="0"/>
              <a:t>)) </a:t>
            </a:r>
            <a:r>
              <a:rPr lang="en-US" altLang="zh-CN" sz="2800" b="1" dirty="0"/>
              <a:t>{</a:t>
            </a:r>
            <a:endParaRPr lang="en-US" altLang="zh-CN" sz="3200" b="1" dirty="0"/>
          </a:p>
          <a:p>
            <a:pPr eaLnBrk="1" hangingPunct="1">
              <a:lnSpc>
                <a:spcPct val="115000"/>
              </a:lnSpc>
              <a:defRPr/>
            </a:pPr>
            <a:r>
              <a:rPr lang="en-US" altLang="zh-CN" sz="3200" b="1" dirty="0"/>
              <a:t>   </a:t>
            </a:r>
            <a:r>
              <a:rPr lang="en-US" altLang="zh-CN" sz="2400" b="1" dirty="0">
                <a:ea typeface="楷体_GB2312" charset="0"/>
              </a:rPr>
              <a:t>//</a:t>
            </a:r>
            <a:r>
              <a:rPr lang="en-US" altLang="zh-CN" sz="2400" b="1" dirty="0">
                <a:latin typeface="楷体_GB2312" charset="0"/>
                <a:ea typeface="楷体_GB2312" charset="0"/>
              </a:rPr>
              <a:t> </a:t>
            </a:r>
            <a:r>
              <a:rPr lang="zh-CN" altLang="zh-CN" sz="2400" b="1" dirty="0">
                <a:latin typeface="楷体_GB2312" charset="0"/>
                <a:ea typeface="楷体_GB2312" charset="0"/>
              </a:rPr>
              <a:t>在顺序表中查询第一个满足判定条件的数据元素，</a:t>
            </a:r>
            <a:endParaRPr lang="zh-CN" altLang="zh-CN" sz="2400" b="1" dirty="0">
              <a:latin typeface="楷体_GB2312" charset="0"/>
              <a:ea typeface="楷体_GB2312" charset="0"/>
            </a:endParaRPr>
          </a:p>
          <a:p>
            <a:pPr eaLnBrk="1" hangingPunct="1">
              <a:lnSpc>
                <a:spcPct val="120000"/>
              </a:lnSpc>
              <a:defRPr/>
            </a:pPr>
            <a:r>
              <a:rPr lang="zh-CN" altLang="zh-CN" sz="2400" b="1" dirty="0">
                <a:latin typeface="楷体_GB2312" charset="0"/>
                <a:ea typeface="楷体_GB2312" charset="0"/>
              </a:rPr>
              <a:t>  </a:t>
            </a:r>
            <a:r>
              <a:rPr lang="zh-CN" altLang="zh-CN" sz="2400" b="1" dirty="0">
                <a:ea typeface="楷体_GB2312" charset="0"/>
              </a:rPr>
              <a:t>//</a:t>
            </a:r>
            <a:r>
              <a:rPr lang="zh-CN" altLang="zh-CN" sz="2400" b="1" dirty="0">
                <a:latin typeface="楷体_GB2312" charset="0"/>
                <a:ea typeface="楷体_GB2312" charset="0"/>
              </a:rPr>
              <a:t> 若存在，则返回它的位序，否则返回 0</a:t>
            </a:r>
            <a:endParaRPr lang="en-US" altLang="zh-CN" sz="3200" dirty="0"/>
          </a:p>
          <a:p>
            <a:pPr eaLnBrk="1" hangingPunct="1">
              <a:lnSpc>
                <a:spcPct val="120000"/>
              </a:lnSpc>
              <a:defRPr/>
            </a:pPr>
            <a:endParaRPr lang="en-US" altLang="zh-CN" sz="2800" b="1" dirty="0"/>
          </a:p>
          <a:p>
            <a:pPr eaLnBrk="1" hangingPunct="1">
              <a:lnSpc>
                <a:spcPct val="120000"/>
              </a:lnSpc>
              <a:defRPr/>
            </a:pPr>
            <a:endParaRPr lang="en-US" altLang="zh-CN" sz="2800" b="1" dirty="0"/>
          </a:p>
          <a:p>
            <a:pPr eaLnBrk="1" hangingPunct="1">
              <a:lnSpc>
                <a:spcPct val="120000"/>
              </a:lnSpc>
              <a:defRPr/>
            </a:pPr>
            <a:endParaRPr lang="en-US" altLang="zh-CN" sz="2800" b="1" dirty="0"/>
          </a:p>
          <a:p>
            <a:pPr eaLnBrk="1" hangingPunct="1">
              <a:lnSpc>
                <a:spcPct val="120000"/>
              </a:lnSpc>
              <a:defRPr/>
            </a:pPr>
            <a:endParaRPr lang="en-US" altLang="zh-CN" sz="2800" b="1" dirty="0"/>
          </a:p>
          <a:p>
            <a:pPr eaLnBrk="1" hangingPunct="1">
              <a:lnSpc>
                <a:spcPct val="120000"/>
              </a:lnSpc>
              <a:defRPr/>
            </a:pPr>
            <a:endParaRPr lang="en-US" altLang="zh-CN" sz="2800" b="1" dirty="0"/>
          </a:p>
          <a:p>
            <a:pPr eaLnBrk="1" hangingPunct="1">
              <a:lnSpc>
                <a:spcPct val="120000"/>
              </a:lnSpc>
              <a:defRPr/>
            </a:pPr>
            <a:endParaRPr lang="en-US" altLang="zh-CN" sz="2800" b="1" dirty="0"/>
          </a:p>
          <a:p>
            <a:pPr eaLnBrk="1" hangingPunct="1">
              <a:lnSpc>
                <a:spcPct val="120000"/>
              </a:lnSpc>
              <a:defRPr/>
            </a:pPr>
            <a:endParaRPr lang="en-US" altLang="zh-CN" sz="2800" b="1" dirty="0"/>
          </a:p>
          <a:p>
            <a:pPr eaLnBrk="1" hangingPunct="1">
              <a:lnSpc>
                <a:spcPct val="120000"/>
              </a:lnSpc>
              <a:defRPr/>
            </a:pPr>
            <a:r>
              <a:rPr lang="en-US" altLang="zh-CN" sz="2800" b="1" dirty="0"/>
              <a:t>}</a:t>
            </a:r>
            <a:r>
              <a:rPr lang="en-US" altLang="zh-CN" sz="2800" dirty="0"/>
              <a:t> // </a:t>
            </a:r>
            <a:r>
              <a:rPr lang="en-US" altLang="zh-CN" sz="2800" dirty="0" err="1"/>
              <a:t>LocateElem_Sq</a:t>
            </a:r>
            <a:endParaRPr lang="en-US" altLang="zh-CN" sz="2800" dirty="0"/>
          </a:p>
        </p:txBody>
      </p:sp>
      <p:sp>
        <p:nvSpPr>
          <p:cNvPr id="933891" name="Text Box 3"/>
          <p:cNvSpPr txBox="1">
            <a:spLocks noChangeArrowheads="1"/>
          </p:cNvSpPr>
          <p:nvPr/>
        </p:nvSpPr>
        <p:spPr bwMode="auto">
          <a:xfrm>
            <a:off x="3893859" y="6064250"/>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t>  </a:t>
            </a:r>
            <a:r>
              <a:rPr lang="en-US" altLang="zh-CN" sz="3600" b="1"/>
              <a:t>O( ListLength(L) )</a:t>
            </a:r>
            <a:endParaRPr lang="en-US" altLang="zh-CN" sz="4400"/>
          </a:p>
        </p:txBody>
      </p:sp>
      <p:sp>
        <p:nvSpPr>
          <p:cNvPr id="933892" name="Text Box 4"/>
          <p:cNvSpPr txBox="1">
            <a:spLocks noChangeArrowheads="1"/>
          </p:cNvSpPr>
          <p:nvPr/>
        </p:nvSpPr>
        <p:spPr bwMode="auto">
          <a:xfrm>
            <a:off x="3970059" y="5516563"/>
            <a:ext cx="42799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a:ea typeface="隶书" panose="02010509060101010101" charset="-122"/>
              </a:rPr>
              <a:t>算法的</a:t>
            </a:r>
            <a:r>
              <a:rPr lang="zh-CN" altLang="en-US" sz="3200" b="1">
                <a:solidFill>
                  <a:srgbClr val="FF0000"/>
                </a:solidFill>
                <a:ea typeface="隶书" panose="02010509060101010101" charset="-122"/>
              </a:rPr>
              <a:t>时间复杂度</a:t>
            </a:r>
            <a:r>
              <a:rPr lang="zh-CN" altLang="en-US" sz="3200" b="1">
                <a:ea typeface="隶书" panose="02010509060101010101" charset="-122"/>
              </a:rPr>
              <a:t>为：</a:t>
            </a:r>
            <a:endParaRPr lang="zh-CN" altLang="en-US" sz="2400"/>
          </a:p>
        </p:txBody>
      </p:sp>
      <p:sp>
        <p:nvSpPr>
          <p:cNvPr id="933893" name="Rectangle 5"/>
          <p:cNvSpPr>
            <a:spLocks noChangeArrowheads="1"/>
          </p:cNvSpPr>
          <p:nvPr/>
        </p:nvSpPr>
        <p:spPr bwMode="auto">
          <a:xfrm>
            <a:off x="266422" y="2500313"/>
            <a:ext cx="8326437" cy="123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3200" dirty="0" err="1">
                <a:solidFill>
                  <a:srgbClr val="009999"/>
                </a:solidFill>
              </a:rPr>
              <a:t>i</a:t>
            </a:r>
            <a:r>
              <a:rPr lang="en-US" altLang="zh-CN" sz="3200" dirty="0">
                <a:solidFill>
                  <a:srgbClr val="009999"/>
                </a:solidFill>
              </a:rPr>
              <a:t> = 1;           </a:t>
            </a:r>
            <a:r>
              <a:rPr lang="en-US" altLang="zh-CN" sz="2800" b="1" dirty="0">
                <a:solidFill>
                  <a:srgbClr val="009999"/>
                </a:solidFill>
                <a:ea typeface="楷体_GB2312" charset="0"/>
              </a:rPr>
              <a:t>//</a:t>
            </a:r>
            <a:r>
              <a:rPr lang="en-US" altLang="zh-CN" sz="2800" b="1" dirty="0">
                <a:solidFill>
                  <a:srgbClr val="009999"/>
                </a:solidFill>
                <a:latin typeface="楷体_GB2312" charset="0"/>
                <a:ea typeface="楷体_GB2312" charset="0"/>
              </a:rPr>
              <a:t> </a:t>
            </a:r>
            <a:r>
              <a:rPr lang="en-US" altLang="zh-CN" sz="2800" b="1" dirty="0" err="1">
                <a:solidFill>
                  <a:srgbClr val="009999"/>
                </a:solidFill>
                <a:latin typeface="楷体_GB2312" charset="0"/>
                <a:ea typeface="楷体_GB2312" charset="0"/>
              </a:rPr>
              <a:t>i</a:t>
            </a:r>
            <a:r>
              <a:rPr lang="en-US" altLang="zh-CN" sz="2800" b="1" dirty="0">
                <a:solidFill>
                  <a:srgbClr val="009999"/>
                </a:solidFill>
                <a:latin typeface="楷体_GB2312" charset="0"/>
                <a:ea typeface="楷体_GB2312" charset="0"/>
              </a:rPr>
              <a:t> </a:t>
            </a:r>
            <a:r>
              <a:rPr lang="zh-CN" altLang="en-US" sz="2800" b="1" dirty="0">
                <a:solidFill>
                  <a:srgbClr val="009999"/>
                </a:solidFill>
                <a:latin typeface="楷体_GB2312" charset="0"/>
                <a:ea typeface="楷体_GB2312" charset="0"/>
              </a:rPr>
              <a:t>的初值为第 </a:t>
            </a:r>
            <a:r>
              <a:rPr lang="en-US" altLang="zh-CN" sz="2800" b="1" dirty="0">
                <a:solidFill>
                  <a:srgbClr val="009999"/>
                </a:solidFill>
                <a:latin typeface="楷体_GB2312" charset="0"/>
                <a:ea typeface="楷体_GB2312" charset="0"/>
              </a:rPr>
              <a:t>1 </a:t>
            </a:r>
            <a:r>
              <a:rPr lang="zh-CN" altLang="en-US" sz="2800" b="1" dirty="0">
                <a:solidFill>
                  <a:srgbClr val="009999"/>
                </a:solidFill>
                <a:latin typeface="楷体_GB2312" charset="0"/>
                <a:ea typeface="楷体_GB2312" charset="0"/>
              </a:rPr>
              <a:t>元素的位序</a:t>
            </a:r>
            <a:endParaRPr lang="zh-CN" altLang="en-US" sz="3200" dirty="0"/>
          </a:p>
          <a:p>
            <a:pPr eaLnBrk="1" hangingPunct="1">
              <a:lnSpc>
                <a:spcPct val="110000"/>
              </a:lnSpc>
              <a:defRPr/>
            </a:pPr>
            <a:r>
              <a:rPr lang="en-US" altLang="zh-CN" sz="3200" dirty="0">
                <a:solidFill>
                  <a:srgbClr val="990000"/>
                </a:solidFill>
              </a:rPr>
              <a:t>p = </a:t>
            </a:r>
            <a:r>
              <a:rPr lang="en-US" altLang="zh-CN" sz="3200" dirty="0" err="1">
                <a:solidFill>
                  <a:srgbClr val="990000"/>
                </a:solidFill>
              </a:rPr>
              <a:t>L.elem</a:t>
            </a:r>
            <a:r>
              <a:rPr lang="en-US" altLang="zh-CN" sz="3200" dirty="0">
                <a:solidFill>
                  <a:srgbClr val="990000"/>
                </a:solidFill>
              </a:rPr>
              <a:t>;</a:t>
            </a:r>
            <a:r>
              <a:rPr lang="en-US" altLang="zh-CN" sz="3600" dirty="0">
                <a:solidFill>
                  <a:srgbClr val="990000"/>
                </a:solidFill>
              </a:rPr>
              <a:t>      </a:t>
            </a:r>
            <a:r>
              <a:rPr lang="en-US" altLang="zh-CN" sz="2800" b="1" dirty="0">
                <a:solidFill>
                  <a:srgbClr val="990000"/>
                </a:solidFill>
                <a:ea typeface="楷体_GB2312" charset="0"/>
              </a:rPr>
              <a:t>//</a:t>
            </a:r>
            <a:r>
              <a:rPr lang="en-US" altLang="zh-CN" sz="2800" b="1" dirty="0">
                <a:solidFill>
                  <a:srgbClr val="990000"/>
                </a:solidFill>
                <a:latin typeface="楷体_GB2312" charset="0"/>
                <a:ea typeface="楷体_GB2312" charset="0"/>
              </a:rPr>
              <a:t> p </a:t>
            </a:r>
            <a:r>
              <a:rPr lang="zh-CN" altLang="en-US" sz="2800" b="1" dirty="0">
                <a:solidFill>
                  <a:srgbClr val="990000"/>
                </a:solidFill>
                <a:latin typeface="楷体_GB2312" charset="0"/>
                <a:ea typeface="楷体_GB2312" charset="0"/>
              </a:rPr>
              <a:t>的初值为第 </a:t>
            </a:r>
            <a:r>
              <a:rPr lang="en-US" altLang="zh-CN" sz="2800" b="1" dirty="0">
                <a:solidFill>
                  <a:srgbClr val="990000"/>
                </a:solidFill>
                <a:latin typeface="楷体_GB2312" charset="0"/>
                <a:ea typeface="楷体_GB2312" charset="0"/>
              </a:rPr>
              <a:t>1 </a:t>
            </a:r>
            <a:r>
              <a:rPr lang="zh-CN" altLang="en-US" sz="2800" b="1" dirty="0">
                <a:solidFill>
                  <a:srgbClr val="990000"/>
                </a:solidFill>
                <a:latin typeface="楷体_GB2312" charset="0"/>
                <a:ea typeface="楷体_GB2312" charset="0"/>
              </a:rPr>
              <a:t>元素的存储位置</a:t>
            </a:r>
            <a:endParaRPr lang="zh-CN" altLang="en-US" sz="3200" dirty="0"/>
          </a:p>
        </p:txBody>
      </p:sp>
      <p:sp>
        <p:nvSpPr>
          <p:cNvPr id="933894" name="Rectangle 6"/>
          <p:cNvSpPr>
            <a:spLocks noChangeArrowheads="1"/>
          </p:cNvSpPr>
          <p:nvPr/>
        </p:nvSpPr>
        <p:spPr bwMode="auto">
          <a:xfrm>
            <a:off x="236259" y="3686175"/>
            <a:ext cx="7067550"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3200" b="1"/>
              <a:t>while</a:t>
            </a:r>
            <a:r>
              <a:rPr lang="en-US" altLang="zh-CN" sz="3200"/>
              <a:t> </a:t>
            </a:r>
            <a:r>
              <a:rPr lang="en-US" altLang="zh-CN" sz="3200">
                <a:solidFill>
                  <a:srgbClr val="6600CC"/>
                </a:solidFill>
              </a:rPr>
              <a:t>(i &lt;= L.length </a:t>
            </a:r>
            <a:r>
              <a:rPr lang="en-US" altLang="zh-CN" sz="3200" b="1">
                <a:solidFill>
                  <a:srgbClr val="6600CC"/>
                </a:solidFill>
              </a:rPr>
              <a:t>&amp;&amp; </a:t>
            </a:r>
            <a:endParaRPr lang="en-US" altLang="zh-CN" sz="3200" b="1">
              <a:solidFill>
                <a:srgbClr val="6600CC"/>
              </a:solidFill>
            </a:endParaRPr>
          </a:p>
          <a:p>
            <a:pPr eaLnBrk="1" hangingPunct="1">
              <a:lnSpc>
                <a:spcPct val="115000"/>
              </a:lnSpc>
              <a:defRPr/>
            </a:pPr>
            <a:r>
              <a:rPr lang="en-US" altLang="zh-CN" sz="3200" b="1">
                <a:solidFill>
                  <a:srgbClr val="6600CC"/>
                </a:solidFill>
              </a:rPr>
              <a:t>                       !</a:t>
            </a:r>
            <a:r>
              <a:rPr lang="en-US" altLang="zh-CN" sz="3200">
                <a:solidFill>
                  <a:srgbClr val="6600CC"/>
                </a:solidFill>
              </a:rPr>
              <a:t>(*compare)(*p++, e))</a:t>
            </a:r>
            <a:r>
              <a:rPr lang="en-US" altLang="zh-CN" sz="3200"/>
              <a:t>  ++i;</a:t>
            </a:r>
            <a:endParaRPr lang="en-US" altLang="zh-CN" sz="3200"/>
          </a:p>
        </p:txBody>
      </p:sp>
      <p:sp>
        <p:nvSpPr>
          <p:cNvPr id="933895" name="Rectangle 7"/>
          <p:cNvSpPr>
            <a:spLocks noChangeArrowheads="1"/>
          </p:cNvSpPr>
          <p:nvPr/>
        </p:nvSpPr>
        <p:spPr bwMode="auto">
          <a:xfrm>
            <a:off x="312459" y="4800600"/>
            <a:ext cx="4600575"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3200" b="1">
                <a:solidFill>
                  <a:srgbClr val="990000"/>
                </a:solidFill>
              </a:rPr>
              <a:t>if</a:t>
            </a:r>
            <a:r>
              <a:rPr lang="en-US" altLang="zh-CN" sz="3200">
                <a:solidFill>
                  <a:srgbClr val="990000"/>
                </a:solidFill>
              </a:rPr>
              <a:t> (i &lt;= L.length)  </a:t>
            </a:r>
            <a:r>
              <a:rPr lang="en-US" altLang="zh-CN" sz="3200" b="1">
                <a:solidFill>
                  <a:srgbClr val="990000"/>
                </a:solidFill>
              </a:rPr>
              <a:t>return</a:t>
            </a:r>
            <a:r>
              <a:rPr lang="en-US" altLang="zh-CN" sz="3200">
                <a:solidFill>
                  <a:srgbClr val="990000"/>
                </a:solidFill>
              </a:rPr>
              <a:t> i;</a:t>
            </a:r>
            <a:endParaRPr lang="en-US" altLang="zh-CN" sz="3200"/>
          </a:p>
          <a:p>
            <a:pPr eaLnBrk="1" hangingPunct="1">
              <a:lnSpc>
                <a:spcPct val="115000"/>
              </a:lnSpc>
              <a:defRPr/>
            </a:pPr>
            <a:r>
              <a:rPr lang="en-US" altLang="zh-CN" sz="3200" b="1">
                <a:solidFill>
                  <a:srgbClr val="009999"/>
                </a:solidFill>
              </a:rPr>
              <a:t>else  return</a:t>
            </a:r>
            <a:r>
              <a:rPr lang="en-US" altLang="zh-CN" sz="3200">
                <a:solidFill>
                  <a:srgbClr val="009999"/>
                </a:solidFill>
              </a:rPr>
              <a:t> 0;</a:t>
            </a:r>
            <a:endParaRPr lang="en-US" altLang="zh-CN" sz="3200">
              <a:solidFill>
                <a:srgbClr val="009999"/>
              </a:solidFill>
            </a:endParaRPr>
          </a:p>
        </p:txBody>
      </p:sp>
      <p:sp>
        <p:nvSpPr>
          <p:cNvPr id="933896" name="Rectangle 8"/>
          <p:cNvSpPr>
            <a:spLocks noChangeArrowheads="1"/>
          </p:cNvSpPr>
          <p:nvPr/>
        </p:nvSpPr>
        <p:spPr bwMode="auto">
          <a:xfrm>
            <a:off x="3338755" y="4271323"/>
            <a:ext cx="3575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dirty="0">
                <a:solidFill>
                  <a:srgbClr val="000099"/>
                </a:solidFill>
              </a:rPr>
              <a:t>(*compare)(*p++, e)</a:t>
            </a:r>
            <a:endParaRPr lang="en-US" altLang="zh-CN" sz="3200" dirty="0">
              <a:solidFill>
                <a:srgbClr val="6600CC"/>
              </a:solidFill>
            </a:endParaRPr>
          </a:p>
        </p:txBody>
      </p:sp>
      <p:sp>
        <p:nvSpPr>
          <p:cNvPr id="933897" name="AutoShape 9">
            <a:hlinkClick r:id="rId1" action="ppaction://hlinksldjump" highlightClick="1"/>
          </p:cNvPr>
          <p:cNvSpPr>
            <a:spLocks noChangeArrowheads="1"/>
          </p:cNvSpPr>
          <p:nvPr/>
        </p:nvSpPr>
        <p:spPr bwMode="auto">
          <a:xfrm>
            <a:off x="8237259"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grpId="0" nodeType="afterEffect">
                                  <p:stCondLst>
                                    <p:cond delay="0"/>
                                  </p:stCondLst>
                                  <p:childTnLst>
                                    <p:set>
                                      <p:cBhvr>
                                        <p:cTn id="6" dur="1" fill="hold">
                                          <p:stCondLst>
                                            <p:cond delay="0"/>
                                          </p:stCondLst>
                                        </p:cTn>
                                        <p:tgtEl>
                                          <p:spTgt spid="933890"/>
                                        </p:tgtEl>
                                        <p:attrNameLst>
                                          <p:attrName>style.visibility</p:attrName>
                                        </p:attrNameLst>
                                      </p:cBhvr>
                                      <p:to>
                                        <p:strVal val="visible"/>
                                      </p:to>
                                    </p:set>
                                    <p:animEffect transition="in" filter="checkerboard(down)">
                                      <p:cBhvr>
                                        <p:cTn id="7" dur="500"/>
                                        <p:tgtEl>
                                          <p:spTgt spid="9338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33893"/>
                                        </p:tgtEl>
                                        <p:attrNameLst>
                                          <p:attrName>style.visibility</p:attrName>
                                        </p:attrNameLst>
                                      </p:cBhvr>
                                      <p:to>
                                        <p:strVal val="visible"/>
                                      </p:to>
                                    </p:set>
                                    <p:animEffect transition="in" filter="wipe(left)">
                                      <p:cBhvr>
                                        <p:cTn id="12" dur="75"/>
                                        <p:tgtEl>
                                          <p:spTgt spid="9338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933894"/>
                                        </p:tgtEl>
                                        <p:attrNameLst>
                                          <p:attrName>style.visibility</p:attrName>
                                        </p:attrNameLst>
                                      </p:cBhvr>
                                      <p:to>
                                        <p:strVal val="visible"/>
                                      </p:to>
                                    </p:set>
                                    <p:animEffect transition="in" filter="wipe(left)">
                                      <p:cBhvr>
                                        <p:cTn id="17" dur="75"/>
                                        <p:tgtEl>
                                          <p:spTgt spid="9338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933895"/>
                                        </p:tgtEl>
                                        <p:attrNameLst>
                                          <p:attrName>style.visibility</p:attrName>
                                        </p:attrNameLst>
                                      </p:cBhvr>
                                      <p:to>
                                        <p:strVal val="visible"/>
                                      </p:to>
                                    </p:set>
                                    <p:animEffect transition="in" filter="wipe(left)">
                                      <p:cBhvr>
                                        <p:cTn id="22" dur="75"/>
                                        <p:tgtEl>
                                          <p:spTgt spid="933895"/>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933892"/>
                                        </p:tgtEl>
                                        <p:attrNameLst>
                                          <p:attrName>style.visibility</p:attrName>
                                        </p:attrNameLst>
                                      </p:cBhvr>
                                      <p:to>
                                        <p:strVal val="visible"/>
                                      </p:to>
                                    </p:set>
                                    <p:anim calcmode="lin" valueType="num">
                                      <p:cBhvr additive="base">
                                        <p:cTn id="27" dur="500" fill="hold"/>
                                        <p:tgtEl>
                                          <p:spTgt spid="933892"/>
                                        </p:tgtEl>
                                        <p:attrNameLst>
                                          <p:attrName>ppt_x</p:attrName>
                                        </p:attrNameLst>
                                      </p:cBhvr>
                                      <p:tavLst>
                                        <p:tav tm="0">
                                          <p:val>
                                            <p:strVal val="1+#ppt_w/2"/>
                                          </p:val>
                                        </p:tav>
                                        <p:tav tm="100000">
                                          <p:val>
                                            <p:strVal val="#ppt_x"/>
                                          </p:val>
                                        </p:tav>
                                      </p:tavLst>
                                    </p:anim>
                                    <p:anim calcmode="lin" valueType="num">
                                      <p:cBhvr additive="base">
                                        <p:cTn id="28" dur="500" fill="hold"/>
                                        <p:tgtEl>
                                          <p:spTgt spid="93389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933896"/>
                                        </p:tgtEl>
                                        <p:attrNameLst>
                                          <p:attrName>style.visibility</p:attrName>
                                        </p:attrNameLst>
                                      </p:cBhvr>
                                      <p:to>
                                        <p:strVal val="visible"/>
                                      </p:to>
                                    </p:set>
                                    <p:animEffect transition="in" filter="blinds(vertical)">
                                      <p:cBhvr>
                                        <p:cTn id="33" dur="500"/>
                                        <p:tgtEl>
                                          <p:spTgt spid="93389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933891"/>
                                        </p:tgtEl>
                                        <p:attrNameLst>
                                          <p:attrName>style.visibility</p:attrName>
                                        </p:attrNameLst>
                                      </p:cBhvr>
                                      <p:to>
                                        <p:strVal val="visible"/>
                                      </p:to>
                                    </p:set>
                                    <p:animEffect transition="in" filter="wipe(left)">
                                      <p:cBhvr>
                                        <p:cTn id="38" dur="500"/>
                                        <p:tgtEl>
                                          <p:spTgt spid="933891"/>
                                        </p:tgtEl>
                                      </p:cBhvr>
                                    </p:animEffect>
                                  </p:childTnLst>
                                </p:cTn>
                              </p:par>
                            </p:childTnLst>
                          </p:cTn>
                        </p:par>
                        <p:par>
                          <p:cTn id="39" fill="hold">
                            <p:stCondLst>
                              <p:cond delay="500"/>
                            </p:stCondLst>
                            <p:childTnLst>
                              <p:par>
                                <p:cTn id="40" presetID="2" presetClass="entr" presetSubtype="6" fill="hold" grpId="0" nodeType="afterEffect">
                                  <p:stCondLst>
                                    <p:cond delay="0"/>
                                  </p:stCondLst>
                                  <p:childTnLst>
                                    <p:set>
                                      <p:cBhvr>
                                        <p:cTn id="41" dur="1" fill="hold">
                                          <p:stCondLst>
                                            <p:cond delay="0"/>
                                          </p:stCondLst>
                                        </p:cTn>
                                        <p:tgtEl>
                                          <p:spTgt spid="933897"/>
                                        </p:tgtEl>
                                        <p:attrNameLst>
                                          <p:attrName>style.visibility</p:attrName>
                                        </p:attrNameLst>
                                      </p:cBhvr>
                                      <p:to>
                                        <p:strVal val="visible"/>
                                      </p:to>
                                    </p:set>
                                    <p:anim calcmode="lin" valueType="num">
                                      <p:cBhvr additive="base">
                                        <p:cTn id="42" dur="500" fill="hold"/>
                                        <p:tgtEl>
                                          <p:spTgt spid="933897"/>
                                        </p:tgtEl>
                                        <p:attrNameLst>
                                          <p:attrName>ppt_x</p:attrName>
                                        </p:attrNameLst>
                                      </p:cBhvr>
                                      <p:tavLst>
                                        <p:tav tm="0">
                                          <p:val>
                                            <p:strVal val="1+#ppt_w/2"/>
                                          </p:val>
                                        </p:tav>
                                        <p:tav tm="100000">
                                          <p:val>
                                            <p:strVal val="#ppt_x"/>
                                          </p:val>
                                        </p:tav>
                                      </p:tavLst>
                                    </p:anim>
                                    <p:anim calcmode="lin" valueType="num">
                                      <p:cBhvr additive="base">
                                        <p:cTn id="43" dur="500" fill="hold"/>
                                        <p:tgtEl>
                                          <p:spTgt spid="9338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890" grpId="0" autoUpdateAnimBg="0"/>
      <p:bldP spid="933891" grpId="0" autoUpdateAnimBg="0"/>
      <p:bldP spid="933892" grpId="0" autoUpdateAnimBg="0"/>
      <p:bldP spid="933893" grpId="0" autoUpdateAnimBg="0"/>
      <p:bldP spid="933894" grpId="0" autoUpdateAnimBg="0"/>
      <p:bldP spid="933895" grpId="0" autoUpdateAnimBg="0"/>
      <p:bldP spid="933896" grpId="0" autoUpdateAnimBg="0"/>
      <p:bldP spid="93389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4" name="Text Box 2"/>
          <p:cNvSpPr txBox="1">
            <a:spLocks noChangeArrowheads="1"/>
          </p:cNvSpPr>
          <p:nvPr/>
        </p:nvSpPr>
        <p:spPr bwMode="auto">
          <a:xfrm>
            <a:off x="403225" y="1431925"/>
            <a:ext cx="8486775"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zh-CN" altLang="en-US" sz="4400" dirty="0">
                <a:solidFill>
                  <a:srgbClr val="008080"/>
                </a:solidFill>
                <a:ea typeface="楷体_GB2312" charset="0"/>
              </a:rPr>
              <a:t>线性表</a:t>
            </a:r>
            <a:r>
              <a:rPr lang="zh-CN" altLang="en-US" sz="4400" dirty="0">
                <a:ea typeface="楷体_GB2312" charset="0"/>
              </a:rPr>
              <a:t>操作</a:t>
            </a:r>
            <a:endParaRPr lang="zh-CN" altLang="en-US" sz="4400" dirty="0">
              <a:ea typeface="楷体_GB2312" charset="0"/>
            </a:endParaRPr>
          </a:p>
          <a:p>
            <a:pPr eaLnBrk="1" hangingPunct="1">
              <a:lnSpc>
                <a:spcPct val="125000"/>
              </a:lnSpc>
              <a:defRPr/>
            </a:pPr>
            <a:r>
              <a:rPr lang="zh-CN" altLang="en-US" sz="4400" dirty="0">
                <a:ea typeface="楷体_GB2312" charset="0"/>
              </a:rPr>
              <a:t>           </a:t>
            </a:r>
            <a:r>
              <a:rPr lang="en-US" altLang="zh-CN" sz="4400" b="1" dirty="0" err="1">
                <a:solidFill>
                  <a:srgbClr val="003399"/>
                </a:solidFill>
                <a:ea typeface="楷体_GB2312" charset="0"/>
              </a:rPr>
              <a:t>ListInsert</a:t>
            </a:r>
            <a:r>
              <a:rPr lang="en-US" altLang="zh-CN" sz="4400" b="1" dirty="0">
                <a:solidFill>
                  <a:srgbClr val="003399"/>
                </a:solidFill>
              </a:rPr>
              <a:t>(&amp;L, </a:t>
            </a:r>
            <a:r>
              <a:rPr lang="en-US" altLang="zh-CN" sz="4400" b="1" dirty="0" err="1">
                <a:solidFill>
                  <a:srgbClr val="003399"/>
                </a:solidFill>
              </a:rPr>
              <a:t>i</a:t>
            </a:r>
            <a:r>
              <a:rPr lang="en-US" altLang="zh-CN" sz="4400" b="1" dirty="0">
                <a:solidFill>
                  <a:srgbClr val="003399"/>
                </a:solidFill>
              </a:rPr>
              <a:t>, e)</a:t>
            </a:r>
            <a:r>
              <a:rPr lang="zh-CN" altLang="en-US" sz="4400" dirty="0">
                <a:ea typeface="楷体_GB2312" charset="0"/>
              </a:rPr>
              <a:t>的实现：</a:t>
            </a:r>
            <a:endParaRPr lang="zh-CN" altLang="en-US" sz="4400" dirty="0"/>
          </a:p>
        </p:txBody>
      </p:sp>
      <p:sp>
        <p:nvSpPr>
          <p:cNvPr id="934915" name="Text Box 3"/>
          <p:cNvSpPr txBox="1">
            <a:spLocks noChangeArrowheads="1"/>
          </p:cNvSpPr>
          <p:nvPr/>
        </p:nvSpPr>
        <p:spPr bwMode="auto">
          <a:xfrm>
            <a:off x="476250" y="3357563"/>
            <a:ext cx="2178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FF0000"/>
                </a:solidFill>
                <a:ea typeface="楷体_GB2312" charset="0"/>
              </a:rPr>
              <a:t>首先分析</a:t>
            </a:r>
            <a:r>
              <a:rPr lang="en-US" altLang="zh-CN" sz="3600" b="1">
                <a:solidFill>
                  <a:srgbClr val="FF0000"/>
                </a:solidFill>
                <a:ea typeface="楷体_GB2312" charset="0"/>
              </a:rPr>
              <a:t>:</a:t>
            </a:r>
            <a:endParaRPr lang="en-US" altLang="zh-CN" sz="3600">
              <a:solidFill>
                <a:srgbClr val="FF0000"/>
              </a:solidFill>
              <a:ea typeface="楷体_GB2312" charset="0"/>
            </a:endParaRPr>
          </a:p>
        </p:txBody>
      </p:sp>
      <p:sp>
        <p:nvSpPr>
          <p:cNvPr id="934916" name="Text Box 4"/>
          <p:cNvSpPr txBox="1">
            <a:spLocks noChangeArrowheads="1"/>
          </p:cNvSpPr>
          <p:nvPr/>
        </p:nvSpPr>
        <p:spPr bwMode="auto">
          <a:xfrm>
            <a:off x="1066800" y="4021138"/>
            <a:ext cx="7851775" cy="240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40000"/>
              </a:lnSpc>
              <a:defRPr/>
            </a:pPr>
            <a:r>
              <a:rPr lang="zh-CN" altLang="en-US" sz="4000">
                <a:ea typeface="楷体_GB2312" charset="0"/>
              </a:rPr>
              <a:t>插入元素时，</a:t>
            </a:r>
            <a:endParaRPr lang="zh-CN" altLang="en-US" sz="4000">
              <a:ea typeface="楷体_GB2312" charset="0"/>
            </a:endParaRPr>
          </a:p>
          <a:p>
            <a:pPr eaLnBrk="1" hangingPunct="1">
              <a:lnSpc>
                <a:spcPct val="140000"/>
              </a:lnSpc>
              <a:defRPr/>
            </a:pPr>
            <a:r>
              <a:rPr lang="zh-CN" altLang="en-US" sz="4000">
                <a:ea typeface="楷体_GB2312" charset="0"/>
              </a:rPr>
              <a:t>线性表的</a:t>
            </a:r>
            <a:r>
              <a:rPr lang="zh-CN" altLang="en-US" sz="4000" b="1">
                <a:ea typeface="楷体_GB2312" charset="0"/>
              </a:rPr>
              <a:t>逻辑结构</a:t>
            </a:r>
            <a:r>
              <a:rPr lang="zh-CN" altLang="en-US" sz="4000" b="1">
                <a:solidFill>
                  <a:srgbClr val="003399"/>
                </a:solidFill>
                <a:ea typeface="楷体_GB2312" charset="0"/>
              </a:rPr>
              <a:t>发生什么变化</a:t>
            </a:r>
            <a:r>
              <a:rPr lang="zh-CN" altLang="en-US" sz="4000">
                <a:ea typeface="楷体_GB2312" charset="0"/>
              </a:rPr>
              <a:t>？</a:t>
            </a:r>
            <a:endParaRPr lang="zh-CN" altLang="en-US" sz="4000">
              <a:ea typeface="楷体_GB2312" charset="0"/>
            </a:endParaRPr>
          </a:p>
          <a:p>
            <a:pPr eaLnBrk="1" hangingPunct="1">
              <a:defRPr/>
            </a:pPr>
            <a:endParaRPr lang="zh-CN" altLang="en-US" sz="400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Text Box 2"/>
          <p:cNvSpPr txBox="1">
            <a:spLocks noChangeArrowheads="1"/>
          </p:cNvSpPr>
          <p:nvPr/>
        </p:nvSpPr>
        <p:spPr bwMode="auto">
          <a:xfrm>
            <a:off x="-183469" y="548680"/>
            <a:ext cx="951093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dirty="0">
                <a:ea typeface="楷体_GB2312" charset="0"/>
              </a:rPr>
              <a:t> </a:t>
            </a:r>
            <a:r>
              <a:rPr lang="en-US" altLang="zh-CN" sz="4000" dirty="0">
                <a:ea typeface="楷体_GB2312" charset="0"/>
              </a:rPr>
              <a:t>(a</a:t>
            </a:r>
            <a:r>
              <a:rPr lang="en-US" altLang="zh-CN" sz="4000" baseline="-25000" dirty="0">
                <a:ea typeface="楷体_GB2312" charset="0"/>
              </a:rPr>
              <a:t>1</a:t>
            </a:r>
            <a:r>
              <a:rPr lang="en-US" altLang="zh-CN" sz="4000" dirty="0">
                <a:ea typeface="楷体_GB2312" charset="0"/>
              </a:rPr>
              <a:t>, …, </a:t>
            </a:r>
            <a:r>
              <a:rPr lang="en-US" altLang="zh-CN" sz="4000" b="1" dirty="0">
                <a:ea typeface="楷体_GB2312" charset="0"/>
              </a:rPr>
              <a:t>a</a:t>
            </a:r>
            <a:r>
              <a:rPr lang="en-US" altLang="zh-CN" sz="4000" b="1" baseline="-25000" dirty="0">
                <a:ea typeface="楷体_GB2312" charset="0"/>
              </a:rPr>
              <a:t>i-1</a:t>
            </a:r>
            <a:r>
              <a:rPr lang="en-US" altLang="zh-CN" sz="4000" b="1" dirty="0">
                <a:ea typeface="楷体_GB2312" charset="0"/>
              </a:rPr>
              <a:t>, a</a:t>
            </a:r>
            <a:r>
              <a:rPr lang="en-US" altLang="zh-CN" sz="4000" b="1" baseline="-25000" dirty="0">
                <a:ea typeface="楷体_GB2312" charset="0"/>
              </a:rPr>
              <a:t>i</a:t>
            </a:r>
            <a:r>
              <a:rPr lang="en-US" altLang="zh-CN" sz="4000" b="1" dirty="0">
                <a:ea typeface="楷体_GB2312" charset="0"/>
              </a:rPr>
              <a:t>, </a:t>
            </a:r>
            <a:r>
              <a:rPr lang="en-US" altLang="zh-CN" sz="4000" dirty="0">
                <a:ea typeface="楷体_GB2312" charset="0"/>
              </a:rPr>
              <a:t>…, a</a:t>
            </a:r>
            <a:r>
              <a:rPr lang="en-US" altLang="zh-CN" sz="4000" baseline="-25000" dirty="0">
                <a:ea typeface="楷体_GB2312" charset="0"/>
              </a:rPr>
              <a:t>n</a:t>
            </a:r>
            <a:r>
              <a:rPr lang="en-US" altLang="zh-CN" sz="4000" dirty="0">
                <a:ea typeface="楷体_GB2312" charset="0"/>
              </a:rPr>
              <a:t>) </a:t>
            </a:r>
            <a:r>
              <a:rPr lang="zh-CN" altLang="en-US" sz="4000" dirty="0">
                <a:ea typeface="楷体_GB2312" charset="0"/>
              </a:rPr>
              <a:t>改变为</a:t>
            </a:r>
            <a:endParaRPr lang="zh-CN" altLang="en-US" sz="4000" dirty="0">
              <a:ea typeface="楷体_GB2312" charset="0"/>
            </a:endParaRPr>
          </a:p>
          <a:p>
            <a:pPr eaLnBrk="1" hangingPunct="1">
              <a:defRPr/>
            </a:pPr>
            <a:r>
              <a:rPr lang="zh-CN" altLang="en-US" sz="4000" dirty="0">
                <a:ea typeface="楷体_GB2312" charset="0"/>
              </a:rPr>
              <a:t>                      </a:t>
            </a:r>
            <a:r>
              <a:rPr lang="en-US" altLang="zh-CN" sz="4000" dirty="0">
                <a:ea typeface="楷体_GB2312" charset="0"/>
              </a:rPr>
              <a:t>(a</a:t>
            </a:r>
            <a:r>
              <a:rPr lang="en-US" altLang="zh-CN" sz="4000" baseline="-25000" dirty="0">
                <a:ea typeface="楷体_GB2312" charset="0"/>
              </a:rPr>
              <a:t>1</a:t>
            </a:r>
            <a:r>
              <a:rPr lang="en-US" altLang="zh-CN" sz="4000" dirty="0">
                <a:ea typeface="楷体_GB2312" charset="0"/>
              </a:rPr>
              <a:t>, …,</a:t>
            </a:r>
            <a:r>
              <a:rPr lang="en-US" altLang="zh-CN" sz="4000" b="1" dirty="0">
                <a:solidFill>
                  <a:srgbClr val="FF00FF"/>
                </a:solidFill>
                <a:ea typeface="楷体_GB2312" charset="0"/>
              </a:rPr>
              <a:t> a</a:t>
            </a:r>
            <a:r>
              <a:rPr lang="en-US" altLang="zh-CN" sz="4000" b="1" baseline="-25000" dirty="0">
                <a:solidFill>
                  <a:srgbClr val="FF00FF"/>
                </a:solidFill>
                <a:ea typeface="楷体_GB2312" charset="0"/>
              </a:rPr>
              <a:t>i-1</a:t>
            </a:r>
            <a:r>
              <a:rPr lang="en-US" altLang="zh-CN" sz="4000" b="1" dirty="0">
                <a:solidFill>
                  <a:srgbClr val="FF00FF"/>
                </a:solidFill>
                <a:ea typeface="楷体_GB2312" charset="0"/>
              </a:rPr>
              <a:t>, e, a</a:t>
            </a:r>
            <a:r>
              <a:rPr lang="en-US" altLang="zh-CN" sz="4000" b="1" baseline="-25000" dirty="0">
                <a:solidFill>
                  <a:srgbClr val="FF00FF"/>
                </a:solidFill>
                <a:ea typeface="楷体_GB2312" charset="0"/>
              </a:rPr>
              <a:t>i</a:t>
            </a:r>
            <a:r>
              <a:rPr lang="en-US" altLang="zh-CN" sz="4000" dirty="0">
                <a:ea typeface="楷体_GB2312" charset="0"/>
              </a:rPr>
              <a:t>, …, a</a:t>
            </a:r>
            <a:r>
              <a:rPr lang="en-US" altLang="zh-CN" sz="4000" baseline="-25000" dirty="0">
                <a:ea typeface="楷体_GB2312" charset="0"/>
              </a:rPr>
              <a:t>n</a:t>
            </a:r>
            <a:r>
              <a:rPr lang="en-US" altLang="zh-CN" sz="4000" dirty="0">
                <a:ea typeface="楷体_GB2312" charset="0"/>
              </a:rPr>
              <a:t>)</a:t>
            </a:r>
            <a:endParaRPr lang="en-US" altLang="zh-CN" sz="4000" dirty="0"/>
          </a:p>
        </p:txBody>
      </p:sp>
      <p:grpSp>
        <p:nvGrpSpPr>
          <p:cNvPr id="936963" name="Group 3"/>
          <p:cNvGrpSpPr/>
          <p:nvPr/>
        </p:nvGrpSpPr>
        <p:grpSpPr bwMode="auto">
          <a:xfrm>
            <a:off x="0" y="3460445"/>
            <a:ext cx="9472613" cy="990600"/>
            <a:chOff x="0" y="2208"/>
            <a:chExt cx="5967" cy="624"/>
          </a:xfrm>
        </p:grpSpPr>
        <p:sp>
          <p:nvSpPr>
            <p:cNvPr id="936964" name="Text Box 4"/>
            <p:cNvSpPr txBox="1">
              <a:spLocks noChangeArrowheads="1"/>
            </p:cNvSpPr>
            <p:nvPr/>
          </p:nvSpPr>
          <p:spPr bwMode="auto">
            <a:xfrm>
              <a:off x="159" y="2208"/>
              <a:ext cx="580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4000">
                  <a:ea typeface="楷体_GB2312" charset="0"/>
                </a:rPr>
                <a:t>a</a:t>
              </a:r>
              <a:r>
                <a:rPr lang="en-US" altLang="zh-CN" sz="4000" baseline="-25000">
                  <a:ea typeface="楷体_GB2312" charset="0"/>
                </a:rPr>
                <a:t>1</a:t>
              </a:r>
              <a:r>
                <a:rPr lang="en-US" altLang="zh-CN" sz="4000">
                  <a:ea typeface="楷体_GB2312" charset="0"/>
                </a:rPr>
                <a:t>  a</a:t>
              </a:r>
              <a:r>
                <a:rPr lang="en-US" altLang="zh-CN" sz="4000" baseline="-25000">
                  <a:ea typeface="楷体_GB2312" charset="0"/>
                </a:rPr>
                <a:t>2</a:t>
              </a:r>
              <a:r>
                <a:rPr lang="en-US" altLang="zh-CN" sz="4000">
                  <a:ea typeface="楷体_GB2312" charset="0"/>
                </a:rPr>
                <a:t>    </a:t>
              </a:r>
              <a:r>
                <a:rPr lang="en-US" altLang="zh-CN" sz="4000" b="1">
                  <a:ea typeface="楷体_GB2312" charset="0"/>
                </a:rPr>
                <a:t>…</a:t>
              </a:r>
              <a:r>
                <a:rPr lang="en-US" altLang="zh-CN" sz="4000">
                  <a:ea typeface="楷体_GB2312" charset="0"/>
                </a:rPr>
                <a:t>    a</a:t>
              </a:r>
              <a:r>
                <a:rPr lang="en-US" altLang="zh-CN" sz="4000" baseline="-25000">
                  <a:ea typeface="楷体_GB2312" charset="0"/>
                </a:rPr>
                <a:t>i-1</a:t>
              </a:r>
              <a:r>
                <a:rPr lang="en-US" altLang="zh-CN" sz="4000">
                  <a:ea typeface="楷体_GB2312" charset="0"/>
                </a:rPr>
                <a:t>   a</a:t>
              </a:r>
              <a:r>
                <a:rPr lang="en-US" altLang="zh-CN" sz="4000" baseline="-25000">
                  <a:ea typeface="楷体_GB2312" charset="0"/>
                </a:rPr>
                <a:t>i</a:t>
              </a:r>
              <a:r>
                <a:rPr lang="en-US" altLang="zh-CN" sz="4000">
                  <a:ea typeface="楷体_GB2312" charset="0"/>
                </a:rPr>
                <a:t>  </a:t>
              </a:r>
              <a:r>
                <a:rPr lang="en-US" altLang="zh-CN" sz="4000" b="1" baseline="-25000">
                  <a:ea typeface="楷体_GB2312" charset="0"/>
                </a:rPr>
                <a:t> </a:t>
              </a:r>
              <a:r>
                <a:rPr lang="en-US" altLang="zh-CN" sz="4000">
                  <a:ea typeface="楷体_GB2312" charset="0"/>
                </a:rPr>
                <a:t>  </a:t>
              </a:r>
              <a:r>
                <a:rPr lang="en-US" altLang="zh-CN" sz="4000" b="1">
                  <a:ea typeface="楷体_GB2312" charset="0"/>
                </a:rPr>
                <a:t>…</a:t>
              </a:r>
              <a:r>
                <a:rPr lang="en-US" altLang="zh-CN" sz="4000">
                  <a:ea typeface="楷体_GB2312" charset="0"/>
                </a:rPr>
                <a:t>    a</a:t>
              </a:r>
              <a:r>
                <a:rPr lang="en-US" altLang="zh-CN" sz="4000" baseline="-25000">
                  <a:ea typeface="楷体_GB2312" charset="0"/>
                </a:rPr>
                <a:t>n</a:t>
              </a:r>
              <a:endParaRPr lang="en-US" altLang="zh-CN" sz="4000" baseline="-25000">
                <a:ea typeface="楷体_GB2312" charset="0"/>
              </a:endParaRPr>
            </a:p>
          </p:txBody>
        </p:sp>
        <p:sp>
          <p:nvSpPr>
            <p:cNvPr id="936965" name="Line 5"/>
            <p:cNvSpPr>
              <a:spLocks noChangeShapeType="1"/>
            </p:cNvSpPr>
            <p:nvPr/>
          </p:nvSpPr>
          <p:spPr bwMode="auto">
            <a:xfrm>
              <a:off x="0" y="2304"/>
              <a:ext cx="55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66" name="Line 6"/>
            <p:cNvSpPr>
              <a:spLocks noChangeShapeType="1"/>
            </p:cNvSpPr>
            <p:nvPr/>
          </p:nvSpPr>
          <p:spPr bwMode="auto">
            <a:xfrm>
              <a:off x="0" y="2784"/>
              <a:ext cx="552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67" name="Line 7"/>
            <p:cNvSpPr>
              <a:spLocks noChangeShapeType="1"/>
            </p:cNvSpPr>
            <p:nvPr/>
          </p:nvSpPr>
          <p:spPr bwMode="auto">
            <a:xfrm>
              <a:off x="1968"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68" name="Line 8"/>
            <p:cNvSpPr>
              <a:spLocks noChangeShapeType="1"/>
            </p:cNvSpPr>
            <p:nvPr/>
          </p:nvSpPr>
          <p:spPr bwMode="auto">
            <a:xfrm>
              <a:off x="2736"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69" name="Line 9"/>
            <p:cNvSpPr>
              <a:spLocks noChangeShapeType="1"/>
            </p:cNvSpPr>
            <p:nvPr/>
          </p:nvSpPr>
          <p:spPr bwMode="auto">
            <a:xfrm>
              <a:off x="3312"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0" name="Line 10"/>
            <p:cNvSpPr>
              <a:spLocks noChangeShapeType="1"/>
            </p:cNvSpPr>
            <p:nvPr/>
          </p:nvSpPr>
          <p:spPr bwMode="auto">
            <a:xfrm>
              <a:off x="4896"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1" name="Line 11"/>
            <p:cNvSpPr>
              <a:spLocks noChangeShapeType="1"/>
            </p:cNvSpPr>
            <p:nvPr/>
          </p:nvSpPr>
          <p:spPr bwMode="auto">
            <a:xfrm>
              <a:off x="591"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2" name="Line 12"/>
            <p:cNvSpPr>
              <a:spLocks noChangeShapeType="1"/>
            </p:cNvSpPr>
            <p:nvPr/>
          </p:nvSpPr>
          <p:spPr bwMode="auto">
            <a:xfrm>
              <a:off x="1152"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3" name="Line 13"/>
            <p:cNvSpPr>
              <a:spLocks noChangeShapeType="1"/>
            </p:cNvSpPr>
            <p:nvPr/>
          </p:nvSpPr>
          <p:spPr bwMode="auto">
            <a:xfrm>
              <a:off x="4128" y="2304"/>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grpSp>
        <p:nvGrpSpPr>
          <p:cNvPr id="936974" name="Group 14"/>
          <p:cNvGrpSpPr/>
          <p:nvPr/>
        </p:nvGrpSpPr>
        <p:grpSpPr bwMode="auto">
          <a:xfrm>
            <a:off x="0" y="4908245"/>
            <a:ext cx="4503738" cy="914400"/>
            <a:chOff x="0" y="3120"/>
            <a:chExt cx="2837" cy="576"/>
          </a:xfrm>
        </p:grpSpPr>
        <p:sp>
          <p:nvSpPr>
            <p:cNvPr id="936975" name="Text Box 15"/>
            <p:cNvSpPr txBox="1">
              <a:spLocks noChangeArrowheads="1"/>
            </p:cNvSpPr>
            <p:nvPr/>
          </p:nvSpPr>
          <p:spPr bwMode="auto">
            <a:xfrm>
              <a:off x="144" y="3120"/>
              <a:ext cx="2693"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a:ea typeface="楷体_GB2312" charset="0"/>
                </a:rPr>
                <a:t>a</a:t>
              </a:r>
              <a:r>
                <a:rPr lang="en-US" altLang="zh-CN" sz="4000" baseline="-25000">
                  <a:ea typeface="楷体_GB2312" charset="0"/>
                </a:rPr>
                <a:t>1</a:t>
              </a:r>
              <a:r>
                <a:rPr lang="en-US" altLang="zh-CN" sz="4000">
                  <a:ea typeface="楷体_GB2312" charset="0"/>
                </a:rPr>
                <a:t>  a</a:t>
              </a:r>
              <a:r>
                <a:rPr lang="en-US" altLang="zh-CN" sz="4000" baseline="-25000">
                  <a:ea typeface="楷体_GB2312" charset="0"/>
                </a:rPr>
                <a:t>2</a:t>
              </a:r>
              <a:r>
                <a:rPr lang="en-US" altLang="zh-CN" sz="4000">
                  <a:ea typeface="楷体_GB2312" charset="0"/>
                </a:rPr>
                <a:t>    </a:t>
              </a:r>
              <a:r>
                <a:rPr lang="en-US" altLang="zh-CN" sz="4000" b="1">
                  <a:ea typeface="楷体_GB2312" charset="0"/>
                </a:rPr>
                <a:t>…</a:t>
              </a:r>
              <a:r>
                <a:rPr lang="en-US" altLang="zh-CN" sz="4000">
                  <a:ea typeface="楷体_GB2312" charset="0"/>
                </a:rPr>
                <a:t>    a</a:t>
              </a:r>
              <a:r>
                <a:rPr lang="en-US" altLang="zh-CN" sz="4000" baseline="-25000">
                  <a:ea typeface="楷体_GB2312" charset="0"/>
                </a:rPr>
                <a:t>i-1</a:t>
              </a:r>
              <a:r>
                <a:rPr lang="en-US" altLang="zh-CN" sz="4000">
                  <a:ea typeface="楷体_GB2312" charset="0"/>
                </a:rPr>
                <a:t> </a:t>
              </a:r>
              <a:endParaRPr lang="en-US" altLang="zh-CN" sz="4000" b="1">
                <a:ea typeface="楷体_GB2312" charset="0"/>
              </a:endParaRPr>
            </a:p>
          </p:txBody>
        </p:sp>
        <p:sp>
          <p:nvSpPr>
            <p:cNvPr id="936976" name="Line 16"/>
            <p:cNvSpPr>
              <a:spLocks noChangeShapeType="1"/>
            </p:cNvSpPr>
            <p:nvPr/>
          </p:nvSpPr>
          <p:spPr bwMode="auto">
            <a:xfrm>
              <a:off x="1152"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7" name="Line 17"/>
            <p:cNvSpPr>
              <a:spLocks noChangeShapeType="1"/>
            </p:cNvSpPr>
            <p:nvPr/>
          </p:nvSpPr>
          <p:spPr bwMode="auto">
            <a:xfrm>
              <a:off x="1968"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8" name="Line 18"/>
            <p:cNvSpPr>
              <a:spLocks noChangeShapeType="1"/>
            </p:cNvSpPr>
            <p:nvPr/>
          </p:nvSpPr>
          <p:spPr bwMode="auto">
            <a:xfrm>
              <a:off x="0" y="3216"/>
              <a:ext cx="273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9" name="Line 19"/>
            <p:cNvSpPr>
              <a:spLocks noChangeShapeType="1"/>
            </p:cNvSpPr>
            <p:nvPr/>
          </p:nvSpPr>
          <p:spPr bwMode="auto">
            <a:xfrm>
              <a:off x="0" y="3696"/>
              <a:ext cx="273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80" name="Line 20"/>
            <p:cNvSpPr>
              <a:spLocks noChangeShapeType="1"/>
            </p:cNvSpPr>
            <p:nvPr/>
          </p:nvSpPr>
          <p:spPr bwMode="auto">
            <a:xfrm>
              <a:off x="591"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81" name="Line 21"/>
            <p:cNvSpPr>
              <a:spLocks noChangeShapeType="1"/>
            </p:cNvSpPr>
            <p:nvPr/>
          </p:nvSpPr>
          <p:spPr bwMode="auto">
            <a:xfrm>
              <a:off x="2736"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grpSp>
        <p:nvGrpSpPr>
          <p:cNvPr id="936982" name="Group 22"/>
          <p:cNvGrpSpPr/>
          <p:nvPr/>
        </p:nvGrpSpPr>
        <p:grpSpPr bwMode="auto">
          <a:xfrm>
            <a:off x="6553200" y="4908245"/>
            <a:ext cx="1143000" cy="914400"/>
            <a:chOff x="4128" y="3120"/>
            <a:chExt cx="720" cy="576"/>
          </a:xfrm>
        </p:grpSpPr>
        <p:sp>
          <p:nvSpPr>
            <p:cNvPr id="936983" name="Text Box 23"/>
            <p:cNvSpPr txBox="1">
              <a:spLocks noChangeArrowheads="1"/>
            </p:cNvSpPr>
            <p:nvPr/>
          </p:nvSpPr>
          <p:spPr bwMode="auto">
            <a:xfrm>
              <a:off x="4224" y="3120"/>
              <a:ext cx="439"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ea typeface="楷体_GB2312" charset="0"/>
                </a:rPr>
                <a:t>…</a:t>
              </a:r>
              <a:endParaRPr lang="en-US" altLang="zh-CN" sz="4000" b="1">
                <a:ea typeface="楷体_GB2312" charset="0"/>
              </a:endParaRPr>
            </a:p>
          </p:txBody>
        </p:sp>
        <p:sp>
          <p:nvSpPr>
            <p:cNvPr id="936984" name="Line 24"/>
            <p:cNvSpPr>
              <a:spLocks noChangeShapeType="1"/>
            </p:cNvSpPr>
            <p:nvPr/>
          </p:nvSpPr>
          <p:spPr bwMode="auto">
            <a:xfrm>
              <a:off x="4128" y="3216"/>
              <a:ext cx="72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85" name="Line 25"/>
            <p:cNvSpPr>
              <a:spLocks noChangeShapeType="1"/>
            </p:cNvSpPr>
            <p:nvPr/>
          </p:nvSpPr>
          <p:spPr bwMode="auto">
            <a:xfrm>
              <a:off x="4128" y="3696"/>
              <a:ext cx="72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86" name="Line 26"/>
            <p:cNvSpPr>
              <a:spLocks noChangeShapeType="1"/>
            </p:cNvSpPr>
            <p:nvPr/>
          </p:nvSpPr>
          <p:spPr bwMode="auto">
            <a:xfrm>
              <a:off x="4128"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grpSp>
        <p:nvGrpSpPr>
          <p:cNvPr id="936987" name="Group 27"/>
          <p:cNvGrpSpPr/>
          <p:nvPr/>
        </p:nvGrpSpPr>
        <p:grpSpPr bwMode="auto">
          <a:xfrm>
            <a:off x="5334000" y="4908245"/>
            <a:ext cx="1295400" cy="914400"/>
            <a:chOff x="3360" y="3120"/>
            <a:chExt cx="816" cy="576"/>
          </a:xfrm>
        </p:grpSpPr>
        <p:sp>
          <p:nvSpPr>
            <p:cNvPr id="936988" name="Line 28"/>
            <p:cNvSpPr>
              <a:spLocks noChangeShapeType="1"/>
            </p:cNvSpPr>
            <p:nvPr/>
          </p:nvSpPr>
          <p:spPr bwMode="auto">
            <a:xfrm>
              <a:off x="3360" y="3216"/>
              <a:ext cx="8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nvGrpSpPr>
            <p:cNvPr id="64537" name="Group 29"/>
            <p:cNvGrpSpPr/>
            <p:nvPr/>
          </p:nvGrpSpPr>
          <p:grpSpPr bwMode="auto">
            <a:xfrm>
              <a:off x="3360" y="3120"/>
              <a:ext cx="768" cy="576"/>
              <a:chOff x="3360" y="3120"/>
              <a:chExt cx="768" cy="576"/>
            </a:xfrm>
          </p:grpSpPr>
          <p:sp>
            <p:nvSpPr>
              <p:cNvPr id="936990" name="Text Box 30"/>
              <p:cNvSpPr txBox="1">
                <a:spLocks noChangeArrowheads="1"/>
              </p:cNvSpPr>
              <p:nvPr/>
            </p:nvSpPr>
            <p:spPr bwMode="auto">
              <a:xfrm>
                <a:off x="3504" y="3120"/>
                <a:ext cx="35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a:ea typeface="楷体_GB2312" charset="0"/>
                  </a:rPr>
                  <a:t>a</a:t>
                </a:r>
                <a:r>
                  <a:rPr lang="en-US" altLang="zh-CN" sz="4000" baseline="-25000">
                    <a:ea typeface="楷体_GB2312" charset="0"/>
                  </a:rPr>
                  <a:t>i</a:t>
                </a:r>
                <a:endParaRPr lang="en-US" altLang="zh-CN" sz="4000" b="1" baseline="-25000">
                  <a:ea typeface="楷体_GB2312" charset="0"/>
                </a:endParaRPr>
              </a:p>
            </p:txBody>
          </p:sp>
          <p:sp>
            <p:nvSpPr>
              <p:cNvPr id="936991" name="Line 31"/>
              <p:cNvSpPr>
                <a:spLocks noChangeShapeType="1"/>
              </p:cNvSpPr>
              <p:nvPr/>
            </p:nvSpPr>
            <p:spPr bwMode="auto">
              <a:xfrm>
                <a:off x="3615" y="3696"/>
                <a:ext cx="12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92" name="Line 32"/>
              <p:cNvSpPr>
                <a:spLocks noChangeShapeType="1"/>
              </p:cNvSpPr>
              <p:nvPr/>
            </p:nvSpPr>
            <p:spPr bwMode="auto">
              <a:xfrm>
                <a:off x="3360" y="3696"/>
                <a:ext cx="7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93" name="Line 33"/>
              <p:cNvSpPr>
                <a:spLocks noChangeShapeType="1"/>
              </p:cNvSpPr>
              <p:nvPr/>
            </p:nvSpPr>
            <p:spPr bwMode="auto">
              <a:xfrm>
                <a:off x="3360"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grpSp>
      <p:grpSp>
        <p:nvGrpSpPr>
          <p:cNvPr id="936994" name="Group 34"/>
          <p:cNvGrpSpPr/>
          <p:nvPr/>
        </p:nvGrpSpPr>
        <p:grpSpPr bwMode="auto">
          <a:xfrm>
            <a:off x="4343400" y="4984445"/>
            <a:ext cx="990600" cy="838200"/>
            <a:chOff x="2736" y="3168"/>
            <a:chExt cx="624" cy="528"/>
          </a:xfrm>
        </p:grpSpPr>
        <p:sp>
          <p:nvSpPr>
            <p:cNvPr id="936995" name="Line 35"/>
            <p:cNvSpPr>
              <a:spLocks noChangeShapeType="1"/>
            </p:cNvSpPr>
            <p:nvPr/>
          </p:nvSpPr>
          <p:spPr bwMode="auto">
            <a:xfrm>
              <a:off x="2736" y="3216"/>
              <a:ext cx="6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96" name="Line 36"/>
            <p:cNvSpPr>
              <a:spLocks noChangeShapeType="1"/>
            </p:cNvSpPr>
            <p:nvPr/>
          </p:nvSpPr>
          <p:spPr bwMode="auto">
            <a:xfrm>
              <a:off x="2736" y="3696"/>
              <a:ext cx="6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97" name="Text Box 37"/>
            <p:cNvSpPr txBox="1">
              <a:spLocks noChangeArrowheads="1"/>
            </p:cNvSpPr>
            <p:nvPr/>
          </p:nvSpPr>
          <p:spPr bwMode="auto">
            <a:xfrm>
              <a:off x="2784" y="3168"/>
              <a:ext cx="39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FF00FF"/>
                  </a:solidFill>
                  <a:ea typeface="楷体_GB2312" charset="0"/>
                </a:rPr>
                <a:t> </a:t>
              </a:r>
              <a:r>
                <a:rPr lang="en-US" altLang="zh-CN" sz="4000" b="1">
                  <a:solidFill>
                    <a:srgbClr val="FF00FF"/>
                  </a:solidFill>
                  <a:ea typeface="楷体_GB2312" charset="0"/>
                </a:rPr>
                <a:t>e</a:t>
              </a:r>
              <a:endParaRPr lang="en-US" altLang="zh-CN" sz="4000" b="1">
                <a:solidFill>
                  <a:srgbClr val="FF00FF"/>
                </a:solidFill>
                <a:ea typeface="楷体_GB2312" charset="0"/>
              </a:endParaRPr>
            </a:p>
          </p:txBody>
        </p:sp>
      </p:grpSp>
      <p:grpSp>
        <p:nvGrpSpPr>
          <p:cNvPr id="936998" name="Group 38"/>
          <p:cNvGrpSpPr/>
          <p:nvPr/>
        </p:nvGrpSpPr>
        <p:grpSpPr bwMode="auto">
          <a:xfrm>
            <a:off x="7696200" y="4908245"/>
            <a:ext cx="1219200" cy="914400"/>
            <a:chOff x="4848" y="3120"/>
            <a:chExt cx="768" cy="576"/>
          </a:xfrm>
        </p:grpSpPr>
        <p:sp>
          <p:nvSpPr>
            <p:cNvPr id="936999" name="Text Box 39"/>
            <p:cNvSpPr txBox="1">
              <a:spLocks noChangeArrowheads="1"/>
            </p:cNvSpPr>
            <p:nvPr/>
          </p:nvSpPr>
          <p:spPr bwMode="auto">
            <a:xfrm>
              <a:off x="4992" y="3120"/>
              <a:ext cx="465"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4000">
                  <a:ea typeface="楷体_GB2312" charset="0"/>
                </a:rPr>
                <a:t>a</a:t>
              </a:r>
              <a:r>
                <a:rPr lang="en-US" altLang="zh-CN" sz="4000" baseline="-25000">
                  <a:ea typeface="楷体_GB2312" charset="0"/>
                </a:rPr>
                <a:t>n</a:t>
              </a:r>
              <a:endParaRPr lang="en-US" altLang="zh-CN" sz="4000" baseline="-25000">
                <a:ea typeface="楷体_GB2312" charset="0"/>
              </a:endParaRPr>
            </a:p>
          </p:txBody>
        </p:sp>
        <p:sp>
          <p:nvSpPr>
            <p:cNvPr id="937000" name="Line 40"/>
            <p:cNvSpPr>
              <a:spLocks noChangeShapeType="1"/>
            </p:cNvSpPr>
            <p:nvPr/>
          </p:nvSpPr>
          <p:spPr bwMode="auto">
            <a:xfrm>
              <a:off x="4848"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7001" name="Line 41"/>
            <p:cNvSpPr>
              <a:spLocks noChangeShapeType="1"/>
            </p:cNvSpPr>
            <p:nvPr/>
          </p:nvSpPr>
          <p:spPr bwMode="auto">
            <a:xfrm>
              <a:off x="4848" y="3216"/>
              <a:ext cx="7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7002" name="Line 42"/>
            <p:cNvSpPr>
              <a:spLocks noChangeShapeType="1"/>
            </p:cNvSpPr>
            <p:nvPr/>
          </p:nvSpPr>
          <p:spPr bwMode="auto">
            <a:xfrm>
              <a:off x="4848" y="3696"/>
              <a:ext cx="7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7003" name="Line 43"/>
            <p:cNvSpPr>
              <a:spLocks noChangeShapeType="1"/>
            </p:cNvSpPr>
            <p:nvPr/>
          </p:nvSpPr>
          <p:spPr bwMode="auto">
            <a:xfrm>
              <a:off x="5616"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sp>
        <p:nvSpPr>
          <p:cNvPr id="937004" name="Text Box 44"/>
          <p:cNvSpPr txBox="1">
            <a:spLocks noChangeArrowheads="1"/>
          </p:cNvSpPr>
          <p:nvPr/>
        </p:nvSpPr>
        <p:spPr bwMode="auto">
          <a:xfrm>
            <a:off x="577850" y="2377770"/>
            <a:ext cx="250741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t>&lt;a</a:t>
            </a:r>
            <a:r>
              <a:rPr lang="en-US" altLang="zh-CN" sz="4000" b="1" baseline="-25000"/>
              <a:t>i-1</a:t>
            </a:r>
            <a:r>
              <a:rPr lang="en-US" altLang="zh-CN" sz="4000" b="1"/>
              <a:t>, a</a:t>
            </a:r>
            <a:r>
              <a:rPr lang="en-US" altLang="zh-CN" sz="4000" b="1" baseline="-25000"/>
              <a:t>i</a:t>
            </a:r>
            <a:r>
              <a:rPr lang="en-US" altLang="zh-CN" sz="4000" b="1"/>
              <a:t>&gt;</a:t>
            </a:r>
            <a:endParaRPr lang="en-US" altLang="zh-CN" sz="4000"/>
          </a:p>
        </p:txBody>
      </p:sp>
      <p:sp>
        <p:nvSpPr>
          <p:cNvPr id="937005" name="AutoShape 45"/>
          <p:cNvSpPr>
            <a:spLocks noChangeArrowheads="1"/>
          </p:cNvSpPr>
          <p:nvPr/>
        </p:nvSpPr>
        <p:spPr bwMode="auto">
          <a:xfrm>
            <a:off x="2971800" y="2622245"/>
            <a:ext cx="1219200" cy="228600"/>
          </a:xfrm>
          <a:prstGeom prst="notchedRightArrow">
            <a:avLst>
              <a:gd name="adj1" fmla="val 50000"/>
              <a:gd name="adj2" fmla="val 133333"/>
            </a:avLst>
          </a:prstGeom>
          <a:solidFill>
            <a:srgbClr val="660033"/>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7006" name="Text Box 46"/>
          <p:cNvSpPr txBox="1">
            <a:spLocks noChangeArrowheads="1"/>
          </p:cNvSpPr>
          <p:nvPr/>
        </p:nvSpPr>
        <p:spPr bwMode="auto">
          <a:xfrm>
            <a:off x="4648200" y="2377770"/>
            <a:ext cx="470513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t>&lt;a</a:t>
            </a:r>
            <a:r>
              <a:rPr lang="en-US" altLang="zh-CN" sz="4000" b="1" baseline="-25000"/>
              <a:t>i-1</a:t>
            </a:r>
            <a:r>
              <a:rPr lang="en-US" altLang="zh-CN" sz="4000" b="1"/>
              <a:t>, e&gt;,  &lt;e, a</a:t>
            </a:r>
            <a:r>
              <a:rPr lang="en-US" altLang="zh-CN" sz="4000" b="1" baseline="-25000"/>
              <a:t>i</a:t>
            </a:r>
            <a:r>
              <a:rPr lang="en-US" altLang="zh-CN" sz="4000" b="1"/>
              <a:t>&gt;</a:t>
            </a:r>
            <a:endParaRPr lang="en-US" altLang="zh-CN" sz="4000"/>
          </a:p>
        </p:txBody>
      </p:sp>
      <p:sp>
        <p:nvSpPr>
          <p:cNvPr id="937007" name="Line 47"/>
          <p:cNvSpPr>
            <a:spLocks noChangeShapeType="1"/>
          </p:cNvSpPr>
          <p:nvPr/>
        </p:nvSpPr>
        <p:spPr bwMode="auto">
          <a:xfrm>
            <a:off x="4343400" y="4374845"/>
            <a:ext cx="990600" cy="685800"/>
          </a:xfrm>
          <a:prstGeom prst="line">
            <a:avLst/>
          </a:prstGeom>
          <a:noFill/>
          <a:ln w="38100">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7008" name="Line 48"/>
          <p:cNvSpPr>
            <a:spLocks noChangeShapeType="1"/>
          </p:cNvSpPr>
          <p:nvPr/>
        </p:nvSpPr>
        <p:spPr bwMode="auto">
          <a:xfrm>
            <a:off x="7772400" y="4374845"/>
            <a:ext cx="1143000" cy="685800"/>
          </a:xfrm>
          <a:prstGeom prst="line">
            <a:avLst/>
          </a:prstGeom>
          <a:noFill/>
          <a:ln w="38100">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nvGrpSpPr>
          <p:cNvPr id="937009" name="Group 49"/>
          <p:cNvGrpSpPr/>
          <p:nvPr/>
        </p:nvGrpSpPr>
        <p:grpSpPr bwMode="auto">
          <a:xfrm>
            <a:off x="4724400" y="5822645"/>
            <a:ext cx="3657600" cy="708025"/>
            <a:chOff x="2976" y="3696"/>
            <a:chExt cx="2304" cy="446"/>
          </a:xfrm>
        </p:grpSpPr>
        <p:sp>
          <p:nvSpPr>
            <p:cNvPr id="937010" name="Text Box 50"/>
            <p:cNvSpPr txBox="1">
              <a:spLocks noChangeArrowheads="1"/>
            </p:cNvSpPr>
            <p:nvPr/>
          </p:nvSpPr>
          <p:spPr bwMode="auto">
            <a:xfrm>
              <a:off x="2976" y="3696"/>
              <a:ext cx="2055"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9900FF"/>
                  </a:solidFill>
                  <a:ea typeface="隶书" panose="02010509060101010101" charset="-122"/>
                </a:rPr>
                <a:t>表的长度增加</a:t>
              </a:r>
              <a:endParaRPr lang="zh-CN" altLang="en-US" sz="4000"/>
            </a:p>
          </p:txBody>
        </p:sp>
        <p:sp>
          <p:nvSpPr>
            <p:cNvPr id="937011" name="AutoShape 51"/>
            <p:cNvSpPr>
              <a:spLocks noChangeArrowheads="1"/>
            </p:cNvSpPr>
            <p:nvPr/>
          </p:nvSpPr>
          <p:spPr bwMode="auto">
            <a:xfrm>
              <a:off x="5184" y="3696"/>
              <a:ext cx="96" cy="432"/>
            </a:xfrm>
            <a:prstGeom prst="upArrow">
              <a:avLst>
                <a:gd name="adj1" fmla="val 50000"/>
                <a:gd name="adj2" fmla="val 112500"/>
              </a:avLst>
            </a:prstGeom>
            <a:solidFill>
              <a:srgbClr val="9900FF"/>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eaLnBrk="1" hangingPunct="1">
                <a:defRPr/>
              </a:pPr>
              <a:endParaRPr lang="zh-CN" altLang="en-US" sz="400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36962"/>
                                        </p:tgtEl>
                                        <p:attrNameLst>
                                          <p:attrName>style.visibility</p:attrName>
                                        </p:attrNameLst>
                                      </p:cBhvr>
                                      <p:to>
                                        <p:strVal val="visible"/>
                                      </p:to>
                                    </p:set>
                                    <p:animEffect transition="in" filter="wipe(left)">
                                      <p:cBhvr>
                                        <p:cTn id="7" dur="500"/>
                                        <p:tgtEl>
                                          <p:spTgt spid="9369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937004"/>
                                        </p:tgtEl>
                                        <p:attrNameLst>
                                          <p:attrName>style.visibility</p:attrName>
                                        </p:attrNameLst>
                                      </p:cBhvr>
                                      <p:to>
                                        <p:strVal val="visible"/>
                                      </p:to>
                                    </p:set>
                                    <p:animEffect transition="in" filter="blinds(vertical)">
                                      <p:cBhvr>
                                        <p:cTn id="12" dur="500"/>
                                        <p:tgtEl>
                                          <p:spTgt spid="937004"/>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937005"/>
                                        </p:tgtEl>
                                        <p:attrNameLst>
                                          <p:attrName>style.visibility</p:attrName>
                                        </p:attrNameLst>
                                      </p:cBhvr>
                                      <p:to>
                                        <p:strVal val="visible"/>
                                      </p:to>
                                    </p:set>
                                    <p:anim calcmode="lin" valueType="num">
                                      <p:cBhvr>
                                        <p:cTn id="17" dur="500" fill="hold"/>
                                        <p:tgtEl>
                                          <p:spTgt spid="937005"/>
                                        </p:tgtEl>
                                        <p:attrNameLst>
                                          <p:attrName>ppt_x</p:attrName>
                                        </p:attrNameLst>
                                      </p:cBhvr>
                                      <p:tavLst>
                                        <p:tav tm="0">
                                          <p:val>
                                            <p:strVal val="#ppt_x-#ppt_w/2"/>
                                          </p:val>
                                        </p:tav>
                                        <p:tav tm="100000">
                                          <p:val>
                                            <p:strVal val="#ppt_x"/>
                                          </p:val>
                                        </p:tav>
                                      </p:tavLst>
                                    </p:anim>
                                    <p:anim calcmode="lin" valueType="num">
                                      <p:cBhvr>
                                        <p:cTn id="18" dur="500" fill="hold"/>
                                        <p:tgtEl>
                                          <p:spTgt spid="937005"/>
                                        </p:tgtEl>
                                        <p:attrNameLst>
                                          <p:attrName>ppt_y</p:attrName>
                                        </p:attrNameLst>
                                      </p:cBhvr>
                                      <p:tavLst>
                                        <p:tav tm="0">
                                          <p:val>
                                            <p:strVal val="#ppt_y"/>
                                          </p:val>
                                        </p:tav>
                                        <p:tav tm="100000">
                                          <p:val>
                                            <p:strVal val="#ppt_y"/>
                                          </p:val>
                                        </p:tav>
                                      </p:tavLst>
                                    </p:anim>
                                    <p:anim calcmode="lin" valueType="num">
                                      <p:cBhvr>
                                        <p:cTn id="19" dur="500" fill="hold"/>
                                        <p:tgtEl>
                                          <p:spTgt spid="937005"/>
                                        </p:tgtEl>
                                        <p:attrNameLst>
                                          <p:attrName>ppt_w</p:attrName>
                                        </p:attrNameLst>
                                      </p:cBhvr>
                                      <p:tavLst>
                                        <p:tav tm="0">
                                          <p:val>
                                            <p:fltVal val="0"/>
                                          </p:val>
                                        </p:tav>
                                        <p:tav tm="100000">
                                          <p:val>
                                            <p:strVal val="#ppt_w"/>
                                          </p:val>
                                        </p:tav>
                                      </p:tavLst>
                                    </p:anim>
                                    <p:anim calcmode="lin" valueType="num">
                                      <p:cBhvr>
                                        <p:cTn id="20" dur="500" fill="hold"/>
                                        <p:tgtEl>
                                          <p:spTgt spid="937005"/>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5" fill="hold" grpId="0" nodeType="clickEffect">
                                  <p:stCondLst>
                                    <p:cond delay="0"/>
                                  </p:stCondLst>
                                  <p:childTnLst>
                                    <p:set>
                                      <p:cBhvr>
                                        <p:cTn id="24" dur="1" fill="hold">
                                          <p:stCondLst>
                                            <p:cond delay="0"/>
                                          </p:stCondLst>
                                        </p:cTn>
                                        <p:tgtEl>
                                          <p:spTgt spid="937006"/>
                                        </p:tgtEl>
                                        <p:attrNameLst>
                                          <p:attrName>style.visibility</p:attrName>
                                        </p:attrNameLst>
                                      </p:cBhvr>
                                      <p:to>
                                        <p:strVal val="visible"/>
                                      </p:to>
                                    </p:set>
                                    <p:animEffect transition="in" filter="blinds(vertical)">
                                      <p:cBhvr>
                                        <p:cTn id="25" dur="500"/>
                                        <p:tgtEl>
                                          <p:spTgt spid="93700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36963"/>
                                        </p:tgtEl>
                                        <p:attrNameLst>
                                          <p:attrName>style.visibility</p:attrName>
                                        </p:attrNameLst>
                                      </p:cBhvr>
                                      <p:to>
                                        <p:strVal val="visible"/>
                                      </p:to>
                                    </p:set>
                                    <p:animEffect transition="in" filter="wipe(left)">
                                      <p:cBhvr>
                                        <p:cTn id="30" dur="500"/>
                                        <p:tgtEl>
                                          <p:spTgt spid="93696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936974"/>
                                        </p:tgtEl>
                                        <p:attrNameLst>
                                          <p:attrName>style.visibility</p:attrName>
                                        </p:attrNameLst>
                                      </p:cBhvr>
                                      <p:to>
                                        <p:strVal val="visible"/>
                                      </p:to>
                                    </p:set>
                                    <p:animEffect transition="in" filter="wipe(left)">
                                      <p:cBhvr>
                                        <p:cTn id="35" dur="500"/>
                                        <p:tgtEl>
                                          <p:spTgt spid="936974"/>
                                        </p:tgtEl>
                                      </p:cBhvr>
                                    </p:animEffect>
                                  </p:childTnLst>
                                </p:cTn>
                              </p:par>
                            </p:childTnLst>
                          </p:cTn>
                        </p:par>
                      </p:childTnLst>
                    </p:cTn>
                  </p:par>
                  <p:par>
                    <p:cTn id="36" fill="hold">
                      <p:stCondLst>
                        <p:cond delay="indefinite"/>
                      </p:stCondLst>
                      <p:childTnLst>
                        <p:par>
                          <p:cTn id="37" fill="hold">
                            <p:stCondLst>
                              <p:cond delay="0"/>
                            </p:stCondLst>
                            <p:childTnLst>
                              <p:par>
                                <p:cTn id="38" presetID="17" presetClass="entr" presetSubtype="1" fill="hold" nodeType="clickEffect">
                                  <p:stCondLst>
                                    <p:cond delay="0"/>
                                  </p:stCondLst>
                                  <p:childTnLst>
                                    <p:set>
                                      <p:cBhvr>
                                        <p:cTn id="39" dur="1" fill="hold">
                                          <p:stCondLst>
                                            <p:cond delay="0"/>
                                          </p:stCondLst>
                                        </p:cTn>
                                        <p:tgtEl>
                                          <p:spTgt spid="937008"/>
                                        </p:tgtEl>
                                        <p:attrNameLst>
                                          <p:attrName>style.visibility</p:attrName>
                                        </p:attrNameLst>
                                      </p:cBhvr>
                                      <p:to>
                                        <p:strVal val="visible"/>
                                      </p:to>
                                    </p:set>
                                    <p:anim calcmode="lin" valueType="num">
                                      <p:cBhvr>
                                        <p:cTn id="40" dur="500" fill="hold"/>
                                        <p:tgtEl>
                                          <p:spTgt spid="937008"/>
                                        </p:tgtEl>
                                        <p:attrNameLst>
                                          <p:attrName>ppt_x</p:attrName>
                                        </p:attrNameLst>
                                      </p:cBhvr>
                                      <p:tavLst>
                                        <p:tav tm="0">
                                          <p:val>
                                            <p:strVal val="#ppt_x"/>
                                          </p:val>
                                        </p:tav>
                                        <p:tav tm="100000">
                                          <p:val>
                                            <p:strVal val="#ppt_x"/>
                                          </p:val>
                                        </p:tav>
                                      </p:tavLst>
                                    </p:anim>
                                    <p:anim calcmode="lin" valueType="num">
                                      <p:cBhvr>
                                        <p:cTn id="41" dur="500" fill="hold"/>
                                        <p:tgtEl>
                                          <p:spTgt spid="937008"/>
                                        </p:tgtEl>
                                        <p:attrNameLst>
                                          <p:attrName>ppt_y</p:attrName>
                                        </p:attrNameLst>
                                      </p:cBhvr>
                                      <p:tavLst>
                                        <p:tav tm="0">
                                          <p:val>
                                            <p:strVal val="#ppt_y-#ppt_h/2"/>
                                          </p:val>
                                        </p:tav>
                                        <p:tav tm="100000">
                                          <p:val>
                                            <p:strVal val="#ppt_y"/>
                                          </p:val>
                                        </p:tav>
                                      </p:tavLst>
                                    </p:anim>
                                    <p:anim calcmode="lin" valueType="num">
                                      <p:cBhvr>
                                        <p:cTn id="42" dur="500" fill="hold"/>
                                        <p:tgtEl>
                                          <p:spTgt spid="937008"/>
                                        </p:tgtEl>
                                        <p:attrNameLst>
                                          <p:attrName>ppt_w</p:attrName>
                                        </p:attrNameLst>
                                      </p:cBhvr>
                                      <p:tavLst>
                                        <p:tav tm="0">
                                          <p:val>
                                            <p:strVal val="#ppt_w"/>
                                          </p:val>
                                        </p:tav>
                                        <p:tav tm="100000">
                                          <p:val>
                                            <p:strVal val="#ppt_w"/>
                                          </p:val>
                                        </p:tav>
                                      </p:tavLst>
                                    </p:anim>
                                    <p:anim calcmode="lin" valueType="num">
                                      <p:cBhvr>
                                        <p:cTn id="43" dur="500" fill="hold"/>
                                        <p:tgtEl>
                                          <p:spTgt spid="937008"/>
                                        </p:tgtEl>
                                        <p:attrNameLst>
                                          <p:attrName>ppt_h</p:attrName>
                                        </p:attrNameLst>
                                      </p:cBhvr>
                                      <p:tavLst>
                                        <p:tav tm="0">
                                          <p:val>
                                            <p:fltVal val="0"/>
                                          </p:val>
                                        </p:tav>
                                        <p:tav tm="100000">
                                          <p:val>
                                            <p:strVal val="#ppt_h"/>
                                          </p:val>
                                        </p:tav>
                                      </p:tavLst>
                                    </p:anim>
                                  </p:childTnLst>
                                </p:cTn>
                              </p:par>
                            </p:childTnLst>
                          </p:cTn>
                        </p:par>
                        <p:par>
                          <p:cTn id="44" fill="hold">
                            <p:stCondLst>
                              <p:cond delay="500"/>
                            </p:stCondLst>
                            <p:childTnLst>
                              <p:par>
                                <p:cTn id="45" presetID="17" presetClass="entr" presetSubtype="1" fill="hold" nodeType="afterEffect">
                                  <p:stCondLst>
                                    <p:cond delay="0"/>
                                  </p:stCondLst>
                                  <p:childTnLst>
                                    <p:set>
                                      <p:cBhvr>
                                        <p:cTn id="46" dur="1" fill="hold">
                                          <p:stCondLst>
                                            <p:cond delay="0"/>
                                          </p:stCondLst>
                                        </p:cTn>
                                        <p:tgtEl>
                                          <p:spTgt spid="937007"/>
                                        </p:tgtEl>
                                        <p:attrNameLst>
                                          <p:attrName>style.visibility</p:attrName>
                                        </p:attrNameLst>
                                      </p:cBhvr>
                                      <p:to>
                                        <p:strVal val="visible"/>
                                      </p:to>
                                    </p:set>
                                    <p:anim calcmode="lin" valueType="num">
                                      <p:cBhvr>
                                        <p:cTn id="47" dur="500" fill="hold"/>
                                        <p:tgtEl>
                                          <p:spTgt spid="937007"/>
                                        </p:tgtEl>
                                        <p:attrNameLst>
                                          <p:attrName>ppt_x</p:attrName>
                                        </p:attrNameLst>
                                      </p:cBhvr>
                                      <p:tavLst>
                                        <p:tav tm="0">
                                          <p:val>
                                            <p:strVal val="#ppt_x"/>
                                          </p:val>
                                        </p:tav>
                                        <p:tav tm="100000">
                                          <p:val>
                                            <p:strVal val="#ppt_x"/>
                                          </p:val>
                                        </p:tav>
                                      </p:tavLst>
                                    </p:anim>
                                    <p:anim calcmode="lin" valueType="num">
                                      <p:cBhvr>
                                        <p:cTn id="48" dur="500" fill="hold"/>
                                        <p:tgtEl>
                                          <p:spTgt spid="937007"/>
                                        </p:tgtEl>
                                        <p:attrNameLst>
                                          <p:attrName>ppt_y</p:attrName>
                                        </p:attrNameLst>
                                      </p:cBhvr>
                                      <p:tavLst>
                                        <p:tav tm="0">
                                          <p:val>
                                            <p:strVal val="#ppt_y-#ppt_h/2"/>
                                          </p:val>
                                        </p:tav>
                                        <p:tav tm="100000">
                                          <p:val>
                                            <p:strVal val="#ppt_y"/>
                                          </p:val>
                                        </p:tav>
                                      </p:tavLst>
                                    </p:anim>
                                    <p:anim calcmode="lin" valueType="num">
                                      <p:cBhvr>
                                        <p:cTn id="49" dur="500" fill="hold"/>
                                        <p:tgtEl>
                                          <p:spTgt spid="937007"/>
                                        </p:tgtEl>
                                        <p:attrNameLst>
                                          <p:attrName>ppt_w</p:attrName>
                                        </p:attrNameLst>
                                      </p:cBhvr>
                                      <p:tavLst>
                                        <p:tav tm="0">
                                          <p:val>
                                            <p:strVal val="#ppt_w"/>
                                          </p:val>
                                        </p:tav>
                                        <p:tav tm="100000">
                                          <p:val>
                                            <p:strVal val="#ppt_w"/>
                                          </p:val>
                                        </p:tav>
                                      </p:tavLst>
                                    </p:anim>
                                    <p:anim calcmode="lin" valueType="num">
                                      <p:cBhvr>
                                        <p:cTn id="50" dur="500" fill="hold"/>
                                        <p:tgtEl>
                                          <p:spTgt spid="937007"/>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936998"/>
                                        </p:tgtEl>
                                        <p:attrNameLst>
                                          <p:attrName>style.visibility</p:attrName>
                                        </p:attrNameLst>
                                      </p:cBhvr>
                                      <p:to>
                                        <p:strVal val="visible"/>
                                      </p:to>
                                    </p:set>
                                    <p:animEffect transition="in" filter="wipe(left)">
                                      <p:cBhvr>
                                        <p:cTn id="55" dur="500"/>
                                        <p:tgtEl>
                                          <p:spTgt spid="93699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936982"/>
                                        </p:tgtEl>
                                        <p:attrNameLst>
                                          <p:attrName>style.visibility</p:attrName>
                                        </p:attrNameLst>
                                      </p:cBhvr>
                                      <p:to>
                                        <p:strVal val="visible"/>
                                      </p:to>
                                    </p:set>
                                    <p:animEffect transition="in" filter="wipe(left)">
                                      <p:cBhvr>
                                        <p:cTn id="60" dur="500"/>
                                        <p:tgtEl>
                                          <p:spTgt spid="93698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936987"/>
                                        </p:tgtEl>
                                        <p:attrNameLst>
                                          <p:attrName>style.visibility</p:attrName>
                                        </p:attrNameLst>
                                      </p:cBhvr>
                                      <p:to>
                                        <p:strVal val="visible"/>
                                      </p:to>
                                    </p:set>
                                    <p:animEffect transition="in" filter="wipe(left)">
                                      <p:cBhvr>
                                        <p:cTn id="65" dur="500"/>
                                        <p:tgtEl>
                                          <p:spTgt spid="93698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936994"/>
                                        </p:tgtEl>
                                        <p:attrNameLst>
                                          <p:attrName>style.visibility</p:attrName>
                                        </p:attrNameLst>
                                      </p:cBhvr>
                                      <p:to>
                                        <p:strVal val="visible"/>
                                      </p:to>
                                    </p:set>
                                    <p:animEffect transition="in" filter="wipe(left)">
                                      <p:cBhvr>
                                        <p:cTn id="70" dur="500"/>
                                        <p:tgtEl>
                                          <p:spTgt spid="93699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937009"/>
                                        </p:tgtEl>
                                        <p:attrNameLst>
                                          <p:attrName>style.visibility</p:attrName>
                                        </p:attrNameLst>
                                      </p:cBhvr>
                                      <p:to>
                                        <p:strVal val="visible"/>
                                      </p:to>
                                    </p:set>
                                    <p:animEffect transition="in" filter="wipe(left)">
                                      <p:cBhvr>
                                        <p:cTn id="75" dur="500"/>
                                        <p:tgtEl>
                                          <p:spTgt spid="937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962" grpId="0" autoUpdateAnimBg="0"/>
      <p:bldP spid="937004" grpId="0" autoUpdateAnimBg="0"/>
      <p:bldP spid="937005" grpId="0" animBg="1"/>
      <p:bldP spid="937006"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Text Box 2"/>
          <p:cNvSpPr txBox="1">
            <a:spLocks noChangeArrowheads="1"/>
          </p:cNvSpPr>
          <p:nvPr/>
        </p:nvSpPr>
        <p:spPr bwMode="auto">
          <a:xfrm>
            <a:off x="35496" y="73650"/>
            <a:ext cx="8991600" cy="69557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200" dirty="0"/>
              <a:t> </a:t>
            </a:r>
            <a:r>
              <a:rPr lang="en-US" altLang="zh-CN" sz="3200" b="1" dirty="0">
                <a:solidFill>
                  <a:srgbClr val="000099"/>
                </a:solidFill>
              </a:rPr>
              <a:t>Status</a:t>
            </a:r>
            <a:r>
              <a:rPr lang="en-US" altLang="zh-CN" sz="3200" dirty="0">
                <a:solidFill>
                  <a:srgbClr val="000099"/>
                </a:solidFill>
              </a:rPr>
              <a:t> </a:t>
            </a:r>
            <a:r>
              <a:rPr lang="en-US" altLang="zh-CN" sz="3200" dirty="0" err="1">
                <a:solidFill>
                  <a:srgbClr val="000099"/>
                </a:solidFill>
              </a:rPr>
              <a:t>ListInsert_Sq</a:t>
            </a:r>
            <a:r>
              <a:rPr lang="en-US" altLang="zh-CN" sz="3200" dirty="0">
                <a:solidFill>
                  <a:srgbClr val="000099"/>
                </a:solidFill>
              </a:rPr>
              <a:t>(</a:t>
            </a:r>
            <a:r>
              <a:rPr lang="en-US" altLang="zh-CN" sz="3200" dirty="0" err="1">
                <a:solidFill>
                  <a:srgbClr val="000099"/>
                </a:solidFill>
              </a:rPr>
              <a:t>SqList</a:t>
            </a:r>
            <a:r>
              <a:rPr lang="en-US" altLang="zh-CN" sz="3200" dirty="0">
                <a:solidFill>
                  <a:srgbClr val="000099"/>
                </a:solidFill>
              </a:rPr>
              <a:t> </a:t>
            </a:r>
            <a:r>
              <a:rPr lang="en-US" altLang="zh-CN" sz="3200" b="1" dirty="0">
                <a:solidFill>
                  <a:srgbClr val="000099"/>
                </a:solidFill>
              </a:rPr>
              <a:t>&amp;</a:t>
            </a:r>
            <a:r>
              <a:rPr lang="en-US" altLang="zh-CN" sz="3200" dirty="0">
                <a:solidFill>
                  <a:srgbClr val="000099"/>
                </a:solidFill>
              </a:rPr>
              <a:t>L, int </a:t>
            </a:r>
            <a:r>
              <a:rPr lang="en-US" altLang="zh-CN" sz="3200" dirty="0" err="1">
                <a:solidFill>
                  <a:srgbClr val="000099"/>
                </a:solidFill>
              </a:rPr>
              <a:t>i</a:t>
            </a:r>
            <a:r>
              <a:rPr lang="en-US" altLang="zh-CN" sz="3200" dirty="0">
                <a:solidFill>
                  <a:srgbClr val="000099"/>
                </a:solidFill>
              </a:rPr>
              <a:t>, </a:t>
            </a:r>
            <a:r>
              <a:rPr lang="en-US" altLang="zh-CN" sz="3200" dirty="0" err="1">
                <a:solidFill>
                  <a:srgbClr val="000099"/>
                </a:solidFill>
              </a:rPr>
              <a:t>ElemType</a:t>
            </a:r>
            <a:r>
              <a:rPr lang="en-US" altLang="zh-CN" sz="3200" dirty="0">
                <a:solidFill>
                  <a:srgbClr val="000099"/>
                </a:solidFill>
              </a:rPr>
              <a:t> e) </a:t>
            </a:r>
            <a:r>
              <a:rPr lang="en-US" altLang="zh-CN" sz="3200" b="1" dirty="0">
                <a:solidFill>
                  <a:srgbClr val="000099"/>
                </a:solidFill>
              </a:rPr>
              <a:t>{</a:t>
            </a:r>
            <a:endParaRPr lang="en-US" altLang="zh-CN" sz="3200" dirty="0">
              <a:solidFill>
                <a:srgbClr val="000099"/>
              </a:solidFill>
            </a:endParaRPr>
          </a:p>
          <a:p>
            <a:pPr eaLnBrk="1" hangingPunct="1">
              <a:defRPr/>
            </a:pPr>
            <a:r>
              <a:rPr lang="en-US" altLang="zh-CN" sz="3200" dirty="0">
                <a:solidFill>
                  <a:srgbClr val="993366"/>
                </a:solidFill>
              </a:rPr>
              <a:t>  </a:t>
            </a:r>
            <a:r>
              <a:rPr lang="en-US" altLang="zh-CN" sz="3200" dirty="0">
                <a:solidFill>
                  <a:srgbClr val="000099"/>
                </a:solidFill>
              </a:rPr>
              <a:t>//</a:t>
            </a:r>
            <a:r>
              <a:rPr lang="en-US" altLang="zh-CN" sz="3200" dirty="0">
                <a:solidFill>
                  <a:srgbClr val="000099"/>
                </a:solidFill>
                <a:latin typeface="隶书" panose="02010509060101010101" charset="-122"/>
                <a:ea typeface="隶书" panose="02010509060101010101" charset="-122"/>
              </a:rPr>
              <a:t> </a:t>
            </a:r>
            <a:r>
              <a:rPr lang="zh-CN" altLang="en-US" sz="3200" dirty="0">
                <a:solidFill>
                  <a:srgbClr val="000099"/>
                </a:solidFill>
                <a:latin typeface="隶书" panose="02010509060101010101" charset="-122"/>
                <a:ea typeface="隶书" panose="02010509060101010101" charset="-122"/>
              </a:rPr>
              <a:t>在顺序表</a:t>
            </a:r>
            <a:r>
              <a:rPr lang="en-US" altLang="zh-CN" sz="3200" dirty="0">
                <a:solidFill>
                  <a:srgbClr val="000099"/>
                </a:solidFill>
                <a:ea typeface="隶书" panose="02010509060101010101" charset="-122"/>
              </a:rPr>
              <a:t>L</a:t>
            </a:r>
            <a:r>
              <a:rPr lang="zh-CN" altLang="en-US" sz="3200" dirty="0">
                <a:solidFill>
                  <a:srgbClr val="000099"/>
                </a:solidFill>
                <a:latin typeface="隶书" panose="02010509060101010101" charset="-122"/>
                <a:ea typeface="隶书" panose="02010509060101010101" charset="-122"/>
              </a:rPr>
              <a:t>的第 </a:t>
            </a:r>
            <a:r>
              <a:rPr lang="en-US" altLang="zh-CN" sz="3200" dirty="0" err="1">
                <a:solidFill>
                  <a:srgbClr val="000099"/>
                </a:solidFill>
                <a:ea typeface="隶书" panose="02010509060101010101" charset="-122"/>
              </a:rPr>
              <a:t>i</a:t>
            </a:r>
            <a:r>
              <a:rPr lang="en-US" altLang="zh-CN" sz="3200" dirty="0">
                <a:solidFill>
                  <a:srgbClr val="000099"/>
                </a:solidFill>
                <a:ea typeface="隶书" panose="02010509060101010101" charset="-122"/>
              </a:rPr>
              <a:t> </a:t>
            </a:r>
            <a:r>
              <a:rPr lang="zh-CN" altLang="en-US" sz="3200" dirty="0">
                <a:solidFill>
                  <a:srgbClr val="000099"/>
                </a:solidFill>
                <a:latin typeface="隶书" panose="02010509060101010101" charset="-122"/>
                <a:ea typeface="隶书" panose="02010509060101010101" charset="-122"/>
              </a:rPr>
              <a:t>个元素之前插入新的元素</a:t>
            </a:r>
            <a:r>
              <a:rPr lang="en-US" altLang="zh-CN" sz="3200" dirty="0">
                <a:solidFill>
                  <a:srgbClr val="000099"/>
                </a:solidFill>
                <a:latin typeface="隶书" panose="02010509060101010101" charset="-122"/>
                <a:ea typeface="隶书" panose="02010509060101010101" charset="-122"/>
              </a:rPr>
              <a:t>e,</a:t>
            </a:r>
            <a:endParaRPr lang="en-US" altLang="zh-CN" sz="3200" dirty="0">
              <a:solidFill>
                <a:srgbClr val="000099"/>
              </a:solidFill>
              <a:latin typeface="隶书" panose="02010509060101010101" charset="-122"/>
              <a:ea typeface="隶书" panose="02010509060101010101" charset="-122"/>
            </a:endParaRPr>
          </a:p>
          <a:p>
            <a:pPr eaLnBrk="1" hangingPunct="1">
              <a:defRPr/>
            </a:pPr>
            <a:r>
              <a:rPr lang="en-US" altLang="zh-CN" sz="3200" dirty="0">
                <a:solidFill>
                  <a:srgbClr val="000099"/>
                </a:solidFill>
                <a:latin typeface="隶书" panose="02010509060101010101" charset="-122"/>
                <a:ea typeface="隶书" panose="02010509060101010101" charset="-122"/>
              </a:rPr>
              <a:t> </a:t>
            </a:r>
            <a:r>
              <a:rPr lang="en-US" altLang="zh-CN" sz="3200" dirty="0">
                <a:solidFill>
                  <a:srgbClr val="000099"/>
                </a:solidFill>
                <a:ea typeface="隶书" panose="02010509060101010101" charset="-122"/>
              </a:rPr>
              <a:t>// </a:t>
            </a:r>
            <a:r>
              <a:rPr lang="en-US" altLang="zh-CN" sz="3200" dirty="0" err="1">
                <a:solidFill>
                  <a:srgbClr val="000099"/>
                </a:solidFill>
                <a:ea typeface="隶书" panose="02010509060101010101" charset="-122"/>
              </a:rPr>
              <a:t>i</a:t>
            </a:r>
            <a:r>
              <a:rPr lang="en-US" altLang="zh-CN" sz="3200" dirty="0">
                <a:solidFill>
                  <a:srgbClr val="000099"/>
                </a:solidFill>
                <a:ea typeface="隶书" panose="02010509060101010101" charset="-122"/>
              </a:rPr>
              <a:t> </a:t>
            </a:r>
            <a:r>
              <a:rPr lang="zh-CN" altLang="en-US" sz="3200" dirty="0">
                <a:solidFill>
                  <a:srgbClr val="000099"/>
                </a:solidFill>
                <a:ea typeface="隶书" panose="02010509060101010101" charset="-122"/>
              </a:rPr>
              <a:t>的合法范围为  </a:t>
            </a:r>
            <a:r>
              <a:rPr lang="en-US" altLang="zh-CN" sz="3200" dirty="0">
                <a:solidFill>
                  <a:srgbClr val="000099"/>
                </a:solidFill>
                <a:ea typeface="隶书" panose="02010509060101010101" charset="-122"/>
              </a:rPr>
              <a:t>1</a:t>
            </a:r>
            <a:r>
              <a:rPr lang="en-US" altLang="zh-CN" sz="3200" dirty="0">
                <a:solidFill>
                  <a:srgbClr val="000099"/>
                </a:solidFill>
              </a:rPr>
              <a:t>≤i≤L.length+1</a:t>
            </a:r>
            <a:endParaRPr lang="en-US" altLang="zh-CN" sz="3200" dirty="0">
              <a:solidFill>
                <a:srgbClr val="000099"/>
              </a:solidFill>
            </a:endParaRPr>
          </a:p>
          <a:p>
            <a:pPr eaLnBrk="1" hangingPunct="1">
              <a:lnSpc>
                <a:spcPct val="125000"/>
              </a:lnSpc>
              <a:defRPr/>
            </a:pPr>
            <a:endParaRPr lang="en-US" altLang="zh-CN" sz="3200" dirty="0">
              <a:solidFill>
                <a:srgbClr val="993366"/>
              </a:solidFill>
            </a:endParaRPr>
          </a:p>
          <a:p>
            <a:pPr eaLnBrk="1" hangingPunct="1">
              <a:lnSpc>
                <a:spcPct val="125000"/>
              </a:lnSpc>
              <a:defRPr/>
            </a:pPr>
            <a:endParaRPr lang="en-US" altLang="zh-CN" sz="3200" b="1" dirty="0"/>
          </a:p>
          <a:p>
            <a:pPr eaLnBrk="1" hangingPunct="1">
              <a:lnSpc>
                <a:spcPct val="125000"/>
              </a:lnSpc>
              <a:defRPr/>
            </a:pPr>
            <a:endParaRPr lang="en-US" altLang="zh-CN" sz="3200" b="1" dirty="0"/>
          </a:p>
          <a:p>
            <a:pPr eaLnBrk="1" hangingPunct="1">
              <a:lnSpc>
                <a:spcPct val="125000"/>
              </a:lnSpc>
              <a:defRPr/>
            </a:pPr>
            <a:endParaRPr lang="en-US" altLang="zh-CN" sz="3200" b="1" dirty="0"/>
          </a:p>
          <a:p>
            <a:pPr eaLnBrk="1" hangingPunct="1">
              <a:lnSpc>
                <a:spcPct val="125000"/>
              </a:lnSpc>
              <a:defRPr/>
            </a:pPr>
            <a:endParaRPr lang="en-US" altLang="zh-CN" sz="3200" b="1" dirty="0"/>
          </a:p>
          <a:p>
            <a:pPr eaLnBrk="1" hangingPunct="1">
              <a:lnSpc>
                <a:spcPct val="125000"/>
              </a:lnSpc>
              <a:defRPr/>
            </a:pPr>
            <a:endParaRPr lang="en-US" altLang="zh-CN" sz="3200" b="1" dirty="0"/>
          </a:p>
          <a:p>
            <a:pPr eaLnBrk="1" hangingPunct="1">
              <a:lnSpc>
                <a:spcPct val="125000"/>
              </a:lnSpc>
              <a:defRPr/>
            </a:pPr>
            <a:endParaRPr lang="en-US" altLang="zh-CN" sz="3200" b="1" dirty="0"/>
          </a:p>
          <a:p>
            <a:pPr eaLnBrk="1" hangingPunct="1">
              <a:lnSpc>
                <a:spcPct val="125000"/>
              </a:lnSpc>
              <a:defRPr/>
            </a:pPr>
            <a:r>
              <a:rPr lang="en-US" altLang="zh-CN" sz="3200" b="1" dirty="0">
                <a:solidFill>
                  <a:srgbClr val="000099"/>
                </a:solidFill>
              </a:rPr>
              <a:t>}</a:t>
            </a:r>
            <a:r>
              <a:rPr lang="en-US" altLang="zh-CN" sz="3200" dirty="0">
                <a:solidFill>
                  <a:srgbClr val="000099"/>
                </a:solidFill>
              </a:rPr>
              <a:t> // </a:t>
            </a:r>
            <a:r>
              <a:rPr lang="en-US" altLang="zh-CN" sz="3200" dirty="0" err="1">
                <a:solidFill>
                  <a:srgbClr val="000099"/>
                </a:solidFill>
              </a:rPr>
              <a:t>ListInsert_Sq</a:t>
            </a:r>
            <a:r>
              <a:rPr lang="en-US" altLang="zh-CN" sz="3200" dirty="0"/>
              <a:t>                         </a:t>
            </a:r>
            <a:endParaRPr lang="en-US" altLang="zh-CN" sz="3200" dirty="0"/>
          </a:p>
        </p:txBody>
      </p:sp>
      <p:sp>
        <p:nvSpPr>
          <p:cNvPr id="937987" name="Text Box 3"/>
          <p:cNvSpPr txBox="1">
            <a:spLocks noChangeArrowheads="1"/>
          </p:cNvSpPr>
          <p:nvPr/>
        </p:nvSpPr>
        <p:spPr bwMode="auto">
          <a:xfrm>
            <a:off x="3810000" y="5394325"/>
            <a:ext cx="35846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a:solidFill>
                  <a:srgbClr val="FF0000"/>
                </a:solidFill>
                <a:latin typeface="隶书" panose="02010509060101010101" charset="-122"/>
                <a:ea typeface="隶书" panose="02010509060101010101" charset="-122"/>
              </a:rPr>
              <a:t>算法时间复杂度</a:t>
            </a:r>
            <a:r>
              <a:rPr lang="zh-CN" altLang="en-US" sz="3200" b="1">
                <a:latin typeface="隶书" panose="02010509060101010101" charset="-122"/>
                <a:ea typeface="隶书" panose="02010509060101010101" charset="-122"/>
              </a:rPr>
              <a:t>为</a:t>
            </a:r>
            <a:r>
              <a:rPr lang="en-US" altLang="zh-CN" sz="3200" b="1">
                <a:latin typeface="隶书" panose="02010509060101010101" charset="-122"/>
                <a:ea typeface="隶书" panose="02010509060101010101" charset="-122"/>
              </a:rPr>
              <a:t>:</a:t>
            </a:r>
            <a:endParaRPr lang="en-US" altLang="zh-CN" sz="3200"/>
          </a:p>
        </p:txBody>
      </p:sp>
      <p:sp>
        <p:nvSpPr>
          <p:cNvPr id="937988" name="Text Box 4"/>
          <p:cNvSpPr txBox="1">
            <a:spLocks noChangeArrowheads="1"/>
          </p:cNvSpPr>
          <p:nvPr/>
        </p:nvSpPr>
        <p:spPr bwMode="auto">
          <a:xfrm>
            <a:off x="4343400" y="6003925"/>
            <a:ext cx="358623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660033"/>
                </a:solidFill>
              </a:rPr>
              <a:t>O( ListLength(L) )</a:t>
            </a:r>
            <a:endParaRPr lang="en-US" altLang="zh-CN" sz="3200" b="1"/>
          </a:p>
        </p:txBody>
      </p:sp>
      <p:sp>
        <p:nvSpPr>
          <p:cNvPr id="937989" name="Rectangle 5">
            <a:hlinkClick r:id="rId1" action="ppaction://hlinksldjump"/>
          </p:cNvPr>
          <p:cNvSpPr>
            <a:spLocks noChangeArrowheads="1"/>
          </p:cNvSpPr>
          <p:nvPr/>
        </p:nvSpPr>
        <p:spPr bwMode="auto">
          <a:xfrm>
            <a:off x="35496" y="2209800"/>
            <a:ext cx="9310562"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en-US" altLang="zh-CN" sz="3200" dirty="0">
                <a:solidFill>
                  <a:schemeClr val="tx2"/>
                </a:solidFill>
              </a:rPr>
              <a:t>q = </a:t>
            </a:r>
            <a:r>
              <a:rPr lang="en-US" altLang="zh-CN" sz="3200" b="1" dirty="0">
                <a:solidFill>
                  <a:schemeClr val="tx2"/>
                </a:solidFill>
              </a:rPr>
              <a:t>&amp;</a:t>
            </a:r>
            <a:r>
              <a:rPr lang="en-US" altLang="zh-CN" sz="3200" dirty="0">
                <a:solidFill>
                  <a:schemeClr val="tx2"/>
                </a:solidFill>
              </a:rPr>
              <a:t>(</a:t>
            </a:r>
            <a:r>
              <a:rPr lang="en-US" altLang="zh-CN" sz="3200" dirty="0" err="1">
                <a:solidFill>
                  <a:schemeClr val="tx2"/>
                </a:solidFill>
              </a:rPr>
              <a:t>L.elem</a:t>
            </a:r>
            <a:r>
              <a:rPr lang="en-US" altLang="zh-CN" sz="3200" dirty="0">
                <a:solidFill>
                  <a:schemeClr val="tx2"/>
                </a:solidFill>
              </a:rPr>
              <a:t>[i-1]);              // q </a:t>
            </a:r>
            <a:r>
              <a:rPr lang="zh-CN" altLang="en-US" sz="3200" dirty="0">
                <a:solidFill>
                  <a:schemeClr val="tx2"/>
                </a:solidFill>
              </a:rPr>
              <a:t>指示插入位置</a:t>
            </a:r>
            <a:endParaRPr lang="zh-CN" altLang="en-US" sz="3200" dirty="0">
              <a:solidFill>
                <a:srgbClr val="990000"/>
              </a:solidFill>
            </a:endParaRPr>
          </a:p>
          <a:p>
            <a:pPr eaLnBrk="1" hangingPunct="1">
              <a:lnSpc>
                <a:spcPct val="125000"/>
              </a:lnSpc>
              <a:defRPr/>
            </a:pPr>
            <a:r>
              <a:rPr lang="en-US" altLang="zh-CN" sz="3200" b="1" dirty="0">
                <a:solidFill>
                  <a:srgbClr val="660033"/>
                </a:solidFill>
              </a:rPr>
              <a:t>for</a:t>
            </a:r>
            <a:r>
              <a:rPr lang="en-US" altLang="zh-CN" sz="3200" dirty="0">
                <a:solidFill>
                  <a:srgbClr val="660033"/>
                </a:solidFill>
              </a:rPr>
              <a:t> (p = </a:t>
            </a:r>
            <a:r>
              <a:rPr lang="en-US" altLang="zh-CN" sz="3200" b="1" dirty="0">
                <a:solidFill>
                  <a:srgbClr val="660033"/>
                </a:solidFill>
              </a:rPr>
              <a:t>&amp;</a:t>
            </a:r>
            <a:r>
              <a:rPr lang="en-US" altLang="zh-CN" sz="3200" dirty="0">
                <a:solidFill>
                  <a:srgbClr val="660033"/>
                </a:solidFill>
              </a:rPr>
              <a:t>(</a:t>
            </a:r>
            <a:r>
              <a:rPr lang="en-US" altLang="zh-CN" sz="3200" dirty="0" err="1">
                <a:solidFill>
                  <a:srgbClr val="660033"/>
                </a:solidFill>
              </a:rPr>
              <a:t>L.elem</a:t>
            </a:r>
            <a:r>
              <a:rPr lang="en-US" altLang="zh-CN" sz="3200" dirty="0">
                <a:solidFill>
                  <a:srgbClr val="660033"/>
                </a:solidFill>
              </a:rPr>
              <a:t>[L.length-1]); p &gt;= q;  --p)  </a:t>
            </a:r>
            <a:endParaRPr lang="en-US" altLang="zh-CN" sz="3200" dirty="0">
              <a:solidFill>
                <a:srgbClr val="660033"/>
              </a:solidFill>
            </a:endParaRPr>
          </a:p>
          <a:p>
            <a:pPr eaLnBrk="1" hangingPunct="1">
              <a:lnSpc>
                <a:spcPct val="125000"/>
              </a:lnSpc>
              <a:defRPr/>
            </a:pPr>
            <a:r>
              <a:rPr lang="en-US" altLang="zh-CN" sz="3200" b="1" dirty="0">
                <a:solidFill>
                  <a:srgbClr val="660033"/>
                </a:solidFill>
              </a:rPr>
              <a:t>     *</a:t>
            </a:r>
            <a:r>
              <a:rPr lang="en-US" altLang="zh-CN" sz="3200" dirty="0">
                <a:solidFill>
                  <a:srgbClr val="660033"/>
                </a:solidFill>
              </a:rPr>
              <a:t>(p+1) = </a:t>
            </a:r>
            <a:r>
              <a:rPr lang="en-US" altLang="zh-CN" sz="3200" b="1" dirty="0">
                <a:solidFill>
                  <a:srgbClr val="660033"/>
                </a:solidFill>
              </a:rPr>
              <a:t>*</a:t>
            </a:r>
            <a:r>
              <a:rPr lang="en-US" altLang="zh-CN" sz="3200" dirty="0">
                <a:solidFill>
                  <a:srgbClr val="660033"/>
                </a:solidFill>
              </a:rPr>
              <a:t>p;  // </a:t>
            </a:r>
            <a:r>
              <a:rPr lang="zh-CN" altLang="en-US" sz="3200" dirty="0">
                <a:solidFill>
                  <a:srgbClr val="660033"/>
                </a:solidFill>
              </a:rPr>
              <a:t>插入位置及之后的</a:t>
            </a:r>
            <a:r>
              <a:rPr lang="zh-CN" altLang="en-US" sz="3200" b="1" dirty="0">
                <a:solidFill>
                  <a:srgbClr val="660033"/>
                </a:solidFill>
              </a:rPr>
              <a:t>元素右移</a:t>
            </a:r>
            <a:endParaRPr lang="zh-CN" altLang="en-US" sz="3200" dirty="0">
              <a:solidFill>
                <a:srgbClr val="990000"/>
              </a:solidFill>
            </a:endParaRPr>
          </a:p>
          <a:p>
            <a:pPr eaLnBrk="1" hangingPunct="1">
              <a:lnSpc>
                <a:spcPct val="125000"/>
              </a:lnSpc>
              <a:defRPr/>
            </a:pPr>
            <a:r>
              <a:rPr lang="zh-CN" altLang="en-US" sz="3200" dirty="0">
                <a:solidFill>
                  <a:srgbClr val="CC0000"/>
                </a:solidFill>
              </a:rPr>
              <a:t>*</a:t>
            </a:r>
            <a:r>
              <a:rPr lang="en-US" altLang="zh-CN" sz="3200" dirty="0">
                <a:solidFill>
                  <a:srgbClr val="CC0000"/>
                </a:solidFill>
              </a:rPr>
              <a:t>q = e;       // </a:t>
            </a:r>
            <a:r>
              <a:rPr lang="zh-CN" altLang="en-US" sz="3200" dirty="0">
                <a:solidFill>
                  <a:srgbClr val="CC0000"/>
                </a:solidFill>
              </a:rPr>
              <a:t>插入</a:t>
            </a:r>
            <a:r>
              <a:rPr lang="en-US" altLang="zh-CN" sz="3200" dirty="0">
                <a:solidFill>
                  <a:srgbClr val="CC0000"/>
                </a:solidFill>
              </a:rPr>
              <a:t>e</a:t>
            </a:r>
            <a:endParaRPr lang="en-US" altLang="zh-CN" sz="3200" dirty="0">
              <a:solidFill>
                <a:srgbClr val="CC0000"/>
              </a:solidFill>
            </a:endParaRPr>
          </a:p>
          <a:p>
            <a:pPr eaLnBrk="1" hangingPunct="1">
              <a:lnSpc>
                <a:spcPct val="125000"/>
              </a:lnSpc>
              <a:defRPr/>
            </a:pPr>
            <a:r>
              <a:rPr lang="en-US" altLang="zh-CN" sz="3200" dirty="0">
                <a:solidFill>
                  <a:srgbClr val="CC0000"/>
                </a:solidFill>
              </a:rPr>
              <a:t>++</a:t>
            </a:r>
            <a:r>
              <a:rPr lang="en-US" altLang="zh-CN" sz="3200" dirty="0" err="1">
                <a:solidFill>
                  <a:srgbClr val="CC0000"/>
                </a:solidFill>
              </a:rPr>
              <a:t>L.length</a:t>
            </a:r>
            <a:r>
              <a:rPr lang="en-US" altLang="zh-CN" sz="3200" dirty="0">
                <a:solidFill>
                  <a:srgbClr val="CC0000"/>
                </a:solidFill>
              </a:rPr>
              <a:t>;   // </a:t>
            </a:r>
            <a:r>
              <a:rPr lang="zh-CN" altLang="en-US" sz="3200" dirty="0">
                <a:solidFill>
                  <a:srgbClr val="CC0000"/>
                </a:solidFill>
              </a:rPr>
              <a:t>表长增</a:t>
            </a:r>
            <a:r>
              <a:rPr lang="en-US" altLang="zh-CN" sz="3200" dirty="0">
                <a:solidFill>
                  <a:srgbClr val="CC0000"/>
                </a:solidFill>
              </a:rPr>
              <a:t>1</a:t>
            </a:r>
            <a:endParaRPr lang="en-US" altLang="zh-CN" sz="3200" dirty="0">
              <a:solidFill>
                <a:srgbClr val="CC0000"/>
              </a:solidFill>
            </a:endParaRPr>
          </a:p>
          <a:p>
            <a:pPr eaLnBrk="1" hangingPunct="1">
              <a:lnSpc>
                <a:spcPct val="125000"/>
              </a:lnSpc>
              <a:defRPr/>
            </a:pPr>
            <a:r>
              <a:rPr lang="en-US" altLang="zh-CN" sz="3200" b="1" dirty="0">
                <a:solidFill>
                  <a:srgbClr val="990000"/>
                </a:solidFill>
              </a:rPr>
              <a:t>return </a:t>
            </a:r>
            <a:r>
              <a:rPr lang="en-US" altLang="zh-CN" sz="3200" dirty="0">
                <a:solidFill>
                  <a:srgbClr val="990000"/>
                </a:solidFill>
              </a:rPr>
              <a:t>OK;</a:t>
            </a:r>
            <a:endParaRPr lang="en-US" altLang="zh-CN" sz="3200" dirty="0">
              <a:solidFill>
                <a:srgbClr val="990000"/>
              </a:solidFill>
            </a:endParaRPr>
          </a:p>
        </p:txBody>
      </p:sp>
      <p:sp>
        <p:nvSpPr>
          <p:cNvPr id="937990" name="Text Box 6">
            <a:hlinkClick r:id="rId2" action="ppaction://hlinksldjump"/>
          </p:cNvPr>
          <p:cNvSpPr txBox="1">
            <a:spLocks noChangeArrowheads="1"/>
          </p:cNvSpPr>
          <p:nvPr/>
        </p:nvSpPr>
        <p:spPr bwMode="auto">
          <a:xfrm>
            <a:off x="1371600" y="1524000"/>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dirty="0">
                <a:solidFill>
                  <a:srgbClr val="660033"/>
                </a:solidFill>
              </a:rPr>
              <a:t>……</a:t>
            </a:r>
            <a:endParaRPr lang="en-US" altLang="zh-CN" sz="3200" dirty="0"/>
          </a:p>
        </p:txBody>
      </p:sp>
      <p:sp>
        <p:nvSpPr>
          <p:cNvPr id="937991" name="Rectangle 7">
            <a:hlinkClick r:id="" action="ppaction://hlinkshowjump?jump=nextslide"/>
          </p:cNvPr>
          <p:cNvSpPr>
            <a:spLocks noChangeArrowheads="1"/>
          </p:cNvSpPr>
          <p:nvPr/>
        </p:nvSpPr>
        <p:spPr bwMode="auto">
          <a:xfrm>
            <a:off x="7204646" y="3512344"/>
            <a:ext cx="18224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dirty="0">
                <a:solidFill>
                  <a:srgbClr val="FF0000"/>
                </a:solidFill>
              </a:rPr>
              <a:t>元素右移</a:t>
            </a:r>
            <a:endParaRPr lang="zh-CN" altLang="en-US" sz="3200" b="1" dirty="0">
              <a:solidFill>
                <a:srgbClr val="660033"/>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grpId="0" nodeType="afterEffect">
                                  <p:stCondLst>
                                    <p:cond delay="0"/>
                                  </p:stCondLst>
                                  <p:childTnLst>
                                    <p:set>
                                      <p:cBhvr>
                                        <p:cTn id="6" dur="1" fill="hold">
                                          <p:stCondLst>
                                            <p:cond delay="0"/>
                                          </p:stCondLst>
                                        </p:cTn>
                                        <p:tgtEl>
                                          <p:spTgt spid="937986"/>
                                        </p:tgtEl>
                                        <p:attrNameLst>
                                          <p:attrName>style.visibility</p:attrName>
                                        </p:attrNameLst>
                                      </p:cBhvr>
                                      <p:to>
                                        <p:strVal val="visible"/>
                                      </p:to>
                                    </p:set>
                                    <p:animEffect transition="in" filter="checkerboard(down)">
                                      <p:cBhvr>
                                        <p:cTn id="7" dur="500"/>
                                        <p:tgtEl>
                                          <p:spTgt spid="9379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37989"/>
                                        </p:tgtEl>
                                        <p:attrNameLst>
                                          <p:attrName>style.visibility</p:attrName>
                                        </p:attrNameLst>
                                      </p:cBhvr>
                                      <p:to>
                                        <p:strVal val="visible"/>
                                      </p:to>
                                    </p:set>
                                    <p:animEffect transition="in" filter="wipe(left)">
                                      <p:cBhvr>
                                        <p:cTn id="12" dur="75"/>
                                        <p:tgtEl>
                                          <p:spTgt spid="9379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937990"/>
                                        </p:tgtEl>
                                        <p:attrNameLst>
                                          <p:attrName>style.visibility</p:attrName>
                                        </p:attrNameLst>
                                      </p:cBhvr>
                                      <p:to>
                                        <p:strVal val="visible"/>
                                      </p:to>
                                    </p:set>
                                    <p:animEffect transition="in" filter="wipe(left)">
                                      <p:cBhvr>
                                        <p:cTn id="17" dur="75"/>
                                        <p:tgtEl>
                                          <p:spTgt spid="93799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937987"/>
                                        </p:tgtEl>
                                        <p:attrNameLst>
                                          <p:attrName>style.visibility</p:attrName>
                                        </p:attrNameLst>
                                      </p:cBhvr>
                                      <p:to>
                                        <p:strVal val="visible"/>
                                      </p:to>
                                    </p:set>
                                    <p:anim calcmode="lin" valueType="num">
                                      <p:cBhvr additive="base">
                                        <p:cTn id="22" dur="500" fill="hold"/>
                                        <p:tgtEl>
                                          <p:spTgt spid="937987"/>
                                        </p:tgtEl>
                                        <p:attrNameLst>
                                          <p:attrName>ppt_x</p:attrName>
                                        </p:attrNameLst>
                                      </p:cBhvr>
                                      <p:tavLst>
                                        <p:tav tm="0">
                                          <p:val>
                                            <p:strVal val="1+#ppt_w/2"/>
                                          </p:val>
                                        </p:tav>
                                        <p:tav tm="100000">
                                          <p:val>
                                            <p:strVal val="#ppt_x"/>
                                          </p:val>
                                        </p:tav>
                                      </p:tavLst>
                                    </p:anim>
                                    <p:anim calcmode="lin" valueType="num">
                                      <p:cBhvr additive="base">
                                        <p:cTn id="23" dur="500" fill="hold"/>
                                        <p:tgtEl>
                                          <p:spTgt spid="937987"/>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937991"/>
                                        </p:tgtEl>
                                        <p:attrNameLst>
                                          <p:attrName>style.visibility</p:attrName>
                                        </p:attrNameLst>
                                      </p:cBhvr>
                                      <p:to>
                                        <p:strVal val="visible"/>
                                      </p:to>
                                    </p:set>
                                    <p:animEffect transition="in" filter="dissolve">
                                      <p:cBhvr>
                                        <p:cTn id="28" dur="500"/>
                                        <p:tgtEl>
                                          <p:spTgt spid="93799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937988"/>
                                        </p:tgtEl>
                                        <p:attrNameLst>
                                          <p:attrName>style.visibility</p:attrName>
                                        </p:attrNameLst>
                                      </p:cBhvr>
                                      <p:to>
                                        <p:strVal val="visible"/>
                                      </p:to>
                                    </p:set>
                                    <p:animEffect transition="in" filter="wipe(left)">
                                      <p:cBhvr>
                                        <p:cTn id="33" dur="300"/>
                                        <p:tgtEl>
                                          <p:spTgt spid="937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7986" grpId="0" animBg="1" autoUpdateAnimBg="0"/>
      <p:bldP spid="937987" grpId="0" autoUpdateAnimBg="0"/>
      <p:bldP spid="937988" grpId="0" autoUpdateAnimBg="0"/>
      <p:bldP spid="937989" grpId="0" autoUpdateAnimBg="0"/>
      <p:bldP spid="937990" grpId="0" autoUpdateAnimBg="0"/>
      <p:bldP spid="937991"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9010" name="Text Box 2"/>
          <p:cNvSpPr txBox="1">
            <a:spLocks noChangeArrowheads="1"/>
          </p:cNvSpPr>
          <p:nvPr/>
        </p:nvSpPr>
        <p:spPr bwMode="auto">
          <a:xfrm>
            <a:off x="35496" y="1350963"/>
            <a:ext cx="9067800" cy="4724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en-US" altLang="zh-CN" sz="2800" b="1" dirty="0"/>
              <a:t>if</a:t>
            </a:r>
            <a:r>
              <a:rPr lang="en-US" altLang="zh-CN" sz="2800" dirty="0"/>
              <a:t> (</a:t>
            </a:r>
            <a:r>
              <a:rPr lang="en-US" altLang="zh-CN" sz="2800" dirty="0" err="1"/>
              <a:t>L.length</a:t>
            </a:r>
            <a:r>
              <a:rPr lang="en-US" altLang="zh-CN" sz="2800" dirty="0"/>
              <a:t> &gt;= </a:t>
            </a:r>
            <a:r>
              <a:rPr lang="en-US" altLang="zh-CN" sz="2800" dirty="0" err="1"/>
              <a:t>L.listsize</a:t>
            </a:r>
            <a:r>
              <a:rPr lang="en-US" altLang="zh-CN" sz="2800" dirty="0"/>
              <a:t>) </a:t>
            </a:r>
            <a:r>
              <a:rPr lang="en-US" altLang="zh-CN" sz="2800" b="1" dirty="0"/>
              <a:t>{</a:t>
            </a:r>
            <a:r>
              <a:rPr lang="en-US" altLang="zh-CN" sz="2800" dirty="0"/>
              <a:t> </a:t>
            </a:r>
            <a:endParaRPr lang="en-US" altLang="zh-CN" sz="2800" dirty="0"/>
          </a:p>
          <a:p>
            <a:pPr eaLnBrk="1" hangingPunct="1">
              <a:lnSpc>
                <a:spcPct val="120000"/>
              </a:lnSpc>
              <a:defRPr/>
            </a:pPr>
            <a:r>
              <a:rPr lang="en-US" altLang="zh-CN" sz="2800" dirty="0"/>
              <a:t>                          // </a:t>
            </a:r>
            <a:r>
              <a:rPr lang="zh-CN" altLang="en-US" sz="2800" dirty="0">
                <a:ea typeface="隶书" panose="02010509060101010101" charset="-122"/>
              </a:rPr>
              <a:t>当前存储空间已满，增加分配</a:t>
            </a:r>
            <a:endParaRPr lang="zh-CN" altLang="en-US" sz="2800" dirty="0"/>
          </a:p>
          <a:p>
            <a:pPr eaLnBrk="1" hangingPunct="1">
              <a:lnSpc>
                <a:spcPct val="120000"/>
              </a:lnSpc>
              <a:defRPr/>
            </a:pPr>
            <a:r>
              <a:rPr lang="zh-CN" altLang="en-US" sz="2800" dirty="0"/>
              <a:t>    </a:t>
            </a:r>
            <a:r>
              <a:rPr lang="en-US" altLang="zh-CN" sz="2800" b="1" dirty="0" err="1">
                <a:solidFill>
                  <a:srgbClr val="CC0000"/>
                </a:solidFill>
              </a:rPr>
              <a:t>newbase</a:t>
            </a:r>
            <a:r>
              <a:rPr lang="en-US" altLang="zh-CN" sz="2800" b="1" dirty="0">
                <a:solidFill>
                  <a:srgbClr val="CC0000"/>
                </a:solidFill>
              </a:rPr>
              <a:t> = (</a:t>
            </a:r>
            <a:r>
              <a:rPr lang="en-US" altLang="zh-CN" sz="2800" b="1" dirty="0" err="1">
                <a:solidFill>
                  <a:srgbClr val="CC0000"/>
                </a:solidFill>
              </a:rPr>
              <a:t>ElemType</a:t>
            </a:r>
            <a:r>
              <a:rPr lang="en-US" altLang="zh-CN" sz="2800" b="1" dirty="0">
                <a:solidFill>
                  <a:srgbClr val="CC0000"/>
                </a:solidFill>
              </a:rPr>
              <a:t> *)</a:t>
            </a:r>
            <a:r>
              <a:rPr lang="en-US" altLang="zh-CN" sz="2800" b="1" dirty="0" err="1">
                <a:solidFill>
                  <a:srgbClr val="CC0000"/>
                </a:solidFill>
              </a:rPr>
              <a:t>realloc</a:t>
            </a:r>
            <a:r>
              <a:rPr lang="en-US" altLang="zh-CN" sz="2800" b="1" dirty="0">
                <a:solidFill>
                  <a:srgbClr val="CC0000"/>
                </a:solidFill>
              </a:rPr>
              <a:t>(</a:t>
            </a:r>
            <a:r>
              <a:rPr lang="en-US" altLang="zh-CN" sz="2800" b="1" dirty="0" err="1">
                <a:solidFill>
                  <a:srgbClr val="CC0000"/>
                </a:solidFill>
              </a:rPr>
              <a:t>L.elem</a:t>
            </a:r>
            <a:r>
              <a:rPr lang="en-US" altLang="zh-CN" sz="2800" b="1" dirty="0">
                <a:solidFill>
                  <a:srgbClr val="CC0000"/>
                </a:solidFill>
              </a:rPr>
              <a:t>,                                                                 </a:t>
            </a:r>
            <a:endParaRPr lang="en-US" altLang="zh-CN" sz="2800" b="1" dirty="0">
              <a:solidFill>
                <a:srgbClr val="CC0000"/>
              </a:solidFill>
            </a:endParaRPr>
          </a:p>
          <a:p>
            <a:pPr eaLnBrk="1" hangingPunct="1">
              <a:lnSpc>
                <a:spcPct val="120000"/>
              </a:lnSpc>
              <a:defRPr/>
            </a:pPr>
            <a:r>
              <a:rPr lang="en-US" altLang="zh-CN" sz="2800" b="1" dirty="0">
                <a:solidFill>
                  <a:srgbClr val="CC0000"/>
                </a:solidFill>
              </a:rPr>
              <a:t>        (</a:t>
            </a:r>
            <a:r>
              <a:rPr lang="en-US" altLang="zh-CN" sz="2800" b="1" dirty="0" err="1">
                <a:solidFill>
                  <a:srgbClr val="CC0000"/>
                </a:solidFill>
              </a:rPr>
              <a:t>L.listsize+LISTINCREMENT</a:t>
            </a:r>
            <a:r>
              <a:rPr lang="en-US" altLang="zh-CN" sz="2800" b="1" dirty="0">
                <a:solidFill>
                  <a:srgbClr val="CC0000"/>
                </a:solidFill>
              </a:rPr>
              <a:t>)*</a:t>
            </a:r>
            <a:r>
              <a:rPr lang="en-US" altLang="zh-CN" sz="2800" b="1" dirty="0" err="1">
                <a:solidFill>
                  <a:srgbClr val="CC0000"/>
                </a:solidFill>
              </a:rPr>
              <a:t>sizeof</a:t>
            </a:r>
            <a:r>
              <a:rPr lang="en-US" altLang="zh-CN" sz="2800" b="1" dirty="0">
                <a:solidFill>
                  <a:srgbClr val="CC0000"/>
                </a:solidFill>
              </a:rPr>
              <a:t>(</a:t>
            </a:r>
            <a:r>
              <a:rPr lang="en-US" altLang="zh-CN" sz="2800" b="1" dirty="0" err="1">
                <a:solidFill>
                  <a:srgbClr val="CC0000"/>
                </a:solidFill>
              </a:rPr>
              <a:t>ElemType</a:t>
            </a:r>
            <a:r>
              <a:rPr lang="en-US" altLang="zh-CN" sz="2800" b="1" dirty="0">
                <a:solidFill>
                  <a:srgbClr val="CC0000"/>
                </a:solidFill>
              </a:rPr>
              <a:t>));</a:t>
            </a:r>
            <a:endParaRPr lang="en-US" altLang="zh-CN" sz="2800" b="1" dirty="0">
              <a:solidFill>
                <a:srgbClr val="CC0000"/>
              </a:solidFill>
            </a:endParaRPr>
          </a:p>
          <a:p>
            <a:pPr eaLnBrk="1" hangingPunct="1">
              <a:lnSpc>
                <a:spcPct val="120000"/>
              </a:lnSpc>
              <a:defRPr/>
            </a:pPr>
            <a:r>
              <a:rPr lang="en-US" altLang="zh-CN" sz="2800" b="1" dirty="0"/>
              <a:t>    if</a:t>
            </a:r>
            <a:r>
              <a:rPr lang="en-US" altLang="zh-CN" sz="2800" dirty="0"/>
              <a:t> (!</a:t>
            </a:r>
            <a:r>
              <a:rPr lang="en-US" altLang="zh-CN" sz="2800" dirty="0" err="1"/>
              <a:t>newbase</a:t>
            </a:r>
            <a:r>
              <a:rPr lang="en-US" altLang="zh-CN" sz="2800" dirty="0"/>
              <a:t>) </a:t>
            </a:r>
            <a:r>
              <a:rPr lang="en-US" altLang="zh-CN" sz="2800" b="1" dirty="0"/>
              <a:t>exit</a:t>
            </a:r>
            <a:r>
              <a:rPr lang="en-US" altLang="zh-CN" sz="2800" dirty="0"/>
              <a:t>(OVERFLOW);  </a:t>
            </a:r>
            <a:endParaRPr lang="en-US" altLang="zh-CN" sz="2800" dirty="0"/>
          </a:p>
          <a:p>
            <a:pPr eaLnBrk="1" hangingPunct="1">
              <a:lnSpc>
                <a:spcPct val="120000"/>
              </a:lnSpc>
              <a:defRPr/>
            </a:pPr>
            <a:r>
              <a:rPr lang="en-US" altLang="zh-CN" sz="2800" dirty="0"/>
              <a:t>                           // </a:t>
            </a:r>
            <a:r>
              <a:rPr lang="zh-CN" altLang="en-US" sz="2800" dirty="0">
                <a:ea typeface="隶书" panose="02010509060101010101" charset="-122"/>
              </a:rPr>
              <a:t>存储分配失败</a:t>
            </a:r>
            <a:endParaRPr lang="zh-CN" altLang="en-US" sz="2800" dirty="0">
              <a:ea typeface="隶书" panose="02010509060101010101" charset="-122"/>
            </a:endParaRPr>
          </a:p>
          <a:p>
            <a:pPr eaLnBrk="1" hangingPunct="1">
              <a:lnSpc>
                <a:spcPct val="120000"/>
              </a:lnSpc>
              <a:defRPr/>
            </a:pPr>
            <a:r>
              <a:rPr lang="zh-CN" altLang="en-US" sz="2800" dirty="0"/>
              <a:t>    </a:t>
            </a:r>
            <a:r>
              <a:rPr lang="en-US" altLang="zh-CN" sz="2800" dirty="0" err="1">
                <a:solidFill>
                  <a:srgbClr val="CC0000"/>
                </a:solidFill>
              </a:rPr>
              <a:t>L.elem</a:t>
            </a:r>
            <a:r>
              <a:rPr lang="en-US" altLang="zh-CN" sz="2800" dirty="0">
                <a:solidFill>
                  <a:srgbClr val="CC0000"/>
                </a:solidFill>
              </a:rPr>
              <a:t> = </a:t>
            </a:r>
            <a:r>
              <a:rPr lang="en-US" altLang="zh-CN" sz="2800" dirty="0" err="1">
                <a:solidFill>
                  <a:srgbClr val="CC0000"/>
                </a:solidFill>
              </a:rPr>
              <a:t>newbase</a:t>
            </a:r>
            <a:r>
              <a:rPr lang="en-US" altLang="zh-CN" sz="2800" dirty="0">
                <a:solidFill>
                  <a:srgbClr val="CC0000"/>
                </a:solidFill>
              </a:rPr>
              <a:t>;                // </a:t>
            </a:r>
            <a:r>
              <a:rPr lang="zh-CN" altLang="en-US" sz="2800" dirty="0">
                <a:solidFill>
                  <a:srgbClr val="CC0000"/>
                </a:solidFill>
                <a:ea typeface="隶书" panose="02010509060101010101" charset="-122"/>
              </a:rPr>
              <a:t>新基址</a:t>
            </a:r>
            <a:endParaRPr lang="zh-CN" altLang="en-US" sz="2800" dirty="0">
              <a:solidFill>
                <a:srgbClr val="CC0000"/>
              </a:solidFill>
            </a:endParaRPr>
          </a:p>
          <a:p>
            <a:pPr eaLnBrk="1" hangingPunct="1">
              <a:lnSpc>
                <a:spcPct val="120000"/>
              </a:lnSpc>
              <a:defRPr/>
            </a:pPr>
            <a:r>
              <a:rPr lang="zh-CN" altLang="en-US" sz="2800" dirty="0">
                <a:solidFill>
                  <a:srgbClr val="CC0000"/>
                </a:solidFill>
              </a:rPr>
              <a:t>    </a:t>
            </a:r>
            <a:r>
              <a:rPr lang="en-US" altLang="zh-CN" sz="2800" dirty="0" err="1">
                <a:solidFill>
                  <a:srgbClr val="CC0000"/>
                </a:solidFill>
              </a:rPr>
              <a:t>L.listsize</a:t>
            </a:r>
            <a:r>
              <a:rPr lang="en-US" altLang="zh-CN" sz="2800" dirty="0">
                <a:solidFill>
                  <a:srgbClr val="CC0000"/>
                </a:solidFill>
              </a:rPr>
              <a:t> += LISTINCREMENT; // </a:t>
            </a:r>
            <a:r>
              <a:rPr lang="zh-CN" altLang="en-US" sz="2800" dirty="0">
                <a:solidFill>
                  <a:srgbClr val="CC0000"/>
                </a:solidFill>
                <a:ea typeface="隶书" panose="02010509060101010101" charset="-122"/>
              </a:rPr>
              <a:t>增加存储容量</a:t>
            </a:r>
            <a:endParaRPr lang="zh-CN" altLang="en-US" sz="2800" dirty="0">
              <a:solidFill>
                <a:srgbClr val="CC0000"/>
              </a:solidFill>
            </a:endParaRPr>
          </a:p>
          <a:p>
            <a:pPr eaLnBrk="1" hangingPunct="1">
              <a:lnSpc>
                <a:spcPct val="120000"/>
              </a:lnSpc>
              <a:defRPr/>
            </a:pPr>
            <a:r>
              <a:rPr lang="en-US" altLang="zh-CN" sz="2800" b="1" dirty="0"/>
              <a:t>}</a:t>
            </a:r>
            <a:endParaRPr lang="en-US" altLang="zh-CN" sz="2800" dirty="0"/>
          </a:p>
        </p:txBody>
      </p:sp>
      <p:sp>
        <p:nvSpPr>
          <p:cNvPr id="939011" name="Rectangle 3"/>
          <p:cNvSpPr>
            <a:spLocks noChangeArrowheads="1"/>
          </p:cNvSpPr>
          <p:nvPr/>
        </p:nvSpPr>
        <p:spPr bwMode="auto">
          <a:xfrm>
            <a:off x="35496" y="228600"/>
            <a:ext cx="7609776" cy="1104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dirty="0">
                <a:solidFill>
                  <a:srgbClr val="000099"/>
                </a:solidFill>
              </a:rPr>
              <a:t>if</a:t>
            </a:r>
            <a:r>
              <a:rPr lang="en-US" altLang="zh-CN" sz="2800" dirty="0">
                <a:solidFill>
                  <a:srgbClr val="000099"/>
                </a:solidFill>
              </a:rPr>
              <a:t> (</a:t>
            </a:r>
            <a:r>
              <a:rPr lang="en-US" altLang="zh-CN" sz="2800" dirty="0" err="1">
                <a:solidFill>
                  <a:srgbClr val="000099"/>
                </a:solidFill>
              </a:rPr>
              <a:t>i</a:t>
            </a:r>
            <a:r>
              <a:rPr lang="en-US" altLang="zh-CN" sz="2800" dirty="0">
                <a:solidFill>
                  <a:srgbClr val="000099"/>
                </a:solidFill>
              </a:rPr>
              <a:t> &lt; 1 || </a:t>
            </a:r>
            <a:r>
              <a:rPr lang="en-US" altLang="zh-CN" sz="2800" dirty="0" err="1">
                <a:solidFill>
                  <a:srgbClr val="000099"/>
                </a:solidFill>
              </a:rPr>
              <a:t>i</a:t>
            </a:r>
            <a:r>
              <a:rPr lang="en-US" altLang="zh-CN" sz="2800" dirty="0">
                <a:solidFill>
                  <a:srgbClr val="000099"/>
                </a:solidFill>
              </a:rPr>
              <a:t> &gt; L.length+1) </a:t>
            </a:r>
            <a:r>
              <a:rPr lang="en-US" altLang="zh-CN" sz="2800" b="1" dirty="0">
                <a:solidFill>
                  <a:srgbClr val="000099"/>
                </a:solidFill>
              </a:rPr>
              <a:t>return</a:t>
            </a:r>
            <a:r>
              <a:rPr lang="en-US" altLang="zh-CN" sz="2800" dirty="0">
                <a:solidFill>
                  <a:srgbClr val="000099"/>
                </a:solidFill>
              </a:rPr>
              <a:t> ERROR; </a:t>
            </a:r>
            <a:endParaRPr lang="en-US" altLang="zh-CN" sz="2800" dirty="0">
              <a:solidFill>
                <a:srgbClr val="000099"/>
              </a:solidFill>
            </a:endParaRPr>
          </a:p>
          <a:p>
            <a:pPr eaLnBrk="1" hangingPunct="1">
              <a:lnSpc>
                <a:spcPct val="120000"/>
              </a:lnSpc>
              <a:defRPr/>
            </a:pPr>
            <a:r>
              <a:rPr lang="en-US" altLang="zh-CN" sz="2800" dirty="0">
                <a:solidFill>
                  <a:srgbClr val="000099"/>
                </a:solidFill>
              </a:rPr>
              <a:t>                                      </a:t>
            </a:r>
            <a:r>
              <a:rPr lang="en-US" altLang="zh-CN" sz="2800" dirty="0">
                <a:solidFill>
                  <a:srgbClr val="000099"/>
                </a:solidFill>
                <a:latin typeface="隶书" panose="02010509060101010101" charset="-122"/>
                <a:ea typeface="隶书" panose="02010509060101010101" charset="-122"/>
              </a:rPr>
              <a:t> </a:t>
            </a:r>
            <a:r>
              <a:rPr lang="en-US" altLang="zh-CN" sz="2800" dirty="0">
                <a:solidFill>
                  <a:srgbClr val="000099"/>
                </a:solidFill>
              </a:rPr>
              <a:t>//</a:t>
            </a:r>
            <a:r>
              <a:rPr lang="en-US" altLang="zh-CN" sz="2800" dirty="0">
                <a:solidFill>
                  <a:srgbClr val="000099"/>
                </a:solidFill>
                <a:latin typeface="隶书" panose="02010509060101010101" charset="-122"/>
                <a:ea typeface="隶书" panose="02010509060101010101" charset="-122"/>
              </a:rPr>
              <a:t> </a:t>
            </a:r>
            <a:r>
              <a:rPr lang="zh-CN" altLang="en-US" sz="2800" dirty="0">
                <a:solidFill>
                  <a:srgbClr val="000099"/>
                </a:solidFill>
                <a:latin typeface="隶书" panose="02010509060101010101" charset="-122"/>
                <a:ea typeface="隶书" panose="02010509060101010101" charset="-122"/>
              </a:rPr>
              <a:t>插入位置不合法</a:t>
            </a:r>
            <a:endParaRPr lang="zh-CN" altLang="en-US" sz="2800" dirty="0">
              <a:latin typeface="隶书" panose="02010509060101010101" charset="-122"/>
              <a:ea typeface="隶书" panose="020105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939011"/>
                                        </p:tgtEl>
                                        <p:attrNameLst>
                                          <p:attrName>style.visibility</p:attrName>
                                        </p:attrNameLst>
                                      </p:cBhvr>
                                      <p:to>
                                        <p:strVal val="visible"/>
                                      </p:to>
                                    </p:set>
                                    <p:animEffect transition="in" filter="strips(downRight)">
                                      <p:cBhvr>
                                        <p:cTn id="7" dur="300"/>
                                        <p:tgtEl>
                                          <p:spTgt spid="93901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939010"/>
                                        </p:tgtEl>
                                        <p:attrNameLst>
                                          <p:attrName>style.visibility</p:attrName>
                                        </p:attrNameLst>
                                      </p:cBhvr>
                                      <p:to>
                                        <p:strVal val="visible"/>
                                      </p:to>
                                    </p:set>
                                    <p:animEffect transition="in" filter="strips(downRight)">
                                      <p:cBhvr>
                                        <p:cTn id="12" dur="300"/>
                                        <p:tgtEl>
                                          <p:spTgt spid="939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9010" grpId="0" autoUpdateAnimBg="0"/>
      <p:bldP spid="939011"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Text Box 2"/>
          <p:cNvSpPr txBox="1">
            <a:spLocks noChangeArrowheads="1"/>
          </p:cNvSpPr>
          <p:nvPr/>
        </p:nvSpPr>
        <p:spPr bwMode="auto">
          <a:xfrm>
            <a:off x="1447800" y="228600"/>
            <a:ext cx="602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000099"/>
                </a:solidFill>
                <a:latin typeface="隶书" panose="02010509060101010101" charset="-122"/>
                <a:ea typeface="隶书" panose="02010509060101010101" charset="-122"/>
              </a:rPr>
              <a:t>考虑移动元素的平均情况</a:t>
            </a:r>
            <a:r>
              <a:rPr lang="en-US" altLang="zh-CN" sz="4000" b="1">
                <a:solidFill>
                  <a:srgbClr val="000099"/>
                </a:solidFill>
                <a:latin typeface="隶书" panose="02010509060101010101" charset="-122"/>
                <a:ea typeface="隶书" panose="02010509060101010101" charset="-122"/>
              </a:rPr>
              <a:t>:</a:t>
            </a:r>
            <a:endParaRPr lang="en-US" altLang="zh-CN" sz="4000" b="1">
              <a:solidFill>
                <a:srgbClr val="660033"/>
              </a:solidFill>
              <a:latin typeface="隶书" panose="02010509060101010101" charset="-122"/>
              <a:ea typeface="隶书" panose="02010509060101010101" charset="-122"/>
            </a:endParaRPr>
          </a:p>
        </p:txBody>
      </p:sp>
      <p:grpSp>
        <p:nvGrpSpPr>
          <p:cNvPr id="940035" name="Group 3"/>
          <p:cNvGrpSpPr/>
          <p:nvPr/>
        </p:nvGrpSpPr>
        <p:grpSpPr bwMode="auto">
          <a:xfrm>
            <a:off x="746125" y="1050925"/>
            <a:ext cx="8169275" cy="1844675"/>
            <a:chOff x="326" y="566"/>
            <a:chExt cx="5146" cy="1162"/>
          </a:xfrm>
        </p:grpSpPr>
        <p:sp>
          <p:nvSpPr>
            <p:cNvPr id="940036" name="Text Box 4"/>
            <p:cNvSpPr txBox="1">
              <a:spLocks noChangeArrowheads="1"/>
            </p:cNvSpPr>
            <p:nvPr/>
          </p:nvSpPr>
          <p:spPr bwMode="auto">
            <a:xfrm>
              <a:off x="326" y="566"/>
              <a:ext cx="5146" cy="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a:ea typeface="楷体_GB2312" charset="0"/>
                </a:rPr>
                <a:t>    假设在第</a:t>
              </a:r>
              <a:r>
                <a:rPr lang="zh-CN" altLang="en-US" sz="3200">
                  <a:solidFill>
                    <a:srgbClr val="6600CC"/>
                  </a:solidFill>
                </a:rPr>
                <a:t> </a:t>
              </a:r>
              <a:r>
                <a:rPr lang="en-US" altLang="zh-CN" sz="3200">
                  <a:solidFill>
                    <a:srgbClr val="6600CC"/>
                  </a:solidFill>
                </a:rPr>
                <a:t>i </a:t>
              </a:r>
              <a:r>
                <a:rPr lang="zh-CN" altLang="en-US" sz="3200">
                  <a:ea typeface="楷体_GB2312" charset="0"/>
                </a:rPr>
                <a:t>个元素之前插入的概率为      ，</a:t>
              </a:r>
              <a:r>
                <a:rPr lang="zh-CN" altLang="en-US" sz="3200"/>
                <a:t>      </a:t>
              </a:r>
              <a:endParaRPr lang="zh-CN" altLang="en-US" sz="3200"/>
            </a:p>
            <a:p>
              <a:pPr eaLnBrk="1" hangingPunct="1">
                <a:lnSpc>
                  <a:spcPct val="120000"/>
                </a:lnSpc>
                <a:defRPr/>
              </a:pPr>
              <a:r>
                <a:rPr lang="zh-CN" altLang="en-US" sz="3200">
                  <a:ea typeface="楷体_GB2312" charset="0"/>
                </a:rPr>
                <a:t>则在长度为</a:t>
              </a:r>
              <a:r>
                <a:rPr lang="en-US" altLang="zh-CN" sz="3200" i="1">
                  <a:solidFill>
                    <a:srgbClr val="6600CC"/>
                  </a:solidFill>
                </a:rPr>
                <a:t>n </a:t>
              </a:r>
              <a:r>
                <a:rPr lang="zh-CN" altLang="en-US" sz="3200">
                  <a:ea typeface="楷体_GB2312" charset="0"/>
                </a:rPr>
                <a:t>的线性表中</a:t>
              </a:r>
              <a:r>
                <a:rPr lang="zh-CN" altLang="en-US" sz="3200" b="1">
                  <a:solidFill>
                    <a:srgbClr val="990000"/>
                  </a:solidFill>
                  <a:ea typeface="楷体_GB2312" charset="0"/>
                </a:rPr>
                <a:t>插入一个元素所需移动元素次数的期望值</a:t>
              </a:r>
              <a:r>
                <a:rPr lang="zh-CN" altLang="en-US" sz="3200">
                  <a:ea typeface="楷体_GB2312" charset="0"/>
                </a:rPr>
                <a:t>为：</a:t>
              </a:r>
              <a:endParaRPr lang="zh-CN" altLang="en-US" sz="4000"/>
            </a:p>
          </p:txBody>
        </p:sp>
        <p:graphicFrame>
          <p:nvGraphicFramePr>
            <p:cNvPr id="67592" name="Object 5"/>
            <p:cNvGraphicFramePr>
              <a:graphicFrameLocks noChangeAspect="1"/>
            </p:cNvGraphicFramePr>
            <p:nvPr/>
          </p:nvGraphicFramePr>
          <p:xfrm>
            <a:off x="4737" y="576"/>
            <a:ext cx="255" cy="335"/>
          </p:xfrm>
          <a:graphic>
            <a:graphicData uri="http://schemas.openxmlformats.org/presentationml/2006/ole">
              <mc:AlternateContent xmlns:mc="http://schemas.openxmlformats.org/markup-compatibility/2006">
                <mc:Choice xmlns:v="urn:schemas-microsoft-com:vml" Requires="v">
                  <p:oleObj spid="_x0000_s59427" name="公式" r:id="rId1" imgW="406400" imgH="533400" progId="Equation.3">
                    <p:embed/>
                  </p:oleObj>
                </mc:Choice>
                <mc:Fallback>
                  <p:oleObj name="公式" r:id="rId1" imgW="406400" imgH="533400" progId="Equation.3">
                    <p:embed/>
                    <p:pic>
                      <p:nvPicPr>
                        <p:cNvPr id="0" name="图片 594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7" y="576"/>
                          <a:ext cx="255" cy="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pSp>
      <p:graphicFrame>
        <p:nvGraphicFramePr>
          <p:cNvPr id="940038" name="Object 6"/>
          <p:cNvGraphicFramePr>
            <a:graphicFrameLocks noChangeAspect="1"/>
          </p:cNvGraphicFramePr>
          <p:nvPr/>
        </p:nvGraphicFramePr>
        <p:xfrm>
          <a:off x="2362200" y="2870200"/>
          <a:ext cx="3530600" cy="990600"/>
        </p:xfrm>
        <a:graphic>
          <a:graphicData uri="http://schemas.openxmlformats.org/presentationml/2006/ole">
            <mc:AlternateContent xmlns:mc="http://schemas.openxmlformats.org/markup-compatibility/2006">
              <mc:Choice xmlns:v="urn:schemas-microsoft-com:vml" Requires="v">
                <p:oleObj spid="_x0000_s59428" name="公式" r:id="rId3" imgW="3530600" imgH="990600" progId="Equation.3">
                  <p:embed/>
                </p:oleObj>
              </mc:Choice>
              <mc:Fallback>
                <p:oleObj name="公式" r:id="rId3" imgW="3530600" imgH="990600" progId="Equation.3">
                  <p:embed/>
                  <p:pic>
                    <p:nvPicPr>
                      <p:cNvPr id="0" name="图片 594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2870200"/>
                        <a:ext cx="3530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940039" name="Object 7"/>
          <p:cNvGraphicFramePr>
            <a:graphicFrameLocks noChangeAspect="1"/>
          </p:cNvGraphicFramePr>
          <p:nvPr/>
        </p:nvGraphicFramePr>
        <p:xfrm>
          <a:off x="2286000" y="5511800"/>
          <a:ext cx="4000500" cy="1041400"/>
        </p:xfrm>
        <a:graphic>
          <a:graphicData uri="http://schemas.openxmlformats.org/presentationml/2006/ole">
            <mc:AlternateContent xmlns:mc="http://schemas.openxmlformats.org/markup-compatibility/2006">
              <mc:Choice xmlns:v="urn:schemas-microsoft-com:vml" Requires="v">
                <p:oleObj spid="_x0000_s59429" name="公式" r:id="rId5" imgW="4000500" imgH="1041400" progId="Equation.3">
                  <p:embed/>
                </p:oleObj>
              </mc:Choice>
              <mc:Fallback>
                <p:oleObj name="公式" r:id="rId5" imgW="4000500" imgH="1041400" progId="Equation.3">
                  <p:embed/>
                  <p:pic>
                    <p:nvPicPr>
                      <p:cNvPr id="0" name="图片 594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5511800"/>
                        <a:ext cx="40005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940040" name="Object 8"/>
          <p:cNvGraphicFramePr>
            <a:graphicFrameLocks noChangeAspect="1"/>
          </p:cNvGraphicFramePr>
          <p:nvPr/>
        </p:nvGraphicFramePr>
        <p:xfrm>
          <a:off x="6502400" y="5486400"/>
          <a:ext cx="660400" cy="1041400"/>
        </p:xfrm>
        <a:graphic>
          <a:graphicData uri="http://schemas.openxmlformats.org/presentationml/2006/ole">
            <mc:AlternateContent xmlns:mc="http://schemas.openxmlformats.org/markup-compatibility/2006">
              <mc:Choice xmlns:v="urn:schemas-microsoft-com:vml" Requires="v">
                <p:oleObj spid="_x0000_s59430" name="公式" r:id="rId7" imgW="660400" imgH="1040765" progId="Equation.3">
                  <p:embed/>
                </p:oleObj>
              </mc:Choice>
              <mc:Fallback>
                <p:oleObj name="公式" r:id="rId7" imgW="660400" imgH="1040765" progId="Equation.3">
                  <p:embed/>
                  <p:pic>
                    <p:nvPicPr>
                      <p:cNvPr id="0" name="图片 594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2400" y="5486400"/>
                        <a:ext cx="6604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940041" name="Text Box 9"/>
          <p:cNvSpPr txBox="1">
            <a:spLocks noChangeArrowheads="1"/>
          </p:cNvSpPr>
          <p:nvPr/>
        </p:nvSpPr>
        <p:spPr bwMode="auto">
          <a:xfrm>
            <a:off x="685800" y="3998913"/>
            <a:ext cx="8534400" cy="1335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a:ea typeface="楷体_GB2312" charset="0"/>
              </a:rPr>
              <a:t>    若</a:t>
            </a:r>
            <a:r>
              <a:rPr lang="zh-CN" altLang="en-US" sz="3200" b="1">
                <a:ea typeface="楷体_GB2312" charset="0"/>
              </a:rPr>
              <a:t>假定</a:t>
            </a:r>
            <a:r>
              <a:rPr lang="zh-CN" altLang="en-US" sz="3200">
                <a:ea typeface="楷体_GB2312" charset="0"/>
              </a:rPr>
              <a:t>在线性表中任何一个位置上进行</a:t>
            </a:r>
            <a:r>
              <a:rPr lang="zh-CN" altLang="en-US" sz="3200" b="1">
                <a:solidFill>
                  <a:srgbClr val="990000"/>
                </a:solidFill>
                <a:ea typeface="楷体_GB2312" charset="0"/>
              </a:rPr>
              <a:t>插入的概率</a:t>
            </a:r>
            <a:r>
              <a:rPr lang="zh-CN" altLang="en-US" sz="3200">
                <a:ea typeface="楷体_GB2312" charset="0"/>
              </a:rPr>
              <a:t>都是</a:t>
            </a:r>
            <a:r>
              <a:rPr lang="zh-CN" altLang="en-US" sz="3200" b="1">
                <a:solidFill>
                  <a:srgbClr val="990000"/>
                </a:solidFill>
                <a:ea typeface="楷体_GB2312" charset="0"/>
              </a:rPr>
              <a:t>相等</a:t>
            </a:r>
            <a:r>
              <a:rPr lang="zh-CN" altLang="en-US" sz="3200">
                <a:ea typeface="楷体_GB2312" charset="0"/>
              </a:rPr>
              <a:t>的，则</a:t>
            </a:r>
            <a:r>
              <a:rPr lang="zh-CN" altLang="en-US" sz="3200" b="1">
                <a:solidFill>
                  <a:srgbClr val="990000"/>
                </a:solidFill>
                <a:ea typeface="楷体_GB2312" charset="0"/>
              </a:rPr>
              <a:t>移动元素的期望值</a:t>
            </a:r>
            <a:r>
              <a:rPr lang="zh-CN" altLang="en-US" sz="3200">
                <a:ea typeface="楷体_GB2312" charset="0"/>
              </a:rPr>
              <a:t>为</a:t>
            </a:r>
            <a:r>
              <a:rPr lang="zh-CN" altLang="en-US" sz="3600"/>
              <a:t>：</a:t>
            </a:r>
            <a:endParaRPr lang="zh-CN" altLang="en-US"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40034"/>
                                        </p:tgtEl>
                                        <p:attrNameLst>
                                          <p:attrName>style.visibility</p:attrName>
                                        </p:attrNameLst>
                                      </p:cBhvr>
                                      <p:to>
                                        <p:strVal val="visible"/>
                                      </p:to>
                                    </p:set>
                                    <p:anim calcmode="lin" valueType="num">
                                      <p:cBhvr additive="base">
                                        <p:cTn id="7" dur="500" fill="hold"/>
                                        <p:tgtEl>
                                          <p:spTgt spid="940034"/>
                                        </p:tgtEl>
                                        <p:attrNameLst>
                                          <p:attrName>ppt_x</p:attrName>
                                        </p:attrNameLst>
                                      </p:cBhvr>
                                      <p:tavLst>
                                        <p:tav tm="0">
                                          <p:val>
                                            <p:strVal val="#ppt_x"/>
                                          </p:val>
                                        </p:tav>
                                        <p:tav tm="100000">
                                          <p:val>
                                            <p:strVal val="#ppt_x"/>
                                          </p:val>
                                        </p:tav>
                                      </p:tavLst>
                                    </p:anim>
                                    <p:anim calcmode="lin" valueType="num">
                                      <p:cBhvr additive="base">
                                        <p:cTn id="8" dur="500" fill="hold"/>
                                        <p:tgtEl>
                                          <p:spTgt spid="94003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40035"/>
                                        </p:tgtEl>
                                        <p:attrNameLst>
                                          <p:attrName>style.visibility</p:attrName>
                                        </p:attrNameLst>
                                      </p:cBhvr>
                                      <p:to>
                                        <p:strVal val="visible"/>
                                      </p:to>
                                    </p:set>
                                    <p:animEffect transition="in" filter="wipe(left)">
                                      <p:cBhvr>
                                        <p:cTn id="13" dur="500"/>
                                        <p:tgtEl>
                                          <p:spTgt spid="940035"/>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940038"/>
                                        </p:tgtEl>
                                        <p:attrNameLst>
                                          <p:attrName>style.visibility</p:attrName>
                                        </p:attrNameLst>
                                      </p:cBhvr>
                                      <p:to>
                                        <p:strVal val="visible"/>
                                      </p:to>
                                    </p:set>
                                    <p:animEffect transition="in" filter="checkerboard(across)">
                                      <p:cBhvr>
                                        <p:cTn id="18" dur="500"/>
                                        <p:tgtEl>
                                          <p:spTgt spid="940038"/>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940041"/>
                                        </p:tgtEl>
                                        <p:attrNameLst>
                                          <p:attrName>style.visibility</p:attrName>
                                        </p:attrNameLst>
                                      </p:cBhvr>
                                      <p:to>
                                        <p:strVal val="visible"/>
                                      </p:to>
                                    </p:set>
                                    <p:animEffect transition="in" filter="strips(downRight)">
                                      <p:cBhvr>
                                        <p:cTn id="23" dur="500"/>
                                        <p:tgtEl>
                                          <p:spTgt spid="94004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940039"/>
                                        </p:tgtEl>
                                        <p:attrNameLst>
                                          <p:attrName>style.visibility</p:attrName>
                                        </p:attrNameLst>
                                      </p:cBhvr>
                                      <p:to>
                                        <p:strVal val="visible"/>
                                      </p:to>
                                    </p:set>
                                    <p:animEffect transition="in" filter="wipe(left)">
                                      <p:cBhvr>
                                        <p:cTn id="28" dur="500"/>
                                        <p:tgtEl>
                                          <p:spTgt spid="94003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940040"/>
                                        </p:tgtEl>
                                        <p:attrNameLst>
                                          <p:attrName>style.visibility</p:attrName>
                                        </p:attrNameLst>
                                      </p:cBhvr>
                                      <p:to>
                                        <p:strVal val="visible"/>
                                      </p:to>
                                    </p:set>
                                    <p:animEffect transition="in" filter="wipe(left)">
                                      <p:cBhvr>
                                        <p:cTn id="33" dur="500"/>
                                        <p:tgtEl>
                                          <p:spTgt spid="940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0034" grpId="0" autoUpdateAnimBg="0"/>
      <p:bldP spid="940041"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1058" name="Group 2"/>
          <p:cNvGrpSpPr/>
          <p:nvPr/>
        </p:nvGrpSpPr>
        <p:grpSpPr bwMode="auto">
          <a:xfrm>
            <a:off x="300162" y="4191000"/>
            <a:ext cx="7543800" cy="641350"/>
            <a:chOff x="576" y="2160"/>
            <a:chExt cx="4752" cy="404"/>
          </a:xfrm>
        </p:grpSpPr>
        <p:sp>
          <p:nvSpPr>
            <p:cNvPr id="941059" name="Text Box 3"/>
            <p:cNvSpPr txBox="1">
              <a:spLocks noChangeArrowheads="1"/>
            </p:cNvSpPr>
            <p:nvPr/>
          </p:nvSpPr>
          <p:spPr bwMode="auto">
            <a:xfrm>
              <a:off x="614" y="2160"/>
              <a:ext cx="298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660033"/>
                  </a:solidFill>
                </a:rPr>
                <a:t>21  18  30  75  42  56  87</a:t>
              </a:r>
              <a:endParaRPr lang="en-US" altLang="zh-CN" sz="2800" dirty="0"/>
            </a:p>
          </p:txBody>
        </p:sp>
        <p:grpSp>
          <p:nvGrpSpPr>
            <p:cNvPr id="68651" name="Group 4"/>
            <p:cNvGrpSpPr/>
            <p:nvPr/>
          </p:nvGrpSpPr>
          <p:grpSpPr bwMode="auto">
            <a:xfrm>
              <a:off x="576" y="2180"/>
              <a:ext cx="4752" cy="384"/>
              <a:chOff x="576" y="2448"/>
              <a:chExt cx="4752" cy="384"/>
            </a:xfrm>
          </p:grpSpPr>
          <p:sp>
            <p:nvSpPr>
              <p:cNvPr id="941061" name="Rectangle 5"/>
              <p:cNvSpPr>
                <a:spLocks noChangeArrowheads="1"/>
              </p:cNvSpPr>
              <p:nvPr/>
            </p:nvSpPr>
            <p:spPr bwMode="auto">
              <a:xfrm>
                <a:off x="576" y="2448"/>
                <a:ext cx="4752" cy="384"/>
              </a:xfrm>
              <a:prstGeom prst="rect">
                <a:avLst/>
              </a:prstGeom>
              <a:noFill/>
              <a:ln w="9525">
                <a:solidFill>
                  <a:srgbClr val="6600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2" name="Line 6"/>
              <p:cNvSpPr>
                <a:spLocks noChangeShapeType="1"/>
              </p:cNvSpPr>
              <p:nvPr/>
            </p:nvSpPr>
            <p:spPr bwMode="auto">
              <a:xfrm>
                <a:off x="100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3" name="Line 7"/>
              <p:cNvSpPr>
                <a:spLocks noChangeShapeType="1"/>
              </p:cNvSpPr>
              <p:nvPr/>
            </p:nvSpPr>
            <p:spPr bwMode="auto">
              <a:xfrm>
                <a:off x="144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4" name="Line 8"/>
              <p:cNvSpPr>
                <a:spLocks noChangeShapeType="1"/>
              </p:cNvSpPr>
              <p:nvPr/>
            </p:nvSpPr>
            <p:spPr bwMode="auto">
              <a:xfrm>
                <a:off x="187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5" name="Line 9"/>
              <p:cNvSpPr>
                <a:spLocks noChangeShapeType="1"/>
              </p:cNvSpPr>
              <p:nvPr/>
            </p:nvSpPr>
            <p:spPr bwMode="auto">
              <a:xfrm>
                <a:off x="2304"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6" name="Line 10"/>
              <p:cNvSpPr>
                <a:spLocks noChangeShapeType="1"/>
              </p:cNvSpPr>
              <p:nvPr/>
            </p:nvSpPr>
            <p:spPr bwMode="auto">
              <a:xfrm>
                <a:off x="273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7" name="Line 11"/>
              <p:cNvSpPr>
                <a:spLocks noChangeShapeType="1"/>
              </p:cNvSpPr>
              <p:nvPr/>
            </p:nvSpPr>
            <p:spPr bwMode="auto">
              <a:xfrm>
                <a:off x="316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8" name="Line 12"/>
              <p:cNvSpPr>
                <a:spLocks noChangeShapeType="1"/>
              </p:cNvSpPr>
              <p:nvPr/>
            </p:nvSpPr>
            <p:spPr bwMode="auto">
              <a:xfrm>
                <a:off x="360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9" name="Line 13"/>
              <p:cNvSpPr>
                <a:spLocks noChangeShapeType="1"/>
              </p:cNvSpPr>
              <p:nvPr/>
            </p:nvSpPr>
            <p:spPr bwMode="auto">
              <a:xfrm>
                <a:off x="489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0" name="Line 14"/>
              <p:cNvSpPr>
                <a:spLocks noChangeShapeType="1"/>
              </p:cNvSpPr>
              <p:nvPr/>
            </p:nvSpPr>
            <p:spPr bwMode="auto">
              <a:xfrm>
                <a:off x="403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grpSp>
        <p:nvGrpSpPr>
          <p:cNvPr id="941071" name="Group 15"/>
          <p:cNvGrpSpPr/>
          <p:nvPr/>
        </p:nvGrpSpPr>
        <p:grpSpPr bwMode="auto">
          <a:xfrm>
            <a:off x="300162" y="5607050"/>
            <a:ext cx="7543800" cy="641350"/>
            <a:chOff x="576" y="3052"/>
            <a:chExt cx="4752" cy="404"/>
          </a:xfrm>
        </p:grpSpPr>
        <p:grpSp>
          <p:nvGrpSpPr>
            <p:cNvPr id="68638" name="Group 16"/>
            <p:cNvGrpSpPr/>
            <p:nvPr/>
          </p:nvGrpSpPr>
          <p:grpSpPr bwMode="auto">
            <a:xfrm>
              <a:off x="576" y="3072"/>
              <a:ext cx="4752" cy="384"/>
              <a:chOff x="576" y="2448"/>
              <a:chExt cx="4752" cy="384"/>
            </a:xfrm>
          </p:grpSpPr>
          <p:sp>
            <p:nvSpPr>
              <p:cNvPr id="941073" name="Rectangle 17"/>
              <p:cNvSpPr>
                <a:spLocks noChangeArrowheads="1"/>
              </p:cNvSpPr>
              <p:nvPr/>
            </p:nvSpPr>
            <p:spPr bwMode="auto">
              <a:xfrm>
                <a:off x="576" y="2448"/>
                <a:ext cx="4752" cy="384"/>
              </a:xfrm>
              <a:prstGeom prst="rect">
                <a:avLst/>
              </a:prstGeom>
              <a:noFill/>
              <a:ln w="9525">
                <a:solidFill>
                  <a:srgbClr val="6600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4" name="Line 18"/>
              <p:cNvSpPr>
                <a:spLocks noChangeShapeType="1"/>
              </p:cNvSpPr>
              <p:nvPr/>
            </p:nvSpPr>
            <p:spPr bwMode="auto">
              <a:xfrm>
                <a:off x="100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5" name="Line 19"/>
              <p:cNvSpPr>
                <a:spLocks noChangeShapeType="1"/>
              </p:cNvSpPr>
              <p:nvPr/>
            </p:nvSpPr>
            <p:spPr bwMode="auto">
              <a:xfrm>
                <a:off x="144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6" name="Line 20"/>
              <p:cNvSpPr>
                <a:spLocks noChangeShapeType="1"/>
              </p:cNvSpPr>
              <p:nvPr/>
            </p:nvSpPr>
            <p:spPr bwMode="auto">
              <a:xfrm>
                <a:off x="187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7" name="Line 21"/>
              <p:cNvSpPr>
                <a:spLocks noChangeShapeType="1"/>
              </p:cNvSpPr>
              <p:nvPr/>
            </p:nvSpPr>
            <p:spPr bwMode="auto">
              <a:xfrm>
                <a:off x="2304"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8" name="Line 22"/>
              <p:cNvSpPr>
                <a:spLocks noChangeShapeType="1"/>
              </p:cNvSpPr>
              <p:nvPr/>
            </p:nvSpPr>
            <p:spPr bwMode="auto">
              <a:xfrm>
                <a:off x="273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9" name="Line 23"/>
              <p:cNvSpPr>
                <a:spLocks noChangeShapeType="1"/>
              </p:cNvSpPr>
              <p:nvPr/>
            </p:nvSpPr>
            <p:spPr bwMode="auto">
              <a:xfrm>
                <a:off x="316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80" name="Line 24"/>
              <p:cNvSpPr>
                <a:spLocks noChangeShapeType="1"/>
              </p:cNvSpPr>
              <p:nvPr/>
            </p:nvSpPr>
            <p:spPr bwMode="auto">
              <a:xfrm>
                <a:off x="360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81" name="Line 25"/>
              <p:cNvSpPr>
                <a:spLocks noChangeShapeType="1"/>
              </p:cNvSpPr>
              <p:nvPr/>
            </p:nvSpPr>
            <p:spPr bwMode="auto">
              <a:xfrm>
                <a:off x="489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82" name="Line 26"/>
              <p:cNvSpPr>
                <a:spLocks noChangeShapeType="1"/>
              </p:cNvSpPr>
              <p:nvPr/>
            </p:nvSpPr>
            <p:spPr bwMode="auto">
              <a:xfrm>
                <a:off x="403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41083" name="Text Box 27"/>
            <p:cNvSpPr txBox="1">
              <a:spLocks noChangeArrowheads="1"/>
            </p:cNvSpPr>
            <p:nvPr/>
          </p:nvSpPr>
          <p:spPr bwMode="auto">
            <a:xfrm>
              <a:off x="604" y="3052"/>
              <a:ext cx="169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660033"/>
                  </a:solidFill>
                </a:rPr>
                <a:t>21  18  30  75</a:t>
              </a:r>
              <a:endParaRPr lang="en-US" altLang="zh-CN" sz="2800" dirty="0"/>
            </a:p>
          </p:txBody>
        </p:sp>
      </p:grpSp>
      <p:sp>
        <p:nvSpPr>
          <p:cNvPr id="941084" name="Text Box 28"/>
          <p:cNvSpPr txBox="1">
            <a:spLocks noChangeArrowheads="1"/>
          </p:cNvSpPr>
          <p:nvPr/>
        </p:nvSpPr>
        <p:spPr bwMode="auto">
          <a:xfrm>
            <a:off x="909762" y="381000"/>
            <a:ext cx="5861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660033"/>
                </a:solidFill>
              </a:rPr>
              <a:t>例如：</a:t>
            </a:r>
            <a:r>
              <a:rPr lang="en-US" altLang="zh-CN" sz="3600">
                <a:solidFill>
                  <a:srgbClr val="660033"/>
                </a:solidFill>
              </a:rPr>
              <a:t>ListInsert_Sq(L, 5, 66)</a:t>
            </a:r>
            <a:r>
              <a:rPr lang="en-US" altLang="zh-CN" sz="3600"/>
              <a:t> </a:t>
            </a:r>
            <a:endParaRPr lang="en-US" altLang="zh-CN" sz="3600"/>
          </a:p>
        </p:txBody>
      </p:sp>
      <p:sp>
        <p:nvSpPr>
          <p:cNvPr id="941085" name="Text Box 29"/>
          <p:cNvSpPr txBox="1">
            <a:spLocks noChangeArrowheads="1"/>
          </p:cNvSpPr>
          <p:nvPr/>
        </p:nvSpPr>
        <p:spPr bwMode="auto">
          <a:xfrm>
            <a:off x="4110162" y="4800600"/>
            <a:ext cx="13049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b="1">
                <a:solidFill>
                  <a:srgbClr val="CC0000"/>
                </a:solidFill>
              </a:rPr>
              <a:t>L.length-1</a:t>
            </a:r>
            <a:endParaRPr lang="en-US" altLang="zh-CN" sz="3600"/>
          </a:p>
        </p:txBody>
      </p:sp>
      <p:sp>
        <p:nvSpPr>
          <p:cNvPr id="941086" name="Text Box 30"/>
          <p:cNvSpPr txBox="1">
            <a:spLocks noChangeArrowheads="1"/>
          </p:cNvSpPr>
          <p:nvPr/>
        </p:nvSpPr>
        <p:spPr bwMode="auto">
          <a:xfrm>
            <a:off x="497012" y="4800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rgbClr val="CC0000"/>
                </a:solidFill>
              </a:rPr>
              <a:t>0</a:t>
            </a:r>
            <a:endParaRPr lang="en-US" altLang="zh-CN" sz="3600"/>
          </a:p>
        </p:txBody>
      </p:sp>
      <p:grpSp>
        <p:nvGrpSpPr>
          <p:cNvPr id="941087" name="Group 31"/>
          <p:cNvGrpSpPr/>
          <p:nvPr/>
        </p:nvGrpSpPr>
        <p:grpSpPr bwMode="auto">
          <a:xfrm>
            <a:off x="4843587" y="3371850"/>
            <a:ext cx="409575" cy="819150"/>
            <a:chOff x="3302" y="1644"/>
            <a:chExt cx="258" cy="516"/>
          </a:xfrm>
        </p:grpSpPr>
        <p:sp>
          <p:nvSpPr>
            <p:cNvPr id="941088" name="Line 32"/>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89" name="Text Box 33"/>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grpSp>
        <p:nvGrpSpPr>
          <p:cNvPr id="941090" name="Group 34"/>
          <p:cNvGrpSpPr/>
          <p:nvPr/>
        </p:nvGrpSpPr>
        <p:grpSpPr bwMode="auto">
          <a:xfrm>
            <a:off x="4186362" y="3371850"/>
            <a:ext cx="409575" cy="819150"/>
            <a:chOff x="3302" y="1644"/>
            <a:chExt cx="258" cy="516"/>
          </a:xfrm>
        </p:grpSpPr>
        <p:sp>
          <p:nvSpPr>
            <p:cNvPr id="941091" name="Line 35"/>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92" name="Text Box 36"/>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grpSp>
        <p:nvGrpSpPr>
          <p:cNvPr id="941093" name="Group 37"/>
          <p:cNvGrpSpPr/>
          <p:nvPr/>
        </p:nvGrpSpPr>
        <p:grpSpPr bwMode="auto">
          <a:xfrm>
            <a:off x="3548187" y="3352800"/>
            <a:ext cx="409575" cy="819150"/>
            <a:chOff x="3302" y="1644"/>
            <a:chExt cx="258" cy="516"/>
          </a:xfrm>
        </p:grpSpPr>
        <p:sp>
          <p:nvSpPr>
            <p:cNvPr id="941094" name="Line 38"/>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95" name="Text Box 39"/>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grpSp>
        <p:nvGrpSpPr>
          <p:cNvPr id="941096" name="Group 40"/>
          <p:cNvGrpSpPr/>
          <p:nvPr/>
        </p:nvGrpSpPr>
        <p:grpSpPr bwMode="auto">
          <a:xfrm>
            <a:off x="2862387" y="3295650"/>
            <a:ext cx="409575" cy="895350"/>
            <a:chOff x="2102" y="1596"/>
            <a:chExt cx="258" cy="564"/>
          </a:xfrm>
        </p:grpSpPr>
        <p:sp>
          <p:nvSpPr>
            <p:cNvPr id="941097" name="Line 41"/>
            <p:cNvSpPr>
              <a:spLocks noChangeShapeType="1"/>
            </p:cNvSpPr>
            <p:nvPr/>
          </p:nvSpPr>
          <p:spPr bwMode="auto">
            <a:xfrm>
              <a:off x="2352" y="1680"/>
              <a:ext cx="0" cy="480"/>
            </a:xfrm>
            <a:prstGeom prst="line">
              <a:avLst/>
            </a:prstGeom>
            <a:noFill/>
            <a:ln w="3810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98" name="Text Box 42"/>
            <p:cNvSpPr txBox="1">
              <a:spLocks noChangeArrowheads="1"/>
            </p:cNvSpPr>
            <p:nvPr/>
          </p:nvSpPr>
          <p:spPr bwMode="auto">
            <a:xfrm>
              <a:off x="2102" y="1596"/>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chemeClr val="tx2"/>
                  </a:solidFill>
                </a:rPr>
                <a:t>q</a:t>
              </a:r>
              <a:endParaRPr lang="en-US" altLang="zh-CN" sz="3600"/>
            </a:p>
          </p:txBody>
        </p:sp>
      </p:grpSp>
      <p:sp useBgFill="1">
        <p:nvSpPr>
          <p:cNvPr id="941099" name="Rectangle 43"/>
          <p:cNvSpPr>
            <a:spLocks noChangeArrowheads="1"/>
          </p:cNvSpPr>
          <p:nvPr/>
        </p:nvSpPr>
        <p:spPr bwMode="auto">
          <a:xfrm>
            <a:off x="4719762" y="3429000"/>
            <a:ext cx="4572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useBgFill="1">
        <p:nvSpPr>
          <p:cNvPr id="941100" name="Rectangle 44"/>
          <p:cNvSpPr>
            <a:spLocks noChangeArrowheads="1"/>
          </p:cNvSpPr>
          <p:nvPr/>
        </p:nvSpPr>
        <p:spPr bwMode="auto">
          <a:xfrm>
            <a:off x="4110162" y="3429000"/>
            <a:ext cx="4572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101" name="Text Box 45"/>
          <p:cNvSpPr txBox="1">
            <a:spLocks noChangeArrowheads="1"/>
          </p:cNvSpPr>
          <p:nvPr/>
        </p:nvSpPr>
        <p:spPr bwMode="auto">
          <a:xfrm>
            <a:off x="5145212" y="5607050"/>
            <a:ext cx="6399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990000"/>
                </a:solidFill>
              </a:rPr>
              <a:t>87</a:t>
            </a:r>
            <a:endParaRPr lang="en-US" altLang="zh-CN" sz="2800"/>
          </a:p>
        </p:txBody>
      </p:sp>
      <p:sp>
        <p:nvSpPr>
          <p:cNvPr id="941102" name="Text Box 46"/>
          <p:cNvSpPr txBox="1">
            <a:spLocks noChangeArrowheads="1"/>
          </p:cNvSpPr>
          <p:nvPr/>
        </p:nvSpPr>
        <p:spPr bwMode="auto">
          <a:xfrm>
            <a:off x="4459412" y="5607050"/>
            <a:ext cx="6399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990000"/>
                </a:solidFill>
              </a:rPr>
              <a:t>56</a:t>
            </a:r>
            <a:endParaRPr lang="en-US" altLang="zh-CN" sz="2800"/>
          </a:p>
        </p:txBody>
      </p:sp>
      <p:sp>
        <p:nvSpPr>
          <p:cNvPr id="941103" name="Text Box 47"/>
          <p:cNvSpPr txBox="1">
            <a:spLocks noChangeArrowheads="1"/>
          </p:cNvSpPr>
          <p:nvPr/>
        </p:nvSpPr>
        <p:spPr bwMode="auto">
          <a:xfrm>
            <a:off x="3773612" y="5607050"/>
            <a:ext cx="6399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990000"/>
                </a:solidFill>
              </a:rPr>
              <a:t>42</a:t>
            </a:r>
            <a:endParaRPr lang="en-US" altLang="zh-CN" sz="2800" dirty="0"/>
          </a:p>
        </p:txBody>
      </p:sp>
      <p:sp>
        <p:nvSpPr>
          <p:cNvPr id="941104" name="Text Box 48"/>
          <p:cNvSpPr txBox="1">
            <a:spLocks noChangeArrowheads="1"/>
          </p:cNvSpPr>
          <p:nvPr/>
        </p:nvSpPr>
        <p:spPr bwMode="auto">
          <a:xfrm>
            <a:off x="3087812" y="560705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dirty="0">
                <a:solidFill>
                  <a:srgbClr val="FF0000"/>
                </a:solidFill>
              </a:rPr>
              <a:t>66</a:t>
            </a:r>
            <a:endParaRPr lang="en-US" altLang="zh-CN" sz="3600" dirty="0"/>
          </a:p>
        </p:txBody>
      </p:sp>
      <p:sp>
        <p:nvSpPr>
          <p:cNvPr id="941105" name="Rectangle 49"/>
          <p:cNvSpPr>
            <a:spLocks noChangeArrowheads="1"/>
          </p:cNvSpPr>
          <p:nvPr/>
        </p:nvSpPr>
        <p:spPr bwMode="auto">
          <a:xfrm>
            <a:off x="179512" y="1279525"/>
            <a:ext cx="7704138"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en-US" altLang="zh-CN" sz="3200">
                <a:solidFill>
                  <a:schemeClr val="tx2"/>
                </a:solidFill>
              </a:rPr>
              <a:t>q = </a:t>
            </a:r>
            <a:r>
              <a:rPr lang="en-US" altLang="zh-CN" sz="3200" b="1">
                <a:solidFill>
                  <a:schemeClr val="tx2"/>
                </a:solidFill>
              </a:rPr>
              <a:t>&amp;</a:t>
            </a:r>
            <a:r>
              <a:rPr lang="en-US" altLang="zh-CN" sz="3200">
                <a:solidFill>
                  <a:schemeClr val="tx2"/>
                </a:solidFill>
              </a:rPr>
              <a:t>(L.elem[i-1]);      // q </a:t>
            </a:r>
            <a:r>
              <a:rPr lang="zh-CN" altLang="en-US" sz="3200">
                <a:solidFill>
                  <a:schemeClr val="tx2"/>
                </a:solidFill>
              </a:rPr>
              <a:t>指示插入位置</a:t>
            </a:r>
            <a:endParaRPr lang="zh-CN" altLang="en-US" sz="3200">
              <a:solidFill>
                <a:srgbClr val="990000"/>
              </a:solidFill>
            </a:endParaRPr>
          </a:p>
          <a:p>
            <a:pPr eaLnBrk="1" hangingPunct="1">
              <a:lnSpc>
                <a:spcPct val="125000"/>
              </a:lnSpc>
              <a:defRPr/>
            </a:pPr>
            <a:r>
              <a:rPr lang="en-US" altLang="zh-CN" sz="3200" b="1">
                <a:solidFill>
                  <a:srgbClr val="660033"/>
                </a:solidFill>
              </a:rPr>
              <a:t>for</a:t>
            </a:r>
            <a:r>
              <a:rPr lang="en-US" altLang="zh-CN" sz="3200">
                <a:solidFill>
                  <a:srgbClr val="660033"/>
                </a:solidFill>
              </a:rPr>
              <a:t> (p = </a:t>
            </a:r>
            <a:r>
              <a:rPr lang="en-US" altLang="zh-CN" sz="3200" b="1">
                <a:solidFill>
                  <a:srgbClr val="660033"/>
                </a:solidFill>
              </a:rPr>
              <a:t>&amp;</a:t>
            </a:r>
            <a:r>
              <a:rPr lang="en-US" altLang="zh-CN" sz="3200">
                <a:solidFill>
                  <a:srgbClr val="660033"/>
                </a:solidFill>
              </a:rPr>
              <a:t>(L.elem[L.length-1]); p &gt;= q;  --p)  </a:t>
            </a:r>
            <a:endParaRPr lang="en-US" altLang="zh-CN" sz="3200">
              <a:solidFill>
                <a:srgbClr val="660033"/>
              </a:solidFill>
            </a:endParaRPr>
          </a:p>
          <a:p>
            <a:pPr eaLnBrk="1" hangingPunct="1">
              <a:lnSpc>
                <a:spcPct val="125000"/>
              </a:lnSpc>
              <a:defRPr/>
            </a:pPr>
            <a:r>
              <a:rPr lang="en-US" altLang="zh-CN" sz="3200" b="1">
                <a:solidFill>
                  <a:srgbClr val="660033"/>
                </a:solidFill>
              </a:rPr>
              <a:t>     *</a:t>
            </a:r>
            <a:r>
              <a:rPr lang="en-US" altLang="zh-CN" sz="3200">
                <a:solidFill>
                  <a:srgbClr val="660033"/>
                </a:solidFill>
              </a:rPr>
              <a:t>(p+1) = </a:t>
            </a:r>
            <a:r>
              <a:rPr lang="en-US" altLang="zh-CN" sz="3200" b="1">
                <a:solidFill>
                  <a:srgbClr val="660033"/>
                </a:solidFill>
              </a:rPr>
              <a:t>*</a:t>
            </a:r>
            <a:r>
              <a:rPr lang="en-US" altLang="zh-CN" sz="3200">
                <a:solidFill>
                  <a:srgbClr val="660033"/>
                </a:solidFill>
              </a:rPr>
              <a:t>p;</a:t>
            </a:r>
            <a:endParaRPr lang="en-US" altLang="zh-CN" sz="3200">
              <a:solidFill>
                <a:srgbClr val="660033"/>
              </a:solidFill>
            </a:endParaRPr>
          </a:p>
        </p:txBody>
      </p:sp>
      <p:grpSp>
        <p:nvGrpSpPr>
          <p:cNvPr id="941106" name="Group 50"/>
          <p:cNvGrpSpPr/>
          <p:nvPr/>
        </p:nvGrpSpPr>
        <p:grpSpPr bwMode="auto">
          <a:xfrm>
            <a:off x="2509962" y="3352800"/>
            <a:ext cx="409575" cy="819150"/>
            <a:chOff x="3302" y="1644"/>
            <a:chExt cx="258" cy="516"/>
          </a:xfrm>
        </p:grpSpPr>
        <p:sp>
          <p:nvSpPr>
            <p:cNvPr id="941107" name="Line 51"/>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108" name="Text Box 52"/>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sp useBgFill="1">
        <p:nvSpPr>
          <p:cNvPr id="941109" name="Rectangle 53"/>
          <p:cNvSpPr>
            <a:spLocks noChangeArrowheads="1"/>
          </p:cNvSpPr>
          <p:nvPr/>
        </p:nvSpPr>
        <p:spPr bwMode="auto">
          <a:xfrm>
            <a:off x="3424362" y="3429000"/>
            <a:ext cx="4572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110" name="AutoShape 54">
            <a:hlinkClick r:id="" action="ppaction://hlinkshowjump?jump=lastslideviewed" highlightClick="1"/>
          </p:cNvPr>
          <p:cNvSpPr>
            <a:spLocks noChangeArrowheads="1"/>
          </p:cNvSpPr>
          <p:nvPr/>
        </p:nvSpPr>
        <p:spPr bwMode="auto">
          <a:xfrm>
            <a:off x="8072562" y="6400800"/>
            <a:ext cx="457200" cy="457200"/>
          </a:xfrm>
          <a:prstGeom prst="actionButtonReturn">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41084"/>
                                        </p:tgtEl>
                                        <p:attrNameLst>
                                          <p:attrName>style.visibility</p:attrName>
                                        </p:attrNameLst>
                                      </p:cBhvr>
                                      <p:to>
                                        <p:strVal val="visible"/>
                                      </p:to>
                                    </p:set>
                                    <p:anim calcmode="lin" valueType="num">
                                      <p:cBhvr additive="base">
                                        <p:cTn id="7" dur="500" fill="hold"/>
                                        <p:tgtEl>
                                          <p:spTgt spid="941084"/>
                                        </p:tgtEl>
                                        <p:attrNameLst>
                                          <p:attrName>ppt_x</p:attrName>
                                        </p:attrNameLst>
                                      </p:cBhvr>
                                      <p:tavLst>
                                        <p:tav tm="0">
                                          <p:val>
                                            <p:strVal val="#ppt_x"/>
                                          </p:val>
                                        </p:tav>
                                        <p:tav tm="100000">
                                          <p:val>
                                            <p:strVal val="#ppt_x"/>
                                          </p:val>
                                        </p:tav>
                                      </p:tavLst>
                                    </p:anim>
                                    <p:anim calcmode="lin" valueType="num">
                                      <p:cBhvr additive="base">
                                        <p:cTn id="8" dur="500" fill="hold"/>
                                        <p:tgtEl>
                                          <p:spTgt spid="94108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41058"/>
                                        </p:tgtEl>
                                        <p:attrNameLst>
                                          <p:attrName>style.visibility</p:attrName>
                                        </p:attrNameLst>
                                      </p:cBhvr>
                                      <p:to>
                                        <p:strVal val="visible"/>
                                      </p:to>
                                    </p:set>
                                    <p:animEffect transition="in" filter="wipe(left)">
                                      <p:cBhvr>
                                        <p:cTn id="13" dur="500"/>
                                        <p:tgtEl>
                                          <p:spTgt spid="94105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941105"/>
                                        </p:tgtEl>
                                        <p:attrNameLst>
                                          <p:attrName>style.visibility</p:attrName>
                                        </p:attrNameLst>
                                      </p:cBhvr>
                                      <p:to>
                                        <p:strVal val="visible"/>
                                      </p:to>
                                    </p:set>
                                    <p:animEffect transition="in" filter="blinds(vertical)">
                                      <p:cBhvr>
                                        <p:cTn id="18" dur="500"/>
                                        <p:tgtEl>
                                          <p:spTgt spid="94110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41086"/>
                                        </p:tgtEl>
                                        <p:attrNameLst>
                                          <p:attrName>style.visibility</p:attrName>
                                        </p:attrNameLst>
                                      </p:cBhvr>
                                      <p:to>
                                        <p:strVal val="visible"/>
                                      </p:to>
                                    </p:set>
                                    <p:animEffect transition="in" filter="wipe(left)">
                                      <p:cBhvr>
                                        <p:cTn id="23" dur="500"/>
                                        <p:tgtEl>
                                          <p:spTgt spid="94108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41085"/>
                                        </p:tgtEl>
                                        <p:attrNameLst>
                                          <p:attrName>style.visibility</p:attrName>
                                        </p:attrNameLst>
                                      </p:cBhvr>
                                      <p:to>
                                        <p:strVal val="visible"/>
                                      </p:to>
                                    </p:set>
                                    <p:animEffect transition="in" filter="wipe(left)">
                                      <p:cBhvr>
                                        <p:cTn id="28" dur="500"/>
                                        <p:tgtEl>
                                          <p:spTgt spid="94108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941096"/>
                                        </p:tgtEl>
                                        <p:attrNameLst>
                                          <p:attrName>style.visibility</p:attrName>
                                        </p:attrNameLst>
                                      </p:cBhvr>
                                      <p:to>
                                        <p:strVal val="visible"/>
                                      </p:to>
                                    </p:set>
                                    <p:animEffect transition="in" filter="wipe(up)">
                                      <p:cBhvr>
                                        <p:cTn id="33" dur="500"/>
                                        <p:tgtEl>
                                          <p:spTgt spid="94109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941087"/>
                                        </p:tgtEl>
                                        <p:attrNameLst>
                                          <p:attrName>style.visibility</p:attrName>
                                        </p:attrNameLst>
                                      </p:cBhvr>
                                      <p:to>
                                        <p:strVal val="visible"/>
                                      </p:to>
                                    </p:set>
                                    <p:animEffect transition="in" filter="wipe(up)">
                                      <p:cBhvr>
                                        <p:cTn id="38" dur="500"/>
                                        <p:tgtEl>
                                          <p:spTgt spid="94108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941071"/>
                                        </p:tgtEl>
                                        <p:attrNameLst>
                                          <p:attrName>style.visibility</p:attrName>
                                        </p:attrNameLst>
                                      </p:cBhvr>
                                      <p:to>
                                        <p:strVal val="visible"/>
                                      </p:to>
                                    </p:set>
                                    <p:animEffect transition="in" filter="wipe(left)">
                                      <p:cBhvr>
                                        <p:cTn id="43" dur="500"/>
                                        <p:tgtEl>
                                          <p:spTgt spid="94107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41101"/>
                                        </p:tgtEl>
                                        <p:attrNameLst>
                                          <p:attrName>style.visibility</p:attrName>
                                        </p:attrNameLst>
                                      </p:cBhvr>
                                      <p:to>
                                        <p:strVal val="visible"/>
                                      </p:to>
                                    </p:set>
                                    <p:animEffect transition="in" filter="wipe(left)">
                                      <p:cBhvr>
                                        <p:cTn id="48" dur="500"/>
                                        <p:tgtEl>
                                          <p:spTgt spid="94110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941099"/>
                                        </p:tgtEl>
                                        <p:attrNameLst>
                                          <p:attrName>style.visibility</p:attrName>
                                        </p:attrNameLst>
                                      </p:cBhvr>
                                      <p:to>
                                        <p:strVal val="visible"/>
                                      </p:to>
                                    </p:set>
                                    <p:animEffect transition="in" filter="wipe(right)">
                                      <p:cBhvr>
                                        <p:cTn id="53" dur="500"/>
                                        <p:tgtEl>
                                          <p:spTgt spid="941099"/>
                                        </p:tgtEl>
                                      </p:cBhvr>
                                    </p:animEffect>
                                  </p:childTnLst>
                                </p:cTn>
                              </p:par>
                            </p:childTnLst>
                          </p:cTn>
                        </p:par>
                        <p:par>
                          <p:cTn id="54" fill="hold">
                            <p:stCondLst>
                              <p:cond delay="500"/>
                            </p:stCondLst>
                            <p:childTnLst>
                              <p:par>
                                <p:cTn id="55" presetID="12" presetClass="entr" presetSubtype="2" fill="hold" nodeType="afterEffect">
                                  <p:stCondLst>
                                    <p:cond delay="0"/>
                                  </p:stCondLst>
                                  <p:childTnLst>
                                    <p:set>
                                      <p:cBhvr>
                                        <p:cTn id="56" dur="1" fill="hold">
                                          <p:stCondLst>
                                            <p:cond delay="0"/>
                                          </p:stCondLst>
                                        </p:cTn>
                                        <p:tgtEl>
                                          <p:spTgt spid="941090"/>
                                        </p:tgtEl>
                                        <p:attrNameLst>
                                          <p:attrName>style.visibility</p:attrName>
                                        </p:attrNameLst>
                                      </p:cBhvr>
                                      <p:to>
                                        <p:strVal val="visible"/>
                                      </p:to>
                                    </p:set>
                                    <p:animEffect transition="in" filter="slide(fromRight)">
                                      <p:cBhvr>
                                        <p:cTn id="57" dur="500"/>
                                        <p:tgtEl>
                                          <p:spTgt spid="94109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941102"/>
                                        </p:tgtEl>
                                        <p:attrNameLst>
                                          <p:attrName>style.visibility</p:attrName>
                                        </p:attrNameLst>
                                      </p:cBhvr>
                                      <p:to>
                                        <p:strVal val="visible"/>
                                      </p:to>
                                    </p:set>
                                    <p:animEffect transition="in" filter="wipe(left)">
                                      <p:cBhvr>
                                        <p:cTn id="62" dur="500"/>
                                        <p:tgtEl>
                                          <p:spTgt spid="94110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2" fill="hold" grpId="0" nodeType="clickEffect">
                                  <p:stCondLst>
                                    <p:cond delay="0"/>
                                  </p:stCondLst>
                                  <p:childTnLst>
                                    <p:set>
                                      <p:cBhvr>
                                        <p:cTn id="66" dur="1" fill="hold">
                                          <p:stCondLst>
                                            <p:cond delay="0"/>
                                          </p:stCondLst>
                                        </p:cTn>
                                        <p:tgtEl>
                                          <p:spTgt spid="941100"/>
                                        </p:tgtEl>
                                        <p:attrNameLst>
                                          <p:attrName>style.visibility</p:attrName>
                                        </p:attrNameLst>
                                      </p:cBhvr>
                                      <p:to>
                                        <p:strVal val="visible"/>
                                      </p:to>
                                    </p:set>
                                    <p:animEffect transition="in" filter="wipe(right)">
                                      <p:cBhvr>
                                        <p:cTn id="67" dur="500"/>
                                        <p:tgtEl>
                                          <p:spTgt spid="941100"/>
                                        </p:tgtEl>
                                      </p:cBhvr>
                                    </p:animEffect>
                                  </p:childTnLst>
                                </p:cTn>
                              </p:par>
                            </p:childTnLst>
                          </p:cTn>
                        </p:par>
                        <p:par>
                          <p:cTn id="68" fill="hold">
                            <p:stCondLst>
                              <p:cond delay="500"/>
                            </p:stCondLst>
                            <p:childTnLst>
                              <p:par>
                                <p:cTn id="69" presetID="12" presetClass="entr" presetSubtype="2" fill="hold" nodeType="afterEffect">
                                  <p:stCondLst>
                                    <p:cond delay="0"/>
                                  </p:stCondLst>
                                  <p:childTnLst>
                                    <p:set>
                                      <p:cBhvr>
                                        <p:cTn id="70" dur="1" fill="hold">
                                          <p:stCondLst>
                                            <p:cond delay="0"/>
                                          </p:stCondLst>
                                        </p:cTn>
                                        <p:tgtEl>
                                          <p:spTgt spid="941093"/>
                                        </p:tgtEl>
                                        <p:attrNameLst>
                                          <p:attrName>style.visibility</p:attrName>
                                        </p:attrNameLst>
                                      </p:cBhvr>
                                      <p:to>
                                        <p:strVal val="visible"/>
                                      </p:to>
                                    </p:set>
                                    <p:animEffect transition="in" filter="slide(fromRight)">
                                      <p:cBhvr>
                                        <p:cTn id="71" dur="500"/>
                                        <p:tgtEl>
                                          <p:spTgt spid="94109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941103"/>
                                        </p:tgtEl>
                                        <p:attrNameLst>
                                          <p:attrName>style.visibility</p:attrName>
                                        </p:attrNameLst>
                                      </p:cBhvr>
                                      <p:to>
                                        <p:strVal val="visible"/>
                                      </p:to>
                                    </p:set>
                                    <p:animEffect transition="in" filter="wipe(left)">
                                      <p:cBhvr>
                                        <p:cTn id="76" dur="500"/>
                                        <p:tgtEl>
                                          <p:spTgt spid="941103"/>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2" fill="hold" grpId="0" nodeType="clickEffect">
                                  <p:stCondLst>
                                    <p:cond delay="0"/>
                                  </p:stCondLst>
                                  <p:childTnLst>
                                    <p:set>
                                      <p:cBhvr>
                                        <p:cTn id="80" dur="1" fill="hold">
                                          <p:stCondLst>
                                            <p:cond delay="0"/>
                                          </p:stCondLst>
                                        </p:cTn>
                                        <p:tgtEl>
                                          <p:spTgt spid="941109"/>
                                        </p:tgtEl>
                                        <p:attrNameLst>
                                          <p:attrName>style.visibility</p:attrName>
                                        </p:attrNameLst>
                                      </p:cBhvr>
                                      <p:to>
                                        <p:strVal val="visible"/>
                                      </p:to>
                                    </p:set>
                                    <p:animEffect transition="in" filter="wipe(right)">
                                      <p:cBhvr>
                                        <p:cTn id="81" dur="500"/>
                                        <p:tgtEl>
                                          <p:spTgt spid="941109"/>
                                        </p:tgtEl>
                                      </p:cBhvr>
                                    </p:animEffect>
                                  </p:childTnLst>
                                </p:cTn>
                              </p:par>
                            </p:childTnLst>
                          </p:cTn>
                        </p:par>
                        <p:par>
                          <p:cTn id="82" fill="hold">
                            <p:stCondLst>
                              <p:cond delay="500"/>
                            </p:stCondLst>
                            <p:childTnLst>
                              <p:par>
                                <p:cTn id="83" presetID="12" presetClass="entr" presetSubtype="2" fill="hold" nodeType="afterEffect">
                                  <p:stCondLst>
                                    <p:cond delay="0"/>
                                  </p:stCondLst>
                                  <p:childTnLst>
                                    <p:set>
                                      <p:cBhvr>
                                        <p:cTn id="84" dur="1" fill="hold">
                                          <p:stCondLst>
                                            <p:cond delay="0"/>
                                          </p:stCondLst>
                                        </p:cTn>
                                        <p:tgtEl>
                                          <p:spTgt spid="941106"/>
                                        </p:tgtEl>
                                        <p:attrNameLst>
                                          <p:attrName>style.visibility</p:attrName>
                                        </p:attrNameLst>
                                      </p:cBhvr>
                                      <p:to>
                                        <p:strVal val="visible"/>
                                      </p:to>
                                    </p:set>
                                    <p:animEffect transition="in" filter="slide(fromRight)">
                                      <p:cBhvr>
                                        <p:cTn id="85" dur="500"/>
                                        <p:tgtEl>
                                          <p:spTgt spid="94110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941104"/>
                                        </p:tgtEl>
                                        <p:attrNameLst>
                                          <p:attrName>style.visibility</p:attrName>
                                        </p:attrNameLst>
                                      </p:cBhvr>
                                      <p:to>
                                        <p:strVal val="visible"/>
                                      </p:to>
                                    </p:set>
                                    <p:animEffect transition="in" filter="wipe(left)">
                                      <p:cBhvr>
                                        <p:cTn id="90" dur="500"/>
                                        <p:tgtEl>
                                          <p:spTgt spid="941104"/>
                                        </p:tgtEl>
                                      </p:cBhvr>
                                    </p:animEffect>
                                  </p:childTnLst>
                                </p:cTn>
                              </p:par>
                            </p:childTnLst>
                          </p:cTn>
                        </p:par>
                        <p:par>
                          <p:cTn id="91" fill="hold">
                            <p:stCondLst>
                              <p:cond delay="500"/>
                            </p:stCondLst>
                            <p:childTnLst>
                              <p:par>
                                <p:cTn id="92" presetID="2" presetClass="entr" presetSubtype="6" fill="hold" grpId="0" nodeType="afterEffect">
                                  <p:stCondLst>
                                    <p:cond delay="0"/>
                                  </p:stCondLst>
                                  <p:childTnLst>
                                    <p:set>
                                      <p:cBhvr>
                                        <p:cTn id="93" dur="1" fill="hold">
                                          <p:stCondLst>
                                            <p:cond delay="0"/>
                                          </p:stCondLst>
                                        </p:cTn>
                                        <p:tgtEl>
                                          <p:spTgt spid="941110"/>
                                        </p:tgtEl>
                                        <p:attrNameLst>
                                          <p:attrName>style.visibility</p:attrName>
                                        </p:attrNameLst>
                                      </p:cBhvr>
                                      <p:to>
                                        <p:strVal val="visible"/>
                                      </p:to>
                                    </p:set>
                                    <p:anim calcmode="lin" valueType="num">
                                      <p:cBhvr additive="base">
                                        <p:cTn id="94" dur="500" fill="hold"/>
                                        <p:tgtEl>
                                          <p:spTgt spid="941110"/>
                                        </p:tgtEl>
                                        <p:attrNameLst>
                                          <p:attrName>ppt_x</p:attrName>
                                        </p:attrNameLst>
                                      </p:cBhvr>
                                      <p:tavLst>
                                        <p:tav tm="0">
                                          <p:val>
                                            <p:strVal val="1+#ppt_w/2"/>
                                          </p:val>
                                        </p:tav>
                                        <p:tav tm="100000">
                                          <p:val>
                                            <p:strVal val="#ppt_x"/>
                                          </p:val>
                                        </p:tav>
                                      </p:tavLst>
                                    </p:anim>
                                    <p:anim calcmode="lin" valueType="num">
                                      <p:cBhvr additive="base">
                                        <p:cTn id="95" dur="500" fill="hold"/>
                                        <p:tgtEl>
                                          <p:spTgt spid="9411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1084" grpId="0" autoUpdateAnimBg="0"/>
      <p:bldP spid="941085" grpId="0" autoUpdateAnimBg="0"/>
      <p:bldP spid="941086" grpId="0" autoUpdateAnimBg="0"/>
      <p:bldP spid="941099" grpId="0" animBg="1"/>
      <p:bldP spid="941100" grpId="0" animBg="1"/>
      <p:bldP spid="941101" grpId="0" autoUpdateAnimBg="0"/>
      <p:bldP spid="941102" grpId="0" autoUpdateAnimBg="0"/>
      <p:bldP spid="941103" grpId="0" autoUpdateAnimBg="0"/>
      <p:bldP spid="941104" grpId="0" autoUpdateAnimBg="0"/>
      <p:bldP spid="941105" grpId="0" autoUpdateAnimBg="0"/>
      <p:bldP spid="941109" grpId="0" animBg="1"/>
      <p:bldP spid="9411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2" name="Text Box 2"/>
          <p:cNvSpPr txBox="1">
            <a:spLocks noChangeArrowheads="1"/>
          </p:cNvSpPr>
          <p:nvPr/>
        </p:nvSpPr>
        <p:spPr bwMode="auto">
          <a:xfrm>
            <a:off x="381000" y="1079500"/>
            <a:ext cx="8732838" cy="196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40000"/>
              </a:lnSpc>
              <a:defRPr/>
            </a:pPr>
            <a:r>
              <a:rPr lang="zh-CN" altLang="en-US" sz="4400">
                <a:ea typeface="楷体_GB2312" charset="0"/>
              </a:rPr>
              <a:t>线性表操作</a:t>
            </a:r>
            <a:endParaRPr lang="zh-CN" altLang="en-US" sz="4400">
              <a:ea typeface="楷体_GB2312" charset="0"/>
            </a:endParaRPr>
          </a:p>
          <a:p>
            <a:pPr eaLnBrk="1" hangingPunct="1">
              <a:lnSpc>
                <a:spcPct val="140000"/>
              </a:lnSpc>
              <a:defRPr/>
            </a:pPr>
            <a:r>
              <a:rPr lang="zh-CN" altLang="en-US" sz="4400">
                <a:ea typeface="楷体_GB2312" charset="0"/>
              </a:rPr>
              <a:t>         </a:t>
            </a:r>
            <a:r>
              <a:rPr lang="en-US" altLang="zh-CN" sz="4400" b="1">
                <a:solidFill>
                  <a:srgbClr val="003399"/>
                </a:solidFill>
                <a:ea typeface="楷体_GB2312" charset="0"/>
              </a:rPr>
              <a:t>ListDelete</a:t>
            </a:r>
            <a:r>
              <a:rPr lang="en-US" altLang="zh-CN" sz="4400" b="1">
                <a:solidFill>
                  <a:srgbClr val="003399"/>
                </a:solidFill>
              </a:rPr>
              <a:t>(&amp;L, i, &amp;e)</a:t>
            </a:r>
            <a:r>
              <a:rPr lang="zh-CN" altLang="en-US" sz="4400">
                <a:ea typeface="楷体_GB2312" charset="0"/>
              </a:rPr>
              <a:t>的实现</a:t>
            </a:r>
            <a:r>
              <a:rPr lang="zh-CN" altLang="en-US" sz="4400"/>
              <a:t>：</a:t>
            </a:r>
            <a:endParaRPr lang="zh-CN" altLang="en-US" sz="2400"/>
          </a:p>
        </p:txBody>
      </p:sp>
      <p:sp>
        <p:nvSpPr>
          <p:cNvPr id="942083" name="Text Box 3"/>
          <p:cNvSpPr txBox="1">
            <a:spLocks noChangeArrowheads="1"/>
          </p:cNvSpPr>
          <p:nvPr/>
        </p:nvSpPr>
        <p:spPr bwMode="auto">
          <a:xfrm>
            <a:off x="381000" y="3200400"/>
            <a:ext cx="2978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FF0000"/>
                </a:solidFill>
                <a:ea typeface="楷体_GB2312" charset="0"/>
              </a:rPr>
              <a:t>首先分析：</a:t>
            </a:r>
            <a:endParaRPr lang="zh-CN" altLang="en-US" sz="2400">
              <a:solidFill>
                <a:srgbClr val="FF0000"/>
              </a:solidFill>
              <a:ea typeface="楷体_GB2312" charset="0"/>
            </a:endParaRPr>
          </a:p>
        </p:txBody>
      </p:sp>
      <p:sp>
        <p:nvSpPr>
          <p:cNvPr id="942084" name="Text Box 4"/>
          <p:cNvSpPr txBox="1">
            <a:spLocks noChangeArrowheads="1"/>
          </p:cNvSpPr>
          <p:nvPr/>
        </p:nvSpPr>
        <p:spPr bwMode="auto">
          <a:xfrm>
            <a:off x="990600" y="4022725"/>
            <a:ext cx="78041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zh-CN" altLang="en-US" sz="4000">
                <a:ea typeface="楷体_GB2312" charset="0"/>
              </a:rPr>
              <a:t>删除元素时，</a:t>
            </a:r>
            <a:endParaRPr lang="zh-CN" altLang="en-US" sz="4000">
              <a:ea typeface="楷体_GB2312" charset="0"/>
            </a:endParaRPr>
          </a:p>
          <a:p>
            <a:pPr eaLnBrk="1" hangingPunct="1">
              <a:lnSpc>
                <a:spcPct val="125000"/>
              </a:lnSpc>
              <a:defRPr/>
            </a:pPr>
            <a:r>
              <a:rPr lang="zh-CN" altLang="en-US" sz="4000">
                <a:ea typeface="楷体_GB2312" charset="0"/>
              </a:rPr>
              <a:t>线性表的逻辑结构发生什么变化？</a:t>
            </a:r>
            <a:endParaRPr lang="zh-CN" altLang="en-US" sz="400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Text Box 2"/>
          <p:cNvSpPr txBox="1">
            <a:spLocks noChangeArrowheads="1"/>
          </p:cNvSpPr>
          <p:nvPr/>
        </p:nvSpPr>
        <p:spPr bwMode="auto">
          <a:xfrm>
            <a:off x="455613" y="1111250"/>
            <a:ext cx="8206093"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zh-CN" altLang="en-US" sz="3200">
                <a:ea typeface="楷体_GB2312" charset="0"/>
              </a:rPr>
              <a:t> </a:t>
            </a:r>
            <a:r>
              <a:rPr lang="en-US" altLang="zh-CN" sz="3200">
                <a:ea typeface="楷体_GB2312" charset="0"/>
              </a:rPr>
              <a:t>(a</a:t>
            </a:r>
            <a:r>
              <a:rPr lang="en-US" altLang="zh-CN" sz="3200" baseline="-25000">
                <a:ea typeface="楷体_GB2312" charset="0"/>
              </a:rPr>
              <a:t>1</a:t>
            </a:r>
            <a:r>
              <a:rPr lang="en-US" altLang="zh-CN" sz="3200">
                <a:ea typeface="楷体_GB2312" charset="0"/>
              </a:rPr>
              <a:t>, …, </a:t>
            </a:r>
            <a:r>
              <a:rPr lang="en-US" altLang="zh-CN" sz="3200" b="1">
                <a:ea typeface="楷体_GB2312" charset="0"/>
              </a:rPr>
              <a:t>a</a:t>
            </a:r>
            <a:r>
              <a:rPr lang="en-US" altLang="zh-CN" sz="3200" b="1" baseline="-25000">
                <a:ea typeface="楷体_GB2312" charset="0"/>
              </a:rPr>
              <a:t>i-1</a:t>
            </a:r>
            <a:r>
              <a:rPr lang="en-US" altLang="zh-CN" sz="3200" b="1">
                <a:ea typeface="楷体_GB2312" charset="0"/>
              </a:rPr>
              <a:t>, a</a:t>
            </a:r>
            <a:r>
              <a:rPr lang="en-US" altLang="zh-CN" sz="3200" b="1" baseline="-25000">
                <a:ea typeface="楷体_GB2312" charset="0"/>
              </a:rPr>
              <a:t>i</a:t>
            </a:r>
            <a:r>
              <a:rPr lang="en-US" altLang="zh-CN" sz="3200" b="1">
                <a:ea typeface="楷体_GB2312" charset="0"/>
              </a:rPr>
              <a:t>, a</a:t>
            </a:r>
            <a:r>
              <a:rPr lang="en-US" altLang="zh-CN" sz="3200" b="1" baseline="-25000">
                <a:ea typeface="楷体_GB2312" charset="0"/>
              </a:rPr>
              <a:t>i+1</a:t>
            </a:r>
            <a:r>
              <a:rPr lang="en-US" altLang="zh-CN" sz="3200">
                <a:ea typeface="楷体_GB2312" charset="0"/>
              </a:rPr>
              <a:t>, …, a</a:t>
            </a:r>
            <a:r>
              <a:rPr lang="en-US" altLang="zh-CN" sz="3200" baseline="-25000">
                <a:ea typeface="楷体_GB2312" charset="0"/>
              </a:rPr>
              <a:t>n</a:t>
            </a:r>
            <a:r>
              <a:rPr lang="en-US" altLang="zh-CN" sz="3200">
                <a:ea typeface="楷体_GB2312" charset="0"/>
              </a:rPr>
              <a:t>) </a:t>
            </a:r>
            <a:r>
              <a:rPr lang="zh-CN" altLang="en-US" sz="3200">
                <a:ea typeface="楷体_GB2312" charset="0"/>
              </a:rPr>
              <a:t>改变为</a:t>
            </a:r>
            <a:endParaRPr lang="zh-CN" altLang="en-US" sz="3200">
              <a:ea typeface="楷体_GB2312" charset="0"/>
            </a:endParaRPr>
          </a:p>
          <a:p>
            <a:pPr eaLnBrk="1" hangingPunct="1">
              <a:lnSpc>
                <a:spcPct val="125000"/>
              </a:lnSpc>
              <a:defRPr/>
            </a:pPr>
            <a:r>
              <a:rPr lang="zh-CN" altLang="en-US" sz="3200">
                <a:ea typeface="楷体_GB2312" charset="0"/>
              </a:rPr>
              <a:t>                           </a:t>
            </a:r>
            <a:r>
              <a:rPr lang="en-US" altLang="zh-CN" sz="3200">
                <a:ea typeface="楷体_GB2312" charset="0"/>
              </a:rPr>
              <a:t>(a</a:t>
            </a:r>
            <a:r>
              <a:rPr lang="en-US" altLang="zh-CN" sz="3200" baseline="-25000">
                <a:ea typeface="楷体_GB2312" charset="0"/>
              </a:rPr>
              <a:t>1</a:t>
            </a:r>
            <a:r>
              <a:rPr lang="en-US" altLang="zh-CN" sz="3200">
                <a:ea typeface="楷体_GB2312" charset="0"/>
              </a:rPr>
              <a:t>, …,</a:t>
            </a:r>
            <a:r>
              <a:rPr lang="en-US" altLang="zh-CN" sz="3200" b="1">
                <a:solidFill>
                  <a:srgbClr val="FF00FF"/>
                </a:solidFill>
                <a:ea typeface="楷体_GB2312" charset="0"/>
              </a:rPr>
              <a:t> a</a:t>
            </a:r>
            <a:r>
              <a:rPr lang="en-US" altLang="zh-CN" sz="3200" b="1" baseline="-25000">
                <a:solidFill>
                  <a:srgbClr val="FF00FF"/>
                </a:solidFill>
                <a:ea typeface="楷体_GB2312" charset="0"/>
              </a:rPr>
              <a:t>i-1</a:t>
            </a:r>
            <a:r>
              <a:rPr lang="en-US" altLang="zh-CN" sz="3200" b="1">
                <a:solidFill>
                  <a:srgbClr val="FF00FF"/>
                </a:solidFill>
                <a:ea typeface="楷体_GB2312" charset="0"/>
              </a:rPr>
              <a:t>, a</a:t>
            </a:r>
            <a:r>
              <a:rPr lang="en-US" altLang="zh-CN" sz="3200" b="1" baseline="-25000">
                <a:solidFill>
                  <a:srgbClr val="FF00FF"/>
                </a:solidFill>
                <a:ea typeface="楷体_GB2312" charset="0"/>
              </a:rPr>
              <a:t>i+1</a:t>
            </a:r>
            <a:r>
              <a:rPr lang="en-US" altLang="zh-CN" sz="3200">
                <a:ea typeface="楷体_GB2312" charset="0"/>
              </a:rPr>
              <a:t>, …, a</a:t>
            </a:r>
            <a:r>
              <a:rPr lang="en-US" altLang="zh-CN" sz="3200" baseline="-25000">
                <a:ea typeface="楷体_GB2312" charset="0"/>
              </a:rPr>
              <a:t>n</a:t>
            </a:r>
            <a:r>
              <a:rPr lang="en-US" altLang="zh-CN" sz="3200">
                <a:ea typeface="楷体_GB2312" charset="0"/>
              </a:rPr>
              <a:t>)</a:t>
            </a:r>
            <a:endParaRPr lang="en-US" altLang="zh-CN" sz="3200"/>
          </a:p>
        </p:txBody>
      </p:sp>
      <p:sp>
        <p:nvSpPr>
          <p:cNvPr id="943107" name="Text Box 3"/>
          <p:cNvSpPr txBox="1">
            <a:spLocks noChangeArrowheads="1"/>
          </p:cNvSpPr>
          <p:nvPr/>
        </p:nvSpPr>
        <p:spPr bwMode="auto">
          <a:xfrm>
            <a:off x="4146721" y="4837707"/>
            <a:ext cx="8819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dirty="0">
                <a:ea typeface="楷体_GB2312" charset="0"/>
              </a:rPr>
              <a:t>a</a:t>
            </a:r>
            <a:r>
              <a:rPr lang="en-US" altLang="zh-CN" sz="3200" b="1" baseline="-25000" dirty="0">
                <a:ea typeface="楷体_GB2312" charset="0"/>
              </a:rPr>
              <a:t>i+1</a:t>
            </a:r>
            <a:endParaRPr lang="en-US" altLang="zh-CN" sz="3200" b="1" baseline="-25000" dirty="0">
              <a:ea typeface="楷体_GB2312" charset="0"/>
            </a:endParaRPr>
          </a:p>
        </p:txBody>
      </p:sp>
      <p:sp>
        <p:nvSpPr>
          <p:cNvPr id="943108" name="Text Box 4"/>
          <p:cNvSpPr txBox="1">
            <a:spLocks noChangeArrowheads="1"/>
          </p:cNvSpPr>
          <p:nvPr/>
        </p:nvSpPr>
        <p:spPr bwMode="auto">
          <a:xfrm>
            <a:off x="5172310" y="4914348"/>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dirty="0">
                <a:ea typeface="楷体_GB2312" charset="0"/>
              </a:rPr>
              <a:t>…</a:t>
            </a:r>
            <a:endParaRPr lang="en-US" altLang="zh-CN" sz="3200" b="1" dirty="0">
              <a:ea typeface="楷体_GB2312" charset="0"/>
            </a:endParaRPr>
          </a:p>
        </p:txBody>
      </p:sp>
      <p:sp>
        <p:nvSpPr>
          <p:cNvPr id="943109" name="Text Box 5"/>
          <p:cNvSpPr txBox="1">
            <a:spLocks noChangeArrowheads="1"/>
          </p:cNvSpPr>
          <p:nvPr/>
        </p:nvSpPr>
        <p:spPr bwMode="auto">
          <a:xfrm>
            <a:off x="6229406" y="4906006"/>
            <a:ext cx="58221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dirty="0">
                <a:ea typeface="楷体_GB2312" charset="0"/>
              </a:rPr>
              <a:t>a</a:t>
            </a:r>
            <a:r>
              <a:rPr lang="en-US" altLang="zh-CN" sz="3200" b="1" baseline="-25000" dirty="0">
                <a:ea typeface="楷体_GB2312" charset="0"/>
              </a:rPr>
              <a:t>n</a:t>
            </a:r>
            <a:endParaRPr lang="en-US" altLang="zh-CN" sz="3200" b="1" baseline="-25000" dirty="0">
              <a:ea typeface="楷体_GB2312" charset="0"/>
            </a:endParaRPr>
          </a:p>
        </p:txBody>
      </p:sp>
      <p:sp>
        <p:nvSpPr>
          <p:cNvPr id="943110" name="Text Box 6"/>
          <p:cNvSpPr txBox="1">
            <a:spLocks noChangeArrowheads="1"/>
          </p:cNvSpPr>
          <p:nvPr/>
        </p:nvSpPr>
        <p:spPr bwMode="auto">
          <a:xfrm>
            <a:off x="344488" y="2647950"/>
            <a:ext cx="42194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t>&lt;a</a:t>
            </a:r>
            <a:r>
              <a:rPr lang="en-US" altLang="zh-CN" sz="3200" b="1" baseline="-25000"/>
              <a:t>i-1</a:t>
            </a:r>
            <a:r>
              <a:rPr lang="en-US" altLang="zh-CN" sz="3200" b="1"/>
              <a:t>, a</a:t>
            </a:r>
            <a:r>
              <a:rPr lang="en-US" altLang="zh-CN" sz="3200" b="1" baseline="-25000"/>
              <a:t>i</a:t>
            </a:r>
            <a:r>
              <a:rPr lang="en-US" altLang="zh-CN" sz="3200" b="1"/>
              <a:t>&gt;, &lt;a</a:t>
            </a:r>
            <a:r>
              <a:rPr lang="en-US" altLang="zh-CN" sz="3200" b="1" baseline="-25000"/>
              <a:t>i</a:t>
            </a:r>
            <a:r>
              <a:rPr lang="en-US" altLang="zh-CN" sz="3200" b="1"/>
              <a:t>, a</a:t>
            </a:r>
            <a:r>
              <a:rPr lang="en-US" altLang="zh-CN" sz="3200" b="1" baseline="-25000"/>
              <a:t>i+1</a:t>
            </a:r>
            <a:r>
              <a:rPr lang="en-US" altLang="zh-CN" sz="3200" b="1"/>
              <a:t>&gt;</a:t>
            </a:r>
            <a:endParaRPr lang="en-US" altLang="zh-CN" sz="3200"/>
          </a:p>
        </p:txBody>
      </p:sp>
      <p:sp>
        <p:nvSpPr>
          <p:cNvPr id="943111" name="AutoShape 7"/>
          <p:cNvSpPr>
            <a:spLocks noChangeArrowheads="1"/>
          </p:cNvSpPr>
          <p:nvPr/>
        </p:nvSpPr>
        <p:spPr bwMode="auto">
          <a:xfrm>
            <a:off x="4876800" y="2879725"/>
            <a:ext cx="1219200" cy="304800"/>
          </a:xfrm>
          <a:prstGeom prst="notchedRightArrow">
            <a:avLst>
              <a:gd name="adj1" fmla="val 50000"/>
              <a:gd name="adj2" fmla="val 100000"/>
            </a:avLst>
          </a:prstGeom>
          <a:solidFill>
            <a:srgbClr val="660033"/>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12" name="Text Box 8"/>
          <p:cNvSpPr txBox="1">
            <a:spLocks noChangeArrowheads="1"/>
          </p:cNvSpPr>
          <p:nvPr/>
        </p:nvSpPr>
        <p:spPr bwMode="auto">
          <a:xfrm>
            <a:off x="6400800" y="2651125"/>
            <a:ext cx="24336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t>&lt;a</a:t>
            </a:r>
            <a:r>
              <a:rPr lang="en-US" altLang="zh-CN" sz="3200" b="1" baseline="-25000"/>
              <a:t>i-1</a:t>
            </a:r>
            <a:r>
              <a:rPr lang="en-US" altLang="zh-CN" sz="3200" b="1"/>
              <a:t>, a</a:t>
            </a:r>
            <a:r>
              <a:rPr lang="en-US" altLang="zh-CN" sz="3200" b="1" baseline="-25000"/>
              <a:t>i+1</a:t>
            </a:r>
            <a:r>
              <a:rPr lang="en-US" altLang="zh-CN" sz="3200" b="1"/>
              <a:t>&gt;</a:t>
            </a:r>
            <a:endParaRPr lang="en-US" altLang="zh-CN" sz="3200"/>
          </a:p>
        </p:txBody>
      </p:sp>
      <p:sp>
        <p:nvSpPr>
          <p:cNvPr id="943113" name="Line 9"/>
          <p:cNvSpPr>
            <a:spLocks noChangeShapeType="1"/>
          </p:cNvSpPr>
          <p:nvPr/>
        </p:nvSpPr>
        <p:spPr bwMode="auto">
          <a:xfrm flipH="1">
            <a:off x="4724400" y="4419600"/>
            <a:ext cx="990600" cy="609600"/>
          </a:xfrm>
          <a:prstGeom prst="line">
            <a:avLst/>
          </a:prstGeom>
          <a:noFill/>
          <a:ln w="381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14" name="Line 10"/>
          <p:cNvSpPr>
            <a:spLocks noChangeShapeType="1"/>
          </p:cNvSpPr>
          <p:nvPr/>
        </p:nvSpPr>
        <p:spPr bwMode="auto">
          <a:xfrm flipH="1">
            <a:off x="7924800" y="4419600"/>
            <a:ext cx="1143000" cy="609600"/>
          </a:xfrm>
          <a:prstGeom prst="line">
            <a:avLst/>
          </a:prstGeom>
          <a:noFill/>
          <a:ln w="381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15" name="Text Box 11"/>
          <p:cNvSpPr txBox="1">
            <a:spLocks noChangeArrowheads="1"/>
          </p:cNvSpPr>
          <p:nvPr/>
        </p:nvSpPr>
        <p:spPr bwMode="auto">
          <a:xfrm>
            <a:off x="4191000" y="5943600"/>
            <a:ext cx="264687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a:solidFill>
                  <a:srgbClr val="9900FF"/>
                </a:solidFill>
                <a:ea typeface="隶书" panose="02010509060101010101" charset="-122"/>
              </a:rPr>
              <a:t>表的长度减少</a:t>
            </a:r>
            <a:endParaRPr lang="zh-CN" altLang="en-US" sz="3200"/>
          </a:p>
        </p:txBody>
      </p:sp>
      <p:sp>
        <p:nvSpPr>
          <p:cNvPr id="943116" name="AutoShape 12"/>
          <p:cNvSpPr>
            <a:spLocks noChangeArrowheads="1"/>
          </p:cNvSpPr>
          <p:nvPr/>
        </p:nvSpPr>
        <p:spPr bwMode="auto">
          <a:xfrm>
            <a:off x="7391400" y="5867400"/>
            <a:ext cx="152400" cy="762000"/>
          </a:xfrm>
          <a:prstGeom prst="upArrow">
            <a:avLst>
              <a:gd name="adj1" fmla="val 50000"/>
              <a:gd name="adj2" fmla="val 125000"/>
            </a:avLst>
          </a:prstGeom>
          <a:solidFill>
            <a:srgbClr val="9900FF"/>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eaLnBrk="1" hangingPunct="1">
              <a:defRPr/>
            </a:pPr>
            <a:endParaRPr lang="zh-CN" altLang="en-US" sz="3200"/>
          </a:p>
        </p:txBody>
      </p:sp>
      <p:grpSp>
        <p:nvGrpSpPr>
          <p:cNvPr id="943117" name="Group 13"/>
          <p:cNvGrpSpPr/>
          <p:nvPr/>
        </p:nvGrpSpPr>
        <p:grpSpPr bwMode="auto">
          <a:xfrm>
            <a:off x="455613" y="3673476"/>
            <a:ext cx="6852683" cy="822324"/>
            <a:chOff x="96" y="2208"/>
            <a:chExt cx="5871" cy="624"/>
          </a:xfrm>
        </p:grpSpPr>
        <p:sp>
          <p:nvSpPr>
            <p:cNvPr id="943118" name="Text Box 14"/>
            <p:cNvSpPr txBox="1">
              <a:spLocks noChangeArrowheads="1"/>
            </p:cNvSpPr>
            <p:nvPr/>
          </p:nvSpPr>
          <p:spPr bwMode="auto">
            <a:xfrm>
              <a:off x="159" y="2208"/>
              <a:ext cx="580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a:ea typeface="楷体_GB2312" charset="0"/>
                </a:rPr>
                <a:t>a</a:t>
              </a:r>
              <a:r>
                <a:rPr lang="en-US" altLang="zh-CN" sz="3200" baseline="-25000">
                  <a:ea typeface="楷体_GB2312" charset="0"/>
                </a:rPr>
                <a:t>1</a:t>
              </a:r>
              <a:r>
                <a:rPr lang="en-US" altLang="zh-CN" sz="3200">
                  <a:ea typeface="楷体_GB2312" charset="0"/>
                </a:rPr>
                <a:t>  a</a:t>
              </a:r>
              <a:r>
                <a:rPr lang="en-US" altLang="zh-CN" sz="3200" baseline="-25000">
                  <a:ea typeface="楷体_GB2312" charset="0"/>
                </a:rPr>
                <a:t>2</a:t>
              </a:r>
              <a:r>
                <a:rPr lang="en-US" altLang="zh-CN" sz="3200">
                  <a:ea typeface="楷体_GB2312" charset="0"/>
                </a:rPr>
                <a:t>    </a:t>
              </a:r>
              <a:r>
                <a:rPr lang="en-US" altLang="zh-CN" sz="3200" b="1">
                  <a:ea typeface="楷体_GB2312" charset="0"/>
                </a:rPr>
                <a:t>…</a:t>
              </a:r>
              <a:r>
                <a:rPr lang="en-US" altLang="zh-CN" sz="3200">
                  <a:ea typeface="楷体_GB2312" charset="0"/>
                </a:rPr>
                <a:t>    a</a:t>
              </a:r>
              <a:r>
                <a:rPr lang="en-US" altLang="zh-CN" sz="3200" baseline="-25000">
                  <a:ea typeface="楷体_GB2312" charset="0"/>
                </a:rPr>
                <a:t>i-1</a:t>
              </a:r>
              <a:r>
                <a:rPr lang="en-US" altLang="zh-CN" sz="3200">
                  <a:ea typeface="楷体_GB2312" charset="0"/>
                </a:rPr>
                <a:t>  a</a:t>
              </a:r>
              <a:r>
                <a:rPr lang="en-US" altLang="zh-CN" sz="3200" baseline="-25000">
                  <a:ea typeface="楷体_GB2312" charset="0"/>
                </a:rPr>
                <a:t>i</a:t>
              </a:r>
              <a:r>
                <a:rPr lang="en-US" altLang="zh-CN" sz="3200">
                  <a:ea typeface="楷体_GB2312" charset="0"/>
                </a:rPr>
                <a:t>   </a:t>
              </a:r>
              <a:r>
                <a:rPr lang="en-US" altLang="zh-CN" sz="3200" b="1">
                  <a:ea typeface="楷体_GB2312" charset="0"/>
                </a:rPr>
                <a:t>a</a:t>
              </a:r>
              <a:r>
                <a:rPr lang="en-US" altLang="zh-CN" sz="3200" b="1" baseline="-25000">
                  <a:ea typeface="楷体_GB2312" charset="0"/>
                </a:rPr>
                <a:t>i+1 </a:t>
              </a:r>
              <a:r>
                <a:rPr lang="en-US" altLang="zh-CN" sz="3200">
                  <a:ea typeface="楷体_GB2312" charset="0"/>
                </a:rPr>
                <a:t>  </a:t>
              </a:r>
              <a:r>
                <a:rPr lang="en-US" altLang="zh-CN" sz="3200" b="1">
                  <a:ea typeface="楷体_GB2312" charset="0"/>
                </a:rPr>
                <a:t>…</a:t>
              </a:r>
              <a:r>
                <a:rPr lang="en-US" altLang="zh-CN" sz="3200">
                  <a:ea typeface="楷体_GB2312" charset="0"/>
                </a:rPr>
                <a:t>  a</a:t>
              </a:r>
              <a:r>
                <a:rPr lang="en-US" altLang="zh-CN" sz="3200" baseline="-25000">
                  <a:ea typeface="楷体_GB2312" charset="0"/>
                </a:rPr>
                <a:t>n</a:t>
              </a:r>
              <a:endParaRPr lang="en-US" altLang="zh-CN" sz="3200" baseline="-25000">
                <a:ea typeface="楷体_GB2312" charset="0"/>
              </a:endParaRPr>
            </a:p>
          </p:txBody>
        </p:sp>
        <p:sp>
          <p:nvSpPr>
            <p:cNvPr id="943119" name="Line 15"/>
            <p:cNvSpPr>
              <a:spLocks noChangeShapeType="1"/>
            </p:cNvSpPr>
            <p:nvPr/>
          </p:nvSpPr>
          <p:spPr bwMode="auto">
            <a:xfrm>
              <a:off x="2271"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0" name="Line 16"/>
            <p:cNvSpPr>
              <a:spLocks noChangeShapeType="1"/>
            </p:cNvSpPr>
            <p:nvPr/>
          </p:nvSpPr>
          <p:spPr bwMode="auto">
            <a:xfrm>
              <a:off x="2991"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1" name="Line 17"/>
            <p:cNvSpPr>
              <a:spLocks noChangeShapeType="1"/>
            </p:cNvSpPr>
            <p:nvPr/>
          </p:nvSpPr>
          <p:spPr bwMode="auto">
            <a:xfrm>
              <a:off x="3615"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2" name="Line 18"/>
            <p:cNvSpPr>
              <a:spLocks noChangeShapeType="1"/>
            </p:cNvSpPr>
            <p:nvPr/>
          </p:nvSpPr>
          <p:spPr bwMode="auto">
            <a:xfrm>
              <a:off x="5151"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3" name="Line 19"/>
            <p:cNvSpPr>
              <a:spLocks noChangeShapeType="1"/>
            </p:cNvSpPr>
            <p:nvPr/>
          </p:nvSpPr>
          <p:spPr bwMode="auto">
            <a:xfrm>
              <a:off x="591"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4" name="Line 20"/>
            <p:cNvSpPr>
              <a:spLocks noChangeShapeType="1"/>
            </p:cNvSpPr>
            <p:nvPr/>
          </p:nvSpPr>
          <p:spPr bwMode="auto">
            <a:xfrm>
              <a:off x="1263"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5" name="Line 21"/>
            <p:cNvSpPr>
              <a:spLocks noChangeShapeType="1"/>
            </p:cNvSpPr>
            <p:nvPr/>
          </p:nvSpPr>
          <p:spPr bwMode="auto">
            <a:xfrm>
              <a:off x="4383" y="2304"/>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6" name="Rectangle 22"/>
            <p:cNvSpPr>
              <a:spLocks noChangeArrowheads="1"/>
            </p:cNvSpPr>
            <p:nvPr/>
          </p:nvSpPr>
          <p:spPr bwMode="auto">
            <a:xfrm>
              <a:off x="96" y="2304"/>
              <a:ext cx="5664" cy="48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grpSp>
        <p:nvGrpSpPr>
          <p:cNvPr id="943127" name="Group 23"/>
          <p:cNvGrpSpPr/>
          <p:nvPr/>
        </p:nvGrpSpPr>
        <p:grpSpPr bwMode="auto">
          <a:xfrm>
            <a:off x="455613" y="4742711"/>
            <a:ext cx="7659944" cy="786825"/>
            <a:chOff x="96" y="3024"/>
            <a:chExt cx="4896" cy="624"/>
          </a:xfrm>
        </p:grpSpPr>
        <p:sp>
          <p:nvSpPr>
            <p:cNvPr id="943128" name="Text Box 24"/>
            <p:cNvSpPr txBox="1">
              <a:spLocks noChangeArrowheads="1"/>
            </p:cNvSpPr>
            <p:nvPr/>
          </p:nvSpPr>
          <p:spPr bwMode="auto">
            <a:xfrm>
              <a:off x="159" y="3024"/>
              <a:ext cx="217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a:ea typeface="楷体_GB2312" charset="0"/>
                </a:rPr>
                <a:t>a</a:t>
              </a:r>
              <a:r>
                <a:rPr lang="en-US" altLang="zh-CN" sz="3200" baseline="-25000">
                  <a:ea typeface="楷体_GB2312" charset="0"/>
                </a:rPr>
                <a:t>1</a:t>
              </a:r>
              <a:r>
                <a:rPr lang="en-US" altLang="zh-CN" sz="3200">
                  <a:ea typeface="楷体_GB2312" charset="0"/>
                </a:rPr>
                <a:t>  a</a:t>
              </a:r>
              <a:r>
                <a:rPr lang="en-US" altLang="zh-CN" sz="3200" baseline="-25000">
                  <a:ea typeface="楷体_GB2312" charset="0"/>
                </a:rPr>
                <a:t>2</a:t>
              </a:r>
              <a:r>
                <a:rPr lang="en-US" altLang="zh-CN" sz="3200">
                  <a:ea typeface="楷体_GB2312" charset="0"/>
                </a:rPr>
                <a:t>    </a:t>
              </a:r>
              <a:r>
                <a:rPr lang="en-US" altLang="zh-CN" sz="3200" b="1">
                  <a:ea typeface="楷体_GB2312" charset="0"/>
                </a:rPr>
                <a:t>…</a:t>
              </a:r>
              <a:r>
                <a:rPr lang="en-US" altLang="zh-CN" sz="3200">
                  <a:ea typeface="楷体_GB2312" charset="0"/>
                </a:rPr>
                <a:t>    a</a:t>
              </a:r>
              <a:r>
                <a:rPr lang="en-US" altLang="zh-CN" sz="3200" baseline="-25000">
                  <a:ea typeface="楷体_GB2312" charset="0"/>
                </a:rPr>
                <a:t>i-1</a:t>
              </a:r>
              <a:r>
                <a:rPr lang="en-US" altLang="zh-CN" sz="3200">
                  <a:ea typeface="楷体_GB2312" charset="0"/>
                </a:rPr>
                <a:t> </a:t>
              </a:r>
              <a:endParaRPr lang="en-US" altLang="zh-CN" sz="3200" b="1">
                <a:ea typeface="楷体_GB2312" charset="0"/>
              </a:endParaRPr>
            </a:p>
          </p:txBody>
        </p:sp>
        <p:sp>
          <p:nvSpPr>
            <p:cNvPr id="943129" name="Line 25"/>
            <p:cNvSpPr>
              <a:spLocks noChangeShapeType="1"/>
            </p:cNvSpPr>
            <p:nvPr/>
          </p:nvSpPr>
          <p:spPr bwMode="auto">
            <a:xfrm>
              <a:off x="1263" y="31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30" name="Line 26"/>
            <p:cNvSpPr>
              <a:spLocks noChangeShapeType="1"/>
            </p:cNvSpPr>
            <p:nvPr/>
          </p:nvSpPr>
          <p:spPr bwMode="auto">
            <a:xfrm>
              <a:off x="2271" y="31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31" name="Line 27"/>
            <p:cNvSpPr>
              <a:spLocks noChangeShapeType="1"/>
            </p:cNvSpPr>
            <p:nvPr/>
          </p:nvSpPr>
          <p:spPr bwMode="auto">
            <a:xfrm>
              <a:off x="591" y="31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32" name="Line 28"/>
            <p:cNvSpPr>
              <a:spLocks noChangeShapeType="1"/>
            </p:cNvSpPr>
            <p:nvPr/>
          </p:nvSpPr>
          <p:spPr bwMode="auto">
            <a:xfrm>
              <a:off x="2991" y="31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33" name="Line 29"/>
            <p:cNvSpPr>
              <a:spLocks noChangeShapeType="1"/>
            </p:cNvSpPr>
            <p:nvPr/>
          </p:nvSpPr>
          <p:spPr bwMode="auto">
            <a:xfrm>
              <a:off x="4383" y="31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34" name="Line 30"/>
            <p:cNvSpPr>
              <a:spLocks noChangeShapeType="1"/>
            </p:cNvSpPr>
            <p:nvPr/>
          </p:nvSpPr>
          <p:spPr bwMode="auto">
            <a:xfrm>
              <a:off x="3663" y="31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35" name="Rectangle 31"/>
            <p:cNvSpPr>
              <a:spLocks noChangeArrowheads="1"/>
            </p:cNvSpPr>
            <p:nvPr/>
          </p:nvSpPr>
          <p:spPr bwMode="auto">
            <a:xfrm>
              <a:off x="96" y="3168"/>
              <a:ext cx="4896" cy="48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943106"/>
                                        </p:tgtEl>
                                        <p:attrNameLst>
                                          <p:attrName>style.visibility</p:attrName>
                                        </p:attrNameLst>
                                      </p:cBhvr>
                                      <p:to>
                                        <p:strVal val="visible"/>
                                      </p:to>
                                    </p:set>
                                    <p:animEffect transition="in" filter="wipe(left)">
                                      <p:cBhvr>
                                        <p:cTn id="7" dur="300"/>
                                        <p:tgtEl>
                                          <p:spTgt spid="94310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943110"/>
                                        </p:tgtEl>
                                        <p:attrNameLst>
                                          <p:attrName>style.visibility</p:attrName>
                                        </p:attrNameLst>
                                      </p:cBhvr>
                                      <p:to>
                                        <p:strVal val="visible"/>
                                      </p:to>
                                    </p:set>
                                    <p:animEffect transition="in" filter="blinds(vertical)">
                                      <p:cBhvr>
                                        <p:cTn id="12" dur="500"/>
                                        <p:tgtEl>
                                          <p:spTgt spid="943110"/>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943111"/>
                                        </p:tgtEl>
                                        <p:attrNameLst>
                                          <p:attrName>style.visibility</p:attrName>
                                        </p:attrNameLst>
                                      </p:cBhvr>
                                      <p:to>
                                        <p:strVal val="visible"/>
                                      </p:to>
                                    </p:set>
                                    <p:anim calcmode="lin" valueType="num">
                                      <p:cBhvr>
                                        <p:cTn id="17" dur="500" fill="hold"/>
                                        <p:tgtEl>
                                          <p:spTgt spid="943111"/>
                                        </p:tgtEl>
                                        <p:attrNameLst>
                                          <p:attrName>ppt_x</p:attrName>
                                        </p:attrNameLst>
                                      </p:cBhvr>
                                      <p:tavLst>
                                        <p:tav tm="0">
                                          <p:val>
                                            <p:strVal val="#ppt_x-#ppt_w/2"/>
                                          </p:val>
                                        </p:tav>
                                        <p:tav tm="100000">
                                          <p:val>
                                            <p:strVal val="#ppt_x"/>
                                          </p:val>
                                        </p:tav>
                                      </p:tavLst>
                                    </p:anim>
                                    <p:anim calcmode="lin" valueType="num">
                                      <p:cBhvr>
                                        <p:cTn id="18" dur="500" fill="hold"/>
                                        <p:tgtEl>
                                          <p:spTgt spid="943111"/>
                                        </p:tgtEl>
                                        <p:attrNameLst>
                                          <p:attrName>ppt_y</p:attrName>
                                        </p:attrNameLst>
                                      </p:cBhvr>
                                      <p:tavLst>
                                        <p:tav tm="0">
                                          <p:val>
                                            <p:strVal val="#ppt_y"/>
                                          </p:val>
                                        </p:tav>
                                        <p:tav tm="100000">
                                          <p:val>
                                            <p:strVal val="#ppt_y"/>
                                          </p:val>
                                        </p:tav>
                                      </p:tavLst>
                                    </p:anim>
                                    <p:anim calcmode="lin" valueType="num">
                                      <p:cBhvr>
                                        <p:cTn id="19" dur="500" fill="hold"/>
                                        <p:tgtEl>
                                          <p:spTgt spid="943111"/>
                                        </p:tgtEl>
                                        <p:attrNameLst>
                                          <p:attrName>ppt_w</p:attrName>
                                        </p:attrNameLst>
                                      </p:cBhvr>
                                      <p:tavLst>
                                        <p:tav tm="0">
                                          <p:val>
                                            <p:fltVal val="0"/>
                                          </p:val>
                                        </p:tav>
                                        <p:tav tm="100000">
                                          <p:val>
                                            <p:strVal val="#ppt_w"/>
                                          </p:val>
                                        </p:tav>
                                      </p:tavLst>
                                    </p:anim>
                                    <p:anim calcmode="lin" valueType="num">
                                      <p:cBhvr>
                                        <p:cTn id="20" dur="500" fill="hold"/>
                                        <p:tgtEl>
                                          <p:spTgt spid="943111"/>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5" fill="hold" grpId="0" nodeType="clickEffect">
                                  <p:stCondLst>
                                    <p:cond delay="0"/>
                                  </p:stCondLst>
                                  <p:childTnLst>
                                    <p:set>
                                      <p:cBhvr>
                                        <p:cTn id="24" dur="1" fill="hold">
                                          <p:stCondLst>
                                            <p:cond delay="0"/>
                                          </p:stCondLst>
                                        </p:cTn>
                                        <p:tgtEl>
                                          <p:spTgt spid="943112"/>
                                        </p:tgtEl>
                                        <p:attrNameLst>
                                          <p:attrName>style.visibility</p:attrName>
                                        </p:attrNameLst>
                                      </p:cBhvr>
                                      <p:to>
                                        <p:strVal val="visible"/>
                                      </p:to>
                                    </p:set>
                                    <p:animEffect transition="in" filter="blinds(vertical)">
                                      <p:cBhvr>
                                        <p:cTn id="25" dur="500"/>
                                        <p:tgtEl>
                                          <p:spTgt spid="9431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43117"/>
                                        </p:tgtEl>
                                        <p:attrNameLst>
                                          <p:attrName>style.visibility</p:attrName>
                                        </p:attrNameLst>
                                      </p:cBhvr>
                                      <p:to>
                                        <p:strVal val="visible"/>
                                      </p:to>
                                    </p:set>
                                    <p:animEffect transition="in" filter="wipe(left)">
                                      <p:cBhvr>
                                        <p:cTn id="30" dur="500"/>
                                        <p:tgtEl>
                                          <p:spTgt spid="9431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943127"/>
                                        </p:tgtEl>
                                        <p:attrNameLst>
                                          <p:attrName>style.visibility</p:attrName>
                                        </p:attrNameLst>
                                      </p:cBhvr>
                                      <p:to>
                                        <p:strVal val="visible"/>
                                      </p:to>
                                    </p:set>
                                    <p:animEffect transition="in" filter="wipe(left)">
                                      <p:cBhvr>
                                        <p:cTn id="35" dur="500"/>
                                        <p:tgtEl>
                                          <p:spTgt spid="943127"/>
                                        </p:tgtEl>
                                      </p:cBhvr>
                                    </p:animEffect>
                                  </p:childTnLst>
                                </p:cTn>
                              </p:par>
                            </p:childTnLst>
                          </p:cTn>
                        </p:par>
                      </p:childTnLst>
                    </p:cTn>
                  </p:par>
                  <p:par>
                    <p:cTn id="36" fill="hold">
                      <p:stCondLst>
                        <p:cond delay="indefinite"/>
                      </p:stCondLst>
                      <p:childTnLst>
                        <p:par>
                          <p:cTn id="37" fill="hold">
                            <p:stCondLst>
                              <p:cond delay="0"/>
                            </p:stCondLst>
                            <p:childTnLst>
                              <p:par>
                                <p:cTn id="38" presetID="17" presetClass="entr" presetSubtype="1" fill="hold" nodeType="clickEffect">
                                  <p:stCondLst>
                                    <p:cond delay="0"/>
                                  </p:stCondLst>
                                  <p:childTnLst>
                                    <p:set>
                                      <p:cBhvr>
                                        <p:cTn id="39" dur="1" fill="hold">
                                          <p:stCondLst>
                                            <p:cond delay="0"/>
                                          </p:stCondLst>
                                        </p:cTn>
                                        <p:tgtEl>
                                          <p:spTgt spid="943113"/>
                                        </p:tgtEl>
                                        <p:attrNameLst>
                                          <p:attrName>style.visibility</p:attrName>
                                        </p:attrNameLst>
                                      </p:cBhvr>
                                      <p:to>
                                        <p:strVal val="visible"/>
                                      </p:to>
                                    </p:set>
                                    <p:anim calcmode="lin" valueType="num">
                                      <p:cBhvr>
                                        <p:cTn id="40" dur="500" fill="hold"/>
                                        <p:tgtEl>
                                          <p:spTgt spid="943113"/>
                                        </p:tgtEl>
                                        <p:attrNameLst>
                                          <p:attrName>ppt_x</p:attrName>
                                        </p:attrNameLst>
                                      </p:cBhvr>
                                      <p:tavLst>
                                        <p:tav tm="0">
                                          <p:val>
                                            <p:strVal val="#ppt_x"/>
                                          </p:val>
                                        </p:tav>
                                        <p:tav tm="100000">
                                          <p:val>
                                            <p:strVal val="#ppt_x"/>
                                          </p:val>
                                        </p:tav>
                                      </p:tavLst>
                                    </p:anim>
                                    <p:anim calcmode="lin" valueType="num">
                                      <p:cBhvr>
                                        <p:cTn id="41" dur="500" fill="hold"/>
                                        <p:tgtEl>
                                          <p:spTgt spid="943113"/>
                                        </p:tgtEl>
                                        <p:attrNameLst>
                                          <p:attrName>ppt_y</p:attrName>
                                        </p:attrNameLst>
                                      </p:cBhvr>
                                      <p:tavLst>
                                        <p:tav tm="0">
                                          <p:val>
                                            <p:strVal val="#ppt_y-#ppt_h/2"/>
                                          </p:val>
                                        </p:tav>
                                        <p:tav tm="100000">
                                          <p:val>
                                            <p:strVal val="#ppt_y"/>
                                          </p:val>
                                        </p:tav>
                                      </p:tavLst>
                                    </p:anim>
                                    <p:anim calcmode="lin" valueType="num">
                                      <p:cBhvr>
                                        <p:cTn id="42" dur="500" fill="hold"/>
                                        <p:tgtEl>
                                          <p:spTgt spid="943113"/>
                                        </p:tgtEl>
                                        <p:attrNameLst>
                                          <p:attrName>ppt_w</p:attrName>
                                        </p:attrNameLst>
                                      </p:cBhvr>
                                      <p:tavLst>
                                        <p:tav tm="0">
                                          <p:val>
                                            <p:strVal val="#ppt_w"/>
                                          </p:val>
                                        </p:tav>
                                        <p:tav tm="100000">
                                          <p:val>
                                            <p:strVal val="#ppt_w"/>
                                          </p:val>
                                        </p:tav>
                                      </p:tavLst>
                                    </p:anim>
                                    <p:anim calcmode="lin" valueType="num">
                                      <p:cBhvr>
                                        <p:cTn id="43" dur="500" fill="hold"/>
                                        <p:tgtEl>
                                          <p:spTgt spid="943113"/>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17" presetClass="entr" presetSubtype="1" fill="hold" nodeType="clickEffect">
                                  <p:stCondLst>
                                    <p:cond delay="0"/>
                                  </p:stCondLst>
                                  <p:childTnLst>
                                    <p:set>
                                      <p:cBhvr>
                                        <p:cTn id="47" dur="1" fill="hold">
                                          <p:stCondLst>
                                            <p:cond delay="0"/>
                                          </p:stCondLst>
                                        </p:cTn>
                                        <p:tgtEl>
                                          <p:spTgt spid="943114"/>
                                        </p:tgtEl>
                                        <p:attrNameLst>
                                          <p:attrName>style.visibility</p:attrName>
                                        </p:attrNameLst>
                                      </p:cBhvr>
                                      <p:to>
                                        <p:strVal val="visible"/>
                                      </p:to>
                                    </p:set>
                                    <p:anim calcmode="lin" valueType="num">
                                      <p:cBhvr>
                                        <p:cTn id="48" dur="500" fill="hold"/>
                                        <p:tgtEl>
                                          <p:spTgt spid="943114"/>
                                        </p:tgtEl>
                                        <p:attrNameLst>
                                          <p:attrName>ppt_x</p:attrName>
                                        </p:attrNameLst>
                                      </p:cBhvr>
                                      <p:tavLst>
                                        <p:tav tm="0">
                                          <p:val>
                                            <p:strVal val="#ppt_x"/>
                                          </p:val>
                                        </p:tav>
                                        <p:tav tm="100000">
                                          <p:val>
                                            <p:strVal val="#ppt_x"/>
                                          </p:val>
                                        </p:tav>
                                      </p:tavLst>
                                    </p:anim>
                                    <p:anim calcmode="lin" valueType="num">
                                      <p:cBhvr>
                                        <p:cTn id="49" dur="500" fill="hold"/>
                                        <p:tgtEl>
                                          <p:spTgt spid="943114"/>
                                        </p:tgtEl>
                                        <p:attrNameLst>
                                          <p:attrName>ppt_y</p:attrName>
                                        </p:attrNameLst>
                                      </p:cBhvr>
                                      <p:tavLst>
                                        <p:tav tm="0">
                                          <p:val>
                                            <p:strVal val="#ppt_y-#ppt_h/2"/>
                                          </p:val>
                                        </p:tav>
                                        <p:tav tm="100000">
                                          <p:val>
                                            <p:strVal val="#ppt_y"/>
                                          </p:val>
                                        </p:tav>
                                      </p:tavLst>
                                    </p:anim>
                                    <p:anim calcmode="lin" valueType="num">
                                      <p:cBhvr>
                                        <p:cTn id="50" dur="500" fill="hold"/>
                                        <p:tgtEl>
                                          <p:spTgt spid="943114"/>
                                        </p:tgtEl>
                                        <p:attrNameLst>
                                          <p:attrName>ppt_w</p:attrName>
                                        </p:attrNameLst>
                                      </p:cBhvr>
                                      <p:tavLst>
                                        <p:tav tm="0">
                                          <p:val>
                                            <p:strVal val="#ppt_w"/>
                                          </p:val>
                                        </p:tav>
                                        <p:tav tm="100000">
                                          <p:val>
                                            <p:strVal val="#ppt_w"/>
                                          </p:val>
                                        </p:tav>
                                      </p:tavLst>
                                    </p:anim>
                                    <p:anim calcmode="lin" valueType="num">
                                      <p:cBhvr>
                                        <p:cTn id="51" dur="500" fill="hold"/>
                                        <p:tgtEl>
                                          <p:spTgt spid="943114"/>
                                        </p:tgtEl>
                                        <p:attrNameLst>
                                          <p:attrName>ppt_h</p:attrName>
                                        </p:attrNameLst>
                                      </p:cBhvr>
                                      <p:tavLst>
                                        <p:tav tm="0">
                                          <p:val>
                                            <p:fltVal val="0"/>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943107"/>
                                        </p:tgtEl>
                                        <p:attrNameLst>
                                          <p:attrName>style.visibility</p:attrName>
                                        </p:attrNameLst>
                                      </p:cBhvr>
                                      <p:to>
                                        <p:strVal val="visible"/>
                                      </p:to>
                                    </p:set>
                                    <p:animEffect transition="in" filter="wipe(left)">
                                      <p:cBhvr>
                                        <p:cTn id="56" dur="500"/>
                                        <p:tgtEl>
                                          <p:spTgt spid="94310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943108"/>
                                        </p:tgtEl>
                                        <p:attrNameLst>
                                          <p:attrName>style.visibility</p:attrName>
                                        </p:attrNameLst>
                                      </p:cBhvr>
                                      <p:to>
                                        <p:strVal val="visible"/>
                                      </p:to>
                                    </p:set>
                                    <p:animEffect transition="in" filter="wipe(left)">
                                      <p:cBhvr>
                                        <p:cTn id="61" dur="500"/>
                                        <p:tgtEl>
                                          <p:spTgt spid="94310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943109"/>
                                        </p:tgtEl>
                                        <p:attrNameLst>
                                          <p:attrName>style.visibility</p:attrName>
                                        </p:attrNameLst>
                                      </p:cBhvr>
                                      <p:to>
                                        <p:strVal val="visible"/>
                                      </p:to>
                                    </p:set>
                                    <p:animEffect transition="in" filter="wipe(left)">
                                      <p:cBhvr>
                                        <p:cTn id="66" dur="500"/>
                                        <p:tgtEl>
                                          <p:spTgt spid="943109"/>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943115"/>
                                        </p:tgtEl>
                                        <p:attrNameLst>
                                          <p:attrName>style.visibility</p:attrName>
                                        </p:attrNameLst>
                                      </p:cBhvr>
                                      <p:to>
                                        <p:strVal val="visible"/>
                                      </p:to>
                                    </p:set>
                                    <p:anim calcmode="lin" valueType="num">
                                      <p:cBhvr additive="base">
                                        <p:cTn id="71" dur="500" fill="hold"/>
                                        <p:tgtEl>
                                          <p:spTgt spid="943115"/>
                                        </p:tgtEl>
                                        <p:attrNameLst>
                                          <p:attrName>ppt_x</p:attrName>
                                        </p:attrNameLst>
                                      </p:cBhvr>
                                      <p:tavLst>
                                        <p:tav tm="0">
                                          <p:val>
                                            <p:strVal val="#ppt_x"/>
                                          </p:val>
                                        </p:tav>
                                        <p:tav tm="100000">
                                          <p:val>
                                            <p:strVal val="#ppt_x"/>
                                          </p:val>
                                        </p:tav>
                                      </p:tavLst>
                                    </p:anim>
                                    <p:anim calcmode="lin" valueType="num">
                                      <p:cBhvr additive="base">
                                        <p:cTn id="72" dur="500" fill="hold"/>
                                        <p:tgtEl>
                                          <p:spTgt spid="943115"/>
                                        </p:tgtEl>
                                        <p:attrNameLst>
                                          <p:attrName>ppt_y</p:attrName>
                                        </p:attrNameLst>
                                      </p:cBhvr>
                                      <p:tavLst>
                                        <p:tav tm="0">
                                          <p:val>
                                            <p:strVal val="1+#ppt_h/2"/>
                                          </p:val>
                                        </p:tav>
                                        <p:tav tm="100000">
                                          <p:val>
                                            <p:strVal val="#ppt_y"/>
                                          </p:val>
                                        </p:tav>
                                      </p:tavLst>
                                    </p:anim>
                                  </p:childTnLst>
                                </p:cTn>
                              </p:par>
                            </p:childTnLst>
                          </p:cTn>
                        </p:par>
                        <p:par>
                          <p:cTn id="73" fill="hold">
                            <p:stCondLst>
                              <p:cond delay="500"/>
                            </p:stCondLst>
                            <p:childTnLst>
                              <p:par>
                                <p:cTn id="74" presetID="2" presetClass="entr" presetSubtype="4" fill="hold" grpId="0" nodeType="afterEffect">
                                  <p:stCondLst>
                                    <p:cond delay="0"/>
                                  </p:stCondLst>
                                  <p:childTnLst>
                                    <p:set>
                                      <p:cBhvr>
                                        <p:cTn id="75" dur="1" fill="hold">
                                          <p:stCondLst>
                                            <p:cond delay="0"/>
                                          </p:stCondLst>
                                        </p:cTn>
                                        <p:tgtEl>
                                          <p:spTgt spid="943116"/>
                                        </p:tgtEl>
                                        <p:attrNameLst>
                                          <p:attrName>style.visibility</p:attrName>
                                        </p:attrNameLst>
                                      </p:cBhvr>
                                      <p:to>
                                        <p:strVal val="visible"/>
                                      </p:to>
                                    </p:set>
                                    <p:anim calcmode="lin" valueType="num">
                                      <p:cBhvr additive="base">
                                        <p:cTn id="76" dur="500" fill="hold"/>
                                        <p:tgtEl>
                                          <p:spTgt spid="943116"/>
                                        </p:tgtEl>
                                        <p:attrNameLst>
                                          <p:attrName>ppt_x</p:attrName>
                                        </p:attrNameLst>
                                      </p:cBhvr>
                                      <p:tavLst>
                                        <p:tav tm="0">
                                          <p:val>
                                            <p:strVal val="#ppt_x"/>
                                          </p:val>
                                        </p:tav>
                                        <p:tav tm="100000">
                                          <p:val>
                                            <p:strVal val="#ppt_x"/>
                                          </p:val>
                                        </p:tav>
                                      </p:tavLst>
                                    </p:anim>
                                    <p:anim calcmode="lin" valueType="num">
                                      <p:cBhvr additive="base">
                                        <p:cTn id="77" dur="500" fill="hold"/>
                                        <p:tgtEl>
                                          <p:spTgt spid="9431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3106" grpId="0" autoUpdateAnimBg="0"/>
      <p:bldP spid="943107" grpId="0" autoUpdateAnimBg="0"/>
      <p:bldP spid="943108" grpId="0" autoUpdateAnimBg="0"/>
      <p:bldP spid="943109" grpId="0" autoUpdateAnimBg="0"/>
      <p:bldP spid="943110" grpId="0" autoUpdateAnimBg="0"/>
      <p:bldP spid="943111" grpId="0" animBg="1"/>
      <p:bldP spid="943112" grpId="0" autoUpdateAnimBg="0"/>
      <p:bldP spid="943115" grpId="0" autoUpdateAnimBg="0"/>
      <p:bldP spid="94311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0" name="Text Box 2"/>
          <p:cNvSpPr txBox="1">
            <a:spLocks noChangeArrowheads="1"/>
          </p:cNvSpPr>
          <p:nvPr/>
        </p:nvSpPr>
        <p:spPr bwMode="auto">
          <a:xfrm>
            <a:off x="152400" y="166688"/>
            <a:ext cx="8456161" cy="62540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dirty="0"/>
              <a:t>Status</a:t>
            </a:r>
            <a:r>
              <a:rPr lang="en-US" altLang="zh-CN" sz="2800" dirty="0"/>
              <a:t> </a:t>
            </a:r>
            <a:r>
              <a:rPr lang="en-US" altLang="zh-CN" sz="2800" dirty="0" err="1"/>
              <a:t>ListDelete_Sq</a:t>
            </a:r>
            <a:endParaRPr lang="en-US" altLang="zh-CN" sz="2800" dirty="0"/>
          </a:p>
          <a:p>
            <a:pPr eaLnBrk="1" hangingPunct="1">
              <a:lnSpc>
                <a:spcPct val="110000"/>
              </a:lnSpc>
              <a:defRPr/>
            </a:pPr>
            <a:r>
              <a:rPr lang="en-US" altLang="zh-CN" sz="2800" dirty="0"/>
              <a:t>                         (</a:t>
            </a:r>
            <a:r>
              <a:rPr lang="en-US" altLang="zh-CN" sz="2800" dirty="0" err="1"/>
              <a:t>SqList</a:t>
            </a:r>
            <a:r>
              <a:rPr lang="en-US" altLang="zh-CN" sz="2800" dirty="0"/>
              <a:t> </a:t>
            </a:r>
            <a:r>
              <a:rPr lang="en-US" altLang="zh-CN" sz="2800" b="1" dirty="0"/>
              <a:t>&amp;</a:t>
            </a:r>
            <a:r>
              <a:rPr lang="en-US" altLang="zh-CN" sz="2800" dirty="0"/>
              <a:t>L, </a:t>
            </a:r>
            <a:r>
              <a:rPr lang="en-US" altLang="zh-CN" sz="2800" b="1" dirty="0"/>
              <a:t>int</a:t>
            </a:r>
            <a:r>
              <a:rPr lang="en-US" altLang="zh-CN" sz="2800" dirty="0"/>
              <a:t> </a:t>
            </a:r>
            <a:r>
              <a:rPr lang="en-US" altLang="zh-CN" sz="2800" dirty="0" err="1"/>
              <a:t>i</a:t>
            </a:r>
            <a:r>
              <a:rPr lang="en-US" altLang="zh-CN" sz="2800" dirty="0"/>
              <a:t>, </a:t>
            </a:r>
            <a:r>
              <a:rPr lang="en-US" altLang="zh-CN" sz="2800" dirty="0" err="1"/>
              <a:t>ElemType</a:t>
            </a:r>
            <a:r>
              <a:rPr lang="en-US" altLang="zh-CN" sz="2800" dirty="0"/>
              <a:t> </a:t>
            </a:r>
            <a:r>
              <a:rPr lang="en-US" altLang="zh-CN" sz="2800" b="1" dirty="0"/>
              <a:t>&amp;</a:t>
            </a:r>
            <a:r>
              <a:rPr lang="en-US" altLang="zh-CN" sz="2800" dirty="0"/>
              <a:t>e) </a:t>
            </a:r>
            <a:r>
              <a:rPr lang="en-US" altLang="zh-CN" sz="2800" b="1" dirty="0"/>
              <a:t>{</a:t>
            </a:r>
            <a:endParaRPr lang="en-US" altLang="zh-CN" sz="2800"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r>
              <a:rPr lang="en-US" altLang="zh-CN" sz="2800" b="1" dirty="0"/>
              <a:t>}</a:t>
            </a:r>
            <a:r>
              <a:rPr lang="en-US" altLang="zh-CN" sz="2800" dirty="0"/>
              <a:t> // </a:t>
            </a:r>
            <a:r>
              <a:rPr lang="en-US" altLang="zh-CN" sz="2800" dirty="0" err="1"/>
              <a:t>ListDelete_Sq</a:t>
            </a:r>
            <a:endParaRPr lang="en-US" altLang="zh-CN" sz="2800" dirty="0"/>
          </a:p>
        </p:txBody>
      </p:sp>
      <p:sp>
        <p:nvSpPr>
          <p:cNvPr id="944131" name="Rectangle 3">
            <a:hlinkClick r:id="rId1" action="ppaction://hlinksldjump"/>
          </p:cNvPr>
          <p:cNvSpPr>
            <a:spLocks noChangeArrowheads="1"/>
          </p:cNvSpPr>
          <p:nvPr/>
        </p:nvSpPr>
        <p:spPr bwMode="auto">
          <a:xfrm>
            <a:off x="533400" y="3962400"/>
            <a:ext cx="7710765" cy="198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a:solidFill>
                  <a:srgbClr val="993366"/>
                </a:solidFill>
              </a:rPr>
              <a:t>for</a:t>
            </a:r>
            <a:r>
              <a:rPr lang="en-US" altLang="zh-CN" sz="2800">
                <a:solidFill>
                  <a:srgbClr val="993366"/>
                </a:solidFill>
              </a:rPr>
              <a:t> (++p; p &lt;= q; ++p)  *(p-1) = *p;  </a:t>
            </a:r>
            <a:endParaRPr lang="en-US" altLang="zh-CN" sz="2800">
              <a:solidFill>
                <a:srgbClr val="993366"/>
              </a:solidFill>
            </a:endParaRPr>
          </a:p>
          <a:p>
            <a:pPr eaLnBrk="1" hangingPunct="1">
              <a:lnSpc>
                <a:spcPct val="110000"/>
              </a:lnSpc>
              <a:defRPr/>
            </a:pPr>
            <a:r>
              <a:rPr lang="en-US" altLang="zh-CN" sz="2800">
                <a:solidFill>
                  <a:srgbClr val="993366"/>
                </a:solidFill>
              </a:rPr>
              <a:t>                        </a:t>
            </a:r>
            <a:r>
              <a:rPr lang="en-US" altLang="zh-CN" sz="2800" b="1">
                <a:solidFill>
                  <a:srgbClr val="993366"/>
                </a:solidFill>
                <a:ea typeface="隶书" panose="02010509060101010101" charset="-122"/>
              </a:rPr>
              <a:t>//</a:t>
            </a:r>
            <a:r>
              <a:rPr lang="en-US" altLang="zh-CN" sz="2800" b="1">
                <a:solidFill>
                  <a:srgbClr val="993366"/>
                </a:solidFill>
                <a:latin typeface="隶书" panose="02010509060101010101" charset="-122"/>
                <a:ea typeface="隶书" panose="02010509060101010101" charset="-122"/>
              </a:rPr>
              <a:t> </a:t>
            </a:r>
            <a:r>
              <a:rPr lang="zh-CN" altLang="en-US" sz="2800" b="1">
                <a:solidFill>
                  <a:srgbClr val="993366"/>
                </a:solidFill>
                <a:latin typeface="隶书" panose="02010509060101010101" charset="-122"/>
                <a:ea typeface="隶书" panose="02010509060101010101" charset="-122"/>
              </a:rPr>
              <a:t>被删除元素之后的元素左移</a:t>
            </a:r>
            <a:endParaRPr lang="zh-CN" altLang="en-US" sz="2800" b="1">
              <a:solidFill>
                <a:srgbClr val="993366"/>
              </a:solidFill>
              <a:latin typeface="隶书" panose="02010509060101010101" charset="-122"/>
              <a:ea typeface="隶书" panose="02010509060101010101" charset="-122"/>
            </a:endParaRPr>
          </a:p>
          <a:p>
            <a:pPr eaLnBrk="1" hangingPunct="1">
              <a:lnSpc>
                <a:spcPct val="110000"/>
              </a:lnSpc>
              <a:defRPr/>
            </a:pPr>
            <a:r>
              <a:rPr lang="en-US" altLang="zh-CN" sz="2800">
                <a:solidFill>
                  <a:srgbClr val="993366"/>
                </a:solidFill>
              </a:rPr>
              <a:t>--L.length;       // </a:t>
            </a:r>
            <a:r>
              <a:rPr lang="zh-CN" altLang="en-US" sz="2800" b="1">
                <a:solidFill>
                  <a:srgbClr val="993366"/>
                </a:solidFill>
                <a:latin typeface="隶书" panose="02010509060101010101" charset="-122"/>
                <a:ea typeface="隶书" panose="02010509060101010101" charset="-122"/>
              </a:rPr>
              <a:t>表长减</a:t>
            </a:r>
            <a:r>
              <a:rPr lang="en-US" altLang="zh-CN" sz="2800" b="1">
                <a:solidFill>
                  <a:srgbClr val="993366"/>
                </a:solidFill>
                <a:latin typeface="隶书" panose="02010509060101010101" charset="-122"/>
                <a:ea typeface="隶书" panose="02010509060101010101" charset="-122"/>
              </a:rPr>
              <a:t>1</a:t>
            </a:r>
            <a:endParaRPr lang="en-US" altLang="zh-CN" sz="2800" b="1">
              <a:solidFill>
                <a:srgbClr val="993366"/>
              </a:solidFill>
              <a:latin typeface="隶书" panose="02010509060101010101" charset="-122"/>
              <a:ea typeface="隶书" panose="02010509060101010101" charset="-122"/>
            </a:endParaRPr>
          </a:p>
          <a:p>
            <a:pPr eaLnBrk="1" hangingPunct="1">
              <a:lnSpc>
                <a:spcPct val="110000"/>
              </a:lnSpc>
              <a:defRPr/>
            </a:pPr>
            <a:r>
              <a:rPr lang="en-US" altLang="zh-CN" sz="2800" b="1"/>
              <a:t>return</a:t>
            </a:r>
            <a:r>
              <a:rPr lang="en-US" altLang="zh-CN" sz="2800"/>
              <a:t> OK;</a:t>
            </a:r>
            <a:endParaRPr lang="en-US" altLang="zh-CN" sz="2800"/>
          </a:p>
        </p:txBody>
      </p:sp>
      <p:sp>
        <p:nvSpPr>
          <p:cNvPr id="944132" name="Text Box 4"/>
          <p:cNvSpPr txBox="1">
            <a:spLocks noChangeArrowheads="1"/>
          </p:cNvSpPr>
          <p:nvPr/>
        </p:nvSpPr>
        <p:spPr bwMode="auto">
          <a:xfrm>
            <a:off x="4968875" y="5530850"/>
            <a:ext cx="31598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FF0000"/>
                </a:solidFill>
                <a:latin typeface="隶书" panose="02010509060101010101" charset="-122"/>
                <a:ea typeface="隶书" panose="02010509060101010101" charset="-122"/>
              </a:rPr>
              <a:t>算法时间复杂度</a:t>
            </a:r>
            <a:r>
              <a:rPr lang="zh-CN" altLang="en-US" sz="2800" b="1">
                <a:latin typeface="隶书" panose="02010509060101010101" charset="-122"/>
                <a:ea typeface="隶书" panose="02010509060101010101" charset="-122"/>
              </a:rPr>
              <a:t>为</a:t>
            </a:r>
            <a:r>
              <a:rPr lang="en-US" altLang="zh-CN" sz="2800" b="1">
                <a:latin typeface="隶书" panose="02010509060101010101" charset="-122"/>
                <a:ea typeface="隶书" panose="02010509060101010101" charset="-122"/>
              </a:rPr>
              <a:t>:</a:t>
            </a:r>
            <a:endParaRPr lang="en-US" altLang="zh-CN" sz="2800"/>
          </a:p>
        </p:txBody>
      </p:sp>
      <p:sp>
        <p:nvSpPr>
          <p:cNvPr id="944133" name="Text Box 5"/>
          <p:cNvSpPr txBox="1">
            <a:spLocks noChangeArrowheads="1"/>
          </p:cNvSpPr>
          <p:nvPr/>
        </p:nvSpPr>
        <p:spPr bwMode="auto">
          <a:xfrm>
            <a:off x="5105400" y="6064250"/>
            <a:ext cx="3962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2800"/>
              <a:t> </a:t>
            </a:r>
            <a:r>
              <a:rPr lang="en-US" altLang="zh-CN" sz="2800" b="1"/>
              <a:t>O( ListLength(L))</a:t>
            </a:r>
            <a:endParaRPr lang="en-US" altLang="zh-CN" sz="2800"/>
          </a:p>
        </p:txBody>
      </p:sp>
      <p:sp>
        <p:nvSpPr>
          <p:cNvPr id="944134" name="Rectangle 6"/>
          <p:cNvSpPr>
            <a:spLocks noChangeArrowheads="1"/>
          </p:cNvSpPr>
          <p:nvPr/>
        </p:nvSpPr>
        <p:spPr bwMode="auto">
          <a:xfrm>
            <a:off x="565150" y="2286000"/>
            <a:ext cx="8746305" cy="1503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a:t>p = </a:t>
            </a:r>
            <a:r>
              <a:rPr lang="en-US" altLang="zh-CN" sz="2800" b="1"/>
              <a:t>&amp;</a:t>
            </a:r>
            <a:r>
              <a:rPr lang="en-US" altLang="zh-CN" sz="2800"/>
              <a:t>(L.elem[i-1]);      // p </a:t>
            </a:r>
            <a:r>
              <a:rPr lang="zh-CN" altLang="en-US" sz="2800" b="1">
                <a:ea typeface="隶书" panose="02010509060101010101" charset="-122"/>
              </a:rPr>
              <a:t>为被删除元素的位置</a:t>
            </a:r>
            <a:endParaRPr lang="zh-CN" altLang="en-US" sz="2800"/>
          </a:p>
          <a:p>
            <a:pPr eaLnBrk="1" hangingPunct="1">
              <a:lnSpc>
                <a:spcPct val="110000"/>
              </a:lnSpc>
              <a:defRPr/>
            </a:pPr>
            <a:r>
              <a:rPr lang="en-US" altLang="zh-CN" sz="2800"/>
              <a:t>e = *p;                             // </a:t>
            </a:r>
            <a:r>
              <a:rPr lang="zh-CN" altLang="en-US" sz="2800" b="1">
                <a:ea typeface="隶书" panose="02010509060101010101" charset="-122"/>
              </a:rPr>
              <a:t>被删除元素的值赋给 </a:t>
            </a:r>
            <a:r>
              <a:rPr lang="en-US" altLang="zh-CN" sz="2800"/>
              <a:t>e</a:t>
            </a:r>
            <a:endParaRPr lang="en-US" altLang="zh-CN" sz="2800"/>
          </a:p>
          <a:p>
            <a:pPr eaLnBrk="1" hangingPunct="1">
              <a:lnSpc>
                <a:spcPct val="110000"/>
              </a:lnSpc>
              <a:defRPr/>
            </a:pPr>
            <a:r>
              <a:rPr lang="en-US" altLang="zh-CN" sz="2800"/>
              <a:t>q = L.elem+L.length-1;     // </a:t>
            </a:r>
            <a:r>
              <a:rPr lang="zh-CN" altLang="en-US" sz="2800" b="1">
                <a:ea typeface="隶书" panose="02010509060101010101" charset="-122"/>
              </a:rPr>
              <a:t>表尾元素的位置</a:t>
            </a:r>
            <a:endParaRPr lang="zh-CN" altLang="en-US" sz="2800"/>
          </a:p>
        </p:txBody>
      </p:sp>
      <p:sp>
        <p:nvSpPr>
          <p:cNvPr id="944135" name="Rectangle 7"/>
          <p:cNvSpPr>
            <a:spLocks noChangeArrowheads="1"/>
          </p:cNvSpPr>
          <p:nvPr/>
        </p:nvSpPr>
        <p:spPr bwMode="auto">
          <a:xfrm>
            <a:off x="533400" y="1219200"/>
            <a:ext cx="8194872" cy="102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a:solidFill>
                  <a:srgbClr val="000099"/>
                </a:solidFill>
              </a:rPr>
              <a:t>if</a:t>
            </a:r>
            <a:r>
              <a:rPr lang="en-US" altLang="zh-CN" sz="2800">
                <a:solidFill>
                  <a:srgbClr val="000099"/>
                </a:solidFill>
              </a:rPr>
              <a:t> ((i &lt; 1) </a:t>
            </a:r>
            <a:r>
              <a:rPr lang="en-US" altLang="zh-CN" sz="2800" b="1">
                <a:solidFill>
                  <a:srgbClr val="000099"/>
                </a:solidFill>
              </a:rPr>
              <a:t>||</a:t>
            </a:r>
            <a:r>
              <a:rPr lang="en-US" altLang="zh-CN" sz="2800">
                <a:solidFill>
                  <a:srgbClr val="000099"/>
                </a:solidFill>
              </a:rPr>
              <a:t> (i &gt; L.length))  </a:t>
            </a:r>
            <a:r>
              <a:rPr lang="en-US" altLang="zh-CN" sz="2800" b="1">
                <a:solidFill>
                  <a:srgbClr val="000099"/>
                </a:solidFill>
              </a:rPr>
              <a:t>return</a:t>
            </a:r>
            <a:r>
              <a:rPr lang="en-US" altLang="zh-CN" sz="2800">
                <a:solidFill>
                  <a:srgbClr val="000099"/>
                </a:solidFill>
              </a:rPr>
              <a:t> ERROR; </a:t>
            </a:r>
            <a:endParaRPr lang="en-US" altLang="zh-CN" sz="2800">
              <a:solidFill>
                <a:srgbClr val="000099"/>
              </a:solidFill>
            </a:endParaRPr>
          </a:p>
          <a:p>
            <a:pPr eaLnBrk="1" hangingPunct="1">
              <a:lnSpc>
                <a:spcPct val="110000"/>
              </a:lnSpc>
              <a:defRPr/>
            </a:pPr>
            <a:r>
              <a:rPr lang="en-US" altLang="zh-CN" sz="2800">
                <a:solidFill>
                  <a:srgbClr val="000099"/>
                </a:solidFill>
              </a:rPr>
              <a:t>                                            // </a:t>
            </a:r>
            <a:r>
              <a:rPr lang="zh-CN" altLang="en-US" sz="2800" b="1">
                <a:solidFill>
                  <a:srgbClr val="000099"/>
                </a:solidFill>
                <a:ea typeface="隶书" panose="02010509060101010101" charset="-122"/>
              </a:rPr>
              <a:t>删除位置不合法</a:t>
            </a:r>
            <a:endParaRPr lang="zh-CN" altLang="en-US" sz="2800" b="1">
              <a:ea typeface="隶书" panose="02010509060101010101" charset="-122"/>
            </a:endParaRPr>
          </a:p>
        </p:txBody>
      </p:sp>
      <p:sp>
        <p:nvSpPr>
          <p:cNvPr id="944136" name="Rectangle 8">
            <a:hlinkClick r:id="" action="ppaction://hlinkshowjump?jump=nextslide"/>
          </p:cNvPr>
          <p:cNvSpPr>
            <a:spLocks noChangeArrowheads="1"/>
          </p:cNvSpPr>
          <p:nvPr/>
        </p:nvSpPr>
        <p:spPr bwMode="auto">
          <a:xfrm>
            <a:off x="6711950" y="4495800"/>
            <a:ext cx="16209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FF0000"/>
                </a:solidFill>
                <a:latin typeface="隶书" panose="02010509060101010101" charset="-122"/>
                <a:ea typeface="隶书" panose="02010509060101010101" charset="-122"/>
              </a:rPr>
              <a:t>元素左移</a:t>
            </a:r>
            <a:endParaRPr lang="zh-CN" altLang="en-US" sz="2800" b="1">
              <a:solidFill>
                <a:srgbClr val="993366"/>
              </a:solidFill>
              <a:latin typeface="隶书" panose="02010509060101010101" charset="-122"/>
              <a:ea typeface="隶书" panose="020105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4130"/>
                                        </p:tgtEl>
                                        <p:attrNameLst>
                                          <p:attrName>style.visibility</p:attrName>
                                        </p:attrNameLst>
                                      </p:cBhvr>
                                      <p:to>
                                        <p:strVal val="visible"/>
                                      </p:to>
                                    </p:set>
                                    <p:animEffect transition="in" filter="wipe(left)">
                                      <p:cBhvr>
                                        <p:cTn id="7" dur="500"/>
                                        <p:tgtEl>
                                          <p:spTgt spid="9441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4134"/>
                                        </p:tgtEl>
                                        <p:attrNameLst>
                                          <p:attrName>style.visibility</p:attrName>
                                        </p:attrNameLst>
                                      </p:cBhvr>
                                      <p:to>
                                        <p:strVal val="visible"/>
                                      </p:to>
                                    </p:set>
                                    <p:animEffect transition="in" filter="wipe(left)">
                                      <p:cBhvr>
                                        <p:cTn id="12" dur="500"/>
                                        <p:tgtEl>
                                          <p:spTgt spid="9441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4131"/>
                                        </p:tgtEl>
                                        <p:attrNameLst>
                                          <p:attrName>style.visibility</p:attrName>
                                        </p:attrNameLst>
                                      </p:cBhvr>
                                      <p:to>
                                        <p:strVal val="visible"/>
                                      </p:to>
                                    </p:set>
                                    <p:animEffect transition="in" filter="wipe(left)">
                                      <p:cBhvr>
                                        <p:cTn id="17" dur="500"/>
                                        <p:tgtEl>
                                          <p:spTgt spid="9441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4135"/>
                                        </p:tgtEl>
                                        <p:attrNameLst>
                                          <p:attrName>style.visibility</p:attrName>
                                        </p:attrNameLst>
                                      </p:cBhvr>
                                      <p:to>
                                        <p:strVal val="visible"/>
                                      </p:to>
                                    </p:set>
                                    <p:animEffect transition="in" filter="wipe(left)">
                                      <p:cBhvr>
                                        <p:cTn id="22" dur="500"/>
                                        <p:tgtEl>
                                          <p:spTgt spid="9441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44132"/>
                                        </p:tgtEl>
                                        <p:attrNameLst>
                                          <p:attrName>style.visibility</p:attrName>
                                        </p:attrNameLst>
                                      </p:cBhvr>
                                      <p:to>
                                        <p:strVal val="visible"/>
                                      </p:to>
                                    </p:set>
                                    <p:animEffect transition="in" filter="wipe(left)">
                                      <p:cBhvr>
                                        <p:cTn id="27" dur="500"/>
                                        <p:tgtEl>
                                          <p:spTgt spid="94413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44136"/>
                                        </p:tgtEl>
                                        <p:attrNameLst>
                                          <p:attrName>style.visibility</p:attrName>
                                        </p:attrNameLst>
                                      </p:cBhvr>
                                      <p:to>
                                        <p:strVal val="visible"/>
                                      </p:to>
                                    </p:set>
                                    <p:animEffect transition="in" filter="wipe(left)">
                                      <p:cBhvr>
                                        <p:cTn id="32" dur="500"/>
                                        <p:tgtEl>
                                          <p:spTgt spid="9441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44133"/>
                                        </p:tgtEl>
                                        <p:attrNameLst>
                                          <p:attrName>style.visibility</p:attrName>
                                        </p:attrNameLst>
                                      </p:cBhvr>
                                      <p:to>
                                        <p:strVal val="visible"/>
                                      </p:to>
                                    </p:set>
                                    <p:animEffect transition="in" filter="wipe(left)">
                                      <p:cBhvr>
                                        <p:cTn id="37" dur="500"/>
                                        <p:tgtEl>
                                          <p:spTgt spid="944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130" grpId="0" animBg="1" autoUpdateAnimBg="0"/>
      <p:bldP spid="944131" grpId="0" autoUpdateAnimBg="0"/>
      <p:bldP spid="944132" grpId="0" autoUpdateAnimBg="0"/>
      <p:bldP spid="944133" grpId="0" autoUpdateAnimBg="0"/>
      <p:bldP spid="944134" grpId="0" autoUpdateAnimBg="0"/>
      <p:bldP spid="944135" grpId="0" autoUpdateAnimBg="0"/>
      <p:bldP spid="944136"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4" name="Text Box 2"/>
          <p:cNvSpPr txBox="1">
            <a:spLocks noChangeArrowheads="1"/>
          </p:cNvSpPr>
          <p:nvPr/>
        </p:nvSpPr>
        <p:spPr bwMode="auto">
          <a:xfrm>
            <a:off x="1593850" y="136525"/>
            <a:ext cx="602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000099"/>
                </a:solidFill>
                <a:latin typeface="隶书" panose="02010509060101010101" charset="-122"/>
                <a:ea typeface="隶书" panose="02010509060101010101" charset="-122"/>
              </a:rPr>
              <a:t>考虑移动元素的平均情况</a:t>
            </a:r>
            <a:r>
              <a:rPr lang="en-US" altLang="zh-CN" sz="4000" b="1">
                <a:solidFill>
                  <a:srgbClr val="000099"/>
                </a:solidFill>
                <a:latin typeface="隶书" panose="02010509060101010101" charset="-122"/>
                <a:ea typeface="隶书" panose="02010509060101010101" charset="-122"/>
              </a:rPr>
              <a:t>:</a:t>
            </a:r>
            <a:endParaRPr lang="en-US" altLang="zh-CN" sz="4000" b="1">
              <a:solidFill>
                <a:srgbClr val="000099"/>
              </a:solidFill>
              <a:latin typeface="隶书" panose="02010509060101010101" charset="-122"/>
              <a:ea typeface="隶书" panose="02010509060101010101" charset="-122"/>
            </a:endParaRPr>
          </a:p>
        </p:txBody>
      </p:sp>
      <p:grpSp>
        <p:nvGrpSpPr>
          <p:cNvPr id="945155" name="Group 3"/>
          <p:cNvGrpSpPr/>
          <p:nvPr/>
        </p:nvGrpSpPr>
        <p:grpSpPr bwMode="auto">
          <a:xfrm>
            <a:off x="533400" y="1127125"/>
            <a:ext cx="8153400" cy="1844675"/>
            <a:chOff x="336" y="432"/>
            <a:chExt cx="5136" cy="1162"/>
          </a:xfrm>
        </p:grpSpPr>
        <p:sp>
          <p:nvSpPr>
            <p:cNvPr id="945156" name="Text Box 4"/>
            <p:cNvSpPr txBox="1">
              <a:spLocks noChangeArrowheads="1"/>
            </p:cNvSpPr>
            <p:nvPr/>
          </p:nvSpPr>
          <p:spPr bwMode="auto">
            <a:xfrm>
              <a:off x="336" y="432"/>
              <a:ext cx="5136" cy="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a:ea typeface="楷体_GB2312" charset="0"/>
                </a:rPr>
                <a:t>    假设删除第</a:t>
              </a:r>
              <a:r>
                <a:rPr lang="zh-CN" altLang="en-US" sz="3200">
                  <a:solidFill>
                    <a:srgbClr val="6600CC"/>
                  </a:solidFill>
                </a:rPr>
                <a:t> </a:t>
              </a:r>
              <a:r>
                <a:rPr lang="en-US" altLang="zh-CN" sz="3200">
                  <a:solidFill>
                    <a:srgbClr val="6600CC"/>
                  </a:solidFill>
                </a:rPr>
                <a:t>i </a:t>
              </a:r>
              <a:r>
                <a:rPr lang="zh-CN" altLang="en-US" sz="3200">
                  <a:ea typeface="楷体_GB2312" charset="0"/>
                </a:rPr>
                <a:t>个元素的概率为</a:t>
              </a:r>
              <a:r>
                <a:rPr lang="zh-CN" altLang="en-US" sz="3200"/>
                <a:t>     </a:t>
              </a:r>
              <a:r>
                <a:rPr lang="en-US" altLang="zh-CN" sz="3200"/>
                <a:t>, </a:t>
              </a:r>
              <a:endParaRPr lang="en-US" altLang="zh-CN" sz="3200"/>
            </a:p>
            <a:p>
              <a:pPr eaLnBrk="1" hangingPunct="1">
                <a:lnSpc>
                  <a:spcPct val="120000"/>
                </a:lnSpc>
                <a:defRPr/>
              </a:pPr>
              <a:r>
                <a:rPr lang="zh-CN" altLang="en-US" sz="3200">
                  <a:ea typeface="楷体_GB2312" charset="0"/>
                </a:rPr>
                <a:t>则在长度为</a:t>
              </a:r>
              <a:r>
                <a:rPr lang="en-US" altLang="zh-CN" sz="3200" i="1">
                  <a:solidFill>
                    <a:srgbClr val="6600CC"/>
                  </a:solidFill>
                </a:rPr>
                <a:t>n </a:t>
              </a:r>
              <a:r>
                <a:rPr lang="zh-CN" altLang="en-US" sz="3200">
                  <a:ea typeface="楷体_GB2312" charset="0"/>
                </a:rPr>
                <a:t>的线性表中</a:t>
              </a:r>
              <a:r>
                <a:rPr lang="zh-CN" altLang="en-US" sz="3200">
                  <a:solidFill>
                    <a:srgbClr val="003399"/>
                  </a:solidFill>
                  <a:ea typeface="楷体_GB2312" charset="0"/>
                </a:rPr>
                <a:t>删除一个元素</a:t>
              </a:r>
              <a:r>
                <a:rPr lang="zh-CN" altLang="en-US" sz="3200">
                  <a:ea typeface="楷体_GB2312" charset="0"/>
                </a:rPr>
                <a:t>所需</a:t>
              </a:r>
              <a:r>
                <a:rPr lang="zh-CN" altLang="en-US" sz="3200" b="1">
                  <a:solidFill>
                    <a:srgbClr val="CC0000"/>
                  </a:solidFill>
                  <a:ea typeface="楷体_GB2312" charset="0"/>
                </a:rPr>
                <a:t>移动元素次数的期望值</a:t>
              </a:r>
              <a:r>
                <a:rPr lang="zh-CN" altLang="en-US" sz="3200">
                  <a:ea typeface="楷体_GB2312" charset="0"/>
                </a:rPr>
                <a:t>为：</a:t>
              </a:r>
              <a:endParaRPr lang="zh-CN" altLang="en-US" sz="3200"/>
            </a:p>
          </p:txBody>
        </p:sp>
        <p:graphicFrame>
          <p:nvGraphicFramePr>
            <p:cNvPr id="72713" name="Object 5"/>
            <p:cNvGraphicFramePr>
              <a:graphicFrameLocks noChangeAspect="1"/>
            </p:cNvGraphicFramePr>
            <p:nvPr/>
          </p:nvGraphicFramePr>
          <p:xfrm>
            <a:off x="3984" y="481"/>
            <a:ext cx="215" cy="335"/>
          </p:xfrm>
          <a:graphic>
            <a:graphicData uri="http://schemas.openxmlformats.org/presentationml/2006/ole">
              <mc:AlternateContent xmlns:mc="http://schemas.openxmlformats.org/markup-compatibility/2006">
                <mc:Choice xmlns:v="urn:schemas-microsoft-com:vml" Requires="v">
                  <p:oleObj spid="_x0000_s64547" name="公式" r:id="rId1" imgW="342900" imgH="533400" progId="Equation.3">
                    <p:embed/>
                  </p:oleObj>
                </mc:Choice>
                <mc:Fallback>
                  <p:oleObj name="公式" r:id="rId1" imgW="342900" imgH="533400" progId="Equation.3">
                    <p:embed/>
                    <p:pic>
                      <p:nvPicPr>
                        <p:cNvPr id="0" name="图片 645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4" y="481"/>
                          <a:ext cx="215" cy="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pSp>
      <p:graphicFrame>
        <p:nvGraphicFramePr>
          <p:cNvPr id="945158" name="Object 6"/>
          <p:cNvGraphicFramePr>
            <a:graphicFrameLocks noChangeAspect="1"/>
          </p:cNvGraphicFramePr>
          <p:nvPr/>
        </p:nvGraphicFramePr>
        <p:xfrm>
          <a:off x="2514600" y="3048000"/>
          <a:ext cx="2921000" cy="990600"/>
        </p:xfrm>
        <a:graphic>
          <a:graphicData uri="http://schemas.openxmlformats.org/presentationml/2006/ole">
            <mc:AlternateContent xmlns:mc="http://schemas.openxmlformats.org/markup-compatibility/2006">
              <mc:Choice xmlns:v="urn:schemas-microsoft-com:vml" Requires="v">
                <p:oleObj spid="_x0000_s64548" name="公式" r:id="rId3" imgW="2921000" imgH="990600" progId="Equation.3">
                  <p:embed/>
                </p:oleObj>
              </mc:Choice>
              <mc:Fallback>
                <p:oleObj name="公式" r:id="rId3" imgW="2921000" imgH="990600" progId="Equation.3">
                  <p:embed/>
                  <p:pic>
                    <p:nvPicPr>
                      <p:cNvPr id="0" name="图片 645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048000"/>
                        <a:ext cx="2921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945159" name="Object 7"/>
          <p:cNvGraphicFramePr>
            <a:graphicFrameLocks noChangeAspect="1"/>
          </p:cNvGraphicFramePr>
          <p:nvPr/>
        </p:nvGraphicFramePr>
        <p:xfrm>
          <a:off x="2438400" y="5511800"/>
          <a:ext cx="2870200" cy="1041400"/>
        </p:xfrm>
        <a:graphic>
          <a:graphicData uri="http://schemas.openxmlformats.org/presentationml/2006/ole">
            <mc:AlternateContent xmlns:mc="http://schemas.openxmlformats.org/markup-compatibility/2006">
              <mc:Choice xmlns:v="urn:schemas-microsoft-com:vml" Requires="v">
                <p:oleObj spid="_x0000_s64549" name="公式" r:id="rId5" imgW="2870200" imgH="1041400" progId="Equation.3">
                  <p:embed/>
                </p:oleObj>
              </mc:Choice>
              <mc:Fallback>
                <p:oleObj name="公式" r:id="rId5" imgW="2870200" imgH="1041400" progId="Equation.3">
                  <p:embed/>
                  <p:pic>
                    <p:nvPicPr>
                      <p:cNvPr id="0" name="图片 645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5511800"/>
                        <a:ext cx="28702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945160" name="Object 8"/>
          <p:cNvGraphicFramePr>
            <a:graphicFrameLocks noChangeAspect="1"/>
          </p:cNvGraphicFramePr>
          <p:nvPr/>
        </p:nvGraphicFramePr>
        <p:xfrm>
          <a:off x="5486400" y="5511800"/>
          <a:ext cx="1219200" cy="1041400"/>
        </p:xfrm>
        <a:graphic>
          <a:graphicData uri="http://schemas.openxmlformats.org/presentationml/2006/ole">
            <mc:AlternateContent xmlns:mc="http://schemas.openxmlformats.org/markup-compatibility/2006">
              <mc:Choice xmlns:v="urn:schemas-microsoft-com:vml" Requires="v">
                <p:oleObj spid="_x0000_s64550" name="公式" r:id="rId7" imgW="1218565" imgH="1040765" progId="Equation.3">
                  <p:embed/>
                </p:oleObj>
              </mc:Choice>
              <mc:Fallback>
                <p:oleObj name="公式" r:id="rId7" imgW="1218565" imgH="1040765" progId="Equation.3">
                  <p:embed/>
                  <p:pic>
                    <p:nvPicPr>
                      <p:cNvPr id="0" name="图片 645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6400" y="5511800"/>
                        <a:ext cx="12192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945161" name="Text Box 9"/>
          <p:cNvSpPr txBox="1">
            <a:spLocks noChangeArrowheads="1"/>
          </p:cNvSpPr>
          <p:nvPr/>
        </p:nvSpPr>
        <p:spPr bwMode="auto">
          <a:xfrm>
            <a:off x="517525" y="4073525"/>
            <a:ext cx="8245475"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a:ea typeface="楷体_GB2312" charset="0"/>
              </a:rPr>
              <a:t>若假定在线性表中任何一个位置上进行删除的</a:t>
            </a:r>
            <a:r>
              <a:rPr lang="zh-CN" altLang="en-US" sz="3200">
                <a:solidFill>
                  <a:srgbClr val="CC0000"/>
                </a:solidFill>
                <a:ea typeface="楷体_GB2312" charset="0"/>
              </a:rPr>
              <a:t>概率</a:t>
            </a:r>
            <a:r>
              <a:rPr lang="zh-CN" altLang="en-US" sz="3200">
                <a:ea typeface="楷体_GB2312" charset="0"/>
              </a:rPr>
              <a:t>都是</a:t>
            </a:r>
            <a:r>
              <a:rPr lang="zh-CN" altLang="en-US" sz="3200">
                <a:solidFill>
                  <a:srgbClr val="CC0000"/>
                </a:solidFill>
                <a:ea typeface="楷体_GB2312" charset="0"/>
              </a:rPr>
              <a:t>相等</a:t>
            </a:r>
            <a:r>
              <a:rPr lang="zh-CN" altLang="en-US" sz="3200">
                <a:ea typeface="楷体_GB2312" charset="0"/>
              </a:rPr>
              <a:t>的，则</a:t>
            </a:r>
            <a:r>
              <a:rPr lang="zh-CN" altLang="en-US" sz="3200" b="1">
                <a:solidFill>
                  <a:srgbClr val="CC0000"/>
                </a:solidFill>
                <a:ea typeface="楷体_GB2312" charset="0"/>
              </a:rPr>
              <a:t>移动元素的期望值</a:t>
            </a:r>
            <a:r>
              <a:rPr lang="zh-CN" altLang="en-US" sz="3200">
                <a:ea typeface="楷体_GB2312" charset="0"/>
              </a:rPr>
              <a:t>为</a:t>
            </a:r>
            <a:r>
              <a:rPr lang="zh-CN" altLang="en-US" sz="3200"/>
              <a:t>：</a:t>
            </a:r>
            <a:endParaRPr lang="zh-CN" altLang="en-US" sz="3200"/>
          </a:p>
        </p:txBody>
      </p:sp>
      <p:sp>
        <p:nvSpPr>
          <p:cNvPr id="945162" name="AutoShape 10">
            <a:hlinkClick r:id="rId9" action="ppaction://hlinksldjump" highlightClick="1"/>
          </p:cNvPr>
          <p:cNvSpPr>
            <a:spLocks noChangeArrowheads="1"/>
          </p:cNvSpPr>
          <p:nvPr/>
        </p:nvSpPr>
        <p:spPr bwMode="auto">
          <a:xfrm>
            <a:off x="8534400" y="64770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5154"/>
                                        </p:tgtEl>
                                        <p:attrNameLst>
                                          <p:attrName>style.visibility</p:attrName>
                                        </p:attrNameLst>
                                      </p:cBhvr>
                                      <p:to>
                                        <p:strVal val="visible"/>
                                      </p:to>
                                    </p:set>
                                    <p:animEffect transition="in" filter="wipe(left)">
                                      <p:cBhvr>
                                        <p:cTn id="7" dur="500"/>
                                        <p:tgtEl>
                                          <p:spTgt spid="9451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45155"/>
                                        </p:tgtEl>
                                        <p:attrNameLst>
                                          <p:attrName>style.visibility</p:attrName>
                                        </p:attrNameLst>
                                      </p:cBhvr>
                                      <p:to>
                                        <p:strVal val="visible"/>
                                      </p:to>
                                    </p:set>
                                    <p:animEffect transition="in" filter="wipe(left)">
                                      <p:cBhvr>
                                        <p:cTn id="12" dur="500"/>
                                        <p:tgtEl>
                                          <p:spTgt spid="9451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45158"/>
                                        </p:tgtEl>
                                        <p:attrNameLst>
                                          <p:attrName>style.visibility</p:attrName>
                                        </p:attrNameLst>
                                      </p:cBhvr>
                                      <p:to>
                                        <p:strVal val="visible"/>
                                      </p:to>
                                    </p:set>
                                    <p:animEffect transition="in" filter="wipe(left)">
                                      <p:cBhvr>
                                        <p:cTn id="17" dur="500"/>
                                        <p:tgtEl>
                                          <p:spTgt spid="9451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5161"/>
                                        </p:tgtEl>
                                        <p:attrNameLst>
                                          <p:attrName>style.visibility</p:attrName>
                                        </p:attrNameLst>
                                      </p:cBhvr>
                                      <p:to>
                                        <p:strVal val="visible"/>
                                      </p:to>
                                    </p:set>
                                    <p:animEffect transition="in" filter="wipe(left)">
                                      <p:cBhvr>
                                        <p:cTn id="22" dur="500"/>
                                        <p:tgtEl>
                                          <p:spTgt spid="94516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45159"/>
                                        </p:tgtEl>
                                        <p:attrNameLst>
                                          <p:attrName>style.visibility</p:attrName>
                                        </p:attrNameLst>
                                      </p:cBhvr>
                                      <p:to>
                                        <p:strVal val="visible"/>
                                      </p:to>
                                    </p:set>
                                    <p:animEffect transition="in" filter="wipe(left)">
                                      <p:cBhvr>
                                        <p:cTn id="27" dur="500"/>
                                        <p:tgtEl>
                                          <p:spTgt spid="9451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45160"/>
                                        </p:tgtEl>
                                        <p:attrNameLst>
                                          <p:attrName>style.visibility</p:attrName>
                                        </p:attrNameLst>
                                      </p:cBhvr>
                                      <p:to>
                                        <p:strVal val="visible"/>
                                      </p:to>
                                    </p:set>
                                    <p:animEffect transition="in" filter="wipe(left)">
                                      <p:cBhvr>
                                        <p:cTn id="32" dur="500"/>
                                        <p:tgtEl>
                                          <p:spTgt spid="945160"/>
                                        </p:tgtEl>
                                      </p:cBhvr>
                                    </p:animEffect>
                                  </p:childTnLst>
                                </p:cTn>
                              </p:par>
                            </p:childTnLst>
                          </p:cTn>
                        </p:par>
                        <p:par>
                          <p:cTn id="33" fill="hold">
                            <p:stCondLst>
                              <p:cond delay="500"/>
                            </p:stCondLst>
                            <p:childTnLst>
                              <p:par>
                                <p:cTn id="34" presetID="2" presetClass="entr" presetSubtype="6" fill="hold" grpId="0" nodeType="afterEffect">
                                  <p:stCondLst>
                                    <p:cond delay="0"/>
                                  </p:stCondLst>
                                  <p:childTnLst>
                                    <p:set>
                                      <p:cBhvr>
                                        <p:cTn id="35" dur="1" fill="hold">
                                          <p:stCondLst>
                                            <p:cond delay="0"/>
                                          </p:stCondLst>
                                        </p:cTn>
                                        <p:tgtEl>
                                          <p:spTgt spid="945162"/>
                                        </p:tgtEl>
                                        <p:attrNameLst>
                                          <p:attrName>style.visibility</p:attrName>
                                        </p:attrNameLst>
                                      </p:cBhvr>
                                      <p:to>
                                        <p:strVal val="visible"/>
                                      </p:to>
                                    </p:set>
                                    <p:anim calcmode="lin" valueType="num">
                                      <p:cBhvr additive="base">
                                        <p:cTn id="36" dur="500" fill="hold"/>
                                        <p:tgtEl>
                                          <p:spTgt spid="945162"/>
                                        </p:tgtEl>
                                        <p:attrNameLst>
                                          <p:attrName>ppt_x</p:attrName>
                                        </p:attrNameLst>
                                      </p:cBhvr>
                                      <p:tavLst>
                                        <p:tav tm="0">
                                          <p:val>
                                            <p:strVal val="1+#ppt_w/2"/>
                                          </p:val>
                                        </p:tav>
                                        <p:tav tm="100000">
                                          <p:val>
                                            <p:strVal val="#ppt_x"/>
                                          </p:val>
                                        </p:tav>
                                      </p:tavLst>
                                    </p:anim>
                                    <p:anim calcmode="lin" valueType="num">
                                      <p:cBhvr additive="base">
                                        <p:cTn id="37" dur="500" fill="hold"/>
                                        <p:tgtEl>
                                          <p:spTgt spid="9451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5154" grpId="0" autoUpdateAnimBg="0"/>
      <p:bldP spid="945161" grpId="0" autoUpdateAnimBg="0"/>
      <p:bldP spid="94516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6178" name="Group 2"/>
          <p:cNvGrpSpPr/>
          <p:nvPr/>
        </p:nvGrpSpPr>
        <p:grpSpPr bwMode="auto">
          <a:xfrm>
            <a:off x="914400" y="4191000"/>
            <a:ext cx="7543800" cy="641350"/>
            <a:chOff x="576" y="2160"/>
            <a:chExt cx="4752" cy="404"/>
          </a:xfrm>
        </p:grpSpPr>
        <p:sp>
          <p:nvSpPr>
            <p:cNvPr id="946179" name="Text Box 3"/>
            <p:cNvSpPr txBox="1">
              <a:spLocks noChangeArrowheads="1"/>
            </p:cNvSpPr>
            <p:nvPr/>
          </p:nvSpPr>
          <p:spPr bwMode="auto">
            <a:xfrm>
              <a:off x="614" y="2160"/>
              <a:ext cx="298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660033"/>
                  </a:solidFill>
                </a:rPr>
                <a:t>21  18  30  75  42  56  87</a:t>
              </a:r>
              <a:endParaRPr lang="en-US" altLang="zh-CN" sz="2800" dirty="0"/>
            </a:p>
          </p:txBody>
        </p:sp>
        <p:grpSp>
          <p:nvGrpSpPr>
            <p:cNvPr id="73769" name="Group 4"/>
            <p:cNvGrpSpPr/>
            <p:nvPr/>
          </p:nvGrpSpPr>
          <p:grpSpPr bwMode="auto">
            <a:xfrm>
              <a:off x="576" y="2180"/>
              <a:ext cx="4752" cy="384"/>
              <a:chOff x="576" y="2448"/>
              <a:chExt cx="4752" cy="384"/>
            </a:xfrm>
          </p:grpSpPr>
          <p:sp>
            <p:nvSpPr>
              <p:cNvPr id="946181" name="Rectangle 5"/>
              <p:cNvSpPr>
                <a:spLocks noChangeArrowheads="1"/>
              </p:cNvSpPr>
              <p:nvPr/>
            </p:nvSpPr>
            <p:spPr bwMode="auto">
              <a:xfrm>
                <a:off x="576" y="2448"/>
                <a:ext cx="4752" cy="384"/>
              </a:xfrm>
              <a:prstGeom prst="rect">
                <a:avLst/>
              </a:prstGeom>
              <a:noFill/>
              <a:ln w="9525">
                <a:solidFill>
                  <a:srgbClr val="6600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2" name="Line 6"/>
              <p:cNvSpPr>
                <a:spLocks noChangeShapeType="1"/>
              </p:cNvSpPr>
              <p:nvPr/>
            </p:nvSpPr>
            <p:spPr bwMode="auto">
              <a:xfrm>
                <a:off x="100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3" name="Line 7"/>
              <p:cNvSpPr>
                <a:spLocks noChangeShapeType="1"/>
              </p:cNvSpPr>
              <p:nvPr/>
            </p:nvSpPr>
            <p:spPr bwMode="auto">
              <a:xfrm>
                <a:off x="144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4" name="Line 8"/>
              <p:cNvSpPr>
                <a:spLocks noChangeShapeType="1"/>
              </p:cNvSpPr>
              <p:nvPr/>
            </p:nvSpPr>
            <p:spPr bwMode="auto">
              <a:xfrm>
                <a:off x="187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5" name="Line 9"/>
              <p:cNvSpPr>
                <a:spLocks noChangeShapeType="1"/>
              </p:cNvSpPr>
              <p:nvPr/>
            </p:nvSpPr>
            <p:spPr bwMode="auto">
              <a:xfrm>
                <a:off x="2304"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6" name="Line 10"/>
              <p:cNvSpPr>
                <a:spLocks noChangeShapeType="1"/>
              </p:cNvSpPr>
              <p:nvPr/>
            </p:nvSpPr>
            <p:spPr bwMode="auto">
              <a:xfrm>
                <a:off x="273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7" name="Line 11"/>
              <p:cNvSpPr>
                <a:spLocks noChangeShapeType="1"/>
              </p:cNvSpPr>
              <p:nvPr/>
            </p:nvSpPr>
            <p:spPr bwMode="auto">
              <a:xfrm>
                <a:off x="316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8" name="Line 12"/>
              <p:cNvSpPr>
                <a:spLocks noChangeShapeType="1"/>
              </p:cNvSpPr>
              <p:nvPr/>
            </p:nvSpPr>
            <p:spPr bwMode="auto">
              <a:xfrm>
                <a:off x="360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9" name="Line 13"/>
              <p:cNvSpPr>
                <a:spLocks noChangeShapeType="1"/>
              </p:cNvSpPr>
              <p:nvPr/>
            </p:nvSpPr>
            <p:spPr bwMode="auto">
              <a:xfrm>
                <a:off x="489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0" name="Line 14"/>
              <p:cNvSpPr>
                <a:spLocks noChangeShapeType="1"/>
              </p:cNvSpPr>
              <p:nvPr/>
            </p:nvSpPr>
            <p:spPr bwMode="auto">
              <a:xfrm>
                <a:off x="403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grpSp>
        <p:nvGrpSpPr>
          <p:cNvPr id="946191" name="Group 15"/>
          <p:cNvGrpSpPr/>
          <p:nvPr/>
        </p:nvGrpSpPr>
        <p:grpSpPr bwMode="auto">
          <a:xfrm>
            <a:off x="914400" y="5607050"/>
            <a:ext cx="7543800" cy="641350"/>
            <a:chOff x="576" y="3052"/>
            <a:chExt cx="4752" cy="404"/>
          </a:xfrm>
        </p:grpSpPr>
        <p:grpSp>
          <p:nvGrpSpPr>
            <p:cNvPr id="73756" name="Group 16"/>
            <p:cNvGrpSpPr/>
            <p:nvPr/>
          </p:nvGrpSpPr>
          <p:grpSpPr bwMode="auto">
            <a:xfrm>
              <a:off x="576" y="3072"/>
              <a:ext cx="4752" cy="384"/>
              <a:chOff x="576" y="2448"/>
              <a:chExt cx="4752" cy="384"/>
            </a:xfrm>
          </p:grpSpPr>
          <p:sp>
            <p:nvSpPr>
              <p:cNvPr id="946193" name="Rectangle 17"/>
              <p:cNvSpPr>
                <a:spLocks noChangeArrowheads="1"/>
              </p:cNvSpPr>
              <p:nvPr/>
            </p:nvSpPr>
            <p:spPr bwMode="auto">
              <a:xfrm>
                <a:off x="576" y="2448"/>
                <a:ext cx="4752" cy="384"/>
              </a:xfrm>
              <a:prstGeom prst="rect">
                <a:avLst/>
              </a:prstGeom>
              <a:noFill/>
              <a:ln w="9525">
                <a:solidFill>
                  <a:srgbClr val="6600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4" name="Line 18"/>
              <p:cNvSpPr>
                <a:spLocks noChangeShapeType="1"/>
              </p:cNvSpPr>
              <p:nvPr/>
            </p:nvSpPr>
            <p:spPr bwMode="auto">
              <a:xfrm>
                <a:off x="100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5" name="Line 19"/>
              <p:cNvSpPr>
                <a:spLocks noChangeShapeType="1"/>
              </p:cNvSpPr>
              <p:nvPr/>
            </p:nvSpPr>
            <p:spPr bwMode="auto">
              <a:xfrm>
                <a:off x="144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6" name="Line 20"/>
              <p:cNvSpPr>
                <a:spLocks noChangeShapeType="1"/>
              </p:cNvSpPr>
              <p:nvPr/>
            </p:nvSpPr>
            <p:spPr bwMode="auto">
              <a:xfrm>
                <a:off x="187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7" name="Line 21"/>
              <p:cNvSpPr>
                <a:spLocks noChangeShapeType="1"/>
              </p:cNvSpPr>
              <p:nvPr/>
            </p:nvSpPr>
            <p:spPr bwMode="auto">
              <a:xfrm>
                <a:off x="2304"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8" name="Line 22"/>
              <p:cNvSpPr>
                <a:spLocks noChangeShapeType="1"/>
              </p:cNvSpPr>
              <p:nvPr/>
            </p:nvSpPr>
            <p:spPr bwMode="auto">
              <a:xfrm>
                <a:off x="273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9" name="Line 23"/>
              <p:cNvSpPr>
                <a:spLocks noChangeShapeType="1"/>
              </p:cNvSpPr>
              <p:nvPr/>
            </p:nvSpPr>
            <p:spPr bwMode="auto">
              <a:xfrm>
                <a:off x="316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00" name="Line 24"/>
              <p:cNvSpPr>
                <a:spLocks noChangeShapeType="1"/>
              </p:cNvSpPr>
              <p:nvPr/>
            </p:nvSpPr>
            <p:spPr bwMode="auto">
              <a:xfrm>
                <a:off x="360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01" name="Line 25"/>
              <p:cNvSpPr>
                <a:spLocks noChangeShapeType="1"/>
              </p:cNvSpPr>
              <p:nvPr/>
            </p:nvSpPr>
            <p:spPr bwMode="auto">
              <a:xfrm>
                <a:off x="489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02" name="Line 26"/>
              <p:cNvSpPr>
                <a:spLocks noChangeShapeType="1"/>
              </p:cNvSpPr>
              <p:nvPr/>
            </p:nvSpPr>
            <p:spPr bwMode="auto">
              <a:xfrm>
                <a:off x="403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46203" name="Text Box 27"/>
            <p:cNvSpPr txBox="1">
              <a:spLocks noChangeArrowheads="1"/>
            </p:cNvSpPr>
            <p:nvPr/>
          </p:nvSpPr>
          <p:spPr bwMode="auto">
            <a:xfrm>
              <a:off x="604" y="3052"/>
              <a:ext cx="169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660033"/>
                  </a:solidFill>
                </a:rPr>
                <a:t>21  18  30  75</a:t>
              </a:r>
              <a:endParaRPr lang="en-US" altLang="zh-CN" sz="2800" dirty="0"/>
            </a:p>
          </p:txBody>
        </p:sp>
      </p:grpSp>
      <p:sp>
        <p:nvSpPr>
          <p:cNvPr id="946204" name="Text Box 28"/>
          <p:cNvSpPr txBox="1">
            <a:spLocks noChangeArrowheads="1"/>
          </p:cNvSpPr>
          <p:nvPr/>
        </p:nvSpPr>
        <p:spPr bwMode="auto">
          <a:xfrm>
            <a:off x="4724400" y="4800600"/>
            <a:ext cx="13049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b="1">
                <a:solidFill>
                  <a:srgbClr val="CC0000"/>
                </a:solidFill>
              </a:rPr>
              <a:t>L.length-1</a:t>
            </a:r>
            <a:endParaRPr lang="en-US" altLang="zh-CN" sz="3600"/>
          </a:p>
        </p:txBody>
      </p:sp>
      <p:sp>
        <p:nvSpPr>
          <p:cNvPr id="946205" name="Text Box 29"/>
          <p:cNvSpPr txBox="1">
            <a:spLocks noChangeArrowheads="1"/>
          </p:cNvSpPr>
          <p:nvPr/>
        </p:nvSpPr>
        <p:spPr bwMode="auto">
          <a:xfrm>
            <a:off x="1111250" y="4800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rgbClr val="CC0000"/>
                </a:solidFill>
              </a:rPr>
              <a:t>0</a:t>
            </a:r>
            <a:endParaRPr lang="en-US" altLang="zh-CN" sz="3600"/>
          </a:p>
        </p:txBody>
      </p:sp>
      <p:grpSp>
        <p:nvGrpSpPr>
          <p:cNvPr id="946206" name="Group 30"/>
          <p:cNvGrpSpPr/>
          <p:nvPr/>
        </p:nvGrpSpPr>
        <p:grpSpPr bwMode="auto">
          <a:xfrm>
            <a:off x="5181600" y="3371850"/>
            <a:ext cx="409575" cy="819150"/>
            <a:chOff x="3302" y="1644"/>
            <a:chExt cx="258" cy="516"/>
          </a:xfrm>
        </p:grpSpPr>
        <p:sp>
          <p:nvSpPr>
            <p:cNvPr id="946207" name="Line 31"/>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08" name="Text Box 32"/>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grpSp>
        <p:nvGrpSpPr>
          <p:cNvPr id="946209" name="Group 33"/>
          <p:cNvGrpSpPr/>
          <p:nvPr/>
        </p:nvGrpSpPr>
        <p:grpSpPr bwMode="auto">
          <a:xfrm>
            <a:off x="4572000" y="3371850"/>
            <a:ext cx="409575" cy="819150"/>
            <a:chOff x="3302" y="1644"/>
            <a:chExt cx="258" cy="516"/>
          </a:xfrm>
        </p:grpSpPr>
        <p:sp>
          <p:nvSpPr>
            <p:cNvPr id="946210" name="Line 34"/>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11" name="Text Box 35"/>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grpSp>
        <p:nvGrpSpPr>
          <p:cNvPr id="946212" name="Group 36"/>
          <p:cNvGrpSpPr/>
          <p:nvPr/>
        </p:nvGrpSpPr>
        <p:grpSpPr bwMode="auto">
          <a:xfrm>
            <a:off x="3933825" y="3352800"/>
            <a:ext cx="409575" cy="819150"/>
            <a:chOff x="3302" y="1644"/>
            <a:chExt cx="258" cy="516"/>
          </a:xfrm>
        </p:grpSpPr>
        <p:sp>
          <p:nvSpPr>
            <p:cNvPr id="946213" name="Line 37"/>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14" name="Text Box 38"/>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grpSp>
        <p:nvGrpSpPr>
          <p:cNvPr id="946215" name="Group 39"/>
          <p:cNvGrpSpPr/>
          <p:nvPr/>
        </p:nvGrpSpPr>
        <p:grpSpPr bwMode="auto">
          <a:xfrm>
            <a:off x="5562600" y="3219450"/>
            <a:ext cx="409575" cy="971550"/>
            <a:chOff x="4224" y="2112"/>
            <a:chExt cx="258" cy="612"/>
          </a:xfrm>
        </p:grpSpPr>
        <p:sp>
          <p:nvSpPr>
            <p:cNvPr id="946216" name="Line 40"/>
            <p:cNvSpPr>
              <a:spLocks noChangeShapeType="1"/>
            </p:cNvSpPr>
            <p:nvPr/>
          </p:nvSpPr>
          <p:spPr bwMode="auto">
            <a:xfrm>
              <a:off x="4234" y="2244"/>
              <a:ext cx="0" cy="480"/>
            </a:xfrm>
            <a:prstGeom prst="line">
              <a:avLst/>
            </a:prstGeom>
            <a:noFill/>
            <a:ln w="3810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17" name="Text Box 41"/>
            <p:cNvSpPr txBox="1">
              <a:spLocks noChangeArrowheads="1"/>
            </p:cNvSpPr>
            <p:nvPr/>
          </p:nvSpPr>
          <p:spPr bwMode="auto">
            <a:xfrm>
              <a:off x="4224" y="2112"/>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chemeClr val="tx2"/>
                  </a:solidFill>
                </a:rPr>
                <a:t>q</a:t>
              </a:r>
              <a:endParaRPr lang="en-US" altLang="zh-CN" sz="3600"/>
            </a:p>
          </p:txBody>
        </p:sp>
      </p:grpSp>
      <p:sp useBgFill="1">
        <p:nvSpPr>
          <p:cNvPr id="946218" name="Rectangle 42"/>
          <p:cNvSpPr>
            <a:spLocks noChangeArrowheads="1"/>
          </p:cNvSpPr>
          <p:nvPr/>
        </p:nvSpPr>
        <p:spPr bwMode="auto">
          <a:xfrm>
            <a:off x="3810000" y="3429000"/>
            <a:ext cx="4572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useBgFill="1">
        <p:nvSpPr>
          <p:cNvPr id="946219" name="Rectangle 43"/>
          <p:cNvSpPr>
            <a:spLocks noChangeArrowheads="1"/>
          </p:cNvSpPr>
          <p:nvPr/>
        </p:nvSpPr>
        <p:spPr bwMode="auto">
          <a:xfrm>
            <a:off x="4419600" y="3429000"/>
            <a:ext cx="4572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20" name="Text Box 44"/>
          <p:cNvSpPr txBox="1">
            <a:spLocks noChangeArrowheads="1"/>
          </p:cNvSpPr>
          <p:nvPr/>
        </p:nvSpPr>
        <p:spPr bwMode="auto">
          <a:xfrm>
            <a:off x="4387850" y="5607050"/>
            <a:ext cx="6399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990000"/>
                </a:solidFill>
              </a:rPr>
              <a:t>87</a:t>
            </a:r>
            <a:endParaRPr lang="en-US" altLang="zh-CN" sz="2800" dirty="0"/>
          </a:p>
        </p:txBody>
      </p:sp>
      <p:sp>
        <p:nvSpPr>
          <p:cNvPr id="946221" name="Text Box 45"/>
          <p:cNvSpPr txBox="1">
            <a:spLocks noChangeArrowheads="1"/>
          </p:cNvSpPr>
          <p:nvPr/>
        </p:nvSpPr>
        <p:spPr bwMode="auto">
          <a:xfrm>
            <a:off x="3702050" y="5607050"/>
            <a:ext cx="6399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990000"/>
                </a:solidFill>
              </a:rPr>
              <a:t>56</a:t>
            </a:r>
            <a:endParaRPr lang="en-US" altLang="zh-CN" sz="2800" dirty="0"/>
          </a:p>
        </p:txBody>
      </p:sp>
      <p:sp>
        <p:nvSpPr>
          <p:cNvPr id="946222" name="Rectangle 46"/>
          <p:cNvSpPr>
            <a:spLocks noChangeArrowheads="1"/>
          </p:cNvSpPr>
          <p:nvPr/>
        </p:nvSpPr>
        <p:spPr bwMode="auto">
          <a:xfrm>
            <a:off x="1600200" y="1350963"/>
            <a:ext cx="6262688" cy="177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3200">
                <a:solidFill>
                  <a:srgbClr val="993366"/>
                </a:solidFill>
              </a:rPr>
              <a:t>p = &amp;(L.elem[i-1]);</a:t>
            </a:r>
            <a:endParaRPr lang="en-US" altLang="zh-CN" sz="3200">
              <a:solidFill>
                <a:srgbClr val="993366"/>
              </a:solidFill>
            </a:endParaRPr>
          </a:p>
          <a:p>
            <a:pPr eaLnBrk="1" hangingPunct="1">
              <a:lnSpc>
                <a:spcPct val="115000"/>
              </a:lnSpc>
              <a:defRPr/>
            </a:pPr>
            <a:r>
              <a:rPr lang="en-US" altLang="zh-CN" sz="3200">
                <a:solidFill>
                  <a:srgbClr val="993366"/>
                </a:solidFill>
              </a:rPr>
              <a:t>q = L.elem+L.length-1;</a:t>
            </a:r>
            <a:endParaRPr lang="en-US" altLang="zh-CN" sz="3200">
              <a:solidFill>
                <a:srgbClr val="993366"/>
              </a:solidFill>
            </a:endParaRPr>
          </a:p>
          <a:p>
            <a:pPr eaLnBrk="1" hangingPunct="1">
              <a:lnSpc>
                <a:spcPct val="115000"/>
              </a:lnSpc>
              <a:defRPr/>
            </a:pPr>
            <a:r>
              <a:rPr lang="en-US" altLang="zh-CN" sz="3200" b="1">
                <a:solidFill>
                  <a:srgbClr val="993366"/>
                </a:solidFill>
              </a:rPr>
              <a:t>for</a:t>
            </a:r>
            <a:r>
              <a:rPr lang="en-US" altLang="zh-CN" sz="3200">
                <a:solidFill>
                  <a:srgbClr val="993366"/>
                </a:solidFill>
              </a:rPr>
              <a:t> (++p; p &lt;= q; ++p)  *(p-1) = *p;  </a:t>
            </a:r>
            <a:endParaRPr lang="en-US" altLang="zh-CN" sz="3200">
              <a:solidFill>
                <a:srgbClr val="993366"/>
              </a:solidFill>
            </a:endParaRPr>
          </a:p>
        </p:txBody>
      </p:sp>
      <p:sp>
        <p:nvSpPr>
          <p:cNvPr id="946223" name="Text Box 47"/>
          <p:cNvSpPr txBox="1">
            <a:spLocks noChangeArrowheads="1"/>
          </p:cNvSpPr>
          <p:nvPr/>
        </p:nvSpPr>
        <p:spPr bwMode="auto">
          <a:xfrm>
            <a:off x="1447800" y="304800"/>
            <a:ext cx="5759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660033"/>
                </a:solidFill>
              </a:rPr>
              <a:t>例如：</a:t>
            </a:r>
            <a:r>
              <a:rPr lang="en-US" altLang="zh-CN" sz="3600">
                <a:solidFill>
                  <a:srgbClr val="660033"/>
                </a:solidFill>
              </a:rPr>
              <a:t>ListDelete_Sq(L, 5, e)</a:t>
            </a:r>
            <a:r>
              <a:rPr lang="en-US" altLang="zh-CN" sz="3600"/>
              <a:t> </a:t>
            </a:r>
            <a:endParaRPr lang="en-US" altLang="zh-CN" sz="3600"/>
          </a:p>
        </p:txBody>
      </p:sp>
      <p:grpSp>
        <p:nvGrpSpPr>
          <p:cNvPr id="946224" name="Group 48"/>
          <p:cNvGrpSpPr/>
          <p:nvPr/>
        </p:nvGrpSpPr>
        <p:grpSpPr bwMode="auto">
          <a:xfrm>
            <a:off x="6019800" y="3371850"/>
            <a:ext cx="409575" cy="819150"/>
            <a:chOff x="3302" y="1644"/>
            <a:chExt cx="258" cy="516"/>
          </a:xfrm>
        </p:grpSpPr>
        <p:sp>
          <p:nvSpPr>
            <p:cNvPr id="946225" name="Line 49"/>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26" name="Text Box 50"/>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sp useBgFill="1">
        <p:nvSpPr>
          <p:cNvPr id="946227" name="Rectangle 51"/>
          <p:cNvSpPr>
            <a:spLocks noChangeArrowheads="1"/>
          </p:cNvSpPr>
          <p:nvPr/>
        </p:nvSpPr>
        <p:spPr bwMode="auto">
          <a:xfrm>
            <a:off x="5029200" y="3429000"/>
            <a:ext cx="4572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28" name="AutoShape 52">
            <a:hlinkClick r:id="" action="ppaction://hlinkshowjump?jump=lastslideviewed" highlightClick="1"/>
          </p:cNvPr>
          <p:cNvSpPr>
            <a:spLocks noChangeArrowheads="1"/>
          </p:cNvSpPr>
          <p:nvPr/>
        </p:nvSpPr>
        <p:spPr bwMode="auto">
          <a:xfrm>
            <a:off x="8686800" y="6400800"/>
            <a:ext cx="457200" cy="457200"/>
          </a:xfrm>
          <a:prstGeom prst="actionButtonReturn">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46223"/>
                                        </p:tgtEl>
                                        <p:attrNameLst>
                                          <p:attrName>style.visibility</p:attrName>
                                        </p:attrNameLst>
                                      </p:cBhvr>
                                      <p:to>
                                        <p:strVal val="visible"/>
                                      </p:to>
                                    </p:set>
                                    <p:anim calcmode="lin" valueType="num">
                                      <p:cBhvr additive="base">
                                        <p:cTn id="7" dur="500" fill="hold"/>
                                        <p:tgtEl>
                                          <p:spTgt spid="946223"/>
                                        </p:tgtEl>
                                        <p:attrNameLst>
                                          <p:attrName>ppt_x</p:attrName>
                                        </p:attrNameLst>
                                      </p:cBhvr>
                                      <p:tavLst>
                                        <p:tav tm="0">
                                          <p:val>
                                            <p:strVal val="#ppt_x"/>
                                          </p:val>
                                        </p:tav>
                                        <p:tav tm="100000">
                                          <p:val>
                                            <p:strVal val="#ppt_x"/>
                                          </p:val>
                                        </p:tav>
                                      </p:tavLst>
                                    </p:anim>
                                    <p:anim calcmode="lin" valueType="num">
                                      <p:cBhvr additive="base">
                                        <p:cTn id="8" dur="500" fill="hold"/>
                                        <p:tgtEl>
                                          <p:spTgt spid="94622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46178"/>
                                        </p:tgtEl>
                                        <p:attrNameLst>
                                          <p:attrName>style.visibility</p:attrName>
                                        </p:attrNameLst>
                                      </p:cBhvr>
                                      <p:to>
                                        <p:strVal val="visible"/>
                                      </p:to>
                                    </p:set>
                                    <p:animEffect transition="in" filter="wipe(left)">
                                      <p:cBhvr>
                                        <p:cTn id="13" dur="500"/>
                                        <p:tgtEl>
                                          <p:spTgt spid="94617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46205"/>
                                        </p:tgtEl>
                                        <p:attrNameLst>
                                          <p:attrName>style.visibility</p:attrName>
                                        </p:attrNameLst>
                                      </p:cBhvr>
                                      <p:to>
                                        <p:strVal val="visible"/>
                                      </p:to>
                                    </p:set>
                                    <p:animEffect transition="in" filter="wipe(left)">
                                      <p:cBhvr>
                                        <p:cTn id="18" dur="500"/>
                                        <p:tgtEl>
                                          <p:spTgt spid="94620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46204"/>
                                        </p:tgtEl>
                                        <p:attrNameLst>
                                          <p:attrName>style.visibility</p:attrName>
                                        </p:attrNameLst>
                                      </p:cBhvr>
                                      <p:to>
                                        <p:strVal val="visible"/>
                                      </p:to>
                                    </p:set>
                                    <p:animEffect transition="in" filter="wipe(left)">
                                      <p:cBhvr>
                                        <p:cTn id="23" dur="500"/>
                                        <p:tgtEl>
                                          <p:spTgt spid="946204"/>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946222"/>
                                        </p:tgtEl>
                                        <p:attrNameLst>
                                          <p:attrName>style.visibility</p:attrName>
                                        </p:attrNameLst>
                                      </p:cBhvr>
                                      <p:to>
                                        <p:strVal val="visible"/>
                                      </p:to>
                                    </p:set>
                                    <p:animEffect transition="in" filter="blinds(vertical)">
                                      <p:cBhvr>
                                        <p:cTn id="28" dur="500"/>
                                        <p:tgtEl>
                                          <p:spTgt spid="946222"/>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946212"/>
                                        </p:tgtEl>
                                        <p:attrNameLst>
                                          <p:attrName>style.visibility</p:attrName>
                                        </p:attrNameLst>
                                      </p:cBhvr>
                                      <p:to>
                                        <p:strVal val="visible"/>
                                      </p:to>
                                    </p:set>
                                    <p:animEffect transition="in" filter="wipe(up)">
                                      <p:cBhvr>
                                        <p:cTn id="32" dur="500"/>
                                        <p:tgtEl>
                                          <p:spTgt spid="9462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946215"/>
                                        </p:tgtEl>
                                        <p:attrNameLst>
                                          <p:attrName>style.visibility</p:attrName>
                                        </p:attrNameLst>
                                      </p:cBhvr>
                                      <p:to>
                                        <p:strVal val="visible"/>
                                      </p:to>
                                    </p:set>
                                    <p:animEffect transition="in" filter="wipe(up)">
                                      <p:cBhvr>
                                        <p:cTn id="37" dur="500"/>
                                        <p:tgtEl>
                                          <p:spTgt spid="9462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46191"/>
                                        </p:tgtEl>
                                        <p:attrNameLst>
                                          <p:attrName>style.visibility</p:attrName>
                                        </p:attrNameLst>
                                      </p:cBhvr>
                                      <p:to>
                                        <p:strVal val="visible"/>
                                      </p:to>
                                    </p:set>
                                    <p:animEffect transition="in" filter="wipe(left)">
                                      <p:cBhvr>
                                        <p:cTn id="42" dur="500"/>
                                        <p:tgtEl>
                                          <p:spTgt spid="94619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46218"/>
                                        </p:tgtEl>
                                        <p:attrNameLst>
                                          <p:attrName>style.visibility</p:attrName>
                                        </p:attrNameLst>
                                      </p:cBhvr>
                                      <p:to>
                                        <p:strVal val="visible"/>
                                      </p:to>
                                    </p:set>
                                    <p:animEffect transition="in" filter="wipe(left)">
                                      <p:cBhvr>
                                        <p:cTn id="47" dur="500"/>
                                        <p:tgtEl>
                                          <p:spTgt spid="946218"/>
                                        </p:tgtEl>
                                      </p:cBhvr>
                                    </p:animEffect>
                                  </p:childTnLst>
                                </p:cTn>
                              </p:par>
                            </p:childTnLst>
                          </p:cTn>
                        </p:par>
                        <p:par>
                          <p:cTn id="48" fill="hold">
                            <p:stCondLst>
                              <p:cond delay="500"/>
                            </p:stCondLst>
                            <p:childTnLst>
                              <p:par>
                                <p:cTn id="49" presetID="12" presetClass="entr" presetSubtype="8" fill="hold" nodeType="afterEffect">
                                  <p:stCondLst>
                                    <p:cond delay="0"/>
                                  </p:stCondLst>
                                  <p:childTnLst>
                                    <p:set>
                                      <p:cBhvr>
                                        <p:cTn id="50" dur="1" fill="hold">
                                          <p:stCondLst>
                                            <p:cond delay="0"/>
                                          </p:stCondLst>
                                        </p:cTn>
                                        <p:tgtEl>
                                          <p:spTgt spid="946209"/>
                                        </p:tgtEl>
                                        <p:attrNameLst>
                                          <p:attrName>style.visibility</p:attrName>
                                        </p:attrNameLst>
                                      </p:cBhvr>
                                      <p:to>
                                        <p:strVal val="visible"/>
                                      </p:to>
                                    </p:set>
                                    <p:animEffect transition="in" filter="slide(fromLeft)">
                                      <p:cBhvr>
                                        <p:cTn id="51" dur="500"/>
                                        <p:tgtEl>
                                          <p:spTgt spid="94620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946221"/>
                                        </p:tgtEl>
                                        <p:attrNameLst>
                                          <p:attrName>style.visibility</p:attrName>
                                        </p:attrNameLst>
                                      </p:cBhvr>
                                      <p:to>
                                        <p:strVal val="visible"/>
                                      </p:to>
                                    </p:set>
                                    <p:animEffect transition="in" filter="wipe(left)">
                                      <p:cBhvr>
                                        <p:cTn id="56" dur="500"/>
                                        <p:tgtEl>
                                          <p:spTgt spid="94622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946219"/>
                                        </p:tgtEl>
                                        <p:attrNameLst>
                                          <p:attrName>style.visibility</p:attrName>
                                        </p:attrNameLst>
                                      </p:cBhvr>
                                      <p:to>
                                        <p:strVal val="visible"/>
                                      </p:to>
                                    </p:set>
                                    <p:animEffect transition="in" filter="wipe(left)">
                                      <p:cBhvr>
                                        <p:cTn id="61" dur="500"/>
                                        <p:tgtEl>
                                          <p:spTgt spid="946219"/>
                                        </p:tgtEl>
                                      </p:cBhvr>
                                    </p:animEffect>
                                  </p:childTnLst>
                                </p:cTn>
                              </p:par>
                            </p:childTnLst>
                          </p:cTn>
                        </p:par>
                        <p:par>
                          <p:cTn id="62" fill="hold">
                            <p:stCondLst>
                              <p:cond delay="500"/>
                            </p:stCondLst>
                            <p:childTnLst>
                              <p:par>
                                <p:cTn id="63" presetID="12" presetClass="entr" presetSubtype="8" fill="hold" nodeType="afterEffect">
                                  <p:stCondLst>
                                    <p:cond delay="0"/>
                                  </p:stCondLst>
                                  <p:childTnLst>
                                    <p:set>
                                      <p:cBhvr>
                                        <p:cTn id="64" dur="1" fill="hold">
                                          <p:stCondLst>
                                            <p:cond delay="0"/>
                                          </p:stCondLst>
                                        </p:cTn>
                                        <p:tgtEl>
                                          <p:spTgt spid="946206"/>
                                        </p:tgtEl>
                                        <p:attrNameLst>
                                          <p:attrName>style.visibility</p:attrName>
                                        </p:attrNameLst>
                                      </p:cBhvr>
                                      <p:to>
                                        <p:strVal val="visible"/>
                                      </p:to>
                                    </p:set>
                                    <p:animEffect transition="in" filter="slide(fromLeft)">
                                      <p:cBhvr>
                                        <p:cTn id="65" dur="500"/>
                                        <p:tgtEl>
                                          <p:spTgt spid="94620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946220"/>
                                        </p:tgtEl>
                                        <p:attrNameLst>
                                          <p:attrName>style.visibility</p:attrName>
                                        </p:attrNameLst>
                                      </p:cBhvr>
                                      <p:to>
                                        <p:strVal val="visible"/>
                                      </p:to>
                                    </p:set>
                                    <p:animEffect transition="in" filter="wipe(left)">
                                      <p:cBhvr>
                                        <p:cTn id="70" dur="500"/>
                                        <p:tgtEl>
                                          <p:spTgt spid="94622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946227"/>
                                        </p:tgtEl>
                                        <p:attrNameLst>
                                          <p:attrName>style.visibility</p:attrName>
                                        </p:attrNameLst>
                                      </p:cBhvr>
                                      <p:to>
                                        <p:strVal val="visible"/>
                                      </p:to>
                                    </p:set>
                                    <p:animEffect transition="in" filter="wipe(left)">
                                      <p:cBhvr>
                                        <p:cTn id="75" dur="500"/>
                                        <p:tgtEl>
                                          <p:spTgt spid="946227"/>
                                        </p:tgtEl>
                                      </p:cBhvr>
                                    </p:animEffect>
                                  </p:childTnLst>
                                </p:cTn>
                              </p:par>
                            </p:childTnLst>
                          </p:cTn>
                        </p:par>
                        <p:par>
                          <p:cTn id="76" fill="hold">
                            <p:stCondLst>
                              <p:cond delay="500"/>
                            </p:stCondLst>
                            <p:childTnLst>
                              <p:par>
                                <p:cTn id="77" presetID="12" presetClass="entr" presetSubtype="8" fill="hold" nodeType="afterEffect">
                                  <p:stCondLst>
                                    <p:cond delay="0"/>
                                  </p:stCondLst>
                                  <p:childTnLst>
                                    <p:set>
                                      <p:cBhvr>
                                        <p:cTn id="78" dur="1" fill="hold">
                                          <p:stCondLst>
                                            <p:cond delay="0"/>
                                          </p:stCondLst>
                                        </p:cTn>
                                        <p:tgtEl>
                                          <p:spTgt spid="946224"/>
                                        </p:tgtEl>
                                        <p:attrNameLst>
                                          <p:attrName>style.visibility</p:attrName>
                                        </p:attrNameLst>
                                      </p:cBhvr>
                                      <p:to>
                                        <p:strVal val="visible"/>
                                      </p:to>
                                    </p:set>
                                    <p:animEffect transition="in" filter="slide(fromLeft)">
                                      <p:cBhvr>
                                        <p:cTn id="79" dur="500"/>
                                        <p:tgtEl>
                                          <p:spTgt spid="946224"/>
                                        </p:tgtEl>
                                      </p:cBhvr>
                                    </p:animEffect>
                                  </p:childTnLst>
                                </p:cTn>
                              </p:par>
                            </p:childTnLst>
                          </p:cTn>
                        </p:par>
                        <p:par>
                          <p:cTn id="80" fill="hold">
                            <p:stCondLst>
                              <p:cond delay="1000"/>
                            </p:stCondLst>
                            <p:childTnLst>
                              <p:par>
                                <p:cTn id="81" presetID="2" presetClass="entr" presetSubtype="6" fill="hold" grpId="0" nodeType="afterEffect">
                                  <p:stCondLst>
                                    <p:cond delay="0"/>
                                  </p:stCondLst>
                                  <p:childTnLst>
                                    <p:set>
                                      <p:cBhvr>
                                        <p:cTn id="82" dur="1" fill="hold">
                                          <p:stCondLst>
                                            <p:cond delay="0"/>
                                          </p:stCondLst>
                                        </p:cTn>
                                        <p:tgtEl>
                                          <p:spTgt spid="946228"/>
                                        </p:tgtEl>
                                        <p:attrNameLst>
                                          <p:attrName>style.visibility</p:attrName>
                                        </p:attrNameLst>
                                      </p:cBhvr>
                                      <p:to>
                                        <p:strVal val="visible"/>
                                      </p:to>
                                    </p:set>
                                    <p:anim calcmode="lin" valueType="num">
                                      <p:cBhvr additive="base">
                                        <p:cTn id="83" dur="500" fill="hold"/>
                                        <p:tgtEl>
                                          <p:spTgt spid="946228"/>
                                        </p:tgtEl>
                                        <p:attrNameLst>
                                          <p:attrName>ppt_x</p:attrName>
                                        </p:attrNameLst>
                                      </p:cBhvr>
                                      <p:tavLst>
                                        <p:tav tm="0">
                                          <p:val>
                                            <p:strVal val="1+#ppt_w/2"/>
                                          </p:val>
                                        </p:tav>
                                        <p:tav tm="100000">
                                          <p:val>
                                            <p:strVal val="#ppt_x"/>
                                          </p:val>
                                        </p:tav>
                                      </p:tavLst>
                                    </p:anim>
                                    <p:anim calcmode="lin" valueType="num">
                                      <p:cBhvr additive="base">
                                        <p:cTn id="84" dur="500" fill="hold"/>
                                        <p:tgtEl>
                                          <p:spTgt spid="9462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204" grpId="0" autoUpdateAnimBg="0"/>
      <p:bldP spid="946205" grpId="0" autoUpdateAnimBg="0"/>
      <p:bldP spid="946218" grpId="0" animBg="1"/>
      <p:bldP spid="946219" grpId="0" animBg="1"/>
      <p:bldP spid="946220" grpId="0" autoUpdateAnimBg="0"/>
      <p:bldP spid="946221" grpId="0" autoUpdateAnimBg="0"/>
      <p:bldP spid="946222" grpId="0" autoUpdateAnimBg="0"/>
      <p:bldP spid="946223" grpId="0" autoUpdateAnimBg="0"/>
      <p:bldP spid="946227" grpId="0" animBg="1"/>
      <p:bldP spid="94622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0930" name="Rectangle 2"/>
          <p:cNvSpPr>
            <a:spLocks noChangeArrowheads="1"/>
          </p:cNvSpPr>
          <p:nvPr/>
        </p:nvSpPr>
        <p:spPr bwMode="auto">
          <a:xfrm>
            <a:off x="1524000" y="381000"/>
            <a:ext cx="46609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defRPr/>
            </a:pPr>
            <a:r>
              <a:rPr kumimoji="0" lang="zh-CN" altLang="en-US" sz="3200" b="1">
                <a:solidFill>
                  <a:schemeClr val="accent2"/>
                </a:solidFill>
                <a:latin typeface="楷体_GB2312" charset="0"/>
                <a:ea typeface="楷体_GB2312" charset="0"/>
              </a:rPr>
              <a:t>顺序表的优缺点</a:t>
            </a:r>
            <a:endParaRPr kumimoji="0" lang="en-US" altLang="zh-CN" sz="3200" b="1">
              <a:solidFill>
                <a:schemeClr val="accent2"/>
              </a:solidFill>
              <a:latin typeface="楷体_GB2312" charset="0"/>
              <a:ea typeface="楷体_GB2312" charset="0"/>
            </a:endParaRPr>
          </a:p>
        </p:txBody>
      </p:sp>
      <p:sp>
        <p:nvSpPr>
          <p:cNvPr id="1020931" name="Text Box 3"/>
          <p:cNvSpPr txBox="1">
            <a:spLocks noChangeArrowheads="1"/>
          </p:cNvSpPr>
          <p:nvPr/>
        </p:nvSpPr>
        <p:spPr bwMode="auto">
          <a:xfrm>
            <a:off x="533400" y="1554163"/>
            <a:ext cx="8418513" cy="261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Ins="0">
            <a:spAutoFit/>
          </a:bodyPr>
          <a:lstStyle/>
          <a:p>
            <a:pPr eaLnBrk="1" hangingPunct="1">
              <a:lnSpc>
                <a:spcPct val="110000"/>
              </a:lnSpc>
              <a:spcBef>
                <a:spcPct val="20000"/>
              </a:spcBef>
              <a:buFont typeface="Wingdings" panose="05000000000000000000" pitchFamily="2" charset="2"/>
              <a:buChar char="Ø"/>
              <a:defRPr/>
            </a:pPr>
            <a:r>
              <a:rPr kumimoji="0" lang="zh-CN" altLang="en-US" sz="2800" b="1">
                <a:solidFill>
                  <a:srgbClr val="CC3300"/>
                </a:solidFill>
                <a:latin typeface="楷体_GB2312" charset="0"/>
                <a:ea typeface="楷体_GB2312" charset="0"/>
              </a:rPr>
              <a:t> 顺序表的优点：</a:t>
            </a:r>
            <a:endParaRPr kumimoji="0" lang="zh-CN" altLang="en-US" sz="2800" b="1">
              <a:solidFill>
                <a:srgbClr val="CC3300"/>
              </a:solidFill>
              <a:latin typeface="楷体_GB2312" charset="0"/>
              <a:ea typeface="楷体_GB2312" charset="0"/>
            </a:endParaRPr>
          </a:p>
          <a:p>
            <a:pPr>
              <a:lnSpc>
                <a:spcPct val="110000"/>
              </a:lnSpc>
              <a:spcBef>
                <a:spcPct val="20000"/>
              </a:spcBef>
              <a:defRPr/>
            </a:pPr>
            <a:r>
              <a:rPr kumimoji="0" lang="zh-CN" altLang="en-US" sz="2800" b="1">
                <a:latin typeface="楷体_GB2312" charset="0"/>
                <a:ea typeface="楷体_GB2312" charset="0"/>
              </a:rPr>
              <a:t>⑴ 无需为表示表中元素之间的逻辑关系而增加额外的存储空间；</a:t>
            </a:r>
            <a:endParaRPr kumimoji="0" lang="zh-CN" altLang="en-US" sz="2800" b="1">
              <a:latin typeface="楷体_GB2312" charset="0"/>
              <a:ea typeface="楷体_GB2312" charset="0"/>
            </a:endParaRPr>
          </a:p>
          <a:p>
            <a:pPr>
              <a:lnSpc>
                <a:spcPct val="110000"/>
              </a:lnSpc>
              <a:spcBef>
                <a:spcPct val="20000"/>
              </a:spcBef>
              <a:defRPr/>
            </a:pPr>
            <a:r>
              <a:rPr kumimoji="0" lang="zh-CN" altLang="en-US" sz="2800" b="1">
                <a:latin typeface="楷体_GB2312" charset="0"/>
                <a:ea typeface="楷体_GB2312" charset="0"/>
              </a:rPr>
              <a:t>⑵ 随机存取：可以快速地存取表中任一位置的元素。</a:t>
            </a:r>
            <a:r>
              <a:rPr kumimoji="0" lang="zh-CN" altLang="en-US" sz="2800" b="1">
                <a:solidFill>
                  <a:srgbClr val="CC3300"/>
                </a:solidFill>
                <a:latin typeface="楷体_GB2312" charset="0"/>
                <a:ea typeface="楷体_GB2312" charset="0"/>
              </a:rPr>
              <a:t> </a:t>
            </a:r>
            <a:endParaRPr kumimoji="0" lang="zh-CN" altLang="en-US" sz="2800" b="1">
              <a:solidFill>
                <a:srgbClr val="CC3300"/>
              </a:solidFill>
              <a:latin typeface="楷体_GB2312" charset="0"/>
              <a:ea typeface="楷体_GB2312" charset="0"/>
            </a:endParaRPr>
          </a:p>
        </p:txBody>
      </p:sp>
      <p:sp>
        <p:nvSpPr>
          <p:cNvPr id="1020932" name="Text Box 4"/>
          <p:cNvSpPr txBox="1">
            <a:spLocks noChangeArrowheads="1"/>
          </p:cNvSpPr>
          <p:nvPr/>
        </p:nvSpPr>
        <p:spPr bwMode="auto">
          <a:xfrm>
            <a:off x="547688" y="3876675"/>
            <a:ext cx="7535862"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buFont typeface="Wingdings" panose="05000000000000000000" pitchFamily="2" charset="2"/>
              <a:buChar char="Ø"/>
              <a:defRPr/>
            </a:pPr>
            <a:r>
              <a:rPr kumimoji="0" lang="zh-CN" altLang="en-US" sz="2800" b="1">
                <a:solidFill>
                  <a:srgbClr val="CC3300"/>
                </a:solidFill>
                <a:latin typeface="楷体_GB2312" charset="0"/>
                <a:ea typeface="楷体_GB2312" charset="0"/>
              </a:rPr>
              <a:t> 顺序表的缺点：</a:t>
            </a:r>
            <a:endParaRPr kumimoji="0" lang="zh-CN" altLang="en-US" sz="2800" b="1">
              <a:solidFill>
                <a:srgbClr val="CC3300"/>
              </a:solidFill>
              <a:latin typeface="楷体_GB2312" charset="0"/>
              <a:ea typeface="楷体_GB2312" charset="0"/>
            </a:endParaRPr>
          </a:p>
          <a:p>
            <a:pPr>
              <a:lnSpc>
                <a:spcPct val="120000"/>
              </a:lnSpc>
              <a:defRPr/>
            </a:pPr>
            <a:r>
              <a:rPr kumimoji="0" lang="zh-CN" altLang="en-US" sz="2800" b="1">
                <a:latin typeface="楷体_GB2312" charset="0"/>
                <a:ea typeface="楷体_GB2312" charset="0"/>
              </a:rPr>
              <a:t>⑴ 插入和删除操作需要移动大量元素；</a:t>
            </a:r>
            <a:endParaRPr kumimoji="0" lang="zh-CN" altLang="en-US" sz="2800" b="1">
              <a:latin typeface="楷体_GB2312" charset="0"/>
              <a:ea typeface="楷体_GB2312" charset="0"/>
            </a:endParaRPr>
          </a:p>
          <a:p>
            <a:pPr>
              <a:lnSpc>
                <a:spcPct val="120000"/>
              </a:lnSpc>
              <a:defRPr/>
            </a:pPr>
            <a:r>
              <a:rPr kumimoji="0" lang="zh-CN" altLang="en-US" sz="2800" b="1">
                <a:latin typeface="楷体_GB2312" charset="0"/>
                <a:ea typeface="楷体_GB2312" charset="0"/>
              </a:rPr>
              <a:t>⑵ 表的容量难以确定，表的容量难以扩充；</a:t>
            </a:r>
            <a:endParaRPr kumimoji="0" lang="zh-CN" altLang="en-US" sz="2800" b="1">
              <a:latin typeface="楷体_GB2312" charset="0"/>
              <a:ea typeface="楷体_GB2312" charset="0"/>
            </a:endParaRPr>
          </a:p>
          <a:p>
            <a:pPr>
              <a:lnSpc>
                <a:spcPct val="120000"/>
              </a:lnSpc>
              <a:defRPr/>
            </a:pPr>
            <a:r>
              <a:rPr kumimoji="0" lang="zh-CN" altLang="en-US" sz="2800" b="1">
                <a:latin typeface="楷体_GB2312" charset="0"/>
                <a:ea typeface="楷体_GB2312" charset="0"/>
              </a:rPr>
              <a:t>⑶ 造成存储空间的</a:t>
            </a:r>
            <a:r>
              <a:rPr kumimoji="0" lang="zh-CN" altLang="en-US" sz="2800" b="1">
                <a:solidFill>
                  <a:srgbClr val="FF3300"/>
                </a:solidFill>
                <a:latin typeface="楷体_GB2312" charset="0"/>
                <a:ea typeface="楷体_GB2312" charset="0"/>
              </a:rPr>
              <a:t>碎片</a:t>
            </a:r>
            <a:r>
              <a:rPr kumimoji="0" lang="zh-CN" altLang="en-US" sz="2800" b="1">
                <a:latin typeface="楷体_GB2312" charset="0"/>
                <a:ea typeface="楷体_GB2312" charset="0"/>
              </a:rPr>
              <a:t>。</a:t>
            </a:r>
            <a:r>
              <a:rPr kumimoji="0" lang="zh-CN" altLang="en-US" sz="2800" b="1">
                <a:solidFill>
                  <a:srgbClr val="CC3300"/>
                </a:solidFill>
                <a:latin typeface="楷体_GB2312" charset="0"/>
                <a:ea typeface="楷体_GB2312" charset="0"/>
              </a:rPr>
              <a:t> </a:t>
            </a:r>
            <a:endParaRPr kumimoji="0" lang="zh-CN" altLang="en-US" sz="2800" b="1">
              <a:solidFill>
                <a:srgbClr val="CC3300"/>
              </a:solidFill>
              <a:latin typeface="楷体_GB2312" charset="0"/>
              <a:ea typeface="楷体_GB2312"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202" name="WordArt 2"/>
          <p:cNvSpPr>
            <a:spLocks noChangeArrowheads="1" noChangeShapeType="1" noTextEdit="1"/>
          </p:cNvSpPr>
          <p:nvPr/>
        </p:nvSpPr>
        <p:spPr bwMode="auto">
          <a:xfrm>
            <a:off x="228600" y="1447800"/>
            <a:ext cx="8534400" cy="3581400"/>
          </a:xfrm>
          <a:prstGeom prst="rect">
            <a:avLst/>
          </a:prstGeom>
        </p:spPr>
        <p:txBody>
          <a:bodyPr wrap="none" fromWordArt="1">
            <a:prstTxWarp prst="textPlain">
              <a:avLst>
                <a:gd name="adj" fmla="val 50370"/>
              </a:avLst>
            </a:prstTxWarp>
          </a:bodyPr>
          <a:lstStyle/>
          <a:p>
            <a:pPr algn="ctr" eaLnBrk="1" hangingPunct="1">
              <a:defRPr/>
            </a:pPr>
            <a:r>
              <a:rPr lang="en-US" altLang="zh-CN"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rPr>
              <a:t>2.3 </a:t>
            </a:r>
            <a:r>
              <a:rPr lang="zh-CN" altLang="en-US"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rPr>
              <a:t>线性表类型</a:t>
            </a:r>
            <a:endParaRPr lang="zh-CN" altLang="en-US"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endParaRPr>
          </a:p>
          <a:p>
            <a:pPr algn="ctr" eaLnBrk="1" hangingPunct="1">
              <a:defRPr/>
            </a:pPr>
            <a:r>
              <a:rPr lang="zh-CN" altLang="en-US"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rPr>
              <a:t>的实现</a:t>
            </a:r>
            <a:r>
              <a:rPr lang="en-US" altLang="zh-CN"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rPr>
              <a:t>---</a:t>
            </a:r>
            <a:r>
              <a:rPr lang="zh-CN" altLang="en-US"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rPr>
              <a:t>链式映象</a:t>
            </a:r>
            <a:endParaRPr lang="zh-CN" altLang="en-US"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6" name="Text Box 2">
            <a:hlinkClick r:id="" action="ppaction://hlinkshowjump?jump=nextslide"/>
          </p:cNvPr>
          <p:cNvSpPr txBox="1">
            <a:spLocks noChangeArrowheads="1"/>
          </p:cNvSpPr>
          <p:nvPr/>
        </p:nvSpPr>
        <p:spPr bwMode="auto">
          <a:xfrm>
            <a:off x="1019175" y="1111250"/>
            <a:ext cx="247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ea typeface="隶书" panose="02010509060101010101" charset="-122"/>
              </a:rPr>
              <a:t>一、单链表</a:t>
            </a:r>
            <a:endParaRPr lang="zh-CN" altLang="en-US" sz="3600" b="1">
              <a:solidFill>
                <a:srgbClr val="660033"/>
              </a:solidFill>
              <a:ea typeface="隶书" panose="02010509060101010101" charset="-122"/>
            </a:endParaRPr>
          </a:p>
        </p:txBody>
      </p:sp>
      <p:sp>
        <p:nvSpPr>
          <p:cNvPr id="948227" name="Text Box 3">
            <a:hlinkClick r:id="rId1" action="ppaction://hlinksldjump"/>
          </p:cNvPr>
          <p:cNvSpPr txBox="1">
            <a:spLocks noChangeArrowheads="1"/>
          </p:cNvSpPr>
          <p:nvPr/>
        </p:nvSpPr>
        <p:spPr bwMode="auto">
          <a:xfrm>
            <a:off x="990600" y="2025650"/>
            <a:ext cx="6813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latin typeface="隶书" panose="02010509060101010101" charset="-122"/>
                <a:ea typeface="隶书" panose="02010509060101010101" charset="-122"/>
              </a:rPr>
              <a:t>二、结点和单链表的 </a:t>
            </a:r>
            <a:r>
              <a:rPr lang="en-US" altLang="zh-CN" sz="3600" b="1">
                <a:solidFill>
                  <a:srgbClr val="660033"/>
                </a:solidFill>
                <a:latin typeface="隶书" panose="02010509060101010101" charset="-122"/>
                <a:ea typeface="隶书" panose="02010509060101010101" charset="-122"/>
              </a:rPr>
              <a:t>C </a:t>
            </a:r>
            <a:r>
              <a:rPr lang="zh-CN" altLang="en-US" sz="3600" b="1">
                <a:solidFill>
                  <a:srgbClr val="660033"/>
                </a:solidFill>
                <a:latin typeface="隶书" panose="02010509060101010101" charset="-122"/>
                <a:ea typeface="隶书" panose="02010509060101010101" charset="-122"/>
              </a:rPr>
              <a:t>语言描述</a:t>
            </a:r>
            <a:endParaRPr lang="zh-CN" altLang="en-US" sz="3600"/>
          </a:p>
        </p:txBody>
      </p:sp>
      <p:sp>
        <p:nvSpPr>
          <p:cNvPr id="948228" name="Text Box 4">
            <a:hlinkClick r:id="rId2" action="ppaction://hlinksldjump"/>
          </p:cNvPr>
          <p:cNvSpPr txBox="1">
            <a:spLocks noChangeArrowheads="1"/>
          </p:cNvSpPr>
          <p:nvPr/>
        </p:nvSpPr>
        <p:spPr bwMode="auto">
          <a:xfrm>
            <a:off x="990600" y="2940050"/>
            <a:ext cx="7499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ea typeface="隶书" panose="02010509060101010101" charset="-122"/>
              </a:rPr>
              <a:t>三、线性表的操作在单链表中的实现</a:t>
            </a:r>
            <a:endParaRPr lang="zh-CN" altLang="en-US" sz="3600" b="1">
              <a:solidFill>
                <a:srgbClr val="660033"/>
              </a:solidFill>
              <a:ea typeface="隶书" panose="02010509060101010101" charset="-122"/>
            </a:endParaRPr>
          </a:p>
        </p:txBody>
      </p:sp>
      <p:sp>
        <p:nvSpPr>
          <p:cNvPr id="948229" name="Text Box 5">
            <a:hlinkClick r:id="rId3" action="ppaction://hlinksldjump"/>
          </p:cNvPr>
          <p:cNvSpPr txBox="1">
            <a:spLocks noChangeArrowheads="1"/>
          </p:cNvSpPr>
          <p:nvPr/>
        </p:nvSpPr>
        <p:spPr bwMode="auto">
          <a:xfrm>
            <a:off x="990600" y="3854450"/>
            <a:ext cx="6584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ea typeface="隶书" panose="02010509060101010101" charset="-122"/>
              </a:rPr>
              <a:t>四、一个带头结点的单链表类型</a:t>
            </a:r>
            <a:endParaRPr lang="zh-CN" altLang="en-US" sz="3600" b="1">
              <a:solidFill>
                <a:srgbClr val="660033"/>
              </a:solidFill>
              <a:ea typeface="隶书" panose="02010509060101010101" charset="-122"/>
            </a:endParaRPr>
          </a:p>
        </p:txBody>
      </p:sp>
      <p:sp>
        <p:nvSpPr>
          <p:cNvPr id="948230" name="Text Box 6">
            <a:hlinkClick r:id="rId4" action="ppaction://hlinksldjump"/>
          </p:cNvPr>
          <p:cNvSpPr txBox="1">
            <a:spLocks noChangeArrowheads="1"/>
          </p:cNvSpPr>
          <p:nvPr/>
        </p:nvSpPr>
        <p:spPr bwMode="auto">
          <a:xfrm>
            <a:off x="990600" y="4768850"/>
            <a:ext cx="4298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ea typeface="隶书" panose="02010509060101010101" charset="-122"/>
              </a:rPr>
              <a:t>五、其它形式的链表</a:t>
            </a:r>
            <a:endParaRPr lang="zh-CN" altLang="en-US" sz="3600" b="1">
              <a:solidFill>
                <a:srgbClr val="660033"/>
              </a:solidFill>
              <a:ea typeface="隶书" panose="02010509060101010101" charset="-122"/>
            </a:endParaRPr>
          </a:p>
        </p:txBody>
      </p:sp>
      <p:sp>
        <p:nvSpPr>
          <p:cNvPr id="948231" name="Text Box 7">
            <a:hlinkClick r:id="rId5" action="ppaction://hlinksldjump"/>
          </p:cNvPr>
          <p:cNvSpPr txBox="1">
            <a:spLocks noChangeArrowheads="1"/>
          </p:cNvSpPr>
          <p:nvPr/>
        </p:nvSpPr>
        <p:spPr bwMode="auto">
          <a:xfrm>
            <a:off x="990600" y="5683250"/>
            <a:ext cx="3429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b="1">
                <a:solidFill>
                  <a:srgbClr val="660033"/>
                </a:solidFill>
                <a:ea typeface="隶书" panose="02010509060101010101" charset="-122"/>
              </a:rPr>
              <a:t>六、静态链表</a:t>
            </a:r>
            <a:endParaRPr lang="en-US" altLang="zh-CN" sz="3600" b="1">
              <a:solidFill>
                <a:srgbClr val="660033"/>
              </a:solidFill>
              <a:ea typeface="隶书" panose="02010509060101010101" charset="-122"/>
            </a:endParaRPr>
          </a:p>
        </p:txBody>
      </p:sp>
      <p:sp>
        <p:nvSpPr>
          <p:cNvPr id="948232" name="AutoShape 8">
            <a:hlinkClick r:id="rId6" action="ppaction://hlinksldjump" highlightClick="1"/>
          </p:cNvPr>
          <p:cNvSpPr>
            <a:spLocks noChangeArrowheads="1"/>
          </p:cNvSpPr>
          <p:nvPr/>
        </p:nvSpPr>
        <p:spPr bwMode="auto">
          <a:xfrm>
            <a:off x="8153400" y="6477000"/>
            <a:ext cx="685800" cy="381000"/>
          </a:xfrm>
          <a:prstGeom prst="actionButtonBeginning">
            <a:avLst/>
          </a:prstGeom>
          <a:solidFill>
            <a:schemeClr val="bg2"/>
          </a:solidFill>
          <a:ln>
            <a:noFill/>
          </a:ln>
          <a:effectLst>
            <a:prstShdw prst="shdw17" dist="17961" dir="2700000">
              <a:srgbClr val="4D4D4D">
                <a:alpha val="74997"/>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eaLnBrk="1" hangingPunct="1">
              <a:defRPr/>
            </a:pPr>
            <a:endParaRPr lang="zh-CN" altLang="en-US"/>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Text Box 2"/>
          <p:cNvSpPr txBox="1">
            <a:spLocks noChangeArrowheads="1"/>
          </p:cNvSpPr>
          <p:nvPr/>
        </p:nvSpPr>
        <p:spPr bwMode="auto">
          <a:xfrm>
            <a:off x="685800" y="912813"/>
            <a:ext cx="80772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4800" b="1">
                <a:ea typeface="楷体_GB2312" charset="0"/>
              </a:rPr>
              <a:t> </a:t>
            </a:r>
            <a:r>
              <a:rPr lang="zh-CN" altLang="en-US" sz="2400" b="1">
                <a:ea typeface="楷体_GB2312" charset="0"/>
              </a:rPr>
              <a:t>    </a:t>
            </a:r>
            <a:r>
              <a:rPr lang="zh-CN" altLang="en-US" sz="3600">
                <a:solidFill>
                  <a:srgbClr val="000099"/>
                </a:solidFill>
                <a:ea typeface="楷体_GB2312" charset="0"/>
              </a:rPr>
              <a:t>用一组</a:t>
            </a:r>
            <a:r>
              <a:rPr lang="zh-CN" altLang="en-US" sz="3600" b="1">
                <a:solidFill>
                  <a:srgbClr val="FF0000"/>
                </a:solidFill>
                <a:ea typeface="楷体_GB2312" charset="0"/>
              </a:rPr>
              <a:t>地址任意</a:t>
            </a:r>
            <a:r>
              <a:rPr lang="zh-CN" altLang="en-US" sz="3600">
                <a:solidFill>
                  <a:srgbClr val="000099"/>
                </a:solidFill>
                <a:ea typeface="楷体_GB2312" charset="0"/>
              </a:rPr>
              <a:t>的存储单元</a:t>
            </a:r>
            <a:r>
              <a:rPr lang="zh-CN" altLang="en-US" sz="3600" b="1">
                <a:solidFill>
                  <a:srgbClr val="000099"/>
                </a:solidFill>
                <a:ea typeface="楷体_GB2312" charset="0"/>
              </a:rPr>
              <a:t>存放</a:t>
            </a:r>
            <a:r>
              <a:rPr lang="zh-CN" altLang="en-US" sz="3600">
                <a:solidFill>
                  <a:srgbClr val="000099"/>
                </a:solidFill>
                <a:ea typeface="楷体_GB2312" charset="0"/>
              </a:rPr>
              <a:t>线性表中的数据元素。</a:t>
            </a:r>
            <a:endParaRPr lang="zh-CN" altLang="en-US" sz="3600">
              <a:ea typeface="楷体_GB2312" charset="0"/>
            </a:endParaRPr>
          </a:p>
        </p:txBody>
      </p:sp>
      <p:sp>
        <p:nvSpPr>
          <p:cNvPr id="949251" name="Text Box 3"/>
          <p:cNvSpPr txBox="1">
            <a:spLocks noChangeArrowheads="1"/>
          </p:cNvSpPr>
          <p:nvPr/>
        </p:nvSpPr>
        <p:spPr bwMode="auto">
          <a:xfrm>
            <a:off x="1390650" y="212725"/>
            <a:ext cx="272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3300"/>
                </a:solidFill>
                <a:ea typeface="隶书" panose="02010509060101010101" charset="-122"/>
              </a:rPr>
              <a:t>一、单链表</a:t>
            </a:r>
            <a:endParaRPr lang="zh-CN" altLang="en-US" sz="2400"/>
          </a:p>
        </p:txBody>
      </p:sp>
      <p:sp>
        <p:nvSpPr>
          <p:cNvPr id="949252" name="Text Box 4"/>
          <p:cNvSpPr txBox="1">
            <a:spLocks noChangeArrowheads="1"/>
          </p:cNvSpPr>
          <p:nvPr/>
        </p:nvSpPr>
        <p:spPr bwMode="auto">
          <a:xfrm>
            <a:off x="914400" y="2276475"/>
            <a:ext cx="737235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zh-CN" altLang="en-US" sz="3200">
                <a:solidFill>
                  <a:srgbClr val="000099"/>
                </a:solidFill>
                <a:ea typeface="楷体_GB2312" charset="0"/>
              </a:rPr>
              <a:t>以</a:t>
            </a:r>
            <a:r>
              <a:rPr lang="zh-CN" altLang="en-US" sz="3600" b="1">
                <a:solidFill>
                  <a:srgbClr val="0000FF"/>
                </a:solidFill>
                <a:ea typeface="楷体_GB2312" charset="0"/>
              </a:rPr>
              <a:t>元素</a:t>
            </a:r>
            <a:r>
              <a:rPr lang="en-US" altLang="zh-CN" sz="3200">
                <a:solidFill>
                  <a:srgbClr val="000099"/>
                </a:solidFill>
                <a:ea typeface="楷体_GB2312" charset="0"/>
              </a:rPr>
              <a:t>(</a:t>
            </a:r>
            <a:r>
              <a:rPr lang="zh-CN" altLang="en-US" sz="3200" b="1">
                <a:solidFill>
                  <a:srgbClr val="000099"/>
                </a:solidFill>
                <a:ea typeface="楷体_GB2312" charset="0"/>
              </a:rPr>
              <a:t>数据元素的映象</a:t>
            </a:r>
            <a:r>
              <a:rPr lang="en-US" altLang="zh-CN" sz="3200">
                <a:solidFill>
                  <a:srgbClr val="000099"/>
                </a:solidFill>
                <a:ea typeface="楷体_GB2312" charset="0"/>
              </a:rPr>
              <a:t>)</a:t>
            </a:r>
            <a:r>
              <a:rPr lang="en-US" altLang="zh-CN" sz="3200">
                <a:solidFill>
                  <a:srgbClr val="0000FF"/>
                </a:solidFill>
                <a:ea typeface="楷体_GB2312" charset="0"/>
              </a:rPr>
              <a:t> </a:t>
            </a:r>
            <a:endParaRPr lang="en-US" altLang="zh-CN" sz="3200">
              <a:solidFill>
                <a:srgbClr val="0000FF"/>
              </a:solidFill>
              <a:ea typeface="楷体_GB2312" charset="0"/>
            </a:endParaRPr>
          </a:p>
          <a:p>
            <a:pPr eaLnBrk="1" hangingPunct="1">
              <a:lnSpc>
                <a:spcPct val="125000"/>
              </a:lnSpc>
              <a:defRPr/>
            </a:pPr>
            <a:r>
              <a:rPr lang="en-US" altLang="zh-CN" sz="3200">
                <a:solidFill>
                  <a:srgbClr val="0000FF"/>
                </a:solidFill>
                <a:ea typeface="楷体_GB2312" charset="0"/>
              </a:rPr>
              <a:t>             </a:t>
            </a:r>
            <a:r>
              <a:rPr lang="en-US" altLang="zh-CN" sz="3600">
                <a:solidFill>
                  <a:srgbClr val="0000FF"/>
                </a:solidFill>
                <a:ea typeface="楷体_GB2312" charset="0"/>
              </a:rPr>
              <a:t>+ </a:t>
            </a:r>
            <a:r>
              <a:rPr lang="zh-CN" altLang="en-US" sz="3600" b="1">
                <a:solidFill>
                  <a:srgbClr val="0000FF"/>
                </a:solidFill>
                <a:ea typeface="楷体_GB2312" charset="0"/>
              </a:rPr>
              <a:t>指针</a:t>
            </a:r>
            <a:r>
              <a:rPr lang="en-US" altLang="zh-CN" sz="3200">
                <a:solidFill>
                  <a:srgbClr val="000099"/>
                </a:solidFill>
                <a:ea typeface="楷体_GB2312" charset="0"/>
              </a:rPr>
              <a:t>(</a:t>
            </a:r>
            <a:r>
              <a:rPr lang="zh-CN" altLang="en-US" sz="3200" b="1">
                <a:solidFill>
                  <a:srgbClr val="000099"/>
                </a:solidFill>
                <a:ea typeface="楷体_GB2312" charset="0"/>
              </a:rPr>
              <a:t>指示后继元素存储位置</a:t>
            </a:r>
            <a:r>
              <a:rPr lang="en-US" altLang="zh-CN" sz="3200">
                <a:solidFill>
                  <a:srgbClr val="000099"/>
                </a:solidFill>
                <a:ea typeface="楷体_GB2312" charset="0"/>
              </a:rPr>
              <a:t>)</a:t>
            </a:r>
            <a:endParaRPr lang="en-US" altLang="zh-CN" sz="2800">
              <a:solidFill>
                <a:srgbClr val="000099"/>
              </a:solidFill>
              <a:ea typeface="楷体_GB2312" charset="0"/>
            </a:endParaRPr>
          </a:p>
          <a:p>
            <a:pPr eaLnBrk="1" hangingPunct="1">
              <a:lnSpc>
                <a:spcPct val="110000"/>
              </a:lnSpc>
              <a:defRPr/>
            </a:pPr>
            <a:r>
              <a:rPr lang="en-US" altLang="zh-CN" sz="2800" b="1">
                <a:solidFill>
                  <a:srgbClr val="0000FF"/>
                </a:solidFill>
                <a:ea typeface="楷体_GB2312" charset="0"/>
              </a:rPr>
              <a:t>     =  </a:t>
            </a:r>
            <a:r>
              <a:rPr lang="zh-CN" altLang="en-US" sz="3600" b="1">
                <a:solidFill>
                  <a:srgbClr val="FF0000"/>
                </a:solidFill>
                <a:ea typeface="楷体_GB2312" charset="0"/>
              </a:rPr>
              <a:t>结点</a:t>
            </a:r>
            <a:endParaRPr lang="zh-CN" altLang="en-US" sz="3600" b="1">
              <a:solidFill>
                <a:srgbClr val="FF0000"/>
              </a:solidFill>
              <a:ea typeface="楷体_GB2312" charset="0"/>
            </a:endParaRPr>
          </a:p>
          <a:p>
            <a:pPr eaLnBrk="1" hangingPunct="1">
              <a:lnSpc>
                <a:spcPct val="110000"/>
              </a:lnSpc>
              <a:defRPr/>
            </a:pPr>
            <a:r>
              <a:rPr lang="zh-CN" altLang="en-US" sz="3600" b="1">
                <a:solidFill>
                  <a:srgbClr val="FF0000"/>
                </a:solidFill>
                <a:ea typeface="楷体_GB2312" charset="0"/>
              </a:rPr>
              <a:t>       </a:t>
            </a:r>
            <a:r>
              <a:rPr lang="en-US" altLang="zh-CN" sz="3200">
                <a:solidFill>
                  <a:srgbClr val="000099"/>
                </a:solidFill>
                <a:ea typeface="楷体_GB2312" charset="0"/>
              </a:rPr>
              <a:t>(</a:t>
            </a:r>
            <a:r>
              <a:rPr lang="zh-CN" altLang="en-US" sz="3200">
                <a:solidFill>
                  <a:srgbClr val="000099"/>
                </a:solidFill>
                <a:ea typeface="楷体_GB2312" charset="0"/>
              </a:rPr>
              <a:t>表示数据元素  或  </a:t>
            </a:r>
            <a:r>
              <a:rPr lang="zh-CN" altLang="en-US" sz="3200" b="1">
                <a:solidFill>
                  <a:srgbClr val="000099"/>
                </a:solidFill>
                <a:ea typeface="楷体_GB2312" charset="0"/>
              </a:rPr>
              <a:t>数据元素的映象</a:t>
            </a:r>
            <a:r>
              <a:rPr lang="en-US" altLang="zh-CN" sz="3200">
                <a:solidFill>
                  <a:srgbClr val="000099"/>
                </a:solidFill>
                <a:ea typeface="楷体_GB2312" charset="0"/>
              </a:rPr>
              <a:t>)</a:t>
            </a:r>
            <a:endParaRPr lang="en-US" altLang="zh-CN" sz="3200"/>
          </a:p>
        </p:txBody>
      </p:sp>
      <p:sp>
        <p:nvSpPr>
          <p:cNvPr id="949253" name="Text Box 5"/>
          <p:cNvSpPr txBox="1">
            <a:spLocks noChangeArrowheads="1"/>
          </p:cNvSpPr>
          <p:nvPr/>
        </p:nvSpPr>
        <p:spPr bwMode="auto">
          <a:xfrm>
            <a:off x="758825" y="5105400"/>
            <a:ext cx="70485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000099"/>
                </a:solidFill>
                <a:ea typeface="楷体_GB2312" charset="0"/>
              </a:rPr>
              <a:t>以“</a:t>
            </a:r>
            <a:r>
              <a:rPr lang="zh-CN" altLang="en-US" sz="3600" b="1">
                <a:solidFill>
                  <a:srgbClr val="0000FF"/>
                </a:solidFill>
                <a:ea typeface="楷体_GB2312" charset="0"/>
              </a:rPr>
              <a:t>结点的序列</a:t>
            </a:r>
            <a:r>
              <a:rPr lang="zh-CN" altLang="en-US" sz="3600">
                <a:solidFill>
                  <a:srgbClr val="000099"/>
                </a:solidFill>
                <a:ea typeface="楷体_GB2312" charset="0"/>
              </a:rPr>
              <a:t>”表示线性表</a:t>
            </a:r>
            <a:endParaRPr lang="zh-CN" altLang="en-US" sz="3600">
              <a:solidFill>
                <a:srgbClr val="000099"/>
              </a:solidFill>
              <a:ea typeface="楷体_GB2312" charset="0"/>
            </a:endParaRPr>
          </a:p>
          <a:p>
            <a:pPr eaLnBrk="1" hangingPunct="1">
              <a:defRPr/>
            </a:pPr>
            <a:r>
              <a:rPr lang="zh-CN" altLang="en-US" sz="3600">
                <a:solidFill>
                  <a:srgbClr val="000099"/>
                </a:solidFill>
                <a:ea typeface="楷体_GB2312" charset="0"/>
              </a:rPr>
              <a:t>                                   </a:t>
            </a:r>
            <a:r>
              <a:rPr lang="zh-CN" altLang="en-US" sz="3600" b="1">
                <a:solidFill>
                  <a:srgbClr val="000099"/>
                </a:solidFill>
                <a:ea typeface="楷体_GB2312" charset="0"/>
                <a:sym typeface="Symbol" panose="05050102010706020507" charset="2"/>
              </a:rPr>
              <a:t></a:t>
            </a:r>
            <a:r>
              <a:rPr lang="zh-CN" altLang="en-US" sz="3600" b="1">
                <a:ea typeface="楷体_GB2312" charset="0"/>
                <a:sym typeface="Symbol" panose="05050102010706020507" charset="2"/>
              </a:rPr>
              <a:t> </a:t>
            </a:r>
            <a:r>
              <a:rPr lang="zh-CN" altLang="en-US" sz="3600">
                <a:solidFill>
                  <a:srgbClr val="000099"/>
                </a:solidFill>
                <a:ea typeface="楷体_GB2312" charset="0"/>
              </a:rPr>
              <a:t>称作</a:t>
            </a:r>
            <a:r>
              <a:rPr lang="zh-CN" altLang="en-US" sz="3600" b="1">
                <a:solidFill>
                  <a:srgbClr val="FF0000"/>
                </a:solidFill>
                <a:ea typeface="楷体_GB2312" charset="0"/>
              </a:rPr>
              <a:t>链表</a:t>
            </a:r>
            <a:endParaRPr lang="zh-CN" altLang="en-US" sz="3600" b="1">
              <a:solidFill>
                <a:srgbClr val="FF0000"/>
              </a:solidFill>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9250"/>
                                        </p:tgtEl>
                                        <p:attrNameLst>
                                          <p:attrName>style.visibility</p:attrName>
                                        </p:attrNameLst>
                                      </p:cBhvr>
                                      <p:to>
                                        <p:strVal val="visible"/>
                                      </p:to>
                                    </p:set>
                                    <p:animEffect transition="in" filter="wipe(left)">
                                      <p:cBhvr>
                                        <p:cTn id="7" dur="500"/>
                                        <p:tgtEl>
                                          <p:spTgt spid="9492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9252"/>
                                        </p:tgtEl>
                                        <p:attrNameLst>
                                          <p:attrName>style.visibility</p:attrName>
                                        </p:attrNameLst>
                                      </p:cBhvr>
                                      <p:to>
                                        <p:strVal val="visible"/>
                                      </p:to>
                                    </p:set>
                                    <p:animEffect transition="in" filter="wipe(left)">
                                      <p:cBhvr>
                                        <p:cTn id="12" dur="500"/>
                                        <p:tgtEl>
                                          <p:spTgt spid="9492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9253"/>
                                        </p:tgtEl>
                                        <p:attrNameLst>
                                          <p:attrName>style.visibility</p:attrName>
                                        </p:attrNameLst>
                                      </p:cBhvr>
                                      <p:to>
                                        <p:strVal val="visible"/>
                                      </p:to>
                                    </p:set>
                                    <p:animEffect transition="in" filter="wipe(left)">
                                      <p:cBhvr>
                                        <p:cTn id="17" dur="500"/>
                                        <p:tgtEl>
                                          <p:spTgt spid="949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9250" grpId="0" bldLvl="0" animBg="1" autoUpdateAnimBg="0"/>
      <p:bldP spid="949252" grpId="0" autoUpdateAnimBg="0"/>
      <p:bldP spid="949253"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954" name="Text Box 2"/>
          <p:cNvSpPr txBox="1">
            <a:spLocks noChangeArrowheads="1"/>
          </p:cNvSpPr>
          <p:nvPr/>
        </p:nvSpPr>
        <p:spPr bwMode="auto">
          <a:xfrm>
            <a:off x="355600" y="4205288"/>
            <a:ext cx="8788400"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kumimoji="0" lang="zh-CN" altLang="en-US" sz="2800" b="1">
                <a:solidFill>
                  <a:srgbClr val="FF0000"/>
                </a:solidFill>
                <a:latin typeface="楷体_GB2312" charset="0"/>
                <a:ea typeface="楷体_GB2312" charset="0"/>
              </a:rPr>
              <a:t>单链表：</a:t>
            </a:r>
            <a:r>
              <a:rPr kumimoji="0" lang="zh-CN" altLang="en-US" sz="2800" b="1">
                <a:latin typeface="楷体_GB2312" charset="0"/>
                <a:ea typeface="楷体_GB2312" charset="0"/>
              </a:rPr>
              <a:t>线性表的链式存储结构。</a:t>
            </a:r>
            <a:endParaRPr kumimoji="0" lang="zh-CN" altLang="en-US" sz="2800" b="1">
              <a:latin typeface="楷体_GB2312" charset="0"/>
              <a:ea typeface="楷体_GB2312" charset="0"/>
            </a:endParaRPr>
          </a:p>
          <a:p>
            <a:pPr eaLnBrk="1" hangingPunct="1">
              <a:spcBef>
                <a:spcPct val="50000"/>
              </a:spcBef>
              <a:defRPr/>
            </a:pPr>
            <a:r>
              <a:rPr kumimoji="0" lang="zh-CN" altLang="en-US" sz="2800" b="1">
                <a:solidFill>
                  <a:srgbClr val="FF0000"/>
                </a:solidFill>
                <a:latin typeface="楷体_GB2312" charset="0"/>
                <a:ea typeface="楷体_GB2312" charset="0"/>
              </a:rPr>
              <a:t>存储思想：</a:t>
            </a:r>
            <a:r>
              <a:rPr kumimoji="0" lang="zh-CN" altLang="en-US" sz="2800" b="1">
                <a:latin typeface="楷体_GB2312" charset="0"/>
                <a:ea typeface="楷体_GB2312" charset="0"/>
              </a:rPr>
              <a:t>用一组</a:t>
            </a:r>
            <a:r>
              <a:rPr kumimoji="0" lang="zh-CN" altLang="en-US" sz="2800" b="1">
                <a:solidFill>
                  <a:srgbClr val="CC3300"/>
                </a:solidFill>
                <a:latin typeface="楷体_GB2312" charset="0"/>
                <a:ea typeface="楷体_GB2312" charset="0"/>
              </a:rPr>
              <a:t>任意</a:t>
            </a:r>
            <a:r>
              <a:rPr kumimoji="0" lang="zh-CN" altLang="en-US" sz="2800" b="1">
                <a:latin typeface="楷体_GB2312" charset="0"/>
                <a:ea typeface="楷体_GB2312" charset="0"/>
              </a:rPr>
              <a:t>的存储单元存放线性表的元素。</a:t>
            </a:r>
            <a:endParaRPr kumimoji="0" lang="zh-CN" altLang="en-US" sz="2800" b="1">
              <a:latin typeface="楷体_GB2312" charset="0"/>
              <a:ea typeface="楷体_GB2312" charset="0"/>
            </a:endParaRPr>
          </a:p>
        </p:txBody>
      </p:sp>
      <p:sp>
        <p:nvSpPr>
          <p:cNvPr id="1021955" name="Rectangle 3"/>
          <p:cNvSpPr>
            <a:spLocks noChangeArrowheads="1"/>
          </p:cNvSpPr>
          <p:nvPr/>
        </p:nvSpPr>
        <p:spPr bwMode="auto">
          <a:xfrm>
            <a:off x="1447800" y="228600"/>
            <a:ext cx="723900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defRPr/>
            </a:pPr>
            <a:r>
              <a:rPr kumimoji="0" lang="zh-CN" altLang="en-US" sz="3600" b="1">
                <a:solidFill>
                  <a:schemeClr val="accent2"/>
                </a:solidFill>
                <a:latin typeface="楷体_GB2312" charset="0"/>
                <a:ea typeface="楷体_GB2312" charset="0"/>
              </a:rPr>
              <a:t>线性表的链式存储结构及实现</a:t>
            </a:r>
            <a:endParaRPr kumimoji="0" lang="en-US" altLang="zh-CN" sz="3600" b="1">
              <a:solidFill>
                <a:schemeClr val="accent2"/>
              </a:solidFill>
              <a:latin typeface="楷体_GB2312" charset="0"/>
              <a:ea typeface="楷体_GB2312" charset="0"/>
            </a:endParaRPr>
          </a:p>
        </p:txBody>
      </p:sp>
      <p:sp>
        <p:nvSpPr>
          <p:cNvPr id="1021956" name="Rectangle 4"/>
          <p:cNvSpPr>
            <a:spLocks noChangeArrowheads="1"/>
          </p:cNvSpPr>
          <p:nvPr/>
        </p:nvSpPr>
        <p:spPr bwMode="auto">
          <a:xfrm>
            <a:off x="373063" y="1366838"/>
            <a:ext cx="32639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defRPr/>
            </a:pPr>
            <a:r>
              <a:rPr kumimoji="0" lang="zh-CN" altLang="en-US" sz="3200" b="1">
                <a:solidFill>
                  <a:schemeClr val="accent2"/>
                </a:solidFill>
                <a:latin typeface="楷体_GB2312" charset="0"/>
                <a:ea typeface="楷体_GB2312" charset="0"/>
              </a:rPr>
              <a:t>单链表</a:t>
            </a:r>
            <a:endParaRPr kumimoji="0" lang="zh-CN" altLang="en-US" sz="3200" b="1">
              <a:solidFill>
                <a:schemeClr val="accent2"/>
              </a:solidFill>
              <a:latin typeface="楷体_GB2312" charset="0"/>
              <a:ea typeface="楷体_GB2312" charset="0"/>
            </a:endParaRPr>
          </a:p>
        </p:txBody>
      </p:sp>
      <p:grpSp>
        <p:nvGrpSpPr>
          <p:cNvPr id="1021957" name="Group 5"/>
          <p:cNvGrpSpPr/>
          <p:nvPr/>
        </p:nvGrpSpPr>
        <p:grpSpPr bwMode="auto">
          <a:xfrm>
            <a:off x="722313" y="2193925"/>
            <a:ext cx="7573962" cy="561975"/>
            <a:chOff x="455" y="1274"/>
            <a:chExt cx="4771" cy="354"/>
          </a:xfrm>
        </p:grpSpPr>
        <p:sp>
          <p:nvSpPr>
            <p:cNvPr id="1021958" name="Rectangle 6"/>
            <p:cNvSpPr>
              <a:spLocks noChangeArrowheads="1"/>
            </p:cNvSpPr>
            <p:nvPr/>
          </p:nvSpPr>
          <p:spPr bwMode="auto">
            <a:xfrm>
              <a:off x="1810" y="1283"/>
              <a:ext cx="1487" cy="345"/>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r>
                <a:rPr kumimoji="0" lang="zh-CN" altLang="en-US" sz="2800" b="1">
                  <a:latin typeface="楷体_GB2312" charset="0"/>
                  <a:ea typeface="楷体_GB2312" charset="0"/>
                </a:rPr>
                <a:t>静态存储分配 </a:t>
              </a:r>
              <a:endParaRPr kumimoji="0" lang="zh-CN" altLang="en-US" sz="2800" b="1">
                <a:latin typeface="楷体_GB2312" charset="0"/>
                <a:ea typeface="楷体_GB2312" charset="0"/>
              </a:endParaRPr>
            </a:p>
          </p:txBody>
        </p:sp>
        <p:sp>
          <p:nvSpPr>
            <p:cNvPr id="1021959" name="Rectangle 7"/>
            <p:cNvSpPr>
              <a:spLocks noChangeArrowheads="1"/>
            </p:cNvSpPr>
            <p:nvPr/>
          </p:nvSpPr>
          <p:spPr bwMode="auto">
            <a:xfrm>
              <a:off x="455" y="1275"/>
              <a:ext cx="809" cy="345"/>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spAutoFit/>
            </a:bodyPr>
            <a:lstStyle/>
            <a:p>
              <a:pPr algn="ctr" eaLnBrk="1" hangingPunct="1">
                <a:defRPr/>
              </a:pPr>
              <a:r>
                <a:rPr kumimoji="0" lang="zh-CN" altLang="en-US" sz="2800" b="1">
                  <a:latin typeface="楷体_GB2312" charset="0"/>
                  <a:ea typeface="楷体_GB2312" charset="0"/>
                </a:rPr>
                <a:t>顺序表</a:t>
              </a:r>
              <a:endParaRPr kumimoji="0" lang="zh-CN" altLang="en-US" sz="2800" b="1">
                <a:latin typeface="楷体_GB2312" charset="0"/>
                <a:ea typeface="楷体_GB2312" charset="0"/>
              </a:endParaRPr>
            </a:p>
          </p:txBody>
        </p:sp>
        <p:sp>
          <p:nvSpPr>
            <p:cNvPr id="1021960" name="AutoShape 8"/>
            <p:cNvSpPr>
              <a:spLocks noChangeArrowheads="1"/>
            </p:cNvSpPr>
            <p:nvPr/>
          </p:nvSpPr>
          <p:spPr bwMode="auto">
            <a:xfrm>
              <a:off x="1363" y="1362"/>
              <a:ext cx="347" cy="210"/>
            </a:xfrm>
            <a:prstGeom prst="rightArrow">
              <a:avLst>
                <a:gd name="adj1" fmla="val 50000"/>
                <a:gd name="adj2" fmla="val 41310"/>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sp>
          <p:nvSpPr>
            <p:cNvPr id="1021961" name="AutoShape 9"/>
            <p:cNvSpPr>
              <a:spLocks noChangeArrowheads="1"/>
            </p:cNvSpPr>
            <p:nvPr/>
          </p:nvSpPr>
          <p:spPr bwMode="auto">
            <a:xfrm>
              <a:off x="3348" y="1372"/>
              <a:ext cx="347" cy="210"/>
            </a:xfrm>
            <a:prstGeom prst="rightArrow">
              <a:avLst>
                <a:gd name="adj1" fmla="val 50000"/>
                <a:gd name="adj2" fmla="val 41310"/>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sp>
          <p:nvSpPr>
            <p:cNvPr id="1021962" name="Rectangle 10"/>
            <p:cNvSpPr>
              <a:spLocks noChangeArrowheads="1"/>
            </p:cNvSpPr>
            <p:nvPr/>
          </p:nvSpPr>
          <p:spPr bwMode="auto">
            <a:xfrm>
              <a:off x="3739" y="1274"/>
              <a:ext cx="1487" cy="345"/>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r>
                <a:rPr kumimoji="0" lang="zh-CN" altLang="en-US" sz="2800" b="1">
                  <a:latin typeface="楷体_GB2312" charset="0"/>
                  <a:ea typeface="楷体_GB2312" charset="0"/>
                </a:rPr>
                <a:t>事先确定容量 </a:t>
              </a:r>
              <a:endParaRPr kumimoji="0" lang="zh-CN" altLang="en-US" sz="2800" b="1">
                <a:latin typeface="楷体_GB2312" charset="0"/>
                <a:ea typeface="楷体_GB2312" charset="0"/>
              </a:endParaRPr>
            </a:p>
          </p:txBody>
        </p:sp>
      </p:grpSp>
      <p:grpSp>
        <p:nvGrpSpPr>
          <p:cNvPr id="1021963" name="Group 11"/>
          <p:cNvGrpSpPr/>
          <p:nvPr/>
        </p:nvGrpSpPr>
        <p:grpSpPr bwMode="auto">
          <a:xfrm>
            <a:off x="720725" y="3281363"/>
            <a:ext cx="7910513" cy="563562"/>
            <a:chOff x="454" y="1959"/>
            <a:chExt cx="4983" cy="355"/>
          </a:xfrm>
        </p:grpSpPr>
        <p:sp>
          <p:nvSpPr>
            <p:cNvPr id="1021964" name="Rectangle 12"/>
            <p:cNvSpPr>
              <a:spLocks noChangeArrowheads="1"/>
            </p:cNvSpPr>
            <p:nvPr/>
          </p:nvSpPr>
          <p:spPr bwMode="auto">
            <a:xfrm>
              <a:off x="454" y="1960"/>
              <a:ext cx="810" cy="345"/>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spAutoFit/>
            </a:bodyPr>
            <a:lstStyle/>
            <a:p>
              <a:pPr algn="ctr" eaLnBrk="1" hangingPunct="1">
                <a:defRPr/>
              </a:pPr>
              <a:r>
                <a:rPr kumimoji="0" lang="zh-CN" altLang="en-US" sz="2800" b="1">
                  <a:latin typeface="楷体_GB2312" charset="0"/>
                  <a:ea typeface="楷体_GB2312" charset="0"/>
                </a:rPr>
                <a:t>链  表</a:t>
              </a:r>
              <a:endParaRPr kumimoji="0" lang="zh-CN" altLang="en-US" sz="2800" b="1">
                <a:latin typeface="楷体_GB2312" charset="0"/>
                <a:ea typeface="楷体_GB2312" charset="0"/>
              </a:endParaRPr>
            </a:p>
          </p:txBody>
        </p:sp>
        <p:sp>
          <p:nvSpPr>
            <p:cNvPr id="1021965" name="AutoShape 13"/>
            <p:cNvSpPr>
              <a:spLocks noChangeArrowheads="1"/>
            </p:cNvSpPr>
            <p:nvPr/>
          </p:nvSpPr>
          <p:spPr bwMode="auto">
            <a:xfrm>
              <a:off x="3348" y="2057"/>
              <a:ext cx="347" cy="210"/>
            </a:xfrm>
            <a:prstGeom prst="rightArrow">
              <a:avLst>
                <a:gd name="adj1" fmla="val 50000"/>
                <a:gd name="adj2" fmla="val 41310"/>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sp>
          <p:nvSpPr>
            <p:cNvPr id="1021966" name="Rectangle 14"/>
            <p:cNvSpPr>
              <a:spLocks noChangeArrowheads="1"/>
            </p:cNvSpPr>
            <p:nvPr/>
          </p:nvSpPr>
          <p:spPr bwMode="auto">
            <a:xfrm>
              <a:off x="1791" y="1969"/>
              <a:ext cx="1487" cy="345"/>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r>
                <a:rPr kumimoji="0" lang="zh-CN" altLang="en-US" sz="2800" b="1">
                  <a:latin typeface="楷体_GB2312" charset="0"/>
                  <a:ea typeface="楷体_GB2312" charset="0"/>
                </a:rPr>
                <a:t>动态存储分配 </a:t>
              </a:r>
              <a:endParaRPr kumimoji="0" lang="zh-CN" altLang="en-US" sz="2800" b="1">
                <a:latin typeface="楷体_GB2312" charset="0"/>
                <a:ea typeface="楷体_GB2312" charset="0"/>
              </a:endParaRPr>
            </a:p>
          </p:txBody>
        </p:sp>
        <p:sp>
          <p:nvSpPr>
            <p:cNvPr id="1021967" name="AutoShape 15"/>
            <p:cNvSpPr>
              <a:spLocks noChangeArrowheads="1"/>
            </p:cNvSpPr>
            <p:nvPr/>
          </p:nvSpPr>
          <p:spPr bwMode="auto">
            <a:xfrm>
              <a:off x="1344" y="2048"/>
              <a:ext cx="347" cy="210"/>
            </a:xfrm>
            <a:prstGeom prst="rightArrow">
              <a:avLst>
                <a:gd name="adj1" fmla="val 50000"/>
                <a:gd name="adj2" fmla="val 41310"/>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sp>
          <p:nvSpPr>
            <p:cNvPr id="1021968" name="Rectangle 16"/>
            <p:cNvSpPr>
              <a:spLocks noChangeArrowheads="1"/>
            </p:cNvSpPr>
            <p:nvPr/>
          </p:nvSpPr>
          <p:spPr bwMode="auto">
            <a:xfrm>
              <a:off x="3721" y="1959"/>
              <a:ext cx="1716" cy="345"/>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r>
                <a:rPr kumimoji="0" lang="zh-CN" altLang="en-US" sz="2800" b="1">
                  <a:latin typeface="楷体_GB2312" charset="0"/>
                  <a:ea typeface="楷体_GB2312" charset="0"/>
                </a:rPr>
                <a:t>运行时分配空间 </a:t>
              </a:r>
              <a:endParaRPr kumimoji="0" lang="zh-CN" altLang="en-US" sz="2800" b="1">
                <a:latin typeface="楷体_GB2312" charset="0"/>
                <a:ea typeface="楷体_GB2312" charset="0"/>
              </a:endParaRPr>
            </a:p>
          </p:txBody>
        </p:sp>
      </p:grpSp>
      <p:grpSp>
        <p:nvGrpSpPr>
          <p:cNvPr id="1021969" name="Group 17"/>
          <p:cNvGrpSpPr/>
          <p:nvPr/>
        </p:nvGrpSpPr>
        <p:grpSpPr bwMode="auto">
          <a:xfrm>
            <a:off x="3519488" y="5313363"/>
            <a:ext cx="3308350" cy="1544637"/>
            <a:chOff x="2217" y="3140"/>
            <a:chExt cx="2084" cy="973"/>
          </a:xfrm>
        </p:grpSpPr>
        <p:sp>
          <p:nvSpPr>
            <p:cNvPr id="1021970" name="Text Box 18"/>
            <p:cNvSpPr txBox="1">
              <a:spLocks noChangeArrowheads="1"/>
            </p:cNvSpPr>
            <p:nvPr/>
          </p:nvSpPr>
          <p:spPr bwMode="auto">
            <a:xfrm>
              <a:off x="2989" y="3140"/>
              <a:ext cx="1312" cy="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20000"/>
                </a:spcBef>
                <a:defRPr/>
              </a:pPr>
              <a:r>
                <a:rPr kumimoji="0" lang="zh-CN" altLang="en-US" sz="2800" b="1">
                  <a:latin typeface="楷体_GB2312" charset="0"/>
                  <a:ea typeface="楷体_GB2312" charset="0"/>
                </a:rPr>
                <a:t>连续</a:t>
              </a:r>
              <a:endParaRPr kumimoji="0" lang="zh-CN" altLang="en-US" sz="2800" b="1">
                <a:latin typeface="楷体_GB2312" charset="0"/>
                <a:ea typeface="楷体_GB2312" charset="0"/>
              </a:endParaRPr>
            </a:p>
            <a:p>
              <a:pPr eaLnBrk="1" hangingPunct="1">
                <a:spcBef>
                  <a:spcPct val="20000"/>
                </a:spcBef>
                <a:defRPr/>
              </a:pPr>
              <a:r>
                <a:rPr kumimoji="0" lang="zh-CN" altLang="en-US" sz="2800" b="1">
                  <a:latin typeface="楷体_GB2312" charset="0"/>
                  <a:ea typeface="楷体_GB2312" charset="0"/>
                </a:rPr>
                <a:t>不连续</a:t>
              </a:r>
              <a:endParaRPr kumimoji="0" lang="zh-CN" altLang="en-US" sz="2800" b="1">
                <a:latin typeface="楷体_GB2312" charset="0"/>
                <a:ea typeface="楷体_GB2312" charset="0"/>
              </a:endParaRPr>
            </a:p>
            <a:p>
              <a:pPr eaLnBrk="1" hangingPunct="1">
                <a:spcBef>
                  <a:spcPct val="20000"/>
                </a:spcBef>
                <a:defRPr/>
              </a:pPr>
              <a:r>
                <a:rPr kumimoji="0" lang="zh-CN" altLang="en-US" sz="2800" b="1">
                  <a:latin typeface="楷体_GB2312" charset="0"/>
                  <a:ea typeface="楷体_GB2312" charset="0"/>
                </a:rPr>
                <a:t>零散分布</a:t>
              </a:r>
              <a:endParaRPr kumimoji="0" lang="zh-CN" altLang="en-US" sz="2800" b="1">
                <a:latin typeface="楷体_GB2312" charset="0"/>
                <a:ea typeface="楷体_GB2312" charset="0"/>
              </a:endParaRPr>
            </a:p>
          </p:txBody>
        </p:sp>
        <p:sp>
          <p:nvSpPr>
            <p:cNvPr id="1021971" name="AutoShape 19"/>
            <p:cNvSpPr/>
            <p:nvPr/>
          </p:nvSpPr>
          <p:spPr bwMode="auto">
            <a:xfrm>
              <a:off x="2812" y="3305"/>
              <a:ext cx="134" cy="724"/>
            </a:xfrm>
            <a:prstGeom prst="leftBrace">
              <a:avLst>
                <a:gd name="adj1" fmla="val 45025"/>
                <a:gd name="adj2" fmla="val 50000"/>
              </a:avLst>
            </a:prstGeom>
            <a:noFill/>
            <a:ln w="28575">
              <a:solidFill>
                <a:srgbClr val="FF3300"/>
              </a:solidFill>
              <a:round/>
            </a:ln>
            <a:effectLst/>
            <a:extLst>
              <a:ext uri="{909E8E84-426E-40DD-AFC4-6F175D3DCCD1}">
                <a14:hiddenFill xmlns:a14="http://schemas.microsoft.com/office/drawing/2010/main">
                  <a:solidFill>
                    <a:srgbClr val="FF5A33"/>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algn="ctr" eaLnBrk="1" hangingPunct="1">
                <a:defRPr/>
              </a:pPr>
              <a:endParaRPr kumimoji="0" lang="zh-CN" altLang="en-US" sz="1600">
                <a:solidFill>
                  <a:schemeClr val="accent2"/>
                </a:solidFill>
                <a:latin typeface="楷体_GB2312" charset="0"/>
                <a:ea typeface="楷体_GB2312" charset="0"/>
              </a:endParaRPr>
            </a:p>
            <a:p>
              <a:pPr algn="ctr" eaLnBrk="1" hangingPunct="1">
                <a:defRPr/>
              </a:pPr>
              <a:endParaRPr kumimoji="0" lang="zh-CN" altLang="en-US" sz="1600">
                <a:solidFill>
                  <a:schemeClr val="accent2"/>
                </a:solidFill>
                <a:latin typeface="楷体_GB2312" charset="0"/>
                <a:ea typeface="楷体_GB2312" charset="0"/>
              </a:endParaRPr>
            </a:p>
            <a:p>
              <a:pPr algn="ctr" eaLnBrk="1" hangingPunct="1">
                <a:defRPr/>
              </a:pPr>
              <a:endParaRPr kumimoji="0" lang="zh-CN" altLang="en-US" sz="1600">
                <a:solidFill>
                  <a:schemeClr val="accent2"/>
                </a:solidFill>
                <a:latin typeface="楷体_GB2312" charset="0"/>
                <a:ea typeface="楷体_GB2312" charset="0"/>
              </a:endParaRPr>
            </a:p>
            <a:p>
              <a:pPr algn="ctr" eaLnBrk="1" hangingPunct="1">
                <a:defRPr/>
              </a:pPr>
              <a:endParaRPr kumimoji="0" lang="zh-CN" altLang="en-US" sz="1600">
                <a:solidFill>
                  <a:schemeClr val="accent2"/>
                </a:solidFill>
                <a:latin typeface="楷体_GB2312" charset="0"/>
                <a:ea typeface="楷体_GB2312" charset="0"/>
              </a:endParaRPr>
            </a:p>
          </p:txBody>
        </p:sp>
        <p:sp>
          <p:nvSpPr>
            <p:cNvPr id="1021972" name="AutoShape 20"/>
            <p:cNvSpPr>
              <a:spLocks noChangeArrowheads="1"/>
            </p:cNvSpPr>
            <p:nvPr/>
          </p:nvSpPr>
          <p:spPr bwMode="auto">
            <a:xfrm rot="5400000">
              <a:off x="2203" y="3245"/>
              <a:ext cx="531" cy="503"/>
            </a:xfrm>
            <a:custGeom>
              <a:avLst/>
              <a:gdLst>
                <a:gd name="G0" fmla="+- 9257 0 0"/>
                <a:gd name="G1" fmla="+- 17816 0 0"/>
                <a:gd name="G2" fmla="+- 5075 0 0"/>
                <a:gd name="G3" fmla="*/ 9257 1 2"/>
                <a:gd name="G4" fmla="+- G3 10800 0"/>
                <a:gd name="G5" fmla="+- 21600 9257 17816"/>
                <a:gd name="G6" fmla="+- 17816 5075 0"/>
                <a:gd name="G7" fmla="*/ G6 1 2"/>
                <a:gd name="G8" fmla="*/ 17816 2 1"/>
                <a:gd name="G9" fmla="+- G8 0 21600"/>
                <a:gd name="G10" fmla="*/ 21600 G0 G1"/>
                <a:gd name="G11" fmla="*/ 21600 G4 G1"/>
                <a:gd name="G12" fmla="*/ 21600 G5 G1"/>
                <a:gd name="G13" fmla="*/ 21600 G7 G1"/>
                <a:gd name="G14" fmla="*/ 17816 1 2"/>
                <a:gd name="G15" fmla="+- G5 0 G4"/>
                <a:gd name="G16" fmla="+- G0 0 G4"/>
                <a:gd name="G17" fmla="*/ G2 G15 G16"/>
                <a:gd name="T0" fmla="*/ 15429 w 21600"/>
                <a:gd name="T1" fmla="*/ 0 h 21600"/>
                <a:gd name="T2" fmla="*/ 9257 w 21600"/>
                <a:gd name="T3" fmla="*/ 5075 h 21600"/>
                <a:gd name="T4" fmla="*/ 0 w 21600"/>
                <a:gd name="T5" fmla="*/ 18706 h 21600"/>
                <a:gd name="T6" fmla="*/ 8908 w 21600"/>
                <a:gd name="T7" fmla="*/ 21600 h 21600"/>
                <a:gd name="T8" fmla="*/ 17816 w 21600"/>
                <a:gd name="T9" fmla="*/ 13877 h 21600"/>
                <a:gd name="T10" fmla="*/ 21600 w 21600"/>
                <a:gd name="T11" fmla="*/ 5075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5075"/>
                  </a:lnTo>
                  <a:lnTo>
                    <a:pt x="13041" y="5075"/>
                  </a:lnTo>
                  <a:lnTo>
                    <a:pt x="13041" y="15811"/>
                  </a:lnTo>
                  <a:lnTo>
                    <a:pt x="0" y="15811"/>
                  </a:lnTo>
                  <a:lnTo>
                    <a:pt x="0" y="21600"/>
                  </a:lnTo>
                  <a:lnTo>
                    <a:pt x="17816" y="21600"/>
                  </a:lnTo>
                  <a:lnTo>
                    <a:pt x="17816" y="5075"/>
                  </a:lnTo>
                  <a:lnTo>
                    <a:pt x="21600" y="5075"/>
                  </a:lnTo>
                  <a:close/>
                </a:path>
              </a:pathLst>
            </a:custGeom>
            <a:solidFill>
              <a:srgbClr val="FF5A33"/>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1957"/>
                                        </p:tgtEl>
                                        <p:attrNameLst>
                                          <p:attrName>style.visibility</p:attrName>
                                        </p:attrNameLst>
                                      </p:cBhvr>
                                      <p:to>
                                        <p:strVal val="visible"/>
                                      </p:to>
                                    </p:set>
                                    <p:animEffect transition="in" filter="wipe(left)">
                                      <p:cBhvr>
                                        <p:cTn id="7" dur="500"/>
                                        <p:tgtEl>
                                          <p:spTgt spid="10219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1963"/>
                                        </p:tgtEl>
                                        <p:attrNameLst>
                                          <p:attrName>style.visibility</p:attrName>
                                        </p:attrNameLst>
                                      </p:cBhvr>
                                      <p:to>
                                        <p:strVal val="visible"/>
                                      </p:to>
                                    </p:set>
                                    <p:animEffect transition="in" filter="wipe(left)">
                                      <p:cBhvr>
                                        <p:cTn id="12" dur="500"/>
                                        <p:tgtEl>
                                          <p:spTgt spid="102196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219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21969"/>
                                        </p:tgtEl>
                                        <p:attrNameLst>
                                          <p:attrName>style.visibility</p:attrName>
                                        </p:attrNameLst>
                                      </p:cBhvr>
                                      <p:to>
                                        <p:strVal val="visible"/>
                                      </p:to>
                                    </p:set>
                                    <p:animEffect transition="in" filter="wipe(left)">
                                      <p:cBhvr>
                                        <p:cTn id="21" dur="500"/>
                                        <p:tgtEl>
                                          <p:spTgt spid="10219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195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873" name="Group 2"/>
          <p:cNvGrpSpPr/>
          <p:nvPr/>
        </p:nvGrpSpPr>
        <p:grpSpPr bwMode="auto">
          <a:xfrm>
            <a:off x="6088063" y="1470025"/>
            <a:ext cx="1754187" cy="4732338"/>
            <a:chOff x="3889" y="926"/>
            <a:chExt cx="1105" cy="2981"/>
          </a:xfrm>
        </p:grpSpPr>
        <p:grpSp>
          <p:nvGrpSpPr>
            <p:cNvPr id="79905" name="Group 3"/>
            <p:cNvGrpSpPr/>
            <p:nvPr/>
          </p:nvGrpSpPr>
          <p:grpSpPr bwMode="auto">
            <a:xfrm>
              <a:off x="4287" y="1050"/>
              <a:ext cx="707" cy="2836"/>
              <a:chOff x="4287" y="1050"/>
              <a:chExt cx="707" cy="2836"/>
            </a:xfrm>
          </p:grpSpPr>
          <p:sp>
            <p:nvSpPr>
              <p:cNvPr id="1019908" name="Text Box 4"/>
              <p:cNvSpPr txBox="1">
                <a:spLocks noChangeArrowheads="1"/>
              </p:cNvSpPr>
              <p:nvPr/>
            </p:nvSpPr>
            <p:spPr bwMode="auto">
              <a:xfrm>
                <a:off x="4297" y="1052"/>
                <a:ext cx="686" cy="2831"/>
              </a:xfrm>
              <a:prstGeom prst="rect">
                <a:avLst/>
              </a:prstGeom>
              <a:solidFill>
                <a:schemeClr val="hlink"/>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p:txBody>
          </p:sp>
          <p:sp>
            <p:nvSpPr>
              <p:cNvPr id="79915" name="Line 5"/>
              <p:cNvSpPr>
                <a:spLocks noChangeShapeType="1"/>
              </p:cNvSpPr>
              <p:nvPr/>
            </p:nvSpPr>
            <p:spPr bwMode="auto">
              <a:xfrm flipH="1">
                <a:off x="4287" y="1052"/>
                <a:ext cx="0" cy="283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916" name="Line 6"/>
              <p:cNvSpPr>
                <a:spLocks noChangeShapeType="1"/>
              </p:cNvSpPr>
              <p:nvPr/>
            </p:nvSpPr>
            <p:spPr bwMode="auto">
              <a:xfrm flipH="1">
                <a:off x="4994" y="1050"/>
                <a:ext cx="0" cy="283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9906" name="Text Box 7"/>
            <p:cNvSpPr txBox="1">
              <a:spLocks noChangeArrowheads="1"/>
            </p:cNvSpPr>
            <p:nvPr/>
          </p:nvSpPr>
          <p:spPr bwMode="auto">
            <a:xfrm>
              <a:off x="3889" y="1215"/>
              <a:ext cx="346" cy="133"/>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just">
                <a:lnSpc>
                  <a:spcPct val="80000"/>
                </a:lnSpc>
              </a:pPr>
              <a:r>
                <a:rPr kumimoji="0" lang="en-US" altLang="zh-CN" b="1"/>
                <a:t>0200</a:t>
              </a:r>
              <a:endParaRPr kumimoji="0" lang="en-US" altLang="zh-CN" b="1"/>
            </a:p>
          </p:txBody>
        </p:sp>
        <p:sp>
          <p:nvSpPr>
            <p:cNvPr id="79907" name="Text Box 8"/>
            <p:cNvSpPr txBox="1">
              <a:spLocks noChangeArrowheads="1"/>
            </p:cNvSpPr>
            <p:nvPr/>
          </p:nvSpPr>
          <p:spPr bwMode="auto">
            <a:xfrm>
              <a:off x="3903" y="1647"/>
              <a:ext cx="322" cy="133"/>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just">
                <a:lnSpc>
                  <a:spcPct val="80000"/>
                </a:lnSpc>
              </a:pPr>
              <a:r>
                <a:rPr kumimoji="0" lang="en-US" altLang="zh-CN" b="1"/>
                <a:t>0208</a:t>
              </a:r>
              <a:endParaRPr kumimoji="0" lang="en-US" altLang="zh-CN" b="1"/>
            </a:p>
          </p:txBody>
        </p:sp>
        <p:sp>
          <p:nvSpPr>
            <p:cNvPr id="79908" name="Text Box 9"/>
            <p:cNvSpPr txBox="1">
              <a:spLocks noChangeArrowheads="1"/>
            </p:cNvSpPr>
            <p:nvPr/>
          </p:nvSpPr>
          <p:spPr bwMode="auto">
            <a:xfrm>
              <a:off x="3903" y="2480"/>
              <a:ext cx="346" cy="133"/>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just">
                <a:lnSpc>
                  <a:spcPct val="80000"/>
                </a:lnSpc>
              </a:pPr>
              <a:r>
                <a:rPr kumimoji="0" lang="en-US" altLang="zh-CN" b="1"/>
                <a:t>0300</a:t>
              </a:r>
              <a:endParaRPr kumimoji="0" lang="en-US" altLang="zh-CN" b="1"/>
            </a:p>
          </p:txBody>
        </p:sp>
        <p:sp>
          <p:nvSpPr>
            <p:cNvPr id="79909" name="Text Box 10"/>
            <p:cNvSpPr txBox="1">
              <a:spLocks noChangeArrowheads="1"/>
            </p:cNvSpPr>
            <p:nvPr/>
          </p:nvSpPr>
          <p:spPr bwMode="auto">
            <a:xfrm>
              <a:off x="3903" y="3272"/>
              <a:ext cx="320" cy="133"/>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just">
                <a:lnSpc>
                  <a:spcPct val="80000"/>
                </a:lnSpc>
              </a:pPr>
              <a:r>
                <a:rPr kumimoji="0" lang="en-US" altLang="zh-CN" b="1"/>
                <a:t>0325</a:t>
              </a:r>
              <a:endParaRPr kumimoji="0" lang="en-US" altLang="zh-CN" b="1"/>
            </a:p>
          </p:txBody>
        </p:sp>
        <p:sp>
          <p:nvSpPr>
            <p:cNvPr id="1019915" name="Rectangle 11"/>
            <p:cNvSpPr>
              <a:spLocks noChangeArrowheads="1"/>
            </p:cNvSpPr>
            <p:nvPr/>
          </p:nvSpPr>
          <p:spPr bwMode="auto">
            <a:xfrm>
              <a:off x="4489" y="926"/>
              <a:ext cx="321"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eaLnBrk="1" hangingPunct="1">
                <a:lnSpc>
                  <a:spcPct val="110000"/>
                </a:lnSpc>
                <a:defRPr/>
              </a:pPr>
              <a:r>
                <a:rPr kumimoji="0" lang="en-US" altLang="zh-CN" sz="2400" b="1" i="1">
                  <a:ea typeface="华文行楷" panose="02010800040101010101" charset="-122"/>
                </a:rPr>
                <a:t>…</a:t>
              </a:r>
              <a:endParaRPr kumimoji="0" lang="en-US" altLang="zh-CN" sz="2400" b="1">
                <a:ea typeface="华文行楷" panose="02010800040101010101" charset="-122"/>
              </a:endParaRPr>
            </a:p>
          </p:txBody>
        </p:sp>
        <p:sp>
          <p:nvSpPr>
            <p:cNvPr id="1019916" name="Rectangle 12"/>
            <p:cNvSpPr>
              <a:spLocks noChangeArrowheads="1"/>
            </p:cNvSpPr>
            <p:nvPr/>
          </p:nvSpPr>
          <p:spPr bwMode="auto">
            <a:xfrm>
              <a:off x="4471" y="2096"/>
              <a:ext cx="321"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eaLnBrk="1" hangingPunct="1">
                <a:lnSpc>
                  <a:spcPct val="110000"/>
                </a:lnSpc>
                <a:defRPr/>
              </a:pPr>
              <a:r>
                <a:rPr kumimoji="0" lang="en-US" altLang="zh-CN" sz="2400" b="1" i="1">
                  <a:ea typeface="华文行楷" panose="02010800040101010101" charset="-122"/>
                </a:rPr>
                <a:t>…</a:t>
              </a:r>
              <a:endParaRPr kumimoji="0" lang="en-US" altLang="zh-CN" sz="2400" b="1">
                <a:ea typeface="华文行楷" panose="02010800040101010101" charset="-122"/>
              </a:endParaRPr>
            </a:p>
          </p:txBody>
        </p:sp>
        <p:sp>
          <p:nvSpPr>
            <p:cNvPr id="1019917" name="Rectangle 13"/>
            <p:cNvSpPr>
              <a:spLocks noChangeArrowheads="1"/>
            </p:cNvSpPr>
            <p:nvPr/>
          </p:nvSpPr>
          <p:spPr bwMode="auto">
            <a:xfrm>
              <a:off x="4471" y="2910"/>
              <a:ext cx="321"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eaLnBrk="1" hangingPunct="1">
                <a:lnSpc>
                  <a:spcPct val="110000"/>
                </a:lnSpc>
                <a:defRPr/>
              </a:pPr>
              <a:r>
                <a:rPr kumimoji="0" lang="en-US" altLang="zh-CN" sz="2400" b="1" i="1">
                  <a:ea typeface="华文行楷" panose="02010800040101010101" charset="-122"/>
                </a:rPr>
                <a:t>…</a:t>
              </a:r>
              <a:endParaRPr kumimoji="0" lang="en-US" altLang="zh-CN" sz="2400" b="1">
                <a:ea typeface="华文行楷" panose="02010800040101010101" charset="-122"/>
              </a:endParaRPr>
            </a:p>
          </p:txBody>
        </p:sp>
        <p:sp>
          <p:nvSpPr>
            <p:cNvPr id="1019918" name="Rectangle 14"/>
            <p:cNvSpPr>
              <a:spLocks noChangeArrowheads="1"/>
            </p:cNvSpPr>
            <p:nvPr/>
          </p:nvSpPr>
          <p:spPr bwMode="auto">
            <a:xfrm>
              <a:off x="4480" y="3596"/>
              <a:ext cx="321"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eaLnBrk="1" hangingPunct="1">
                <a:lnSpc>
                  <a:spcPct val="110000"/>
                </a:lnSpc>
                <a:defRPr/>
              </a:pPr>
              <a:r>
                <a:rPr kumimoji="0" lang="en-US" altLang="zh-CN" sz="2400" b="1" i="1">
                  <a:ea typeface="华文行楷" panose="02010800040101010101" charset="-122"/>
                </a:rPr>
                <a:t>…</a:t>
              </a:r>
              <a:endParaRPr kumimoji="0" lang="en-US" altLang="zh-CN" sz="2400" b="1">
                <a:ea typeface="华文行楷" panose="02010800040101010101" charset="-122"/>
              </a:endParaRPr>
            </a:p>
          </p:txBody>
        </p:sp>
      </p:grpSp>
      <p:sp>
        <p:nvSpPr>
          <p:cNvPr id="1019919" name="Text Box 15"/>
          <p:cNvSpPr txBox="1">
            <a:spLocks noChangeArrowheads="1"/>
          </p:cNvSpPr>
          <p:nvPr/>
        </p:nvSpPr>
        <p:spPr bwMode="auto">
          <a:xfrm>
            <a:off x="392113" y="3144838"/>
            <a:ext cx="4019550" cy="257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defRPr kumimoji="1" sz="2000">
                <a:solidFill>
                  <a:schemeClr val="tx1"/>
                </a:solidFill>
                <a:latin typeface="Times New Roman" panose="02020603050405020304" charset="0"/>
                <a:ea typeface="宋体" panose="02010600030101010101" pitchFamily="2" charset="-122"/>
              </a:defRPr>
            </a:lvl1pPr>
            <a:lvl2pPr marL="800100" indent="-342900" eaLnBrk="0" hangingPunct="0">
              <a:defRPr kumimoji="1" sz="2000">
                <a:solidFill>
                  <a:schemeClr val="tx1"/>
                </a:solidFill>
                <a:latin typeface="Times New Roman" panose="02020603050405020304" charset="0"/>
                <a:ea typeface="宋体" panose="02010600030101010101" pitchFamily="2" charset="-122"/>
              </a:defRPr>
            </a:lvl2pPr>
            <a:lvl3pPr marL="1257300" indent="-342900" eaLnBrk="0" hangingPunct="0">
              <a:defRPr kumimoji="1" sz="2000">
                <a:solidFill>
                  <a:schemeClr val="tx1"/>
                </a:solidFill>
                <a:latin typeface="Times New Roman" panose="02020603050405020304" charset="0"/>
                <a:ea typeface="宋体" panose="02010600030101010101" pitchFamily="2" charset="-122"/>
              </a:defRPr>
            </a:lvl3pPr>
            <a:lvl4pPr marL="1714500" indent="-342900" eaLnBrk="0" hangingPunct="0">
              <a:defRPr kumimoji="1" sz="2000">
                <a:solidFill>
                  <a:schemeClr val="tx1"/>
                </a:solidFill>
                <a:latin typeface="Times New Roman" panose="02020603050405020304" charset="0"/>
                <a:ea typeface="宋体" panose="02010600030101010101" pitchFamily="2" charset="-122"/>
              </a:defRPr>
            </a:lvl4pPr>
            <a:lvl5pPr marL="2171700" indent="-342900" eaLnBrk="0" hangingPunct="0">
              <a:defRPr kumimoji="1" sz="2000">
                <a:solidFill>
                  <a:schemeClr val="tx1"/>
                </a:solidFill>
                <a:latin typeface="Times New Roman" panose="02020603050405020304" charset="0"/>
                <a:ea typeface="宋体" panose="02010600030101010101" pitchFamily="2" charset="-122"/>
              </a:defRPr>
            </a:lvl5pPr>
            <a:lvl6pPr marL="26289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30861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5433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40005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just" eaLnBrk="1" hangingPunct="1">
              <a:spcBef>
                <a:spcPct val="10000"/>
              </a:spcBef>
              <a:defRPr/>
            </a:pPr>
            <a:r>
              <a:rPr kumimoji="0" lang="zh-CN" altLang="en-US" sz="2800" b="1">
                <a:solidFill>
                  <a:srgbClr val="FF0000"/>
                </a:solidFill>
                <a:latin typeface="楷体_GB2312" charset="0"/>
                <a:ea typeface="楷体_GB2312" charset="0"/>
              </a:rPr>
              <a:t>存储特点：</a:t>
            </a:r>
            <a:endParaRPr kumimoji="0" lang="zh-CN" altLang="en-US" sz="2800" b="1">
              <a:solidFill>
                <a:srgbClr val="FF0000"/>
              </a:solidFill>
              <a:latin typeface="楷体_GB2312" charset="0"/>
              <a:ea typeface="楷体_GB2312" charset="0"/>
            </a:endParaRPr>
          </a:p>
          <a:p>
            <a:pPr algn="just" eaLnBrk="1" hangingPunct="1">
              <a:spcBef>
                <a:spcPct val="50000"/>
              </a:spcBef>
              <a:buFontTx/>
              <a:buAutoNum type="arabicPeriod"/>
              <a:defRPr/>
            </a:pPr>
            <a:r>
              <a:rPr kumimoji="0" lang="zh-CN" altLang="en-US" sz="2800" b="1">
                <a:latin typeface="楷体_GB2312" charset="0"/>
                <a:ea typeface="楷体_GB2312" charset="0"/>
              </a:rPr>
              <a:t>逻辑次序和物理次序</a:t>
            </a:r>
            <a:endParaRPr kumimoji="0" lang="zh-CN" altLang="en-US" sz="2800" b="1">
              <a:latin typeface="楷体_GB2312" charset="0"/>
              <a:ea typeface="楷体_GB2312" charset="0"/>
            </a:endParaRPr>
          </a:p>
          <a:p>
            <a:pPr algn="just" eaLnBrk="1" hangingPunct="1">
              <a:spcBef>
                <a:spcPct val="10000"/>
              </a:spcBef>
              <a:defRPr/>
            </a:pPr>
            <a:r>
              <a:rPr kumimoji="0" lang="zh-CN" altLang="en-US" sz="2800" b="1">
                <a:latin typeface="楷体_GB2312" charset="0"/>
                <a:ea typeface="楷体_GB2312" charset="0"/>
              </a:rPr>
              <a:t>    不一定相同。</a:t>
            </a:r>
            <a:r>
              <a:rPr kumimoji="0" lang="zh-CN" altLang="en-US" sz="2800">
                <a:latin typeface="楷体_GB2312" charset="0"/>
                <a:ea typeface="楷体_GB2312" charset="0"/>
              </a:rPr>
              <a:t> </a:t>
            </a:r>
            <a:endParaRPr kumimoji="0" lang="zh-CN" altLang="en-US" sz="2800">
              <a:latin typeface="楷体_GB2312" charset="0"/>
              <a:ea typeface="楷体_GB2312" charset="0"/>
            </a:endParaRPr>
          </a:p>
          <a:p>
            <a:pPr algn="just" eaLnBrk="1" hangingPunct="1">
              <a:spcBef>
                <a:spcPct val="10000"/>
              </a:spcBef>
              <a:defRPr/>
            </a:pPr>
            <a:r>
              <a:rPr kumimoji="0" lang="zh-CN" altLang="en-US" sz="2800" b="1">
                <a:latin typeface="楷体_GB2312" charset="0"/>
                <a:ea typeface="楷体_GB2312" charset="0"/>
              </a:rPr>
              <a:t>2.元素之间的逻辑关系</a:t>
            </a:r>
            <a:endParaRPr kumimoji="0" lang="zh-CN" altLang="en-US" sz="2800" b="1">
              <a:latin typeface="楷体_GB2312" charset="0"/>
              <a:ea typeface="楷体_GB2312" charset="0"/>
            </a:endParaRPr>
          </a:p>
          <a:p>
            <a:pPr algn="just" eaLnBrk="1" hangingPunct="1">
              <a:spcBef>
                <a:spcPct val="10000"/>
              </a:spcBef>
              <a:defRPr/>
            </a:pPr>
            <a:r>
              <a:rPr kumimoji="0" lang="zh-CN" altLang="en-US" sz="2800" b="1">
                <a:latin typeface="楷体_GB2312" charset="0"/>
                <a:ea typeface="楷体_GB2312" charset="0"/>
              </a:rPr>
              <a:t>    用指针表示。</a:t>
            </a:r>
            <a:endParaRPr kumimoji="0" lang="zh-CN" altLang="en-US" sz="2800" b="1">
              <a:latin typeface="楷体_GB2312" charset="0"/>
              <a:ea typeface="楷体_GB2312" charset="0"/>
            </a:endParaRPr>
          </a:p>
        </p:txBody>
      </p:sp>
      <p:sp>
        <p:nvSpPr>
          <p:cNvPr id="79875" name="Text Box 17"/>
          <p:cNvSpPr txBox="1">
            <a:spLocks noChangeArrowheads="1"/>
          </p:cNvSpPr>
          <p:nvPr/>
        </p:nvSpPr>
        <p:spPr bwMode="auto">
          <a:xfrm>
            <a:off x="428625" y="2289175"/>
            <a:ext cx="5132388" cy="498475"/>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just"/>
            <a:r>
              <a:rPr kumimoji="0" lang="zh-CN" altLang="en-US" sz="2800" b="1">
                <a:latin typeface="楷体_GB2312" charset="0"/>
                <a:ea typeface="楷体_GB2312" charset="0"/>
              </a:rPr>
              <a:t>例：</a:t>
            </a:r>
            <a:r>
              <a:rPr kumimoji="0" lang="en-US" altLang="zh-CN" sz="2800" b="1">
                <a:latin typeface="楷体_GB2312" charset="0"/>
                <a:ea typeface="楷体_GB2312" charset="0"/>
              </a:rPr>
              <a:t>(</a:t>
            </a:r>
            <a:r>
              <a:rPr kumimoji="0" lang="en-US" altLang="zh-CN" sz="2800" b="1" i="1">
                <a:latin typeface="楷体_GB2312" charset="0"/>
                <a:ea typeface="楷体_GB2312" charset="0"/>
              </a:rPr>
              <a:t>a</a:t>
            </a:r>
            <a:r>
              <a:rPr kumimoji="0" lang="en-US" altLang="zh-CN" sz="2800" b="1" baseline="-25000">
                <a:latin typeface="楷体_GB2312" charset="0"/>
                <a:ea typeface="楷体_GB2312" charset="0"/>
              </a:rPr>
              <a:t>1</a:t>
            </a:r>
            <a:r>
              <a:rPr kumimoji="0" lang="en-US" altLang="zh-CN" sz="2800" b="1">
                <a:latin typeface="楷体_GB2312" charset="0"/>
                <a:ea typeface="楷体_GB2312" charset="0"/>
              </a:rPr>
              <a:t>,</a:t>
            </a:r>
            <a:r>
              <a:rPr kumimoji="0" lang="en-US" altLang="zh-CN" sz="2800" b="1" i="1">
                <a:latin typeface="楷体_GB2312" charset="0"/>
                <a:ea typeface="楷体_GB2312" charset="0"/>
              </a:rPr>
              <a:t>a</a:t>
            </a:r>
            <a:r>
              <a:rPr kumimoji="0" lang="en-US" altLang="zh-CN" sz="2800" b="1" baseline="-25000">
                <a:latin typeface="楷体_GB2312" charset="0"/>
                <a:ea typeface="楷体_GB2312" charset="0"/>
              </a:rPr>
              <a:t>2</a:t>
            </a:r>
            <a:r>
              <a:rPr kumimoji="0" lang="en-US" altLang="zh-CN" sz="2800" b="1">
                <a:latin typeface="楷体_GB2312" charset="0"/>
                <a:ea typeface="楷体_GB2312" charset="0"/>
              </a:rPr>
              <a:t>,</a:t>
            </a:r>
            <a:r>
              <a:rPr kumimoji="0" lang="en-US" altLang="zh-CN" sz="2800" b="1" i="1">
                <a:latin typeface="楷体_GB2312" charset="0"/>
                <a:ea typeface="楷体_GB2312" charset="0"/>
              </a:rPr>
              <a:t>a</a:t>
            </a:r>
            <a:r>
              <a:rPr kumimoji="0" lang="en-US" altLang="zh-CN" sz="2800" b="1" baseline="-25000">
                <a:latin typeface="楷体_GB2312" charset="0"/>
                <a:ea typeface="楷体_GB2312" charset="0"/>
              </a:rPr>
              <a:t>3</a:t>
            </a:r>
            <a:r>
              <a:rPr kumimoji="0" lang="en-US" altLang="zh-CN" sz="2800" b="1">
                <a:latin typeface="楷体_GB2312" charset="0"/>
                <a:ea typeface="楷体_GB2312" charset="0"/>
              </a:rPr>
              <a:t>,</a:t>
            </a:r>
            <a:r>
              <a:rPr kumimoji="0" lang="en-US" altLang="zh-CN" sz="2800" b="1" i="1">
                <a:latin typeface="楷体_GB2312" charset="0"/>
                <a:ea typeface="楷体_GB2312" charset="0"/>
              </a:rPr>
              <a:t>a</a:t>
            </a:r>
            <a:r>
              <a:rPr kumimoji="0" lang="en-US" altLang="zh-CN" sz="2800" b="1" baseline="-25000">
                <a:latin typeface="楷体_GB2312" charset="0"/>
                <a:ea typeface="楷体_GB2312" charset="0"/>
              </a:rPr>
              <a:t>4</a:t>
            </a:r>
            <a:r>
              <a:rPr kumimoji="0" lang="en-US" altLang="zh-CN" sz="2800" b="1">
                <a:latin typeface="楷体_GB2312" charset="0"/>
                <a:ea typeface="楷体_GB2312" charset="0"/>
              </a:rPr>
              <a:t>)</a:t>
            </a:r>
            <a:r>
              <a:rPr kumimoji="0" lang="zh-CN" altLang="en-US" sz="2800" b="1">
                <a:latin typeface="楷体_GB2312" charset="0"/>
                <a:ea typeface="楷体_GB2312" charset="0"/>
              </a:rPr>
              <a:t>的存储示意图</a:t>
            </a:r>
            <a:endParaRPr kumimoji="0" lang="zh-CN" altLang="en-US" sz="2800" b="1">
              <a:latin typeface="楷体_GB2312" charset="0"/>
              <a:ea typeface="楷体_GB2312" charset="0"/>
            </a:endParaRPr>
          </a:p>
        </p:txBody>
      </p:sp>
      <p:sp>
        <p:nvSpPr>
          <p:cNvPr id="79876" name="Line 18"/>
          <p:cNvSpPr>
            <a:spLocks noChangeShapeType="1"/>
          </p:cNvSpPr>
          <p:nvPr/>
        </p:nvSpPr>
        <p:spPr bwMode="auto">
          <a:xfrm>
            <a:off x="6742113" y="1928813"/>
            <a:ext cx="110013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77" name="Line 19"/>
          <p:cNvSpPr>
            <a:spLocks noChangeShapeType="1"/>
          </p:cNvSpPr>
          <p:nvPr/>
        </p:nvSpPr>
        <p:spPr bwMode="auto">
          <a:xfrm>
            <a:off x="6715125" y="2320925"/>
            <a:ext cx="11017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78" name="Line 20"/>
          <p:cNvSpPr>
            <a:spLocks noChangeShapeType="1"/>
          </p:cNvSpPr>
          <p:nvPr/>
        </p:nvSpPr>
        <p:spPr bwMode="auto">
          <a:xfrm>
            <a:off x="6740525" y="2597150"/>
            <a:ext cx="110172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79" name="Line 21"/>
          <p:cNvSpPr>
            <a:spLocks noChangeShapeType="1"/>
          </p:cNvSpPr>
          <p:nvPr/>
        </p:nvSpPr>
        <p:spPr bwMode="auto">
          <a:xfrm>
            <a:off x="6715125" y="2973388"/>
            <a:ext cx="11017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0" name="Line 22"/>
          <p:cNvSpPr>
            <a:spLocks noChangeShapeType="1"/>
          </p:cNvSpPr>
          <p:nvPr/>
        </p:nvSpPr>
        <p:spPr bwMode="auto">
          <a:xfrm>
            <a:off x="6740525" y="3267075"/>
            <a:ext cx="110172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1" name="Line 23"/>
          <p:cNvSpPr>
            <a:spLocks noChangeShapeType="1"/>
          </p:cNvSpPr>
          <p:nvPr/>
        </p:nvSpPr>
        <p:spPr bwMode="auto">
          <a:xfrm>
            <a:off x="6742113" y="3903663"/>
            <a:ext cx="110013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2" name="Line 24"/>
          <p:cNvSpPr>
            <a:spLocks noChangeShapeType="1"/>
          </p:cNvSpPr>
          <p:nvPr/>
        </p:nvSpPr>
        <p:spPr bwMode="auto">
          <a:xfrm>
            <a:off x="6716713" y="4295775"/>
            <a:ext cx="1100137"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3" name="Line 25"/>
          <p:cNvSpPr>
            <a:spLocks noChangeShapeType="1"/>
          </p:cNvSpPr>
          <p:nvPr/>
        </p:nvSpPr>
        <p:spPr bwMode="auto">
          <a:xfrm>
            <a:off x="6742113" y="4573588"/>
            <a:ext cx="110013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4" name="Line 26"/>
          <p:cNvSpPr>
            <a:spLocks noChangeShapeType="1"/>
          </p:cNvSpPr>
          <p:nvPr/>
        </p:nvSpPr>
        <p:spPr bwMode="auto">
          <a:xfrm>
            <a:off x="6742113" y="5210175"/>
            <a:ext cx="110013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5" name="Line 27"/>
          <p:cNvSpPr>
            <a:spLocks noChangeShapeType="1"/>
          </p:cNvSpPr>
          <p:nvPr/>
        </p:nvSpPr>
        <p:spPr bwMode="auto">
          <a:xfrm>
            <a:off x="6716713" y="5568950"/>
            <a:ext cx="1100137"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6" name="Line 28"/>
          <p:cNvSpPr>
            <a:spLocks noChangeShapeType="1"/>
          </p:cNvSpPr>
          <p:nvPr/>
        </p:nvSpPr>
        <p:spPr bwMode="auto">
          <a:xfrm>
            <a:off x="6719888" y="5862638"/>
            <a:ext cx="110172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19933" name="Line 29"/>
          <p:cNvSpPr>
            <a:spLocks noChangeShapeType="1"/>
          </p:cNvSpPr>
          <p:nvPr/>
        </p:nvSpPr>
        <p:spPr bwMode="auto">
          <a:xfrm flipV="1">
            <a:off x="5591175" y="2727325"/>
            <a:ext cx="458788" cy="0"/>
          </a:xfrm>
          <a:prstGeom prst="line">
            <a:avLst/>
          </a:prstGeom>
          <a:noFill/>
          <a:ln w="28575">
            <a:solidFill>
              <a:srgbClr val="006666"/>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19934" name="Rectangle 30"/>
          <p:cNvSpPr>
            <a:spLocks noChangeArrowheads="1"/>
          </p:cNvSpPr>
          <p:nvPr/>
        </p:nvSpPr>
        <p:spPr bwMode="auto">
          <a:xfrm>
            <a:off x="373063" y="1552575"/>
            <a:ext cx="32639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defRPr/>
            </a:pPr>
            <a:r>
              <a:rPr kumimoji="0" lang="zh-CN" altLang="en-US" sz="3200" b="1">
                <a:solidFill>
                  <a:schemeClr val="accent2"/>
                </a:solidFill>
                <a:latin typeface="楷体_GB2312" charset="0"/>
                <a:ea typeface="楷体_GB2312" charset="0"/>
              </a:rPr>
              <a:t>单链表</a:t>
            </a:r>
            <a:endParaRPr kumimoji="0" lang="zh-CN" altLang="en-US" sz="3200" b="1">
              <a:solidFill>
                <a:schemeClr val="accent2"/>
              </a:solidFill>
              <a:latin typeface="楷体_GB2312" charset="0"/>
              <a:ea typeface="楷体_GB2312" charset="0"/>
            </a:endParaRPr>
          </a:p>
        </p:txBody>
      </p:sp>
      <p:sp>
        <p:nvSpPr>
          <p:cNvPr id="1019935" name="Rectangle 31"/>
          <p:cNvSpPr>
            <a:spLocks noChangeArrowheads="1"/>
          </p:cNvSpPr>
          <p:nvPr/>
        </p:nvSpPr>
        <p:spPr bwMode="auto">
          <a:xfrm>
            <a:off x="6697662" y="2484438"/>
            <a:ext cx="1055688"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square">
            <a:spAutoFit/>
          </a:bodyPr>
          <a:lstStyle/>
          <a:p>
            <a:pPr eaLnBrk="1" hangingPunct="1">
              <a:lnSpc>
                <a:spcPct val="110000"/>
              </a:lnSpc>
              <a:defRPr/>
            </a:pPr>
            <a:r>
              <a:rPr kumimoji="0" lang="en-US" altLang="zh-CN" sz="2000" b="1" i="1" dirty="0">
                <a:ea typeface="华文行楷" panose="02010800040101010101" charset="-122"/>
              </a:rPr>
              <a:t>  a</a:t>
            </a:r>
            <a:r>
              <a:rPr kumimoji="0" lang="en-US" altLang="zh-CN" sz="2000" b="1" baseline="-25000" dirty="0">
                <a:ea typeface="华文行楷" panose="02010800040101010101" charset="-122"/>
              </a:rPr>
              <a:t>1</a:t>
            </a:r>
            <a:endParaRPr kumimoji="0" lang="en-US" altLang="zh-CN" sz="2000" b="1" baseline="-25000" dirty="0">
              <a:ea typeface="华文行楷" panose="02010800040101010101" charset="-122"/>
            </a:endParaRPr>
          </a:p>
          <a:p>
            <a:pPr eaLnBrk="1" hangingPunct="1">
              <a:lnSpc>
                <a:spcPct val="110000"/>
              </a:lnSpc>
              <a:defRPr/>
            </a:pPr>
            <a:r>
              <a:rPr kumimoji="0" lang="en-US" altLang="zh-CN" sz="2000" b="1" dirty="0">
                <a:ea typeface="华文行楷" panose="02010800040101010101" charset="-122"/>
              </a:rPr>
              <a:t>0200</a:t>
            </a:r>
            <a:endParaRPr kumimoji="0" lang="en-US" altLang="zh-CN" sz="2000" b="1" dirty="0">
              <a:ea typeface="华文行楷" panose="02010800040101010101" charset="-122"/>
            </a:endParaRPr>
          </a:p>
        </p:txBody>
      </p:sp>
      <p:sp>
        <p:nvSpPr>
          <p:cNvPr id="1019936" name="Rectangle 32"/>
          <p:cNvSpPr>
            <a:spLocks noChangeArrowheads="1"/>
          </p:cNvSpPr>
          <p:nvPr/>
        </p:nvSpPr>
        <p:spPr bwMode="auto">
          <a:xfrm>
            <a:off x="6697663" y="1876065"/>
            <a:ext cx="1055687"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square">
            <a:spAutoFit/>
          </a:bodyPr>
          <a:lstStyle/>
          <a:p>
            <a:pPr eaLnBrk="1" hangingPunct="1">
              <a:lnSpc>
                <a:spcPct val="110000"/>
              </a:lnSpc>
              <a:defRPr/>
            </a:pPr>
            <a:r>
              <a:rPr kumimoji="0" lang="en-US" altLang="zh-CN" sz="2000" b="1" i="1" dirty="0">
                <a:ea typeface="华文行楷" panose="02010800040101010101" charset="-122"/>
              </a:rPr>
              <a:t>  a</a:t>
            </a:r>
            <a:r>
              <a:rPr kumimoji="0" lang="en-US" altLang="zh-CN" sz="2000" b="1" baseline="-25000" dirty="0">
                <a:ea typeface="华文行楷" panose="02010800040101010101" charset="-122"/>
              </a:rPr>
              <a:t>2</a:t>
            </a:r>
            <a:endParaRPr kumimoji="0" lang="en-US" altLang="zh-CN" sz="2000" b="1" baseline="-25000" dirty="0">
              <a:ea typeface="华文行楷" panose="02010800040101010101" charset="-122"/>
            </a:endParaRPr>
          </a:p>
          <a:p>
            <a:pPr eaLnBrk="1" hangingPunct="1">
              <a:lnSpc>
                <a:spcPct val="110000"/>
              </a:lnSpc>
              <a:defRPr/>
            </a:pPr>
            <a:r>
              <a:rPr kumimoji="0" lang="en-US" altLang="zh-CN" sz="2000" b="1" dirty="0">
                <a:ea typeface="华文行楷" panose="02010800040101010101" charset="-122"/>
              </a:rPr>
              <a:t>0325</a:t>
            </a:r>
            <a:endParaRPr kumimoji="0" lang="en-US" altLang="zh-CN" sz="2000" b="1" dirty="0">
              <a:ea typeface="华文行楷" panose="02010800040101010101" charset="-122"/>
            </a:endParaRPr>
          </a:p>
        </p:txBody>
      </p:sp>
      <p:sp>
        <p:nvSpPr>
          <p:cNvPr id="1019937" name="Rectangle 33"/>
          <p:cNvSpPr>
            <a:spLocks noChangeArrowheads="1"/>
          </p:cNvSpPr>
          <p:nvPr/>
        </p:nvSpPr>
        <p:spPr bwMode="auto">
          <a:xfrm>
            <a:off x="6659563" y="5068888"/>
            <a:ext cx="1063625"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square">
            <a:spAutoFit/>
          </a:bodyPr>
          <a:lstStyle/>
          <a:p>
            <a:pPr eaLnBrk="1" hangingPunct="1">
              <a:lnSpc>
                <a:spcPct val="110000"/>
              </a:lnSpc>
              <a:defRPr/>
            </a:pPr>
            <a:r>
              <a:rPr kumimoji="0" lang="en-US" altLang="zh-CN" sz="2000" b="1" i="1" dirty="0">
                <a:ea typeface="华文行楷" panose="02010800040101010101" charset="-122"/>
              </a:rPr>
              <a:t>  a</a:t>
            </a:r>
            <a:r>
              <a:rPr kumimoji="0" lang="en-US" altLang="zh-CN" sz="2000" b="1" baseline="-25000" dirty="0">
                <a:ea typeface="华文行楷" panose="02010800040101010101" charset="-122"/>
              </a:rPr>
              <a:t>3</a:t>
            </a:r>
            <a:endParaRPr kumimoji="0" lang="en-US" altLang="zh-CN" sz="2000" b="1" baseline="-25000" dirty="0">
              <a:ea typeface="华文行楷" panose="02010800040101010101" charset="-122"/>
            </a:endParaRPr>
          </a:p>
          <a:p>
            <a:pPr eaLnBrk="1" hangingPunct="1">
              <a:lnSpc>
                <a:spcPct val="110000"/>
              </a:lnSpc>
              <a:defRPr/>
            </a:pPr>
            <a:r>
              <a:rPr kumimoji="0" lang="en-US" altLang="zh-CN" sz="2000" b="1" dirty="0">
                <a:ea typeface="华文行楷" panose="02010800040101010101" charset="-122"/>
              </a:rPr>
              <a:t>0300</a:t>
            </a:r>
            <a:endParaRPr kumimoji="0" lang="en-US" altLang="zh-CN" sz="2000" b="1" dirty="0">
              <a:ea typeface="华文行楷" panose="02010800040101010101" charset="-122"/>
            </a:endParaRPr>
          </a:p>
        </p:txBody>
      </p:sp>
      <p:sp>
        <p:nvSpPr>
          <p:cNvPr id="1019938" name="Rectangle 34"/>
          <p:cNvSpPr>
            <a:spLocks noChangeArrowheads="1"/>
          </p:cNvSpPr>
          <p:nvPr/>
        </p:nvSpPr>
        <p:spPr bwMode="auto">
          <a:xfrm>
            <a:off x="6851650" y="3776663"/>
            <a:ext cx="857250"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eaLnBrk="1" hangingPunct="1">
              <a:lnSpc>
                <a:spcPct val="110000"/>
              </a:lnSpc>
              <a:defRPr/>
            </a:pPr>
            <a:r>
              <a:rPr kumimoji="0" lang="en-US" altLang="zh-CN" sz="2000" b="1" i="1">
                <a:ea typeface="华文行楷" panose="02010800040101010101" charset="-122"/>
              </a:rPr>
              <a:t>  a</a:t>
            </a:r>
            <a:r>
              <a:rPr kumimoji="0" lang="en-US" altLang="zh-CN" sz="2000" b="1" baseline="-25000">
                <a:ea typeface="华文行楷" panose="02010800040101010101" charset="-122"/>
              </a:rPr>
              <a:t>4</a:t>
            </a:r>
            <a:endParaRPr kumimoji="0" lang="en-US" altLang="zh-CN" sz="2000" b="1" baseline="-25000">
              <a:ea typeface="华文行楷" panose="02010800040101010101" charset="-122"/>
            </a:endParaRPr>
          </a:p>
          <a:p>
            <a:pPr eaLnBrk="1" hangingPunct="1">
              <a:lnSpc>
                <a:spcPct val="110000"/>
              </a:lnSpc>
              <a:defRPr/>
            </a:pPr>
            <a:r>
              <a:rPr kumimoji="0" lang="en-US" altLang="zh-CN" sz="2000" b="1">
                <a:ea typeface="华文行楷" panose="02010800040101010101" charset="-122"/>
              </a:rPr>
              <a:t>  ∧</a:t>
            </a:r>
            <a:endParaRPr kumimoji="0" lang="en-US" altLang="zh-CN" sz="2000" b="1">
              <a:ea typeface="华文行楷" panose="02010800040101010101" charset="-122"/>
            </a:endParaRPr>
          </a:p>
        </p:txBody>
      </p:sp>
      <p:grpSp>
        <p:nvGrpSpPr>
          <p:cNvPr id="1019939" name="Group 35"/>
          <p:cNvGrpSpPr/>
          <p:nvPr/>
        </p:nvGrpSpPr>
        <p:grpSpPr bwMode="auto">
          <a:xfrm>
            <a:off x="7853363" y="1989138"/>
            <a:ext cx="246062" cy="1116012"/>
            <a:chOff x="5001" y="1253"/>
            <a:chExt cx="155" cy="703"/>
          </a:xfrm>
        </p:grpSpPr>
        <p:sp>
          <p:nvSpPr>
            <p:cNvPr id="1019940" name="Line 36"/>
            <p:cNvSpPr>
              <a:spLocks noChangeShapeType="1"/>
            </p:cNvSpPr>
            <p:nvPr/>
          </p:nvSpPr>
          <p:spPr bwMode="auto">
            <a:xfrm>
              <a:off x="5001" y="1947"/>
              <a:ext cx="146" cy="0"/>
            </a:xfrm>
            <a:prstGeom prst="line">
              <a:avLst/>
            </a:prstGeom>
            <a:noFill/>
            <a:ln w="28575">
              <a:solidFill>
                <a:srgbClr val="0066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sp>
          <p:nvSpPr>
            <p:cNvPr id="1019941" name="Line 37"/>
            <p:cNvSpPr>
              <a:spLocks noChangeShapeType="1"/>
            </p:cNvSpPr>
            <p:nvPr/>
          </p:nvSpPr>
          <p:spPr bwMode="auto">
            <a:xfrm flipH="1" flipV="1">
              <a:off x="5156" y="1253"/>
              <a:ext cx="0" cy="703"/>
            </a:xfrm>
            <a:prstGeom prst="line">
              <a:avLst/>
            </a:prstGeom>
            <a:noFill/>
            <a:ln w="28575">
              <a:solidFill>
                <a:srgbClr val="0066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endParaRPr lang="zh-CN" altLang="en-US"/>
            </a:p>
          </p:txBody>
        </p:sp>
        <p:sp>
          <p:nvSpPr>
            <p:cNvPr id="1019942" name="Line 38"/>
            <p:cNvSpPr>
              <a:spLocks noChangeShapeType="1"/>
            </p:cNvSpPr>
            <p:nvPr/>
          </p:nvSpPr>
          <p:spPr bwMode="auto">
            <a:xfrm flipH="1">
              <a:off x="5010" y="1262"/>
              <a:ext cx="137" cy="0"/>
            </a:xfrm>
            <a:prstGeom prst="line">
              <a:avLst/>
            </a:prstGeom>
            <a:noFill/>
            <a:ln w="28575">
              <a:solidFill>
                <a:srgbClr val="0066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grpSp>
      <p:grpSp>
        <p:nvGrpSpPr>
          <p:cNvPr id="1019943" name="Group 39"/>
          <p:cNvGrpSpPr/>
          <p:nvPr/>
        </p:nvGrpSpPr>
        <p:grpSpPr bwMode="auto">
          <a:xfrm>
            <a:off x="5734050" y="4067175"/>
            <a:ext cx="928688" cy="1697038"/>
            <a:chOff x="3666" y="2562"/>
            <a:chExt cx="585" cy="1069"/>
          </a:xfrm>
        </p:grpSpPr>
        <p:sp>
          <p:nvSpPr>
            <p:cNvPr id="1019944" name="Line 40"/>
            <p:cNvSpPr>
              <a:spLocks noChangeShapeType="1"/>
            </p:cNvSpPr>
            <p:nvPr/>
          </p:nvSpPr>
          <p:spPr bwMode="auto">
            <a:xfrm flipH="1">
              <a:off x="3678" y="3626"/>
              <a:ext cx="573" cy="0"/>
            </a:xfrm>
            <a:prstGeom prst="line">
              <a:avLst/>
            </a:prstGeom>
            <a:noFill/>
            <a:ln w="28575">
              <a:solidFill>
                <a:srgbClr val="0066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endParaRPr lang="zh-CN" altLang="en-US"/>
            </a:p>
          </p:txBody>
        </p:sp>
        <p:sp>
          <p:nvSpPr>
            <p:cNvPr id="1019945" name="Line 41"/>
            <p:cNvSpPr>
              <a:spLocks noChangeShapeType="1"/>
            </p:cNvSpPr>
            <p:nvPr/>
          </p:nvSpPr>
          <p:spPr bwMode="auto">
            <a:xfrm flipV="1">
              <a:off x="3666" y="2562"/>
              <a:ext cx="0" cy="1069"/>
            </a:xfrm>
            <a:prstGeom prst="line">
              <a:avLst/>
            </a:prstGeom>
            <a:noFill/>
            <a:ln w="28575">
              <a:solidFill>
                <a:srgbClr val="0066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endParaRPr lang="zh-CN" altLang="en-US"/>
            </a:p>
          </p:txBody>
        </p:sp>
        <p:sp>
          <p:nvSpPr>
            <p:cNvPr id="1019946" name="Line 42"/>
            <p:cNvSpPr>
              <a:spLocks noChangeShapeType="1"/>
            </p:cNvSpPr>
            <p:nvPr/>
          </p:nvSpPr>
          <p:spPr bwMode="auto">
            <a:xfrm>
              <a:off x="3678" y="2567"/>
              <a:ext cx="177" cy="0"/>
            </a:xfrm>
            <a:prstGeom prst="line">
              <a:avLst/>
            </a:prstGeom>
            <a:noFill/>
            <a:ln w="28575">
              <a:solidFill>
                <a:srgbClr val="0066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grpSp>
      <p:grpSp>
        <p:nvGrpSpPr>
          <p:cNvPr id="1019947" name="Group 43"/>
          <p:cNvGrpSpPr/>
          <p:nvPr/>
        </p:nvGrpSpPr>
        <p:grpSpPr bwMode="auto">
          <a:xfrm>
            <a:off x="7867650" y="2454275"/>
            <a:ext cx="434975" cy="2857500"/>
            <a:chOff x="5010" y="1546"/>
            <a:chExt cx="274" cy="1800"/>
          </a:xfrm>
        </p:grpSpPr>
        <p:sp>
          <p:nvSpPr>
            <p:cNvPr id="1019948" name="Line 44"/>
            <p:cNvSpPr>
              <a:spLocks noChangeShapeType="1"/>
            </p:cNvSpPr>
            <p:nvPr/>
          </p:nvSpPr>
          <p:spPr bwMode="auto">
            <a:xfrm flipV="1">
              <a:off x="5010" y="1551"/>
              <a:ext cx="267" cy="0"/>
            </a:xfrm>
            <a:prstGeom prst="line">
              <a:avLst/>
            </a:prstGeom>
            <a:noFill/>
            <a:ln w="28575">
              <a:solidFill>
                <a:srgbClr val="0066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sp>
          <p:nvSpPr>
            <p:cNvPr id="1019949" name="Line 45"/>
            <p:cNvSpPr>
              <a:spLocks noChangeShapeType="1"/>
            </p:cNvSpPr>
            <p:nvPr/>
          </p:nvSpPr>
          <p:spPr bwMode="auto">
            <a:xfrm flipH="1">
              <a:off x="5284" y="1546"/>
              <a:ext cx="0" cy="1800"/>
            </a:xfrm>
            <a:prstGeom prst="line">
              <a:avLst/>
            </a:prstGeom>
            <a:noFill/>
            <a:ln w="28575">
              <a:solidFill>
                <a:srgbClr val="0066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endParaRPr lang="zh-CN" altLang="en-US"/>
            </a:p>
          </p:txBody>
        </p:sp>
        <p:sp>
          <p:nvSpPr>
            <p:cNvPr id="1019950" name="Line 46"/>
            <p:cNvSpPr>
              <a:spLocks noChangeShapeType="1"/>
            </p:cNvSpPr>
            <p:nvPr/>
          </p:nvSpPr>
          <p:spPr bwMode="auto">
            <a:xfrm flipH="1" flipV="1">
              <a:off x="5026" y="3341"/>
              <a:ext cx="251" cy="0"/>
            </a:xfrm>
            <a:prstGeom prst="line">
              <a:avLst/>
            </a:prstGeom>
            <a:noFill/>
            <a:ln w="28575">
              <a:solidFill>
                <a:srgbClr val="0066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19933"/>
                                        </p:tgtEl>
                                        <p:attrNameLst>
                                          <p:attrName>style.visibility</p:attrName>
                                        </p:attrNameLst>
                                      </p:cBhvr>
                                      <p:to>
                                        <p:strVal val="visible"/>
                                      </p:to>
                                    </p:set>
                                    <p:animEffect transition="in" filter="wipe(left)">
                                      <p:cBhvr>
                                        <p:cTn id="7" dur="500"/>
                                        <p:tgtEl>
                                          <p:spTgt spid="101993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1993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1993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019939"/>
                                        </p:tgtEl>
                                        <p:attrNameLst>
                                          <p:attrName>style.visibility</p:attrName>
                                        </p:attrNameLst>
                                      </p:cBhvr>
                                      <p:to>
                                        <p:strVal val="visible"/>
                                      </p:to>
                                    </p:set>
                                    <p:animEffect transition="in" filter="wipe(down)">
                                      <p:cBhvr>
                                        <p:cTn id="20" dur="500"/>
                                        <p:tgtEl>
                                          <p:spTgt spid="101993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199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1019947"/>
                                        </p:tgtEl>
                                        <p:attrNameLst>
                                          <p:attrName>style.visibility</p:attrName>
                                        </p:attrNameLst>
                                      </p:cBhvr>
                                      <p:to>
                                        <p:strVal val="visible"/>
                                      </p:to>
                                    </p:set>
                                    <p:animEffect transition="in" filter="wipe(up)">
                                      <p:cBhvr>
                                        <p:cTn id="29" dur="500"/>
                                        <p:tgtEl>
                                          <p:spTgt spid="101994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1993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019943"/>
                                        </p:tgtEl>
                                        <p:attrNameLst>
                                          <p:attrName>style.visibility</p:attrName>
                                        </p:attrNameLst>
                                      </p:cBhvr>
                                      <p:to>
                                        <p:strVal val="visible"/>
                                      </p:to>
                                    </p:set>
                                    <p:animEffect transition="in" filter="wipe(down)">
                                      <p:cBhvr>
                                        <p:cTn id="38" dur="500"/>
                                        <p:tgtEl>
                                          <p:spTgt spid="1019943"/>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199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9919" grpId="0"/>
      <p:bldP spid="1019933" grpId="0" animBg="1"/>
      <p:bldP spid="1019935" grpId="0" bldLvl="0" animBg="1"/>
      <p:bldP spid="1019936" grpId="0" bldLvl="0" animBg="1"/>
      <p:bldP spid="1019937" grpId="0" bldLvl="0" animBg="1"/>
      <p:bldP spid="1019938"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0274" name="Group 2"/>
          <p:cNvGrpSpPr/>
          <p:nvPr/>
        </p:nvGrpSpPr>
        <p:grpSpPr bwMode="auto">
          <a:xfrm>
            <a:off x="457200" y="1038225"/>
            <a:ext cx="762000" cy="790575"/>
            <a:chOff x="288" y="720"/>
            <a:chExt cx="480" cy="498"/>
          </a:xfrm>
        </p:grpSpPr>
        <p:sp>
          <p:nvSpPr>
            <p:cNvPr id="950275" name="Line 3"/>
            <p:cNvSpPr>
              <a:spLocks noChangeShapeType="1"/>
            </p:cNvSpPr>
            <p:nvPr/>
          </p:nvSpPr>
          <p:spPr bwMode="auto">
            <a:xfrm>
              <a:off x="288" y="1218"/>
              <a:ext cx="480"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76" name="Line 4"/>
            <p:cNvSpPr>
              <a:spLocks noChangeShapeType="1"/>
            </p:cNvSpPr>
            <p:nvPr/>
          </p:nvSpPr>
          <p:spPr bwMode="auto">
            <a:xfrm>
              <a:off x="288" y="720"/>
              <a:ext cx="0" cy="498"/>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grpSp>
        <p:nvGrpSpPr>
          <p:cNvPr id="950277" name="Group 5"/>
          <p:cNvGrpSpPr/>
          <p:nvPr/>
        </p:nvGrpSpPr>
        <p:grpSpPr bwMode="auto">
          <a:xfrm>
            <a:off x="457200" y="2667002"/>
            <a:ext cx="8382000" cy="1077913"/>
            <a:chOff x="288" y="1680"/>
            <a:chExt cx="5280" cy="679"/>
          </a:xfrm>
        </p:grpSpPr>
        <p:sp>
          <p:nvSpPr>
            <p:cNvPr id="950278" name="Text Box 6"/>
            <p:cNvSpPr txBox="1">
              <a:spLocks noChangeArrowheads="1"/>
            </p:cNvSpPr>
            <p:nvPr/>
          </p:nvSpPr>
          <p:spPr bwMode="auto">
            <a:xfrm>
              <a:off x="288" y="1680"/>
              <a:ext cx="5280" cy="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200">
                  <a:latin typeface="隶书" panose="02010509060101010101" charset="-122"/>
                  <a:ea typeface="隶书" panose="02010509060101010101" charset="-122"/>
                </a:rPr>
                <a:t>  </a:t>
              </a:r>
              <a:r>
                <a:rPr lang="zh-CN" altLang="en-US" sz="3200">
                  <a:solidFill>
                    <a:srgbClr val="660033"/>
                  </a:solidFill>
                  <a:latin typeface="隶书" panose="02010509060101010101" charset="-122"/>
                  <a:ea typeface="隶书" panose="02010509060101010101" charset="-122"/>
                </a:rPr>
                <a:t>以线性表中第一个数据元素    </a:t>
              </a:r>
              <a:r>
                <a:rPr lang="zh-CN" altLang="en-US" sz="3200">
                  <a:solidFill>
                    <a:srgbClr val="CC0000"/>
                  </a:solidFill>
                  <a:latin typeface="隶书" panose="02010509060101010101" charset="-122"/>
                  <a:ea typeface="隶书" panose="02010509060101010101" charset="-122"/>
                </a:rPr>
                <a:t>的存储地址</a:t>
              </a:r>
              <a:r>
                <a:rPr lang="zh-CN" altLang="en-US" sz="3200">
                  <a:solidFill>
                    <a:srgbClr val="660033"/>
                  </a:solidFill>
                  <a:latin typeface="隶书" panose="02010509060101010101" charset="-122"/>
                  <a:ea typeface="隶书" panose="02010509060101010101" charset="-122"/>
                </a:rPr>
                <a:t>作为线性表的地址，称作线性表的</a:t>
              </a:r>
              <a:r>
                <a:rPr lang="zh-CN" altLang="en-US" sz="3200">
                  <a:solidFill>
                    <a:srgbClr val="CC0000"/>
                  </a:solidFill>
                  <a:latin typeface="隶书" panose="02010509060101010101" charset="-122"/>
                  <a:ea typeface="隶书" panose="02010509060101010101" charset="-122"/>
                </a:rPr>
                <a:t>头指针</a:t>
              </a:r>
              <a:r>
                <a:rPr lang="zh-CN" altLang="en-US" sz="3200" b="1">
                  <a:solidFill>
                    <a:srgbClr val="993366"/>
                  </a:solidFill>
                  <a:latin typeface="楷体_GB2312" charset="0"/>
                  <a:ea typeface="楷体_GB2312" charset="0"/>
                </a:rPr>
                <a:t>。</a:t>
              </a:r>
              <a:endParaRPr lang="zh-CN" altLang="en-US" sz="3200" b="1">
                <a:solidFill>
                  <a:srgbClr val="993366"/>
                </a:solidFill>
                <a:latin typeface="楷体_GB2312" charset="0"/>
                <a:ea typeface="楷体_GB2312" charset="0"/>
              </a:endParaRPr>
            </a:p>
          </p:txBody>
        </p:sp>
        <p:graphicFrame>
          <p:nvGraphicFramePr>
            <p:cNvPr id="80928" name="Object 7"/>
            <p:cNvGraphicFramePr>
              <a:graphicFrameLocks noChangeAspect="1"/>
            </p:cNvGraphicFramePr>
            <p:nvPr/>
          </p:nvGraphicFramePr>
          <p:xfrm>
            <a:off x="3584" y="1680"/>
            <a:ext cx="223" cy="328"/>
          </p:xfrm>
          <a:graphic>
            <a:graphicData uri="http://schemas.openxmlformats.org/presentationml/2006/ole">
              <mc:AlternateContent xmlns:mc="http://schemas.openxmlformats.org/markup-compatibility/2006">
                <mc:Choice xmlns:v="urn:schemas-microsoft-com:vml" Requires="v">
                  <p:oleObj spid="_x0000_s72715" name="公式" r:id="rId1" imgW="355600" imgH="520700" progId="Equation.3">
                    <p:embed/>
                  </p:oleObj>
                </mc:Choice>
                <mc:Fallback>
                  <p:oleObj name="公式" r:id="rId1" imgW="355600" imgH="520700" progId="Equation.3">
                    <p:embed/>
                    <p:pic>
                      <p:nvPicPr>
                        <p:cNvPr id="0" name="图片 727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4" y="1680"/>
                          <a:ext cx="223"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pSp>
      <p:sp>
        <p:nvSpPr>
          <p:cNvPr id="950280" name="Text Box 8"/>
          <p:cNvSpPr txBox="1">
            <a:spLocks noChangeArrowheads="1"/>
          </p:cNvSpPr>
          <p:nvPr/>
        </p:nvSpPr>
        <p:spPr bwMode="auto">
          <a:xfrm>
            <a:off x="1101725" y="944563"/>
            <a:ext cx="141577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a:solidFill>
                  <a:srgbClr val="FF0000"/>
                </a:solidFill>
                <a:ea typeface="隶书" panose="02010509060101010101" charset="-122"/>
              </a:rPr>
              <a:t>头结点</a:t>
            </a:r>
            <a:endParaRPr lang="zh-CN" altLang="en-US" sz="3200"/>
          </a:p>
        </p:txBody>
      </p:sp>
      <p:grpSp>
        <p:nvGrpSpPr>
          <p:cNvPr id="950281" name="Group 9"/>
          <p:cNvGrpSpPr/>
          <p:nvPr/>
        </p:nvGrpSpPr>
        <p:grpSpPr bwMode="auto">
          <a:xfrm>
            <a:off x="2590800" y="1325563"/>
            <a:ext cx="6553200" cy="1323974"/>
            <a:chOff x="1632" y="835"/>
            <a:chExt cx="4128" cy="834"/>
          </a:xfrm>
        </p:grpSpPr>
        <p:sp>
          <p:nvSpPr>
            <p:cNvPr id="950282" name="Text Box 10"/>
            <p:cNvSpPr txBox="1">
              <a:spLocks noChangeArrowheads="1"/>
            </p:cNvSpPr>
            <p:nvPr/>
          </p:nvSpPr>
          <p:spPr bwMode="auto">
            <a:xfrm>
              <a:off x="1632" y="835"/>
              <a:ext cx="4128" cy="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4000" dirty="0">
                  <a:ea typeface="楷体_GB2312" charset="0"/>
                </a:rPr>
                <a:t>   </a:t>
              </a:r>
              <a:r>
                <a:rPr lang="en-US" altLang="zh-CN" sz="4000" dirty="0">
                  <a:solidFill>
                    <a:srgbClr val="000099"/>
                  </a:solidFill>
                  <a:ea typeface="楷体_GB2312" charset="0"/>
                </a:rPr>
                <a:t>a</a:t>
              </a:r>
              <a:r>
                <a:rPr lang="en-US" altLang="zh-CN" sz="4000" baseline="-25000" dirty="0">
                  <a:solidFill>
                    <a:srgbClr val="000099"/>
                  </a:solidFill>
                  <a:ea typeface="楷体_GB2312" charset="0"/>
                </a:rPr>
                <a:t>1</a:t>
              </a:r>
              <a:r>
                <a:rPr lang="en-US" altLang="zh-CN" sz="4000" dirty="0">
                  <a:solidFill>
                    <a:srgbClr val="000099"/>
                  </a:solidFill>
                  <a:ea typeface="楷体_GB2312" charset="0"/>
                </a:rPr>
                <a:t>       a</a:t>
              </a:r>
              <a:r>
                <a:rPr lang="en-US" altLang="zh-CN" sz="4000" baseline="-25000" dirty="0">
                  <a:solidFill>
                    <a:srgbClr val="000099"/>
                  </a:solidFill>
                  <a:ea typeface="楷体_GB2312" charset="0"/>
                </a:rPr>
                <a:t>2</a:t>
              </a:r>
              <a:r>
                <a:rPr lang="en-US" altLang="zh-CN" sz="4000" dirty="0">
                  <a:solidFill>
                    <a:srgbClr val="000099"/>
                  </a:solidFill>
                  <a:ea typeface="楷体_GB2312" charset="0"/>
                </a:rPr>
                <a:t>      … ...    a</a:t>
              </a:r>
              <a:r>
                <a:rPr lang="en-US" altLang="zh-CN" sz="4000" baseline="-25000" dirty="0">
                  <a:solidFill>
                    <a:srgbClr val="000099"/>
                  </a:solidFill>
                  <a:ea typeface="楷体_GB2312" charset="0"/>
                </a:rPr>
                <a:t>n  </a:t>
              </a:r>
              <a:r>
                <a:rPr lang="en-US" altLang="zh-CN" sz="4000" b="1" baseline="-25000" dirty="0">
                  <a:solidFill>
                    <a:srgbClr val="000099"/>
                  </a:solidFill>
                  <a:ea typeface="楷体_GB2312" charset="0"/>
                </a:rPr>
                <a:t>^</a:t>
              </a:r>
              <a:endParaRPr lang="en-US" altLang="zh-CN" sz="4000" baseline="-25000" dirty="0">
                <a:solidFill>
                  <a:srgbClr val="000099"/>
                </a:solidFill>
                <a:ea typeface="楷体_GB2312" charset="0"/>
              </a:endParaRPr>
            </a:p>
            <a:p>
              <a:pPr eaLnBrk="1" hangingPunct="1">
                <a:defRPr/>
              </a:pPr>
              <a:endParaRPr lang="zh-CN" altLang="en-US" sz="4000" dirty="0"/>
            </a:p>
          </p:txBody>
        </p:sp>
        <p:sp>
          <p:nvSpPr>
            <p:cNvPr id="950283" name="Line 11"/>
            <p:cNvSpPr>
              <a:spLocks noChangeShapeType="1"/>
            </p:cNvSpPr>
            <p:nvPr/>
          </p:nvSpPr>
          <p:spPr bwMode="auto">
            <a:xfrm>
              <a:off x="2400" y="978"/>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84" name="Line 12"/>
            <p:cNvSpPr>
              <a:spLocks noChangeShapeType="1"/>
            </p:cNvSpPr>
            <p:nvPr/>
          </p:nvSpPr>
          <p:spPr bwMode="auto">
            <a:xfrm>
              <a:off x="2496" y="1152"/>
              <a:ext cx="384" cy="0"/>
            </a:xfrm>
            <a:prstGeom prst="line">
              <a:avLst/>
            </a:prstGeom>
            <a:noFill/>
            <a:ln w="254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85" name="Line 13"/>
            <p:cNvSpPr>
              <a:spLocks noChangeShapeType="1"/>
            </p:cNvSpPr>
            <p:nvPr/>
          </p:nvSpPr>
          <p:spPr bwMode="auto">
            <a:xfrm>
              <a:off x="3408" y="978"/>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86" name="Line 14"/>
            <p:cNvSpPr>
              <a:spLocks noChangeShapeType="1"/>
            </p:cNvSpPr>
            <p:nvPr/>
          </p:nvSpPr>
          <p:spPr bwMode="auto">
            <a:xfrm>
              <a:off x="3504" y="1152"/>
              <a:ext cx="288" cy="0"/>
            </a:xfrm>
            <a:prstGeom prst="line">
              <a:avLst/>
            </a:prstGeom>
            <a:noFill/>
            <a:ln w="254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87" name="Line 15"/>
            <p:cNvSpPr>
              <a:spLocks noChangeShapeType="1"/>
            </p:cNvSpPr>
            <p:nvPr/>
          </p:nvSpPr>
          <p:spPr bwMode="auto">
            <a:xfrm>
              <a:off x="5376" y="978"/>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88" name="Line 16"/>
            <p:cNvSpPr>
              <a:spLocks noChangeShapeType="1"/>
            </p:cNvSpPr>
            <p:nvPr/>
          </p:nvSpPr>
          <p:spPr bwMode="auto">
            <a:xfrm>
              <a:off x="4656" y="1152"/>
              <a:ext cx="240" cy="0"/>
            </a:xfrm>
            <a:prstGeom prst="line">
              <a:avLst/>
            </a:prstGeom>
            <a:noFill/>
            <a:ln w="254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89" name="Rectangle 17"/>
            <p:cNvSpPr>
              <a:spLocks noChangeArrowheads="1"/>
            </p:cNvSpPr>
            <p:nvPr/>
          </p:nvSpPr>
          <p:spPr bwMode="auto">
            <a:xfrm>
              <a:off x="1872" y="960"/>
              <a:ext cx="720"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90" name="Rectangle 18"/>
            <p:cNvSpPr>
              <a:spLocks noChangeArrowheads="1"/>
            </p:cNvSpPr>
            <p:nvPr/>
          </p:nvSpPr>
          <p:spPr bwMode="auto">
            <a:xfrm>
              <a:off x="2880" y="960"/>
              <a:ext cx="720"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91" name="Rectangle 19"/>
            <p:cNvSpPr>
              <a:spLocks noChangeArrowheads="1"/>
            </p:cNvSpPr>
            <p:nvPr/>
          </p:nvSpPr>
          <p:spPr bwMode="auto">
            <a:xfrm>
              <a:off x="4896" y="960"/>
              <a:ext cx="720"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grpSp>
        <p:nvGrpSpPr>
          <p:cNvPr id="950292" name="Group 20"/>
          <p:cNvGrpSpPr/>
          <p:nvPr/>
        </p:nvGrpSpPr>
        <p:grpSpPr bwMode="auto">
          <a:xfrm>
            <a:off x="1219200" y="1524000"/>
            <a:ext cx="1143000" cy="609600"/>
            <a:chOff x="768" y="960"/>
            <a:chExt cx="720" cy="384"/>
          </a:xfrm>
        </p:grpSpPr>
        <p:sp>
          <p:nvSpPr>
            <p:cNvPr id="950293" name="Rectangle 21"/>
            <p:cNvSpPr>
              <a:spLocks noChangeArrowheads="1"/>
            </p:cNvSpPr>
            <p:nvPr/>
          </p:nvSpPr>
          <p:spPr bwMode="auto">
            <a:xfrm>
              <a:off x="768" y="960"/>
              <a:ext cx="720" cy="384"/>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94" name="Line 22"/>
            <p:cNvSpPr>
              <a:spLocks noChangeShapeType="1"/>
            </p:cNvSpPr>
            <p:nvPr/>
          </p:nvSpPr>
          <p:spPr bwMode="auto">
            <a:xfrm>
              <a:off x="1296" y="960"/>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sp>
        <p:nvSpPr>
          <p:cNvPr id="950295" name="Line 23"/>
          <p:cNvSpPr>
            <a:spLocks noChangeShapeType="1"/>
          </p:cNvSpPr>
          <p:nvPr/>
        </p:nvSpPr>
        <p:spPr bwMode="auto">
          <a:xfrm>
            <a:off x="2209800" y="1828800"/>
            <a:ext cx="762000" cy="0"/>
          </a:xfrm>
          <a:prstGeom prst="line">
            <a:avLst/>
          </a:prstGeom>
          <a:noFill/>
          <a:ln w="25400">
            <a:solidFill>
              <a:srgbClr val="660033"/>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96" name="AutoShape 24"/>
          <p:cNvSpPr>
            <a:spLocks noChangeArrowheads="1"/>
          </p:cNvSpPr>
          <p:nvPr/>
        </p:nvSpPr>
        <p:spPr bwMode="auto">
          <a:xfrm>
            <a:off x="2743200" y="381000"/>
            <a:ext cx="1600200" cy="457200"/>
          </a:xfrm>
          <a:prstGeom prst="wedgeRoundRectCallout">
            <a:avLst>
              <a:gd name="adj1" fmla="val -53870"/>
              <a:gd name="adj2" fmla="val 212500"/>
              <a:gd name="adj3" fmla="val 16667"/>
            </a:avLst>
          </a:prstGeom>
          <a:solidFill>
            <a:srgbClr val="CCFFCC">
              <a:alpha val="50000"/>
            </a:srgbClr>
          </a:solidFill>
          <a:ln w="19050">
            <a:solidFill>
              <a:srgbClr val="008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3200">
                <a:solidFill>
                  <a:schemeClr val="tx2"/>
                </a:solidFill>
                <a:ea typeface="隶书" panose="02010509060101010101" charset="-122"/>
              </a:rPr>
              <a:t>头指针</a:t>
            </a:r>
            <a:endParaRPr lang="zh-CN" altLang="en-US" sz="3200"/>
          </a:p>
        </p:txBody>
      </p:sp>
      <p:sp>
        <p:nvSpPr>
          <p:cNvPr id="950297" name="AutoShape 25"/>
          <p:cNvSpPr>
            <a:spLocks noChangeArrowheads="1"/>
          </p:cNvSpPr>
          <p:nvPr/>
        </p:nvSpPr>
        <p:spPr bwMode="auto">
          <a:xfrm>
            <a:off x="685800" y="228600"/>
            <a:ext cx="1600200" cy="457200"/>
          </a:xfrm>
          <a:prstGeom prst="wedgeRoundRectCallout">
            <a:avLst>
              <a:gd name="adj1" fmla="val -61014"/>
              <a:gd name="adj2" fmla="val 195833"/>
              <a:gd name="adj3" fmla="val 16667"/>
            </a:avLst>
          </a:prstGeom>
          <a:solidFill>
            <a:srgbClr val="CCFFCC">
              <a:alpha val="50000"/>
            </a:srgbClr>
          </a:solidFill>
          <a:ln w="19050">
            <a:solidFill>
              <a:srgbClr val="008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3200">
                <a:solidFill>
                  <a:schemeClr val="tx2"/>
                </a:solidFill>
                <a:ea typeface="隶书" panose="02010509060101010101" charset="-122"/>
              </a:rPr>
              <a:t>头指针</a:t>
            </a:r>
            <a:endParaRPr lang="zh-CN" altLang="en-US" sz="3200"/>
          </a:p>
        </p:txBody>
      </p:sp>
      <p:sp useBgFill="1">
        <p:nvSpPr>
          <p:cNvPr id="950298" name="AutoShape 26"/>
          <p:cNvSpPr>
            <a:spLocks noChangeArrowheads="1"/>
          </p:cNvSpPr>
          <p:nvPr/>
        </p:nvSpPr>
        <p:spPr bwMode="auto">
          <a:xfrm>
            <a:off x="2362200" y="304800"/>
            <a:ext cx="2057400" cy="762000"/>
          </a:xfrm>
          <a:prstGeom prst="wedgeRoundRectCallout">
            <a:avLst>
              <a:gd name="adj1" fmla="val -35417"/>
              <a:gd name="adj2" fmla="val 142500"/>
              <a:gd name="adj3" fmla="val 16667"/>
            </a:avLst>
          </a:prstGeom>
          <a:ln>
            <a:noFill/>
          </a:ln>
          <a:effectLst/>
          <a:extLs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zh-CN" altLang="en-US" sz="3200"/>
          </a:p>
        </p:txBody>
      </p:sp>
      <p:sp>
        <p:nvSpPr>
          <p:cNvPr id="950299" name="Text Box 27"/>
          <p:cNvSpPr txBox="1">
            <a:spLocks noChangeArrowheads="1"/>
          </p:cNvSpPr>
          <p:nvPr/>
        </p:nvSpPr>
        <p:spPr bwMode="auto">
          <a:xfrm>
            <a:off x="457200" y="4570413"/>
            <a:ext cx="8321675" cy="1679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0000"/>
              </a:lnSpc>
              <a:defRPr/>
            </a:pPr>
            <a:r>
              <a:rPr lang="zh-CN" altLang="en-US" sz="3200">
                <a:solidFill>
                  <a:srgbClr val="990000"/>
                </a:solidFill>
                <a:ea typeface="隶书" panose="02010509060101010101" charset="-122"/>
              </a:rPr>
              <a:t>   </a:t>
            </a:r>
            <a:r>
              <a:rPr lang="zh-CN" altLang="en-US" sz="3200">
                <a:solidFill>
                  <a:srgbClr val="660033"/>
                </a:solidFill>
                <a:ea typeface="隶书" panose="02010509060101010101" charset="-122"/>
              </a:rPr>
              <a:t>有时为了操作方便，在第一个结点之前虚加一个“头结点”，以</a:t>
            </a:r>
            <a:r>
              <a:rPr lang="zh-CN" altLang="en-US" sz="3200">
                <a:solidFill>
                  <a:srgbClr val="FF0000"/>
                </a:solidFill>
                <a:ea typeface="隶书" panose="02010509060101010101" charset="-122"/>
              </a:rPr>
              <a:t>指向头结点的指针</a:t>
            </a:r>
            <a:r>
              <a:rPr lang="zh-CN" altLang="en-US" sz="3200">
                <a:solidFill>
                  <a:srgbClr val="660033"/>
                </a:solidFill>
                <a:ea typeface="隶书" panose="02010509060101010101" charset="-122"/>
              </a:rPr>
              <a:t>为链表的头指针</a:t>
            </a:r>
            <a:r>
              <a:rPr lang="zh-CN" altLang="en-US" sz="3200" b="1">
                <a:solidFill>
                  <a:srgbClr val="993366"/>
                </a:solidFill>
                <a:latin typeface="楷体_GB2312" charset="0"/>
                <a:ea typeface="楷体_GB2312" charset="0"/>
              </a:rPr>
              <a:t>。</a:t>
            </a:r>
            <a:endParaRPr lang="zh-CN" altLang="en-US" sz="3200" b="1">
              <a:solidFill>
                <a:srgbClr val="993366"/>
              </a:solidFill>
              <a:latin typeface="楷体_GB2312" charset="0"/>
              <a:ea typeface="楷体_GB2312" charset="0"/>
            </a:endParaRPr>
          </a:p>
        </p:txBody>
      </p:sp>
      <p:sp>
        <p:nvSpPr>
          <p:cNvPr id="950300" name="AutoShape 28"/>
          <p:cNvSpPr>
            <a:spLocks noChangeArrowheads="1"/>
          </p:cNvSpPr>
          <p:nvPr/>
        </p:nvSpPr>
        <p:spPr bwMode="auto">
          <a:xfrm>
            <a:off x="7162800" y="533400"/>
            <a:ext cx="1447800" cy="533400"/>
          </a:xfrm>
          <a:prstGeom prst="wedgeRoundRectCallout">
            <a:avLst>
              <a:gd name="adj1" fmla="val 54935"/>
              <a:gd name="adj2" fmla="val 162796"/>
              <a:gd name="adj3" fmla="val 16667"/>
            </a:avLst>
          </a:prstGeom>
          <a:solidFill>
            <a:srgbClr val="CCFFFF">
              <a:alpha val="50000"/>
            </a:srgbClr>
          </a:solidFill>
          <a:ln w="19050">
            <a:solidFill>
              <a:srgbClr val="0033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3200">
                <a:solidFill>
                  <a:srgbClr val="000099"/>
                </a:solidFill>
                <a:ea typeface="隶书" panose="02010509060101010101" charset="-122"/>
              </a:rPr>
              <a:t>空指针</a:t>
            </a:r>
            <a:endParaRPr lang="zh-CN" altLang="en-US" sz="3200"/>
          </a:p>
        </p:txBody>
      </p:sp>
      <p:sp>
        <p:nvSpPr>
          <p:cNvPr id="950301" name="AutoShape 29"/>
          <p:cNvSpPr>
            <a:spLocks noChangeArrowheads="1"/>
          </p:cNvSpPr>
          <p:nvPr/>
        </p:nvSpPr>
        <p:spPr bwMode="auto">
          <a:xfrm>
            <a:off x="2895600" y="228600"/>
            <a:ext cx="3429000" cy="762000"/>
          </a:xfrm>
          <a:prstGeom prst="wedgeRoundRectCallout">
            <a:avLst>
              <a:gd name="adj1" fmla="val -64861"/>
              <a:gd name="adj2" fmla="val 121042"/>
              <a:gd name="adj3" fmla="val 16667"/>
            </a:avLst>
          </a:prstGeom>
          <a:solidFill>
            <a:srgbClr val="FFFF99">
              <a:alpha val="50000"/>
            </a:srgbClr>
          </a:solidFill>
          <a:ln w="9525">
            <a:solidFill>
              <a:srgbClr val="660033"/>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3200">
                <a:solidFill>
                  <a:srgbClr val="660033"/>
                </a:solidFill>
                <a:ea typeface="隶书" panose="02010509060101010101" charset="-122"/>
              </a:rPr>
              <a:t>线性表为空表时，</a:t>
            </a:r>
            <a:endParaRPr lang="zh-CN" altLang="en-US" sz="3200">
              <a:solidFill>
                <a:srgbClr val="660033"/>
              </a:solidFill>
              <a:ea typeface="隶书" panose="02010509060101010101" charset="-122"/>
            </a:endParaRPr>
          </a:p>
          <a:p>
            <a:pPr algn="ctr" eaLnBrk="1" hangingPunct="1">
              <a:defRPr/>
            </a:pPr>
            <a:r>
              <a:rPr lang="zh-CN" altLang="en-US" sz="3200">
                <a:solidFill>
                  <a:srgbClr val="660033"/>
                </a:solidFill>
                <a:ea typeface="隶书" panose="02010509060101010101" charset="-122"/>
              </a:rPr>
              <a:t>头结点的指针域为空</a:t>
            </a:r>
            <a:endParaRPr lang="zh-CN" altLang="en-US" sz="3200"/>
          </a:p>
        </p:txBody>
      </p:sp>
      <p:sp useBgFill="1">
        <p:nvSpPr>
          <p:cNvPr id="950302" name="Rectangle 30"/>
          <p:cNvSpPr>
            <a:spLocks noChangeArrowheads="1"/>
          </p:cNvSpPr>
          <p:nvPr/>
        </p:nvSpPr>
        <p:spPr bwMode="auto">
          <a:xfrm>
            <a:off x="2133600" y="1752600"/>
            <a:ext cx="838200" cy="152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nvGrpSpPr>
          <p:cNvPr id="950303" name="Group 31"/>
          <p:cNvGrpSpPr/>
          <p:nvPr/>
        </p:nvGrpSpPr>
        <p:grpSpPr bwMode="auto">
          <a:xfrm>
            <a:off x="1219200" y="1524000"/>
            <a:ext cx="1143000" cy="609600"/>
            <a:chOff x="768" y="960"/>
            <a:chExt cx="720" cy="384"/>
          </a:xfrm>
        </p:grpSpPr>
        <p:sp>
          <p:nvSpPr>
            <p:cNvPr id="950304" name="Rectangle 32"/>
            <p:cNvSpPr>
              <a:spLocks noChangeArrowheads="1"/>
            </p:cNvSpPr>
            <p:nvPr/>
          </p:nvSpPr>
          <p:spPr bwMode="auto">
            <a:xfrm>
              <a:off x="768" y="960"/>
              <a:ext cx="720" cy="384"/>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305" name="Line 33"/>
            <p:cNvSpPr>
              <a:spLocks noChangeShapeType="1"/>
            </p:cNvSpPr>
            <p:nvPr/>
          </p:nvSpPr>
          <p:spPr bwMode="auto">
            <a:xfrm>
              <a:off x="1296" y="960"/>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sp>
        <p:nvSpPr>
          <p:cNvPr id="950306" name="Text Box 34"/>
          <p:cNvSpPr txBox="1">
            <a:spLocks noChangeArrowheads="1"/>
          </p:cNvSpPr>
          <p:nvPr/>
        </p:nvSpPr>
        <p:spPr bwMode="auto">
          <a:xfrm>
            <a:off x="1965325" y="1408113"/>
            <a:ext cx="4331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a:sym typeface="Symbol" panose="05050102010706020507" charset="2"/>
              </a:rPr>
              <a:t></a:t>
            </a:r>
            <a:endParaRPr lang="zh-CN" altLang="en-US" sz="3200"/>
          </a:p>
        </p:txBody>
      </p:sp>
      <p:sp>
        <p:nvSpPr>
          <p:cNvPr id="950307" name="AutoShape 35">
            <a:hlinkClick r:id="rId3"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50281"/>
                                        </p:tgtEl>
                                        <p:attrNameLst>
                                          <p:attrName>style.visibility</p:attrName>
                                        </p:attrNameLst>
                                      </p:cBhvr>
                                      <p:to>
                                        <p:strVal val="visible"/>
                                      </p:to>
                                    </p:set>
                                    <p:animEffect transition="in" filter="wipe(left)">
                                      <p:cBhvr>
                                        <p:cTn id="7" dur="500"/>
                                        <p:tgtEl>
                                          <p:spTgt spid="95028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950300"/>
                                        </p:tgtEl>
                                        <p:attrNameLst>
                                          <p:attrName>style.visibility</p:attrName>
                                        </p:attrNameLst>
                                      </p:cBhvr>
                                      <p:to>
                                        <p:strVal val="visible"/>
                                      </p:to>
                                    </p:set>
                                    <p:anim calcmode="lin" valueType="num">
                                      <p:cBhvr additive="base">
                                        <p:cTn id="12" dur="500" fill="hold"/>
                                        <p:tgtEl>
                                          <p:spTgt spid="950300"/>
                                        </p:tgtEl>
                                        <p:attrNameLst>
                                          <p:attrName>ppt_x</p:attrName>
                                        </p:attrNameLst>
                                      </p:cBhvr>
                                      <p:tavLst>
                                        <p:tav tm="0">
                                          <p:val>
                                            <p:strVal val="#ppt_x"/>
                                          </p:val>
                                        </p:tav>
                                        <p:tav tm="100000">
                                          <p:val>
                                            <p:strVal val="#ppt_x"/>
                                          </p:val>
                                        </p:tav>
                                      </p:tavLst>
                                    </p:anim>
                                    <p:anim calcmode="lin" valueType="num">
                                      <p:cBhvr additive="base">
                                        <p:cTn id="13" dur="500" fill="hold"/>
                                        <p:tgtEl>
                                          <p:spTgt spid="950300"/>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950277"/>
                                        </p:tgtEl>
                                        <p:attrNameLst>
                                          <p:attrName>style.visibility</p:attrName>
                                        </p:attrNameLst>
                                      </p:cBhvr>
                                      <p:to>
                                        <p:strVal val="visible"/>
                                      </p:to>
                                    </p:set>
                                    <p:animEffect transition="in" filter="wipe(left)">
                                      <p:cBhvr>
                                        <p:cTn id="18" dur="500"/>
                                        <p:tgtEl>
                                          <p:spTgt spid="95027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950296"/>
                                        </p:tgtEl>
                                        <p:attrNameLst>
                                          <p:attrName>style.visibility</p:attrName>
                                        </p:attrNameLst>
                                      </p:cBhvr>
                                      <p:to>
                                        <p:strVal val="visible"/>
                                      </p:to>
                                    </p:set>
                                    <p:anim calcmode="lin" valueType="num">
                                      <p:cBhvr additive="base">
                                        <p:cTn id="23" dur="500" fill="hold"/>
                                        <p:tgtEl>
                                          <p:spTgt spid="950296"/>
                                        </p:tgtEl>
                                        <p:attrNameLst>
                                          <p:attrName>ppt_x</p:attrName>
                                        </p:attrNameLst>
                                      </p:cBhvr>
                                      <p:tavLst>
                                        <p:tav tm="0">
                                          <p:val>
                                            <p:strVal val="#ppt_x"/>
                                          </p:val>
                                        </p:tav>
                                        <p:tav tm="100000">
                                          <p:val>
                                            <p:strVal val="#ppt_x"/>
                                          </p:val>
                                        </p:tav>
                                      </p:tavLst>
                                    </p:anim>
                                    <p:anim calcmode="lin" valueType="num">
                                      <p:cBhvr additive="base">
                                        <p:cTn id="24" dur="500" fill="hold"/>
                                        <p:tgtEl>
                                          <p:spTgt spid="950296"/>
                                        </p:tgtEl>
                                        <p:attrNameLst>
                                          <p:attrName>ppt_y</p:attrName>
                                        </p:attrNameLst>
                                      </p:cBhvr>
                                      <p:tavLst>
                                        <p:tav tm="0">
                                          <p:val>
                                            <p:strVal val="0-#ppt_h/2"/>
                                          </p:val>
                                        </p:tav>
                                        <p:tav tm="100000">
                                          <p:val>
                                            <p:strVal val="#ppt_y"/>
                                          </p:val>
                                        </p:tav>
                                      </p:tavLst>
                                    </p:anim>
                                  </p:childTnLst>
                                </p:cTn>
                              </p:par>
                            </p:childTnLst>
                          </p:cTn>
                        </p:par>
                        <p:par>
                          <p:cTn id="25" fill="hold">
                            <p:stCondLst>
                              <p:cond delay="500"/>
                            </p:stCondLst>
                            <p:childTnLst>
                              <p:par>
                                <p:cTn id="26" presetID="17" presetClass="entr" presetSubtype="8" fill="hold" nodeType="afterEffect">
                                  <p:stCondLst>
                                    <p:cond delay="0"/>
                                  </p:stCondLst>
                                  <p:childTnLst>
                                    <p:set>
                                      <p:cBhvr>
                                        <p:cTn id="27" dur="1" fill="hold">
                                          <p:stCondLst>
                                            <p:cond delay="0"/>
                                          </p:stCondLst>
                                        </p:cTn>
                                        <p:tgtEl>
                                          <p:spTgt spid="950295"/>
                                        </p:tgtEl>
                                        <p:attrNameLst>
                                          <p:attrName>style.visibility</p:attrName>
                                        </p:attrNameLst>
                                      </p:cBhvr>
                                      <p:to>
                                        <p:strVal val="visible"/>
                                      </p:to>
                                    </p:set>
                                    <p:anim calcmode="lin" valueType="num">
                                      <p:cBhvr>
                                        <p:cTn id="28" dur="500" fill="hold"/>
                                        <p:tgtEl>
                                          <p:spTgt spid="950295"/>
                                        </p:tgtEl>
                                        <p:attrNameLst>
                                          <p:attrName>ppt_x</p:attrName>
                                        </p:attrNameLst>
                                      </p:cBhvr>
                                      <p:tavLst>
                                        <p:tav tm="0">
                                          <p:val>
                                            <p:strVal val="#ppt_x-#ppt_w/2"/>
                                          </p:val>
                                        </p:tav>
                                        <p:tav tm="100000">
                                          <p:val>
                                            <p:strVal val="#ppt_x"/>
                                          </p:val>
                                        </p:tav>
                                      </p:tavLst>
                                    </p:anim>
                                    <p:anim calcmode="lin" valueType="num">
                                      <p:cBhvr>
                                        <p:cTn id="29" dur="500" fill="hold"/>
                                        <p:tgtEl>
                                          <p:spTgt spid="950295"/>
                                        </p:tgtEl>
                                        <p:attrNameLst>
                                          <p:attrName>ppt_y</p:attrName>
                                        </p:attrNameLst>
                                      </p:cBhvr>
                                      <p:tavLst>
                                        <p:tav tm="0">
                                          <p:val>
                                            <p:strVal val="#ppt_y"/>
                                          </p:val>
                                        </p:tav>
                                        <p:tav tm="100000">
                                          <p:val>
                                            <p:strVal val="#ppt_y"/>
                                          </p:val>
                                        </p:tav>
                                      </p:tavLst>
                                    </p:anim>
                                    <p:anim calcmode="lin" valueType="num">
                                      <p:cBhvr>
                                        <p:cTn id="30" dur="500" fill="hold"/>
                                        <p:tgtEl>
                                          <p:spTgt spid="950295"/>
                                        </p:tgtEl>
                                        <p:attrNameLst>
                                          <p:attrName>ppt_w</p:attrName>
                                        </p:attrNameLst>
                                      </p:cBhvr>
                                      <p:tavLst>
                                        <p:tav tm="0">
                                          <p:val>
                                            <p:fltVal val="0"/>
                                          </p:val>
                                        </p:tav>
                                        <p:tav tm="100000">
                                          <p:val>
                                            <p:strVal val="#ppt_w"/>
                                          </p:val>
                                        </p:tav>
                                      </p:tavLst>
                                    </p:anim>
                                    <p:anim calcmode="lin" valueType="num">
                                      <p:cBhvr>
                                        <p:cTn id="31" dur="500" fill="hold"/>
                                        <p:tgtEl>
                                          <p:spTgt spid="950295"/>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950299"/>
                                        </p:tgtEl>
                                        <p:attrNameLst>
                                          <p:attrName>style.visibility</p:attrName>
                                        </p:attrNameLst>
                                      </p:cBhvr>
                                      <p:to>
                                        <p:strVal val="visible"/>
                                      </p:to>
                                    </p:set>
                                    <p:animEffect transition="in" filter="wipe(left)">
                                      <p:cBhvr>
                                        <p:cTn id="36" dur="500"/>
                                        <p:tgtEl>
                                          <p:spTgt spid="950299"/>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950292"/>
                                        </p:tgtEl>
                                        <p:attrNameLst>
                                          <p:attrName>style.visibility</p:attrName>
                                        </p:attrNameLst>
                                      </p:cBhvr>
                                      <p:to>
                                        <p:strVal val="visible"/>
                                      </p:to>
                                    </p:set>
                                    <p:animEffect transition="in" filter="slide(fromLeft)">
                                      <p:cBhvr>
                                        <p:cTn id="41" dur="500"/>
                                        <p:tgtEl>
                                          <p:spTgt spid="950292"/>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950280"/>
                                        </p:tgtEl>
                                        <p:attrNameLst>
                                          <p:attrName>style.visibility</p:attrName>
                                        </p:attrNameLst>
                                      </p:cBhvr>
                                      <p:to>
                                        <p:strVal val="visible"/>
                                      </p:to>
                                    </p:set>
                                    <p:animEffect transition="in" filter="wipe(left)">
                                      <p:cBhvr>
                                        <p:cTn id="45" dur="500"/>
                                        <p:tgtEl>
                                          <p:spTgt spid="950280"/>
                                        </p:tgtEl>
                                      </p:cBhvr>
                                    </p:animEffect>
                                  </p:childTnLst>
                                </p:cTn>
                              </p:par>
                            </p:childTnLst>
                          </p:cTn>
                        </p:par>
                        <p:par>
                          <p:cTn id="46" fill="hold">
                            <p:stCondLst>
                              <p:cond delay="1000"/>
                            </p:stCondLst>
                            <p:childTnLst>
                              <p:par>
                                <p:cTn id="47" presetID="22" presetClass="entr" presetSubtype="1" fill="hold" nodeType="afterEffect">
                                  <p:stCondLst>
                                    <p:cond delay="0"/>
                                  </p:stCondLst>
                                  <p:childTnLst>
                                    <p:set>
                                      <p:cBhvr>
                                        <p:cTn id="48" dur="1" fill="hold">
                                          <p:stCondLst>
                                            <p:cond delay="0"/>
                                          </p:stCondLst>
                                        </p:cTn>
                                        <p:tgtEl>
                                          <p:spTgt spid="950274"/>
                                        </p:tgtEl>
                                        <p:attrNameLst>
                                          <p:attrName>style.visibility</p:attrName>
                                        </p:attrNameLst>
                                      </p:cBhvr>
                                      <p:to>
                                        <p:strVal val="visible"/>
                                      </p:to>
                                    </p:set>
                                    <p:animEffect transition="in" filter="wipe(up)">
                                      <p:cBhvr>
                                        <p:cTn id="49" dur="500"/>
                                        <p:tgtEl>
                                          <p:spTgt spid="950274"/>
                                        </p:tgtEl>
                                      </p:cBhvr>
                                    </p:animEffect>
                                  </p:childTnLst>
                                </p:cTn>
                              </p:par>
                            </p:childTnLst>
                          </p:cTn>
                        </p:par>
                        <p:par>
                          <p:cTn id="50" fill="hold">
                            <p:stCondLst>
                              <p:cond delay="1500"/>
                            </p:stCondLst>
                            <p:childTnLst>
                              <p:par>
                                <p:cTn id="51" presetID="22" presetClass="entr" presetSubtype="2" fill="hold" grpId="0" nodeType="afterEffect">
                                  <p:stCondLst>
                                    <p:cond delay="0"/>
                                  </p:stCondLst>
                                  <p:childTnLst>
                                    <p:set>
                                      <p:cBhvr>
                                        <p:cTn id="52" dur="1" fill="hold">
                                          <p:stCondLst>
                                            <p:cond delay="0"/>
                                          </p:stCondLst>
                                        </p:cTn>
                                        <p:tgtEl>
                                          <p:spTgt spid="950298"/>
                                        </p:tgtEl>
                                        <p:attrNameLst>
                                          <p:attrName>style.visibility</p:attrName>
                                        </p:attrNameLst>
                                      </p:cBhvr>
                                      <p:to>
                                        <p:strVal val="visible"/>
                                      </p:to>
                                    </p:set>
                                    <p:animEffect transition="in" filter="wipe(right)">
                                      <p:cBhvr>
                                        <p:cTn id="53" dur="500"/>
                                        <p:tgtEl>
                                          <p:spTgt spid="950298"/>
                                        </p:tgtEl>
                                      </p:cBhvr>
                                    </p:animEffect>
                                  </p:childTnLst>
                                </p:cTn>
                              </p:par>
                            </p:childTnLst>
                          </p:cTn>
                        </p:par>
                        <p:par>
                          <p:cTn id="54" fill="hold">
                            <p:stCondLst>
                              <p:cond delay="2000"/>
                            </p:stCondLst>
                            <p:childTnLst>
                              <p:par>
                                <p:cTn id="55" presetID="22" presetClass="entr" presetSubtype="2" fill="hold" grpId="0" nodeType="afterEffect">
                                  <p:stCondLst>
                                    <p:cond delay="0"/>
                                  </p:stCondLst>
                                  <p:childTnLst>
                                    <p:set>
                                      <p:cBhvr>
                                        <p:cTn id="56" dur="1" fill="hold">
                                          <p:stCondLst>
                                            <p:cond delay="0"/>
                                          </p:stCondLst>
                                        </p:cTn>
                                        <p:tgtEl>
                                          <p:spTgt spid="950297"/>
                                        </p:tgtEl>
                                        <p:attrNameLst>
                                          <p:attrName>style.visibility</p:attrName>
                                        </p:attrNameLst>
                                      </p:cBhvr>
                                      <p:to>
                                        <p:strVal val="visible"/>
                                      </p:to>
                                    </p:set>
                                    <p:animEffect transition="in" filter="wipe(right)">
                                      <p:cBhvr>
                                        <p:cTn id="57" dur="500"/>
                                        <p:tgtEl>
                                          <p:spTgt spid="950297"/>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1" fill="hold" grpId="0" nodeType="clickEffect">
                                  <p:stCondLst>
                                    <p:cond delay="0"/>
                                  </p:stCondLst>
                                  <p:childTnLst>
                                    <p:set>
                                      <p:cBhvr>
                                        <p:cTn id="61" dur="1" fill="hold">
                                          <p:stCondLst>
                                            <p:cond delay="0"/>
                                          </p:stCondLst>
                                        </p:cTn>
                                        <p:tgtEl>
                                          <p:spTgt spid="950301"/>
                                        </p:tgtEl>
                                        <p:attrNameLst>
                                          <p:attrName>style.visibility</p:attrName>
                                        </p:attrNameLst>
                                      </p:cBhvr>
                                      <p:to>
                                        <p:strVal val="visible"/>
                                      </p:to>
                                    </p:set>
                                    <p:anim calcmode="lin" valueType="num">
                                      <p:cBhvr additive="base">
                                        <p:cTn id="62" dur="500" fill="hold"/>
                                        <p:tgtEl>
                                          <p:spTgt spid="950301"/>
                                        </p:tgtEl>
                                        <p:attrNameLst>
                                          <p:attrName>ppt_x</p:attrName>
                                        </p:attrNameLst>
                                      </p:cBhvr>
                                      <p:tavLst>
                                        <p:tav tm="0">
                                          <p:val>
                                            <p:strVal val="#ppt_x"/>
                                          </p:val>
                                        </p:tav>
                                        <p:tav tm="100000">
                                          <p:val>
                                            <p:strVal val="#ppt_x"/>
                                          </p:val>
                                        </p:tav>
                                      </p:tavLst>
                                    </p:anim>
                                    <p:anim calcmode="lin" valueType="num">
                                      <p:cBhvr additive="base">
                                        <p:cTn id="63" dur="500" fill="hold"/>
                                        <p:tgtEl>
                                          <p:spTgt spid="950301"/>
                                        </p:tgtEl>
                                        <p:attrNameLst>
                                          <p:attrName>ppt_y</p:attrName>
                                        </p:attrNameLst>
                                      </p:cBhvr>
                                      <p:tavLst>
                                        <p:tav tm="0">
                                          <p:val>
                                            <p:strVal val="0-#ppt_h/2"/>
                                          </p:val>
                                        </p:tav>
                                        <p:tav tm="100000">
                                          <p:val>
                                            <p:strVal val="#ppt_y"/>
                                          </p:val>
                                        </p:tav>
                                      </p:tavLst>
                                    </p:anim>
                                  </p:childTnLst>
                                </p:cTn>
                              </p:par>
                            </p:childTnLst>
                          </p:cTn>
                        </p:par>
                        <p:par>
                          <p:cTn id="64" fill="hold">
                            <p:stCondLst>
                              <p:cond delay="500"/>
                            </p:stCondLst>
                            <p:childTnLst>
                              <p:par>
                                <p:cTn id="65" presetID="22" presetClass="entr" presetSubtype="1" fill="hold" grpId="0" nodeType="afterEffect">
                                  <p:stCondLst>
                                    <p:cond delay="0"/>
                                  </p:stCondLst>
                                  <p:childTnLst>
                                    <p:set>
                                      <p:cBhvr>
                                        <p:cTn id="66" dur="1" fill="hold">
                                          <p:stCondLst>
                                            <p:cond delay="0"/>
                                          </p:stCondLst>
                                        </p:cTn>
                                        <p:tgtEl>
                                          <p:spTgt spid="950302"/>
                                        </p:tgtEl>
                                        <p:attrNameLst>
                                          <p:attrName>style.visibility</p:attrName>
                                        </p:attrNameLst>
                                      </p:cBhvr>
                                      <p:to>
                                        <p:strVal val="visible"/>
                                      </p:to>
                                    </p:set>
                                    <p:animEffect transition="in" filter="wipe(up)">
                                      <p:cBhvr>
                                        <p:cTn id="67" dur="500"/>
                                        <p:tgtEl>
                                          <p:spTgt spid="950302"/>
                                        </p:tgtEl>
                                      </p:cBhvr>
                                    </p:animEffect>
                                  </p:childTnLst>
                                </p:cTn>
                              </p:par>
                            </p:childTnLst>
                          </p:cTn>
                        </p:par>
                        <p:par>
                          <p:cTn id="68" fill="hold">
                            <p:stCondLst>
                              <p:cond delay="1000"/>
                            </p:stCondLst>
                            <p:childTnLst>
                              <p:par>
                                <p:cTn id="69" presetID="1" presetClass="entr" presetSubtype="0" fill="hold" nodeType="afterEffect">
                                  <p:stCondLst>
                                    <p:cond delay="0"/>
                                  </p:stCondLst>
                                  <p:childTnLst>
                                    <p:set>
                                      <p:cBhvr>
                                        <p:cTn id="70" dur="1" fill="hold">
                                          <p:stCondLst>
                                            <p:cond delay="499"/>
                                          </p:stCondLst>
                                        </p:cTn>
                                        <p:tgtEl>
                                          <p:spTgt spid="950303"/>
                                        </p:tgtEl>
                                        <p:attrNameLst>
                                          <p:attrName>style.visibility</p:attrName>
                                        </p:attrNameLst>
                                      </p:cBhvr>
                                      <p:to>
                                        <p:strVal val="visible"/>
                                      </p:to>
                                    </p:set>
                                  </p:childTnLst>
                                </p:cTn>
                              </p:par>
                            </p:childTnLst>
                          </p:cTn>
                        </p:par>
                        <p:par>
                          <p:cTn id="71" fill="hold">
                            <p:stCondLst>
                              <p:cond delay="1500"/>
                            </p:stCondLst>
                            <p:childTnLst>
                              <p:par>
                                <p:cTn id="72" presetID="22" presetClass="entr" presetSubtype="1" fill="hold" grpId="0" nodeType="afterEffect">
                                  <p:stCondLst>
                                    <p:cond delay="0"/>
                                  </p:stCondLst>
                                  <p:childTnLst>
                                    <p:set>
                                      <p:cBhvr>
                                        <p:cTn id="73" dur="1" fill="hold">
                                          <p:stCondLst>
                                            <p:cond delay="0"/>
                                          </p:stCondLst>
                                        </p:cTn>
                                        <p:tgtEl>
                                          <p:spTgt spid="950306"/>
                                        </p:tgtEl>
                                        <p:attrNameLst>
                                          <p:attrName>style.visibility</p:attrName>
                                        </p:attrNameLst>
                                      </p:cBhvr>
                                      <p:to>
                                        <p:strVal val="visible"/>
                                      </p:to>
                                    </p:set>
                                    <p:animEffect transition="in" filter="wipe(up)">
                                      <p:cBhvr>
                                        <p:cTn id="74" dur="500"/>
                                        <p:tgtEl>
                                          <p:spTgt spid="950306"/>
                                        </p:tgtEl>
                                      </p:cBhvr>
                                    </p:animEffect>
                                  </p:childTnLst>
                                </p:cTn>
                              </p:par>
                            </p:childTnLst>
                          </p:cTn>
                        </p:par>
                        <p:par>
                          <p:cTn id="75" fill="hold">
                            <p:stCondLst>
                              <p:cond delay="2000"/>
                            </p:stCondLst>
                            <p:childTnLst>
                              <p:par>
                                <p:cTn id="76" presetID="2" presetClass="entr" presetSubtype="6" fill="hold" grpId="0" nodeType="afterEffect">
                                  <p:stCondLst>
                                    <p:cond delay="0"/>
                                  </p:stCondLst>
                                  <p:childTnLst>
                                    <p:set>
                                      <p:cBhvr>
                                        <p:cTn id="77" dur="1" fill="hold">
                                          <p:stCondLst>
                                            <p:cond delay="0"/>
                                          </p:stCondLst>
                                        </p:cTn>
                                        <p:tgtEl>
                                          <p:spTgt spid="950307"/>
                                        </p:tgtEl>
                                        <p:attrNameLst>
                                          <p:attrName>style.visibility</p:attrName>
                                        </p:attrNameLst>
                                      </p:cBhvr>
                                      <p:to>
                                        <p:strVal val="visible"/>
                                      </p:to>
                                    </p:set>
                                    <p:anim calcmode="lin" valueType="num">
                                      <p:cBhvr additive="base">
                                        <p:cTn id="78" dur="500" fill="hold"/>
                                        <p:tgtEl>
                                          <p:spTgt spid="950307"/>
                                        </p:tgtEl>
                                        <p:attrNameLst>
                                          <p:attrName>ppt_x</p:attrName>
                                        </p:attrNameLst>
                                      </p:cBhvr>
                                      <p:tavLst>
                                        <p:tav tm="0">
                                          <p:val>
                                            <p:strVal val="1+#ppt_w/2"/>
                                          </p:val>
                                        </p:tav>
                                        <p:tav tm="100000">
                                          <p:val>
                                            <p:strVal val="#ppt_x"/>
                                          </p:val>
                                        </p:tav>
                                      </p:tavLst>
                                    </p:anim>
                                    <p:anim calcmode="lin" valueType="num">
                                      <p:cBhvr additive="base">
                                        <p:cTn id="79" dur="500" fill="hold"/>
                                        <p:tgtEl>
                                          <p:spTgt spid="9503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0280" grpId="0" autoUpdateAnimBg="0"/>
      <p:bldP spid="950296" grpId="0" animBg="1" autoUpdateAnimBg="0"/>
      <p:bldP spid="950297" grpId="0" animBg="1" autoUpdateAnimBg="0"/>
      <p:bldP spid="950298" grpId="0" animBg="1" autoUpdateAnimBg="0"/>
      <p:bldP spid="950299" grpId="0" autoUpdateAnimBg="0"/>
      <p:bldP spid="950300" grpId="0" animBg="1" autoUpdateAnimBg="0"/>
      <p:bldP spid="950301" grpId="0" animBg="1" autoUpdateAnimBg="0"/>
      <p:bldP spid="950302" grpId="0" animBg="1"/>
      <p:bldP spid="950306" grpId="0" autoUpdateAnimBg="0"/>
      <p:bldP spid="95030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ChangeArrowheads="1"/>
          </p:cNvSpPr>
          <p:nvPr>
            <p:ph type="body" idx="1"/>
          </p:nvPr>
        </p:nvSpPr>
        <p:spPr>
          <a:xfrm>
            <a:off x="827584" y="548680"/>
            <a:ext cx="7772400" cy="5619750"/>
          </a:xfrm>
        </p:spPr>
        <p:txBody>
          <a:bodyPr/>
          <a:lstStyle/>
          <a:p>
            <a:r>
              <a:rPr lang="zh-CN" altLang="en-US" dirty="0">
                <a:solidFill>
                  <a:srgbClr val="660033"/>
                </a:solidFill>
                <a:ea typeface="隶书" panose="02010509060101010101" charset="-122"/>
              </a:rPr>
              <a:t>头结点的结构和链表中其它结点相同，只是它的数据域中不存放任何信息，但它的指针域存放的是第一个数据元素的存储地址，即线性表的基地址。此时称指向头结点的指针为头指针。通常称这类单链表为“带头结点的单链表”。</a:t>
            </a:r>
            <a:endParaRPr lang="zh-CN" altLang="en-US" dirty="0">
              <a:solidFill>
                <a:srgbClr val="660033"/>
              </a:solidFill>
              <a:ea typeface="隶书" panose="02010509060101010101" charset="-122"/>
            </a:endParaRPr>
          </a:p>
          <a:p>
            <a:r>
              <a:rPr lang="zh-CN" altLang="en-US" dirty="0">
                <a:solidFill>
                  <a:srgbClr val="660033"/>
                </a:solidFill>
                <a:ea typeface="隶书" panose="02010509060101010101" charset="-122"/>
              </a:rPr>
              <a:t>　    值得注意的是，若线性表为空，在不带头结点的情况下，头指针为空</a:t>
            </a:r>
            <a:r>
              <a:rPr lang="en-US" altLang="zh-CN" dirty="0">
                <a:solidFill>
                  <a:srgbClr val="660033"/>
                </a:solidFill>
                <a:ea typeface="隶书" panose="02010509060101010101" charset="-122"/>
              </a:rPr>
              <a:t>(NULL)</a:t>
            </a:r>
            <a:r>
              <a:rPr lang="zh-CN" altLang="en-US" dirty="0">
                <a:solidFill>
                  <a:srgbClr val="660033"/>
                </a:solidFill>
                <a:ea typeface="隶书" panose="02010509060101010101" charset="-122"/>
              </a:rPr>
              <a:t>，但在带头结点的情况下，链表的头指针不为空，而是其头结点中指针域的指针为空。</a:t>
            </a:r>
            <a:endParaRPr lang="zh-CN" altLang="en-US" dirty="0">
              <a:solidFill>
                <a:srgbClr val="660033"/>
              </a:solidFill>
              <a:ea typeface="隶书" panose="02010509060101010101"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2" name="Text Box 2"/>
          <p:cNvSpPr txBox="1">
            <a:spLocks noChangeArrowheads="1"/>
          </p:cNvSpPr>
          <p:nvPr/>
        </p:nvSpPr>
        <p:spPr bwMode="auto">
          <a:xfrm>
            <a:off x="488950" y="1524000"/>
            <a:ext cx="6750050"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t>   </a:t>
            </a:r>
            <a:r>
              <a:rPr lang="zh-CN" altLang="en-US" sz="4800" b="1"/>
              <a:t> </a:t>
            </a:r>
            <a:r>
              <a:rPr lang="en-US" altLang="zh-CN" sz="3600" b="1"/>
              <a:t>Typedef </a:t>
            </a:r>
            <a:r>
              <a:rPr lang="en-US" altLang="zh-CN" sz="3600" b="1">
                <a:solidFill>
                  <a:srgbClr val="CC0000"/>
                </a:solidFill>
              </a:rPr>
              <a:t>struct  LNode</a:t>
            </a:r>
            <a:r>
              <a:rPr lang="en-US" altLang="zh-CN" sz="3600" b="1"/>
              <a:t> {</a:t>
            </a:r>
            <a:endParaRPr lang="en-US" altLang="zh-CN" sz="3600"/>
          </a:p>
          <a:p>
            <a:pPr eaLnBrk="1" hangingPunct="1">
              <a:lnSpc>
                <a:spcPct val="120000"/>
              </a:lnSpc>
              <a:defRPr/>
            </a:pPr>
            <a:r>
              <a:rPr lang="en-US" altLang="zh-CN" sz="3600"/>
              <a:t>      ElemType      </a:t>
            </a:r>
            <a:r>
              <a:rPr lang="en-US" altLang="zh-CN" sz="3600">
                <a:solidFill>
                  <a:srgbClr val="CC0000"/>
                </a:solidFill>
              </a:rPr>
              <a:t>data;</a:t>
            </a:r>
            <a:r>
              <a:rPr lang="en-US" altLang="zh-CN" sz="3600"/>
              <a:t>  // </a:t>
            </a:r>
            <a:r>
              <a:rPr lang="zh-CN" altLang="en-US" sz="3600">
                <a:solidFill>
                  <a:srgbClr val="0000FF"/>
                </a:solidFill>
                <a:ea typeface="隶书" panose="02010509060101010101" charset="-122"/>
              </a:rPr>
              <a:t>数据域</a:t>
            </a:r>
            <a:endParaRPr lang="zh-CN" altLang="en-US" sz="3600"/>
          </a:p>
          <a:p>
            <a:pPr eaLnBrk="1" hangingPunct="1">
              <a:lnSpc>
                <a:spcPct val="120000"/>
              </a:lnSpc>
              <a:defRPr/>
            </a:pPr>
            <a:r>
              <a:rPr lang="zh-CN" altLang="en-US" sz="3600"/>
              <a:t>      </a:t>
            </a:r>
            <a:r>
              <a:rPr lang="en-US" altLang="zh-CN" sz="3600" b="1">
                <a:solidFill>
                  <a:srgbClr val="CC0000"/>
                </a:solidFill>
              </a:rPr>
              <a:t>struct</a:t>
            </a:r>
            <a:r>
              <a:rPr lang="en-US" altLang="zh-CN" sz="3600">
                <a:solidFill>
                  <a:srgbClr val="CC0000"/>
                </a:solidFill>
              </a:rPr>
              <a:t> Lnode   </a:t>
            </a:r>
            <a:r>
              <a:rPr lang="en-US" altLang="zh-CN" sz="3600" b="1">
                <a:solidFill>
                  <a:srgbClr val="CC0000"/>
                </a:solidFill>
              </a:rPr>
              <a:t>*</a:t>
            </a:r>
            <a:r>
              <a:rPr lang="en-US" altLang="zh-CN" sz="3600">
                <a:solidFill>
                  <a:srgbClr val="CC0000"/>
                </a:solidFill>
              </a:rPr>
              <a:t>next;</a:t>
            </a:r>
            <a:r>
              <a:rPr lang="en-US" altLang="zh-CN" sz="3600"/>
              <a:t>  // </a:t>
            </a:r>
            <a:r>
              <a:rPr lang="zh-CN" altLang="en-US" sz="3600">
                <a:solidFill>
                  <a:srgbClr val="0000FF"/>
                </a:solidFill>
                <a:ea typeface="隶书" panose="02010509060101010101" charset="-122"/>
              </a:rPr>
              <a:t>指针域</a:t>
            </a:r>
            <a:endParaRPr lang="zh-CN" altLang="en-US" sz="3600"/>
          </a:p>
          <a:p>
            <a:pPr eaLnBrk="1" hangingPunct="1">
              <a:lnSpc>
                <a:spcPct val="120000"/>
              </a:lnSpc>
              <a:defRPr/>
            </a:pPr>
            <a:r>
              <a:rPr lang="zh-CN" altLang="en-US" sz="3600" b="1"/>
              <a:t>   </a:t>
            </a:r>
            <a:r>
              <a:rPr lang="en-US" altLang="zh-CN" sz="3600" b="1"/>
              <a:t>}</a:t>
            </a:r>
            <a:r>
              <a:rPr lang="en-US" altLang="zh-CN" sz="3600"/>
              <a:t> LNode, </a:t>
            </a:r>
            <a:r>
              <a:rPr lang="en-US" altLang="zh-CN" sz="3600" b="1">
                <a:solidFill>
                  <a:schemeClr val="tx2"/>
                </a:solidFill>
              </a:rPr>
              <a:t>*LinkList</a:t>
            </a:r>
            <a:r>
              <a:rPr lang="en-US" altLang="zh-CN" sz="3600"/>
              <a:t>;</a:t>
            </a:r>
            <a:r>
              <a:rPr lang="en-US" altLang="zh-CN" sz="4800"/>
              <a:t>  </a:t>
            </a:r>
            <a:endParaRPr lang="en-US" altLang="zh-CN" sz="2400"/>
          </a:p>
        </p:txBody>
      </p:sp>
      <p:sp>
        <p:nvSpPr>
          <p:cNvPr id="952323" name="Text Box 3"/>
          <p:cNvSpPr txBox="1">
            <a:spLocks noChangeArrowheads="1"/>
          </p:cNvSpPr>
          <p:nvPr/>
        </p:nvSpPr>
        <p:spPr bwMode="auto">
          <a:xfrm>
            <a:off x="1541463" y="304800"/>
            <a:ext cx="75358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3300"/>
                </a:solidFill>
                <a:latin typeface="隶书" panose="02010509060101010101" charset="-122"/>
                <a:ea typeface="隶书" panose="02010509060101010101" charset="-122"/>
              </a:rPr>
              <a:t>二、结点和单链表的 </a:t>
            </a:r>
            <a:r>
              <a:rPr lang="en-US" altLang="zh-CN" sz="4000" b="1">
                <a:solidFill>
                  <a:srgbClr val="663300"/>
                </a:solidFill>
                <a:ea typeface="隶书" panose="02010509060101010101" charset="-122"/>
              </a:rPr>
              <a:t>C </a:t>
            </a:r>
            <a:r>
              <a:rPr lang="zh-CN" altLang="en-US" sz="4000" b="1">
                <a:solidFill>
                  <a:srgbClr val="663300"/>
                </a:solidFill>
                <a:latin typeface="隶书" panose="02010509060101010101" charset="-122"/>
                <a:ea typeface="隶书" panose="02010509060101010101" charset="-122"/>
              </a:rPr>
              <a:t>语言描述</a:t>
            </a:r>
            <a:endParaRPr lang="zh-CN" altLang="en-US" sz="4000" b="1">
              <a:ea typeface="楷体_GB2312" charset="0"/>
            </a:endParaRPr>
          </a:p>
        </p:txBody>
      </p:sp>
      <p:sp>
        <p:nvSpPr>
          <p:cNvPr id="952324" name="Text Box 4"/>
          <p:cNvSpPr txBox="1">
            <a:spLocks noChangeArrowheads="1"/>
          </p:cNvSpPr>
          <p:nvPr/>
        </p:nvSpPr>
        <p:spPr bwMode="auto">
          <a:xfrm>
            <a:off x="457200" y="4953000"/>
            <a:ext cx="84010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solidFill>
                  <a:srgbClr val="660033"/>
                </a:solidFill>
              </a:rPr>
              <a:t>LinkList  L</a:t>
            </a:r>
            <a:r>
              <a:rPr lang="zh-CN" altLang="en-US" sz="4000" b="1">
                <a:solidFill>
                  <a:srgbClr val="660033"/>
                </a:solidFill>
              </a:rPr>
              <a:t>；  </a:t>
            </a:r>
            <a:r>
              <a:rPr lang="en-US" altLang="zh-CN" sz="4000" b="1">
                <a:solidFill>
                  <a:srgbClr val="660033"/>
                </a:solidFill>
              </a:rPr>
              <a:t>// L </a:t>
            </a:r>
            <a:r>
              <a:rPr lang="zh-CN" altLang="en-US" sz="4000" b="1">
                <a:solidFill>
                  <a:srgbClr val="660033"/>
                </a:solidFill>
                <a:ea typeface="楷体_GB2312" charset="0"/>
              </a:rPr>
              <a:t>为单链表的头指针</a:t>
            </a:r>
            <a:endParaRPr lang="zh-CN" altLang="en-US" sz="2400"/>
          </a:p>
        </p:txBody>
      </p:sp>
      <p:sp>
        <p:nvSpPr>
          <p:cNvPr id="952325" name="AutoShape 5">
            <a:hlinkClick r:id="rId1"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2323"/>
                                        </p:tgtEl>
                                        <p:attrNameLst>
                                          <p:attrName>style.visibility</p:attrName>
                                        </p:attrNameLst>
                                      </p:cBhvr>
                                      <p:to>
                                        <p:strVal val="visible"/>
                                      </p:to>
                                    </p:set>
                                    <p:animEffect transition="in" filter="wipe(left)">
                                      <p:cBhvr>
                                        <p:cTn id="7" dur="500"/>
                                        <p:tgtEl>
                                          <p:spTgt spid="95232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952322"/>
                                        </p:tgtEl>
                                        <p:attrNameLst>
                                          <p:attrName>style.visibility</p:attrName>
                                        </p:attrNameLst>
                                      </p:cBhvr>
                                      <p:to>
                                        <p:strVal val="visible"/>
                                      </p:to>
                                    </p:set>
                                    <p:animEffect transition="in" filter="strips(downRight)">
                                      <p:cBhvr>
                                        <p:cTn id="12" dur="300"/>
                                        <p:tgtEl>
                                          <p:spTgt spid="95232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iterate type="wd">
                                    <p:tmPct val="100000"/>
                                  </p:iterate>
                                  <p:childTnLst>
                                    <p:set>
                                      <p:cBhvr>
                                        <p:cTn id="16" dur="1" fill="hold">
                                          <p:stCondLst>
                                            <p:cond delay="0"/>
                                          </p:stCondLst>
                                        </p:cTn>
                                        <p:tgtEl>
                                          <p:spTgt spid="952324"/>
                                        </p:tgtEl>
                                        <p:attrNameLst>
                                          <p:attrName>style.visibility</p:attrName>
                                        </p:attrNameLst>
                                      </p:cBhvr>
                                      <p:to>
                                        <p:strVal val="visible"/>
                                      </p:to>
                                    </p:set>
                                    <p:animEffect transition="in" filter="strips(downRight)">
                                      <p:cBhvr>
                                        <p:cTn id="17" dur="300"/>
                                        <p:tgtEl>
                                          <p:spTgt spid="952324"/>
                                        </p:tgtEl>
                                      </p:cBhvr>
                                    </p:animEffect>
                                  </p:childTnLst>
                                </p:cTn>
                              </p:par>
                            </p:childTnLst>
                          </p:cTn>
                        </p:par>
                        <p:par>
                          <p:cTn id="18" fill="hold">
                            <p:stCondLst>
                              <p:cond delay="8100"/>
                            </p:stCondLst>
                            <p:childTnLst>
                              <p:par>
                                <p:cTn id="19" presetID="2" presetClass="entr" presetSubtype="6" fill="hold" grpId="0" nodeType="afterEffect">
                                  <p:stCondLst>
                                    <p:cond delay="0"/>
                                  </p:stCondLst>
                                  <p:childTnLst>
                                    <p:set>
                                      <p:cBhvr>
                                        <p:cTn id="20" dur="1" fill="hold">
                                          <p:stCondLst>
                                            <p:cond delay="0"/>
                                          </p:stCondLst>
                                        </p:cTn>
                                        <p:tgtEl>
                                          <p:spTgt spid="952325"/>
                                        </p:tgtEl>
                                        <p:attrNameLst>
                                          <p:attrName>style.visibility</p:attrName>
                                        </p:attrNameLst>
                                      </p:cBhvr>
                                      <p:to>
                                        <p:strVal val="visible"/>
                                      </p:to>
                                    </p:set>
                                    <p:anim calcmode="lin" valueType="num">
                                      <p:cBhvr additive="base">
                                        <p:cTn id="21" dur="500" fill="hold"/>
                                        <p:tgtEl>
                                          <p:spTgt spid="952325"/>
                                        </p:tgtEl>
                                        <p:attrNameLst>
                                          <p:attrName>ppt_x</p:attrName>
                                        </p:attrNameLst>
                                      </p:cBhvr>
                                      <p:tavLst>
                                        <p:tav tm="0">
                                          <p:val>
                                            <p:strVal val="1+#ppt_w/2"/>
                                          </p:val>
                                        </p:tav>
                                        <p:tav tm="100000">
                                          <p:val>
                                            <p:strVal val="#ppt_x"/>
                                          </p:val>
                                        </p:tav>
                                      </p:tavLst>
                                    </p:anim>
                                    <p:anim calcmode="lin" valueType="num">
                                      <p:cBhvr additive="base">
                                        <p:cTn id="22" dur="500" fill="hold"/>
                                        <p:tgtEl>
                                          <p:spTgt spid="9523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22" grpId="0" autoUpdateAnimBg="0"/>
      <p:bldP spid="952323" grpId="0" autoUpdateAnimBg="0"/>
      <p:bldP spid="952324" grpId="0" autoUpdateAnimBg="0"/>
      <p:bldP spid="95232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02" name="Rectangle 2"/>
          <p:cNvSpPr>
            <a:spLocks noChangeArrowheads="1"/>
          </p:cNvSpPr>
          <p:nvPr/>
        </p:nvSpPr>
        <p:spPr bwMode="auto">
          <a:xfrm>
            <a:off x="331788" y="1295400"/>
            <a:ext cx="8812212" cy="510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lvl1pPr eaLnBrk="0" hangingPunct="0">
              <a:defRPr kumimoji="1" sz="2000">
                <a:solidFill>
                  <a:schemeClr val="tx1"/>
                </a:solidFill>
                <a:latin typeface="Times New Roman" panose="02020603050405020304" charset="0"/>
                <a:ea typeface="宋体" panose="02010600030101010101" pitchFamily="2" charset="-122"/>
              </a:defRPr>
            </a:lvl1pPr>
            <a:lvl2pPr marL="355600" eaLnBrk="0" hangingPunct="0">
              <a:defRPr kumimoji="1" sz="2000">
                <a:solidFill>
                  <a:schemeClr val="tx1"/>
                </a:solidFill>
                <a:latin typeface="Times New Roman" panose="02020603050405020304" charset="0"/>
                <a:ea typeface="宋体" panose="02010600030101010101" pitchFamily="2" charset="-122"/>
              </a:defRPr>
            </a:lvl2pPr>
            <a:lvl3pPr marL="723900"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110000"/>
              </a:lnSpc>
              <a:spcBef>
                <a:spcPct val="20000"/>
              </a:spcBef>
              <a:defRPr/>
            </a:pPr>
            <a:r>
              <a:rPr lang="zh-CN" altLang="en-US" sz="2800" b="1">
                <a:latin typeface="宋体" panose="02010600030101010101" pitchFamily="2" charset="-122"/>
              </a:rPr>
              <a:t>	结点是通过动态分配和释放来的实现</a:t>
            </a:r>
            <a:r>
              <a:rPr lang="zh-CN" altLang="en-US" sz="2800" b="1"/>
              <a:t>，即需要时分配，不需要时释放。实现时是分别使用</a:t>
            </a:r>
            <a:r>
              <a:rPr lang="en-US" altLang="zh-CN" sz="2800" b="1"/>
              <a:t>C</a:t>
            </a:r>
            <a:r>
              <a:rPr lang="zh-CN" altLang="en-US" sz="2800" b="1"/>
              <a:t>语言提供的标准函数：</a:t>
            </a:r>
            <a:r>
              <a:rPr lang="en-US" altLang="zh-CN" sz="2800" b="1"/>
              <a:t>malloc() </a:t>
            </a:r>
            <a:r>
              <a:rPr lang="zh-CN" altLang="en-US" sz="2800" b="1"/>
              <a:t>，</a:t>
            </a:r>
            <a:r>
              <a:rPr lang="en-US" altLang="zh-CN" sz="2800" b="1"/>
              <a:t>realloc()</a:t>
            </a:r>
            <a:r>
              <a:rPr lang="zh-CN" altLang="en-US" sz="2800" b="1"/>
              <a:t>，</a:t>
            </a:r>
            <a:r>
              <a:rPr lang="en-US" altLang="zh-CN" sz="2800" b="1"/>
              <a:t>sizeof() </a:t>
            </a:r>
            <a:r>
              <a:rPr lang="zh-CN" altLang="en-US" sz="2800" b="1"/>
              <a:t>，</a:t>
            </a:r>
            <a:r>
              <a:rPr lang="en-US" altLang="zh-CN" sz="2800" b="1"/>
              <a:t>free() </a:t>
            </a:r>
            <a:r>
              <a:rPr lang="zh-CN" altLang="en-US" sz="2800" b="1"/>
              <a:t>。</a:t>
            </a:r>
            <a:endParaRPr lang="zh-CN" altLang="en-US" sz="2800" b="1"/>
          </a:p>
          <a:p>
            <a:pPr>
              <a:lnSpc>
                <a:spcPct val="110000"/>
              </a:lnSpc>
              <a:spcBef>
                <a:spcPct val="20000"/>
              </a:spcBef>
              <a:defRPr/>
            </a:pPr>
            <a:r>
              <a:rPr lang="zh-CN" altLang="en-US" sz="3200" b="1">
                <a:solidFill>
                  <a:srgbClr val="3333CC"/>
                </a:solidFill>
                <a:latin typeface="宋体" panose="02010600030101010101" pitchFamily="2" charset="-122"/>
              </a:rPr>
              <a:t>动态分配 </a:t>
            </a:r>
            <a:r>
              <a:rPr lang="zh-CN" altLang="en-US" sz="3200" b="1">
                <a:latin typeface="宋体" panose="02010600030101010101" pitchFamily="2" charset="-122"/>
              </a:rPr>
              <a:t>  </a:t>
            </a:r>
            <a:r>
              <a:rPr lang="en-US" altLang="zh-CN" sz="2800" b="1"/>
              <a:t>p=(LNode*)malloc(sizeof(LNode));</a:t>
            </a:r>
            <a:endParaRPr lang="en-US" altLang="zh-CN" sz="2800" b="1"/>
          </a:p>
          <a:p>
            <a:pPr>
              <a:lnSpc>
                <a:spcPct val="110000"/>
              </a:lnSpc>
              <a:spcBef>
                <a:spcPct val="20000"/>
              </a:spcBef>
              <a:defRPr/>
            </a:pPr>
            <a:r>
              <a:rPr lang="zh-CN" altLang="en-US" sz="3200" b="1">
                <a:latin typeface="宋体" panose="02010600030101010101" pitchFamily="2" charset="-122"/>
              </a:rPr>
              <a:t>函数</a:t>
            </a:r>
            <a:r>
              <a:rPr lang="en-US" altLang="zh-CN" sz="3200" b="1">
                <a:latin typeface="Arial" panose="020B0604020202020204" pitchFamily="34" charset="0"/>
              </a:rPr>
              <a:t>malloc</a:t>
            </a:r>
            <a:r>
              <a:rPr lang="zh-CN" altLang="en-US" sz="3200" b="1">
                <a:latin typeface="宋体" panose="02010600030101010101" pitchFamily="2" charset="-122"/>
              </a:rPr>
              <a:t>分配了一个类型为</a:t>
            </a:r>
            <a:r>
              <a:rPr lang="en-US" altLang="zh-CN" sz="3200" b="1">
                <a:latin typeface="Arial" panose="020B0604020202020204" pitchFamily="34" charset="0"/>
              </a:rPr>
              <a:t>LNode</a:t>
            </a:r>
            <a:r>
              <a:rPr lang="zh-CN" altLang="en-US" sz="3200" b="1">
                <a:latin typeface="宋体" panose="02010600030101010101" pitchFamily="2" charset="-122"/>
              </a:rPr>
              <a:t>的结点变量的空间，并将其首地址放入指针变量</a:t>
            </a:r>
            <a:r>
              <a:rPr lang="en-US" altLang="zh-CN" sz="3200" b="1">
                <a:latin typeface="Arial" panose="020B0604020202020204" pitchFamily="34" charset="0"/>
              </a:rPr>
              <a:t>p</a:t>
            </a:r>
            <a:r>
              <a:rPr lang="zh-CN" altLang="en-US" sz="3200" b="1">
                <a:latin typeface="宋体" panose="02010600030101010101" pitchFamily="2" charset="-122"/>
              </a:rPr>
              <a:t>中。</a:t>
            </a:r>
            <a:endParaRPr lang="zh-CN" altLang="en-US" sz="3200" b="1">
              <a:latin typeface="宋体" panose="02010600030101010101" pitchFamily="2" charset="-122"/>
            </a:endParaRPr>
          </a:p>
          <a:p>
            <a:pPr>
              <a:lnSpc>
                <a:spcPct val="110000"/>
              </a:lnSpc>
              <a:spcBef>
                <a:spcPct val="20000"/>
              </a:spcBef>
              <a:defRPr/>
            </a:pPr>
            <a:r>
              <a:rPr lang="zh-CN" altLang="en-US" sz="3200" b="1">
                <a:solidFill>
                  <a:srgbClr val="3333CC"/>
                </a:solidFill>
                <a:latin typeface="宋体" panose="02010600030101010101" pitchFamily="2" charset="-122"/>
              </a:rPr>
              <a:t>动态释放</a:t>
            </a:r>
            <a:r>
              <a:rPr lang="zh-CN" altLang="en-US" sz="3200" b="1">
                <a:latin typeface="宋体" panose="02010600030101010101" pitchFamily="2" charset="-122"/>
              </a:rPr>
              <a:t>  </a:t>
            </a:r>
            <a:r>
              <a:rPr lang="en-US" altLang="zh-CN" sz="2800" b="1"/>
              <a:t>free(p) ;</a:t>
            </a:r>
            <a:endParaRPr lang="en-US" altLang="zh-CN" sz="2800" b="1"/>
          </a:p>
          <a:p>
            <a:pPr>
              <a:lnSpc>
                <a:spcPct val="110000"/>
              </a:lnSpc>
              <a:spcBef>
                <a:spcPct val="20000"/>
              </a:spcBef>
              <a:defRPr/>
            </a:pPr>
            <a:r>
              <a:rPr lang="zh-CN" altLang="en-US" sz="3200" b="1">
                <a:latin typeface="宋体" panose="02010600030101010101" pitchFamily="2" charset="-122"/>
              </a:rPr>
              <a:t>系统回收由指针变量</a:t>
            </a:r>
            <a:r>
              <a:rPr lang="en-US" altLang="zh-CN" sz="3200" b="1">
                <a:latin typeface="Arial" panose="020B0604020202020204" pitchFamily="34" charset="0"/>
              </a:rPr>
              <a:t>p</a:t>
            </a:r>
            <a:r>
              <a:rPr lang="zh-CN" altLang="en-US" sz="3200" b="1">
                <a:latin typeface="宋体" panose="02010600030101010101" pitchFamily="2" charset="-122"/>
              </a:rPr>
              <a:t>所指向的内存区。</a:t>
            </a:r>
            <a:r>
              <a:rPr lang="en-US" altLang="zh-CN" sz="3200" b="1">
                <a:latin typeface="Arial" panose="020B0604020202020204" pitchFamily="34" charset="0"/>
              </a:rPr>
              <a:t>P</a:t>
            </a:r>
            <a:r>
              <a:rPr lang="zh-CN" altLang="en-US" sz="3200" b="1">
                <a:latin typeface="宋体" panose="02010600030101010101" pitchFamily="2" charset="-122"/>
              </a:rPr>
              <a:t>必须是最近一次调用</a:t>
            </a:r>
            <a:r>
              <a:rPr lang="en-US" altLang="zh-CN" sz="3200" b="1">
                <a:latin typeface="Arial" panose="020B0604020202020204" pitchFamily="34" charset="0"/>
              </a:rPr>
              <a:t>malloc</a:t>
            </a:r>
            <a:r>
              <a:rPr lang="zh-CN" altLang="en-US" sz="3200" b="1">
                <a:latin typeface="宋体" panose="02010600030101010101" pitchFamily="2" charset="-122"/>
              </a:rPr>
              <a:t>函数时的返回值。</a:t>
            </a:r>
            <a:endParaRPr lang="zh-CN" altLang="en-US" sz="3200" b="1">
              <a:latin typeface="宋体" panose="02010600030101010101" pitchFamily="2" charset="-122"/>
            </a:endParaRPr>
          </a:p>
        </p:txBody>
      </p:sp>
      <p:sp>
        <p:nvSpPr>
          <p:cNvPr id="1049604" name="Rectangle 4"/>
          <p:cNvSpPr>
            <a:spLocks noChangeArrowheads="1"/>
          </p:cNvSpPr>
          <p:nvPr/>
        </p:nvSpPr>
        <p:spPr bwMode="auto">
          <a:xfrm>
            <a:off x="1524000" y="119063"/>
            <a:ext cx="475615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3300"/>
                </a:solidFill>
                <a:latin typeface="隶书" panose="02010509060101010101" charset="-122"/>
                <a:ea typeface="隶书" panose="02010509060101010101" charset="-122"/>
              </a:rPr>
              <a:t>结点和单链表的实现</a:t>
            </a:r>
            <a:endParaRPr lang="zh-CN" altLang="en-US" sz="4000" b="1">
              <a:solidFill>
                <a:srgbClr val="663300"/>
              </a:solidFill>
              <a:latin typeface="隶书" panose="02010509060101010101" charset="-122"/>
              <a:ea typeface="隶书" panose="02010509060101010101" charset="-122"/>
            </a:endParaRPr>
          </a:p>
          <a:p>
            <a:pPr eaLnBrk="1" hangingPunct="1">
              <a:defRPr/>
            </a:pPr>
            <a:endParaRPr lang="zh-CN" altLang="en-US" sz="4000" b="1">
              <a:solidFill>
                <a:srgbClr val="663300"/>
              </a:solidFill>
              <a:latin typeface="隶书" panose="02010509060101010101" charset="-122"/>
              <a:ea typeface="隶书" panose="02010509060101010101"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650" name="Rectangle 2"/>
          <p:cNvSpPr>
            <a:spLocks noGrp="1" noChangeArrowheads="1"/>
          </p:cNvSpPr>
          <p:nvPr>
            <p:ph/>
          </p:nvPr>
        </p:nvSpPr>
        <p:spPr>
          <a:xfrm>
            <a:off x="1447800" y="228600"/>
            <a:ext cx="7086600" cy="914400"/>
          </a:xfrm>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marL="0" indent="0">
              <a:lnSpc>
                <a:spcPct val="110000"/>
              </a:lnSpc>
              <a:buFontTx/>
              <a:buNone/>
              <a:defRPr/>
            </a:pPr>
            <a:r>
              <a:rPr lang="zh-CN" altLang="en-US" b="1">
                <a:ea typeface="楷体_GB2312" charset="0"/>
              </a:rPr>
              <a:t>最常用的基本操作及其示意图</a:t>
            </a:r>
            <a:endParaRPr lang="zh-CN" altLang="en-US" b="1">
              <a:ea typeface="楷体_GB2312" charset="0"/>
            </a:endParaRPr>
          </a:p>
        </p:txBody>
      </p:sp>
      <p:sp>
        <p:nvSpPr>
          <p:cNvPr id="1051651" name="Rectangle 3"/>
          <p:cNvSpPr>
            <a:spLocks noChangeArrowheads="1"/>
          </p:cNvSpPr>
          <p:nvPr/>
        </p:nvSpPr>
        <p:spPr bwMode="auto">
          <a:xfrm>
            <a:off x="685800" y="1066800"/>
            <a:ext cx="5999163" cy="2519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eaLnBrk="0" hangingPunct="0">
              <a:defRPr kumimoji="1" sz="2000">
                <a:solidFill>
                  <a:schemeClr val="tx1"/>
                </a:solidFill>
                <a:latin typeface="Times New Roman" panose="02020603050405020304" charset="0"/>
                <a:ea typeface="宋体" panose="02010600030101010101" pitchFamily="2" charset="-122"/>
              </a:defRPr>
            </a:lvl1pPr>
            <a:lvl2pPr marL="355600" eaLnBrk="0" hangingPunct="0">
              <a:defRPr kumimoji="1" sz="2000">
                <a:solidFill>
                  <a:schemeClr val="tx1"/>
                </a:solidFill>
                <a:latin typeface="Times New Roman" panose="02020603050405020304" charset="0"/>
                <a:ea typeface="宋体" panose="02010600030101010101" pitchFamily="2" charset="-122"/>
              </a:defRPr>
            </a:lvl2pPr>
            <a:lvl3pPr marL="1676400" indent="-457200" eaLnBrk="0" hangingPunct="0">
              <a:defRPr kumimoji="1" sz="2000">
                <a:solidFill>
                  <a:schemeClr val="tx1"/>
                </a:solidFill>
                <a:latin typeface="Times New Roman" panose="02020603050405020304" charset="0"/>
                <a:ea typeface="宋体" panose="02010600030101010101" pitchFamily="2" charset="-122"/>
              </a:defRPr>
            </a:lvl3pPr>
            <a:lvl4pPr marL="2324100" indent="-457200" eaLnBrk="0" hangingPunct="0">
              <a:defRPr kumimoji="1" sz="2000">
                <a:solidFill>
                  <a:schemeClr val="tx1"/>
                </a:solidFill>
                <a:latin typeface="Times New Roman" panose="02020603050405020304" charset="0"/>
                <a:ea typeface="宋体" panose="02010600030101010101" pitchFamily="2" charset="-122"/>
              </a:defRPr>
            </a:lvl4pPr>
            <a:lvl5pPr marL="2971800" indent="-457200" eaLnBrk="0" hangingPunct="0">
              <a:defRPr kumimoji="1" sz="2000">
                <a:solidFill>
                  <a:schemeClr val="tx1"/>
                </a:solidFill>
                <a:latin typeface="Times New Roman" panose="02020603050405020304" charset="0"/>
                <a:ea typeface="宋体" panose="02010600030101010101" pitchFamily="2" charset="-122"/>
              </a:defRPr>
            </a:lvl5pPr>
            <a:lvl6pPr marL="342900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388620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434340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480060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spcBef>
                <a:spcPct val="50000"/>
              </a:spcBef>
              <a:defRPr/>
            </a:pPr>
            <a:r>
              <a:rPr lang="zh-CN" altLang="en-US" sz="3200" b="1">
                <a:latin typeface="宋体" panose="02010600030101010101" pitchFamily="2" charset="-122"/>
              </a:rPr>
              <a:t>⑴</a:t>
            </a:r>
            <a:r>
              <a:rPr lang="zh-CN" altLang="en-US" sz="3200" b="1">
                <a:solidFill>
                  <a:schemeClr val="hlink"/>
                </a:solidFill>
                <a:latin typeface="宋体" panose="02010600030101010101" pitchFamily="2" charset="-122"/>
              </a:rPr>
              <a:t> </a:t>
            </a:r>
            <a:r>
              <a:rPr lang="zh-CN" altLang="en-US" sz="3200" b="1">
                <a:latin typeface="宋体" panose="02010600030101010101" pitchFamily="2" charset="-122"/>
              </a:rPr>
              <a:t>结点的赋值</a:t>
            </a:r>
            <a:r>
              <a:rPr lang="zh-CN" altLang="en-US" sz="2800">
                <a:latin typeface="宋体" panose="02010600030101010101" pitchFamily="2" charset="-122"/>
              </a:rPr>
              <a:t> </a:t>
            </a:r>
            <a:endParaRPr lang="zh-CN" altLang="en-US" sz="2800">
              <a:latin typeface="宋体" panose="02010600030101010101" pitchFamily="2" charset="-122"/>
            </a:endParaRPr>
          </a:p>
          <a:p>
            <a:pPr lvl="1" eaLnBrk="1" hangingPunct="1">
              <a:spcBef>
                <a:spcPct val="50000"/>
              </a:spcBef>
              <a:defRPr/>
            </a:pPr>
            <a:r>
              <a:rPr lang="en-US" altLang="zh-CN" sz="2800" b="1"/>
              <a:t>LNode  *p;</a:t>
            </a:r>
            <a:endParaRPr lang="en-US" altLang="zh-CN" sz="2800" b="1"/>
          </a:p>
          <a:p>
            <a:pPr lvl="1" eaLnBrk="1" hangingPunct="1">
              <a:spcBef>
                <a:spcPct val="50000"/>
              </a:spcBef>
              <a:defRPr/>
            </a:pPr>
            <a:r>
              <a:rPr lang="en-US" altLang="zh-CN" sz="2800" b="1"/>
              <a:t>p=(LNode*)malloc(sizeof(LNode)); </a:t>
            </a:r>
            <a:endParaRPr lang="en-US" altLang="zh-CN" sz="2800" b="1"/>
          </a:p>
          <a:p>
            <a:pPr lvl="1" eaLnBrk="1" hangingPunct="1">
              <a:spcBef>
                <a:spcPct val="50000"/>
              </a:spcBef>
              <a:defRPr/>
            </a:pPr>
            <a:r>
              <a:rPr lang="en-US" altLang="zh-CN" sz="2800" b="1"/>
              <a:t>p-&gt;data=20;  p-&gt;next=NULL ;</a:t>
            </a:r>
            <a:endParaRPr lang="en-US" altLang="zh-CN" sz="2800" b="1">
              <a:solidFill>
                <a:schemeClr val="hlink"/>
              </a:solidFill>
              <a:latin typeface="宋体" panose="02010600030101010101" pitchFamily="2" charset="-122"/>
            </a:endParaRPr>
          </a:p>
        </p:txBody>
      </p:sp>
      <p:grpSp>
        <p:nvGrpSpPr>
          <p:cNvPr id="86019" name="Group 4"/>
          <p:cNvGrpSpPr/>
          <p:nvPr/>
        </p:nvGrpSpPr>
        <p:grpSpPr bwMode="auto">
          <a:xfrm>
            <a:off x="6872288" y="1284288"/>
            <a:ext cx="1685925" cy="933450"/>
            <a:chOff x="3834" y="2751"/>
            <a:chExt cx="1062" cy="588"/>
          </a:xfrm>
        </p:grpSpPr>
        <p:sp>
          <p:nvSpPr>
            <p:cNvPr id="1051653" name="Rectangle 5"/>
            <p:cNvSpPr>
              <a:spLocks noChangeArrowheads="1"/>
            </p:cNvSpPr>
            <p:nvPr/>
          </p:nvSpPr>
          <p:spPr bwMode="auto">
            <a:xfrm>
              <a:off x="3906" y="2751"/>
              <a:ext cx="27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a:t>
              </a:r>
              <a:endParaRPr lang="en-US" altLang="zh-CN" sz="2400"/>
            </a:p>
          </p:txBody>
        </p:sp>
        <p:sp>
          <p:nvSpPr>
            <p:cNvPr id="1051654" name="Rectangle 6"/>
            <p:cNvSpPr>
              <a:spLocks noChangeArrowheads="1"/>
            </p:cNvSpPr>
            <p:nvPr/>
          </p:nvSpPr>
          <p:spPr bwMode="auto">
            <a:xfrm>
              <a:off x="3834" y="3064"/>
              <a:ext cx="408" cy="272"/>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20</a:t>
              </a:r>
              <a:endParaRPr lang="en-US" altLang="zh-CN" sz="2400"/>
            </a:p>
          </p:txBody>
        </p:sp>
        <p:sp>
          <p:nvSpPr>
            <p:cNvPr id="1051655" name="Rectangle 7"/>
            <p:cNvSpPr>
              <a:spLocks noChangeArrowheads="1"/>
            </p:cNvSpPr>
            <p:nvPr/>
          </p:nvSpPr>
          <p:spPr bwMode="auto">
            <a:xfrm>
              <a:off x="4239" y="3067"/>
              <a:ext cx="657" cy="272"/>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NULL</a:t>
              </a:r>
              <a:endParaRPr lang="en-US" altLang="zh-CN" sz="2400"/>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8" name="Rectangle 2"/>
          <p:cNvSpPr>
            <a:spLocks noChangeArrowheads="1"/>
          </p:cNvSpPr>
          <p:nvPr/>
        </p:nvSpPr>
        <p:spPr bwMode="auto">
          <a:xfrm>
            <a:off x="1371600" y="228600"/>
            <a:ext cx="4191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eaLnBrk="0" hangingPunct="0">
              <a:defRPr kumimoji="1" sz="2000">
                <a:solidFill>
                  <a:schemeClr val="tx1"/>
                </a:solidFill>
                <a:latin typeface="Times New Roman" panose="02020603050405020304" charset="0"/>
                <a:ea typeface="宋体" panose="02010600030101010101" pitchFamily="2" charset="-122"/>
              </a:defRPr>
            </a:lvl1pPr>
            <a:lvl2pPr marL="1170305" indent="-457200" eaLnBrk="0" hangingPunct="0">
              <a:defRPr kumimoji="1" sz="2000">
                <a:solidFill>
                  <a:schemeClr val="tx1"/>
                </a:solidFill>
                <a:latin typeface="Times New Roman" panose="02020603050405020304" charset="0"/>
                <a:ea typeface="宋体" panose="02010600030101010101" pitchFamily="2" charset="-122"/>
              </a:defRPr>
            </a:lvl2pPr>
            <a:lvl3pPr marL="1806575" indent="-457200" eaLnBrk="0" hangingPunct="0">
              <a:defRPr kumimoji="1" sz="2000">
                <a:solidFill>
                  <a:schemeClr val="tx1"/>
                </a:solidFill>
                <a:latin typeface="Times New Roman" panose="02020603050405020304" charset="0"/>
                <a:ea typeface="宋体" panose="02010600030101010101" pitchFamily="2" charset="-122"/>
              </a:defRPr>
            </a:lvl3pPr>
            <a:lvl4pPr marL="2443480" indent="-457200" eaLnBrk="0" hangingPunct="0">
              <a:defRPr kumimoji="1" sz="2000">
                <a:solidFill>
                  <a:schemeClr val="tx1"/>
                </a:solidFill>
                <a:latin typeface="Times New Roman" panose="02020603050405020304" charset="0"/>
                <a:ea typeface="宋体" panose="02010600030101010101" pitchFamily="2" charset="-122"/>
              </a:defRPr>
            </a:lvl4pPr>
            <a:lvl5pPr marL="3079750" indent="-457200" eaLnBrk="0" hangingPunct="0">
              <a:defRPr kumimoji="1" sz="2000">
                <a:solidFill>
                  <a:schemeClr val="tx1"/>
                </a:solidFill>
                <a:latin typeface="Times New Roman" panose="02020603050405020304" charset="0"/>
                <a:ea typeface="宋体" panose="02010600030101010101" pitchFamily="2" charset="-122"/>
              </a:defRPr>
            </a:lvl5pPr>
            <a:lvl6pPr marL="353695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399415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445135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490855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spcBef>
                <a:spcPct val="50000"/>
              </a:spcBef>
              <a:defRPr/>
            </a:pPr>
            <a:r>
              <a:rPr lang="zh-CN" altLang="en-US" sz="3200">
                <a:latin typeface="宋体" panose="02010600030101010101" pitchFamily="2" charset="-122"/>
              </a:rPr>
              <a:t>⑵</a:t>
            </a:r>
            <a:r>
              <a:rPr lang="zh-CN" altLang="en-US" sz="3200" b="1">
                <a:latin typeface="宋体" panose="02010600030101010101" pitchFamily="2" charset="-122"/>
              </a:rPr>
              <a:t>  常见的指针操作</a:t>
            </a:r>
            <a:endParaRPr lang="zh-CN" altLang="en-US" sz="3200">
              <a:latin typeface="宋体" panose="02010600030101010101" pitchFamily="2" charset="-122"/>
            </a:endParaRPr>
          </a:p>
        </p:txBody>
      </p:sp>
      <p:grpSp>
        <p:nvGrpSpPr>
          <p:cNvPr id="88066" name="Group 3"/>
          <p:cNvGrpSpPr/>
          <p:nvPr/>
        </p:nvGrpSpPr>
        <p:grpSpPr bwMode="auto">
          <a:xfrm>
            <a:off x="228600" y="609600"/>
            <a:ext cx="8458200" cy="6172200"/>
            <a:chOff x="144" y="384"/>
            <a:chExt cx="5328" cy="3888"/>
          </a:xfrm>
        </p:grpSpPr>
        <p:grpSp>
          <p:nvGrpSpPr>
            <p:cNvPr id="88067" name="Group 4"/>
            <p:cNvGrpSpPr/>
            <p:nvPr/>
          </p:nvGrpSpPr>
          <p:grpSpPr bwMode="auto">
            <a:xfrm>
              <a:off x="192" y="384"/>
              <a:ext cx="5040" cy="907"/>
              <a:chOff x="192" y="1184"/>
              <a:chExt cx="5040" cy="912"/>
            </a:xfrm>
          </p:grpSpPr>
          <p:sp>
            <p:nvSpPr>
              <p:cNvPr id="1053701" name="Rectangle 5"/>
              <p:cNvSpPr>
                <a:spLocks noChangeArrowheads="1"/>
              </p:cNvSpPr>
              <p:nvPr/>
            </p:nvSpPr>
            <p:spPr bwMode="auto">
              <a:xfrm>
                <a:off x="192" y="1488"/>
                <a:ext cx="1134"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800">
                    <a:latin typeface="宋体" panose="02010600030101010101" pitchFamily="2" charset="-122"/>
                    <a:ea typeface="Arial Unicode MS" panose="020B0604020202020204" charset="-122"/>
                  </a:rPr>
                  <a:t>①</a:t>
                </a:r>
                <a:r>
                  <a:rPr lang="zh-CN" altLang="en-US" sz="2800"/>
                  <a:t>   </a:t>
                </a:r>
                <a:r>
                  <a:rPr lang="en-US" altLang="zh-CN" sz="2800"/>
                  <a:t>q=p </a:t>
                </a:r>
                <a:r>
                  <a:rPr lang="en-US" altLang="zh-CN" sz="3200"/>
                  <a:t>;</a:t>
                </a:r>
                <a:endParaRPr lang="en-US" altLang="zh-CN" sz="3200"/>
              </a:p>
            </p:txBody>
          </p:sp>
          <p:grpSp>
            <p:nvGrpSpPr>
              <p:cNvPr id="88206" name="Group 6"/>
              <p:cNvGrpSpPr/>
              <p:nvPr/>
            </p:nvGrpSpPr>
            <p:grpSpPr bwMode="auto">
              <a:xfrm>
                <a:off x="1962" y="1184"/>
                <a:ext cx="1158" cy="896"/>
                <a:chOff x="1155" y="1184"/>
                <a:chExt cx="1158" cy="896"/>
              </a:xfrm>
            </p:grpSpPr>
            <p:grpSp>
              <p:nvGrpSpPr>
                <p:cNvPr id="88227" name="Group 7"/>
                <p:cNvGrpSpPr/>
                <p:nvPr/>
              </p:nvGrpSpPr>
              <p:grpSpPr bwMode="auto">
                <a:xfrm>
                  <a:off x="1155" y="1184"/>
                  <a:ext cx="1158" cy="612"/>
                  <a:chOff x="1155" y="1184"/>
                  <a:chExt cx="1158" cy="612"/>
                </a:xfrm>
              </p:grpSpPr>
              <p:grpSp>
                <p:nvGrpSpPr>
                  <p:cNvPr id="88229" name="Group 8"/>
                  <p:cNvGrpSpPr/>
                  <p:nvPr/>
                </p:nvGrpSpPr>
                <p:grpSpPr bwMode="auto">
                  <a:xfrm>
                    <a:off x="1664" y="1184"/>
                    <a:ext cx="204" cy="399"/>
                    <a:chOff x="432" y="2688"/>
                    <a:chExt cx="204" cy="399"/>
                  </a:xfrm>
                </p:grpSpPr>
                <p:sp>
                  <p:nvSpPr>
                    <p:cNvPr id="1053705" name="Rectangle 9"/>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3706" name="Line 10"/>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230" name="Group 11"/>
                  <p:cNvGrpSpPr/>
                  <p:nvPr/>
                </p:nvGrpSpPr>
                <p:grpSpPr bwMode="auto">
                  <a:xfrm>
                    <a:off x="1632" y="1584"/>
                    <a:ext cx="453" cy="212"/>
                    <a:chOff x="2160" y="2928"/>
                    <a:chExt cx="453" cy="212"/>
                  </a:xfrm>
                </p:grpSpPr>
                <p:sp>
                  <p:nvSpPr>
                    <p:cNvPr id="1053708" name="Rectangle 12"/>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709" name="Line 13"/>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10" name="Line 14"/>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231" name="Group 15"/>
                  <p:cNvGrpSpPr/>
                  <p:nvPr/>
                </p:nvGrpSpPr>
                <p:grpSpPr bwMode="auto">
                  <a:xfrm>
                    <a:off x="1155" y="1584"/>
                    <a:ext cx="477" cy="204"/>
                    <a:chOff x="928" y="1584"/>
                    <a:chExt cx="477" cy="204"/>
                  </a:xfrm>
                </p:grpSpPr>
                <p:sp>
                  <p:nvSpPr>
                    <p:cNvPr id="1053712" name="Line 16"/>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13" name="Rectangle 17"/>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14" name="Rectangle 18"/>
                  <p:cNvSpPr>
                    <a:spLocks noChangeArrowheads="1"/>
                  </p:cNvSpPr>
                  <p:nvPr/>
                </p:nvSpPr>
                <p:spPr bwMode="auto">
                  <a:xfrm>
                    <a:off x="2064" y="158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15" name="Rectangle 19"/>
                <p:cNvSpPr>
                  <a:spLocks noChangeArrowheads="1"/>
                </p:cNvSpPr>
                <p:nvPr/>
              </p:nvSpPr>
              <p:spPr bwMode="auto">
                <a:xfrm>
                  <a:off x="1440" y="1840"/>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grpSp>
          <p:grpSp>
            <p:nvGrpSpPr>
              <p:cNvPr id="88207" name="Group 20"/>
              <p:cNvGrpSpPr/>
              <p:nvPr/>
            </p:nvGrpSpPr>
            <p:grpSpPr bwMode="auto">
              <a:xfrm>
                <a:off x="4074" y="1192"/>
                <a:ext cx="1158" cy="904"/>
                <a:chOff x="4170" y="1280"/>
                <a:chExt cx="1158" cy="904"/>
              </a:xfrm>
            </p:grpSpPr>
            <p:grpSp>
              <p:nvGrpSpPr>
                <p:cNvPr id="88208" name="Group 21"/>
                <p:cNvGrpSpPr/>
                <p:nvPr/>
              </p:nvGrpSpPr>
              <p:grpSpPr bwMode="auto">
                <a:xfrm>
                  <a:off x="4170" y="1280"/>
                  <a:ext cx="1158" cy="612"/>
                  <a:chOff x="2586" y="1280"/>
                  <a:chExt cx="1158" cy="612"/>
                </a:xfrm>
              </p:grpSpPr>
              <p:grpSp>
                <p:nvGrpSpPr>
                  <p:cNvPr id="88210" name="Group 22"/>
                  <p:cNvGrpSpPr/>
                  <p:nvPr/>
                </p:nvGrpSpPr>
                <p:grpSpPr bwMode="auto">
                  <a:xfrm>
                    <a:off x="2586" y="1280"/>
                    <a:ext cx="1158" cy="612"/>
                    <a:chOff x="1155" y="1184"/>
                    <a:chExt cx="1158" cy="612"/>
                  </a:xfrm>
                </p:grpSpPr>
                <p:grpSp>
                  <p:nvGrpSpPr>
                    <p:cNvPr id="88216" name="Group 23"/>
                    <p:cNvGrpSpPr/>
                    <p:nvPr/>
                  </p:nvGrpSpPr>
                  <p:grpSpPr bwMode="auto">
                    <a:xfrm>
                      <a:off x="1664" y="1184"/>
                      <a:ext cx="204" cy="399"/>
                      <a:chOff x="432" y="2688"/>
                      <a:chExt cx="204" cy="399"/>
                    </a:xfrm>
                  </p:grpSpPr>
                  <p:sp>
                    <p:nvSpPr>
                      <p:cNvPr id="1053720" name="Rectangle 24"/>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3721" name="Line 25"/>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217" name="Group 26"/>
                    <p:cNvGrpSpPr/>
                    <p:nvPr/>
                  </p:nvGrpSpPr>
                  <p:grpSpPr bwMode="auto">
                    <a:xfrm>
                      <a:off x="1632" y="1584"/>
                      <a:ext cx="453" cy="212"/>
                      <a:chOff x="2160" y="2928"/>
                      <a:chExt cx="453" cy="212"/>
                    </a:xfrm>
                  </p:grpSpPr>
                  <p:sp>
                    <p:nvSpPr>
                      <p:cNvPr id="1053723" name="Rectangle 27"/>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724" name="Line 28"/>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25" name="Line 29"/>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218" name="Group 30"/>
                    <p:cNvGrpSpPr/>
                    <p:nvPr/>
                  </p:nvGrpSpPr>
                  <p:grpSpPr bwMode="auto">
                    <a:xfrm>
                      <a:off x="1155" y="1584"/>
                      <a:ext cx="477" cy="204"/>
                      <a:chOff x="928" y="1584"/>
                      <a:chExt cx="477" cy="204"/>
                    </a:xfrm>
                  </p:grpSpPr>
                  <p:sp>
                    <p:nvSpPr>
                      <p:cNvPr id="1053727" name="Line 31"/>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28" name="Rectangle 32"/>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29" name="Rectangle 33"/>
                    <p:cNvSpPr>
                      <a:spLocks noChangeArrowheads="1"/>
                    </p:cNvSpPr>
                    <p:nvPr/>
                  </p:nvSpPr>
                  <p:spPr bwMode="auto">
                    <a:xfrm>
                      <a:off x="2064" y="158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88211" name="Group 34"/>
                  <p:cNvGrpSpPr/>
                  <p:nvPr/>
                </p:nvGrpSpPr>
                <p:grpSpPr bwMode="auto">
                  <a:xfrm>
                    <a:off x="2776" y="1304"/>
                    <a:ext cx="279" cy="398"/>
                    <a:chOff x="528" y="3249"/>
                    <a:chExt cx="279" cy="398"/>
                  </a:xfrm>
                </p:grpSpPr>
                <p:sp>
                  <p:nvSpPr>
                    <p:cNvPr id="1053731" name="Rectangle 35"/>
                    <p:cNvSpPr>
                      <a:spLocks noChangeArrowheads="1"/>
                    </p:cNvSpPr>
                    <p:nvPr/>
                  </p:nvSpPr>
                  <p:spPr bwMode="auto">
                    <a:xfrm>
                      <a:off x="528" y="3249"/>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grpSp>
                  <p:nvGrpSpPr>
                    <p:cNvPr id="88213" name="Group 36"/>
                    <p:cNvGrpSpPr/>
                    <p:nvPr/>
                  </p:nvGrpSpPr>
                  <p:grpSpPr bwMode="auto">
                    <a:xfrm>
                      <a:off x="648" y="3488"/>
                      <a:ext cx="159" cy="159"/>
                      <a:chOff x="768" y="3544"/>
                      <a:chExt cx="159" cy="159"/>
                    </a:xfrm>
                  </p:grpSpPr>
                  <p:sp>
                    <p:nvSpPr>
                      <p:cNvPr id="1053733" name="Line 37"/>
                      <p:cNvSpPr>
                        <a:spLocks noChangeShapeType="1"/>
                      </p:cNvSpPr>
                      <p:nvPr/>
                    </p:nvSpPr>
                    <p:spPr bwMode="auto">
                      <a:xfrm>
                        <a:off x="768" y="3696"/>
                        <a:ext cx="159"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34" name="Line 38"/>
                      <p:cNvSpPr>
                        <a:spLocks noChangeShapeType="1"/>
                      </p:cNvSpPr>
                      <p:nvPr/>
                    </p:nvSpPr>
                    <p:spPr bwMode="auto">
                      <a:xfrm>
                        <a:off x="768" y="3544"/>
                        <a:ext cx="0" cy="159"/>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sp>
              <p:nvSpPr>
                <p:cNvPr id="1053735" name="Rectangle 39"/>
                <p:cNvSpPr>
                  <a:spLocks noChangeArrowheads="1"/>
                </p:cNvSpPr>
                <p:nvPr/>
              </p:nvSpPr>
              <p:spPr bwMode="auto">
                <a:xfrm>
                  <a:off x="4448" y="1944"/>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grpSp>
        <p:grpSp>
          <p:nvGrpSpPr>
            <p:cNvPr id="88068" name="Group 40"/>
            <p:cNvGrpSpPr/>
            <p:nvPr/>
          </p:nvGrpSpPr>
          <p:grpSpPr bwMode="auto">
            <a:xfrm>
              <a:off x="144" y="1296"/>
              <a:ext cx="5280" cy="907"/>
              <a:chOff x="144" y="1344"/>
              <a:chExt cx="5280" cy="912"/>
            </a:xfrm>
          </p:grpSpPr>
          <p:sp>
            <p:nvSpPr>
              <p:cNvPr id="1053737" name="Rectangle 41"/>
              <p:cNvSpPr>
                <a:spLocks noChangeArrowheads="1"/>
              </p:cNvSpPr>
              <p:nvPr/>
            </p:nvSpPr>
            <p:spPr bwMode="auto">
              <a:xfrm>
                <a:off x="144" y="1648"/>
                <a:ext cx="1406"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800">
                    <a:latin typeface="宋体" panose="02010600030101010101" pitchFamily="2" charset="-122"/>
                    <a:ea typeface="Arial Unicode MS" panose="020B0604020202020204" charset="-122"/>
                  </a:rPr>
                  <a:t>② </a:t>
                </a:r>
                <a:r>
                  <a:rPr lang="zh-CN" altLang="en-US" sz="2800"/>
                  <a:t> </a:t>
                </a:r>
                <a:r>
                  <a:rPr lang="en-US" altLang="zh-CN" sz="2800"/>
                  <a:t>q=p-&gt;next </a:t>
                </a:r>
                <a:r>
                  <a:rPr lang="en-US" altLang="zh-CN" sz="3200"/>
                  <a:t>;</a:t>
                </a:r>
                <a:endParaRPr lang="en-US" altLang="zh-CN" sz="3200"/>
              </a:p>
            </p:txBody>
          </p:sp>
          <p:grpSp>
            <p:nvGrpSpPr>
              <p:cNvPr id="88167" name="Group 42"/>
              <p:cNvGrpSpPr/>
              <p:nvPr/>
            </p:nvGrpSpPr>
            <p:grpSpPr bwMode="auto">
              <a:xfrm>
                <a:off x="1914" y="1344"/>
                <a:ext cx="1638" cy="612"/>
                <a:chOff x="1914" y="1344"/>
                <a:chExt cx="1638" cy="612"/>
              </a:xfrm>
            </p:grpSpPr>
            <p:grpSp>
              <p:nvGrpSpPr>
                <p:cNvPr id="88190" name="Group 43"/>
                <p:cNvGrpSpPr/>
                <p:nvPr/>
              </p:nvGrpSpPr>
              <p:grpSpPr bwMode="auto">
                <a:xfrm>
                  <a:off x="2851" y="1744"/>
                  <a:ext cx="453" cy="212"/>
                  <a:chOff x="2160" y="2928"/>
                  <a:chExt cx="453" cy="212"/>
                </a:xfrm>
              </p:grpSpPr>
              <p:sp>
                <p:nvSpPr>
                  <p:cNvPr id="1053740" name="Rectangle 44"/>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3741" name="Line 45"/>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42" name="Line 46"/>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91" name="Group 47"/>
                <p:cNvGrpSpPr/>
                <p:nvPr/>
              </p:nvGrpSpPr>
              <p:grpSpPr bwMode="auto">
                <a:xfrm>
                  <a:off x="2423" y="1344"/>
                  <a:ext cx="204" cy="399"/>
                  <a:chOff x="432" y="2688"/>
                  <a:chExt cx="204" cy="399"/>
                </a:xfrm>
              </p:grpSpPr>
              <p:sp>
                <p:nvSpPr>
                  <p:cNvPr id="1053744" name="Rectangle 48"/>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3745" name="Line 49"/>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92" name="Group 50"/>
                <p:cNvGrpSpPr/>
                <p:nvPr/>
              </p:nvGrpSpPr>
              <p:grpSpPr bwMode="auto">
                <a:xfrm>
                  <a:off x="2391" y="1744"/>
                  <a:ext cx="453" cy="212"/>
                  <a:chOff x="2160" y="2928"/>
                  <a:chExt cx="453" cy="212"/>
                </a:xfrm>
              </p:grpSpPr>
              <p:sp>
                <p:nvSpPr>
                  <p:cNvPr id="1053747" name="Rectangle 51"/>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748" name="Line 52"/>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49" name="Line 53"/>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93" name="Group 54"/>
                <p:cNvGrpSpPr/>
                <p:nvPr/>
              </p:nvGrpSpPr>
              <p:grpSpPr bwMode="auto">
                <a:xfrm>
                  <a:off x="1914" y="1744"/>
                  <a:ext cx="477" cy="204"/>
                  <a:chOff x="928" y="1584"/>
                  <a:chExt cx="477" cy="204"/>
                </a:xfrm>
              </p:grpSpPr>
              <p:sp>
                <p:nvSpPr>
                  <p:cNvPr id="1053751" name="Line 55"/>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52" name="Rectangle 56"/>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53" name="Rectangle 57"/>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54" name="Rectangle 58"/>
              <p:cNvSpPr>
                <a:spLocks noChangeArrowheads="1"/>
              </p:cNvSpPr>
              <p:nvPr/>
            </p:nvSpPr>
            <p:spPr bwMode="auto">
              <a:xfrm>
                <a:off x="2448" y="2000"/>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sp>
            <p:nvSpPr>
              <p:cNvPr id="1053755" name="Rectangle 59"/>
              <p:cNvSpPr>
                <a:spLocks noChangeArrowheads="1"/>
              </p:cNvSpPr>
              <p:nvPr/>
            </p:nvSpPr>
            <p:spPr bwMode="auto">
              <a:xfrm>
                <a:off x="4304" y="2016"/>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nvGrpSpPr>
              <p:cNvPr id="88170" name="Group 60"/>
              <p:cNvGrpSpPr/>
              <p:nvPr/>
            </p:nvGrpSpPr>
            <p:grpSpPr bwMode="auto">
              <a:xfrm>
                <a:off x="3786" y="1344"/>
                <a:ext cx="1638" cy="616"/>
                <a:chOff x="2010" y="2504"/>
                <a:chExt cx="1638" cy="616"/>
              </a:xfrm>
            </p:grpSpPr>
            <p:grpSp>
              <p:nvGrpSpPr>
                <p:cNvPr id="88171" name="Group 61"/>
                <p:cNvGrpSpPr/>
                <p:nvPr/>
              </p:nvGrpSpPr>
              <p:grpSpPr bwMode="auto">
                <a:xfrm>
                  <a:off x="2964" y="2504"/>
                  <a:ext cx="204" cy="399"/>
                  <a:chOff x="432" y="2688"/>
                  <a:chExt cx="204" cy="399"/>
                </a:xfrm>
              </p:grpSpPr>
              <p:sp>
                <p:nvSpPr>
                  <p:cNvPr id="1053758" name="Rectangle 62"/>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3759" name="Line 63"/>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72" name="Group 64"/>
                <p:cNvGrpSpPr/>
                <p:nvPr/>
              </p:nvGrpSpPr>
              <p:grpSpPr bwMode="auto">
                <a:xfrm>
                  <a:off x="2010" y="2508"/>
                  <a:ext cx="1638" cy="612"/>
                  <a:chOff x="1914" y="1344"/>
                  <a:chExt cx="1638" cy="612"/>
                </a:xfrm>
              </p:grpSpPr>
              <p:grpSp>
                <p:nvGrpSpPr>
                  <p:cNvPr id="88173" name="Group 65"/>
                  <p:cNvGrpSpPr/>
                  <p:nvPr/>
                </p:nvGrpSpPr>
                <p:grpSpPr bwMode="auto">
                  <a:xfrm>
                    <a:off x="2851" y="1744"/>
                    <a:ext cx="453" cy="212"/>
                    <a:chOff x="2160" y="2928"/>
                    <a:chExt cx="453" cy="212"/>
                  </a:xfrm>
                </p:grpSpPr>
                <p:sp>
                  <p:nvSpPr>
                    <p:cNvPr id="1053762" name="Rectangle 66"/>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3763" name="Line 67"/>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64" name="Line 68"/>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74" name="Group 69"/>
                  <p:cNvGrpSpPr/>
                  <p:nvPr/>
                </p:nvGrpSpPr>
                <p:grpSpPr bwMode="auto">
                  <a:xfrm>
                    <a:off x="2423" y="1344"/>
                    <a:ext cx="204" cy="399"/>
                    <a:chOff x="432" y="2688"/>
                    <a:chExt cx="204" cy="399"/>
                  </a:xfrm>
                </p:grpSpPr>
                <p:sp>
                  <p:nvSpPr>
                    <p:cNvPr id="1053766" name="Rectangle 70"/>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3767" name="Line 71"/>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75" name="Group 72"/>
                  <p:cNvGrpSpPr/>
                  <p:nvPr/>
                </p:nvGrpSpPr>
                <p:grpSpPr bwMode="auto">
                  <a:xfrm>
                    <a:off x="2391" y="1744"/>
                    <a:ext cx="453" cy="212"/>
                    <a:chOff x="2160" y="2928"/>
                    <a:chExt cx="453" cy="212"/>
                  </a:xfrm>
                </p:grpSpPr>
                <p:sp>
                  <p:nvSpPr>
                    <p:cNvPr id="1053769" name="Rectangle 73"/>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770" name="Line 74"/>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71" name="Line 75"/>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76" name="Group 76"/>
                  <p:cNvGrpSpPr/>
                  <p:nvPr/>
                </p:nvGrpSpPr>
                <p:grpSpPr bwMode="auto">
                  <a:xfrm>
                    <a:off x="1914" y="1744"/>
                    <a:ext cx="477" cy="204"/>
                    <a:chOff x="928" y="1584"/>
                    <a:chExt cx="477" cy="204"/>
                  </a:xfrm>
                </p:grpSpPr>
                <p:sp>
                  <p:nvSpPr>
                    <p:cNvPr id="1053773" name="Line 77"/>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74" name="Rectangle 78"/>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75" name="Rectangle 79"/>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grpSp>
        <p:grpSp>
          <p:nvGrpSpPr>
            <p:cNvPr id="88069" name="Group 80"/>
            <p:cNvGrpSpPr/>
            <p:nvPr/>
          </p:nvGrpSpPr>
          <p:grpSpPr bwMode="auto">
            <a:xfrm>
              <a:off x="144" y="2165"/>
              <a:ext cx="5328" cy="907"/>
              <a:chOff x="192" y="2112"/>
              <a:chExt cx="5328" cy="912"/>
            </a:xfrm>
          </p:grpSpPr>
          <p:sp>
            <p:nvSpPr>
              <p:cNvPr id="1053777" name="Rectangle 81"/>
              <p:cNvSpPr>
                <a:spLocks noChangeArrowheads="1"/>
              </p:cNvSpPr>
              <p:nvPr/>
            </p:nvSpPr>
            <p:spPr bwMode="auto">
              <a:xfrm>
                <a:off x="192" y="2416"/>
                <a:ext cx="1474"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800">
                    <a:latin typeface="宋体" panose="02010600030101010101" pitchFamily="2" charset="-122"/>
                    <a:ea typeface="Arial Unicode MS" panose="020B0604020202020204" charset="-122"/>
                  </a:rPr>
                  <a:t>③</a:t>
                </a:r>
                <a:r>
                  <a:rPr lang="zh-CN" altLang="en-US" sz="2800"/>
                  <a:t>  </a:t>
                </a:r>
                <a:r>
                  <a:rPr lang="en-US" altLang="zh-CN" sz="2800"/>
                  <a:t>p=p-&gt;next </a:t>
                </a:r>
                <a:r>
                  <a:rPr lang="en-US" altLang="zh-CN" sz="3200"/>
                  <a:t>;</a:t>
                </a:r>
                <a:endParaRPr lang="en-US" altLang="zh-CN" sz="3200"/>
              </a:p>
            </p:txBody>
          </p:sp>
          <p:grpSp>
            <p:nvGrpSpPr>
              <p:cNvPr id="88132" name="Group 82"/>
              <p:cNvGrpSpPr/>
              <p:nvPr/>
            </p:nvGrpSpPr>
            <p:grpSpPr bwMode="auto">
              <a:xfrm>
                <a:off x="1962" y="2112"/>
                <a:ext cx="1638" cy="612"/>
                <a:chOff x="1914" y="1344"/>
                <a:chExt cx="1638" cy="612"/>
              </a:xfrm>
            </p:grpSpPr>
            <p:grpSp>
              <p:nvGrpSpPr>
                <p:cNvPr id="88151" name="Group 83"/>
                <p:cNvGrpSpPr/>
                <p:nvPr/>
              </p:nvGrpSpPr>
              <p:grpSpPr bwMode="auto">
                <a:xfrm>
                  <a:off x="2851" y="1744"/>
                  <a:ext cx="453" cy="212"/>
                  <a:chOff x="2160" y="2928"/>
                  <a:chExt cx="453" cy="212"/>
                </a:xfrm>
              </p:grpSpPr>
              <p:sp>
                <p:nvSpPr>
                  <p:cNvPr id="1053780" name="Rectangle 84"/>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3781" name="Line 85"/>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82" name="Line 86"/>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52" name="Group 87"/>
                <p:cNvGrpSpPr/>
                <p:nvPr/>
              </p:nvGrpSpPr>
              <p:grpSpPr bwMode="auto">
                <a:xfrm>
                  <a:off x="2423" y="1344"/>
                  <a:ext cx="204" cy="399"/>
                  <a:chOff x="432" y="2688"/>
                  <a:chExt cx="204" cy="399"/>
                </a:xfrm>
              </p:grpSpPr>
              <p:sp>
                <p:nvSpPr>
                  <p:cNvPr id="1053784" name="Rectangle 88"/>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3785" name="Line 89"/>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53" name="Group 90"/>
                <p:cNvGrpSpPr/>
                <p:nvPr/>
              </p:nvGrpSpPr>
              <p:grpSpPr bwMode="auto">
                <a:xfrm>
                  <a:off x="2391" y="1744"/>
                  <a:ext cx="453" cy="212"/>
                  <a:chOff x="2160" y="2928"/>
                  <a:chExt cx="453" cy="212"/>
                </a:xfrm>
              </p:grpSpPr>
              <p:sp>
                <p:nvSpPr>
                  <p:cNvPr id="1053787" name="Rectangle 91"/>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788" name="Line 92"/>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89" name="Line 93"/>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54" name="Group 94"/>
                <p:cNvGrpSpPr/>
                <p:nvPr/>
              </p:nvGrpSpPr>
              <p:grpSpPr bwMode="auto">
                <a:xfrm>
                  <a:off x="1914" y="1744"/>
                  <a:ext cx="477" cy="204"/>
                  <a:chOff x="928" y="1584"/>
                  <a:chExt cx="477" cy="204"/>
                </a:xfrm>
              </p:grpSpPr>
              <p:sp>
                <p:nvSpPr>
                  <p:cNvPr id="1053791" name="Line 95"/>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92" name="Rectangle 96"/>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93" name="Rectangle 97"/>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94" name="Rectangle 98"/>
              <p:cNvSpPr>
                <a:spLocks noChangeArrowheads="1"/>
              </p:cNvSpPr>
              <p:nvPr/>
            </p:nvSpPr>
            <p:spPr bwMode="auto">
              <a:xfrm>
                <a:off x="2496" y="2768"/>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sp>
            <p:nvSpPr>
              <p:cNvPr id="1053795" name="Rectangle 99"/>
              <p:cNvSpPr>
                <a:spLocks noChangeArrowheads="1"/>
              </p:cNvSpPr>
              <p:nvPr/>
            </p:nvSpPr>
            <p:spPr bwMode="auto">
              <a:xfrm>
                <a:off x="4352" y="2784"/>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nvGrpSpPr>
              <p:cNvPr id="88135" name="Group 100"/>
              <p:cNvGrpSpPr/>
              <p:nvPr/>
            </p:nvGrpSpPr>
            <p:grpSpPr bwMode="auto">
              <a:xfrm>
                <a:off x="3882" y="2112"/>
                <a:ext cx="1638" cy="620"/>
                <a:chOff x="3882" y="2112"/>
                <a:chExt cx="1638" cy="620"/>
              </a:xfrm>
            </p:grpSpPr>
            <p:grpSp>
              <p:nvGrpSpPr>
                <p:cNvPr id="88136" name="Group 101"/>
                <p:cNvGrpSpPr/>
                <p:nvPr/>
              </p:nvGrpSpPr>
              <p:grpSpPr bwMode="auto">
                <a:xfrm>
                  <a:off x="4788" y="2112"/>
                  <a:ext cx="204" cy="399"/>
                  <a:chOff x="432" y="2688"/>
                  <a:chExt cx="204" cy="399"/>
                </a:xfrm>
              </p:grpSpPr>
              <p:sp>
                <p:nvSpPr>
                  <p:cNvPr id="1053798" name="Rectangle 102"/>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3799" name="Line 103"/>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37" name="Group 104"/>
                <p:cNvGrpSpPr/>
                <p:nvPr/>
              </p:nvGrpSpPr>
              <p:grpSpPr bwMode="auto">
                <a:xfrm>
                  <a:off x="4819" y="2520"/>
                  <a:ext cx="453" cy="212"/>
                  <a:chOff x="2160" y="2928"/>
                  <a:chExt cx="453" cy="212"/>
                </a:xfrm>
              </p:grpSpPr>
              <p:sp>
                <p:nvSpPr>
                  <p:cNvPr id="1053801" name="Rectangle 105"/>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3802" name="Line 106"/>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03" name="Line 107"/>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38" name="Group 108"/>
                <p:cNvGrpSpPr/>
                <p:nvPr/>
              </p:nvGrpSpPr>
              <p:grpSpPr bwMode="auto">
                <a:xfrm>
                  <a:off x="4359" y="2520"/>
                  <a:ext cx="453" cy="212"/>
                  <a:chOff x="2160" y="2928"/>
                  <a:chExt cx="453" cy="212"/>
                </a:xfrm>
              </p:grpSpPr>
              <p:sp>
                <p:nvSpPr>
                  <p:cNvPr id="1053805" name="Rectangle 109"/>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806" name="Line 110"/>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07" name="Line 111"/>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39" name="Group 112"/>
                <p:cNvGrpSpPr/>
                <p:nvPr/>
              </p:nvGrpSpPr>
              <p:grpSpPr bwMode="auto">
                <a:xfrm>
                  <a:off x="3882" y="2520"/>
                  <a:ext cx="477" cy="204"/>
                  <a:chOff x="928" y="1584"/>
                  <a:chExt cx="477" cy="204"/>
                </a:xfrm>
              </p:grpSpPr>
              <p:sp>
                <p:nvSpPr>
                  <p:cNvPr id="1053809" name="Line 113"/>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10" name="Rectangle 114"/>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811" name="Rectangle 115"/>
                <p:cNvSpPr>
                  <a:spLocks noChangeArrowheads="1"/>
                </p:cNvSpPr>
                <p:nvPr/>
              </p:nvSpPr>
              <p:spPr bwMode="auto">
                <a:xfrm>
                  <a:off x="5271" y="252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grpSp>
          <p:nvGrpSpPr>
            <p:cNvPr id="88070" name="Group 116"/>
            <p:cNvGrpSpPr/>
            <p:nvPr/>
          </p:nvGrpSpPr>
          <p:grpSpPr bwMode="auto">
            <a:xfrm>
              <a:off x="144" y="3077"/>
              <a:ext cx="5328" cy="1195"/>
              <a:chOff x="144" y="3077"/>
              <a:chExt cx="5328" cy="1195"/>
            </a:xfrm>
          </p:grpSpPr>
          <p:sp>
            <p:nvSpPr>
              <p:cNvPr id="1053813" name="Rectangle 117"/>
              <p:cNvSpPr>
                <a:spLocks noChangeArrowheads="1"/>
              </p:cNvSpPr>
              <p:nvPr/>
            </p:nvSpPr>
            <p:spPr bwMode="auto">
              <a:xfrm>
                <a:off x="144" y="3120"/>
                <a:ext cx="1474"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800">
                    <a:latin typeface="宋体" panose="02010600030101010101" pitchFamily="2" charset="-122"/>
                    <a:ea typeface="Arial Unicode MS" panose="020B0604020202020204" charset="-122"/>
                  </a:rPr>
                  <a:t>④</a:t>
                </a:r>
                <a:r>
                  <a:rPr lang="zh-CN" altLang="en-US" sz="2800"/>
                  <a:t>  </a:t>
                </a:r>
                <a:r>
                  <a:rPr lang="en-US" altLang="zh-CN" sz="2800"/>
                  <a:t>q-&gt;next=p </a:t>
                </a:r>
                <a:r>
                  <a:rPr lang="en-US" altLang="zh-CN" sz="3200"/>
                  <a:t>;</a:t>
                </a:r>
                <a:endParaRPr lang="en-US" altLang="zh-CN" sz="3200"/>
              </a:p>
            </p:txBody>
          </p:sp>
          <p:grpSp>
            <p:nvGrpSpPr>
              <p:cNvPr id="88072" name="Group 118"/>
              <p:cNvGrpSpPr/>
              <p:nvPr/>
            </p:nvGrpSpPr>
            <p:grpSpPr bwMode="auto">
              <a:xfrm>
                <a:off x="1914" y="3077"/>
                <a:ext cx="1638" cy="907"/>
                <a:chOff x="1914" y="2933"/>
                <a:chExt cx="1638" cy="907"/>
              </a:xfrm>
            </p:grpSpPr>
            <p:grpSp>
              <p:nvGrpSpPr>
                <p:cNvPr id="88105" name="Group 119"/>
                <p:cNvGrpSpPr/>
                <p:nvPr/>
              </p:nvGrpSpPr>
              <p:grpSpPr bwMode="auto">
                <a:xfrm>
                  <a:off x="2144" y="3590"/>
                  <a:ext cx="1072" cy="250"/>
                  <a:chOff x="1353" y="3490"/>
                  <a:chExt cx="1072" cy="250"/>
                </a:xfrm>
              </p:grpSpPr>
              <p:grpSp>
                <p:nvGrpSpPr>
                  <p:cNvPr id="88122" name="Group 120"/>
                  <p:cNvGrpSpPr/>
                  <p:nvPr/>
                </p:nvGrpSpPr>
                <p:grpSpPr bwMode="auto">
                  <a:xfrm>
                    <a:off x="1744" y="3520"/>
                    <a:ext cx="681" cy="220"/>
                    <a:chOff x="3504" y="2160"/>
                    <a:chExt cx="681" cy="220"/>
                  </a:xfrm>
                </p:grpSpPr>
                <p:grpSp>
                  <p:nvGrpSpPr>
                    <p:cNvPr id="88126" name="Group 121"/>
                    <p:cNvGrpSpPr/>
                    <p:nvPr/>
                  </p:nvGrpSpPr>
                  <p:grpSpPr bwMode="auto">
                    <a:xfrm>
                      <a:off x="3504" y="2160"/>
                      <a:ext cx="453" cy="212"/>
                      <a:chOff x="2160" y="2928"/>
                      <a:chExt cx="453" cy="212"/>
                    </a:xfrm>
                  </p:grpSpPr>
                  <p:sp>
                    <p:nvSpPr>
                      <p:cNvPr id="1053818" name="Rectangle 122"/>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c</a:t>
                        </a:r>
                        <a:endParaRPr lang="en-US" altLang="zh-CN" sz="2400"/>
                      </a:p>
                    </p:txBody>
                  </p:sp>
                  <p:sp>
                    <p:nvSpPr>
                      <p:cNvPr id="1053819" name="Line 123"/>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20" name="Line 124"/>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sp>
                  <p:nvSpPr>
                    <p:cNvPr id="1053821" name="Rectangle 125"/>
                    <p:cNvSpPr>
                      <a:spLocks noChangeArrowheads="1"/>
                    </p:cNvSpPr>
                    <p:nvPr/>
                  </p:nvSpPr>
                  <p:spPr bwMode="auto">
                    <a:xfrm>
                      <a:off x="3936" y="2176"/>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88123" name="Group 126"/>
                  <p:cNvGrpSpPr/>
                  <p:nvPr/>
                </p:nvGrpSpPr>
                <p:grpSpPr bwMode="auto">
                  <a:xfrm>
                    <a:off x="1353" y="3490"/>
                    <a:ext cx="388" cy="204"/>
                    <a:chOff x="1353" y="3490"/>
                    <a:chExt cx="388" cy="204"/>
                  </a:xfrm>
                </p:grpSpPr>
                <p:sp>
                  <p:nvSpPr>
                    <p:cNvPr id="1053823" name="Line 127"/>
                    <p:cNvSpPr>
                      <a:spLocks noChangeShapeType="1"/>
                    </p:cNvSpPr>
                    <p:nvPr/>
                  </p:nvSpPr>
                  <p:spPr bwMode="auto">
                    <a:xfrm>
                      <a:off x="1560" y="36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24" name="Rectangle 128"/>
                    <p:cNvSpPr>
                      <a:spLocks noChangeArrowheads="1"/>
                    </p:cNvSpPr>
                    <p:nvPr/>
                  </p:nvSpPr>
                  <p:spPr bwMode="auto">
                    <a:xfrm>
                      <a:off x="1353" y="3490"/>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grpSp>
            </p:grpSp>
            <p:grpSp>
              <p:nvGrpSpPr>
                <p:cNvPr id="88106" name="Group 129"/>
                <p:cNvGrpSpPr/>
                <p:nvPr/>
              </p:nvGrpSpPr>
              <p:grpSpPr bwMode="auto">
                <a:xfrm>
                  <a:off x="1914" y="2933"/>
                  <a:ext cx="1638" cy="609"/>
                  <a:chOff x="1914" y="1344"/>
                  <a:chExt cx="1638" cy="612"/>
                </a:xfrm>
              </p:grpSpPr>
              <p:grpSp>
                <p:nvGrpSpPr>
                  <p:cNvPr id="88107" name="Group 130"/>
                  <p:cNvGrpSpPr/>
                  <p:nvPr/>
                </p:nvGrpSpPr>
                <p:grpSpPr bwMode="auto">
                  <a:xfrm>
                    <a:off x="2851" y="1744"/>
                    <a:ext cx="453" cy="212"/>
                    <a:chOff x="2160" y="2928"/>
                    <a:chExt cx="453" cy="212"/>
                  </a:xfrm>
                </p:grpSpPr>
                <p:sp>
                  <p:nvSpPr>
                    <p:cNvPr id="1053827" name="Rectangle 131"/>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3828" name="Line 132"/>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29" name="Line 133"/>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08" name="Group 134"/>
                  <p:cNvGrpSpPr/>
                  <p:nvPr/>
                </p:nvGrpSpPr>
                <p:grpSpPr bwMode="auto">
                  <a:xfrm>
                    <a:off x="2423" y="1344"/>
                    <a:ext cx="204" cy="399"/>
                    <a:chOff x="432" y="2688"/>
                    <a:chExt cx="204" cy="399"/>
                  </a:xfrm>
                </p:grpSpPr>
                <p:sp>
                  <p:nvSpPr>
                    <p:cNvPr id="1053831" name="Rectangle 135"/>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3832" name="Line 136"/>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09" name="Group 137"/>
                  <p:cNvGrpSpPr/>
                  <p:nvPr/>
                </p:nvGrpSpPr>
                <p:grpSpPr bwMode="auto">
                  <a:xfrm>
                    <a:off x="2391" y="1744"/>
                    <a:ext cx="453" cy="212"/>
                    <a:chOff x="2160" y="2928"/>
                    <a:chExt cx="453" cy="212"/>
                  </a:xfrm>
                </p:grpSpPr>
                <p:sp>
                  <p:nvSpPr>
                    <p:cNvPr id="1053834" name="Rectangle 138"/>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835" name="Line 139"/>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36" name="Line 140"/>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10" name="Group 141"/>
                  <p:cNvGrpSpPr/>
                  <p:nvPr/>
                </p:nvGrpSpPr>
                <p:grpSpPr bwMode="auto">
                  <a:xfrm>
                    <a:off x="1914" y="1744"/>
                    <a:ext cx="477" cy="204"/>
                    <a:chOff x="928" y="1584"/>
                    <a:chExt cx="477" cy="204"/>
                  </a:xfrm>
                </p:grpSpPr>
                <p:sp>
                  <p:nvSpPr>
                    <p:cNvPr id="1053838" name="Line 142"/>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39" name="Rectangle 143"/>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840" name="Rectangle 144"/>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sp>
            <p:nvSpPr>
              <p:cNvPr id="1053841" name="Rectangle 145"/>
              <p:cNvSpPr>
                <a:spLocks noChangeArrowheads="1"/>
              </p:cNvSpPr>
              <p:nvPr/>
            </p:nvSpPr>
            <p:spPr bwMode="auto">
              <a:xfrm>
                <a:off x="2448" y="4032"/>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sp>
            <p:nvSpPr>
              <p:cNvPr id="1053842" name="Rectangle 146"/>
              <p:cNvSpPr>
                <a:spLocks noChangeArrowheads="1"/>
              </p:cNvSpPr>
              <p:nvPr/>
            </p:nvSpPr>
            <p:spPr bwMode="auto">
              <a:xfrm>
                <a:off x="4304" y="4033"/>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nvGrpSpPr>
              <p:cNvPr id="88075" name="Group 147"/>
              <p:cNvGrpSpPr/>
              <p:nvPr/>
            </p:nvGrpSpPr>
            <p:grpSpPr bwMode="auto">
              <a:xfrm>
                <a:off x="3834" y="3077"/>
                <a:ext cx="1638" cy="941"/>
                <a:chOff x="3834" y="2933"/>
                <a:chExt cx="1638" cy="941"/>
              </a:xfrm>
            </p:grpSpPr>
            <p:grpSp>
              <p:nvGrpSpPr>
                <p:cNvPr id="88077" name="Group 148"/>
                <p:cNvGrpSpPr/>
                <p:nvPr/>
              </p:nvGrpSpPr>
              <p:grpSpPr bwMode="auto">
                <a:xfrm>
                  <a:off x="3834" y="2933"/>
                  <a:ext cx="1638" cy="718"/>
                  <a:chOff x="3834" y="2933"/>
                  <a:chExt cx="1638" cy="718"/>
                </a:xfrm>
              </p:grpSpPr>
              <p:grpSp>
                <p:nvGrpSpPr>
                  <p:cNvPr id="88088" name="Group 149"/>
                  <p:cNvGrpSpPr/>
                  <p:nvPr/>
                </p:nvGrpSpPr>
                <p:grpSpPr bwMode="auto">
                  <a:xfrm>
                    <a:off x="4320" y="2933"/>
                    <a:ext cx="204" cy="397"/>
                    <a:chOff x="432" y="2688"/>
                    <a:chExt cx="204" cy="399"/>
                  </a:xfrm>
                </p:grpSpPr>
                <p:sp>
                  <p:nvSpPr>
                    <p:cNvPr id="1053846" name="Rectangle 150"/>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3847" name="Line 151"/>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089" name="Group 152"/>
                  <p:cNvGrpSpPr/>
                  <p:nvPr/>
                </p:nvGrpSpPr>
                <p:grpSpPr bwMode="auto">
                  <a:xfrm>
                    <a:off x="4771" y="3339"/>
                    <a:ext cx="453" cy="211"/>
                    <a:chOff x="2160" y="2928"/>
                    <a:chExt cx="453" cy="212"/>
                  </a:xfrm>
                </p:grpSpPr>
                <p:sp>
                  <p:nvSpPr>
                    <p:cNvPr id="1053849" name="Rectangle 153"/>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3850" name="Line 154"/>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51" name="Line 155"/>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090" name="Group 156"/>
                  <p:cNvGrpSpPr/>
                  <p:nvPr/>
                </p:nvGrpSpPr>
                <p:grpSpPr bwMode="auto">
                  <a:xfrm>
                    <a:off x="3834" y="3339"/>
                    <a:ext cx="477" cy="203"/>
                    <a:chOff x="928" y="1584"/>
                    <a:chExt cx="477" cy="204"/>
                  </a:xfrm>
                </p:grpSpPr>
                <p:sp>
                  <p:nvSpPr>
                    <p:cNvPr id="1053853" name="Line 157"/>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54" name="Rectangle 158"/>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855" name="Rectangle 159"/>
                  <p:cNvSpPr>
                    <a:spLocks noChangeArrowheads="1"/>
                  </p:cNvSpPr>
                  <p:nvPr/>
                </p:nvSpPr>
                <p:spPr bwMode="auto">
                  <a:xfrm>
                    <a:off x="5223" y="3343"/>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nvGrpSpPr>
                  <p:cNvPr id="88092" name="Group 160"/>
                  <p:cNvGrpSpPr/>
                  <p:nvPr/>
                </p:nvGrpSpPr>
                <p:grpSpPr bwMode="auto">
                  <a:xfrm>
                    <a:off x="4311" y="3331"/>
                    <a:ext cx="408" cy="320"/>
                    <a:chOff x="4311" y="3339"/>
                    <a:chExt cx="408" cy="320"/>
                  </a:xfrm>
                </p:grpSpPr>
                <p:sp>
                  <p:nvSpPr>
                    <p:cNvPr id="1053857" name="Rectangle 161"/>
                    <p:cNvSpPr>
                      <a:spLocks noChangeArrowheads="1"/>
                    </p:cNvSpPr>
                    <p:nvPr/>
                  </p:nvSpPr>
                  <p:spPr bwMode="auto">
                    <a:xfrm>
                      <a:off x="4311" y="333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858" name="Line 162"/>
                    <p:cNvSpPr>
                      <a:spLocks noChangeShapeType="1"/>
                    </p:cNvSpPr>
                    <p:nvPr/>
                  </p:nvSpPr>
                  <p:spPr bwMode="auto">
                    <a:xfrm>
                      <a:off x="4519" y="334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nvGrpSpPr>
                    <p:cNvPr id="88095" name="Group 163"/>
                    <p:cNvGrpSpPr/>
                    <p:nvPr/>
                  </p:nvGrpSpPr>
                  <p:grpSpPr bwMode="auto">
                    <a:xfrm>
                      <a:off x="4560" y="3432"/>
                      <a:ext cx="159" cy="227"/>
                      <a:chOff x="1488" y="3840"/>
                      <a:chExt cx="159" cy="181"/>
                    </a:xfrm>
                  </p:grpSpPr>
                  <p:sp>
                    <p:nvSpPr>
                      <p:cNvPr id="1053860" name="Line 164"/>
                      <p:cNvSpPr>
                        <a:spLocks noChangeShapeType="1"/>
                      </p:cNvSpPr>
                      <p:nvPr/>
                    </p:nvSpPr>
                    <p:spPr bwMode="auto">
                      <a:xfrm>
                        <a:off x="1488" y="3840"/>
                        <a:ext cx="159"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61" name="Line 165"/>
                      <p:cNvSpPr>
                        <a:spLocks noChangeShapeType="1"/>
                      </p:cNvSpPr>
                      <p:nvPr/>
                    </p:nvSpPr>
                    <p:spPr bwMode="auto">
                      <a:xfrm>
                        <a:off x="1640" y="3840"/>
                        <a:ext cx="0" cy="181"/>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grpSp>
              <p:nvGrpSpPr>
                <p:cNvPr id="88078" name="Group 166"/>
                <p:cNvGrpSpPr/>
                <p:nvPr/>
              </p:nvGrpSpPr>
              <p:grpSpPr bwMode="auto">
                <a:xfrm>
                  <a:off x="4176" y="3624"/>
                  <a:ext cx="1072" cy="250"/>
                  <a:chOff x="1353" y="3490"/>
                  <a:chExt cx="1072" cy="250"/>
                </a:xfrm>
              </p:grpSpPr>
              <p:grpSp>
                <p:nvGrpSpPr>
                  <p:cNvPr id="88079" name="Group 167"/>
                  <p:cNvGrpSpPr/>
                  <p:nvPr/>
                </p:nvGrpSpPr>
                <p:grpSpPr bwMode="auto">
                  <a:xfrm>
                    <a:off x="1744" y="3520"/>
                    <a:ext cx="681" cy="220"/>
                    <a:chOff x="3504" y="2160"/>
                    <a:chExt cx="681" cy="220"/>
                  </a:xfrm>
                </p:grpSpPr>
                <p:grpSp>
                  <p:nvGrpSpPr>
                    <p:cNvPr id="88083" name="Group 168"/>
                    <p:cNvGrpSpPr/>
                    <p:nvPr/>
                  </p:nvGrpSpPr>
                  <p:grpSpPr bwMode="auto">
                    <a:xfrm>
                      <a:off x="3504" y="2160"/>
                      <a:ext cx="453" cy="212"/>
                      <a:chOff x="2160" y="2928"/>
                      <a:chExt cx="453" cy="212"/>
                    </a:xfrm>
                  </p:grpSpPr>
                  <p:sp>
                    <p:nvSpPr>
                      <p:cNvPr id="1053865" name="Rectangle 169"/>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c</a:t>
                        </a:r>
                        <a:endParaRPr lang="en-US" altLang="zh-CN" sz="2400"/>
                      </a:p>
                    </p:txBody>
                  </p:sp>
                  <p:sp>
                    <p:nvSpPr>
                      <p:cNvPr id="1053866" name="Line 170"/>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67" name="Line 171"/>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sp>
                  <p:nvSpPr>
                    <p:cNvPr id="1053868" name="Rectangle 172"/>
                    <p:cNvSpPr>
                      <a:spLocks noChangeArrowheads="1"/>
                    </p:cNvSpPr>
                    <p:nvPr/>
                  </p:nvSpPr>
                  <p:spPr bwMode="auto">
                    <a:xfrm>
                      <a:off x="3936" y="2176"/>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88080" name="Group 173"/>
                  <p:cNvGrpSpPr/>
                  <p:nvPr/>
                </p:nvGrpSpPr>
                <p:grpSpPr bwMode="auto">
                  <a:xfrm>
                    <a:off x="1353" y="3490"/>
                    <a:ext cx="388" cy="204"/>
                    <a:chOff x="1353" y="3490"/>
                    <a:chExt cx="388" cy="204"/>
                  </a:xfrm>
                </p:grpSpPr>
                <p:sp>
                  <p:nvSpPr>
                    <p:cNvPr id="1053870" name="Line 174"/>
                    <p:cNvSpPr>
                      <a:spLocks noChangeShapeType="1"/>
                    </p:cNvSpPr>
                    <p:nvPr/>
                  </p:nvSpPr>
                  <p:spPr bwMode="auto">
                    <a:xfrm>
                      <a:off x="1560" y="36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71" name="Rectangle 175"/>
                    <p:cNvSpPr>
                      <a:spLocks noChangeArrowheads="1"/>
                    </p:cNvSpPr>
                    <p:nvPr/>
                  </p:nvSpPr>
                  <p:spPr bwMode="auto">
                    <a:xfrm>
                      <a:off x="1353" y="3490"/>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grpSp>
            </p:grpSp>
          </p:grpSp>
          <p:sp>
            <p:nvSpPr>
              <p:cNvPr id="1053872" name="Rectangle 176"/>
              <p:cNvSpPr>
                <a:spLocks noChangeArrowheads="1"/>
              </p:cNvSpPr>
              <p:nvPr/>
            </p:nvSpPr>
            <p:spPr bwMode="auto">
              <a:xfrm>
                <a:off x="1120" y="3600"/>
                <a:ext cx="295"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a:t>(a)</a:t>
                </a:r>
                <a:endParaRPr lang="en-US" altLang="zh-CN" sz="2800"/>
              </a:p>
            </p:txBody>
          </p:sp>
        </p:gr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0113" name="Group 2"/>
          <p:cNvGrpSpPr/>
          <p:nvPr/>
        </p:nvGrpSpPr>
        <p:grpSpPr bwMode="auto">
          <a:xfrm>
            <a:off x="125413" y="-31750"/>
            <a:ext cx="8191500" cy="6889750"/>
            <a:chOff x="79" y="-20"/>
            <a:chExt cx="5160" cy="4340"/>
          </a:xfrm>
        </p:grpSpPr>
        <p:grpSp>
          <p:nvGrpSpPr>
            <p:cNvPr id="90114" name="Group 3"/>
            <p:cNvGrpSpPr/>
            <p:nvPr/>
          </p:nvGrpSpPr>
          <p:grpSpPr bwMode="auto">
            <a:xfrm>
              <a:off x="79" y="1537"/>
              <a:ext cx="5160" cy="2783"/>
              <a:chOff x="120" y="1490"/>
              <a:chExt cx="5160" cy="2783"/>
            </a:xfrm>
          </p:grpSpPr>
          <p:sp>
            <p:nvSpPr>
              <p:cNvPr id="1055748" name="Rectangle 4"/>
              <p:cNvSpPr>
                <a:spLocks noChangeArrowheads="1"/>
              </p:cNvSpPr>
              <p:nvPr/>
            </p:nvSpPr>
            <p:spPr bwMode="auto">
              <a:xfrm>
                <a:off x="120" y="1490"/>
                <a:ext cx="202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800">
                    <a:latin typeface="宋体" panose="02010600030101010101" pitchFamily="2" charset="-122"/>
                    <a:ea typeface="Arial Unicode MS" panose="020B0604020202020204" charset="-122"/>
                  </a:rPr>
                  <a:t>⑤</a:t>
                </a:r>
                <a:r>
                  <a:rPr lang="zh-CN" altLang="en-US" sz="2800"/>
                  <a:t> </a:t>
                </a:r>
                <a:r>
                  <a:rPr lang="en-US" altLang="zh-CN" sz="2800"/>
                  <a:t>q-&gt;next=p-&gt;next </a:t>
                </a:r>
                <a:r>
                  <a:rPr lang="en-US" altLang="zh-CN" sz="3200"/>
                  <a:t>;</a:t>
                </a:r>
                <a:endParaRPr lang="en-US" altLang="zh-CN" sz="3200"/>
              </a:p>
            </p:txBody>
          </p:sp>
          <p:grpSp>
            <p:nvGrpSpPr>
              <p:cNvPr id="90187" name="Group 5"/>
              <p:cNvGrpSpPr/>
              <p:nvPr/>
            </p:nvGrpSpPr>
            <p:grpSpPr bwMode="auto">
              <a:xfrm>
                <a:off x="889" y="1568"/>
                <a:ext cx="4391" cy="1163"/>
                <a:chOff x="864" y="144"/>
                <a:chExt cx="4422" cy="1195"/>
              </a:xfrm>
            </p:grpSpPr>
            <p:sp>
              <p:nvSpPr>
                <p:cNvPr id="1055750" name="Rectangle 6"/>
                <p:cNvSpPr>
                  <a:spLocks noChangeArrowheads="1"/>
                </p:cNvSpPr>
                <p:nvPr/>
              </p:nvSpPr>
              <p:spPr bwMode="auto">
                <a:xfrm>
                  <a:off x="864" y="672"/>
                  <a:ext cx="295"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800">
                      <a:ea typeface="Arial Unicode MS" panose="020B0604020202020204" charset="-122"/>
                    </a:rPr>
                    <a:t>(a)</a:t>
                  </a:r>
                  <a:endParaRPr lang="en-US" altLang="zh-CN" sz="3200"/>
                </a:p>
              </p:txBody>
            </p:sp>
            <p:grpSp>
              <p:nvGrpSpPr>
                <p:cNvPr id="90261" name="Group 7"/>
                <p:cNvGrpSpPr/>
                <p:nvPr/>
              </p:nvGrpSpPr>
              <p:grpSpPr bwMode="auto">
                <a:xfrm>
                  <a:off x="1778" y="801"/>
                  <a:ext cx="1540" cy="250"/>
                  <a:chOff x="1676" y="897"/>
                  <a:chExt cx="1540" cy="250"/>
                </a:xfrm>
              </p:grpSpPr>
              <p:grpSp>
                <p:nvGrpSpPr>
                  <p:cNvPr id="90312" name="Group 8"/>
                  <p:cNvGrpSpPr/>
                  <p:nvPr/>
                </p:nvGrpSpPr>
                <p:grpSpPr bwMode="auto">
                  <a:xfrm>
                    <a:off x="2072" y="928"/>
                    <a:ext cx="453" cy="212"/>
                    <a:chOff x="2160" y="2928"/>
                    <a:chExt cx="453" cy="212"/>
                  </a:xfrm>
                </p:grpSpPr>
                <p:sp>
                  <p:nvSpPr>
                    <p:cNvPr id="1055753" name="Rectangle 9"/>
                    <p:cNvSpPr>
                      <a:spLocks noChangeArrowheads="1"/>
                    </p:cNvSpPr>
                    <p:nvPr/>
                  </p:nvSpPr>
                  <p:spPr bwMode="auto">
                    <a:xfrm>
                      <a:off x="2160" y="2927"/>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x</a:t>
                      </a:r>
                      <a:endParaRPr lang="en-US" altLang="zh-CN" sz="2400"/>
                    </a:p>
                  </p:txBody>
                </p:sp>
                <p:sp>
                  <p:nvSpPr>
                    <p:cNvPr id="1055754" name="Line 10"/>
                    <p:cNvSpPr>
                      <a:spLocks noChangeShapeType="1"/>
                    </p:cNvSpPr>
                    <p:nvPr/>
                  </p:nvSpPr>
                  <p:spPr bwMode="auto">
                    <a:xfrm>
                      <a:off x="2369"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55" name="Line 11"/>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313" name="Group 12"/>
                  <p:cNvGrpSpPr/>
                  <p:nvPr/>
                </p:nvGrpSpPr>
                <p:grpSpPr bwMode="auto">
                  <a:xfrm>
                    <a:off x="2535" y="927"/>
                    <a:ext cx="681" cy="220"/>
                    <a:chOff x="3504" y="2160"/>
                    <a:chExt cx="681" cy="220"/>
                  </a:xfrm>
                </p:grpSpPr>
                <p:grpSp>
                  <p:nvGrpSpPr>
                    <p:cNvPr id="90317" name="Group 13"/>
                    <p:cNvGrpSpPr/>
                    <p:nvPr/>
                  </p:nvGrpSpPr>
                  <p:grpSpPr bwMode="auto">
                    <a:xfrm>
                      <a:off x="3504" y="2160"/>
                      <a:ext cx="453" cy="212"/>
                      <a:chOff x="2160" y="2928"/>
                      <a:chExt cx="453" cy="212"/>
                    </a:xfrm>
                  </p:grpSpPr>
                  <p:sp>
                    <p:nvSpPr>
                      <p:cNvPr id="1055758" name="Rectangle 14"/>
                      <p:cNvSpPr>
                        <a:spLocks noChangeArrowheads="1"/>
                      </p:cNvSpPr>
                      <p:nvPr/>
                    </p:nvSpPr>
                    <p:spPr bwMode="auto">
                      <a:xfrm>
                        <a:off x="2160" y="2927"/>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y</a:t>
                        </a:r>
                        <a:endParaRPr lang="en-US" altLang="zh-CN" sz="2400"/>
                      </a:p>
                    </p:txBody>
                  </p:sp>
                  <p:sp>
                    <p:nvSpPr>
                      <p:cNvPr id="1055759" name="Line 15"/>
                      <p:cNvSpPr>
                        <a:spLocks noChangeShapeType="1"/>
                      </p:cNvSpPr>
                      <p:nvPr/>
                    </p:nvSpPr>
                    <p:spPr bwMode="auto">
                      <a:xfrm>
                        <a:off x="2369"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60" name="Line 16"/>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sp>
                  <p:nvSpPr>
                    <p:cNvPr id="1055761" name="Rectangle 17"/>
                    <p:cNvSpPr>
                      <a:spLocks noChangeArrowheads="1"/>
                    </p:cNvSpPr>
                    <p:nvPr/>
                  </p:nvSpPr>
                  <p:spPr bwMode="auto">
                    <a:xfrm>
                      <a:off x="3936" y="2176"/>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314" name="Group 18"/>
                  <p:cNvGrpSpPr/>
                  <p:nvPr/>
                </p:nvGrpSpPr>
                <p:grpSpPr bwMode="auto">
                  <a:xfrm>
                    <a:off x="1676" y="897"/>
                    <a:ext cx="388" cy="204"/>
                    <a:chOff x="1353" y="3490"/>
                    <a:chExt cx="388" cy="204"/>
                  </a:xfrm>
                </p:grpSpPr>
                <p:sp>
                  <p:nvSpPr>
                    <p:cNvPr id="1055763" name="Line 19"/>
                    <p:cNvSpPr>
                      <a:spLocks noChangeShapeType="1"/>
                    </p:cNvSpPr>
                    <p:nvPr/>
                  </p:nvSpPr>
                  <p:spPr bwMode="auto">
                    <a:xfrm>
                      <a:off x="1560" y="36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64" name="Rectangle 20"/>
                    <p:cNvSpPr>
                      <a:spLocks noChangeArrowheads="1"/>
                    </p:cNvSpPr>
                    <p:nvPr/>
                  </p:nvSpPr>
                  <p:spPr bwMode="auto">
                    <a:xfrm>
                      <a:off x="1353" y="3490"/>
                      <a:ext cx="20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grpSp>
            </p:grpSp>
            <p:grpSp>
              <p:nvGrpSpPr>
                <p:cNvPr id="90262" name="Group 21"/>
                <p:cNvGrpSpPr/>
                <p:nvPr/>
              </p:nvGrpSpPr>
              <p:grpSpPr bwMode="auto">
                <a:xfrm>
                  <a:off x="1728" y="144"/>
                  <a:ext cx="1638" cy="609"/>
                  <a:chOff x="1914" y="1344"/>
                  <a:chExt cx="1638" cy="612"/>
                </a:xfrm>
              </p:grpSpPr>
              <p:grpSp>
                <p:nvGrpSpPr>
                  <p:cNvPr id="90297" name="Group 22"/>
                  <p:cNvGrpSpPr/>
                  <p:nvPr/>
                </p:nvGrpSpPr>
                <p:grpSpPr bwMode="auto">
                  <a:xfrm>
                    <a:off x="2851" y="1744"/>
                    <a:ext cx="453" cy="212"/>
                    <a:chOff x="2160" y="2928"/>
                    <a:chExt cx="453" cy="212"/>
                  </a:xfrm>
                </p:grpSpPr>
                <p:sp>
                  <p:nvSpPr>
                    <p:cNvPr id="1055767" name="Rectangle 23"/>
                    <p:cNvSpPr>
                      <a:spLocks noChangeArrowheads="1"/>
                    </p:cNvSpPr>
                    <p:nvPr/>
                  </p:nvSpPr>
                  <p:spPr bwMode="auto">
                    <a:xfrm>
                      <a:off x="2160" y="292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5768" name="Line 24"/>
                    <p:cNvSpPr>
                      <a:spLocks noChangeShapeType="1"/>
                    </p:cNvSpPr>
                    <p:nvPr/>
                  </p:nvSpPr>
                  <p:spPr bwMode="auto">
                    <a:xfrm>
                      <a:off x="2368"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69" name="Line 25"/>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98" name="Group 26"/>
                  <p:cNvGrpSpPr/>
                  <p:nvPr/>
                </p:nvGrpSpPr>
                <p:grpSpPr bwMode="auto">
                  <a:xfrm>
                    <a:off x="2423" y="1344"/>
                    <a:ext cx="204" cy="399"/>
                    <a:chOff x="432" y="2688"/>
                    <a:chExt cx="204" cy="399"/>
                  </a:xfrm>
                </p:grpSpPr>
                <p:sp>
                  <p:nvSpPr>
                    <p:cNvPr id="1055771" name="Rectangle 27"/>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5772" name="Line 28"/>
                    <p:cNvSpPr>
                      <a:spLocks noChangeShapeType="1"/>
                    </p:cNvSpPr>
                    <p:nvPr/>
                  </p:nvSpPr>
                  <p:spPr bwMode="auto">
                    <a:xfrm>
                      <a:off x="520" y="2929"/>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99" name="Group 29"/>
                  <p:cNvGrpSpPr/>
                  <p:nvPr/>
                </p:nvGrpSpPr>
                <p:grpSpPr bwMode="auto">
                  <a:xfrm>
                    <a:off x="2391" y="1744"/>
                    <a:ext cx="453" cy="212"/>
                    <a:chOff x="2160" y="2928"/>
                    <a:chExt cx="453" cy="212"/>
                  </a:xfrm>
                </p:grpSpPr>
                <p:sp>
                  <p:nvSpPr>
                    <p:cNvPr id="1055774" name="Rectangle 30"/>
                    <p:cNvSpPr>
                      <a:spLocks noChangeArrowheads="1"/>
                    </p:cNvSpPr>
                    <p:nvPr/>
                  </p:nvSpPr>
                  <p:spPr bwMode="auto">
                    <a:xfrm>
                      <a:off x="2160" y="2929"/>
                      <a:ext cx="316"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5775" name="Line 31"/>
                    <p:cNvSpPr>
                      <a:spLocks noChangeShapeType="1"/>
                    </p:cNvSpPr>
                    <p:nvPr/>
                  </p:nvSpPr>
                  <p:spPr bwMode="auto">
                    <a:xfrm>
                      <a:off x="2368"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76" name="Line 32"/>
                    <p:cNvSpPr>
                      <a:spLocks noChangeShapeType="1"/>
                    </p:cNvSpPr>
                    <p:nvPr/>
                  </p:nvSpPr>
                  <p:spPr bwMode="auto">
                    <a:xfrm>
                      <a:off x="2432" y="3025"/>
                      <a:ext cx="180"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300" name="Group 33"/>
                  <p:cNvGrpSpPr/>
                  <p:nvPr/>
                </p:nvGrpSpPr>
                <p:grpSpPr bwMode="auto">
                  <a:xfrm>
                    <a:off x="1914" y="1744"/>
                    <a:ext cx="477" cy="204"/>
                    <a:chOff x="928" y="1584"/>
                    <a:chExt cx="477" cy="204"/>
                  </a:xfrm>
                </p:grpSpPr>
                <p:sp>
                  <p:nvSpPr>
                    <p:cNvPr id="1055778" name="Line 34"/>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79" name="Rectangle 35"/>
                    <p:cNvSpPr>
                      <a:spLocks noChangeArrowheads="1"/>
                    </p:cNvSpPr>
                    <p:nvPr/>
                  </p:nvSpPr>
                  <p:spPr bwMode="auto">
                    <a:xfrm>
                      <a:off x="928" y="1585"/>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780" name="Rectangle 36"/>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781" name="Rectangle 37"/>
                <p:cNvSpPr>
                  <a:spLocks noChangeArrowheads="1"/>
                </p:cNvSpPr>
                <p:nvPr/>
              </p:nvSpPr>
              <p:spPr bwMode="auto">
                <a:xfrm>
                  <a:off x="2262" y="1056"/>
                  <a:ext cx="672"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sp>
              <p:nvSpPr>
                <p:cNvPr id="1055782" name="Rectangle 38"/>
                <p:cNvSpPr>
                  <a:spLocks noChangeArrowheads="1"/>
                </p:cNvSpPr>
                <p:nvPr/>
              </p:nvSpPr>
              <p:spPr bwMode="auto">
                <a:xfrm>
                  <a:off x="4118" y="1100"/>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nvGrpSpPr>
                <p:cNvPr id="90265" name="Group 39"/>
                <p:cNvGrpSpPr/>
                <p:nvPr/>
              </p:nvGrpSpPr>
              <p:grpSpPr bwMode="auto">
                <a:xfrm>
                  <a:off x="3648" y="144"/>
                  <a:ext cx="1638" cy="718"/>
                  <a:chOff x="3834" y="2933"/>
                  <a:chExt cx="1638" cy="718"/>
                </a:xfrm>
              </p:grpSpPr>
              <p:grpSp>
                <p:nvGrpSpPr>
                  <p:cNvPr id="90280" name="Group 40"/>
                  <p:cNvGrpSpPr/>
                  <p:nvPr/>
                </p:nvGrpSpPr>
                <p:grpSpPr bwMode="auto">
                  <a:xfrm>
                    <a:off x="4320" y="2933"/>
                    <a:ext cx="204" cy="397"/>
                    <a:chOff x="432" y="2688"/>
                    <a:chExt cx="204" cy="399"/>
                  </a:xfrm>
                </p:grpSpPr>
                <p:sp>
                  <p:nvSpPr>
                    <p:cNvPr id="1055785" name="Rectangle 41"/>
                    <p:cNvSpPr>
                      <a:spLocks noChangeArrowheads="1"/>
                    </p:cNvSpPr>
                    <p:nvPr/>
                  </p:nvSpPr>
                  <p:spPr bwMode="auto">
                    <a:xfrm>
                      <a:off x="432" y="2688"/>
                      <a:ext cx="203"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5786" name="Line 42"/>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81" name="Group 43"/>
                  <p:cNvGrpSpPr/>
                  <p:nvPr/>
                </p:nvGrpSpPr>
                <p:grpSpPr bwMode="auto">
                  <a:xfrm>
                    <a:off x="4771" y="3339"/>
                    <a:ext cx="453" cy="211"/>
                    <a:chOff x="2160" y="2928"/>
                    <a:chExt cx="453" cy="212"/>
                  </a:xfrm>
                </p:grpSpPr>
                <p:sp>
                  <p:nvSpPr>
                    <p:cNvPr id="1055788" name="Rectangle 44"/>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5789" name="Line 45"/>
                    <p:cNvSpPr>
                      <a:spLocks noChangeShapeType="1"/>
                    </p:cNvSpPr>
                    <p:nvPr/>
                  </p:nvSpPr>
                  <p:spPr bwMode="auto">
                    <a:xfrm>
                      <a:off x="2369"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90" name="Line 46"/>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82" name="Group 47"/>
                  <p:cNvGrpSpPr/>
                  <p:nvPr/>
                </p:nvGrpSpPr>
                <p:grpSpPr bwMode="auto">
                  <a:xfrm>
                    <a:off x="3834" y="3339"/>
                    <a:ext cx="477" cy="203"/>
                    <a:chOff x="928" y="1584"/>
                    <a:chExt cx="477" cy="204"/>
                  </a:xfrm>
                </p:grpSpPr>
                <p:sp>
                  <p:nvSpPr>
                    <p:cNvPr id="1055792" name="Line 48"/>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93" name="Rectangle 49"/>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794" name="Rectangle 50"/>
                  <p:cNvSpPr>
                    <a:spLocks noChangeArrowheads="1"/>
                  </p:cNvSpPr>
                  <p:nvPr/>
                </p:nvSpPr>
                <p:spPr bwMode="auto">
                  <a:xfrm>
                    <a:off x="5223" y="3343"/>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nvGrpSpPr>
                  <p:cNvPr id="90284" name="Group 51"/>
                  <p:cNvGrpSpPr/>
                  <p:nvPr/>
                </p:nvGrpSpPr>
                <p:grpSpPr bwMode="auto">
                  <a:xfrm>
                    <a:off x="4311" y="3331"/>
                    <a:ext cx="408" cy="320"/>
                    <a:chOff x="4311" y="3339"/>
                    <a:chExt cx="408" cy="320"/>
                  </a:xfrm>
                </p:grpSpPr>
                <p:sp>
                  <p:nvSpPr>
                    <p:cNvPr id="1055796" name="Rectangle 52"/>
                    <p:cNvSpPr>
                      <a:spLocks noChangeArrowheads="1"/>
                    </p:cNvSpPr>
                    <p:nvPr/>
                  </p:nvSpPr>
                  <p:spPr bwMode="auto">
                    <a:xfrm>
                      <a:off x="4311" y="333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5797" name="Line 53"/>
                    <p:cNvSpPr>
                      <a:spLocks noChangeShapeType="1"/>
                    </p:cNvSpPr>
                    <p:nvPr/>
                  </p:nvSpPr>
                  <p:spPr bwMode="auto">
                    <a:xfrm>
                      <a:off x="4518" y="334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nvGrpSpPr>
                    <p:cNvPr id="90287" name="Group 54"/>
                    <p:cNvGrpSpPr/>
                    <p:nvPr/>
                  </p:nvGrpSpPr>
                  <p:grpSpPr bwMode="auto">
                    <a:xfrm>
                      <a:off x="4560" y="3432"/>
                      <a:ext cx="159" cy="227"/>
                      <a:chOff x="1488" y="3840"/>
                      <a:chExt cx="159" cy="181"/>
                    </a:xfrm>
                  </p:grpSpPr>
                  <p:sp>
                    <p:nvSpPr>
                      <p:cNvPr id="1055799" name="Line 55"/>
                      <p:cNvSpPr>
                        <a:spLocks noChangeShapeType="1"/>
                      </p:cNvSpPr>
                      <p:nvPr/>
                    </p:nvSpPr>
                    <p:spPr bwMode="auto">
                      <a:xfrm>
                        <a:off x="1488" y="3840"/>
                        <a:ext cx="159"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00" name="Line 56"/>
                      <p:cNvSpPr>
                        <a:spLocks noChangeShapeType="1"/>
                      </p:cNvSpPr>
                      <p:nvPr/>
                    </p:nvSpPr>
                    <p:spPr bwMode="auto">
                      <a:xfrm>
                        <a:off x="1640" y="3840"/>
                        <a:ext cx="0" cy="181"/>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grpSp>
              <p:nvGrpSpPr>
                <p:cNvPr id="90266" name="Group 57"/>
                <p:cNvGrpSpPr/>
                <p:nvPr/>
              </p:nvGrpSpPr>
              <p:grpSpPr bwMode="auto">
                <a:xfrm>
                  <a:off x="3606" y="830"/>
                  <a:ext cx="1540" cy="250"/>
                  <a:chOff x="1676" y="897"/>
                  <a:chExt cx="1540" cy="250"/>
                </a:xfrm>
              </p:grpSpPr>
              <p:grpSp>
                <p:nvGrpSpPr>
                  <p:cNvPr id="90267" name="Group 58"/>
                  <p:cNvGrpSpPr/>
                  <p:nvPr/>
                </p:nvGrpSpPr>
                <p:grpSpPr bwMode="auto">
                  <a:xfrm>
                    <a:off x="2072" y="928"/>
                    <a:ext cx="453" cy="212"/>
                    <a:chOff x="2160" y="2928"/>
                    <a:chExt cx="453" cy="212"/>
                  </a:xfrm>
                </p:grpSpPr>
                <p:sp>
                  <p:nvSpPr>
                    <p:cNvPr id="1055803" name="Rectangle 59"/>
                    <p:cNvSpPr>
                      <a:spLocks noChangeArrowheads="1"/>
                    </p:cNvSpPr>
                    <p:nvPr/>
                  </p:nvSpPr>
                  <p:spPr bwMode="auto">
                    <a:xfrm>
                      <a:off x="2160" y="2928"/>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x</a:t>
                      </a:r>
                      <a:endParaRPr lang="en-US" altLang="zh-CN" sz="2400"/>
                    </a:p>
                  </p:txBody>
                </p:sp>
                <p:sp>
                  <p:nvSpPr>
                    <p:cNvPr id="1055804" name="Line 60"/>
                    <p:cNvSpPr>
                      <a:spLocks noChangeShapeType="1"/>
                    </p:cNvSpPr>
                    <p:nvPr/>
                  </p:nvSpPr>
                  <p:spPr bwMode="auto">
                    <a:xfrm>
                      <a:off x="2368" y="2936"/>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05" name="Line 61"/>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68" name="Group 62"/>
                  <p:cNvGrpSpPr/>
                  <p:nvPr/>
                </p:nvGrpSpPr>
                <p:grpSpPr bwMode="auto">
                  <a:xfrm>
                    <a:off x="2535" y="927"/>
                    <a:ext cx="681" cy="220"/>
                    <a:chOff x="3504" y="2160"/>
                    <a:chExt cx="681" cy="220"/>
                  </a:xfrm>
                </p:grpSpPr>
                <p:grpSp>
                  <p:nvGrpSpPr>
                    <p:cNvPr id="90272" name="Group 63"/>
                    <p:cNvGrpSpPr/>
                    <p:nvPr/>
                  </p:nvGrpSpPr>
                  <p:grpSpPr bwMode="auto">
                    <a:xfrm>
                      <a:off x="3504" y="2160"/>
                      <a:ext cx="453" cy="212"/>
                      <a:chOff x="2160" y="2928"/>
                      <a:chExt cx="453" cy="212"/>
                    </a:xfrm>
                  </p:grpSpPr>
                  <p:sp>
                    <p:nvSpPr>
                      <p:cNvPr id="1055808" name="Rectangle 64"/>
                      <p:cNvSpPr>
                        <a:spLocks noChangeArrowheads="1"/>
                      </p:cNvSpPr>
                      <p:nvPr/>
                    </p:nvSpPr>
                    <p:spPr bwMode="auto">
                      <a:xfrm>
                        <a:off x="2160" y="2928"/>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y</a:t>
                        </a:r>
                        <a:endParaRPr lang="en-US" altLang="zh-CN" sz="2400"/>
                      </a:p>
                    </p:txBody>
                  </p:sp>
                  <p:sp>
                    <p:nvSpPr>
                      <p:cNvPr id="1055809" name="Line 65"/>
                      <p:cNvSpPr>
                        <a:spLocks noChangeShapeType="1"/>
                      </p:cNvSpPr>
                      <p:nvPr/>
                    </p:nvSpPr>
                    <p:spPr bwMode="auto">
                      <a:xfrm>
                        <a:off x="2369" y="2936"/>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10" name="Line 66"/>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sp>
                  <p:nvSpPr>
                    <p:cNvPr id="1055811" name="Rectangle 67"/>
                    <p:cNvSpPr>
                      <a:spLocks noChangeArrowheads="1"/>
                    </p:cNvSpPr>
                    <p:nvPr/>
                  </p:nvSpPr>
                  <p:spPr bwMode="auto">
                    <a:xfrm>
                      <a:off x="3936" y="2177"/>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269" name="Group 68"/>
                  <p:cNvGrpSpPr/>
                  <p:nvPr/>
                </p:nvGrpSpPr>
                <p:grpSpPr bwMode="auto">
                  <a:xfrm>
                    <a:off x="1676" y="897"/>
                    <a:ext cx="388" cy="204"/>
                    <a:chOff x="1353" y="3490"/>
                    <a:chExt cx="388" cy="204"/>
                  </a:xfrm>
                </p:grpSpPr>
                <p:sp>
                  <p:nvSpPr>
                    <p:cNvPr id="1055813" name="Line 69"/>
                    <p:cNvSpPr>
                      <a:spLocks noChangeShapeType="1"/>
                    </p:cNvSpPr>
                    <p:nvPr/>
                  </p:nvSpPr>
                  <p:spPr bwMode="auto">
                    <a:xfrm>
                      <a:off x="1560" y="36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14" name="Rectangle 70"/>
                    <p:cNvSpPr>
                      <a:spLocks noChangeArrowheads="1"/>
                    </p:cNvSpPr>
                    <p:nvPr/>
                  </p:nvSpPr>
                  <p:spPr bwMode="auto">
                    <a:xfrm>
                      <a:off x="1353" y="3490"/>
                      <a:ext cx="203"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grpSp>
            </p:grpSp>
          </p:grpSp>
          <p:grpSp>
            <p:nvGrpSpPr>
              <p:cNvPr id="90188" name="Group 71"/>
              <p:cNvGrpSpPr/>
              <p:nvPr/>
            </p:nvGrpSpPr>
            <p:grpSpPr bwMode="auto">
              <a:xfrm>
                <a:off x="936" y="2544"/>
                <a:ext cx="3718" cy="1729"/>
                <a:chOff x="768" y="1680"/>
                <a:chExt cx="3744" cy="1776"/>
              </a:xfrm>
            </p:grpSpPr>
            <p:grpSp>
              <p:nvGrpSpPr>
                <p:cNvPr id="90189" name="Group 72"/>
                <p:cNvGrpSpPr/>
                <p:nvPr/>
              </p:nvGrpSpPr>
              <p:grpSpPr bwMode="auto">
                <a:xfrm>
                  <a:off x="1392" y="1680"/>
                  <a:ext cx="3024" cy="912"/>
                  <a:chOff x="1392" y="1680"/>
                  <a:chExt cx="3024" cy="912"/>
                </a:xfrm>
              </p:grpSpPr>
              <p:sp>
                <p:nvSpPr>
                  <p:cNvPr id="1055817" name="Rectangle 73"/>
                  <p:cNvSpPr>
                    <a:spLocks noChangeArrowheads="1"/>
                  </p:cNvSpPr>
                  <p:nvPr/>
                </p:nvSpPr>
                <p:spPr bwMode="auto">
                  <a:xfrm>
                    <a:off x="2688" y="2353"/>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grpSp>
                <p:nvGrpSpPr>
                  <p:cNvPr id="90228" name="Group 74"/>
                  <p:cNvGrpSpPr/>
                  <p:nvPr/>
                </p:nvGrpSpPr>
                <p:grpSpPr bwMode="auto">
                  <a:xfrm>
                    <a:off x="1392" y="1680"/>
                    <a:ext cx="3024" cy="614"/>
                    <a:chOff x="-48" y="2160"/>
                    <a:chExt cx="3024" cy="614"/>
                  </a:xfrm>
                </p:grpSpPr>
                <p:grpSp>
                  <p:nvGrpSpPr>
                    <p:cNvPr id="90229" name="Group 75"/>
                    <p:cNvGrpSpPr/>
                    <p:nvPr/>
                  </p:nvGrpSpPr>
                  <p:grpSpPr bwMode="auto">
                    <a:xfrm>
                      <a:off x="1338" y="2165"/>
                      <a:ext cx="1638" cy="609"/>
                      <a:chOff x="1914" y="1344"/>
                      <a:chExt cx="1638" cy="612"/>
                    </a:xfrm>
                  </p:grpSpPr>
                  <p:grpSp>
                    <p:nvGrpSpPr>
                      <p:cNvPr id="90245" name="Group 76"/>
                      <p:cNvGrpSpPr/>
                      <p:nvPr/>
                    </p:nvGrpSpPr>
                    <p:grpSpPr bwMode="auto">
                      <a:xfrm>
                        <a:off x="2851" y="1744"/>
                        <a:ext cx="453" cy="212"/>
                        <a:chOff x="2160" y="2928"/>
                        <a:chExt cx="453" cy="212"/>
                      </a:xfrm>
                    </p:grpSpPr>
                    <p:sp>
                      <p:nvSpPr>
                        <p:cNvPr id="1055821" name="Rectangle 77"/>
                        <p:cNvSpPr>
                          <a:spLocks noChangeArrowheads="1"/>
                        </p:cNvSpPr>
                        <p:nvPr/>
                      </p:nvSpPr>
                      <p:spPr bwMode="auto">
                        <a:xfrm>
                          <a:off x="2160" y="292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y</a:t>
                          </a:r>
                          <a:endParaRPr lang="en-US" altLang="zh-CN" sz="2400"/>
                        </a:p>
                      </p:txBody>
                    </p:sp>
                    <p:sp>
                      <p:nvSpPr>
                        <p:cNvPr id="1055822" name="Line 78"/>
                        <p:cNvSpPr>
                          <a:spLocks noChangeShapeType="1"/>
                        </p:cNvSpPr>
                        <p:nvPr/>
                      </p:nvSpPr>
                      <p:spPr bwMode="auto">
                        <a:xfrm>
                          <a:off x="2369"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23" name="Line 79"/>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46" name="Group 80"/>
                      <p:cNvGrpSpPr/>
                      <p:nvPr/>
                    </p:nvGrpSpPr>
                    <p:grpSpPr bwMode="auto">
                      <a:xfrm>
                        <a:off x="2423" y="1344"/>
                        <a:ext cx="204" cy="399"/>
                        <a:chOff x="432" y="2688"/>
                        <a:chExt cx="204" cy="399"/>
                      </a:xfrm>
                    </p:grpSpPr>
                    <p:sp>
                      <p:nvSpPr>
                        <p:cNvPr id="1055825" name="Rectangle 81"/>
                        <p:cNvSpPr>
                          <a:spLocks noChangeArrowheads="1"/>
                        </p:cNvSpPr>
                        <p:nvPr/>
                      </p:nvSpPr>
                      <p:spPr bwMode="auto">
                        <a:xfrm>
                          <a:off x="432" y="2688"/>
                          <a:ext cx="20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5826" name="Line 82"/>
                        <p:cNvSpPr>
                          <a:spLocks noChangeShapeType="1"/>
                        </p:cNvSpPr>
                        <p:nvPr/>
                      </p:nvSpPr>
                      <p:spPr bwMode="auto">
                        <a:xfrm>
                          <a:off x="520" y="2929"/>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47" name="Group 83"/>
                      <p:cNvGrpSpPr/>
                      <p:nvPr/>
                    </p:nvGrpSpPr>
                    <p:grpSpPr bwMode="auto">
                      <a:xfrm>
                        <a:off x="2391" y="1744"/>
                        <a:ext cx="453" cy="212"/>
                        <a:chOff x="2160" y="2928"/>
                        <a:chExt cx="453" cy="212"/>
                      </a:xfrm>
                    </p:grpSpPr>
                    <p:sp>
                      <p:nvSpPr>
                        <p:cNvPr id="1055828" name="Rectangle 84"/>
                        <p:cNvSpPr>
                          <a:spLocks noChangeArrowheads="1"/>
                        </p:cNvSpPr>
                        <p:nvPr/>
                      </p:nvSpPr>
                      <p:spPr bwMode="auto">
                        <a:xfrm>
                          <a:off x="2160" y="292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x</a:t>
                          </a:r>
                          <a:endParaRPr lang="en-US" altLang="zh-CN" sz="2400"/>
                        </a:p>
                      </p:txBody>
                    </p:sp>
                    <p:sp>
                      <p:nvSpPr>
                        <p:cNvPr id="1055829" name="Line 85"/>
                        <p:cNvSpPr>
                          <a:spLocks noChangeShapeType="1"/>
                        </p:cNvSpPr>
                        <p:nvPr/>
                      </p:nvSpPr>
                      <p:spPr bwMode="auto">
                        <a:xfrm>
                          <a:off x="2369"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30" name="Line 86"/>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48" name="Group 87"/>
                      <p:cNvGrpSpPr/>
                      <p:nvPr/>
                    </p:nvGrpSpPr>
                    <p:grpSpPr bwMode="auto">
                      <a:xfrm>
                        <a:off x="1914" y="1744"/>
                        <a:ext cx="477" cy="204"/>
                        <a:chOff x="928" y="1584"/>
                        <a:chExt cx="477" cy="204"/>
                      </a:xfrm>
                    </p:grpSpPr>
                    <p:sp>
                      <p:nvSpPr>
                        <p:cNvPr id="1055832" name="Line 88"/>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33" name="Rectangle 89"/>
                        <p:cNvSpPr>
                          <a:spLocks noChangeArrowheads="1"/>
                        </p:cNvSpPr>
                        <p:nvPr/>
                      </p:nvSpPr>
                      <p:spPr bwMode="auto">
                        <a:xfrm>
                          <a:off x="928" y="1585"/>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834" name="Rectangle 90"/>
                      <p:cNvSpPr>
                        <a:spLocks noChangeArrowheads="1"/>
                      </p:cNvSpPr>
                      <p:nvPr/>
                    </p:nvSpPr>
                    <p:spPr bwMode="auto">
                      <a:xfrm>
                        <a:off x="3304"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230" name="Group 91"/>
                    <p:cNvGrpSpPr/>
                    <p:nvPr/>
                  </p:nvGrpSpPr>
                  <p:grpSpPr bwMode="auto">
                    <a:xfrm>
                      <a:off x="-48" y="2160"/>
                      <a:ext cx="1390" cy="609"/>
                      <a:chOff x="336" y="2261"/>
                      <a:chExt cx="1390" cy="609"/>
                    </a:xfrm>
                  </p:grpSpPr>
                  <p:grpSp>
                    <p:nvGrpSpPr>
                      <p:cNvPr id="90231" name="Group 92"/>
                      <p:cNvGrpSpPr/>
                      <p:nvPr/>
                    </p:nvGrpSpPr>
                    <p:grpSpPr bwMode="auto">
                      <a:xfrm>
                        <a:off x="1273" y="2659"/>
                        <a:ext cx="453" cy="211"/>
                        <a:chOff x="2160" y="2928"/>
                        <a:chExt cx="453" cy="212"/>
                      </a:xfrm>
                    </p:grpSpPr>
                    <p:sp>
                      <p:nvSpPr>
                        <p:cNvPr id="1055837" name="Rectangle 93"/>
                        <p:cNvSpPr>
                          <a:spLocks noChangeArrowheads="1"/>
                        </p:cNvSpPr>
                        <p:nvPr/>
                      </p:nvSpPr>
                      <p:spPr bwMode="auto">
                        <a:xfrm>
                          <a:off x="2160" y="292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5838" name="Line 94"/>
                        <p:cNvSpPr>
                          <a:spLocks noChangeShapeType="1"/>
                        </p:cNvSpPr>
                        <p:nvPr/>
                      </p:nvSpPr>
                      <p:spPr bwMode="auto">
                        <a:xfrm>
                          <a:off x="2368"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39" name="Line 95"/>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32" name="Group 96"/>
                      <p:cNvGrpSpPr/>
                      <p:nvPr/>
                    </p:nvGrpSpPr>
                    <p:grpSpPr bwMode="auto">
                      <a:xfrm>
                        <a:off x="845" y="2261"/>
                        <a:ext cx="204" cy="397"/>
                        <a:chOff x="432" y="2688"/>
                        <a:chExt cx="204" cy="399"/>
                      </a:xfrm>
                    </p:grpSpPr>
                    <p:sp>
                      <p:nvSpPr>
                        <p:cNvPr id="1055841" name="Rectangle 97"/>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5842" name="Line 98"/>
                        <p:cNvSpPr>
                          <a:spLocks noChangeShapeType="1"/>
                        </p:cNvSpPr>
                        <p:nvPr/>
                      </p:nvSpPr>
                      <p:spPr bwMode="auto">
                        <a:xfrm>
                          <a:off x="520" y="2929"/>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33" name="Group 99"/>
                      <p:cNvGrpSpPr/>
                      <p:nvPr/>
                    </p:nvGrpSpPr>
                    <p:grpSpPr bwMode="auto">
                      <a:xfrm>
                        <a:off x="813" y="2659"/>
                        <a:ext cx="453" cy="211"/>
                        <a:chOff x="2160" y="2928"/>
                        <a:chExt cx="453" cy="212"/>
                      </a:xfrm>
                    </p:grpSpPr>
                    <p:sp>
                      <p:nvSpPr>
                        <p:cNvPr id="1055844" name="Rectangle 100"/>
                        <p:cNvSpPr>
                          <a:spLocks noChangeArrowheads="1"/>
                        </p:cNvSpPr>
                        <p:nvPr/>
                      </p:nvSpPr>
                      <p:spPr bwMode="auto">
                        <a:xfrm>
                          <a:off x="2161" y="2929"/>
                          <a:ext cx="316"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5845" name="Line 101"/>
                        <p:cNvSpPr>
                          <a:spLocks noChangeShapeType="1"/>
                        </p:cNvSpPr>
                        <p:nvPr/>
                      </p:nvSpPr>
                      <p:spPr bwMode="auto">
                        <a:xfrm>
                          <a:off x="2368"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46" name="Line 102"/>
                        <p:cNvSpPr>
                          <a:spLocks noChangeShapeType="1"/>
                        </p:cNvSpPr>
                        <p:nvPr/>
                      </p:nvSpPr>
                      <p:spPr bwMode="auto">
                        <a:xfrm>
                          <a:off x="2433" y="3025"/>
                          <a:ext cx="180"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34" name="Group 103"/>
                      <p:cNvGrpSpPr/>
                      <p:nvPr/>
                    </p:nvGrpSpPr>
                    <p:grpSpPr bwMode="auto">
                      <a:xfrm>
                        <a:off x="336" y="2659"/>
                        <a:ext cx="477" cy="203"/>
                        <a:chOff x="928" y="1584"/>
                        <a:chExt cx="477" cy="204"/>
                      </a:xfrm>
                    </p:grpSpPr>
                    <p:sp>
                      <p:nvSpPr>
                        <p:cNvPr id="1055848" name="Line 104"/>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49" name="Rectangle 105"/>
                        <p:cNvSpPr>
                          <a:spLocks noChangeArrowheads="1"/>
                        </p:cNvSpPr>
                        <p:nvPr/>
                      </p:nvSpPr>
                      <p:spPr bwMode="auto">
                        <a:xfrm>
                          <a:off x="928" y="1585"/>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grpSp>
            </p:grpSp>
            <p:grpSp>
              <p:nvGrpSpPr>
                <p:cNvPr id="90190" name="Group 106"/>
                <p:cNvGrpSpPr/>
                <p:nvPr/>
              </p:nvGrpSpPr>
              <p:grpSpPr bwMode="auto">
                <a:xfrm>
                  <a:off x="1488" y="2449"/>
                  <a:ext cx="3024" cy="1007"/>
                  <a:chOff x="1488" y="2544"/>
                  <a:chExt cx="3024" cy="1007"/>
                </a:xfrm>
              </p:grpSpPr>
              <p:sp>
                <p:nvSpPr>
                  <p:cNvPr id="1055851" name="Rectangle 107"/>
                  <p:cNvSpPr>
                    <a:spLocks noChangeArrowheads="1"/>
                  </p:cNvSpPr>
                  <p:nvPr/>
                </p:nvSpPr>
                <p:spPr bwMode="auto">
                  <a:xfrm>
                    <a:off x="2784" y="3312"/>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nvGrpSpPr>
                  <p:cNvPr id="90193" name="Group 108"/>
                  <p:cNvGrpSpPr/>
                  <p:nvPr/>
                </p:nvGrpSpPr>
                <p:grpSpPr bwMode="auto">
                  <a:xfrm>
                    <a:off x="1488" y="2544"/>
                    <a:ext cx="3024" cy="748"/>
                    <a:chOff x="1536" y="3216"/>
                    <a:chExt cx="3024" cy="748"/>
                  </a:xfrm>
                </p:grpSpPr>
                <p:grpSp>
                  <p:nvGrpSpPr>
                    <p:cNvPr id="90194" name="Group 109"/>
                    <p:cNvGrpSpPr/>
                    <p:nvPr/>
                  </p:nvGrpSpPr>
                  <p:grpSpPr bwMode="auto">
                    <a:xfrm>
                      <a:off x="2922" y="3221"/>
                      <a:ext cx="1638" cy="609"/>
                      <a:chOff x="1914" y="1344"/>
                      <a:chExt cx="1638" cy="612"/>
                    </a:xfrm>
                  </p:grpSpPr>
                  <p:grpSp>
                    <p:nvGrpSpPr>
                      <p:cNvPr id="90212" name="Group 110"/>
                      <p:cNvGrpSpPr/>
                      <p:nvPr/>
                    </p:nvGrpSpPr>
                    <p:grpSpPr bwMode="auto">
                      <a:xfrm>
                        <a:off x="2851" y="1744"/>
                        <a:ext cx="453" cy="212"/>
                        <a:chOff x="2160" y="2928"/>
                        <a:chExt cx="453" cy="212"/>
                      </a:xfrm>
                    </p:grpSpPr>
                    <p:sp>
                      <p:nvSpPr>
                        <p:cNvPr id="1055855" name="Rectangle 111"/>
                        <p:cNvSpPr>
                          <a:spLocks noChangeArrowheads="1"/>
                        </p:cNvSpPr>
                        <p:nvPr/>
                      </p:nvSpPr>
                      <p:spPr bwMode="auto">
                        <a:xfrm>
                          <a:off x="2160" y="292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y</a:t>
                          </a:r>
                          <a:endParaRPr lang="en-US" altLang="zh-CN" sz="2400"/>
                        </a:p>
                      </p:txBody>
                    </p:sp>
                    <p:sp>
                      <p:nvSpPr>
                        <p:cNvPr id="1055856" name="Line 112"/>
                        <p:cNvSpPr>
                          <a:spLocks noChangeShapeType="1"/>
                        </p:cNvSpPr>
                        <p:nvPr/>
                      </p:nvSpPr>
                      <p:spPr bwMode="auto">
                        <a:xfrm>
                          <a:off x="2369"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57" name="Line 113"/>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13" name="Group 114"/>
                      <p:cNvGrpSpPr/>
                      <p:nvPr/>
                    </p:nvGrpSpPr>
                    <p:grpSpPr bwMode="auto">
                      <a:xfrm>
                        <a:off x="2423" y="1344"/>
                        <a:ext cx="204" cy="399"/>
                        <a:chOff x="432" y="2688"/>
                        <a:chExt cx="204" cy="399"/>
                      </a:xfrm>
                    </p:grpSpPr>
                    <p:sp>
                      <p:nvSpPr>
                        <p:cNvPr id="1055859" name="Rectangle 115"/>
                        <p:cNvSpPr>
                          <a:spLocks noChangeArrowheads="1"/>
                        </p:cNvSpPr>
                        <p:nvPr/>
                      </p:nvSpPr>
                      <p:spPr bwMode="auto">
                        <a:xfrm>
                          <a:off x="432" y="2688"/>
                          <a:ext cx="20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5860" name="Line 116"/>
                        <p:cNvSpPr>
                          <a:spLocks noChangeShapeType="1"/>
                        </p:cNvSpPr>
                        <p:nvPr/>
                      </p:nvSpPr>
                      <p:spPr bwMode="auto">
                        <a:xfrm>
                          <a:off x="520" y="2929"/>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14" name="Group 117"/>
                      <p:cNvGrpSpPr/>
                      <p:nvPr/>
                    </p:nvGrpSpPr>
                    <p:grpSpPr bwMode="auto">
                      <a:xfrm>
                        <a:off x="2391" y="1744"/>
                        <a:ext cx="453" cy="212"/>
                        <a:chOff x="2160" y="2928"/>
                        <a:chExt cx="453" cy="212"/>
                      </a:xfrm>
                    </p:grpSpPr>
                    <p:sp>
                      <p:nvSpPr>
                        <p:cNvPr id="1055862" name="Rectangle 118"/>
                        <p:cNvSpPr>
                          <a:spLocks noChangeArrowheads="1"/>
                        </p:cNvSpPr>
                        <p:nvPr/>
                      </p:nvSpPr>
                      <p:spPr bwMode="auto">
                        <a:xfrm>
                          <a:off x="2160" y="292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x</a:t>
                          </a:r>
                          <a:endParaRPr lang="en-US" altLang="zh-CN" sz="2400"/>
                        </a:p>
                      </p:txBody>
                    </p:sp>
                    <p:sp>
                      <p:nvSpPr>
                        <p:cNvPr id="1055863" name="Line 119"/>
                        <p:cNvSpPr>
                          <a:spLocks noChangeShapeType="1"/>
                        </p:cNvSpPr>
                        <p:nvPr/>
                      </p:nvSpPr>
                      <p:spPr bwMode="auto">
                        <a:xfrm>
                          <a:off x="2368"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64" name="Line 120"/>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15" name="Group 121"/>
                      <p:cNvGrpSpPr/>
                      <p:nvPr/>
                    </p:nvGrpSpPr>
                    <p:grpSpPr bwMode="auto">
                      <a:xfrm>
                        <a:off x="1914" y="1744"/>
                        <a:ext cx="477" cy="204"/>
                        <a:chOff x="928" y="1584"/>
                        <a:chExt cx="477" cy="204"/>
                      </a:xfrm>
                    </p:grpSpPr>
                    <p:sp>
                      <p:nvSpPr>
                        <p:cNvPr id="1055866" name="Line 122"/>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67" name="Rectangle 123"/>
                        <p:cNvSpPr>
                          <a:spLocks noChangeArrowheads="1"/>
                        </p:cNvSpPr>
                        <p:nvPr/>
                      </p:nvSpPr>
                      <p:spPr bwMode="auto">
                        <a:xfrm>
                          <a:off x="928" y="1585"/>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868" name="Rectangle 124"/>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195" name="Group 125"/>
                    <p:cNvGrpSpPr/>
                    <p:nvPr/>
                  </p:nvGrpSpPr>
                  <p:grpSpPr bwMode="auto">
                    <a:xfrm>
                      <a:off x="2473" y="3614"/>
                      <a:ext cx="453" cy="211"/>
                      <a:chOff x="2160" y="2928"/>
                      <a:chExt cx="453" cy="212"/>
                    </a:xfrm>
                  </p:grpSpPr>
                  <p:sp>
                    <p:nvSpPr>
                      <p:cNvPr id="1055870" name="Rectangle 126"/>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5871" name="Line 127"/>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72" name="Line 128"/>
                      <p:cNvSpPr>
                        <a:spLocks noChangeShapeType="1"/>
                      </p:cNvSpPr>
                      <p:nvPr/>
                    </p:nvSpPr>
                    <p:spPr bwMode="auto">
                      <a:xfrm>
                        <a:off x="2431"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96" name="Group 129"/>
                    <p:cNvGrpSpPr/>
                    <p:nvPr/>
                  </p:nvGrpSpPr>
                  <p:grpSpPr bwMode="auto">
                    <a:xfrm>
                      <a:off x="2045" y="3216"/>
                      <a:ext cx="204" cy="397"/>
                      <a:chOff x="432" y="2688"/>
                      <a:chExt cx="204" cy="399"/>
                    </a:xfrm>
                  </p:grpSpPr>
                  <p:sp>
                    <p:nvSpPr>
                      <p:cNvPr id="1055874" name="Rectangle 130"/>
                      <p:cNvSpPr>
                        <a:spLocks noChangeArrowheads="1"/>
                      </p:cNvSpPr>
                      <p:nvPr/>
                    </p:nvSpPr>
                    <p:spPr bwMode="auto">
                      <a:xfrm>
                        <a:off x="432" y="2688"/>
                        <a:ext cx="204"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5875" name="Line 131"/>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97" name="Group 132"/>
                    <p:cNvGrpSpPr/>
                    <p:nvPr/>
                  </p:nvGrpSpPr>
                  <p:grpSpPr bwMode="auto">
                    <a:xfrm>
                      <a:off x="2013" y="3614"/>
                      <a:ext cx="317" cy="211"/>
                      <a:chOff x="2013" y="3614"/>
                      <a:chExt cx="317" cy="211"/>
                    </a:xfrm>
                  </p:grpSpPr>
                  <p:sp>
                    <p:nvSpPr>
                      <p:cNvPr id="1055877" name="Rectangle 133"/>
                      <p:cNvSpPr>
                        <a:spLocks noChangeArrowheads="1"/>
                      </p:cNvSpPr>
                      <p:nvPr/>
                    </p:nvSpPr>
                    <p:spPr bwMode="auto">
                      <a:xfrm>
                        <a:off x="2013" y="3614"/>
                        <a:ext cx="316"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5878" name="Line 134"/>
                      <p:cNvSpPr>
                        <a:spLocks noChangeShapeType="1"/>
                      </p:cNvSpPr>
                      <p:nvPr/>
                    </p:nvSpPr>
                    <p:spPr bwMode="auto">
                      <a:xfrm>
                        <a:off x="2221" y="3622"/>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98" name="Group 135"/>
                    <p:cNvGrpSpPr/>
                    <p:nvPr/>
                  </p:nvGrpSpPr>
                  <p:grpSpPr bwMode="auto">
                    <a:xfrm>
                      <a:off x="1536" y="3614"/>
                      <a:ext cx="477" cy="203"/>
                      <a:chOff x="928" y="1584"/>
                      <a:chExt cx="477" cy="204"/>
                    </a:xfrm>
                  </p:grpSpPr>
                  <p:sp>
                    <p:nvSpPr>
                      <p:cNvPr id="1055880" name="Line 136"/>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81" name="Rectangle 137"/>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199" name="Group 138"/>
                    <p:cNvGrpSpPr/>
                    <p:nvPr/>
                  </p:nvGrpSpPr>
                  <p:grpSpPr bwMode="auto">
                    <a:xfrm>
                      <a:off x="2273" y="3760"/>
                      <a:ext cx="1678" cy="204"/>
                      <a:chOff x="2273" y="3760"/>
                      <a:chExt cx="1678" cy="204"/>
                    </a:xfrm>
                  </p:grpSpPr>
                  <p:sp>
                    <p:nvSpPr>
                      <p:cNvPr id="1055883" name="Line 139"/>
                      <p:cNvSpPr>
                        <a:spLocks noChangeShapeType="1"/>
                      </p:cNvSpPr>
                      <p:nvPr/>
                    </p:nvSpPr>
                    <p:spPr bwMode="auto">
                      <a:xfrm>
                        <a:off x="2273" y="3960"/>
                        <a:ext cx="1678"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84" name="Line 140"/>
                      <p:cNvSpPr>
                        <a:spLocks noChangeShapeType="1"/>
                      </p:cNvSpPr>
                      <p:nvPr/>
                    </p:nvSpPr>
                    <p:spPr bwMode="auto">
                      <a:xfrm>
                        <a:off x="2273" y="3760"/>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85" name="Line 141"/>
                      <p:cNvSpPr>
                        <a:spLocks noChangeShapeType="1"/>
                      </p:cNvSpPr>
                      <p:nvPr/>
                    </p:nvSpPr>
                    <p:spPr bwMode="auto">
                      <a:xfrm flipV="1">
                        <a:off x="3944" y="3823"/>
                        <a:ext cx="0" cy="137"/>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sp>
              <p:nvSpPr>
                <p:cNvPr id="1055886" name="Rectangle 142"/>
                <p:cNvSpPr>
                  <a:spLocks noChangeArrowheads="1"/>
                </p:cNvSpPr>
                <p:nvPr/>
              </p:nvSpPr>
              <p:spPr bwMode="auto">
                <a:xfrm>
                  <a:off x="768" y="2400"/>
                  <a:ext cx="295"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800">
                      <a:ea typeface="Arial Unicode MS" panose="020B0604020202020204" charset="-122"/>
                    </a:rPr>
                    <a:t>(b)</a:t>
                  </a:r>
                  <a:endParaRPr lang="en-US" altLang="zh-CN" sz="3200"/>
                </a:p>
              </p:txBody>
            </p:sp>
          </p:grpSp>
        </p:grpSp>
        <p:grpSp>
          <p:nvGrpSpPr>
            <p:cNvPr id="90115" name="Group 143"/>
            <p:cNvGrpSpPr/>
            <p:nvPr/>
          </p:nvGrpSpPr>
          <p:grpSpPr bwMode="auto">
            <a:xfrm>
              <a:off x="816" y="-20"/>
              <a:ext cx="3718" cy="1700"/>
              <a:chOff x="864" y="-20"/>
              <a:chExt cx="3718" cy="1700"/>
            </a:xfrm>
          </p:grpSpPr>
          <p:grpSp>
            <p:nvGrpSpPr>
              <p:cNvPr id="90116" name="Group 144"/>
              <p:cNvGrpSpPr/>
              <p:nvPr/>
            </p:nvGrpSpPr>
            <p:grpSpPr bwMode="auto">
              <a:xfrm>
                <a:off x="1484" y="-20"/>
                <a:ext cx="3003" cy="873"/>
                <a:chOff x="1392" y="1680"/>
                <a:chExt cx="3024" cy="912"/>
              </a:xfrm>
            </p:grpSpPr>
            <p:sp>
              <p:nvSpPr>
                <p:cNvPr id="1055889" name="Rectangle 145"/>
                <p:cNvSpPr>
                  <a:spLocks noChangeArrowheads="1"/>
                </p:cNvSpPr>
                <p:nvPr/>
              </p:nvSpPr>
              <p:spPr bwMode="auto">
                <a:xfrm>
                  <a:off x="2688" y="2353"/>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grpSp>
              <p:nvGrpSpPr>
                <p:cNvPr id="90154" name="Group 146"/>
                <p:cNvGrpSpPr/>
                <p:nvPr/>
              </p:nvGrpSpPr>
              <p:grpSpPr bwMode="auto">
                <a:xfrm>
                  <a:off x="1392" y="1680"/>
                  <a:ext cx="3024" cy="614"/>
                  <a:chOff x="-48" y="2160"/>
                  <a:chExt cx="3024" cy="614"/>
                </a:xfrm>
              </p:grpSpPr>
              <p:grpSp>
                <p:nvGrpSpPr>
                  <p:cNvPr id="90155" name="Group 147"/>
                  <p:cNvGrpSpPr/>
                  <p:nvPr/>
                </p:nvGrpSpPr>
                <p:grpSpPr bwMode="auto">
                  <a:xfrm>
                    <a:off x="1338" y="2165"/>
                    <a:ext cx="1638" cy="609"/>
                    <a:chOff x="1914" y="1344"/>
                    <a:chExt cx="1638" cy="612"/>
                  </a:xfrm>
                </p:grpSpPr>
                <p:grpSp>
                  <p:nvGrpSpPr>
                    <p:cNvPr id="90171" name="Group 148"/>
                    <p:cNvGrpSpPr/>
                    <p:nvPr/>
                  </p:nvGrpSpPr>
                  <p:grpSpPr bwMode="auto">
                    <a:xfrm>
                      <a:off x="2851" y="1744"/>
                      <a:ext cx="453" cy="212"/>
                      <a:chOff x="2160" y="2928"/>
                      <a:chExt cx="453" cy="212"/>
                    </a:xfrm>
                  </p:grpSpPr>
                  <p:sp>
                    <p:nvSpPr>
                      <p:cNvPr id="1055893" name="Rectangle 149"/>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y</a:t>
                        </a:r>
                        <a:endParaRPr lang="en-US" altLang="zh-CN" sz="2400"/>
                      </a:p>
                    </p:txBody>
                  </p:sp>
                  <p:sp>
                    <p:nvSpPr>
                      <p:cNvPr id="1055894" name="Line 150"/>
                      <p:cNvSpPr>
                        <a:spLocks noChangeShapeType="1"/>
                      </p:cNvSpPr>
                      <p:nvPr/>
                    </p:nvSpPr>
                    <p:spPr bwMode="auto">
                      <a:xfrm>
                        <a:off x="2369" y="2937"/>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95" name="Line 151"/>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72" name="Group 152"/>
                    <p:cNvGrpSpPr/>
                    <p:nvPr/>
                  </p:nvGrpSpPr>
                  <p:grpSpPr bwMode="auto">
                    <a:xfrm>
                      <a:off x="2423" y="1344"/>
                      <a:ext cx="204" cy="399"/>
                      <a:chOff x="432" y="2688"/>
                      <a:chExt cx="204" cy="399"/>
                    </a:xfrm>
                  </p:grpSpPr>
                  <p:sp>
                    <p:nvSpPr>
                      <p:cNvPr id="1055897" name="Rectangle 153"/>
                      <p:cNvSpPr>
                        <a:spLocks noChangeArrowheads="1"/>
                      </p:cNvSpPr>
                      <p:nvPr/>
                    </p:nvSpPr>
                    <p:spPr bwMode="auto">
                      <a:xfrm>
                        <a:off x="432" y="2688"/>
                        <a:ext cx="20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5898" name="Line 154"/>
                      <p:cNvSpPr>
                        <a:spLocks noChangeShapeType="1"/>
                      </p:cNvSpPr>
                      <p:nvPr/>
                    </p:nvSpPr>
                    <p:spPr bwMode="auto">
                      <a:xfrm>
                        <a:off x="520" y="2929"/>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73" name="Group 155"/>
                    <p:cNvGrpSpPr/>
                    <p:nvPr/>
                  </p:nvGrpSpPr>
                  <p:grpSpPr bwMode="auto">
                    <a:xfrm>
                      <a:off x="2391" y="1744"/>
                      <a:ext cx="453" cy="212"/>
                      <a:chOff x="2160" y="2928"/>
                      <a:chExt cx="453" cy="212"/>
                    </a:xfrm>
                  </p:grpSpPr>
                  <p:sp>
                    <p:nvSpPr>
                      <p:cNvPr id="1055900" name="Rectangle 156"/>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x</a:t>
                        </a:r>
                        <a:endParaRPr lang="en-US" altLang="zh-CN" sz="2400"/>
                      </a:p>
                    </p:txBody>
                  </p:sp>
                  <p:sp>
                    <p:nvSpPr>
                      <p:cNvPr id="1055901" name="Line 157"/>
                      <p:cNvSpPr>
                        <a:spLocks noChangeShapeType="1"/>
                      </p:cNvSpPr>
                      <p:nvPr/>
                    </p:nvSpPr>
                    <p:spPr bwMode="auto">
                      <a:xfrm>
                        <a:off x="2368" y="2937"/>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02" name="Line 158"/>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74" name="Group 159"/>
                    <p:cNvGrpSpPr/>
                    <p:nvPr/>
                  </p:nvGrpSpPr>
                  <p:grpSpPr bwMode="auto">
                    <a:xfrm>
                      <a:off x="1914" y="1744"/>
                      <a:ext cx="477" cy="204"/>
                      <a:chOff x="928" y="1584"/>
                      <a:chExt cx="477" cy="204"/>
                    </a:xfrm>
                  </p:grpSpPr>
                  <p:sp>
                    <p:nvSpPr>
                      <p:cNvPr id="1055904" name="Line 160"/>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05" name="Rectangle 161"/>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906" name="Rectangle 162"/>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156" name="Group 163"/>
                  <p:cNvGrpSpPr/>
                  <p:nvPr/>
                </p:nvGrpSpPr>
                <p:grpSpPr bwMode="auto">
                  <a:xfrm>
                    <a:off x="-48" y="2160"/>
                    <a:ext cx="1390" cy="609"/>
                    <a:chOff x="336" y="2261"/>
                    <a:chExt cx="1390" cy="609"/>
                  </a:xfrm>
                </p:grpSpPr>
                <p:grpSp>
                  <p:nvGrpSpPr>
                    <p:cNvPr id="90157" name="Group 164"/>
                    <p:cNvGrpSpPr/>
                    <p:nvPr/>
                  </p:nvGrpSpPr>
                  <p:grpSpPr bwMode="auto">
                    <a:xfrm>
                      <a:off x="1273" y="2659"/>
                      <a:ext cx="453" cy="211"/>
                      <a:chOff x="2160" y="2928"/>
                      <a:chExt cx="453" cy="212"/>
                    </a:xfrm>
                  </p:grpSpPr>
                  <p:sp>
                    <p:nvSpPr>
                      <p:cNvPr id="1055909" name="Rectangle 165"/>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5910" name="Line 166"/>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11" name="Line 167"/>
                      <p:cNvSpPr>
                        <a:spLocks noChangeShapeType="1"/>
                      </p:cNvSpPr>
                      <p:nvPr/>
                    </p:nvSpPr>
                    <p:spPr bwMode="auto">
                      <a:xfrm>
                        <a:off x="2431"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58" name="Group 168"/>
                    <p:cNvGrpSpPr/>
                    <p:nvPr/>
                  </p:nvGrpSpPr>
                  <p:grpSpPr bwMode="auto">
                    <a:xfrm>
                      <a:off x="845" y="2261"/>
                      <a:ext cx="204" cy="397"/>
                      <a:chOff x="432" y="2688"/>
                      <a:chExt cx="204" cy="399"/>
                    </a:xfrm>
                  </p:grpSpPr>
                  <p:sp>
                    <p:nvSpPr>
                      <p:cNvPr id="1055913" name="Rectangle 169"/>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5914" name="Line 170"/>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59" name="Group 171"/>
                    <p:cNvGrpSpPr/>
                    <p:nvPr/>
                  </p:nvGrpSpPr>
                  <p:grpSpPr bwMode="auto">
                    <a:xfrm>
                      <a:off x="813" y="2659"/>
                      <a:ext cx="453" cy="211"/>
                      <a:chOff x="2160" y="2928"/>
                      <a:chExt cx="453" cy="212"/>
                    </a:xfrm>
                  </p:grpSpPr>
                  <p:sp>
                    <p:nvSpPr>
                      <p:cNvPr id="1055916" name="Rectangle 172"/>
                      <p:cNvSpPr>
                        <a:spLocks noChangeArrowheads="1"/>
                      </p:cNvSpPr>
                      <p:nvPr/>
                    </p:nvSpPr>
                    <p:spPr bwMode="auto">
                      <a:xfrm>
                        <a:off x="2160" y="2928"/>
                        <a:ext cx="316"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5917" name="Line 173"/>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18" name="Line 174"/>
                      <p:cNvSpPr>
                        <a:spLocks noChangeShapeType="1"/>
                      </p:cNvSpPr>
                      <p:nvPr/>
                    </p:nvSpPr>
                    <p:spPr bwMode="auto">
                      <a:xfrm>
                        <a:off x="2432" y="3024"/>
                        <a:ext cx="180"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60" name="Group 175"/>
                    <p:cNvGrpSpPr/>
                    <p:nvPr/>
                  </p:nvGrpSpPr>
                  <p:grpSpPr bwMode="auto">
                    <a:xfrm>
                      <a:off x="336" y="2659"/>
                      <a:ext cx="477" cy="203"/>
                      <a:chOff x="928" y="1584"/>
                      <a:chExt cx="477" cy="204"/>
                    </a:xfrm>
                  </p:grpSpPr>
                  <p:sp>
                    <p:nvSpPr>
                      <p:cNvPr id="1055920" name="Line 176"/>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21" name="Rectangle 177"/>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grpSp>
          </p:grpSp>
          <p:grpSp>
            <p:nvGrpSpPr>
              <p:cNvPr id="90117" name="Group 178"/>
              <p:cNvGrpSpPr/>
              <p:nvPr/>
            </p:nvGrpSpPr>
            <p:grpSpPr bwMode="auto">
              <a:xfrm>
                <a:off x="1579" y="716"/>
                <a:ext cx="3003" cy="964"/>
                <a:chOff x="1579" y="716"/>
                <a:chExt cx="3003" cy="964"/>
              </a:xfrm>
            </p:grpSpPr>
            <p:sp>
              <p:nvSpPr>
                <p:cNvPr id="1055923" name="Rectangle 179"/>
                <p:cNvSpPr>
                  <a:spLocks noChangeArrowheads="1"/>
                </p:cNvSpPr>
                <p:nvPr/>
              </p:nvSpPr>
              <p:spPr bwMode="auto">
                <a:xfrm>
                  <a:off x="2866" y="1451"/>
                  <a:ext cx="667"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nvGrpSpPr>
                <p:cNvPr id="90120" name="Group 180"/>
                <p:cNvGrpSpPr/>
                <p:nvPr/>
              </p:nvGrpSpPr>
              <p:grpSpPr bwMode="auto">
                <a:xfrm>
                  <a:off x="2955" y="721"/>
                  <a:ext cx="1627" cy="583"/>
                  <a:chOff x="1914" y="1344"/>
                  <a:chExt cx="1638" cy="612"/>
                </a:xfrm>
              </p:grpSpPr>
              <p:grpSp>
                <p:nvGrpSpPr>
                  <p:cNvPr id="90138" name="Group 181"/>
                  <p:cNvGrpSpPr/>
                  <p:nvPr/>
                </p:nvGrpSpPr>
                <p:grpSpPr bwMode="auto">
                  <a:xfrm>
                    <a:off x="2851" y="1744"/>
                    <a:ext cx="453" cy="212"/>
                    <a:chOff x="2160" y="2928"/>
                    <a:chExt cx="453" cy="212"/>
                  </a:xfrm>
                </p:grpSpPr>
                <p:sp>
                  <p:nvSpPr>
                    <p:cNvPr id="1055926" name="Rectangle 182"/>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y</a:t>
                      </a:r>
                      <a:endParaRPr lang="en-US" altLang="zh-CN" sz="2400"/>
                    </a:p>
                  </p:txBody>
                </p:sp>
                <p:sp>
                  <p:nvSpPr>
                    <p:cNvPr id="1055927" name="Line 183"/>
                    <p:cNvSpPr>
                      <a:spLocks noChangeShapeType="1"/>
                    </p:cNvSpPr>
                    <p:nvPr/>
                  </p:nvSpPr>
                  <p:spPr bwMode="auto">
                    <a:xfrm>
                      <a:off x="2369"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28" name="Line 184"/>
                    <p:cNvSpPr>
                      <a:spLocks noChangeShapeType="1"/>
                    </p:cNvSpPr>
                    <p:nvPr/>
                  </p:nvSpPr>
                  <p:spPr bwMode="auto">
                    <a:xfrm>
                      <a:off x="2432" y="302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39" name="Group 185"/>
                  <p:cNvGrpSpPr/>
                  <p:nvPr/>
                </p:nvGrpSpPr>
                <p:grpSpPr bwMode="auto">
                  <a:xfrm>
                    <a:off x="2423" y="1344"/>
                    <a:ext cx="204" cy="399"/>
                    <a:chOff x="432" y="2688"/>
                    <a:chExt cx="204" cy="399"/>
                  </a:xfrm>
                </p:grpSpPr>
                <p:sp>
                  <p:nvSpPr>
                    <p:cNvPr id="1055930" name="Rectangle 186"/>
                    <p:cNvSpPr>
                      <a:spLocks noChangeArrowheads="1"/>
                    </p:cNvSpPr>
                    <p:nvPr/>
                  </p:nvSpPr>
                  <p:spPr bwMode="auto">
                    <a:xfrm>
                      <a:off x="432" y="2688"/>
                      <a:ext cx="20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5931" name="Line 187"/>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40" name="Group 188"/>
                  <p:cNvGrpSpPr/>
                  <p:nvPr/>
                </p:nvGrpSpPr>
                <p:grpSpPr bwMode="auto">
                  <a:xfrm>
                    <a:off x="2391" y="1744"/>
                    <a:ext cx="453" cy="212"/>
                    <a:chOff x="2160" y="2928"/>
                    <a:chExt cx="453" cy="212"/>
                  </a:xfrm>
                </p:grpSpPr>
                <p:sp>
                  <p:nvSpPr>
                    <p:cNvPr id="1055933" name="Rectangle 189"/>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x</a:t>
                      </a:r>
                      <a:endParaRPr lang="en-US" altLang="zh-CN" sz="2400"/>
                    </a:p>
                  </p:txBody>
                </p:sp>
                <p:sp>
                  <p:nvSpPr>
                    <p:cNvPr id="1055934" name="Line 190"/>
                    <p:cNvSpPr>
                      <a:spLocks noChangeShapeType="1"/>
                    </p:cNvSpPr>
                    <p:nvPr/>
                  </p:nvSpPr>
                  <p:spPr bwMode="auto">
                    <a:xfrm>
                      <a:off x="2369"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35" name="Line 191"/>
                    <p:cNvSpPr>
                      <a:spLocks noChangeShapeType="1"/>
                    </p:cNvSpPr>
                    <p:nvPr/>
                  </p:nvSpPr>
                  <p:spPr bwMode="auto">
                    <a:xfrm>
                      <a:off x="2432" y="302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41" name="Group 192"/>
                  <p:cNvGrpSpPr/>
                  <p:nvPr/>
                </p:nvGrpSpPr>
                <p:grpSpPr bwMode="auto">
                  <a:xfrm>
                    <a:off x="1914" y="1744"/>
                    <a:ext cx="477" cy="204"/>
                    <a:chOff x="928" y="1584"/>
                    <a:chExt cx="477" cy="204"/>
                  </a:xfrm>
                </p:grpSpPr>
                <p:sp>
                  <p:nvSpPr>
                    <p:cNvPr id="1055937" name="Line 193"/>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38" name="Rectangle 194"/>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939" name="Rectangle 195"/>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121" name="Group 196"/>
                <p:cNvGrpSpPr/>
                <p:nvPr/>
              </p:nvGrpSpPr>
              <p:grpSpPr bwMode="auto">
                <a:xfrm>
                  <a:off x="2509" y="1097"/>
                  <a:ext cx="450" cy="202"/>
                  <a:chOff x="2160" y="2928"/>
                  <a:chExt cx="453" cy="212"/>
                </a:xfrm>
              </p:grpSpPr>
              <p:sp>
                <p:nvSpPr>
                  <p:cNvPr id="1055941" name="Rectangle 197"/>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5942" name="Line 198"/>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43" name="Line 199"/>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22" name="Group 200"/>
                <p:cNvGrpSpPr/>
                <p:nvPr/>
              </p:nvGrpSpPr>
              <p:grpSpPr bwMode="auto">
                <a:xfrm>
                  <a:off x="2084" y="716"/>
                  <a:ext cx="203" cy="380"/>
                  <a:chOff x="432" y="2688"/>
                  <a:chExt cx="204" cy="399"/>
                </a:xfrm>
              </p:grpSpPr>
              <p:sp>
                <p:nvSpPr>
                  <p:cNvPr id="1055945" name="Rectangle 201"/>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5946" name="Line 202"/>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23" name="Group 203"/>
                <p:cNvGrpSpPr/>
                <p:nvPr/>
              </p:nvGrpSpPr>
              <p:grpSpPr bwMode="auto">
                <a:xfrm>
                  <a:off x="2053" y="1097"/>
                  <a:ext cx="314" cy="202"/>
                  <a:chOff x="2013" y="3614"/>
                  <a:chExt cx="317" cy="211"/>
                </a:xfrm>
              </p:grpSpPr>
              <p:sp>
                <p:nvSpPr>
                  <p:cNvPr id="1055948" name="Rectangle 204"/>
                  <p:cNvSpPr>
                    <a:spLocks noChangeArrowheads="1"/>
                  </p:cNvSpPr>
                  <p:nvPr/>
                </p:nvSpPr>
                <p:spPr bwMode="auto">
                  <a:xfrm>
                    <a:off x="2013" y="3614"/>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5949" name="Line 205"/>
                  <p:cNvSpPr>
                    <a:spLocks noChangeShapeType="1"/>
                  </p:cNvSpPr>
                  <p:nvPr/>
                </p:nvSpPr>
                <p:spPr bwMode="auto">
                  <a:xfrm>
                    <a:off x="2221" y="3622"/>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24" name="Group 206"/>
                <p:cNvGrpSpPr/>
                <p:nvPr/>
              </p:nvGrpSpPr>
              <p:grpSpPr bwMode="auto">
                <a:xfrm>
                  <a:off x="1579" y="1097"/>
                  <a:ext cx="474" cy="194"/>
                  <a:chOff x="928" y="1584"/>
                  <a:chExt cx="477" cy="204"/>
                </a:xfrm>
              </p:grpSpPr>
              <p:sp>
                <p:nvSpPr>
                  <p:cNvPr id="1055951" name="Line 207"/>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52" name="Rectangle 208"/>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125" name="Group 209"/>
                <p:cNvGrpSpPr/>
                <p:nvPr/>
              </p:nvGrpSpPr>
              <p:grpSpPr bwMode="auto">
                <a:xfrm>
                  <a:off x="2311" y="1237"/>
                  <a:ext cx="1202" cy="197"/>
                  <a:chOff x="2311" y="1237"/>
                  <a:chExt cx="1202" cy="197"/>
                </a:xfrm>
              </p:grpSpPr>
              <p:sp>
                <p:nvSpPr>
                  <p:cNvPr id="1055954" name="Line 210"/>
                  <p:cNvSpPr>
                    <a:spLocks noChangeShapeType="1"/>
                  </p:cNvSpPr>
                  <p:nvPr/>
                </p:nvSpPr>
                <p:spPr bwMode="auto">
                  <a:xfrm>
                    <a:off x="2311" y="1428"/>
                    <a:ext cx="1202"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55" name="Line 211"/>
                  <p:cNvSpPr>
                    <a:spLocks noChangeShapeType="1"/>
                  </p:cNvSpPr>
                  <p:nvPr/>
                </p:nvSpPr>
                <p:spPr bwMode="auto">
                  <a:xfrm>
                    <a:off x="2311" y="1237"/>
                    <a:ext cx="0" cy="19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56" name="Line 212"/>
                  <p:cNvSpPr>
                    <a:spLocks noChangeShapeType="1"/>
                  </p:cNvSpPr>
                  <p:nvPr/>
                </p:nvSpPr>
                <p:spPr bwMode="auto">
                  <a:xfrm flipV="1">
                    <a:off x="3504" y="1298"/>
                    <a:ext cx="0" cy="136"/>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sp>
            <p:nvSpPr>
              <p:cNvPr id="1055957" name="Rectangle 213"/>
              <p:cNvSpPr>
                <a:spLocks noChangeArrowheads="1"/>
              </p:cNvSpPr>
              <p:nvPr/>
            </p:nvSpPr>
            <p:spPr bwMode="auto">
              <a:xfrm>
                <a:off x="864" y="669"/>
                <a:ext cx="293"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800">
                    <a:ea typeface="Arial Unicode MS" panose="020B0604020202020204" charset="-122"/>
                  </a:rPr>
                  <a:t>(b)</a:t>
                </a:r>
                <a:endParaRPr lang="en-US" altLang="zh-CN" sz="3200"/>
              </a:p>
            </p:txBody>
          </p:sp>
        </p:gr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6" name="Text Box 2"/>
          <p:cNvSpPr txBox="1">
            <a:spLocks noChangeArrowheads="1"/>
          </p:cNvSpPr>
          <p:nvPr/>
        </p:nvSpPr>
        <p:spPr bwMode="auto">
          <a:xfrm>
            <a:off x="1676400" y="228600"/>
            <a:ext cx="526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3300"/>
                </a:solidFill>
                <a:ea typeface="隶书" panose="02010509060101010101" charset="-122"/>
              </a:rPr>
              <a:t>三、单链表操作的实现</a:t>
            </a:r>
            <a:endParaRPr lang="zh-CN" altLang="en-US" sz="4800" b="1">
              <a:solidFill>
                <a:srgbClr val="000000"/>
              </a:solidFill>
              <a:ea typeface="楷体_GB2312" charset="0"/>
            </a:endParaRPr>
          </a:p>
        </p:txBody>
      </p:sp>
      <p:sp>
        <p:nvSpPr>
          <p:cNvPr id="953347" name="Text Box 3">
            <a:hlinkClick r:id="" action="ppaction://hlinkshowjump?jump=nextslide"/>
          </p:cNvPr>
          <p:cNvSpPr txBox="1">
            <a:spLocks noChangeArrowheads="1"/>
          </p:cNvSpPr>
          <p:nvPr/>
        </p:nvSpPr>
        <p:spPr bwMode="auto">
          <a:xfrm>
            <a:off x="514350" y="1371600"/>
            <a:ext cx="720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660033"/>
                </a:solidFill>
              </a:rPr>
              <a:t>GetElem(L, i, e)</a:t>
            </a:r>
            <a:r>
              <a:rPr lang="en-US" altLang="zh-CN" sz="3600">
                <a:solidFill>
                  <a:srgbClr val="660033"/>
                </a:solidFill>
              </a:rPr>
              <a:t>    // </a:t>
            </a:r>
            <a:r>
              <a:rPr lang="zh-CN" altLang="en-US" sz="3200" b="1">
                <a:solidFill>
                  <a:srgbClr val="660033"/>
                </a:solidFill>
                <a:latin typeface="楷体_GB2312" charset="0"/>
                <a:ea typeface="楷体_GB2312" charset="0"/>
              </a:rPr>
              <a:t>取第</a:t>
            </a:r>
            <a:r>
              <a:rPr lang="en-US" altLang="zh-CN" sz="3200" b="1">
                <a:solidFill>
                  <a:srgbClr val="660033"/>
                </a:solidFill>
                <a:latin typeface="楷体_GB2312" charset="0"/>
                <a:ea typeface="楷体_GB2312" charset="0"/>
              </a:rPr>
              <a:t>i</a:t>
            </a:r>
            <a:r>
              <a:rPr lang="zh-CN" altLang="en-US" sz="3200" b="1">
                <a:solidFill>
                  <a:srgbClr val="660033"/>
                </a:solidFill>
                <a:latin typeface="楷体_GB2312" charset="0"/>
                <a:ea typeface="楷体_GB2312" charset="0"/>
              </a:rPr>
              <a:t>个数据元素</a:t>
            </a:r>
            <a:endParaRPr lang="zh-CN" altLang="en-US" sz="3600"/>
          </a:p>
        </p:txBody>
      </p:sp>
      <p:sp>
        <p:nvSpPr>
          <p:cNvPr id="953348" name="Text Box 4">
            <a:hlinkClick r:id="rId1" action="ppaction://hlinksldjump"/>
          </p:cNvPr>
          <p:cNvSpPr txBox="1">
            <a:spLocks noChangeArrowheads="1"/>
          </p:cNvSpPr>
          <p:nvPr/>
        </p:nvSpPr>
        <p:spPr bwMode="auto">
          <a:xfrm>
            <a:off x="457200" y="2286000"/>
            <a:ext cx="71755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660033"/>
                </a:solidFill>
              </a:rPr>
              <a:t>ListInsert(&amp;L, i, e)</a:t>
            </a:r>
            <a:r>
              <a:rPr lang="en-US" altLang="zh-CN" sz="3600">
                <a:solidFill>
                  <a:srgbClr val="660033"/>
                </a:solidFill>
              </a:rPr>
              <a:t>    // </a:t>
            </a:r>
            <a:r>
              <a:rPr lang="zh-CN" altLang="en-US" sz="3200" b="1">
                <a:solidFill>
                  <a:srgbClr val="660033"/>
                </a:solidFill>
                <a:ea typeface="楷体_GB2312" charset="0"/>
              </a:rPr>
              <a:t>插入</a:t>
            </a:r>
            <a:r>
              <a:rPr lang="zh-CN" altLang="en-US" sz="3200" b="1">
                <a:solidFill>
                  <a:srgbClr val="660033"/>
                </a:solidFill>
                <a:latin typeface="楷体_GB2312" charset="0"/>
                <a:ea typeface="楷体_GB2312" charset="0"/>
              </a:rPr>
              <a:t>数据元素</a:t>
            </a:r>
            <a:endParaRPr lang="zh-CN" altLang="en-US" sz="3600"/>
          </a:p>
        </p:txBody>
      </p:sp>
      <p:sp>
        <p:nvSpPr>
          <p:cNvPr id="953349" name="Text Box 5">
            <a:hlinkClick r:id="rId2" action="ppaction://hlinksldjump"/>
          </p:cNvPr>
          <p:cNvSpPr txBox="1">
            <a:spLocks noChangeArrowheads="1"/>
          </p:cNvSpPr>
          <p:nvPr/>
        </p:nvSpPr>
        <p:spPr bwMode="auto">
          <a:xfrm>
            <a:off x="457200" y="3200400"/>
            <a:ext cx="7226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660033"/>
                </a:solidFill>
              </a:rPr>
              <a:t>ListDelete(&amp;L, i, e)</a:t>
            </a:r>
            <a:r>
              <a:rPr lang="en-US" altLang="zh-CN" sz="3600">
                <a:solidFill>
                  <a:srgbClr val="660033"/>
                </a:solidFill>
              </a:rPr>
              <a:t>    // </a:t>
            </a:r>
            <a:r>
              <a:rPr lang="zh-CN" altLang="en-US" sz="3200" b="1">
                <a:solidFill>
                  <a:srgbClr val="660033"/>
                </a:solidFill>
                <a:ea typeface="楷体_GB2312" charset="0"/>
              </a:rPr>
              <a:t>删除</a:t>
            </a:r>
            <a:r>
              <a:rPr lang="zh-CN" altLang="en-US" sz="3200" b="1">
                <a:solidFill>
                  <a:srgbClr val="660033"/>
                </a:solidFill>
                <a:latin typeface="楷体_GB2312" charset="0"/>
                <a:ea typeface="楷体_GB2312" charset="0"/>
              </a:rPr>
              <a:t>数据元素</a:t>
            </a:r>
            <a:endParaRPr lang="zh-CN" altLang="en-US" sz="3600"/>
          </a:p>
        </p:txBody>
      </p:sp>
      <p:sp>
        <p:nvSpPr>
          <p:cNvPr id="953350" name="Text Box 6">
            <a:hlinkClick r:id="rId3" action="ppaction://hlinksldjump"/>
          </p:cNvPr>
          <p:cNvSpPr txBox="1">
            <a:spLocks noChangeArrowheads="1"/>
          </p:cNvSpPr>
          <p:nvPr/>
        </p:nvSpPr>
        <p:spPr bwMode="auto">
          <a:xfrm>
            <a:off x="457200" y="4114800"/>
            <a:ext cx="7359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660033"/>
                </a:solidFill>
              </a:rPr>
              <a:t>ClearList(&amp;L)  </a:t>
            </a:r>
            <a:r>
              <a:rPr lang="en-US" altLang="zh-CN" sz="3600">
                <a:solidFill>
                  <a:srgbClr val="660033"/>
                </a:solidFill>
              </a:rPr>
              <a:t>    // </a:t>
            </a:r>
            <a:r>
              <a:rPr lang="zh-CN" altLang="en-US" sz="3200" b="1">
                <a:solidFill>
                  <a:srgbClr val="660033"/>
                </a:solidFill>
                <a:latin typeface="楷体_GB2312" charset="0"/>
                <a:ea typeface="楷体_GB2312" charset="0"/>
              </a:rPr>
              <a:t>重置线性表为空表</a:t>
            </a:r>
            <a:endParaRPr lang="zh-CN" altLang="en-US" sz="3600"/>
          </a:p>
        </p:txBody>
      </p:sp>
      <p:sp>
        <p:nvSpPr>
          <p:cNvPr id="953351" name="Text Box 7">
            <a:hlinkClick r:id="rId4" action="ppaction://hlinksldjump"/>
          </p:cNvPr>
          <p:cNvSpPr txBox="1">
            <a:spLocks noChangeArrowheads="1"/>
          </p:cNvSpPr>
          <p:nvPr/>
        </p:nvSpPr>
        <p:spPr bwMode="auto">
          <a:xfrm>
            <a:off x="457200" y="5029200"/>
            <a:ext cx="75438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660033"/>
                </a:solidFill>
              </a:rPr>
              <a:t>CreateList(&amp;L, n)</a:t>
            </a:r>
            <a:endParaRPr lang="en-US" altLang="zh-CN" sz="3600" b="1">
              <a:solidFill>
                <a:srgbClr val="660033"/>
              </a:solidFill>
            </a:endParaRPr>
          </a:p>
          <a:p>
            <a:pPr eaLnBrk="1" hangingPunct="1">
              <a:defRPr/>
            </a:pPr>
            <a:r>
              <a:rPr lang="en-US" altLang="zh-CN" sz="3600" b="1">
                <a:solidFill>
                  <a:srgbClr val="660033"/>
                </a:solidFill>
              </a:rPr>
              <a:t>               </a:t>
            </a:r>
            <a:r>
              <a:rPr lang="en-US" altLang="zh-CN" sz="3600">
                <a:solidFill>
                  <a:srgbClr val="660033"/>
                </a:solidFill>
              </a:rPr>
              <a:t>   // </a:t>
            </a:r>
            <a:r>
              <a:rPr lang="zh-CN" altLang="en-US" sz="3200" b="1">
                <a:solidFill>
                  <a:srgbClr val="660033"/>
                </a:solidFill>
                <a:ea typeface="楷体_GB2312" charset="0"/>
              </a:rPr>
              <a:t>生成含 </a:t>
            </a:r>
            <a:r>
              <a:rPr lang="en-US" altLang="zh-CN" sz="3200" b="1" i="1">
                <a:solidFill>
                  <a:srgbClr val="660033"/>
                </a:solidFill>
                <a:ea typeface="楷体_GB2312" charset="0"/>
              </a:rPr>
              <a:t>n </a:t>
            </a:r>
            <a:r>
              <a:rPr lang="zh-CN" altLang="en-US" sz="3200" b="1">
                <a:solidFill>
                  <a:srgbClr val="660033"/>
                </a:solidFill>
                <a:ea typeface="楷体_GB2312" charset="0"/>
              </a:rPr>
              <a:t>个数据元素的链表</a:t>
            </a:r>
            <a:endParaRPr lang="zh-CN" altLang="en-US" sz="3600"/>
          </a:p>
        </p:txBody>
      </p:sp>
      <p:sp>
        <p:nvSpPr>
          <p:cNvPr id="953352" name="AutoShape 8">
            <a:hlinkClick r:id="rId5"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953352"/>
                                        </p:tgtEl>
                                        <p:attrNameLst>
                                          <p:attrName>style.visibility</p:attrName>
                                        </p:attrNameLst>
                                      </p:cBhvr>
                                      <p:to>
                                        <p:strVal val="visible"/>
                                      </p:to>
                                    </p:set>
                                    <p:anim calcmode="lin" valueType="num">
                                      <p:cBhvr additive="base">
                                        <p:cTn id="7" dur="500" fill="hold"/>
                                        <p:tgtEl>
                                          <p:spTgt spid="953352"/>
                                        </p:tgtEl>
                                        <p:attrNameLst>
                                          <p:attrName>ppt_x</p:attrName>
                                        </p:attrNameLst>
                                      </p:cBhvr>
                                      <p:tavLst>
                                        <p:tav tm="0">
                                          <p:val>
                                            <p:strVal val="1+#ppt_w/2"/>
                                          </p:val>
                                        </p:tav>
                                        <p:tav tm="100000">
                                          <p:val>
                                            <p:strVal val="#ppt_x"/>
                                          </p:val>
                                        </p:tav>
                                      </p:tavLst>
                                    </p:anim>
                                    <p:anim calcmode="lin" valueType="num">
                                      <p:cBhvr additive="base">
                                        <p:cTn id="8" dur="500" fill="hold"/>
                                        <p:tgtEl>
                                          <p:spTgt spid="9533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335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4370" name="Group 2"/>
          <p:cNvGrpSpPr/>
          <p:nvPr/>
        </p:nvGrpSpPr>
        <p:grpSpPr bwMode="auto">
          <a:xfrm>
            <a:off x="230188" y="2874938"/>
            <a:ext cx="1220787" cy="1555750"/>
            <a:chOff x="95" y="1900"/>
            <a:chExt cx="769" cy="980"/>
          </a:xfrm>
        </p:grpSpPr>
        <p:sp>
          <p:nvSpPr>
            <p:cNvPr id="954371" name="Rectangle 3"/>
            <p:cNvSpPr>
              <a:spLocks noChangeArrowheads="1"/>
            </p:cNvSpPr>
            <p:nvPr/>
          </p:nvSpPr>
          <p:spPr bwMode="auto">
            <a:xfrm>
              <a:off x="288"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600"/>
            </a:p>
          </p:txBody>
        </p:sp>
        <p:sp>
          <p:nvSpPr>
            <p:cNvPr id="954372" name="Line 4"/>
            <p:cNvSpPr>
              <a:spLocks noChangeShapeType="1"/>
            </p:cNvSpPr>
            <p:nvPr/>
          </p:nvSpPr>
          <p:spPr bwMode="auto">
            <a:xfrm>
              <a:off x="672"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73" name="Text Box 5"/>
            <p:cNvSpPr txBox="1">
              <a:spLocks noChangeArrowheads="1"/>
            </p:cNvSpPr>
            <p:nvPr/>
          </p:nvSpPr>
          <p:spPr bwMode="auto">
            <a:xfrm>
              <a:off x="96" y="1900"/>
              <a:ext cx="30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000099"/>
                  </a:solidFill>
                </a:rPr>
                <a:t>L</a:t>
              </a:r>
              <a:endParaRPr lang="en-US" altLang="zh-CN" sz="3600"/>
            </a:p>
          </p:txBody>
        </p:sp>
        <p:sp>
          <p:nvSpPr>
            <p:cNvPr id="954374" name="弧 6"/>
            <p:cNvSpPr/>
            <p:nvPr/>
          </p:nvSpPr>
          <p:spPr bwMode="auto">
            <a:xfrm rot="-10459146">
              <a:off x="95" y="2176"/>
              <a:ext cx="433" cy="553"/>
            </a:xfrm>
            <a:custGeom>
              <a:avLst/>
              <a:gdLst>
                <a:gd name="G0" fmla="+- 0 0 0"/>
                <a:gd name="G1" fmla="+- 19336 0 0"/>
                <a:gd name="G2" fmla="+- 21600 0 0"/>
                <a:gd name="T0" fmla="*/ 9628 w 21600"/>
                <a:gd name="T1" fmla="*/ 0 h 20719"/>
                <a:gd name="T2" fmla="*/ 21556 w 21600"/>
                <a:gd name="T3" fmla="*/ 20719 h 20719"/>
                <a:gd name="T4" fmla="*/ 0 w 21600"/>
                <a:gd name="T5" fmla="*/ 19336 h 20719"/>
              </a:gdLst>
              <a:ahLst/>
              <a:cxnLst>
                <a:cxn ang="0">
                  <a:pos x="T0" y="T1"/>
                </a:cxn>
                <a:cxn ang="0">
                  <a:pos x="T2" y="T3"/>
                </a:cxn>
                <a:cxn ang="0">
                  <a:pos x="T4" y="T5"/>
                </a:cxn>
              </a:cxnLst>
              <a:rect l="0" t="0" r="r" b="b"/>
              <a:pathLst>
                <a:path w="21600" h="20719" fill="none" extrusionOk="0">
                  <a:moveTo>
                    <a:pt x="9627" y="0"/>
                  </a:moveTo>
                  <a:cubicBezTo>
                    <a:pt x="16963" y="3652"/>
                    <a:pt x="21600" y="11141"/>
                    <a:pt x="21600" y="19336"/>
                  </a:cubicBezTo>
                  <a:cubicBezTo>
                    <a:pt x="21600" y="19797"/>
                    <a:pt x="21585" y="20258"/>
                    <a:pt x="21555" y="20718"/>
                  </a:cubicBezTo>
                </a:path>
                <a:path w="21600" h="20719" stroke="0" extrusionOk="0">
                  <a:moveTo>
                    <a:pt x="9627" y="0"/>
                  </a:moveTo>
                  <a:cubicBezTo>
                    <a:pt x="16963" y="3652"/>
                    <a:pt x="21600" y="11141"/>
                    <a:pt x="21600" y="19336"/>
                  </a:cubicBezTo>
                  <a:cubicBezTo>
                    <a:pt x="21600" y="19797"/>
                    <a:pt x="21585" y="20258"/>
                    <a:pt x="21555" y="20718"/>
                  </a:cubicBezTo>
                  <a:lnTo>
                    <a:pt x="0" y="19336"/>
                  </a:lnTo>
                  <a:close/>
                </a:path>
              </a:pathLst>
            </a:custGeom>
            <a:noFill/>
            <a:ln w="31750">
              <a:solidFill>
                <a:srgbClr val="000099"/>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54375" name="Text Box 7"/>
          <p:cNvSpPr txBox="1">
            <a:spLocks noChangeArrowheads="1"/>
          </p:cNvSpPr>
          <p:nvPr/>
        </p:nvSpPr>
        <p:spPr bwMode="auto">
          <a:xfrm>
            <a:off x="536575" y="620688"/>
            <a:ext cx="7315200" cy="231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defRPr/>
            </a:pPr>
            <a:r>
              <a:rPr lang="zh-CN" altLang="en-US" sz="4000" dirty="0">
                <a:ea typeface="楷体_GB2312" charset="0"/>
              </a:rPr>
              <a:t>     线性表的操作</a:t>
            </a:r>
            <a:r>
              <a:rPr lang="zh-CN" altLang="en-US" sz="4800" dirty="0">
                <a:ea typeface="楷体_GB2312" charset="0"/>
              </a:rPr>
              <a:t>  </a:t>
            </a:r>
            <a:endParaRPr lang="zh-CN" altLang="en-US" sz="4800" dirty="0">
              <a:ea typeface="楷体_GB2312" charset="0"/>
            </a:endParaRPr>
          </a:p>
          <a:p>
            <a:pPr eaLnBrk="1" hangingPunct="1">
              <a:defRPr/>
            </a:pPr>
            <a:r>
              <a:rPr lang="zh-CN" altLang="en-US" sz="4800" dirty="0">
                <a:ea typeface="楷体_GB2312" charset="0"/>
              </a:rPr>
              <a:t>        </a:t>
            </a:r>
            <a:r>
              <a:rPr lang="en-US" altLang="zh-CN" sz="4800" b="1" dirty="0" err="1">
                <a:solidFill>
                  <a:srgbClr val="003399"/>
                </a:solidFill>
              </a:rPr>
              <a:t>GetElem</a:t>
            </a:r>
            <a:r>
              <a:rPr lang="en-US" altLang="zh-CN" sz="4800" b="1" dirty="0">
                <a:solidFill>
                  <a:srgbClr val="003399"/>
                </a:solidFill>
              </a:rPr>
              <a:t>(L, </a:t>
            </a:r>
            <a:r>
              <a:rPr lang="en-US" altLang="zh-CN" sz="4800" b="1" dirty="0" err="1">
                <a:solidFill>
                  <a:srgbClr val="003399"/>
                </a:solidFill>
              </a:rPr>
              <a:t>i</a:t>
            </a:r>
            <a:r>
              <a:rPr lang="en-US" altLang="zh-CN" sz="4800" b="1" dirty="0">
                <a:solidFill>
                  <a:srgbClr val="003399"/>
                </a:solidFill>
              </a:rPr>
              <a:t>, &amp;e)</a:t>
            </a:r>
            <a:endParaRPr lang="en-US" altLang="zh-CN" sz="4800" dirty="0"/>
          </a:p>
          <a:p>
            <a:pPr eaLnBrk="1" hangingPunct="1">
              <a:lnSpc>
                <a:spcPct val="125000"/>
              </a:lnSpc>
              <a:defRPr/>
            </a:pPr>
            <a:r>
              <a:rPr lang="zh-CN" altLang="en-US" sz="4000" dirty="0">
                <a:ea typeface="楷体_GB2312" charset="0"/>
              </a:rPr>
              <a:t>在单链表中的实现</a:t>
            </a:r>
            <a:r>
              <a:rPr lang="en-US" altLang="zh-CN" sz="4000" dirty="0"/>
              <a:t>:</a:t>
            </a:r>
            <a:endParaRPr lang="en-US" altLang="zh-CN" sz="4000" dirty="0"/>
          </a:p>
        </p:txBody>
      </p:sp>
      <p:grpSp>
        <p:nvGrpSpPr>
          <p:cNvPr id="954376" name="Group 8"/>
          <p:cNvGrpSpPr/>
          <p:nvPr/>
        </p:nvGrpSpPr>
        <p:grpSpPr bwMode="auto">
          <a:xfrm>
            <a:off x="1298575" y="3897288"/>
            <a:ext cx="1371600" cy="533400"/>
            <a:chOff x="768" y="2544"/>
            <a:chExt cx="864" cy="336"/>
          </a:xfrm>
        </p:grpSpPr>
        <p:sp>
          <p:nvSpPr>
            <p:cNvPr id="954377" name="Rectangle 9"/>
            <p:cNvSpPr>
              <a:spLocks noChangeArrowheads="1"/>
            </p:cNvSpPr>
            <p:nvPr/>
          </p:nvSpPr>
          <p:spPr bwMode="auto">
            <a:xfrm>
              <a:off x="1056"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8080"/>
                  </a:solidFill>
                </a:rPr>
                <a:t>21</a:t>
              </a:r>
              <a:endParaRPr lang="en-US" altLang="zh-CN" sz="3600"/>
            </a:p>
          </p:txBody>
        </p:sp>
        <p:sp>
          <p:nvSpPr>
            <p:cNvPr id="954378" name="Line 10"/>
            <p:cNvSpPr>
              <a:spLocks noChangeShapeType="1"/>
            </p:cNvSpPr>
            <p:nvPr/>
          </p:nvSpPr>
          <p:spPr bwMode="auto">
            <a:xfrm>
              <a:off x="1440"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79" name="Line 11"/>
            <p:cNvSpPr>
              <a:spLocks noChangeShapeType="1"/>
            </p:cNvSpPr>
            <p:nvPr/>
          </p:nvSpPr>
          <p:spPr bwMode="auto">
            <a:xfrm>
              <a:off x="768" y="2736"/>
              <a:ext cx="288" cy="0"/>
            </a:xfrm>
            <a:prstGeom prst="line">
              <a:avLst/>
            </a:prstGeom>
            <a:noFill/>
            <a:ln w="25400">
              <a:solidFill>
                <a:srgbClr val="008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4380" name="Group 12"/>
          <p:cNvGrpSpPr/>
          <p:nvPr/>
        </p:nvGrpSpPr>
        <p:grpSpPr bwMode="auto">
          <a:xfrm>
            <a:off x="2517775" y="3897288"/>
            <a:ext cx="1371600" cy="533400"/>
            <a:chOff x="1536" y="2544"/>
            <a:chExt cx="864" cy="336"/>
          </a:xfrm>
        </p:grpSpPr>
        <p:sp>
          <p:nvSpPr>
            <p:cNvPr id="954381" name="Rectangle 13"/>
            <p:cNvSpPr>
              <a:spLocks noChangeArrowheads="1"/>
            </p:cNvSpPr>
            <p:nvPr/>
          </p:nvSpPr>
          <p:spPr bwMode="auto">
            <a:xfrm>
              <a:off x="1824"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8080"/>
                  </a:solidFill>
                </a:rPr>
                <a:t>18</a:t>
              </a:r>
              <a:endParaRPr lang="en-US" altLang="zh-CN" sz="3600"/>
            </a:p>
          </p:txBody>
        </p:sp>
        <p:sp>
          <p:nvSpPr>
            <p:cNvPr id="954382" name="Line 14"/>
            <p:cNvSpPr>
              <a:spLocks noChangeShapeType="1"/>
            </p:cNvSpPr>
            <p:nvPr/>
          </p:nvSpPr>
          <p:spPr bwMode="auto">
            <a:xfrm>
              <a:off x="2208"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83" name="Line 15"/>
            <p:cNvSpPr>
              <a:spLocks noChangeShapeType="1"/>
            </p:cNvSpPr>
            <p:nvPr/>
          </p:nvSpPr>
          <p:spPr bwMode="auto">
            <a:xfrm>
              <a:off x="1536" y="2736"/>
              <a:ext cx="288" cy="0"/>
            </a:xfrm>
            <a:prstGeom prst="line">
              <a:avLst/>
            </a:prstGeom>
            <a:noFill/>
            <a:ln w="25400">
              <a:solidFill>
                <a:srgbClr val="008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4384" name="Group 16"/>
          <p:cNvGrpSpPr/>
          <p:nvPr/>
        </p:nvGrpSpPr>
        <p:grpSpPr bwMode="auto">
          <a:xfrm>
            <a:off x="3736975" y="3897288"/>
            <a:ext cx="1371600" cy="533400"/>
            <a:chOff x="2304" y="2544"/>
            <a:chExt cx="864" cy="336"/>
          </a:xfrm>
        </p:grpSpPr>
        <p:sp>
          <p:nvSpPr>
            <p:cNvPr id="954385" name="Rectangle 17"/>
            <p:cNvSpPr>
              <a:spLocks noChangeArrowheads="1"/>
            </p:cNvSpPr>
            <p:nvPr/>
          </p:nvSpPr>
          <p:spPr bwMode="auto">
            <a:xfrm>
              <a:off x="2592"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8080"/>
                  </a:solidFill>
                </a:rPr>
                <a:t>30</a:t>
              </a:r>
              <a:endParaRPr lang="en-US" altLang="zh-CN" sz="3600"/>
            </a:p>
          </p:txBody>
        </p:sp>
        <p:sp>
          <p:nvSpPr>
            <p:cNvPr id="954386" name="Line 18"/>
            <p:cNvSpPr>
              <a:spLocks noChangeShapeType="1"/>
            </p:cNvSpPr>
            <p:nvPr/>
          </p:nvSpPr>
          <p:spPr bwMode="auto">
            <a:xfrm>
              <a:off x="2976"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87" name="Line 19"/>
            <p:cNvSpPr>
              <a:spLocks noChangeShapeType="1"/>
            </p:cNvSpPr>
            <p:nvPr/>
          </p:nvSpPr>
          <p:spPr bwMode="auto">
            <a:xfrm>
              <a:off x="2304" y="2736"/>
              <a:ext cx="288" cy="0"/>
            </a:xfrm>
            <a:prstGeom prst="line">
              <a:avLst/>
            </a:prstGeom>
            <a:noFill/>
            <a:ln w="25400">
              <a:solidFill>
                <a:srgbClr val="008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4388" name="Group 20"/>
          <p:cNvGrpSpPr/>
          <p:nvPr/>
        </p:nvGrpSpPr>
        <p:grpSpPr bwMode="auto">
          <a:xfrm>
            <a:off x="4956175" y="3897288"/>
            <a:ext cx="1371600" cy="533400"/>
            <a:chOff x="3072" y="2544"/>
            <a:chExt cx="864" cy="336"/>
          </a:xfrm>
        </p:grpSpPr>
        <p:sp>
          <p:nvSpPr>
            <p:cNvPr id="954389" name="Rectangle 21"/>
            <p:cNvSpPr>
              <a:spLocks noChangeArrowheads="1"/>
            </p:cNvSpPr>
            <p:nvPr/>
          </p:nvSpPr>
          <p:spPr bwMode="auto">
            <a:xfrm>
              <a:off x="3360"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8080"/>
                  </a:solidFill>
                </a:rPr>
                <a:t>75</a:t>
              </a:r>
              <a:endParaRPr lang="en-US" altLang="zh-CN" sz="3600"/>
            </a:p>
          </p:txBody>
        </p:sp>
        <p:sp>
          <p:nvSpPr>
            <p:cNvPr id="954390" name="Line 22"/>
            <p:cNvSpPr>
              <a:spLocks noChangeShapeType="1"/>
            </p:cNvSpPr>
            <p:nvPr/>
          </p:nvSpPr>
          <p:spPr bwMode="auto">
            <a:xfrm>
              <a:off x="3744"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91" name="Line 23"/>
            <p:cNvSpPr>
              <a:spLocks noChangeShapeType="1"/>
            </p:cNvSpPr>
            <p:nvPr/>
          </p:nvSpPr>
          <p:spPr bwMode="auto">
            <a:xfrm>
              <a:off x="3072" y="2736"/>
              <a:ext cx="288" cy="0"/>
            </a:xfrm>
            <a:prstGeom prst="line">
              <a:avLst/>
            </a:prstGeom>
            <a:noFill/>
            <a:ln w="25400">
              <a:solidFill>
                <a:srgbClr val="008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4392" name="Group 24"/>
          <p:cNvGrpSpPr/>
          <p:nvPr/>
        </p:nvGrpSpPr>
        <p:grpSpPr bwMode="auto">
          <a:xfrm>
            <a:off x="6175375" y="3897288"/>
            <a:ext cx="1371600" cy="533400"/>
            <a:chOff x="3840" y="2544"/>
            <a:chExt cx="864" cy="336"/>
          </a:xfrm>
        </p:grpSpPr>
        <p:sp>
          <p:nvSpPr>
            <p:cNvPr id="954393" name="Rectangle 25"/>
            <p:cNvSpPr>
              <a:spLocks noChangeArrowheads="1"/>
            </p:cNvSpPr>
            <p:nvPr/>
          </p:nvSpPr>
          <p:spPr bwMode="auto">
            <a:xfrm>
              <a:off x="4128"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8080"/>
                  </a:solidFill>
                </a:rPr>
                <a:t>42</a:t>
              </a:r>
              <a:endParaRPr lang="en-US" altLang="zh-CN" sz="3600"/>
            </a:p>
          </p:txBody>
        </p:sp>
        <p:sp>
          <p:nvSpPr>
            <p:cNvPr id="954394" name="Line 26"/>
            <p:cNvSpPr>
              <a:spLocks noChangeShapeType="1"/>
            </p:cNvSpPr>
            <p:nvPr/>
          </p:nvSpPr>
          <p:spPr bwMode="auto">
            <a:xfrm>
              <a:off x="4512"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95" name="Line 27"/>
            <p:cNvSpPr>
              <a:spLocks noChangeShapeType="1"/>
            </p:cNvSpPr>
            <p:nvPr/>
          </p:nvSpPr>
          <p:spPr bwMode="auto">
            <a:xfrm>
              <a:off x="3840" y="2736"/>
              <a:ext cx="288" cy="0"/>
            </a:xfrm>
            <a:prstGeom prst="line">
              <a:avLst/>
            </a:prstGeom>
            <a:noFill/>
            <a:ln w="25400">
              <a:solidFill>
                <a:srgbClr val="008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4396" name="Group 28"/>
          <p:cNvGrpSpPr/>
          <p:nvPr/>
        </p:nvGrpSpPr>
        <p:grpSpPr bwMode="auto">
          <a:xfrm>
            <a:off x="7394575" y="3897288"/>
            <a:ext cx="1520825" cy="533400"/>
            <a:chOff x="4608" y="2544"/>
            <a:chExt cx="958" cy="336"/>
          </a:xfrm>
        </p:grpSpPr>
        <p:sp>
          <p:nvSpPr>
            <p:cNvPr id="954397" name="Rectangle 29"/>
            <p:cNvSpPr>
              <a:spLocks noChangeArrowheads="1"/>
            </p:cNvSpPr>
            <p:nvPr/>
          </p:nvSpPr>
          <p:spPr bwMode="auto">
            <a:xfrm>
              <a:off x="4896"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8080"/>
                  </a:solidFill>
                </a:rPr>
                <a:t>56</a:t>
              </a:r>
              <a:endParaRPr lang="en-US" altLang="zh-CN" sz="3600"/>
            </a:p>
          </p:txBody>
        </p:sp>
        <p:sp>
          <p:nvSpPr>
            <p:cNvPr id="954398" name="Line 30"/>
            <p:cNvSpPr>
              <a:spLocks noChangeShapeType="1"/>
            </p:cNvSpPr>
            <p:nvPr/>
          </p:nvSpPr>
          <p:spPr bwMode="auto">
            <a:xfrm>
              <a:off x="5280"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99" name="Text Box 31"/>
            <p:cNvSpPr txBox="1">
              <a:spLocks noChangeArrowheads="1"/>
            </p:cNvSpPr>
            <p:nvPr/>
          </p:nvSpPr>
          <p:spPr bwMode="auto">
            <a:xfrm>
              <a:off x="5226" y="2553"/>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008080"/>
                  </a:solidFill>
                </a:rPr>
                <a:t>∧</a:t>
              </a:r>
              <a:endParaRPr lang="zh-CN" altLang="en-US" sz="3600"/>
            </a:p>
          </p:txBody>
        </p:sp>
        <p:sp>
          <p:nvSpPr>
            <p:cNvPr id="954400" name="Line 32"/>
            <p:cNvSpPr>
              <a:spLocks noChangeShapeType="1"/>
            </p:cNvSpPr>
            <p:nvPr/>
          </p:nvSpPr>
          <p:spPr bwMode="auto">
            <a:xfrm>
              <a:off x="4608" y="2736"/>
              <a:ext cx="288" cy="0"/>
            </a:xfrm>
            <a:prstGeom prst="line">
              <a:avLst/>
            </a:prstGeom>
            <a:noFill/>
            <a:ln w="25400">
              <a:solidFill>
                <a:srgbClr val="008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4401" name="Group 33"/>
          <p:cNvGrpSpPr/>
          <p:nvPr/>
        </p:nvGrpSpPr>
        <p:grpSpPr bwMode="auto">
          <a:xfrm>
            <a:off x="2003425" y="4506888"/>
            <a:ext cx="438150" cy="990600"/>
            <a:chOff x="1212" y="2880"/>
            <a:chExt cx="276" cy="624"/>
          </a:xfrm>
        </p:grpSpPr>
        <p:sp>
          <p:nvSpPr>
            <p:cNvPr id="954402" name="Line 34"/>
            <p:cNvSpPr>
              <a:spLocks noChangeShapeType="1"/>
            </p:cNvSpPr>
            <p:nvPr/>
          </p:nvSpPr>
          <p:spPr bwMode="auto">
            <a:xfrm>
              <a:off x="1248" y="2880"/>
              <a:ext cx="0" cy="624"/>
            </a:xfrm>
            <a:prstGeom prst="line">
              <a:avLst/>
            </a:prstGeom>
            <a:noFill/>
            <a:ln w="31750">
              <a:solidFill>
                <a:srgbClr val="99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403" name="Text Box 35"/>
            <p:cNvSpPr txBox="1">
              <a:spLocks noChangeArrowheads="1"/>
            </p:cNvSpPr>
            <p:nvPr/>
          </p:nvSpPr>
          <p:spPr bwMode="auto">
            <a:xfrm>
              <a:off x="1212" y="305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p</a:t>
              </a:r>
              <a:endParaRPr lang="en-US" altLang="zh-CN" sz="3600"/>
            </a:p>
          </p:txBody>
        </p:sp>
      </p:grpSp>
      <p:grpSp>
        <p:nvGrpSpPr>
          <p:cNvPr id="954404" name="Group 36"/>
          <p:cNvGrpSpPr/>
          <p:nvPr/>
        </p:nvGrpSpPr>
        <p:grpSpPr bwMode="auto">
          <a:xfrm>
            <a:off x="3203575" y="4506888"/>
            <a:ext cx="438150" cy="990600"/>
            <a:chOff x="1212" y="2880"/>
            <a:chExt cx="276" cy="624"/>
          </a:xfrm>
        </p:grpSpPr>
        <p:sp>
          <p:nvSpPr>
            <p:cNvPr id="954405" name="Line 37"/>
            <p:cNvSpPr>
              <a:spLocks noChangeShapeType="1"/>
            </p:cNvSpPr>
            <p:nvPr/>
          </p:nvSpPr>
          <p:spPr bwMode="auto">
            <a:xfrm>
              <a:off x="1248" y="2880"/>
              <a:ext cx="0" cy="624"/>
            </a:xfrm>
            <a:prstGeom prst="line">
              <a:avLst/>
            </a:prstGeom>
            <a:noFill/>
            <a:ln w="31750">
              <a:solidFill>
                <a:srgbClr val="99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406" name="Text Box 38"/>
            <p:cNvSpPr txBox="1">
              <a:spLocks noChangeArrowheads="1"/>
            </p:cNvSpPr>
            <p:nvPr/>
          </p:nvSpPr>
          <p:spPr bwMode="auto">
            <a:xfrm>
              <a:off x="1212" y="305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p</a:t>
              </a:r>
              <a:endParaRPr lang="en-US" altLang="zh-CN" sz="3600"/>
            </a:p>
          </p:txBody>
        </p:sp>
      </p:grpSp>
      <p:grpSp>
        <p:nvGrpSpPr>
          <p:cNvPr id="954407" name="Group 39"/>
          <p:cNvGrpSpPr/>
          <p:nvPr/>
        </p:nvGrpSpPr>
        <p:grpSpPr bwMode="auto">
          <a:xfrm>
            <a:off x="4441825" y="4506888"/>
            <a:ext cx="438150" cy="990600"/>
            <a:chOff x="1212" y="2880"/>
            <a:chExt cx="276" cy="624"/>
          </a:xfrm>
        </p:grpSpPr>
        <p:sp>
          <p:nvSpPr>
            <p:cNvPr id="954408" name="Line 40"/>
            <p:cNvSpPr>
              <a:spLocks noChangeShapeType="1"/>
            </p:cNvSpPr>
            <p:nvPr/>
          </p:nvSpPr>
          <p:spPr bwMode="auto">
            <a:xfrm>
              <a:off x="1248" y="2880"/>
              <a:ext cx="0" cy="624"/>
            </a:xfrm>
            <a:prstGeom prst="line">
              <a:avLst/>
            </a:prstGeom>
            <a:noFill/>
            <a:ln w="31750">
              <a:solidFill>
                <a:srgbClr val="99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409" name="Text Box 41"/>
            <p:cNvSpPr txBox="1">
              <a:spLocks noChangeArrowheads="1"/>
            </p:cNvSpPr>
            <p:nvPr/>
          </p:nvSpPr>
          <p:spPr bwMode="auto">
            <a:xfrm>
              <a:off x="1212" y="305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p</a:t>
              </a:r>
              <a:endParaRPr lang="en-US" altLang="zh-CN" sz="3600"/>
            </a:p>
          </p:txBody>
        </p:sp>
      </p:grpSp>
      <p:sp>
        <p:nvSpPr>
          <p:cNvPr id="954410" name="Text Box 42"/>
          <p:cNvSpPr txBox="1">
            <a:spLocks noChangeArrowheads="1"/>
          </p:cNvSpPr>
          <p:nvPr/>
        </p:nvSpPr>
        <p:spPr bwMode="auto">
          <a:xfrm>
            <a:off x="2943225" y="5726088"/>
            <a:ext cx="336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FF0000"/>
                </a:solidFill>
              </a:rPr>
              <a:t>j</a:t>
            </a:r>
            <a:endParaRPr lang="en-US" altLang="zh-CN" sz="3600"/>
          </a:p>
        </p:txBody>
      </p:sp>
      <p:sp>
        <p:nvSpPr>
          <p:cNvPr id="954411" name="Text Box 43"/>
          <p:cNvSpPr txBox="1">
            <a:spLocks noChangeArrowheads="1"/>
          </p:cNvSpPr>
          <p:nvPr/>
        </p:nvSpPr>
        <p:spPr bwMode="auto">
          <a:xfrm>
            <a:off x="3400425" y="5761013"/>
            <a:ext cx="641350" cy="650875"/>
          </a:xfrm>
          <a:prstGeom prst="rect">
            <a:avLst/>
          </a:prstGeom>
          <a:solidFill>
            <a:srgbClr val="FFFF99">
              <a:alpha val="50000"/>
            </a:srgbClr>
          </a:solidFill>
          <a:ln w="9525">
            <a:solidFill>
              <a:srgbClr val="99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660033"/>
                </a:solidFill>
              </a:rPr>
              <a:t>1</a:t>
            </a:r>
            <a:endParaRPr lang="en-US" altLang="zh-CN" sz="3600"/>
          </a:p>
        </p:txBody>
      </p:sp>
      <p:sp>
        <p:nvSpPr>
          <p:cNvPr id="954412" name="Text Box 44"/>
          <p:cNvSpPr txBox="1">
            <a:spLocks noChangeArrowheads="1"/>
          </p:cNvSpPr>
          <p:nvPr/>
        </p:nvSpPr>
        <p:spPr bwMode="auto">
          <a:xfrm>
            <a:off x="3400425" y="5761013"/>
            <a:ext cx="641350" cy="650875"/>
          </a:xfrm>
          <a:prstGeom prst="rect">
            <a:avLst/>
          </a:prstGeom>
          <a:solidFill>
            <a:srgbClr val="FFFF99"/>
          </a:solidFill>
          <a:ln w="9525">
            <a:solidFill>
              <a:srgbClr val="99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660033"/>
                </a:solidFill>
              </a:rPr>
              <a:t>2</a:t>
            </a:r>
            <a:endParaRPr lang="en-US" altLang="zh-CN" sz="3600"/>
          </a:p>
        </p:txBody>
      </p:sp>
      <p:sp>
        <p:nvSpPr>
          <p:cNvPr id="954413" name="Text Box 45"/>
          <p:cNvSpPr txBox="1">
            <a:spLocks noChangeArrowheads="1"/>
          </p:cNvSpPr>
          <p:nvPr/>
        </p:nvSpPr>
        <p:spPr bwMode="auto">
          <a:xfrm>
            <a:off x="3400425" y="5761013"/>
            <a:ext cx="638175" cy="650875"/>
          </a:xfrm>
          <a:prstGeom prst="rect">
            <a:avLst/>
          </a:prstGeom>
          <a:solidFill>
            <a:srgbClr val="FFFF99"/>
          </a:solidFill>
          <a:ln w="9525">
            <a:solidFill>
              <a:srgbClr val="99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660033"/>
                </a:solidFill>
              </a:rPr>
              <a:t>3</a:t>
            </a:r>
            <a:endParaRPr lang="en-US" altLang="zh-CN" sz="3600"/>
          </a:p>
        </p:txBody>
      </p:sp>
      <p:sp useBgFill="1">
        <p:nvSpPr>
          <p:cNvPr id="954414" name="Rectangle 46"/>
          <p:cNvSpPr>
            <a:spLocks noChangeArrowheads="1"/>
          </p:cNvSpPr>
          <p:nvPr/>
        </p:nvSpPr>
        <p:spPr bwMode="auto">
          <a:xfrm>
            <a:off x="1908175" y="4506888"/>
            <a:ext cx="457200" cy="1143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useBgFill="1">
        <p:nvSpPr>
          <p:cNvPr id="954415" name="Rectangle 47"/>
          <p:cNvSpPr>
            <a:spLocks noChangeArrowheads="1"/>
          </p:cNvSpPr>
          <p:nvPr/>
        </p:nvSpPr>
        <p:spPr bwMode="auto">
          <a:xfrm>
            <a:off x="3127375" y="4506888"/>
            <a:ext cx="457200" cy="1143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54375"/>
                                        </p:tgtEl>
                                        <p:attrNameLst>
                                          <p:attrName>style.visibility</p:attrName>
                                        </p:attrNameLst>
                                      </p:cBhvr>
                                      <p:to>
                                        <p:strVal val="visible"/>
                                      </p:to>
                                    </p:set>
                                    <p:anim calcmode="lin" valueType="num">
                                      <p:cBhvr additive="base">
                                        <p:cTn id="7" dur="500" fill="hold"/>
                                        <p:tgtEl>
                                          <p:spTgt spid="954375"/>
                                        </p:tgtEl>
                                        <p:attrNameLst>
                                          <p:attrName>ppt_x</p:attrName>
                                        </p:attrNameLst>
                                      </p:cBhvr>
                                      <p:tavLst>
                                        <p:tav tm="0">
                                          <p:val>
                                            <p:strVal val="#ppt_x"/>
                                          </p:val>
                                        </p:tav>
                                        <p:tav tm="100000">
                                          <p:val>
                                            <p:strVal val="#ppt_x"/>
                                          </p:val>
                                        </p:tav>
                                      </p:tavLst>
                                    </p:anim>
                                    <p:anim calcmode="lin" valueType="num">
                                      <p:cBhvr additive="base">
                                        <p:cTn id="8" dur="500" fill="hold"/>
                                        <p:tgtEl>
                                          <p:spTgt spid="95437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54370"/>
                                        </p:tgtEl>
                                        <p:attrNameLst>
                                          <p:attrName>style.visibility</p:attrName>
                                        </p:attrNameLst>
                                      </p:cBhvr>
                                      <p:to>
                                        <p:strVal val="visible"/>
                                      </p:to>
                                    </p:set>
                                    <p:animEffect transition="in" filter="wipe(left)">
                                      <p:cBhvr>
                                        <p:cTn id="13" dur="500"/>
                                        <p:tgtEl>
                                          <p:spTgt spid="954370"/>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954376"/>
                                        </p:tgtEl>
                                        <p:attrNameLst>
                                          <p:attrName>style.visibility</p:attrName>
                                        </p:attrNameLst>
                                      </p:cBhvr>
                                      <p:to>
                                        <p:strVal val="visible"/>
                                      </p:to>
                                    </p:set>
                                    <p:animEffect transition="in" filter="wipe(left)">
                                      <p:cBhvr>
                                        <p:cTn id="17" dur="500"/>
                                        <p:tgtEl>
                                          <p:spTgt spid="954376"/>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954380"/>
                                        </p:tgtEl>
                                        <p:attrNameLst>
                                          <p:attrName>style.visibility</p:attrName>
                                        </p:attrNameLst>
                                      </p:cBhvr>
                                      <p:to>
                                        <p:strVal val="visible"/>
                                      </p:to>
                                    </p:set>
                                    <p:animEffect transition="in" filter="wipe(left)">
                                      <p:cBhvr>
                                        <p:cTn id="21" dur="500"/>
                                        <p:tgtEl>
                                          <p:spTgt spid="954380"/>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954384"/>
                                        </p:tgtEl>
                                        <p:attrNameLst>
                                          <p:attrName>style.visibility</p:attrName>
                                        </p:attrNameLst>
                                      </p:cBhvr>
                                      <p:to>
                                        <p:strVal val="visible"/>
                                      </p:to>
                                    </p:set>
                                    <p:animEffect transition="in" filter="wipe(left)">
                                      <p:cBhvr>
                                        <p:cTn id="25" dur="500"/>
                                        <p:tgtEl>
                                          <p:spTgt spid="954384"/>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954388"/>
                                        </p:tgtEl>
                                        <p:attrNameLst>
                                          <p:attrName>style.visibility</p:attrName>
                                        </p:attrNameLst>
                                      </p:cBhvr>
                                      <p:to>
                                        <p:strVal val="visible"/>
                                      </p:to>
                                    </p:set>
                                    <p:animEffect transition="in" filter="wipe(left)">
                                      <p:cBhvr>
                                        <p:cTn id="29" dur="500"/>
                                        <p:tgtEl>
                                          <p:spTgt spid="954388"/>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954392"/>
                                        </p:tgtEl>
                                        <p:attrNameLst>
                                          <p:attrName>style.visibility</p:attrName>
                                        </p:attrNameLst>
                                      </p:cBhvr>
                                      <p:to>
                                        <p:strVal val="visible"/>
                                      </p:to>
                                    </p:set>
                                    <p:animEffect transition="in" filter="wipe(left)">
                                      <p:cBhvr>
                                        <p:cTn id="33" dur="500"/>
                                        <p:tgtEl>
                                          <p:spTgt spid="954392"/>
                                        </p:tgtEl>
                                      </p:cBhvr>
                                    </p:animEffect>
                                  </p:childTnLst>
                                </p:cTn>
                              </p:par>
                            </p:childTnLst>
                          </p:cTn>
                        </p:par>
                        <p:par>
                          <p:cTn id="34" fill="hold">
                            <p:stCondLst>
                              <p:cond delay="3000"/>
                            </p:stCondLst>
                            <p:childTnLst>
                              <p:par>
                                <p:cTn id="35" presetID="22" presetClass="entr" presetSubtype="8" fill="hold" nodeType="afterEffect">
                                  <p:stCondLst>
                                    <p:cond delay="0"/>
                                  </p:stCondLst>
                                  <p:childTnLst>
                                    <p:set>
                                      <p:cBhvr>
                                        <p:cTn id="36" dur="1" fill="hold">
                                          <p:stCondLst>
                                            <p:cond delay="0"/>
                                          </p:stCondLst>
                                        </p:cTn>
                                        <p:tgtEl>
                                          <p:spTgt spid="954396"/>
                                        </p:tgtEl>
                                        <p:attrNameLst>
                                          <p:attrName>style.visibility</p:attrName>
                                        </p:attrNameLst>
                                      </p:cBhvr>
                                      <p:to>
                                        <p:strVal val="visible"/>
                                      </p:to>
                                    </p:set>
                                    <p:animEffect transition="in" filter="wipe(left)">
                                      <p:cBhvr>
                                        <p:cTn id="37" dur="500"/>
                                        <p:tgtEl>
                                          <p:spTgt spid="95439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54401"/>
                                        </p:tgtEl>
                                        <p:attrNameLst>
                                          <p:attrName>style.visibility</p:attrName>
                                        </p:attrNameLst>
                                      </p:cBhvr>
                                      <p:to>
                                        <p:strVal val="visible"/>
                                      </p:to>
                                    </p:set>
                                    <p:animEffect transition="in" filter="wipe(left)">
                                      <p:cBhvr>
                                        <p:cTn id="42" dur="500"/>
                                        <p:tgtEl>
                                          <p:spTgt spid="95440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54410"/>
                                        </p:tgtEl>
                                        <p:attrNameLst>
                                          <p:attrName>style.visibility</p:attrName>
                                        </p:attrNameLst>
                                      </p:cBhvr>
                                      <p:to>
                                        <p:strVal val="visible"/>
                                      </p:to>
                                    </p:set>
                                    <p:animEffect transition="in" filter="wipe(left)">
                                      <p:cBhvr>
                                        <p:cTn id="47" dur="500"/>
                                        <p:tgtEl>
                                          <p:spTgt spid="954410"/>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954411"/>
                                        </p:tgtEl>
                                        <p:attrNameLst>
                                          <p:attrName>style.visibility</p:attrName>
                                        </p:attrNameLst>
                                      </p:cBhvr>
                                      <p:to>
                                        <p:strVal val="visible"/>
                                      </p:to>
                                    </p:set>
                                    <p:animEffect transition="in" filter="wipe(left)">
                                      <p:cBhvr>
                                        <p:cTn id="51" dur="500"/>
                                        <p:tgtEl>
                                          <p:spTgt spid="95441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954414"/>
                                        </p:tgtEl>
                                        <p:attrNameLst>
                                          <p:attrName>style.visibility</p:attrName>
                                        </p:attrNameLst>
                                      </p:cBhvr>
                                      <p:to>
                                        <p:strVal val="visible"/>
                                      </p:to>
                                    </p:set>
                                    <p:animEffect transition="in" filter="wipe(left)">
                                      <p:cBhvr>
                                        <p:cTn id="56" dur="500"/>
                                        <p:tgtEl>
                                          <p:spTgt spid="954414"/>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954404"/>
                                        </p:tgtEl>
                                        <p:attrNameLst>
                                          <p:attrName>style.visibility</p:attrName>
                                        </p:attrNameLst>
                                      </p:cBhvr>
                                      <p:to>
                                        <p:strVal val="visible"/>
                                      </p:to>
                                    </p:set>
                                    <p:animEffect transition="in" filter="wipe(left)">
                                      <p:cBhvr>
                                        <p:cTn id="60" dur="500"/>
                                        <p:tgtEl>
                                          <p:spTgt spid="954404"/>
                                        </p:tgtEl>
                                      </p:cBhvr>
                                    </p:animEffect>
                                  </p:childTnLst>
                                </p:cTn>
                              </p:par>
                            </p:childTnLst>
                          </p:cTn>
                        </p:par>
                        <p:par>
                          <p:cTn id="61" fill="hold">
                            <p:stCondLst>
                              <p:cond delay="1000"/>
                            </p:stCondLst>
                            <p:childTnLst>
                              <p:par>
                                <p:cTn id="62" presetID="22" presetClass="entr" presetSubtype="8" fill="hold" grpId="0" nodeType="afterEffect">
                                  <p:stCondLst>
                                    <p:cond delay="0"/>
                                  </p:stCondLst>
                                  <p:childTnLst>
                                    <p:set>
                                      <p:cBhvr>
                                        <p:cTn id="63" dur="1" fill="hold">
                                          <p:stCondLst>
                                            <p:cond delay="0"/>
                                          </p:stCondLst>
                                        </p:cTn>
                                        <p:tgtEl>
                                          <p:spTgt spid="954412"/>
                                        </p:tgtEl>
                                        <p:attrNameLst>
                                          <p:attrName>style.visibility</p:attrName>
                                        </p:attrNameLst>
                                      </p:cBhvr>
                                      <p:to>
                                        <p:strVal val="visible"/>
                                      </p:to>
                                    </p:set>
                                    <p:animEffect transition="in" filter="wipe(left)">
                                      <p:cBhvr>
                                        <p:cTn id="64" dur="500"/>
                                        <p:tgtEl>
                                          <p:spTgt spid="95441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954415"/>
                                        </p:tgtEl>
                                        <p:attrNameLst>
                                          <p:attrName>style.visibility</p:attrName>
                                        </p:attrNameLst>
                                      </p:cBhvr>
                                      <p:to>
                                        <p:strVal val="visible"/>
                                      </p:to>
                                    </p:set>
                                    <p:animEffect transition="in" filter="wipe(left)">
                                      <p:cBhvr>
                                        <p:cTn id="69" dur="500"/>
                                        <p:tgtEl>
                                          <p:spTgt spid="954415"/>
                                        </p:tgtEl>
                                      </p:cBhvr>
                                    </p:animEffect>
                                  </p:childTnLst>
                                </p:cTn>
                              </p:par>
                            </p:childTnLst>
                          </p:cTn>
                        </p:par>
                        <p:par>
                          <p:cTn id="70" fill="hold">
                            <p:stCondLst>
                              <p:cond delay="500"/>
                            </p:stCondLst>
                            <p:childTnLst>
                              <p:par>
                                <p:cTn id="71" presetID="22" presetClass="entr" presetSubtype="8" fill="hold" nodeType="afterEffect">
                                  <p:stCondLst>
                                    <p:cond delay="0"/>
                                  </p:stCondLst>
                                  <p:childTnLst>
                                    <p:set>
                                      <p:cBhvr>
                                        <p:cTn id="72" dur="1" fill="hold">
                                          <p:stCondLst>
                                            <p:cond delay="0"/>
                                          </p:stCondLst>
                                        </p:cTn>
                                        <p:tgtEl>
                                          <p:spTgt spid="954407"/>
                                        </p:tgtEl>
                                        <p:attrNameLst>
                                          <p:attrName>style.visibility</p:attrName>
                                        </p:attrNameLst>
                                      </p:cBhvr>
                                      <p:to>
                                        <p:strVal val="visible"/>
                                      </p:to>
                                    </p:set>
                                    <p:animEffect transition="in" filter="wipe(left)">
                                      <p:cBhvr>
                                        <p:cTn id="73" dur="500"/>
                                        <p:tgtEl>
                                          <p:spTgt spid="954407"/>
                                        </p:tgtEl>
                                      </p:cBhvr>
                                    </p:animEffect>
                                  </p:childTnLst>
                                </p:cTn>
                              </p:par>
                            </p:childTnLst>
                          </p:cTn>
                        </p:par>
                        <p:par>
                          <p:cTn id="74" fill="hold">
                            <p:stCondLst>
                              <p:cond delay="1000"/>
                            </p:stCondLst>
                            <p:childTnLst>
                              <p:par>
                                <p:cTn id="75" presetID="22" presetClass="entr" presetSubtype="8" fill="hold" grpId="0" nodeType="afterEffect">
                                  <p:stCondLst>
                                    <p:cond delay="0"/>
                                  </p:stCondLst>
                                  <p:childTnLst>
                                    <p:set>
                                      <p:cBhvr>
                                        <p:cTn id="76" dur="1" fill="hold">
                                          <p:stCondLst>
                                            <p:cond delay="0"/>
                                          </p:stCondLst>
                                        </p:cTn>
                                        <p:tgtEl>
                                          <p:spTgt spid="954413"/>
                                        </p:tgtEl>
                                        <p:attrNameLst>
                                          <p:attrName>style.visibility</p:attrName>
                                        </p:attrNameLst>
                                      </p:cBhvr>
                                      <p:to>
                                        <p:strVal val="visible"/>
                                      </p:to>
                                    </p:set>
                                    <p:animEffect transition="in" filter="wipe(left)">
                                      <p:cBhvr>
                                        <p:cTn id="77" dur="500"/>
                                        <p:tgtEl>
                                          <p:spTgt spid="954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4375" grpId="0" autoUpdateAnimBg="0"/>
      <p:bldP spid="954410" grpId="0" autoUpdateAnimBg="0"/>
      <p:bldP spid="954411" grpId="0" animBg="1" autoUpdateAnimBg="0"/>
      <p:bldP spid="954412" grpId="0" animBg="1" autoUpdateAnimBg="0"/>
      <p:bldP spid="954413" grpId="0" animBg="1" autoUpdateAnimBg="0"/>
      <p:bldP spid="954414" grpId="0" animBg="1"/>
      <p:bldP spid="95441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5394" name="Text Box 2"/>
          <p:cNvSpPr txBox="1">
            <a:spLocks noChangeArrowheads="1"/>
          </p:cNvSpPr>
          <p:nvPr/>
        </p:nvSpPr>
        <p:spPr bwMode="auto">
          <a:xfrm>
            <a:off x="700088" y="2803525"/>
            <a:ext cx="8139112"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4000" b="1">
                <a:solidFill>
                  <a:srgbClr val="333399"/>
                </a:solidFill>
                <a:ea typeface="隶书" panose="02010509060101010101" charset="-122"/>
              </a:rPr>
              <a:t>  </a:t>
            </a:r>
            <a:r>
              <a:rPr lang="zh-CN" altLang="en-US" sz="4000" b="1">
                <a:solidFill>
                  <a:srgbClr val="660033"/>
                </a:solidFill>
                <a:ea typeface="隶书" panose="02010509060101010101" charset="-122"/>
              </a:rPr>
              <a:t>因此，查找第 </a:t>
            </a:r>
            <a:r>
              <a:rPr lang="en-US" altLang="zh-CN" sz="4000" b="1">
                <a:solidFill>
                  <a:srgbClr val="660033"/>
                </a:solidFill>
                <a:ea typeface="隶书" panose="02010509060101010101" charset="-122"/>
              </a:rPr>
              <a:t>i </a:t>
            </a:r>
            <a:r>
              <a:rPr lang="zh-CN" altLang="en-US" sz="4000" b="1">
                <a:solidFill>
                  <a:srgbClr val="660033"/>
                </a:solidFill>
                <a:ea typeface="隶书" panose="02010509060101010101" charset="-122"/>
              </a:rPr>
              <a:t>个数据元素的基本操作为：</a:t>
            </a:r>
            <a:r>
              <a:rPr lang="zh-CN" altLang="en-US" sz="4000" b="1">
                <a:solidFill>
                  <a:srgbClr val="FF0000"/>
                </a:solidFill>
                <a:ea typeface="隶书" panose="02010509060101010101" charset="-122"/>
              </a:rPr>
              <a:t>移动指针，比较 </a:t>
            </a:r>
            <a:r>
              <a:rPr lang="en-US" altLang="zh-CN" sz="4000" b="1">
                <a:solidFill>
                  <a:srgbClr val="FF0000"/>
                </a:solidFill>
                <a:ea typeface="隶书" panose="02010509060101010101" charset="-122"/>
              </a:rPr>
              <a:t>j </a:t>
            </a:r>
            <a:r>
              <a:rPr lang="zh-CN" altLang="en-US" sz="4000" b="1">
                <a:solidFill>
                  <a:srgbClr val="FF0000"/>
                </a:solidFill>
                <a:ea typeface="隶书" panose="02010509060101010101" charset="-122"/>
              </a:rPr>
              <a:t>和 </a:t>
            </a:r>
            <a:r>
              <a:rPr lang="en-US" altLang="zh-CN" sz="4000" b="1">
                <a:solidFill>
                  <a:srgbClr val="FF0000"/>
                </a:solidFill>
                <a:ea typeface="隶书" panose="02010509060101010101" charset="-122"/>
              </a:rPr>
              <a:t>I </a:t>
            </a:r>
            <a:r>
              <a:rPr lang="zh-CN" altLang="en-US" sz="4000" b="1">
                <a:solidFill>
                  <a:srgbClr val="993366"/>
                </a:solidFill>
                <a:latin typeface="楷体_GB2312" charset="0"/>
                <a:ea typeface="楷体_GB2312" charset="0"/>
              </a:rPr>
              <a:t>。</a:t>
            </a:r>
            <a:r>
              <a:rPr lang="zh-CN" altLang="en-US" sz="4800"/>
              <a:t> </a:t>
            </a:r>
            <a:endParaRPr lang="zh-CN" altLang="en-US" sz="4800"/>
          </a:p>
        </p:txBody>
      </p:sp>
      <p:sp>
        <p:nvSpPr>
          <p:cNvPr id="955395" name="Text Box 3"/>
          <p:cNvSpPr txBox="1">
            <a:spLocks noChangeArrowheads="1"/>
          </p:cNvSpPr>
          <p:nvPr/>
        </p:nvSpPr>
        <p:spPr bwMode="auto">
          <a:xfrm>
            <a:off x="822325" y="893763"/>
            <a:ext cx="8169275" cy="215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3600" b="1">
                <a:solidFill>
                  <a:srgbClr val="000099"/>
                </a:solidFill>
                <a:ea typeface="楷体_GB2312" charset="0"/>
              </a:rPr>
              <a:t>  单链表是一种顺序存取的结构，为找第 </a:t>
            </a:r>
            <a:r>
              <a:rPr lang="en-US" altLang="zh-CN" sz="3600" b="1">
                <a:solidFill>
                  <a:srgbClr val="000099"/>
                </a:solidFill>
                <a:ea typeface="楷体_GB2312" charset="0"/>
              </a:rPr>
              <a:t>i </a:t>
            </a:r>
            <a:r>
              <a:rPr lang="zh-CN" altLang="en-US" sz="3600" b="1">
                <a:solidFill>
                  <a:srgbClr val="000099"/>
                </a:solidFill>
                <a:ea typeface="楷体_GB2312" charset="0"/>
              </a:rPr>
              <a:t>个数据元素，必须先找到第 </a:t>
            </a:r>
            <a:r>
              <a:rPr lang="en-US" altLang="zh-CN" sz="3600" b="1">
                <a:solidFill>
                  <a:srgbClr val="000099"/>
                </a:solidFill>
                <a:ea typeface="楷体_GB2312" charset="0"/>
              </a:rPr>
              <a:t>i-1 </a:t>
            </a:r>
            <a:r>
              <a:rPr lang="zh-CN" altLang="en-US" sz="3600" b="1">
                <a:solidFill>
                  <a:srgbClr val="000099"/>
                </a:solidFill>
                <a:ea typeface="楷体_GB2312" charset="0"/>
              </a:rPr>
              <a:t>个数据元素。</a:t>
            </a:r>
            <a:endParaRPr lang="zh-CN" altLang="en-US" sz="3600"/>
          </a:p>
        </p:txBody>
      </p:sp>
      <p:sp>
        <p:nvSpPr>
          <p:cNvPr id="955396" name="Rectangle 4"/>
          <p:cNvSpPr>
            <a:spLocks noChangeArrowheads="1"/>
          </p:cNvSpPr>
          <p:nvPr/>
        </p:nvSpPr>
        <p:spPr bwMode="auto">
          <a:xfrm>
            <a:off x="838200" y="4648200"/>
            <a:ext cx="74676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4000" b="1">
                <a:solidFill>
                  <a:srgbClr val="993366"/>
                </a:solidFill>
                <a:latin typeface="楷体_GB2312" charset="0"/>
                <a:ea typeface="楷体_GB2312" charset="0"/>
              </a:rPr>
              <a:t>  令指针 </a:t>
            </a:r>
            <a:r>
              <a:rPr lang="en-US" altLang="zh-CN" sz="4000" b="1">
                <a:solidFill>
                  <a:srgbClr val="CC0000"/>
                </a:solidFill>
                <a:latin typeface="楷体_GB2312" charset="0"/>
                <a:ea typeface="楷体_GB2312" charset="0"/>
              </a:rPr>
              <a:t>p</a:t>
            </a:r>
            <a:r>
              <a:rPr lang="en-US" altLang="zh-CN" sz="4000" b="1">
                <a:solidFill>
                  <a:srgbClr val="993366"/>
                </a:solidFill>
                <a:latin typeface="楷体_GB2312" charset="0"/>
                <a:ea typeface="楷体_GB2312" charset="0"/>
              </a:rPr>
              <a:t> </a:t>
            </a:r>
            <a:r>
              <a:rPr lang="zh-CN" altLang="en-US" sz="4000" b="1">
                <a:solidFill>
                  <a:srgbClr val="993366"/>
                </a:solidFill>
                <a:latin typeface="楷体_GB2312" charset="0"/>
                <a:ea typeface="楷体_GB2312" charset="0"/>
              </a:rPr>
              <a:t>始终</a:t>
            </a:r>
            <a:r>
              <a:rPr lang="zh-CN" altLang="en-US" sz="4000" b="1">
                <a:solidFill>
                  <a:srgbClr val="CC0000"/>
                </a:solidFill>
                <a:latin typeface="楷体_GB2312" charset="0"/>
                <a:ea typeface="楷体_GB2312" charset="0"/>
              </a:rPr>
              <a:t>指向</a:t>
            </a:r>
            <a:r>
              <a:rPr lang="zh-CN" altLang="en-US" sz="4000" b="1">
                <a:solidFill>
                  <a:srgbClr val="993366"/>
                </a:solidFill>
                <a:latin typeface="楷体_GB2312" charset="0"/>
                <a:ea typeface="楷体_GB2312" charset="0"/>
              </a:rPr>
              <a:t>线性表中第 </a:t>
            </a:r>
            <a:r>
              <a:rPr lang="en-US" altLang="zh-CN" sz="4000" b="1">
                <a:solidFill>
                  <a:srgbClr val="CC0000"/>
                </a:solidFill>
                <a:latin typeface="楷体_GB2312" charset="0"/>
                <a:ea typeface="楷体_GB2312" charset="0"/>
              </a:rPr>
              <a:t>j</a:t>
            </a:r>
            <a:r>
              <a:rPr lang="en-US" altLang="zh-CN" sz="4000" b="1">
                <a:solidFill>
                  <a:srgbClr val="993366"/>
                </a:solidFill>
                <a:latin typeface="楷体_GB2312" charset="0"/>
                <a:ea typeface="楷体_GB2312" charset="0"/>
              </a:rPr>
              <a:t> </a:t>
            </a:r>
            <a:r>
              <a:rPr lang="zh-CN" altLang="en-US" sz="4000" b="1">
                <a:solidFill>
                  <a:srgbClr val="993366"/>
                </a:solidFill>
                <a:latin typeface="楷体_GB2312" charset="0"/>
                <a:ea typeface="楷体_GB2312" charset="0"/>
              </a:rPr>
              <a:t>个数据元素。</a:t>
            </a:r>
            <a:endParaRPr lang="zh-CN" altLang="en-US" sz="4000" b="1">
              <a:solidFill>
                <a:srgbClr val="993366"/>
              </a:solidFill>
              <a:latin typeface="楷体_GB2312" charset="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955394"/>
                                        </p:tgtEl>
                                        <p:attrNameLst>
                                          <p:attrName>style.visibility</p:attrName>
                                        </p:attrNameLst>
                                      </p:cBhvr>
                                      <p:to>
                                        <p:strVal val="visible"/>
                                      </p:to>
                                    </p:set>
                                    <p:animEffect transition="in" filter="checkerboard(down)">
                                      <p:cBhvr>
                                        <p:cTn id="7" dur="500"/>
                                        <p:tgtEl>
                                          <p:spTgt spid="9553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55396"/>
                                        </p:tgtEl>
                                        <p:attrNameLst>
                                          <p:attrName>style.visibility</p:attrName>
                                        </p:attrNameLst>
                                      </p:cBhvr>
                                      <p:to>
                                        <p:strVal val="visible"/>
                                      </p:to>
                                    </p:set>
                                    <p:animEffect transition="in" filter="wipe(left)">
                                      <p:cBhvr>
                                        <p:cTn id="12" dur="75"/>
                                        <p:tgtEl>
                                          <p:spTgt spid="955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5394" grpId="0" autoUpdateAnimBg="0"/>
      <p:bldP spid="955396"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18" name="Text Box 2"/>
          <p:cNvSpPr txBox="1">
            <a:spLocks noChangeArrowheads="1"/>
          </p:cNvSpPr>
          <p:nvPr/>
        </p:nvSpPr>
        <p:spPr bwMode="auto">
          <a:xfrm>
            <a:off x="-108520" y="76200"/>
            <a:ext cx="9601200" cy="64263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05000"/>
              </a:lnSpc>
              <a:defRPr/>
            </a:pPr>
            <a:r>
              <a:rPr lang="zh-CN" altLang="en-US" sz="2800" b="1" dirty="0"/>
              <a:t> </a:t>
            </a:r>
            <a:r>
              <a:rPr lang="en-US" altLang="zh-CN" sz="2800" b="1" dirty="0">
                <a:solidFill>
                  <a:srgbClr val="000099"/>
                </a:solidFill>
              </a:rPr>
              <a:t>Status</a:t>
            </a:r>
            <a:r>
              <a:rPr lang="en-US" altLang="zh-CN" sz="2800" dirty="0">
                <a:solidFill>
                  <a:srgbClr val="000099"/>
                </a:solidFill>
              </a:rPr>
              <a:t> </a:t>
            </a:r>
            <a:r>
              <a:rPr lang="en-US" altLang="zh-CN" sz="2800" dirty="0" err="1">
                <a:solidFill>
                  <a:srgbClr val="000099"/>
                </a:solidFill>
              </a:rPr>
              <a:t>GetElem_L</a:t>
            </a:r>
            <a:r>
              <a:rPr lang="en-US" altLang="zh-CN" sz="2800" dirty="0">
                <a:solidFill>
                  <a:srgbClr val="000099"/>
                </a:solidFill>
              </a:rPr>
              <a:t>(</a:t>
            </a:r>
            <a:r>
              <a:rPr lang="en-US" altLang="zh-CN" sz="2800" dirty="0" err="1">
                <a:solidFill>
                  <a:srgbClr val="000099"/>
                </a:solidFill>
              </a:rPr>
              <a:t>LinkList</a:t>
            </a:r>
            <a:r>
              <a:rPr lang="en-US" altLang="zh-CN" sz="2800" dirty="0">
                <a:solidFill>
                  <a:srgbClr val="000099"/>
                </a:solidFill>
              </a:rPr>
              <a:t> L, </a:t>
            </a:r>
            <a:r>
              <a:rPr lang="en-US" altLang="zh-CN" sz="2800" b="1" dirty="0">
                <a:solidFill>
                  <a:srgbClr val="000099"/>
                </a:solidFill>
              </a:rPr>
              <a:t>int</a:t>
            </a:r>
            <a:r>
              <a:rPr lang="en-US" altLang="zh-CN" sz="2800" dirty="0">
                <a:solidFill>
                  <a:srgbClr val="000099"/>
                </a:solidFill>
              </a:rPr>
              <a:t> </a:t>
            </a:r>
            <a:r>
              <a:rPr lang="en-US" altLang="zh-CN" sz="2800" dirty="0" err="1">
                <a:solidFill>
                  <a:srgbClr val="000099"/>
                </a:solidFill>
              </a:rPr>
              <a:t>i</a:t>
            </a:r>
            <a:r>
              <a:rPr lang="en-US" altLang="zh-CN" sz="2800" dirty="0">
                <a:solidFill>
                  <a:srgbClr val="000099"/>
                </a:solidFill>
              </a:rPr>
              <a:t>, </a:t>
            </a:r>
            <a:r>
              <a:rPr lang="en-US" altLang="zh-CN" sz="2800" dirty="0" err="1">
                <a:solidFill>
                  <a:srgbClr val="000099"/>
                </a:solidFill>
              </a:rPr>
              <a:t>ElemType</a:t>
            </a:r>
            <a:r>
              <a:rPr lang="en-US" altLang="zh-CN" sz="2800" dirty="0">
                <a:solidFill>
                  <a:srgbClr val="000099"/>
                </a:solidFill>
              </a:rPr>
              <a:t> </a:t>
            </a:r>
            <a:r>
              <a:rPr lang="en-US" altLang="zh-CN" sz="2800" b="1" dirty="0">
                <a:solidFill>
                  <a:srgbClr val="000099"/>
                </a:solidFill>
              </a:rPr>
              <a:t>&amp;</a:t>
            </a:r>
            <a:r>
              <a:rPr lang="en-US" altLang="zh-CN" sz="2800" dirty="0">
                <a:solidFill>
                  <a:srgbClr val="000099"/>
                </a:solidFill>
              </a:rPr>
              <a:t>e) </a:t>
            </a:r>
            <a:r>
              <a:rPr lang="en-US" altLang="zh-CN" sz="2800" b="1" dirty="0">
                <a:solidFill>
                  <a:srgbClr val="000099"/>
                </a:solidFill>
              </a:rPr>
              <a:t>{</a:t>
            </a:r>
            <a:endParaRPr lang="en-US" altLang="zh-CN" sz="2800" dirty="0">
              <a:solidFill>
                <a:srgbClr val="000099"/>
              </a:solidFill>
            </a:endParaRPr>
          </a:p>
          <a:p>
            <a:pPr eaLnBrk="1" hangingPunct="1">
              <a:lnSpc>
                <a:spcPct val="105000"/>
              </a:lnSpc>
              <a:defRPr/>
            </a:pPr>
            <a:r>
              <a:rPr lang="en-US" altLang="zh-CN" sz="2800" b="1" dirty="0">
                <a:solidFill>
                  <a:srgbClr val="000099"/>
                </a:solidFill>
              </a:rPr>
              <a:t>   // L</a:t>
            </a:r>
            <a:r>
              <a:rPr lang="zh-CN" altLang="en-US" sz="2800" b="1" dirty="0">
                <a:solidFill>
                  <a:srgbClr val="000099"/>
                </a:solidFill>
                <a:ea typeface="楷体_GB2312" charset="0"/>
              </a:rPr>
              <a:t>是带头结点的链表的头指针，以 </a:t>
            </a:r>
            <a:r>
              <a:rPr lang="en-US" altLang="zh-CN" sz="2800" b="1" dirty="0">
                <a:solidFill>
                  <a:srgbClr val="000099"/>
                </a:solidFill>
                <a:ea typeface="楷体_GB2312" charset="0"/>
              </a:rPr>
              <a:t>e </a:t>
            </a:r>
            <a:r>
              <a:rPr lang="zh-CN" altLang="en-US" sz="2800" b="1" dirty="0">
                <a:solidFill>
                  <a:srgbClr val="000099"/>
                </a:solidFill>
                <a:ea typeface="楷体_GB2312" charset="0"/>
              </a:rPr>
              <a:t>返回第 </a:t>
            </a:r>
            <a:r>
              <a:rPr lang="en-US" altLang="zh-CN" sz="2800" b="1" dirty="0" err="1">
                <a:solidFill>
                  <a:srgbClr val="000099"/>
                </a:solidFill>
                <a:ea typeface="楷体_GB2312" charset="0"/>
              </a:rPr>
              <a:t>i</a:t>
            </a:r>
            <a:r>
              <a:rPr lang="en-US" altLang="zh-CN" sz="2800" b="1" dirty="0">
                <a:solidFill>
                  <a:srgbClr val="000099"/>
                </a:solidFill>
                <a:ea typeface="楷体_GB2312" charset="0"/>
              </a:rPr>
              <a:t> </a:t>
            </a:r>
            <a:r>
              <a:rPr lang="zh-CN" altLang="en-US" sz="2800" b="1" dirty="0">
                <a:solidFill>
                  <a:srgbClr val="000099"/>
                </a:solidFill>
                <a:ea typeface="楷体_GB2312" charset="0"/>
              </a:rPr>
              <a:t>个元素</a:t>
            </a:r>
            <a:endParaRPr lang="zh-CN" altLang="en-US" sz="2800" b="1" dirty="0">
              <a:solidFill>
                <a:srgbClr val="000099"/>
              </a:solidFill>
            </a:endParaRPr>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en-US" altLang="zh-CN"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r>
              <a:rPr lang="en-US" altLang="zh-CN" sz="2800" b="1" dirty="0">
                <a:solidFill>
                  <a:srgbClr val="000099"/>
                </a:solidFill>
              </a:rPr>
              <a:t>}</a:t>
            </a:r>
            <a:r>
              <a:rPr lang="en-US" altLang="zh-CN" sz="2800" dirty="0">
                <a:solidFill>
                  <a:srgbClr val="000099"/>
                </a:solidFill>
              </a:rPr>
              <a:t> // </a:t>
            </a:r>
            <a:r>
              <a:rPr lang="en-US" altLang="zh-CN" sz="2800" dirty="0" err="1">
                <a:solidFill>
                  <a:srgbClr val="000099"/>
                </a:solidFill>
              </a:rPr>
              <a:t>GetElem_L</a:t>
            </a:r>
            <a:endParaRPr lang="en-US" altLang="zh-CN" sz="2800" dirty="0">
              <a:solidFill>
                <a:srgbClr val="000099"/>
              </a:solidFill>
            </a:endParaRPr>
          </a:p>
        </p:txBody>
      </p:sp>
      <p:sp>
        <p:nvSpPr>
          <p:cNvPr id="956419" name="Text Box 3"/>
          <p:cNvSpPr txBox="1">
            <a:spLocks noChangeArrowheads="1"/>
          </p:cNvSpPr>
          <p:nvPr/>
        </p:nvSpPr>
        <p:spPr bwMode="auto">
          <a:xfrm>
            <a:off x="3733800" y="5562600"/>
            <a:ext cx="317106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ea typeface="隶书" panose="02010509060101010101" charset="-122"/>
              </a:rPr>
              <a:t>算法</a:t>
            </a:r>
            <a:r>
              <a:rPr lang="zh-CN" altLang="en-US" sz="2800" b="1">
                <a:solidFill>
                  <a:srgbClr val="FF0000"/>
                </a:solidFill>
                <a:ea typeface="隶书" panose="02010509060101010101" charset="-122"/>
              </a:rPr>
              <a:t>时间复杂度</a:t>
            </a:r>
            <a:r>
              <a:rPr lang="zh-CN" altLang="en-US" sz="2800" b="1">
                <a:ea typeface="隶书" panose="02010509060101010101" charset="-122"/>
              </a:rPr>
              <a:t>为</a:t>
            </a:r>
            <a:r>
              <a:rPr lang="en-US" altLang="zh-CN" sz="2800"/>
              <a:t>:</a:t>
            </a:r>
            <a:endParaRPr lang="en-US" altLang="zh-CN" sz="2800"/>
          </a:p>
        </p:txBody>
      </p:sp>
      <p:sp>
        <p:nvSpPr>
          <p:cNvPr id="956420" name="Text Box 4"/>
          <p:cNvSpPr txBox="1">
            <a:spLocks noChangeArrowheads="1"/>
          </p:cNvSpPr>
          <p:nvPr/>
        </p:nvSpPr>
        <p:spPr bwMode="auto">
          <a:xfrm>
            <a:off x="3879850" y="6140450"/>
            <a:ext cx="29354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t>O(ListLength(L))</a:t>
            </a:r>
            <a:endParaRPr lang="en-US" altLang="zh-CN" sz="2800"/>
          </a:p>
        </p:txBody>
      </p:sp>
      <p:sp>
        <p:nvSpPr>
          <p:cNvPr id="956421" name="Rectangle 5"/>
          <p:cNvSpPr>
            <a:spLocks noChangeArrowheads="1"/>
          </p:cNvSpPr>
          <p:nvPr/>
        </p:nvSpPr>
        <p:spPr bwMode="auto">
          <a:xfrm>
            <a:off x="179512" y="1219200"/>
            <a:ext cx="9177512" cy="54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05000"/>
              </a:lnSpc>
              <a:defRPr/>
            </a:pPr>
            <a:r>
              <a:rPr lang="en-US" altLang="zh-CN" sz="2800" dirty="0">
                <a:solidFill>
                  <a:srgbClr val="660033"/>
                </a:solidFill>
              </a:rPr>
              <a:t>p = L-&gt;next;   j = 1;  // </a:t>
            </a:r>
            <a:r>
              <a:rPr lang="en-US" altLang="zh-CN" sz="2800" b="1" dirty="0">
                <a:solidFill>
                  <a:srgbClr val="660033"/>
                </a:solidFill>
                <a:latin typeface="楷体_GB2312" charset="0"/>
                <a:ea typeface="楷体_GB2312" charset="0"/>
              </a:rPr>
              <a:t>p</a:t>
            </a:r>
            <a:r>
              <a:rPr lang="zh-CN" altLang="en-US" sz="2800" b="1" dirty="0">
                <a:solidFill>
                  <a:srgbClr val="660033"/>
                </a:solidFill>
                <a:latin typeface="楷体_GB2312" charset="0"/>
                <a:ea typeface="楷体_GB2312" charset="0"/>
              </a:rPr>
              <a:t>指向第一个结点，</a:t>
            </a:r>
            <a:r>
              <a:rPr lang="en-US" altLang="zh-CN" sz="2800" b="1" dirty="0">
                <a:solidFill>
                  <a:srgbClr val="660033"/>
                </a:solidFill>
                <a:latin typeface="楷体_GB2312" charset="0"/>
                <a:ea typeface="楷体_GB2312" charset="0"/>
              </a:rPr>
              <a:t>j</a:t>
            </a:r>
            <a:r>
              <a:rPr lang="zh-CN" altLang="en-US" sz="2800" b="1" dirty="0">
                <a:solidFill>
                  <a:srgbClr val="660033"/>
                </a:solidFill>
                <a:latin typeface="楷体_GB2312" charset="0"/>
                <a:ea typeface="楷体_GB2312" charset="0"/>
              </a:rPr>
              <a:t>为计数器</a:t>
            </a:r>
            <a:endParaRPr lang="zh-CN" altLang="en-US" sz="2800" b="1" dirty="0">
              <a:solidFill>
                <a:srgbClr val="660033"/>
              </a:solidFill>
              <a:latin typeface="隶书" panose="02010509060101010101" charset="-122"/>
              <a:ea typeface="隶书" panose="02010509060101010101" charset="-122"/>
            </a:endParaRPr>
          </a:p>
        </p:txBody>
      </p:sp>
      <p:sp>
        <p:nvSpPr>
          <p:cNvPr id="956422" name="Rectangle 6"/>
          <p:cNvSpPr>
            <a:spLocks noChangeArrowheads="1"/>
          </p:cNvSpPr>
          <p:nvPr/>
        </p:nvSpPr>
        <p:spPr bwMode="auto">
          <a:xfrm>
            <a:off x="179512" y="1828800"/>
            <a:ext cx="8095486" cy="1621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dirty="0">
                <a:solidFill>
                  <a:srgbClr val="CC0000"/>
                </a:solidFill>
              </a:rPr>
              <a:t>while (p &amp;&amp; j&lt;</a:t>
            </a:r>
            <a:r>
              <a:rPr lang="en-US" altLang="zh-CN" sz="2800" b="1" dirty="0" err="1">
                <a:solidFill>
                  <a:srgbClr val="CC0000"/>
                </a:solidFill>
              </a:rPr>
              <a:t>i</a:t>
            </a:r>
            <a:r>
              <a:rPr lang="en-US" altLang="zh-CN" sz="2800" b="1" dirty="0">
                <a:solidFill>
                  <a:srgbClr val="CC0000"/>
                </a:solidFill>
              </a:rPr>
              <a:t>)  { p = p-&gt;next;  ++j;  }</a:t>
            </a:r>
            <a:endParaRPr lang="en-US" altLang="zh-CN" sz="2800" b="1" dirty="0"/>
          </a:p>
          <a:p>
            <a:pPr eaLnBrk="1" hangingPunct="1">
              <a:lnSpc>
                <a:spcPct val="120000"/>
              </a:lnSpc>
              <a:defRPr/>
            </a:pPr>
            <a:r>
              <a:rPr lang="en-US" altLang="zh-CN" sz="2800" dirty="0">
                <a:solidFill>
                  <a:srgbClr val="000099"/>
                </a:solidFill>
                <a:ea typeface="楷体_GB2312" charset="0"/>
              </a:rPr>
              <a:t>        //</a:t>
            </a:r>
            <a:r>
              <a:rPr lang="en-US" altLang="zh-CN" sz="2800" dirty="0">
                <a:solidFill>
                  <a:srgbClr val="000099"/>
                </a:solidFill>
                <a:latin typeface="楷体_GB2312" charset="0"/>
                <a:ea typeface="楷体_GB2312" charset="0"/>
              </a:rPr>
              <a:t> </a:t>
            </a:r>
            <a:r>
              <a:rPr lang="zh-CN" altLang="en-US" sz="2800" b="1" dirty="0">
                <a:solidFill>
                  <a:srgbClr val="000099"/>
                </a:solidFill>
                <a:latin typeface="楷体_GB2312" charset="0"/>
                <a:ea typeface="楷体_GB2312" charset="0"/>
              </a:rPr>
              <a:t>顺指针向后查找，直到 </a:t>
            </a:r>
            <a:r>
              <a:rPr lang="en-US" altLang="zh-CN" sz="2800" b="1" dirty="0">
                <a:solidFill>
                  <a:srgbClr val="000099"/>
                </a:solidFill>
                <a:latin typeface="楷体_GB2312" charset="0"/>
                <a:ea typeface="楷体_GB2312" charset="0"/>
              </a:rPr>
              <a:t>p </a:t>
            </a:r>
            <a:r>
              <a:rPr lang="zh-CN" altLang="en-US" sz="2800" b="1" dirty="0">
                <a:solidFill>
                  <a:srgbClr val="000099"/>
                </a:solidFill>
                <a:latin typeface="楷体_GB2312" charset="0"/>
                <a:ea typeface="楷体_GB2312" charset="0"/>
              </a:rPr>
              <a:t>指向第 </a:t>
            </a:r>
            <a:r>
              <a:rPr lang="en-US" altLang="zh-CN" sz="2800" b="1" dirty="0" err="1">
                <a:solidFill>
                  <a:srgbClr val="000099"/>
                </a:solidFill>
                <a:latin typeface="楷体_GB2312" charset="0"/>
                <a:ea typeface="楷体_GB2312" charset="0"/>
              </a:rPr>
              <a:t>i</a:t>
            </a:r>
            <a:r>
              <a:rPr lang="en-US" altLang="zh-CN" sz="2800" b="1" dirty="0">
                <a:solidFill>
                  <a:srgbClr val="000099"/>
                </a:solidFill>
                <a:latin typeface="楷体_GB2312" charset="0"/>
                <a:ea typeface="楷体_GB2312" charset="0"/>
              </a:rPr>
              <a:t> </a:t>
            </a:r>
            <a:r>
              <a:rPr lang="zh-CN" altLang="en-US" sz="2800" b="1" dirty="0">
                <a:solidFill>
                  <a:srgbClr val="000099"/>
                </a:solidFill>
                <a:latin typeface="楷体_GB2312" charset="0"/>
                <a:ea typeface="楷体_GB2312" charset="0"/>
              </a:rPr>
              <a:t>个元素</a:t>
            </a:r>
            <a:endParaRPr lang="zh-CN" altLang="en-US" sz="2800" b="1" dirty="0">
              <a:solidFill>
                <a:srgbClr val="000099"/>
              </a:solidFill>
              <a:latin typeface="楷体_GB2312" charset="0"/>
              <a:ea typeface="楷体_GB2312" charset="0"/>
            </a:endParaRPr>
          </a:p>
          <a:p>
            <a:pPr eaLnBrk="1" hangingPunct="1">
              <a:lnSpc>
                <a:spcPct val="120000"/>
              </a:lnSpc>
              <a:defRPr/>
            </a:pPr>
            <a:r>
              <a:rPr lang="zh-CN" altLang="en-US" sz="2800" b="1" dirty="0">
                <a:solidFill>
                  <a:srgbClr val="000099"/>
                </a:solidFill>
                <a:latin typeface="楷体_GB2312" charset="0"/>
                <a:ea typeface="楷体_GB2312" charset="0"/>
              </a:rPr>
              <a:t>    </a:t>
            </a:r>
            <a:r>
              <a:rPr lang="en-US" altLang="zh-CN" sz="2800" dirty="0">
                <a:solidFill>
                  <a:srgbClr val="000099"/>
                </a:solidFill>
                <a:ea typeface="楷体_GB2312" charset="0"/>
              </a:rPr>
              <a:t>//</a:t>
            </a:r>
            <a:r>
              <a:rPr lang="en-US" altLang="zh-CN" sz="2800" b="1" dirty="0">
                <a:solidFill>
                  <a:srgbClr val="000099"/>
                </a:solidFill>
                <a:latin typeface="楷体_GB2312" charset="0"/>
                <a:ea typeface="楷体_GB2312" charset="0"/>
              </a:rPr>
              <a:t> </a:t>
            </a:r>
            <a:r>
              <a:rPr lang="zh-CN" altLang="en-US" sz="2800" b="1" dirty="0">
                <a:solidFill>
                  <a:srgbClr val="000099"/>
                </a:solidFill>
                <a:latin typeface="楷体_GB2312" charset="0"/>
                <a:ea typeface="楷体_GB2312" charset="0"/>
              </a:rPr>
              <a:t>或 </a:t>
            </a:r>
            <a:r>
              <a:rPr lang="en-US" altLang="zh-CN" sz="2800" b="1" dirty="0">
                <a:solidFill>
                  <a:srgbClr val="000099"/>
                </a:solidFill>
                <a:latin typeface="楷体_GB2312" charset="0"/>
                <a:ea typeface="楷体_GB2312" charset="0"/>
              </a:rPr>
              <a:t>p </a:t>
            </a:r>
            <a:r>
              <a:rPr lang="zh-CN" altLang="en-US" sz="2800" b="1" dirty="0">
                <a:solidFill>
                  <a:srgbClr val="000099"/>
                </a:solidFill>
                <a:latin typeface="楷体_GB2312" charset="0"/>
                <a:ea typeface="楷体_GB2312" charset="0"/>
              </a:rPr>
              <a:t>为空</a:t>
            </a:r>
            <a:endParaRPr lang="zh-CN" altLang="en-US" sz="2800" dirty="0"/>
          </a:p>
        </p:txBody>
      </p:sp>
      <p:sp>
        <p:nvSpPr>
          <p:cNvPr id="956423" name="Rectangle 7"/>
          <p:cNvSpPr>
            <a:spLocks noChangeArrowheads="1"/>
          </p:cNvSpPr>
          <p:nvPr/>
        </p:nvSpPr>
        <p:spPr bwMode="auto">
          <a:xfrm>
            <a:off x="251520" y="3657600"/>
            <a:ext cx="7502375" cy="213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dirty="0">
                <a:solidFill>
                  <a:srgbClr val="008080"/>
                </a:solidFill>
              </a:rPr>
              <a:t>if</a:t>
            </a:r>
            <a:r>
              <a:rPr lang="en-US" altLang="zh-CN" sz="2800" dirty="0">
                <a:solidFill>
                  <a:srgbClr val="008080"/>
                </a:solidFill>
              </a:rPr>
              <a:t> ( </a:t>
            </a:r>
            <a:r>
              <a:rPr lang="en-US" altLang="zh-CN" sz="2800" b="1" dirty="0">
                <a:solidFill>
                  <a:srgbClr val="008080"/>
                </a:solidFill>
              </a:rPr>
              <a:t>!</a:t>
            </a:r>
            <a:r>
              <a:rPr lang="en-US" altLang="zh-CN" sz="2800" dirty="0">
                <a:solidFill>
                  <a:srgbClr val="008080"/>
                </a:solidFill>
              </a:rPr>
              <a:t>p || j&gt;</a:t>
            </a:r>
            <a:r>
              <a:rPr lang="en-US" altLang="zh-CN" sz="2800" dirty="0" err="1">
                <a:solidFill>
                  <a:srgbClr val="008080"/>
                </a:solidFill>
              </a:rPr>
              <a:t>i</a:t>
            </a:r>
            <a:r>
              <a:rPr lang="en-US" altLang="zh-CN" sz="2800" dirty="0">
                <a:solidFill>
                  <a:srgbClr val="008080"/>
                </a:solidFill>
              </a:rPr>
              <a:t> )</a:t>
            </a:r>
            <a:endParaRPr lang="en-US" altLang="zh-CN" sz="2800" dirty="0">
              <a:solidFill>
                <a:srgbClr val="008080"/>
              </a:solidFill>
            </a:endParaRPr>
          </a:p>
          <a:p>
            <a:pPr eaLnBrk="1" hangingPunct="1">
              <a:lnSpc>
                <a:spcPct val="120000"/>
              </a:lnSpc>
              <a:defRPr/>
            </a:pPr>
            <a:r>
              <a:rPr lang="en-US" altLang="zh-CN" sz="2800" dirty="0">
                <a:solidFill>
                  <a:srgbClr val="008080"/>
                </a:solidFill>
              </a:rPr>
              <a:t>    </a:t>
            </a:r>
            <a:r>
              <a:rPr lang="en-US" altLang="zh-CN" sz="2800" b="1" dirty="0">
                <a:solidFill>
                  <a:srgbClr val="008080"/>
                </a:solidFill>
              </a:rPr>
              <a:t>return</a:t>
            </a:r>
            <a:r>
              <a:rPr lang="en-US" altLang="zh-CN" sz="2800" dirty="0">
                <a:solidFill>
                  <a:srgbClr val="008080"/>
                </a:solidFill>
              </a:rPr>
              <a:t> ERROR;      //  </a:t>
            </a:r>
            <a:r>
              <a:rPr lang="zh-CN" altLang="en-US" sz="2800" b="1" dirty="0">
                <a:solidFill>
                  <a:srgbClr val="008080"/>
                </a:solidFill>
                <a:latin typeface="隶书" panose="02010509060101010101" charset="-122"/>
                <a:ea typeface="隶书" panose="02010509060101010101" charset="-122"/>
              </a:rPr>
              <a:t>第 </a:t>
            </a:r>
            <a:r>
              <a:rPr lang="en-US" altLang="zh-CN" sz="2800" b="1" dirty="0" err="1">
                <a:solidFill>
                  <a:srgbClr val="008080"/>
                </a:solidFill>
                <a:latin typeface="隶书" panose="02010509060101010101" charset="-122"/>
                <a:ea typeface="隶书" panose="02010509060101010101" charset="-122"/>
              </a:rPr>
              <a:t>i</a:t>
            </a:r>
            <a:r>
              <a:rPr lang="en-US" altLang="zh-CN" sz="2800" b="1" dirty="0">
                <a:solidFill>
                  <a:srgbClr val="008080"/>
                </a:solidFill>
                <a:latin typeface="隶书" panose="02010509060101010101" charset="-122"/>
                <a:ea typeface="隶书" panose="02010509060101010101" charset="-122"/>
              </a:rPr>
              <a:t> </a:t>
            </a:r>
            <a:r>
              <a:rPr lang="zh-CN" altLang="en-US" sz="2800" b="1" dirty="0">
                <a:solidFill>
                  <a:srgbClr val="008080"/>
                </a:solidFill>
                <a:latin typeface="隶书" panose="02010509060101010101" charset="-122"/>
                <a:ea typeface="隶书" panose="02010509060101010101" charset="-122"/>
              </a:rPr>
              <a:t>个元素不存在</a:t>
            </a:r>
            <a:endParaRPr lang="zh-CN" altLang="en-US" sz="2800" dirty="0"/>
          </a:p>
          <a:p>
            <a:pPr eaLnBrk="1" hangingPunct="1">
              <a:lnSpc>
                <a:spcPct val="120000"/>
              </a:lnSpc>
              <a:defRPr/>
            </a:pPr>
            <a:r>
              <a:rPr lang="en-US" altLang="zh-CN" sz="2800" dirty="0">
                <a:solidFill>
                  <a:srgbClr val="660033"/>
                </a:solidFill>
              </a:rPr>
              <a:t>e = p-&gt;data;                 //  </a:t>
            </a:r>
            <a:r>
              <a:rPr lang="zh-CN" altLang="en-US" sz="2800" b="1" dirty="0">
                <a:solidFill>
                  <a:srgbClr val="660033"/>
                </a:solidFill>
                <a:latin typeface="隶书" panose="02010509060101010101" charset="-122"/>
                <a:ea typeface="隶书" panose="02010509060101010101" charset="-122"/>
              </a:rPr>
              <a:t>取得第 </a:t>
            </a:r>
            <a:r>
              <a:rPr lang="en-US" altLang="zh-CN" sz="2800" b="1" dirty="0" err="1">
                <a:solidFill>
                  <a:srgbClr val="660033"/>
                </a:solidFill>
                <a:latin typeface="隶书" panose="02010509060101010101" charset="-122"/>
                <a:ea typeface="隶书" panose="02010509060101010101" charset="-122"/>
              </a:rPr>
              <a:t>i</a:t>
            </a:r>
            <a:r>
              <a:rPr lang="en-US" altLang="zh-CN" sz="2800" b="1" dirty="0">
                <a:solidFill>
                  <a:srgbClr val="660033"/>
                </a:solidFill>
                <a:latin typeface="隶书" panose="02010509060101010101" charset="-122"/>
                <a:ea typeface="隶书" panose="02010509060101010101" charset="-122"/>
              </a:rPr>
              <a:t> </a:t>
            </a:r>
            <a:r>
              <a:rPr lang="zh-CN" altLang="en-US" sz="2800" b="1" dirty="0">
                <a:solidFill>
                  <a:srgbClr val="660033"/>
                </a:solidFill>
                <a:latin typeface="隶书" panose="02010509060101010101" charset="-122"/>
                <a:ea typeface="隶书" panose="02010509060101010101" charset="-122"/>
              </a:rPr>
              <a:t>个元素</a:t>
            </a:r>
            <a:endParaRPr lang="zh-CN" altLang="en-US" sz="2800" dirty="0">
              <a:solidFill>
                <a:srgbClr val="660033"/>
              </a:solidFill>
            </a:endParaRPr>
          </a:p>
          <a:p>
            <a:pPr eaLnBrk="1" hangingPunct="1">
              <a:lnSpc>
                <a:spcPct val="120000"/>
              </a:lnSpc>
              <a:defRPr/>
            </a:pPr>
            <a:r>
              <a:rPr lang="en-US" altLang="zh-CN" sz="2800" b="1" dirty="0">
                <a:solidFill>
                  <a:srgbClr val="660033"/>
                </a:solidFill>
              </a:rPr>
              <a:t>return</a:t>
            </a:r>
            <a:r>
              <a:rPr lang="en-US" altLang="zh-CN" sz="2800" dirty="0">
                <a:solidFill>
                  <a:srgbClr val="660033"/>
                </a:solidFill>
              </a:rPr>
              <a:t> OK;</a:t>
            </a:r>
            <a:endParaRPr lang="en-US" altLang="zh-CN" sz="2800" dirty="0">
              <a:solidFill>
                <a:srgbClr val="660033"/>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956418"/>
                                        </p:tgtEl>
                                        <p:attrNameLst>
                                          <p:attrName>style.visibility</p:attrName>
                                        </p:attrNameLst>
                                      </p:cBhvr>
                                      <p:to>
                                        <p:strVal val="visible"/>
                                      </p:to>
                                    </p:set>
                                    <p:animEffect transition="in" filter="strips(downRight)">
                                      <p:cBhvr>
                                        <p:cTn id="7" dur="300"/>
                                        <p:tgtEl>
                                          <p:spTgt spid="9564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56421"/>
                                        </p:tgtEl>
                                        <p:attrNameLst>
                                          <p:attrName>style.visibility</p:attrName>
                                        </p:attrNameLst>
                                      </p:cBhvr>
                                      <p:to>
                                        <p:strVal val="visible"/>
                                      </p:to>
                                    </p:set>
                                    <p:animEffect transition="in" filter="wipe(left)">
                                      <p:cBhvr>
                                        <p:cTn id="12" dur="75"/>
                                        <p:tgtEl>
                                          <p:spTgt spid="9564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956422"/>
                                        </p:tgtEl>
                                        <p:attrNameLst>
                                          <p:attrName>style.visibility</p:attrName>
                                        </p:attrNameLst>
                                      </p:cBhvr>
                                      <p:to>
                                        <p:strVal val="visible"/>
                                      </p:to>
                                    </p:set>
                                    <p:animEffect transition="in" filter="wipe(left)">
                                      <p:cBhvr>
                                        <p:cTn id="17" dur="75"/>
                                        <p:tgtEl>
                                          <p:spTgt spid="9564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956423"/>
                                        </p:tgtEl>
                                        <p:attrNameLst>
                                          <p:attrName>style.visibility</p:attrName>
                                        </p:attrNameLst>
                                      </p:cBhvr>
                                      <p:to>
                                        <p:strVal val="visible"/>
                                      </p:to>
                                    </p:set>
                                    <p:animEffect transition="in" filter="wipe(left)">
                                      <p:cBhvr>
                                        <p:cTn id="22" dur="75"/>
                                        <p:tgtEl>
                                          <p:spTgt spid="9564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56419"/>
                                        </p:tgtEl>
                                        <p:attrNameLst>
                                          <p:attrName>style.visibility</p:attrName>
                                        </p:attrNameLst>
                                      </p:cBhvr>
                                      <p:to>
                                        <p:strVal val="visible"/>
                                      </p:to>
                                    </p:set>
                                    <p:animEffect transition="in" filter="wipe(left)">
                                      <p:cBhvr>
                                        <p:cTn id="27" dur="500"/>
                                        <p:tgtEl>
                                          <p:spTgt spid="9564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56420"/>
                                        </p:tgtEl>
                                        <p:attrNameLst>
                                          <p:attrName>style.visibility</p:attrName>
                                        </p:attrNameLst>
                                      </p:cBhvr>
                                      <p:to>
                                        <p:strVal val="visible"/>
                                      </p:to>
                                    </p:set>
                                    <p:animEffect transition="in" filter="wipe(left)">
                                      <p:cBhvr>
                                        <p:cTn id="32" dur="500"/>
                                        <p:tgtEl>
                                          <p:spTgt spid="956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418" grpId="0" animBg="1" autoUpdateAnimBg="0"/>
      <p:bldP spid="956419" grpId="0" autoUpdateAnimBg="0"/>
      <p:bldP spid="956420" grpId="0" autoUpdateAnimBg="0"/>
      <p:bldP spid="956421" grpId="0" autoUpdateAnimBg="0"/>
      <p:bldP spid="956422" grpId="0" autoUpdateAnimBg="0"/>
      <p:bldP spid="956423"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7442" name="Group 2"/>
          <p:cNvGrpSpPr/>
          <p:nvPr/>
        </p:nvGrpSpPr>
        <p:grpSpPr bwMode="auto">
          <a:xfrm>
            <a:off x="1186880" y="4848895"/>
            <a:ext cx="1981200" cy="609600"/>
            <a:chOff x="864" y="2880"/>
            <a:chExt cx="1248" cy="384"/>
          </a:xfrm>
        </p:grpSpPr>
        <p:sp>
          <p:nvSpPr>
            <p:cNvPr id="957443" name="Rectangle 3"/>
            <p:cNvSpPr>
              <a:spLocks noChangeArrowheads="1"/>
            </p:cNvSpPr>
            <p:nvPr/>
          </p:nvSpPr>
          <p:spPr bwMode="auto">
            <a:xfrm>
              <a:off x="1440" y="2880"/>
              <a:ext cx="672" cy="384"/>
            </a:xfrm>
            <a:prstGeom prst="rect">
              <a:avLst/>
            </a:prstGeom>
            <a:solidFill>
              <a:srgbClr val="99CCFF">
                <a:alpha val="50000"/>
              </a:srgbClr>
            </a:solidFill>
            <a:ln w="22225">
              <a:solidFill>
                <a:srgbClr val="000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57444" name="Line 4"/>
            <p:cNvSpPr>
              <a:spLocks noChangeShapeType="1"/>
            </p:cNvSpPr>
            <p:nvPr/>
          </p:nvSpPr>
          <p:spPr bwMode="auto">
            <a:xfrm>
              <a:off x="1920" y="2880"/>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7445" name="Line 5"/>
            <p:cNvSpPr>
              <a:spLocks noChangeShapeType="1"/>
            </p:cNvSpPr>
            <p:nvPr/>
          </p:nvSpPr>
          <p:spPr bwMode="auto">
            <a:xfrm>
              <a:off x="864" y="3072"/>
              <a:ext cx="576" cy="0"/>
            </a:xfrm>
            <a:prstGeom prst="line">
              <a:avLst/>
            </a:prstGeom>
            <a:noFill/>
            <a:ln w="31750">
              <a:solidFill>
                <a:srgbClr val="000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57446" name="Text Box 6"/>
          <p:cNvSpPr txBox="1">
            <a:spLocks noChangeArrowheads="1"/>
          </p:cNvSpPr>
          <p:nvPr/>
        </p:nvSpPr>
        <p:spPr bwMode="auto">
          <a:xfrm>
            <a:off x="-108520" y="908720"/>
            <a:ext cx="8610600" cy="188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5400"/>
              <a:t> </a:t>
            </a:r>
            <a:r>
              <a:rPr lang="zh-CN" altLang="en-US" sz="4000">
                <a:latin typeface="楷体_GB2312" charset="0"/>
                <a:ea typeface="楷体_GB2312" charset="0"/>
              </a:rPr>
              <a:t>线性表的操作</a:t>
            </a:r>
            <a:r>
              <a:rPr lang="zh-CN" altLang="en-US" sz="4400">
                <a:latin typeface="楷体_GB2312" charset="0"/>
                <a:ea typeface="楷体_GB2312" charset="0"/>
              </a:rPr>
              <a:t> </a:t>
            </a:r>
            <a:r>
              <a:rPr lang="en-US" altLang="zh-CN" sz="4400" b="1">
                <a:solidFill>
                  <a:srgbClr val="003399"/>
                </a:solidFill>
              </a:rPr>
              <a:t>ListInsert(&amp;L, i, e)</a:t>
            </a:r>
            <a:endParaRPr lang="en-US" altLang="zh-CN" sz="4400"/>
          </a:p>
          <a:p>
            <a:pPr eaLnBrk="1" hangingPunct="1">
              <a:lnSpc>
                <a:spcPct val="120000"/>
              </a:lnSpc>
              <a:defRPr/>
            </a:pPr>
            <a:r>
              <a:rPr lang="en-US" altLang="zh-CN" sz="4400"/>
              <a:t> </a:t>
            </a:r>
            <a:r>
              <a:rPr lang="zh-CN" altLang="en-US" sz="4000">
                <a:ea typeface="楷体_GB2312" charset="0"/>
              </a:rPr>
              <a:t>在单链表中的实现</a:t>
            </a:r>
            <a:r>
              <a:rPr lang="zh-CN" altLang="en-US" sz="4000"/>
              <a:t>：</a:t>
            </a:r>
            <a:endParaRPr lang="zh-CN" altLang="en-US" sz="4400"/>
          </a:p>
        </p:txBody>
      </p:sp>
      <p:sp>
        <p:nvSpPr>
          <p:cNvPr id="957447" name="Text Box 7"/>
          <p:cNvSpPr txBox="1">
            <a:spLocks noChangeArrowheads="1"/>
          </p:cNvSpPr>
          <p:nvPr/>
        </p:nvSpPr>
        <p:spPr bwMode="auto">
          <a:xfrm>
            <a:off x="742380" y="2639095"/>
            <a:ext cx="7219950" cy="216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40000"/>
              </a:lnSpc>
              <a:defRPr/>
            </a:pPr>
            <a:r>
              <a:rPr lang="zh-CN" altLang="en-US" sz="4000"/>
              <a:t> </a:t>
            </a:r>
            <a:r>
              <a:rPr lang="zh-CN" altLang="en-US" sz="4000" b="1">
                <a:solidFill>
                  <a:srgbClr val="000099"/>
                </a:solidFill>
              </a:rPr>
              <a:t>有序对 </a:t>
            </a:r>
            <a:r>
              <a:rPr lang="en-US" altLang="zh-CN" sz="4000" b="1">
                <a:solidFill>
                  <a:srgbClr val="000099"/>
                </a:solidFill>
              </a:rPr>
              <a:t>&lt;a</a:t>
            </a:r>
            <a:r>
              <a:rPr lang="en-US" altLang="zh-CN" sz="4000" b="1" baseline="-25000">
                <a:solidFill>
                  <a:srgbClr val="000099"/>
                </a:solidFill>
              </a:rPr>
              <a:t>i-1</a:t>
            </a:r>
            <a:r>
              <a:rPr lang="en-US" altLang="zh-CN" sz="4000" b="1">
                <a:solidFill>
                  <a:srgbClr val="000099"/>
                </a:solidFill>
              </a:rPr>
              <a:t>, a</a:t>
            </a:r>
            <a:r>
              <a:rPr lang="en-US" altLang="zh-CN" sz="4000" b="1" baseline="-25000">
                <a:solidFill>
                  <a:srgbClr val="000099"/>
                </a:solidFill>
              </a:rPr>
              <a:t>i</a:t>
            </a:r>
            <a:r>
              <a:rPr lang="en-US" altLang="zh-CN" sz="4000" b="1">
                <a:solidFill>
                  <a:srgbClr val="000099"/>
                </a:solidFill>
              </a:rPr>
              <a:t>&gt;</a:t>
            </a:r>
            <a:endParaRPr lang="en-US" altLang="zh-CN" sz="4000" b="1">
              <a:solidFill>
                <a:srgbClr val="000099"/>
              </a:solidFill>
            </a:endParaRPr>
          </a:p>
          <a:p>
            <a:pPr eaLnBrk="1" hangingPunct="1">
              <a:lnSpc>
                <a:spcPct val="140000"/>
              </a:lnSpc>
              <a:defRPr/>
            </a:pPr>
            <a:r>
              <a:rPr lang="en-US" altLang="zh-CN" sz="4000" b="1">
                <a:solidFill>
                  <a:srgbClr val="000099"/>
                </a:solidFill>
              </a:rPr>
              <a:t>             </a:t>
            </a:r>
            <a:r>
              <a:rPr lang="zh-CN" altLang="en-US" sz="4000" b="1">
                <a:solidFill>
                  <a:srgbClr val="000099"/>
                </a:solidFill>
              </a:rPr>
              <a:t>改变为 </a:t>
            </a:r>
            <a:r>
              <a:rPr lang="en-US" altLang="zh-CN" sz="4000" b="1">
                <a:solidFill>
                  <a:srgbClr val="000099"/>
                </a:solidFill>
              </a:rPr>
              <a:t>&lt;a</a:t>
            </a:r>
            <a:r>
              <a:rPr lang="en-US" altLang="zh-CN" sz="4000" b="1" baseline="-25000">
                <a:solidFill>
                  <a:srgbClr val="000099"/>
                </a:solidFill>
              </a:rPr>
              <a:t>i-1</a:t>
            </a:r>
            <a:r>
              <a:rPr lang="en-US" altLang="zh-CN" sz="4000" b="1">
                <a:solidFill>
                  <a:srgbClr val="000099"/>
                </a:solidFill>
              </a:rPr>
              <a:t>, e&gt; </a:t>
            </a:r>
            <a:r>
              <a:rPr lang="zh-CN" altLang="en-US" sz="4000" b="1">
                <a:solidFill>
                  <a:srgbClr val="000099"/>
                </a:solidFill>
              </a:rPr>
              <a:t>和</a:t>
            </a:r>
            <a:r>
              <a:rPr lang="en-US" altLang="zh-CN" sz="4000" b="1">
                <a:solidFill>
                  <a:srgbClr val="000099"/>
                </a:solidFill>
              </a:rPr>
              <a:t>&lt;e, a</a:t>
            </a:r>
            <a:r>
              <a:rPr lang="en-US" altLang="zh-CN" sz="4000" b="1" baseline="-25000">
                <a:solidFill>
                  <a:srgbClr val="000099"/>
                </a:solidFill>
              </a:rPr>
              <a:t>i</a:t>
            </a:r>
            <a:r>
              <a:rPr lang="en-US" altLang="zh-CN" sz="4000" b="1">
                <a:solidFill>
                  <a:srgbClr val="000099"/>
                </a:solidFill>
              </a:rPr>
              <a:t>&gt;</a:t>
            </a:r>
            <a:endParaRPr lang="en-US" altLang="zh-CN" sz="4400"/>
          </a:p>
          <a:p>
            <a:pPr eaLnBrk="1" hangingPunct="1">
              <a:defRPr/>
            </a:pPr>
            <a:endParaRPr lang="zh-CN" altLang="en-US" sz="2400"/>
          </a:p>
        </p:txBody>
      </p:sp>
      <p:grpSp>
        <p:nvGrpSpPr>
          <p:cNvPr id="957448" name="Group 8"/>
          <p:cNvGrpSpPr/>
          <p:nvPr/>
        </p:nvGrpSpPr>
        <p:grpSpPr bwMode="auto">
          <a:xfrm>
            <a:off x="3853880" y="5991895"/>
            <a:ext cx="1066800" cy="609600"/>
            <a:chOff x="2544" y="3600"/>
            <a:chExt cx="672" cy="384"/>
          </a:xfrm>
        </p:grpSpPr>
        <p:sp>
          <p:nvSpPr>
            <p:cNvPr id="957449" name="Rectangle 9"/>
            <p:cNvSpPr>
              <a:spLocks noChangeArrowheads="1"/>
            </p:cNvSpPr>
            <p:nvPr/>
          </p:nvSpPr>
          <p:spPr bwMode="auto">
            <a:xfrm>
              <a:off x="2544" y="3600"/>
              <a:ext cx="672" cy="384"/>
            </a:xfrm>
            <a:prstGeom prst="rect">
              <a:avLst/>
            </a:prstGeom>
            <a:solidFill>
              <a:srgbClr val="FFCC99">
                <a:alpha val="50000"/>
              </a:srgbClr>
            </a:solidFill>
            <a:ln w="25400">
              <a:solidFill>
                <a:srgbClr val="9933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3600" b="1">
                  <a:solidFill>
                    <a:srgbClr val="990000"/>
                  </a:solidFill>
                </a:rPr>
                <a:t> </a:t>
              </a:r>
              <a:r>
                <a:rPr lang="en-US" altLang="zh-CN" sz="3600" b="1">
                  <a:solidFill>
                    <a:srgbClr val="990000"/>
                  </a:solidFill>
                </a:rPr>
                <a:t>e</a:t>
              </a:r>
              <a:endParaRPr lang="en-US" altLang="zh-CN" sz="3600"/>
            </a:p>
          </p:txBody>
        </p:sp>
        <p:sp>
          <p:nvSpPr>
            <p:cNvPr id="957450" name="Line 10"/>
            <p:cNvSpPr>
              <a:spLocks noChangeShapeType="1"/>
            </p:cNvSpPr>
            <p:nvPr/>
          </p:nvSpPr>
          <p:spPr bwMode="auto">
            <a:xfrm>
              <a:off x="3024" y="3600"/>
              <a:ext cx="0" cy="384"/>
            </a:xfrm>
            <a:prstGeom prst="line">
              <a:avLst/>
            </a:prstGeom>
            <a:noFill/>
            <a:ln w="25400">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7451" name="Group 11"/>
          <p:cNvGrpSpPr/>
          <p:nvPr/>
        </p:nvGrpSpPr>
        <p:grpSpPr bwMode="auto">
          <a:xfrm>
            <a:off x="3015680" y="4848895"/>
            <a:ext cx="3886200" cy="609600"/>
            <a:chOff x="2016" y="2880"/>
            <a:chExt cx="2448" cy="384"/>
          </a:xfrm>
        </p:grpSpPr>
        <p:sp>
          <p:nvSpPr>
            <p:cNvPr id="957452" name="Line 12"/>
            <p:cNvSpPr>
              <a:spLocks noChangeShapeType="1"/>
            </p:cNvSpPr>
            <p:nvPr/>
          </p:nvSpPr>
          <p:spPr bwMode="auto">
            <a:xfrm>
              <a:off x="2016" y="3072"/>
              <a:ext cx="1344" cy="0"/>
            </a:xfrm>
            <a:prstGeom prst="line">
              <a:avLst/>
            </a:prstGeom>
            <a:noFill/>
            <a:ln w="31750">
              <a:solidFill>
                <a:srgbClr val="000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7453" name="Rectangle 13"/>
            <p:cNvSpPr>
              <a:spLocks noChangeArrowheads="1"/>
            </p:cNvSpPr>
            <p:nvPr/>
          </p:nvSpPr>
          <p:spPr bwMode="auto">
            <a:xfrm>
              <a:off x="3360" y="2880"/>
              <a:ext cx="672" cy="384"/>
            </a:xfrm>
            <a:prstGeom prst="rect">
              <a:avLst/>
            </a:prstGeom>
            <a:solidFill>
              <a:srgbClr val="99CCFF">
                <a:alpha val="50000"/>
              </a:srgbClr>
            </a:solidFill>
            <a:ln w="22225">
              <a:solidFill>
                <a:srgbClr val="000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a:t>
              </a:r>
              <a:endParaRPr lang="en-US" altLang="zh-CN" sz="3600"/>
            </a:p>
          </p:txBody>
        </p:sp>
        <p:sp>
          <p:nvSpPr>
            <p:cNvPr id="957454" name="Line 14"/>
            <p:cNvSpPr>
              <a:spLocks noChangeShapeType="1"/>
            </p:cNvSpPr>
            <p:nvPr/>
          </p:nvSpPr>
          <p:spPr bwMode="auto">
            <a:xfrm>
              <a:off x="3840" y="2880"/>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7455" name="Line 15"/>
            <p:cNvSpPr>
              <a:spLocks noChangeShapeType="1"/>
            </p:cNvSpPr>
            <p:nvPr/>
          </p:nvSpPr>
          <p:spPr bwMode="auto">
            <a:xfrm>
              <a:off x="3936" y="3072"/>
              <a:ext cx="528" cy="0"/>
            </a:xfrm>
            <a:prstGeom prst="line">
              <a:avLst/>
            </a:prstGeom>
            <a:noFill/>
            <a:ln w="31750">
              <a:solidFill>
                <a:srgbClr val="000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useBgFill="1">
        <p:nvSpPr>
          <p:cNvPr id="957456" name="Rectangle 16"/>
          <p:cNvSpPr>
            <a:spLocks noChangeArrowheads="1"/>
          </p:cNvSpPr>
          <p:nvPr/>
        </p:nvSpPr>
        <p:spPr bwMode="auto">
          <a:xfrm>
            <a:off x="2939480" y="5001295"/>
            <a:ext cx="2209800" cy="304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nvGrpSpPr>
          <p:cNvPr id="957457" name="Group 17"/>
          <p:cNvGrpSpPr/>
          <p:nvPr/>
        </p:nvGrpSpPr>
        <p:grpSpPr bwMode="auto">
          <a:xfrm>
            <a:off x="2101280" y="4848895"/>
            <a:ext cx="1066800" cy="609600"/>
            <a:chOff x="1440" y="3504"/>
            <a:chExt cx="672" cy="384"/>
          </a:xfrm>
        </p:grpSpPr>
        <p:sp>
          <p:nvSpPr>
            <p:cNvPr id="957458" name="Rectangle 18"/>
            <p:cNvSpPr>
              <a:spLocks noChangeArrowheads="1"/>
            </p:cNvSpPr>
            <p:nvPr/>
          </p:nvSpPr>
          <p:spPr bwMode="auto">
            <a:xfrm>
              <a:off x="1440" y="3504"/>
              <a:ext cx="672" cy="384"/>
            </a:xfrm>
            <a:prstGeom prst="rect">
              <a:avLst/>
            </a:prstGeom>
            <a:solidFill>
              <a:srgbClr val="99CCFF">
                <a:alpha val="50000"/>
              </a:srgbClr>
            </a:solidFill>
            <a:ln w="22225">
              <a:solidFill>
                <a:srgbClr val="000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57459" name="Line 19"/>
            <p:cNvSpPr>
              <a:spLocks noChangeShapeType="1"/>
            </p:cNvSpPr>
            <p:nvPr/>
          </p:nvSpPr>
          <p:spPr bwMode="auto">
            <a:xfrm>
              <a:off x="1920" y="3504"/>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cxnSp>
        <p:nvCxnSpPr>
          <p:cNvPr id="957460" name="AutoShape 20"/>
          <p:cNvCxnSpPr>
            <a:cxnSpLocks noChangeShapeType="1"/>
            <a:stCxn id="957458" idx="3"/>
            <a:endCxn id="957449" idx="1"/>
          </p:cNvCxnSpPr>
          <p:nvPr/>
        </p:nvCxnSpPr>
        <p:spPr bwMode="auto">
          <a:xfrm>
            <a:off x="3179193" y="5153695"/>
            <a:ext cx="661987" cy="1143000"/>
          </a:xfrm>
          <a:prstGeom prst="bentConnector3">
            <a:avLst>
              <a:gd name="adj1" fmla="val 50120"/>
            </a:avLst>
          </a:prstGeom>
          <a:noFill/>
          <a:ln w="31750">
            <a:solidFill>
              <a:srgbClr val="008080"/>
            </a:solidFill>
            <a:miter lim="800000"/>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57461" name="AutoShape 21"/>
          <p:cNvCxnSpPr>
            <a:cxnSpLocks noChangeShapeType="1"/>
            <a:stCxn id="957449" idx="3"/>
            <a:endCxn id="957453" idx="2"/>
          </p:cNvCxnSpPr>
          <p:nvPr/>
        </p:nvCxnSpPr>
        <p:spPr bwMode="auto">
          <a:xfrm flipV="1">
            <a:off x="4933380" y="5469608"/>
            <a:ext cx="749300" cy="827087"/>
          </a:xfrm>
          <a:prstGeom prst="bentConnector2">
            <a:avLst/>
          </a:prstGeom>
          <a:noFill/>
          <a:ln w="31750">
            <a:solidFill>
              <a:srgbClr val="008080"/>
            </a:solidFill>
            <a:miter lim="800000"/>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957446"/>
                                        </p:tgtEl>
                                        <p:attrNameLst>
                                          <p:attrName>style.visibility</p:attrName>
                                        </p:attrNameLst>
                                      </p:cBhvr>
                                      <p:to>
                                        <p:strVal val="visible"/>
                                      </p:to>
                                    </p:set>
                                    <p:animEffect transition="in" filter="strips(downRight)">
                                      <p:cBhvr>
                                        <p:cTn id="7" dur="500"/>
                                        <p:tgtEl>
                                          <p:spTgt spid="95744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957447"/>
                                        </p:tgtEl>
                                        <p:attrNameLst>
                                          <p:attrName>style.visibility</p:attrName>
                                        </p:attrNameLst>
                                      </p:cBhvr>
                                      <p:to>
                                        <p:strVal val="visible"/>
                                      </p:to>
                                    </p:set>
                                    <p:animEffect transition="in" filter="strips(downRight)">
                                      <p:cBhvr>
                                        <p:cTn id="12" dur="300"/>
                                        <p:tgtEl>
                                          <p:spTgt spid="9574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57442"/>
                                        </p:tgtEl>
                                        <p:attrNameLst>
                                          <p:attrName>style.visibility</p:attrName>
                                        </p:attrNameLst>
                                      </p:cBhvr>
                                      <p:to>
                                        <p:strVal val="visible"/>
                                      </p:to>
                                    </p:set>
                                    <p:animEffect transition="in" filter="wipe(left)">
                                      <p:cBhvr>
                                        <p:cTn id="17" dur="500"/>
                                        <p:tgtEl>
                                          <p:spTgt spid="957442"/>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57451"/>
                                        </p:tgtEl>
                                        <p:attrNameLst>
                                          <p:attrName>style.visibility</p:attrName>
                                        </p:attrNameLst>
                                      </p:cBhvr>
                                      <p:to>
                                        <p:strVal val="visible"/>
                                      </p:to>
                                    </p:set>
                                    <p:animEffect transition="in" filter="wipe(left)">
                                      <p:cBhvr>
                                        <p:cTn id="21" dur="500"/>
                                        <p:tgtEl>
                                          <p:spTgt spid="95745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57448"/>
                                        </p:tgtEl>
                                        <p:attrNameLst>
                                          <p:attrName>style.visibility</p:attrName>
                                        </p:attrNameLst>
                                      </p:cBhvr>
                                      <p:to>
                                        <p:strVal val="visible"/>
                                      </p:to>
                                    </p:set>
                                    <p:animEffect transition="in" filter="wipe(left)">
                                      <p:cBhvr>
                                        <p:cTn id="26" dur="500"/>
                                        <p:tgtEl>
                                          <p:spTgt spid="95744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57461"/>
                                        </p:tgtEl>
                                        <p:attrNameLst>
                                          <p:attrName>style.visibility</p:attrName>
                                        </p:attrNameLst>
                                      </p:cBhvr>
                                      <p:to>
                                        <p:strVal val="visible"/>
                                      </p:to>
                                    </p:set>
                                    <p:animEffect transition="in" filter="wipe(left)">
                                      <p:cBhvr>
                                        <p:cTn id="31" dur="500"/>
                                        <p:tgtEl>
                                          <p:spTgt spid="95746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957456"/>
                                        </p:tgtEl>
                                        <p:attrNameLst>
                                          <p:attrName>style.visibility</p:attrName>
                                        </p:attrNameLst>
                                      </p:cBhvr>
                                      <p:to>
                                        <p:strVal val="visible"/>
                                      </p:to>
                                    </p:set>
                                    <p:animEffect transition="in" filter="wipe(up)">
                                      <p:cBhvr>
                                        <p:cTn id="36" dur="500"/>
                                        <p:tgtEl>
                                          <p:spTgt spid="957456"/>
                                        </p:tgtEl>
                                      </p:cBhvr>
                                    </p:animEffec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499"/>
                                          </p:stCondLst>
                                        </p:cTn>
                                        <p:tgtEl>
                                          <p:spTgt spid="957457"/>
                                        </p:tgtEl>
                                        <p:attrNameLst>
                                          <p:attrName>style.visibility</p:attrName>
                                        </p:attrNameLst>
                                      </p:cBhvr>
                                      <p:to>
                                        <p:strVal val="visible"/>
                                      </p:to>
                                    </p:set>
                                  </p:childTnLst>
                                </p:cTn>
                              </p:par>
                            </p:childTnLst>
                          </p:cTn>
                        </p:par>
                        <p:par>
                          <p:cTn id="40" fill="hold">
                            <p:stCondLst>
                              <p:cond delay="1000"/>
                            </p:stCondLst>
                            <p:childTnLst>
                              <p:par>
                                <p:cTn id="41" presetID="22" presetClass="entr" presetSubtype="8" fill="hold" nodeType="afterEffect">
                                  <p:stCondLst>
                                    <p:cond delay="0"/>
                                  </p:stCondLst>
                                  <p:childTnLst>
                                    <p:set>
                                      <p:cBhvr>
                                        <p:cTn id="42" dur="1" fill="hold">
                                          <p:stCondLst>
                                            <p:cond delay="0"/>
                                          </p:stCondLst>
                                        </p:cTn>
                                        <p:tgtEl>
                                          <p:spTgt spid="957460"/>
                                        </p:tgtEl>
                                        <p:attrNameLst>
                                          <p:attrName>style.visibility</p:attrName>
                                        </p:attrNameLst>
                                      </p:cBhvr>
                                      <p:to>
                                        <p:strVal val="visible"/>
                                      </p:to>
                                    </p:set>
                                    <p:animEffect transition="in" filter="wipe(left)">
                                      <p:cBhvr>
                                        <p:cTn id="43" dur="500"/>
                                        <p:tgtEl>
                                          <p:spTgt spid="957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7446" grpId="0" autoUpdateAnimBg="0"/>
      <p:bldP spid="957447" grpId="0" autoUpdateAnimBg="0"/>
      <p:bldP spid="95745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66" name="Text Box 2"/>
          <p:cNvSpPr txBox="1">
            <a:spLocks noChangeArrowheads="1"/>
          </p:cNvSpPr>
          <p:nvPr/>
        </p:nvSpPr>
        <p:spPr bwMode="auto">
          <a:xfrm>
            <a:off x="533400" y="3330575"/>
            <a:ext cx="823595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3600" b="1">
                <a:solidFill>
                  <a:srgbClr val="333399"/>
                </a:solidFill>
              </a:rPr>
              <a:t>    因此，在单链表中第 </a:t>
            </a:r>
            <a:r>
              <a:rPr lang="en-US" altLang="zh-CN" sz="3600" b="1">
                <a:solidFill>
                  <a:srgbClr val="333399"/>
                </a:solidFill>
              </a:rPr>
              <a:t>i </a:t>
            </a:r>
            <a:r>
              <a:rPr lang="zh-CN" altLang="en-US" sz="3600" b="1">
                <a:solidFill>
                  <a:srgbClr val="333399"/>
                </a:solidFill>
              </a:rPr>
              <a:t>个结点之前进行插入的基本操作为</a:t>
            </a:r>
            <a:r>
              <a:rPr lang="en-US" altLang="zh-CN" sz="3600" b="1">
                <a:solidFill>
                  <a:srgbClr val="333399"/>
                </a:solidFill>
              </a:rPr>
              <a:t>:</a:t>
            </a:r>
            <a:endParaRPr lang="en-US" altLang="zh-CN" sz="3600"/>
          </a:p>
          <a:p>
            <a:pPr eaLnBrk="1" hangingPunct="1">
              <a:lnSpc>
                <a:spcPct val="125000"/>
              </a:lnSpc>
              <a:defRPr/>
            </a:pPr>
            <a:r>
              <a:rPr lang="en-US" altLang="zh-CN" sz="3600"/>
              <a:t>    </a:t>
            </a:r>
            <a:r>
              <a:rPr lang="zh-CN" altLang="en-US" sz="3600" b="1">
                <a:solidFill>
                  <a:srgbClr val="993366"/>
                </a:solidFill>
                <a:latin typeface="楷体_GB2312" charset="0"/>
                <a:ea typeface="楷体_GB2312" charset="0"/>
              </a:rPr>
              <a:t>找到线性表中第</a:t>
            </a:r>
            <a:r>
              <a:rPr lang="en-US" altLang="zh-CN" sz="3600" b="1">
                <a:solidFill>
                  <a:srgbClr val="993366"/>
                </a:solidFill>
                <a:latin typeface="楷体_GB2312" charset="0"/>
                <a:ea typeface="楷体_GB2312" charset="0"/>
              </a:rPr>
              <a:t>i-1</a:t>
            </a:r>
            <a:r>
              <a:rPr lang="zh-CN" altLang="en-US" sz="3600" b="1">
                <a:solidFill>
                  <a:srgbClr val="993366"/>
                </a:solidFill>
                <a:latin typeface="楷体_GB2312" charset="0"/>
                <a:ea typeface="楷体_GB2312" charset="0"/>
              </a:rPr>
              <a:t>个结点，然后修改其指向后继的指针。</a:t>
            </a:r>
            <a:endParaRPr lang="zh-CN" altLang="en-US" sz="3600">
              <a:solidFill>
                <a:srgbClr val="993366"/>
              </a:solidFill>
              <a:latin typeface="楷体_GB2312" charset="0"/>
              <a:ea typeface="楷体_GB2312" charset="0"/>
            </a:endParaRPr>
          </a:p>
        </p:txBody>
      </p:sp>
      <p:sp>
        <p:nvSpPr>
          <p:cNvPr id="958467" name="Text Box 3"/>
          <p:cNvSpPr txBox="1">
            <a:spLocks noChangeArrowheads="1"/>
          </p:cNvSpPr>
          <p:nvPr/>
        </p:nvSpPr>
        <p:spPr bwMode="auto">
          <a:xfrm>
            <a:off x="822325" y="304800"/>
            <a:ext cx="8093075"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3600" b="1">
                <a:solidFill>
                  <a:srgbClr val="660033"/>
                </a:solidFill>
                <a:ea typeface="楷体_GB2312" charset="0"/>
              </a:rPr>
              <a:t>    可见，在链表中插入结点只需要修改指针。但同时，若要在第 </a:t>
            </a:r>
            <a:r>
              <a:rPr lang="en-US" altLang="zh-CN" sz="3600" b="1">
                <a:solidFill>
                  <a:srgbClr val="660033"/>
                </a:solidFill>
                <a:ea typeface="楷体_GB2312" charset="0"/>
              </a:rPr>
              <a:t>i </a:t>
            </a:r>
            <a:r>
              <a:rPr lang="zh-CN" altLang="en-US" sz="3600" b="1">
                <a:solidFill>
                  <a:srgbClr val="660033"/>
                </a:solidFill>
                <a:ea typeface="楷体_GB2312" charset="0"/>
              </a:rPr>
              <a:t>个结点之前插入元素，修改的是第 </a:t>
            </a:r>
            <a:r>
              <a:rPr lang="en-US" altLang="zh-CN" sz="3600" b="1">
                <a:solidFill>
                  <a:srgbClr val="660033"/>
                </a:solidFill>
                <a:ea typeface="楷体_GB2312" charset="0"/>
              </a:rPr>
              <a:t>i-1 </a:t>
            </a:r>
            <a:r>
              <a:rPr lang="zh-CN" altLang="en-US" sz="3600" b="1">
                <a:solidFill>
                  <a:srgbClr val="660033"/>
                </a:solidFill>
                <a:ea typeface="楷体_GB2312" charset="0"/>
              </a:rPr>
              <a:t>个结点的指针。</a:t>
            </a:r>
            <a:endParaRPr lang="zh-CN" altLang="en-US"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958466"/>
                                        </p:tgtEl>
                                        <p:attrNameLst>
                                          <p:attrName>style.visibility</p:attrName>
                                        </p:attrNameLst>
                                      </p:cBhvr>
                                      <p:to>
                                        <p:strVal val="visible"/>
                                      </p:to>
                                    </p:set>
                                    <p:animEffect transition="in" filter="blinds(vertical)">
                                      <p:cBhvr>
                                        <p:cTn id="7" dur="500"/>
                                        <p:tgtEl>
                                          <p:spTgt spid="958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66"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9490" name="Text Box 2"/>
          <p:cNvSpPr txBox="1">
            <a:spLocks noChangeArrowheads="1"/>
          </p:cNvSpPr>
          <p:nvPr/>
        </p:nvSpPr>
        <p:spPr bwMode="auto">
          <a:xfrm>
            <a:off x="0" y="150813"/>
            <a:ext cx="8802410" cy="52414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2800" b="1"/>
              <a:t>  </a:t>
            </a:r>
            <a:r>
              <a:rPr lang="en-US" altLang="zh-CN" sz="2800" b="1"/>
              <a:t>Status</a:t>
            </a:r>
            <a:r>
              <a:rPr lang="en-US" altLang="zh-CN" sz="2800"/>
              <a:t> ListInsert_L(LinkList L, </a:t>
            </a:r>
            <a:r>
              <a:rPr lang="en-US" altLang="zh-CN" sz="2800" b="1"/>
              <a:t>int</a:t>
            </a:r>
            <a:r>
              <a:rPr lang="en-US" altLang="zh-CN" sz="2800"/>
              <a:t> i, ElemType e) </a:t>
            </a:r>
            <a:r>
              <a:rPr lang="en-US" altLang="zh-CN" sz="2800" b="1"/>
              <a:t>{</a:t>
            </a:r>
            <a:endParaRPr lang="en-US" altLang="zh-CN" sz="2800" b="1"/>
          </a:p>
          <a:p>
            <a:pPr eaLnBrk="1" hangingPunct="1">
              <a:lnSpc>
                <a:spcPct val="120000"/>
              </a:lnSpc>
              <a:defRPr/>
            </a:pPr>
            <a:r>
              <a:rPr lang="en-US" altLang="zh-CN" sz="2800" b="1">
                <a:solidFill>
                  <a:srgbClr val="000099"/>
                </a:solidFill>
              </a:rPr>
              <a:t>     </a:t>
            </a:r>
            <a:r>
              <a:rPr lang="en-US" altLang="zh-CN" sz="2800">
                <a:solidFill>
                  <a:srgbClr val="000099"/>
                </a:solidFill>
              </a:rPr>
              <a:t>// </a:t>
            </a:r>
            <a:r>
              <a:rPr lang="en-US" altLang="zh-CN" sz="2800" b="1">
                <a:solidFill>
                  <a:srgbClr val="000099"/>
                </a:solidFill>
              </a:rPr>
              <a:t>L </a:t>
            </a:r>
            <a:r>
              <a:rPr lang="zh-CN" altLang="en-US" sz="2800" b="1">
                <a:solidFill>
                  <a:srgbClr val="000099"/>
                </a:solidFill>
                <a:ea typeface="楷体_GB2312" charset="0"/>
              </a:rPr>
              <a:t>为带头结点的单链表的头指针，本算法</a:t>
            </a:r>
            <a:endParaRPr lang="zh-CN" altLang="en-US" sz="2800">
              <a:solidFill>
                <a:srgbClr val="000099"/>
              </a:solidFill>
              <a:ea typeface="楷体_GB2312" charset="0"/>
            </a:endParaRPr>
          </a:p>
          <a:p>
            <a:pPr eaLnBrk="1" hangingPunct="1">
              <a:lnSpc>
                <a:spcPct val="120000"/>
              </a:lnSpc>
              <a:defRPr/>
            </a:pPr>
            <a:r>
              <a:rPr lang="zh-CN" altLang="en-US" sz="2800">
                <a:solidFill>
                  <a:srgbClr val="000099"/>
                </a:solidFill>
                <a:ea typeface="楷体_GB2312" charset="0"/>
              </a:rPr>
              <a:t>     </a:t>
            </a:r>
            <a:r>
              <a:rPr lang="en-US" altLang="zh-CN" sz="2800">
                <a:solidFill>
                  <a:srgbClr val="000099"/>
                </a:solidFill>
                <a:ea typeface="楷体_GB2312" charset="0"/>
              </a:rPr>
              <a:t>// </a:t>
            </a:r>
            <a:r>
              <a:rPr lang="zh-CN" altLang="en-US" sz="2800" b="1">
                <a:solidFill>
                  <a:srgbClr val="000099"/>
                </a:solidFill>
                <a:ea typeface="楷体_GB2312" charset="0"/>
              </a:rPr>
              <a:t>在链表中第</a:t>
            </a:r>
            <a:r>
              <a:rPr lang="en-US" altLang="zh-CN" sz="2800" b="1">
                <a:solidFill>
                  <a:srgbClr val="000099"/>
                </a:solidFill>
                <a:ea typeface="楷体_GB2312" charset="0"/>
              </a:rPr>
              <a:t>i </a:t>
            </a:r>
            <a:r>
              <a:rPr lang="zh-CN" altLang="en-US" sz="2800" b="1">
                <a:solidFill>
                  <a:srgbClr val="000099"/>
                </a:solidFill>
                <a:ea typeface="楷体_GB2312" charset="0"/>
              </a:rPr>
              <a:t>个结点之前插入新的元素 </a:t>
            </a:r>
            <a:r>
              <a:rPr lang="en-US" altLang="zh-CN" sz="2800" b="1">
                <a:solidFill>
                  <a:srgbClr val="000099"/>
                </a:solidFill>
                <a:ea typeface="楷体_GB2312" charset="0"/>
              </a:rPr>
              <a:t>e</a:t>
            </a:r>
            <a:endParaRPr lang="en-US" altLang="zh-CN" sz="2800">
              <a:solidFill>
                <a:srgbClr val="000099"/>
              </a:solidFill>
            </a:endParaRPr>
          </a:p>
          <a:p>
            <a:pPr eaLnBrk="1" hangingPunct="1">
              <a:lnSpc>
                <a:spcPct val="120000"/>
              </a:lnSpc>
              <a:defRPr/>
            </a:pPr>
            <a:r>
              <a:rPr lang="en-US" altLang="zh-CN" sz="2800"/>
              <a:t>     </a:t>
            </a:r>
            <a:endParaRPr lang="en-US" altLang="zh-CN" sz="2800"/>
          </a:p>
          <a:p>
            <a:pPr eaLnBrk="1" hangingPunct="1">
              <a:lnSpc>
                <a:spcPct val="120000"/>
              </a:lnSpc>
              <a:defRPr/>
            </a:pPr>
            <a:endParaRPr lang="en-US" altLang="zh-CN" sz="2800"/>
          </a:p>
          <a:p>
            <a:pPr eaLnBrk="1" hangingPunct="1">
              <a:lnSpc>
                <a:spcPct val="120000"/>
              </a:lnSpc>
              <a:defRPr/>
            </a:pPr>
            <a:endParaRPr lang="en-US" altLang="zh-CN" sz="2800"/>
          </a:p>
          <a:p>
            <a:pPr eaLnBrk="1" hangingPunct="1">
              <a:lnSpc>
                <a:spcPct val="120000"/>
              </a:lnSpc>
              <a:defRPr/>
            </a:pPr>
            <a:endParaRPr lang="en-US" altLang="zh-CN" sz="2800"/>
          </a:p>
          <a:p>
            <a:pPr eaLnBrk="1" hangingPunct="1">
              <a:lnSpc>
                <a:spcPct val="120000"/>
              </a:lnSpc>
              <a:defRPr/>
            </a:pPr>
            <a:endParaRPr lang="en-US" altLang="zh-CN" sz="2800"/>
          </a:p>
          <a:p>
            <a:pPr eaLnBrk="1" hangingPunct="1">
              <a:lnSpc>
                <a:spcPct val="120000"/>
              </a:lnSpc>
              <a:defRPr/>
            </a:pPr>
            <a:endParaRPr lang="en-US" altLang="zh-CN" sz="2800" b="1"/>
          </a:p>
          <a:p>
            <a:pPr eaLnBrk="1" hangingPunct="1">
              <a:lnSpc>
                <a:spcPct val="120000"/>
              </a:lnSpc>
              <a:defRPr/>
            </a:pPr>
            <a:r>
              <a:rPr lang="en-US" altLang="zh-CN" sz="2800" b="1"/>
              <a:t>  }</a:t>
            </a:r>
            <a:r>
              <a:rPr lang="en-US" altLang="zh-CN" sz="2800"/>
              <a:t> // LinstInsert_L</a:t>
            </a:r>
            <a:endParaRPr lang="en-US" altLang="zh-CN" sz="2800"/>
          </a:p>
        </p:txBody>
      </p:sp>
      <p:sp>
        <p:nvSpPr>
          <p:cNvPr id="959491" name="Text Box 3"/>
          <p:cNvSpPr txBox="1">
            <a:spLocks noChangeArrowheads="1"/>
          </p:cNvSpPr>
          <p:nvPr/>
        </p:nvSpPr>
        <p:spPr bwMode="auto">
          <a:xfrm>
            <a:off x="304800" y="6064250"/>
            <a:ext cx="353013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ea typeface="隶书" panose="02010509060101010101" charset="-122"/>
              </a:rPr>
              <a:t>算法的</a:t>
            </a:r>
            <a:r>
              <a:rPr lang="zh-CN" altLang="en-US" sz="2800" b="1">
                <a:solidFill>
                  <a:srgbClr val="FF0000"/>
                </a:solidFill>
                <a:ea typeface="隶书" panose="02010509060101010101" charset="-122"/>
              </a:rPr>
              <a:t>时间复杂度</a:t>
            </a:r>
            <a:r>
              <a:rPr lang="zh-CN" altLang="en-US" sz="2800"/>
              <a:t>为</a:t>
            </a:r>
            <a:r>
              <a:rPr lang="en-US" altLang="zh-CN" sz="2800"/>
              <a:t>:</a:t>
            </a:r>
            <a:endParaRPr lang="en-US" altLang="zh-CN" sz="2800"/>
          </a:p>
        </p:txBody>
      </p:sp>
      <p:sp>
        <p:nvSpPr>
          <p:cNvPr id="959492" name="Text Box 4"/>
          <p:cNvSpPr txBox="1">
            <a:spLocks noChangeArrowheads="1"/>
          </p:cNvSpPr>
          <p:nvPr/>
        </p:nvSpPr>
        <p:spPr bwMode="auto">
          <a:xfrm>
            <a:off x="4953000" y="6003925"/>
            <a:ext cx="29354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t>O(ListLength(L))</a:t>
            </a:r>
            <a:endParaRPr lang="en-US" altLang="zh-CN" sz="2800"/>
          </a:p>
        </p:txBody>
      </p:sp>
      <p:sp>
        <p:nvSpPr>
          <p:cNvPr id="959493" name="Text Box 5">
            <a:hlinkClick r:id="" action="ppaction://hlinkshowjump?jump=nextslide"/>
          </p:cNvPr>
          <p:cNvSpPr txBox="1">
            <a:spLocks noChangeArrowheads="1"/>
          </p:cNvSpPr>
          <p:nvPr/>
        </p:nvSpPr>
        <p:spPr bwMode="auto">
          <a:xfrm>
            <a:off x="827584" y="4297629"/>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6600CC"/>
                </a:solidFill>
              </a:rPr>
              <a:t>……</a:t>
            </a:r>
            <a:endParaRPr lang="en-US" altLang="zh-CN" sz="2800" dirty="0"/>
          </a:p>
        </p:txBody>
      </p:sp>
      <p:sp>
        <p:nvSpPr>
          <p:cNvPr id="959494" name="Rectangle 6"/>
          <p:cNvSpPr>
            <a:spLocks noChangeArrowheads="1"/>
          </p:cNvSpPr>
          <p:nvPr/>
        </p:nvSpPr>
        <p:spPr bwMode="auto">
          <a:xfrm>
            <a:off x="512763" y="1828800"/>
            <a:ext cx="8348760" cy="2656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a:t>p = L;    j = 0;</a:t>
            </a:r>
            <a:endParaRPr lang="en-US" altLang="zh-CN" sz="2800"/>
          </a:p>
          <a:p>
            <a:pPr eaLnBrk="1" hangingPunct="1">
              <a:lnSpc>
                <a:spcPct val="120000"/>
              </a:lnSpc>
              <a:defRPr/>
            </a:pPr>
            <a:r>
              <a:rPr lang="en-US" altLang="zh-CN" sz="2800" b="1">
                <a:solidFill>
                  <a:srgbClr val="FF0000"/>
                </a:solidFill>
              </a:rPr>
              <a:t>while </a:t>
            </a:r>
            <a:r>
              <a:rPr lang="en-US" altLang="zh-CN" sz="2800">
                <a:solidFill>
                  <a:srgbClr val="FF0000"/>
                </a:solidFill>
              </a:rPr>
              <a:t>(p </a:t>
            </a:r>
            <a:r>
              <a:rPr lang="en-US" altLang="zh-CN" sz="2800" b="1">
                <a:solidFill>
                  <a:srgbClr val="FF0000"/>
                </a:solidFill>
              </a:rPr>
              <a:t>&amp;&amp;</a:t>
            </a:r>
            <a:r>
              <a:rPr lang="en-US" altLang="zh-CN" sz="2800">
                <a:solidFill>
                  <a:srgbClr val="FF0000"/>
                </a:solidFill>
              </a:rPr>
              <a:t> j &lt; i-1) </a:t>
            </a:r>
            <a:endParaRPr lang="en-US" altLang="zh-CN" sz="2800">
              <a:solidFill>
                <a:srgbClr val="FF0000"/>
              </a:solidFill>
            </a:endParaRPr>
          </a:p>
          <a:p>
            <a:pPr eaLnBrk="1" hangingPunct="1">
              <a:lnSpc>
                <a:spcPct val="120000"/>
              </a:lnSpc>
              <a:defRPr/>
            </a:pPr>
            <a:r>
              <a:rPr lang="en-US" altLang="zh-CN" sz="2800">
                <a:solidFill>
                  <a:srgbClr val="FF0000"/>
                </a:solidFill>
              </a:rPr>
              <a:t>     </a:t>
            </a:r>
            <a:r>
              <a:rPr lang="en-US" altLang="zh-CN" sz="2800" b="1">
                <a:solidFill>
                  <a:srgbClr val="FF0000"/>
                </a:solidFill>
              </a:rPr>
              <a:t>{ </a:t>
            </a:r>
            <a:r>
              <a:rPr lang="en-US" altLang="zh-CN" sz="2800">
                <a:solidFill>
                  <a:srgbClr val="FF0000"/>
                </a:solidFill>
              </a:rPr>
              <a:t>p = p-&gt;next;  ++j; </a:t>
            </a:r>
            <a:r>
              <a:rPr lang="en-US" altLang="zh-CN" sz="2800" b="1">
                <a:solidFill>
                  <a:srgbClr val="FF0000"/>
                </a:solidFill>
              </a:rPr>
              <a:t>}</a:t>
            </a:r>
            <a:r>
              <a:rPr lang="en-US" altLang="zh-CN" sz="2800" b="1"/>
              <a:t> </a:t>
            </a:r>
            <a:r>
              <a:rPr lang="en-US" altLang="zh-CN" sz="2800"/>
              <a:t>  </a:t>
            </a:r>
            <a:r>
              <a:rPr lang="en-US" altLang="zh-CN" sz="2800">
                <a:solidFill>
                  <a:srgbClr val="000099"/>
                </a:solidFill>
              </a:rPr>
              <a:t>//</a:t>
            </a:r>
            <a:r>
              <a:rPr lang="en-US" altLang="zh-CN" sz="2800"/>
              <a:t> </a:t>
            </a:r>
            <a:r>
              <a:rPr lang="zh-CN" altLang="en-US" sz="2800" b="1">
                <a:solidFill>
                  <a:srgbClr val="000099"/>
                </a:solidFill>
              </a:rPr>
              <a:t>寻找第 </a:t>
            </a:r>
            <a:r>
              <a:rPr lang="en-US" altLang="zh-CN" sz="2800" b="1">
                <a:solidFill>
                  <a:srgbClr val="000099"/>
                </a:solidFill>
              </a:rPr>
              <a:t>i-1 </a:t>
            </a:r>
            <a:r>
              <a:rPr lang="zh-CN" altLang="en-US" sz="2800" b="1">
                <a:solidFill>
                  <a:srgbClr val="000099"/>
                </a:solidFill>
              </a:rPr>
              <a:t>个结点</a:t>
            </a:r>
            <a:endParaRPr lang="zh-CN" altLang="en-US" sz="2800"/>
          </a:p>
          <a:p>
            <a:pPr eaLnBrk="1" hangingPunct="1">
              <a:lnSpc>
                <a:spcPct val="120000"/>
              </a:lnSpc>
              <a:defRPr/>
            </a:pPr>
            <a:r>
              <a:rPr lang="en-US" altLang="zh-CN" sz="2800" b="1"/>
              <a:t>if</a:t>
            </a:r>
            <a:r>
              <a:rPr lang="en-US" altLang="zh-CN" sz="2800"/>
              <a:t> (</a:t>
            </a:r>
            <a:r>
              <a:rPr lang="en-US" altLang="zh-CN" sz="2800" b="1"/>
              <a:t>!</a:t>
            </a:r>
            <a:r>
              <a:rPr lang="en-US" altLang="zh-CN" sz="2800"/>
              <a:t>p</a:t>
            </a:r>
            <a:r>
              <a:rPr lang="en-US" altLang="zh-CN" sz="2800" b="1"/>
              <a:t> || </a:t>
            </a:r>
            <a:r>
              <a:rPr lang="en-US" altLang="zh-CN" sz="2800"/>
              <a:t>j &gt; i-1)</a:t>
            </a:r>
            <a:endParaRPr lang="en-US" altLang="zh-CN" sz="2800"/>
          </a:p>
          <a:p>
            <a:pPr eaLnBrk="1" hangingPunct="1">
              <a:lnSpc>
                <a:spcPct val="120000"/>
              </a:lnSpc>
              <a:defRPr/>
            </a:pPr>
            <a:r>
              <a:rPr lang="en-US" altLang="zh-CN" sz="2800"/>
              <a:t>      </a:t>
            </a:r>
            <a:r>
              <a:rPr lang="en-US" altLang="zh-CN" sz="2800" b="1"/>
              <a:t>return</a:t>
            </a:r>
            <a:r>
              <a:rPr lang="en-US" altLang="zh-CN" sz="2800"/>
              <a:t> ERROR;      </a:t>
            </a:r>
            <a:r>
              <a:rPr lang="en-US" altLang="zh-CN" sz="2800">
                <a:solidFill>
                  <a:srgbClr val="000099"/>
                </a:solidFill>
              </a:rPr>
              <a:t>//</a:t>
            </a:r>
            <a:r>
              <a:rPr lang="en-US" altLang="zh-CN" sz="2800"/>
              <a:t> </a:t>
            </a:r>
            <a:r>
              <a:rPr lang="en-US" altLang="zh-CN" sz="2800" b="1">
                <a:solidFill>
                  <a:srgbClr val="000099"/>
                </a:solidFill>
              </a:rPr>
              <a:t>i </a:t>
            </a:r>
            <a:r>
              <a:rPr lang="zh-CN" altLang="en-US" sz="2800" b="1">
                <a:solidFill>
                  <a:srgbClr val="000099"/>
                </a:solidFill>
              </a:rPr>
              <a:t>大于表长或者小于</a:t>
            </a:r>
            <a:r>
              <a:rPr lang="en-US" altLang="zh-CN" sz="2800" b="1">
                <a:solidFill>
                  <a:srgbClr val="000099"/>
                </a:solidFill>
              </a:rPr>
              <a:t>1 </a:t>
            </a:r>
            <a:endParaRPr lang="en-US" altLang="zh-CN" sz="2800" b="1">
              <a:solidFill>
                <a:srgbClr val="00009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959490"/>
                                        </p:tgtEl>
                                        <p:attrNameLst>
                                          <p:attrName>style.visibility</p:attrName>
                                        </p:attrNameLst>
                                      </p:cBhvr>
                                      <p:to>
                                        <p:strVal val="visible"/>
                                      </p:to>
                                    </p:set>
                                    <p:animEffect transition="in" filter="wipe(left)">
                                      <p:cBhvr>
                                        <p:cTn id="7" dur="300"/>
                                        <p:tgtEl>
                                          <p:spTgt spid="9594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959494"/>
                                        </p:tgtEl>
                                        <p:attrNameLst>
                                          <p:attrName>style.visibility</p:attrName>
                                        </p:attrNameLst>
                                      </p:cBhvr>
                                      <p:to>
                                        <p:strVal val="visible"/>
                                      </p:to>
                                    </p:set>
                                    <p:animEffect transition="in" filter="wipe(left)">
                                      <p:cBhvr>
                                        <p:cTn id="12" dur="300"/>
                                        <p:tgtEl>
                                          <p:spTgt spid="9594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959493"/>
                                        </p:tgtEl>
                                        <p:attrNameLst>
                                          <p:attrName>style.visibility</p:attrName>
                                        </p:attrNameLst>
                                      </p:cBhvr>
                                      <p:to>
                                        <p:strVal val="visible"/>
                                      </p:to>
                                    </p:set>
                                    <p:animEffect transition="in" filter="wipe(left)">
                                      <p:cBhvr>
                                        <p:cTn id="17" dur="300"/>
                                        <p:tgtEl>
                                          <p:spTgt spid="95949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959491"/>
                                        </p:tgtEl>
                                        <p:attrNameLst>
                                          <p:attrName>style.visibility</p:attrName>
                                        </p:attrNameLst>
                                      </p:cBhvr>
                                      <p:to>
                                        <p:strVal val="visible"/>
                                      </p:to>
                                    </p:set>
                                    <p:anim calcmode="lin" valueType="num">
                                      <p:cBhvr additive="base">
                                        <p:cTn id="22" dur="500" fill="hold"/>
                                        <p:tgtEl>
                                          <p:spTgt spid="959491"/>
                                        </p:tgtEl>
                                        <p:attrNameLst>
                                          <p:attrName>ppt_x</p:attrName>
                                        </p:attrNameLst>
                                      </p:cBhvr>
                                      <p:tavLst>
                                        <p:tav tm="0">
                                          <p:val>
                                            <p:strVal val="0-#ppt_w/2"/>
                                          </p:val>
                                        </p:tav>
                                        <p:tav tm="100000">
                                          <p:val>
                                            <p:strVal val="#ppt_x"/>
                                          </p:val>
                                        </p:tav>
                                      </p:tavLst>
                                    </p:anim>
                                    <p:anim calcmode="lin" valueType="num">
                                      <p:cBhvr additive="base">
                                        <p:cTn id="23" dur="500" fill="hold"/>
                                        <p:tgtEl>
                                          <p:spTgt spid="959491"/>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59492"/>
                                        </p:tgtEl>
                                        <p:attrNameLst>
                                          <p:attrName>style.visibility</p:attrName>
                                        </p:attrNameLst>
                                      </p:cBhvr>
                                      <p:to>
                                        <p:strVal val="visible"/>
                                      </p:to>
                                    </p:set>
                                    <p:animEffect transition="in" filter="wipe(left)">
                                      <p:cBhvr>
                                        <p:cTn id="28" dur="500"/>
                                        <p:tgtEl>
                                          <p:spTgt spid="959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9490" grpId="0" animBg="1" autoUpdateAnimBg="0"/>
      <p:bldP spid="959491" grpId="0" autoUpdateAnimBg="0"/>
      <p:bldP spid="959492" grpId="0" autoUpdateAnimBg="0"/>
      <p:bldP spid="959493" grpId="0" autoUpdateAnimBg="0"/>
      <p:bldP spid="959494"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4" name="Rectangle 2"/>
          <p:cNvSpPr>
            <a:spLocks noChangeArrowheads="1"/>
          </p:cNvSpPr>
          <p:nvPr/>
        </p:nvSpPr>
        <p:spPr bwMode="auto">
          <a:xfrm>
            <a:off x="609600" y="1033463"/>
            <a:ext cx="8077200" cy="265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en-US" altLang="zh-CN" sz="2800">
                <a:solidFill>
                  <a:srgbClr val="6600CC"/>
                </a:solidFill>
              </a:rPr>
              <a:t>s = (LinkList) </a:t>
            </a:r>
            <a:r>
              <a:rPr lang="en-US" altLang="zh-CN" sz="2800" b="1">
                <a:solidFill>
                  <a:srgbClr val="6600CC"/>
                </a:solidFill>
              </a:rPr>
              <a:t>malloc </a:t>
            </a:r>
            <a:r>
              <a:rPr lang="en-US" altLang="zh-CN" sz="2800">
                <a:solidFill>
                  <a:srgbClr val="6600CC"/>
                </a:solidFill>
              </a:rPr>
              <a:t>( </a:t>
            </a:r>
            <a:r>
              <a:rPr lang="en-US" altLang="zh-CN" sz="2800" b="1">
                <a:solidFill>
                  <a:srgbClr val="6600CC"/>
                </a:solidFill>
              </a:rPr>
              <a:t>sizeof </a:t>
            </a:r>
            <a:r>
              <a:rPr lang="en-US" altLang="zh-CN" sz="2800">
                <a:solidFill>
                  <a:srgbClr val="6600CC"/>
                </a:solidFill>
              </a:rPr>
              <a:t>(LNode));</a:t>
            </a:r>
            <a:r>
              <a:rPr lang="en-US" altLang="zh-CN" sz="2800"/>
              <a:t> </a:t>
            </a:r>
            <a:endParaRPr lang="en-US" altLang="zh-CN" sz="2800"/>
          </a:p>
          <a:p>
            <a:pPr eaLnBrk="1" hangingPunct="1">
              <a:lnSpc>
                <a:spcPct val="120000"/>
              </a:lnSpc>
              <a:defRPr/>
            </a:pPr>
            <a:r>
              <a:rPr lang="en-US" altLang="zh-CN" sz="2800"/>
              <a:t>                               </a:t>
            </a:r>
            <a:r>
              <a:rPr lang="en-US" altLang="zh-CN" sz="2800">
                <a:solidFill>
                  <a:srgbClr val="000099"/>
                </a:solidFill>
              </a:rPr>
              <a:t>// </a:t>
            </a:r>
            <a:r>
              <a:rPr lang="zh-CN" altLang="en-US" sz="2800">
                <a:solidFill>
                  <a:srgbClr val="000099"/>
                </a:solidFill>
              </a:rPr>
              <a:t>生成新结点</a:t>
            </a:r>
            <a:endParaRPr lang="zh-CN" altLang="en-US" sz="2800">
              <a:solidFill>
                <a:srgbClr val="000099"/>
              </a:solidFill>
            </a:endParaRPr>
          </a:p>
          <a:p>
            <a:pPr eaLnBrk="1" hangingPunct="1">
              <a:lnSpc>
                <a:spcPct val="120000"/>
              </a:lnSpc>
              <a:defRPr/>
            </a:pPr>
            <a:r>
              <a:rPr lang="en-US" altLang="zh-CN" sz="2800">
                <a:solidFill>
                  <a:srgbClr val="6600CC"/>
                </a:solidFill>
              </a:rPr>
              <a:t>s</a:t>
            </a:r>
            <a:r>
              <a:rPr lang="en-US" altLang="zh-CN" sz="2800" b="1">
                <a:solidFill>
                  <a:srgbClr val="6600CC"/>
                </a:solidFill>
              </a:rPr>
              <a:t>-&gt;</a:t>
            </a:r>
            <a:r>
              <a:rPr lang="en-US" altLang="zh-CN" sz="2800">
                <a:solidFill>
                  <a:srgbClr val="6600CC"/>
                </a:solidFill>
              </a:rPr>
              <a:t>data = e; </a:t>
            </a:r>
            <a:endParaRPr lang="en-US" altLang="zh-CN" sz="2800">
              <a:solidFill>
                <a:srgbClr val="6600CC"/>
              </a:solidFill>
            </a:endParaRPr>
          </a:p>
          <a:p>
            <a:pPr eaLnBrk="1" hangingPunct="1">
              <a:lnSpc>
                <a:spcPct val="120000"/>
              </a:lnSpc>
              <a:defRPr/>
            </a:pPr>
            <a:r>
              <a:rPr lang="en-US" altLang="zh-CN" sz="2800">
                <a:solidFill>
                  <a:srgbClr val="6600CC"/>
                </a:solidFill>
              </a:rPr>
              <a:t>s-&gt;next = p-&gt;next;      p</a:t>
            </a:r>
            <a:r>
              <a:rPr lang="en-US" altLang="zh-CN" sz="2800" b="1">
                <a:solidFill>
                  <a:srgbClr val="6600CC"/>
                </a:solidFill>
              </a:rPr>
              <a:t>-&gt;</a:t>
            </a:r>
            <a:r>
              <a:rPr lang="en-US" altLang="zh-CN" sz="2800">
                <a:solidFill>
                  <a:srgbClr val="6600CC"/>
                </a:solidFill>
              </a:rPr>
              <a:t>next = s;</a:t>
            </a:r>
            <a:r>
              <a:rPr lang="en-US" altLang="zh-CN" sz="2800">
                <a:solidFill>
                  <a:srgbClr val="000099"/>
                </a:solidFill>
              </a:rPr>
              <a:t> // </a:t>
            </a:r>
            <a:r>
              <a:rPr lang="zh-CN" altLang="en-US" sz="2800">
                <a:solidFill>
                  <a:srgbClr val="000099"/>
                </a:solidFill>
              </a:rPr>
              <a:t>插入</a:t>
            </a:r>
            <a:endParaRPr lang="zh-CN" altLang="en-US" sz="2800">
              <a:solidFill>
                <a:srgbClr val="000099"/>
              </a:solidFill>
            </a:endParaRPr>
          </a:p>
          <a:p>
            <a:pPr eaLnBrk="1" hangingPunct="1">
              <a:lnSpc>
                <a:spcPct val="120000"/>
              </a:lnSpc>
              <a:defRPr/>
            </a:pPr>
            <a:r>
              <a:rPr lang="en-US" altLang="zh-CN" sz="2800" b="1"/>
              <a:t>return</a:t>
            </a:r>
            <a:r>
              <a:rPr lang="en-US" altLang="zh-CN" sz="2800"/>
              <a:t> OK;</a:t>
            </a:r>
            <a:endParaRPr lang="en-US" altLang="zh-CN" sz="2800"/>
          </a:p>
        </p:txBody>
      </p:sp>
      <p:grpSp>
        <p:nvGrpSpPr>
          <p:cNvPr id="960515" name="Group 3"/>
          <p:cNvGrpSpPr/>
          <p:nvPr/>
        </p:nvGrpSpPr>
        <p:grpSpPr bwMode="auto">
          <a:xfrm>
            <a:off x="4038600" y="5562600"/>
            <a:ext cx="1066800" cy="609600"/>
            <a:chOff x="2544" y="3600"/>
            <a:chExt cx="672" cy="384"/>
          </a:xfrm>
        </p:grpSpPr>
        <p:sp>
          <p:nvSpPr>
            <p:cNvPr id="960516" name="Rectangle 4"/>
            <p:cNvSpPr>
              <a:spLocks noChangeArrowheads="1"/>
            </p:cNvSpPr>
            <p:nvPr/>
          </p:nvSpPr>
          <p:spPr bwMode="auto">
            <a:xfrm>
              <a:off x="2544" y="3600"/>
              <a:ext cx="672" cy="384"/>
            </a:xfrm>
            <a:prstGeom prst="rect">
              <a:avLst/>
            </a:prstGeom>
            <a:solidFill>
              <a:srgbClr val="FFCC99">
                <a:alpha val="50000"/>
              </a:srgbClr>
            </a:solidFill>
            <a:ln w="25400">
              <a:solidFill>
                <a:srgbClr val="9933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800" b="1">
                  <a:solidFill>
                    <a:srgbClr val="990000"/>
                  </a:solidFill>
                </a:rPr>
                <a:t> </a:t>
              </a:r>
              <a:r>
                <a:rPr lang="en-US" altLang="zh-CN" sz="2800" b="1">
                  <a:solidFill>
                    <a:srgbClr val="990000"/>
                  </a:solidFill>
                </a:rPr>
                <a:t>e</a:t>
              </a:r>
              <a:endParaRPr lang="en-US" altLang="zh-CN" sz="2800"/>
            </a:p>
          </p:txBody>
        </p:sp>
        <p:sp>
          <p:nvSpPr>
            <p:cNvPr id="960517" name="Line 5"/>
            <p:cNvSpPr>
              <a:spLocks noChangeShapeType="1"/>
            </p:cNvSpPr>
            <p:nvPr/>
          </p:nvSpPr>
          <p:spPr bwMode="auto">
            <a:xfrm>
              <a:off x="3024" y="3600"/>
              <a:ext cx="0" cy="384"/>
            </a:xfrm>
            <a:prstGeom prst="line">
              <a:avLst/>
            </a:prstGeom>
            <a:noFill/>
            <a:ln w="25400">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grpSp>
        <p:nvGrpSpPr>
          <p:cNvPr id="960518" name="Group 6"/>
          <p:cNvGrpSpPr/>
          <p:nvPr/>
        </p:nvGrpSpPr>
        <p:grpSpPr bwMode="auto">
          <a:xfrm>
            <a:off x="1371600" y="4419600"/>
            <a:ext cx="1981200" cy="609600"/>
            <a:chOff x="864" y="2784"/>
            <a:chExt cx="1248" cy="384"/>
          </a:xfrm>
        </p:grpSpPr>
        <p:sp>
          <p:nvSpPr>
            <p:cNvPr id="960519" name="Rectangle 7"/>
            <p:cNvSpPr>
              <a:spLocks noChangeArrowheads="1"/>
            </p:cNvSpPr>
            <p:nvPr/>
          </p:nvSpPr>
          <p:spPr bwMode="auto">
            <a:xfrm>
              <a:off x="1440" y="2784"/>
              <a:ext cx="672" cy="384"/>
            </a:xfrm>
            <a:prstGeom prst="rect">
              <a:avLst/>
            </a:prstGeom>
            <a:solidFill>
              <a:srgbClr val="99CCFF">
                <a:alpha val="50000"/>
              </a:srgbClr>
            </a:solidFill>
            <a:ln w="22225">
              <a:solidFill>
                <a:srgbClr val="000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800" b="1">
                  <a:solidFill>
                    <a:srgbClr val="000099"/>
                  </a:solidFill>
                </a:rPr>
                <a:t>a</a:t>
              </a:r>
              <a:r>
                <a:rPr lang="en-US" altLang="zh-CN" sz="2800" b="1" baseline="-25000">
                  <a:solidFill>
                    <a:srgbClr val="000099"/>
                  </a:solidFill>
                </a:rPr>
                <a:t>i-1</a:t>
              </a:r>
              <a:endParaRPr lang="en-US" altLang="zh-CN" sz="2800"/>
            </a:p>
          </p:txBody>
        </p:sp>
        <p:sp>
          <p:nvSpPr>
            <p:cNvPr id="960520" name="Line 8"/>
            <p:cNvSpPr>
              <a:spLocks noChangeShapeType="1"/>
            </p:cNvSpPr>
            <p:nvPr/>
          </p:nvSpPr>
          <p:spPr bwMode="auto">
            <a:xfrm>
              <a:off x="1920" y="2784"/>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60521" name="Line 9"/>
            <p:cNvSpPr>
              <a:spLocks noChangeShapeType="1"/>
            </p:cNvSpPr>
            <p:nvPr/>
          </p:nvSpPr>
          <p:spPr bwMode="auto">
            <a:xfrm>
              <a:off x="864" y="2976"/>
              <a:ext cx="576" cy="0"/>
            </a:xfrm>
            <a:prstGeom prst="line">
              <a:avLst/>
            </a:prstGeom>
            <a:noFill/>
            <a:ln w="31750">
              <a:solidFill>
                <a:srgbClr val="000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grpSp>
        <p:nvGrpSpPr>
          <p:cNvPr id="960522" name="Group 10"/>
          <p:cNvGrpSpPr/>
          <p:nvPr/>
        </p:nvGrpSpPr>
        <p:grpSpPr bwMode="auto">
          <a:xfrm>
            <a:off x="3200400" y="4419600"/>
            <a:ext cx="3886200" cy="609600"/>
            <a:chOff x="2016" y="2784"/>
            <a:chExt cx="2448" cy="384"/>
          </a:xfrm>
        </p:grpSpPr>
        <p:sp>
          <p:nvSpPr>
            <p:cNvPr id="960523" name="Rectangle 11"/>
            <p:cNvSpPr>
              <a:spLocks noChangeArrowheads="1"/>
            </p:cNvSpPr>
            <p:nvPr/>
          </p:nvSpPr>
          <p:spPr bwMode="auto">
            <a:xfrm>
              <a:off x="3360" y="2784"/>
              <a:ext cx="672" cy="384"/>
            </a:xfrm>
            <a:prstGeom prst="rect">
              <a:avLst/>
            </a:prstGeom>
            <a:solidFill>
              <a:srgbClr val="99CCFF">
                <a:alpha val="50000"/>
              </a:srgbClr>
            </a:solidFill>
            <a:ln w="22225">
              <a:solidFill>
                <a:srgbClr val="000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800" b="1">
                  <a:solidFill>
                    <a:srgbClr val="000099"/>
                  </a:solidFill>
                </a:rPr>
                <a:t>a</a:t>
              </a:r>
              <a:r>
                <a:rPr lang="en-US" altLang="zh-CN" sz="2800" b="1" baseline="-25000">
                  <a:solidFill>
                    <a:srgbClr val="000099"/>
                  </a:solidFill>
                </a:rPr>
                <a:t>i</a:t>
              </a:r>
              <a:endParaRPr lang="en-US" altLang="zh-CN" sz="2800"/>
            </a:p>
          </p:txBody>
        </p:sp>
        <p:sp>
          <p:nvSpPr>
            <p:cNvPr id="960524" name="Line 12"/>
            <p:cNvSpPr>
              <a:spLocks noChangeShapeType="1"/>
            </p:cNvSpPr>
            <p:nvPr/>
          </p:nvSpPr>
          <p:spPr bwMode="auto">
            <a:xfrm>
              <a:off x="3840" y="2784"/>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60525" name="Line 13"/>
            <p:cNvSpPr>
              <a:spLocks noChangeShapeType="1"/>
            </p:cNvSpPr>
            <p:nvPr/>
          </p:nvSpPr>
          <p:spPr bwMode="auto">
            <a:xfrm>
              <a:off x="2016" y="2976"/>
              <a:ext cx="1344" cy="0"/>
            </a:xfrm>
            <a:prstGeom prst="line">
              <a:avLst/>
            </a:prstGeom>
            <a:noFill/>
            <a:ln w="31750">
              <a:solidFill>
                <a:srgbClr val="000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60526" name="Line 14"/>
            <p:cNvSpPr>
              <a:spLocks noChangeShapeType="1"/>
            </p:cNvSpPr>
            <p:nvPr/>
          </p:nvSpPr>
          <p:spPr bwMode="auto">
            <a:xfrm>
              <a:off x="3936" y="2976"/>
              <a:ext cx="528" cy="0"/>
            </a:xfrm>
            <a:prstGeom prst="line">
              <a:avLst/>
            </a:prstGeom>
            <a:noFill/>
            <a:ln w="31750">
              <a:solidFill>
                <a:srgbClr val="000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sp useBgFill="1">
        <p:nvSpPr>
          <p:cNvPr id="960527" name="Rectangle 15"/>
          <p:cNvSpPr>
            <a:spLocks noChangeArrowheads="1"/>
          </p:cNvSpPr>
          <p:nvPr/>
        </p:nvSpPr>
        <p:spPr bwMode="auto">
          <a:xfrm>
            <a:off x="3200400" y="4648200"/>
            <a:ext cx="2133600" cy="152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nvGrpSpPr>
          <p:cNvPr id="960528" name="Group 16"/>
          <p:cNvGrpSpPr/>
          <p:nvPr/>
        </p:nvGrpSpPr>
        <p:grpSpPr bwMode="auto">
          <a:xfrm>
            <a:off x="2286000" y="4419600"/>
            <a:ext cx="1066800" cy="609600"/>
            <a:chOff x="1440" y="3504"/>
            <a:chExt cx="672" cy="384"/>
          </a:xfrm>
        </p:grpSpPr>
        <p:sp>
          <p:nvSpPr>
            <p:cNvPr id="960529" name="Rectangle 17"/>
            <p:cNvSpPr>
              <a:spLocks noChangeArrowheads="1"/>
            </p:cNvSpPr>
            <p:nvPr/>
          </p:nvSpPr>
          <p:spPr bwMode="auto">
            <a:xfrm>
              <a:off x="1440" y="3504"/>
              <a:ext cx="672" cy="384"/>
            </a:xfrm>
            <a:prstGeom prst="rect">
              <a:avLst/>
            </a:prstGeom>
            <a:solidFill>
              <a:srgbClr val="99CCFF">
                <a:alpha val="50000"/>
              </a:srgbClr>
            </a:solidFill>
            <a:ln w="22225">
              <a:solidFill>
                <a:srgbClr val="000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800" b="1">
                  <a:solidFill>
                    <a:srgbClr val="000099"/>
                  </a:solidFill>
                </a:rPr>
                <a:t>a</a:t>
              </a:r>
              <a:r>
                <a:rPr lang="en-US" altLang="zh-CN" sz="2800" b="1" baseline="-25000">
                  <a:solidFill>
                    <a:srgbClr val="000099"/>
                  </a:solidFill>
                </a:rPr>
                <a:t>i-1</a:t>
              </a:r>
              <a:endParaRPr lang="en-US" altLang="zh-CN" sz="2800"/>
            </a:p>
          </p:txBody>
        </p:sp>
        <p:sp>
          <p:nvSpPr>
            <p:cNvPr id="960530" name="Line 18"/>
            <p:cNvSpPr>
              <a:spLocks noChangeShapeType="1"/>
            </p:cNvSpPr>
            <p:nvPr/>
          </p:nvSpPr>
          <p:spPr bwMode="auto">
            <a:xfrm>
              <a:off x="1920" y="3504"/>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cxnSp>
        <p:nvCxnSpPr>
          <p:cNvPr id="960531" name="AutoShape 19"/>
          <p:cNvCxnSpPr>
            <a:cxnSpLocks noChangeShapeType="1"/>
            <a:stCxn id="960529" idx="3"/>
            <a:endCxn id="960516" idx="1"/>
          </p:cNvCxnSpPr>
          <p:nvPr/>
        </p:nvCxnSpPr>
        <p:spPr bwMode="auto">
          <a:xfrm>
            <a:off x="3363913" y="4724400"/>
            <a:ext cx="661987" cy="1143000"/>
          </a:xfrm>
          <a:prstGeom prst="bentConnector3">
            <a:avLst>
              <a:gd name="adj1" fmla="val 50120"/>
            </a:avLst>
          </a:prstGeom>
          <a:noFill/>
          <a:ln w="31750">
            <a:solidFill>
              <a:srgbClr val="008080"/>
            </a:solidFill>
            <a:miter lim="800000"/>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60532" name="AutoShape 20"/>
          <p:cNvCxnSpPr>
            <a:cxnSpLocks noChangeShapeType="1"/>
            <a:stCxn id="960516" idx="3"/>
            <a:endCxn id="960523" idx="2"/>
          </p:cNvCxnSpPr>
          <p:nvPr/>
        </p:nvCxnSpPr>
        <p:spPr bwMode="auto">
          <a:xfrm flipV="1">
            <a:off x="5118100" y="5040313"/>
            <a:ext cx="749300" cy="827087"/>
          </a:xfrm>
          <a:prstGeom prst="bentConnector2">
            <a:avLst/>
          </a:prstGeom>
          <a:noFill/>
          <a:ln w="31750">
            <a:solidFill>
              <a:srgbClr val="008080"/>
            </a:solidFill>
            <a:miter lim="800000"/>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60533" name="AutoShape 21"/>
          <p:cNvSpPr>
            <a:spLocks noChangeArrowheads="1"/>
          </p:cNvSpPr>
          <p:nvPr/>
        </p:nvSpPr>
        <p:spPr bwMode="auto">
          <a:xfrm>
            <a:off x="2590800" y="5943600"/>
            <a:ext cx="1371600" cy="381000"/>
          </a:xfrm>
          <a:prstGeom prst="rightArrowCallout">
            <a:avLst>
              <a:gd name="adj1" fmla="val 25000"/>
              <a:gd name="adj2" fmla="val 26667"/>
              <a:gd name="adj3" fmla="val 105000"/>
              <a:gd name="adj4" fmla="val 33333"/>
            </a:avLst>
          </a:prstGeom>
          <a:solidFill>
            <a:srgbClr val="FFFF99">
              <a:alpha val="50000"/>
            </a:srgbClr>
          </a:solidFill>
          <a:ln w="9525">
            <a:solidFill>
              <a:srgbClr val="9933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rgbClr val="660033"/>
                </a:solidFill>
              </a:rPr>
              <a:t>s</a:t>
            </a:r>
            <a:endParaRPr lang="en-US" altLang="zh-CN" sz="2800"/>
          </a:p>
        </p:txBody>
      </p:sp>
      <p:sp>
        <p:nvSpPr>
          <p:cNvPr id="960534" name="AutoShape 22"/>
          <p:cNvSpPr>
            <a:spLocks noChangeArrowheads="1"/>
          </p:cNvSpPr>
          <p:nvPr/>
        </p:nvSpPr>
        <p:spPr bwMode="auto">
          <a:xfrm>
            <a:off x="1143000" y="4191000"/>
            <a:ext cx="1143000" cy="381000"/>
          </a:xfrm>
          <a:prstGeom prst="rightArrowCallout">
            <a:avLst>
              <a:gd name="adj1" fmla="val 25000"/>
              <a:gd name="adj2" fmla="val 25000"/>
              <a:gd name="adj3" fmla="val 50000"/>
              <a:gd name="adj4" fmla="val 36667"/>
            </a:avLst>
          </a:prstGeom>
          <a:solidFill>
            <a:srgbClr val="CCFFCC"/>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chemeClr val="tx2"/>
                </a:solidFill>
              </a:rPr>
              <a:t>p</a:t>
            </a:r>
            <a:endParaRPr lang="en-US" altLang="zh-CN" sz="2800"/>
          </a:p>
        </p:txBody>
      </p:sp>
      <p:sp>
        <p:nvSpPr>
          <p:cNvPr id="960535" name="Line 23"/>
          <p:cNvSpPr>
            <a:spLocks noChangeShapeType="1"/>
          </p:cNvSpPr>
          <p:nvPr/>
        </p:nvSpPr>
        <p:spPr bwMode="auto">
          <a:xfrm>
            <a:off x="685800" y="3657600"/>
            <a:ext cx="3352800" cy="0"/>
          </a:xfrm>
          <a:prstGeom prst="line">
            <a:avLst/>
          </a:prstGeom>
          <a:noFill/>
          <a:ln w="571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60536" name="Line 24"/>
          <p:cNvSpPr>
            <a:spLocks noChangeShapeType="1"/>
          </p:cNvSpPr>
          <p:nvPr/>
        </p:nvSpPr>
        <p:spPr bwMode="auto">
          <a:xfrm>
            <a:off x="4800600" y="3657600"/>
            <a:ext cx="2133600" cy="0"/>
          </a:xfrm>
          <a:prstGeom prst="line">
            <a:avLst/>
          </a:prstGeom>
          <a:noFill/>
          <a:ln w="571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60518"/>
                                        </p:tgtEl>
                                        <p:attrNameLst>
                                          <p:attrName>style.visibility</p:attrName>
                                        </p:attrNameLst>
                                      </p:cBhvr>
                                      <p:to>
                                        <p:strVal val="visible"/>
                                      </p:to>
                                    </p:set>
                                    <p:animEffect transition="in" filter="wipe(left)">
                                      <p:cBhvr>
                                        <p:cTn id="7" dur="500"/>
                                        <p:tgtEl>
                                          <p:spTgt spid="96051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60522"/>
                                        </p:tgtEl>
                                        <p:attrNameLst>
                                          <p:attrName>style.visibility</p:attrName>
                                        </p:attrNameLst>
                                      </p:cBhvr>
                                      <p:to>
                                        <p:strVal val="visible"/>
                                      </p:to>
                                    </p:set>
                                    <p:animEffect transition="in" filter="wipe(left)">
                                      <p:cBhvr>
                                        <p:cTn id="11" dur="500"/>
                                        <p:tgtEl>
                                          <p:spTgt spid="9605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60533"/>
                                        </p:tgtEl>
                                        <p:attrNameLst>
                                          <p:attrName>style.visibility</p:attrName>
                                        </p:attrNameLst>
                                      </p:cBhvr>
                                      <p:to>
                                        <p:strVal val="visible"/>
                                      </p:to>
                                    </p:set>
                                    <p:animEffect transition="in" filter="wipe(left)">
                                      <p:cBhvr>
                                        <p:cTn id="16" dur="500"/>
                                        <p:tgtEl>
                                          <p:spTgt spid="960533"/>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960515"/>
                                        </p:tgtEl>
                                        <p:attrNameLst>
                                          <p:attrName>style.visibility</p:attrName>
                                        </p:attrNameLst>
                                      </p:cBhvr>
                                      <p:to>
                                        <p:strVal val="visible"/>
                                      </p:to>
                                    </p:set>
                                    <p:animEffect transition="in" filter="wipe(left)">
                                      <p:cBhvr>
                                        <p:cTn id="20" dur="500"/>
                                        <p:tgtEl>
                                          <p:spTgt spid="9605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60534"/>
                                        </p:tgtEl>
                                        <p:attrNameLst>
                                          <p:attrName>style.visibility</p:attrName>
                                        </p:attrNameLst>
                                      </p:cBhvr>
                                      <p:to>
                                        <p:strVal val="visible"/>
                                      </p:to>
                                    </p:set>
                                    <p:animEffect transition="in" filter="wipe(left)">
                                      <p:cBhvr>
                                        <p:cTn id="25" dur="500"/>
                                        <p:tgtEl>
                                          <p:spTgt spid="960534"/>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8" fill="hold" nodeType="clickEffect">
                                  <p:stCondLst>
                                    <p:cond delay="0"/>
                                  </p:stCondLst>
                                  <p:childTnLst>
                                    <p:set>
                                      <p:cBhvr>
                                        <p:cTn id="29" dur="1" fill="hold">
                                          <p:stCondLst>
                                            <p:cond delay="0"/>
                                          </p:stCondLst>
                                        </p:cTn>
                                        <p:tgtEl>
                                          <p:spTgt spid="960535"/>
                                        </p:tgtEl>
                                        <p:attrNameLst>
                                          <p:attrName>style.visibility</p:attrName>
                                        </p:attrNameLst>
                                      </p:cBhvr>
                                      <p:to>
                                        <p:strVal val="visible"/>
                                      </p:to>
                                    </p:set>
                                    <p:anim calcmode="lin" valueType="num">
                                      <p:cBhvr>
                                        <p:cTn id="30" dur="500" fill="hold"/>
                                        <p:tgtEl>
                                          <p:spTgt spid="960535"/>
                                        </p:tgtEl>
                                        <p:attrNameLst>
                                          <p:attrName>ppt_x</p:attrName>
                                        </p:attrNameLst>
                                      </p:cBhvr>
                                      <p:tavLst>
                                        <p:tav tm="0">
                                          <p:val>
                                            <p:strVal val="#ppt_x-#ppt_w/2"/>
                                          </p:val>
                                        </p:tav>
                                        <p:tav tm="100000">
                                          <p:val>
                                            <p:strVal val="#ppt_x"/>
                                          </p:val>
                                        </p:tav>
                                      </p:tavLst>
                                    </p:anim>
                                    <p:anim calcmode="lin" valueType="num">
                                      <p:cBhvr>
                                        <p:cTn id="31" dur="500" fill="hold"/>
                                        <p:tgtEl>
                                          <p:spTgt spid="960535"/>
                                        </p:tgtEl>
                                        <p:attrNameLst>
                                          <p:attrName>ppt_y</p:attrName>
                                        </p:attrNameLst>
                                      </p:cBhvr>
                                      <p:tavLst>
                                        <p:tav tm="0">
                                          <p:val>
                                            <p:strVal val="#ppt_y"/>
                                          </p:val>
                                        </p:tav>
                                        <p:tav tm="100000">
                                          <p:val>
                                            <p:strVal val="#ppt_y"/>
                                          </p:val>
                                        </p:tav>
                                      </p:tavLst>
                                    </p:anim>
                                    <p:anim calcmode="lin" valueType="num">
                                      <p:cBhvr>
                                        <p:cTn id="32" dur="500" fill="hold"/>
                                        <p:tgtEl>
                                          <p:spTgt spid="960535"/>
                                        </p:tgtEl>
                                        <p:attrNameLst>
                                          <p:attrName>ppt_w</p:attrName>
                                        </p:attrNameLst>
                                      </p:cBhvr>
                                      <p:tavLst>
                                        <p:tav tm="0">
                                          <p:val>
                                            <p:fltVal val="0"/>
                                          </p:val>
                                        </p:tav>
                                        <p:tav tm="100000">
                                          <p:val>
                                            <p:strVal val="#ppt_w"/>
                                          </p:val>
                                        </p:tav>
                                      </p:tavLst>
                                    </p:anim>
                                    <p:anim calcmode="lin" valueType="num">
                                      <p:cBhvr>
                                        <p:cTn id="33" dur="500" fill="hold"/>
                                        <p:tgtEl>
                                          <p:spTgt spid="960535"/>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960532"/>
                                        </p:tgtEl>
                                        <p:attrNameLst>
                                          <p:attrName>style.visibility</p:attrName>
                                        </p:attrNameLst>
                                      </p:cBhvr>
                                      <p:to>
                                        <p:strVal val="visible"/>
                                      </p:to>
                                    </p:set>
                                    <p:animEffect transition="in" filter="wipe(left)">
                                      <p:cBhvr>
                                        <p:cTn id="38" dur="500"/>
                                        <p:tgtEl>
                                          <p:spTgt spid="960532"/>
                                        </p:tgtEl>
                                      </p:cBhvr>
                                    </p:animEffect>
                                  </p:childTnLst>
                                </p:cTn>
                              </p:par>
                            </p:childTnLst>
                          </p:cTn>
                        </p:par>
                      </p:childTnLst>
                    </p:cTn>
                  </p:par>
                  <p:par>
                    <p:cTn id="39" fill="hold">
                      <p:stCondLst>
                        <p:cond delay="indefinite"/>
                      </p:stCondLst>
                      <p:childTnLst>
                        <p:par>
                          <p:cTn id="40" fill="hold">
                            <p:stCondLst>
                              <p:cond delay="0"/>
                            </p:stCondLst>
                            <p:childTnLst>
                              <p:par>
                                <p:cTn id="41" presetID="17" presetClass="entr" presetSubtype="8" fill="hold" nodeType="clickEffect">
                                  <p:stCondLst>
                                    <p:cond delay="0"/>
                                  </p:stCondLst>
                                  <p:childTnLst>
                                    <p:set>
                                      <p:cBhvr>
                                        <p:cTn id="42" dur="1" fill="hold">
                                          <p:stCondLst>
                                            <p:cond delay="0"/>
                                          </p:stCondLst>
                                        </p:cTn>
                                        <p:tgtEl>
                                          <p:spTgt spid="960536"/>
                                        </p:tgtEl>
                                        <p:attrNameLst>
                                          <p:attrName>style.visibility</p:attrName>
                                        </p:attrNameLst>
                                      </p:cBhvr>
                                      <p:to>
                                        <p:strVal val="visible"/>
                                      </p:to>
                                    </p:set>
                                    <p:anim calcmode="lin" valueType="num">
                                      <p:cBhvr>
                                        <p:cTn id="43" dur="500" fill="hold"/>
                                        <p:tgtEl>
                                          <p:spTgt spid="960536"/>
                                        </p:tgtEl>
                                        <p:attrNameLst>
                                          <p:attrName>ppt_x</p:attrName>
                                        </p:attrNameLst>
                                      </p:cBhvr>
                                      <p:tavLst>
                                        <p:tav tm="0">
                                          <p:val>
                                            <p:strVal val="#ppt_x-#ppt_w/2"/>
                                          </p:val>
                                        </p:tav>
                                        <p:tav tm="100000">
                                          <p:val>
                                            <p:strVal val="#ppt_x"/>
                                          </p:val>
                                        </p:tav>
                                      </p:tavLst>
                                    </p:anim>
                                    <p:anim calcmode="lin" valueType="num">
                                      <p:cBhvr>
                                        <p:cTn id="44" dur="500" fill="hold"/>
                                        <p:tgtEl>
                                          <p:spTgt spid="960536"/>
                                        </p:tgtEl>
                                        <p:attrNameLst>
                                          <p:attrName>ppt_y</p:attrName>
                                        </p:attrNameLst>
                                      </p:cBhvr>
                                      <p:tavLst>
                                        <p:tav tm="0">
                                          <p:val>
                                            <p:strVal val="#ppt_y"/>
                                          </p:val>
                                        </p:tav>
                                        <p:tav tm="100000">
                                          <p:val>
                                            <p:strVal val="#ppt_y"/>
                                          </p:val>
                                        </p:tav>
                                      </p:tavLst>
                                    </p:anim>
                                    <p:anim calcmode="lin" valueType="num">
                                      <p:cBhvr>
                                        <p:cTn id="45" dur="500" fill="hold"/>
                                        <p:tgtEl>
                                          <p:spTgt spid="960536"/>
                                        </p:tgtEl>
                                        <p:attrNameLst>
                                          <p:attrName>ppt_w</p:attrName>
                                        </p:attrNameLst>
                                      </p:cBhvr>
                                      <p:tavLst>
                                        <p:tav tm="0">
                                          <p:val>
                                            <p:fltVal val="0"/>
                                          </p:val>
                                        </p:tav>
                                        <p:tav tm="100000">
                                          <p:val>
                                            <p:strVal val="#ppt_w"/>
                                          </p:val>
                                        </p:tav>
                                      </p:tavLst>
                                    </p:anim>
                                    <p:anim calcmode="lin" valueType="num">
                                      <p:cBhvr>
                                        <p:cTn id="46" dur="500" fill="hold"/>
                                        <p:tgtEl>
                                          <p:spTgt spid="960536"/>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960527"/>
                                        </p:tgtEl>
                                        <p:attrNameLst>
                                          <p:attrName>style.visibility</p:attrName>
                                        </p:attrNameLst>
                                      </p:cBhvr>
                                      <p:to>
                                        <p:strVal val="visible"/>
                                      </p:to>
                                    </p:set>
                                    <p:animEffect transition="in" filter="wipe(up)">
                                      <p:cBhvr>
                                        <p:cTn id="51" dur="500"/>
                                        <p:tgtEl>
                                          <p:spTgt spid="960527"/>
                                        </p:tgtEl>
                                      </p:cBhvr>
                                    </p:animEffect>
                                  </p:childTnLst>
                                </p:cTn>
                              </p:par>
                            </p:childTnLst>
                          </p:cTn>
                        </p:par>
                        <p:par>
                          <p:cTn id="52" fill="hold">
                            <p:stCondLst>
                              <p:cond delay="500"/>
                            </p:stCondLst>
                            <p:childTnLst>
                              <p:par>
                                <p:cTn id="53" presetID="1" presetClass="entr" presetSubtype="0" fill="hold" nodeType="afterEffect">
                                  <p:stCondLst>
                                    <p:cond delay="0"/>
                                  </p:stCondLst>
                                  <p:childTnLst>
                                    <p:set>
                                      <p:cBhvr>
                                        <p:cTn id="54" dur="1" fill="hold">
                                          <p:stCondLst>
                                            <p:cond delay="499"/>
                                          </p:stCondLst>
                                        </p:cTn>
                                        <p:tgtEl>
                                          <p:spTgt spid="960528"/>
                                        </p:tgtEl>
                                        <p:attrNameLst>
                                          <p:attrName>style.visibility</p:attrName>
                                        </p:attrNameLst>
                                      </p:cBhvr>
                                      <p:to>
                                        <p:strVal val="visible"/>
                                      </p:to>
                                    </p:set>
                                  </p:childTnLst>
                                </p:cTn>
                              </p:par>
                            </p:childTnLst>
                          </p:cTn>
                        </p:par>
                        <p:par>
                          <p:cTn id="55" fill="hold">
                            <p:stCondLst>
                              <p:cond delay="1000"/>
                            </p:stCondLst>
                            <p:childTnLst>
                              <p:par>
                                <p:cTn id="56" presetID="22" presetClass="entr" presetSubtype="8" fill="hold" nodeType="afterEffect">
                                  <p:stCondLst>
                                    <p:cond delay="0"/>
                                  </p:stCondLst>
                                  <p:childTnLst>
                                    <p:set>
                                      <p:cBhvr>
                                        <p:cTn id="57" dur="1" fill="hold">
                                          <p:stCondLst>
                                            <p:cond delay="0"/>
                                          </p:stCondLst>
                                        </p:cTn>
                                        <p:tgtEl>
                                          <p:spTgt spid="960531"/>
                                        </p:tgtEl>
                                        <p:attrNameLst>
                                          <p:attrName>style.visibility</p:attrName>
                                        </p:attrNameLst>
                                      </p:cBhvr>
                                      <p:to>
                                        <p:strVal val="visible"/>
                                      </p:to>
                                    </p:set>
                                    <p:animEffect transition="in" filter="wipe(left)">
                                      <p:cBhvr>
                                        <p:cTn id="58" dur="500"/>
                                        <p:tgtEl>
                                          <p:spTgt spid="960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0527" grpId="0" animBg="1"/>
      <p:bldP spid="960533" grpId="0" animBg="1" autoUpdateAnimBg="0"/>
      <p:bldP spid="960534"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Text Box 2"/>
          <p:cNvSpPr txBox="1">
            <a:spLocks noChangeArrowheads="1"/>
          </p:cNvSpPr>
          <p:nvPr/>
        </p:nvSpPr>
        <p:spPr bwMode="auto">
          <a:xfrm>
            <a:off x="381000" y="965200"/>
            <a:ext cx="8763000"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4800" dirty="0">
                <a:solidFill>
                  <a:schemeClr val="bg2">
                    <a:lumMod val="25000"/>
                  </a:schemeClr>
                </a:solidFill>
              </a:rPr>
              <a:t>线性表</a:t>
            </a:r>
            <a:r>
              <a:rPr lang="zh-CN" altLang="en-US" sz="4000" dirty="0"/>
              <a:t>的操作</a:t>
            </a:r>
            <a:r>
              <a:rPr lang="en-US" altLang="zh-CN" sz="4000" b="1" dirty="0" err="1">
                <a:solidFill>
                  <a:srgbClr val="6600CC"/>
                </a:solidFill>
              </a:rPr>
              <a:t>ListDelete</a:t>
            </a:r>
            <a:r>
              <a:rPr lang="en-US" altLang="zh-CN" sz="4000" b="1" dirty="0">
                <a:solidFill>
                  <a:srgbClr val="6600CC"/>
                </a:solidFill>
              </a:rPr>
              <a:t> (&amp;L, </a:t>
            </a:r>
            <a:r>
              <a:rPr lang="en-US" altLang="zh-CN" sz="4000" b="1" dirty="0" err="1">
                <a:solidFill>
                  <a:srgbClr val="6600CC"/>
                </a:solidFill>
              </a:rPr>
              <a:t>i</a:t>
            </a:r>
            <a:r>
              <a:rPr lang="en-US" altLang="zh-CN" sz="4000" b="1" dirty="0">
                <a:solidFill>
                  <a:srgbClr val="6600CC"/>
                </a:solidFill>
              </a:rPr>
              <a:t>, &amp;e)</a:t>
            </a:r>
            <a:r>
              <a:rPr lang="zh-CN" altLang="en-US" sz="4000" dirty="0"/>
              <a:t>在链表中的实现</a:t>
            </a:r>
            <a:r>
              <a:rPr lang="en-US" altLang="zh-CN" sz="4000" dirty="0"/>
              <a:t>:</a:t>
            </a:r>
            <a:endParaRPr lang="en-US" altLang="zh-CN" sz="4000" dirty="0"/>
          </a:p>
        </p:txBody>
      </p:sp>
      <p:sp>
        <p:nvSpPr>
          <p:cNvPr id="961539" name="Text Box 3"/>
          <p:cNvSpPr txBox="1">
            <a:spLocks noChangeArrowheads="1"/>
          </p:cNvSpPr>
          <p:nvPr/>
        </p:nvSpPr>
        <p:spPr bwMode="auto">
          <a:xfrm>
            <a:off x="1203325" y="2790825"/>
            <a:ext cx="7617147"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lnSpc>
                <a:spcPct val="140000"/>
              </a:lnSpc>
              <a:defRPr/>
            </a:pPr>
            <a:r>
              <a:rPr lang="zh-CN" altLang="en-US" sz="3600" b="1" dirty="0">
                <a:solidFill>
                  <a:srgbClr val="000099"/>
                </a:solidFill>
                <a:latin typeface="楷体_GB2312" charset="0"/>
                <a:ea typeface="楷体_GB2312" charset="0"/>
              </a:rPr>
              <a:t>有序对</a:t>
            </a:r>
            <a:r>
              <a:rPr lang="en-US" altLang="zh-CN" sz="3600" b="1" dirty="0">
                <a:solidFill>
                  <a:srgbClr val="000099"/>
                </a:solidFill>
                <a:latin typeface="楷体_GB2312" charset="0"/>
                <a:ea typeface="楷体_GB2312" charset="0"/>
              </a:rPr>
              <a:t>&lt;</a:t>
            </a:r>
            <a:r>
              <a:rPr lang="en-US" altLang="zh-CN" sz="3600" b="1" dirty="0">
                <a:solidFill>
                  <a:srgbClr val="000099"/>
                </a:solidFill>
                <a:ea typeface="楷体_GB2312" charset="0"/>
              </a:rPr>
              <a:t>a</a:t>
            </a:r>
            <a:r>
              <a:rPr lang="en-US" altLang="zh-CN" sz="3600" b="1" baseline="-25000" dirty="0">
                <a:solidFill>
                  <a:srgbClr val="000099"/>
                </a:solidFill>
                <a:ea typeface="楷体_GB2312" charset="0"/>
              </a:rPr>
              <a:t>i-1</a:t>
            </a:r>
            <a:r>
              <a:rPr lang="en-US" altLang="zh-CN" sz="3600" b="1" dirty="0">
                <a:solidFill>
                  <a:srgbClr val="000099"/>
                </a:solidFill>
                <a:ea typeface="楷体_GB2312" charset="0"/>
              </a:rPr>
              <a:t>, a</a:t>
            </a:r>
            <a:r>
              <a:rPr lang="en-US" altLang="zh-CN" sz="3600" b="1" baseline="-25000" dirty="0">
                <a:solidFill>
                  <a:srgbClr val="000099"/>
                </a:solidFill>
                <a:ea typeface="楷体_GB2312" charset="0"/>
              </a:rPr>
              <a:t>i</a:t>
            </a:r>
            <a:r>
              <a:rPr lang="en-US" altLang="zh-CN" sz="3600" b="1" dirty="0">
                <a:solidFill>
                  <a:srgbClr val="000099"/>
                </a:solidFill>
                <a:latin typeface="楷体_GB2312" charset="0"/>
                <a:ea typeface="楷体_GB2312" charset="0"/>
              </a:rPr>
              <a:t>&gt; </a:t>
            </a:r>
            <a:r>
              <a:rPr lang="zh-CN" altLang="en-US" sz="3600" b="1" dirty="0">
                <a:solidFill>
                  <a:srgbClr val="000099"/>
                </a:solidFill>
                <a:latin typeface="楷体_GB2312" charset="0"/>
                <a:ea typeface="楷体_GB2312" charset="0"/>
              </a:rPr>
              <a:t>和 </a:t>
            </a:r>
            <a:r>
              <a:rPr lang="en-US" altLang="zh-CN" sz="3600" b="1" dirty="0">
                <a:solidFill>
                  <a:srgbClr val="000099"/>
                </a:solidFill>
                <a:latin typeface="楷体_GB2312" charset="0"/>
                <a:ea typeface="楷体_GB2312" charset="0"/>
              </a:rPr>
              <a:t>&lt;</a:t>
            </a:r>
            <a:r>
              <a:rPr lang="en-US" altLang="zh-CN" sz="3600" b="1" dirty="0">
                <a:solidFill>
                  <a:srgbClr val="000099"/>
                </a:solidFill>
                <a:ea typeface="楷体_GB2312" charset="0"/>
              </a:rPr>
              <a:t>a</a:t>
            </a:r>
            <a:r>
              <a:rPr lang="en-US" altLang="zh-CN" sz="3600" b="1" baseline="-25000" dirty="0">
                <a:solidFill>
                  <a:srgbClr val="000099"/>
                </a:solidFill>
                <a:ea typeface="楷体_GB2312" charset="0"/>
              </a:rPr>
              <a:t>i</a:t>
            </a:r>
            <a:r>
              <a:rPr lang="en-US" altLang="zh-CN" sz="3600" b="1" dirty="0">
                <a:solidFill>
                  <a:srgbClr val="000099"/>
                </a:solidFill>
                <a:ea typeface="楷体_GB2312" charset="0"/>
              </a:rPr>
              <a:t>, a</a:t>
            </a:r>
            <a:r>
              <a:rPr lang="en-US" altLang="zh-CN" sz="3600" b="1" baseline="-25000" dirty="0">
                <a:solidFill>
                  <a:srgbClr val="000099"/>
                </a:solidFill>
                <a:ea typeface="楷体_GB2312" charset="0"/>
              </a:rPr>
              <a:t>i+1</a:t>
            </a:r>
            <a:r>
              <a:rPr lang="en-US" altLang="zh-CN" sz="3600" b="1" dirty="0">
                <a:solidFill>
                  <a:srgbClr val="000099"/>
                </a:solidFill>
                <a:latin typeface="楷体_GB2312" charset="0"/>
                <a:ea typeface="楷体_GB2312" charset="0"/>
              </a:rPr>
              <a:t>&gt; </a:t>
            </a:r>
            <a:endParaRPr lang="en-US" altLang="zh-CN" sz="3600" b="1" dirty="0">
              <a:solidFill>
                <a:srgbClr val="000099"/>
              </a:solidFill>
              <a:latin typeface="楷体_GB2312" charset="0"/>
              <a:ea typeface="楷体_GB2312" charset="0"/>
            </a:endParaRPr>
          </a:p>
          <a:p>
            <a:pPr eaLnBrk="1" hangingPunct="1">
              <a:lnSpc>
                <a:spcPct val="140000"/>
              </a:lnSpc>
              <a:defRPr/>
            </a:pPr>
            <a:r>
              <a:rPr lang="en-US" altLang="zh-CN" sz="3600" b="1" dirty="0">
                <a:solidFill>
                  <a:srgbClr val="000099"/>
                </a:solidFill>
                <a:latin typeface="楷体_GB2312" charset="0"/>
                <a:ea typeface="楷体_GB2312" charset="0"/>
              </a:rPr>
              <a:t>   </a:t>
            </a:r>
            <a:r>
              <a:rPr lang="zh-CN" altLang="en-US" sz="3600" b="1" dirty="0">
                <a:solidFill>
                  <a:srgbClr val="000099"/>
                </a:solidFill>
                <a:latin typeface="楷体_GB2312" charset="0"/>
                <a:ea typeface="楷体_GB2312" charset="0"/>
              </a:rPr>
              <a:t>改变为 </a:t>
            </a:r>
            <a:r>
              <a:rPr lang="en-US" altLang="zh-CN" sz="3600" b="1" dirty="0">
                <a:solidFill>
                  <a:srgbClr val="000099"/>
                </a:solidFill>
                <a:latin typeface="楷体_GB2312" charset="0"/>
                <a:ea typeface="楷体_GB2312" charset="0"/>
              </a:rPr>
              <a:t>&lt;</a:t>
            </a:r>
            <a:r>
              <a:rPr lang="en-US" altLang="zh-CN" sz="3600" b="1" dirty="0">
                <a:solidFill>
                  <a:srgbClr val="000099"/>
                </a:solidFill>
                <a:ea typeface="楷体_GB2312" charset="0"/>
              </a:rPr>
              <a:t>a</a:t>
            </a:r>
            <a:r>
              <a:rPr lang="en-US" altLang="zh-CN" sz="3600" b="1" baseline="-25000" dirty="0">
                <a:solidFill>
                  <a:srgbClr val="000099"/>
                </a:solidFill>
                <a:ea typeface="楷体_GB2312" charset="0"/>
              </a:rPr>
              <a:t>i-1</a:t>
            </a:r>
            <a:r>
              <a:rPr lang="en-US" altLang="zh-CN" sz="3600" b="1" dirty="0">
                <a:solidFill>
                  <a:srgbClr val="000099"/>
                </a:solidFill>
                <a:ea typeface="楷体_GB2312" charset="0"/>
              </a:rPr>
              <a:t>, a</a:t>
            </a:r>
            <a:r>
              <a:rPr lang="en-US" altLang="zh-CN" sz="3600" b="1" baseline="-25000" dirty="0">
                <a:solidFill>
                  <a:srgbClr val="000099"/>
                </a:solidFill>
                <a:ea typeface="楷体_GB2312" charset="0"/>
              </a:rPr>
              <a:t>i+1</a:t>
            </a:r>
            <a:r>
              <a:rPr lang="en-US" altLang="zh-CN" sz="3600" b="1" dirty="0">
                <a:solidFill>
                  <a:srgbClr val="000099"/>
                </a:solidFill>
                <a:latin typeface="楷体_GB2312" charset="0"/>
                <a:ea typeface="楷体_GB2312" charset="0"/>
              </a:rPr>
              <a:t>&gt;</a:t>
            </a:r>
            <a:endParaRPr lang="en-US" altLang="zh-CN" sz="4000" b="1" dirty="0">
              <a:solidFill>
                <a:srgbClr val="000099"/>
              </a:solidFill>
              <a:latin typeface="楷体_GB2312" charset="0"/>
              <a:ea typeface="楷体_GB2312" charset="0"/>
            </a:endParaRPr>
          </a:p>
        </p:txBody>
      </p:sp>
      <p:grpSp>
        <p:nvGrpSpPr>
          <p:cNvPr id="961540" name="Group 4"/>
          <p:cNvGrpSpPr/>
          <p:nvPr/>
        </p:nvGrpSpPr>
        <p:grpSpPr bwMode="auto">
          <a:xfrm>
            <a:off x="1066800" y="4724400"/>
            <a:ext cx="2057400" cy="609600"/>
            <a:chOff x="672" y="2976"/>
            <a:chExt cx="1296" cy="384"/>
          </a:xfrm>
        </p:grpSpPr>
        <p:sp>
          <p:nvSpPr>
            <p:cNvPr id="961541" name="Rectangle 5"/>
            <p:cNvSpPr>
              <a:spLocks noChangeArrowheads="1"/>
            </p:cNvSpPr>
            <p:nvPr/>
          </p:nvSpPr>
          <p:spPr bwMode="auto">
            <a:xfrm>
              <a:off x="1296" y="2976"/>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61542" name="Line 6"/>
            <p:cNvSpPr>
              <a:spLocks noChangeShapeType="1"/>
            </p:cNvSpPr>
            <p:nvPr/>
          </p:nvSpPr>
          <p:spPr bwMode="auto">
            <a:xfrm>
              <a:off x="1776" y="2976"/>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1543" name="Line 7"/>
            <p:cNvSpPr>
              <a:spLocks noChangeShapeType="1"/>
            </p:cNvSpPr>
            <p:nvPr/>
          </p:nvSpPr>
          <p:spPr bwMode="auto">
            <a:xfrm>
              <a:off x="672" y="3168"/>
              <a:ext cx="624"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61544" name="Group 8"/>
          <p:cNvGrpSpPr/>
          <p:nvPr/>
        </p:nvGrpSpPr>
        <p:grpSpPr bwMode="auto">
          <a:xfrm>
            <a:off x="2971800" y="4724400"/>
            <a:ext cx="2133600" cy="609600"/>
            <a:chOff x="1872" y="2976"/>
            <a:chExt cx="1344" cy="384"/>
          </a:xfrm>
        </p:grpSpPr>
        <p:sp>
          <p:nvSpPr>
            <p:cNvPr id="961545" name="Rectangle 9"/>
            <p:cNvSpPr>
              <a:spLocks noChangeArrowheads="1"/>
            </p:cNvSpPr>
            <p:nvPr/>
          </p:nvSpPr>
          <p:spPr bwMode="auto">
            <a:xfrm>
              <a:off x="2544" y="2976"/>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a:t>
              </a:r>
              <a:endParaRPr lang="en-US" altLang="zh-CN" sz="3600"/>
            </a:p>
          </p:txBody>
        </p:sp>
        <p:sp>
          <p:nvSpPr>
            <p:cNvPr id="961546" name="Line 10"/>
            <p:cNvSpPr>
              <a:spLocks noChangeShapeType="1"/>
            </p:cNvSpPr>
            <p:nvPr/>
          </p:nvSpPr>
          <p:spPr bwMode="auto">
            <a:xfrm>
              <a:off x="3024" y="2976"/>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1547" name="Line 11"/>
            <p:cNvSpPr>
              <a:spLocks noChangeShapeType="1"/>
            </p:cNvSpPr>
            <p:nvPr/>
          </p:nvSpPr>
          <p:spPr bwMode="auto">
            <a:xfrm>
              <a:off x="1872" y="3168"/>
              <a:ext cx="672"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61548" name="Group 12"/>
          <p:cNvGrpSpPr/>
          <p:nvPr/>
        </p:nvGrpSpPr>
        <p:grpSpPr bwMode="auto">
          <a:xfrm>
            <a:off x="4953000" y="4724400"/>
            <a:ext cx="3048000" cy="609600"/>
            <a:chOff x="3120" y="2976"/>
            <a:chExt cx="1920" cy="384"/>
          </a:xfrm>
        </p:grpSpPr>
        <p:sp>
          <p:nvSpPr>
            <p:cNvPr id="961549" name="Rectangle 13"/>
            <p:cNvSpPr>
              <a:spLocks noChangeArrowheads="1"/>
            </p:cNvSpPr>
            <p:nvPr/>
          </p:nvSpPr>
          <p:spPr bwMode="auto">
            <a:xfrm>
              <a:off x="3792" y="2976"/>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61550" name="Line 14"/>
            <p:cNvSpPr>
              <a:spLocks noChangeShapeType="1"/>
            </p:cNvSpPr>
            <p:nvPr/>
          </p:nvSpPr>
          <p:spPr bwMode="auto">
            <a:xfrm>
              <a:off x="4272" y="2976"/>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1551" name="Line 15"/>
            <p:cNvSpPr>
              <a:spLocks noChangeShapeType="1"/>
            </p:cNvSpPr>
            <p:nvPr/>
          </p:nvSpPr>
          <p:spPr bwMode="auto">
            <a:xfrm>
              <a:off x="3120" y="3168"/>
              <a:ext cx="672"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1552" name="Line 16"/>
            <p:cNvSpPr>
              <a:spLocks noChangeShapeType="1"/>
            </p:cNvSpPr>
            <p:nvPr/>
          </p:nvSpPr>
          <p:spPr bwMode="auto">
            <a:xfrm>
              <a:off x="4368" y="3168"/>
              <a:ext cx="672"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useBgFill="1">
        <p:nvSpPr>
          <p:cNvPr id="961553" name="Rectangle 17"/>
          <p:cNvSpPr>
            <a:spLocks noChangeArrowheads="1"/>
          </p:cNvSpPr>
          <p:nvPr/>
        </p:nvSpPr>
        <p:spPr bwMode="auto">
          <a:xfrm>
            <a:off x="2895600" y="4953000"/>
            <a:ext cx="1143000" cy="228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nvGrpSpPr>
          <p:cNvPr id="961554" name="Group 18"/>
          <p:cNvGrpSpPr/>
          <p:nvPr/>
        </p:nvGrpSpPr>
        <p:grpSpPr bwMode="auto">
          <a:xfrm>
            <a:off x="2057400" y="4724400"/>
            <a:ext cx="1066800" cy="609600"/>
            <a:chOff x="1296" y="2976"/>
            <a:chExt cx="672" cy="384"/>
          </a:xfrm>
        </p:grpSpPr>
        <p:sp>
          <p:nvSpPr>
            <p:cNvPr id="961555" name="Rectangle 19"/>
            <p:cNvSpPr>
              <a:spLocks noChangeArrowheads="1"/>
            </p:cNvSpPr>
            <p:nvPr/>
          </p:nvSpPr>
          <p:spPr bwMode="auto">
            <a:xfrm>
              <a:off x="1296" y="2976"/>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61556" name="Line 20"/>
            <p:cNvSpPr>
              <a:spLocks noChangeShapeType="1"/>
            </p:cNvSpPr>
            <p:nvPr/>
          </p:nvSpPr>
          <p:spPr bwMode="auto">
            <a:xfrm>
              <a:off x="1776" y="2976"/>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cxnSp>
        <p:nvCxnSpPr>
          <p:cNvPr id="961557" name="AutoShape 21"/>
          <p:cNvCxnSpPr>
            <a:cxnSpLocks noChangeShapeType="1"/>
            <a:stCxn id="961555" idx="3"/>
            <a:endCxn id="961549" idx="2"/>
          </p:cNvCxnSpPr>
          <p:nvPr/>
        </p:nvCxnSpPr>
        <p:spPr bwMode="auto">
          <a:xfrm>
            <a:off x="3138488" y="5029200"/>
            <a:ext cx="3414712" cy="319088"/>
          </a:xfrm>
          <a:prstGeom prst="bentConnector4">
            <a:avLst>
              <a:gd name="adj1" fmla="val 12972"/>
              <a:gd name="adj2" fmla="val 364181"/>
            </a:avLst>
          </a:prstGeom>
          <a:noFill/>
          <a:ln w="31750">
            <a:solidFill>
              <a:srgbClr val="008080"/>
            </a:solidFill>
            <a:miter lim="800000"/>
            <a:headEnd type="oval"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useBgFill="1">
        <p:nvSpPr>
          <p:cNvPr id="961558" name="Rectangle 22"/>
          <p:cNvSpPr>
            <a:spLocks noChangeArrowheads="1"/>
          </p:cNvSpPr>
          <p:nvPr/>
        </p:nvSpPr>
        <p:spPr bwMode="auto">
          <a:xfrm>
            <a:off x="3962400" y="4648200"/>
            <a:ext cx="20574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61538"/>
                                        </p:tgtEl>
                                        <p:attrNameLst>
                                          <p:attrName>style.visibility</p:attrName>
                                        </p:attrNameLst>
                                      </p:cBhvr>
                                      <p:to>
                                        <p:strVal val="visible"/>
                                      </p:to>
                                    </p:set>
                                    <p:animEffect transition="in" filter="wipe(left)">
                                      <p:cBhvr>
                                        <p:cTn id="7" dur="500"/>
                                        <p:tgtEl>
                                          <p:spTgt spid="96153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961539"/>
                                        </p:tgtEl>
                                        <p:attrNameLst>
                                          <p:attrName>style.visibility</p:attrName>
                                        </p:attrNameLst>
                                      </p:cBhvr>
                                      <p:to>
                                        <p:strVal val="visible"/>
                                      </p:to>
                                    </p:set>
                                    <p:animEffect transition="in" filter="barn(outVertical)">
                                      <p:cBhvr>
                                        <p:cTn id="12" dur="500"/>
                                        <p:tgtEl>
                                          <p:spTgt spid="9615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61540"/>
                                        </p:tgtEl>
                                        <p:attrNameLst>
                                          <p:attrName>style.visibility</p:attrName>
                                        </p:attrNameLst>
                                      </p:cBhvr>
                                      <p:to>
                                        <p:strVal val="visible"/>
                                      </p:to>
                                    </p:set>
                                    <p:animEffect transition="in" filter="wipe(left)">
                                      <p:cBhvr>
                                        <p:cTn id="17" dur="500"/>
                                        <p:tgtEl>
                                          <p:spTgt spid="961540"/>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61544"/>
                                        </p:tgtEl>
                                        <p:attrNameLst>
                                          <p:attrName>style.visibility</p:attrName>
                                        </p:attrNameLst>
                                      </p:cBhvr>
                                      <p:to>
                                        <p:strVal val="visible"/>
                                      </p:to>
                                    </p:set>
                                    <p:animEffect transition="in" filter="wipe(left)">
                                      <p:cBhvr>
                                        <p:cTn id="21" dur="500"/>
                                        <p:tgtEl>
                                          <p:spTgt spid="961544"/>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961548"/>
                                        </p:tgtEl>
                                        <p:attrNameLst>
                                          <p:attrName>style.visibility</p:attrName>
                                        </p:attrNameLst>
                                      </p:cBhvr>
                                      <p:to>
                                        <p:strVal val="visible"/>
                                      </p:to>
                                    </p:set>
                                    <p:animEffect transition="in" filter="wipe(left)">
                                      <p:cBhvr>
                                        <p:cTn id="25" dur="500"/>
                                        <p:tgtEl>
                                          <p:spTgt spid="96154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961553"/>
                                        </p:tgtEl>
                                        <p:attrNameLst>
                                          <p:attrName>style.visibility</p:attrName>
                                        </p:attrNameLst>
                                      </p:cBhvr>
                                      <p:to>
                                        <p:strVal val="visible"/>
                                      </p:to>
                                    </p:set>
                                    <p:animEffect transition="in" filter="wipe(up)">
                                      <p:cBhvr>
                                        <p:cTn id="30" dur="500"/>
                                        <p:tgtEl>
                                          <p:spTgt spid="961553"/>
                                        </p:tgtEl>
                                      </p:cBhvr>
                                    </p:animEffect>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499"/>
                                          </p:stCondLst>
                                        </p:cTn>
                                        <p:tgtEl>
                                          <p:spTgt spid="961554"/>
                                        </p:tgtEl>
                                        <p:attrNameLst>
                                          <p:attrName>style.visibility</p:attrName>
                                        </p:attrNameLst>
                                      </p:cBhvr>
                                      <p:to>
                                        <p:strVal val="visible"/>
                                      </p:to>
                                    </p:se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961557"/>
                                        </p:tgtEl>
                                        <p:attrNameLst>
                                          <p:attrName>style.visibility</p:attrName>
                                        </p:attrNameLst>
                                      </p:cBhvr>
                                      <p:to>
                                        <p:strVal val="visible"/>
                                      </p:to>
                                    </p:set>
                                    <p:animEffect transition="in" filter="wipe(left)">
                                      <p:cBhvr>
                                        <p:cTn id="37" dur="500"/>
                                        <p:tgtEl>
                                          <p:spTgt spid="96155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61558"/>
                                        </p:tgtEl>
                                        <p:attrNameLst>
                                          <p:attrName>style.visibility</p:attrName>
                                        </p:attrNameLst>
                                      </p:cBhvr>
                                      <p:to>
                                        <p:strVal val="visible"/>
                                      </p:to>
                                    </p:set>
                                    <p:animEffect transition="in" filter="wipe(left)">
                                      <p:cBhvr>
                                        <p:cTn id="42" dur="500"/>
                                        <p:tgtEl>
                                          <p:spTgt spid="961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1538" grpId="0" autoUpdateAnimBg="0"/>
      <p:bldP spid="961539" grpId="0" autoUpdateAnimBg="0"/>
      <p:bldP spid="961553" grpId="0" animBg="1"/>
      <p:bldP spid="961558"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Text Box 2"/>
          <p:cNvSpPr txBox="1">
            <a:spLocks noChangeArrowheads="1"/>
          </p:cNvSpPr>
          <p:nvPr/>
        </p:nvSpPr>
        <p:spPr bwMode="auto">
          <a:xfrm>
            <a:off x="457200" y="152400"/>
            <a:ext cx="8245475" cy="248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4000">
                <a:solidFill>
                  <a:srgbClr val="9900CC"/>
                </a:solidFill>
                <a:latin typeface="楷体_GB2312" charset="0"/>
                <a:ea typeface="楷体_GB2312" charset="0"/>
              </a:rPr>
              <a:t>   </a:t>
            </a:r>
            <a:r>
              <a:rPr lang="zh-CN" altLang="en-US" sz="3600">
                <a:solidFill>
                  <a:srgbClr val="9900CC"/>
                </a:solidFill>
                <a:latin typeface="楷体_GB2312" charset="0"/>
                <a:ea typeface="楷体_GB2312" charset="0"/>
              </a:rPr>
              <a:t>在单链表中</a:t>
            </a:r>
            <a:r>
              <a:rPr lang="zh-CN" altLang="en-US" sz="3600" b="1">
                <a:solidFill>
                  <a:srgbClr val="9900CC"/>
                </a:solidFill>
                <a:latin typeface="楷体_GB2312" charset="0"/>
                <a:ea typeface="楷体_GB2312" charset="0"/>
              </a:rPr>
              <a:t>删除第</a:t>
            </a:r>
            <a:r>
              <a:rPr lang="zh-CN" altLang="en-US" sz="3600">
                <a:solidFill>
                  <a:srgbClr val="9900CC"/>
                </a:solidFill>
                <a:latin typeface="楷体_GB2312" charset="0"/>
                <a:ea typeface="楷体_GB2312" charset="0"/>
              </a:rPr>
              <a:t> </a:t>
            </a:r>
            <a:r>
              <a:rPr lang="en-US" altLang="zh-CN" sz="3600" b="1">
                <a:solidFill>
                  <a:srgbClr val="9900CC"/>
                </a:solidFill>
                <a:latin typeface="楷体_GB2312" charset="0"/>
                <a:ea typeface="楷体_GB2312" charset="0"/>
              </a:rPr>
              <a:t>i </a:t>
            </a:r>
            <a:r>
              <a:rPr lang="zh-CN" altLang="en-US" sz="3600" b="1">
                <a:solidFill>
                  <a:srgbClr val="9900CC"/>
                </a:solidFill>
                <a:latin typeface="楷体_GB2312" charset="0"/>
                <a:ea typeface="楷体_GB2312" charset="0"/>
              </a:rPr>
              <a:t>个结点</a:t>
            </a:r>
            <a:r>
              <a:rPr lang="zh-CN" altLang="en-US" sz="3600">
                <a:solidFill>
                  <a:srgbClr val="9900CC"/>
                </a:solidFill>
                <a:latin typeface="楷体_GB2312" charset="0"/>
                <a:ea typeface="楷体_GB2312" charset="0"/>
              </a:rPr>
              <a:t>的</a:t>
            </a:r>
            <a:r>
              <a:rPr lang="zh-CN" altLang="en-US" sz="3600" b="1">
                <a:solidFill>
                  <a:srgbClr val="9900CC"/>
                </a:solidFill>
                <a:latin typeface="楷体_GB2312" charset="0"/>
                <a:ea typeface="楷体_GB2312" charset="0"/>
              </a:rPr>
              <a:t>基本操作</a:t>
            </a:r>
            <a:r>
              <a:rPr lang="zh-CN" altLang="en-US" sz="3600">
                <a:solidFill>
                  <a:srgbClr val="9900CC"/>
                </a:solidFill>
                <a:latin typeface="楷体_GB2312" charset="0"/>
                <a:ea typeface="楷体_GB2312" charset="0"/>
              </a:rPr>
              <a:t>为</a:t>
            </a:r>
            <a:r>
              <a:rPr lang="en-US" altLang="zh-CN" sz="3600">
                <a:solidFill>
                  <a:srgbClr val="9900CC"/>
                </a:solidFill>
                <a:latin typeface="楷体_GB2312" charset="0"/>
                <a:ea typeface="楷体_GB2312" charset="0"/>
              </a:rPr>
              <a:t>:</a:t>
            </a:r>
            <a:r>
              <a:rPr lang="zh-CN" altLang="en-US" sz="3600" b="1">
                <a:solidFill>
                  <a:srgbClr val="000099"/>
                </a:solidFill>
                <a:latin typeface="楷体_GB2312" charset="0"/>
                <a:ea typeface="楷体_GB2312" charset="0"/>
              </a:rPr>
              <a:t>找到线性表中第</a:t>
            </a:r>
            <a:r>
              <a:rPr lang="en-US" altLang="zh-CN" sz="3600" b="1">
                <a:solidFill>
                  <a:srgbClr val="000099"/>
                </a:solidFill>
                <a:latin typeface="楷体_GB2312" charset="0"/>
                <a:ea typeface="楷体_GB2312" charset="0"/>
              </a:rPr>
              <a:t>i-1</a:t>
            </a:r>
            <a:r>
              <a:rPr lang="zh-CN" altLang="en-US" sz="3600" b="1">
                <a:solidFill>
                  <a:srgbClr val="000099"/>
                </a:solidFill>
                <a:latin typeface="楷体_GB2312" charset="0"/>
                <a:ea typeface="楷体_GB2312" charset="0"/>
              </a:rPr>
              <a:t>个结点，修改其指向后继的指针。</a:t>
            </a:r>
            <a:endParaRPr lang="zh-CN" altLang="en-US" sz="3600" b="1">
              <a:solidFill>
                <a:srgbClr val="000099"/>
              </a:solidFill>
              <a:latin typeface="楷体_GB2312" charset="0"/>
              <a:ea typeface="楷体_GB2312" charset="0"/>
            </a:endParaRPr>
          </a:p>
        </p:txBody>
      </p:sp>
      <p:grpSp>
        <p:nvGrpSpPr>
          <p:cNvPr id="962563" name="Group 3"/>
          <p:cNvGrpSpPr/>
          <p:nvPr/>
        </p:nvGrpSpPr>
        <p:grpSpPr bwMode="auto">
          <a:xfrm>
            <a:off x="1066800" y="5029200"/>
            <a:ext cx="2057400" cy="609600"/>
            <a:chOff x="672" y="3168"/>
            <a:chExt cx="1296" cy="384"/>
          </a:xfrm>
        </p:grpSpPr>
        <p:sp>
          <p:nvSpPr>
            <p:cNvPr id="962564" name="Rectangle 4"/>
            <p:cNvSpPr>
              <a:spLocks noChangeArrowheads="1"/>
            </p:cNvSpPr>
            <p:nvPr/>
          </p:nvSpPr>
          <p:spPr bwMode="auto">
            <a:xfrm>
              <a:off x="1296" y="3168"/>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62565" name="Line 5"/>
            <p:cNvSpPr>
              <a:spLocks noChangeShapeType="1"/>
            </p:cNvSpPr>
            <p:nvPr/>
          </p:nvSpPr>
          <p:spPr bwMode="auto">
            <a:xfrm>
              <a:off x="1776" y="3168"/>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66" name="Line 6"/>
            <p:cNvSpPr>
              <a:spLocks noChangeShapeType="1"/>
            </p:cNvSpPr>
            <p:nvPr/>
          </p:nvSpPr>
          <p:spPr bwMode="auto">
            <a:xfrm>
              <a:off x="672" y="3360"/>
              <a:ext cx="624"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62567" name="Group 7"/>
          <p:cNvGrpSpPr/>
          <p:nvPr/>
        </p:nvGrpSpPr>
        <p:grpSpPr bwMode="auto">
          <a:xfrm>
            <a:off x="2971800" y="5029200"/>
            <a:ext cx="2133600" cy="609600"/>
            <a:chOff x="1872" y="3168"/>
            <a:chExt cx="1344" cy="384"/>
          </a:xfrm>
        </p:grpSpPr>
        <p:sp>
          <p:nvSpPr>
            <p:cNvPr id="962568" name="Rectangle 8"/>
            <p:cNvSpPr>
              <a:spLocks noChangeArrowheads="1"/>
            </p:cNvSpPr>
            <p:nvPr/>
          </p:nvSpPr>
          <p:spPr bwMode="auto">
            <a:xfrm>
              <a:off x="2544" y="3168"/>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a:t>
              </a:r>
              <a:endParaRPr lang="en-US" altLang="zh-CN" sz="3600"/>
            </a:p>
          </p:txBody>
        </p:sp>
        <p:sp>
          <p:nvSpPr>
            <p:cNvPr id="962569" name="Line 9"/>
            <p:cNvSpPr>
              <a:spLocks noChangeShapeType="1"/>
            </p:cNvSpPr>
            <p:nvPr/>
          </p:nvSpPr>
          <p:spPr bwMode="auto">
            <a:xfrm>
              <a:off x="3024" y="3168"/>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70" name="Line 10"/>
            <p:cNvSpPr>
              <a:spLocks noChangeShapeType="1"/>
            </p:cNvSpPr>
            <p:nvPr/>
          </p:nvSpPr>
          <p:spPr bwMode="auto">
            <a:xfrm>
              <a:off x="1872" y="3360"/>
              <a:ext cx="672"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62571" name="Group 11"/>
          <p:cNvGrpSpPr/>
          <p:nvPr/>
        </p:nvGrpSpPr>
        <p:grpSpPr bwMode="auto">
          <a:xfrm>
            <a:off x="4953000" y="5029200"/>
            <a:ext cx="3048000" cy="609600"/>
            <a:chOff x="3120" y="3168"/>
            <a:chExt cx="1920" cy="384"/>
          </a:xfrm>
        </p:grpSpPr>
        <p:sp>
          <p:nvSpPr>
            <p:cNvPr id="962572" name="Rectangle 12"/>
            <p:cNvSpPr>
              <a:spLocks noChangeArrowheads="1"/>
            </p:cNvSpPr>
            <p:nvPr/>
          </p:nvSpPr>
          <p:spPr bwMode="auto">
            <a:xfrm>
              <a:off x="3792" y="3168"/>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62573" name="Line 13"/>
            <p:cNvSpPr>
              <a:spLocks noChangeShapeType="1"/>
            </p:cNvSpPr>
            <p:nvPr/>
          </p:nvSpPr>
          <p:spPr bwMode="auto">
            <a:xfrm>
              <a:off x="4272" y="3168"/>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74" name="Line 14"/>
            <p:cNvSpPr>
              <a:spLocks noChangeShapeType="1"/>
            </p:cNvSpPr>
            <p:nvPr/>
          </p:nvSpPr>
          <p:spPr bwMode="auto">
            <a:xfrm>
              <a:off x="3120" y="3360"/>
              <a:ext cx="672"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75" name="Line 15"/>
            <p:cNvSpPr>
              <a:spLocks noChangeShapeType="1"/>
            </p:cNvSpPr>
            <p:nvPr/>
          </p:nvSpPr>
          <p:spPr bwMode="auto">
            <a:xfrm>
              <a:off x="4368" y="3360"/>
              <a:ext cx="672"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useBgFill="1">
        <p:nvSpPr>
          <p:cNvPr id="962576" name="Rectangle 16"/>
          <p:cNvSpPr>
            <a:spLocks noChangeArrowheads="1"/>
          </p:cNvSpPr>
          <p:nvPr/>
        </p:nvSpPr>
        <p:spPr bwMode="auto">
          <a:xfrm>
            <a:off x="2895600" y="5257800"/>
            <a:ext cx="1143000" cy="228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nvGrpSpPr>
          <p:cNvPr id="962577" name="Group 17"/>
          <p:cNvGrpSpPr/>
          <p:nvPr/>
        </p:nvGrpSpPr>
        <p:grpSpPr bwMode="auto">
          <a:xfrm>
            <a:off x="2057400" y="5029200"/>
            <a:ext cx="1066800" cy="609600"/>
            <a:chOff x="1296" y="2976"/>
            <a:chExt cx="672" cy="384"/>
          </a:xfrm>
        </p:grpSpPr>
        <p:sp>
          <p:nvSpPr>
            <p:cNvPr id="962578" name="Rectangle 18"/>
            <p:cNvSpPr>
              <a:spLocks noChangeArrowheads="1"/>
            </p:cNvSpPr>
            <p:nvPr/>
          </p:nvSpPr>
          <p:spPr bwMode="auto">
            <a:xfrm>
              <a:off x="1296" y="2976"/>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62579" name="Line 19"/>
            <p:cNvSpPr>
              <a:spLocks noChangeShapeType="1"/>
            </p:cNvSpPr>
            <p:nvPr/>
          </p:nvSpPr>
          <p:spPr bwMode="auto">
            <a:xfrm>
              <a:off x="1776" y="2976"/>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cxnSp>
        <p:nvCxnSpPr>
          <p:cNvPr id="962580" name="AutoShape 20"/>
          <p:cNvCxnSpPr>
            <a:cxnSpLocks noChangeShapeType="1"/>
            <a:stCxn id="962578" idx="3"/>
            <a:endCxn id="962572" idx="2"/>
          </p:cNvCxnSpPr>
          <p:nvPr/>
        </p:nvCxnSpPr>
        <p:spPr bwMode="auto">
          <a:xfrm>
            <a:off x="3138488" y="5334000"/>
            <a:ext cx="3414712" cy="319088"/>
          </a:xfrm>
          <a:prstGeom prst="bentConnector4">
            <a:avLst>
              <a:gd name="adj1" fmla="val 11856"/>
              <a:gd name="adj2" fmla="val 322389"/>
            </a:avLst>
          </a:prstGeom>
          <a:noFill/>
          <a:ln w="31750">
            <a:solidFill>
              <a:srgbClr val="008080"/>
            </a:solidFill>
            <a:miter lim="800000"/>
            <a:headEnd type="oval"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useBgFill="1">
        <p:nvSpPr>
          <p:cNvPr id="962581" name="Rectangle 21"/>
          <p:cNvSpPr>
            <a:spLocks noChangeArrowheads="1"/>
          </p:cNvSpPr>
          <p:nvPr/>
        </p:nvSpPr>
        <p:spPr bwMode="auto">
          <a:xfrm>
            <a:off x="3962400" y="4953000"/>
            <a:ext cx="20574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82" name="Rectangle 22"/>
          <p:cNvSpPr>
            <a:spLocks noChangeArrowheads="1"/>
          </p:cNvSpPr>
          <p:nvPr/>
        </p:nvSpPr>
        <p:spPr bwMode="auto">
          <a:xfrm>
            <a:off x="1628775" y="2438400"/>
            <a:ext cx="606742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50000"/>
              </a:lnSpc>
              <a:defRPr/>
            </a:pPr>
            <a:r>
              <a:rPr lang="en-US" altLang="zh-CN" sz="3200" b="1">
                <a:solidFill>
                  <a:srgbClr val="9900CC"/>
                </a:solidFill>
              </a:rPr>
              <a:t>q = p-&gt;next;   p-&gt;next = q-&gt;next;</a:t>
            </a:r>
            <a:r>
              <a:rPr lang="en-US" altLang="zh-CN" sz="3200"/>
              <a:t>  </a:t>
            </a:r>
            <a:endParaRPr lang="en-US" altLang="zh-CN" sz="3200"/>
          </a:p>
          <a:p>
            <a:pPr eaLnBrk="1" hangingPunct="1">
              <a:lnSpc>
                <a:spcPct val="150000"/>
              </a:lnSpc>
              <a:defRPr/>
            </a:pPr>
            <a:r>
              <a:rPr lang="en-US" altLang="zh-CN" sz="3200"/>
              <a:t>e = q-&gt;data;     </a:t>
            </a:r>
            <a:r>
              <a:rPr lang="en-US" altLang="zh-CN" sz="3200" b="1" i="1">
                <a:solidFill>
                  <a:srgbClr val="000099"/>
                </a:solidFill>
              </a:rPr>
              <a:t>free(q);</a:t>
            </a:r>
            <a:endParaRPr lang="en-US" altLang="zh-CN" sz="3200" b="1" i="1">
              <a:solidFill>
                <a:srgbClr val="000099"/>
              </a:solidFill>
            </a:endParaRPr>
          </a:p>
        </p:txBody>
      </p:sp>
      <p:sp>
        <p:nvSpPr>
          <p:cNvPr id="962583" name="Line 23"/>
          <p:cNvSpPr>
            <a:spLocks noChangeShapeType="1"/>
          </p:cNvSpPr>
          <p:nvPr/>
        </p:nvSpPr>
        <p:spPr bwMode="auto">
          <a:xfrm>
            <a:off x="1371600" y="4572000"/>
            <a:ext cx="685800" cy="457200"/>
          </a:xfrm>
          <a:prstGeom prst="line">
            <a:avLst/>
          </a:prstGeom>
          <a:noFill/>
          <a:ln w="38100">
            <a:solidFill>
              <a:srgbClr val="99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84" name="Text Box 24"/>
          <p:cNvSpPr txBox="1">
            <a:spLocks noChangeArrowheads="1"/>
          </p:cNvSpPr>
          <p:nvPr/>
        </p:nvSpPr>
        <p:spPr bwMode="auto">
          <a:xfrm>
            <a:off x="1050925" y="4006850"/>
            <a:ext cx="43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p</a:t>
            </a:r>
            <a:endParaRPr lang="en-US" altLang="zh-CN" sz="3600"/>
          </a:p>
        </p:txBody>
      </p:sp>
      <p:sp>
        <p:nvSpPr>
          <p:cNvPr id="962585" name="Line 25"/>
          <p:cNvSpPr>
            <a:spLocks noChangeShapeType="1"/>
          </p:cNvSpPr>
          <p:nvPr/>
        </p:nvSpPr>
        <p:spPr bwMode="auto">
          <a:xfrm>
            <a:off x="3733800" y="4572000"/>
            <a:ext cx="685800" cy="457200"/>
          </a:xfrm>
          <a:prstGeom prst="line">
            <a:avLst/>
          </a:prstGeom>
          <a:noFill/>
          <a:ln w="38100">
            <a:solidFill>
              <a:srgbClr val="99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86" name="Text Box 26"/>
          <p:cNvSpPr txBox="1">
            <a:spLocks noChangeArrowheads="1"/>
          </p:cNvSpPr>
          <p:nvPr/>
        </p:nvSpPr>
        <p:spPr bwMode="auto">
          <a:xfrm>
            <a:off x="3371850" y="4083050"/>
            <a:ext cx="43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q</a:t>
            </a:r>
            <a:endParaRPr lang="en-US" altLang="zh-CN" sz="3600"/>
          </a:p>
        </p:txBody>
      </p:sp>
      <p:sp>
        <p:nvSpPr>
          <p:cNvPr id="962587" name="Line 27"/>
          <p:cNvSpPr>
            <a:spLocks noChangeShapeType="1"/>
          </p:cNvSpPr>
          <p:nvPr/>
        </p:nvSpPr>
        <p:spPr bwMode="auto">
          <a:xfrm>
            <a:off x="1676400" y="3200400"/>
            <a:ext cx="2133600" cy="0"/>
          </a:xfrm>
          <a:prstGeom prst="line">
            <a:avLst/>
          </a:prstGeom>
          <a:noFill/>
          <a:ln w="57150">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88" name="Line 28"/>
          <p:cNvSpPr>
            <a:spLocks noChangeShapeType="1"/>
          </p:cNvSpPr>
          <p:nvPr/>
        </p:nvSpPr>
        <p:spPr bwMode="auto">
          <a:xfrm>
            <a:off x="4114800" y="3200400"/>
            <a:ext cx="3276600" cy="0"/>
          </a:xfrm>
          <a:prstGeom prst="line">
            <a:avLst/>
          </a:prstGeom>
          <a:noFill/>
          <a:ln w="57150">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89" name="Line 29"/>
          <p:cNvSpPr>
            <a:spLocks noChangeShapeType="1"/>
          </p:cNvSpPr>
          <p:nvPr/>
        </p:nvSpPr>
        <p:spPr bwMode="auto">
          <a:xfrm>
            <a:off x="4038600" y="3962400"/>
            <a:ext cx="1295400" cy="0"/>
          </a:xfrm>
          <a:prstGeom prst="line">
            <a:avLst/>
          </a:prstGeom>
          <a:noFill/>
          <a:ln w="57150">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962562"/>
                                        </p:tgtEl>
                                        <p:attrNameLst>
                                          <p:attrName>style.visibility</p:attrName>
                                        </p:attrNameLst>
                                      </p:cBhvr>
                                      <p:to>
                                        <p:strVal val="visible"/>
                                      </p:to>
                                    </p:set>
                                    <p:animEffect transition="in" filter="barn(outVertical)">
                                      <p:cBhvr>
                                        <p:cTn id="7" dur="500"/>
                                        <p:tgtEl>
                                          <p:spTgt spid="96256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62582"/>
                                        </p:tgtEl>
                                        <p:attrNameLst>
                                          <p:attrName>style.visibility</p:attrName>
                                        </p:attrNameLst>
                                      </p:cBhvr>
                                      <p:to>
                                        <p:strVal val="visible"/>
                                      </p:to>
                                    </p:set>
                                    <p:animEffect transition="in" filter="strips(downRight)">
                                      <p:cBhvr>
                                        <p:cTn id="12" dur="500"/>
                                        <p:tgtEl>
                                          <p:spTgt spid="9625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62563"/>
                                        </p:tgtEl>
                                        <p:attrNameLst>
                                          <p:attrName>style.visibility</p:attrName>
                                        </p:attrNameLst>
                                      </p:cBhvr>
                                      <p:to>
                                        <p:strVal val="visible"/>
                                      </p:to>
                                    </p:set>
                                    <p:animEffect transition="in" filter="wipe(left)">
                                      <p:cBhvr>
                                        <p:cTn id="17" dur="500"/>
                                        <p:tgtEl>
                                          <p:spTgt spid="962563"/>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62567"/>
                                        </p:tgtEl>
                                        <p:attrNameLst>
                                          <p:attrName>style.visibility</p:attrName>
                                        </p:attrNameLst>
                                      </p:cBhvr>
                                      <p:to>
                                        <p:strVal val="visible"/>
                                      </p:to>
                                    </p:set>
                                    <p:animEffect transition="in" filter="wipe(left)">
                                      <p:cBhvr>
                                        <p:cTn id="21" dur="500"/>
                                        <p:tgtEl>
                                          <p:spTgt spid="962567"/>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962571"/>
                                        </p:tgtEl>
                                        <p:attrNameLst>
                                          <p:attrName>style.visibility</p:attrName>
                                        </p:attrNameLst>
                                      </p:cBhvr>
                                      <p:to>
                                        <p:strVal val="visible"/>
                                      </p:to>
                                    </p:set>
                                    <p:animEffect transition="in" filter="wipe(left)">
                                      <p:cBhvr>
                                        <p:cTn id="25" dur="500"/>
                                        <p:tgtEl>
                                          <p:spTgt spid="96257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62584"/>
                                        </p:tgtEl>
                                        <p:attrNameLst>
                                          <p:attrName>style.visibility</p:attrName>
                                        </p:attrNameLst>
                                      </p:cBhvr>
                                      <p:to>
                                        <p:strVal val="visible"/>
                                      </p:to>
                                    </p:set>
                                    <p:animEffect transition="in" filter="wipe(left)">
                                      <p:cBhvr>
                                        <p:cTn id="30" dur="500"/>
                                        <p:tgtEl>
                                          <p:spTgt spid="962584"/>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962583"/>
                                        </p:tgtEl>
                                        <p:attrNameLst>
                                          <p:attrName>style.visibility</p:attrName>
                                        </p:attrNameLst>
                                      </p:cBhvr>
                                      <p:to>
                                        <p:strVal val="visible"/>
                                      </p:to>
                                    </p:set>
                                    <p:animEffect transition="in" filter="wipe(left)">
                                      <p:cBhvr>
                                        <p:cTn id="34" dur="500"/>
                                        <p:tgtEl>
                                          <p:spTgt spid="962583"/>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nodeType="clickEffect">
                                  <p:stCondLst>
                                    <p:cond delay="0"/>
                                  </p:stCondLst>
                                  <p:childTnLst>
                                    <p:set>
                                      <p:cBhvr>
                                        <p:cTn id="38" dur="1" fill="hold">
                                          <p:stCondLst>
                                            <p:cond delay="0"/>
                                          </p:stCondLst>
                                        </p:cTn>
                                        <p:tgtEl>
                                          <p:spTgt spid="962587"/>
                                        </p:tgtEl>
                                        <p:attrNameLst>
                                          <p:attrName>style.visibility</p:attrName>
                                        </p:attrNameLst>
                                      </p:cBhvr>
                                      <p:to>
                                        <p:strVal val="visible"/>
                                      </p:to>
                                    </p:set>
                                    <p:anim calcmode="lin" valueType="num">
                                      <p:cBhvr>
                                        <p:cTn id="39" dur="500" fill="hold"/>
                                        <p:tgtEl>
                                          <p:spTgt spid="962587"/>
                                        </p:tgtEl>
                                        <p:attrNameLst>
                                          <p:attrName>ppt_x</p:attrName>
                                        </p:attrNameLst>
                                      </p:cBhvr>
                                      <p:tavLst>
                                        <p:tav tm="0">
                                          <p:val>
                                            <p:strVal val="#ppt_x-#ppt_w/2"/>
                                          </p:val>
                                        </p:tav>
                                        <p:tav tm="100000">
                                          <p:val>
                                            <p:strVal val="#ppt_x"/>
                                          </p:val>
                                        </p:tav>
                                      </p:tavLst>
                                    </p:anim>
                                    <p:anim calcmode="lin" valueType="num">
                                      <p:cBhvr>
                                        <p:cTn id="40" dur="500" fill="hold"/>
                                        <p:tgtEl>
                                          <p:spTgt spid="962587"/>
                                        </p:tgtEl>
                                        <p:attrNameLst>
                                          <p:attrName>ppt_y</p:attrName>
                                        </p:attrNameLst>
                                      </p:cBhvr>
                                      <p:tavLst>
                                        <p:tav tm="0">
                                          <p:val>
                                            <p:strVal val="#ppt_y"/>
                                          </p:val>
                                        </p:tav>
                                        <p:tav tm="100000">
                                          <p:val>
                                            <p:strVal val="#ppt_y"/>
                                          </p:val>
                                        </p:tav>
                                      </p:tavLst>
                                    </p:anim>
                                    <p:anim calcmode="lin" valueType="num">
                                      <p:cBhvr>
                                        <p:cTn id="41" dur="500" fill="hold"/>
                                        <p:tgtEl>
                                          <p:spTgt spid="962587"/>
                                        </p:tgtEl>
                                        <p:attrNameLst>
                                          <p:attrName>ppt_w</p:attrName>
                                        </p:attrNameLst>
                                      </p:cBhvr>
                                      <p:tavLst>
                                        <p:tav tm="0">
                                          <p:val>
                                            <p:fltVal val="0"/>
                                          </p:val>
                                        </p:tav>
                                        <p:tav tm="100000">
                                          <p:val>
                                            <p:strVal val="#ppt_w"/>
                                          </p:val>
                                        </p:tav>
                                      </p:tavLst>
                                    </p:anim>
                                    <p:anim calcmode="lin" valueType="num">
                                      <p:cBhvr>
                                        <p:cTn id="42" dur="500" fill="hold"/>
                                        <p:tgtEl>
                                          <p:spTgt spid="962587"/>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62586"/>
                                        </p:tgtEl>
                                        <p:attrNameLst>
                                          <p:attrName>style.visibility</p:attrName>
                                        </p:attrNameLst>
                                      </p:cBhvr>
                                      <p:to>
                                        <p:strVal val="visible"/>
                                      </p:to>
                                    </p:set>
                                    <p:animEffect transition="in" filter="wipe(left)">
                                      <p:cBhvr>
                                        <p:cTn id="47" dur="500"/>
                                        <p:tgtEl>
                                          <p:spTgt spid="962586"/>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962585"/>
                                        </p:tgtEl>
                                        <p:attrNameLst>
                                          <p:attrName>style.visibility</p:attrName>
                                        </p:attrNameLst>
                                      </p:cBhvr>
                                      <p:to>
                                        <p:strVal val="visible"/>
                                      </p:to>
                                    </p:set>
                                    <p:animEffect transition="in" filter="wipe(left)">
                                      <p:cBhvr>
                                        <p:cTn id="51" dur="500"/>
                                        <p:tgtEl>
                                          <p:spTgt spid="962585"/>
                                        </p:tgtEl>
                                      </p:cBhvr>
                                    </p:animEffect>
                                  </p:childTnLst>
                                </p:cTn>
                              </p:par>
                            </p:childTnLst>
                          </p:cTn>
                        </p:par>
                      </p:childTnLst>
                    </p:cTn>
                  </p:par>
                  <p:par>
                    <p:cTn id="52" fill="hold">
                      <p:stCondLst>
                        <p:cond delay="indefinite"/>
                      </p:stCondLst>
                      <p:childTnLst>
                        <p:par>
                          <p:cTn id="53" fill="hold">
                            <p:stCondLst>
                              <p:cond delay="0"/>
                            </p:stCondLst>
                            <p:childTnLst>
                              <p:par>
                                <p:cTn id="54" presetID="17" presetClass="entr" presetSubtype="8" fill="hold" nodeType="clickEffect">
                                  <p:stCondLst>
                                    <p:cond delay="0"/>
                                  </p:stCondLst>
                                  <p:childTnLst>
                                    <p:set>
                                      <p:cBhvr>
                                        <p:cTn id="55" dur="1" fill="hold">
                                          <p:stCondLst>
                                            <p:cond delay="0"/>
                                          </p:stCondLst>
                                        </p:cTn>
                                        <p:tgtEl>
                                          <p:spTgt spid="962588"/>
                                        </p:tgtEl>
                                        <p:attrNameLst>
                                          <p:attrName>style.visibility</p:attrName>
                                        </p:attrNameLst>
                                      </p:cBhvr>
                                      <p:to>
                                        <p:strVal val="visible"/>
                                      </p:to>
                                    </p:set>
                                    <p:anim calcmode="lin" valueType="num">
                                      <p:cBhvr>
                                        <p:cTn id="56" dur="500" fill="hold"/>
                                        <p:tgtEl>
                                          <p:spTgt spid="962588"/>
                                        </p:tgtEl>
                                        <p:attrNameLst>
                                          <p:attrName>ppt_x</p:attrName>
                                        </p:attrNameLst>
                                      </p:cBhvr>
                                      <p:tavLst>
                                        <p:tav tm="0">
                                          <p:val>
                                            <p:strVal val="#ppt_x-#ppt_w/2"/>
                                          </p:val>
                                        </p:tav>
                                        <p:tav tm="100000">
                                          <p:val>
                                            <p:strVal val="#ppt_x"/>
                                          </p:val>
                                        </p:tav>
                                      </p:tavLst>
                                    </p:anim>
                                    <p:anim calcmode="lin" valueType="num">
                                      <p:cBhvr>
                                        <p:cTn id="57" dur="500" fill="hold"/>
                                        <p:tgtEl>
                                          <p:spTgt spid="962588"/>
                                        </p:tgtEl>
                                        <p:attrNameLst>
                                          <p:attrName>ppt_y</p:attrName>
                                        </p:attrNameLst>
                                      </p:cBhvr>
                                      <p:tavLst>
                                        <p:tav tm="0">
                                          <p:val>
                                            <p:strVal val="#ppt_y"/>
                                          </p:val>
                                        </p:tav>
                                        <p:tav tm="100000">
                                          <p:val>
                                            <p:strVal val="#ppt_y"/>
                                          </p:val>
                                        </p:tav>
                                      </p:tavLst>
                                    </p:anim>
                                    <p:anim calcmode="lin" valueType="num">
                                      <p:cBhvr>
                                        <p:cTn id="58" dur="500" fill="hold"/>
                                        <p:tgtEl>
                                          <p:spTgt spid="962588"/>
                                        </p:tgtEl>
                                        <p:attrNameLst>
                                          <p:attrName>ppt_w</p:attrName>
                                        </p:attrNameLst>
                                      </p:cBhvr>
                                      <p:tavLst>
                                        <p:tav tm="0">
                                          <p:val>
                                            <p:fltVal val="0"/>
                                          </p:val>
                                        </p:tav>
                                        <p:tav tm="100000">
                                          <p:val>
                                            <p:strVal val="#ppt_w"/>
                                          </p:val>
                                        </p:tav>
                                      </p:tavLst>
                                    </p:anim>
                                    <p:anim calcmode="lin" valueType="num">
                                      <p:cBhvr>
                                        <p:cTn id="59" dur="500" fill="hold"/>
                                        <p:tgtEl>
                                          <p:spTgt spid="962588"/>
                                        </p:tgtEl>
                                        <p:attrNameLst>
                                          <p:attrName>ppt_h</p:attrName>
                                        </p:attrNameLst>
                                      </p:cBhvr>
                                      <p:tavLst>
                                        <p:tav tm="0">
                                          <p:val>
                                            <p:strVal val="#ppt_h"/>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962576"/>
                                        </p:tgtEl>
                                        <p:attrNameLst>
                                          <p:attrName>style.visibility</p:attrName>
                                        </p:attrNameLst>
                                      </p:cBhvr>
                                      <p:to>
                                        <p:strVal val="visible"/>
                                      </p:to>
                                    </p:set>
                                    <p:animEffect transition="in" filter="wipe(up)">
                                      <p:cBhvr>
                                        <p:cTn id="64" dur="500"/>
                                        <p:tgtEl>
                                          <p:spTgt spid="962576"/>
                                        </p:tgtEl>
                                      </p:cBhvr>
                                    </p:animEffect>
                                  </p:childTnLst>
                                </p:cTn>
                              </p:par>
                            </p:childTnLst>
                          </p:cTn>
                        </p:par>
                        <p:par>
                          <p:cTn id="65" fill="hold">
                            <p:stCondLst>
                              <p:cond delay="500"/>
                            </p:stCondLst>
                            <p:childTnLst>
                              <p:par>
                                <p:cTn id="66" presetID="1" presetClass="entr" presetSubtype="0" fill="hold" nodeType="afterEffect">
                                  <p:stCondLst>
                                    <p:cond delay="0"/>
                                  </p:stCondLst>
                                  <p:childTnLst>
                                    <p:set>
                                      <p:cBhvr>
                                        <p:cTn id="67" dur="1" fill="hold">
                                          <p:stCondLst>
                                            <p:cond delay="499"/>
                                          </p:stCondLst>
                                        </p:cTn>
                                        <p:tgtEl>
                                          <p:spTgt spid="962577"/>
                                        </p:tgtEl>
                                        <p:attrNameLst>
                                          <p:attrName>style.visibility</p:attrName>
                                        </p:attrNameLst>
                                      </p:cBhvr>
                                      <p:to>
                                        <p:strVal val="visible"/>
                                      </p:to>
                                    </p:set>
                                  </p:childTnLst>
                                </p:cTn>
                              </p:par>
                            </p:childTnLst>
                          </p:cTn>
                        </p:par>
                        <p:par>
                          <p:cTn id="68" fill="hold">
                            <p:stCondLst>
                              <p:cond delay="1000"/>
                            </p:stCondLst>
                            <p:childTnLst>
                              <p:par>
                                <p:cTn id="69" presetID="22" presetClass="entr" presetSubtype="8" fill="hold" nodeType="afterEffect">
                                  <p:stCondLst>
                                    <p:cond delay="0"/>
                                  </p:stCondLst>
                                  <p:childTnLst>
                                    <p:set>
                                      <p:cBhvr>
                                        <p:cTn id="70" dur="1" fill="hold">
                                          <p:stCondLst>
                                            <p:cond delay="0"/>
                                          </p:stCondLst>
                                        </p:cTn>
                                        <p:tgtEl>
                                          <p:spTgt spid="962580"/>
                                        </p:tgtEl>
                                        <p:attrNameLst>
                                          <p:attrName>style.visibility</p:attrName>
                                        </p:attrNameLst>
                                      </p:cBhvr>
                                      <p:to>
                                        <p:strVal val="visible"/>
                                      </p:to>
                                    </p:set>
                                    <p:animEffect transition="in" filter="wipe(left)">
                                      <p:cBhvr>
                                        <p:cTn id="71" dur="500"/>
                                        <p:tgtEl>
                                          <p:spTgt spid="962580"/>
                                        </p:tgtEl>
                                      </p:cBhvr>
                                    </p:animEffect>
                                  </p:childTnLst>
                                </p:cTn>
                              </p:par>
                            </p:childTnLst>
                          </p:cTn>
                        </p:par>
                      </p:childTnLst>
                    </p:cTn>
                  </p:par>
                  <p:par>
                    <p:cTn id="72" fill="hold">
                      <p:stCondLst>
                        <p:cond delay="indefinite"/>
                      </p:stCondLst>
                      <p:childTnLst>
                        <p:par>
                          <p:cTn id="73" fill="hold">
                            <p:stCondLst>
                              <p:cond delay="0"/>
                            </p:stCondLst>
                            <p:childTnLst>
                              <p:par>
                                <p:cTn id="74" presetID="17" presetClass="entr" presetSubtype="8" fill="hold" nodeType="clickEffect">
                                  <p:stCondLst>
                                    <p:cond delay="0"/>
                                  </p:stCondLst>
                                  <p:childTnLst>
                                    <p:set>
                                      <p:cBhvr>
                                        <p:cTn id="75" dur="1" fill="hold">
                                          <p:stCondLst>
                                            <p:cond delay="0"/>
                                          </p:stCondLst>
                                        </p:cTn>
                                        <p:tgtEl>
                                          <p:spTgt spid="962589"/>
                                        </p:tgtEl>
                                        <p:attrNameLst>
                                          <p:attrName>style.visibility</p:attrName>
                                        </p:attrNameLst>
                                      </p:cBhvr>
                                      <p:to>
                                        <p:strVal val="visible"/>
                                      </p:to>
                                    </p:set>
                                    <p:anim calcmode="lin" valueType="num">
                                      <p:cBhvr>
                                        <p:cTn id="76" dur="500" fill="hold"/>
                                        <p:tgtEl>
                                          <p:spTgt spid="962589"/>
                                        </p:tgtEl>
                                        <p:attrNameLst>
                                          <p:attrName>ppt_x</p:attrName>
                                        </p:attrNameLst>
                                      </p:cBhvr>
                                      <p:tavLst>
                                        <p:tav tm="0">
                                          <p:val>
                                            <p:strVal val="#ppt_x-#ppt_w/2"/>
                                          </p:val>
                                        </p:tav>
                                        <p:tav tm="100000">
                                          <p:val>
                                            <p:strVal val="#ppt_x"/>
                                          </p:val>
                                        </p:tav>
                                      </p:tavLst>
                                    </p:anim>
                                    <p:anim calcmode="lin" valueType="num">
                                      <p:cBhvr>
                                        <p:cTn id="77" dur="500" fill="hold"/>
                                        <p:tgtEl>
                                          <p:spTgt spid="962589"/>
                                        </p:tgtEl>
                                        <p:attrNameLst>
                                          <p:attrName>ppt_y</p:attrName>
                                        </p:attrNameLst>
                                      </p:cBhvr>
                                      <p:tavLst>
                                        <p:tav tm="0">
                                          <p:val>
                                            <p:strVal val="#ppt_y"/>
                                          </p:val>
                                        </p:tav>
                                        <p:tav tm="100000">
                                          <p:val>
                                            <p:strVal val="#ppt_y"/>
                                          </p:val>
                                        </p:tav>
                                      </p:tavLst>
                                    </p:anim>
                                    <p:anim calcmode="lin" valueType="num">
                                      <p:cBhvr>
                                        <p:cTn id="78" dur="500" fill="hold"/>
                                        <p:tgtEl>
                                          <p:spTgt spid="962589"/>
                                        </p:tgtEl>
                                        <p:attrNameLst>
                                          <p:attrName>ppt_w</p:attrName>
                                        </p:attrNameLst>
                                      </p:cBhvr>
                                      <p:tavLst>
                                        <p:tav tm="0">
                                          <p:val>
                                            <p:fltVal val="0"/>
                                          </p:val>
                                        </p:tav>
                                        <p:tav tm="100000">
                                          <p:val>
                                            <p:strVal val="#ppt_w"/>
                                          </p:val>
                                        </p:tav>
                                      </p:tavLst>
                                    </p:anim>
                                    <p:anim calcmode="lin" valueType="num">
                                      <p:cBhvr>
                                        <p:cTn id="79" dur="500" fill="hold"/>
                                        <p:tgtEl>
                                          <p:spTgt spid="962589"/>
                                        </p:tgtEl>
                                        <p:attrNameLst>
                                          <p:attrName>ppt_h</p:attrName>
                                        </p:attrNameLst>
                                      </p:cBhvr>
                                      <p:tavLst>
                                        <p:tav tm="0">
                                          <p:val>
                                            <p:strVal val="#ppt_h"/>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962581"/>
                                        </p:tgtEl>
                                        <p:attrNameLst>
                                          <p:attrName>style.visibility</p:attrName>
                                        </p:attrNameLst>
                                      </p:cBhvr>
                                      <p:to>
                                        <p:strVal val="visible"/>
                                      </p:to>
                                    </p:set>
                                    <p:animEffect transition="in" filter="wipe(left)">
                                      <p:cBhvr>
                                        <p:cTn id="84" dur="500"/>
                                        <p:tgtEl>
                                          <p:spTgt spid="962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62" grpId="0" autoUpdateAnimBg="0"/>
      <p:bldP spid="962576" grpId="0" animBg="1"/>
      <p:bldP spid="962581" grpId="0" animBg="1"/>
      <p:bldP spid="962582" grpId="0" autoUpdateAnimBg="0"/>
      <p:bldP spid="962584" grpId="0" autoUpdateAnimBg="0"/>
      <p:bldP spid="962586"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Text Box 2"/>
          <p:cNvSpPr txBox="1">
            <a:spLocks noChangeArrowheads="1"/>
          </p:cNvSpPr>
          <p:nvPr/>
        </p:nvSpPr>
        <p:spPr bwMode="auto">
          <a:xfrm>
            <a:off x="323528" y="451927"/>
            <a:ext cx="7898316" cy="57800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zh-CN" altLang="en-US" sz="2400" b="1" dirty="0"/>
              <a:t> </a:t>
            </a:r>
            <a:r>
              <a:rPr lang="en-US" altLang="zh-CN" sz="2400" b="1" dirty="0"/>
              <a:t>Status</a:t>
            </a:r>
            <a:r>
              <a:rPr lang="en-US" altLang="zh-CN" sz="2400" dirty="0"/>
              <a:t> </a:t>
            </a:r>
            <a:r>
              <a:rPr lang="en-US" altLang="zh-CN" sz="2400" dirty="0" err="1"/>
              <a:t>ListDelete_L</a:t>
            </a:r>
            <a:r>
              <a:rPr lang="en-US" altLang="zh-CN" sz="2400" dirty="0"/>
              <a:t>(</a:t>
            </a:r>
            <a:r>
              <a:rPr lang="en-US" altLang="zh-CN" sz="2400" dirty="0" err="1"/>
              <a:t>LinkList</a:t>
            </a:r>
            <a:r>
              <a:rPr lang="en-US" altLang="zh-CN" sz="2400" dirty="0"/>
              <a:t> L, </a:t>
            </a:r>
            <a:r>
              <a:rPr lang="en-US" altLang="zh-CN" sz="2400" b="1" dirty="0"/>
              <a:t>int</a:t>
            </a:r>
            <a:r>
              <a:rPr lang="en-US" altLang="zh-CN" sz="2400" dirty="0"/>
              <a:t> </a:t>
            </a:r>
            <a:r>
              <a:rPr lang="en-US" altLang="zh-CN" sz="2400" dirty="0" err="1"/>
              <a:t>i</a:t>
            </a:r>
            <a:r>
              <a:rPr lang="en-US" altLang="zh-CN" sz="2400" dirty="0"/>
              <a:t>, </a:t>
            </a:r>
            <a:r>
              <a:rPr lang="en-US" altLang="zh-CN" sz="2400" dirty="0" err="1"/>
              <a:t>ElemType</a:t>
            </a:r>
            <a:r>
              <a:rPr lang="en-US" altLang="zh-CN" sz="2400" dirty="0"/>
              <a:t> </a:t>
            </a:r>
            <a:r>
              <a:rPr lang="en-US" altLang="zh-CN" sz="2400" b="1" dirty="0"/>
              <a:t>&amp;</a:t>
            </a:r>
            <a:r>
              <a:rPr lang="en-US" altLang="zh-CN" sz="2400" dirty="0"/>
              <a:t>e) </a:t>
            </a:r>
            <a:r>
              <a:rPr lang="en-US" altLang="zh-CN" sz="2400" b="1" dirty="0"/>
              <a:t>{</a:t>
            </a:r>
            <a:endParaRPr lang="en-US" altLang="zh-CN" sz="2400" dirty="0"/>
          </a:p>
          <a:p>
            <a:pPr eaLnBrk="1" hangingPunct="1">
              <a:lnSpc>
                <a:spcPct val="110000"/>
              </a:lnSpc>
              <a:defRPr/>
            </a:pPr>
            <a:r>
              <a:rPr lang="en-US" altLang="zh-CN" sz="2400" b="1" dirty="0"/>
              <a:t>   </a:t>
            </a:r>
            <a:r>
              <a:rPr lang="en-US" altLang="zh-CN" sz="2400" dirty="0"/>
              <a:t>// </a:t>
            </a:r>
            <a:r>
              <a:rPr lang="zh-CN" altLang="en-US" sz="2400" dirty="0">
                <a:ea typeface="隶书" panose="02010509060101010101" charset="-122"/>
              </a:rPr>
              <a:t>删除以 </a:t>
            </a:r>
            <a:r>
              <a:rPr lang="en-US" altLang="zh-CN" sz="2400" dirty="0">
                <a:ea typeface="隶书" panose="02010509060101010101" charset="-122"/>
              </a:rPr>
              <a:t>L </a:t>
            </a:r>
            <a:r>
              <a:rPr lang="zh-CN" altLang="en-US" sz="2400" dirty="0">
                <a:ea typeface="隶书" panose="02010509060101010101" charset="-122"/>
              </a:rPr>
              <a:t>为头指针</a:t>
            </a:r>
            <a:r>
              <a:rPr lang="en-US" altLang="zh-CN" sz="2400" dirty="0">
                <a:ea typeface="隶书" panose="02010509060101010101" charset="-122"/>
              </a:rPr>
              <a:t>(</a:t>
            </a:r>
            <a:r>
              <a:rPr lang="zh-CN" altLang="en-US" sz="2400" dirty="0">
                <a:ea typeface="隶书" panose="02010509060101010101" charset="-122"/>
              </a:rPr>
              <a:t>带头结点</a:t>
            </a:r>
            <a:r>
              <a:rPr lang="en-US" altLang="zh-CN" sz="2400" dirty="0">
                <a:ea typeface="隶书" panose="02010509060101010101" charset="-122"/>
              </a:rPr>
              <a:t>)</a:t>
            </a:r>
            <a:r>
              <a:rPr lang="zh-CN" altLang="en-US" sz="2400" dirty="0">
                <a:ea typeface="隶书" panose="02010509060101010101" charset="-122"/>
              </a:rPr>
              <a:t>的单链表中第 </a:t>
            </a:r>
            <a:r>
              <a:rPr lang="en-US" altLang="zh-CN" sz="2400" dirty="0" err="1">
                <a:ea typeface="隶书" panose="02010509060101010101" charset="-122"/>
              </a:rPr>
              <a:t>i</a:t>
            </a:r>
            <a:r>
              <a:rPr lang="en-US" altLang="zh-CN" sz="2400" dirty="0">
                <a:ea typeface="隶书" panose="02010509060101010101" charset="-122"/>
              </a:rPr>
              <a:t> </a:t>
            </a:r>
            <a:r>
              <a:rPr lang="zh-CN" altLang="en-US" sz="2400" dirty="0">
                <a:ea typeface="隶书" panose="02010509060101010101" charset="-122"/>
              </a:rPr>
              <a:t>个结点</a:t>
            </a: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r>
              <a:rPr lang="zh-CN" altLang="en-US" sz="2400" b="1" dirty="0"/>
              <a:t> </a:t>
            </a:r>
            <a:endParaRPr lang="en-US" altLang="zh-CN" sz="2400" b="1" dirty="0"/>
          </a:p>
          <a:p>
            <a:pPr eaLnBrk="1" hangingPunct="1">
              <a:lnSpc>
                <a:spcPct val="110000"/>
              </a:lnSpc>
              <a:defRPr/>
            </a:pPr>
            <a:endParaRPr lang="en-US" altLang="zh-CN" sz="2400" b="1" dirty="0"/>
          </a:p>
          <a:p>
            <a:pPr eaLnBrk="1" hangingPunct="1">
              <a:lnSpc>
                <a:spcPct val="110000"/>
              </a:lnSpc>
              <a:defRPr/>
            </a:pPr>
            <a:endParaRPr lang="en-US" altLang="zh-CN" sz="2400" b="1" dirty="0"/>
          </a:p>
          <a:p>
            <a:pPr eaLnBrk="1" hangingPunct="1">
              <a:lnSpc>
                <a:spcPct val="110000"/>
              </a:lnSpc>
              <a:defRPr/>
            </a:pPr>
            <a:r>
              <a:rPr lang="en-US" altLang="zh-CN" sz="2400" b="1" dirty="0"/>
              <a:t>}</a:t>
            </a:r>
            <a:r>
              <a:rPr lang="en-US" altLang="zh-CN" sz="2400" dirty="0"/>
              <a:t> // </a:t>
            </a:r>
            <a:r>
              <a:rPr lang="en-US" altLang="zh-CN" sz="2400" dirty="0" err="1"/>
              <a:t>ListDelete_L</a:t>
            </a:r>
            <a:endParaRPr lang="en-US" altLang="zh-CN" sz="2400" dirty="0"/>
          </a:p>
        </p:txBody>
      </p:sp>
      <p:sp>
        <p:nvSpPr>
          <p:cNvPr id="963587" name="Text Box 3"/>
          <p:cNvSpPr txBox="1">
            <a:spLocks noChangeArrowheads="1"/>
          </p:cNvSpPr>
          <p:nvPr/>
        </p:nvSpPr>
        <p:spPr bwMode="auto">
          <a:xfrm>
            <a:off x="3172771" y="5703639"/>
            <a:ext cx="30652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dirty="0">
                <a:ea typeface="隶书" panose="02010509060101010101" charset="-122"/>
              </a:rPr>
              <a:t>算法的</a:t>
            </a:r>
            <a:r>
              <a:rPr lang="zh-CN" altLang="en-US" sz="2400" b="1" dirty="0">
                <a:solidFill>
                  <a:srgbClr val="FF0000"/>
                </a:solidFill>
                <a:ea typeface="隶书" panose="02010509060101010101" charset="-122"/>
              </a:rPr>
              <a:t>时间复杂度</a:t>
            </a:r>
            <a:r>
              <a:rPr lang="zh-CN" altLang="en-US" sz="2400" dirty="0"/>
              <a:t>为</a:t>
            </a:r>
            <a:r>
              <a:rPr lang="en-US" altLang="zh-CN" sz="2400" dirty="0"/>
              <a:t>:</a:t>
            </a:r>
            <a:endParaRPr lang="en-US" altLang="zh-CN" sz="2400" dirty="0"/>
          </a:p>
        </p:txBody>
      </p:sp>
      <p:sp>
        <p:nvSpPr>
          <p:cNvPr id="963588" name="Text Box 4"/>
          <p:cNvSpPr txBox="1">
            <a:spLocks noChangeArrowheads="1"/>
          </p:cNvSpPr>
          <p:nvPr/>
        </p:nvSpPr>
        <p:spPr bwMode="auto">
          <a:xfrm>
            <a:off x="6407665" y="5703638"/>
            <a:ext cx="25410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dirty="0"/>
              <a:t>O(</a:t>
            </a:r>
            <a:r>
              <a:rPr lang="en-US" altLang="zh-CN" sz="2400" b="1" dirty="0" err="1"/>
              <a:t>ListLength</a:t>
            </a:r>
            <a:r>
              <a:rPr lang="en-US" altLang="zh-CN" sz="2400" b="1" dirty="0"/>
              <a:t>(L))</a:t>
            </a:r>
            <a:endParaRPr lang="en-US" altLang="zh-CN" sz="2400" dirty="0"/>
          </a:p>
        </p:txBody>
      </p:sp>
      <p:sp>
        <p:nvSpPr>
          <p:cNvPr id="963589" name="Rectangle 5"/>
          <p:cNvSpPr>
            <a:spLocks noChangeArrowheads="1"/>
          </p:cNvSpPr>
          <p:nvPr/>
        </p:nvSpPr>
        <p:spPr bwMode="auto">
          <a:xfrm>
            <a:off x="590334" y="1602671"/>
            <a:ext cx="8230138" cy="2114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400" dirty="0"/>
              <a:t>p = L;    j = 0;</a:t>
            </a:r>
            <a:endParaRPr lang="en-US" altLang="zh-CN" sz="2400" dirty="0"/>
          </a:p>
          <a:p>
            <a:pPr eaLnBrk="1" hangingPunct="1">
              <a:lnSpc>
                <a:spcPct val="110000"/>
              </a:lnSpc>
              <a:defRPr/>
            </a:pPr>
            <a:r>
              <a:rPr lang="en-US" altLang="zh-CN" sz="2400" b="1" dirty="0">
                <a:solidFill>
                  <a:srgbClr val="FF0000"/>
                </a:solidFill>
              </a:rPr>
              <a:t>while</a:t>
            </a:r>
            <a:r>
              <a:rPr lang="en-US" altLang="zh-CN" sz="2400" dirty="0">
                <a:solidFill>
                  <a:srgbClr val="FF0000"/>
                </a:solidFill>
              </a:rPr>
              <a:t> (p-&gt;next </a:t>
            </a:r>
            <a:r>
              <a:rPr lang="en-US" altLang="zh-CN" sz="2400" b="1" dirty="0">
                <a:solidFill>
                  <a:srgbClr val="FF0000"/>
                </a:solidFill>
              </a:rPr>
              <a:t>&amp;&amp;</a:t>
            </a:r>
            <a:r>
              <a:rPr lang="en-US" altLang="zh-CN" sz="2400" dirty="0">
                <a:solidFill>
                  <a:srgbClr val="FF0000"/>
                </a:solidFill>
              </a:rPr>
              <a:t> j &lt; i-1) </a:t>
            </a:r>
            <a:r>
              <a:rPr lang="en-US" altLang="zh-CN" sz="2400" b="1" dirty="0">
                <a:solidFill>
                  <a:srgbClr val="FF0000"/>
                </a:solidFill>
              </a:rPr>
              <a:t>{</a:t>
            </a:r>
            <a:r>
              <a:rPr lang="en-US" altLang="zh-CN" sz="2400" dirty="0">
                <a:solidFill>
                  <a:srgbClr val="FF0000"/>
                </a:solidFill>
              </a:rPr>
              <a:t>  p = p-&gt;next;   ++j; </a:t>
            </a:r>
            <a:r>
              <a:rPr lang="en-US" altLang="zh-CN" sz="2400" b="1" dirty="0">
                <a:solidFill>
                  <a:srgbClr val="FF0000"/>
                </a:solidFill>
              </a:rPr>
              <a:t>} </a:t>
            </a:r>
            <a:endParaRPr lang="en-US" altLang="zh-CN" sz="2400" b="1" dirty="0">
              <a:solidFill>
                <a:srgbClr val="FF0000"/>
              </a:solidFill>
            </a:endParaRPr>
          </a:p>
          <a:p>
            <a:pPr eaLnBrk="1" hangingPunct="1">
              <a:lnSpc>
                <a:spcPct val="110000"/>
              </a:lnSpc>
              <a:defRPr/>
            </a:pPr>
            <a:r>
              <a:rPr lang="en-US" altLang="zh-CN" sz="2400" b="1" dirty="0"/>
              <a:t>                           </a:t>
            </a:r>
            <a:r>
              <a:rPr lang="en-US" altLang="zh-CN" sz="2400" dirty="0"/>
              <a:t>// </a:t>
            </a:r>
            <a:r>
              <a:rPr lang="zh-CN" altLang="en-US" sz="2400" dirty="0"/>
              <a:t>寻找第 </a:t>
            </a:r>
            <a:r>
              <a:rPr lang="en-US" altLang="zh-CN" sz="2400" dirty="0" err="1"/>
              <a:t>i</a:t>
            </a:r>
            <a:r>
              <a:rPr lang="en-US" altLang="zh-CN" sz="2400" dirty="0"/>
              <a:t> </a:t>
            </a:r>
            <a:r>
              <a:rPr lang="zh-CN" altLang="en-US" sz="2400" dirty="0"/>
              <a:t>个结点，并令 </a:t>
            </a:r>
            <a:r>
              <a:rPr lang="en-US" altLang="zh-CN" sz="2400" dirty="0"/>
              <a:t>p </a:t>
            </a:r>
            <a:r>
              <a:rPr lang="zh-CN" altLang="en-US" sz="2400" dirty="0"/>
              <a:t>指向其前趋</a:t>
            </a:r>
            <a:endParaRPr lang="zh-CN" altLang="en-US" sz="2400" dirty="0"/>
          </a:p>
          <a:p>
            <a:pPr eaLnBrk="1" hangingPunct="1">
              <a:lnSpc>
                <a:spcPct val="110000"/>
              </a:lnSpc>
              <a:defRPr/>
            </a:pPr>
            <a:r>
              <a:rPr lang="en-US" altLang="zh-CN" sz="2400" b="1" dirty="0"/>
              <a:t>if</a:t>
            </a:r>
            <a:r>
              <a:rPr lang="en-US" altLang="zh-CN" sz="2400" dirty="0"/>
              <a:t>  (</a:t>
            </a:r>
            <a:r>
              <a:rPr lang="en-US" altLang="zh-CN" sz="2400" b="1" dirty="0"/>
              <a:t>!</a:t>
            </a:r>
            <a:r>
              <a:rPr lang="en-US" altLang="zh-CN" sz="2400" dirty="0"/>
              <a:t>(</a:t>
            </a:r>
            <a:r>
              <a:rPr lang="en-US" altLang="zh-CN" sz="2400" b="1" dirty="0">
                <a:solidFill>
                  <a:srgbClr val="FF0000"/>
                </a:solidFill>
              </a:rPr>
              <a:t>p-&gt;next</a:t>
            </a:r>
            <a:r>
              <a:rPr lang="en-US" altLang="zh-CN" sz="2400" dirty="0"/>
              <a:t>) || j &gt; i-1)</a:t>
            </a:r>
            <a:r>
              <a:rPr lang="en-US" altLang="zh-CN" sz="2400" b="1" dirty="0"/>
              <a:t> </a:t>
            </a:r>
            <a:endParaRPr lang="en-US" altLang="zh-CN" sz="2400" b="1" dirty="0"/>
          </a:p>
          <a:p>
            <a:pPr eaLnBrk="1" hangingPunct="1">
              <a:lnSpc>
                <a:spcPct val="110000"/>
              </a:lnSpc>
              <a:defRPr/>
            </a:pPr>
            <a:r>
              <a:rPr lang="en-US" altLang="zh-CN" sz="2400" b="1" dirty="0"/>
              <a:t>    return </a:t>
            </a:r>
            <a:r>
              <a:rPr lang="en-US" altLang="zh-CN" sz="2400" dirty="0"/>
              <a:t>ERROR;  // </a:t>
            </a:r>
            <a:r>
              <a:rPr lang="zh-CN" altLang="en-US" sz="2400" dirty="0"/>
              <a:t>删除位置不合理</a:t>
            </a:r>
            <a:endParaRPr lang="zh-CN" altLang="en-US" sz="2400" dirty="0"/>
          </a:p>
        </p:txBody>
      </p:sp>
      <p:sp>
        <p:nvSpPr>
          <p:cNvPr id="963590" name="Rectangle 6"/>
          <p:cNvSpPr>
            <a:spLocks noChangeArrowheads="1"/>
          </p:cNvSpPr>
          <p:nvPr/>
        </p:nvSpPr>
        <p:spPr bwMode="auto">
          <a:xfrm>
            <a:off x="575940" y="3918072"/>
            <a:ext cx="8372805"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400" b="1" dirty="0">
                <a:solidFill>
                  <a:srgbClr val="9900CC"/>
                </a:solidFill>
              </a:rPr>
              <a:t>q = p-&gt;next;   p-&gt;next = q-&gt;next;</a:t>
            </a:r>
            <a:r>
              <a:rPr lang="en-US" altLang="zh-CN" sz="2400" dirty="0"/>
              <a:t>  // </a:t>
            </a:r>
            <a:r>
              <a:rPr lang="zh-CN" altLang="en-US" sz="2400" dirty="0"/>
              <a:t>删除并释放结点</a:t>
            </a:r>
            <a:endParaRPr lang="zh-CN" altLang="en-US" sz="2400" dirty="0"/>
          </a:p>
          <a:p>
            <a:pPr eaLnBrk="1" hangingPunct="1">
              <a:lnSpc>
                <a:spcPct val="110000"/>
              </a:lnSpc>
              <a:defRPr/>
            </a:pPr>
            <a:r>
              <a:rPr lang="en-US" altLang="zh-CN" sz="2400" dirty="0"/>
              <a:t>e = q-&gt;data;   </a:t>
            </a:r>
            <a:r>
              <a:rPr lang="en-US" altLang="zh-CN" sz="2400" b="1" i="1" u="sng" dirty="0">
                <a:solidFill>
                  <a:srgbClr val="000099"/>
                </a:solidFill>
              </a:rPr>
              <a:t>free(q);</a:t>
            </a:r>
            <a:endParaRPr lang="en-US" altLang="zh-CN" sz="2400" i="1" dirty="0"/>
          </a:p>
          <a:p>
            <a:pPr eaLnBrk="1" hangingPunct="1">
              <a:lnSpc>
                <a:spcPct val="110000"/>
              </a:lnSpc>
              <a:defRPr/>
            </a:pPr>
            <a:r>
              <a:rPr lang="en-US" altLang="zh-CN" sz="2400" b="1" dirty="0"/>
              <a:t>return</a:t>
            </a:r>
            <a:r>
              <a:rPr lang="en-US" altLang="zh-CN" sz="2400" dirty="0"/>
              <a:t> OK;</a:t>
            </a:r>
            <a:endParaRPr lang="en-US" alt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963586"/>
                                        </p:tgtEl>
                                        <p:attrNameLst>
                                          <p:attrName>style.visibility</p:attrName>
                                        </p:attrNameLst>
                                      </p:cBhvr>
                                      <p:to>
                                        <p:strVal val="visible"/>
                                      </p:to>
                                    </p:set>
                                    <p:animEffect transition="in" filter="strips(downRight)">
                                      <p:cBhvr>
                                        <p:cTn id="7" dur="300"/>
                                        <p:tgtEl>
                                          <p:spTgt spid="96358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63589"/>
                                        </p:tgtEl>
                                        <p:attrNameLst>
                                          <p:attrName>style.visibility</p:attrName>
                                        </p:attrNameLst>
                                      </p:cBhvr>
                                      <p:to>
                                        <p:strVal val="visible"/>
                                      </p:to>
                                    </p:set>
                                    <p:animEffect transition="in" filter="strips(downRight)">
                                      <p:cBhvr>
                                        <p:cTn id="12" dur="500"/>
                                        <p:tgtEl>
                                          <p:spTgt spid="96358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63590"/>
                                        </p:tgtEl>
                                        <p:attrNameLst>
                                          <p:attrName>style.visibility</p:attrName>
                                        </p:attrNameLst>
                                      </p:cBhvr>
                                      <p:to>
                                        <p:strVal val="visible"/>
                                      </p:to>
                                    </p:set>
                                    <p:animEffect transition="in" filter="strips(downRight)">
                                      <p:cBhvr>
                                        <p:cTn id="17" dur="500"/>
                                        <p:tgtEl>
                                          <p:spTgt spid="96359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963587"/>
                                        </p:tgtEl>
                                        <p:attrNameLst>
                                          <p:attrName>style.visibility</p:attrName>
                                        </p:attrNameLst>
                                      </p:cBhvr>
                                      <p:to>
                                        <p:strVal val="visible"/>
                                      </p:to>
                                    </p:set>
                                    <p:anim calcmode="lin" valueType="num">
                                      <p:cBhvr additive="base">
                                        <p:cTn id="22" dur="500" fill="hold"/>
                                        <p:tgtEl>
                                          <p:spTgt spid="963587"/>
                                        </p:tgtEl>
                                        <p:attrNameLst>
                                          <p:attrName>ppt_x</p:attrName>
                                        </p:attrNameLst>
                                      </p:cBhvr>
                                      <p:tavLst>
                                        <p:tav tm="0">
                                          <p:val>
                                            <p:strVal val="#ppt_x"/>
                                          </p:val>
                                        </p:tav>
                                        <p:tav tm="100000">
                                          <p:val>
                                            <p:strVal val="#ppt_x"/>
                                          </p:val>
                                        </p:tav>
                                      </p:tavLst>
                                    </p:anim>
                                    <p:anim calcmode="lin" valueType="num">
                                      <p:cBhvr additive="base">
                                        <p:cTn id="23" dur="500" fill="hold"/>
                                        <p:tgtEl>
                                          <p:spTgt spid="96358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63588"/>
                                        </p:tgtEl>
                                        <p:attrNameLst>
                                          <p:attrName>style.visibility</p:attrName>
                                        </p:attrNameLst>
                                      </p:cBhvr>
                                      <p:to>
                                        <p:strVal val="visible"/>
                                      </p:to>
                                    </p:set>
                                    <p:animEffect transition="in" filter="wipe(left)">
                                      <p:cBhvr>
                                        <p:cTn id="28" dur="500"/>
                                        <p:tgtEl>
                                          <p:spTgt spid="963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586" grpId="0" animBg="1" autoUpdateAnimBg="0"/>
      <p:bldP spid="963587" grpId="0" autoUpdateAnimBg="0"/>
      <p:bldP spid="963588" grpId="0" autoUpdateAnimBg="0"/>
      <p:bldP spid="963589" grpId="0" autoUpdateAnimBg="0"/>
      <p:bldP spid="963590"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610" name="Rectangle 2"/>
          <p:cNvSpPr>
            <a:spLocks noChangeArrowheads="1"/>
          </p:cNvSpPr>
          <p:nvPr/>
        </p:nvSpPr>
        <p:spPr bwMode="auto">
          <a:xfrm>
            <a:off x="1155254" y="228600"/>
            <a:ext cx="71707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solidFill>
                  <a:srgbClr val="003399"/>
                </a:solidFill>
              </a:rPr>
              <a:t>ClearList(&amp;L) </a:t>
            </a:r>
            <a:r>
              <a:rPr lang="zh-CN" altLang="en-US" sz="4000">
                <a:ea typeface="楷体_GB2312" charset="0"/>
              </a:rPr>
              <a:t>在链表中的实现</a:t>
            </a:r>
            <a:r>
              <a:rPr lang="en-US" altLang="zh-CN" sz="4000"/>
              <a:t>:</a:t>
            </a:r>
            <a:endParaRPr lang="en-US" altLang="zh-CN" sz="4000"/>
          </a:p>
        </p:txBody>
      </p:sp>
      <p:sp>
        <p:nvSpPr>
          <p:cNvPr id="964611" name="Text Box 3"/>
          <p:cNvSpPr txBox="1">
            <a:spLocks noChangeArrowheads="1"/>
          </p:cNvSpPr>
          <p:nvPr/>
        </p:nvSpPr>
        <p:spPr bwMode="auto">
          <a:xfrm>
            <a:off x="396429" y="1087438"/>
            <a:ext cx="7973658" cy="4204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b="1" dirty="0"/>
              <a:t>void</a:t>
            </a:r>
            <a:r>
              <a:rPr lang="en-US" altLang="zh-CN" sz="3200" dirty="0"/>
              <a:t> </a:t>
            </a:r>
            <a:r>
              <a:rPr lang="en-US" altLang="zh-CN" sz="3200" dirty="0" err="1"/>
              <a:t>ClearList</a:t>
            </a:r>
            <a:r>
              <a:rPr lang="en-US" altLang="zh-CN" sz="3200" dirty="0"/>
              <a:t>(</a:t>
            </a:r>
            <a:r>
              <a:rPr lang="en-US" altLang="zh-CN" sz="3200" b="1" dirty="0"/>
              <a:t>&amp;</a:t>
            </a:r>
            <a:r>
              <a:rPr lang="en-US" altLang="zh-CN" sz="3200" dirty="0"/>
              <a:t>L) </a:t>
            </a:r>
            <a:r>
              <a:rPr lang="en-US" altLang="zh-CN" sz="3200" b="1" dirty="0"/>
              <a:t>{</a:t>
            </a:r>
            <a:endParaRPr lang="en-US" altLang="zh-CN" sz="3200" dirty="0"/>
          </a:p>
          <a:p>
            <a:pPr eaLnBrk="1" hangingPunct="1">
              <a:lnSpc>
                <a:spcPct val="120000"/>
              </a:lnSpc>
              <a:defRPr/>
            </a:pPr>
            <a:r>
              <a:rPr lang="en-US" altLang="zh-CN" sz="3200" dirty="0"/>
              <a:t>   // </a:t>
            </a:r>
            <a:r>
              <a:rPr lang="zh-CN" altLang="zh-CN" sz="3200" dirty="0">
                <a:ea typeface="楷体_GB2312" charset="0"/>
              </a:rPr>
              <a:t>将单链表重新置为一个空表</a:t>
            </a:r>
            <a:endParaRPr lang="zh-CN" altLang="en-US" sz="3200" dirty="0"/>
          </a:p>
          <a:p>
            <a:pPr eaLnBrk="1" hangingPunct="1">
              <a:lnSpc>
                <a:spcPct val="120000"/>
              </a:lnSpc>
              <a:defRPr/>
            </a:pPr>
            <a:r>
              <a:rPr lang="zh-CN" altLang="en-US" sz="3200" dirty="0"/>
              <a:t>    </a:t>
            </a:r>
            <a:r>
              <a:rPr lang="en-US" altLang="zh-CN" sz="3200" b="1" dirty="0">
                <a:solidFill>
                  <a:srgbClr val="FF0000"/>
                </a:solidFill>
              </a:rPr>
              <a:t>while</a:t>
            </a:r>
            <a:r>
              <a:rPr lang="en-US" altLang="zh-CN" sz="3200" dirty="0">
                <a:solidFill>
                  <a:srgbClr val="FF0000"/>
                </a:solidFill>
              </a:rPr>
              <a:t> (L-&gt;next) </a:t>
            </a:r>
            <a:r>
              <a:rPr lang="en-US" altLang="zh-CN" sz="3200" b="1" dirty="0">
                <a:solidFill>
                  <a:srgbClr val="FF0000"/>
                </a:solidFill>
              </a:rPr>
              <a:t>{</a:t>
            </a:r>
            <a:endParaRPr lang="en-US" altLang="zh-CN" sz="3200" dirty="0"/>
          </a:p>
          <a:p>
            <a:pPr eaLnBrk="1" hangingPunct="1">
              <a:lnSpc>
                <a:spcPct val="120000"/>
              </a:lnSpc>
              <a:defRPr/>
            </a:pPr>
            <a:r>
              <a:rPr lang="en-US" altLang="zh-CN" sz="3200" dirty="0"/>
              <a:t>        </a:t>
            </a:r>
            <a:r>
              <a:rPr lang="en-US" altLang="zh-CN" sz="3200" b="1" dirty="0">
                <a:solidFill>
                  <a:srgbClr val="9900CC"/>
                </a:solidFill>
              </a:rPr>
              <a:t>p=L-&gt;next;    L-&gt;next=p-&gt;next;</a:t>
            </a:r>
            <a:endParaRPr lang="en-US" altLang="zh-CN" sz="3200" dirty="0"/>
          </a:p>
          <a:p>
            <a:pPr eaLnBrk="1" hangingPunct="1">
              <a:lnSpc>
                <a:spcPct val="120000"/>
              </a:lnSpc>
              <a:defRPr/>
            </a:pPr>
            <a:r>
              <a:rPr lang="en-US" altLang="zh-CN" sz="3200" dirty="0"/>
              <a:t>        </a:t>
            </a:r>
            <a:endParaRPr lang="en-US" altLang="zh-CN" sz="3200" dirty="0"/>
          </a:p>
          <a:p>
            <a:pPr eaLnBrk="1" hangingPunct="1">
              <a:lnSpc>
                <a:spcPct val="120000"/>
              </a:lnSpc>
              <a:defRPr/>
            </a:pPr>
            <a:r>
              <a:rPr lang="en-US" altLang="zh-CN" sz="3200" dirty="0"/>
              <a:t>    </a:t>
            </a:r>
            <a:r>
              <a:rPr lang="en-US" altLang="zh-CN" sz="3200" b="1" dirty="0">
                <a:solidFill>
                  <a:srgbClr val="FF0000"/>
                </a:solidFill>
              </a:rPr>
              <a:t>}</a:t>
            </a:r>
            <a:endParaRPr lang="en-US" altLang="zh-CN" sz="3200" b="1" dirty="0"/>
          </a:p>
          <a:p>
            <a:pPr eaLnBrk="1" hangingPunct="1">
              <a:lnSpc>
                <a:spcPct val="120000"/>
              </a:lnSpc>
              <a:defRPr/>
            </a:pPr>
            <a:r>
              <a:rPr lang="en-US" altLang="zh-CN" sz="3200" b="1" dirty="0"/>
              <a:t>}</a:t>
            </a:r>
            <a:r>
              <a:rPr lang="en-US" altLang="zh-CN" sz="3200" dirty="0"/>
              <a:t> // </a:t>
            </a:r>
            <a:r>
              <a:rPr lang="en-US" altLang="zh-CN" sz="3200" dirty="0" err="1"/>
              <a:t>ClearList</a:t>
            </a:r>
            <a:endParaRPr lang="en-US" altLang="zh-CN" sz="3200" dirty="0"/>
          </a:p>
        </p:txBody>
      </p:sp>
      <p:sp>
        <p:nvSpPr>
          <p:cNvPr id="964612" name="Text Box 4"/>
          <p:cNvSpPr txBox="1">
            <a:spLocks noChangeArrowheads="1"/>
          </p:cNvSpPr>
          <p:nvPr/>
        </p:nvSpPr>
        <p:spPr bwMode="auto">
          <a:xfrm>
            <a:off x="1377504" y="3625850"/>
            <a:ext cx="1606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i="1" u="sng">
                <a:solidFill>
                  <a:srgbClr val="000099"/>
                </a:solidFill>
              </a:rPr>
              <a:t>free(p);</a:t>
            </a:r>
            <a:endParaRPr lang="en-US" altLang="zh-CN" sz="3600" b="1" i="1" u="sng">
              <a:solidFill>
                <a:srgbClr val="000099"/>
              </a:solidFill>
            </a:endParaRPr>
          </a:p>
        </p:txBody>
      </p:sp>
      <p:sp>
        <p:nvSpPr>
          <p:cNvPr id="964613" name="Text Box 5"/>
          <p:cNvSpPr txBox="1">
            <a:spLocks noChangeArrowheads="1"/>
          </p:cNvSpPr>
          <p:nvPr/>
        </p:nvSpPr>
        <p:spPr bwMode="auto">
          <a:xfrm>
            <a:off x="107504" y="5638800"/>
            <a:ext cx="424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dirty="0">
                <a:ea typeface="隶书" panose="02010509060101010101" charset="-122"/>
              </a:rPr>
              <a:t>算法</a:t>
            </a:r>
            <a:r>
              <a:rPr lang="zh-CN" altLang="en-US" sz="4000" dirty="0">
                <a:solidFill>
                  <a:srgbClr val="FF0000"/>
                </a:solidFill>
                <a:ea typeface="隶书" panose="02010509060101010101" charset="-122"/>
              </a:rPr>
              <a:t>时间复杂度</a:t>
            </a:r>
            <a:r>
              <a:rPr lang="zh-CN" altLang="en-US" sz="4000" dirty="0">
                <a:ea typeface="隶书" panose="02010509060101010101" charset="-122"/>
              </a:rPr>
              <a:t>：</a:t>
            </a:r>
            <a:endParaRPr lang="zh-CN" altLang="en-US" sz="2400" dirty="0"/>
          </a:p>
        </p:txBody>
      </p:sp>
      <p:sp>
        <p:nvSpPr>
          <p:cNvPr id="964614" name="Text Box 6"/>
          <p:cNvSpPr txBox="1">
            <a:spLocks noChangeArrowheads="1"/>
          </p:cNvSpPr>
          <p:nvPr/>
        </p:nvSpPr>
        <p:spPr bwMode="auto">
          <a:xfrm>
            <a:off x="4247704" y="5638800"/>
            <a:ext cx="3613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t>O(ListLength(L))</a:t>
            </a:r>
            <a:endParaRPr lang="en-US" altLang="zh-CN"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964611"/>
                                        </p:tgtEl>
                                        <p:attrNameLst>
                                          <p:attrName>style.visibility</p:attrName>
                                        </p:attrNameLst>
                                      </p:cBhvr>
                                      <p:to>
                                        <p:strVal val="visible"/>
                                      </p:to>
                                    </p:set>
                                    <p:animEffect transition="in" filter="strips(upRight)">
                                      <p:cBhvr>
                                        <p:cTn id="7" dur="500"/>
                                        <p:tgtEl>
                                          <p:spTgt spid="96461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964612"/>
                                        </p:tgtEl>
                                        <p:attrNameLst>
                                          <p:attrName>style.visibility</p:attrName>
                                        </p:attrNameLst>
                                      </p:cBhvr>
                                      <p:to>
                                        <p:strVal val="visible"/>
                                      </p:to>
                                    </p:set>
                                    <p:animEffect transition="in" filter="slide(fromLeft)">
                                      <p:cBhvr>
                                        <p:cTn id="12" dur="500"/>
                                        <p:tgtEl>
                                          <p:spTgt spid="96461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964613"/>
                                        </p:tgtEl>
                                        <p:attrNameLst>
                                          <p:attrName>style.visibility</p:attrName>
                                        </p:attrNameLst>
                                      </p:cBhvr>
                                      <p:to>
                                        <p:strVal val="visible"/>
                                      </p:to>
                                    </p:set>
                                    <p:anim calcmode="lin" valueType="num">
                                      <p:cBhvr additive="base">
                                        <p:cTn id="17" dur="500" fill="hold"/>
                                        <p:tgtEl>
                                          <p:spTgt spid="964613"/>
                                        </p:tgtEl>
                                        <p:attrNameLst>
                                          <p:attrName>ppt_x</p:attrName>
                                        </p:attrNameLst>
                                      </p:cBhvr>
                                      <p:tavLst>
                                        <p:tav tm="0">
                                          <p:val>
                                            <p:strVal val="0-#ppt_w/2"/>
                                          </p:val>
                                        </p:tav>
                                        <p:tav tm="100000">
                                          <p:val>
                                            <p:strVal val="#ppt_x"/>
                                          </p:val>
                                        </p:tav>
                                      </p:tavLst>
                                    </p:anim>
                                    <p:anim calcmode="lin" valueType="num">
                                      <p:cBhvr additive="base">
                                        <p:cTn id="18" dur="500" fill="hold"/>
                                        <p:tgtEl>
                                          <p:spTgt spid="96461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64614"/>
                                        </p:tgtEl>
                                        <p:attrNameLst>
                                          <p:attrName>style.visibility</p:attrName>
                                        </p:attrNameLst>
                                      </p:cBhvr>
                                      <p:to>
                                        <p:strVal val="visible"/>
                                      </p:to>
                                    </p:set>
                                    <p:animEffect transition="in" filter="wipe(left)">
                                      <p:cBhvr>
                                        <p:cTn id="23" dur="500"/>
                                        <p:tgtEl>
                                          <p:spTgt spid="964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4611" grpId="0" autoUpdateAnimBg="0"/>
      <p:bldP spid="964612" grpId="0" autoUpdateAnimBg="0"/>
      <p:bldP spid="964613" grpId="0" autoUpdateAnimBg="0"/>
      <p:bldP spid="964614"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4" name="Text Box 2"/>
          <p:cNvSpPr txBox="1">
            <a:spLocks noChangeArrowheads="1"/>
          </p:cNvSpPr>
          <p:nvPr/>
        </p:nvSpPr>
        <p:spPr bwMode="auto">
          <a:xfrm>
            <a:off x="1054100" y="1228725"/>
            <a:ext cx="69469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b="1">
                <a:ea typeface="楷体_GB2312" charset="0"/>
              </a:rPr>
              <a:t>如何从线性表得到单链表？</a:t>
            </a:r>
            <a:endParaRPr lang="zh-CN" altLang="en-US" sz="4400"/>
          </a:p>
        </p:txBody>
      </p:sp>
      <p:sp>
        <p:nvSpPr>
          <p:cNvPr id="965635" name="Text Box 3"/>
          <p:cNvSpPr txBox="1">
            <a:spLocks noChangeArrowheads="1"/>
          </p:cNvSpPr>
          <p:nvPr/>
        </p:nvSpPr>
        <p:spPr bwMode="auto">
          <a:xfrm>
            <a:off x="593725" y="2590800"/>
            <a:ext cx="8169275" cy="2468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30000"/>
              </a:lnSpc>
              <a:defRPr/>
            </a:pPr>
            <a:r>
              <a:rPr lang="zh-CN" altLang="en-US" sz="4000" b="1">
                <a:latin typeface="楷体_GB2312" charset="0"/>
                <a:ea typeface="楷体_GB2312" charset="0"/>
              </a:rPr>
              <a:t>链表是一个动态的结构，它不需要予分配空间，因此</a:t>
            </a:r>
            <a:r>
              <a:rPr lang="zh-CN" altLang="en-US" sz="4000" b="1">
                <a:solidFill>
                  <a:srgbClr val="6600CC"/>
                </a:solidFill>
                <a:latin typeface="楷体_GB2312" charset="0"/>
                <a:ea typeface="楷体_GB2312" charset="0"/>
              </a:rPr>
              <a:t>生成链表的过程</a:t>
            </a:r>
            <a:r>
              <a:rPr lang="zh-CN" altLang="en-US" sz="4000" b="1">
                <a:latin typeface="楷体_GB2312" charset="0"/>
                <a:ea typeface="楷体_GB2312" charset="0"/>
              </a:rPr>
              <a:t>是一个结点</a:t>
            </a:r>
            <a:r>
              <a:rPr lang="zh-CN" altLang="en-US" sz="4000" b="1">
                <a:ea typeface="楷体_GB2312" charset="0"/>
              </a:rPr>
              <a:t>“</a:t>
            </a:r>
            <a:r>
              <a:rPr lang="zh-CN" altLang="en-US" sz="4000" b="1">
                <a:solidFill>
                  <a:srgbClr val="6600CC"/>
                </a:solidFill>
                <a:latin typeface="楷体_GB2312" charset="0"/>
                <a:ea typeface="楷体_GB2312" charset="0"/>
              </a:rPr>
              <a:t>逐个插入</a:t>
            </a:r>
            <a:r>
              <a:rPr lang="zh-CN" altLang="en-US" sz="4000" b="1">
                <a:ea typeface="楷体_GB2312" charset="0"/>
              </a:rPr>
              <a:t>”</a:t>
            </a:r>
            <a:r>
              <a:rPr lang="zh-CN" altLang="en-US" sz="4000" b="1">
                <a:latin typeface="楷体_GB2312" charset="0"/>
                <a:ea typeface="楷体_GB2312" charset="0"/>
              </a:rPr>
              <a:t> 的过程。</a:t>
            </a:r>
            <a:endParaRPr lang="zh-CN" altLang="en-US"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65635"/>
                                        </p:tgtEl>
                                        <p:attrNameLst>
                                          <p:attrName>style.visibility</p:attrName>
                                        </p:attrNameLst>
                                      </p:cBhvr>
                                      <p:to>
                                        <p:strVal val="visible"/>
                                      </p:to>
                                    </p:set>
                                    <p:animEffect transition="in" filter="slide(fromBottom)">
                                      <p:cBhvr>
                                        <p:cTn id="7" dur="500"/>
                                        <p:tgtEl>
                                          <p:spTgt spid="965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5635"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8" name="Text Box 2"/>
          <p:cNvSpPr txBox="1">
            <a:spLocks noChangeArrowheads="1"/>
          </p:cNvSpPr>
          <p:nvPr/>
        </p:nvSpPr>
        <p:spPr bwMode="auto">
          <a:xfrm>
            <a:off x="1295400" y="190500"/>
            <a:ext cx="81534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b="1">
                <a:latin typeface="楷体_GB2312" charset="0"/>
                <a:ea typeface="楷体_GB2312" charset="0"/>
              </a:rPr>
              <a:t>例如：逆位序输入 </a:t>
            </a:r>
            <a:r>
              <a:rPr lang="en-US" altLang="zh-CN" sz="3200" b="1">
                <a:latin typeface="楷体_GB2312" charset="0"/>
                <a:ea typeface="楷体_GB2312" charset="0"/>
              </a:rPr>
              <a:t>n </a:t>
            </a:r>
            <a:r>
              <a:rPr lang="zh-CN" altLang="en-US" sz="3200" b="1">
                <a:latin typeface="楷体_GB2312" charset="0"/>
                <a:ea typeface="楷体_GB2312" charset="0"/>
              </a:rPr>
              <a:t>个数据元素的值，</a:t>
            </a:r>
            <a:endParaRPr lang="zh-CN" altLang="en-US" sz="3200" b="1">
              <a:latin typeface="楷体_GB2312" charset="0"/>
              <a:ea typeface="楷体_GB2312" charset="0"/>
            </a:endParaRPr>
          </a:p>
          <a:p>
            <a:pPr eaLnBrk="1" hangingPunct="1">
              <a:lnSpc>
                <a:spcPct val="120000"/>
              </a:lnSpc>
              <a:defRPr/>
            </a:pPr>
            <a:r>
              <a:rPr lang="zh-CN" altLang="en-US" sz="3200" b="1">
                <a:latin typeface="楷体_GB2312" charset="0"/>
                <a:ea typeface="楷体_GB2312" charset="0"/>
              </a:rPr>
              <a:t>     建立带头结点的单链表。</a:t>
            </a:r>
            <a:endParaRPr lang="zh-CN" altLang="en-US" sz="3200" b="1">
              <a:latin typeface="楷体_GB2312" charset="0"/>
              <a:ea typeface="楷体_GB2312" charset="0"/>
            </a:endParaRPr>
          </a:p>
        </p:txBody>
      </p:sp>
      <p:sp>
        <p:nvSpPr>
          <p:cNvPr id="966659" name="Text Box 3"/>
          <p:cNvSpPr txBox="1">
            <a:spLocks noChangeArrowheads="1"/>
          </p:cNvSpPr>
          <p:nvPr/>
        </p:nvSpPr>
        <p:spPr bwMode="auto">
          <a:xfrm>
            <a:off x="517525" y="1639888"/>
            <a:ext cx="2747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00CC"/>
                </a:solidFill>
                <a:ea typeface="隶书" panose="02010509060101010101" charset="-122"/>
              </a:rPr>
              <a:t>操作步骤：</a:t>
            </a:r>
            <a:endParaRPr lang="zh-CN" altLang="en-US" sz="2400"/>
          </a:p>
        </p:txBody>
      </p:sp>
      <p:sp>
        <p:nvSpPr>
          <p:cNvPr id="966660" name="Text Box 4"/>
          <p:cNvSpPr txBox="1">
            <a:spLocks noChangeArrowheads="1"/>
          </p:cNvSpPr>
          <p:nvPr/>
        </p:nvSpPr>
        <p:spPr bwMode="auto">
          <a:xfrm>
            <a:off x="365125" y="2378075"/>
            <a:ext cx="5248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3300"/>
                </a:solidFill>
                <a:ea typeface="楷体_GB2312" charset="0"/>
              </a:rPr>
              <a:t>一、建立一个“空表”；</a:t>
            </a:r>
            <a:endParaRPr lang="zh-CN" altLang="en-US" sz="2400"/>
          </a:p>
        </p:txBody>
      </p:sp>
      <p:sp>
        <p:nvSpPr>
          <p:cNvPr id="966661" name="Text Box 5"/>
          <p:cNvSpPr txBox="1">
            <a:spLocks noChangeArrowheads="1"/>
          </p:cNvSpPr>
          <p:nvPr/>
        </p:nvSpPr>
        <p:spPr bwMode="auto">
          <a:xfrm>
            <a:off x="377825" y="3152775"/>
            <a:ext cx="54133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b="1">
                <a:solidFill>
                  <a:srgbClr val="663300"/>
                </a:solidFill>
                <a:latin typeface="楷体_GB2312" charset="0"/>
                <a:ea typeface="楷体_GB2312" charset="0"/>
              </a:rPr>
              <a:t>二、输入数据元素</a:t>
            </a:r>
            <a:r>
              <a:rPr lang="en-US" altLang="zh-CN" sz="3600" b="1">
                <a:solidFill>
                  <a:srgbClr val="663300"/>
                </a:solidFill>
                <a:ea typeface="楷体_GB2312" charset="0"/>
              </a:rPr>
              <a:t>a</a:t>
            </a:r>
            <a:r>
              <a:rPr lang="en-US" altLang="zh-CN" sz="3600" b="1" baseline="-25000">
                <a:solidFill>
                  <a:srgbClr val="663300"/>
                </a:solidFill>
                <a:ea typeface="楷体_GB2312" charset="0"/>
              </a:rPr>
              <a:t>n</a:t>
            </a:r>
            <a:r>
              <a:rPr lang="zh-CN" altLang="en-US" sz="3600" b="1">
                <a:solidFill>
                  <a:srgbClr val="663300"/>
                </a:solidFill>
                <a:ea typeface="楷体_GB2312" charset="0"/>
              </a:rPr>
              <a:t>，</a:t>
            </a:r>
            <a:endParaRPr lang="zh-CN" altLang="en-US" sz="3600" b="1">
              <a:solidFill>
                <a:srgbClr val="663300"/>
              </a:solidFill>
              <a:ea typeface="楷体_GB2312" charset="0"/>
            </a:endParaRPr>
          </a:p>
          <a:p>
            <a:pPr eaLnBrk="1" hangingPunct="1">
              <a:defRPr/>
            </a:pPr>
            <a:r>
              <a:rPr lang="zh-CN" altLang="en-US" sz="3600" b="1">
                <a:solidFill>
                  <a:srgbClr val="663300"/>
                </a:solidFill>
                <a:ea typeface="楷体_GB2312" charset="0"/>
              </a:rPr>
              <a:t>      建立结点并插入；</a:t>
            </a:r>
            <a:endParaRPr lang="zh-CN" altLang="en-US" sz="3600"/>
          </a:p>
        </p:txBody>
      </p:sp>
      <p:sp>
        <p:nvSpPr>
          <p:cNvPr id="966662" name="Text Box 6"/>
          <p:cNvSpPr txBox="1">
            <a:spLocks noChangeArrowheads="1"/>
          </p:cNvSpPr>
          <p:nvPr/>
        </p:nvSpPr>
        <p:spPr bwMode="auto">
          <a:xfrm>
            <a:off x="381000" y="4448175"/>
            <a:ext cx="54133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b="1">
                <a:solidFill>
                  <a:srgbClr val="663300"/>
                </a:solidFill>
                <a:latin typeface="楷体_GB2312" charset="0"/>
                <a:ea typeface="楷体_GB2312" charset="0"/>
              </a:rPr>
              <a:t>三、输入数据元素</a:t>
            </a:r>
            <a:r>
              <a:rPr lang="en-US" altLang="zh-CN" sz="3600" b="1">
                <a:solidFill>
                  <a:srgbClr val="663300"/>
                </a:solidFill>
                <a:ea typeface="楷体_GB2312" charset="0"/>
              </a:rPr>
              <a:t>a</a:t>
            </a:r>
            <a:r>
              <a:rPr lang="en-US" altLang="zh-CN" sz="3600" b="1" baseline="-25000">
                <a:solidFill>
                  <a:srgbClr val="663300"/>
                </a:solidFill>
                <a:ea typeface="楷体_GB2312" charset="0"/>
              </a:rPr>
              <a:t>n-1</a:t>
            </a:r>
            <a:r>
              <a:rPr lang="zh-CN" altLang="en-US" sz="3600" b="1">
                <a:solidFill>
                  <a:srgbClr val="663300"/>
                </a:solidFill>
                <a:ea typeface="楷体_GB2312" charset="0"/>
              </a:rPr>
              <a:t>，</a:t>
            </a:r>
            <a:endParaRPr lang="zh-CN" altLang="en-US" sz="3600" b="1">
              <a:solidFill>
                <a:srgbClr val="663300"/>
              </a:solidFill>
              <a:ea typeface="楷体_GB2312" charset="0"/>
            </a:endParaRPr>
          </a:p>
          <a:p>
            <a:pPr eaLnBrk="1" hangingPunct="1">
              <a:defRPr/>
            </a:pPr>
            <a:r>
              <a:rPr lang="zh-CN" altLang="en-US" sz="3600" b="1">
                <a:solidFill>
                  <a:srgbClr val="663300"/>
                </a:solidFill>
                <a:ea typeface="楷体_GB2312" charset="0"/>
              </a:rPr>
              <a:t>      建立结点并插入；</a:t>
            </a:r>
            <a:endParaRPr lang="zh-CN" altLang="en-US" sz="3600"/>
          </a:p>
        </p:txBody>
      </p:sp>
      <p:sp>
        <p:nvSpPr>
          <p:cNvPr id="966663" name="Rectangle 7"/>
          <p:cNvSpPr>
            <a:spLocks noChangeArrowheads="1"/>
          </p:cNvSpPr>
          <p:nvPr/>
        </p:nvSpPr>
        <p:spPr bwMode="auto">
          <a:xfrm>
            <a:off x="6400800" y="2514600"/>
            <a:ext cx="762000" cy="381000"/>
          </a:xfrm>
          <a:prstGeom prst="rect">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64" name="Line 8"/>
          <p:cNvSpPr>
            <a:spLocks noChangeShapeType="1"/>
          </p:cNvSpPr>
          <p:nvPr/>
        </p:nvSpPr>
        <p:spPr bwMode="auto">
          <a:xfrm>
            <a:off x="6858000" y="25146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65" name="Line 9"/>
          <p:cNvSpPr>
            <a:spLocks noChangeShapeType="1"/>
          </p:cNvSpPr>
          <p:nvPr/>
        </p:nvSpPr>
        <p:spPr bwMode="auto">
          <a:xfrm>
            <a:off x="6172200" y="2667000"/>
            <a:ext cx="228600" cy="0"/>
          </a:xfrm>
          <a:prstGeom prst="line">
            <a:avLst/>
          </a:prstGeom>
          <a:noFill/>
          <a:ln w="9525">
            <a:solidFill>
              <a:srgbClr val="FB415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66" name="Line 10"/>
          <p:cNvSpPr>
            <a:spLocks noChangeShapeType="1"/>
          </p:cNvSpPr>
          <p:nvPr/>
        </p:nvSpPr>
        <p:spPr bwMode="auto">
          <a:xfrm>
            <a:off x="6172200" y="2286000"/>
            <a:ext cx="0" cy="381000"/>
          </a:xfrm>
          <a:prstGeom prst="line">
            <a:avLst/>
          </a:prstGeom>
          <a:noFill/>
          <a:ln w="9525">
            <a:solidFill>
              <a:srgbClr val="FB415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67" name="Line 11"/>
          <p:cNvSpPr>
            <a:spLocks noChangeShapeType="1"/>
          </p:cNvSpPr>
          <p:nvPr/>
        </p:nvSpPr>
        <p:spPr bwMode="auto">
          <a:xfrm flipH="1">
            <a:off x="6934200" y="25908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68" name="Line 12"/>
          <p:cNvSpPr>
            <a:spLocks noChangeShapeType="1"/>
          </p:cNvSpPr>
          <p:nvPr/>
        </p:nvSpPr>
        <p:spPr bwMode="auto">
          <a:xfrm>
            <a:off x="7010400" y="25908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69" name="Rectangle 13"/>
          <p:cNvSpPr>
            <a:spLocks noChangeArrowheads="1"/>
          </p:cNvSpPr>
          <p:nvPr/>
        </p:nvSpPr>
        <p:spPr bwMode="auto">
          <a:xfrm>
            <a:off x="6324600" y="3581400"/>
            <a:ext cx="762000" cy="381000"/>
          </a:xfrm>
          <a:prstGeom prst="rect">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0" name="Line 14"/>
          <p:cNvSpPr>
            <a:spLocks noChangeShapeType="1"/>
          </p:cNvSpPr>
          <p:nvPr/>
        </p:nvSpPr>
        <p:spPr bwMode="auto">
          <a:xfrm>
            <a:off x="6781800" y="35814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1" name="Line 15"/>
          <p:cNvSpPr>
            <a:spLocks noChangeShapeType="1"/>
          </p:cNvSpPr>
          <p:nvPr/>
        </p:nvSpPr>
        <p:spPr bwMode="auto">
          <a:xfrm>
            <a:off x="6096000" y="3733800"/>
            <a:ext cx="228600" cy="0"/>
          </a:xfrm>
          <a:prstGeom prst="line">
            <a:avLst/>
          </a:prstGeom>
          <a:noFill/>
          <a:ln w="9525">
            <a:solidFill>
              <a:srgbClr val="FB415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2" name="Line 16"/>
          <p:cNvSpPr>
            <a:spLocks noChangeShapeType="1"/>
          </p:cNvSpPr>
          <p:nvPr/>
        </p:nvSpPr>
        <p:spPr bwMode="auto">
          <a:xfrm>
            <a:off x="6096000" y="3352800"/>
            <a:ext cx="0" cy="381000"/>
          </a:xfrm>
          <a:prstGeom prst="line">
            <a:avLst/>
          </a:prstGeom>
          <a:noFill/>
          <a:ln w="9525">
            <a:solidFill>
              <a:srgbClr val="FB415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3" name="Line 17"/>
          <p:cNvSpPr>
            <a:spLocks noChangeShapeType="1"/>
          </p:cNvSpPr>
          <p:nvPr/>
        </p:nvSpPr>
        <p:spPr bwMode="auto">
          <a:xfrm flipH="1">
            <a:off x="8001000" y="36576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4" name="Line 18"/>
          <p:cNvSpPr>
            <a:spLocks noChangeShapeType="1"/>
          </p:cNvSpPr>
          <p:nvPr/>
        </p:nvSpPr>
        <p:spPr bwMode="auto">
          <a:xfrm>
            <a:off x="8077200" y="36576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5" name="Rectangle 19"/>
          <p:cNvSpPr>
            <a:spLocks noChangeArrowheads="1"/>
          </p:cNvSpPr>
          <p:nvPr/>
        </p:nvSpPr>
        <p:spPr bwMode="auto">
          <a:xfrm>
            <a:off x="7467600" y="3581400"/>
            <a:ext cx="7620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6" name="Line 20"/>
          <p:cNvSpPr>
            <a:spLocks noChangeShapeType="1"/>
          </p:cNvSpPr>
          <p:nvPr/>
        </p:nvSpPr>
        <p:spPr bwMode="auto">
          <a:xfrm>
            <a:off x="7924800" y="35814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7" name="Line 21"/>
          <p:cNvSpPr>
            <a:spLocks noChangeShapeType="1"/>
          </p:cNvSpPr>
          <p:nvPr/>
        </p:nvSpPr>
        <p:spPr bwMode="auto">
          <a:xfrm>
            <a:off x="6934200" y="3810000"/>
            <a:ext cx="533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8" name="Text Box 22"/>
          <p:cNvSpPr txBox="1">
            <a:spLocks noChangeArrowheads="1"/>
          </p:cNvSpPr>
          <p:nvPr/>
        </p:nvSpPr>
        <p:spPr bwMode="auto">
          <a:xfrm>
            <a:off x="7483475" y="3459163"/>
            <a:ext cx="4794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a:t>a</a:t>
            </a:r>
            <a:r>
              <a:rPr lang="en-US" altLang="zh-CN" sz="1800"/>
              <a:t>n</a:t>
            </a:r>
            <a:endParaRPr lang="en-US" altLang="zh-CN" sz="2400"/>
          </a:p>
        </p:txBody>
      </p:sp>
      <p:sp>
        <p:nvSpPr>
          <p:cNvPr id="966679" name="Rectangle 23"/>
          <p:cNvSpPr>
            <a:spLocks noChangeArrowheads="1"/>
          </p:cNvSpPr>
          <p:nvPr/>
        </p:nvSpPr>
        <p:spPr bwMode="auto">
          <a:xfrm>
            <a:off x="6324600" y="4572000"/>
            <a:ext cx="762000" cy="381000"/>
          </a:xfrm>
          <a:prstGeom prst="rect">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0" name="Line 24"/>
          <p:cNvSpPr>
            <a:spLocks noChangeShapeType="1"/>
          </p:cNvSpPr>
          <p:nvPr/>
        </p:nvSpPr>
        <p:spPr bwMode="auto">
          <a:xfrm>
            <a:off x="6781800" y="45720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1" name="Line 25"/>
          <p:cNvSpPr>
            <a:spLocks noChangeShapeType="1"/>
          </p:cNvSpPr>
          <p:nvPr/>
        </p:nvSpPr>
        <p:spPr bwMode="auto">
          <a:xfrm>
            <a:off x="6096000" y="4724400"/>
            <a:ext cx="228600" cy="0"/>
          </a:xfrm>
          <a:prstGeom prst="line">
            <a:avLst/>
          </a:prstGeom>
          <a:noFill/>
          <a:ln w="9525">
            <a:solidFill>
              <a:srgbClr val="FB415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2" name="Line 26"/>
          <p:cNvSpPr>
            <a:spLocks noChangeShapeType="1"/>
          </p:cNvSpPr>
          <p:nvPr/>
        </p:nvSpPr>
        <p:spPr bwMode="auto">
          <a:xfrm>
            <a:off x="6096000" y="4343400"/>
            <a:ext cx="0" cy="381000"/>
          </a:xfrm>
          <a:prstGeom prst="line">
            <a:avLst/>
          </a:prstGeom>
          <a:noFill/>
          <a:ln w="9525">
            <a:solidFill>
              <a:srgbClr val="FB415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3" name="Line 27"/>
          <p:cNvSpPr>
            <a:spLocks noChangeShapeType="1"/>
          </p:cNvSpPr>
          <p:nvPr/>
        </p:nvSpPr>
        <p:spPr bwMode="auto">
          <a:xfrm flipH="1">
            <a:off x="8001000" y="46482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4" name="Line 28"/>
          <p:cNvSpPr>
            <a:spLocks noChangeShapeType="1"/>
          </p:cNvSpPr>
          <p:nvPr/>
        </p:nvSpPr>
        <p:spPr bwMode="auto">
          <a:xfrm>
            <a:off x="8077200" y="46482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5" name="Rectangle 29"/>
          <p:cNvSpPr>
            <a:spLocks noChangeArrowheads="1"/>
          </p:cNvSpPr>
          <p:nvPr/>
        </p:nvSpPr>
        <p:spPr bwMode="auto">
          <a:xfrm>
            <a:off x="7467600" y="4572000"/>
            <a:ext cx="7620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6" name="Line 30"/>
          <p:cNvSpPr>
            <a:spLocks noChangeShapeType="1"/>
          </p:cNvSpPr>
          <p:nvPr/>
        </p:nvSpPr>
        <p:spPr bwMode="auto">
          <a:xfrm>
            <a:off x="7924800" y="45720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7" name="Line 31"/>
          <p:cNvSpPr>
            <a:spLocks noChangeShapeType="1"/>
          </p:cNvSpPr>
          <p:nvPr/>
        </p:nvSpPr>
        <p:spPr bwMode="auto">
          <a:xfrm>
            <a:off x="6934200" y="4800600"/>
            <a:ext cx="533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8" name="Text Box 32"/>
          <p:cNvSpPr txBox="1">
            <a:spLocks noChangeArrowheads="1"/>
          </p:cNvSpPr>
          <p:nvPr/>
        </p:nvSpPr>
        <p:spPr bwMode="auto">
          <a:xfrm>
            <a:off x="7483475" y="4449763"/>
            <a:ext cx="4794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a:t>a</a:t>
            </a:r>
            <a:r>
              <a:rPr lang="en-US" altLang="zh-CN" sz="1800"/>
              <a:t>n</a:t>
            </a:r>
            <a:endParaRPr lang="en-US" altLang="zh-CN" sz="2400"/>
          </a:p>
        </p:txBody>
      </p:sp>
      <p:sp>
        <p:nvSpPr>
          <p:cNvPr id="966689" name="Rectangle 33"/>
          <p:cNvSpPr>
            <a:spLocks noChangeArrowheads="1"/>
          </p:cNvSpPr>
          <p:nvPr/>
        </p:nvSpPr>
        <p:spPr bwMode="auto">
          <a:xfrm>
            <a:off x="7010400" y="5181600"/>
            <a:ext cx="7620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90" name="Text Box 34"/>
          <p:cNvSpPr txBox="1">
            <a:spLocks noChangeArrowheads="1"/>
          </p:cNvSpPr>
          <p:nvPr/>
        </p:nvSpPr>
        <p:spPr bwMode="auto">
          <a:xfrm>
            <a:off x="6934200" y="5059363"/>
            <a:ext cx="6699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a:t>a</a:t>
            </a:r>
            <a:r>
              <a:rPr lang="en-US" altLang="zh-CN" sz="1800"/>
              <a:t>n-1</a:t>
            </a:r>
            <a:endParaRPr lang="en-US" altLang="zh-CN" sz="2400"/>
          </a:p>
        </p:txBody>
      </p:sp>
      <p:sp>
        <p:nvSpPr>
          <p:cNvPr id="966691" name="Line 35"/>
          <p:cNvSpPr>
            <a:spLocks noChangeShapeType="1"/>
          </p:cNvSpPr>
          <p:nvPr/>
        </p:nvSpPr>
        <p:spPr bwMode="auto">
          <a:xfrm>
            <a:off x="7543800" y="51816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92" name="Line 36"/>
          <p:cNvSpPr>
            <a:spLocks noChangeShapeType="1"/>
          </p:cNvSpPr>
          <p:nvPr/>
        </p:nvSpPr>
        <p:spPr bwMode="auto">
          <a:xfrm>
            <a:off x="7696200" y="5410200"/>
            <a:ext cx="304800" cy="0"/>
          </a:xfrm>
          <a:prstGeom prst="line">
            <a:avLst/>
          </a:prstGeom>
          <a:noFill/>
          <a:ln w="9525">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93" name="Line 37"/>
          <p:cNvSpPr>
            <a:spLocks noChangeShapeType="1"/>
          </p:cNvSpPr>
          <p:nvPr/>
        </p:nvSpPr>
        <p:spPr bwMode="auto">
          <a:xfrm flipH="1" flipV="1">
            <a:off x="7772400" y="4953000"/>
            <a:ext cx="228600" cy="457200"/>
          </a:xfrm>
          <a:prstGeom prst="line">
            <a:avLst/>
          </a:prstGeom>
          <a:noFill/>
          <a:ln w="9525">
            <a:solidFill>
              <a:srgbClr val="99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94" name="Line 38"/>
          <p:cNvSpPr>
            <a:spLocks noChangeShapeType="1"/>
          </p:cNvSpPr>
          <p:nvPr/>
        </p:nvSpPr>
        <p:spPr bwMode="auto">
          <a:xfrm flipH="1">
            <a:off x="6477000" y="4800600"/>
            <a:ext cx="457200" cy="609600"/>
          </a:xfrm>
          <a:prstGeom prst="line">
            <a:avLst/>
          </a:prstGeom>
          <a:noFill/>
          <a:ln w="9525">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95" name="Line 39"/>
          <p:cNvSpPr>
            <a:spLocks noChangeShapeType="1"/>
          </p:cNvSpPr>
          <p:nvPr/>
        </p:nvSpPr>
        <p:spPr bwMode="auto">
          <a:xfrm>
            <a:off x="6477000" y="5410200"/>
            <a:ext cx="533400" cy="0"/>
          </a:xfrm>
          <a:prstGeom prst="line">
            <a:avLst/>
          </a:prstGeom>
          <a:noFill/>
          <a:ln w="9525">
            <a:solidFill>
              <a:srgbClr val="99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96" name="Text Box 40"/>
          <p:cNvSpPr txBox="1">
            <a:spLocks noChangeArrowheads="1"/>
          </p:cNvSpPr>
          <p:nvPr/>
        </p:nvSpPr>
        <p:spPr bwMode="auto">
          <a:xfrm>
            <a:off x="365125" y="5797550"/>
            <a:ext cx="7010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3300"/>
                </a:solidFill>
                <a:latin typeface="楷体_GB2312" charset="0"/>
                <a:ea typeface="楷体_GB2312" charset="0"/>
              </a:rPr>
              <a:t>四、依次类推，直至输入</a:t>
            </a:r>
            <a:r>
              <a:rPr lang="en-US" altLang="zh-CN" sz="3600" b="1">
                <a:solidFill>
                  <a:srgbClr val="663300"/>
                </a:solidFill>
                <a:latin typeface="楷体_GB2312" charset="0"/>
                <a:ea typeface="楷体_GB2312" charset="0"/>
              </a:rPr>
              <a:t>a</a:t>
            </a:r>
            <a:r>
              <a:rPr lang="en-US" altLang="zh-CN" sz="3600" b="1" baseline="-25000">
                <a:solidFill>
                  <a:srgbClr val="663300"/>
                </a:solidFill>
                <a:latin typeface="楷体_GB2312" charset="0"/>
                <a:ea typeface="楷体_GB2312" charset="0"/>
              </a:rPr>
              <a:t>1</a:t>
            </a:r>
            <a:r>
              <a:rPr lang="zh-CN" altLang="en-US" sz="3600" b="1">
                <a:solidFill>
                  <a:srgbClr val="663300"/>
                </a:solidFill>
                <a:latin typeface="楷体_GB2312" charset="0"/>
                <a:ea typeface="楷体_GB2312" charset="0"/>
              </a:rPr>
              <a:t>为止。</a:t>
            </a:r>
            <a:endParaRPr lang="zh-CN" altLang="en-US" sz="4000" b="1">
              <a:latin typeface="楷体_GB2312" charset="0"/>
              <a:ea typeface="楷体_GB2312" charset="0"/>
            </a:endParaRPr>
          </a:p>
        </p:txBody>
      </p:sp>
      <p:sp useBgFill="1">
        <p:nvSpPr>
          <p:cNvPr id="966697" name="Rectangle 41"/>
          <p:cNvSpPr>
            <a:spLocks noChangeArrowheads="1"/>
          </p:cNvSpPr>
          <p:nvPr/>
        </p:nvSpPr>
        <p:spPr bwMode="auto">
          <a:xfrm>
            <a:off x="7086600" y="4724400"/>
            <a:ext cx="381000" cy="152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966659"/>
                                        </p:tgtEl>
                                        <p:attrNameLst>
                                          <p:attrName>style.visibility</p:attrName>
                                        </p:attrNameLst>
                                      </p:cBhvr>
                                      <p:to>
                                        <p:strVal val="visible"/>
                                      </p:to>
                                    </p:set>
                                    <p:animEffect transition="in" filter="slide(fromLeft)">
                                      <p:cBhvr>
                                        <p:cTn id="7" dur="500"/>
                                        <p:tgtEl>
                                          <p:spTgt spid="9666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6660"/>
                                        </p:tgtEl>
                                        <p:attrNameLst>
                                          <p:attrName>style.visibility</p:attrName>
                                        </p:attrNameLst>
                                      </p:cBhvr>
                                      <p:to>
                                        <p:strVal val="visible"/>
                                      </p:to>
                                    </p:set>
                                    <p:animEffect transition="in" filter="wipe(left)">
                                      <p:cBhvr>
                                        <p:cTn id="12" dur="500"/>
                                        <p:tgtEl>
                                          <p:spTgt spid="9666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66666"/>
                                        </p:tgtEl>
                                        <p:attrNameLst>
                                          <p:attrName>style.visibility</p:attrName>
                                        </p:attrNameLst>
                                      </p:cBhvr>
                                      <p:to>
                                        <p:strVal val="visible"/>
                                      </p:to>
                                    </p:set>
                                    <p:animEffect transition="in" filter="wipe(up)">
                                      <p:cBhvr>
                                        <p:cTn id="17" dur="500"/>
                                        <p:tgtEl>
                                          <p:spTgt spid="966666"/>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66665"/>
                                        </p:tgtEl>
                                        <p:attrNameLst>
                                          <p:attrName>style.visibility</p:attrName>
                                        </p:attrNameLst>
                                      </p:cBhvr>
                                      <p:to>
                                        <p:strVal val="visible"/>
                                      </p:to>
                                    </p:set>
                                    <p:animEffect transition="in" filter="wipe(left)">
                                      <p:cBhvr>
                                        <p:cTn id="21" dur="500"/>
                                        <p:tgtEl>
                                          <p:spTgt spid="966665"/>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966663"/>
                                        </p:tgtEl>
                                        <p:attrNameLst>
                                          <p:attrName>style.visibility</p:attrName>
                                        </p:attrNameLst>
                                      </p:cBhvr>
                                      <p:to>
                                        <p:strVal val="visible"/>
                                      </p:to>
                                    </p:set>
                                    <p:animEffect transition="in" filter="wipe(left)">
                                      <p:cBhvr>
                                        <p:cTn id="25" dur="500"/>
                                        <p:tgtEl>
                                          <p:spTgt spid="966663"/>
                                        </p:tgtEl>
                                      </p:cBhvr>
                                    </p:animEffec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966664"/>
                                        </p:tgtEl>
                                        <p:attrNameLst>
                                          <p:attrName>style.visibility</p:attrName>
                                        </p:attrNameLst>
                                      </p:cBhvr>
                                      <p:to>
                                        <p:strVal val="visible"/>
                                      </p:to>
                                    </p:set>
                                    <p:animEffect transition="in" filter="wipe(left)">
                                      <p:cBhvr>
                                        <p:cTn id="29" dur="500"/>
                                        <p:tgtEl>
                                          <p:spTgt spid="966664"/>
                                        </p:tgtEl>
                                      </p:cBhvr>
                                    </p:animEffect>
                                  </p:childTnLst>
                                </p:cTn>
                              </p:par>
                            </p:childTnLst>
                          </p:cTn>
                        </p:par>
                        <p:par>
                          <p:cTn id="30" fill="hold">
                            <p:stCondLst>
                              <p:cond delay="2000"/>
                            </p:stCondLst>
                            <p:childTnLst>
                              <p:par>
                                <p:cTn id="31" presetID="1" presetClass="entr" presetSubtype="0" fill="hold" nodeType="afterEffect">
                                  <p:stCondLst>
                                    <p:cond delay="0"/>
                                  </p:stCondLst>
                                  <p:childTnLst>
                                    <p:set>
                                      <p:cBhvr>
                                        <p:cTn id="32" dur="1" fill="hold">
                                          <p:stCondLst>
                                            <p:cond delay="499"/>
                                          </p:stCondLst>
                                        </p:cTn>
                                        <p:tgtEl>
                                          <p:spTgt spid="966667"/>
                                        </p:tgtEl>
                                        <p:attrNameLst>
                                          <p:attrName>style.visibility</p:attrName>
                                        </p:attrNameLst>
                                      </p:cBhvr>
                                      <p:to>
                                        <p:strVal val="visible"/>
                                      </p:to>
                                    </p:set>
                                  </p:childTnLst>
                                </p:cTn>
                              </p:par>
                            </p:childTnLst>
                          </p:cTn>
                        </p:par>
                        <p:par>
                          <p:cTn id="33" fill="hold">
                            <p:stCondLst>
                              <p:cond delay="2500"/>
                            </p:stCondLst>
                            <p:childTnLst>
                              <p:par>
                                <p:cTn id="34" presetID="1" presetClass="entr" presetSubtype="0" fill="hold" nodeType="afterEffect">
                                  <p:stCondLst>
                                    <p:cond delay="0"/>
                                  </p:stCondLst>
                                  <p:childTnLst>
                                    <p:set>
                                      <p:cBhvr>
                                        <p:cTn id="35" dur="1" fill="hold">
                                          <p:stCondLst>
                                            <p:cond delay="499"/>
                                          </p:stCondLst>
                                        </p:cTn>
                                        <p:tgtEl>
                                          <p:spTgt spid="96666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66661"/>
                                        </p:tgtEl>
                                        <p:attrNameLst>
                                          <p:attrName>style.visibility</p:attrName>
                                        </p:attrNameLst>
                                      </p:cBhvr>
                                      <p:to>
                                        <p:strVal val="visible"/>
                                      </p:to>
                                    </p:set>
                                    <p:animEffect transition="in" filter="wipe(left)">
                                      <p:cBhvr>
                                        <p:cTn id="40" dur="500"/>
                                        <p:tgtEl>
                                          <p:spTgt spid="966661"/>
                                        </p:tgtEl>
                                      </p:cBhvr>
                                    </p:animEffect>
                                  </p:childTnLst>
                                </p:cTn>
                              </p:par>
                            </p:childTnLst>
                          </p:cTn>
                        </p:par>
                        <p:par>
                          <p:cTn id="41" fill="hold">
                            <p:stCondLst>
                              <p:cond delay="500"/>
                            </p:stCondLst>
                            <p:childTnLst>
                              <p:par>
                                <p:cTn id="42" presetID="22" presetClass="entr" presetSubtype="1" fill="hold" nodeType="afterEffect">
                                  <p:stCondLst>
                                    <p:cond delay="0"/>
                                  </p:stCondLst>
                                  <p:childTnLst>
                                    <p:set>
                                      <p:cBhvr>
                                        <p:cTn id="43" dur="1" fill="hold">
                                          <p:stCondLst>
                                            <p:cond delay="0"/>
                                          </p:stCondLst>
                                        </p:cTn>
                                        <p:tgtEl>
                                          <p:spTgt spid="966672"/>
                                        </p:tgtEl>
                                        <p:attrNameLst>
                                          <p:attrName>style.visibility</p:attrName>
                                        </p:attrNameLst>
                                      </p:cBhvr>
                                      <p:to>
                                        <p:strVal val="visible"/>
                                      </p:to>
                                    </p:set>
                                    <p:animEffect transition="in" filter="wipe(up)">
                                      <p:cBhvr>
                                        <p:cTn id="44" dur="500"/>
                                        <p:tgtEl>
                                          <p:spTgt spid="966672"/>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966671"/>
                                        </p:tgtEl>
                                        <p:attrNameLst>
                                          <p:attrName>style.visibility</p:attrName>
                                        </p:attrNameLst>
                                      </p:cBhvr>
                                      <p:to>
                                        <p:strVal val="visible"/>
                                      </p:to>
                                    </p:set>
                                    <p:animEffect transition="in" filter="wipe(left)">
                                      <p:cBhvr>
                                        <p:cTn id="48" dur="500"/>
                                        <p:tgtEl>
                                          <p:spTgt spid="966671"/>
                                        </p:tgtEl>
                                      </p:cBhvr>
                                    </p:animEffect>
                                  </p:childTnLst>
                                </p:cTn>
                              </p:par>
                            </p:childTnLst>
                          </p:cTn>
                        </p:par>
                        <p:par>
                          <p:cTn id="49" fill="hold">
                            <p:stCondLst>
                              <p:cond delay="1500"/>
                            </p:stCondLst>
                            <p:childTnLst>
                              <p:par>
                                <p:cTn id="50" presetID="1" presetClass="entr" presetSubtype="0" fill="hold" grpId="0" nodeType="afterEffect">
                                  <p:stCondLst>
                                    <p:cond delay="0"/>
                                  </p:stCondLst>
                                  <p:childTnLst>
                                    <p:set>
                                      <p:cBhvr>
                                        <p:cTn id="51" dur="1" fill="hold">
                                          <p:stCondLst>
                                            <p:cond delay="499"/>
                                          </p:stCondLst>
                                        </p:cTn>
                                        <p:tgtEl>
                                          <p:spTgt spid="966669"/>
                                        </p:tgtEl>
                                        <p:attrNameLst>
                                          <p:attrName>style.visibility</p:attrName>
                                        </p:attrNameLst>
                                      </p:cBhvr>
                                      <p:to>
                                        <p:strVal val="visible"/>
                                      </p:to>
                                    </p:set>
                                  </p:childTnLst>
                                </p:cTn>
                              </p:par>
                            </p:childTnLst>
                          </p:cTn>
                        </p:par>
                        <p:par>
                          <p:cTn id="52" fill="hold">
                            <p:stCondLst>
                              <p:cond delay="2000"/>
                            </p:stCondLst>
                            <p:childTnLst>
                              <p:par>
                                <p:cTn id="53" presetID="1" presetClass="entr" presetSubtype="0" fill="hold" nodeType="afterEffect">
                                  <p:stCondLst>
                                    <p:cond delay="0"/>
                                  </p:stCondLst>
                                  <p:childTnLst>
                                    <p:set>
                                      <p:cBhvr>
                                        <p:cTn id="54" dur="1" fill="hold">
                                          <p:stCondLst>
                                            <p:cond delay="499"/>
                                          </p:stCondLst>
                                        </p:cTn>
                                        <p:tgtEl>
                                          <p:spTgt spid="96667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966675"/>
                                        </p:tgtEl>
                                        <p:attrNameLst>
                                          <p:attrName>style.visibility</p:attrName>
                                        </p:attrNameLst>
                                      </p:cBhvr>
                                      <p:to>
                                        <p:strVal val="visible"/>
                                      </p:to>
                                    </p:set>
                                    <p:animEffect transition="in" filter="wipe(left)">
                                      <p:cBhvr>
                                        <p:cTn id="59" dur="500"/>
                                        <p:tgtEl>
                                          <p:spTgt spid="966675"/>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966676"/>
                                        </p:tgtEl>
                                        <p:attrNameLst>
                                          <p:attrName>style.visibility</p:attrName>
                                        </p:attrNameLst>
                                      </p:cBhvr>
                                      <p:to>
                                        <p:strVal val="visible"/>
                                      </p:to>
                                    </p:set>
                                    <p:animEffect transition="in" filter="wipe(left)">
                                      <p:cBhvr>
                                        <p:cTn id="63" dur="500"/>
                                        <p:tgtEl>
                                          <p:spTgt spid="966676"/>
                                        </p:tgtEl>
                                      </p:cBhvr>
                                    </p:animEffect>
                                  </p:childTnLst>
                                </p:cTn>
                              </p:par>
                            </p:childTnLst>
                          </p:cTn>
                        </p:par>
                        <p:par>
                          <p:cTn id="64" fill="hold">
                            <p:stCondLst>
                              <p:cond delay="1000"/>
                            </p:stCondLst>
                            <p:childTnLst>
                              <p:par>
                                <p:cTn id="65" presetID="1" presetClass="entr" presetSubtype="0" fill="hold" grpId="0" nodeType="afterEffect">
                                  <p:stCondLst>
                                    <p:cond delay="0"/>
                                  </p:stCondLst>
                                  <p:childTnLst>
                                    <p:set>
                                      <p:cBhvr>
                                        <p:cTn id="66" dur="1" fill="hold">
                                          <p:stCondLst>
                                            <p:cond delay="499"/>
                                          </p:stCondLst>
                                        </p:cTn>
                                        <p:tgtEl>
                                          <p:spTgt spid="96667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499"/>
                                          </p:stCondLst>
                                        </p:cTn>
                                        <p:tgtEl>
                                          <p:spTgt spid="966673"/>
                                        </p:tgtEl>
                                        <p:attrNameLst>
                                          <p:attrName>style.visibility</p:attrName>
                                        </p:attrNameLst>
                                      </p:cBhvr>
                                      <p:to>
                                        <p:strVal val="visible"/>
                                      </p:to>
                                    </p:set>
                                  </p:childTnLst>
                                </p:cTn>
                              </p:par>
                            </p:childTnLst>
                          </p:cTn>
                        </p:par>
                        <p:par>
                          <p:cTn id="71" fill="hold">
                            <p:stCondLst>
                              <p:cond delay="500"/>
                            </p:stCondLst>
                            <p:childTnLst>
                              <p:par>
                                <p:cTn id="72" presetID="1" presetClass="entr" presetSubtype="0" fill="hold" nodeType="afterEffect">
                                  <p:stCondLst>
                                    <p:cond delay="0"/>
                                  </p:stCondLst>
                                  <p:childTnLst>
                                    <p:set>
                                      <p:cBhvr>
                                        <p:cTn id="73" dur="1" fill="hold">
                                          <p:stCondLst>
                                            <p:cond delay="499"/>
                                          </p:stCondLst>
                                        </p:cTn>
                                        <p:tgtEl>
                                          <p:spTgt spid="966674"/>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7" presetClass="entr" presetSubtype="8" fill="hold" nodeType="clickEffect">
                                  <p:stCondLst>
                                    <p:cond delay="0"/>
                                  </p:stCondLst>
                                  <p:childTnLst>
                                    <p:set>
                                      <p:cBhvr>
                                        <p:cTn id="77" dur="1" fill="hold">
                                          <p:stCondLst>
                                            <p:cond delay="0"/>
                                          </p:stCondLst>
                                        </p:cTn>
                                        <p:tgtEl>
                                          <p:spTgt spid="966677"/>
                                        </p:tgtEl>
                                        <p:attrNameLst>
                                          <p:attrName>style.visibility</p:attrName>
                                        </p:attrNameLst>
                                      </p:cBhvr>
                                      <p:to>
                                        <p:strVal val="visible"/>
                                      </p:to>
                                    </p:set>
                                    <p:anim calcmode="lin" valueType="num">
                                      <p:cBhvr>
                                        <p:cTn id="78" dur="500" fill="hold"/>
                                        <p:tgtEl>
                                          <p:spTgt spid="966677"/>
                                        </p:tgtEl>
                                        <p:attrNameLst>
                                          <p:attrName>ppt_x</p:attrName>
                                        </p:attrNameLst>
                                      </p:cBhvr>
                                      <p:tavLst>
                                        <p:tav tm="0">
                                          <p:val>
                                            <p:strVal val="#ppt_x-#ppt_w/2"/>
                                          </p:val>
                                        </p:tav>
                                        <p:tav tm="100000">
                                          <p:val>
                                            <p:strVal val="#ppt_x"/>
                                          </p:val>
                                        </p:tav>
                                      </p:tavLst>
                                    </p:anim>
                                    <p:anim calcmode="lin" valueType="num">
                                      <p:cBhvr>
                                        <p:cTn id="79" dur="500" fill="hold"/>
                                        <p:tgtEl>
                                          <p:spTgt spid="966677"/>
                                        </p:tgtEl>
                                        <p:attrNameLst>
                                          <p:attrName>ppt_y</p:attrName>
                                        </p:attrNameLst>
                                      </p:cBhvr>
                                      <p:tavLst>
                                        <p:tav tm="0">
                                          <p:val>
                                            <p:strVal val="#ppt_y"/>
                                          </p:val>
                                        </p:tav>
                                        <p:tav tm="100000">
                                          <p:val>
                                            <p:strVal val="#ppt_y"/>
                                          </p:val>
                                        </p:tav>
                                      </p:tavLst>
                                    </p:anim>
                                    <p:anim calcmode="lin" valueType="num">
                                      <p:cBhvr>
                                        <p:cTn id="80" dur="500" fill="hold"/>
                                        <p:tgtEl>
                                          <p:spTgt spid="966677"/>
                                        </p:tgtEl>
                                        <p:attrNameLst>
                                          <p:attrName>ppt_w</p:attrName>
                                        </p:attrNameLst>
                                      </p:cBhvr>
                                      <p:tavLst>
                                        <p:tav tm="0">
                                          <p:val>
                                            <p:fltVal val="0"/>
                                          </p:val>
                                        </p:tav>
                                        <p:tav tm="100000">
                                          <p:val>
                                            <p:strVal val="#ppt_w"/>
                                          </p:val>
                                        </p:tav>
                                      </p:tavLst>
                                    </p:anim>
                                    <p:anim calcmode="lin" valueType="num">
                                      <p:cBhvr>
                                        <p:cTn id="81" dur="500" fill="hold"/>
                                        <p:tgtEl>
                                          <p:spTgt spid="966677"/>
                                        </p:tgtEl>
                                        <p:attrNameLst>
                                          <p:attrName>ppt_h</p:attrName>
                                        </p:attrNameLst>
                                      </p:cBhvr>
                                      <p:tavLst>
                                        <p:tav tm="0">
                                          <p:val>
                                            <p:strVal val="#ppt_h"/>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966662"/>
                                        </p:tgtEl>
                                        <p:attrNameLst>
                                          <p:attrName>style.visibility</p:attrName>
                                        </p:attrNameLst>
                                      </p:cBhvr>
                                      <p:to>
                                        <p:strVal val="visible"/>
                                      </p:to>
                                    </p:set>
                                    <p:animEffect transition="in" filter="wipe(left)">
                                      <p:cBhvr>
                                        <p:cTn id="86" dur="500"/>
                                        <p:tgtEl>
                                          <p:spTgt spid="96666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966682"/>
                                        </p:tgtEl>
                                        <p:attrNameLst>
                                          <p:attrName>style.visibility</p:attrName>
                                        </p:attrNameLst>
                                      </p:cBhvr>
                                      <p:to>
                                        <p:strVal val="visible"/>
                                      </p:to>
                                    </p:set>
                                    <p:animEffect transition="in" filter="wipe(up)">
                                      <p:cBhvr>
                                        <p:cTn id="91" dur="500"/>
                                        <p:tgtEl>
                                          <p:spTgt spid="966682"/>
                                        </p:tgtEl>
                                      </p:cBhvr>
                                    </p:animEffect>
                                  </p:childTnLst>
                                </p:cTn>
                              </p:par>
                            </p:childTnLst>
                          </p:cTn>
                        </p:par>
                        <p:par>
                          <p:cTn id="92" fill="hold">
                            <p:stCondLst>
                              <p:cond delay="500"/>
                            </p:stCondLst>
                            <p:childTnLst>
                              <p:par>
                                <p:cTn id="93" presetID="22" presetClass="entr" presetSubtype="8" fill="hold" nodeType="afterEffect">
                                  <p:stCondLst>
                                    <p:cond delay="0"/>
                                  </p:stCondLst>
                                  <p:childTnLst>
                                    <p:set>
                                      <p:cBhvr>
                                        <p:cTn id="94" dur="1" fill="hold">
                                          <p:stCondLst>
                                            <p:cond delay="0"/>
                                          </p:stCondLst>
                                        </p:cTn>
                                        <p:tgtEl>
                                          <p:spTgt spid="966681"/>
                                        </p:tgtEl>
                                        <p:attrNameLst>
                                          <p:attrName>style.visibility</p:attrName>
                                        </p:attrNameLst>
                                      </p:cBhvr>
                                      <p:to>
                                        <p:strVal val="visible"/>
                                      </p:to>
                                    </p:set>
                                    <p:animEffect transition="in" filter="wipe(left)">
                                      <p:cBhvr>
                                        <p:cTn id="95" dur="500"/>
                                        <p:tgtEl>
                                          <p:spTgt spid="966681"/>
                                        </p:tgtEl>
                                      </p:cBhvr>
                                    </p:animEffect>
                                  </p:childTnLst>
                                </p:cTn>
                              </p:par>
                            </p:childTnLst>
                          </p:cTn>
                        </p:par>
                        <p:par>
                          <p:cTn id="96" fill="hold">
                            <p:stCondLst>
                              <p:cond delay="1000"/>
                            </p:stCondLst>
                            <p:childTnLst>
                              <p:par>
                                <p:cTn id="97" presetID="22" presetClass="entr" presetSubtype="8" fill="hold" grpId="0" nodeType="afterEffect">
                                  <p:stCondLst>
                                    <p:cond delay="0"/>
                                  </p:stCondLst>
                                  <p:childTnLst>
                                    <p:set>
                                      <p:cBhvr>
                                        <p:cTn id="98" dur="1" fill="hold">
                                          <p:stCondLst>
                                            <p:cond delay="0"/>
                                          </p:stCondLst>
                                        </p:cTn>
                                        <p:tgtEl>
                                          <p:spTgt spid="966679"/>
                                        </p:tgtEl>
                                        <p:attrNameLst>
                                          <p:attrName>style.visibility</p:attrName>
                                        </p:attrNameLst>
                                      </p:cBhvr>
                                      <p:to>
                                        <p:strVal val="visible"/>
                                      </p:to>
                                    </p:set>
                                    <p:animEffect transition="in" filter="wipe(left)">
                                      <p:cBhvr>
                                        <p:cTn id="99" dur="500"/>
                                        <p:tgtEl>
                                          <p:spTgt spid="966679"/>
                                        </p:tgtEl>
                                      </p:cBhvr>
                                    </p:animEffect>
                                  </p:childTnLst>
                                </p:cTn>
                              </p:par>
                            </p:childTnLst>
                          </p:cTn>
                        </p:par>
                        <p:par>
                          <p:cTn id="100" fill="hold">
                            <p:stCondLst>
                              <p:cond delay="1500"/>
                            </p:stCondLst>
                            <p:childTnLst>
                              <p:par>
                                <p:cTn id="101" presetID="22" presetClass="entr" presetSubtype="8" fill="hold" nodeType="afterEffect">
                                  <p:stCondLst>
                                    <p:cond delay="0"/>
                                  </p:stCondLst>
                                  <p:childTnLst>
                                    <p:set>
                                      <p:cBhvr>
                                        <p:cTn id="102" dur="1" fill="hold">
                                          <p:stCondLst>
                                            <p:cond delay="0"/>
                                          </p:stCondLst>
                                        </p:cTn>
                                        <p:tgtEl>
                                          <p:spTgt spid="966680"/>
                                        </p:tgtEl>
                                        <p:attrNameLst>
                                          <p:attrName>style.visibility</p:attrName>
                                        </p:attrNameLst>
                                      </p:cBhvr>
                                      <p:to>
                                        <p:strVal val="visible"/>
                                      </p:to>
                                    </p:set>
                                    <p:animEffect transition="in" filter="wipe(left)">
                                      <p:cBhvr>
                                        <p:cTn id="103" dur="500"/>
                                        <p:tgtEl>
                                          <p:spTgt spid="966680"/>
                                        </p:tgtEl>
                                      </p:cBhvr>
                                    </p:animEffect>
                                  </p:childTnLst>
                                </p:cTn>
                              </p:par>
                            </p:childTnLst>
                          </p:cTn>
                        </p:par>
                        <p:par>
                          <p:cTn id="104" fill="hold">
                            <p:stCondLst>
                              <p:cond delay="2000"/>
                            </p:stCondLst>
                            <p:childTnLst>
                              <p:par>
                                <p:cTn id="105" presetID="22" presetClass="entr" presetSubtype="8" fill="hold" nodeType="afterEffect">
                                  <p:stCondLst>
                                    <p:cond delay="0"/>
                                  </p:stCondLst>
                                  <p:childTnLst>
                                    <p:set>
                                      <p:cBhvr>
                                        <p:cTn id="106" dur="1" fill="hold">
                                          <p:stCondLst>
                                            <p:cond delay="0"/>
                                          </p:stCondLst>
                                        </p:cTn>
                                        <p:tgtEl>
                                          <p:spTgt spid="966687"/>
                                        </p:tgtEl>
                                        <p:attrNameLst>
                                          <p:attrName>style.visibility</p:attrName>
                                        </p:attrNameLst>
                                      </p:cBhvr>
                                      <p:to>
                                        <p:strVal val="visible"/>
                                      </p:to>
                                    </p:set>
                                    <p:animEffect transition="in" filter="wipe(left)">
                                      <p:cBhvr>
                                        <p:cTn id="107" dur="500"/>
                                        <p:tgtEl>
                                          <p:spTgt spid="966687"/>
                                        </p:tgtEl>
                                      </p:cBhvr>
                                    </p:animEffect>
                                  </p:childTnLst>
                                </p:cTn>
                              </p:par>
                            </p:childTnLst>
                          </p:cTn>
                        </p:par>
                        <p:par>
                          <p:cTn id="108" fill="hold">
                            <p:stCondLst>
                              <p:cond delay="2500"/>
                            </p:stCondLst>
                            <p:childTnLst>
                              <p:par>
                                <p:cTn id="109" presetID="22" presetClass="entr" presetSubtype="8" fill="hold" grpId="0" nodeType="afterEffect">
                                  <p:stCondLst>
                                    <p:cond delay="0"/>
                                  </p:stCondLst>
                                  <p:childTnLst>
                                    <p:set>
                                      <p:cBhvr>
                                        <p:cTn id="110" dur="1" fill="hold">
                                          <p:stCondLst>
                                            <p:cond delay="0"/>
                                          </p:stCondLst>
                                        </p:cTn>
                                        <p:tgtEl>
                                          <p:spTgt spid="966685"/>
                                        </p:tgtEl>
                                        <p:attrNameLst>
                                          <p:attrName>style.visibility</p:attrName>
                                        </p:attrNameLst>
                                      </p:cBhvr>
                                      <p:to>
                                        <p:strVal val="visible"/>
                                      </p:to>
                                    </p:set>
                                    <p:animEffect transition="in" filter="wipe(left)">
                                      <p:cBhvr>
                                        <p:cTn id="111" dur="500"/>
                                        <p:tgtEl>
                                          <p:spTgt spid="966685"/>
                                        </p:tgtEl>
                                      </p:cBhvr>
                                    </p:animEffect>
                                  </p:childTnLst>
                                </p:cTn>
                              </p:par>
                            </p:childTnLst>
                          </p:cTn>
                        </p:par>
                        <p:par>
                          <p:cTn id="112" fill="hold">
                            <p:stCondLst>
                              <p:cond delay="3000"/>
                            </p:stCondLst>
                            <p:childTnLst>
                              <p:par>
                                <p:cTn id="113" presetID="22" presetClass="entr" presetSubtype="8" fill="hold" nodeType="afterEffect">
                                  <p:stCondLst>
                                    <p:cond delay="0"/>
                                  </p:stCondLst>
                                  <p:childTnLst>
                                    <p:set>
                                      <p:cBhvr>
                                        <p:cTn id="114" dur="1" fill="hold">
                                          <p:stCondLst>
                                            <p:cond delay="0"/>
                                          </p:stCondLst>
                                        </p:cTn>
                                        <p:tgtEl>
                                          <p:spTgt spid="966686"/>
                                        </p:tgtEl>
                                        <p:attrNameLst>
                                          <p:attrName>style.visibility</p:attrName>
                                        </p:attrNameLst>
                                      </p:cBhvr>
                                      <p:to>
                                        <p:strVal val="visible"/>
                                      </p:to>
                                    </p:set>
                                    <p:animEffect transition="in" filter="wipe(left)">
                                      <p:cBhvr>
                                        <p:cTn id="115" dur="500"/>
                                        <p:tgtEl>
                                          <p:spTgt spid="966686"/>
                                        </p:tgtEl>
                                      </p:cBhvr>
                                    </p:animEffect>
                                  </p:childTnLst>
                                </p:cTn>
                              </p:par>
                            </p:childTnLst>
                          </p:cTn>
                        </p:par>
                        <p:par>
                          <p:cTn id="116" fill="hold">
                            <p:stCondLst>
                              <p:cond delay="3500"/>
                            </p:stCondLst>
                            <p:childTnLst>
                              <p:par>
                                <p:cTn id="117" presetID="22" presetClass="entr" presetSubtype="8" fill="hold" grpId="0" nodeType="afterEffect">
                                  <p:stCondLst>
                                    <p:cond delay="0"/>
                                  </p:stCondLst>
                                  <p:childTnLst>
                                    <p:set>
                                      <p:cBhvr>
                                        <p:cTn id="118" dur="1" fill="hold">
                                          <p:stCondLst>
                                            <p:cond delay="0"/>
                                          </p:stCondLst>
                                        </p:cTn>
                                        <p:tgtEl>
                                          <p:spTgt spid="966688"/>
                                        </p:tgtEl>
                                        <p:attrNameLst>
                                          <p:attrName>style.visibility</p:attrName>
                                        </p:attrNameLst>
                                      </p:cBhvr>
                                      <p:to>
                                        <p:strVal val="visible"/>
                                      </p:to>
                                    </p:set>
                                    <p:animEffect transition="in" filter="wipe(left)">
                                      <p:cBhvr>
                                        <p:cTn id="119" dur="500"/>
                                        <p:tgtEl>
                                          <p:spTgt spid="966688"/>
                                        </p:tgtEl>
                                      </p:cBhvr>
                                    </p:animEffect>
                                  </p:childTnLst>
                                </p:cTn>
                              </p:par>
                            </p:childTnLst>
                          </p:cTn>
                        </p:par>
                        <p:par>
                          <p:cTn id="120" fill="hold">
                            <p:stCondLst>
                              <p:cond delay="4000"/>
                            </p:stCondLst>
                            <p:childTnLst>
                              <p:par>
                                <p:cTn id="121" presetID="1" presetClass="entr" presetSubtype="0" fill="hold" nodeType="afterEffect">
                                  <p:stCondLst>
                                    <p:cond delay="0"/>
                                  </p:stCondLst>
                                  <p:childTnLst>
                                    <p:set>
                                      <p:cBhvr>
                                        <p:cTn id="122" dur="1" fill="hold">
                                          <p:stCondLst>
                                            <p:cond delay="499"/>
                                          </p:stCondLst>
                                        </p:cTn>
                                        <p:tgtEl>
                                          <p:spTgt spid="966683"/>
                                        </p:tgtEl>
                                        <p:attrNameLst>
                                          <p:attrName>style.visibility</p:attrName>
                                        </p:attrNameLst>
                                      </p:cBhvr>
                                      <p:to>
                                        <p:strVal val="visible"/>
                                      </p:to>
                                    </p:set>
                                  </p:childTnLst>
                                </p:cTn>
                              </p:par>
                            </p:childTnLst>
                          </p:cTn>
                        </p:par>
                        <p:par>
                          <p:cTn id="123" fill="hold">
                            <p:stCondLst>
                              <p:cond delay="4500"/>
                            </p:stCondLst>
                            <p:childTnLst>
                              <p:par>
                                <p:cTn id="124" presetID="1" presetClass="entr" presetSubtype="0" fill="hold" nodeType="afterEffect">
                                  <p:stCondLst>
                                    <p:cond delay="0"/>
                                  </p:stCondLst>
                                  <p:childTnLst>
                                    <p:set>
                                      <p:cBhvr>
                                        <p:cTn id="125" dur="1" fill="hold">
                                          <p:stCondLst>
                                            <p:cond delay="499"/>
                                          </p:stCondLst>
                                        </p:cTn>
                                        <p:tgtEl>
                                          <p:spTgt spid="966684"/>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966689"/>
                                        </p:tgtEl>
                                        <p:attrNameLst>
                                          <p:attrName>style.visibility</p:attrName>
                                        </p:attrNameLst>
                                      </p:cBhvr>
                                      <p:to>
                                        <p:strVal val="visible"/>
                                      </p:to>
                                    </p:set>
                                    <p:animEffect transition="in" filter="wipe(left)">
                                      <p:cBhvr>
                                        <p:cTn id="130" dur="500"/>
                                        <p:tgtEl>
                                          <p:spTgt spid="966689"/>
                                        </p:tgtEl>
                                      </p:cBhvr>
                                    </p:animEffec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966691"/>
                                        </p:tgtEl>
                                        <p:attrNameLst>
                                          <p:attrName>style.visibility</p:attrName>
                                        </p:attrNameLst>
                                      </p:cBhvr>
                                      <p:to>
                                        <p:strVal val="visible"/>
                                      </p:to>
                                    </p:set>
                                    <p:animEffect transition="in" filter="wipe(left)">
                                      <p:cBhvr>
                                        <p:cTn id="134" dur="500"/>
                                        <p:tgtEl>
                                          <p:spTgt spid="966691"/>
                                        </p:tgtEl>
                                      </p:cBhvr>
                                    </p:animEffect>
                                  </p:childTnLst>
                                </p:cTn>
                              </p:par>
                            </p:childTnLst>
                          </p:cTn>
                        </p:par>
                        <p:par>
                          <p:cTn id="135" fill="hold">
                            <p:stCondLst>
                              <p:cond delay="1000"/>
                            </p:stCondLst>
                            <p:childTnLst>
                              <p:par>
                                <p:cTn id="136" presetID="22" presetClass="entr" presetSubtype="8" fill="hold" grpId="0" nodeType="afterEffect">
                                  <p:stCondLst>
                                    <p:cond delay="0"/>
                                  </p:stCondLst>
                                  <p:childTnLst>
                                    <p:set>
                                      <p:cBhvr>
                                        <p:cTn id="137" dur="1" fill="hold">
                                          <p:stCondLst>
                                            <p:cond delay="0"/>
                                          </p:stCondLst>
                                        </p:cTn>
                                        <p:tgtEl>
                                          <p:spTgt spid="966690"/>
                                        </p:tgtEl>
                                        <p:attrNameLst>
                                          <p:attrName>style.visibility</p:attrName>
                                        </p:attrNameLst>
                                      </p:cBhvr>
                                      <p:to>
                                        <p:strVal val="visible"/>
                                      </p:to>
                                    </p:set>
                                    <p:animEffect transition="in" filter="wipe(left)">
                                      <p:cBhvr>
                                        <p:cTn id="138" dur="500"/>
                                        <p:tgtEl>
                                          <p:spTgt spid="966690"/>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nodeType="clickEffect">
                                  <p:stCondLst>
                                    <p:cond delay="0"/>
                                  </p:stCondLst>
                                  <p:childTnLst>
                                    <p:set>
                                      <p:cBhvr>
                                        <p:cTn id="142" dur="1" fill="hold">
                                          <p:stCondLst>
                                            <p:cond delay="0"/>
                                          </p:stCondLst>
                                        </p:cTn>
                                        <p:tgtEl>
                                          <p:spTgt spid="966692"/>
                                        </p:tgtEl>
                                        <p:attrNameLst>
                                          <p:attrName>style.visibility</p:attrName>
                                        </p:attrNameLst>
                                      </p:cBhvr>
                                      <p:to>
                                        <p:strVal val="visible"/>
                                      </p:to>
                                    </p:set>
                                    <p:animEffect transition="in" filter="wipe(left)">
                                      <p:cBhvr>
                                        <p:cTn id="143" dur="500"/>
                                        <p:tgtEl>
                                          <p:spTgt spid="966692"/>
                                        </p:tgtEl>
                                      </p:cBhvr>
                                    </p:animEffect>
                                  </p:childTnLst>
                                </p:cTn>
                              </p:par>
                            </p:childTnLst>
                          </p:cTn>
                        </p:par>
                        <p:par>
                          <p:cTn id="144" fill="hold">
                            <p:stCondLst>
                              <p:cond delay="500"/>
                            </p:stCondLst>
                            <p:childTnLst>
                              <p:par>
                                <p:cTn id="145" presetID="22" presetClass="entr" presetSubtype="4" fill="hold" nodeType="afterEffect">
                                  <p:stCondLst>
                                    <p:cond delay="0"/>
                                  </p:stCondLst>
                                  <p:childTnLst>
                                    <p:set>
                                      <p:cBhvr>
                                        <p:cTn id="146" dur="1" fill="hold">
                                          <p:stCondLst>
                                            <p:cond delay="0"/>
                                          </p:stCondLst>
                                        </p:cTn>
                                        <p:tgtEl>
                                          <p:spTgt spid="966693"/>
                                        </p:tgtEl>
                                        <p:attrNameLst>
                                          <p:attrName>style.visibility</p:attrName>
                                        </p:attrNameLst>
                                      </p:cBhvr>
                                      <p:to>
                                        <p:strVal val="visible"/>
                                      </p:to>
                                    </p:set>
                                    <p:animEffect transition="in" filter="wipe(down)">
                                      <p:cBhvr>
                                        <p:cTn id="147" dur="500"/>
                                        <p:tgtEl>
                                          <p:spTgt spid="966693"/>
                                        </p:tgtEl>
                                      </p:cBhvr>
                                    </p:animEffec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499"/>
                                          </p:stCondLst>
                                        </p:cTn>
                                        <p:tgtEl>
                                          <p:spTgt spid="966697"/>
                                        </p:tgtEl>
                                        <p:attrNameLst>
                                          <p:attrName>style.visibility</p:attrName>
                                        </p:attrNameLst>
                                      </p:cBhvr>
                                      <p:to>
                                        <p:strVal val="visible"/>
                                      </p:to>
                                    </p:set>
                                  </p:childTnLst>
                                </p:cTn>
                              </p:par>
                            </p:childTnLst>
                          </p:cTn>
                        </p:par>
                        <p:par>
                          <p:cTn id="152" fill="hold">
                            <p:stCondLst>
                              <p:cond delay="500"/>
                            </p:stCondLst>
                            <p:childTnLst>
                              <p:par>
                                <p:cTn id="153" presetID="22" presetClass="entr" presetSubtype="1" fill="hold" nodeType="afterEffect">
                                  <p:stCondLst>
                                    <p:cond delay="0"/>
                                  </p:stCondLst>
                                  <p:childTnLst>
                                    <p:set>
                                      <p:cBhvr>
                                        <p:cTn id="154" dur="1" fill="hold">
                                          <p:stCondLst>
                                            <p:cond delay="0"/>
                                          </p:stCondLst>
                                        </p:cTn>
                                        <p:tgtEl>
                                          <p:spTgt spid="966694"/>
                                        </p:tgtEl>
                                        <p:attrNameLst>
                                          <p:attrName>style.visibility</p:attrName>
                                        </p:attrNameLst>
                                      </p:cBhvr>
                                      <p:to>
                                        <p:strVal val="visible"/>
                                      </p:to>
                                    </p:set>
                                    <p:animEffect transition="in" filter="wipe(up)">
                                      <p:cBhvr>
                                        <p:cTn id="155" dur="500"/>
                                        <p:tgtEl>
                                          <p:spTgt spid="966694"/>
                                        </p:tgtEl>
                                      </p:cBhvr>
                                    </p:animEffect>
                                  </p:childTnLst>
                                </p:cTn>
                              </p:par>
                            </p:childTnLst>
                          </p:cTn>
                        </p:par>
                        <p:par>
                          <p:cTn id="156" fill="hold">
                            <p:stCondLst>
                              <p:cond delay="1000"/>
                            </p:stCondLst>
                            <p:childTnLst>
                              <p:par>
                                <p:cTn id="157" presetID="22" presetClass="entr" presetSubtype="8" fill="hold" nodeType="afterEffect">
                                  <p:stCondLst>
                                    <p:cond delay="0"/>
                                  </p:stCondLst>
                                  <p:childTnLst>
                                    <p:set>
                                      <p:cBhvr>
                                        <p:cTn id="158" dur="1" fill="hold">
                                          <p:stCondLst>
                                            <p:cond delay="0"/>
                                          </p:stCondLst>
                                        </p:cTn>
                                        <p:tgtEl>
                                          <p:spTgt spid="966695"/>
                                        </p:tgtEl>
                                        <p:attrNameLst>
                                          <p:attrName>style.visibility</p:attrName>
                                        </p:attrNameLst>
                                      </p:cBhvr>
                                      <p:to>
                                        <p:strVal val="visible"/>
                                      </p:to>
                                    </p:set>
                                    <p:animEffect transition="in" filter="wipe(left)">
                                      <p:cBhvr>
                                        <p:cTn id="159" dur="500"/>
                                        <p:tgtEl>
                                          <p:spTgt spid="966695"/>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966696"/>
                                        </p:tgtEl>
                                        <p:attrNameLst>
                                          <p:attrName>style.visibility</p:attrName>
                                        </p:attrNameLst>
                                      </p:cBhvr>
                                      <p:to>
                                        <p:strVal val="visible"/>
                                      </p:to>
                                    </p:set>
                                    <p:animEffect transition="in" filter="wipe(left)">
                                      <p:cBhvr>
                                        <p:cTn id="164" dur="500"/>
                                        <p:tgtEl>
                                          <p:spTgt spid="966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6659" grpId="0" autoUpdateAnimBg="0"/>
      <p:bldP spid="966660" grpId="0" autoUpdateAnimBg="0"/>
      <p:bldP spid="966661" grpId="0" autoUpdateAnimBg="0"/>
      <p:bldP spid="966662" grpId="0" autoUpdateAnimBg="0"/>
      <p:bldP spid="966663" grpId="0" animBg="1"/>
      <p:bldP spid="966669" grpId="0" animBg="1"/>
      <p:bldP spid="966675" grpId="0" animBg="1"/>
      <p:bldP spid="966678" grpId="0" autoUpdateAnimBg="0"/>
      <p:bldP spid="966679" grpId="0" animBg="1"/>
      <p:bldP spid="966685" grpId="0" animBg="1"/>
      <p:bldP spid="966688" grpId="0" autoUpdateAnimBg="0"/>
      <p:bldP spid="966689" grpId="0" animBg="1"/>
      <p:bldP spid="966690" grpId="0" autoUpdateAnimBg="0"/>
      <p:bldP spid="966696" grpId="0" autoUpdateAnimBg="0"/>
      <p:bldP spid="966697"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2" name="Text Box 2"/>
          <p:cNvSpPr txBox="1">
            <a:spLocks noChangeArrowheads="1"/>
          </p:cNvSpPr>
          <p:nvPr/>
        </p:nvSpPr>
        <p:spPr bwMode="auto">
          <a:xfrm>
            <a:off x="141335" y="152400"/>
            <a:ext cx="8686800" cy="536531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05000"/>
              </a:lnSpc>
              <a:defRPr/>
            </a:pPr>
            <a:r>
              <a:rPr lang="en-US" altLang="zh-CN" sz="2800" b="1" dirty="0"/>
              <a:t>void</a:t>
            </a:r>
            <a:r>
              <a:rPr lang="en-US" altLang="zh-CN" sz="2800" dirty="0"/>
              <a:t> </a:t>
            </a:r>
            <a:r>
              <a:rPr lang="en-US" altLang="zh-CN" sz="2800" dirty="0" err="1"/>
              <a:t>CreateList_L</a:t>
            </a:r>
            <a:r>
              <a:rPr lang="en-US" altLang="zh-CN" sz="2800" dirty="0"/>
              <a:t>(</a:t>
            </a:r>
            <a:r>
              <a:rPr lang="en-US" altLang="zh-CN" sz="2800" dirty="0" err="1"/>
              <a:t>LinkList</a:t>
            </a:r>
            <a:r>
              <a:rPr lang="en-US" altLang="zh-CN" sz="2800" dirty="0"/>
              <a:t> </a:t>
            </a:r>
            <a:r>
              <a:rPr lang="en-US" altLang="zh-CN" sz="2800" b="1" dirty="0"/>
              <a:t>&amp;</a:t>
            </a:r>
            <a:r>
              <a:rPr lang="en-US" altLang="zh-CN" sz="2800" dirty="0"/>
              <a:t>L, </a:t>
            </a:r>
            <a:r>
              <a:rPr lang="en-US" altLang="zh-CN" sz="2800" b="1" dirty="0"/>
              <a:t>int</a:t>
            </a:r>
            <a:r>
              <a:rPr lang="en-US" altLang="zh-CN" sz="2800" dirty="0"/>
              <a:t> n) </a:t>
            </a:r>
            <a:r>
              <a:rPr lang="en-US" altLang="zh-CN" sz="2800" b="1" dirty="0"/>
              <a:t>{</a:t>
            </a:r>
            <a:endParaRPr lang="en-US" altLang="zh-CN" sz="2800" dirty="0"/>
          </a:p>
          <a:p>
            <a:pPr eaLnBrk="1" hangingPunct="1">
              <a:lnSpc>
                <a:spcPct val="125000"/>
              </a:lnSpc>
              <a:defRPr/>
            </a:pPr>
            <a:r>
              <a:rPr lang="en-US" altLang="zh-CN" sz="2800" dirty="0"/>
              <a:t>    // </a:t>
            </a:r>
            <a:r>
              <a:rPr lang="zh-CN" altLang="en-US" sz="2800" dirty="0">
                <a:latin typeface="楷体_GB2312" charset="0"/>
                <a:ea typeface="楷体_GB2312" charset="0"/>
              </a:rPr>
              <a:t>逆序输入 </a:t>
            </a:r>
            <a:r>
              <a:rPr lang="en-US" altLang="zh-CN" sz="2800" dirty="0">
                <a:latin typeface="楷体_GB2312" charset="0"/>
                <a:ea typeface="楷体_GB2312" charset="0"/>
              </a:rPr>
              <a:t>n </a:t>
            </a:r>
            <a:r>
              <a:rPr lang="zh-CN" altLang="en-US" sz="2800" dirty="0">
                <a:latin typeface="楷体_GB2312" charset="0"/>
                <a:ea typeface="楷体_GB2312" charset="0"/>
              </a:rPr>
              <a:t>个数据元素，建立带头结点的单链表</a:t>
            </a:r>
            <a:endParaRPr lang="zh-CN" altLang="en-US" sz="2800" b="1" dirty="0">
              <a:latin typeface="楷体_GB2312" charset="0"/>
              <a:ea typeface="楷体_GB2312" charset="0"/>
            </a:endParaRPr>
          </a:p>
          <a:p>
            <a:pPr eaLnBrk="1" hangingPunct="1">
              <a:lnSpc>
                <a:spcPct val="125000"/>
              </a:lnSpc>
              <a:defRPr/>
            </a:pPr>
            <a:endParaRPr lang="zh-CN" altLang="en-US" sz="2800" b="1" dirty="0"/>
          </a:p>
          <a:p>
            <a:pPr eaLnBrk="1" hangingPunct="1">
              <a:lnSpc>
                <a:spcPct val="125000"/>
              </a:lnSpc>
              <a:defRPr/>
            </a:pPr>
            <a:endParaRPr lang="zh-CN" altLang="en-US" sz="2800" b="1" dirty="0"/>
          </a:p>
          <a:p>
            <a:pPr eaLnBrk="1" hangingPunct="1">
              <a:lnSpc>
                <a:spcPct val="125000"/>
              </a:lnSpc>
              <a:defRPr/>
            </a:pPr>
            <a:endParaRPr lang="zh-CN" altLang="en-US" sz="2800" b="1" dirty="0"/>
          </a:p>
          <a:p>
            <a:pPr eaLnBrk="1" hangingPunct="1">
              <a:lnSpc>
                <a:spcPct val="125000"/>
              </a:lnSpc>
              <a:defRPr/>
            </a:pPr>
            <a:endParaRPr lang="zh-CN" altLang="en-US" sz="2800" b="1" dirty="0"/>
          </a:p>
          <a:p>
            <a:pPr eaLnBrk="1" hangingPunct="1">
              <a:lnSpc>
                <a:spcPct val="125000"/>
              </a:lnSpc>
              <a:defRPr/>
            </a:pPr>
            <a:endParaRPr lang="zh-CN" altLang="en-US" sz="2800" b="1" dirty="0"/>
          </a:p>
          <a:p>
            <a:pPr eaLnBrk="1" hangingPunct="1">
              <a:lnSpc>
                <a:spcPct val="125000"/>
              </a:lnSpc>
              <a:defRPr/>
            </a:pPr>
            <a:endParaRPr lang="zh-CN" altLang="en-US" sz="2800" b="1" dirty="0"/>
          </a:p>
          <a:p>
            <a:pPr eaLnBrk="1" hangingPunct="1">
              <a:lnSpc>
                <a:spcPct val="125000"/>
              </a:lnSpc>
              <a:defRPr/>
            </a:pPr>
            <a:endParaRPr lang="en-US" altLang="zh-CN" sz="2800" b="1" dirty="0"/>
          </a:p>
          <a:p>
            <a:pPr eaLnBrk="1" hangingPunct="1">
              <a:lnSpc>
                <a:spcPct val="125000"/>
              </a:lnSpc>
              <a:defRPr/>
            </a:pPr>
            <a:r>
              <a:rPr lang="en-US" altLang="zh-CN" sz="2800" b="1" dirty="0"/>
              <a:t>}</a:t>
            </a:r>
            <a:r>
              <a:rPr lang="en-US" altLang="zh-CN" sz="2800" dirty="0"/>
              <a:t> // </a:t>
            </a:r>
            <a:r>
              <a:rPr lang="en-US" altLang="zh-CN" sz="2800" dirty="0" err="1"/>
              <a:t>CreateList_L</a:t>
            </a:r>
            <a:endParaRPr lang="en-US" altLang="zh-CN" sz="2800" dirty="0"/>
          </a:p>
        </p:txBody>
      </p:sp>
      <p:sp>
        <p:nvSpPr>
          <p:cNvPr id="967683" name="Text Box 3"/>
          <p:cNvSpPr txBox="1">
            <a:spLocks noChangeArrowheads="1"/>
          </p:cNvSpPr>
          <p:nvPr/>
        </p:nvSpPr>
        <p:spPr bwMode="auto">
          <a:xfrm>
            <a:off x="274685" y="6064250"/>
            <a:ext cx="353013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ea typeface="隶书" panose="02010509060101010101" charset="-122"/>
              </a:rPr>
              <a:t>算法的</a:t>
            </a:r>
            <a:r>
              <a:rPr lang="zh-CN" altLang="en-US" sz="2800" b="1">
                <a:solidFill>
                  <a:srgbClr val="FF0000"/>
                </a:solidFill>
                <a:ea typeface="隶书" panose="02010509060101010101" charset="-122"/>
              </a:rPr>
              <a:t>时间复杂度</a:t>
            </a:r>
            <a:r>
              <a:rPr lang="zh-CN" altLang="en-US" sz="2800"/>
              <a:t>为</a:t>
            </a:r>
            <a:r>
              <a:rPr lang="en-US" altLang="zh-CN" sz="2800" b="1"/>
              <a:t>:</a:t>
            </a:r>
            <a:endParaRPr lang="en-US" altLang="zh-CN" sz="2800" b="1"/>
          </a:p>
        </p:txBody>
      </p:sp>
      <p:sp>
        <p:nvSpPr>
          <p:cNvPr id="967684" name="Text Box 4"/>
          <p:cNvSpPr txBox="1">
            <a:spLocks noChangeArrowheads="1"/>
          </p:cNvSpPr>
          <p:nvPr/>
        </p:nvSpPr>
        <p:spPr bwMode="auto">
          <a:xfrm>
            <a:off x="4865735" y="6003925"/>
            <a:ext cx="28472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t>O(Listlength(L))</a:t>
            </a:r>
            <a:endParaRPr lang="en-US" altLang="zh-CN" sz="2800"/>
          </a:p>
        </p:txBody>
      </p:sp>
      <p:sp>
        <p:nvSpPr>
          <p:cNvPr id="967685" name="Text Box 5"/>
          <p:cNvSpPr txBox="1">
            <a:spLocks noChangeArrowheads="1"/>
          </p:cNvSpPr>
          <p:nvPr/>
        </p:nvSpPr>
        <p:spPr bwMode="auto">
          <a:xfrm>
            <a:off x="544560" y="1336675"/>
            <a:ext cx="8779968" cy="1104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a:solidFill>
                  <a:srgbClr val="6600CC"/>
                </a:solidFill>
              </a:rPr>
              <a:t>L = (LinkList)</a:t>
            </a:r>
            <a:r>
              <a:rPr lang="en-US" altLang="zh-CN" sz="2800" b="1">
                <a:solidFill>
                  <a:srgbClr val="6600CC"/>
                </a:solidFill>
              </a:rPr>
              <a:t> malloc</a:t>
            </a:r>
            <a:r>
              <a:rPr lang="en-US" altLang="zh-CN" sz="2800">
                <a:solidFill>
                  <a:srgbClr val="6600CC"/>
                </a:solidFill>
              </a:rPr>
              <a:t> (</a:t>
            </a:r>
            <a:r>
              <a:rPr lang="en-US" altLang="zh-CN" sz="2800" b="1">
                <a:solidFill>
                  <a:srgbClr val="6600CC"/>
                </a:solidFill>
              </a:rPr>
              <a:t>sizeof </a:t>
            </a:r>
            <a:r>
              <a:rPr lang="en-US" altLang="zh-CN" sz="2800">
                <a:solidFill>
                  <a:srgbClr val="6600CC"/>
                </a:solidFill>
              </a:rPr>
              <a:t>(LNode));</a:t>
            </a:r>
            <a:endParaRPr lang="en-US" altLang="zh-CN" sz="2800">
              <a:solidFill>
                <a:srgbClr val="6600CC"/>
              </a:solidFill>
            </a:endParaRPr>
          </a:p>
          <a:p>
            <a:pPr eaLnBrk="1" hangingPunct="1">
              <a:lnSpc>
                <a:spcPct val="120000"/>
              </a:lnSpc>
              <a:defRPr/>
            </a:pPr>
            <a:r>
              <a:rPr lang="en-US" altLang="zh-CN" sz="2800">
                <a:solidFill>
                  <a:srgbClr val="6600CC"/>
                </a:solidFill>
              </a:rPr>
              <a:t>L-&gt;next = NULL;    </a:t>
            </a:r>
            <a:r>
              <a:rPr lang="en-US" altLang="zh-CN" sz="2800"/>
              <a:t>// </a:t>
            </a:r>
            <a:r>
              <a:rPr lang="zh-CN" altLang="en-US" sz="2800">
                <a:ea typeface="楷体_GB2312" charset="0"/>
              </a:rPr>
              <a:t>先建立一个带头结点的单链表</a:t>
            </a:r>
            <a:endParaRPr lang="zh-CN" altLang="en-US" sz="2800"/>
          </a:p>
        </p:txBody>
      </p:sp>
      <p:sp>
        <p:nvSpPr>
          <p:cNvPr id="967686" name="Text Box 6"/>
          <p:cNvSpPr txBox="1">
            <a:spLocks noChangeArrowheads="1"/>
          </p:cNvSpPr>
          <p:nvPr/>
        </p:nvSpPr>
        <p:spPr bwMode="auto">
          <a:xfrm>
            <a:off x="576310" y="2724150"/>
            <a:ext cx="808907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FF0000"/>
                </a:solidFill>
              </a:rPr>
              <a:t>for</a:t>
            </a:r>
            <a:r>
              <a:rPr lang="en-US" altLang="zh-CN" sz="2800">
                <a:solidFill>
                  <a:srgbClr val="FF0000"/>
                </a:solidFill>
              </a:rPr>
              <a:t> (i = n; i &gt; 0; --i) </a:t>
            </a:r>
            <a:r>
              <a:rPr lang="en-US" altLang="zh-CN" sz="2800" b="1">
                <a:solidFill>
                  <a:srgbClr val="FF0000"/>
                </a:solidFill>
              </a:rPr>
              <a:t>{</a:t>
            </a:r>
            <a:endParaRPr lang="en-US" altLang="zh-CN" sz="2800">
              <a:solidFill>
                <a:srgbClr val="FF0000"/>
              </a:solidFill>
            </a:endParaRPr>
          </a:p>
          <a:p>
            <a:pPr eaLnBrk="1" hangingPunct="1">
              <a:defRPr/>
            </a:pPr>
            <a:r>
              <a:rPr lang="en-US" altLang="zh-CN" sz="2800"/>
              <a:t>    p = (LinkList)</a:t>
            </a:r>
            <a:r>
              <a:rPr lang="en-US" altLang="zh-CN" sz="2800" b="1"/>
              <a:t> malloc</a:t>
            </a:r>
            <a:r>
              <a:rPr lang="en-US" altLang="zh-CN" sz="2800"/>
              <a:t> (</a:t>
            </a:r>
            <a:r>
              <a:rPr lang="en-US" altLang="zh-CN" sz="2800" b="1"/>
              <a:t>sizeof </a:t>
            </a:r>
            <a:r>
              <a:rPr lang="en-US" altLang="zh-CN" sz="2800"/>
              <a:t>(LNode));</a:t>
            </a:r>
            <a:endParaRPr lang="en-US" altLang="zh-CN" sz="2800"/>
          </a:p>
          <a:p>
            <a:pPr eaLnBrk="1" hangingPunct="1">
              <a:defRPr/>
            </a:pPr>
            <a:r>
              <a:rPr lang="en-US" altLang="zh-CN" sz="2800"/>
              <a:t>    </a:t>
            </a:r>
            <a:r>
              <a:rPr lang="en-US" altLang="zh-CN" sz="2800" b="1"/>
              <a:t>scanf</a:t>
            </a:r>
            <a:r>
              <a:rPr lang="en-US" altLang="zh-CN" sz="2800"/>
              <a:t>(</a:t>
            </a:r>
            <a:r>
              <a:rPr lang="en-US" altLang="zh-CN" sz="2800" b="1"/>
              <a:t>&amp;</a:t>
            </a:r>
            <a:r>
              <a:rPr lang="en-US" altLang="zh-CN" sz="2800"/>
              <a:t>p-&gt;data);    // </a:t>
            </a:r>
            <a:r>
              <a:rPr lang="zh-CN" altLang="en-US" sz="2800">
                <a:ea typeface="楷体_GB2312" charset="0"/>
              </a:rPr>
              <a:t>输入元素值</a:t>
            </a:r>
            <a:endParaRPr lang="zh-CN" altLang="en-US" sz="2800"/>
          </a:p>
          <a:p>
            <a:pPr eaLnBrk="1" hangingPunct="1">
              <a:defRPr/>
            </a:pPr>
            <a:r>
              <a:rPr lang="zh-CN" altLang="en-US" sz="2800">
                <a:solidFill>
                  <a:srgbClr val="9900CC"/>
                </a:solidFill>
              </a:rPr>
              <a:t>    </a:t>
            </a:r>
            <a:r>
              <a:rPr lang="en-US" altLang="zh-CN" sz="2800">
                <a:solidFill>
                  <a:srgbClr val="9900CC"/>
                </a:solidFill>
              </a:rPr>
              <a:t>p-&gt;next = L-&gt;next; L-&gt;next = p;  </a:t>
            </a:r>
            <a:r>
              <a:rPr lang="en-US" altLang="zh-CN" sz="2800"/>
              <a:t>// </a:t>
            </a:r>
            <a:r>
              <a:rPr lang="zh-CN" altLang="en-US" sz="2800">
                <a:ea typeface="楷体_GB2312" charset="0"/>
              </a:rPr>
              <a:t>插入</a:t>
            </a:r>
            <a:endParaRPr lang="zh-CN" altLang="en-US" sz="2800"/>
          </a:p>
          <a:p>
            <a:pPr eaLnBrk="1" hangingPunct="1">
              <a:defRPr/>
            </a:pPr>
            <a:r>
              <a:rPr lang="en-US" altLang="zh-CN" sz="2800" b="1">
                <a:solidFill>
                  <a:srgbClr val="FF0000"/>
                </a:solidFill>
              </a:rPr>
              <a:t>}</a:t>
            </a:r>
            <a:endParaRPr lang="en-US" altLang="zh-CN" sz="2800" b="1">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967685"/>
                                        </p:tgtEl>
                                        <p:attrNameLst>
                                          <p:attrName>style.visibility</p:attrName>
                                        </p:attrNameLst>
                                      </p:cBhvr>
                                      <p:to>
                                        <p:strVal val="visible"/>
                                      </p:to>
                                    </p:set>
                                    <p:animEffect transition="in" filter="wipe(left)">
                                      <p:cBhvr>
                                        <p:cTn id="7" dur="75"/>
                                        <p:tgtEl>
                                          <p:spTgt spid="9676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67686"/>
                                        </p:tgtEl>
                                        <p:attrNameLst>
                                          <p:attrName>style.visibility</p:attrName>
                                        </p:attrNameLst>
                                      </p:cBhvr>
                                      <p:to>
                                        <p:strVal val="visible"/>
                                      </p:to>
                                    </p:set>
                                    <p:animEffect transition="in" filter="wipe(left)">
                                      <p:cBhvr>
                                        <p:cTn id="12" dur="75"/>
                                        <p:tgtEl>
                                          <p:spTgt spid="96768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67683"/>
                                        </p:tgtEl>
                                        <p:attrNameLst>
                                          <p:attrName>style.visibility</p:attrName>
                                        </p:attrNameLst>
                                      </p:cBhvr>
                                      <p:to>
                                        <p:strVal val="visible"/>
                                      </p:to>
                                    </p:set>
                                    <p:anim calcmode="lin" valueType="num">
                                      <p:cBhvr additive="base">
                                        <p:cTn id="17" dur="500" fill="hold"/>
                                        <p:tgtEl>
                                          <p:spTgt spid="967683"/>
                                        </p:tgtEl>
                                        <p:attrNameLst>
                                          <p:attrName>ppt_x</p:attrName>
                                        </p:attrNameLst>
                                      </p:cBhvr>
                                      <p:tavLst>
                                        <p:tav tm="0">
                                          <p:val>
                                            <p:strVal val="#ppt_x"/>
                                          </p:val>
                                        </p:tav>
                                        <p:tav tm="100000">
                                          <p:val>
                                            <p:strVal val="#ppt_x"/>
                                          </p:val>
                                        </p:tav>
                                      </p:tavLst>
                                    </p:anim>
                                    <p:anim calcmode="lin" valueType="num">
                                      <p:cBhvr additive="base">
                                        <p:cTn id="18" dur="500" fill="hold"/>
                                        <p:tgtEl>
                                          <p:spTgt spid="96768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67684"/>
                                        </p:tgtEl>
                                        <p:attrNameLst>
                                          <p:attrName>style.visibility</p:attrName>
                                        </p:attrNameLst>
                                      </p:cBhvr>
                                      <p:to>
                                        <p:strVal val="visible"/>
                                      </p:to>
                                    </p:set>
                                    <p:animEffect transition="in" filter="wipe(left)">
                                      <p:cBhvr>
                                        <p:cTn id="23" dur="500"/>
                                        <p:tgtEl>
                                          <p:spTgt spid="967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7683" grpId="0" autoUpdateAnimBg="0"/>
      <p:bldP spid="967684" grpId="0" autoUpdateAnimBg="0"/>
      <p:bldP spid="967685" grpId="0" autoUpdateAnimBg="0"/>
      <p:bldP spid="967686"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7794" name="Rectangle 2"/>
          <p:cNvSpPr>
            <a:spLocks noGrp="1" noChangeArrowheads="1"/>
          </p:cNvSpPr>
          <p:nvPr>
            <p:ph/>
          </p:nvPr>
        </p:nvSpPr>
        <p:spPr>
          <a:xfrm>
            <a:off x="152400" y="152400"/>
            <a:ext cx="8763000" cy="2209800"/>
          </a:xfrm>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normAutofit fontScale="92500" lnSpcReduction="10000"/>
          </a:bodyPr>
          <a:lstStyle/>
          <a:p>
            <a:pPr marL="0" indent="0">
              <a:lnSpc>
                <a:spcPct val="110000"/>
              </a:lnSpc>
              <a:buFontTx/>
              <a:buNone/>
              <a:defRPr/>
            </a:pPr>
            <a:r>
              <a:rPr lang="zh-CN" altLang="en-US" sz="4000" b="1">
                <a:latin typeface="楷体_GB2312" charset="0"/>
                <a:ea typeface="楷体_GB2312" charset="0"/>
              </a:rPr>
              <a:t>     单链表的合并</a:t>
            </a:r>
            <a:endParaRPr lang="zh-CN" altLang="en-US" sz="4000" b="1">
              <a:latin typeface="楷体_GB2312" charset="0"/>
              <a:ea typeface="楷体_GB2312" charset="0"/>
            </a:endParaRPr>
          </a:p>
          <a:p>
            <a:pPr marL="0" indent="0">
              <a:lnSpc>
                <a:spcPct val="110000"/>
              </a:lnSpc>
              <a:buFontTx/>
              <a:buNone/>
              <a:defRPr/>
            </a:pPr>
            <a:r>
              <a:rPr lang="zh-CN" altLang="en-US" sz="2400">
                <a:latin typeface="宋体" panose="02010600030101010101" pitchFamily="2" charset="-122"/>
              </a:rPr>
              <a:t>      </a:t>
            </a:r>
            <a:r>
              <a:rPr lang="zh-CN" altLang="en-US" sz="3200" b="1">
                <a:latin typeface="宋体" panose="02010600030101010101" pitchFamily="2" charset="-122"/>
              </a:rPr>
              <a:t>设有两个有序的单链表，它们的头指针分别是</a:t>
            </a:r>
            <a:r>
              <a:rPr lang="en-US" altLang="zh-CN" sz="3200" b="1"/>
              <a:t>La </a:t>
            </a:r>
            <a:r>
              <a:rPr lang="zh-CN" altLang="en-US" sz="3200" b="1"/>
              <a:t>、 </a:t>
            </a:r>
            <a:r>
              <a:rPr lang="en-US" altLang="zh-CN" sz="3200" b="1"/>
              <a:t>Lb</a:t>
            </a:r>
            <a:r>
              <a:rPr lang="zh-CN" altLang="en-US" sz="3200" b="1">
                <a:latin typeface="宋体" panose="02010600030101010101" pitchFamily="2" charset="-122"/>
              </a:rPr>
              <a:t>，将它们合并为以</a:t>
            </a:r>
            <a:r>
              <a:rPr lang="en-US" altLang="zh-CN" sz="3200" b="1"/>
              <a:t>Lc</a:t>
            </a:r>
            <a:r>
              <a:rPr lang="zh-CN" altLang="en-US" sz="3200" b="1"/>
              <a:t>为</a:t>
            </a:r>
            <a:r>
              <a:rPr lang="zh-CN" altLang="en-US" sz="3200" b="1">
                <a:latin typeface="宋体" panose="02010600030101010101" pitchFamily="2" charset="-122"/>
              </a:rPr>
              <a:t>头指针的有序链表。合并前的示意图如图</a:t>
            </a:r>
            <a:r>
              <a:rPr lang="en-US" altLang="zh-CN" sz="3200" b="1"/>
              <a:t>2-4</a:t>
            </a:r>
            <a:r>
              <a:rPr lang="zh-CN" altLang="en-US" sz="3200" b="1">
                <a:latin typeface="宋体" panose="02010600030101010101" pitchFamily="2" charset="-122"/>
              </a:rPr>
              <a:t>所示。</a:t>
            </a:r>
            <a:endParaRPr lang="zh-CN" altLang="en-US" sz="3200" b="1">
              <a:latin typeface="宋体" panose="02010600030101010101" pitchFamily="2" charset="-122"/>
            </a:endParaRPr>
          </a:p>
        </p:txBody>
      </p:sp>
      <p:grpSp>
        <p:nvGrpSpPr>
          <p:cNvPr id="107522" name="Group 3"/>
          <p:cNvGrpSpPr/>
          <p:nvPr/>
        </p:nvGrpSpPr>
        <p:grpSpPr bwMode="auto">
          <a:xfrm>
            <a:off x="7061200" y="4046538"/>
            <a:ext cx="966788" cy="503237"/>
            <a:chOff x="4448" y="2549"/>
            <a:chExt cx="609" cy="317"/>
          </a:xfrm>
        </p:grpSpPr>
        <p:sp>
          <p:nvSpPr>
            <p:cNvPr id="1057796" name="Rectangle 4"/>
            <p:cNvSpPr>
              <a:spLocks noChangeArrowheads="1"/>
            </p:cNvSpPr>
            <p:nvPr/>
          </p:nvSpPr>
          <p:spPr bwMode="auto">
            <a:xfrm>
              <a:off x="4448" y="2549"/>
              <a:ext cx="609"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15    ⋀</a:t>
              </a:r>
              <a:endParaRPr lang="en-US" altLang="zh-CN" sz="2400"/>
            </a:p>
          </p:txBody>
        </p:sp>
        <p:sp>
          <p:nvSpPr>
            <p:cNvPr id="1057797" name="Line 5"/>
            <p:cNvSpPr>
              <a:spLocks noChangeShapeType="1"/>
            </p:cNvSpPr>
            <p:nvPr/>
          </p:nvSpPr>
          <p:spPr bwMode="auto">
            <a:xfrm>
              <a:off x="4832" y="2549"/>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23" name="Group 6"/>
          <p:cNvGrpSpPr/>
          <p:nvPr/>
        </p:nvGrpSpPr>
        <p:grpSpPr bwMode="auto">
          <a:xfrm>
            <a:off x="609600" y="2492375"/>
            <a:ext cx="7418388" cy="3332163"/>
            <a:chOff x="384" y="1570"/>
            <a:chExt cx="4673" cy="2099"/>
          </a:xfrm>
        </p:grpSpPr>
        <p:sp>
          <p:nvSpPr>
            <p:cNvPr id="1057799" name="Rectangle 7"/>
            <p:cNvSpPr>
              <a:spLocks noChangeArrowheads="1"/>
            </p:cNvSpPr>
            <p:nvPr/>
          </p:nvSpPr>
          <p:spPr bwMode="auto">
            <a:xfrm>
              <a:off x="1152" y="3388"/>
              <a:ext cx="3542"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ctr" eaLnBrk="1" hangingPunct="1">
                <a:defRPr/>
              </a:pPr>
              <a:r>
                <a:rPr lang="zh-CN" altLang="en-US" b="1">
                  <a:latin typeface="楷体_GB2312" charset="0"/>
                  <a:ea typeface="楷体_GB2312" charset="0"/>
                </a:rPr>
                <a:t>两个有序的单链表</a:t>
              </a:r>
              <a:r>
                <a:rPr lang="en-US" altLang="zh-CN" b="1"/>
                <a:t>La </a:t>
              </a:r>
              <a:r>
                <a:rPr lang="zh-CN" altLang="en-US" b="1">
                  <a:latin typeface="宋体" panose="02010600030101010101" pitchFamily="2" charset="-122"/>
                </a:rPr>
                <a:t>，</a:t>
              </a:r>
              <a:r>
                <a:rPr lang="en-US" altLang="zh-CN" b="1"/>
                <a:t>Lb</a:t>
              </a:r>
              <a:r>
                <a:rPr lang="zh-CN" altLang="en-US" b="1">
                  <a:latin typeface="楷体_GB2312" charset="0"/>
                  <a:ea typeface="楷体_GB2312" charset="0"/>
                </a:rPr>
                <a:t>的初始状态</a:t>
              </a:r>
              <a:endParaRPr lang="zh-CN" altLang="en-US" b="1">
                <a:latin typeface="楷体_GB2312" charset="0"/>
                <a:ea typeface="楷体_GB2312" charset="0"/>
              </a:endParaRPr>
            </a:p>
          </p:txBody>
        </p:sp>
        <p:grpSp>
          <p:nvGrpSpPr>
            <p:cNvPr id="107525" name="Group 8"/>
            <p:cNvGrpSpPr/>
            <p:nvPr/>
          </p:nvGrpSpPr>
          <p:grpSpPr bwMode="auto">
            <a:xfrm>
              <a:off x="816" y="2301"/>
              <a:ext cx="3642" cy="943"/>
              <a:chOff x="816" y="2301"/>
              <a:chExt cx="3642" cy="943"/>
            </a:xfrm>
          </p:grpSpPr>
          <p:grpSp>
            <p:nvGrpSpPr>
              <p:cNvPr id="107560" name="Group 9"/>
              <p:cNvGrpSpPr/>
              <p:nvPr/>
            </p:nvGrpSpPr>
            <p:grpSpPr bwMode="auto">
              <a:xfrm>
                <a:off x="1558" y="2560"/>
                <a:ext cx="720" cy="317"/>
                <a:chOff x="1008" y="1152"/>
                <a:chExt cx="720" cy="317"/>
              </a:xfrm>
            </p:grpSpPr>
            <p:sp>
              <p:nvSpPr>
                <p:cNvPr id="1057802" name="Rectangle 10"/>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-2    </a:t>
                  </a:r>
                  <a:endParaRPr lang="en-US" altLang="zh-CN" sz="2400"/>
                </a:p>
              </p:txBody>
            </p:sp>
            <p:sp>
              <p:nvSpPr>
                <p:cNvPr id="1057803" name="Line 11"/>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04" name="Line 12"/>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61" name="Group 13"/>
              <p:cNvGrpSpPr/>
              <p:nvPr/>
            </p:nvGrpSpPr>
            <p:grpSpPr bwMode="auto">
              <a:xfrm>
                <a:off x="2288" y="2550"/>
                <a:ext cx="720" cy="317"/>
                <a:chOff x="1008" y="1152"/>
                <a:chExt cx="720" cy="317"/>
              </a:xfrm>
            </p:grpSpPr>
            <p:sp>
              <p:nvSpPr>
                <p:cNvPr id="1057806" name="Rectangle 14"/>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4   </a:t>
                  </a:r>
                  <a:endParaRPr lang="en-US" altLang="zh-CN" sz="2400"/>
                </a:p>
              </p:txBody>
            </p:sp>
            <p:sp>
              <p:nvSpPr>
                <p:cNvPr id="1057807" name="Line 15"/>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08" name="Line 16"/>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62" name="Group 17"/>
              <p:cNvGrpSpPr/>
              <p:nvPr/>
            </p:nvGrpSpPr>
            <p:grpSpPr bwMode="auto">
              <a:xfrm>
                <a:off x="3018" y="2541"/>
                <a:ext cx="720" cy="317"/>
                <a:chOff x="1008" y="1152"/>
                <a:chExt cx="720" cy="317"/>
              </a:xfrm>
            </p:grpSpPr>
            <p:sp>
              <p:nvSpPr>
                <p:cNvPr id="1057810" name="Rectangle 18"/>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9    </a:t>
                  </a:r>
                  <a:endParaRPr lang="en-US" altLang="zh-CN" sz="2400"/>
                </a:p>
              </p:txBody>
            </p:sp>
            <p:sp>
              <p:nvSpPr>
                <p:cNvPr id="1057811" name="Line 19"/>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12" name="Line 20"/>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63" name="Group 21"/>
              <p:cNvGrpSpPr/>
              <p:nvPr/>
            </p:nvGrpSpPr>
            <p:grpSpPr bwMode="auto">
              <a:xfrm>
                <a:off x="3765" y="2472"/>
                <a:ext cx="693" cy="317"/>
                <a:chOff x="3189" y="2139"/>
                <a:chExt cx="693" cy="317"/>
              </a:xfrm>
            </p:grpSpPr>
            <p:sp>
              <p:nvSpPr>
                <p:cNvPr id="1057814" name="Rectangle 22"/>
                <p:cNvSpPr>
                  <a:spLocks noChangeArrowheads="1"/>
                </p:cNvSpPr>
                <p:nvPr/>
              </p:nvSpPr>
              <p:spPr bwMode="auto">
                <a:xfrm>
                  <a:off x="3189" y="2139"/>
                  <a:ext cx="544"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ea typeface="Arial Unicode MS" panose="020B0604020202020204" charset="-122"/>
                    </a:rPr>
                    <a:t>……</a:t>
                  </a:r>
                  <a:r>
                    <a:rPr lang="en-US" altLang="zh-CN" sz="2400"/>
                    <a:t>  </a:t>
                  </a:r>
                  <a:endParaRPr lang="en-US" altLang="zh-CN" sz="2400"/>
                </a:p>
              </p:txBody>
            </p:sp>
            <p:sp>
              <p:nvSpPr>
                <p:cNvPr id="1057815" name="Line 23"/>
                <p:cNvSpPr>
                  <a:spLocks noChangeShapeType="1"/>
                </p:cNvSpPr>
                <p:nvPr/>
              </p:nvSpPr>
              <p:spPr bwMode="auto">
                <a:xfrm>
                  <a:off x="3642" y="2352"/>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64" name="Group 24"/>
              <p:cNvGrpSpPr/>
              <p:nvPr/>
            </p:nvGrpSpPr>
            <p:grpSpPr bwMode="auto">
              <a:xfrm>
                <a:off x="816" y="2301"/>
                <a:ext cx="720" cy="577"/>
                <a:chOff x="1008" y="892"/>
                <a:chExt cx="720" cy="577"/>
              </a:xfrm>
            </p:grpSpPr>
            <p:sp>
              <p:nvSpPr>
                <p:cNvPr id="1057817" name="Rectangle 25"/>
                <p:cNvSpPr>
                  <a:spLocks noChangeArrowheads="1"/>
                </p:cNvSpPr>
                <p:nvPr/>
              </p:nvSpPr>
              <p:spPr bwMode="auto">
                <a:xfrm>
                  <a:off x="1046" y="892"/>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Lb</a:t>
                  </a:r>
                  <a:endParaRPr lang="en-US" altLang="zh-CN" sz="2400"/>
                </a:p>
              </p:txBody>
            </p:sp>
            <p:grpSp>
              <p:nvGrpSpPr>
                <p:cNvPr id="107569" name="Group 26"/>
                <p:cNvGrpSpPr/>
                <p:nvPr/>
              </p:nvGrpSpPr>
              <p:grpSpPr bwMode="auto">
                <a:xfrm>
                  <a:off x="1008" y="1152"/>
                  <a:ext cx="720" cy="317"/>
                  <a:chOff x="1008" y="1152"/>
                  <a:chExt cx="720" cy="317"/>
                </a:xfrm>
              </p:grpSpPr>
              <p:sp>
                <p:nvSpPr>
                  <p:cNvPr id="1057819" name="Rectangle 27"/>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2400"/>
                      <a:t>   </a:t>
                    </a:r>
                    <a:endParaRPr lang="zh-CN" altLang="en-US" sz="2400"/>
                  </a:p>
                </p:txBody>
              </p:sp>
              <p:sp>
                <p:nvSpPr>
                  <p:cNvPr id="1057820" name="Line 28"/>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21" name="Line 29"/>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nvGrpSpPr>
              <p:cNvPr id="107565" name="Group 30"/>
              <p:cNvGrpSpPr/>
              <p:nvPr/>
            </p:nvGrpSpPr>
            <p:grpSpPr bwMode="auto">
              <a:xfrm>
                <a:off x="1614" y="2872"/>
                <a:ext cx="336" cy="372"/>
                <a:chOff x="2256" y="1404"/>
                <a:chExt cx="336" cy="372"/>
              </a:xfrm>
            </p:grpSpPr>
            <p:sp>
              <p:nvSpPr>
                <p:cNvPr id="1057823" name="Rectangle 31"/>
                <p:cNvSpPr>
                  <a:spLocks noChangeArrowheads="1"/>
                </p:cNvSpPr>
                <p:nvPr/>
              </p:nvSpPr>
              <p:spPr bwMode="auto">
                <a:xfrm>
                  <a:off x="2256" y="1536"/>
                  <a:ext cx="336" cy="24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pb</a:t>
                  </a:r>
                  <a:endParaRPr lang="en-US" altLang="zh-CN" sz="2400"/>
                </a:p>
              </p:txBody>
            </p:sp>
            <p:sp>
              <p:nvSpPr>
                <p:cNvPr id="1057824" name="Line 32"/>
                <p:cNvSpPr>
                  <a:spLocks noChangeShapeType="1"/>
                </p:cNvSpPr>
                <p:nvPr/>
              </p:nvSpPr>
              <p:spPr bwMode="auto">
                <a:xfrm flipV="1">
                  <a:off x="2439" y="1404"/>
                  <a:ext cx="0" cy="181"/>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nvGrpSpPr>
            <p:cNvPr id="107526" name="Group 33"/>
            <p:cNvGrpSpPr/>
            <p:nvPr/>
          </p:nvGrpSpPr>
          <p:grpSpPr bwMode="auto">
            <a:xfrm>
              <a:off x="384" y="1570"/>
              <a:ext cx="4673" cy="906"/>
              <a:chOff x="384" y="1570"/>
              <a:chExt cx="4673" cy="906"/>
            </a:xfrm>
          </p:grpSpPr>
          <p:grpSp>
            <p:nvGrpSpPr>
              <p:cNvPr id="107527" name="Group 34"/>
              <p:cNvGrpSpPr/>
              <p:nvPr/>
            </p:nvGrpSpPr>
            <p:grpSpPr bwMode="auto">
              <a:xfrm>
                <a:off x="1567" y="1985"/>
                <a:ext cx="720" cy="317"/>
                <a:chOff x="1008" y="1152"/>
                <a:chExt cx="720" cy="317"/>
              </a:xfrm>
            </p:grpSpPr>
            <p:sp>
              <p:nvSpPr>
                <p:cNvPr id="1057827" name="Rectangle 35"/>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-7    </a:t>
                  </a:r>
                  <a:endParaRPr lang="en-US" altLang="zh-CN" sz="2400"/>
                </a:p>
              </p:txBody>
            </p:sp>
            <p:sp>
              <p:nvSpPr>
                <p:cNvPr id="1057828" name="Line 36"/>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29" name="Line 37"/>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28" name="Group 38"/>
              <p:cNvGrpSpPr/>
              <p:nvPr/>
            </p:nvGrpSpPr>
            <p:grpSpPr bwMode="auto">
              <a:xfrm>
                <a:off x="2297" y="1975"/>
                <a:ext cx="720" cy="317"/>
                <a:chOff x="1008" y="1152"/>
                <a:chExt cx="720" cy="317"/>
              </a:xfrm>
            </p:grpSpPr>
            <p:sp>
              <p:nvSpPr>
                <p:cNvPr id="1057831" name="Rectangle 39"/>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3    </a:t>
                  </a:r>
                  <a:endParaRPr lang="en-US" altLang="zh-CN" sz="2400"/>
                </a:p>
              </p:txBody>
            </p:sp>
            <p:sp>
              <p:nvSpPr>
                <p:cNvPr id="1057832" name="Line 40"/>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33" name="Line 41"/>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29" name="Group 42"/>
              <p:cNvGrpSpPr/>
              <p:nvPr/>
            </p:nvGrpSpPr>
            <p:grpSpPr bwMode="auto">
              <a:xfrm>
                <a:off x="3027" y="1966"/>
                <a:ext cx="720" cy="317"/>
                <a:chOff x="1008" y="1152"/>
                <a:chExt cx="720" cy="317"/>
              </a:xfrm>
            </p:grpSpPr>
            <p:sp>
              <p:nvSpPr>
                <p:cNvPr id="1057835" name="Rectangle 43"/>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12    </a:t>
                  </a:r>
                  <a:endParaRPr lang="en-US" altLang="zh-CN" sz="2400"/>
                </a:p>
              </p:txBody>
            </p:sp>
            <p:sp>
              <p:nvSpPr>
                <p:cNvPr id="1057836" name="Line 44"/>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37" name="Line 45"/>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30" name="Group 46"/>
              <p:cNvGrpSpPr/>
              <p:nvPr/>
            </p:nvGrpSpPr>
            <p:grpSpPr bwMode="auto">
              <a:xfrm>
                <a:off x="3774" y="1897"/>
                <a:ext cx="693" cy="317"/>
                <a:chOff x="3189" y="2139"/>
                <a:chExt cx="693" cy="317"/>
              </a:xfrm>
            </p:grpSpPr>
            <p:sp>
              <p:nvSpPr>
                <p:cNvPr id="1057839" name="Rectangle 47"/>
                <p:cNvSpPr>
                  <a:spLocks noChangeArrowheads="1"/>
                </p:cNvSpPr>
                <p:nvPr/>
              </p:nvSpPr>
              <p:spPr bwMode="auto">
                <a:xfrm>
                  <a:off x="3189" y="2139"/>
                  <a:ext cx="544"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ea typeface="Arial Unicode MS" panose="020B0604020202020204" charset="-122"/>
                    </a:rPr>
                    <a:t>……</a:t>
                  </a:r>
                  <a:r>
                    <a:rPr lang="en-US" altLang="zh-CN" sz="2400"/>
                    <a:t>  </a:t>
                  </a:r>
                  <a:endParaRPr lang="en-US" altLang="zh-CN" sz="2400"/>
                </a:p>
              </p:txBody>
            </p:sp>
            <p:sp>
              <p:nvSpPr>
                <p:cNvPr id="1057840" name="Line 48"/>
                <p:cNvSpPr>
                  <a:spLocks noChangeShapeType="1"/>
                </p:cNvSpPr>
                <p:nvPr/>
              </p:nvSpPr>
              <p:spPr bwMode="auto">
                <a:xfrm>
                  <a:off x="3642" y="2352"/>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31" name="Group 49"/>
              <p:cNvGrpSpPr/>
              <p:nvPr/>
            </p:nvGrpSpPr>
            <p:grpSpPr bwMode="auto">
              <a:xfrm>
                <a:off x="4457" y="1974"/>
                <a:ext cx="600" cy="317"/>
                <a:chOff x="4457" y="1974"/>
                <a:chExt cx="600" cy="317"/>
              </a:xfrm>
            </p:grpSpPr>
            <p:sp>
              <p:nvSpPr>
                <p:cNvPr id="1057842" name="Rectangle 50"/>
                <p:cNvSpPr>
                  <a:spLocks noChangeArrowheads="1"/>
                </p:cNvSpPr>
                <p:nvPr/>
              </p:nvSpPr>
              <p:spPr bwMode="auto">
                <a:xfrm>
                  <a:off x="4457" y="1974"/>
                  <a:ext cx="600"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23    ⋀</a:t>
                  </a:r>
                  <a:endParaRPr lang="en-US" altLang="zh-CN" sz="2400"/>
                </a:p>
              </p:txBody>
            </p:sp>
            <p:sp>
              <p:nvSpPr>
                <p:cNvPr id="1057843" name="Line 51"/>
                <p:cNvSpPr>
                  <a:spLocks noChangeShapeType="1"/>
                </p:cNvSpPr>
                <p:nvPr/>
              </p:nvSpPr>
              <p:spPr bwMode="auto">
                <a:xfrm>
                  <a:off x="4841" y="1974"/>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32" name="Group 52"/>
              <p:cNvGrpSpPr/>
              <p:nvPr/>
            </p:nvGrpSpPr>
            <p:grpSpPr bwMode="auto">
              <a:xfrm>
                <a:off x="825" y="1726"/>
                <a:ext cx="720" cy="577"/>
                <a:chOff x="1008" y="892"/>
                <a:chExt cx="720" cy="577"/>
              </a:xfrm>
            </p:grpSpPr>
            <p:sp>
              <p:nvSpPr>
                <p:cNvPr id="1057845" name="Rectangle 53"/>
                <p:cNvSpPr>
                  <a:spLocks noChangeArrowheads="1"/>
                </p:cNvSpPr>
                <p:nvPr/>
              </p:nvSpPr>
              <p:spPr bwMode="auto">
                <a:xfrm>
                  <a:off x="1046" y="892"/>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La</a:t>
                  </a:r>
                  <a:endParaRPr lang="en-US" altLang="zh-CN" sz="2400"/>
                </a:p>
              </p:txBody>
            </p:sp>
            <p:grpSp>
              <p:nvGrpSpPr>
                <p:cNvPr id="107543" name="Group 54"/>
                <p:cNvGrpSpPr/>
                <p:nvPr/>
              </p:nvGrpSpPr>
              <p:grpSpPr bwMode="auto">
                <a:xfrm>
                  <a:off x="1008" y="1152"/>
                  <a:ext cx="720" cy="317"/>
                  <a:chOff x="1008" y="1152"/>
                  <a:chExt cx="720" cy="317"/>
                </a:xfrm>
              </p:grpSpPr>
              <p:sp>
                <p:nvSpPr>
                  <p:cNvPr id="1057847" name="Rectangle 55"/>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2400"/>
                      <a:t>   </a:t>
                    </a:r>
                    <a:endParaRPr lang="zh-CN" altLang="en-US" sz="2400"/>
                  </a:p>
                </p:txBody>
              </p:sp>
              <p:sp>
                <p:nvSpPr>
                  <p:cNvPr id="1057848" name="Line 56"/>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49" name="Line 57"/>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nvGrpSpPr>
              <p:cNvPr id="107533" name="Group 58"/>
              <p:cNvGrpSpPr/>
              <p:nvPr/>
            </p:nvGrpSpPr>
            <p:grpSpPr bwMode="auto">
              <a:xfrm>
                <a:off x="384" y="1870"/>
                <a:ext cx="441" cy="240"/>
                <a:chOff x="336" y="2640"/>
                <a:chExt cx="441" cy="240"/>
              </a:xfrm>
            </p:grpSpPr>
            <p:sp>
              <p:nvSpPr>
                <p:cNvPr id="1057851" name="Rectangle 59"/>
                <p:cNvSpPr>
                  <a:spLocks noChangeArrowheads="1"/>
                </p:cNvSpPr>
                <p:nvPr/>
              </p:nvSpPr>
              <p:spPr bwMode="auto">
                <a:xfrm>
                  <a:off x="336" y="2640"/>
                  <a:ext cx="33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Lc</a:t>
                  </a:r>
                  <a:endParaRPr lang="en-US" altLang="zh-CN" sz="2400"/>
                </a:p>
              </p:txBody>
            </p:sp>
            <p:sp>
              <p:nvSpPr>
                <p:cNvPr id="1057852" name="Line 60"/>
                <p:cNvSpPr>
                  <a:spLocks noChangeShapeType="1"/>
                </p:cNvSpPr>
                <p:nvPr/>
              </p:nvSpPr>
              <p:spPr bwMode="auto">
                <a:xfrm>
                  <a:off x="414" y="2877"/>
                  <a:ext cx="363"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34" name="Group 61"/>
              <p:cNvGrpSpPr/>
              <p:nvPr/>
            </p:nvGrpSpPr>
            <p:grpSpPr bwMode="auto">
              <a:xfrm>
                <a:off x="1626" y="1570"/>
                <a:ext cx="336" cy="405"/>
                <a:chOff x="2640" y="1776"/>
                <a:chExt cx="336" cy="405"/>
              </a:xfrm>
            </p:grpSpPr>
            <p:sp>
              <p:nvSpPr>
                <p:cNvPr id="1057854" name="Rectangle 62"/>
                <p:cNvSpPr>
                  <a:spLocks noChangeArrowheads="1"/>
                </p:cNvSpPr>
                <p:nvPr/>
              </p:nvSpPr>
              <p:spPr bwMode="auto">
                <a:xfrm>
                  <a:off x="2640" y="1776"/>
                  <a:ext cx="336" cy="272"/>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pa</a:t>
                  </a:r>
                  <a:endParaRPr lang="en-US" altLang="zh-CN" sz="2400"/>
                </a:p>
              </p:txBody>
            </p:sp>
            <p:sp>
              <p:nvSpPr>
                <p:cNvPr id="1057855" name="Line 63"/>
                <p:cNvSpPr>
                  <a:spLocks noChangeShapeType="1"/>
                </p:cNvSpPr>
                <p:nvPr/>
              </p:nvSpPr>
              <p:spPr bwMode="auto">
                <a:xfrm>
                  <a:off x="2802" y="2022"/>
                  <a:ext cx="0" cy="159"/>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35" name="Group 64"/>
              <p:cNvGrpSpPr/>
              <p:nvPr/>
            </p:nvGrpSpPr>
            <p:grpSpPr bwMode="auto">
              <a:xfrm>
                <a:off x="384" y="2236"/>
                <a:ext cx="441" cy="240"/>
                <a:chOff x="384" y="2016"/>
                <a:chExt cx="441" cy="240"/>
              </a:xfrm>
            </p:grpSpPr>
            <p:sp>
              <p:nvSpPr>
                <p:cNvPr id="1057857" name="Rectangle 65"/>
                <p:cNvSpPr>
                  <a:spLocks noChangeArrowheads="1"/>
                </p:cNvSpPr>
                <p:nvPr/>
              </p:nvSpPr>
              <p:spPr bwMode="auto">
                <a:xfrm>
                  <a:off x="384" y="2016"/>
                  <a:ext cx="33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pc</a:t>
                  </a:r>
                  <a:endParaRPr lang="en-US" altLang="zh-CN" sz="2400"/>
                </a:p>
              </p:txBody>
            </p:sp>
            <p:sp>
              <p:nvSpPr>
                <p:cNvPr id="1057858" name="Line 66"/>
                <p:cNvSpPr>
                  <a:spLocks noChangeShapeType="1"/>
                </p:cNvSpPr>
                <p:nvPr/>
              </p:nvSpPr>
              <p:spPr bwMode="auto">
                <a:xfrm>
                  <a:off x="462" y="2016"/>
                  <a:ext cx="363"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842" name="Rectangle 2"/>
          <p:cNvSpPr>
            <a:spLocks noGrp="1" noChangeArrowheads="1"/>
          </p:cNvSpPr>
          <p:nvPr>
            <p:ph/>
          </p:nvPr>
        </p:nvSpPr>
        <p:spPr>
          <a:xfrm>
            <a:off x="152400" y="152400"/>
            <a:ext cx="8763000" cy="612775"/>
          </a:xfrm>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normAutofit fontScale="92500"/>
          </a:bodyPr>
          <a:lstStyle/>
          <a:p>
            <a:pPr marL="0" indent="0">
              <a:lnSpc>
                <a:spcPct val="110000"/>
              </a:lnSpc>
              <a:buFontTx/>
              <a:buNone/>
              <a:defRPr/>
            </a:pPr>
            <a:r>
              <a:rPr lang="zh-CN" altLang="en-US" sz="3200" b="1"/>
              <a:t>合并了值为</a:t>
            </a:r>
            <a:r>
              <a:rPr lang="en-US" altLang="zh-CN" sz="3200" b="1"/>
              <a:t>-7</a:t>
            </a:r>
            <a:r>
              <a:rPr lang="zh-CN" altLang="en-US" sz="3200" b="1"/>
              <a:t>，</a:t>
            </a:r>
            <a:r>
              <a:rPr lang="en-US" altLang="zh-CN" sz="3200" b="1"/>
              <a:t>-2</a:t>
            </a:r>
            <a:r>
              <a:rPr lang="zh-CN" altLang="en-US" sz="3200" b="1"/>
              <a:t>的结点后示意图如图</a:t>
            </a:r>
            <a:r>
              <a:rPr lang="en-US" altLang="zh-CN" sz="3200" b="1"/>
              <a:t>2-5</a:t>
            </a:r>
            <a:r>
              <a:rPr lang="zh-CN" altLang="en-US" sz="3200" b="1"/>
              <a:t>所示。</a:t>
            </a:r>
            <a:endParaRPr lang="zh-CN" altLang="en-US" b="1">
              <a:solidFill>
                <a:schemeClr val="hlink"/>
              </a:solidFill>
              <a:latin typeface="宋体" panose="02010600030101010101" pitchFamily="2" charset="-122"/>
            </a:endParaRPr>
          </a:p>
        </p:txBody>
      </p:sp>
      <p:grpSp>
        <p:nvGrpSpPr>
          <p:cNvPr id="109570" name="Group 3"/>
          <p:cNvGrpSpPr/>
          <p:nvPr/>
        </p:nvGrpSpPr>
        <p:grpSpPr bwMode="auto">
          <a:xfrm>
            <a:off x="595313" y="862013"/>
            <a:ext cx="7505700" cy="3430587"/>
            <a:chOff x="375" y="543"/>
            <a:chExt cx="4728" cy="2161"/>
          </a:xfrm>
        </p:grpSpPr>
        <p:sp>
          <p:nvSpPr>
            <p:cNvPr id="1059844" name="Rectangle 4"/>
            <p:cNvSpPr>
              <a:spLocks noChangeArrowheads="1"/>
            </p:cNvSpPr>
            <p:nvPr/>
          </p:nvSpPr>
          <p:spPr bwMode="auto">
            <a:xfrm>
              <a:off x="1020" y="2432"/>
              <a:ext cx="3357"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ctr" eaLnBrk="1" hangingPunct="1">
                <a:defRPr/>
              </a:pPr>
              <a:r>
                <a:rPr lang="zh-CN" altLang="en-US" b="1">
                  <a:latin typeface="Arial" panose="020B0604020202020204" pitchFamily="34" charset="0"/>
                  <a:ea typeface="楷体_GB2312" charset="0"/>
                </a:rPr>
                <a:t>图</a:t>
              </a:r>
              <a:r>
                <a:rPr lang="en-US" altLang="zh-CN" b="1"/>
                <a:t>2-5 </a:t>
              </a:r>
              <a:r>
                <a:rPr lang="en-US" altLang="zh-CN" b="1">
                  <a:latin typeface="Arial" panose="020B0604020202020204" pitchFamily="34" charset="0"/>
                </a:rPr>
                <a:t>    </a:t>
              </a:r>
              <a:r>
                <a:rPr lang="zh-CN" altLang="en-US" b="1">
                  <a:ea typeface="楷体_GB2312" charset="0"/>
                </a:rPr>
                <a:t>合并了值为</a:t>
              </a:r>
              <a:r>
                <a:rPr lang="en-US" altLang="zh-CN" b="1">
                  <a:ea typeface="楷体_GB2312" charset="0"/>
                </a:rPr>
                <a:t>-7 </a:t>
              </a:r>
              <a:r>
                <a:rPr lang="zh-CN" altLang="en-US" b="1">
                  <a:ea typeface="楷体_GB2312" charset="0"/>
                </a:rPr>
                <a:t>，</a:t>
              </a:r>
              <a:r>
                <a:rPr lang="en-US" altLang="zh-CN" b="1">
                  <a:ea typeface="楷体_GB2312" charset="0"/>
                </a:rPr>
                <a:t>-2</a:t>
              </a:r>
              <a:r>
                <a:rPr lang="zh-CN" altLang="en-US" b="1">
                  <a:ea typeface="楷体_GB2312" charset="0"/>
                </a:rPr>
                <a:t>的结点后的状态</a:t>
              </a:r>
              <a:endParaRPr lang="zh-CN" altLang="en-US" b="1">
                <a:ea typeface="楷体_GB2312" charset="0"/>
              </a:endParaRPr>
            </a:p>
          </p:txBody>
        </p:sp>
        <p:grpSp>
          <p:nvGrpSpPr>
            <p:cNvPr id="109573" name="Group 5"/>
            <p:cNvGrpSpPr/>
            <p:nvPr/>
          </p:nvGrpSpPr>
          <p:grpSpPr bwMode="auto">
            <a:xfrm>
              <a:off x="825" y="1302"/>
              <a:ext cx="4278" cy="990"/>
              <a:chOff x="825" y="1302"/>
              <a:chExt cx="4278" cy="990"/>
            </a:xfrm>
          </p:grpSpPr>
          <p:grpSp>
            <p:nvGrpSpPr>
              <p:cNvPr id="109608" name="Group 6"/>
              <p:cNvGrpSpPr/>
              <p:nvPr/>
            </p:nvGrpSpPr>
            <p:grpSpPr bwMode="auto">
              <a:xfrm>
                <a:off x="1567" y="1561"/>
                <a:ext cx="720" cy="317"/>
                <a:chOff x="1008" y="1152"/>
                <a:chExt cx="720" cy="317"/>
              </a:xfrm>
            </p:grpSpPr>
            <p:sp>
              <p:nvSpPr>
                <p:cNvPr id="1059847" name="Rectangle 7"/>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-2    </a:t>
                  </a:r>
                  <a:endParaRPr lang="en-US" altLang="zh-CN" sz="2400"/>
                </a:p>
              </p:txBody>
            </p:sp>
            <p:sp>
              <p:nvSpPr>
                <p:cNvPr id="1059848" name="Line 8"/>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49" name="Line 9"/>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609" name="Group 10"/>
              <p:cNvGrpSpPr/>
              <p:nvPr/>
            </p:nvGrpSpPr>
            <p:grpSpPr bwMode="auto">
              <a:xfrm>
                <a:off x="2297" y="1551"/>
                <a:ext cx="720" cy="317"/>
                <a:chOff x="1008" y="1152"/>
                <a:chExt cx="720" cy="317"/>
              </a:xfrm>
            </p:grpSpPr>
            <p:sp>
              <p:nvSpPr>
                <p:cNvPr id="1059851" name="Rectangle 11"/>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4   </a:t>
                  </a:r>
                  <a:endParaRPr lang="en-US" altLang="zh-CN" sz="2400"/>
                </a:p>
              </p:txBody>
            </p:sp>
            <p:sp>
              <p:nvSpPr>
                <p:cNvPr id="1059852" name="Line 12"/>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53" name="Line 13"/>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610" name="Group 14"/>
              <p:cNvGrpSpPr/>
              <p:nvPr/>
            </p:nvGrpSpPr>
            <p:grpSpPr bwMode="auto">
              <a:xfrm>
                <a:off x="3027" y="1542"/>
                <a:ext cx="720" cy="317"/>
                <a:chOff x="1008" y="1152"/>
                <a:chExt cx="720" cy="317"/>
              </a:xfrm>
            </p:grpSpPr>
            <p:sp>
              <p:nvSpPr>
                <p:cNvPr id="1059855" name="Rectangle 15"/>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9    </a:t>
                  </a:r>
                  <a:endParaRPr lang="en-US" altLang="zh-CN" sz="2400"/>
                </a:p>
              </p:txBody>
            </p:sp>
            <p:sp>
              <p:nvSpPr>
                <p:cNvPr id="1059856" name="Line 16"/>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57" name="Line 17"/>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611" name="Group 18"/>
              <p:cNvGrpSpPr/>
              <p:nvPr/>
            </p:nvGrpSpPr>
            <p:grpSpPr bwMode="auto">
              <a:xfrm>
                <a:off x="3774" y="1473"/>
                <a:ext cx="693" cy="317"/>
                <a:chOff x="3189" y="2139"/>
                <a:chExt cx="693" cy="317"/>
              </a:xfrm>
            </p:grpSpPr>
            <p:sp>
              <p:nvSpPr>
                <p:cNvPr id="1059859" name="Rectangle 19"/>
                <p:cNvSpPr>
                  <a:spLocks noChangeArrowheads="1"/>
                </p:cNvSpPr>
                <p:nvPr/>
              </p:nvSpPr>
              <p:spPr bwMode="auto">
                <a:xfrm>
                  <a:off x="3189" y="2139"/>
                  <a:ext cx="544"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ea typeface="Arial Unicode MS" panose="020B0604020202020204" charset="-122"/>
                    </a:rPr>
                    <a:t>……</a:t>
                  </a:r>
                  <a:r>
                    <a:rPr lang="en-US" altLang="zh-CN" sz="2400"/>
                    <a:t>  </a:t>
                  </a:r>
                  <a:endParaRPr lang="en-US" altLang="zh-CN" sz="2400"/>
                </a:p>
              </p:txBody>
            </p:sp>
            <p:sp>
              <p:nvSpPr>
                <p:cNvPr id="1059860" name="Line 20"/>
                <p:cNvSpPr>
                  <a:spLocks noChangeShapeType="1"/>
                </p:cNvSpPr>
                <p:nvPr/>
              </p:nvSpPr>
              <p:spPr bwMode="auto">
                <a:xfrm>
                  <a:off x="3642" y="2352"/>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612" name="Group 21"/>
              <p:cNvGrpSpPr/>
              <p:nvPr/>
            </p:nvGrpSpPr>
            <p:grpSpPr bwMode="auto">
              <a:xfrm>
                <a:off x="4457" y="1550"/>
                <a:ext cx="646" cy="317"/>
                <a:chOff x="4457" y="1550"/>
                <a:chExt cx="646" cy="317"/>
              </a:xfrm>
            </p:grpSpPr>
            <p:sp>
              <p:nvSpPr>
                <p:cNvPr id="1059862" name="Rectangle 22"/>
                <p:cNvSpPr>
                  <a:spLocks noChangeArrowheads="1"/>
                </p:cNvSpPr>
                <p:nvPr/>
              </p:nvSpPr>
              <p:spPr bwMode="auto">
                <a:xfrm>
                  <a:off x="4457" y="1550"/>
                  <a:ext cx="646"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2400"/>
                    <a:t> </a:t>
                  </a:r>
                  <a:r>
                    <a:rPr lang="en-US" altLang="zh-CN" sz="2400"/>
                    <a:t>15   ⋀ </a:t>
                  </a:r>
                  <a:endParaRPr lang="en-US" altLang="zh-CN" sz="2400"/>
                </a:p>
              </p:txBody>
            </p:sp>
            <p:sp>
              <p:nvSpPr>
                <p:cNvPr id="1059863" name="Line 23"/>
                <p:cNvSpPr>
                  <a:spLocks noChangeShapeType="1"/>
                </p:cNvSpPr>
                <p:nvPr/>
              </p:nvSpPr>
              <p:spPr bwMode="auto">
                <a:xfrm>
                  <a:off x="4841" y="1550"/>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613" name="Group 24"/>
              <p:cNvGrpSpPr/>
              <p:nvPr/>
            </p:nvGrpSpPr>
            <p:grpSpPr bwMode="auto">
              <a:xfrm>
                <a:off x="825" y="1302"/>
                <a:ext cx="720" cy="577"/>
                <a:chOff x="1008" y="892"/>
                <a:chExt cx="720" cy="577"/>
              </a:xfrm>
            </p:grpSpPr>
            <p:sp>
              <p:nvSpPr>
                <p:cNvPr id="1059865" name="Rectangle 25"/>
                <p:cNvSpPr>
                  <a:spLocks noChangeArrowheads="1"/>
                </p:cNvSpPr>
                <p:nvPr/>
              </p:nvSpPr>
              <p:spPr bwMode="auto">
                <a:xfrm>
                  <a:off x="1046" y="892"/>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Lb</a:t>
                  </a:r>
                  <a:endParaRPr lang="en-US" altLang="zh-CN" sz="2400"/>
                </a:p>
              </p:txBody>
            </p:sp>
            <p:grpSp>
              <p:nvGrpSpPr>
                <p:cNvPr id="109621" name="Group 26"/>
                <p:cNvGrpSpPr/>
                <p:nvPr/>
              </p:nvGrpSpPr>
              <p:grpSpPr bwMode="auto">
                <a:xfrm>
                  <a:off x="1008" y="1152"/>
                  <a:ext cx="720" cy="317"/>
                  <a:chOff x="1008" y="1152"/>
                  <a:chExt cx="720" cy="317"/>
                </a:xfrm>
              </p:grpSpPr>
              <p:sp>
                <p:nvSpPr>
                  <p:cNvPr id="1059867" name="Rectangle 27"/>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2400"/>
                      <a:t>   </a:t>
                    </a:r>
                    <a:endParaRPr lang="zh-CN" altLang="en-US" sz="2400"/>
                  </a:p>
                </p:txBody>
              </p:sp>
              <p:sp>
                <p:nvSpPr>
                  <p:cNvPr id="1059868" name="Line 28"/>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69" name="Line 29"/>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nvGrpSpPr>
              <p:cNvPr id="109614" name="Group 30"/>
              <p:cNvGrpSpPr/>
              <p:nvPr/>
            </p:nvGrpSpPr>
            <p:grpSpPr bwMode="auto">
              <a:xfrm>
                <a:off x="1623" y="1873"/>
                <a:ext cx="336" cy="372"/>
                <a:chOff x="2256" y="1404"/>
                <a:chExt cx="336" cy="372"/>
              </a:xfrm>
            </p:grpSpPr>
            <p:sp>
              <p:nvSpPr>
                <p:cNvPr id="1059871" name="Rectangle 31"/>
                <p:cNvSpPr>
                  <a:spLocks noChangeArrowheads="1"/>
                </p:cNvSpPr>
                <p:nvPr/>
              </p:nvSpPr>
              <p:spPr bwMode="auto">
                <a:xfrm>
                  <a:off x="2256" y="1536"/>
                  <a:ext cx="336" cy="24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pc</a:t>
                  </a:r>
                  <a:endParaRPr lang="en-US" altLang="zh-CN" sz="2400"/>
                </a:p>
              </p:txBody>
            </p:sp>
            <p:sp>
              <p:nvSpPr>
                <p:cNvPr id="1059872" name="Line 32"/>
                <p:cNvSpPr>
                  <a:spLocks noChangeShapeType="1"/>
                </p:cNvSpPr>
                <p:nvPr/>
              </p:nvSpPr>
              <p:spPr bwMode="auto">
                <a:xfrm flipV="1">
                  <a:off x="2439" y="1404"/>
                  <a:ext cx="0" cy="181"/>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615" name="Group 33"/>
              <p:cNvGrpSpPr/>
              <p:nvPr/>
            </p:nvGrpSpPr>
            <p:grpSpPr bwMode="auto">
              <a:xfrm>
                <a:off x="2388" y="1870"/>
                <a:ext cx="336" cy="422"/>
                <a:chOff x="1626" y="1200"/>
                <a:chExt cx="336" cy="422"/>
              </a:xfrm>
            </p:grpSpPr>
            <p:sp>
              <p:nvSpPr>
                <p:cNvPr id="1059874" name="Rectangle 34"/>
                <p:cNvSpPr>
                  <a:spLocks noChangeArrowheads="1"/>
                </p:cNvSpPr>
                <p:nvPr/>
              </p:nvSpPr>
              <p:spPr bwMode="auto">
                <a:xfrm>
                  <a:off x="1626" y="1350"/>
                  <a:ext cx="336" cy="272"/>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pb</a:t>
                  </a:r>
                  <a:endParaRPr lang="en-US" altLang="zh-CN" sz="2400"/>
                </a:p>
              </p:txBody>
            </p:sp>
            <p:sp>
              <p:nvSpPr>
                <p:cNvPr id="1059875" name="Line 35"/>
                <p:cNvSpPr>
                  <a:spLocks noChangeShapeType="1"/>
                </p:cNvSpPr>
                <p:nvPr/>
              </p:nvSpPr>
              <p:spPr bwMode="auto">
                <a:xfrm>
                  <a:off x="1788" y="1200"/>
                  <a:ext cx="0" cy="159"/>
                </a:xfrm>
                <a:prstGeom prst="line">
                  <a:avLst/>
                </a:prstGeom>
                <a:noFill/>
                <a:ln w="1270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nvGrpSpPr>
            <p:cNvPr id="109574" name="Group 36"/>
            <p:cNvGrpSpPr/>
            <p:nvPr/>
          </p:nvGrpSpPr>
          <p:grpSpPr bwMode="auto">
            <a:xfrm>
              <a:off x="1616" y="1098"/>
              <a:ext cx="583" cy="462"/>
              <a:chOff x="1616" y="1098"/>
              <a:chExt cx="583" cy="462"/>
            </a:xfrm>
          </p:grpSpPr>
          <p:sp>
            <p:nvSpPr>
              <p:cNvPr id="1059877" name="Line 37"/>
              <p:cNvSpPr>
                <a:spLocks noChangeShapeType="1"/>
              </p:cNvSpPr>
              <p:nvPr/>
            </p:nvSpPr>
            <p:spPr bwMode="auto">
              <a:xfrm>
                <a:off x="1616" y="1368"/>
                <a:ext cx="576" cy="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78" name="Line 38"/>
              <p:cNvSpPr>
                <a:spLocks noChangeShapeType="1"/>
              </p:cNvSpPr>
              <p:nvPr/>
            </p:nvSpPr>
            <p:spPr bwMode="auto">
              <a:xfrm>
                <a:off x="2052" y="1098"/>
                <a:ext cx="144" cy="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79" name="Line 39"/>
              <p:cNvSpPr>
                <a:spLocks noChangeShapeType="1"/>
              </p:cNvSpPr>
              <p:nvPr/>
            </p:nvSpPr>
            <p:spPr bwMode="auto">
              <a:xfrm>
                <a:off x="2199" y="1101"/>
                <a:ext cx="0" cy="272"/>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80" name="Line 40"/>
              <p:cNvSpPr>
                <a:spLocks noChangeShapeType="1"/>
              </p:cNvSpPr>
              <p:nvPr/>
            </p:nvSpPr>
            <p:spPr bwMode="auto">
              <a:xfrm>
                <a:off x="1616" y="1368"/>
                <a:ext cx="0" cy="192"/>
              </a:xfrm>
              <a:prstGeom prst="line">
                <a:avLst/>
              </a:prstGeom>
              <a:noFill/>
              <a:ln w="127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75" name="Group 41"/>
            <p:cNvGrpSpPr/>
            <p:nvPr/>
          </p:nvGrpSpPr>
          <p:grpSpPr bwMode="auto">
            <a:xfrm>
              <a:off x="375" y="543"/>
              <a:ext cx="4682" cy="730"/>
              <a:chOff x="375" y="543"/>
              <a:chExt cx="4682" cy="730"/>
            </a:xfrm>
          </p:grpSpPr>
          <p:grpSp>
            <p:nvGrpSpPr>
              <p:cNvPr id="109576" name="Group 42"/>
              <p:cNvGrpSpPr/>
              <p:nvPr/>
            </p:nvGrpSpPr>
            <p:grpSpPr bwMode="auto">
              <a:xfrm>
                <a:off x="375" y="897"/>
                <a:ext cx="441" cy="240"/>
                <a:chOff x="375" y="978"/>
                <a:chExt cx="441" cy="240"/>
              </a:xfrm>
            </p:grpSpPr>
            <p:sp>
              <p:nvSpPr>
                <p:cNvPr id="1059883" name="Rectangle 43"/>
                <p:cNvSpPr>
                  <a:spLocks noChangeArrowheads="1"/>
                </p:cNvSpPr>
                <p:nvPr/>
              </p:nvSpPr>
              <p:spPr bwMode="auto">
                <a:xfrm>
                  <a:off x="375" y="978"/>
                  <a:ext cx="33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Lc</a:t>
                  </a:r>
                  <a:endParaRPr lang="en-US" altLang="zh-CN" sz="2400"/>
                </a:p>
              </p:txBody>
            </p:sp>
            <p:sp>
              <p:nvSpPr>
                <p:cNvPr id="1059884" name="Line 44"/>
                <p:cNvSpPr>
                  <a:spLocks noChangeShapeType="1"/>
                </p:cNvSpPr>
                <p:nvPr/>
              </p:nvSpPr>
              <p:spPr bwMode="auto">
                <a:xfrm>
                  <a:off x="453" y="1215"/>
                  <a:ext cx="363" cy="0"/>
                </a:xfrm>
                <a:prstGeom prst="line">
                  <a:avLst/>
                </a:prstGeom>
                <a:noFill/>
                <a:ln w="127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77" name="Group 45"/>
              <p:cNvGrpSpPr/>
              <p:nvPr/>
            </p:nvGrpSpPr>
            <p:grpSpPr bwMode="auto">
              <a:xfrm>
                <a:off x="1558" y="955"/>
                <a:ext cx="544" cy="317"/>
                <a:chOff x="1558" y="1036"/>
                <a:chExt cx="544" cy="317"/>
              </a:xfrm>
            </p:grpSpPr>
            <p:sp>
              <p:nvSpPr>
                <p:cNvPr id="1059886" name="Rectangle 46"/>
                <p:cNvSpPr>
                  <a:spLocks noChangeArrowheads="1"/>
                </p:cNvSpPr>
                <p:nvPr/>
              </p:nvSpPr>
              <p:spPr bwMode="auto">
                <a:xfrm>
                  <a:off x="1558" y="1036"/>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-7    </a:t>
                  </a:r>
                  <a:endParaRPr lang="en-US" altLang="zh-CN" sz="2400"/>
                </a:p>
              </p:txBody>
            </p:sp>
            <p:sp>
              <p:nvSpPr>
                <p:cNvPr id="1059887" name="Line 47"/>
                <p:cNvSpPr>
                  <a:spLocks noChangeShapeType="1"/>
                </p:cNvSpPr>
                <p:nvPr/>
              </p:nvSpPr>
              <p:spPr bwMode="auto">
                <a:xfrm>
                  <a:off x="1988" y="1036"/>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78" name="Group 48"/>
              <p:cNvGrpSpPr/>
              <p:nvPr/>
            </p:nvGrpSpPr>
            <p:grpSpPr bwMode="auto">
              <a:xfrm>
                <a:off x="2288" y="945"/>
                <a:ext cx="720" cy="317"/>
                <a:chOff x="1008" y="1152"/>
                <a:chExt cx="720" cy="317"/>
              </a:xfrm>
            </p:grpSpPr>
            <p:sp>
              <p:nvSpPr>
                <p:cNvPr id="1059889" name="Rectangle 49"/>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3    </a:t>
                  </a:r>
                  <a:endParaRPr lang="en-US" altLang="zh-CN" sz="2400"/>
                </a:p>
              </p:txBody>
            </p:sp>
            <p:sp>
              <p:nvSpPr>
                <p:cNvPr id="1059890" name="Line 50"/>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91" name="Line 51"/>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79" name="Group 52"/>
              <p:cNvGrpSpPr/>
              <p:nvPr/>
            </p:nvGrpSpPr>
            <p:grpSpPr bwMode="auto">
              <a:xfrm>
                <a:off x="3018" y="936"/>
                <a:ext cx="720" cy="317"/>
                <a:chOff x="1008" y="1152"/>
                <a:chExt cx="720" cy="317"/>
              </a:xfrm>
            </p:grpSpPr>
            <p:sp>
              <p:nvSpPr>
                <p:cNvPr id="1059893" name="Rectangle 53"/>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12    </a:t>
                  </a:r>
                  <a:endParaRPr lang="en-US" altLang="zh-CN" sz="2400"/>
                </a:p>
              </p:txBody>
            </p:sp>
            <p:sp>
              <p:nvSpPr>
                <p:cNvPr id="1059894" name="Line 54"/>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95" name="Line 55"/>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80" name="Group 56"/>
              <p:cNvGrpSpPr/>
              <p:nvPr/>
            </p:nvGrpSpPr>
            <p:grpSpPr bwMode="auto">
              <a:xfrm>
                <a:off x="3765" y="867"/>
                <a:ext cx="693" cy="317"/>
                <a:chOff x="3189" y="2139"/>
                <a:chExt cx="693" cy="317"/>
              </a:xfrm>
            </p:grpSpPr>
            <p:sp>
              <p:nvSpPr>
                <p:cNvPr id="1059897" name="Rectangle 57"/>
                <p:cNvSpPr>
                  <a:spLocks noChangeArrowheads="1"/>
                </p:cNvSpPr>
                <p:nvPr/>
              </p:nvSpPr>
              <p:spPr bwMode="auto">
                <a:xfrm>
                  <a:off x="3189" y="2139"/>
                  <a:ext cx="544"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ea typeface="Arial Unicode MS" panose="020B0604020202020204" charset="-122"/>
                    </a:rPr>
                    <a:t>……</a:t>
                  </a:r>
                  <a:r>
                    <a:rPr lang="en-US" altLang="zh-CN" sz="2400"/>
                    <a:t>  </a:t>
                  </a:r>
                  <a:endParaRPr lang="en-US" altLang="zh-CN" sz="2400"/>
                </a:p>
              </p:txBody>
            </p:sp>
            <p:sp>
              <p:nvSpPr>
                <p:cNvPr id="1059898" name="Line 58"/>
                <p:cNvSpPr>
                  <a:spLocks noChangeShapeType="1"/>
                </p:cNvSpPr>
                <p:nvPr/>
              </p:nvSpPr>
              <p:spPr bwMode="auto">
                <a:xfrm>
                  <a:off x="3642" y="2352"/>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81" name="Group 59"/>
              <p:cNvGrpSpPr/>
              <p:nvPr/>
            </p:nvGrpSpPr>
            <p:grpSpPr bwMode="auto">
              <a:xfrm>
                <a:off x="4448" y="944"/>
                <a:ext cx="609" cy="317"/>
                <a:chOff x="4448" y="944"/>
                <a:chExt cx="609" cy="317"/>
              </a:xfrm>
            </p:grpSpPr>
            <p:sp>
              <p:nvSpPr>
                <p:cNvPr id="1059900" name="Rectangle 60"/>
                <p:cNvSpPr>
                  <a:spLocks noChangeArrowheads="1"/>
                </p:cNvSpPr>
                <p:nvPr/>
              </p:nvSpPr>
              <p:spPr bwMode="auto">
                <a:xfrm>
                  <a:off x="4448" y="944"/>
                  <a:ext cx="609"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23    ⋀ </a:t>
                  </a:r>
                  <a:endParaRPr lang="en-US" altLang="zh-CN" sz="2400"/>
                </a:p>
              </p:txBody>
            </p:sp>
            <p:sp>
              <p:nvSpPr>
                <p:cNvPr id="1059901" name="Line 61"/>
                <p:cNvSpPr>
                  <a:spLocks noChangeShapeType="1"/>
                </p:cNvSpPr>
                <p:nvPr/>
              </p:nvSpPr>
              <p:spPr bwMode="auto">
                <a:xfrm>
                  <a:off x="4832" y="944"/>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82" name="Group 62"/>
              <p:cNvGrpSpPr/>
              <p:nvPr/>
            </p:nvGrpSpPr>
            <p:grpSpPr bwMode="auto">
              <a:xfrm>
                <a:off x="816" y="696"/>
                <a:ext cx="720" cy="577"/>
                <a:chOff x="816" y="777"/>
                <a:chExt cx="720" cy="577"/>
              </a:xfrm>
            </p:grpSpPr>
            <p:sp>
              <p:nvSpPr>
                <p:cNvPr id="1059903" name="Rectangle 63"/>
                <p:cNvSpPr>
                  <a:spLocks noChangeArrowheads="1"/>
                </p:cNvSpPr>
                <p:nvPr/>
              </p:nvSpPr>
              <p:spPr bwMode="auto">
                <a:xfrm>
                  <a:off x="854" y="777"/>
                  <a:ext cx="39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La</a:t>
                  </a:r>
                  <a:endParaRPr lang="en-US" altLang="zh-CN" sz="2400"/>
                </a:p>
              </p:txBody>
            </p:sp>
            <p:sp>
              <p:nvSpPr>
                <p:cNvPr id="1059904" name="Rectangle 64"/>
                <p:cNvSpPr>
                  <a:spLocks noChangeArrowheads="1"/>
                </p:cNvSpPr>
                <p:nvPr/>
              </p:nvSpPr>
              <p:spPr bwMode="auto">
                <a:xfrm>
                  <a:off x="816" y="1037"/>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2400"/>
                    <a:t>   </a:t>
                  </a:r>
                  <a:endParaRPr lang="zh-CN" altLang="en-US" sz="2400"/>
                </a:p>
              </p:txBody>
            </p:sp>
            <p:sp>
              <p:nvSpPr>
                <p:cNvPr id="1059905" name="Line 65"/>
                <p:cNvSpPr>
                  <a:spLocks noChangeShapeType="1"/>
                </p:cNvSpPr>
                <p:nvPr/>
              </p:nvSpPr>
              <p:spPr bwMode="auto">
                <a:xfrm>
                  <a:off x="1246" y="1037"/>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906" name="Line 66"/>
                <p:cNvSpPr>
                  <a:spLocks noChangeShapeType="1"/>
                </p:cNvSpPr>
                <p:nvPr/>
              </p:nvSpPr>
              <p:spPr bwMode="auto">
                <a:xfrm>
                  <a:off x="1296" y="1181"/>
                  <a:ext cx="240" cy="0"/>
                </a:xfrm>
                <a:prstGeom prst="line">
                  <a:avLst/>
                </a:prstGeom>
                <a:noFill/>
                <a:ln w="127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83" name="Group 67"/>
              <p:cNvGrpSpPr/>
              <p:nvPr/>
            </p:nvGrpSpPr>
            <p:grpSpPr bwMode="auto">
              <a:xfrm>
                <a:off x="2343" y="543"/>
                <a:ext cx="336" cy="405"/>
                <a:chOff x="2640" y="1776"/>
                <a:chExt cx="336" cy="405"/>
              </a:xfrm>
            </p:grpSpPr>
            <p:sp>
              <p:nvSpPr>
                <p:cNvPr id="1059908" name="Rectangle 68"/>
                <p:cNvSpPr>
                  <a:spLocks noChangeArrowheads="1"/>
                </p:cNvSpPr>
                <p:nvPr/>
              </p:nvSpPr>
              <p:spPr bwMode="auto">
                <a:xfrm>
                  <a:off x="2640" y="1776"/>
                  <a:ext cx="336" cy="272"/>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pa</a:t>
                  </a:r>
                  <a:endParaRPr lang="en-US" altLang="zh-CN" sz="2400"/>
                </a:p>
              </p:txBody>
            </p:sp>
            <p:sp>
              <p:nvSpPr>
                <p:cNvPr id="1059909" name="Line 69"/>
                <p:cNvSpPr>
                  <a:spLocks noChangeShapeType="1"/>
                </p:cNvSpPr>
                <p:nvPr/>
              </p:nvSpPr>
              <p:spPr bwMode="auto">
                <a:xfrm>
                  <a:off x="2802" y="2022"/>
                  <a:ext cx="0" cy="159"/>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sp>
        <p:nvSpPr>
          <p:cNvPr id="1059910" name="Rectangle 70"/>
          <p:cNvSpPr>
            <a:spLocks noChangeArrowheads="1"/>
          </p:cNvSpPr>
          <p:nvPr/>
        </p:nvSpPr>
        <p:spPr bwMode="auto">
          <a:xfrm>
            <a:off x="138113" y="4508500"/>
            <a:ext cx="876300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eaLnBrk="0" hangingPunct="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768350" indent="-285750" eaLnBrk="0" hangingPunct="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87450" indent="-228600" eaLnBrk="0" hangingPunct="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06550" indent="-228600" eaLnBrk="0" hangingPunct="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10000"/>
              </a:lnSpc>
              <a:buFontTx/>
              <a:buNone/>
              <a:defRPr/>
            </a:pPr>
            <a:r>
              <a:rPr lang="zh-CN" altLang="en-US" b="1"/>
              <a:t>算法说明</a:t>
            </a:r>
            <a:endParaRPr lang="zh-CN" altLang="en-US" sz="3200" b="1"/>
          </a:p>
          <a:p>
            <a:pPr>
              <a:lnSpc>
                <a:spcPct val="110000"/>
              </a:lnSpc>
              <a:buFontTx/>
              <a:buNone/>
              <a:defRPr/>
            </a:pPr>
            <a:r>
              <a:rPr lang="zh-CN" altLang="en-US" sz="3200" b="1"/>
              <a:t>        算法中</a:t>
            </a:r>
            <a:r>
              <a:rPr lang="en-US" altLang="zh-CN" sz="3200" b="1"/>
              <a:t>pa </a:t>
            </a:r>
            <a:r>
              <a:rPr lang="zh-CN" altLang="en-US" sz="3200" b="1"/>
              <a:t>，</a:t>
            </a:r>
            <a:r>
              <a:rPr lang="en-US" altLang="zh-CN" sz="3200" b="1"/>
              <a:t>pb</a:t>
            </a:r>
            <a:r>
              <a:rPr lang="zh-CN" altLang="en-US" sz="3200" b="1"/>
              <a:t>分别是待考察的两个链表的当前结点，</a:t>
            </a:r>
            <a:r>
              <a:rPr lang="en-US" altLang="zh-CN" sz="3200" b="1"/>
              <a:t>pc</a:t>
            </a:r>
            <a:r>
              <a:rPr lang="zh-CN" altLang="en-US" sz="3200" b="1"/>
              <a:t>是合并过程中合并的链表的最后一个结点。</a:t>
            </a:r>
            <a:endParaRPr lang="zh-CN" altLang="en-US" sz="3200" b="1"/>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890" name="Rectangle 2"/>
          <p:cNvSpPr>
            <a:spLocks noGrp="1" noChangeArrowheads="1"/>
          </p:cNvSpPr>
          <p:nvPr>
            <p:ph/>
          </p:nvPr>
        </p:nvSpPr>
        <p:spPr>
          <a:xfrm>
            <a:off x="152400" y="152400"/>
            <a:ext cx="8839200" cy="6553200"/>
          </a:xfrm>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marL="0" indent="0">
              <a:lnSpc>
                <a:spcPct val="110000"/>
              </a:lnSpc>
              <a:buFontTx/>
              <a:buNone/>
              <a:defRPr/>
            </a:pPr>
            <a:r>
              <a:rPr lang="zh-CN" altLang="en-US" b="1">
                <a:latin typeface="宋体" panose="02010600030101010101" pitchFamily="2" charset="-122"/>
              </a:rPr>
              <a:t>算法描述</a:t>
            </a:r>
            <a:endParaRPr lang="zh-CN" altLang="en-US" b="1">
              <a:latin typeface="宋体" panose="02010600030101010101" pitchFamily="2" charset="-122"/>
            </a:endParaRPr>
          </a:p>
          <a:p>
            <a:pPr marL="0" indent="0">
              <a:lnSpc>
                <a:spcPct val="110000"/>
              </a:lnSpc>
              <a:buFontTx/>
              <a:buNone/>
              <a:defRPr/>
            </a:pPr>
            <a:r>
              <a:rPr lang="en-US" altLang="zh-CN" sz="2800" b="1"/>
              <a:t>LNode  *Merge_LinkList(LNode *La</a:t>
            </a:r>
            <a:r>
              <a:rPr lang="zh-CN" altLang="en-US" sz="2800" b="1"/>
              <a:t>， </a:t>
            </a:r>
            <a:r>
              <a:rPr lang="en-US" altLang="zh-CN" sz="2800" b="1"/>
              <a:t>LNode *Lb)</a:t>
            </a:r>
            <a:endParaRPr lang="en-US" altLang="zh-CN" sz="2800" b="1"/>
          </a:p>
          <a:p>
            <a:pPr marL="0" indent="0">
              <a:lnSpc>
                <a:spcPct val="110000"/>
              </a:lnSpc>
              <a:buFontTx/>
              <a:buNone/>
              <a:defRPr/>
            </a:pPr>
            <a:r>
              <a:rPr lang="en-US" altLang="zh-CN" sz="2400" b="1"/>
              <a:t>      /*  </a:t>
            </a:r>
            <a:r>
              <a:rPr lang="zh-CN" altLang="en-US" sz="2400" b="1"/>
              <a:t>合并以</a:t>
            </a:r>
            <a:r>
              <a:rPr lang="en-US" altLang="zh-CN" sz="2400" b="1"/>
              <a:t>La, Lb</a:t>
            </a:r>
            <a:r>
              <a:rPr lang="zh-CN" altLang="en-US" sz="2400" b="1"/>
              <a:t>为头结点的两个有序单链表   *</a:t>
            </a:r>
            <a:r>
              <a:rPr lang="en-US" altLang="zh-CN" sz="2400" b="1"/>
              <a:t>/</a:t>
            </a:r>
            <a:endParaRPr lang="en-US" altLang="zh-CN" sz="2400" b="1"/>
          </a:p>
          <a:p>
            <a:pPr marL="355600" lvl="1" indent="0">
              <a:lnSpc>
                <a:spcPct val="110000"/>
              </a:lnSpc>
              <a:buFontTx/>
              <a:buNone/>
              <a:defRPr/>
            </a:pPr>
            <a:r>
              <a:rPr lang="en-US" altLang="zh-CN" sz="2800" b="1"/>
              <a:t>{    LNode *Lc,  *pa ,  *pb ,  *pc, *ptr ;</a:t>
            </a:r>
            <a:endParaRPr lang="en-US" altLang="zh-CN" sz="2800" b="1"/>
          </a:p>
          <a:p>
            <a:pPr marL="723900" lvl="2" indent="0">
              <a:lnSpc>
                <a:spcPct val="110000"/>
              </a:lnSpc>
              <a:buFontTx/>
              <a:buNone/>
              <a:defRPr/>
            </a:pPr>
            <a:r>
              <a:rPr lang="en-US" altLang="zh-CN" b="1"/>
              <a:t>Lc=La ;  pc=La  ;    pa=La-&gt;next ;  pb=Lb-&gt;next  ;</a:t>
            </a:r>
            <a:endParaRPr lang="en-US" altLang="zh-CN" b="1"/>
          </a:p>
          <a:p>
            <a:pPr marL="723900" lvl="2" indent="0">
              <a:lnSpc>
                <a:spcPct val="110000"/>
              </a:lnSpc>
              <a:buFontTx/>
              <a:buNone/>
              <a:defRPr/>
            </a:pPr>
            <a:r>
              <a:rPr lang="en-US" altLang="zh-CN" b="1"/>
              <a:t> while (pa!=NULL	&amp;&amp; pb!=NULL)</a:t>
            </a:r>
            <a:endParaRPr lang="en-US" altLang="zh-CN" b="1"/>
          </a:p>
          <a:p>
            <a:pPr marL="1079500" lvl="3" indent="0">
              <a:lnSpc>
                <a:spcPct val="110000"/>
              </a:lnSpc>
              <a:buFontTx/>
              <a:buNone/>
              <a:defRPr/>
            </a:pPr>
            <a:r>
              <a:rPr lang="en-US" altLang="zh-CN" sz="2800" b="1"/>
              <a:t> {  if  (pa-&gt;data&lt;pb-&gt;data)</a:t>
            </a:r>
            <a:endParaRPr lang="en-US" altLang="zh-CN" sz="2800" b="1"/>
          </a:p>
          <a:p>
            <a:pPr marL="1435100" lvl="4" indent="0">
              <a:lnSpc>
                <a:spcPct val="110000"/>
              </a:lnSpc>
              <a:buFontTx/>
              <a:buNone/>
              <a:defRPr/>
            </a:pPr>
            <a:r>
              <a:rPr lang="en-US" altLang="zh-CN" sz="2400" b="1"/>
              <a:t>    {   pc-&gt;next=pa ;  pc=pa ;   pa=pa-&gt;next  ;   }</a:t>
            </a:r>
            <a:endParaRPr lang="en-US" altLang="zh-CN" sz="2400" b="1"/>
          </a:p>
          <a:p>
            <a:pPr marL="1435100" lvl="4" indent="0">
              <a:lnSpc>
                <a:spcPct val="110000"/>
              </a:lnSpc>
              <a:buFontTx/>
              <a:buNone/>
              <a:defRPr/>
            </a:pPr>
            <a:r>
              <a:rPr lang="en-US" altLang="zh-CN" b="1"/>
              <a:t>/*  </a:t>
            </a:r>
            <a:r>
              <a:rPr lang="zh-CN" altLang="en-US" b="1"/>
              <a:t>将</a:t>
            </a:r>
            <a:r>
              <a:rPr lang="en-US" altLang="zh-CN" b="1"/>
              <a:t>pa</a:t>
            </a:r>
            <a:r>
              <a:rPr lang="zh-CN" altLang="en-US" b="1"/>
              <a:t>所指的结点合并，</a:t>
            </a:r>
            <a:r>
              <a:rPr lang="en-US" altLang="zh-CN" b="1"/>
              <a:t>pa</a:t>
            </a:r>
            <a:r>
              <a:rPr lang="zh-CN" altLang="en-US" b="1"/>
              <a:t>指向下一个结点  *</a:t>
            </a:r>
            <a:r>
              <a:rPr lang="en-US" altLang="zh-CN" b="1"/>
              <a:t>/</a:t>
            </a:r>
            <a:endParaRPr lang="en-US" altLang="zh-CN" b="1"/>
          </a:p>
          <a:p>
            <a:pPr marL="1435100" lvl="4" indent="0">
              <a:lnSpc>
                <a:spcPct val="110000"/>
              </a:lnSpc>
              <a:buFontTx/>
              <a:buNone/>
              <a:defRPr/>
            </a:pPr>
            <a:r>
              <a:rPr lang="en-US" altLang="zh-CN" sz="2400" b="1"/>
              <a:t>if  (pa-&gt;data&gt;pb-&gt;data)</a:t>
            </a:r>
            <a:endParaRPr lang="en-US" altLang="zh-CN" sz="2400" b="1"/>
          </a:p>
          <a:p>
            <a:pPr marL="1435100" lvl="4" indent="0">
              <a:lnSpc>
                <a:spcPct val="110000"/>
              </a:lnSpc>
              <a:buFontTx/>
              <a:buNone/>
              <a:defRPr/>
            </a:pPr>
            <a:r>
              <a:rPr lang="en-US" altLang="zh-CN" sz="2400" b="1"/>
              <a:t>    {   pc-&gt;next=pb ;  pc=pb ;   pb=pb-&gt;next  ;   }</a:t>
            </a:r>
            <a:endParaRPr lang="en-US" altLang="zh-CN" sz="2400" b="1"/>
          </a:p>
          <a:p>
            <a:pPr marL="1435100" lvl="4" indent="0">
              <a:lnSpc>
                <a:spcPct val="110000"/>
              </a:lnSpc>
              <a:buFontTx/>
              <a:buNone/>
              <a:defRPr/>
            </a:pPr>
            <a:r>
              <a:rPr lang="en-US" altLang="zh-CN" b="1"/>
              <a:t>/*  </a:t>
            </a:r>
            <a:r>
              <a:rPr lang="zh-CN" altLang="en-US" b="1"/>
              <a:t>将</a:t>
            </a:r>
            <a:r>
              <a:rPr lang="en-US" altLang="zh-CN" b="1"/>
              <a:t>pa</a:t>
            </a:r>
            <a:r>
              <a:rPr lang="zh-CN" altLang="en-US" b="1"/>
              <a:t>所指的结点合并，</a:t>
            </a:r>
            <a:r>
              <a:rPr lang="en-US" altLang="zh-CN" b="1"/>
              <a:t>pa</a:t>
            </a:r>
            <a:r>
              <a:rPr lang="zh-CN" altLang="en-US" b="1"/>
              <a:t>指向下一个结点  *</a:t>
            </a:r>
            <a:r>
              <a:rPr lang="en-US" altLang="zh-CN" b="1"/>
              <a:t>/</a:t>
            </a:r>
            <a:endParaRPr lang="en-US" altLang="zh-CN" sz="2400" b="1"/>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8" name="Rectangle 2"/>
          <p:cNvSpPr>
            <a:spLocks noGrp="1" noChangeArrowheads="1"/>
          </p:cNvSpPr>
          <p:nvPr>
            <p:ph/>
          </p:nvPr>
        </p:nvSpPr>
        <p:spPr>
          <a:xfrm>
            <a:off x="152400" y="152400"/>
            <a:ext cx="8839200" cy="6553200"/>
          </a:xfrm>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marL="1435100" lvl="4" indent="0">
              <a:buFontTx/>
              <a:buNone/>
              <a:defRPr/>
            </a:pPr>
            <a:r>
              <a:rPr lang="en-US" altLang="zh-CN" sz="2400" b="1"/>
              <a:t>if  (pa-&gt;data==pb-&gt;data)</a:t>
            </a:r>
            <a:endParaRPr lang="en-US" altLang="zh-CN" sz="2400" b="1"/>
          </a:p>
          <a:p>
            <a:pPr marL="1435100" lvl="4" indent="0">
              <a:buFontTx/>
              <a:buNone/>
              <a:defRPr/>
            </a:pPr>
            <a:r>
              <a:rPr lang="en-US" altLang="zh-CN" sz="2400" b="1"/>
              <a:t>    {   pc-&gt;next=pa ;  pc=pa ;   pa=pa-&gt;next  ; </a:t>
            </a:r>
            <a:endParaRPr lang="en-US" altLang="zh-CN" sz="2400" b="1"/>
          </a:p>
          <a:p>
            <a:pPr marL="1435100" lvl="4" indent="0">
              <a:buFontTx/>
              <a:buNone/>
              <a:defRPr/>
            </a:pPr>
            <a:r>
              <a:rPr lang="en-US" altLang="zh-CN" sz="2400" b="1"/>
              <a:t>         ptr=pb ; pb=pb-&gt;next ; free(ptr) ;   }</a:t>
            </a:r>
            <a:endParaRPr lang="en-US" altLang="zh-CN" sz="2400" b="1"/>
          </a:p>
          <a:p>
            <a:pPr marL="1435100" lvl="4" indent="0">
              <a:buFontTx/>
              <a:buNone/>
              <a:defRPr/>
            </a:pPr>
            <a:r>
              <a:rPr lang="en-US" altLang="zh-CN" b="1"/>
              <a:t>/*  </a:t>
            </a:r>
            <a:r>
              <a:rPr lang="zh-CN" altLang="en-US" b="1"/>
              <a:t>将</a:t>
            </a:r>
            <a:r>
              <a:rPr lang="en-US" altLang="zh-CN" b="1"/>
              <a:t>pa</a:t>
            </a:r>
            <a:r>
              <a:rPr lang="zh-CN" altLang="en-US" b="1"/>
              <a:t>所指的结点合并，</a:t>
            </a:r>
            <a:r>
              <a:rPr lang="en-US" altLang="zh-CN" b="1"/>
              <a:t>pb</a:t>
            </a:r>
            <a:r>
              <a:rPr lang="zh-CN" altLang="en-US" b="1"/>
              <a:t>所指结点删除  *</a:t>
            </a:r>
            <a:r>
              <a:rPr lang="en-US" altLang="zh-CN" b="1"/>
              <a:t>/</a:t>
            </a:r>
            <a:endParaRPr lang="en-US" altLang="zh-CN" sz="2400" b="1"/>
          </a:p>
          <a:p>
            <a:pPr marL="1079500" lvl="3" indent="0">
              <a:buFontTx/>
              <a:buNone/>
              <a:defRPr/>
            </a:pPr>
            <a:r>
              <a:rPr lang="en-US" altLang="zh-CN" sz="2800" b="1"/>
              <a:t>}</a:t>
            </a:r>
            <a:endParaRPr lang="en-US" altLang="zh-CN" sz="2800" b="1"/>
          </a:p>
          <a:p>
            <a:pPr marL="723900" lvl="2" indent="0">
              <a:buFontTx/>
              <a:buNone/>
              <a:defRPr/>
            </a:pPr>
            <a:r>
              <a:rPr lang="en-US" altLang="zh-CN" b="1"/>
              <a:t> if  (pa!=NULL)  pc-&gt;next=pa ;</a:t>
            </a:r>
            <a:endParaRPr lang="en-US" altLang="zh-CN" b="1"/>
          </a:p>
          <a:p>
            <a:pPr marL="723900" lvl="2" indent="0">
              <a:buFontTx/>
              <a:buNone/>
              <a:defRPr/>
            </a:pPr>
            <a:r>
              <a:rPr lang="en-US" altLang="zh-CN" b="1"/>
              <a:t>else   pc-&gt;next=pb ;</a:t>
            </a:r>
            <a:r>
              <a:rPr lang="en-US" altLang="zh-CN" sz="2400" b="1"/>
              <a:t>     /*</a:t>
            </a:r>
            <a:r>
              <a:rPr lang="zh-CN" altLang="en-US" sz="2400" b="1"/>
              <a:t>将剩余的结点链上*</a:t>
            </a:r>
            <a:r>
              <a:rPr lang="en-US" altLang="zh-CN" sz="2400" b="1"/>
              <a:t>/</a:t>
            </a:r>
            <a:endParaRPr lang="en-US" altLang="zh-CN" sz="2400" b="1"/>
          </a:p>
          <a:p>
            <a:pPr marL="723900" lvl="2" indent="0">
              <a:buFontTx/>
              <a:buNone/>
              <a:defRPr/>
            </a:pPr>
            <a:r>
              <a:rPr lang="en-US" altLang="zh-CN" b="1"/>
              <a:t>free(Lb) ;</a:t>
            </a:r>
            <a:endParaRPr lang="en-US" altLang="zh-CN" b="1"/>
          </a:p>
          <a:p>
            <a:pPr marL="723900" lvl="2" indent="0">
              <a:buFontTx/>
              <a:buNone/>
              <a:defRPr/>
            </a:pPr>
            <a:r>
              <a:rPr lang="en-US" altLang="zh-CN" b="1"/>
              <a:t>return(Lc) ;</a:t>
            </a:r>
            <a:endParaRPr lang="en-US" altLang="zh-CN" b="1"/>
          </a:p>
          <a:p>
            <a:pPr marL="355600" lvl="1" indent="0">
              <a:buFontTx/>
              <a:buNone/>
              <a:defRPr/>
            </a:pPr>
            <a:r>
              <a:rPr lang="en-US" altLang="zh-CN" sz="2800" b="1"/>
              <a:t>}</a:t>
            </a:r>
            <a:endParaRPr lang="en-US" altLang="zh-CN" sz="2800" b="1"/>
          </a:p>
          <a:p>
            <a:pPr marL="0" indent="0">
              <a:buFontTx/>
              <a:buNone/>
              <a:defRPr/>
            </a:pPr>
            <a:r>
              <a:rPr lang="zh-CN" altLang="en-US" sz="3200" b="1">
                <a:solidFill>
                  <a:schemeClr val="folHlink"/>
                </a:solidFill>
                <a:latin typeface="宋体" panose="02010600030101010101" pitchFamily="2" charset="-122"/>
              </a:rPr>
              <a:t>算法分析</a:t>
            </a:r>
            <a:endParaRPr lang="zh-CN" altLang="en-US" sz="3200" b="1">
              <a:solidFill>
                <a:schemeClr val="folHlink"/>
              </a:solidFill>
              <a:latin typeface="宋体" panose="02010600030101010101" pitchFamily="2" charset="-122"/>
            </a:endParaRPr>
          </a:p>
          <a:p>
            <a:pPr marL="0" indent="0">
              <a:buFontTx/>
              <a:buNone/>
              <a:defRPr/>
            </a:pPr>
            <a:r>
              <a:rPr lang="zh-CN" altLang="en-US" sz="2800" b="1"/>
              <a:t>        若</a:t>
            </a:r>
            <a:r>
              <a:rPr lang="en-US" altLang="zh-CN" sz="2800" b="1"/>
              <a:t>La </a:t>
            </a:r>
            <a:r>
              <a:rPr lang="zh-CN" altLang="en-US" sz="2800" b="1"/>
              <a:t>，</a:t>
            </a:r>
            <a:r>
              <a:rPr lang="en-US" altLang="zh-CN" sz="2800" b="1"/>
              <a:t>Lb</a:t>
            </a:r>
            <a:r>
              <a:rPr lang="zh-CN" altLang="en-US" sz="2800" b="1"/>
              <a:t>两个链表的长度分别是</a:t>
            </a:r>
            <a:r>
              <a:rPr lang="en-US" altLang="zh-CN" sz="2800" b="1"/>
              <a:t>m</a:t>
            </a:r>
            <a:r>
              <a:rPr lang="zh-CN" altLang="en-US" sz="2800" b="1"/>
              <a:t>，</a:t>
            </a:r>
            <a:r>
              <a:rPr lang="en-US" altLang="zh-CN" sz="2800" b="1"/>
              <a:t>n</a:t>
            </a:r>
            <a:r>
              <a:rPr lang="zh-CN" altLang="en-US" sz="2800" b="1"/>
              <a:t>，则链表合并的时间复杂度为</a:t>
            </a:r>
            <a:r>
              <a:rPr lang="en-US" altLang="zh-CN" sz="2800" b="1"/>
              <a:t>O(m+n) </a:t>
            </a:r>
            <a:r>
              <a:rPr lang="zh-CN" altLang="en-US" sz="2800" b="1"/>
              <a:t>。</a:t>
            </a:r>
            <a:endParaRPr lang="zh-CN" altLang="en-US" sz="2800" b="1"/>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Text Box 2"/>
          <p:cNvSpPr txBox="1">
            <a:spLocks noChangeArrowheads="1"/>
          </p:cNvSpPr>
          <p:nvPr/>
        </p:nvSpPr>
        <p:spPr bwMode="auto">
          <a:xfrm>
            <a:off x="1295400" y="0"/>
            <a:ext cx="864235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05000"/>
              </a:lnSpc>
              <a:defRPr/>
            </a:pPr>
            <a:r>
              <a:rPr lang="zh-CN" altLang="en-US" sz="3200" b="1">
                <a:ea typeface="隶书" panose="02010509060101010101" charset="-122"/>
              </a:rPr>
              <a:t>用上述定义的单链表实现线性表的操作时，</a:t>
            </a:r>
            <a:endParaRPr lang="zh-CN" altLang="en-US" sz="3200" b="1">
              <a:ea typeface="隶书" panose="02010509060101010101" charset="-122"/>
            </a:endParaRPr>
          </a:p>
          <a:p>
            <a:pPr eaLnBrk="1" hangingPunct="1">
              <a:lnSpc>
                <a:spcPct val="105000"/>
              </a:lnSpc>
              <a:defRPr/>
            </a:pPr>
            <a:r>
              <a:rPr lang="zh-CN" altLang="en-US" sz="3200" b="1">
                <a:ea typeface="隶书" panose="02010509060101010101" charset="-122"/>
              </a:rPr>
              <a:t>存在的</a:t>
            </a:r>
            <a:r>
              <a:rPr lang="zh-CN" altLang="en-US" sz="3200" b="1">
                <a:solidFill>
                  <a:srgbClr val="993366"/>
                </a:solidFill>
                <a:ea typeface="隶书" panose="02010509060101010101" charset="-122"/>
              </a:rPr>
              <a:t>问题</a:t>
            </a:r>
            <a:r>
              <a:rPr lang="zh-CN" altLang="en-US" sz="3200" b="1">
                <a:ea typeface="隶书" panose="02010509060101010101" charset="-122"/>
              </a:rPr>
              <a:t>：</a:t>
            </a:r>
            <a:endParaRPr lang="zh-CN" altLang="en-US" sz="3200" b="1">
              <a:ea typeface="隶书" panose="02010509060101010101" charset="-122"/>
            </a:endParaRPr>
          </a:p>
        </p:txBody>
      </p:sp>
      <p:sp>
        <p:nvSpPr>
          <p:cNvPr id="972803" name="Text Box 3"/>
          <p:cNvSpPr txBox="1">
            <a:spLocks noChangeArrowheads="1"/>
          </p:cNvSpPr>
          <p:nvPr/>
        </p:nvSpPr>
        <p:spPr bwMode="auto">
          <a:xfrm>
            <a:off x="679450" y="4198938"/>
            <a:ext cx="3206750"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zh-CN" altLang="en-US" sz="2800" b="1">
                <a:ea typeface="楷体_GB2312" charset="0"/>
              </a:rPr>
              <a:t>  </a:t>
            </a:r>
            <a:r>
              <a:rPr lang="zh-CN" altLang="en-US" sz="2800" b="1">
                <a:solidFill>
                  <a:srgbClr val="993366"/>
                </a:solidFill>
                <a:ea typeface="隶书" panose="02010509060101010101" charset="-122"/>
              </a:rPr>
              <a:t>改进链表的设置：</a:t>
            </a:r>
            <a:endParaRPr lang="zh-CN" altLang="en-US"/>
          </a:p>
        </p:txBody>
      </p:sp>
      <p:sp>
        <p:nvSpPr>
          <p:cNvPr id="972804" name="Text Box 4"/>
          <p:cNvSpPr txBox="1">
            <a:spLocks noChangeArrowheads="1"/>
          </p:cNvSpPr>
          <p:nvPr/>
        </p:nvSpPr>
        <p:spPr bwMode="auto">
          <a:xfrm>
            <a:off x="533400" y="1303338"/>
            <a:ext cx="5695950"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solidFill>
                  <a:srgbClr val="000099"/>
                </a:solidFill>
                <a:ea typeface="楷体_GB2312" charset="0"/>
              </a:rPr>
              <a:t>1</a:t>
            </a:r>
            <a:r>
              <a:rPr lang="zh-CN" altLang="en-US" sz="2800" b="1">
                <a:solidFill>
                  <a:srgbClr val="000099"/>
                </a:solidFill>
                <a:ea typeface="楷体_GB2312" charset="0"/>
              </a:rPr>
              <a:t>．单链表的表长是一个隐含的值；</a:t>
            </a:r>
            <a:endParaRPr lang="zh-CN" altLang="en-US" sz="2800" b="1">
              <a:solidFill>
                <a:srgbClr val="000099"/>
              </a:solidFill>
              <a:ea typeface="楷体_GB2312" charset="0"/>
            </a:endParaRPr>
          </a:p>
        </p:txBody>
      </p:sp>
      <p:sp>
        <p:nvSpPr>
          <p:cNvPr id="972805" name="Text Box 5"/>
          <p:cNvSpPr txBox="1">
            <a:spLocks noChangeArrowheads="1"/>
          </p:cNvSpPr>
          <p:nvPr/>
        </p:nvSpPr>
        <p:spPr bwMode="auto">
          <a:xfrm>
            <a:off x="304800" y="4830763"/>
            <a:ext cx="8474075" cy="107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5000"/>
              </a:lnSpc>
              <a:defRPr/>
            </a:pPr>
            <a:r>
              <a:rPr lang="zh-CN" altLang="en-US" sz="2800">
                <a:ea typeface="楷体_GB2312" charset="0"/>
              </a:rPr>
              <a:t>  </a:t>
            </a:r>
            <a:r>
              <a:rPr lang="en-US" altLang="zh-CN" sz="2800" b="1">
                <a:solidFill>
                  <a:srgbClr val="000099"/>
                </a:solidFill>
                <a:ea typeface="楷体_GB2312" charset="0"/>
              </a:rPr>
              <a:t>1</a:t>
            </a:r>
            <a:r>
              <a:rPr lang="zh-CN" altLang="en-US" sz="2800" b="1">
                <a:solidFill>
                  <a:srgbClr val="000099"/>
                </a:solidFill>
                <a:ea typeface="楷体_GB2312" charset="0"/>
              </a:rPr>
              <a:t>．增加“表长”、“表尾指针” 和 “当前位置的</a:t>
            </a:r>
            <a:endParaRPr lang="zh-CN" altLang="en-US" sz="2800" b="1">
              <a:solidFill>
                <a:srgbClr val="000099"/>
              </a:solidFill>
              <a:ea typeface="楷体_GB2312" charset="0"/>
            </a:endParaRPr>
          </a:p>
          <a:p>
            <a:pPr eaLnBrk="1" hangingPunct="1">
              <a:lnSpc>
                <a:spcPct val="115000"/>
              </a:lnSpc>
              <a:defRPr/>
            </a:pPr>
            <a:r>
              <a:rPr lang="zh-CN" altLang="en-US" sz="2800" b="1">
                <a:solidFill>
                  <a:srgbClr val="000099"/>
                </a:solidFill>
                <a:ea typeface="楷体_GB2312" charset="0"/>
              </a:rPr>
              <a:t>        指针” 三个数据域；</a:t>
            </a:r>
            <a:endParaRPr lang="zh-CN" altLang="en-US" b="1">
              <a:solidFill>
                <a:srgbClr val="000099"/>
              </a:solidFill>
            </a:endParaRPr>
          </a:p>
        </p:txBody>
      </p:sp>
      <p:sp>
        <p:nvSpPr>
          <p:cNvPr id="972806" name="Text Box 6"/>
          <p:cNvSpPr txBox="1">
            <a:spLocks noChangeArrowheads="1"/>
          </p:cNvSpPr>
          <p:nvPr/>
        </p:nvSpPr>
        <p:spPr bwMode="auto">
          <a:xfrm>
            <a:off x="565150" y="1912938"/>
            <a:ext cx="7473950" cy="107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solidFill>
                  <a:srgbClr val="000099"/>
                </a:solidFill>
                <a:ea typeface="楷体_GB2312" charset="0"/>
              </a:rPr>
              <a:t>2</a:t>
            </a:r>
            <a:r>
              <a:rPr lang="zh-CN" altLang="en-US" sz="2800" b="1">
                <a:solidFill>
                  <a:srgbClr val="000099"/>
                </a:solidFill>
                <a:ea typeface="楷体_GB2312" charset="0"/>
              </a:rPr>
              <a:t>．在单链表的最后一个元素之后插入元素时，</a:t>
            </a:r>
            <a:endParaRPr lang="zh-CN" altLang="en-US" sz="2800" b="1">
              <a:solidFill>
                <a:srgbClr val="000099"/>
              </a:solidFill>
              <a:ea typeface="楷体_GB2312" charset="0"/>
            </a:endParaRPr>
          </a:p>
          <a:p>
            <a:pPr eaLnBrk="1" hangingPunct="1">
              <a:lnSpc>
                <a:spcPct val="115000"/>
              </a:lnSpc>
              <a:defRPr/>
            </a:pPr>
            <a:r>
              <a:rPr lang="zh-CN" altLang="en-US" sz="2800" b="1">
                <a:solidFill>
                  <a:srgbClr val="000099"/>
                </a:solidFill>
                <a:ea typeface="楷体_GB2312" charset="0"/>
              </a:rPr>
              <a:t>      需遍历整个链表；</a:t>
            </a:r>
            <a:endParaRPr lang="zh-CN" altLang="en-US" sz="2800" b="1">
              <a:solidFill>
                <a:srgbClr val="000099"/>
              </a:solidFill>
              <a:ea typeface="楷体_GB2312" charset="0"/>
            </a:endParaRPr>
          </a:p>
        </p:txBody>
      </p:sp>
      <p:sp>
        <p:nvSpPr>
          <p:cNvPr id="972807" name="Text Box 7"/>
          <p:cNvSpPr txBox="1">
            <a:spLocks noChangeArrowheads="1"/>
          </p:cNvSpPr>
          <p:nvPr/>
        </p:nvSpPr>
        <p:spPr bwMode="auto">
          <a:xfrm>
            <a:off x="593725" y="3055938"/>
            <a:ext cx="7473950" cy="107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solidFill>
                  <a:srgbClr val="000099"/>
                </a:solidFill>
                <a:ea typeface="楷体_GB2312" charset="0"/>
              </a:rPr>
              <a:t>3</a:t>
            </a:r>
            <a:r>
              <a:rPr lang="zh-CN" altLang="en-US" sz="2800" b="1">
                <a:solidFill>
                  <a:srgbClr val="000099"/>
                </a:solidFill>
                <a:ea typeface="楷体_GB2312" charset="0"/>
              </a:rPr>
              <a:t>．在链表中，元素的“位序”概念淡化，结点的</a:t>
            </a:r>
            <a:endParaRPr lang="zh-CN" altLang="en-US" sz="2800" b="1">
              <a:solidFill>
                <a:srgbClr val="000099"/>
              </a:solidFill>
              <a:ea typeface="楷体_GB2312" charset="0"/>
            </a:endParaRPr>
          </a:p>
          <a:p>
            <a:pPr eaLnBrk="1" hangingPunct="1">
              <a:lnSpc>
                <a:spcPct val="115000"/>
              </a:lnSpc>
              <a:defRPr/>
            </a:pPr>
            <a:r>
              <a:rPr lang="zh-CN" altLang="en-US" sz="2800" b="1">
                <a:solidFill>
                  <a:srgbClr val="000099"/>
                </a:solidFill>
                <a:ea typeface="楷体_GB2312" charset="0"/>
              </a:rPr>
              <a:t>       “位置”概念加强。</a:t>
            </a:r>
            <a:endParaRPr lang="zh-CN" altLang="en-US"/>
          </a:p>
        </p:txBody>
      </p:sp>
      <p:sp>
        <p:nvSpPr>
          <p:cNvPr id="972808" name="Text Box 8"/>
          <p:cNvSpPr txBox="1">
            <a:spLocks noChangeArrowheads="1"/>
          </p:cNvSpPr>
          <p:nvPr/>
        </p:nvSpPr>
        <p:spPr bwMode="auto">
          <a:xfrm>
            <a:off x="533400" y="6097588"/>
            <a:ext cx="74152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000099"/>
                </a:solidFill>
                <a:ea typeface="楷体_GB2312" charset="0"/>
              </a:rPr>
              <a:t>2</a:t>
            </a:r>
            <a:r>
              <a:rPr lang="zh-CN" altLang="en-US" sz="2800" b="1">
                <a:solidFill>
                  <a:srgbClr val="000099"/>
                </a:solidFill>
                <a:ea typeface="楷体_GB2312" charset="0"/>
              </a:rPr>
              <a:t>．将基本操作中的</a:t>
            </a:r>
            <a:r>
              <a:rPr lang="zh-CN" altLang="en-US" sz="2800" b="1">
                <a:solidFill>
                  <a:schemeClr val="tx2"/>
                </a:solidFill>
                <a:ea typeface="楷体_GB2312" charset="0"/>
              </a:rPr>
              <a:t>“位序 </a:t>
            </a:r>
            <a:r>
              <a:rPr lang="en-US" altLang="zh-CN" sz="2800" b="1">
                <a:solidFill>
                  <a:schemeClr val="tx2"/>
                </a:solidFill>
                <a:ea typeface="楷体_GB2312" charset="0"/>
              </a:rPr>
              <a:t>i ”</a:t>
            </a:r>
            <a:r>
              <a:rPr lang="zh-CN" altLang="en-US" sz="2800" b="1">
                <a:solidFill>
                  <a:srgbClr val="000099"/>
                </a:solidFill>
                <a:ea typeface="楷体_GB2312" charset="0"/>
              </a:rPr>
              <a:t>改变为</a:t>
            </a:r>
            <a:r>
              <a:rPr lang="zh-CN" altLang="en-US" sz="2800" b="1">
                <a:solidFill>
                  <a:schemeClr val="tx2"/>
                </a:solidFill>
                <a:ea typeface="楷体_GB2312" charset="0"/>
              </a:rPr>
              <a:t>“指针 </a:t>
            </a:r>
            <a:r>
              <a:rPr lang="en-US" altLang="zh-CN" sz="2800" b="1">
                <a:solidFill>
                  <a:schemeClr val="tx2"/>
                </a:solidFill>
                <a:ea typeface="楷体_GB2312" charset="0"/>
              </a:rPr>
              <a:t>p ”</a:t>
            </a:r>
            <a:r>
              <a:rPr lang="zh-CN" altLang="en-US" sz="2800" b="1">
                <a:solidFill>
                  <a:srgbClr val="000099"/>
                </a:solidFill>
                <a:ea typeface="楷体_GB2312" charset="0"/>
              </a:rPr>
              <a:t>。</a:t>
            </a:r>
            <a:endParaRPr lang="zh-CN" altLang="en-US" sz="2800" b="1">
              <a:solidFill>
                <a:srgbClr val="000099"/>
              </a:solidFill>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72802"/>
                                        </p:tgtEl>
                                        <p:attrNameLst>
                                          <p:attrName>style.visibility</p:attrName>
                                        </p:attrNameLst>
                                      </p:cBhvr>
                                      <p:to>
                                        <p:strVal val="visible"/>
                                      </p:to>
                                    </p:set>
                                    <p:animEffect transition="in" filter="checkerboard(across)">
                                      <p:cBhvr>
                                        <p:cTn id="7" dur="500"/>
                                        <p:tgtEl>
                                          <p:spTgt spid="97280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972804"/>
                                        </p:tgtEl>
                                        <p:attrNameLst>
                                          <p:attrName>style.visibility</p:attrName>
                                        </p:attrNameLst>
                                      </p:cBhvr>
                                      <p:to>
                                        <p:strVal val="visible"/>
                                      </p:to>
                                    </p:set>
                                    <p:animEffect transition="in" filter="strips(upRight)">
                                      <p:cBhvr>
                                        <p:cTn id="12" dur="500"/>
                                        <p:tgtEl>
                                          <p:spTgt spid="97280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972806"/>
                                        </p:tgtEl>
                                        <p:attrNameLst>
                                          <p:attrName>style.visibility</p:attrName>
                                        </p:attrNameLst>
                                      </p:cBhvr>
                                      <p:to>
                                        <p:strVal val="visible"/>
                                      </p:to>
                                    </p:set>
                                    <p:animEffect transition="in" filter="strips(upRight)">
                                      <p:cBhvr>
                                        <p:cTn id="17" dur="500"/>
                                        <p:tgtEl>
                                          <p:spTgt spid="97280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972807"/>
                                        </p:tgtEl>
                                        <p:attrNameLst>
                                          <p:attrName>style.visibility</p:attrName>
                                        </p:attrNameLst>
                                      </p:cBhvr>
                                      <p:to>
                                        <p:strVal val="visible"/>
                                      </p:to>
                                    </p:set>
                                    <p:animEffect transition="in" filter="strips(upRight)">
                                      <p:cBhvr>
                                        <p:cTn id="22" dur="500"/>
                                        <p:tgtEl>
                                          <p:spTgt spid="972807"/>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72803"/>
                                        </p:tgtEl>
                                        <p:attrNameLst>
                                          <p:attrName>style.visibility</p:attrName>
                                        </p:attrNameLst>
                                      </p:cBhvr>
                                      <p:to>
                                        <p:strVal val="visible"/>
                                      </p:to>
                                    </p:set>
                                    <p:animEffect transition="in" filter="checkerboard(across)">
                                      <p:cBhvr>
                                        <p:cTn id="27" dur="500"/>
                                        <p:tgtEl>
                                          <p:spTgt spid="972803"/>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972805"/>
                                        </p:tgtEl>
                                        <p:attrNameLst>
                                          <p:attrName>style.visibility</p:attrName>
                                        </p:attrNameLst>
                                      </p:cBhvr>
                                      <p:to>
                                        <p:strVal val="visible"/>
                                      </p:to>
                                    </p:set>
                                    <p:animEffect transition="in" filter="strips(downRight)">
                                      <p:cBhvr>
                                        <p:cTn id="32" dur="500"/>
                                        <p:tgtEl>
                                          <p:spTgt spid="972805"/>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972808"/>
                                        </p:tgtEl>
                                        <p:attrNameLst>
                                          <p:attrName>style.visibility</p:attrName>
                                        </p:attrNameLst>
                                      </p:cBhvr>
                                      <p:to>
                                        <p:strVal val="visible"/>
                                      </p:to>
                                    </p:set>
                                    <p:animEffect transition="in" filter="strips(downRight)">
                                      <p:cBhvr>
                                        <p:cTn id="37" dur="500"/>
                                        <p:tgtEl>
                                          <p:spTgt spid="972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02" grpId="0" autoUpdateAnimBg="0"/>
      <p:bldP spid="972803" grpId="0" autoUpdateAnimBg="0"/>
      <p:bldP spid="972804" grpId="0" autoUpdateAnimBg="0"/>
      <p:bldP spid="972805" grpId="0" autoUpdateAnimBg="0"/>
      <p:bldP spid="972806" grpId="0" autoUpdateAnimBg="0"/>
      <p:bldP spid="972807" grpId="0" autoUpdateAnimBg="0"/>
      <p:bldP spid="972808"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Text Box 2"/>
          <p:cNvSpPr txBox="1">
            <a:spLocks noChangeArrowheads="1"/>
          </p:cNvSpPr>
          <p:nvPr/>
        </p:nvSpPr>
        <p:spPr bwMode="auto">
          <a:xfrm>
            <a:off x="1268413" y="228600"/>
            <a:ext cx="780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0033"/>
                </a:solidFill>
                <a:ea typeface="隶书" panose="02010509060101010101" charset="-122"/>
              </a:rPr>
              <a:t>四、一个带头结点的线性链表类型</a:t>
            </a:r>
            <a:endParaRPr lang="zh-CN" altLang="en-US" sz="4400"/>
          </a:p>
        </p:txBody>
      </p:sp>
      <p:sp>
        <p:nvSpPr>
          <p:cNvPr id="973827" name="Text Box 3"/>
          <p:cNvSpPr txBox="1">
            <a:spLocks noChangeArrowheads="1"/>
          </p:cNvSpPr>
          <p:nvPr/>
        </p:nvSpPr>
        <p:spPr bwMode="auto">
          <a:xfrm>
            <a:off x="762000" y="1311275"/>
            <a:ext cx="6235700"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t>typedef struct</a:t>
            </a:r>
            <a:r>
              <a:rPr lang="en-US" altLang="zh-CN" sz="3200"/>
              <a:t> LNode </a:t>
            </a:r>
            <a:r>
              <a:rPr lang="en-US" altLang="zh-CN" sz="3200" b="1"/>
              <a:t>{  </a:t>
            </a:r>
            <a:r>
              <a:rPr lang="en-US" altLang="zh-CN" sz="3200"/>
              <a:t>// </a:t>
            </a:r>
            <a:r>
              <a:rPr lang="zh-CN" altLang="en-US" sz="3200" b="1">
                <a:ea typeface="楷体_GB2312" charset="0"/>
              </a:rPr>
              <a:t>结点类型</a:t>
            </a:r>
            <a:endParaRPr lang="zh-CN" altLang="en-US" sz="3200"/>
          </a:p>
          <a:p>
            <a:pPr eaLnBrk="1" hangingPunct="1">
              <a:defRPr/>
            </a:pPr>
            <a:r>
              <a:rPr lang="zh-CN" altLang="en-US" sz="3200"/>
              <a:t>   </a:t>
            </a:r>
            <a:r>
              <a:rPr lang="en-US" altLang="zh-CN" sz="3200"/>
              <a:t>ElemType       data;</a:t>
            </a:r>
            <a:endParaRPr lang="en-US" altLang="zh-CN" sz="3200"/>
          </a:p>
          <a:p>
            <a:pPr eaLnBrk="1" hangingPunct="1">
              <a:defRPr/>
            </a:pPr>
            <a:r>
              <a:rPr lang="en-US" altLang="zh-CN" sz="3200"/>
              <a:t>   </a:t>
            </a:r>
            <a:r>
              <a:rPr lang="en-US" altLang="zh-CN" sz="3200" b="1"/>
              <a:t>struct</a:t>
            </a:r>
            <a:r>
              <a:rPr lang="en-US" altLang="zh-CN" sz="3200"/>
              <a:t> LNode   </a:t>
            </a:r>
            <a:r>
              <a:rPr lang="en-US" altLang="zh-CN" sz="3200" b="1"/>
              <a:t>*</a:t>
            </a:r>
            <a:r>
              <a:rPr lang="en-US" altLang="zh-CN" sz="3200"/>
              <a:t>next;</a:t>
            </a:r>
            <a:endParaRPr lang="en-US" altLang="zh-CN" sz="3200"/>
          </a:p>
          <a:p>
            <a:pPr eaLnBrk="1" hangingPunct="1">
              <a:defRPr/>
            </a:pPr>
            <a:r>
              <a:rPr lang="en-US" altLang="zh-CN" sz="3200" b="1"/>
              <a:t>} *</a:t>
            </a:r>
            <a:r>
              <a:rPr lang="en-US" altLang="zh-CN" sz="3200"/>
              <a:t>Link, </a:t>
            </a:r>
            <a:r>
              <a:rPr lang="en-US" altLang="zh-CN" sz="3200" b="1"/>
              <a:t>*</a:t>
            </a:r>
            <a:r>
              <a:rPr lang="en-US" altLang="zh-CN" sz="3200"/>
              <a:t>Position;</a:t>
            </a:r>
            <a:endParaRPr lang="en-US" altLang="zh-CN" sz="3200"/>
          </a:p>
        </p:txBody>
      </p:sp>
      <p:sp>
        <p:nvSpPr>
          <p:cNvPr id="973828" name="Text Box 4"/>
          <p:cNvSpPr txBox="1">
            <a:spLocks noChangeArrowheads="1"/>
          </p:cNvSpPr>
          <p:nvPr/>
        </p:nvSpPr>
        <p:spPr bwMode="auto">
          <a:xfrm>
            <a:off x="457200" y="3505200"/>
            <a:ext cx="8493125"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t>Status</a:t>
            </a:r>
            <a:r>
              <a:rPr lang="en-US" altLang="zh-CN" sz="3200"/>
              <a:t> MakeNode( Link </a:t>
            </a:r>
            <a:r>
              <a:rPr lang="en-US" altLang="zh-CN" sz="3200" b="1"/>
              <a:t>&amp;</a:t>
            </a:r>
            <a:r>
              <a:rPr lang="en-US" altLang="zh-CN" sz="3200"/>
              <a:t>p, ElemType e );</a:t>
            </a:r>
            <a:endParaRPr lang="en-US" altLang="zh-CN" sz="3200"/>
          </a:p>
          <a:p>
            <a:pPr eaLnBrk="1" hangingPunct="1">
              <a:defRPr/>
            </a:pPr>
            <a:r>
              <a:rPr lang="en-US" altLang="zh-CN" sz="3200"/>
              <a:t>   </a:t>
            </a:r>
            <a:r>
              <a:rPr lang="en-US" altLang="zh-CN" sz="3200">
                <a:solidFill>
                  <a:srgbClr val="CC0066"/>
                </a:solidFill>
              </a:rPr>
              <a:t>// </a:t>
            </a:r>
            <a:r>
              <a:rPr lang="zh-CN" altLang="en-US" sz="3200">
                <a:solidFill>
                  <a:srgbClr val="CC0066"/>
                </a:solidFill>
                <a:ea typeface="楷体_GB2312" charset="0"/>
              </a:rPr>
              <a:t>分配由 </a:t>
            </a:r>
            <a:r>
              <a:rPr lang="en-US" altLang="zh-CN" sz="3200">
                <a:solidFill>
                  <a:srgbClr val="CC0066"/>
                </a:solidFill>
                <a:ea typeface="楷体_GB2312" charset="0"/>
              </a:rPr>
              <a:t>p </a:t>
            </a:r>
            <a:r>
              <a:rPr lang="zh-CN" altLang="en-US" sz="3200">
                <a:solidFill>
                  <a:srgbClr val="CC0066"/>
                </a:solidFill>
                <a:ea typeface="楷体_GB2312" charset="0"/>
              </a:rPr>
              <a:t>指向的值为</a:t>
            </a:r>
            <a:r>
              <a:rPr lang="en-US" altLang="zh-CN" sz="3200">
                <a:solidFill>
                  <a:srgbClr val="CC0066"/>
                </a:solidFill>
                <a:ea typeface="楷体_GB2312" charset="0"/>
              </a:rPr>
              <a:t>e</a:t>
            </a:r>
            <a:r>
              <a:rPr lang="zh-CN" altLang="en-US" sz="3200">
                <a:solidFill>
                  <a:srgbClr val="CC0066"/>
                </a:solidFill>
                <a:ea typeface="楷体_GB2312" charset="0"/>
              </a:rPr>
              <a:t>的结点，并返回</a:t>
            </a:r>
            <a:r>
              <a:rPr lang="en-US" altLang="zh-CN" sz="3200">
                <a:solidFill>
                  <a:srgbClr val="CC0066"/>
                </a:solidFill>
              </a:rPr>
              <a:t>OK</a:t>
            </a:r>
            <a:r>
              <a:rPr lang="zh-CN" altLang="en-US" sz="3200">
                <a:solidFill>
                  <a:srgbClr val="CC0066"/>
                </a:solidFill>
              </a:rPr>
              <a:t>，</a:t>
            </a:r>
            <a:endParaRPr lang="zh-CN" altLang="en-US" sz="3200">
              <a:solidFill>
                <a:srgbClr val="CC0066"/>
              </a:solidFill>
            </a:endParaRPr>
          </a:p>
          <a:p>
            <a:pPr eaLnBrk="1" hangingPunct="1">
              <a:defRPr/>
            </a:pPr>
            <a:r>
              <a:rPr lang="zh-CN" altLang="en-US" sz="3200">
                <a:solidFill>
                  <a:srgbClr val="CC0066"/>
                </a:solidFill>
              </a:rPr>
              <a:t>   </a:t>
            </a:r>
            <a:r>
              <a:rPr lang="en-US" altLang="zh-CN" sz="3200">
                <a:solidFill>
                  <a:srgbClr val="CC0066"/>
                </a:solidFill>
              </a:rPr>
              <a:t>// </a:t>
            </a:r>
            <a:r>
              <a:rPr lang="zh-CN" altLang="en-US" sz="3200">
                <a:solidFill>
                  <a:srgbClr val="CC0066"/>
                </a:solidFill>
                <a:ea typeface="楷体_GB2312" charset="0"/>
              </a:rPr>
              <a:t>若分配失败，则返回 </a:t>
            </a:r>
            <a:r>
              <a:rPr lang="en-US" altLang="zh-CN" sz="3200">
                <a:solidFill>
                  <a:srgbClr val="CC0066"/>
                </a:solidFill>
              </a:rPr>
              <a:t>ERROR</a:t>
            </a:r>
            <a:endParaRPr lang="en-US" altLang="zh-CN" sz="3200"/>
          </a:p>
        </p:txBody>
      </p:sp>
      <p:sp>
        <p:nvSpPr>
          <p:cNvPr id="973829" name="Text Box 5"/>
          <p:cNvSpPr txBox="1">
            <a:spLocks noChangeArrowheads="1"/>
          </p:cNvSpPr>
          <p:nvPr/>
        </p:nvSpPr>
        <p:spPr bwMode="auto">
          <a:xfrm>
            <a:off x="552450" y="5181600"/>
            <a:ext cx="58483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t>void</a:t>
            </a:r>
            <a:r>
              <a:rPr lang="en-US" altLang="zh-CN" sz="3200"/>
              <a:t>   FreeNode( Link </a:t>
            </a:r>
            <a:r>
              <a:rPr lang="en-US" altLang="zh-CN" sz="3200" b="1"/>
              <a:t>&amp;</a:t>
            </a:r>
            <a:r>
              <a:rPr lang="en-US" altLang="zh-CN" sz="3200"/>
              <a:t>p );          </a:t>
            </a:r>
            <a:endParaRPr lang="en-US" altLang="zh-CN" sz="3200"/>
          </a:p>
          <a:p>
            <a:pPr eaLnBrk="1" hangingPunct="1">
              <a:defRPr/>
            </a:pPr>
            <a:r>
              <a:rPr lang="en-US" altLang="zh-CN" sz="3200"/>
              <a:t>   </a:t>
            </a:r>
            <a:r>
              <a:rPr lang="en-US" altLang="zh-CN" sz="3200">
                <a:solidFill>
                  <a:srgbClr val="CC0066"/>
                </a:solidFill>
              </a:rPr>
              <a:t>//</a:t>
            </a:r>
            <a:r>
              <a:rPr lang="en-US" altLang="zh-CN" sz="3200"/>
              <a:t> </a:t>
            </a:r>
            <a:r>
              <a:rPr lang="zh-CN" altLang="en-US" sz="3200">
                <a:solidFill>
                  <a:srgbClr val="CC0066"/>
                </a:solidFill>
                <a:ea typeface="楷体_GB2312" charset="0"/>
              </a:rPr>
              <a:t>释放 </a:t>
            </a:r>
            <a:r>
              <a:rPr lang="en-US" altLang="zh-CN" sz="3200">
                <a:solidFill>
                  <a:srgbClr val="CC0066"/>
                </a:solidFill>
                <a:ea typeface="楷体_GB2312" charset="0"/>
              </a:rPr>
              <a:t>p </a:t>
            </a:r>
            <a:r>
              <a:rPr lang="zh-CN" altLang="en-US" sz="3200">
                <a:solidFill>
                  <a:srgbClr val="CC0066"/>
                </a:solidFill>
                <a:ea typeface="楷体_GB2312" charset="0"/>
              </a:rPr>
              <a:t>所指结点</a:t>
            </a:r>
            <a:endParaRPr lang="zh-CN" altLang="en-US"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lt">
                                    <p:tmPct val="100000"/>
                                  </p:iterate>
                                  <p:childTnLst>
                                    <p:set>
                                      <p:cBhvr>
                                        <p:cTn id="6" dur="1" fill="hold">
                                          <p:stCondLst>
                                            <p:cond delay="0"/>
                                          </p:stCondLst>
                                        </p:cTn>
                                        <p:tgtEl>
                                          <p:spTgt spid="973827"/>
                                        </p:tgtEl>
                                        <p:attrNameLst>
                                          <p:attrName>style.visibility</p:attrName>
                                        </p:attrNameLst>
                                      </p:cBhvr>
                                      <p:to>
                                        <p:strVal val="visible"/>
                                      </p:to>
                                    </p:set>
                                    <p:animEffect transition="in" filter="strips(downRight)">
                                      <p:cBhvr>
                                        <p:cTn id="7" dur="75"/>
                                        <p:tgtEl>
                                          <p:spTgt spid="97382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lt">
                                    <p:tmPct val="100000"/>
                                  </p:iterate>
                                  <p:childTnLst>
                                    <p:set>
                                      <p:cBhvr>
                                        <p:cTn id="11" dur="1" fill="hold">
                                          <p:stCondLst>
                                            <p:cond delay="0"/>
                                          </p:stCondLst>
                                        </p:cTn>
                                        <p:tgtEl>
                                          <p:spTgt spid="973828"/>
                                        </p:tgtEl>
                                        <p:attrNameLst>
                                          <p:attrName>style.visibility</p:attrName>
                                        </p:attrNameLst>
                                      </p:cBhvr>
                                      <p:to>
                                        <p:strVal val="visible"/>
                                      </p:to>
                                    </p:set>
                                    <p:animEffect transition="in" filter="strips(downRight)">
                                      <p:cBhvr>
                                        <p:cTn id="12" dur="75"/>
                                        <p:tgtEl>
                                          <p:spTgt spid="97382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iterate type="lt">
                                    <p:tmPct val="100000"/>
                                  </p:iterate>
                                  <p:childTnLst>
                                    <p:set>
                                      <p:cBhvr>
                                        <p:cTn id="16" dur="1" fill="hold">
                                          <p:stCondLst>
                                            <p:cond delay="0"/>
                                          </p:stCondLst>
                                        </p:cTn>
                                        <p:tgtEl>
                                          <p:spTgt spid="973829"/>
                                        </p:tgtEl>
                                        <p:attrNameLst>
                                          <p:attrName>style.visibility</p:attrName>
                                        </p:attrNameLst>
                                      </p:cBhvr>
                                      <p:to>
                                        <p:strVal val="visible"/>
                                      </p:to>
                                    </p:set>
                                    <p:animEffect transition="in" filter="strips(downRight)">
                                      <p:cBhvr>
                                        <p:cTn id="17" dur="75"/>
                                        <p:tgtEl>
                                          <p:spTgt spid="973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827" grpId="0" autoUpdateAnimBg="0"/>
      <p:bldP spid="973828" grpId="0" autoUpdateAnimBg="0"/>
      <p:bldP spid="973829"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Text Box 2"/>
          <p:cNvSpPr txBox="1">
            <a:spLocks noChangeArrowheads="1"/>
          </p:cNvSpPr>
          <p:nvPr/>
        </p:nvSpPr>
        <p:spPr bwMode="auto">
          <a:xfrm>
            <a:off x="228600" y="1252538"/>
            <a:ext cx="8642109" cy="4142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a:t>typedef struct</a:t>
            </a:r>
            <a:r>
              <a:rPr lang="en-US" altLang="zh-CN" sz="2800"/>
              <a:t> </a:t>
            </a:r>
            <a:r>
              <a:rPr lang="en-US" altLang="zh-CN" sz="2800" b="1"/>
              <a:t>{  </a:t>
            </a:r>
            <a:r>
              <a:rPr lang="en-US" altLang="zh-CN" sz="2800"/>
              <a:t>// </a:t>
            </a:r>
            <a:r>
              <a:rPr lang="zh-CN" altLang="en-US" sz="2800" b="1">
                <a:ea typeface="楷体_GB2312" charset="0"/>
              </a:rPr>
              <a:t>链表类型</a:t>
            </a:r>
            <a:endParaRPr lang="zh-CN" altLang="en-US" sz="2800" b="1"/>
          </a:p>
          <a:p>
            <a:pPr eaLnBrk="1" hangingPunct="1">
              <a:lnSpc>
                <a:spcPct val="120000"/>
              </a:lnSpc>
              <a:defRPr/>
            </a:pPr>
            <a:r>
              <a:rPr lang="zh-CN" altLang="en-US" sz="2800" b="1"/>
              <a:t>   </a:t>
            </a:r>
            <a:r>
              <a:rPr lang="en-US" altLang="zh-CN" sz="2800">
                <a:solidFill>
                  <a:srgbClr val="3333CC"/>
                </a:solidFill>
              </a:rPr>
              <a:t>Link  head, tail;</a:t>
            </a:r>
            <a:r>
              <a:rPr lang="en-US" altLang="zh-CN" sz="2800"/>
              <a:t>     // </a:t>
            </a:r>
            <a:r>
              <a:rPr lang="zh-CN" altLang="en-US" sz="2800">
                <a:solidFill>
                  <a:srgbClr val="CC0066"/>
                </a:solidFill>
                <a:ea typeface="楷体_GB2312" charset="0"/>
              </a:rPr>
              <a:t>分别指向头结点和</a:t>
            </a:r>
            <a:endParaRPr lang="zh-CN" altLang="en-US" sz="2800">
              <a:solidFill>
                <a:srgbClr val="CC0066"/>
              </a:solidFill>
              <a:ea typeface="楷体_GB2312" charset="0"/>
            </a:endParaRPr>
          </a:p>
          <a:p>
            <a:pPr eaLnBrk="1" hangingPunct="1">
              <a:lnSpc>
                <a:spcPct val="120000"/>
              </a:lnSpc>
              <a:defRPr/>
            </a:pPr>
            <a:r>
              <a:rPr lang="zh-CN" altLang="en-US" sz="2800">
                <a:solidFill>
                  <a:srgbClr val="CC0066"/>
                </a:solidFill>
                <a:ea typeface="楷体_GB2312" charset="0"/>
              </a:rPr>
              <a:t>                                         </a:t>
            </a:r>
            <a:r>
              <a:rPr lang="en-US" altLang="zh-CN" sz="2800">
                <a:ea typeface="楷体_GB2312" charset="0"/>
              </a:rPr>
              <a:t>//</a:t>
            </a:r>
            <a:r>
              <a:rPr lang="en-US" altLang="zh-CN" sz="2800">
                <a:solidFill>
                  <a:srgbClr val="CC0066"/>
                </a:solidFill>
                <a:ea typeface="楷体_GB2312" charset="0"/>
              </a:rPr>
              <a:t> </a:t>
            </a:r>
            <a:r>
              <a:rPr lang="zh-CN" altLang="en-US" sz="2800">
                <a:solidFill>
                  <a:srgbClr val="CC0066"/>
                </a:solidFill>
                <a:ea typeface="楷体_GB2312" charset="0"/>
              </a:rPr>
              <a:t>最后一个结点的指针</a:t>
            </a:r>
            <a:endParaRPr lang="zh-CN" altLang="en-US" sz="2800"/>
          </a:p>
          <a:p>
            <a:pPr eaLnBrk="1" hangingPunct="1">
              <a:lnSpc>
                <a:spcPct val="120000"/>
              </a:lnSpc>
              <a:defRPr/>
            </a:pPr>
            <a:r>
              <a:rPr lang="zh-CN" altLang="en-US" sz="2800"/>
              <a:t>   </a:t>
            </a:r>
            <a:r>
              <a:rPr lang="en-US" altLang="zh-CN" sz="2800" b="1">
                <a:solidFill>
                  <a:srgbClr val="3333CC"/>
                </a:solidFill>
              </a:rPr>
              <a:t>int   </a:t>
            </a:r>
            <a:r>
              <a:rPr lang="en-US" altLang="zh-CN" sz="2800">
                <a:solidFill>
                  <a:srgbClr val="3333CC"/>
                </a:solidFill>
              </a:rPr>
              <a:t>len;</a:t>
            </a:r>
            <a:r>
              <a:rPr lang="en-US" altLang="zh-CN" sz="2800"/>
              <a:t>              // </a:t>
            </a:r>
            <a:r>
              <a:rPr lang="zh-CN" altLang="en-US" sz="2800">
                <a:solidFill>
                  <a:srgbClr val="CC0066"/>
                </a:solidFill>
                <a:ea typeface="楷体_GB2312" charset="0"/>
              </a:rPr>
              <a:t>指示链表长度</a:t>
            </a:r>
            <a:endParaRPr lang="zh-CN" altLang="en-US" sz="2800"/>
          </a:p>
          <a:p>
            <a:pPr eaLnBrk="1" hangingPunct="1">
              <a:lnSpc>
                <a:spcPct val="120000"/>
              </a:lnSpc>
              <a:defRPr/>
            </a:pPr>
            <a:r>
              <a:rPr lang="zh-CN" altLang="en-US" sz="2800"/>
              <a:t>   </a:t>
            </a:r>
            <a:r>
              <a:rPr lang="en-US" altLang="zh-CN" sz="2800">
                <a:solidFill>
                  <a:srgbClr val="3333CC"/>
                </a:solidFill>
              </a:rPr>
              <a:t>Link  current;</a:t>
            </a:r>
            <a:r>
              <a:rPr lang="en-US" altLang="zh-CN" sz="2800"/>
              <a:t>    // </a:t>
            </a:r>
            <a:r>
              <a:rPr lang="zh-CN" altLang="en-US" sz="2800">
                <a:solidFill>
                  <a:srgbClr val="CC0066"/>
                </a:solidFill>
                <a:ea typeface="楷体_GB2312" charset="0"/>
              </a:rPr>
              <a:t>指向当前被访问的结点</a:t>
            </a:r>
            <a:endParaRPr lang="zh-CN" altLang="en-US" sz="2800"/>
          </a:p>
          <a:p>
            <a:pPr eaLnBrk="1" hangingPunct="1">
              <a:lnSpc>
                <a:spcPct val="120000"/>
              </a:lnSpc>
              <a:defRPr/>
            </a:pPr>
            <a:r>
              <a:rPr lang="zh-CN" altLang="en-US" sz="2800"/>
              <a:t>                              </a:t>
            </a:r>
            <a:r>
              <a:rPr lang="en-US" altLang="zh-CN" sz="2800"/>
              <a:t>//</a:t>
            </a:r>
            <a:r>
              <a:rPr lang="zh-CN" altLang="en-US" sz="2800">
                <a:solidFill>
                  <a:srgbClr val="CC0066"/>
                </a:solidFill>
                <a:ea typeface="楷体_GB2312" charset="0"/>
              </a:rPr>
              <a:t>的指针，初始位置指向头结点</a:t>
            </a:r>
            <a:endParaRPr lang="zh-CN" altLang="en-US" sz="2800"/>
          </a:p>
          <a:p>
            <a:pPr eaLnBrk="1" hangingPunct="1">
              <a:lnSpc>
                <a:spcPct val="120000"/>
              </a:lnSpc>
              <a:defRPr/>
            </a:pPr>
            <a:r>
              <a:rPr lang="en-US" altLang="zh-CN" sz="2800" b="1"/>
              <a:t>} </a:t>
            </a:r>
            <a:r>
              <a:rPr lang="en-US" altLang="zh-CN" sz="2800"/>
              <a:t>LinkList;</a:t>
            </a:r>
            <a:endParaRPr lang="en-US" altLang="zh-CN" sz="2800"/>
          </a:p>
          <a:p>
            <a:pPr eaLnBrk="1" hangingPunct="1">
              <a:defRPr/>
            </a:pPr>
            <a:endParaRPr lang="zh-CN" altLang="en-US" sz="2800"/>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4" name="Text Box 2"/>
          <p:cNvSpPr txBox="1">
            <a:spLocks noChangeArrowheads="1"/>
          </p:cNvSpPr>
          <p:nvPr/>
        </p:nvSpPr>
        <p:spPr bwMode="auto">
          <a:xfrm>
            <a:off x="1447800" y="152400"/>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2800" b="1" u="sng">
                <a:solidFill>
                  <a:srgbClr val="333399"/>
                </a:solidFill>
                <a:latin typeface="楷体_GB2312" charset="0"/>
                <a:ea typeface="楷体_GB2312" charset="0"/>
              </a:rPr>
              <a:t>链表的基本操作</a:t>
            </a:r>
            <a:r>
              <a:rPr lang="en-US" altLang="zh-CN" sz="2800" b="1" u="sng">
                <a:solidFill>
                  <a:srgbClr val="333399"/>
                </a:solidFill>
                <a:latin typeface="楷体_GB2312" charset="0"/>
                <a:ea typeface="楷体_GB2312" charset="0"/>
              </a:rPr>
              <a:t>:</a:t>
            </a:r>
            <a:endParaRPr lang="en-US" altLang="zh-CN" sz="2800" b="1" u="sng"/>
          </a:p>
        </p:txBody>
      </p:sp>
      <p:sp>
        <p:nvSpPr>
          <p:cNvPr id="975875" name="Text Box 3"/>
          <p:cNvSpPr txBox="1">
            <a:spLocks noChangeArrowheads="1"/>
          </p:cNvSpPr>
          <p:nvPr/>
        </p:nvSpPr>
        <p:spPr bwMode="auto">
          <a:xfrm>
            <a:off x="723900" y="1111250"/>
            <a:ext cx="4054315" cy="549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solidFill>
                  <a:srgbClr val="FB415C"/>
                </a:solidFill>
                <a:latin typeface="隶书" panose="02010509060101010101" charset="-122"/>
                <a:ea typeface="隶书" panose="02010509060101010101" charset="-122"/>
              </a:rPr>
              <a:t>{</a:t>
            </a:r>
            <a:r>
              <a:rPr lang="zh-CN" altLang="en-US" sz="2800" b="1">
                <a:solidFill>
                  <a:srgbClr val="FB415C"/>
                </a:solidFill>
                <a:latin typeface="隶书" panose="02010509060101010101" charset="-122"/>
                <a:ea typeface="隶书" panose="02010509060101010101" charset="-122"/>
              </a:rPr>
              <a:t>结构初始化和销毁结构</a:t>
            </a:r>
            <a:r>
              <a:rPr lang="en-US" altLang="zh-CN" sz="2800" b="1">
                <a:solidFill>
                  <a:srgbClr val="FB415C"/>
                </a:solidFill>
                <a:latin typeface="隶书" panose="02010509060101010101" charset="-122"/>
                <a:ea typeface="隶书" panose="02010509060101010101" charset="-122"/>
              </a:rPr>
              <a:t>}</a:t>
            </a:r>
            <a:endParaRPr lang="en-US" altLang="zh-CN" sz="2800" b="1">
              <a:latin typeface="楷体_GB2312" charset="0"/>
              <a:ea typeface="楷体_GB2312" charset="0"/>
            </a:endParaRPr>
          </a:p>
        </p:txBody>
      </p:sp>
      <p:sp>
        <p:nvSpPr>
          <p:cNvPr id="975876" name="Text Box 4"/>
          <p:cNvSpPr txBox="1">
            <a:spLocks noChangeArrowheads="1"/>
          </p:cNvSpPr>
          <p:nvPr/>
        </p:nvSpPr>
        <p:spPr bwMode="auto">
          <a:xfrm>
            <a:off x="365125" y="1955800"/>
            <a:ext cx="7056740" cy="2058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Status</a:t>
            </a:r>
            <a:r>
              <a:rPr lang="en-US" altLang="zh-CN" sz="2800"/>
              <a:t> InitList( LinkList</a:t>
            </a:r>
            <a:r>
              <a:rPr lang="en-US" altLang="zh-CN" sz="2800" b="1"/>
              <a:t> &amp;</a:t>
            </a:r>
            <a:r>
              <a:rPr lang="en-US" altLang="zh-CN" sz="2800"/>
              <a:t>L );   </a:t>
            </a:r>
            <a:endParaRPr lang="en-US" altLang="zh-CN" sz="2800"/>
          </a:p>
          <a:p>
            <a:pPr eaLnBrk="1" hangingPunct="1">
              <a:lnSpc>
                <a:spcPct val="115000"/>
              </a:lnSpc>
              <a:defRPr/>
            </a:pPr>
            <a:r>
              <a:rPr lang="en-US" altLang="zh-CN" sz="2800"/>
              <a:t>   // </a:t>
            </a:r>
            <a:r>
              <a:rPr lang="zh-CN" altLang="en-US" sz="2800">
                <a:solidFill>
                  <a:srgbClr val="3333CC"/>
                </a:solidFill>
                <a:latin typeface="楷体_GB2312" charset="0"/>
                <a:ea typeface="楷体_GB2312" charset="0"/>
              </a:rPr>
              <a:t>构造一个空的线性链表 </a:t>
            </a:r>
            <a:r>
              <a:rPr lang="en-US" altLang="zh-CN" sz="2800">
                <a:solidFill>
                  <a:srgbClr val="3333CC"/>
                </a:solidFill>
                <a:ea typeface="楷体_GB2312" charset="0"/>
              </a:rPr>
              <a:t>L</a:t>
            </a:r>
            <a:r>
              <a:rPr lang="zh-CN" altLang="en-US" sz="2800">
                <a:solidFill>
                  <a:srgbClr val="3333CC"/>
                </a:solidFill>
                <a:latin typeface="楷体_GB2312" charset="0"/>
                <a:ea typeface="楷体_GB2312" charset="0"/>
              </a:rPr>
              <a:t>，其头指针、</a:t>
            </a:r>
            <a:endParaRPr lang="zh-CN" altLang="en-US" sz="2800">
              <a:latin typeface="楷体_GB2312" charset="0"/>
              <a:ea typeface="楷体_GB2312" charset="0"/>
            </a:endParaRPr>
          </a:p>
          <a:p>
            <a:pPr eaLnBrk="1" hangingPunct="1">
              <a:lnSpc>
                <a:spcPct val="115000"/>
              </a:lnSpc>
              <a:defRPr/>
            </a:pPr>
            <a:r>
              <a:rPr lang="zh-CN" altLang="en-US" sz="2800">
                <a:latin typeface="楷体_GB2312" charset="0"/>
                <a:ea typeface="楷体_GB2312" charset="0"/>
              </a:rPr>
              <a:t>  </a:t>
            </a:r>
            <a:r>
              <a:rPr lang="en-US" altLang="zh-CN" sz="2800">
                <a:ea typeface="楷体_GB2312" charset="0"/>
              </a:rPr>
              <a:t>//</a:t>
            </a:r>
            <a:r>
              <a:rPr lang="en-US" altLang="zh-CN" sz="2800">
                <a:latin typeface="楷体_GB2312" charset="0"/>
                <a:ea typeface="楷体_GB2312" charset="0"/>
              </a:rPr>
              <a:t> </a:t>
            </a:r>
            <a:r>
              <a:rPr lang="zh-CN" altLang="en-US" sz="2800">
                <a:solidFill>
                  <a:srgbClr val="3333CC"/>
                </a:solidFill>
                <a:latin typeface="楷体_GB2312" charset="0"/>
                <a:ea typeface="楷体_GB2312" charset="0"/>
              </a:rPr>
              <a:t>尾指针和当前指针均指向头结点，</a:t>
            </a:r>
            <a:endParaRPr lang="zh-CN" altLang="en-US" sz="2800">
              <a:latin typeface="楷体_GB2312" charset="0"/>
              <a:ea typeface="楷体_GB2312" charset="0"/>
            </a:endParaRPr>
          </a:p>
          <a:p>
            <a:pPr eaLnBrk="1" hangingPunct="1">
              <a:lnSpc>
                <a:spcPct val="115000"/>
              </a:lnSpc>
              <a:defRPr/>
            </a:pPr>
            <a:r>
              <a:rPr lang="zh-CN" altLang="en-US" sz="2800">
                <a:latin typeface="楷体_GB2312" charset="0"/>
                <a:ea typeface="楷体_GB2312" charset="0"/>
              </a:rPr>
              <a:t>  </a:t>
            </a:r>
            <a:r>
              <a:rPr lang="en-US" altLang="zh-CN" sz="2800">
                <a:ea typeface="楷体_GB2312" charset="0"/>
              </a:rPr>
              <a:t>//</a:t>
            </a:r>
            <a:r>
              <a:rPr lang="en-US" altLang="zh-CN" sz="2800">
                <a:latin typeface="楷体_GB2312" charset="0"/>
                <a:ea typeface="楷体_GB2312" charset="0"/>
              </a:rPr>
              <a:t> </a:t>
            </a:r>
            <a:r>
              <a:rPr lang="zh-CN" altLang="en-US" sz="2800">
                <a:solidFill>
                  <a:srgbClr val="3333CC"/>
                </a:solidFill>
                <a:latin typeface="楷体_GB2312" charset="0"/>
                <a:ea typeface="楷体_GB2312" charset="0"/>
              </a:rPr>
              <a:t>表长为零。</a:t>
            </a:r>
            <a:endParaRPr lang="zh-CN" altLang="en-US" sz="2800">
              <a:latin typeface="楷体_GB2312" charset="0"/>
              <a:ea typeface="楷体_GB2312" charset="0"/>
            </a:endParaRPr>
          </a:p>
        </p:txBody>
      </p:sp>
      <p:sp>
        <p:nvSpPr>
          <p:cNvPr id="975877" name="Text Box 5"/>
          <p:cNvSpPr txBox="1">
            <a:spLocks noChangeArrowheads="1"/>
          </p:cNvSpPr>
          <p:nvPr/>
        </p:nvSpPr>
        <p:spPr bwMode="auto">
          <a:xfrm>
            <a:off x="358775" y="4722813"/>
            <a:ext cx="5811206" cy="1067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Status</a:t>
            </a:r>
            <a:r>
              <a:rPr lang="en-US" altLang="zh-CN" sz="2800"/>
              <a:t> DestroyList( LinkList</a:t>
            </a:r>
            <a:r>
              <a:rPr lang="en-US" altLang="zh-CN" sz="2800" b="1"/>
              <a:t> &amp;</a:t>
            </a:r>
            <a:r>
              <a:rPr lang="en-US" altLang="zh-CN" sz="2800"/>
              <a:t>L );</a:t>
            </a:r>
            <a:endParaRPr lang="en-US" altLang="zh-CN" sz="2800"/>
          </a:p>
          <a:p>
            <a:pPr eaLnBrk="1" hangingPunct="1">
              <a:lnSpc>
                <a:spcPct val="115000"/>
              </a:lnSpc>
              <a:defRPr/>
            </a:pPr>
            <a:r>
              <a:rPr lang="en-US" altLang="zh-CN" sz="2800"/>
              <a:t>   // </a:t>
            </a:r>
            <a:r>
              <a:rPr lang="zh-CN" altLang="en-US" sz="2800">
                <a:solidFill>
                  <a:srgbClr val="3333CC"/>
                </a:solidFill>
                <a:latin typeface="楷体_GB2312" charset="0"/>
                <a:ea typeface="楷体_GB2312" charset="0"/>
              </a:rPr>
              <a:t>销毁线性链表 </a:t>
            </a:r>
            <a:r>
              <a:rPr lang="en-US" altLang="zh-CN" sz="2800">
                <a:solidFill>
                  <a:srgbClr val="3333CC"/>
                </a:solidFill>
                <a:ea typeface="楷体_GB2312" charset="0"/>
              </a:rPr>
              <a:t>L</a:t>
            </a:r>
            <a:r>
              <a:rPr lang="zh-CN" altLang="en-US" sz="2800">
                <a:solidFill>
                  <a:srgbClr val="3333CC"/>
                </a:solidFill>
                <a:ea typeface="楷体_GB2312" charset="0"/>
              </a:rPr>
              <a:t>，</a:t>
            </a:r>
            <a:r>
              <a:rPr lang="en-US" altLang="zh-CN" sz="2800">
                <a:solidFill>
                  <a:srgbClr val="3333CC"/>
                </a:solidFill>
                <a:ea typeface="楷体_GB2312" charset="0"/>
              </a:rPr>
              <a:t>L</a:t>
            </a:r>
            <a:r>
              <a:rPr lang="zh-CN" altLang="en-US" sz="2800">
                <a:solidFill>
                  <a:srgbClr val="3333CC"/>
                </a:solidFill>
                <a:latin typeface="楷体_GB2312" charset="0"/>
                <a:ea typeface="楷体_GB2312" charset="0"/>
              </a:rPr>
              <a:t>不再存在。</a:t>
            </a:r>
            <a:endParaRPr lang="zh-CN" altLang="en-US" sz="2800">
              <a:latin typeface="楷体_GB2312" charset="0"/>
              <a:ea typeface="楷体_GB2312" charset="0"/>
            </a:endParaRPr>
          </a:p>
        </p:txBody>
      </p:sp>
      <p:sp>
        <p:nvSpPr>
          <p:cNvPr id="975879" name="Comment 7"/>
          <p:cNvSpPr>
            <a:spLocks noChangeArrowheads="1"/>
          </p:cNvSpPr>
          <p:nvPr/>
        </p:nvSpPr>
        <p:spPr bwMode="auto">
          <a:xfrm>
            <a:off x="7391400" y="2057400"/>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zh-CN" altLang="en-US" sz="2800">
                <a:solidFill>
                  <a:srgbClr val="663300"/>
                </a:solidFill>
                <a:latin typeface="Arial" panose="020B0604020202020204" pitchFamily="34" charset="0"/>
              </a:rPr>
              <a:t> </a:t>
            </a:r>
            <a:r>
              <a:rPr lang="en-US" altLang="zh-CN" sz="2800">
                <a:solidFill>
                  <a:srgbClr val="663300"/>
                </a:solidFill>
                <a:latin typeface="Arial" panose="020B0604020202020204" pitchFamily="34" charset="0"/>
              </a:rPr>
              <a:t>O(1)</a:t>
            </a:r>
            <a:endParaRPr lang="en-US" altLang="zh-CN" sz="2800">
              <a:solidFill>
                <a:srgbClr val="663300"/>
              </a:solidFill>
              <a:latin typeface="Arial" panose="020B0604020202020204" pitchFamily="34" charset="0"/>
            </a:endParaRPr>
          </a:p>
        </p:txBody>
      </p:sp>
      <p:sp>
        <p:nvSpPr>
          <p:cNvPr id="975880" name="Comment 8"/>
          <p:cNvSpPr>
            <a:spLocks noChangeArrowheads="1"/>
          </p:cNvSpPr>
          <p:nvPr/>
        </p:nvSpPr>
        <p:spPr bwMode="auto">
          <a:xfrm>
            <a:off x="7772400" y="4876800"/>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zh-CN" altLang="en-US" sz="2800">
                <a:solidFill>
                  <a:srgbClr val="663300"/>
                </a:solidFill>
                <a:latin typeface="Arial" panose="020B0604020202020204" pitchFamily="34" charset="0"/>
              </a:rPr>
              <a:t> </a:t>
            </a:r>
            <a:r>
              <a:rPr lang="en-US" altLang="zh-CN" sz="2800">
                <a:solidFill>
                  <a:srgbClr val="663300"/>
                </a:solidFill>
                <a:latin typeface="Arial" panose="020B0604020202020204" pitchFamily="34" charset="0"/>
              </a:rPr>
              <a:t>O(n)</a:t>
            </a:r>
            <a:endParaRPr lang="en-US" altLang="zh-CN" sz="2800">
              <a:solidFill>
                <a:srgbClr val="6633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975875"/>
                                        </p:tgtEl>
                                        <p:attrNameLst>
                                          <p:attrName>style.visibility</p:attrName>
                                        </p:attrNameLst>
                                      </p:cBhvr>
                                      <p:to>
                                        <p:strVal val="visible"/>
                                      </p:to>
                                    </p:set>
                                    <p:animEffect transition="in" filter="slide(fromRight)">
                                      <p:cBhvr>
                                        <p:cTn id="7" dur="500"/>
                                        <p:tgtEl>
                                          <p:spTgt spid="97587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975876"/>
                                        </p:tgtEl>
                                        <p:attrNameLst>
                                          <p:attrName>style.visibility</p:attrName>
                                        </p:attrNameLst>
                                      </p:cBhvr>
                                      <p:to>
                                        <p:strVal val="visible"/>
                                      </p:to>
                                    </p:set>
                                    <p:animEffect transition="in" filter="barn(outVertical)">
                                      <p:cBhvr>
                                        <p:cTn id="12" dur="500"/>
                                        <p:tgtEl>
                                          <p:spTgt spid="97587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975877"/>
                                        </p:tgtEl>
                                        <p:attrNameLst>
                                          <p:attrName>style.visibility</p:attrName>
                                        </p:attrNameLst>
                                      </p:cBhvr>
                                      <p:to>
                                        <p:strVal val="visible"/>
                                      </p:to>
                                    </p:set>
                                    <p:animEffect transition="in" filter="barn(outVertical)">
                                      <p:cBhvr>
                                        <p:cTn id="17" dur="500"/>
                                        <p:tgtEl>
                                          <p:spTgt spid="975877"/>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975879"/>
                                        </p:tgtEl>
                                        <p:attrNameLst>
                                          <p:attrName>style.visibility</p:attrName>
                                        </p:attrNameLst>
                                      </p:cBhvr>
                                      <p:to>
                                        <p:strVal val="visible"/>
                                      </p:to>
                                    </p:set>
                                    <p:anim calcmode="lin" valueType="num">
                                      <p:cBhvr>
                                        <p:cTn id="22" dur="500" fill="hold"/>
                                        <p:tgtEl>
                                          <p:spTgt spid="975879"/>
                                        </p:tgtEl>
                                        <p:attrNameLst>
                                          <p:attrName>ppt_w</p:attrName>
                                        </p:attrNameLst>
                                      </p:cBhvr>
                                      <p:tavLst>
                                        <p:tav tm="0">
                                          <p:val>
                                            <p:fltVal val="0"/>
                                          </p:val>
                                        </p:tav>
                                        <p:tav tm="100000">
                                          <p:val>
                                            <p:strVal val="#ppt_w"/>
                                          </p:val>
                                        </p:tav>
                                      </p:tavLst>
                                    </p:anim>
                                    <p:anim calcmode="lin" valueType="num">
                                      <p:cBhvr>
                                        <p:cTn id="23" dur="500" fill="hold"/>
                                        <p:tgtEl>
                                          <p:spTgt spid="975879"/>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975880"/>
                                        </p:tgtEl>
                                        <p:attrNameLst>
                                          <p:attrName>style.visibility</p:attrName>
                                        </p:attrNameLst>
                                      </p:cBhvr>
                                      <p:to>
                                        <p:strVal val="visible"/>
                                      </p:to>
                                    </p:set>
                                    <p:anim calcmode="lin" valueType="num">
                                      <p:cBhvr>
                                        <p:cTn id="28" dur="500" fill="hold"/>
                                        <p:tgtEl>
                                          <p:spTgt spid="975880"/>
                                        </p:tgtEl>
                                        <p:attrNameLst>
                                          <p:attrName>ppt_w</p:attrName>
                                        </p:attrNameLst>
                                      </p:cBhvr>
                                      <p:tavLst>
                                        <p:tav tm="0">
                                          <p:val>
                                            <p:fltVal val="0"/>
                                          </p:val>
                                        </p:tav>
                                        <p:tav tm="100000">
                                          <p:val>
                                            <p:strVal val="#ppt_w"/>
                                          </p:val>
                                        </p:tav>
                                      </p:tavLst>
                                    </p:anim>
                                    <p:anim calcmode="lin" valueType="num">
                                      <p:cBhvr>
                                        <p:cTn id="29" dur="500" fill="hold"/>
                                        <p:tgtEl>
                                          <p:spTgt spid="97588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5875" grpId="0" autoUpdateAnimBg="0"/>
      <p:bldP spid="975876" grpId="0" autoUpdateAnimBg="0"/>
      <p:bldP spid="975877" grpId="0" autoUpdateAnimBg="0"/>
      <p:bldP spid="975879" grpId="0" animBg="1" autoUpdateAnimBg="0"/>
      <p:bldP spid="975880" grpId="0" animBg="1"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Text Box 2"/>
          <p:cNvSpPr txBox="1">
            <a:spLocks noChangeArrowheads="1"/>
          </p:cNvSpPr>
          <p:nvPr/>
        </p:nvSpPr>
        <p:spPr bwMode="auto">
          <a:xfrm>
            <a:off x="1568450" y="152400"/>
            <a:ext cx="22589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FB415C"/>
                </a:solidFill>
                <a:latin typeface="隶书" panose="02010509060101010101" charset="-122"/>
                <a:ea typeface="隶书" panose="02010509060101010101" charset="-122"/>
              </a:rPr>
              <a:t>{</a:t>
            </a:r>
            <a:r>
              <a:rPr lang="zh-CN" altLang="en-US" sz="2800" b="1">
                <a:solidFill>
                  <a:srgbClr val="FB415C"/>
                </a:solidFill>
                <a:latin typeface="隶书" panose="02010509060101010101" charset="-122"/>
                <a:ea typeface="隶书" panose="02010509060101010101" charset="-122"/>
              </a:rPr>
              <a:t>引用型操作</a:t>
            </a:r>
            <a:r>
              <a:rPr lang="en-US" altLang="zh-CN" sz="2800" b="1">
                <a:solidFill>
                  <a:srgbClr val="FB415C"/>
                </a:solidFill>
                <a:latin typeface="隶书" panose="02010509060101010101" charset="-122"/>
                <a:ea typeface="隶书" panose="02010509060101010101" charset="-122"/>
              </a:rPr>
              <a:t>}</a:t>
            </a:r>
            <a:endParaRPr lang="en-US" altLang="zh-CN" sz="2800"/>
          </a:p>
        </p:txBody>
      </p:sp>
      <p:sp>
        <p:nvSpPr>
          <p:cNvPr id="976899" name="Text Box 3"/>
          <p:cNvSpPr txBox="1">
            <a:spLocks noChangeArrowheads="1"/>
          </p:cNvSpPr>
          <p:nvPr/>
        </p:nvSpPr>
        <p:spPr bwMode="auto">
          <a:xfrm>
            <a:off x="152400" y="990600"/>
            <a:ext cx="6955750" cy="571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Status</a:t>
            </a:r>
            <a:r>
              <a:rPr lang="en-US" altLang="zh-CN" sz="2800"/>
              <a:t> ListEmpty ( LinkList L ); //</a:t>
            </a:r>
            <a:r>
              <a:rPr lang="zh-CN" altLang="en-US" sz="2800">
                <a:solidFill>
                  <a:srgbClr val="3333CC"/>
                </a:solidFill>
                <a:ea typeface="楷体_GB2312" charset="0"/>
              </a:rPr>
              <a:t>判表空</a:t>
            </a:r>
            <a:endParaRPr lang="zh-CN" altLang="en-US" sz="2800"/>
          </a:p>
        </p:txBody>
      </p:sp>
      <p:sp>
        <p:nvSpPr>
          <p:cNvPr id="976900" name="Text Box 4"/>
          <p:cNvSpPr txBox="1">
            <a:spLocks noChangeArrowheads="1"/>
          </p:cNvSpPr>
          <p:nvPr/>
        </p:nvSpPr>
        <p:spPr bwMode="auto">
          <a:xfrm>
            <a:off x="152400" y="1752600"/>
            <a:ext cx="6923690" cy="571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int</a:t>
            </a:r>
            <a:r>
              <a:rPr lang="en-US" altLang="zh-CN" sz="2800"/>
              <a:t>  ListLength( LinkList L );    // </a:t>
            </a:r>
            <a:r>
              <a:rPr lang="zh-CN" altLang="en-US" sz="2800">
                <a:solidFill>
                  <a:srgbClr val="3333CC"/>
                </a:solidFill>
                <a:ea typeface="楷体_GB2312" charset="0"/>
              </a:rPr>
              <a:t>求表长</a:t>
            </a:r>
            <a:endParaRPr lang="zh-CN" altLang="en-US" sz="2800"/>
          </a:p>
        </p:txBody>
      </p:sp>
      <p:sp>
        <p:nvSpPr>
          <p:cNvPr id="976901" name="Text Box 5"/>
          <p:cNvSpPr txBox="1">
            <a:spLocks noChangeArrowheads="1"/>
          </p:cNvSpPr>
          <p:nvPr/>
        </p:nvSpPr>
        <p:spPr bwMode="auto">
          <a:xfrm>
            <a:off x="171450" y="2590800"/>
            <a:ext cx="5192447" cy="1067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Status</a:t>
            </a:r>
            <a:r>
              <a:rPr lang="en-US" altLang="zh-CN" sz="2800"/>
              <a:t> Prior( LinkList L );  </a:t>
            </a:r>
            <a:endParaRPr lang="en-US" altLang="zh-CN" sz="2800"/>
          </a:p>
          <a:p>
            <a:pPr eaLnBrk="1" hangingPunct="1">
              <a:lnSpc>
                <a:spcPct val="115000"/>
              </a:lnSpc>
              <a:defRPr/>
            </a:pPr>
            <a:r>
              <a:rPr lang="en-US" altLang="zh-CN" sz="2800"/>
              <a:t>     // </a:t>
            </a:r>
            <a:r>
              <a:rPr lang="zh-CN" altLang="en-US" sz="2800">
                <a:solidFill>
                  <a:srgbClr val="3333CC"/>
                </a:solidFill>
                <a:ea typeface="楷体_GB2312" charset="0"/>
              </a:rPr>
              <a:t>改变当前指针指向其前驱</a:t>
            </a:r>
            <a:endParaRPr lang="zh-CN" altLang="en-US" sz="2800">
              <a:solidFill>
                <a:srgbClr val="3333CC"/>
              </a:solidFill>
              <a:ea typeface="楷体_GB2312" charset="0"/>
            </a:endParaRPr>
          </a:p>
        </p:txBody>
      </p:sp>
      <p:sp>
        <p:nvSpPr>
          <p:cNvPr id="976902" name="Text Box 6"/>
          <p:cNvSpPr txBox="1">
            <a:spLocks noChangeArrowheads="1"/>
          </p:cNvSpPr>
          <p:nvPr/>
        </p:nvSpPr>
        <p:spPr bwMode="auto">
          <a:xfrm>
            <a:off x="152400" y="3886200"/>
            <a:ext cx="5192447" cy="1067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Status</a:t>
            </a:r>
            <a:r>
              <a:rPr lang="en-US" altLang="zh-CN" sz="2800"/>
              <a:t> Next ( LinkList L ); </a:t>
            </a:r>
            <a:endParaRPr lang="en-US" altLang="zh-CN" sz="2800"/>
          </a:p>
          <a:p>
            <a:pPr eaLnBrk="1" hangingPunct="1">
              <a:lnSpc>
                <a:spcPct val="115000"/>
              </a:lnSpc>
              <a:defRPr/>
            </a:pPr>
            <a:r>
              <a:rPr lang="en-US" altLang="zh-CN" sz="2800"/>
              <a:t>     // </a:t>
            </a:r>
            <a:r>
              <a:rPr lang="zh-CN" altLang="en-US" sz="2800">
                <a:solidFill>
                  <a:srgbClr val="3333CC"/>
                </a:solidFill>
                <a:ea typeface="楷体_GB2312" charset="0"/>
              </a:rPr>
              <a:t>改变当前指针指向其后继</a:t>
            </a:r>
            <a:endParaRPr lang="zh-CN" altLang="en-US" sz="2800">
              <a:ea typeface="楷体_GB2312" charset="0"/>
            </a:endParaRPr>
          </a:p>
        </p:txBody>
      </p:sp>
      <p:sp>
        <p:nvSpPr>
          <p:cNvPr id="976903" name="Text Box 7"/>
          <p:cNvSpPr txBox="1">
            <a:spLocks noChangeArrowheads="1"/>
          </p:cNvSpPr>
          <p:nvPr/>
        </p:nvSpPr>
        <p:spPr bwMode="auto">
          <a:xfrm>
            <a:off x="152400" y="5181600"/>
            <a:ext cx="6470041" cy="1067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ElemType</a:t>
            </a:r>
            <a:r>
              <a:rPr lang="en-US" altLang="zh-CN" sz="2800"/>
              <a:t> GetCurElem ( LinkList L ); </a:t>
            </a:r>
            <a:endParaRPr lang="en-US" altLang="zh-CN" sz="2800"/>
          </a:p>
          <a:p>
            <a:pPr eaLnBrk="1" hangingPunct="1">
              <a:lnSpc>
                <a:spcPct val="115000"/>
              </a:lnSpc>
              <a:defRPr/>
            </a:pPr>
            <a:r>
              <a:rPr lang="en-US" altLang="zh-CN" sz="2800"/>
              <a:t>      // </a:t>
            </a:r>
            <a:r>
              <a:rPr lang="zh-CN" altLang="en-US" sz="2800">
                <a:solidFill>
                  <a:srgbClr val="3333CC"/>
                </a:solidFill>
                <a:ea typeface="楷体_GB2312" charset="0"/>
              </a:rPr>
              <a:t>返回当前指针所指数据元素</a:t>
            </a:r>
            <a:endParaRPr lang="zh-CN" altLang="en-US" sz="2800">
              <a:ea typeface="楷体_GB2312" charset="0"/>
            </a:endParaRPr>
          </a:p>
        </p:txBody>
      </p:sp>
      <p:sp>
        <p:nvSpPr>
          <p:cNvPr id="976905" name="Comment 9"/>
          <p:cNvSpPr>
            <a:spLocks noChangeArrowheads="1"/>
          </p:cNvSpPr>
          <p:nvPr/>
        </p:nvSpPr>
        <p:spPr bwMode="auto">
          <a:xfrm>
            <a:off x="7940675" y="990600"/>
            <a:ext cx="1050925"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en-US" altLang="zh-CN" sz="2800" b="1">
                <a:solidFill>
                  <a:srgbClr val="663300"/>
                </a:solidFill>
                <a:latin typeface="Arial" panose="020B0604020202020204" pitchFamily="34" charset="0"/>
              </a:rPr>
              <a:t>O(1)</a:t>
            </a:r>
            <a:endParaRPr lang="en-US" altLang="zh-CN" sz="2800">
              <a:solidFill>
                <a:srgbClr val="000000"/>
              </a:solidFill>
              <a:latin typeface="Arial" panose="020B0604020202020204" pitchFamily="34" charset="0"/>
            </a:endParaRPr>
          </a:p>
        </p:txBody>
      </p:sp>
      <p:sp>
        <p:nvSpPr>
          <p:cNvPr id="976906" name="Comment 10"/>
          <p:cNvSpPr>
            <a:spLocks noChangeArrowheads="1"/>
          </p:cNvSpPr>
          <p:nvPr/>
        </p:nvSpPr>
        <p:spPr bwMode="auto">
          <a:xfrm>
            <a:off x="7940675" y="1976438"/>
            <a:ext cx="1050925"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en-US" altLang="zh-CN" sz="2800" b="1">
                <a:solidFill>
                  <a:srgbClr val="663300"/>
                </a:solidFill>
                <a:latin typeface="Arial" panose="020B0604020202020204" pitchFamily="34" charset="0"/>
              </a:rPr>
              <a:t>O(1)</a:t>
            </a:r>
            <a:endParaRPr lang="en-US" altLang="zh-CN" sz="2800">
              <a:solidFill>
                <a:srgbClr val="663300"/>
              </a:solidFill>
              <a:latin typeface="Arial" panose="020B0604020202020204" pitchFamily="34" charset="0"/>
            </a:endParaRPr>
          </a:p>
        </p:txBody>
      </p:sp>
      <p:sp>
        <p:nvSpPr>
          <p:cNvPr id="976907" name="Comment 11"/>
          <p:cNvSpPr>
            <a:spLocks noChangeArrowheads="1"/>
          </p:cNvSpPr>
          <p:nvPr/>
        </p:nvSpPr>
        <p:spPr bwMode="auto">
          <a:xfrm>
            <a:off x="5791200" y="2611438"/>
            <a:ext cx="1050925"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en-US" altLang="zh-CN" sz="2800" b="1">
                <a:solidFill>
                  <a:srgbClr val="663300"/>
                </a:solidFill>
                <a:latin typeface="Arial" panose="020B0604020202020204" pitchFamily="34" charset="0"/>
              </a:rPr>
              <a:t>O(n)</a:t>
            </a:r>
            <a:endParaRPr lang="en-US" altLang="zh-CN" sz="2800">
              <a:solidFill>
                <a:srgbClr val="663300"/>
              </a:solidFill>
              <a:latin typeface="Arial" panose="020B0604020202020204" pitchFamily="34" charset="0"/>
            </a:endParaRPr>
          </a:p>
        </p:txBody>
      </p:sp>
      <p:sp>
        <p:nvSpPr>
          <p:cNvPr id="976908" name="Comment 12"/>
          <p:cNvSpPr>
            <a:spLocks noChangeArrowheads="1"/>
          </p:cNvSpPr>
          <p:nvPr/>
        </p:nvSpPr>
        <p:spPr bwMode="auto">
          <a:xfrm>
            <a:off x="5791200" y="3906838"/>
            <a:ext cx="1050925"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en-US" altLang="zh-CN" sz="2800" b="1">
                <a:solidFill>
                  <a:srgbClr val="663300"/>
                </a:solidFill>
                <a:latin typeface="Arial" panose="020B0604020202020204" pitchFamily="34" charset="0"/>
              </a:rPr>
              <a:t>O(1)</a:t>
            </a:r>
            <a:endParaRPr lang="en-US" altLang="zh-CN" sz="2800">
              <a:solidFill>
                <a:srgbClr val="000000"/>
              </a:solidFill>
              <a:latin typeface="Arial" panose="020B0604020202020204" pitchFamily="34" charset="0"/>
            </a:endParaRPr>
          </a:p>
        </p:txBody>
      </p:sp>
      <p:sp>
        <p:nvSpPr>
          <p:cNvPr id="976909" name="Comment 13"/>
          <p:cNvSpPr>
            <a:spLocks noChangeArrowheads="1"/>
          </p:cNvSpPr>
          <p:nvPr/>
        </p:nvSpPr>
        <p:spPr bwMode="auto">
          <a:xfrm>
            <a:off x="7772400" y="5257800"/>
            <a:ext cx="1050925"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en-US" altLang="zh-CN" sz="2800" b="1">
                <a:solidFill>
                  <a:srgbClr val="663300"/>
                </a:solidFill>
                <a:latin typeface="Arial" panose="020B0604020202020204" pitchFamily="34" charset="0"/>
              </a:rPr>
              <a:t>O(1)</a:t>
            </a:r>
            <a:endParaRPr lang="en-US" altLang="zh-CN" sz="2800">
              <a:solidFill>
                <a:srgbClr val="0000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6899"/>
                                        </p:tgtEl>
                                        <p:attrNameLst>
                                          <p:attrName>style.visibility</p:attrName>
                                        </p:attrNameLst>
                                      </p:cBhvr>
                                      <p:to>
                                        <p:strVal val="visible"/>
                                      </p:to>
                                    </p:set>
                                    <p:animEffect transition="in" filter="wipe(left)">
                                      <p:cBhvr>
                                        <p:cTn id="7" dur="500"/>
                                        <p:tgtEl>
                                          <p:spTgt spid="9768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6900"/>
                                        </p:tgtEl>
                                        <p:attrNameLst>
                                          <p:attrName>style.visibility</p:attrName>
                                        </p:attrNameLst>
                                      </p:cBhvr>
                                      <p:to>
                                        <p:strVal val="visible"/>
                                      </p:to>
                                    </p:set>
                                    <p:animEffect transition="in" filter="wipe(left)">
                                      <p:cBhvr>
                                        <p:cTn id="12" dur="500"/>
                                        <p:tgtEl>
                                          <p:spTgt spid="9769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6901"/>
                                        </p:tgtEl>
                                        <p:attrNameLst>
                                          <p:attrName>style.visibility</p:attrName>
                                        </p:attrNameLst>
                                      </p:cBhvr>
                                      <p:to>
                                        <p:strVal val="visible"/>
                                      </p:to>
                                    </p:set>
                                    <p:animEffect transition="in" filter="wipe(left)">
                                      <p:cBhvr>
                                        <p:cTn id="17" dur="500"/>
                                        <p:tgtEl>
                                          <p:spTgt spid="9769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76902"/>
                                        </p:tgtEl>
                                        <p:attrNameLst>
                                          <p:attrName>style.visibility</p:attrName>
                                        </p:attrNameLst>
                                      </p:cBhvr>
                                      <p:to>
                                        <p:strVal val="visible"/>
                                      </p:to>
                                    </p:set>
                                    <p:animEffect transition="in" filter="wipe(left)">
                                      <p:cBhvr>
                                        <p:cTn id="22" dur="500"/>
                                        <p:tgtEl>
                                          <p:spTgt spid="97690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76903"/>
                                        </p:tgtEl>
                                        <p:attrNameLst>
                                          <p:attrName>style.visibility</p:attrName>
                                        </p:attrNameLst>
                                      </p:cBhvr>
                                      <p:to>
                                        <p:strVal val="visible"/>
                                      </p:to>
                                    </p:set>
                                    <p:animEffect transition="in" filter="wipe(left)">
                                      <p:cBhvr>
                                        <p:cTn id="27" dur="500"/>
                                        <p:tgtEl>
                                          <p:spTgt spid="97690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976905"/>
                                        </p:tgtEl>
                                        <p:attrNameLst>
                                          <p:attrName>style.visibility</p:attrName>
                                        </p:attrNameLst>
                                      </p:cBhvr>
                                      <p:to>
                                        <p:strVal val="visible"/>
                                      </p:to>
                                    </p:set>
                                    <p:animEffect transition="in" filter="dissolve">
                                      <p:cBhvr>
                                        <p:cTn id="32" dur="500"/>
                                        <p:tgtEl>
                                          <p:spTgt spid="97690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76906"/>
                                        </p:tgtEl>
                                        <p:attrNameLst>
                                          <p:attrName>style.visibility</p:attrName>
                                        </p:attrNameLst>
                                      </p:cBhvr>
                                      <p:to>
                                        <p:strVal val="visible"/>
                                      </p:to>
                                    </p:set>
                                    <p:animEffect transition="in" filter="dissolve">
                                      <p:cBhvr>
                                        <p:cTn id="37" dur="500"/>
                                        <p:tgtEl>
                                          <p:spTgt spid="97690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976907"/>
                                        </p:tgtEl>
                                        <p:attrNameLst>
                                          <p:attrName>style.visibility</p:attrName>
                                        </p:attrNameLst>
                                      </p:cBhvr>
                                      <p:to>
                                        <p:strVal val="visible"/>
                                      </p:to>
                                    </p:set>
                                    <p:animEffect transition="in" filter="dissolve">
                                      <p:cBhvr>
                                        <p:cTn id="42" dur="500"/>
                                        <p:tgtEl>
                                          <p:spTgt spid="97690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976908"/>
                                        </p:tgtEl>
                                        <p:attrNameLst>
                                          <p:attrName>style.visibility</p:attrName>
                                        </p:attrNameLst>
                                      </p:cBhvr>
                                      <p:to>
                                        <p:strVal val="visible"/>
                                      </p:to>
                                    </p:set>
                                    <p:animEffect transition="in" filter="dissolve">
                                      <p:cBhvr>
                                        <p:cTn id="47" dur="500"/>
                                        <p:tgtEl>
                                          <p:spTgt spid="976908"/>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976909"/>
                                        </p:tgtEl>
                                        <p:attrNameLst>
                                          <p:attrName>style.visibility</p:attrName>
                                        </p:attrNameLst>
                                      </p:cBhvr>
                                      <p:to>
                                        <p:strVal val="visible"/>
                                      </p:to>
                                    </p:set>
                                    <p:animEffect transition="in" filter="dissolve">
                                      <p:cBhvr>
                                        <p:cTn id="52" dur="500"/>
                                        <p:tgtEl>
                                          <p:spTgt spid="976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6899" grpId="0" autoUpdateAnimBg="0"/>
      <p:bldP spid="976900" grpId="0" autoUpdateAnimBg="0"/>
      <p:bldP spid="976901" grpId="0" autoUpdateAnimBg="0"/>
      <p:bldP spid="976902" grpId="0" autoUpdateAnimBg="0"/>
      <p:bldP spid="976903" grpId="0" autoUpdateAnimBg="0"/>
      <p:bldP spid="976905" grpId="0" animBg="1" autoUpdateAnimBg="0"/>
      <p:bldP spid="976906" grpId="0" animBg="1" autoUpdateAnimBg="0"/>
      <p:bldP spid="976907" grpId="0" animBg="1" autoUpdateAnimBg="0"/>
      <p:bldP spid="976908" grpId="0" animBg="1" autoUpdateAnimBg="0"/>
      <p:bldP spid="976909" grpId="0" animBg="1"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2" name="Text Box 2"/>
          <p:cNvSpPr txBox="1">
            <a:spLocks noChangeArrowheads="1"/>
          </p:cNvSpPr>
          <p:nvPr/>
        </p:nvSpPr>
        <p:spPr bwMode="auto">
          <a:xfrm>
            <a:off x="158750" y="179388"/>
            <a:ext cx="6454011" cy="102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zh-CN" altLang="en-US" sz="2800" b="1"/>
              <a:t>  </a:t>
            </a:r>
            <a:r>
              <a:rPr lang="en-US" altLang="zh-CN" sz="2800" b="1"/>
              <a:t>Status </a:t>
            </a:r>
            <a:r>
              <a:rPr lang="en-US" altLang="zh-CN" sz="2800"/>
              <a:t>LocatePos( LinkList L, int i );</a:t>
            </a:r>
            <a:endParaRPr lang="en-US" altLang="zh-CN" sz="2800"/>
          </a:p>
          <a:p>
            <a:pPr eaLnBrk="1" hangingPunct="1">
              <a:lnSpc>
                <a:spcPct val="110000"/>
              </a:lnSpc>
              <a:defRPr/>
            </a:pPr>
            <a:r>
              <a:rPr lang="en-US" altLang="zh-CN" sz="2800"/>
              <a:t>       // </a:t>
            </a:r>
            <a:r>
              <a:rPr lang="zh-CN" altLang="en-US" sz="2800">
                <a:solidFill>
                  <a:srgbClr val="3333CC"/>
                </a:solidFill>
                <a:latin typeface="隶书" panose="02010509060101010101" charset="-122"/>
                <a:ea typeface="隶书" panose="02010509060101010101" charset="-122"/>
              </a:rPr>
              <a:t>改变当前指针指向第</a:t>
            </a:r>
            <a:r>
              <a:rPr lang="en-US" altLang="zh-CN" sz="2800">
                <a:solidFill>
                  <a:srgbClr val="3333CC"/>
                </a:solidFill>
                <a:latin typeface="隶书" panose="02010509060101010101" charset="-122"/>
                <a:ea typeface="隶书" panose="02010509060101010101" charset="-122"/>
              </a:rPr>
              <a:t>i</a:t>
            </a:r>
            <a:r>
              <a:rPr lang="zh-CN" altLang="en-US" sz="2800">
                <a:solidFill>
                  <a:srgbClr val="3333CC"/>
                </a:solidFill>
                <a:latin typeface="隶书" panose="02010509060101010101" charset="-122"/>
                <a:ea typeface="隶书" panose="02010509060101010101" charset="-122"/>
              </a:rPr>
              <a:t>个结点</a:t>
            </a:r>
            <a:endParaRPr lang="zh-CN" altLang="en-US" sz="2800"/>
          </a:p>
        </p:txBody>
      </p:sp>
      <p:sp>
        <p:nvSpPr>
          <p:cNvPr id="977923" name="Text Box 3"/>
          <p:cNvSpPr txBox="1">
            <a:spLocks noChangeArrowheads="1"/>
          </p:cNvSpPr>
          <p:nvPr/>
        </p:nvSpPr>
        <p:spPr bwMode="auto">
          <a:xfrm>
            <a:off x="76200" y="1744663"/>
            <a:ext cx="8217314" cy="2451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a:t>Status</a:t>
            </a:r>
            <a:r>
              <a:rPr lang="en-US" altLang="zh-CN" sz="2800"/>
              <a:t> LocateElem (LinkList L, ElemType e,</a:t>
            </a:r>
            <a:r>
              <a:rPr lang="en-US" altLang="zh-CN" sz="2800" b="1"/>
              <a:t> </a:t>
            </a:r>
            <a:endParaRPr lang="en-US" altLang="zh-CN" sz="2800" b="1"/>
          </a:p>
          <a:p>
            <a:pPr eaLnBrk="1" hangingPunct="1">
              <a:lnSpc>
                <a:spcPct val="110000"/>
              </a:lnSpc>
              <a:defRPr/>
            </a:pPr>
            <a:r>
              <a:rPr lang="en-US" altLang="zh-CN" sz="2800" b="1"/>
              <a:t>       Status</a:t>
            </a:r>
            <a:r>
              <a:rPr lang="en-US" altLang="zh-CN" sz="2800"/>
              <a:t> (</a:t>
            </a:r>
            <a:r>
              <a:rPr lang="en-US" altLang="zh-CN" sz="2800" b="1"/>
              <a:t>*</a:t>
            </a:r>
            <a:r>
              <a:rPr lang="en-US" altLang="zh-CN" sz="2800"/>
              <a:t>compare)(ElemType, ElemType));</a:t>
            </a:r>
            <a:endParaRPr lang="en-US" altLang="zh-CN" sz="2800"/>
          </a:p>
          <a:p>
            <a:pPr eaLnBrk="1" hangingPunct="1">
              <a:lnSpc>
                <a:spcPct val="110000"/>
              </a:lnSpc>
              <a:defRPr/>
            </a:pPr>
            <a:r>
              <a:rPr lang="en-US" altLang="zh-CN" sz="2800"/>
              <a:t>   // </a:t>
            </a:r>
            <a:r>
              <a:rPr lang="zh-CN" altLang="en-US" sz="2800">
                <a:solidFill>
                  <a:srgbClr val="3333CC"/>
                </a:solidFill>
                <a:latin typeface="隶书" panose="02010509060101010101" charset="-122"/>
                <a:ea typeface="隶书" panose="02010509060101010101" charset="-122"/>
              </a:rPr>
              <a:t>若存在与</a:t>
            </a:r>
            <a:r>
              <a:rPr lang="en-US" altLang="zh-CN" sz="2800">
                <a:solidFill>
                  <a:srgbClr val="3333CC"/>
                </a:solidFill>
                <a:ea typeface="隶书" panose="02010509060101010101" charset="-122"/>
              </a:rPr>
              <a:t>e </a:t>
            </a:r>
            <a:r>
              <a:rPr lang="zh-CN" altLang="en-US" sz="2800">
                <a:solidFill>
                  <a:srgbClr val="3333CC"/>
                </a:solidFill>
                <a:latin typeface="隶书" panose="02010509060101010101" charset="-122"/>
                <a:ea typeface="隶书" panose="02010509060101010101" charset="-122"/>
              </a:rPr>
              <a:t>满足函数</a:t>
            </a:r>
            <a:r>
              <a:rPr lang="en-US" altLang="zh-CN" sz="2800">
                <a:solidFill>
                  <a:srgbClr val="3333CC"/>
                </a:solidFill>
                <a:ea typeface="隶书" panose="02010509060101010101" charset="-122"/>
              </a:rPr>
              <a:t>compare( )</a:t>
            </a:r>
            <a:r>
              <a:rPr lang="zh-CN" altLang="en-US" sz="2800">
                <a:solidFill>
                  <a:srgbClr val="3333CC"/>
                </a:solidFill>
                <a:latin typeface="隶书" panose="02010509060101010101" charset="-122"/>
                <a:ea typeface="隶书" panose="02010509060101010101" charset="-122"/>
              </a:rPr>
              <a:t>判定关系的元</a:t>
            </a:r>
            <a:endParaRPr lang="zh-CN" altLang="en-US" sz="2800">
              <a:solidFill>
                <a:srgbClr val="3333CC"/>
              </a:solidFill>
              <a:latin typeface="楷体_GB2312" charset="0"/>
              <a:ea typeface="楷体_GB2312" charset="0"/>
            </a:endParaRPr>
          </a:p>
          <a:p>
            <a:pPr eaLnBrk="1" hangingPunct="1">
              <a:lnSpc>
                <a:spcPct val="110000"/>
              </a:lnSpc>
              <a:defRPr/>
            </a:pPr>
            <a:r>
              <a:rPr lang="zh-CN" altLang="en-US" sz="2800">
                <a:solidFill>
                  <a:srgbClr val="3333CC"/>
                </a:solidFill>
                <a:latin typeface="楷体_GB2312" charset="0"/>
                <a:ea typeface="楷体_GB2312" charset="0"/>
              </a:rPr>
              <a:t>  </a:t>
            </a:r>
            <a:r>
              <a:rPr lang="en-US" altLang="zh-CN" sz="2800">
                <a:ea typeface="楷体_GB2312" charset="0"/>
              </a:rPr>
              <a:t>// </a:t>
            </a:r>
            <a:r>
              <a:rPr lang="zh-CN" altLang="en-US" sz="2800">
                <a:solidFill>
                  <a:srgbClr val="3333CC"/>
                </a:solidFill>
                <a:latin typeface="隶书" panose="02010509060101010101" charset="-122"/>
                <a:ea typeface="隶书" panose="02010509060101010101" charset="-122"/>
              </a:rPr>
              <a:t>素，则移动当前指针指向第</a:t>
            </a:r>
            <a:r>
              <a:rPr lang="en-US" altLang="zh-CN" sz="2800">
                <a:solidFill>
                  <a:srgbClr val="3333CC"/>
                </a:solidFill>
                <a:latin typeface="隶书" panose="02010509060101010101" charset="-122"/>
                <a:ea typeface="隶书" panose="02010509060101010101" charset="-122"/>
              </a:rPr>
              <a:t>1</a:t>
            </a:r>
            <a:r>
              <a:rPr lang="zh-CN" altLang="en-US" sz="2800">
                <a:solidFill>
                  <a:srgbClr val="3333CC"/>
                </a:solidFill>
                <a:latin typeface="隶书" panose="02010509060101010101" charset="-122"/>
                <a:ea typeface="隶书" panose="02010509060101010101" charset="-122"/>
              </a:rPr>
              <a:t>个满足条件的</a:t>
            </a:r>
            <a:endParaRPr lang="zh-CN" altLang="en-US" sz="2800">
              <a:solidFill>
                <a:srgbClr val="3333CC"/>
              </a:solidFill>
              <a:latin typeface="楷体_GB2312" charset="0"/>
              <a:ea typeface="楷体_GB2312" charset="0"/>
            </a:endParaRPr>
          </a:p>
          <a:p>
            <a:pPr eaLnBrk="1" hangingPunct="1">
              <a:lnSpc>
                <a:spcPct val="110000"/>
              </a:lnSpc>
              <a:defRPr/>
            </a:pPr>
            <a:r>
              <a:rPr lang="zh-CN" altLang="en-US" sz="2800">
                <a:latin typeface="楷体_GB2312" charset="0"/>
                <a:ea typeface="楷体_GB2312" charset="0"/>
              </a:rPr>
              <a:t>  </a:t>
            </a:r>
            <a:r>
              <a:rPr lang="en-US" altLang="zh-CN" sz="2800">
                <a:ea typeface="楷体_GB2312" charset="0"/>
              </a:rPr>
              <a:t>// </a:t>
            </a:r>
            <a:r>
              <a:rPr lang="zh-CN" altLang="en-US" sz="2800">
                <a:solidFill>
                  <a:srgbClr val="3333CC"/>
                </a:solidFill>
                <a:ea typeface="隶书" panose="02010509060101010101" charset="-122"/>
              </a:rPr>
              <a:t>元素的前驱，并返回</a:t>
            </a:r>
            <a:r>
              <a:rPr lang="en-US" altLang="zh-CN" sz="2800">
                <a:solidFill>
                  <a:srgbClr val="3333CC"/>
                </a:solidFill>
                <a:ea typeface="隶书" panose="02010509060101010101" charset="-122"/>
              </a:rPr>
              <a:t>OK; </a:t>
            </a:r>
            <a:r>
              <a:rPr lang="zh-CN" altLang="en-US" sz="2800">
                <a:solidFill>
                  <a:srgbClr val="3333CC"/>
                </a:solidFill>
                <a:ea typeface="隶书" panose="02010509060101010101" charset="-122"/>
              </a:rPr>
              <a:t>否则返回</a:t>
            </a:r>
            <a:r>
              <a:rPr lang="en-US" altLang="zh-CN" sz="2800">
                <a:solidFill>
                  <a:srgbClr val="3333CC"/>
                </a:solidFill>
                <a:ea typeface="隶书" panose="02010509060101010101" charset="-122"/>
              </a:rPr>
              <a:t>ERROR</a:t>
            </a:r>
            <a:endParaRPr lang="en-US" altLang="zh-CN" sz="2800"/>
          </a:p>
        </p:txBody>
      </p:sp>
      <p:sp>
        <p:nvSpPr>
          <p:cNvPr id="977924" name="Text Box 4"/>
          <p:cNvSpPr txBox="1">
            <a:spLocks noChangeArrowheads="1"/>
          </p:cNvSpPr>
          <p:nvPr/>
        </p:nvSpPr>
        <p:spPr bwMode="auto">
          <a:xfrm>
            <a:off x="76200" y="4724400"/>
            <a:ext cx="8223726" cy="102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a:t>Status</a:t>
            </a:r>
            <a:r>
              <a:rPr lang="en-US" altLang="zh-CN" sz="2800"/>
              <a:t> ListTraverse(LinkList L, </a:t>
            </a:r>
            <a:r>
              <a:rPr lang="en-US" altLang="zh-CN" sz="2800" b="1"/>
              <a:t>Status</a:t>
            </a:r>
            <a:r>
              <a:rPr lang="en-US" altLang="zh-CN" sz="2800"/>
              <a:t>(</a:t>
            </a:r>
            <a:r>
              <a:rPr lang="en-US" altLang="zh-CN" sz="2800" b="1"/>
              <a:t>*</a:t>
            </a:r>
            <a:r>
              <a:rPr lang="en-US" altLang="zh-CN" sz="2800"/>
              <a:t>visit)() );</a:t>
            </a:r>
            <a:endParaRPr lang="en-US" altLang="zh-CN" sz="2800"/>
          </a:p>
          <a:p>
            <a:pPr eaLnBrk="1" hangingPunct="1">
              <a:lnSpc>
                <a:spcPct val="110000"/>
              </a:lnSpc>
              <a:defRPr/>
            </a:pPr>
            <a:r>
              <a:rPr lang="en-US" altLang="zh-CN" sz="2800"/>
              <a:t>  // </a:t>
            </a:r>
            <a:r>
              <a:rPr lang="zh-CN" altLang="en-US" sz="2800">
                <a:solidFill>
                  <a:srgbClr val="3333CC"/>
                </a:solidFill>
                <a:latin typeface="隶书" panose="02010509060101010101" charset="-122"/>
                <a:ea typeface="隶书" panose="02010509060101010101" charset="-122"/>
              </a:rPr>
              <a:t>依次对</a:t>
            </a:r>
            <a:r>
              <a:rPr lang="en-US" altLang="zh-CN" sz="2800">
                <a:solidFill>
                  <a:srgbClr val="3333CC"/>
                </a:solidFill>
                <a:latin typeface="隶书" panose="02010509060101010101" charset="-122"/>
                <a:ea typeface="隶书" panose="02010509060101010101" charset="-122"/>
              </a:rPr>
              <a:t>L</a:t>
            </a:r>
            <a:r>
              <a:rPr lang="zh-CN" altLang="en-US" sz="2800">
                <a:solidFill>
                  <a:srgbClr val="3333CC"/>
                </a:solidFill>
                <a:latin typeface="隶书" panose="02010509060101010101" charset="-122"/>
                <a:ea typeface="隶书" panose="02010509060101010101" charset="-122"/>
              </a:rPr>
              <a:t>的每个元素调用函数</a:t>
            </a:r>
            <a:r>
              <a:rPr lang="en-US" altLang="zh-CN" sz="2800">
                <a:solidFill>
                  <a:srgbClr val="3333CC"/>
                </a:solidFill>
                <a:ea typeface="楷体_GB2312" charset="0"/>
              </a:rPr>
              <a:t>visit()</a:t>
            </a:r>
            <a:endParaRPr lang="en-US" altLang="zh-CN" sz="2800"/>
          </a:p>
        </p:txBody>
      </p:sp>
      <p:sp>
        <p:nvSpPr>
          <p:cNvPr id="977926" name="Comment 6"/>
          <p:cNvSpPr>
            <a:spLocks noChangeArrowheads="1"/>
          </p:cNvSpPr>
          <p:nvPr/>
        </p:nvSpPr>
        <p:spPr bwMode="auto">
          <a:xfrm>
            <a:off x="7620000" y="304800"/>
            <a:ext cx="1050925" cy="523220"/>
          </a:xfrm>
          <a:prstGeom prst="rect">
            <a:avLst/>
          </a:prstGeom>
          <a:solidFill>
            <a:srgbClr val="FCFDC6"/>
          </a:solidFill>
          <a:ln w="19050">
            <a:solidFill>
              <a:schemeClr val="tx1"/>
            </a:solidFill>
            <a:miter lim="800000"/>
          </a:ln>
          <a:effectLst>
            <a:outerShdw blurRad="63500" dist="107763" dir="2700000" algn="ctr" rotWithShape="0">
              <a:schemeClr val="bg2">
                <a:alpha val="74997"/>
              </a:schemeClr>
            </a:outerShdw>
          </a:effectLst>
        </p:spPr>
        <p:txBody>
          <a:bodyPr>
            <a:spAutoFit/>
          </a:bodyPr>
          <a:lstStyle/>
          <a:p>
            <a:pPr eaLnBrk="1" hangingPunct="1">
              <a:spcBef>
                <a:spcPct val="50000"/>
              </a:spcBef>
              <a:defRPr/>
            </a:pPr>
            <a:r>
              <a:rPr lang="en-US" altLang="zh-CN" sz="2800">
                <a:solidFill>
                  <a:srgbClr val="663300"/>
                </a:solidFill>
                <a:latin typeface="Arial" panose="020B0604020202020204" pitchFamily="34" charset="0"/>
              </a:rPr>
              <a:t>O(n)</a:t>
            </a:r>
            <a:endParaRPr lang="en-US" altLang="zh-CN" sz="2800">
              <a:solidFill>
                <a:srgbClr val="000000"/>
              </a:solidFill>
              <a:latin typeface="Arial" panose="020B0604020202020204" pitchFamily="34" charset="0"/>
            </a:endParaRPr>
          </a:p>
        </p:txBody>
      </p:sp>
      <p:sp>
        <p:nvSpPr>
          <p:cNvPr id="977927" name="Comment 7"/>
          <p:cNvSpPr>
            <a:spLocks noChangeArrowheads="1"/>
          </p:cNvSpPr>
          <p:nvPr/>
        </p:nvSpPr>
        <p:spPr bwMode="auto">
          <a:xfrm>
            <a:off x="-79375" y="2492375"/>
            <a:ext cx="1050925" cy="523220"/>
          </a:xfrm>
          <a:prstGeom prst="rect">
            <a:avLst/>
          </a:prstGeom>
          <a:solidFill>
            <a:srgbClr val="FCFDC6"/>
          </a:solidFill>
          <a:ln w="19050">
            <a:solidFill>
              <a:schemeClr val="tx1"/>
            </a:solidFill>
            <a:miter lim="800000"/>
          </a:ln>
          <a:effectLst>
            <a:outerShdw blurRad="63500" dist="107763" dir="2700000" algn="ctr" rotWithShape="0">
              <a:schemeClr val="bg2">
                <a:alpha val="74997"/>
              </a:schemeClr>
            </a:outerShdw>
          </a:effectLst>
        </p:spPr>
        <p:txBody>
          <a:bodyPr>
            <a:spAutoFit/>
          </a:bodyPr>
          <a:lstStyle/>
          <a:p>
            <a:pPr eaLnBrk="1" hangingPunct="1">
              <a:spcBef>
                <a:spcPct val="50000"/>
              </a:spcBef>
              <a:defRPr/>
            </a:pPr>
            <a:r>
              <a:rPr lang="en-US" altLang="zh-CN" sz="2800">
                <a:solidFill>
                  <a:srgbClr val="663300"/>
                </a:solidFill>
                <a:latin typeface="Arial" panose="020B0604020202020204" pitchFamily="34" charset="0"/>
              </a:rPr>
              <a:t>O(n)</a:t>
            </a:r>
            <a:endParaRPr lang="en-US" altLang="zh-CN" sz="2800">
              <a:solidFill>
                <a:srgbClr val="000000"/>
              </a:solidFill>
              <a:latin typeface="Arial" panose="020B0604020202020204" pitchFamily="34" charset="0"/>
            </a:endParaRPr>
          </a:p>
        </p:txBody>
      </p:sp>
      <p:sp>
        <p:nvSpPr>
          <p:cNvPr id="977928" name="Comment 8"/>
          <p:cNvSpPr>
            <a:spLocks noChangeArrowheads="1"/>
          </p:cNvSpPr>
          <p:nvPr/>
        </p:nvSpPr>
        <p:spPr bwMode="auto">
          <a:xfrm>
            <a:off x="3124200" y="6019800"/>
            <a:ext cx="1050925" cy="523220"/>
          </a:xfrm>
          <a:prstGeom prst="rect">
            <a:avLst/>
          </a:prstGeom>
          <a:solidFill>
            <a:srgbClr val="FCFDC6"/>
          </a:solidFill>
          <a:ln w="19050">
            <a:solidFill>
              <a:schemeClr val="tx1"/>
            </a:solidFill>
            <a:miter lim="800000"/>
          </a:ln>
          <a:effectLst>
            <a:outerShdw blurRad="63500" dist="107763" dir="2700000" algn="ctr" rotWithShape="0">
              <a:schemeClr val="bg2">
                <a:alpha val="74997"/>
              </a:schemeClr>
            </a:outerShdw>
          </a:effectLst>
        </p:spPr>
        <p:txBody>
          <a:bodyPr>
            <a:spAutoFit/>
          </a:bodyPr>
          <a:lstStyle/>
          <a:p>
            <a:pPr eaLnBrk="1" hangingPunct="1">
              <a:spcBef>
                <a:spcPct val="50000"/>
              </a:spcBef>
              <a:defRPr/>
            </a:pPr>
            <a:r>
              <a:rPr lang="en-US" altLang="zh-CN" sz="2800">
                <a:solidFill>
                  <a:srgbClr val="663300"/>
                </a:solidFill>
                <a:latin typeface="Arial" panose="020B0604020202020204" pitchFamily="34" charset="0"/>
              </a:rPr>
              <a:t>O(n)</a:t>
            </a:r>
            <a:endParaRPr lang="en-US" altLang="zh-CN" sz="2800">
              <a:solidFill>
                <a:srgbClr val="0000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7922"/>
                                        </p:tgtEl>
                                        <p:attrNameLst>
                                          <p:attrName>style.visibility</p:attrName>
                                        </p:attrNameLst>
                                      </p:cBhvr>
                                      <p:to>
                                        <p:strVal val="visible"/>
                                      </p:to>
                                    </p:set>
                                    <p:animEffect transition="in" filter="wipe(left)">
                                      <p:cBhvr>
                                        <p:cTn id="7" dur="500"/>
                                        <p:tgtEl>
                                          <p:spTgt spid="9779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7923"/>
                                        </p:tgtEl>
                                        <p:attrNameLst>
                                          <p:attrName>style.visibility</p:attrName>
                                        </p:attrNameLst>
                                      </p:cBhvr>
                                      <p:to>
                                        <p:strVal val="visible"/>
                                      </p:to>
                                    </p:set>
                                    <p:animEffect transition="in" filter="wipe(left)">
                                      <p:cBhvr>
                                        <p:cTn id="12" dur="500"/>
                                        <p:tgtEl>
                                          <p:spTgt spid="9779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7924"/>
                                        </p:tgtEl>
                                        <p:attrNameLst>
                                          <p:attrName>style.visibility</p:attrName>
                                        </p:attrNameLst>
                                      </p:cBhvr>
                                      <p:to>
                                        <p:strVal val="visible"/>
                                      </p:to>
                                    </p:set>
                                    <p:animEffect transition="in" filter="wipe(left)">
                                      <p:cBhvr>
                                        <p:cTn id="17" dur="500"/>
                                        <p:tgtEl>
                                          <p:spTgt spid="97792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3" fill="hold" grpId="0" nodeType="clickEffect">
                                  <p:stCondLst>
                                    <p:cond delay="0"/>
                                  </p:stCondLst>
                                  <p:childTnLst>
                                    <p:set>
                                      <p:cBhvr>
                                        <p:cTn id="21" dur="1" fill="hold">
                                          <p:stCondLst>
                                            <p:cond delay="0"/>
                                          </p:stCondLst>
                                        </p:cTn>
                                        <p:tgtEl>
                                          <p:spTgt spid="977926"/>
                                        </p:tgtEl>
                                        <p:attrNameLst>
                                          <p:attrName>style.visibility</p:attrName>
                                        </p:attrNameLst>
                                      </p:cBhvr>
                                      <p:to>
                                        <p:strVal val="visible"/>
                                      </p:to>
                                    </p:set>
                                    <p:anim calcmode="lin" valueType="num">
                                      <p:cBhvr additive="base">
                                        <p:cTn id="22" dur="500" fill="hold"/>
                                        <p:tgtEl>
                                          <p:spTgt spid="977926"/>
                                        </p:tgtEl>
                                        <p:attrNameLst>
                                          <p:attrName>ppt_x</p:attrName>
                                        </p:attrNameLst>
                                      </p:cBhvr>
                                      <p:tavLst>
                                        <p:tav tm="0">
                                          <p:val>
                                            <p:strVal val="1+#ppt_w/2"/>
                                          </p:val>
                                        </p:tav>
                                        <p:tav tm="100000">
                                          <p:val>
                                            <p:strVal val="#ppt_x"/>
                                          </p:val>
                                        </p:tav>
                                      </p:tavLst>
                                    </p:anim>
                                    <p:anim calcmode="lin" valueType="num">
                                      <p:cBhvr additive="base">
                                        <p:cTn id="23" dur="500" fill="hold"/>
                                        <p:tgtEl>
                                          <p:spTgt spid="977926"/>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9" fill="hold" grpId="0" nodeType="clickEffect">
                                  <p:stCondLst>
                                    <p:cond delay="0"/>
                                  </p:stCondLst>
                                  <p:childTnLst>
                                    <p:set>
                                      <p:cBhvr>
                                        <p:cTn id="27" dur="1" fill="hold">
                                          <p:stCondLst>
                                            <p:cond delay="0"/>
                                          </p:stCondLst>
                                        </p:cTn>
                                        <p:tgtEl>
                                          <p:spTgt spid="977927"/>
                                        </p:tgtEl>
                                        <p:attrNameLst>
                                          <p:attrName>style.visibility</p:attrName>
                                        </p:attrNameLst>
                                      </p:cBhvr>
                                      <p:to>
                                        <p:strVal val="visible"/>
                                      </p:to>
                                    </p:set>
                                    <p:anim calcmode="lin" valueType="num">
                                      <p:cBhvr additive="base">
                                        <p:cTn id="28" dur="500" fill="hold"/>
                                        <p:tgtEl>
                                          <p:spTgt spid="977927"/>
                                        </p:tgtEl>
                                        <p:attrNameLst>
                                          <p:attrName>ppt_x</p:attrName>
                                        </p:attrNameLst>
                                      </p:cBhvr>
                                      <p:tavLst>
                                        <p:tav tm="0">
                                          <p:val>
                                            <p:strVal val="0-#ppt_w/2"/>
                                          </p:val>
                                        </p:tav>
                                        <p:tav tm="100000">
                                          <p:val>
                                            <p:strVal val="#ppt_x"/>
                                          </p:val>
                                        </p:tav>
                                      </p:tavLst>
                                    </p:anim>
                                    <p:anim calcmode="lin" valueType="num">
                                      <p:cBhvr additive="base">
                                        <p:cTn id="29" dur="500" fill="hold"/>
                                        <p:tgtEl>
                                          <p:spTgt spid="977927"/>
                                        </p:tgtEl>
                                        <p:attrNameLst>
                                          <p:attrName>ppt_y</p:attrName>
                                        </p:attrNameLst>
                                      </p:cBhvr>
                                      <p:tavLst>
                                        <p:tav tm="0">
                                          <p:val>
                                            <p:strVal val="0-#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6" fill="hold" grpId="0" nodeType="clickEffect">
                                  <p:stCondLst>
                                    <p:cond delay="0"/>
                                  </p:stCondLst>
                                  <p:childTnLst>
                                    <p:set>
                                      <p:cBhvr>
                                        <p:cTn id="33" dur="1" fill="hold">
                                          <p:stCondLst>
                                            <p:cond delay="0"/>
                                          </p:stCondLst>
                                        </p:cTn>
                                        <p:tgtEl>
                                          <p:spTgt spid="977928"/>
                                        </p:tgtEl>
                                        <p:attrNameLst>
                                          <p:attrName>style.visibility</p:attrName>
                                        </p:attrNameLst>
                                      </p:cBhvr>
                                      <p:to>
                                        <p:strVal val="visible"/>
                                      </p:to>
                                    </p:set>
                                    <p:anim calcmode="lin" valueType="num">
                                      <p:cBhvr additive="base">
                                        <p:cTn id="34" dur="500" fill="hold"/>
                                        <p:tgtEl>
                                          <p:spTgt spid="977928"/>
                                        </p:tgtEl>
                                        <p:attrNameLst>
                                          <p:attrName>ppt_x</p:attrName>
                                        </p:attrNameLst>
                                      </p:cBhvr>
                                      <p:tavLst>
                                        <p:tav tm="0">
                                          <p:val>
                                            <p:strVal val="1+#ppt_w/2"/>
                                          </p:val>
                                        </p:tav>
                                        <p:tav tm="100000">
                                          <p:val>
                                            <p:strVal val="#ppt_x"/>
                                          </p:val>
                                        </p:tav>
                                      </p:tavLst>
                                    </p:anim>
                                    <p:anim calcmode="lin" valueType="num">
                                      <p:cBhvr additive="base">
                                        <p:cTn id="35" dur="500" fill="hold"/>
                                        <p:tgtEl>
                                          <p:spTgt spid="9779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7922" grpId="0" autoUpdateAnimBg="0"/>
      <p:bldP spid="977923" grpId="0" autoUpdateAnimBg="0"/>
      <p:bldP spid="977924" grpId="0" autoUpdateAnimBg="0"/>
      <p:bldP spid="977926" grpId="0" animBg="1" autoUpdateAnimBg="0"/>
      <p:bldP spid="977927" grpId="0" animBg="1" autoUpdateAnimBg="0"/>
      <p:bldP spid="977928" grpId="0" animBg="1"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Text Box 2"/>
          <p:cNvSpPr txBox="1">
            <a:spLocks noChangeArrowheads="1"/>
          </p:cNvSpPr>
          <p:nvPr/>
        </p:nvSpPr>
        <p:spPr bwMode="auto">
          <a:xfrm>
            <a:off x="0" y="0"/>
            <a:ext cx="9525000" cy="55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0000"/>
              </a:lnSpc>
              <a:defRPr/>
            </a:pPr>
            <a:r>
              <a:rPr lang="zh-CN" altLang="en-US" sz="2800">
                <a:solidFill>
                  <a:srgbClr val="FF0000"/>
                </a:solidFill>
                <a:ea typeface="楷体_GB2312" charset="0"/>
              </a:rPr>
              <a:t>               </a:t>
            </a:r>
            <a:r>
              <a:rPr lang="en-US" altLang="zh-CN" sz="2800" b="1">
                <a:solidFill>
                  <a:srgbClr val="FF0000"/>
                </a:solidFill>
                <a:ea typeface="楷体_GB2312" charset="0"/>
              </a:rPr>
              <a:t>{</a:t>
            </a:r>
            <a:r>
              <a:rPr lang="zh-CN" altLang="en-US" sz="2800" b="1">
                <a:solidFill>
                  <a:srgbClr val="FF0000"/>
                </a:solidFill>
                <a:ea typeface="楷体_GB2312" charset="0"/>
              </a:rPr>
              <a:t>加工型操作</a:t>
            </a:r>
            <a:r>
              <a:rPr lang="en-US" altLang="zh-CN" sz="2800" b="1">
                <a:solidFill>
                  <a:srgbClr val="FF0000"/>
                </a:solidFill>
                <a:ea typeface="楷体_GB2312" charset="0"/>
              </a:rPr>
              <a:t>}</a:t>
            </a:r>
            <a:endParaRPr lang="en-US" altLang="zh-CN" sz="2800" b="1"/>
          </a:p>
        </p:txBody>
      </p:sp>
      <p:sp>
        <p:nvSpPr>
          <p:cNvPr id="978947" name="Text Box 3"/>
          <p:cNvSpPr txBox="1">
            <a:spLocks noChangeArrowheads="1"/>
          </p:cNvSpPr>
          <p:nvPr/>
        </p:nvSpPr>
        <p:spPr bwMode="auto">
          <a:xfrm>
            <a:off x="304800" y="714375"/>
            <a:ext cx="839787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2800" b="1"/>
              <a:t>Status</a:t>
            </a:r>
            <a:r>
              <a:rPr lang="en-US" altLang="zh-CN" sz="2800"/>
              <a:t> ClearList ( LinkList </a:t>
            </a:r>
            <a:r>
              <a:rPr lang="en-US" altLang="zh-CN" sz="2800" b="1"/>
              <a:t>&amp;</a:t>
            </a:r>
            <a:r>
              <a:rPr lang="en-US" altLang="zh-CN" sz="2800"/>
              <a:t>L );  </a:t>
            </a:r>
            <a:endParaRPr lang="en-US" altLang="zh-CN" sz="2800"/>
          </a:p>
          <a:p>
            <a:pPr eaLnBrk="1" hangingPunct="1">
              <a:defRPr/>
            </a:pPr>
            <a:r>
              <a:rPr lang="en-US" altLang="zh-CN" sz="2800"/>
              <a:t>    // </a:t>
            </a:r>
            <a:r>
              <a:rPr lang="zh-CN" altLang="zh-CN" sz="2800">
                <a:solidFill>
                  <a:srgbClr val="3333CC"/>
                </a:solidFill>
                <a:ea typeface="隶书" panose="02010509060101010101" charset="-122"/>
              </a:rPr>
              <a:t>重置 </a:t>
            </a:r>
            <a:r>
              <a:rPr lang="en-US" altLang="zh-CN" sz="2800">
                <a:solidFill>
                  <a:srgbClr val="3333CC"/>
                </a:solidFill>
                <a:ea typeface="隶书" panose="02010509060101010101" charset="-122"/>
              </a:rPr>
              <a:t>L </a:t>
            </a:r>
            <a:r>
              <a:rPr lang="zh-CN" altLang="zh-CN" sz="2800">
                <a:solidFill>
                  <a:srgbClr val="3333CC"/>
                </a:solidFill>
                <a:ea typeface="隶书" panose="02010509060101010101" charset="-122"/>
              </a:rPr>
              <a:t>为空表</a:t>
            </a:r>
            <a:endParaRPr lang="zh-CN" altLang="en-US" sz="2800"/>
          </a:p>
        </p:txBody>
      </p:sp>
      <p:sp>
        <p:nvSpPr>
          <p:cNvPr id="978948" name="Text Box 4"/>
          <p:cNvSpPr txBox="1">
            <a:spLocks noChangeArrowheads="1"/>
          </p:cNvSpPr>
          <p:nvPr/>
        </p:nvSpPr>
        <p:spPr bwMode="auto">
          <a:xfrm>
            <a:off x="228600" y="1828800"/>
            <a:ext cx="90678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2800" b="1"/>
              <a:t>Status</a:t>
            </a:r>
            <a:r>
              <a:rPr lang="en-US" altLang="zh-CN" sz="2800"/>
              <a:t> SetCurElem(LinkList </a:t>
            </a:r>
            <a:r>
              <a:rPr lang="en-US" altLang="zh-CN" sz="2800" b="1"/>
              <a:t>&amp;</a:t>
            </a:r>
            <a:r>
              <a:rPr lang="en-US" altLang="zh-CN" sz="2800"/>
              <a:t>L, ElemType e );  </a:t>
            </a:r>
            <a:endParaRPr lang="en-US" altLang="zh-CN" sz="2800"/>
          </a:p>
          <a:p>
            <a:pPr eaLnBrk="1" hangingPunct="1">
              <a:defRPr/>
            </a:pPr>
            <a:r>
              <a:rPr lang="en-US" altLang="zh-CN" sz="2800"/>
              <a:t>    // </a:t>
            </a:r>
            <a:r>
              <a:rPr lang="zh-CN" altLang="zh-CN" sz="2800">
                <a:solidFill>
                  <a:srgbClr val="3333CC"/>
                </a:solidFill>
                <a:ea typeface="隶书" panose="02010509060101010101" charset="-122"/>
              </a:rPr>
              <a:t>更新当前指针所指数据元素</a:t>
            </a:r>
            <a:endParaRPr lang="zh-CN" altLang="en-US" sz="2800"/>
          </a:p>
        </p:txBody>
      </p:sp>
      <p:sp>
        <p:nvSpPr>
          <p:cNvPr id="978949" name="Text Box 5"/>
          <p:cNvSpPr txBox="1">
            <a:spLocks noChangeArrowheads="1"/>
          </p:cNvSpPr>
          <p:nvPr/>
        </p:nvSpPr>
        <p:spPr bwMode="auto">
          <a:xfrm>
            <a:off x="228600" y="3048000"/>
            <a:ext cx="839787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2800" b="1"/>
              <a:t>Status</a:t>
            </a:r>
            <a:r>
              <a:rPr lang="en-US" altLang="zh-CN" sz="2800"/>
              <a:t> Append ( LinkList </a:t>
            </a:r>
            <a:r>
              <a:rPr lang="en-US" altLang="zh-CN" sz="2800" b="1"/>
              <a:t>&amp;</a:t>
            </a:r>
            <a:r>
              <a:rPr lang="en-US" altLang="zh-CN" sz="2800"/>
              <a:t>L, Link s );  </a:t>
            </a:r>
            <a:endParaRPr lang="en-US" altLang="zh-CN" sz="2800"/>
          </a:p>
          <a:p>
            <a:pPr eaLnBrk="1" hangingPunct="1">
              <a:defRPr/>
            </a:pPr>
            <a:r>
              <a:rPr lang="en-US" altLang="zh-CN" sz="2800"/>
              <a:t>    // </a:t>
            </a:r>
            <a:r>
              <a:rPr lang="zh-CN" altLang="zh-CN" sz="2800">
                <a:solidFill>
                  <a:srgbClr val="3333CC"/>
                </a:solidFill>
                <a:ea typeface="隶书" panose="02010509060101010101" charset="-122"/>
              </a:rPr>
              <a:t>在表尾结点之后链接一串结点</a:t>
            </a:r>
            <a:endParaRPr lang="zh-CN" altLang="en-US" sz="2800"/>
          </a:p>
        </p:txBody>
      </p:sp>
      <p:sp>
        <p:nvSpPr>
          <p:cNvPr id="978950" name="Text Box 6">
            <a:hlinkClick r:id="" action="ppaction://hlinkshowjump?jump=nextslide"/>
          </p:cNvPr>
          <p:cNvSpPr txBox="1">
            <a:spLocks noChangeArrowheads="1"/>
          </p:cNvSpPr>
          <p:nvPr/>
        </p:nvSpPr>
        <p:spPr bwMode="auto">
          <a:xfrm>
            <a:off x="228600" y="4267200"/>
            <a:ext cx="88392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2800" b="1"/>
              <a:t>Status</a:t>
            </a:r>
            <a:r>
              <a:rPr lang="en-US" altLang="zh-CN" sz="2800"/>
              <a:t> InsAfter ( LinkList </a:t>
            </a:r>
            <a:r>
              <a:rPr lang="en-US" altLang="zh-CN" sz="2800" b="1"/>
              <a:t>&amp;</a:t>
            </a:r>
            <a:r>
              <a:rPr lang="en-US" altLang="zh-CN" sz="2800"/>
              <a:t>L, Elemtype e );  </a:t>
            </a:r>
            <a:endParaRPr lang="en-US" altLang="zh-CN" sz="2800"/>
          </a:p>
          <a:p>
            <a:pPr eaLnBrk="1" hangingPunct="1">
              <a:defRPr/>
            </a:pPr>
            <a:r>
              <a:rPr lang="en-US" altLang="zh-CN" sz="2800"/>
              <a:t>    // </a:t>
            </a:r>
            <a:r>
              <a:rPr lang="zh-CN" altLang="zh-CN" sz="2800">
                <a:solidFill>
                  <a:srgbClr val="3333CC"/>
                </a:solidFill>
                <a:ea typeface="隶书" panose="02010509060101010101" charset="-122"/>
              </a:rPr>
              <a:t>将元素 </a:t>
            </a:r>
            <a:r>
              <a:rPr lang="en-US" altLang="zh-CN" sz="2800">
                <a:solidFill>
                  <a:srgbClr val="3333CC"/>
                </a:solidFill>
                <a:ea typeface="隶书" panose="02010509060101010101" charset="-122"/>
              </a:rPr>
              <a:t>e </a:t>
            </a:r>
            <a:r>
              <a:rPr lang="zh-CN" altLang="zh-CN" sz="2800">
                <a:solidFill>
                  <a:srgbClr val="3333CC"/>
                </a:solidFill>
                <a:ea typeface="隶书" panose="02010509060101010101" charset="-122"/>
              </a:rPr>
              <a:t>插入在当前指针之后</a:t>
            </a:r>
            <a:endParaRPr lang="zh-CN" altLang="en-US" sz="2800"/>
          </a:p>
        </p:txBody>
      </p:sp>
      <p:sp>
        <p:nvSpPr>
          <p:cNvPr id="978951" name="Text Box 7">
            <a:hlinkClick r:id="rId1" action="ppaction://hlinksldjump"/>
          </p:cNvPr>
          <p:cNvSpPr txBox="1">
            <a:spLocks noChangeArrowheads="1"/>
          </p:cNvSpPr>
          <p:nvPr/>
        </p:nvSpPr>
        <p:spPr bwMode="auto">
          <a:xfrm>
            <a:off x="228600" y="5562600"/>
            <a:ext cx="90678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2800" b="1"/>
              <a:t>Status</a:t>
            </a:r>
            <a:r>
              <a:rPr lang="en-US" altLang="zh-CN" sz="2800"/>
              <a:t> DelAfter ( LinkList </a:t>
            </a:r>
            <a:r>
              <a:rPr lang="en-US" altLang="zh-CN" sz="2800" b="1"/>
              <a:t>&amp;</a:t>
            </a:r>
            <a:r>
              <a:rPr lang="en-US" altLang="zh-CN" sz="2800"/>
              <a:t>L, ElemType</a:t>
            </a:r>
            <a:r>
              <a:rPr lang="en-US" altLang="zh-CN" sz="2800" b="1"/>
              <a:t>&amp;</a:t>
            </a:r>
            <a:r>
              <a:rPr lang="en-US" altLang="zh-CN" sz="2800"/>
              <a:t> e );  </a:t>
            </a:r>
            <a:endParaRPr lang="en-US" altLang="zh-CN" sz="2800"/>
          </a:p>
          <a:p>
            <a:pPr eaLnBrk="1" hangingPunct="1">
              <a:defRPr/>
            </a:pPr>
            <a:r>
              <a:rPr lang="en-US" altLang="zh-CN" sz="2800"/>
              <a:t>    // </a:t>
            </a:r>
            <a:r>
              <a:rPr lang="zh-CN" altLang="zh-CN" sz="2800">
                <a:solidFill>
                  <a:srgbClr val="3333CC"/>
                </a:solidFill>
                <a:ea typeface="隶书" panose="02010509060101010101" charset="-122"/>
              </a:rPr>
              <a:t>删除当前指针之后的结点</a:t>
            </a:r>
            <a:endParaRPr lang="zh-CN" altLang="en-US" sz="2800">
              <a:solidFill>
                <a:srgbClr val="3333CC"/>
              </a:solidFill>
            </a:endParaRPr>
          </a:p>
        </p:txBody>
      </p:sp>
      <p:sp>
        <p:nvSpPr>
          <p:cNvPr id="978954" name="Comment 10"/>
          <p:cNvSpPr>
            <a:spLocks noChangeArrowheads="1"/>
          </p:cNvSpPr>
          <p:nvPr/>
        </p:nvSpPr>
        <p:spPr bwMode="auto">
          <a:xfrm>
            <a:off x="7010400" y="2509838"/>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zh-CN" altLang="en-US" sz="2800">
                <a:solidFill>
                  <a:srgbClr val="663300"/>
                </a:solidFill>
                <a:latin typeface="Arial" panose="020B0604020202020204" pitchFamily="34" charset="0"/>
              </a:rPr>
              <a:t> </a:t>
            </a:r>
            <a:r>
              <a:rPr lang="en-US" altLang="zh-CN" sz="2800" b="1">
                <a:solidFill>
                  <a:srgbClr val="663300"/>
                </a:solidFill>
                <a:latin typeface="Arial" panose="020B0604020202020204" pitchFamily="34" charset="0"/>
              </a:rPr>
              <a:t>O(1)</a:t>
            </a:r>
            <a:endParaRPr lang="en-US" altLang="zh-CN" sz="2800">
              <a:solidFill>
                <a:srgbClr val="663300"/>
              </a:solidFill>
              <a:latin typeface="Arial" panose="020B0604020202020204" pitchFamily="34" charset="0"/>
            </a:endParaRPr>
          </a:p>
        </p:txBody>
      </p:sp>
      <p:sp>
        <p:nvSpPr>
          <p:cNvPr id="978955" name="Comment 11"/>
          <p:cNvSpPr>
            <a:spLocks noChangeArrowheads="1"/>
          </p:cNvSpPr>
          <p:nvPr/>
        </p:nvSpPr>
        <p:spPr bwMode="auto">
          <a:xfrm>
            <a:off x="7010400" y="1143000"/>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en-US" altLang="zh-CN" sz="2800" b="1">
                <a:solidFill>
                  <a:srgbClr val="663300"/>
                </a:solidFill>
                <a:latin typeface="Arial" panose="020B0604020202020204" pitchFamily="34" charset="0"/>
              </a:rPr>
              <a:t>O(n)</a:t>
            </a:r>
            <a:endParaRPr lang="en-US" altLang="zh-CN" sz="2800">
              <a:solidFill>
                <a:srgbClr val="663300"/>
              </a:solidFill>
              <a:latin typeface="Arial" panose="020B0604020202020204" pitchFamily="34" charset="0"/>
            </a:endParaRPr>
          </a:p>
        </p:txBody>
      </p:sp>
      <p:sp>
        <p:nvSpPr>
          <p:cNvPr id="978956" name="Comment 12"/>
          <p:cNvSpPr>
            <a:spLocks noChangeArrowheads="1"/>
          </p:cNvSpPr>
          <p:nvPr/>
        </p:nvSpPr>
        <p:spPr bwMode="auto">
          <a:xfrm>
            <a:off x="7010400" y="3729038"/>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zh-CN" altLang="en-US" sz="2800">
                <a:solidFill>
                  <a:srgbClr val="663300"/>
                </a:solidFill>
                <a:latin typeface="Arial" panose="020B0604020202020204" pitchFamily="34" charset="0"/>
              </a:rPr>
              <a:t> </a:t>
            </a:r>
            <a:r>
              <a:rPr lang="en-US" altLang="zh-CN" sz="2800" b="1">
                <a:solidFill>
                  <a:srgbClr val="663300"/>
                </a:solidFill>
                <a:latin typeface="Arial" panose="020B0604020202020204" pitchFamily="34" charset="0"/>
              </a:rPr>
              <a:t>O(s)</a:t>
            </a:r>
            <a:endParaRPr lang="en-US" altLang="zh-CN" sz="2800">
              <a:solidFill>
                <a:srgbClr val="663300"/>
              </a:solidFill>
              <a:latin typeface="Arial" panose="020B0604020202020204" pitchFamily="34" charset="0"/>
            </a:endParaRPr>
          </a:p>
        </p:txBody>
      </p:sp>
      <p:sp>
        <p:nvSpPr>
          <p:cNvPr id="978957" name="Comment 13"/>
          <p:cNvSpPr>
            <a:spLocks noChangeArrowheads="1"/>
          </p:cNvSpPr>
          <p:nvPr/>
        </p:nvSpPr>
        <p:spPr bwMode="auto">
          <a:xfrm>
            <a:off x="7010400" y="4948238"/>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zh-CN" altLang="en-US" sz="2800">
                <a:solidFill>
                  <a:srgbClr val="663300"/>
                </a:solidFill>
                <a:latin typeface="Arial" panose="020B0604020202020204" pitchFamily="34" charset="0"/>
              </a:rPr>
              <a:t> </a:t>
            </a:r>
            <a:r>
              <a:rPr lang="en-US" altLang="zh-CN" sz="2800" b="1">
                <a:solidFill>
                  <a:srgbClr val="663300"/>
                </a:solidFill>
                <a:latin typeface="Arial" panose="020B0604020202020204" pitchFamily="34" charset="0"/>
              </a:rPr>
              <a:t>O(1)</a:t>
            </a:r>
            <a:endParaRPr lang="en-US" altLang="zh-CN" sz="2800">
              <a:solidFill>
                <a:srgbClr val="663300"/>
              </a:solidFill>
              <a:latin typeface="Arial" panose="020B0604020202020204" pitchFamily="34" charset="0"/>
            </a:endParaRPr>
          </a:p>
        </p:txBody>
      </p:sp>
      <p:sp>
        <p:nvSpPr>
          <p:cNvPr id="978958" name="Comment 14"/>
          <p:cNvSpPr>
            <a:spLocks noChangeArrowheads="1"/>
          </p:cNvSpPr>
          <p:nvPr/>
        </p:nvSpPr>
        <p:spPr bwMode="auto">
          <a:xfrm>
            <a:off x="7010400" y="6243638"/>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zh-CN" altLang="en-US" sz="2800">
                <a:solidFill>
                  <a:srgbClr val="663300"/>
                </a:solidFill>
                <a:latin typeface="Arial" panose="020B0604020202020204" pitchFamily="34" charset="0"/>
              </a:rPr>
              <a:t> </a:t>
            </a:r>
            <a:r>
              <a:rPr lang="en-US" altLang="zh-CN" sz="2800" b="1">
                <a:solidFill>
                  <a:srgbClr val="663300"/>
                </a:solidFill>
                <a:latin typeface="Arial" panose="020B0604020202020204" pitchFamily="34" charset="0"/>
              </a:rPr>
              <a:t>O(1)</a:t>
            </a:r>
            <a:endParaRPr lang="en-US" altLang="zh-CN" sz="2800">
              <a:solidFill>
                <a:srgbClr val="6633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978947"/>
                                        </p:tgtEl>
                                        <p:attrNameLst>
                                          <p:attrName>style.visibility</p:attrName>
                                        </p:attrNameLst>
                                      </p:cBhvr>
                                      <p:to>
                                        <p:strVal val="visible"/>
                                      </p:to>
                                    </p:set>
                                    <p:animEffect transition="in" filter="strips(downRight)">
                                      <p:cBhvr>
                                        <p:cTn id="7" dur="500"/>
                                        <p:tgtEl>
                                          <p:spTgt spid="97894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78948"/>
                                        </p:tgtEl>
                                        <p:attrNameLst>
                                          <p:attrName>style.visibility</p:attrName>
                                        </p:attrNameLst>
                                      </p:cBhvr>
                                      <p:to>
                                        <p:strVal val="visible"/>
                                      </p:to>
                                    </p:set>
                                    <p:animEffect transition="in" filter="strips(downRight)">
                                      <p:cBhvr>
                                        <p:cTn id="12" dur="500"/>
                                        <p:tgtEl>
                                          <p:spTgt spid="97894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78949"/>
                                        </p:tgtEl>
                                        <p:attrNameLst>
                                          <p:attrName>style.visibility</p:attrName>
                                        </p:attrNameLst>
                                      </p:cBhvr>
                                      <p:to>
                                        <p:strVal val="visible"/>
                                      </p:to>
                                    </p:set>
                                    <p:animEffect transition="in" filter="strips(downRight)">
                                      <p:cBhvr>
                                        <p:cTn id="17" dur="500"/>
                                        <p:tgtEl>
                                          <p:spTgt spid="97894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978950"/>
                                        </p:tgtEl>
                                        <p:attrNameLst>
                                          <p:attrName>style.visibility</p:attrName>
                                        </p:attrNameLst>
                                      </p:cBhvr>
                                      <p:to>
                                        <p:strVal val="visible"/>
                                      </p:to>
                                    </p:set>
                                    <p:animEffect transition="in" filter="strips(downRight)">
                                      <p:cBhvr>
                                        <p:cTn id="22" dur="500"/>
                                        <p:tgtEl>
                                          <p:spTgt spid="978950"/>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978951"/>
                                        </p:tgtEl>
                                        <p:attrNameLst>
                                          <p:attrName>style.visibility</p:attrName>
                                        </p:attrNameLst>
                                      </p:cBhvr>
                                      <p:to>
                                        <p:strVal val="visible"/>
                                      </p:to>
                                    </p:set>
                                    <p:animEffect transition="in" filter="strips(downRight)">
                                      <p:cBhvr>
                                        <p:cTn id="27" dur="500"/>
                                        <p:tgtEl>
                                          <p:spTgt spid="978951"/>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978955"/>
                                        </p:tgtEl>
                                        <p:attrNameLst>
                                          <p:attrName>style.visibility</p:attrName>
                                        </p:attrNameLst>
                                      </p:cBhvr>
                                      <p:to>
                                        <p:strVal val="visible"/>
                                      </p:to>
                                    </p:set>
                                    <p:animEffect transition="in" filter="checkerboard(across)">
                                      <p:cBhvr>
                                        <p:cTn id="32" dur="500"/>
                                        <p:tgtEl>
                                          <p:spTgt spid="978955"/>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978954"/>
                                        </p:tgtEl>
                                        <p:attrNameLst>
                                          <p:attrName>style.visibility</p:attrName>
                                        </p:attrNameLst>
                                      </p:cBhvr>
                                      <p:to>
                                        <p:strVal val="visible"/>
                                      </p:to>
                                    </p:set>
                                    <p:animEffect transition="in" filter="checkerboard(across)">
                                      <p:cBhvr>
                                        <p:cTn id="37" dur="500"/>
                                        <p:tgtEl>
                                          <p:spTgt spid="978954"/>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978956"/>
                                        </p:tgtEl>
                                        <p:attrNameLst>
                                          <p:attrName>style.visibility</p:attrName>
                                        </p:attrNameLst>
                                      </p:cBhvr>
                                      <p:to>
                                        <p:strVal val="visible"/>
                                      </p:to>
                                    </p:set>
                                    <p:animEffect transition="in" filter="checkerboard(across)">
                                      <p:cBhvr>
                                        <p:cTn id="42" dur="500"/>
                                        <p:tgtEl>
                                          <p:spTgt spid="978956"/>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978957"/>
                                        </p:tgtEl>
                                        <p:attrNameLst>
                                          <p:attrName>style.visibility</p:attrName>
                                        </p:attrNameLst>
                                      </p:cBhvr>
                                      <p:to>
                                        <p:strVal val="visible"/>
                                      </p:to>
                                    </p:set>
                                    <p:animEffect transition="in" filter="checkerboard(across)">
                                      <p:cBhvr>
                                        <p:cTn id="47" dur="500"/>
                                        <p:tgtEl>
                                          <p:spTgt spid="978957"/>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978958"/>
                                        </p:tgtEl>
                                        <p:attrNameLst>
                                          <p:attrName>style.visibility</p:attrName>
                                        </p:attrNameLst>
                                      </p:cBhvr>
                                      <p:to>
                                        <p:strVal val="visible"/>
                                      </p:to>
                                    </p:set>
                                    <p:animEffect transition="in" filter="checkerboard(across)">
                                      <p:cBhvr>
                                        <p:cTn id="52" dur="500"/>
                                        <p:tgtEl>
                                          <p:spTgt spid="978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8947" grpId="0" autoUpdateAnimBg="0"/>
      <p:bldP spid="978948" grpId="0" autoUpdateAnimBg="0"/>
      <p:bldP spid="978949" grpId="0" autoUpdateAnimBg="0"/>
      <p:bldP spid="978950" grpId="0" autoUpdateAnimBg="0"/>
      <p:bldP spid="978951" grpId="0" autoUpdateAnimBg="0"/>
      <p:bldP spid="978954" grpId="0" animBg="1" autoUpdateAnimBg="0"/>
      <p:bldP spid="978955" grpId="0" animBg="1" autoUpdateAnimBg="0"/>
      <p:bldP spid="978956" grpId="0" animBg="1" autoUpdateAnimBg="0"/>
      <p:bldP spid="978957" grpId="0" animBg="1" autoUpdateAnimBg="0"/>
      <p:bldP spid="978958" grpId="0" animBg="1"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0" name="Text Box 2"/>
          <p:cNvSpPr txBox="1">
            <a:spLocks noChangeArrowheads="1"/>
          </p:cNvSpPr>
          <p:nvPr/>
        </p:nvSpPr>
        <p:spPr bwMode="auto">
          <a:xfrm>
            <a:off x="136525" y="76200"/>
            <a:ext cx="9007475" cy="55215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0000"/>
              </a:lnSpc>
              <a:defRPr/>
            </a:pPr>
            <a:r>
              <a:rPr lang="en-US" altLang="zh-CN" sz="2800" b="1">
                <a:ea typeface="楷体_GB2312" charset="0"/>
              </a:rPr>
              <a:t>Status </a:t>
            </a:r>
            <a:r>
              <a:rPr lang="en-US" altLang="zh-CN" sz="2800">
                <a:ea typeface="楷体_GB2312" charset="0"/>
              </a:rPr>
              <a:t>InsAfter( LinkList&amp; L, ElemType e ) {</a:t>
            </a:r>
            <a:endParaRPr lang="en-US" altLang="zh-CN" sz="2800">
              <a:ea typeface="楷体_GB2312" charset="0"/>
            </a:endParaRPr>
          </a:p>
          <a:p>
            <a:pPr eaLnBrk="1" hangingPunct="1">
              <a:lnSpc>
                <a:spcPct val="110000"/>
              </a:lnSpc>
              <a:defRPr/>
            </a:pPr>
            <a:r>
              <a:rPr lang="en-US" altLang="zh-CN" sz="2800">
                <a:ea typeface="楷体_GB2312" charset="0"/>
              </a:rPr>
              <a:t>  </a:t>
            </a:r>
            <a:r>
              <a:rPr lang="en-US" altLang="zh-CN" sz="2800">
                <a:solidFill>
                  <a:srgbClr val="3333CC"/>
                </a:solidFill>
                <a:ea typeface="楷体_GB2312" charset="0"/>
              </a:rPr>
              <a:t>// </a:t>
            </a:r>
            <a:r>
              <a:rPr lang="zh-CN" altLang="en-US" sz="2800">
                <a:solidFill>
                  <a:srgbClr val="3333CC"/>
                </a:solidFill>
                <a:ea typeface="隶书" panose="02010509060101010101" charset="-122"/>
              </a:rPr>
              <a:t>若当前指针在链表中，</a:t>
            </a:r>
            <a:r>
              <a:rPr lang="zh-CN" altLang="en-US" sz="2800">
                <a:solidFill>
                  <a:srgbClr val="3333CC"/>
                </a:solidFill>
                <a:latin typeface="隶书" panose="02010509060101010101" charset="-122"/>
                <a:ea typeface="隶书" panose="02010509060101010101" charset="-122"/>
              </a:rPr>
              <a:t>则将数据元素</a:t>
            </a:r>
            <a:r>
              <a:rPr lang="en-US" altLang="zh-CN" sz="2800">
                <a:solidFill>
                  <a:srgbClr val="3333CC"/>
                </a:solidFill>
                <a:latin typeface="隶书" panose="02010509060101010101" charset="-122"/>
                <a:ea typeface="隶书" panose="02010509060101010101" charset="-122"/>
              </a:rPr>
              <a:t>e</a:t>
            </a:r>
            <a:r>
              <a:rPr lang="zh-CN" altLang="en-US" sz="2800">
                <a:solidFill>
                  <a:srgbClr val="3333CC"/>
                </a:solidFill>
                <a:latin typeface="隶书" panose="02010509060101010101" charset="-122"/>
                <a:ea typeface="隶书" panose="02010509060101010101" charset="-122"/>
              </a:rPr>
              <a:t>插入在线性链  </a:t>
            </a:r>
            <a:endParaRPr lang="zh-CN" altLang="en-US" sz="2800">
              <a:solidFill>
                <a:srgbClr val="3333CC"/>
              </a:solidFill>
              <a:latin typeface="隶书" panose="02010509060101010101" charset="-122"/>
              <a:ea typeface="隶书" panose="02010509060101010101" charset="-122"/>
            </a:endParaRPr>
          </a:p>
          <a:p>
            <a:pPr eaLnBrk="1" hangingPunct="1">
              <a:lnSpc>
                <a:spcPct val="110000"/>
              </a:lnSpc>
              <a:defRPr/>
            </a:pPr>
            <a:r>
              <a:rPr lang="zh-CN" altLang="en-US" sz="2800">
                <a:solidFill>
                  <a:srgbClr val="3333CC"/>
                </a:solidFill>
                <a:latin typeface="隶书" panose="02010509060101010101" charset="-122"/>
                <a:ea typeface="隶书" panose="02010509060101010101" charset="-122"/>
              </a:rPr>
              <a:t> </a:t>
            </a:r>
            <a:r>
              <a:rPr lang="en-US" altLang="zh-CN" sz="2800">
                <a:solidFill>
                  <a:srgbClr val="3333CC"/>
                </a:solidFill>
                <a:ea typeface="隶书" panose="02010509060101010101" charset="-122"/>
              </a:rPr>
              <a:t>// </a:t>
            </a:r>
            <a:r>
              <a:rPr lang="zh-CN" altLang="en-US" sz="2800">
                <a:solidFill>
                  <a:srgbClr val="3333CC"/>
                </a:solidFill>
                <a:latin typeface="隶书" panose="02010509060101010101" charset="-122"/>
                <a:ea typeface="隶书" panose="02010509060101010101" charset="-122"/>
              </a:rPr>
              <a:t>表</a:t>
            </a:r>
            <a:r>
              <a:rPr lang="en-US" altLang="zh-CN" sz="2800">
                <a:solidFill>
                  <a:srgbClr val="3333CC"/>
                </a:solidFill>
                <a:ea typeface="隶书" panose="02010509060101010101" charset="-122"/>
              </a:rPr>
              <a:t>L</a:t>
            </a:r>
            <a:r>
              <a:rPr lang="zh-CN" altLang="en-US" sz="2800">
                <a:solidFill>
                  <a:srgbClr val="3333CC"/>
                </a:solidFill>
                <a:latin typeface="隶书" panose="02010509060101010101" charset="-122"/>
                <a:ea typeface="隶书" panose="02010509060101010101" charset="-122"/>
              </a:rPr>
              <a:t>中当前指针所指结点之后</a:t>
            </a:r>
            <a:r>
              <a:rPr lang="en-US" altLang="zh-CN" sz="2800">
                <a:solidFill>
                  <a:srgbClr val="3333CC"/>
                </a:solidFill>
                <a:latin typeface="隶书" panose="02010509060101010101" charset="-122"/>
                <a:ea typeface="隶书" panose="02010509060101010101" charset="-122"/>
              </a:rPr>
              <a:t>,</a:t>
            </a:r>
            <a:r>
              <a:rPr lang="zh-CN" altLang="en-US" sz="2800">
                <a:solidFill>
                  <a:srgbClr val="3333CC"/>
                </a:solidFill>
                <a:latin typeface="隶书" panose="02010509060101010101" charset="-122"/>
                <a:ea typeface="隶书" panose="02010509060101010101" charset="-122"/>
              </a:rPr>
              <a:t>并返回</a:t>
            </a:r>
            <a:r>
              <a:rPr lang="en-US" altLang="zh-CN" sz="2800">
                <a:solidFill>
                  <a:srgbClr val="3333CC"/>
                </a:solidFill>
                <a:ea typeface="楷体_GB2312" charset="0"/>
              </a:rPr>
              <a:t>OK;</a:t>
            </a:r>
            <a:endParaRPr lang="en-US" altLang="zh-CN" sz="2800">
              <a:solidFill>
                <a:srgbClr val="3333CC"/>
              </a:solidFill>
              <a:ea typeface="楷体_GB2312" charset="0"/>
            </a:endParaRPr>
          </a:p>
          <a:p>
            <a:pPr eaLnBrk="1" hangingPunct="1">
              <a:lnSpc>
                <a:spcPct val="110000"/>
              </a:lnSpc>
              <a:defRPr/>
            </a:pPr>
            <a:r>
              <a:rPr lang="en-US" altLang="zh-CN" sz="2800">
                <a:solidFill>
                  <a:srgbClr val="3333CC"/>
                </a:solidFill>
                <a:ea typeface="楷体_GB2312" charset="0"/>
              </a:rPr>
              <a:t>   // </a:t>
            </a:r>
            <a:r>
              <a:rPr lang="zh-CN" altLang="en-US" sz="2800">
                <a:solidFill>
                  <a:srgbClr val="3333CC"/>
                </a:solidFill>
                <a:ea typeface="隶书" panose="02010509060101010101" charset="-122"/>
              </a:rPr>
              <a:t>否则返回</a:t>
            </a:r>
            <a:r>
              <a:rPr lang="en-US" altLang="zh-CN" sz="2800">
                <a:solidFill>
                  <a:srgbClr val="3333CC"/>
                </a:solidFill>
                <a:ea typeface="楷体_GB2312" charset="0"/>
              </a:rPr>
              <a:t>ERROR</a:t>
            </a:r>
            <a:r>
              <a:rPr lang="zh-CN" altLang="en-US" sz="2800">
                <a:solidFill>
                  <a:srgbClr val="3333CC"/>
                </a:solidFill>
                <a:ea typeface="楷体_GB2312" charset="0"/>
              </a:rPr>
              <a:t>。</a:t>
            </a:r>
            <a:endParaRPr lang="zh-CN" altLang="en-US" sz="2800">
              <a:ea typeface="楷体_GB2312" charset="0"/>
            </a:endParaRPr>
          </a:p>
          <a:p>
            <a:pPr eaLnBrk="1" hangingPunct="1">
              <a:defRPr/>
            </a:pPr>
            <a:endParaRPr lang="zh-CN" altLang="en-US" sz="2800">
              <a:ea typeface="楷体_GB2312" charset="0"/>
            </a:endParaRPr>
          </a:p>
          <a:p>
            <a:pPr eaLnBrk="1" hangingPunct="1">
              <a:defRPr/>
            </a:pPr>
            <a:endParaRPr lang="zh-CN" altLang="en-US" sz="2800">
              <a:ea typeface="楷体_GB2312" charset="0"/>
            </a:endParaRPr>
          </a:p>
          <a:p>
            <a:pPr eaLnBrk="1" hangingPunct="1">
              <a:defRPr/>
            </a:pPr>
            <a:endParaRPr lang="zh-CN" altLang="en-US" sz="2800">
              <a:ea typeface="楷体_GB2312" charset="0"/>
            </a:endParaRPr>
          </a:p>
          <a:p>
            <a:pPr eaLnBrk="1" hangingPunct="1">
              <a:defRPr/>
            </a:pPr>
            <a:endParaRPr lang="zh-CN" altLang="en-US" sz="2800">
              <a:ea typeface="楷体_GB2312" charset="0"/>
            </a:endParaRPr>
          </a:p>
          <a:p>
            <a:pPr eaLnBrk="1" hangingPunct="1">
              <a:defRPr/>
            </a:pPr>
            <a:endParaRPr lang="zh-CN" altLang="en-US" sz="2800">
              <a:ea typeface="楷体_GB2312" charset="0"/>
            </a:endParaRPr>
          </a:p>
          <a:p>
            <a:pPr eaLnBrk="1" hangingPunct="1">
              <a:defRPr/>
            </a:pPr>
            <a:endParaRPr lang="zh-CN" altLang="en-US" sz="2800">
              <a:ea typeface="楷体_GB2312" charset="0"/>
            </a:endParaRPr>
          </a:p>
          <a:p>
            <a:pPr eaLnBrk="1" hangingPunct="1">
              <a:lnSpc>
                <a:spcPct val="110000"/>
              </a:lnSpc>
              <a:defRPr/>
            </a:pPr>
            <a:endParaRPr lang="zh-CN" altLang="en-US" sz="2800">
              <a:ea typeface="楷体_GB2312" charset="0"/>
            </a:endParaRPr>
          </a:p>
          <a:p>
            <a:pPr eaLnBrk="1" hangingPunct="1">
              <a:lnSpc>
                <a:spcPct val="110000"/>
              </a:lnSpc>
              <a:defRPr/>
            </a:pPr>
            <a:r>
              <a:rPr lang="zh-CN" altLang="en-US" sz="2800">
                <a:ea typeface="楷体_GB2312" charset="0"/>
              </a:rPr>
              <a:t> </a:t>
            </a:r>
            <a:r>
              <a:rPr lang="en-US" altLang="zh-CN" sz="2800">
                <a:ea typeface="楷体_GB2312" charset="0"/>
              </a:rPr>
              <a:t>} // InsAfter</a:t>
            </a:r>
            <a:endParaRPr lang="en-US" altLang="zh-CN" sz="2800">
              <a:ea typeface="楷体_GB2312" charset="0"/>
            </a:endParaRPr>
          </a:p>
        </p:txBody>
      </p:sp>
      <p:sp>
        <p:nvSpPr>
          <p:cNvPr id="979971" name="Text Box 3"/>
          <p:cNvSpPr txBox="1">
            <a:spLocks noChangeArrowheads="1"/>
          </p:cNvSpPr>
          <p:nvPr/>
        </p:nvSpPr>
        <p:spPr bwMode="auto">
          <a:xfrm>
            <a:off x="517525" y="2286000"/>
            <a:ext cx="6813084" cy="293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zh-CN" altLang="en-US" sz="2800" b="1">
                <a:solidFill>
                  <a:srgbClr val="CC0066"/>
                </a:solidFill>
                <a:ea typeface="楷体_GB2312" charset="0"/>
              </a:rPr>
              <a:t>  </a:t>
            </a:r>
            <a:r>
              <a:rPr lang="en-US" altLang="zh-CN" sz="2800" b="1">
                <a:solidFill>
                  <a:srgbClr val="CC0066"/>
                </a:solidFill>
                <a:ea typeface="楷体_GB2312" charset="0"/>
              </a:rPr>
              <a:t>if</a:t>
            </a:r>
            <a:r>
              <a:rPr lang="en-US" altLang="zh-CN" sz="2800">
                <a:solidFill>
                  <a:srgbClr val="CC0066"/>
                </a:solidFill>
                <a:ea typeface="楷体_GB2312" charset="0"/>
              </a:rPr>
              <a:t> ( ! L.current )  </a:t>
            </a:r>
            <a:r>
              <a:rPr lang="en-US" altLang="zh-CN" sz="2800" b="1">
                <a:solidFill>
                  <a:srgbClr val="CC0066"/>
                </a:solidFill>
                <a:ea typeface="楷体_GB2312" charset="0"/>
              </a:rPr>
              <a:t>return</a:t>
            </a:r>
            <a:r>
              <a:rPr lang="en-US" altLang="zh-CN" sz="2800">
                <a:solidFill>
                  <a:srgbClr val="CC0066"/>
                </a:solidFill>
                <a:ea typeface="楷体_GB2312" charset="0"/>
              </a:rPr>
              <a:t> ERROR;</a:t>
            </a:r>
            <a:endParaRPr lang="en-US" altLang="zh-CN" sz="2800">
              <a:ea typeface="楷体_GB2312" charset="0"/>
            </a:endParaRPr>
          </a:p>
          <a:p>
            <a:pPr eaLnBrk="1" hangingPunct="1">
              <a:lnSpc>
                <a:spcPct val="110000"/>
              </a:lnSpc>
              <a:defRPr/>
            </a:pPr>
            <a:r>
              <a:rPr lang="en-US" altLang="zh-CN" sz="2800">
                <a:ea typeface="楷体_GB2312" charset="0"/>
              </a:rPr>
              <a:t>  </a:t>
            </a:r>
            <a:r>
              <a:rPr lang="en-US" altLang="zh-CN" sz="2800" b="1">
                <a:ea typeface="楷体_GB2312" charset="0"/>
              </a:rPr>
              <a:t>if</a:t>
            </a:r>
            <a:r>
              <a:rPr lang="en-US" altLang="zh-CN" sz="2800">
                <a:ea typeface="楷体_GB2312" charset="0"/>
              </a:rPr>
              <a:t> (! MakeNode( s, e) ) </a:t>
            </a:r>
            <a:r>
              <a:rPr lang="en-US" altLang="zh-CN" sz="2800" b="1">
                <a:ea typeface="楷体_GB2312" charset="0"/>
              </a:rPr>
              <a:t> return</a:t>
            </a:r>
            <a:r>
              <a:rPr lang="en-US" altLang="zh-CN" sz="2800">
                <a:ea typeface="楷体_GB2312" charset="0"/>
              </a:rPr>
              <a:t> ERROR;</a:t>
            </a:r>
            <a:endParaRPr lang="en-US" altLang="zh-CN" sz="2800">
              <a:ea typeface="楷体_GB2312" charset="0"/>
            </a:endParaRPr>
          </a:p>
          <a:p>
            <a:pPr eaLnBrk="1" hangingPunct="1">
              <a:lnSpc>
                <a:spcPct val="110000"/>
              </a:lnSpc>
              <a:defRPr/>
            </a:pPr>
            <a:r>
              <a:rPr lang="en-US" altLang="zh-CN" sz="2800">
                <a:ea typeface="楷体_GB2312" charset="0"/>
              </a:rPr>
              <a:t>  s-&gt;next = L.current-&gt;next;</a:t>
            </a:r>
            <a:endParaRPr lang="en-US" altLang="zh-CN" sz="2800">
              <a:ea typeface="楷体_GB2312" charset="0"/>
            </a:endParaRPr>
          </a:p>
          <a:p>
            <a:pPr eaLnBrk="1" hangingPunct="1">
              <a:lnSpc>
                <a:spcPct val="110000"/>
              </a:lnSpc>
              <a:defRPr/>
            </a:pPr>
            <a:r>
              <a:rPr lang="en-US" altLang="zh-CN" sz="2800">
                <a:ea typeface="楷体_GB2312" charset="0"/>
              </a:rPr>
              <a:t>  L.current-&gt;next = s;</a:t>
            </a:r>
            <a:endParaRPr lang="en-US" altLang="zh-CN" sz="2800">
              <a:ea typeface="楷体_GB2312" charset="0"/>
            </a:endParaRPr>
          </a:p>
          <a:p>
            <a:pPr eaLnBrk="1" hangingPunct="1">
              <a:lnSpc>
                <a:spcPct val="110000"/>
              </a:lnSpc>
              <a:defRPr/>
            </a:pPr>
            <a:r>
              <a:rPr lang="en-US" altLang="zh-CN" sz="2800">
                <a:ea typeface="楷体_GB2312" charset="0"/>
              </a:rPr>
              <a:t>  </a:t>
            </a:r>
            <a:r>
              <a:rPr lang="en-US" altLang="zh-CN" sz="2800" b="1">
                <a:solidFill>
                  <a:srgbClr val="6600CC"/>
                </a:solidFill>
                <a:ea typeface="楷体_GB2312" charset="0"/>
              </a:rPr>
              <a:t>if</a:t>
            </a:r>
            <a:r>
              <a:rPr lang="en-US" altLang="zh-CN" sz="2800">
                <a:solidFill>
                  <a:srgbClr val="6600CC"/>
                </a:solidFill>
                <a:ea typeface="楷体_GB2312" charset="0"/>
              </a:rPr>
              <a:t> (L.tail = L.current)  L.tail = s;</a:t>
            </a:r>
            <a:endParaRPr lang="en-US" altLang="zh-CN" sz="2800">
              <a:solidFill>
                <a:srgbClr val="6600CC"/>
              </a:solidFill>
              <a:ea typeface="楷体_GB2312" charset="0"/>
            </a:endParaRPr>
          </a:p>
          <a:p>
            <a:pPr eaLnBrk="1" hangingPunct="1">
              <a:lnSpc>
                <a:spcPct val="110000"/>
              </a:lnSpc>
              <a:defRPr/>
            </a:pPr>
            <a:r>
              <a:rPr lang="en-US" altLang="zh-CN" sz="2800">
                <a:ea typeface="楷体_GB2312" charset="0"/>
              </a:rPr>
              <a:t>  L.current = s;    </a:t>
            </a:r>
            <a:r>
              <a:rPr lang="en-US" altLang="zh-CN" sz="2800" b="1">
                <a:ea typeface="楷体_GB2312" charset="0"/>
              </a:rPr>
              <a:t>return</a:t>
            </a:r>
            <a:r>
              <a:rPr lang="en-US" altLang="zh-CN" sz="2800">
                <a:ea typeface="楷体_GB2312" charset="0"/>
              </a:rPr>
              <a:t> OK;</a:t>
            </a:r>
            <a:endParaRPr lang="en-US" altLang="zh-CN"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lt">
                                    <p:tmPct val="100000"/>
                                  </p:iterate>
                                  <p:childTnLst>
                                    <p:set>
                                      <p:cBhvr>
                                        <p:cTn id="6" dur="1" fill="hold">
                                          <p:stCondLst>
                                            <p:cond delay="0"/>
                                          </p:stCondLst>
                                        </p:cTn>
                                        <p:tgtEl>
                                          <p:spTgt spid="979971"/>
                                        </p:tgtEl>
                                        <p:attrNameLst>
                                          <p:attrName>style.visibility</p:attrName>
                                        </p:attrNameLst>
                                      </p:cBhvr>
                                      <p:to>
                                        <p:strVal val="visible"/>
                                      </p:to>
                                    </p:set>
                                    <p:animEffect transition="in" filter="strips(downRight)">
                                      <p:cBhvr>
                                        <p:cTn id="7" dur="75"/>
                                        <p:tgtEl>
                                          <p:spTgt spid="979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9971"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Text Box 2"/>
          <p:cNvSpPr txBox="1">
            <a:spLocks noChangeArrowheads="1"/>
          </p:cNvSpPr>
          <p:nvPr/>
        </p:nvSpPr>
        <p:spPr bwMode="auto">
          <a:xfrm>
            <a:off x="239713" y="207963"/>
            <a:ext cx="9979014" cy="530606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dirty="0">
                <a:ea typeface="楷体_GB2312" charset="0"/>
              </a:rPr>
              <a:t>Status </a:t>
            </a:r>
            <a:r>
              <a:rPr lang="en-US" altLang="zh-CN" sz="2800" dirty="0" err="1">
                <a:ea typeface="楷体_GB2312" charset="0"/>
              </a:rPr>
              <a:t>DelAfter</a:t>
            </a:r>
            <a:r>
              <a:rPr lang="en-US" altLang="zh-CN" sz="2800" dirty="0">
                <a:ea typeface="楷体_GB2312" charset="0"/>
              </a:rPr>
              <a:t>( </a:t>
            </a:r>
            <a:r>
              <a:rPr lang="en-US" altLang="zh-CN" sz="2800" dirty="0" err="1">
                <a:ea typeface="楷体_GB2312" charset="0"/>
              </a:rPr>
              <a:t>LinkList</a:t>
            </a:r>
            <a:r>
              <a:rPr lang="en-US" altLang="zh-CN" sz="2800" b="1" dirty="0">
                <a:ea typeface="楷体_GB2312" charset="0"/>
              </a:rPr>
              <a:t>&amp;</a:t>
            </a:r>
            <a:r>
              <a:rPr lang="en-US" altLang="zh-CN" sz="2800" dirty="0">
                <a:ea typeface="楷体_GB2312" charset="0"/>
              </a:rPr>
              <a:t> L, </a:t>
            </a:r>
            <a:r>
              <a:rPr lang="en-US" altLang="zh-CN" sz="2800" dirty="0" err="1">
                <a:ea typeface="楷体_GB2312" charset="0"/>
              </a:rPr>
              <a:t>ElemType</a:t>
            </a:r>
            <a:r>
              <a:rPr lang="en-US" altLang="zh-CN" sz="2800" b="1" dirty="0">
                <a:ea typeface="楷体_GB2312" charset="0"/>
              </a:rPr>
              <a:t>&amp;</a:t>
            </a:r>
            <a:r>
              <a:rPr lang="en-US" altLang="zh-CN" sz="2800" dirty="0">
                <a:ea typeface="楷体_GB2312" charset="0"/>
              </a:rPr>
              <a:t> e ) </a:t>
            </a:r>
            <a:r>
              <a:rPr lang="en-US" altLang="zh-CN" sz="2800" b="1" dirty="0">
                <a:ea typeface="楷体_GB2312" charset="0"/>
              </a:rPr>
              <a:t>{</a:t>
            </a:r>
            <a:endParaRPr lang="en-US" altLang="zh-CN" sz="2800" dirty="0">
              <a:ea typeface="楷体_GB2312" charset="0"/>
            </a:endParaRPr>
          </a:p>
          <a:p>
            <a:pPr eaLnBrk="1" hangingPunct="1">
              <a:lnSpc>
                <a:spcPct val="110000"/>
              </a:lnSpc>
              <a:defRPr/>
            </a:pPr>
            <a:r>
              <a:rPr lang="en-US" altLang="zh-CN" sz="2800" dirty="0">
                <a:ea typeface="楷体_GB2312" charset="0"/>
              </a:rPr>
              <a:t>  // </a:t>
            </a:r>
            <a:r>
              <a:rPr lang="zh-CN" altLang="en-US" sz="2800" dirty="0">
                <a:latin typeface="隶书" panose="02010509060101010101" charset="-122"/>
                <a:ea typeface="隶书" panose="02010509060101010101" charset="-122"/>
              </a:rPr>
              <a:t>若当前指针及其后继在链表中，则删除线性链表</a:t>
            </a:r>
            <a:r>
              <a:rPr lang="en-US" altLang="zh-CN" sz="2800" dirty="0">
                <a:latin typeface="隶书" panose="02010509060101010101" charset="-122"/>
                <a:ea typeface="隶书" panose="02010509060101010101" charset="-122"/>
              </a:rPr>
              <a:t>L</a:t>
            </a:r>
            <a:r>
              <a:rPr lang="zh-CN" altLang="en-US" sz="2800" dirty="0">
                <a:latin typeface="隶书" panose="02010509060101010101" charset="-122"/>
                <a:ea typeface="隶书" panose="02010509060101010101" charset="-122"/>
              </a:rPr>
              <a:t>中当前</a:t>
            </a:r>
            <a:endParaRPr lang="zh-CN" altLang="en-US" sz="2800" dirty="0">
              <a:ea typeface="楷体_GB2312" charset="0"/>
            </a:endParaRPr>
          </a:p>
          <a:p>
            <a:pPr eaLnBrk="1" hangingPunct="1">
              <a:lnSpc>
                <a:spcPct val="110000"/>
              </a:lnSpc>
              <a:defRPr/>
            </a:pPr>
            <a:r>
              <a:rPr lang="zh-CN" altLang="en-US" sz="2800" dirty="0">
                <a:ea typeface="楷体_GB2312" charset="0"/>
              </a:rPr>
              <a:t>  </a:t>
            </a:r>
            <a:r>
              <a:rPr lang="en-US" altLang="zh-CN" sz="2800" dirty="0">
                <a:ea typeface="楷体_GB2312" charset="0"/>
              </a:rPr>
              <a:t>// </a:t>
            </a:r>
            <a:r>
              <a:rPr lang="zh-CN" altLang="en-US" sz="2800" dirty="0">
                <a:ea typeface="隶书" panose="02010509060101010101" charset="-122"/>
              </a:rPr>
              <a:t>指针所指结点之后的结点，并返回</a:t>
            </a:r>
            <a:r>
              <a:rPr lang="en-US" altLang="zh-CN" sz="2800" dirty="0">
                <a:ea typeface="楷体_GB2312" charset="0"/>
              </a:rPr>
              <a:t>OK; </a:t>
            </a:r>
            <a:r>
              <a:rPr lang="zh-CN" altLang="en-US" sz="2800" dirty="0">
                <a:ea typeface="隶书" panose="02010509060101010101" charset="-122"/>
              </a:rPr>
              <a:t>否则返回</a:t>
            </a:r>
            <a:r>
              <a:rPr lang="en-US" altLang="zh-CN" sz="2800" dirty="0">
                <a:ea typeface="楷体_GB2312" charset="0"/>
              </a:rPr>
              <a:t>ERROR</a:t>
            </a:r>
            <a:r>
              <a:rPr lang="zh-CN" altLang="en-US" sz="2800" dirty="0">
                <a:ea typeface="楷体_GB2312" charset="0"/>
              </a:rPr>
              <a:t>。</a:t>
            </a:r>
            <a:endParaRPr lang="zh-CN" altLang="en-US" sz="2800"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r>
              <a:rPr lang="en-US" altLang="zh-CN" sz="2800" b="1" dirty="0">
                <a:ea typeface="楷体_GB2312" charset="0"/>
              </a:rPr>
              <a:t>}</a:t>
            </a:r>
            <a:r>
              <a:rPr lang="en-US" altLang="zh-CN" sz="2800" dirty="0">
                <a:ea typeface="楷体_GB2312" charset="0"/>
              </a:rPr>
              <a:t> //</a:t>
            </a:r>
            <a:r>
              <a:rPr lang="en-US" altLang="zh-CN" sz="2800" dirty="0" err="1">
                <a:ea typeface="楷体_GB2312" charset="0"/>
              </a:rPr>
              <a:t>DelAfter</a:t>
            </a:r>
            <a:endParaRPr lang="en-US" altLang="zh-CN" sz="2800" dirty="0"/>
          </a:p>
        </p:txBody>
      </p:sp>
      <p:sp>
        <p:nvSpPr>
          <p:cNvPr id="980996" name="Rectangle 4"/>
          <p:cNvSpPr>
            <a:spLocks noChangeArrowheads="1"/>
          </p:cNvSpPr>
          <p:nvPr/>
        </p:nvSpPr>
        <p:spPr bwMode="auto">
          <a:xfrm>
            <a:off x="828675" y="1752600"/>
            <a:ext cx="6585457" cy="341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dirty="0">
                <a:solidFill>
                  <a:srgbClr val="CC0066"/>
                </a:solidFill>
                <a:ea typeface="楷体_GB2312" charset="0"/>
              </a:rPr>
              <a:t>if</a:t>
            </a:r>
            <a:r>
              <a:rPr lang="en-US" altLang="zh-CN" sz="2800" dirty="0">
                <a:solidFill>
                  <a:srgbClr val="CC0066"/>
                </a:solidFill>
                <a:ea typeface="楷体_GB2312" charset="0"/>
              </a:rPr>
              <a:t> ( </a:t>
            </a:r>
            <a:r>
              <a:rPr lang="en-US" altLang="zh-CN" sz="2800" b="1" dirty="0">
                <a:solidFill>
                  <a:srgbClr val="CC0066"/>
                </a:solidFill>
                <a:ea typeface="楷体_GB2312" charset="0"/>
              </a:rPr>
              <a:t>!</a:t>
            </a:r>
            <a:r>
              <a:rPr lang="en-US" altLang="zh-CN" sz="2800" dirty="0">
                <a:solidFill>
                  <a:srgbClr val="CC0066"/>
                </a:solidFill>
                <a:ea typeface="楷体_GB2312" charset="0"/>
              </a:rPr>
              <a:t>(</a:t>
            </a:r>
            <a:r>
              <a:rPr lang="en-US" altLang="zh-CN" sz="2800" dirty="0" err="1">
                <a:solidFill>
                  <a:srgbClr val="CC0066"/>
                </a:solidFill>
                <a:ea typeface="楷体_GB2312" charset="0"/>
              </a:rPr>
              <a:t>L.current</a:t>
            </a:r>
            <a:r>
              <a:rPr lang="en-US" altLang="zh-CN" sz="2800" dirty="0">
                <a:solidFill>
                  <a:srgbClr val="CC0066"/>
                </a:solidFill>
                <a:ea typeface="楷体_GB2312" charset="0"/>
              </a:rPr>
              <a:t> </a:t>
            </a:r>
            <a:r>
              <a:rPr lang="en-US" altLang="zh-CN" sz="2800" b="1" dirty="0">
                <a:solidFill>
                  <a:srgbClr val="CC0066"/>
                </a:solidFill>
                <a:ea typeface="楷体_GB2312" charset="0"/>
              </a:rPr>
              <a:t>&amp;&amp;</a:t>
            </a:r>
            <a:r>
              <a:rPr lang="en-US" altLang="zh-CN" sz="2800" dirty="0">
                <a:solidFill>
                  <a:srgbClr val="CC0066"/>
                </a:solidFill>
                <a:ea typeface="楷体_GB2312" charset="0"/>
              </a:rPr>
              <a:t> </a:t>
            </a:r>
            <a:r>
              <a:rPr lang="en-US" altLang="zh-CN" sz="2800" dirty="0" err="1">
                <a:solidFill>
                  <a:srgbClr val="CC0066"/>
                </a:solidFill>
                <a:ea typeface="楷体_GB2312" charset="0"/>
              </a:rPr>
              <a:t>L.current</a:t>
            </a:r>
            <a:r>
              <a:rPr lang="en-US" altLang="zh-CN" sz="2800" dirty="0">
                <a:solidFill>
                  <a:srgbClr val="CC0066"/>
                </a:solidFill>
                <a:ea typeface="楷体_GB2312" charset="0"/>
              </a:rPr>
              <a:t>-&gt;next ) )</a:t>
            </a:r>
            <a:endParaRPr lang="en-US" altLang="zh-CN" sz="2800" dirty="0">
              <a:solidFill>
                <a:srgbClr val="CC0066"/>
              </a:solidFill>
              <a:ea typeface="楷体_GB2312" charset="0"/>
            </a:endParaRPr>
          </a:p>
          <a:p>
            <a:pPr eaLnBrk="1" hangingPunct="1">
              <a:lnSpc>
                <a:spcPct val="110000"/>
              </a:lnSpc>
              <a:defRPr/>
            </a:pPr>
            <a:r>
              <a:rPr lang="en-US" altLang="zh-CN" sz="2800" dirty="0">
                <a:solidFill>
                  <a:srgbClr val="CC0066"/>
                </a:solidFill>
                <a:ea typeface="楷体_GB2312" charset="0"/>
              </a:rPr>
              <a:t>       </a:t>
            </a:r>
            <a:r>
              <a:rPr lang="en-US" altLang="zh-CN" sz="2800" b="1" dirty="0">
                <a:solidFill>
                  <a:srgbClr val="CC0066"/>
                </a:solidFill>
                <a:ea typeface="楷体_GB2312" charset="0"/>
              </a:rPr>
              <a:t>return</a:t>
            </a:r>
            <a:r>
              <a:rPr lang="en-US" altLang="zh-CN" sz="2800" dirty="0">
                <a:solidFill>
                  <a:srgbClr val="CC0066"/>
                </a:solidFill>
                <a:ea typeface="楷体_GB2312" charset="0"/>
              </a:rPr>
              <a:t> ERROR;</a:t>
            </a:r>
            <a:endParaRPr lang="en-US" altLang="zh-CN" sz="2800" dirty="0">
              <a:solidFill>
                <a:srgbClr val="CC0066"/>
              </a:solidFill>
              <a:ea typeface="楷体_GB2312" charset="0"/>
            </a:endParaRPr>
          </a:p>
          <a:p>
            <a:pPr eaLnBrk="1" hangingPunct="1">
              <a:lnSpc>
                <a:spcPct val="110000"/>
              </a:lnSpc>
              <a:defRPr/>
            </a:pPr>
            <a:r>
              <a:rPr lang="en-US" altLang="zh-CN" sz="2800" dirty="0">
                <a:ea typeface="楷体_GB2312" charset="0"/>
              </a:rPr>
              <a:t>q = </a:t>
            </a:r>
            <a:r>
              <a:rPr lang="en-US" altLang="zh-CN" sz="2800" dirty="0" err="1">
                <a:ea typeface="楷体_GB2312" charset="0"/>
              </a:rPr>
              <a:t>L.current</a:t>
            </a:r>
            <a:r>
              <a:rPr lang="en-US" altLang="zh-CN" sz="2800" dirty="0">
                <a:ea typeface="楷体_GB2312" charset="0"/>
              </a:rPr>
              <a:t>-&gt;next;</a:t>
            </a:r>
            <a:endParaRPr lang="en-US" altLang="zh-CN" sz="2800" dirty="0">
              <a:ea typeface="楷体_GB2312" charset="0"/>
            </a:endParaRPr>
          </a:p>
          <a:p>
            <a:pPr eaLnBrk="1" hangingPunct="1">
              <a:lnSpc>
                <a:spcPct val="110000"/>
              </a:lnSpc>
              <a:defRPr/>
            </a:pPr>
            <a:r>
              <a:rPr lang="en-US" altLang="zh-CN" sz="2800" dirty="0" err="1">
                <a:ea typeface="楷体_GB2312" charset="0"/>
              </a:rPr>
              <a:t>L.current</a:t>
            </a:r>
            <a:r>
              <a:rPr lang="en-US" altLang="zh-CN" sz="2800" dirty="0">
                <a:ea typeface="楷体_GB2312" charset="0"/>
              </a:rPr>
              <a:t>-&gt;next = q-&gt;next;</a:t>
            </a:r>
            <a:endParaRPr lang="en-US" altLang="zh-CN" sz="2800" dirty="0">
              <a:ea typeface="楷体_GB2312" charset="0"/>
            </a:endParaRPr>
          </a:p>
          <a:p>
            <a:pPr eaLnBrk="1" hangingPunct="1">
              <a:lnSpc>
                <a:spcPct val="110000"/>
              </a:lnSpc>
              <a:defRPr/>
            </a:pPr>
            <a:r>
              <a:rPr lang="en-US" altLang="zh-CN" sz="2800" b="1" dirty="0">
                <a:solidFill>
                  <a:srgbClr val="6600CC"/>
                </a:solidFill>
                <a:ea typeface="楷体_GB2312" charset="0"/>
              </a:rPr>
              <a:t>if</a:t>
            </a:r>
            <a:r>
              <a:rPr lang="en-US" altLang="zh-CN" sz="2800" dirty="0">
                <a:solidFill>
                  <a:srgbClr val="6600CC"/>
                </a:solidFill>
                <a:ea typeface="楷体_GB2312" charset="0"/>
              </a:rPr>
              <a:t> (</a:t>
            </a:r>
            <a:r>
              <a:rPr lang="en-US" altLang="zh-CN" sz="2800" dirty="0" err="1">
                <a:solidFill>
                  <a:srgbClr val="6600CC"/>
                </a:solidFill>
                <a:ea typeface="楷体_GB2312" charset="0"/>
              </a:rPr>
              <a:t>L.tail</a:t>
            </a:r>
            <a:r>
              <a:rPr lang="en-US" altLang="zh-CN" sz="2800" dirty="0">
                <a:solidFill>
                  <a:srgbClr val="6600CC"/>
                </a:solidFill>
                <a:ea typeface="楷体_GB2312" charset="0"/>
              </a:rPr>
              <a:t> = q)  </a:t>
            </a:r>
            <a:r>
              <a:rPr lang="en-US" altLang="zh-CN" sz="2800" dirty="0" err="1">
                <a:solidFill>
                  <a:srgbClr val="6600CC"/>
                </a:solidFill>
                <a:ea typeface="楷体_GB2312" charset="0"/>
              </a:rPr>
              <a:t>L.tail</a:t>
            </a:r>
            <a:r>
              <a:rPr lang="en-US" altLang="zh-CN" sz="2800" dirty="0">
                <a:solidFill>
                  <a:srgbClr val="6600CC"/>
                </a:solidFill>
                <a:ea typeface="楷体_GB2312" charset="0"/>
              </a:rPr>
              <a:t> = </a:t>
            </a:r>
            <a:r>
              <a:rPr lang="en-US" altLang="zh-CN" sz="2800" dirty="0" err="1">
                <a:solidFill>
                  <a:srgbClr val="6600CC"/>
                </a:solidFill>
                <a:ea typeface="楷体_GB2312" charset="0"/>
              </a:rPr>
              <a:t>L.current</a:t>
            </a:r>
            <a:r>
              <a:rPr lang="en-US" altLang="zh-CN" sz="2800" dirty="0">
                <a:solidFill>
                  <a:srgbClr val="6600CC"/>
                </a:solidFill>
                <a:ea typeface="楷体_GB2312" charset="0"/>
              </a:rPr>
              <a:t>;</a:t>
            </a:r>
            <a:endParaRPr lang="en-US" altLang="zh-CN" sz="2800" dirty="0">
              <a:ea typeface="楷体_GB2312" charset="0"/>
            </a:endParaRPr>
          </a:p>
          <a:p>
            <a:pPr eaLnBrk="1" hangingPunct="1">
              <a:lnSpc>
                <a:spcPct val="110000"/>
              </a:lnSpc>
              <a:defRPr/>
            </a:pPr>
            <a:r>
              <a:rPr lang="en-US" altLang="zh-CN" sz="2800" dirty="0">
                <a:ea typeface="楷体_GB2312" charset="0"/>
              </a:rPr>
              <a:t>e=q-&gt;data;  </a:t>
            </a:r>
            <a:r>
              <a:rPr lang="en-US" altLang="zh-CN" sz="2800" dirty="0" err="1">
                <a:ea typeface="楷体_GB2312" charset="0"/>
              </a:rPr>
              <a:t>FreeNode</a:t>
            </a:r>
            <a:r>
              <a:rPr lang="en-US" altLang="zh-CN" sz="2800" dirty="0">
                <a:ea typeface="楷体_GB2312" charset="0"/>
              </a:rPr>
              <a:t>(q);</a:t>
            </a:r>
            <a:endParaRPr lang="en-US" altLang="zh-CN" sz="2800" dirty="0">
              <a:ea typeface="楷体_GB2312" charset="0"/>
            </a:endParaRPr>
          </a:p>
          <a:p>
            <a:pPr eaLnBrk="1" hangingPunct="1">
              <a:lnSpc>
                <a:spcPct val="110000"/>
              </a:lnSpc>
              <a:defRPr/>
            </a:pPr>
            <a:r>
              <a:rPr lang="en-US" altLang="zh-CN" sz="2800" b="1" dirty="0">
                <a:ea typeface="楷体_GB2312" charset="0"/>
              </a:rPr>
              <a:t>return</a:t>
            </a:r>
            <a:r>
              <a:rPr lang="en-US" altLang="zh-CN" sz="2800" dirty="0">
                <a:ea typeface="楷体_GB2312" charset="0"/>
              </a:rPr>
              <a:t> OK;</a:t>
            </a:r>
            <a:endParaRPr lang="en-US" altLang="zh-CN" sz="2800" dirty="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lt">
                                    <p:tmPct val="100000"/>
                                  </p:iterate>
                                  <p:childTnLst>
                                    <p:set>
                                      <p:cBhvr>
                                        <p:cTn id="6" dur="1" fill="hold">
                                          <p:stCondLst>
                                            <p:cond delay="0"/>
                                          </p:stCondLst>
                                        </p:cTn>
                                        <p:tgtEl>
                                          <p:spTgt spid="980996"/>
                                        </p:tgtEl>
                                        <p:attrNameLst>
                                          <p:attrName>style.visibility</p:attrName>
                                        </p:attrNameLst>
                                      </p:cBhvr>
                                      <p:to>
                                        <p:strVal val="visible"/>
                                      </p:to>
                                    </p:set>
                                    <p:animEffect transition="in" filter="strips(downRight)">
                                      <p:cBhvr>
                                        <p:cTn id="7" dur="75"/>
                                        <p:tgtEl>
                                          <p:spTgt spid="980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0996"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Text Box 2"/>
          <p:cNvSpPr txBox="1">
            <a:spLocks noChangeArrowheads="1"/>
          </p:cNvSpPr>
          <p:nvPr/>
        </p:nvSpPr>
        <p:spPr bwMode="auto">
          <a:xfrm>
            <a:off x="251520" y="2060848"/>
            <a:ext cx="858440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dirty="0"/>
              <a:t>     </a:t>
            </a:r>
            <a:r>
              <a:rPr lang="zh-CN" altLang="en-US" sz="2400" b="1" dirty="0">
                <a:latin typeface="隶书" panose="02010509060101010101" charset="-122"/>
                <a:ea typeface="隶书" panose="02010509060101010101" charset="-122"/>
              </a:rPr>
              <a:t> 例一</a:t>
            </a:r>
            <a:endParaRPr lang="zh-CN" altLang="en-US" sz="2400" b="1" dirty="0"/>
          </a:p>
          <a:p>
            <a:pPr eaLnBrk="1" hangingPunct="1">
              <a:defRPr/>
            </a:pPr>
            <a:r>
              <a:rPr lang="en-US" altLang="zh-CN" sz="2400" b="1" dirty="0"/>
              <a:t>Status</a:t>
            </a:r>
            <a:r>
              <a:rPr lang="en-US" altLang="zh-CN" sz="2400" dirty="0"/>
              <a:t> </a:t>
            </a:r>
            <a:r>
              <a:rPr lang="en-US" altLang="zh-CN" sz="2400" dirty="0" err="1"/>
              <a:t>ListInsert_L</a:t>
            </a:r>
            <a:r>
              <a:rPr lang="en-US" altLang="zh-CN" sz="2400" dirty="0"/>
              <a:t>(</a:t>
            </a:r>
            <a:r>
              <a:rPr lang="en-US" altLang="zh-CN" sz="2400" dirty="0" err="1"/>
              <a:t>LinkList</a:t>
            </a:r>
            <a:r>
              <a:rPr lang="en-US" altLang="zh-CN" sz="2400" dirty="0"/>
              <a:t> L, int </a:t>
            </a:r>
            <a:r>
              <a:rPr lang="en-US" altLang="zh-CN" sz="2400" dirty="0" err="1"/>
              <a:t>i</a:t>
            </a:r>
            <a:r>
              <a:rPr lang="en-US" altLang="zh-CN" sz="2400" dirty="0"/>
              <a:t>, </a:t>
            </a:r>
            <a:r>
              <a:rPr lang="en-US" altLang="zh-CN" sz="2400" dirty="0" err="1"/>
              <a:t>ElemType</a:t>
            </a:r>
            <a:r>
              <a:rPr lang="en-US" altLang="zh-CN" sz="2400" dirty="0"/>
              <a:t> e) </a:t>
            </a:r>
            <a:r>
              <a:rPr lang="en-US" altLang="zh-CN" sz="2400" b="1" dirty="0"/>
              <a:t>{</a:t>
            </a:r>
            <a:endParaRPr lang="en-US" altLang="zh-CN" sz="2400" dirty="0"/>
          </a:p>
          <a:p>
            <a:pPr eaLnBrk="1" hangingPunct="1">
              <a:defRPr/>
            </a:pPr>
            <a:r>
              <a:rPr lang="en-US" altLang="zh-CN" sz="2400" dirty="0"/>
              <a:t>   // </a:t>
            </a:r>
            <a:r>
              <a:rPr lang="zh-CN" altLang="en-US" sz="2400" b="1" dirty="0">
                <a:solidFill>
                  <a:srgbClr val="9966FF"/>
                </a:solidFill>
                <a:ea typeface="楷体_GB2312" charset="0"/>
              </a:rPr>
              <a:t>在带头结点的单链线性表 </a:t>
            </a:r>
            <a:r>
              <a:rPr lang="en-US" altLang="zh-CN" sz="2400" b="1" dirty="0">
                <a:solidFill>
                  <a:srgbClr val="9966FF"/>
                </a:solidFill>
                <a:ea typeface="楷体_GB2312" charset="0"/>
              </a:rPr>
              <a:t>L </a:t>
            </a:r>
            <a:r>
              <a:rPr lang="zh-CN" altLang="en-US" sz="2400" b="1" dirty="0">
                <a:solidFill>
                  <a:srgbClr val="9966FF"/>
                </a:solidFill>
                <a:ea typeface="楷体_GB2312" charset="0"/>
              </a:rPr>
              <a:t>的第 </a:t>
            </a:r>
            <a:r>
              <a:rPr lang="en-US" altLang="zh-CN" sz="2400" b="1" dirty="0" err="1">
                <a:solidFill>
                  <a:srgbClr val="9966FF"/>
                </a:solidFill>
                <a:ea typeface="楷体_GB2312" charset="0"/>
              </a:rPr>
              <a:t>i</a:t>
            </a:r>
            <a:r>
              <a:rPr lang="en-US" altLang="zh-CN" sz="2400" b="1" dirty="0">
                <a:solidFill>
                  <a:srgbClr val="9966FF"/>
                </a:solidFill>
                <a:ea typeface="楷体_GB2312" charset="0"/>
              </a:rPr>
              <a:t> </a:t>
            </a:r>
            <a:r>
              <a:rPr lang="zh-CN" altLang="en-US" sz="2400" b="1" dirty="0">
                <a:solidFill>
                  <a:srgbClr val="9966FF"/>
                </a:solidFill>
                <a:ea typeface="楷体_GB2312" charset="0"/>
              </a:rPr>
              <a:t>个元素之前插入元素 </a:t>
            </a:r>
            <a:r>
              <a:rPr lang="en-US" altLang="zh-CN" sz="2400" b="1" dirty="0">
                <a:solidFill>
                  <a:srgbClr val="9966FF"/>
                </a:solidFill>
                <a:ea typeface="楷体_GB2312" charset="0"/>
              </a:rPr>
              <a:t>e</a:t>
            </a:r>
            <a:endParaRPr lang="en-US" altLang="zh-CN" sz="2400" dirty="0"/>
          </a:p>
          <a:p>
            <a:pPr eaLnBrk="1" hangingPunct="1">
              <a:defRPr/>
            </a:pPr>
            <a:endParaRPr lang="en-US" altLang="zh-CN" sz="2400" b="1" dirty="0"/>
          </a:p>
          <a:p>
            <a:pPr eaLnBrk="1" hangingPunct="1">
              <a:defRPr/>
            </a:pPr>
            <a:endParaRPr lang="en-US" altLang="zh-CN" sz="2400" b="1" dirty="0"/>
          </a:p>
          <a:p>
            <a:pPr eaLnBrk="1" hangingPunct="1">
              <a:defRPr/>
            </a:pPr>
            <a:endParaRPr lang="en-US" altLang="zh-CN" sz="2400" b="1" dirty="0"/>
          </a:p>
          <a:p>
            <a:pPr eaLnBrk="1" hangingPunct="1">
              <a:defRPr/>
            </a:pPr>
            <a:endParaRPr lang="en-US" altLang="zh-CN" sz="2400" b="1" dirty="0"/>
          </a:p>
          <a:p>
            <a:pPr eaLnBrk="1" hangingPunct="1">
              <a:defRPr/>
            </a:pPr>
            <a:endParaRPr lang="en-US" altLang="zh-CN" sz="2400" b="1" dirty="0"/>
          </a:p>
          <a:p>
            <a:pPr eaLnBrk="1" hangingPunct="1">
              <a:defRPr/>
            </a:pPr>
            <a:endParaRPr lang="en-US" altLang="zh-CN" sz="2400" b="1" dirty="0"/>
          </a:p>
          <a:p>
            <a:pPr eaLnBrk="1" hangingPunct="1">
              <a:defRPr/>
            </a:pPr>
            <a:r>
              <a:rPr lang="en-US" altLang="zh-CN" sz="2400" b="1" dirty="0"/>
              <a:t>}</a:t>
            </a:r>
            <a:r>
              <a:rPr lang="en-US" altLang="zh-CN" sz="2400" dirty="0"/>
              <a:t> // </a:t>
            </a:r>
            <a:r>
              <a:rPr lang="en-US" altLang="zh-CN" sz="2400" dirty="0" err="1"/>
              <a:t>ListInsert_L</a:t>
            </a:r>
            <a:endParaRPr lang="en-US" altLang="zh-CN" sz="2400" dirty="0"/>
          </a:p>
        </p:txBody>
      </p:sp>
      <p:sp>
        <p:nvSpPr>
          <p:cNvPr id="982019" name="Text Box 3"/>
          <p:cNvSpPr txBox="1">
            <a:spLocks noChangeArrowheads="1"/>
          </p:cNvSpPr>
          <p:nvPr/>
        </p:nvSpPr>
        <p:spPr bwMode="auto">
          <a:xfrm>
            <a:off x="609600" y="304800"/>
            <a:ext cx="8610600" cy="517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2400" dirty="0"/>
              <a:t>     </a:t>
            </a:r>
            <a:r>
              <a:rPr lang="zh-CN" altLang="en-US" sz="2400" b="1" dirty="0">
                <a:solidFill>
                  <a:srgbClr val="04887B"/>
                </a:solidFill>
                <a:latin typeface="楷体_GB2312" charset="0"/>
                <a:ea typeface="楷体_GB2312" charset="0"/>
              </a:rPr>
              <a:t>利用上述定义的线性链表如何完成 线性表的其它操作</a:t>
            </a:r>
            <a:r>
              <a:rPr lang="zh-CN" altLang="en-US" sz="2400" b="1" dirty="0">
                <a:solidFill>
                  <a:srgbClr val="04887B"/>
                </a:solidFill>
              </a:rPr>
              <a:t> ？</a:t>
            </a:r>
            <a:endParaRPr lang="zh-CN" altLang="en-US" sz="2400" dirty="0"/>
          </a:p>
        </p:txBody>
      </p:sp>
      <p:sp>
        <p:nvSpPr>
          <p:cNvPr id="982020" name="Text Box 4"/>
          <p:cNvSpPr txBox="1">
            <a:spLocks noChangeArrowheads="1"/>
          </p:cNvSpPr>
          <p:nvPr/>
        </p:nvSpPr>
        <p:spPr bwMode="auto">
          <a:xfrm>
            <a:off x="623888" y="3505200"/>
            <a:ext cx="7393371"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400" b="1">
                <a:solidFill>
                  <a:srgbClr val="990000"/>
                </a:solidFill>
              </a:rPr>
              <a:t>if</a:t>
            </a:r>
            <a:r>
              <a:rPr lang="en-US" altLang="zh-CN" sz="2400">
                <a:solidFill>
                  <a:srgbClr val="990000"/>
                </a:solidFill>
              </a:rPr>
              <a:t> (</a:t>
            </a:r>
            <a:r>
              <a:rPr lang="en-US" altLang="zh-CN" sz="2400" b="1">
                <a:solidFill>
                  <a:srgbClr val="990000"/>
                </a:solidFill>
              </a:rPr>
              <a:t>!</a:t>
            </a:r>
            <a:r>
              <a:rPr lang="en-US" altLang="zh-CN" sz="2400">
                <a:solidFill>
                  <a:srgbClr val="990000"/>
                </a:solidFill>
              </a:rPr>
              <a:t>LocatePos (L, i-1))  </a:t>
            </a:r>
            <a:r>
              <a:rPr lang="en-US" altLang="zh-CN" sz="2400" b="1">
                <a:solidFill>
                  <a:srgbClr val="990000"/>
                </a:solidFill>
              </a:rPr>
              <a:t>return </a:t>
            </a:r>
            <a:r>
              <a:rPr lang="en-US" altLang="zh-CN" sz="2400">
                <a:solidFill>
                  <a:srgbClr val="990000"/>
                </a:solidFill>
              </a:rPr>
              <a:t>ERROR; </a:t>
            </a:r>
            <a:endParaRPr lang="en-US" altLang="zh-CN" sz="2400">
              <a:solidFill>
                <a:srgbClr val="990000"/>
              </a:solidFill>
            </a:endParaRPr>
          </a:p>
          <a:p>
            <a:pPr eaLnBrk="1" hangingPunct="1">
              <a:lnSpc>
                <a:spcPct val="120000"/>
              </a:lnSpc>
              <a:defRPr/>
            </a:pPr>
            <a:r>
              <a:rPr lang="en-US" altLang="zh-CN" sz="2400">
                <a:solidFill>
                  <a:srgbClr val="990000"/>
                </a:solidFill>
              </a:rPr>
              <a:t>                       </a:t>
            </a:r>
            <a:r>
              <a:rPr lang="en-US" altLang="zh-CN" sz="2400">
                <a:solidFill>
                  <a:srgbClr val="6600CC"/>
                </a:solidFill>
              </a:rPr>
              <a:t>// i </a:t>
            </a:r>
            <a:r>
              <a:rPr lang="zh-CN" altLang="en-US" sz="2400">
                <a:solidFill>
                  <a:srgbClr val="6600CC"/>
                </a:solidFill>
                <a:ea typeface="楷体_GB2312" charset="0"/>
              </a:rPr>
              <a:t>值不合法，第 </a:t>
            </a:r>
            <a:r>
              <a:rPr lang="en-US" altLang="zh-CN" sz="2400">
                <a:solidFill>
                  <a:srgbClr val="6600CC"/>
                </a:solidFill>
                <a:ea typeface="楷体_GB2312" charset="0"/>
              </a:rPr>
              <a:t>i-1 </a:t>
            </a:r>
            <a:r>
              <a:rPr lang="zh-CN" altLang="en-US" sz="2400">
                <a:solidFill>
                  <a:srgbClr val="6600CC"/>
                </a:solidFill>
                <a:ea typeface="楷体_GB2312" charset="0"/>
              </a:rPr>
              <a:t>个结点不存在</a:t>
            </a:r>
            <a:endParaRPr lang="zh-CN" altLang="en-US" sz="2400">
              <a:solidFill>
                <a:srgbClr val="990000"/>
              </a:solidFill>
            </a:endParaRPr>
          </a:p>
          <a:p>
            <a:pPr eaLnBrk="1" hangingPunct="1">
              <a:lnSpc>
                <a:spcPct val="120000"/>
              </a:lnSpc>
              <a:defRPr/>
            </a:pPr>
            <a:r>
              <a:rPr lang="en-US" altLang="zh-CN" sz="2400" b="1">
                <a:solidFill>
                  <a:srgbClr val="990000"/>
                </a:solidFill>
              </a:rPr>
              <a:t>if</a:t>
            </a:r>
            <a:r>
              <a:rPr lang="en-US" altLang="zh-CN" sz="2400">
                <a:solidFill>
                  <a:srgbClr val="990000"/>
                </a:solidFill>
              </a:rPr>
              <a:t> (InsAfter (L, e))  </a:t>
            </a:r>
            <a:r>
              <a:rPr lang="en-US" altLang="zh-CN" sz="2400" b="1">
                <a:solidFill>
                  <a:srgbClr val="990000"/>
                </a:solidFill>
              </a:rPr>
              <a:t>return </a:t>
            </a:r>
            <a:r>
              <a:rPr lang="en-US" altLang="zh-CN" sz="2400">
                <a:solidFill>
                  <a:srgbClr val="990000"/>
                </a:solidFill>
              </a:rPr>
              <a:t>OK;      </a:t>
            </a:r>
            <a:r>
              <a:rPr lang="en-US" altLang="zh-CN" sz="2400">
                <a:solidFill>
                  <a:srgbClr val="6600CC"/>
                </a:solidFill>
              </a:rPr>
              <a:t>// </a:t>
            </a:r>
            <a:r>
              <a:rPr lang="zh-CN" altLang="en-US" sz="2400">
                <a:solidFill>
                  <a:srgbClr val="6600CC"/>
                </a:solidFill>
                <a:ea typeface="楷体_GB2312" charset="0"/>
              </a:rPr>
              <a:t>完成</a:t>
            </a:r>
            <a:r>
              <a:rPr lang="zh-CN" altLang="en-US" sz="2400">
                <a:solidFill>
                  <a:srgbClr val="6600CC"/>
                </a:solidFill>
                <a:latin typeface="楷体_GB2312" charset="0"/>
                <a:ea typeface="楷体_GB2312" charset="0"/>
              </a:rPr>
              <a:t>插入</a:t>
            </a:r>
            <a:endParaRPr lang="zh-CN" altLang="en-US" sz="2400">
              <a:solidFill>
                <a:srgbClr val="990000"/>
              </a:solidFill>
            </a:endParaRPr>
          </a:p>
          <a:p>
            <a:pPr eaLnBrk="1" hangingPunct="1">
              <a:lnSpc>
                <a:spcPct val="120000"/>
              </a:lnSpc>
              <a:defRPr/>
            </a:pPr>
            <a:r>
              <a:rPr lang="en-US" altLang="zh-CN" sz="2400" b="1">
                <a:solidFill>
                  <a:srgbClr val="990000"/>
                </a:solidFill>
              </a:rPr>
              <a:t>else</a:t>
            </a:r>
            <a:r>
              <a:rPr lang="en-US" altLang="zh-CN" sz="2400">
                <a:solidFill>
                  <a:srgbClr val="990000"/>
                </a:solidFill>
              </a:rPr>
              <a:t> </a:t>
            </a:r>
            <a:r>
              <a:rPr lang="en-US" altLang="zh-CN" sz="2400" b="1">
                <a:solidFill>
                  <a:srgbClr val="990000"/>
                </a:solidFill>
              </a:rPr>
              <a:t>return</a:t>
            </a:r>
            <a:r>
              <a:rPr lang="en-US" altLang="zh-CN" sz="2400">
                <a:solidFill>
                  <a:srgbClr val="990000"/>
                </a:solidFill>
              </a:rPr>
              <a:t> ERROR;</a:t>
            </a:r>
            <a:endParaRPr lang="en-US" altLang="zh-CN" sz="2400">
              <a:solidFill>
                <a:srgbClr val="990000"/>
              </a:solidFill>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Text Box 2">
            <a:hlinkClick r:id="" action="ppaction://hlinkshowjump?jump=nextslide"/>
          </p:cNvPr>
          <p:cNvSpPr txBox="1">
            <a:spLocks noChangeArrowheads="1"/>
          </p:cNvSpPr>
          <p:nvPr/>
        </p:nvSpPr>
        <p:spPr bwMode="auto">
          <a:xfrm>
            <a:off x="212725" y="1495425"/>
            <a:ext cx="9355446" cy="510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3200" b="1" dirty="0">
                <a:solidFill>
                  <a:srgbClr val="660033"/>
                </a:solidFill>
              </a:rPr>
              <a:t>Status</a:t>
            </a:r>
            <a:r>
              <a:rPr lang="en-US" altLang="zh-CN" sz="3200" dirty="0">
                <a:solidFill>
                  <a:srgbClr val="660033"/>
                </a:solidFill>
              </a:rPr>
              <a:t> </a:t>
            </a:r>
            <a:r>
              <a:rPr lang="en-US" altLang="zh-CN" sz="3200" dirty="0" err="1">
                <a:solidFill>
                  <a:srgbClr val="660033"/>
                </a:solidFill>
              </a:rPr>
              <a:t>MergeList_L</a:t>
            </a:r>
            <a:r>
              <a:rPr lang="en-US" altLang="zh-CN" sz="3200" dirty="0">
                <a:solidFill>
                  <a:srgbClr val="660033"/>
                </a:solidFill>
              </a:rPr>
              <a:t>(</a:t>
            </a:r>
            <a:r>
              <a:rPr lang="en-US" altLang="zh-CN" sz="3200" dirty="0" err="1">
                <a:solidFill>
                  <a:srgbClr val="660033"/>
                </a:solidFill>
              </a:rPr>
              <a:t>LinkList</a:t>
            </a:r>
            <a:r>
              <a:rPr lang="en-US" altLang="zh-CN" sz="3200" dirty="0">
                <a:solidFill>
                  <a:srgbClr val="660033"/>
                </a:solidFill>
              </a:rPr>
              <a:t> </a:t>
            </a:r>
            <a:r>
              <a:rPr lang="en-US" altLang="zh-CN" sz="3200" b="1" dirty="0">
                <a:solidFill>
                  <a:srgbClr val="660033"/>
                </a:solidFill>
              </a:rPr>
              <a:t>&amp;</a:t>
            </a:r>
            <a:r>
              <a:rPr lang="en-US" altLang="zh-CN" sz="3200" dirty="0">
                <a:solidFill>
                  <a:srgbClr val="660033"/>
                </a:solidFill>
              </a:rPr>
              <a:t>Lc, </a:t>
            </a:r>
            <a:r>
              <a:rPr lang="en-US" altLang="zh-CN" sz="3200" dirty="0" err="1">
                <a:solidFill>
                  <a:srgbClr val="660033"/>
                </a:solidFill>
              </a:rPr>
              <a:t>LinkList</a:t>
            </a:r>
            <a:r>
              <a:rPr lang="en-US" altLang="zh-CN" sz="3200" dirty="0">
                <a:solidFill>
                  <a:srgbClr val="660033"/>
                </a:solidFill>
              </a:rPr>
              <a:t> </a:t>
            </a:r>
            <a:r>
              <a:rPr lang="en-US" altLang="zh-CN" sz="3200" b="1" dirty="0">
                <a:solidFill>
                  <a:srgbClr val="660033"/>
                </a:solidFill>
              </a:rPr>
              <a:t>&amp;</a:t>
            </a:r>
            <a:r>
              <a:rPr lang="en-US" altLang="zh-CN" sz="3200" dirty="0">
                <a:solidFill>
                  <a:srgbClr val="660033"/>
                </a:solidFill>
              </a:rPr>
              <a:t>La,</a:t>
            </a:r>
            <a:endParaRPr lang="en-US" altLang="zh-CN" sz="3200" dirty="0">
              <a:solidFill>
                <a:srgbClr val="660033"/>
              </a:solidFill>
            </a:endParaRPr>
          </a:p>
          <a:p>
            <a:pPr eaLnBrk="1" hangingPunct="1">
              <a:lnSpc>
                <a:spcPct val="110000"/>
              </a:lnSpc>
              <a:defRPr/>
            </a:pPr>
            <a:r>
              <a:rPr lang="en-US" altLang="zh-CN" sz="3200" dirty="0">
                <a:solidFill>
                  <a:srgbClr val="660033"/>
                </a:solidFill>
              </a:rPr>
              <a:t>                      </a:t>
            </a:r>
            <a:r>
              <a:rPr lang="en-US" altLang="zh-CN" sz="3200" dirty="0" err="1">
                <a:solidFill>
                  <a:srgbClr val="660033"/>
                </a:solidFill>
              </a:rPr>
              <a:t>LinkList</a:t>
            </a:r>
            <a:r>
              <a:rPr lang="en-US" altLang="zh-CN" sz="3200" dirty="0">
                <a:solidFill>
                  <a:srgbClr val="660033"/>
                </a:solidFill>
              </a:rPr>
              <a:t> </a:t>
            </a:r>
            <a:r>
              <a:rPr lang="en-US" altLang="zh-CN" sz="3200" b="1" dirty="0">
                <a:solidFill>
                  <a:srgbClr val="660033"/>
                </a:solidFill>
              </a:rPr>
              <a:t>&amp;</a:t>
            </a:r>
            <a:r>
              <a:rPr lang="en-US" altLang="zh-CN" sz="3200" dirty="0" err="1">
                <a:solidFill>
                  <a:srgbClr val="660033"/>
                </a:solidFill>
              </a:rPr>
              <a:t>Lb</a:t>
            </a:r>
            <a:r>
              <a:rPr lang="en-US" altLang="zh-CN" sz="3200" dirty="0">
                <a:solidFill>
                  <a:srgbClr val="660033"/>
                </a:solidFill>
              </a:rPr>
              <a:t> </a:t>
            </a:r>
            <a:r>
              <a:rPr lang="zh-CN" altLang="en-US" sz="3200" dirty="0">
                <a:solidFill>
                  <a:srgbClr val="660033"/>
                </a:solidFill>
              </a:rPr>
              <a:t>，</a:t>
            </a:r>
            <a:r>
              <a:rPr lang="en-US" altLang="zh-CN" sz="3200" b="1" dirty="0">
                <a:solidFill>
                  <a:srgbClr val="660033"/>
                </a:solidFill>
              </a:rPr>
              <a:t>int</a:t>
            </a:r>
            <a:r>
              <a:rPr lang="en-US" altLang="zh-CN" sz="3200" dirty="0">
                <a:solidFill>
                  <a:srgbClr val="660033"/>
                </a:solidFill>
              </a:rPr>
              <a:t> (</a:t>
            </a:r>
            <a:r>
              <a:rPr lang="en-US" altLang="zh-CN" sz="3200" b="1" dirty="0">
                <a:solidFill>
                  <a:srgbClr val="660033"/>
                </a:solidFill>
              </a:rPr>
              <a:t>*</a:t>
            </a:r>
            <a:r>
              <a:rPr lang="en-US" altLang="zh-CN" sz="3200" dirty="0">
                <a:solidFill>
                  <a:srgbClr val="660033"/>
                </a:solidFill>
              </a:rPr>
              <a:t>compare)</a:t>
            </a:r>
            <a:endParaRPr lang="en-US" altLang="zh-CN" sz="3200" dirty="0">
              <a:solidFill>
                <a:srgbClr val="660033"/>
              </a:solidFill>
            </a:endParaRPr>
          </a:p>
          <a:p>
            <a:pPr eaLnBrk="1" hangingPunct="1">
              <a:lnSpc>
                <a:spcPct val="110000"/>
              </a:lnSpc>
              <a:defRPr/>
            </a:pPr>
            <a:r>
              <a:rPr lang="en-US" altLang="zh-CN" sz="3200" dirty="0">
                <a:solidFill>
                  <a:srgbClr val="660033"/>
                </a:solidFill>
              </a:rPr>
              <a:t>                               (</a:t>
            </a:r>
            <a:r>
              <a:rPr lang="en-US" altLang="zh-CN" sz="3200" dirty="0" err="1">
                <a:solidFill>
                  <a:srgbClr val="660033"/>
                </a:solidFill>
              </a:rPr>
              <a:t>ElemType,ElemType</a:t>
            </a:r>
            <a:r>
              <a:rPr lang="en-US" altLang="zh-CN" sz="3200" dirty="0">
                <a:solidFill>
                  <a:srgbClr val="660033"/>
                </a:solidFill>
              </a:rPr>
              <a:t>))) </a:t>
            </a:r>
            <a:r>
              <a:rPr lang="en-US" altLang="zh-CN" sz="3200" b="1" dirty="0">
                <a:solidFill>
                  <a:srgbClr val="660033"/>
                </a:solidFill>
              </a:rPr>
              <a:t>{</a:t>
            </a:r>
            <a:endParaRPr lang="en-US" altLang="zh-CN" sz="3200" dirty="0">
              <a:solidFill>
                <a:srgbClr val="660033"/>
              </a:solidFill>
            </a:endParaRPr>
          </a:p>
          <a:p>
            <a:pPr eaLnBrk="1" hangingPunct="1">
              <a:lnSpc>
                <a:spcPct val="110000"/>
              </a:lnSpc>
              <a:defRPr/>
            </a:pPr>
            <a:r>
              <a:rPr lang="en-US" altLang="zh-CN" sz="2800" b="1" dirty="0">
                <a:solidFill>
                  <a:srgbClr val="660033"/>
                </a:solidFill>
              </a:rPr>
              <a:t>    </a:t>
            </a:r>
            <a:r>
              <a:rPr lang="en-US" altLang="zh-CN" sz="2800" dirty="0">
                <a:solidFill>
                  <a:srgbClr val="660033"/>
                </a:solidFill>
              </a:rPr>
              <a:t>// </a:t>
            </a:r>
            <a:r>
              <a:rPr lang="zh-CN" altLang="en-US" sz="2800" dirty="0">
                <a:solidFill>
                  <a:srgbClr val="660033"/>
                </a:solidFill>
                <a:ea typeface="楷体_GB2312" charset="0"/>
              </a:rPr>
              <a:t>归并有序表</a:t>
            </a:r>
            <a:r>
              <a:rPr lang="zh-CN" altLang="en-US" sz="2800" dirty="0">
                <a:solidFill>
                  <a:srgbClr val="660033"/>
                </a:solidFill>
              </a:rPr>
              <a:t> </a:t>
            </a:r>
            <a:r>
              <a:rPr lang="en-US" altLang="zh-CN" sz="2800" dirty="0">
                <a:solidFill>
                  <a:srgbClr val="660033"/>
                </a:solidFill>
              </a:rPr>
              <a:t>La </a:t>
            </a:r>
            <a:r>
              <a:rPr lang="zh-CN" altLang="en-US" sz="2800" dirty="0">
                <a:solidFill>
                  <a:srgbClr val="660033"/>
                </a:solidFill>
                <a:ea typeface="楷体_GB2312" charset="0"/>
              </a:rPr>
              <a:t>和</a:t>
            </a:r>
            <a:r>
              <a:rPr lang="zh-CN" altLang="en-US" sz="2800" dirty="0">
                <a:solidFill>
                  <a:srgbClr val="660033"/>
                </a:solidFill>
              </a:rPr>
              <a:t> </a:t>
            </a:r>
            <a:r>
              <a:rPr lang="en-US" altLang="zh-CN" sz="2800" dirty="0" err="1">
                <a:solidFill>
                  <a:srgbClr val="660033"/>
                </a:solidFill>
              </a:rPr>
              <a:t>Lb</a:t>
            </a:r>
            <a:r>
              <a:rPr lang="en-US" altLang="zh-CN" sz="2800" dirty="0">
                <a:solidFill>
                  <a:srgbClr val="660033"/>
                </a:solidFill>
              </a:rPr>
              <a:t> </a:t>
            </a:r>
            <a:r>
              <a:rPr lang="en-US" altLang="zh-CN" sz="2800" dirty="0">
                <a:solidFill>
                  <a:srgbClr val="660033"/>
                </a:solidFill>
                <a:latin typeface="楷体_GB2312" charset="0"/>
                <a:ea typeface="楷体_GB2312" charset="0"/>
              </a:rPr>
              <a:t>,</a:t>
            </a:r>
            <a:r>
              <a:rPr lang="zh-CN" altLang="en-US" sz="2800" dirty="0">
                <a:solidFill>
                  <a:srgbClr val="660033"/>
                </a:solidFill>
                <a:latin typeface="楷体_GB2312" charset="0"/>
                <a:ea typeface="楷体_GB2312" charset="0"/>
              </a:rPr>
              <a:t>生成新的有序表 </a:t>
            </a:r>
            <a:r>
              <a:rPr lang="en-US" altLang="zh-CN" sz="2800" dirty="0">
                <a:solidFill>
                  <a:srgbClr val="660033"/>
                </a:solidFill>
                <a:ea typeface="楷体_GB2312" charset="0"/>
              </a:rPr>
              <a:t>Lc</a:t>
            </a:r>
            <a:r>
              <a:rPr lang="en-US" altLang="zh-CN" sz="2800" dirty="0">
                <a:solidFill>
                  <a:srgbClr val="660033"/>
                </a:solidFill>
                <a:latin typeface="楷体_GB2312" charset="0"/>
                <a:ea typeface="楷体_GB2312" charset="0"/>
              </a:rPr>
              <a:t>,</a:t>
            </a:r>
            <a:endParaRPr lang="en-US" altLang="zh-CN" sz="2800" dirty="0">
              <a:solidFill>
                <a:srgbClr val="660033"/>
              </a:solidFill>
              <a:latin typeface="楷体_GB2312" charset="0"/>
              <a:ea typeface="楷体_GB2312" charset="0"/>
            </a:endParaRPr>
          </a:p>
          <a:p>
            <a:pPr eaLnBrk="1" hangingPunct="1">
              <a:lnSpc>
                <a:spcPct val="110000"/>
              </a:lnSpc>
              <a:defRPr/>
            </a:pPr>
            <a:r>
              <a:rPr lang="en-US" altLang="zh-CN" sz="2800" dirty="0">
                <a:solidFill>
                  <a:srgbClr val="660033"/>
                </a:solidFill>
                <a:latin typeface="楷体_GB2312" charset="0"/>
                <a:ea typeface="楷体_GB2312" charset="0"/>
              </a:rPr>
              <a:t>  </a:t>
            </a:r>
            <a:r>
              <a:rPr lang="en-US" altLang="zh-CN" sz="2800" dirty="0">
                <a:solidFill>
                  <a:srgbClr val="660033"/>
                </a:solidFill>
                <a:ea typeface="楷体_GB2312" charset="0"/>
              </a:rPr>
              <a:t>//</a:t>
            </a:r>
            <a:r>
              <a:rPr lang="en-US" altLang="zh-CN" sz="2800" dirty="0">
                <a:solidFill>
                  <a:srgbClr val="660033"/>
                </a:solidFill>
                <a:latin typeface="楷体_GB2312" charset="0"/>
                <a:ea typeface="楷体_GB2312" charset="0"/>
              </a:rPr>
              <a:t> </a:t>
            </a:r>
            <a:r>
              <a:rPr lang="zh-CN" altLang="en-US" sz="2800" dirty="0">
                <a:solidFill>
                  <a:srgbClr val="660033"/>
                </a:solidFill>
                <a:latin typeface="楷体_GB2312" charset="0"/>
                <a:ea typeface="楷体_GB2312" charset="0"/>
              </a:rPr>
              <a:t>并在归并之后销毁</a:t>
            </a:r>
            <a:r>
              <a:rPr lang="en-US" altLang="zh-CN" sz="2800" dirty="0">
                <a:solidFill>
                  <a:srgbClr val="660033"/>
                </a:solidFill>
                <a:ea typeface="楷体_GB2312" charset="0"/>
              </a:rPr>
              <a:t>La</a:t>
            </a:r>
            <a:r>
              <a:rPr lang="en-US" altLang="zh-CN" sz="2800" dirty="0">
                <a:solidFill>
                  <a:srgbClr val="660033"/>
                </a:solidFill>
                <a:latin typeface="楷体_GB2312" charset="0"/>
                <a:ea typeface="楷体_GB2312" charset="0"/>
              </a:rPr>
              <a:t> </a:t>
            </a:r>
            <a:r>
              <a:rPr lang="zh-CN" altLang="en-US" sz="2800" dirty="0">
                <a:solidFill>
                  <a:srgbClr val="660033"/>
                </a:solidFill>
                <a:latin typeface="楷体_GB2312" charset="0"/>
                <a:ea typeface="楷体_GB2312" charset="0"/>
              </a:rPr>
              <a:t>和 </a:t>
            </a:r>
            <a:r>
              <a:rPr lang="en-US" altLang="zh-CN" sz="2800" dirty="0" err="1">
                <a:solidFill>
                  <a:srgbClr val="660033"/>
                </a:solidFill>
                <a:ea typeface="楷体_GB2312" charset="0"/>
              </a:rPr>
              <a:t>Lb</a:t>
            </a:r>
            <a:r>
              <a:rPr lang="en-US" altLang="zh-CN" sz="2800" dirty="0">
                <a:solidFill>
                  <a:srgbClr val="660033"/>
                </a:solidFill>
                <a:latin typeface="楷体_GB2312" charset="0"/>
                <a:ea typeface="楷体_GB2312" charset="0"/>
              </a:rPr>
              <a:t>,</a:t>
            </a:r>
            <a:endParaRPr lang="en-US" altLang="zh-CN" sz="2800" dirty="0">
              <a:solidFill>
                <a:srgbClr val="660033"/>
              </a:solidFill>
              <a:latin typeface="楷体_GB2312" charset="0"/>
              <a:ea typeface="楷体_GB2312" charset="0"/>
            </a:endParaRPr>
          </a:p>
          <a:p>
            <a:pPr eaLnBrk="1" hangingPunct="1">
              <a:lnSpc>
                <a:spcPct val="110000"/>
              </a:lnSpc>
              <a:defRPr/>
            </a:pPr>
            <a:r>
              <a:rPr lang="en-US" altLang="zh-CN" sz="2800" dirty="0">
                <a:solidFill>
                  <a:srgbClr val="660033"/>
                </a:solidFill>
                <a:latin typeface="楷体_GB2312" charset="0"/>
                <a:ea typeface="楷体_GB2312" charset="0"/>
              </a:rPr>
              <a:t>  </a:t>
            </a:r>
            <a:r>
              <a:rPr lang="en-US" altLang="zh-CN" sz="2800" dirty="0">
                <a:solidFill>
                  <a:srgbClr val="660033"/>
                </a:solidFill>
                <a:ea typeface="楷体_GB2312" charset="0"/>
              </a:rPr>
              <a:t>// compare</a:t>
            </a:r>
            <a:r>
              <a:rPr lang="en-US" altLang="zh-CN" sz="2800" dirty="0">
                <a:solidFill>
                  <a:srgbClr val="660033"/>
                </a:solidFill>
                <a:latin typeface="楷体_GB2312" charset="0"/>
                <a:ea typeface="楷体_GB2312" charset="0"/>
              </a:rPr>
              <a:t> </a:t>
            </a:r>
            <a:r>
              <a:rPr lang="zh-CN" altLang="en-US" sz="2800" dirty="0">
                <a:solidFill>
                  <a:srgbClr val="660033"/>
                </a:solidFill>
                <a:latin typeface="楷体_GB2312" charset="0"/>
                <a:ea typeface="楷体_GB2312" charset="0"/>
              </a:rPr>
              <a:t>为指定的元素大小判定函数</a:t>
            </a:r>
            <a:endParaRPr lang="zh-CN" altLang="en-US" sz="2800" b="1" dirty="0">
              <a:solidFill>
                <a:srgbClr val="660033"/>
              </a:solidFill>
            </a:endParaRPr>
          </a:p>
          <a:p>
            <a:pPr eaLnBrk="1" hangingPunct="1">
              <a:lnSpc>
                <a:spcPct val="110000"/>
              </a:lnSpc>
              <a:defRPr/>
            </a:pPr>
            <a:endParaRPr lang="zh-CN" altLang="en-US" sz="2800" b="1" dirty="0">
              <a:solidFill>
                <a:srgbClr val="660033"/>
              </a:solidFill>
            </a:endParaRPr>
          </a:p>
          <a:p>
            <a:pPr eaLnBrk="1" hangingPunct="1">
              <a:lnSpc>
                <a:spcPct val="110000"/>
              </a:lnSpc>
              <a:defRPr/>
            </a:pPr>
            <a:r>
              <a:rPr lang="zh-CN" altLang="en-US" sz="2800" b="1" dirty="0">
                <a:solidFill>
                  <a:srgbClr val="660033"/>
                </a:solidFill>
              </a:rPr>
              <a:t>              </a:t>
            </a:r>
            <a:r>
              <a:rPr lang="en-US" altLang="zh-CN" sz="2800" b="1" dirty="0">
                <a:solidFill>
                  <a:srgbClr val="660033"/>
                </a:solidFill>
              </a:rPr>
              <a:t>……</a:t>
            </a:r>
            <a:endParaRPr lang="en-US" altLang="zh-CN" sz="2800" b="1" dirty="0">
              <a:solidFill>
                <a:srgbClr val="660033"/>
              </a:solidFill>
            </a:endParaRPr>
          </a:p>
          <a:p>
            <a:pPr eaLnBrk="1" hangingPunct="1">
              <a:lnSpc>
                <a:spcPct val="110000"/>
              </a:lnSpc>
              <a:defRPr/>
            </a:pPr>
            <a:endParaRPr lang="en-US" altLang="zh-CN" sz="2800" b="1" dirty="0">
              <a:solidFill>
                <a:srgbClr val="660033"/>
              </a:solidFill>
            </a:endParaRPr>
          </a:p>
          <a:p>
            <a:pPr eaLnBrk="1" hangingPunct="1">
              <a:lnSpc>
                <a:spcPct val="110000"/>
              </a:lnSpc>
              <a:defRPr/>
            </a:pPr>
            <a:r>
              <a:rPr lang="en-US" altLang="zh-CN" sz="3200" b="1" dirty="0">
                <a:solidFill>
                  <a:srgbClr val="660033"/>
                </a:solidFill>
              </a:rPr>
              <a:t>}</a:t>
            </a:r>
            <a:r>
              <a:rPr lang="en-US" altLang="zh-CN" sz="3200" dirty="0">
                <a:solidFill>
                  <a:srgbClr val="660033"/>
                </a:solidFill>
              </a:rPr>
              <a:t> // </a:t>
            </a:r>
            <a:r>
              <a:rPr lang="en-US" altLang="zh-CN" sz="3200" dirty="0" err="1">
                <a:solidFill>
                  <a:srgbClr val="660033"/>
                </a:solidFill>
              </a:rPr>
              <a:t>MergeList_L</a:t>
            </a:r>
            <a:endParaRPr lang="en-US" altLang="zh-CN" sz="2800" dirty="0">
              <a:solidFill>
                <a:srgbClr val="660033"/>
              </a:solidFill>
            </a:endParaRPr>
          </a:p>
        </p:txBody>
      </p:sp>
      <p:sp>
        <p:nvSpPr>
          <p:cNvPr id="983043" name="Text Box 3"/>
          <p:cNvSpPr txBox="1">
            <a:spLocks noChangeArrowheads="1"/>
          </p:cNvSpPr>
          <p:nvPr/>
        </p:nvSpPr>
        <p:spPr bwMode="auto">
          <a:xfrm>
            <a:off x="1676400" y="319088"/>
            <a:ext cx="1524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zh-CN" altLang="en-US" sz="3200" b="1">
                <a:latin typeface="隶书" panose="02010509060101010101" charset="-122"/>
                <a:ea typeface="隶书" panose="02010509060101010101" charset="-122"/>
              </a:rPr>
              <a:t>例二</a:t>
            </a:r>
            <a:endParaRPr lang="zh-CN" altLang="en-US" sz="3200" b="1">
              <a:latin typeface="隶书" panose="02010509060101010101" charset="-122"/>
              <a:ea typeface="隶书" panose="02010509060101010101" charset="-122"/>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066" name="Text Box 2"/>
          <p:cNvSpPr txBox="1">
            <a:spLocks noChangeArrowheads="1"/>
          </p:cNvSpPr>
          <p:nvPr/>
        </p:nvSpPr>
        <p:spPr bwMode="auto">
          <a:xfrm>
            <a:off x="-32320" y="990600"/>
            <a:ext cx="7984878" cy="558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35000"/>
              </a:lnSpc>
              <a:defRPr/>
            </a:pPr>
            <a:r>
              <a:rPr lang="en-US" altLang="zh-CN" sz="2400" b="1"/>
              <a:t>if </a:t>
            </a:r>
            <a:r>
              <a:rPr lang="en-US" altLang="zh-CN" sz="2400"/>
              <a:t>( </a:t>
            </a:r>
            <a:r>
              <a:rPr lang="en-US" altLang="zh-CN" sz="2400" b="1"/>
              <a:t>!</a:t>
            </a:r>
            <a:r>
              <a:rPr lang="en-US" altLang="zh-CN" sz="2400">
                <a:solidFill>
                  <a:srgbClr val="CC0066"/>
                </a:solidFill>
              </a:rPr>
              <a:t>InitList(Lc)</a:t>
            </a:r>
            <a:r>
              <a:rPr lang="en-US" altLang="zh-CN" sz="2400"/>
              <a:t>)  </a:t>
            </a:r>
            <a:r>
              <a:rPr lang="en-US" altLang="zh-CN" sz="2400" b="1"/>
              <a:t>return</a:t>
            </a:r>
            <a:r>
              <a:rPr lang="en-US" altLang="zh-CN" sz="2400"/>
              <a:t> ERROR;    // </a:t>
            </a:r>
            <a:r>
              <a:rPr lang="zh-CN" altLang="en-US" sz="2400">
                <a:ea typeface="楷体_GB2312" charset="0"/>
              </a:rPr>
              <a:t>存储空间分配失败</a:t>
            </a:r>
            <a:endParaRPr lang="zh-CN" altLang="en-US" sz="2400"/>
          </a:p>
        </p:txBody>
      </p:sp>
      <p:sp>
        <p:nvSpPr>
          <p:cNvPr id="984067" name="Rectangle 3"/>
          <p:cNvSpPr>
            <a:spLocks noChangeArrowheads="1"/>
          </p:cNvSpPr>
          <p:nvPr/>
        </p:nvSpPr>
        <p:spPr bwMode="auto">
          <a:xfrm>
            <a:off x="-108520" y="4503738"/>
            <a:ext cx="7620997" cy="1555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35000"/>
              </a:lnSpc>
              <a:defRPr/>
            </a:pPr>
            <a:r>
              <a:rPr lang="en-US" altLang="zh-CN" sz="2400" b="1"/>
              <a:t>while</a:t>
            </a:r>
            <a:r>
              <a:rPr lang="en-US" altLang="zh-CN" sz="2400"/>
              <a:t> (</a:t>
            </a:r>
            <a:r>
              <a:rPr lang="en-US" altLang="zh-CN" sz="2400" b="1"/>
              <a:t>!</a:t>
            </a:r>
            <a:r>
              <a:rPr lang="en-US" altLang="zh-CN" sz="2400"/>
              <a:t>( a=MAXC </a:t>
            </a:r>
            <a:r>
              <a:rPr lang="en-US" altLang="zh-CN" sz="2400" b="1"/>
              <a:t>&amp;&amp; </a:t>
            </a:r>
            <a:r>
              <a:rPr lang="en-US" altLang="zh-CN" sz="2400"/>
              <a:t>b=MAXC)) </a:t>
            </a:r>
            <a:r>
              <a:rPr lang="en-US" altLang="zh-CN" sz="2400" b="1"/>
              <a:t>{</a:t>
            </a:r>
            <a:r>
              <a:rPr lang="en-US" altLang="zh-CN" sz="2400"/>
              <a:t>  // </a:t>
            </a:r>
            <a:r>
              <a:rPr lang="en-US" altLang="zh-CN" sz="2400" b="1">
                <a:solidFill>
                  <a:srgbClr val="9966FF"/>
                </a:solidFill>
              </a:rPr>
              <a:t>La </a:t>
            </a:r>
            <a:r>
              <a:rPr lang="zh-CN" altLang="en-US" sz="2400" b="1">
                <a:solidFill>
                  <a:srgbClr val="9966FF"/>
                </a:solidFill>
                <a:ea typeface="楷体_GB2312" charset="0"/>
              </a:rPr>
              <a:t>或 </a:t>
            </a:r>
            <a:r>
              <a:rPr lang="en-US" altLang="zh-CN" sz="2400" b="1">
                <a:solidFill>
                  <a:srgbClr val="9966FF"/>
                </a:solidFill>
              </a:rPr>
              <a:t>Lb </a:t>
            </a:r>
            <a:r>
              <a:rPr lang="zh-CN" altLang="en-US" sz="2400" b="1">
                <a:solidFill>
                  <a:srgbClr val="9966FF"/>
                </a:solidFill>
                <a:ea typeface="楷体_GB2312" charset="0"/>
              </a:rPr>
              <a:t>非空</a:t>
            </a:r>
            <a:endParaRPr lang="zh-CN" altLang="en-US" sz="2400"/>
          </a:p>
          <a:p>
            <a:pPr eaLnBrk="1" hangingPunct="1">
              <a:lnSpc>
                <a:spcPct val="135000"/>
              </a:lnSpc>
              <a:defRPr/>
            </a:pPr>
            <a:endParaRPr lang="zh-CN" altLang="en-US" sz="2400" b="1"/>
          </a:p>
          <a:p>
            <a:pPr eaLnBrk="1" hangingPunct="1">
              <a:lnSpc>
                <a:spcPct val="135000"/>
              </a:lnSpc>
              <a:defRPr/>
            </a:pPr>
            <a:r>
              <a:rPr lang="en-US" altLang="zh-CN" sz="2400" b="1"/>
              <a:t>}</a:t>
            </a:r>
            <a:endParaRPr lang="en-US" altLang="zh-CN" sz="2400" b="1"/>
          </a:p>
        </p:txBody>
      </p:sp>
      <p:sp>
        <p:nvSpPr>
          <p:cNvPr id="984068" name="Text Box 4">
            <a:hlinkClick r:id="" action="ppaction://hlinkshowjump?jump=nextslide"/>
          </p:cNvPr>
          <p:cNvSpPr txBox="1">
            <a:spLocks noChangeArrowheads="1"/>
          </p:cNvSpPr>
          <p:nvPr/>
        </p:nvSpPr>
        <p:spPr bwMode="auto">
          <a:xfrm>
            <a:off x="1034480" y="5076825"/>
            <a:ext cx="995785"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400" b="1">
                <a:solidFill>
                  <a:srgbClr val="FF0000"/>
                </a:solidFill>
              </a:rPr>
              <a:t>…  …</a:t>
            </a:r>
            <a:endParaRPr lang="en-US" altLang="zh-CN" sz="2400"/>
          </a:p>
        </p:txBody>
      </p:sp>
      <p:sp>
        <p:nvSpPr>
          <p:cNvPr id="984069" name="Rectangle 5"/>
          <p:cNvSpPr>
            <a:spLocks noChangeArrowheads="1"/>
          </p:cNvSpPr>
          <p:nvPr/>
        </p:nvSpPr>
        <p:spPr bwMode="auto">
          <a:xfrm>
            <a:off x="-32320" y="1600200"/>
            <a:ext cx="8991564" cy="558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35000"/>
              </a:lnSpc>
              <a:defRPr/>
            </a:pPr>
            <a:r>
              <a:rPr lang="en-US" altLang="zh-CN" sz="2400">
                <a:solidFill>
                  <a:srgbClr val="CC0066"/>
                </a:solidFill>
              </a:rPr>
              <a:t>LocatePos (La, 0);  LocatePos (Lb, 0);</a:t>
            </a:r>
            <a:r>
              <a:rPr lang="en-US" altLang="zh-CN" sz="2400"/>
              <a:t>  // </a:t>
            </a:r>
            <a:r>
              <a:rPr lang="zh-CN" altLang="en-US" sz="2400" b="1">
                <a:solidFill>
                  <a:srgbClr val="9966FF"/>
                </a:solidFill>
                <a:ea typeface="楷体_GB2312" charset="0"/>
              </a:rPr>
              <a:t>当前指针指向头结点</a:t>
            </a:r>
            <a:endParaRPr lang="zh-CN" altLang="en-US" sz="2400"/>
          </a:p>
        </p:txBody>
      </p:sp>
      <p:sp>
        <p:nvSpPr>
          <p:cNvPr id="984070" name="Rectangle 6"/>
          <p:cNvSpPr>
            <a:spLocks noChangeArrowheads="1"/>
          </p:cNvSpPr>
          <p:nvPr/>
        </p:nvSpPr>
        <p:spPr bwMode="auto">
          <a:xfrm>
            <a:off x="-32320" y="2189163"/>
            <a:ext cx="8856912" cy="2054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35000"/>
              </a:lnSpc>
              <a:defRPr/>
            </a:pPr>
            <a:r>
              <a:rPr lang="en-US" altLang="zh-CN" sz="2400" b="1" dirty="0"/>
              <a:t>if</a:t>
            </a:r>
            <a:r>
              <a:rPr lang="en-US" altLang="zh-CN" sz="2400" dirty="0"/>
              <a:t> (</a:t>
            </a:r>
            <a:r>
              <a:rPr lang="en-US" altLang="zh-CN" sz="2400" dirty="0">
                <a:solidFill>
                  <a:srgbClr val="CC0066"/>
                </a:solidFill>
              </a:rPr>
              <a:t> </a:t>
            </a:r>
            <a:r>
              <a:rPr lang="en-US" altLang="zh-CN" sz="2400" dirty="0" err="1">
                <a:solidFill>
                  <a:srgbClr val="CC0066"/>
                </a:solidFill>
              </a:rPr>
              <a:t>DelAfter</a:t>
            </a:r>
            <a:r>
              <a:rPr lang="en-US" altLang="zh-CN" sz="2400" dirty="0">
                <a:solidFill>
                  <a:srgbClr val="CC0066"/>
                </a:solidFill>
              </a:rPr>
              <a:t>( La, e)</a:t>
            </a:r>
            <a:r>
              <a:rPr lang="en-US" altLang="zh-CN" sz="2400" dirty="0"/>
              <a:t>)  a = e;        // </a:t>
            </a:r>
            <a:r>
              <a:rPr lang="zh-CN" altLang="en-US" sz="2400" b="1" dirty="0">
                <a:solidFill>
                  <a:srgbClr val="9966FF"/>
                </a:solidFill>
                <a:ea typeface="楷体_GB2312" charset="0"/>
              </a:rPr>
              <a:t>取得 </a:t>
            </a:r>
            <a:r>
              <a:rPr lang="en-US" altLang="zh-CN" sz="2400" b="1" dirty="0">
                <a:solidFill>
                  <a:srgbClr val="9966FF"/>
                </a:solidFill>
                <a:ea typeface="楷体_GB2312" charset="0"/>
              </a:rPr>
              <a:t>La </a:t>
            </a:r>
            <a:r>
              <a:rPr lang="zh-CN" altLang="en-US" sz="2400" b="1" dirty="0">
                <a:solidFill>
                  <a:srgbClr val="9966FF"/>
                </a:solidFill>
                <a:ea typeface="楷体_GB2312" charset="0"/>
              </a:rPr>
              <a:t>表中第一个元素 </a:t>
            </a:r>
            <a:r>
              <a:rPr lang="en-US" altLang="zh-CN" sz="2400" b="1" dirty="0">
                <a:solidFill>
                  <a:srgbClr val="9966FF"/>
                </a:solidFill>
                <a:ea typeface="楷体_GB2312" charset="0"/>
              </a:rPr>
              <a:t>a</a:t>
            </a:r>
            <a:endParaRPr lang="en-US" altLang="zh-CN" sz="2400" dirty="0"/>
          </a:p>
          <a:p>
            <a:pPr eaLnBrk="1" hangingPunct="1">
              <a:lnSpc>
                <a:spcPct val="135000"/>
              </a:lnSpc>
              <a:defRPr/>
            </a:pPr>
            <a:r>
              <a:rPr lang="en-US" altLang="zh-CN" sz="2400" b="1" dirty="0"/>
              <a:t>else</a:t>
            </a:r>
            <a:r>
              <a:rPr lang="en-US" altLang="zh-CN" sz="2400" dirty="0"/>
              <a:t> a = MAXC;      // MAXC</a:t>
            </a:r>
            <a:r>
              <a:rPr lang="zh-CN" altLang="en-US" sz="2400" dirty="0">
                <a:ea typeface="楷体_GB2312" charset="0"/>
              </a:rPr>
              <a:t>为常量最大值</a:t>
            </a:r>
            <a:endParaRPr lang="zh-CN" altLang="en-US" sz="2400" dirty="0"/>
          </a:p>
          <a:p>
            <a:pPr eaLnBrk="1" hangingPunct="1">
              <a:lnSpc>
                <a:spcPct val="135000"/>
              </a:lnSpc>
              <a:defRPr/>
            </a:pPr>
            <a:r>
              <a:rPr lang="en-US" altLang="zh-CN" sz="2400" b="1" dirty="0"/>
              <a:t>if</a:t>
            </a:r>
            <a:r>
              <a:rPr lang="en-US" altLang="zh-CN" sz="2400" dirty="0"/>
              <a:t> ( </a:t>
            </a:r>
            <a:r>
              <a:rPr lang="en-US" altLang="zh-CN" sz="2400" dirty="0" err="1">
                <a:solidFill>
                  <a:srgbClr val="CC0066"/>
                </a:solidFill>
              </a:rPr>
              <a:t>DelAfter</a:t>
            </a:r>
            <a:r>
              <a:rPr lang="en-US" altLang="zh-CN" sz="2400" dirty="0">
                <a:solidFill>
                  <a:srgbClr val="CC0066"/>
                </a:solidFill>
              </a:rPr>
              <a:t>( </a:t>
            </a:r>
            <a:r>
              <a:rPr lang="en-US" altLang="zh-CN" sz="2400" dirty="0" err="1">
                <a:solidFill>
                  <a:srgbClr val="CC0066"/>
                </a:solidFill>
              </a:rPr>
              <a:t>Lb</a:t>
            </a:r>
            <a:r>
              <a:rPr lang="en-US" altLang="zh-CN" sz="2400" dirty="0">
                <a:solidFill>
                  <a:srgbClr val="CC0066"/>
                </a:solidFill>
              </a:rPr>
              <a:t>, e)</a:t>
            </a:r>
            <a:r>
              <a:rPr lang="en-US" altLang="zh-CN" sz="2400" dirty="0"/>
              <a:t>)  b = e;       // </a:t>
            </a:r>
            <a:r>
              <a:rPr lang="zh-CN" altLang="en-US" sz="2400" b="1" dirty="0">
                <a:solidFill>
                  <a:srgbClr val="9966FF"/>
                </a:solidFill>
                <a:ea typeface="楷体_GB2312" charset="0"/>
              </a:rPr>
              <a:t>取得 </a:t>
            </a:r>
            <a:r>
              <a:rPr lang="en-US" altLang="zh-CN" sz="2400" b="1" dirty="0" err="1">
                <a:solidFill>
                  <a:srgbClr val="9966FF"/>
                </a:solidFill>
                <a:ea typeface="楷体_GB2312" charset="0"/>
              </a:rPr>
              <a:t>Lb</a:t>
            </a:r>
            <a:r>
              <a:rPr lang="en-US" altLang="zh-CN" sz="2400" b="1" dirty="0">
                <a:solidFill>
                  <a:srgbClr val="9966FF"/>
                </a:solidFill>
                <a:ea typeface="楷体_GB2312" charset="0"/>
              </a:rPr>
              <a:t> </a:t>
            </a:r>
            <a:r>
              <a:rPr lang="zh-CN" altLang="en-US" sz="2400" b="1" dirty="0">
                <a:solidFill>
                  <a:srgbClr val="9966FF"/>
                </a:solidFill>
                <a:ea typeface="楷体_GB2312" charset="0"/>
              </a:rPr>
              <a:t>表中第一个元素 </a:t>
            </a:r>
            <a:r>
              <a:rPr lang="en-US" altLang="zh-CN" sz="2400" b="1" dirty="0">
                <a:solidFill>
                  <a:srgbClr val="9966FF"/>
                </a:solidFill>
                <a:ea typeface="楷体_GB2312" charset="0"/>
              </a:rPr>
              <a:t>b</a:t>
            </a:r>
            <a:endParaRPr lang="en-US" altLang="zh-CN" sz="2400" dirty="0"/>
          </a:p>
          <a:p>
            <a:pPr eaLnBrk="1" hangingPunct="1">
              <a:lnSpc>
                <a:spcPct val="135000"/>
              </a:lnSpc>
              <a:defRPr/>
            </a:pPr>
            <a:r>
              <a:rPr lang="en-US" altLang="zh-CN" sz="2400" b="1" dirty="0"/>
              <a:t>else</a:t>
            </a:r>
            <a:r>
              <a:rPr lang="en-US" altLang="zh-CN" sz="2400" dirty="0"/>
              <a:t> b = MAXC;      // </a:t>
            </a:r>
            <a:r>
              <a:rPr lang="en-US" altLang="zh-CN" sz="2400" b="1" dirty="0">
                <a:solidFill>
                  <a:srgbClr val="9966FF"/>
                </a:solidFill>
              </a:rPr>
              <a:t>a </a:t>
            </a:r>
            <a:r>
              <a:rPr lang="zh-CN" altLang="en-US" sz="2400" b="1" dirty="0">
                <a:solidFill>
                  <a:srgbClr val="9966FF"/>
                </a:solidFill>
                <a:ea typeface="楷体_GB2312" charset="0"/>
              </a:rPr>
              <a:t>和 </a:t>
            </a:r>
            <a:r>
              <a:rPr lang="en-US" altLang="zh-CN" sz="2400" b="1" dirty="0">
                <a:solidFill>
                  <a:srgbClr val="9966FF"/>
                </a:solidFill>
              </a:rPr>
              <a:t>b </a:t>
            </a:r>
            <a:r>
              <a:rPr lang="zh-CN" altLang="en-US" sz="2400" b="1" dirty="0">
                <a:solidFill>
                  <a:srgbClr val="9966FF"/>
                </a:solidFill>
                <a:ea typeface="楷体_GB2312" charset="0"/>
              </a:rPr>
              <a:t>为两表中当前比较元素</a:t>
            </a:r>
            <a:endParaRPr lang="zh-CN" altLang="en-US" sz="2400" dirty="0"/>
          </a:p>
        </p:txBody>
      </p:sp>
      <p:sp>
        <p:nvSpPr>
          <p:cNvPr id="984071" name="Rectangle 7"/>
          <p:cNvSpPr>
            <a:spLocks noChangeArrowheads="1"/>
          </p:cNvSpPr>
          <p:nvPr/>
        </p:nvSpPr>
        <p:spPr bwMode="auto">
          <a:xfrm>
            <a:off x="-108520" y="5461000"/>
            <a:ext cx="8158003" cy="105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35000"/>
              </a:lnSpc>
              <a:defRPr/>
            </a:pPr>
            <a:r>
              <a:rPr lang="en-US" altLang="zh-CN" sz="2400">
                <a:solidFill>
                  <a:srgbClr val="CC0066"/>
                </a:solidFill>
              </a:rPr>
              <a:t>DestroyList(La);  DestroyList(Lb);</a:t>
            </a:r>
            <a:r>
              <a:rPr lang="en-US" altLang="zh-CN" sz="2400"/>
              <a:t>  // </a:t>
            </a:r>
            <a:r>
              <a:rPr lang="zh-CN" altLang="en-US" sz="2400" b="1">
                <a:solidFill>
                  <a:srgbClr val="9966FF"/>
                </a:solidFill>
                <a:ea typeface="楷体_GB2312" charset="0"/>
              </a:rPr>
              <a:t>销毁链表 </a:t>
            </a:r>
            <a:r>
              <a:rPr lang="en-US" altLang="zh-CN" sz="2400" b="1">
                <a:solidFill>
                  <a:srgbClr val="9966FF"/>
                </a:solidFill>
              </a:rPr>
              <a:t>La </a:t>
            </a:r>
            <a:r>
              <a:rPr lang="zh-CN" altLang="en-US" sz="2400" b="1">
                <a:solidFill>
                  <a:srgbClr val="9966FF"/>
                </a:solidFill>
                <a:ea typeface="楷体_GB2312" charset="0"/>
              </a:rPr>
              <a:t>和 </a:t>
            </a:r>
            <a:r>
              <a:rPr lang="en-US" altLang="zh-CN" sz="2400" b="1">
                <a:solidFill>
                  <a:srgbClr val="9966FF"/>
                </a:solidFill>
              </a:rPr>
              <a:t>Lb</a:t>
            </a:r>
            <a:endParaRPr lang="en-US" altLang="zh-CN" sz="2400"/>
          </a:p>
          <a:p>
            <a:pPr eaLnBrk="1" hangingPunct="1">
              <a:lnSpc>
                <a:spcPct val="135000"/>
              </a:lnSpc>
              <a:defRPr/>
            </a:pPr>
            <a:r>
              <a:rPr lang="en-US" altLang="zh-CN" sz="2400" b="1"/>
              <a:t>return</a:t>
            </a:r>
            <a:r>
              <a:rPr lang="en-US" altLang="zh-CN" sz="2400"/>
              <a:t> OK;</a:t>
            </a:r>
            <a:endParaRPr lang="en-US" altLang="zh-CN"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984066"/>
                                        </p:tgtEl>
                                        <p:attrNameLst>
                                          <p:attrName>style.visibility</p:attrName>
                                        </p:attrNameLst>
                                      </p:cBhvr>
                                      <p:to>
                                        <p:strVal val="visible"/>
                                      </p:to>
                                    </p:set>
                                    <p:animEffect transition="in" filter="wipe(left)">
                                      <p:cBhvr>
                                        <p:cTn id="7" dur="300"/>
                                        <p:tgtEl>
                                          <p:spTgt spid="9840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84069"/>
                                        </p:tgtEl>
                                        <p:attrNameLst>
                                          <p:attrName>style.visibility</p:attrName>
                                        </p:attrNameLst>
                                      </p:cBhvr>
                                      <p:to>
                                        <p:strVal val="visible"/>
                                      </p:to>
                                    </p:set>
                                    <p:animEffect transition="in" filter="wipe(left)">
                                      <p:cBhvr>
                                        <p:cTn id="12" dur="500"/>
                                        <p:tgtEl>
                                          <p:spTgt spid="9840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84070"/>
                                        </p:tgtEl>
                                        <p:attrNameLst>
                                          <p:attrName>style.visibility</p:attrName>
                                        </p:attrNameLst>
                                      </p:cBhvr>
                                      <p:to>
                                        <p:strVal val="visible"/>
                                      </p:to>
                                    </p:set>
                                    <p:animEffect transition="in" filter="wipe(left)">
                                      <p:cBhvr>
                                        <p:cTn id="17" dur="500"/>
                                        <p:tgtEl>
                                          <p:spTgt spid="9840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84067"/>
                                        </p:tgtEl>
                                        <p:attrNameLst>
                                          <p:attrName>style.visibility</p:attrName>
                                        </p:attrNameLst>
                                      </p:cBhvr>
                                      <p:to>
                                        <p:strVal val="visible"/>
                                      </p:to>
                                    </p:set>
                                    <p:animEffect transition="in" filter="wipe(left)">
                                      <p:cBhvr>
                                        <p:cTn id="22" dur="500"/>
                                        <p:tgtEl>
                                          <p:spTgt spid="984067"/>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984068"/>
                                        </p:tgtEl>
                                        <p:attrNameLst>
                                          <p:attrName>style.visibility</p:attrName>
                                        </p:attrNameLst>
                                      </p:cBhvr>
                                      <p:to>
                                        <p:strVal val="visible"/>
                                      </p:to>
                                    </p:set>
                                    <p:animEffect transition="in" filter="wipe(left)">
                                      <p:cBhvr>
                                        <p:cTn id="26" dur="500"/>
                                        <p:tgtEl>
                                          <p:spTgt spid="98406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84071"/>
                                        </p:tgtEl>
                                        <p:attrNameLst>
                                          <p:attrName>style.visibility</p:attrName>
                                        </p:attrNameLst>
                                      </p:cBhvr>
                                      <p:to>
                                        <p:strVal val="visible"/>
                                      </p:to>
                                    </p:set>
                                    <p:animEffect transition="in" filter="wipe(left)">
                                      <p:cBhvr>
                                        <p:cTn id="31" dur="500"/>
                                        <p:tgtEl>
                                          <p:spTgt spid="984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66" grpId="0" autoUpdateAnimBg="0"/>
      <p:bldP spid="984067" grpId="0" autoUpdateAnimBg="0"/>
      <p:bldP spid="984068" grpId="0" autoUpdateAnimBg="0"/>
      <p:bldP spid="984069" grpId="0" autoUpdateAnimBg="0"/>
      <p:bldP spid="984070" grpId="0" autoUpdateAnimBg="0"/>
      <p:bldP spid="984071" grpId="0"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Text Box 2"/>
          <p:cNvSpPr txBox="1">
            <a:spLocks noChangeArrowheads="1"/>
          </p:cNvSpPr>
          <p:nvPr/>
        </p:nvSpPr>
        <p:spPr bwMode="auto">
          <a:xfrm>
            <a:off x="1306513" y="179388"/>
            <a:ext cx="6157912" cy="316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4000"/>
              <a:t> </a:t>
            </a:r>
            <a:r>
              <a:rPr lang="en-US" altLang="zh-CN" sz="3200" b="1">
                <a:solidFill>
                  <a:srgbClr val="990000"/>
                </a:solidFill>
              </a:rPr>
              <a:t>if</a:t>
            </a:r>
            <a:r>
              <a:rPr lang="en-US" altLang="zh-CN" sz="3200">
                <a:solidFill>
                  <a:srgbClr val="990000"/>
                </a:solidFill>
              </a:rPr>
              <a:t> ((</a:t>
            </a:r>
            <a:r>
              <a:rPr lang="en-US" altLang="zh-CN" sz="3200" b="1">
                <a:solidFill>
                  <a:srgbClr val="990000"/>
                </a:solidFill>
              </a:rPr>
              <a:t>*</a:t>
            </a:r>
            <a:r>
              <a:rPr lang="en-US" altLang="zh-CN" sz="3200">
                <a:solidFill>
                  <a:srgbClr val="990000"/>
                </a:solidFill>
              </a:rPr>
              <a:t>compare)(a, b) </a:t>
            </a:r>
            <a:r>
              <a:rPr lang="en-US" altLang="zh-CN" sz="3200" b="1">
                <a:solidFill>
                  <a:srgbClr val="990000"/>
                </a:solidFill>
              </a:rPr>
              <a:t>&lt;=</a:t>
            </a:r>
            <a:r>
              <a:rPr lang="en-US" altLang="zh-CN" sz="3200">
                <a:solidFill>
                  <a:srgbClr val="990000"/>
                </a:solidFill>
              </a:rPr>
              <a:t>0) </a:t>
            </a:r>
            <a:r>
              <a:rPr lang="en-US" altLang="zh-CN" sz="3200" b="1">
                <a:solidFill>
                  <a:srgbClr val="990000"/>
                </a:solidFill>
              </a:rPr>
              <a:t>{</a:t>
            </a:r>
            <a:r>
              <a:rPr lang="en-US" altLang="zh-CN" sz="3200">
                <a:solidFill>
                  <a:srgbClr val="990000"/>
                </a:solidFill>
              </a:rPr>
              <a:t>  </a:t>
            </a:r>
            <a:r>
              <a:rPr lang="en-US" altLang="zh-CN" sz="3200" b="1">
                <a:solidFill>
                  <a:srgbClr val="990000"/>
                </a:solidFill>
              </a:rPr>
              <a:t>//  a≤b</a:t>
            </a:r>
            <a:endParaRPr lang="en-US" altLang="zh-CN" sz="3200">
              <a:solidFill>
                <a:srgbClr val="990000"/>
              </a:solidFill>
            </a:endParaRPr>
          </a:p>
          <a:p>
            <a:pPr eaLnBrk="1" hangingPunct="1">
              <a:lnSpc>
                <a:spcPct val="120000"/>
              </a:lnSpc>
              <a:defRPr/>
            </a:pPr>
            <a:r>
              <a:rPr lang="en-US" altLang="zh-CN" sz="3200">
                <a:solidFill>
                  <a:srgbClr val="990000"/>
                </a:solidFill>
              </a:rPr>
              <a:t>      InsAfter(Lc, a);</a:t>
            </a:r>
            <a:endParaRPr lang="en-US" altLang="zh-CN" sz="3200">
              <a:solidFill>
                <a:srgbClr val="990000"/>
              </a:solidFill>
            </a:endParaRPr>
          </a:p>
          <a:p>
            <a:pPr eaLnBrk="1" hangingPunct="1">
              <a:lnSpc>
                <a:spcPct val="120000"/>
              </a:lnSpc>
              <a:defRPr/>
            </a:pPr>
            <a:r>
              <a:rPr lang="en-US" altLang="zh-CN" sz="3200">
                <a:solidFill>
                  <a:srgbClr val="990000"/>
                </a:solidFill>
              </a:rPr>
              <a:t>      </a:t>
            </a:r>
            <a:r>
              <a:rPr lang="en-US" altLang="zh-CN" sz="3200" b="1">
                <a:solidFill>
                  <a:srgbClr val="990000"/>
                </a:solidFill>
              </a:rPr>
              <a:t>if</a:t>
            </a:r>
            <a:r>
              <a:rPr lang="en-US" altLang="zh-CN" sz="3200">
                <a:solidFill>
                  <a:srgbClr val="990000"/>
                </a:solidFill>
              </a:rPr>
              <a:t> ( DelAfter( La, e1) )    a = e1;</a:t>
            </a:r>
            <a:endParaRPr lang="en-US" altLang="zh-CN" sz="3200">
              <a:solidFill>
                <a:srgbClr val="990000"/>
              </a:solidFill>
            </a:endParaRPr>
          </a:p>
          <a:p>
            <a:pPr eaLnBrk="1" hangingPunct="1">
              <a:lnSpc>
                <a:spcPct val="120000"/>
              </a:lnSpc>
              <a:defRPr/>
            </a:pPr>
            <a:r>
              <a:rPr lang="en-US" altLang="zh-CN" sz="3200">
                <a:solidFill>
                  <a:srgbClr val="990000"/>
                </a:solidFill>
              </a:rPr>
              <a:t>      </a:t>
            </a:r>
            <a:r>
              <a:rPr lang="en-US" altLang="zh-CN" sz="3200" b="1">
                <a:solidFill>
                  <a:srgbClr val="990000"/>
                </a:solidFill>
              </a:rPr>
              <a:t>else</a:t>
            </a:r>
            <a:r>
              <a:rPr lang="en-US" altLang="zh-CN" sz="3200">
                <a:solidFill>
                  <a:srgbClr val="990000"/>
                </a:solidFill>
              </a:rPr>
              <a:t> a = MAXC;</a:t>
            </a:r>
            <a:endParaRPr lang="en-US" altLang="zh-CN" sz="3200">
              <a:solidFill>
                <a:srgbClr val="990000"/>
              </a:solidFill>
            </a:endParaRPr>
          </a:p>
          <a:p>
            <a:pPr eaLnBrk="1" hangingPunct="1">
              <a:lnSpc>
                <a:spcPct val="120000"/>
              </a:lnSpc>
              <a:defRPr/>
            </a:pPr>
            <a:r>
              <a:rPr lang="en-US" altLang="zh-CN" sz="3200" b="1">
                <a:solidFill>
                  <a:srgbClr val="990000"/>
                </a:solidFill>
              </a:rPr>
              <a:t> }</a:t>
            </a:r>
            <a:endParaRPr lang="en-US" altLang="zh-CN" sz="3200">
              <a:solidFill>
                <a:srgbClr val="990000"/>
              </a:solidFill>
            </a:endParaRPr>
          </a:p>
        </p:txBody>
      </p:sp>
      <p:sp>
        <p:nvSpPr>
          <p:cNvPr id="985092" name="Rectangle 4"/>
          <p:cNvSpPr>
            <a:spLocks noChangeArrowheads="1"/>
          </p:cNvSpPr>
          <p:nvPr/>
        </p:nvSpPr>
        <p:spPr bwMode="auto">
          <a:xfrm>
            <a:off x="1295400" y="3311525"/>
            <a:ext cx="6008688"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b="1">
                <a:solidFill>
                  <a:srgbClr val="990000"/>
                </a:solidFill>
              </a:rPr>
              <a:t>else {</a:t>
            </a:r>
            <a:r>
              <a:rPr lang="en-US" altLang="zh-CN" sz="3200">
                <a:solidFill>
                  <a:srgbClr val="990000"/>
                </a:solidFill>
              </a:rPr>
              <a:t>   </a:t>
            </a:r>
            <a:r>
              <a:rPr lang="en-US" altLang="zh-CN" sz="3200" b="1">
                <a:solidFill>
                  <a:srgbClr val="990000"/>
                </a:solidFill>
              </a:rPr>
              <a:t>//  a</a:t>
            </a:r>
            <a:r>
              <a:rPr lang="zh-CN" altLang="en-US" sz="3200" b="1">
                <a:solidFill>
                  <a:srgbClr val="990000"/>
                </a:solidFill>
              </a:rPr>
              <a:t>＞</a:t>
            </a:r>
            <a:r>
              <a:rPr lang="en-US" altLang="zh-CN" sz="3200" b="1">
                <a:solidFill>
                  <a:srgbClr val="990000"/>
                </a:solidFill>
              </a:rPr>
              <a:t>b</a:t>
            </a:r>
            <a:endParaRPr lang="en-US" altLang="zh-CN" sz="3200">
              <a:solidFill>
                <a:srgbClr val="990000"/>
              </a:solidFill>
            </a:endParaRPr>
          </a:p>
          <a:p>
            <a:pPr eaLnBrk="1" hangingPunct="1">
              <a:lnSpc>
                <a:spcPct val="120000"/>
              </a:lnSpc>
              <a:defRPr/>
            </a:pPr>
            <a:r>
              <a:rPr lang="en-US" altLang="zh-CN" sz="3200">
                <a:solidFill>
                  <a:srgbClr val="990000"/>
                </a:solidFill>
              </a:rPr>
              <a:t>      InsAfter(Lc, b);</a:t>
            </a:r>
            <a:endParaRPr lang="en-US" altLang="zh-CN" sz="3200">
              <a:solidFill>
                <a:srgbClr val="990000"/>
              </a:solidFill>
              <a:hlinkClick r:id="" action="ppaction://hlinkshowjump?jump=previousslide"/>
            </a:endParaRPr>
          </a:p>
          <a:p>
            <a:pPr eaLnBrk="1" hangingPunct="1">
              <a:lnSpc>
                <a:spcPct val="120000"/>
              </a:lnSpc>
              <a:defRPr/>
            </a:pPr>
            <a:r>
              <a:rPr lang="en-US" altLang="zh-CN" sz="3200">
                <a:solidFill>
                  <a:srgbClr val="990000"/>
                </a:solidFill>
              </a:rPr>
              <a:t>      </a:t>
            </a:r>
            <a:r>
              <a:rPr lang="en-US" altLang="zh-CN" sz="3200" b="1">
                <a:solidFill>
                  <a:srgbClr val="990000"/>
                </a:solidFill>
              </a:rPr>
              <a:t>if</a:t>
            </a:r>
            <a:r>
              <a:rPr lang="en-US" altLang="zh-CN" sz="3200">
                <a:solidFill>
                  <a:srgbClr val="990000"/>
                </a:solidFill>
              </a:rPr>
              <a:t> ( DelAfter( Lb, e1) )    b = e1;</a:t>
            </a:r>
            <a:endParaRPr lang="en-US" altLang="zh-CN" sz="3200">
              <a:solidFill>
                <a:srgbClr val="990000"/>
              </a:solidFill>
            </a:endParaRPr>
          </a:p>
          <a:p>
            <a:pPr eaLnBrk="1" hangingPunct="1">
              <a:lnSpc>
                <a:spcPct val="120000"/>
              </a:lnSpc>
              <a:defRPr/>
            </a:pPr>
            <a:r>
              <a:rPr lang="en-US" altLang="zh-CN" sz="3200">
                <a:solidFill>
                  <a:srgbClr val="990000"/>
                </a:solidFill>
              </a:rPr>
              <a:t>      </a:t>
            </a:r>
            <a:r>
              <a:rPr lang="en-US" altLang="zh-CN" sz="3200" b="1">
                <a:solidFill>
                  <a:srgbClr val="990000"/>
                </a:solidFill>
              </a:rPr>
              <a:t>else</a:t>
            </a:r>
            <a:r>
              <a:rPr lang="en-US" altLang="zh-CN" sz="3200">
                <a:solidFill>
                  <a:srgbClr val="990000"/>
                </a:solidFill>
              </a:rPr>
              <a:t>  b = MAXC;</a:t>
            </a:r>
            <a:endParaRPr lang="en-US" altLang="zh-CN" sz="3200">
              <a:solidFill>
                <a:srgbClr val="990000"/>
              </a:solidFill>
            </a:endParaRPr>
          </a:p>
          <a:p>
            <a:pPr eaLnBrk="1" hangingPunct="1">
              <a:lnSpc>
                <a:spcPct val="120000"/>
              </a:lnSpc>
              <a:defRPr/>
            </a:pPr>
            <a:r>
              <a:rPr lang="en-US" altLang="zh-CN" sz="3200">
                <a:solidFill>
                  <a:srgbClr val="990000"/>
                </a:solidFill>
              </a:rPr>
              <a:t> </a:t>
            </a:r>
            <a:r>
              <a:rPr lang="en-US" altLang="zh-CN" sz="3200" b="1">
                <a:solidFill>
                  <a:srgbClr val="990000"/>
                </a:solidFill>
              </a:rPr>
              <a:t>}</a:t>
            </a:r>
            <a:endParaRPr lang="en-US" altLang="zh-CN" sz="3200" b="1">
              <a:solidFill>
                <a:srgbClr val="99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0"/>
                                  </p:iterate>
                                  <p:childTnLst>
                                    <p:set>
                                      <p:cBhvr>
                                        <p:cTn id="6" dur="1" fill="hold">
                                          <p:stCondLst>
                                            <p:cond delay="0"/>
                                          </p:stCondLst>
                                        </p:cTn>
                                        <p:tgtEl>
                                          <p:spTgt spid="985090"/>
                                        </p:tgtEl>
                                        <p:attrNameLst>
                                          <p:attrName>style.visibility</p:attrName>
                                        </p:attrNameLst>
                                      </p:cBhvr>
                                      <p:to>
                                        <p:strVal val="visible"/>
                                      </p:to>
                                    </p:set>
                                    <p:animEffect transition="in" filter="wipe(left)">
                                      <p:cBhvr>
                                        <p:cTn id="7" dur="75"/>
                                        <p:tgtEl>
                                          <p:spTgt spid="9850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85092"/>
                                        </p:tgtEl>
                                        <p:attrNameLst>
                                          <p:attrName>style.visibility</p:attrName>
                                        </p:attrNameLst>
                                      </p:cBhvr>
                                      <p:to>
                                        <p:strVal val="visible"/>
                                      </p:to>
                                    </p:set>
                                    <p:animEffect transition="in" filter="wipe(left)">
                                      <p:cBhvr>
                                        <p:cTn id="12" dur="75"/>
                                        <p:tgtEl>
                                          <p:spTgt spid="985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090" grpId="0" autoUpdateAnimBg="0"/>
      <p:bldP spid="985092" grpId="0"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Text Box 2"/>
          <p:cNvSpPr txBox="1">
            <a:spLocks noChangeArrowheads="1"/>
          </p:cNvSpPr>
          <p:nvPr/>
        </p:nvSpPr>
        <p:spPr bwMode="auto">
          <a:xfrm>
            <a:off x="251520" y="1203325"/>
            <a:ext cx="26733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ea typeface="楷体_GB2312" charset="0"/>
              </a:rPr>
              <a:t> </a:t>
            </a:r>
            <a:r>
              <a:rPr lang="en-US" altLang="zh-CN" sz="4000" b="1">
                <a:solidFill>
                  <a:srgbClr val="CC0066"/>
                </a:solidFill>
                <a:ea typeface="楷体_GB2312" charset="0"/>
              </a:rPr>
              <a:t>1.</a:t>
            </a:r>
            <a:r>
              <a:rPr lang="zh-CN" altLang="en-US" sz="4000" b="1">
                <a:solidFill>
                  <a:srgbClr val="CC0066"/>
                </a:solidFill>
                <a:ea typeface="楷体_GB2312" charset="0"/>
              </a:rPr>
              <a:t>双向链表</a:t>
            </a:r>
            <a:endParaRPr lang="zh-CN" altLang="en-US" sz="4000" b="1">
              <a:solidFill>
                <a:srgbClr val="CC0066"/>
              </a:solidFill>
              <a:ea typeface="楷体_GB2312" charset="0"/>
            </a:endParaRPr>
          </a:p>
        </p:txBody>
      </p:sp>
      <p:sp>
        <p:nvSpPr>
          <p:cNvPr id="986115" name="Text Box 3"/>
          <p:cNvSpPr txBox="1">
            <a:spLocks noChangeArrowheads="1"/>
          </p:cNvSpPr>
          <p:nvPr/>
        </p:nvSpPr>
        <p:spPr bwMode="auto">
          <a:xfrm>
            <a:off x="937320" y="228600"/>
            <a:ext cx="52133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b="1">
                <a:solidFill>
                  <a:srgbClr val="663300"/>
                </a:solidFill>
                <a:ea typeface="隶书" panose="02010509060101010101" charset="-122"/>
              </a:rPr>
              <a:t>五、其它形式的链表</a:t>
            </a:r>
            <a:endParaRPr lang="zh-CN" altLang="en-US" sz="4800" b="1">
              <a:ea typeface="楷体_GB2312" charset="0"/>
            </a:endParaRPr>
          </a:p>
        </p:txBody>
      </p:sp>
      <p:sp>
        <p:nvSpPr>
          <p:cNvPr id="986116" name="Text Box 4"/>
          <p:cNvSpPr txBox="1">
            <a:spLocks noChangeArrowheads="1"/>
          </p:cNvSpPr>
          <p:nvPr/>
        </p:nvSpPr>
        <p:spPr bwMode="auto">
          <a:xfrm>
            <a:off x="400745" y="1828800"/>
            <a:ext cx="7699375" cy="450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05000"/>
              </a:lnSpc>
              <a:defRPr/>
            </a:pPr>
            <a:r>
              <a:rPr lang="en-US" altLang="zh-CN" sz="3600" b="1">
                <a:solidFill>
                  <a:srgbClr val="660033"/>
                </a:solidFill>
              </a:rPr>
              <a:t>typedef struct</a:t>
            </a:r>
            <a:r>
              <a:rPr lang="en-US" altLang="zh-CN" sz="3600">
                <a:solidFill>
                  <a:srgbClr val="660033"/>
                </a:solidFill>
              </a:rPr>
              <a:t>  DuLNode </a:t>
            </a:r>
            <a:r>
              <a:rPr lang="en-US" altLang="zh-CN" sz="3600" b="1">
                <a:solidFill>
                  <a:srgbClr val="660033"/>
                </a:solidFill>
              </a:rPr>
              <a:t>{</a:t>
            </a:r>
            <a:endParaRPr lang="en-US" altLang="zh-CN" sz="3600">
              <a:solidFill>
                <a:srgbClr val="660033"/>
              </a:solidFill>
            </a:endParaRPr>
          </a:p>
          <a:p>
            <a:pPr eaLnBrk="1" hangingPunct="1">
              <a:lnSpc>
                <a:spcPct val="105000"/>
              </a:lnSpc>
              <a:defRPr/>
            </a:pPr>
            <a:r>
              <a:rPr lang="en-US" altLang="zh-CN" sz="3600">
                <a:solidFill>
                  <a:srgbClr val="660033"/>
                </a:solidFill>
              </a:rPr>
              <a:t>    ElemType         data;</a:t>
            </a:r>
            <a:r>
              <a:rPr lang="en-US" altLang="zh-CN" sz="4000">
                <a:ea typeface="楷体_GB2312" charset="0"/>
              </a:rPr>
              <a:t>   </a:t>
            </a:r>
            <a:r>
              <a:rPr lang="en-US" altLang="zh-CN" sz="3200">
                <a:solidFill>
                  <a:srgbClr val="0000FF"/>
                </a:solidFill>
                <a:ea typeface="楷体_GB2312" charset="0"/>
              </a:rPr>
              <a:t>// </a:t>
            </a:r>
            <a:r>
              <a:rPr lang="zh-CN" altLang="en-US" sz="3200">
                <a:solidFill>
                  <a:srgbClr val="0000FF"/>
                </a:solidFill>
                <a:ea typeface="楷体_GB2312" charset="0"/>
              </a:rPr>
              <a:t>数据域</a:t>
            </a:r>
            <a:endParaRPr lang="zh-CN" altLang="en-US" sz="3200"/>
          </a:p>
          <a:p>
            <a:pPr eaLnBrk="1" hangingPunct="1">
              <a:lnSpc>
                <a:spcPct val="105000"/>
              </a:lnSpc>
              <a:defRPr/>
            </a:pPr>
            <a:r>
              <a:rPr lang="zh-CN" altLang="en-US" sz="4000"/>
              <a:t>    </a:t>
            </a:r>
            <a:r>
              <a:rPr lang="en-US" altLang="zh-CN" sz="3600" b="1">
                <a:solidFill>
                  <a:srgbClr val="660033"/>
                </a:solidFill>
              </a:rPr>
              <a:t>struct</a:t>
            </a:r>
            <a:r>
              <a:rPr lang="en-US" altLang="zh-CN" sz="3600">
                <a:solidFill>
                  <a:srgbClr val="660033"/>
                </a:solidFill>
              </a:rPr>
              <a:t> DuLNode   </a:t>
            </a:r>
            <a:r>
              <a:rPr lang="en-US" altLang="zh-CN" sz="3600" b="1">
                <a:solidFill>
                  <a:srgbClr val="660033"/>
                </a:solidFill>
              </a:rPr>
              <a:t>*</a:t>
            </a:r>
            <a:r>
              <a:rPr lang="en-US" altLang="zh-CN" sz="3600">
                <a:solidFill>
                  <a:srgbClr val="660033"/>
                </a:solidFill>
              </a:rPr>
              <a:t>prior;</a:t>
            </a:r>
            <a:r>
              <a:rPr lang="en-US" altLang="zh-CN" sz="4000">
                <a:solidFill>
                  <a:srgbClr val="0000FF"/>
                </a:solidFill>
                <a:ea typeface="楷体_GB2312" charset="0"/>
              </a:rPr>
              <a:t>  </a:t>
            </a:r>
            <a:endParaRPr lang="en-US" altLang="zh-CN" sz="4000">
              <a:solidFill>
                <a:srgbClr val="0000FF"/>
              </a:solidFill>
              <a:ea typeface="楷体_GB2312" charset="0"/>
            </a:endParaRPr>
          </a:p>
          <a:p>
            <a:pPr eaLnBrk="1" hangingPunct="1">
              <a:lnSpc>
                <a:spcPct val="105000"/>
              </a:lnSpc>
              <a:defRPr/>
            </a:pPr>
            <a:r>
              <a:rPr lang="en-US" altLang="zh-CN" sz="4000">
                <a:solidFill>
                  <a:srgbClr val="0000FF"/>
                </a:solidFill>
                <a:ea typeface="楷体_GB2312" charset="0"/>
              </a:rPr>
              <a:t>                               </a:t>
            </a:r>
            <a:r>
              <a:rPr lang="en-US" altLang="zh-CN" sz="3200">
                <a:solidFill>
                  <a:srgbClr val="0000FF"/>
                </a:solidFill>
                <a:ea typeface="楷体_GB2312" charset="0"/>
              </a:rPr>
              <a:t>// </a:t>
            </a:r>
            <a:r>
              <a:rPr lang="zh-CN" altLang="en-US" sz="3200">
                <a:solidFill>
                  <a:srgbClr val="0000FF"/>
                </a:solidFill>
                <a:ea typeface="楷体_GB2312" charset="0"/>
              </a:rPr>
              <a:t>指向前驱的指针域</a:t>
            </a:r>
            <a:endParaRPr lang="zh-CN" altLang="en-US" sz="4000"/>
          </a:p>
          <a:p>
            <a:pPr eaLnBrk="1" hangingPunct="1">
              <a:lnSpc>
                <a:spcPct val="105000"/>
              </a:lnSpc>
              <a:defRPr/>
            </a:pPr>
            <a:r>
              <a:rPr lang="zh-CN" altLang="en-US" sz="4000"/>
              <a:t>    </a:t>
            </a:r>
            <a:r>
              <a:rPr lang="en-US" altLang="zh-CN" sz="3600" b="1">
                <a:solidFill>
                  <a:srgbClr val="660033"/>
                </a:solidFill>
              </a:rPr>
              <a:t>struct</a:t>
            </a:r>
            <a:r>
              <a:rPr lang="en-US" altLang="zh-CN" sz="3600">
                <a:solidFill>
                  <a:srgbClr val="660033"/>
                </a:solidFill>
              </a:rPr>
              <a:t> DuLNode  *next;</a:t>
            </a:r>
            <a:r>
              <a:rPr lang="en-US" altLang="zh-CN" sz="4000">
                <a:solidFill>
                  <a:srgbClr val="0000FF"/>
                </a:solidFill>
                <a:ea typeface="楷体_GB2312" charset="0"/>
              </a:rPr>
              <a:t>  </a:t>
            </a:r>
            <a:endParaRPr lang="en-US" altLang="zh-CN" sz="4000">
              <a:solidFill>
                <a:srgbClr val="0000FF"/>
              </a:solidFill>
              <a:ea typeface="楷体_GB2312" charset="0"/>
            </a:endParaRPr>
          </a:p>
          <a:p>
            <a:pPr eaLnBrk="1" hangingPunct="1">
              <a:lnSpc>
                <a:spcPct val="105000"/>
              </a:lnSpc>
              <a:defRPr/>
            </a:pPr>
            <a:r>
              <a:rPr lang="en-US" altLang="zh-CN" sz="4000">
                <a:solidFill>
                  <a:srgbClr val="0000FF"/>
                </a:solidFill>
                <a:ea typeface="楷体_GB2312" charset="0"/>
              </a:rPr>
              <a:t>                               </a:t>
            </a:r>
            <a:r>
              <a:rPr lang="en-US" altLang="zh-CN" sz="3200">
                <a:solidFill>
                  <a:srgbClr val="0000FF"/>
                </a:solidFill>
                <a:ea typeface="楷体_GB2312" charset="0"/>
              </a:rPr>
              <a:t>//</a:t>
            </a:r>
            <a:r>
              <a:rPr lang="en-US" altLang="zh-CN" sz="3200">
                <a:ea typeface="楷体_GB2312" charset="0"/>
              </a:rPr>
              <a:t> </a:t>
            </a:r>
            <a:r>
              <a:rPr lang="zh-CN" altLang="en-US" sz="3200">
                <a:solidFill>
                  <a:srgbClr val="0000FF"/>
                </a:solidFill>
                <a:ea typeface="楷体_GB2312" charset="0"/>
              </a:rPr>
              <a:t>指向后继的指针域</a:t>
            </a:r>
            <a:endParaRPr lang="zh-CN" altLang="en-US" sz="4000"/>
          </a:p>
          <a:p>
            <a:pPr eaLnBrk="1" hangingPunct="1">
              <a:lnSpc>
                <a:spcPct val="105000"/>
              </a:lnSpc>
              <a:defRPr/>
            </a:pPr>
            <a:r>
              <a:rPr lang="en-US" altLang="zh-CN" sz="4000" b="1">
                <a:solidFill>
                  <a:srgbClr val="660033"/>
                </a:solidFill>
              </a:rPr>
              <a:t>}</a:t>
            </a:r>
            <a:r>
              <a:rPr lang="en-US" altLang="zh-CN" sz="4000">
                <a:solidFill>
                  <a:srgbClr val="660033"/>
                </a:solidFill>
              </a:rPr>
              <a:t> </a:t>
            </a:r>
            <a:r>
              <a:rPr lang="en-US" altLang="zh-CN" sz="3600">
                <a:solidFill>
                  <a:srgbClr val="660033"/>
                </a:solidFill>
              </a:rPr>
              <a:t>DuLNode, </a:t>
            </a:r>
            <a:r>
              <a:rPr lang="en-US" altLang="zh-CN" sz="3600" b="1">
                <a:solidFill>
                  <a:srgbClr val="660033"/>
                </a:solidFill>
              </a:rPr>
              <a:t>*</a:t>
            </a:r>
            <a:r>
              <a:rPr lang="en-US" altLang="zh-CN" sz="3600">
                <a:solidFill>
                  <a:srgbClr val="660033"/>
                </a:solidFill>
              </a:rPr>
              <a:t>DuLinkList</a:t>
            </a:r>
            <a:r>
              <a:rPr lang="en-US" altLang="zh-CN" sz="4000">
                <a:solidFill>
                  <a:srgbClr val="660033"/>
                </a:solidFill>
              </a:rPr>
              <a:t>;</a:t>
            </a:r>
            <a:endParaRPr lang="en-US" altLang="zh-CN"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86115"/>
                                        </p:tgtEl>
                                        <p:attrNameLst>
                                          <p:attrName>style.visibility</p:attrName>
                                        </p:attrNameLst>
                                      </p:cBhvr>
                                      <p:to>
                                        <p:strVal val="visible"/>
                                      </p:to>
                                    </p:set>
                                    <p:anim calcmode="lin" valueType="num">
                                      <p:cBhvr additive="base">
                                        <p:cTn id="7" dur="500" fill="hold"/>
                                        <p:tgtEl>
                                          <p:spTgt spid="986115"/>
                                        </p:tgtEl>
                                        <p:attrNameLst>
                                          <p:attrName>ppt_x</p:attrName>
                                        </p:attrNameLst>
                                      </p:cBhvr>
                                      <p:tavLst>
                                        <p:tav tm="0">
                                          <p:val>
                                            <p:strVal val="#ppt_x"/>
                                          </p:val>
                                        </p:tav>
                                        <p:tav tm="100000">
                                          <p:val>
                                            <p:strVal val="#ppt_x"/>
                                          </p:val>
                                        </p:tav>
                                      </p:tavLst>
                                    </p:anim>
                                    <p:anim calcmode="lin" valueType="num">
                                      <p:cBhvr additive="base">
                                        <p:cTn id="8" dur="500" fill="hold"/>
                                        <p:tgtEl>
                                          <p:spTgt spid="98611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86114"/>
                                        </p:tgtEl>
                                        <p:attrNameLst>
                                          <p:attrName>style.visibility</p:attrName>
                                        </p:attrNameLst>
                                      </p:cBhvr>
                                      <p:to>
                                        <p:strVal val="visible"/>
                                      </p:to>
                                    </p:set>
                                    <p:anim calcmode="lin" valueType="num">
                                      <p:cBhvr additive="base">
                                        <p:cTn id="13" dur="500" fill="hold"/>
                                        <p:tgtEl>
                                          <p:spTgt spid="986114"/>
                                        </p:tgtEl>
                                        <p:attrNameLst>
                                          <p:attrName>ppt_x</p:attrName>
                                        </p:attrNameLst>
                                      </p:cBhvr>
                                      <p:tavLst>
                                        <p:tav tm="0">
                                          <p:val>
                                            <p:strVal val="0-#ppt_w/2"/>
                                          </p:val>
                                        </p:tav>
                                        <p:tav tm="100000">
                                          <p:val>
                                            <p:strVal val="#ppt_x"/>
                                          </p:val>
                                        </p:tav>
                                      </p:tavLst>
                                    </p:anim>
                                    <p:anim calcmode="lin" valueType="num">
                                      <p:cBhvr additive="base">
                                        <p:cTn id="14" dur="500" fill="hold"/>
                                        <p:tgtEl>
                                          <p:spTgt spid="98611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grpId="0" nodeType="clickEffect">
                                  <p:stCondLst>
                                    <p:cond delay="0"/>
                                  </p:stCondLst>
                                  <p:childTnLst>
                                    <p:set>
                                      <p:cBhvr>
                                        <p:cTn id="18" dur="1" fill="hold">
                                          <p:stCondLst>
                                            <p:cond delay="0"/>
                                          </p:stCondLst>
                                        </p:cTn>
                                        <p:tgtEl>
                                          <p:spTgt spid="986116"/>
                                        </p:tgtEl>
                                        <p:attrNameLst>
                                          <p:attrName>style.visibility</p:attrName>
                                        </p:attrNameLst>
                                      </p:cBhvr>
                                      <p:to>
                                        <p:strVal val="visible"/>
                                      </p:to>
                                    </p:set>
                                    <p:animEffect transition="in" filter="strips(downRight)">
                                      <p:cBhvr>
                                        <p:cTn id="19" dur="500"/>
                                        <p:tgtEl>
                                          <p:spTgt spid="986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6114" grpId="0" autoUpdateAnimBg="0"/>
      <p:bldP spid="986115" grpId="0" autoUpdateAnimBg="0"/>
      <p:bldP spid="986116" grpId="0"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a:spLocks noGrp="1" noChangeArrowheads="1"/>
          </p:cNvSpPr>
          <p:nvPr>
            <p:ph type="title"/>
          </p:nvPr>
        </p:nvSpPr>
        <p:spPr>
          <a:xfrm>
            <a:off x="1651000" y="190500"/>
            <a:ext cx="7062788" cy="414338"/>
          </a:xfrm>
        </p:spPr>
        <p:txBody>
          <a:bodyPr>
            <a:normAutofit fontScale="90000"/>
          </a:bodyPr>
          <a:lstStyle/>
          <a:p>
            <a:pPr algn="ctr"/>
            <a:r>
              <a:rPr lang="zh-CN" altLang="en-US">
                <a:latin typeface="华文新魏" panose="02010800040101010101" charset="-122"/>
                <a:ea typeface="华文新魏" panose="02010800040101010101" charset="-122"/>
              </a:rPr>
              <a:t>双向链表</a:t>
            </a:r>
            <a:endParaRPr lang="en-US" altLang="zh-CN">
              <a:latin typeface="华文新魏" panose="02010800040101010101" charset="-122"/>
              <a:ea typeface="华文新魏" panose="02010800040101010101" charset="-122"/>
            </a:endParaRPr>
          </a:p>
        </p:txBody>
      </p:sp>
      <p:sp>
        <p:nvSpPr>
          <p:cNvPr id="130050" name="Rectangle 3"/>
          <p:cNvSpPr>
            <a:spLocks noGrp="1" noChangeArrowheads="1"/>
          </p:cNvSpPr>
          <p:nvPr>
            <p:ph type="body" idx="1"/>
          </p:nvPr>
        </p:nvSpPr>
        <p:spPr>
          <a:xfrm>
            <a:off x="685800" y="1473200"/>
            <a:ext cx="7924800" cy="4953000"/>
          </a:xfrm>
        </p:spPr>
        <p:txBody>
          <a:bodyPr>
            <a:normAutofit fontScale="92500" lnSpcReduction="20000"/>
          </a:bodyPr>
          <a:lstStyle/>
          <a:p>
            <a:pPr>
              <a:lnSpc>
                <a:spcPct val="105000"/>
              </a:lnSpc>
              <a:spcBef>
                <a:spcPct val="5000"/>
              </a:spcBef>
              <a:buClr>
                <a:srgbClr val="800080"/>
              </a:buClr>
              <a:buSzPct val="50000"/>
            </a:pPr>
            <a:r>
              <a:rPr lang="zh-CN" altLang="en-US" sz="3400" b="1">
                <a:ea typeface="仿宋_GB2312" panose="02010609030101010101" charset="-122"/>
              </a:rPr>
              <a:t>双向链表是指在前驱和后继方向都能游历（遍历）的线性链表。</a:t>
            </a:r>
            <a:endParaRPr lang="zh-CN" altLang="en-US" sz="3400" b="1">
              <a:ea typeface="仿宋_GB2312" panose="02010609030101010101" charset="-122"/>
            </a:endParaRPr>
          </a:p>
          <a:p>
            <a:pPr>
              <a:lnSpc>
                <a:spcPct val="105000"/>
              </a:lnSpc>
              <a:spcBef>
                <a:spcPct val="5000"/>
              </a:spcBef>
              <a:buClr>
                <a:srgbClr val="800080"/>
              </a:buClr>
              <a:buSzPct val="50000"/>
            </a:pPr>
            <a:r>
              <a:rPr lang="zh-CN" altLang="en-US" sz="3400" b="1">
                <a:ea typeface="仿宋_GB2312" panose="02010609030101010101" charset="-122"/>
              </a:rPr>
              <a:t>双向链表每个结点结构：</a:t>
            </a:r>
            <a:endParaRPr lang="zh-CN" altLang="en-US" sz="3400" b="1">
              <a:ea typeface="仿宋_GB2312" panose="02010609030101010101" charset="-122"/>
            </a:endParaRPr>
          </a:p>
          <a:p>
            <a:pPr>
              <a:lnSpc>
                <a:spcPct val="105000"/>
              </a:lnSpc>
              <a:spcBef>
                <a:spcPct val="5000"/>
              </a:spcBef>
              <a:buClr>
                <a:srgbClr val="800080"/>
              </a:buClr>
              <a:buSzPct val="50000"/>
            </a:pPr>
            <a:endParaRPr lang="zh-CN" altLang="en-US" sz="3400" b="1">
              <a:ea typeface="仿宋_GB2312" panose="02010609030101010101" charset="-122"/>
            </a:endParaRPr>
          </a:p>
          <a:p>
            <a:pPr>
              <a:lnSpc>
                <a:spcPct val="105000"/>
              </a:lnSpc>
              <a:spcBef>
                <a:spcPct val="5000"/>
              </a:spcBef>
              <a:buClr>
                <a:srgbClr val="800080"/>
              </a:buClr>
              <a:buSzPct val="50000"/>
            </a:pPr>
            <a:endParaRPr lang="zh-CN" altLang="en-US" sz="3400" b="1">
              <a:ea typeface="仿宋_GB2312" panose="02010609030101010101" charset="-122"/>
            </a:endParaRPr>
          </a:p>
          <a:p>
            <a:pPr>
              <a:lnSpc>
                <a:spcPct val="105000"/>
              </a:lnSpc>
              <a:spcBef>
                <a:spcPct val="5000"/>
              </a:spcBef>
              <a:buClr>
                <a:srgbClr val="800080"/>
              </a:buClr>
              <a:buSzPct val="50000"/>
              <a:buFontTx/>
              <a:buNone/>
            </a:pPr>
            <a:endParaRPr lang="zh-CN" altLang="en-US" sz="3400" b="1">
              <a:ea typeface="仿宋_GB2312" panose="02010609030101010101" charset="-122"/>
            </a:endParaRPr>
          </a:p>
          <a:p>
            <a:pPr>
              <a:lnSpc>
                <a:spcPct val="105000"/>
              </a:lnSpc>
              <a:spcBef>
                <a:spcPct val="5000"/>
              </a:spcBef>
              <a:buClr>
                <a:srgbClr val="800080"/>
              </a:buClr>
              <a:buSzPct val="50000"/>
              <a:buFontTx/>
              <a:buNone/>
            </a:pPr>
            <a:r>
              <a:rPr lang="zh-CN" altLang="en-US" sz="3400" b="1">
                <a:ea typeface="仿宋_GB2312" panose="02010609030101010101" charset="-122"/>
              </a:rPr>
              <a:t>         </a:t>
            </a:r>
            <a:endParaRPr lang="zh-CN" altLang="en-US" sz="3400" b="1">
              <a:ea typeface="仿宋_GB2312" panose="02010609030101010101" charset="-122"/>
            </a:endParaRPr>
          </a:p>
          <a:p>
            <a:pPr>
              <a:lnSpc>
                <a:spcPct val="105000"/>
              </a:lnSpc>
              <a:spcBef>
                <a:spcPct val="5000"/>
              </a:spcBef>
              <a:buClr>
                <a:srgbClr val="800080"/>
              </a:buClr>
              <a:buSzPct val="50000"/>
            </a:pPr>
            <a:r>
              <a:rPr lang="zh-CN" altLang="en-US" sz="3400" b="1">
                <a:ea typeface="仿宋_GB2312" panose="02010609030101010101" charset="-122"/>
              </a:rPr>
              <a:t>双向链表通常采用带表头结点的循环链表形式。</a:t>
            </a:r>
            <a:endParaRPr lang="zh-CN" altLang="en-US" sz="3400" b="1">
              <a:ea typeface="仿宋_GB2312" panose="02010609030101010101" charset="-122"/>
            </a:endParaRPr>
          </a:p>
        </p:txBody>
      </p:sp>
      <p:grpSp>
        <p:nvGrpSpPr>
          <p:cNvPr id="130051" name="Group 4"/>
          <p:cNvGrpSpPr/>
          <p:nvPr/>
        </p:nvGrpSpPr>
        <p:grpSpPr bwMode="auto">
          <a:xfrm>
            <a:off x="1905000" y="3365500"/>
            <a:ext cx="5172075" cy="1428750"/>
            <a:chOff x="1200" y="2016"/>
            <a:chExt cx="3258" cy="900"/>
          </a:xfrm>
        </p:grpSpPr>
        <p:sp>
          <p:nvSpPr>
            <p:cNvPr id="1039365" name="Rectangle 5" descr="羊皮纸"/>
            <p:cNvSpPr>
              <a:spLocks noChangeArrowheads="1"/>
            </p:cNvSpPr>
            <p:nvPr/>
          </p:nvSpPr>
          <p:spPr bwMode="auto">
            <a:xfrm>
              <a:off x="1248" y="2112"/>
              <a:ext cx="3168" cy="384"/>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9366" name="Line 6"/>
            <p:cNvSpPr>
              <a:spLocks noChangeShapeType="1"/>
            </p:cNvSpPr>
            <p:nvPr/>
          </p:nvSpPr>
          <p:spPr bwMode="auto">
            <a:xfrm>
              <a:off x="2304" y="2112"/>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9367" name="Line 7"/>
            <p:cNvSpPr>
              <a:spLocks noChangeShapeType="1"/>
            </p:cNvSpPr>
            <p:nvPr/>
          </p:nvSpPr>
          <p:spPr bwMode="auto">
            <a:xfrm flipV="1">
              <a:off x="2304" y="2016"/>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9368" name="Line 8"/>
            <p:cNvSpPr>
              <a:spLocks noChangeShapeType="1"/>
            </p:cNvSpPr>
            <p:nvPr/>
          </p:nvSpPr>
          <p:spPr bwMode="auto">
            <a:xfrm>
              <a:off x="3312" y="2112"/>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9369" name="Line 9"/>
            <p:cNvSpPr>
              <a:spLocks noChangeShapeType="1"/>
            </p:cNvSpPr>
            <p:nvPr/>
          </p:nvSpPr>
          <p:spPr bwMode="auto">
            <a:xfrm flipV="1">
              <a:off x="3312" y="2016"/>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9370" name="Text Box 10"/>
            <p:cNvSpPr txBox="1">
              <a:spLocks noChangeArrowheads="1"/>
            </p:cNvSpPr>
            <p:nvPr/>
          </p:nvSpPr>
          <p:spPr bwMode="auto">
            <a:xfrm>
              <a:off x="1200" y="2551"/>
              <a:ext cx="3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a:ea typeface="隶书" panose="02010509060101010101" charset="-122"/>
                </a:rPr>
                <a:t>前驱方向</a:t>
              </a:r>
              <a:r>
                <a:rPr lang="zh-CN" altLang="en-US" sz="2800" b="1">
                  <a:effectLst>
                    <a:outerShdw blurRad="38100" dist="38100" dir="2700000" algn="tl">
                      <a:srgbClr val="C0C0C0"/>
                    </a:outerShdw>
                  </a:effectLst>
                  <a:ea typeface="仿宋_GB2312" panose="02010609030101010101" charset="-122"/>
                </a:rPr>
                <a:t> </a:t>
              </a:r>
              <a:r>
                <a:rPr lang="zh-CN" altLang="en-US" sz="2800" b="1">
                  <a:effectLst>
                    <a:outerShdw blurRad="38100" dist="38100" dir="2700000" algn="tl">
                      <a:srgbClr val="C0C0C0"/>
                    </a:outerShdw>
                  </a:effectLst>
                  <a:ea typeface="仿宋_GB2312" panose="02010609030101010101" charset="-122"/>
                  <a:sym typeface="Wingdings" panose="05000000000000000000" pitchFamily="2" charset="2"/>
                </a:rPr>
                <a:t>          </a:t>
              </a:r>
              <a:r>
                <a:rPr lang="zh-CN" altLang="en-US" sz="3200" b="1">
                  <a:ea typeface="隶书" panose="02010509060101010101" charset="-122"/>
                  <a:sym typeface="Wingdings" panose="05000000000000000000" pitchFamily="2" charset="2"/>
                </a:rPr>
                <a:t>后继方向</a:t>
              </a:r>
              <a:endParaRPr lang="zh-CN" altLang="en-US" sz="2800" b="1">
                <a:ea typeface="隶书" panose="02010509060101010101" charset="-122"/>
                <a:sym typeface="Wingdings" panose="05000000000000000000" pitchFamily="2" charset="2"/>
              </a:endParaRPr>
            </a:p>
          </p:txBody>
        </p:sp>
        <p:sp>
          <p:nvSpPr>
            <p:cNvPr id="1039371" name="Text Box 11"/>
            <p:cNvSpPr txBox="1">
              <a:spLocks noChangeArrowheads="1"/>
            </p:cNvSpPr>
            <p:nvPr/>
          </p:nvSpPr>
          <p:spPr bwMode="auto">
            <a:xfrm>
              <a:off x="1480" y="2112"/>
              <a:ext cx="257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tx2"/>
                  </a:solidFill>
                  <a:effectLst>
                    <a:outerShdw blurRad="38100" dist="38100" dir="2700000" algn="tl">
                      <a:srgbClr val="C0C0C0"/>
                    </a:outerShdw>
                  </a:effectLst>
                  <a:ea typeface="仿宋_GB2312" panose="02010609030101010101" charset="-122"/>
                </a:rPr>
                <a:t>prior        data        next</a:t>
              </a:r>
              <a:endParaRPr lang="en-US" altLang="zh-CN" sz="3200" b="1" i="1">
                <a:solidFill>
                  <a:schemeClr val="tx2"/>
                </a:solidFill>
                <a:effectLst>
                  <a:outerShdw blurRad="38100" dist="38100" dir="2700000" algn="tl">
                    <a:srgbClr val="C0C0C0"/>
                  </a:outerShdw>
                </a:effectLst>
                <a:ea typeface="仿宋_GB2312" panose="02010609030101010101" charset="-122"/>
              </a:endParaRPr>
            </a:p>
          </p:txBody>
        </p:sp>
      </p:gr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86" name="Rectangle 2"/>
          <p:cNvSpPr>
            <a:spLocks noGrp="1" noChangeArrowheads="1"/>
          </p:cNvSpPr>
          <p:nvPr>
            <p:ph type="body" idx="1"/>
          </p:nvPr>
        </p:nvSpPr>
        <p:spPr>
          <a:xfrm>
            <a:off x="609600" y="3162300"/>
            <a:ext cx="8229600" cy="1219200"/>
          </a:xfrm>
        </p:spPr>
        <p:txBody>
          <a:bodyPr/>
          <a:lstStyle/>
          <a:p>
            <a:pPr>
              <a:lnSpc>
                <a:spcPct val="110000"/>
              </a:lnSpc>
              <a:buClr>
                <a:srgbClr val="800080"/>
              </a:buClr>
              <a:buSzPct val="50000"/>
              <a:defRPr/>
            </a:pPr>
            <a:r>
              <a:rPr lang="zh-CN" altLang="en-US" b="1">
                <a:solidFill>
                  <a:srgbClr val="0000CC"/>
                </a:solidFill>
                <a:effectLst>
                  <a:outerShdw blurRad="38100" dist="38100" dir="2700000" algn="tl">
                    <a:srgbClr val="C0C0C0"/>
                  </a:outerShdw>
                </a:effectLst>
                <a:latin typeface="Times New Roman" panose="02020603050405020304" charset="0"/>
                <a:ea typeface="仿宋_GB2312" panose="02010609030101010101" charset="-122"/>
              </a:rPr>
              <a:t>结点指向</a:t>
            </a:r>
            <a:br>
              <a:rPr lang="zh-CN" altLang="en-US" b="1">
                <a:effectLst>
                  <a:outerShdw blurRad="38100" dist="38100" dir="2700000" algn="tl">
                    <a:srgbClr val="C0C0C0"/>
                  </a:outerShdw>
                </a:effectLst>
                <a:latin typeface="Times New Roman" panose="02020603050405020304" charset="0"/>
                <a:ea typeface="仿宋_GB2312" panose="02010609030101010101" charset="-122"/>
              </a:rPr>
            </a:br>
            <a:r>
              <a:rPr lang="en-US" altLang="zh-CN" b="1">
                <a:solidFill>
                  <a:schemeClr val="tx2"/>
                </a:solidFill>
                <a:latin typeface="Times New Roman" panose="02020603050405020304" charset="0"/>
                <a:ea typeface="仿宋_GB2312" panose="02010609030101010101" charset="-122"/>
              </a:rPr>
              <a:t>p == p</a:t>
            </a:r>
            <a:r>
              <a:rPr lang="en-US" altLang="zh-CN" b="1">
                <a:solidFill>
                  <a:schemeClr val="tx2"/>
                </a:solidFill>
                <a:latin typeface="楷体_GB2312" charset="0"/>
                <a:ea typeface="楷体_GB2312" charset="0"/>
              </a:rPr>
              <a:t>-&gt;</a:t>
            </a:r>
            <a:r>
              <a:rPr lang="en-US" altLang="zh-CN" b="1">
                <a:solidFill>
                  <a:schemeClr val="tx2"/>
                </a:solidFill>
                <a:latin typeface="Times New Roman" panose="02020603050405020304" charset="0"/>
                <a:ea typeface="仿宋_GB2312" panose="02010609030101010101" charset="-122"/>
              </a:rPr>
              <a:t>prior </a:t>
            </a:r>
            <a:r>
              <a:rPr lang="en-US" altLang="zh-CN" b="1">
                <a:solidFill>
                  <a:schemeClr val="tx2"/>
                </a:solidFill>
                <a:latin typeface="楷体_GB2312" charset="0"/>
                <a:ea typeface="楷体_GB2312" charset="0"/>
              </a:rPr>
              <a:t>&gt;</a:t>
            </a:r>
            <a:r>
              <a:rPr lang="en-US" altLang="zh-CN" b="1">
                <a:solidFill>
                  <a:schemeClr val="tx2"/>
                </a:solidFill>
                <a:latin typeface="Times New Roman" panose="02020603050405020304" charset="0"/>
                <a:ea typeface="仿宋_GB2312" panose="02010609030101010101" charset="-122"/>
              </a:rPr>
              <a:t>next== p</a:t>
            </a:r>
            <a:r>
              <a:rPr lang="en-US" altLang="zh-CN" b="1">
                <a:solidFill>
                  <a:schemeClr val="tx2"/>
                </a:solidFill>
                <a:latin typeface="楷体_GB2312" charset="0"/>
                <a:ea typeface="楷体_GB2312" charset="0"/>
              </a:rPr>
              <a:t>-&gt; </a:t>
            </a:r>
            <a:r>
              <a:rPr lang="en-US" altLang="zh-CN" b="1">
                <a:solidFill>
                  <a:schemeClr val="tx2"/>
                </a:solidFill>
                <a:latin typeface="Times New Roman" panose="02020603050405020304" charset="0"/>
                <a:ea typeface="仿宋_GB2312" panose="02010609030101010101" charset="-122"/>
              </a:rPr>
              <a:t>next</a:t>
            </a:r>
            <a:r>
              <a:rPr lang="en-US" altLang="zh-CN" b="1">
                <a:solidFill>
                  <a:schemeClr val="tx2"/>
                </a:solidFill>
                <a:latin typeface="楷体_GB2312" charset="0"/>
                <a:ea typeface="楷体_GB2312" charset="0"/>
              </a:rPr>
              <a:t> &gt;</a:t>
            </a:r>
            <a:r>
              <a:rPr lang="en-US" altLang="zh-CN" b="1">
                <a:solidFill>
                  <a:schemeClr val="tx2"/>
                </a:solidFill>
                <a:latin typeface="Times New Roman" panose="02020603050405020304" charset="0"/>
                <a:ea typeface="仿宋_GB2312" panose="02010609030101010101" charset="-122"/>
              </a:rPr>
              <a:t>prior </a:t>
            </a:r>
            <a:endParaRPr lang="en-US" altLang="zh-CN" b="1">
              <a:solidFill>
                <a:schemeClr val="tx2"/>
              </a:solidFill>
              <a:latin typeface="Times New Roman" panose="02020603050405020304" charset="0"/>
              <a:ea typeface="仿宋_GB2312" panose="02010609030101010101" charset="-122"/>
            </a:endParaRPr>
          </a:p>
        </p:txBody>
      </p:sp>
      <p:sp>
        <p:nvSpPr>
          <p:cNvPr id="1040387" name="Text Box 3"/>
          <p:cNvSpPr txBox="1">
            <a:spLocks noChangeArrowheads="1"/>
          </p:cNvSpPr>
          <p:nvPr/>
        </p:nvSpPr>
        <p:spPr bwMode="auto">
          <a:xfrm>
            <a:off x="2209800" y="2447925"/>
            <a:ext cx="5721350"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12947" tIns="56473" rIns="112947" bIns="56473">
            <a:spAutoFit/>
          </a:bodyPr>
          <a:lstStyle>
            <a:lvl1pPr defTabSz="1129030" eaLnBrk="0" hangingPunct="0">
              <a:defRPr kumimoji="1" sz="2000">
                <a:solidFill>
                  <a:schemeClr val="tx1"/>
                </a:solidFill>
                <a:latin typeface="Times New Roman" panose="02020603050405020304" charset="0"/>
                <a:ea typeface="宋体" panose="02010600030101010101" pitchFamily="2" charset="-122"/>
              </a:defRPr>
            </a:lvl1pPr>
            <a:lvl2pPr marL="565150" defTabSz="1129030" eaLnBrk="0" hangingPunct="0">
              <a:defRPr kumimoji="1" sz="2000">
                <a:solidFill>
                  <a:schemeClr val="tx1"/>
                </a:solidFill>
                <a:latin typeface="Times New Roman" panose="02020603050405020304" charset="0"/>
                <a:ea typeface="宋体" panose="02010600030101010101" pitchFamily="2" charset="-122"/>
              </a:defRPr>
            </a:lvl2pPr>
            <a:lvl3pPr marL="1129030" defTabSz="1129030" eaLnBrk="0" hangingPunct="0">
              <a:defRPr kumimoji="1" sz="2000">
                <a:solidFill>
                  <a:schemeClr val="tx1"/>
                </a:solidFill>
                <a:latin typeface="Times New Roman" panose="02020603050405020304" charset="0"/>
                <a:ea typeface="宋体" panose="02010600030101010101" pitchFamily="2" charset="-122"/>
              </a:defRPr>
            </a:lvl3pPr>
            <a:lvl4pPr marL="1694180" defTabSz="1129030" eaLnBrk="0" hangingPunct="0">
              <a:defRPr kumimoji="1" sz="2000">
                <a:solidFill>
                  <a:schemeClr val="tx1"/>
                </a:solidFill>
                <a:latin typeface="Times New Roman" panose="02020603050405020304" charset="0"/>
                <a:ea typeface="宋体" panose="02010600030101010101" pitchFamily="2" charset="-122"/>
              </a:defRPr>
            </a:lvl4pPr>
            <a:lvl5pPr marL="2259330" defTabSz="1129030" eaLnBrk="0" hangingPunct="0">
              <a:defRPr kumimoji="1" sz="2000">
                <a:solidFill>
                  <a:schemeClr val="tx1"/>
                </a:solidFill>
                <a:latin typeface="Times New Roman" panose="02020603050405020304" charset="0"/>
                <a:ea typeface="宋体" panose="02010600030101010101" pitchFamily="2" charset="-122"/>
              </a:defRPr>
            </a:lvl5pPr>
            <a:lvl6pPr marL="2716530" defTabSz="11290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3173730" defTabSz="11290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630930" defTabSz="11290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4088130" defTabSz="11290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defRPr/>
            </a:pPr>
            <a:r>
              <a:rPr lang="zh-CN" altLang="en-US" sz="3000" b="1" u="sng">
                <a:effectLst>
                  <a:outerShdw blurRad="38100" dist="38100" dir="2700000" algn="tl">
                    <a:srgbClr val="C0C0C0"/>
                  </a:outerShdw>
                </a:effectLst>
                <a:latin typeface="仿宋_GB2312" panose="02010609030101010101" charset="-122"/>
                <a:ea typeface="仿宋_GB2312" panose="02010609030101010101" charset="-122"/>
              </a:rPr>
              <a:t>非空表</a:t>
            </a:r>
            <a:r>
              <a:rPr lang="zh-CN" altLang="en-US" sz="3000" b="1">
                <a:effectLst>
                  <a:outerShdw blurRad="38100" dist="38100" dir="2700000" algn="tl">
                    <a:srgbClr val="C0C0C0"/>
                  </a:outerShdw>
                </a:effectLst>
                <a:latin typeface="仿宋_GB2312" panose="02010609030101010101" charset="-122"/>
                <a:ea typeface="仿宋_GB2312" panose="02010609030101010101" charset="-122"/>
              </a:rPr>
              <a:t>	             </a:t>
            </a:r>
            <a:r>
              <a:rPr lang="zh-CN" altLang="en-US" sz="3000" b="1" u="sng">
                <a:effectLst>
                  <a:outerShdw blurRad="38100" dist="38100" dir="2700000" algn="tl">
                    <a:srgbClr val="C0C0C0"/>
                  </a:outerShdw>
                </a:effectLst>
                <a:latin typeface="仿宋_GB2312" panose="02010609030101010101" charset="-122"/>
                <a:ea typeface="仿宋_GB2312" panose="02010609030101010101" charset="-122"/>
              </a:rPr>
              <a:t>空表</a:t>
            </a:r>
            <a:endParaRPr lang="zh-CN" altLang="en-US" sz="3000" b="1">
              <a:effectLst>
                <a:outerShdw blurRad="38100" dist="38100" dir="2700000" algn="tl">
                  <a:srgbClr val="C0C0C0"/>
                </a:outerShdw>
              </a:effectLst>
            </a:endParaRPr>
          </a:p>
        </p:txBody>
      </p:sp>
      <p:grpSp>
        <p:nvGrpSpPr>
          <p:cNvPr id="131075" name="Group 4"/>
          <p:cNvGrpSpPr/>
          <p:nvPr/>
        </p:nvGrpSpPr>
        <p:grpSpPr bwMode="auto">
          <a:xfrm>
            <a:off x="914400" y="4373563"/>
            <a:ext cx="6934200" cy="2103437"/>
            <a:chOff x="576" y="2419"/>
            <a:chExt cx="4368" cy="1325"/>
          </a:xfrm>
        </p:grpSpPr>
        <p:sp>
          <p:nvSpPr>
            <p:cNvPr id="1040389" name="Rectangle 5" descr="羊皮纸"/>
            <p:cNvSpPr>
              <a:spLocks noChangeArrowheads="1"/>
            </p:cNvSpPr>
            <p:nvPr/>
          </p:nvSpPr>
          <p:spPr bwMode="auto">
            <a:xfrm>
              <a:off x="1056" y="2880"/>
              <a:ext cx="76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390" name="Line 6"/>
            <p:cNvSpPr>
              <a:spLocks noChangeShapeType="1"/>
            </p:cNvSpPr>
            <p:nvPr/>
          </p:nvSpPr>
          <p:spPr bwMode="auto">
            <a:xfrm>
              <a:off x="1296" y="288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1" name="Line 7"/>
            <p:cNvSpPr>
              <a:spLocks noChangeShapeType="1"/>
            </p:cNvSpPr>
            <p:nvPr/>
          </p:nvSpPr>
          <p:spPr bwMode="auto">
            <a:xfrm>
              <a:off x="1584" y="288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2" name="Line 8"/>
            <p:cNvSpPr>
              <a:spLocks noChangeShapeType="1"/>
            </p:cNvSpPr>
            <p:nvPr/>
          </p:nvSpPr>
          <p:spPr bwMode="auto">
            <a:xfrm flipV="1">
              <a:off x="1296" y="2784"/>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3" name="Line 9"/>
            <p:cNvSpPr>
              <a:spLocks noChangeShapeType="1"/>
            </p:cNvSpPr>
            <p:nvPr/>
          </p:nvSpPr>
          <p:spPr bwMode="auto">
            <a:xfrm flipV="1">
              <a:off x="1584" y="2784"/>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4" name="Rectangle 10" descr="羊皮纸"/>
            <p:cNvSpPr>
              <a:spLocks noChangeArrowheads="1"/>
            </p:cNvSpPr>
            <p:nvPr/>
          </p:nvSpPr>
          <p:spPr bwMode="auto">
            <a:xfrm>
              <a:off x="2352" y="2880"/>
              <a:ext cx="76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395" name="Line 11"/>
            <p:cNvSpPr>
              <a:spLocks noChangeShapeType="1"/>
            </p:cNvSpPr>
            <p:nvPr/>
          </p:nvSpPr>
          <p:spPr bwMode="auto">
            <a:xfrm>
              <a:off x="2592" y="288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6" name="Line 12"/>
            <p:cNvSpPr>
              <a:spLocks noChangeShapeType="1"/>
            </p:cNvSpPr>
            <p:nvPr/>
          </p:nvSpPr>
          <p:spPr bwMode="auto">
            <a:xfrm>
              <a:off x="2880" y="288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7" name="Line 13"/>
            <p:cNvSpPr>
              <a:spLocks noChangeShapeType="1"/>
            </p:cNvSpPr>
            <p:nvPr/>
          </p:nvSpPr>
          <p:spPr bwMode="auto">
            <a:xfrm flipV="1">
              <a:off x="2592" y="2784"/>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8" name="Line 14"/>
            <p:cNvSpPr>
              <a:spLocks noChangeShapeType="1"/>
            </p:cNvSpPr>
            <p:nvPr/>
          </p:nvSpPr>
          <p:spPr bwMode="auto">
            <a:xfrm flipV="1">
              <a:off x="2880" y="2784"/>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9" name="Rectangle 15" descr="羊皮纸"/>
            <p:cNvSpPr>
              <a:spLocks noChangeArrowheads="1"/>
            </p:cNvSpPr>
            <p:nvPr/>
          </p:nvSpPr>
          <p:spPr bwMode="auto">
            <a:xfrm>
              <a:off x="3648" y="2880"/>
              <a:ext cx="76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400" name="Line 16"/>
            <p:cNvSpPr>
              <a:spLocks noChangeShapeType="1"/>
            </p:cNvSpPr>
            <p:nvPr/>
          </p:nvSpPr>
          <p:spPr bwMode="auto">
            <a:xfrm>
              <a:off x="3888" y="288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1" name="Line 17"/>
            <p:cNvSpPr>
              <a:spLocks noChangeShapeType="1"/>
            </p:cNvSpPr>
            <p:nvPr/>
          </p:nvSpPr>
          <p:spPr bwMode="auto">
            <a:xfrm>
              <a:off x="4176" y="288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2" name="Line 18"/>
            <p:cNvSpPr>
              <a:spLocks noChangeShapeType="1"/>
            </p:cNvSpPr>
            <p:nvPr/>
          </p:nvSpPr>
          <p:spPr bwMode="auto">
            <a:xfrm flipV="1">
              <a:off x="3888" y="2784"/>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3" name="Line 19"/>
            <p:cNvSpPr>
              <a:spLocks noChangeShapeType="1"/>
            </p:cNvSpPr>
            <p:nvPr/>
          </p:nvSpPr>
          <p:spPr bwMode="auto">
            <a:xfrm flipV="1">
              <a:off x="4176" y="2784"/>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4" name="Line 20"/>
            <p:cNvSpPr>
              <a:spLocks noChangeShapeType="1"/>
            </p:cNvSpPr>
            <p:nvPr/>
          </p:nvSpPr>
          <p:spPr bwMode="auto">
            <a:xfrm>
              <a:off x="1872" y="2928"/>
              <a:ext cx="480" cy="0"/>
            </a:xfrm>
            <a:prstGeom prst="line">
              <a:avLst/>
            </a:prstGeom>
            <a:noFill/>
            <a:ln w="38100">
              <a:solidFill>
                <a:schemeClr val="tx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5" name="Line 21"/>
            <p:cNvSpPr>
              <a:spLocks noChangeShapeType="1"/>
            </p:cNvSpPr>
            <p:nvPr/>
          </p:nvSpPr>
          <p:spPr bwMode="auto">
            <a:xfrm>
              <a:off x="576" y="2928"/>
              <a:ext cx="480" cy="0"/>
            </a:xfrm>
            <a:prstGeom prst="line">
              <a:avLst/>
            </a:prstGeom>
            <a:noFill/>
            <a:ln w="38100">
              <a:solidFill>
                <a:schemeClr val="tx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6" name="Line 22"/>
            <p:cNvSpPr>
              <a:spLocks noChangeShapeType="1"/>
            </p:cNvSpPr>
            <p:nvPr/>
          </p:nvSpPr>
          <p:spPr bwMode="auto">
            <a:xfrm>
              <a:off x="3168" y="2928"/>
              <a:ext cx="480" cy="0"/>
            </a:xfrm>
            <a:prstGeom prst="line">
              <a:avLst/>
            </a:prstGeom>
            <a:noFill/>
            <a:ln w="38100">
              <a:solidFill>
                <a:schemeClr val="tx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7" name="Line 23"/>
            <p:cNvSpPr>
              <a:spLocks noChangeShapeType="1"/>
            </p:cNvSpPr>
            <p:nvPr/>
          </p:nvSpPr>
          <p:spPr bwMode="auto">
            <a:xfrm>
              <a:off x="4464" y="2928"/>
              <a:ext cx="480" cy="0"/>
            </a:xfrm>
            <a:prstGeom prst="line">
              <a:avLst/>
            </a:prstGeom>
            <a:noFill/>
            <a:ln w="38100">
              <a:solidFill>
                <a:schemeClr val="tx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8" name="Line 24"/>
            <p:cNvSpPr>
              <a:spLocks noChangeShapeType="1"/>
            </p:cNvSpPr>
            <p:nvPr/>
          </p:nvSpPr>
          <p:spPr bwMode="auto">
            <a:xfrm>
              <a:off x="576" y="3072"/>
              <a:ext cx="480" cy="0"/>
            </a:xfrm>
            <a:prstGeom prst="line">
              <a:avLst/>
            </a:prstGeom>
            <a:noFill/>
            <a:ln w="38100">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9" name="Line 25"/>
            <p:cNvSpPr>
              <a:spLocks noChangeShapeType="1"/>
            </p:cNvSpPr>
            <p:nvPr/>
          </p:nvSpPr>
          <p:spPr bwMode="auto">
            <a:xfrm>
              <a:off x="1872" y="3072"/>
              <a:ext cx="480" cy="0"/>
            </a:xfrm>
            <a:prstGeom prst="line">
              <a:avLst/>
            </a:prstGeom>
            <a:noFill/>
            <a:ln w="38100">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10" name="Line 26"/>
            <p:cNvSpPr>
              <a:spLocks noChangeShapeType="1"/>
            </p:cNvSpPr>
            <p:nvPr/>
          </p:nvSpPr>
          <p:spPr bwMode="auto">
            <a:xfrm>
              <a:off x="3168" y="3072"/>
              <a:ext cx="480" cy="0"/>
            </a:xfrm>
            <a:prstGeom prst="line">
              <a:avLst/>
            </a:prstGeom>
            <a:noFill/>
            <a:ln w="38100">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11" name="Line 27"/>
            <p:cNvSpPr>
              <a:spLocks noChangeShapeType="1"/>
            </p:cNvSpPr>
            <p:nvPr/>
          </p:nvSpPr>
          <p:spPr bwMode="auto">
            <a:xfrm>
              <a:off x="4464" y="3072"/>
              <a:ext cx="480" cy="0"/>
            </a:xfrm>
            <a:prstGeom prst="line">
              <a:avLst/>
            </a:prstGeom>
            <a:noFill/>
            <a:ln w="38100">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12" name="Line 28"/>
            <p:cNvSpPr>
              <a:spLocks noChangeShapeType="1"/>
            </p:cNvSpPr>
            <p:nvPr/>
          </p:nvSpPr>
          <p:spPr bwMode="auto">
            <a:xfrm flipV="1">
              <a:off x="1200" y="3216"/>
              <a:ext cx="0" cy="240"/>
            </a:xfrm>
            <a:prstGeom prst="line">
              <a:avLst/>
            </a:prstGeom>
            <a:noFill/>
            <a:ln w="38100">
              <a:solidFill>
                <a:srgbClr val="00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13" name="Line 29"/>
            <p:cNvSpPr>
              <a:spLocks noChangeShapeType="1"/>
            </p:cNvSpPr>
            <p:nvPr/>
          </p:nvSpPr>
          <p:spPr bwMode="auto">
            <a:xfrm flipV="1">
              <a:off x="2496" y="3216"/>
              <a:ext cx="0" cy="240"/>
            </a:xfrm>
            <a:prstGeom prst="line">
              <a:avLst/>
            </a:prstGeom>
            <a:noFill/>
            <a:ln w="38100">
              <a:solidFill>
                <a:srgbClr val="00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14" name="Line 30"/>
            <p:cNvSpPr>
              <a:spLocks noChangeShapeType="1"/>
            </p:cNvSpPr>
            <p:nvPr/>
          </p:nvSpPr>
          <p:spPr bwMode="auto">
            <a:xfrm flipV="1">
              <a:off x="3792" y="3216"/>
              <a:ext cx="0" cy="240"/>
            </a:xfrm>
            <a:prstGeom prst="line">
              <a:avLst/>
            </a:prstGeom>
            <a:noFill/>
            <a:ln w="38100">
              <a:solidFill>
                <a:srgbClr val="00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15" name="Text Box 31"/>
            <p:cNvSpPr txBox="1">
              <a:spLocks noChangeArrowheads="1"/>
            </p:cNvSpPr>
            <p:nvPr/>
          </p:nvSpPr>
          <p:spPr bwMode="auto">
            <a:xfrm>
              <a:off x="864" y="3379"/>
              <a:ext cx="114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800080"/>
                  </a:solidFill>
                </a:rPr>
                <a:t>p</a:t>
              </a:r>
              <a:r>
                <a:rPr lang="en-US" altLang="zh-CN" sz="3200" b="1">
                  <a:solidFill>
                    <a:srgbClr val="800080"/>
                  </a:solidFill>
                  <a:latin typeface="楷体_GB2312" charset="0"/>
                  <a:ea typeface="楷体_GB2312" charset="0"/>
                </a:rPr>
                <a:t>-&gt;</a:t>
              </a:r>
              <a:r>
                <a:rPr lang="en-US" altLang="zh-CN" sz="3200" b="1">
                  <a:solidFill>
                    <a:srgbClr val="800080"/>
                  </a:solidFill>
                </a:rPr>
                <a:t>prior </a:t>
              </a:r>
              <a:endParaRPr lang="en-US" altLang="zh-CN" sz="3200" b="1">
                <a:solidFill>
                  <a:srgbClr val="800080"/>
                </a:solidFill>
              </a:endParaRPr>
            </a:p>
          </p:txBody>
        </p:sp>
        <p:sp>
          <p:nvSpPr>
            <p:cNvPr id="1040416" name="Text Box 32"/>
            <p:cNvSpPr txBox="1">
              <a:spLocks noChangeArrowheads="1"/>
            </p:cNvSpPr>
            <p:nvPr/>
          </p:nvSpPr>
          <p:spPr bwMode="auto">
            <a:xfrm>
              <a:off x="3540" y="3379"/>
              <a:ext cx="130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a:solidFill>
                    <a:srgbClr val="800080"/>
                  </a:solidFill>
                </a:rPr>
                <a:t>p</a:t>
              </a:r>
              <a:r>
                <a:rPr lang="en-US" altLang="zh-CN" sz="3200" b="1">
                  <a:solidFill>
                    <a:srgbClr val="800080"/>
                  </a:solidFill>
                  <a:latin typeface="楷体_GB2312" charset="0"/>
                  <a:ea typeface="楷体_GB2312" charset="0"/>
                </a:rPr>
                <a:t>-&gt;</a:t>
              </a:r>
              <a:r>
                <a:rPr lang="en-US" altLang="zh-CN" sz="3200" b="1">
                  <a:solidFill>
                    <a:srgbClr val="800080"/>
                  </a:solidFill>
                </a:rPr>
                <a:t>next</a:t>
              </a:r>
              <a:endParaRPr lang="en-US" altLang="zh-CN" sz="3200" b="1">
                <a:solidFill>
                  <a:srgbClr val="800080"/>
                </a:solidFill>
              </a:endParaRPr>
            </a:p>
          </p:txBody>
        </p:sp>
        <p:sp>
          <p:nvSpPr>
            <p:cNvPr id="1040417" name="Text Box 33"/>
            <p:cNvSpPr txBox="1">
              <a:spLocks noChangeArrowheads="1"/>
            </p:cNvSpPr>
            <p:nvPr/>
          </p:nvSpPr>
          <p:spPr bwMode="auto">
            <a:xfrm>
              <a:off x="2388" y="3379"/>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800080"/>
                  </a:solidFill>
                </a:rPr>
                <a:t>p</a:t>
              </a:r>
              <a:endParaRPr lang="en-US" altLang="zh-CN" sz="2400">
                <a:solidFill>
                  <a:srgbClr val="800080"/>
                </a:solidFill>
              </a:endParaRPr>
            </a:p>
          </p:txBody>
        </p:sp>
        <p:sp>
          <p:nvSpPr>
            <p:cNvPr id="1040418" name="Text Box 34"/>
            <p:cNvSpPr txBox="1">
              <a:spLocks noChangeArrowheads="1"/>
            </p:cNvSpPr>
            <p:nvPr/>
          </p:nvSpPr>
          <p:spPr bwMode="auto">
            <a:xfrm>
              <a:off x="3492" y="2419"/>
              <a:ext cx="74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800080"/>
                  </a:solidFill>
                </a:rPr>
                <a:t>prior </a:t>
              </a:r>
              <a:endParaRPr lang="en-US" altLang="zh-CN" sz="3200" b="1">
                <a:solidFill>
                  <a:srgbClr val="800080"/>
                </a:solidFill>
              </a:endParaRPr>
            </a:p>
          </p:txBody>
        </p:sp>
        <p:sp>
          <p:nvSpPr>
            <p:cNvPr id="1040419" name="Text Box 35"/>
            <p:cNvSpPr txBox="1">
              <a:spLocks noChangeArrowheads="1"/>
            </p:cNvSpPr>
            <p:nvPr/>
          </p:nvSpPr>
          <p:spPr bwMode="auto">
            <a:xfrm>
              <a:off x="1440" y="2419"/>
              <a:ext cx="58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800080"/>
                  </a:solidFill>
                </a:rPr>
                <a:t>next</a:t>
              </a:r>
              <a:endParaRPr lang="en-US" altLang="zh-CN" sz="3200" b="1">
                <a:solidFill>
                  <a:srgbClr val="800080"/>
                </a:solidFill>
              </a:endParaRPr>
            </a:p>
          </p:txBody>
        </p:sp>
      </p:grpSp>
      <p:grpSp>
        <p:nvGrpSpPr>
          <p:cNvPr id="131076" name="Group 36"/>
          <p:cNvGrpSpPr/>
          <p:nvPr/>
        </p:nvGrpSpPr>
        <p:grpSpPr bwMode="auto">
          <a:xfrm>
            <a:off x="533400" y="1384300"/>
            <a:ext cx="7848600" cy="990600"/>
            <a:chOff x="288" y="384"/>
            <a:chExt cx="4944" cy="624"/>
          </a:xfrm>
        </p:grpSpPr>
        <p:sp>
          <p:nvSpPr>
            <p:cNvPr id="1040421" name="Rectangle 37" descr="羊皮纸"/>
            <p:cNvSpPr>
              <a:spLocks noChangeArrowheads="1"/>
            </p:cNvSpPr>
            <p:nvPr/>
          </p:nvSpPr>
          <p:spPr bwMode="auto">
            <a:xfrm>
              <a:off x="960" y="576"/>
              <a:ext cx="576"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422" name="Line 38"/>
            <p:cNvSpPr>
              <a:spLocks noChangeShapeType="1"/>
            </p:cNvSpPr>
            <p:nvPr/>
          </p:nvSpPr>
          <p:spPr bwMode="auto">
            <a:xfrm>
              <a:off x="1104"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23" name="Line 39"/>
            <p:cNvSpPr>
              <a:spLocks noChangeShapeType="1"/>
            </p:cNvSpPr>
            <p:nvPr/>
          </p:nvSpPr>
          <p:spPr bwMode="auto">
            <a:xfrm>
              <a:off x="1392"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24" name="Line 40"/>
            <p:cNvSpPr>
              <a:spLocks noChangeShapeType="1"/>
            </p:cNvSpPr>
            <p:nvPr/>
          </p:nvSpPr>
          <p:spPr bwMode="auto">
            <a:xfrm flipV="1">
              <a:off x="1104"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25" name="Line 41"/>
            <p:cNvSpPr>
              <a:spLocks noChangeShapeType="1"/>
            </p:cNvSpPr>
            <p:nvPr/>
          </p:nvSpPr>
          <p:spPr bwMode="auto">
            <a:xfrm flipV="1">
              <a:off x="1392"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26" name="Rectangle 42" descr="羊皮纸"/>
            <p:cNvSpPr>
              <a:spLocks noChangeArrowheads="1"/>
            </p:cNvSpPr>
            <p:nvPr/>
          </p:nvSpPr>
          <p:spPr bwMode="auto">
            <a:xfrm>
              <a:off x="1776" y="576"/>
              <a:ext cx="576"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427" name="Line 43"/>
            <p:cNvSpPr>
              <a:spLocks noChangeShapeType="1"/>
            </p:cNvSpPr>
            <p:nvPr/>
          </p:nvSpPr>
          <p:spPr bwMode="auto">
            <a:xfrm>
              <a:off x="1920"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28" name="Line 44"/>
            <p:cNvSpPr>
              <a:spLocks noChangeShapeType="1"/>
            </p:cNvSpPr>
            <p:nvPr/>
          </p:nvSpPr>
          <p:spPr bwMode="auto">
            <a:xfrm>
              <a:off x="2208"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29" name="Line 45"/>
            <p:cNvSpPr>
              <a:spLocks noChangeShapeType="1"/>
            </p:cNvSpPr>
            <p:nvPr/>
          </p:nvSpPr>
          <p:spPr bwMode="auto">
            <a:xfrm flipV="1">
              <a:off x="1920"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0" name="Line 46"/>
            <p:cNvSpPr>
              <a:spLocks noChangeShapeType="1"/>
            </p:cNvSpPr>
            <p:nvPr/>
          </p:nvSpPr>
          <p:spPr bwMode="auto">
            <a:xfrm flipV="1">
              <a:off x="2208"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1" name="Rectangle 47" descr="羊皮纸"/>
            <p:cNvSpPr>
              <a:spLocks noChangeArrowheads="1"/>
            </p:cNvSpPr>
            <p:nvPr/>
          </p:nvSpPr>
          <p:spPr bwMode="auto">
            <a:xfrm>
              <a:off x="2832" y="576"/>
              <a:ext cx="576"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432" name="Line 48"/>
            <p:cNvSpPr>
              <a:spLocks noChangeShapeType="1"/>
            </p:cNvSpPr>
            <p:nvPr/>
          </p:nvSpPr>
          <p:spPr bwMode="auto">
            <a:xfrm>
              <a:off x="2976"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3" name="Line 49"/>
            <p:cNvSpPr>
              <a:spLocks noChangeShapeType="1"/>
            </p:cNvSpPr>
            <p:nvPr/>
          </p:nvSpPr>
          <p:spPr bwMode="auto">
            <a:xfrm>
              <a:off x="3264"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4" name="Line 50"/>
            <p:cNvSpPr>
              <a:spLocks noChangeShapeType="1"/>
            </p:cNvSpPr>
            <p:nvPr/>
          </p:nvSpPr>
          <p:spPr bwMode="auto">
            <a:xfrm flipV="1">
              <a:off x="2976"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5" name="Line 51"/>
            <p:cNvSpPr>
              <a:spLocks noChangeShapeType="1"/>
            </p:cNvSpPr>
            <p:nvPr/>
          </p:nvSpPr>
          <p:spPr bwMode="auto">
            <a:xfrm flipV="1">
              <a:off x="3264"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6" name="Rectangle 52" descr="羊皮纸"/>
            <p:cNvSpPr>
              <a:spLocks noChangeArrowheads="1"/>
            </p:cNvSpPr>
            <p:nvPr/>
          </p:nvSpPr>
          <p:spPr bwMode="auto">
            <a:xfrm>
              <a:off x="4416" y="576"/>
              <a:ext cx="576"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437" name="Line 53"/>
            <p:cNvSpPr>
              <a:spLocks noChangeShapeType="1"/>
            </p:cNvSpPr>
            <p:nvPr/>
          </p:nvSpPr>
          <p:spPr bwMode="auto">
            <a:xfrm>
              <a:off x="4560"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8" name="Line 54"/>
            <p:cNvSpPr>
              <a:spLocks noChangeShapeType="1"/>
            </p:cNvSpPr>
            <p:nvPr/>
          </p:nvSpPr>
          <p:spPr bwMode="auto">
            <a:xfrm>
              <a:off x="4848"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9" name="Line 55"/>
            <p:cNvSpPr>
              <a:spLocks noChangeShapeType="1"/>
            </p:cNvSpPr>
            <p:nvPr/>
          </p:nvSpPr>
          <p:spPr bwMode="auto">
            <a:xfrm flipV="1">
              <a:off x="4560"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0" name="Line 56"/>
            <p:cNvSpPr>
              <a:spLocks noChangeShapeType="1"/>
            </p:cNvSpPr>
            <p:nvPr/>
          </p:nvSpPr>
          <p:spPr bwMode="auto">
            <a:xfrm flipV="1">
              <a:off x="4848"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1" name="Line 57"/>
            <p:cNvSpPr>
              <a:spLocks noChangeShapeType="1"/>
            </p:cNvSpPr>
            <p:nvPr/>
          </p:nvSpPr>
          <p:spPr bwMode="auto">
            <a:xfrm>
              <a:off x="768" y="720"/>
              <a:ext cx="192"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2" name="Line 58"/>
            <p:cNvSpPr>
              <a:spLocks noChangeShapeType="1"/>
            </p:cNvSpPr>
            <p:nvPr/>
          </p:nvSpPr>
          <p:spPr bwMode="auto">
            <a:xfrm>
              <a:off x="1584" y="672"/>
              <a:ext cx="192"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3" name="Line 59"/>
            <p:cNvSpPr>
              <a:spLocks noChangeShapeType="1"/>
            </p:cNvSpPr>
            <p:nvPr/>
          </p:nvSpPr>
          <p:spPr bwMode="auto">
            <a:xfrm>
              <a:off x="2400" y="672"/>
              <a:ext cx="192"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4" name="Line 60"/>
            <p:cNvSpPr>
              <a:spLocks noChangeShapeType="1"/>
            </p:cNvSpPr>
            <p:nvPr/>
          </p:nvSpPr>
          <p:spPr bwMode="auto">
            <a:xfrm>
              <a:off x="2640" y="672"/>
              <a:ext cx="192"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5" name="Line 61"/>
            <p:cNvSpPr>
              <a:spLocks noChangeShapeType="1"/>
            </p:cNvSpPr>
            <p:nvPr/>
          </p:nvSpPr>
          <p:spPr bwMode="auto">
            <a:xfrm>
              <a:off x="3456" y="768"/>
              <a:ext cx="192" cy="0"/>
            </a:xfrm>
            <a:prstGeom prst="line">
              <a:avLst/>
            </a:prstGeom>
            <a:noFill/>
            <a:ln w="38100">
              <a:solidFill>
                <a:schemeClr val="tx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6" name="Line 62"/>
            <p:cNvSpPr>
              <a:spLocks noChangeShapeType="1"/>
            </p:cNvSpPr>
            <p:nvPr/>
          </p:nvSpPr>
          <p:spPr bwMode="auto">
            <a:xfrm>
              <a:off x="4128" y="720"/>
              <a:ext cx="288"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7" name="Line 63"/>
            <p:cNvSpPr>
              <a:spLocks noChangeShapeType="1"/>
            </p:cNvSpPr>
            <p:nvPr/>
          </p:nvSpPr>
          <p:spPr bwMode="auto">
            <a:xfrm>
              <a:off x="4224" y="624"/>
              <a:ext cx="192"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8" name="Line 64"/>
            <p:cNvSpPr>
              <a:spLocks noChangeShapeType="1"/>
            </p:cNvSpPr>
            <p:nvPr/>
          </p:nvSpPr>
          <p:spPr bwMode="auto">
            <a:xfrm>
              <a:off x="816" y="624"/>
              <a:ext cx="144"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9" name="Line 65"/>
            <p:cNvSpPr>
              <a:spLocks noChangeShapeType="1"/>
            </p:cNvSpPr>
            <p:nvPr/>
          </p:nvSpPr>
          <p:spPr bwMode="auto">
            <a:xfrm>
              <a:off x="5040" y="768"/>
              <a:ext cx="192" cy="0"/>
            </a:xfrm>
            <a:prstGeom prst="line">
              <a:avLst/>
            </a:prstGeom>
            <a:noFill/>
            <a:ln w="38100">
              <a:solidFill>
                <a:schemeClr val="tx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0" name="Line 66"/>
            <p:cNvSpPr>
              <a:spLocks noChangeShapeType="1"/>
            </p:cNvSpPr>
            <p:nvPr/>
          </p:nvSpPr>
          <p:spPr bwMode="auto">
            <a:xfrm>
              <a:off x="2640" y="768"/>
              <a:ext cx="192" cy="0"/>
            </a:xfrm>
            <a:prstGeom prst="line">
              <a:avLst/>
            </a:prstGeom>
            <a:noFill/>
            <a:ln w="38100">
              <a:solidFill>
                <a:schemeClr val="tx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1" name="Line 67"/>
            <p:cNvSpPr>
              <a:spLocks noChangeShapeType="1"/>
            </p:cNvSpPr>
            <p:nvPr/>
          </p:nvSpPr>
          <p:spPr bwMode="auto">
            <a:xfrm>
              <a:off x="2400" y="768"/>
              <a:ext cx="192" cy="0"/>
            </a:xfrm>
            <a:prstGeom prst="line">
              <a:avLst/>
            </a:prstGeom>
            <a:noFill/>
            <a:ln w="38100">
              <a:solidFill>
                <a:schemeClr val="tx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2" name="Line 68"/>
            <p:cNvSpPr>
              <a:spLocks noChangeShapeType="1"/>
            </p:cNvSpPr>
            <p:nvPr/>
          </p:nvSpPr>
          <p:spPr bwMode="auto">
            <a:xfrm>
              <a:off x="1584" y="768"/>
              <a:ext cx="192" cy="0"/>
            </a:xfrm>
            <a:prstGeom prst="line">
              <a:avLst/>
            </a:prstGeom>
            <a:noFill/>
            <a:ln w="38100">
              <a:solidFill>
                <a:schemeClr val="tx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3" name="Line 69"/>
            <p:cNvSpPr>
              <a:spLocks noChangeShapeType="1"/>
            </p:cNvSpPr>
            <p:nvPr/>
          </p:nvSpPr>
          <p:spPr bwMode="auto">
            <a:xfrm flipH="1">
              <a:off x="816" y="816"/>
              <a:ext cx="144"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4" name="Line 70"/>
            <p:cNvSpPr>
              <a:spLocks noChangeShapeType="1"/>
            </p:cNvSpPr>
            <p:nvPr/>
          </p:nvSpPr>
          <p:spPr bwMode="auto">
            <a:xfrm>
              <a:off x="816" y="816"/>
              <a:ext cx="0" cy="192"/>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5" name="Line 71"/>
            <p:cNvSpPr>
              <a:spLocks noChangeShapeType="1"/>
            </p:cNvSpPr>
            <p:nvPr/>
          </p:nvSpPr>
          <p:spPr bwMode="auto">
            <a:xfrm>
              <a:off x="816" y="1008"/>
              <a:ext cx="283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6" name="Line 72"/>
            <p:cNvSpPr>
              <a:spLocks noChangeShapeType="1"/>
            </p:cNvSpPr>
            <p:nvPr/>
          </p:nvSpPr>
          <p:spPr bwMode="auto">
            <a:xfrm>
              <a:off x="3648" y="768"/>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7" name="Line 73"/>
            <p:cNvSpPr>
              <a:spLocks noChangeShapeType="1"/>
            </p:cNvSpPr>
            <p:nvPr/>
          </p:nvSpPr>
          <p:spPr bwMode="auto">
            <a:xfrm>
              <a:off x="816" y="384"/>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8" name="Line 74"/>
            <p:cNvSpPr>
              <a:spLocks noChangeShapeType="1"/>
            </p:cNvSpPr>
            <p:nvPr/>
          </p:nvSpPr>
          <p:spPr bwMode="auto">
            <a:xfrm>
              <a:off x="816" y="384"/>
              <a:ext cx="283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9" name="Line 75"/>
            <p:cNvSpPr>
              <a:spLocks noChangeShapeType="1"/>
            </p:cNvSpPr>
            <p:nvPr/>
          </p:nvSpPr>
          <p:spPr bwMode="auto">
            <a:xfrm>
              <a:off x="3648" y="384"/>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0" name="Line 76"/>
            <p:cNvSpPr>
              <a:spLocks noChangeShapeType="1"/>
            </p:cNvSpPr>
            <p:nvPr/>
          </p:nvSpPr>
          <p:spPr bwMode="auto">
            <a:xfrm flipH="1">
              <a:off x="3456" y="624"/>
              <a:ext cx="19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1" name="Line 77"/>
            <p:cNvSpPr>
              <a:spLocks noChangeShapeType="1"/>
            </p:cNvSpPr>
            <p:nvPr/>
          </p:nvSpPr>
          <p:spPr bwMode="auto">
            <a:xfrm>
              <a:off x="4224" y="384"/>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2" name="Line 78"/>
            <p:cNvSpPr>
              <a:spLocks noChangeShapeType="1"/>
            </p:cNvSpPr>
            <p:nvPr/>
          </p:nvSpPr>
          <p:spPr bwMode="auto">
            <a:xfrm>
              <a:off x="5232" y="384"/>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3" name="Line 79"/>
            <p:cNvSpPr>
              <a:spLocks noChangeShapeType="1"/>
            </p:cNvSpPr>
            <p:nvPr/>
          </p:nvSpPr>
          <p:spPr bwMode="auto">
            <a:xfrm flipH="1">
              <a:off x="5040" y="624"/>
              <a:ext cx="19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4" name="Line 80"/>
            <p:cNvSpPr>
              <a:spLocks noChangeShapeType="1"/>
            </p:cNvSpPr>
            <p:nvPr/>
          </p:nvSpPr>
          <p:spPr bwMode="auto">
            <a:xfrm>
              <a:off x="4224" y="384"/>
              <a:ext cx="100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5" name="Line 81"/>
            <p:cNvSpPr>
              <a:spLocks noChangeShapeType="1"/>
            </p:cNvSpPr>
            <p:nvPr/>
          </p:nvSpPr>
          <p:spPr bwMode="auto">
            <a:xfrm>
              <a:off x="4224" y="816"/>
              <a:ext cx="0" cy="192"/>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6" name="Line 82"/>
            <p:cNvSpPr>
              <a:spLocks noChangeShapeType="1"/>
            </p:cNvSpPr>
            <p:nvPr/>
          </p:nvSpPr>
          <p:spPr bwMode="auto">
            <a:xfrm>
              <a:off x="4224" y="1008"/>
              <a:ext cx="100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7" name="Line 83"/>
            <p:cNvSpPr>
              <a:spLocks noChangeShapeType="1"/>
            </p:cNvSpPr>
            <p:nvPr/>
          </p:nvSpPr>
          <p:spPr bwMode="auto">
            <a:xfrm>
              <a:off x="5232" y="768"/>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8" name="Line 84"/>
            <p:cNvSpPr>
              <a:spLocks noChangeShapeType="1"/>
            </p:cNvSpPr>
            <p:nvPr/>
          </p:nvSpPr>
          <p:spPr bwMode="auto">
            <a:xfrm flipH="1">
              <a:off x="4224" y="816"/>
              <a:ext cx="19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9" name="Text Box 85"/>
            <p:cNvSpPr txBox="1">
              <a:spLocks noChangeArrowheads="1"/>
            </p:cNvSpPr>
            <p:nvPr/>
          </p:nvSpPr>
          <p:spPr bwMode="auto">
            <a:xfrm>
              <a:off x="288" y="528"/>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chemeClr val="tx2"/>
                  </a:solidFill>
                </a:rPr>
                <a:t>L</a:t>
              </a:r>
              <a:endParaRPr lang="en-US" altLang="zh-CN" sz="2400"/>
            </a:p>
          </p:txBody>
        </p:sp>
        <p:sp>
          <p:nvSpPr>
            <p:cNvPr id="1040470" name="Text Box 86"/>
            <p:cNvSpPr txBox="1">
              <a:spLocks noChangeArrowheads="1"/>
            </p:cNvSpPr>
            <p:nvPr/>
          </p:nvSpPr>
          <p:spPr bwMode="auto">
            <a:xfrm>
              <a:off x="3662" y="528"/>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chemeClr val="tx2"/>
                  </a:solidFill>
                </a:rPr>
                <a:t>L</a:t>
              </a:r>
              <a:endParaRPr lang="en-US" altLang="zh-CN" sz="2400"/>
            </a:p>
          </p:txBody>
        </p:sp>
      </p:gr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138" name="Text Box 2"/>
          <p:cNvSpPr txBox="1">
            <a:spLocks noChangeArrowheads="1"/>
          </p:cNvSpPr>
          <p:nvPr/>
        </p:nvSpPr>
        <p:spPr bwMode="auto">
          <a:xfrm>
            <a:off x="762000" y="1524000"/>
            <a:ext cx="75438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3600">
                <a:solidFill>
                  <a:srgbClr val="0000FF"/>
                </a:solidFill>
                <a:ea typeface="楷体_GB2312" charset="0"/>
              </a:rPr>
              <a:t>    最后一个结点的指针域的指针又指回第一个结点的链表</a:t>
            </a:r>
            <a:endParaRPr lang="zh-CN" altLang="en-US" sz="3600"/>
          </a:p>
        </p:txBody>
      </p:sp>
      <p:sp>
        <p:nvSpPr>
          <p:cNvPr id="987139" name="Text Box 3"/>
          <p:cNvSpPr txBox="1">
            <a:spLocks noChangeArrowheads="1"/>
          </p:cNvSpPr>
          <p:nvPr/>
        </p:nvSpPr>
        <p:spPr bwMode="auto">
          <a:xfrm>
            <a:off x="2133600" y="3352800"/>
            <a:ext cx="6934200"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4800">
                <a:ea typeface="楷体_GB2312" charset="0"/>
              </a:rPr>
              <a:t>   </a:t>
            </a:r>
            <a:r>
              <a:rPr lang="en-US" altLang="zh-CN" sz="4800">
                <a:ea typeface="楷体_GB2312" charset="0"/>
              </a:rPr>
              <a:t>a</a:t>
            </a:r>
            <a:r>
              <a:rPr lang="en-US" altLang="zh-CN" sz="4800" baseline="-25000">
                <a:ea typeface="楷体_GB2312" charset="0"/>
              </a:rPr>
              <a:t>1</a:t>
            </a:r>
            <a:r>
              <a:rPr lang="en-US" altLang="zh-CN" sz="4800">
                <a:ea typeface="楷体_GB2312" charset="0"/>
              </a:rPr>
              <a:t>       a</a:t>
            </a:r>
            <a:r>
              <a:rPr lang="en-US" altLang="zh-CN" sz="4800" baseline="-25000">
                <a:ea typeface="楷体_GB2312" charset="0"/>
              </a:rPr>
              <a:t>2</a:t>
            </a:r>
            <a:r>
              <a:rPr lang="en-US" altLang="zh-CN" sz="4800">
                <a:ea typeface="楷体_GB2312" charset="0"/>
              </a:rPr>
              <a:t>      … ...    a</a:t>
            </a:r>
            <a:r>
              <a:rPr lang="en-US" altLang="zh-CN" sz="4800" baseline="-25000">
                <a:ea typeface="楷体_GB2312" charset="0"/>
              </a:rPr>
              <a:t>n  </a:t>
            </a:r>
            <a:endParaRPr lang="en-US" altLang="zh-CN" sz="4800" baseline="-25000">
              <a:ea typeface="楷体_GB2312" charset="0"/>
            </a:endParaRPr>
          </a:p>
          <a:p>
            <a:pPr eaLnBrk="1" hangingPunct="1">
              <a:defRPr/>
            </a:pPr>
            <a:endParaRPr lang="zh-CN" altLang="en-US" sz="2400"/>
          </a:p>
        </p:txBody>
      </p:sp>
      <p:sp>
        <p:nvSpPr>
          <p:cNvPr id="987140" name="Line 4"/>
          <p:cNvSpPr>
            <a:spLocks noChangeShapeType="1"/>
          </p:cNvSpPr>
          <p:nvPr/>
        </p:nvSpPr>
        <p:spPr bwMode="auto">
          <a:xfrm>
            <a:off x="914400" y="3581400"/>
            <a:ext cx="10668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1" name="Line 5"/>
          <p:cNvSpPr>
            <a:spLocks noChangeShapeType="1"/>
          </p:cNvSpPr>
          <p:nvPr/>
        </p:nvSpPr>
        <p:spPr bwMode="auto">
          <a:xfrm>
            <a:off x="914400" y="4191000"/>
            <a:ext cx="10668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2" name="Line 6"/>
          <p:cNvSpPr>
            <a:spLocks noChangeShapeType="1"/>
          </p:cNvSpPr>
          <p:nvPr/>
        </p:nvSpPr>
        <p:spPr bwMode="auto">
          <a:xfrm>
            <a:off x="19812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3" name="Line 7"/>
          <p:cNvSpPr>
            <a:spLocks noChangeShapeType="1"/>
          </p:cNvSpPr>
          <p:nvPr/>
        </p:nvSpPr>
        <p:spPr bwMode="auto">
          <a:xfrm>
            <a:off x="9144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4" name="Line 8"/>
          <p:cNvSpPr>
            <a:spLocks noChangeShapeType="1"/>
          </p:cNvSpPr>
          <p:nvPr/>
        </p:nvSpPr>
        <p:spPr bwMode="auto">
          <a:xfrm flipH="1">
            <a:off x="16764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5" name="Line 9"/>
          <p:cNvSpPr>
            <a:spLocks noChangeShapeType="1"/>
          </p:cNvSpPr>
          <p:nvPr/>
        </p:nvSpPr>
        <p:spPr bwMode="auto">
          <a:xfrm>
            <a:off x="2438400" y="3581400"/>
            <a:ext cx="10668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6" name="Line 10"/>
          <p:cNvSpPr>
            <a:spLocks noChangeShapeType="1"/>
          </p:cNvSpPr>
          <p:nvPr/>
        </p:nvSpPr>
        <p:spPr bwMode="auto">
          <a:xfrm>
            <a:off x="2438400" y="4191000"/>
            <a:ext cx="10668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7" name="Line 11"/>
          <p:cNvSpPr>
            <a:spLocks noChangeShapeType="1"/>
          </p:cNvSpPr>
          <p:nvPr/>
        </p:nvSpPr>
        <p:spPr bwMode="auto">
          <a:xfrm>
            <a:off x="35052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8" name="Line 12"/>
          <p:cNvSpPr>
            <a:spLocks noChangeShapeType="1"/>
          </p:cNvSpPr>
          <p:nvPr/>
        </p:nvSpPr>
        <p:spPr bwMode="auto">
          <a:xfrm>
            <a:off x="24384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9" name="Line 13"/>
          <p:cNvSpPr>
            <a:spLocks noChangeShapeType="1"/>
          </p:cNvSpPr>
          <p:nvPr/>
        </p:nvSpPr>
        <p:spPr bwMode="auto">
          <a:xfrm>
            <a:off x="32004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0" name="Line 14"/>
          <p:cNvSpPr>
            <a:spLocks noChangeShapeType="1"/>
          </p:cNvSpPr>
          <p:nvPr/>
        </p:nvSpPr>
        <p:spPr bwMode="auto">
          <a:xfrm>
            <a:off x="1828800" y="3886200"/>
            <a:ext cx="609600" cy="0"/>
          </a:xfrm>
          <a:prstGeom prst="line">
            <a:avLst/>
          </a:prstGeom>
          <a:noFill/>
          <a:ln w="2857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1" name="Line 15"/>
          <p:cNvSpPr>
            <a:spLocks noChangeShapeType="1"/>
          </p:cNvSpPr>
          <p:nvPr/>
        </p:nvSpPr>
        <p:spPr bwMode="auto">
          <a:xfrm>
            <a:off x="3429000" y="3886200"/>
            <a:ext cx="609600" cy="0"/>
          </a:xfrm>
          <a:prstGeom prst="line">
            <a:avLst/>
          </a:prstGeom>
          <a:noFill/>
          <a:ln w="2857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2" name="Line 16"/>
          <p:cNvSpPr>
            <a:spLocks noChangeShapeType="1"/>
          </p:cNvSpPr>
          <p:nvPr/>
        </p:nvSpPr>
        <p:spPr bwMode="auto">
          <a:xfrm>
            <a:off x="4038600" y="3581400"/>
            <a:ext cx="1143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3" name="Line 17"/>
          <p:cNvSpPr>
            <a:spLocks noChangeShapeType="1"/>
          </p:cNvSpPr>
          <p:nvPr/>
        </p:nvSpPr>
        <p:spPr bwMode="auto">
          <a:xfrm>
            <a:off x="40386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4" name="Line 18"/>
          <p:cNvSpPr>
            <a:spLocks noChangeShapeType="1"/>
          </p:cNvSpPr>
          <p:nvPr/>
        </p:nvSpPr>
        <p:spPr bwMode="auto">
          <a:xfrm>
            <a:off x="51816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5" name="Line 19"/>
          <p:cNvSpPr>
            <a:spLocks noChangeShapeType="1"/>
          </p:cNvSpPr>
          <p:nvPr/>
        </p:nvSpPr>
        <p:spPr bwMode="auto">
          <a:xfrm>
            <a:off x="48006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6" name="Line 20"/>
          <p:cNvSpPr>
            <a:spLocks noChangeShapeType="1"/>
          </p:cNvSpPr>
          <p:nvPr/>
        </p:nvSpPr>
        <p:spPr bwMode="auto">
          <a:xfrm>
            <a:off x="5029200" y="3886200"/>
            <a:ext cx="457200" cy="0"/>
          </a:xfrm>
          <a:prstGeom prst="line">
            <a:avLst/>
          </a:prstGeom>
          <a:noFill/>
          <a:ln w="2857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7" name="Line 21"/>
          <p:cNvSpPr>
            <a:spLocks noChangeShapeType="1"/>
          </p:cNvSpPr>
          <p:nvPr/>
        </p:nvSpPr>
        <p:spPr bwMode="auto">
          <a:xfrm>
            <a:off x="4038600" y="4191000"/>
            <a:ext cx="1143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8" name="Line 22"/>
          <p:cNvSpPr>
            <a:spLocks noChangeShapeType="1"/>
          </p:cNvSpPr>
          <p:nvPr/>
        </p:nvSpPr>
        <p:spPr bwMode="auto">
          <a:xfrm>
            <a:off x="7239000" y="4191000"/>
            <a:ext cx="1143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9" name="Line 23"/>
          <p:cNvSpPr>
            <a:spLocks noChangeShapeType="1"/>
          </p:cNvSpPr>
          <p:nvPr/>
        </p:nvSpPr>
        <p:spPr bwMode="auto">
          <a:xfrm>
            <a:off x="7239000" y="3581400"/>
            <a:ext cx="1143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0" name="Line 24"/>
          <p:cNvSpPr>
            <a:spLocks noChangeShapeType="1"/>
          </p:cNvSpPr>
          <p:nvPr/>
        </p:nvSpPr>
        <p:spPr bwMode="auto">
          <a:xfrm>
            <a:off x="72390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1" name="Line 25"/>
          <p:cNvSpPr>
            <a:spLocks noChangeShapeType="1"/>
          </p:cNvSpPr>
          <p:nvPr/>
        </p:nvSpPr>
        <p:spPr bwMode="auto">
          <a:xfrm>
            <a:off x="83820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2" name="Line 26"/>
          <p:cNvSpPr>
            <a:spLocks noChangeShapeType="1"/>
          </p:cNvSpPr>
          <p:nvPr/>
        </p:nvSpPr>
        <p:spPr bwMode="auto">
          <a:xfrm>
            <a:off x="80010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3" name="Line 27"/>
          <p:cNvSpPr>
            <a:spLocks noChangeShapeType="1"/>
          </p:cNvSpPr>
          <p:nvPr/>
        </p:nvSpPr>
        <p:spPr bwMode="auto">
          <a:xfrm>
            <a:off x="6858000" y="3886200"/>
            <a:ext cx="381000" cy="0"/>
          </a:xfrm>
          <a:prstGeom prst="line">
            <a:avLst/>
          </a:prstGeom>
          <a:noFill/>
          <a:ln w="2857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4" name="Line 28"/>
          <p:cNvSpPr>
            <a:spLocks noChangeShapeType="1"/>
          </p:cNvSpPr>
          <p:nvPr/>
        </p:nvSpPr>
        <p:spPr bwMode="auto">
          <a:xfrm>
            <a:off x="468313" y="3830638"/>
            <a:ext cx="457200"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5" name="Line 29"/>
          <p:cNvSpPr>
            <a:spLocks noChangeShapeType="1"/>
          </p:cNvSpPr>
          <p:nvPr/>
        </p:nvSpPr>
        <p:spPr bwMode="auto">
          <a:xfrm>
            <a:off x="468313" y="3068638"/>
            <a:ext cx="0" cy="76200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6" name="Line 30"/>
          <p:cNvSpPr>
            <a:spLocks noChangeShapeType="1"/>
          </p:cNvSpPr>
          <p:nvPr/>
        </p:nvSpPr>
        <p:spPr bwMode="auto">
          <a:xfrm flipV="1">
            <a:off x="8229600" y="3886200"/>
            <a:ext cx="457200"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7" name="Line 31"/>
          <p:cNvSpPr>
            <a:spLocks noChangeShapeType="1"/>
          </p:cNvSpPr>
          <p:nvPr/>
        </p:nvSpPr>
        <p:spPr bwMode="auto">
          <a:xfrm>
            <a:off x="8686800" y="3886200"/>
            <a:ext cx="0" cy="60960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8" name="Line 32"/>
          <p:cNvSpPr>
            <a:spLocks noChangeShapeType="1"/>
          </p:cNvSpPr>
          <p:nvPr/>
        </p:nvSpPr>
        <p:spPr bwMode="auto">
          <a:xfrm flipH="1">
            <a:off x="457200" y="4495800"/>
            <a:ext cx="8229600"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9" name="Line 33"/>
          <p:cNvSpPr>
            <a:spLocks noChangeShapeType="1"/>
          </p:cNvSpPr>
          <p:nvPr/>
        </p:nvSpPr>
        <p:spPr bwMode="auto">
          <a:xfrm flipV="1">
            <a:off x="457200" y="3962400"/>
            <a:ext cx="0" cy="53340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70" name="Line 34"/>
          <p:cNvSpPr>
            <a:spLocks noChangeShapeType="1"/>
          </p:cNvSpPr>
          <p:nvPr/>
        </p:nvSpPr>
        <p:spPr bwMode="auto">
          <a:xfrm>
            <a:off x="457200" y="3962400"/>
            <a:ext cx="533400"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71" name="Text Box 35"/>
          <p:cNvSpPr txBox="1">
            <a:spLocks noChangeArrowheads="1"/>
          </p:cNvSpPr>
          <p:nvPr/>
        </p:nvSpPr>
        <p:spPr bwMode="auto">
          <a:xfrm>
            <a:off x="1492250" y="152400"/>
            <a:ext cx="7346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a:solidFill>
                  <a:srgbClr val="CC0066"/>
                </a:solidFill>
                <a:ea typeface="楷体_GB2312" charset="0"/>
              </a:rPr>
              <a:t>2. </a:t>
            </a:r>
            <a:r>
              <a:rPr lang="zh-CN" altLang="en-US" sz="3200" b="1">
                <a:solidFill>
                  <a:srgbClr val="CC0066"/>
                </a:solidFill>
                <a:ea typeface="楷体_GB2312" charset="0"/>
              </a:rPr>
              <a:t>循环链表（</a:t>
            </a:r>
            <a:r>
              <a:rPr lang="en-US" altLang="zh-CN" sz="3200" b="1">
                <a:solidFill>
                  <a:srgbClr val="CC0066"/>
                </a:solidFill>
                <a:ea typeface="楷体_GB2312" charset="0"/>
              </a:rPr>
              <a:t>Circular Linked</a:t>
            </a:r>
            <a:r>
              <a:rPr lang="zh-CN" altLang="en-US" sz="3200" b="1">
                <a:solidFill>
                  <a:srgbClr val="CC0066"/>
                </a:solidFill>
                <a:ea typeface="楷体_GB2312" charset="0"/>
              </a:rPr>
              <a:t> </a:t>
            </a:r>
            <a:r>
              <a:rPr lang="en-US" altLang="zh-CN" sz="3200" b="1">
                <a:solidFill>
                  <a:srgbClr val="CC0066"/>
                </a:solidFill>
                <a:ea typeface="楷体_GB2312" charset="0"/>
              </a:rPr>
              <a:t>List</a:t>
            </a:r>
            <a:r>
              <a:rPr lang="zh-CN" altLang="en-US" sz="3200" b="1">
                <a:solidFill>
                  <a:srgbClr val="CC0066"/>
                </a:solidFill>
                <a:ea typeface="楷体_GB2312" charset="0"/>
              </a:rPr>
              <a:t>）</a:t>
            </a:r>
            <a:endParaRPr lang="zh-CN" altLang="en-US" sz="3200" b="1">
              <a:solidFill>
                <a:srgbClr val="CC0066"/>
              </a:solidFill>
              <a:ea typeface="楷体_GB2312" charset="0"/>
            </a:endParaRPr>
          </a:p>
        </p:txBody>
      </p:sp>
      <p:sp>
        <p:nvSpPr>
          <p:cNvPr id="987172" name="Rectangle 36"/>
          <p:cNvSpPr>
            <a:spLocks noChangeArrowheads="1"/>
          </p:cNvSpPr>
          <p:nvPr/>
        </p:nvSpPr>
        <p:spPr bwMode="auto">
          <a:xfrm>
            <a:off x="914400" y="3581400"/>
            <a:ext cx="762000" cy="609600"/>
          </a:xfrm>
          <a:prstGeom prst="rect">
            <a:avLst/>
          </a:prstGeom>
          <a:solidFill>
            <a:srgbClr val="CCFFCC"/>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73" name="Text Box 37"/>
          <p:cNvSpPr txBox="1">
            <a:spLocks noChangeArrowheads="1"/>
          </p:cNvSpPr>
          <p:nvPr/>
        </p:nvSpPr>
        <p:spPr bwMode="auto">
          <a:xfrm>
            <a:off x="669925" y="4740275"/>
            <a:ext cx="816927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a:solidFill>
                  <a:srgbClr val="660033"/>
                </a:solidFill>
                <a:ea typeface="隶书" panose="02010509060101010101" charset="-122"/>
              </a:rPr>
              <a:t>    和单链表的差别仅在于，</a:t>
            </a:r>
            <a:r>
              <a:rPr lang="zh-CN" altLang="en-US" sz="3600">
                <a:solidFill>
                  <a:srgbClr val="FF0000"/>
                </a:solidFill>
                <a:ea typeface="隶书" panose="02010509060101010101" charset="-122"/>
              </a:rPr>
              <a:t>判别</a:t>
            </a:r>
            <a:r>
              <a:rPr lang="zh-CN" altLang="en-US" sz="3600">
                <a:solidFill>
                  <a:srgbClr val="660033"/>
                </a:solidFill>
                <a:ea typeface="隶书" panose="02010509060101010101" charset="-122"/>
              </a:rPr>
              <a:t>链表中最后一个结点的</a:t>
            </a:r>
            <a:r>
              <a:rPr lang="zh-CN" altLang="en-US" sz="3600">
                <a:solidFill>
                  <a:srgbClr val="FF0000"/>
                </a:solidFill>
                <a:ea typeface="隶书" panose="02010509060101010101" charset="-122"/>
              </a:rPr>
              <a:t>条件</a:t>
            </a:r>
            <a:r>
              <a:rPr lang="zh-CN" altLang="en-US" sz="3600">
                <a:solidFill>
                  <a:srgbClr val="660033"/>
                </a:solidFill>
                <a:ea typeface="隶书" panose="02010509060101010101" charset="-122"/>
              </a:rPr>
              <a:t>不再是“后继是否为空”，而是</a:t>
            </a:r>
            <a:r>
              <a:rPr lang="zh-CN" altLang="en-US" sz="3600">
                <a:solidFill>
                  <a:srgbClr val="FF0000"/>
                </a:solidFill>
                <a:ea typeface="隶书" panose="02010509060101010101" charset="-122"/>
              </a:rPr>
              <a:t>“后继是否为头结点”</a:t>
            </a:r>
            <a:r>
              <a:rPr lang="zh-CN" altLang="en-US" sz="3600">
                <a:solidFill>
                  <a:srgbClr val="660033"/>
                </a:solidFill>
                <a:ea typeface="隶书" panose="02010509060101010101" charset="-122"/>
              </a:rPr>
              <a:t>。</a:t>
            </a:r>
            <a:endParaRPr lang="zh-CN" altLang="en-US" sz="3600"/>
          </a:p>
        </p:txBody>
      </p:sp>
      <p:grpSp>
        <p:nvGrpSpPr>
          <p:cNvPr id="987174" name="Group 38"/>
          <p:cNvGrpSpPr/>
          <p:nvPr/>
        </p:nvGrpSpPr>
        <p:grpSpPr bwMode="auto">
          <a:xfrm rot="5400000" flipV="1">
            <a:off x="7739856" y="3069432"/>
            <a:ext cx="504825" cy="360362"/>
            <a:chOff x="4830" y="1661"/>
            <a:chExt cx="288" cy="480"/>
          </a:xfrm>
        </p:grpSpPr>
        <p:sp>
          <p:nvSpPr>
            <p:cNvPr id="987175" name="Line 39"/>
            <p:cNvSpPr>
              <a:spLocks noChangeShapeType="1"/>
            </p:cNvSpPr>
            <p:nvPr/>
          </p:nvSpPr>
          <p:spPr bwMode="auto">
            <a:xfrm>
              <a:off x="4829" y="2141"/>
              <a:ext cx="288"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76" name="Line 40"/>
            <p:cNvSpPr>
              <a:spLocks noChangeShapeType="1"/>
            </p:cNvSpPr>
            <p:nvPr/>
          </p:nvSpPr>
          <p:spPr bwMode="auto">
            <a:xfrm>
              <a:off x="4829" y="1659"/>
              <a:ext cx="0" cy="48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87177" name="Text Box 41"/>
          <p:cNvSpPr txBox="1">
            <a:spLocks noChangeArrowheads="1"/>
          </p:cNvSpPr>
          <p:nvPr/>
        </p:nvSpPr>
        <p:spPr bwMode="auto">
          <a:xfrm>
            <a:off x="6011863" y="2781300"/>
            <a:ext cx="1800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zh-CN" altLang="en-US" sz="3200" b="1">
                <a:solidFill>
                  <a:srgbClr val="FF0000"/>
                </a:solidFill>
                <a:ea typeface="仿宋_GB2312" panose="02010609030101010101" charset="-122"/>
              </a:rPr>
              <a:t>尾指针</a:t>
            </a:r>
            <a:endParaRPr lang="zh-CN" altLang="en-US" sz="3200" b="1">
              <a:solidFill>
                <a:srgbClr val="FF0000"/>
              </a:solidFill>
              <a:ea typeface="仿宋_GB2312" panose="0201060903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987138"/>
                                        </p:tgtEl>
                                        <p:attrNameLst>
                                          <p:attrName>style.visibility</p:attrName>
                                        </p:attrNameLst>
                                      </p:cBhvr>
                                      <p:to>
                                        <p:strVal val="visible"/>
                                      </p:to>
                                    </p:set>
                                    <p:animEffect transition="in" filter="wipe(left)">
                                      <p:cBhvr>
                                        <p:cTn id="7" dur="300"/>
                                        <p:tgtEl>
                                          <p:spTgt spid="98713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987139"/>
                                        </p:tgtEl>
                                        <p:attrNameLst>
                                          <p:attrName>style.visibility</p:attrName>
                                        </p:attrNameLst>
                                      </p:cBhvr>
                                      <p:to>
                                        <p:strVal val="visible"/>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987148"/>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499"/>
                                          </p:stCondLst>
                                        </p:cTn>
                                        <p:tgtEl>
                                          <p:spTgt spid="987145"/>
                                        </p:tgtEl>
                                        <p:attrNameLst>
                                          <p:attrName>style.visibility</p:attrName>
                                        </p:attrNameLst>
                                      </p:cBhvr>
                                      <p:to>
                                        <p:strVal val="visible"/>
                                      </p:to>
                                    </p:set>
                                  </p:childTnLst>
                                </p:cTn>
                              </p:par>
                            </p:childTnLst>
                          </p:cTn>
                        </p:par>
                        <p:par>
                          <p:cTn id="18" fill="hold">
                            <p:stCondLst>
                              <p:cond delay="1500"/>
                            </p:stCondLst>
                            <p:childTnLst>
                              <p:par>
                                <p:cTn id="19" presetID="1" presetClass="entr" presetSubtype="0" fill="hold" nodeType="afterEffect">
                                  <p:stCondLst>
                                    <p:cond delay="0"/>
                                  </p:stCondLst>
                                  <p:childTnLst>
                                    <p:set>
                                      <p:cBhvr>
                                        <p:cTn id="20" dur="1" fill="hold">
                                          <p:stCondLst>
                                            <p:cond delay="499"/>
                                          </p:stCondLst>
                                        </p:cTn>
                                        <p:tgtEl>
                                          <p:spTgt spid="987146"/>
                                        </p:tgtEl>
                                        <p:attrNameLst>
                                          <p:attrName>style.visibility</p:attrName>
                                        </p:attrNameLst>
                                      </p:cBhvr>
                                      <p:to>
                                        <p:strVal val="visible"/>
                                      </p:to>
                                    </p:set>
                                  </p:childTnLst>
                                </p:cTn>
                              </p:par>
                            </p:childTnLst>
                          </p:cTn>
                        </p:par>
                        <p:par>
                          <p:cTn id="21" fill="hold">
                            <p:stCondLst>
                              <p:cond delay="2000"/>
                            </p:stCondLst>
                            <p:childTnLst>
                              <p:par>
                                <p:cTn id="22" presetID="1" presetClass="entr" presetSubtype="0" fill="hold" nodeType="afterEffect">
                                  <p:stCondLst>
                                    <p:cond delay="0"/>
                                  </p:stCondLst>
                                  <p:childTnLst>
                                    <p:set>
                                      <p:cBhvr>
                                        <p:cTn id="23" dur="1" fill="hold">
                                          <p:stCondLst>
                                            <p:cond delay="499"/>
                                          </p:stCondLst>
                                        </p:cTn>
                                        <p:tgtEl>
                                          <p:spTgt spid="987147"/>
                                        </p:tgtEl>
                                        <p:attrNameLst>
                                          <p:attrName>style.visibility</p:attrName>
                                        </p:attrNameLst>
                                      </p:cBhvr>
                                      <p:to>
                                        <p:strVal val="visible"/>
                                      </p:to>
                                    </p:set>
                                  </p:childTnLst>
                                </p:cTn>
                              </p:par>
                            </p:childTnLst>
                          </p:cTn>
                        </p:par>
                        <p:par>
                          <p:cTn id="24" fill="hold">
                            <p:stCondLst>
                              <p:cond delay="2500"/>
                            </p:stCondLst>
                            <p:childTnLst>
                              <p:par>
                                <p:cTn id="25" presetID="1" presetClass="entr" presetSubtype="0" fill="hold" nodeType="afterEffect">
                                  <p:stCondLst>
                                    <p:cond delay="0"/>
                                  </p:stCondLst>
                                  <p:childTnLst>
                                    <p:set>
                                      <p:cBhvr>
                                        <p:cTn id="26" dur="1" fill="hold">
                                          <p:stCondLst>
                                            <p:cond delay="499"/>
                                          </p:stCondLst>
                                        </p:cTn>
                                        <p:tgtEl>
                                          <p:spTgt spid="987149"/>
                                        </p:tgtEl>
                                        <p:attrNameLst>
                                          <p:attrName>style.visibility</p:attrName>
                                        </p:attrNameLst>
                                      </p:cBhvr>
                                      <p:to>
                                        <p:strVal val="visible"/>
                                      </p:to>
                                    </p:set>
                                  </p:childTnLst>
                                </p:cTn>
                              </p:par>
                            </p:childTnLst>
                          </p:cTn>
                        </p:par>
                        <p:par>
                          <p:cTn id="27" fill="hold">
                            <p:stCondLst>
                              <p:cond delay="3000"/>
                            </p:stCondLst>
                            <p:childTnLst>
                              <p:par>
                                <p:cTn id="28" presetID="1" presetClass="entr" presetSubtype="0" fill="hold" nodeType="afterEffect">
                                  <p:stCondLst>
                                    <p:cond delay="0"/>
                                  </p:stCondLst>
                                  <p:childTnLst>
                                    <p:set>
                                      <p:cBhvr>
                                        <p:cTn id="29" dur="1" fill="hold">
                                          <p:stCondLst>
                                            <p:cond delay="499"/>
                                          </p:stCondLst>
                                        </p:cTn>
                                        <p:tgtEl>
                                          <p:spTgt spid="987151"/>
                                        </p:tgtEl>
                                        <p:attrNameLst>
                                          <p:attrName>style.visibility</p:attrName>
                                        </p:attrNameLst>
                                      </p:cBhvr>
                                      <p:to>
                                        <p:strVal val="visible"/>
                                      </p:to>
                                    </p:set>
                                  </p:childTnLst>
                                </p:cTn>
                              </p:par>
                            </p:childTnLst>
                          </p:cTn>
                        </p:par>
                        <p:par>
                          <p:cTn id="30" fill="hold">
                            <p:stCondLst>
                              <p:cond delay="3500"/>
                            </p:stCondLst>
                            <p:childTnLst>
                              <p:par>
                                <p:cTn id="31" presetID="1" presetClass="entr" presetSubtype="0" fill="hold" nodeType="afterEffect">
                                  <p:stCondLst>
                                    <p:cond delay="0"/>
                                  </p:stCondLst>
                                  <p:childTnLst>
                                    <p:set>
                                      <p:cBhvr>
                                        <p:cTn id="32" dur="1" fill="hold">
                                          <p:stCondLst>
                                            <p:cond delay="499"/>
                                          </p:stCondLst>
                                        </p:cTn>
                                        <p:tgtEl>
                                          <p:spTgt spid="987152"/>
                                        </p:tgtEl>
                                        <p:attrNameLst>
                                          <p:attrName>style.visibility</p:attrName>
                                        </p:attrNameLst>
                                      </p:cBhvr>
                                      <p:to>
                                        <p:strVal val="visible"/>
                                      </p:to>
                                    </p:set>
                                  </p:childTnLst>
                                </p:cTn>
                              </p:par>
                            </p:childTnLst>
                          </p:cTn>
                        </p:par>
                        <p:par>
                          <p:cTn id="33" fill="hold">
                            <p:stCondLst>
                              <p:cond delay="4000"/>
                            </p:stCondLst>
                            <p:childTnLst>
                              <p:par>
                                <p:cTn id="34" presetID="1" presetClass="entr" presetSubtype="0" fill="hold" nodeType="afterEffect">
                                  <p:stCondLst>
                                    <p:cond delay="0"/>
                                  </p:stCondLst>
                                  <p:childTnLst>
                                    <p:set>
                                      <p:cBhvr>
                                        <p:cTn id="35" dur="1" fill="hold">
                                          <p:stCondLst>
                                            <p:cond delay="499"/>
                                          </p:stCondLst>
                                        </p:cTn>
                                        <p:tgtEl>
                                          <p:spTgt spid="987153"/>
                                        </p:tgtEl>
                                        <p:attrNameLst>
                                          <p:attrName>style.visibility</p:attrName>
                                        </p:attrNameLst>
                                      </p:cBhvr>
                                      <p:to>
                                        <p:strVal val="visible"/>
                                      </p:to>
                                    </p:set>
                                  </p:childTnLst>
                                </p:cTn>
                              </p:par>
                            </p:childTnLst>
                          </p:cTn>
                        </p:par>
                        <p:par>
                          <p:cTn id="36" fill="hold">
                            <p:stCondLst>
                              <p:cond delay="4500"/>
                            </p:stCondLst>
                            <p:childTnLst>
                              <p:par>
                                <p:cTn id="37" presetID="1" presetClass="entr" presetSubtype="0" fill="hold" nodeType="afterEffect">
                                  <p:stCondLst>
                                    <p:cond delay="0"/>
                                  </p:stCondLst>
                                  <p:childTnLst>
                                    <p:set>
                                      <p:cBhvr>
                                        <p:cTn id="38" dur="1" fill="hold">
                                          <p:stCondLst>
                                            <p:cond delay="499"/>
                                          </p:stCondLst>
                                        </p:cTn>
                                        <p:tgtEl>
                                          <p:spTgt spid="987154"/>
                                        </p:tgtEl>
                                        <p:attrNameLst>
                                          <p:attrName>style.visibility</p:attrName>
                                        </p:attrNameLst>
                                      </p:cBhvr>
                                      <p:to>
                                        <p:strVal val="visible"/>
                                      </p:to>
                                    </p:set>
                                  </p:childTnLst>
                                </p:cTn>
                              </p:par>
                            </p:childTnLst>
                          </p:cTn>
                        </p:par>
                        <p:par>
                          <p:cTn id="39" fill="hold">
                            <p:stCondLst>
                              <p:cond delay="5000"/>
                            </p:stCondLst>
                            <p:childTnLst>
                              <p:par>
                                <p:cTn id="40" presetID="1" presetClass="entr" presetSubtype="0" fill="hold" nodeType="afterEffect">
                                  <p:stCondLst>
                                    <p:cond delay="0"/>
                                  </p:stCondLst>
                                  <p:childTnLst>
                                    <p:set>
                                      <p:cBhvr>
                                        <p:cTn id="41" dur="1" fill="hold">
                                          <p:stCondLst>
                                            <p:cond delay="499"/>
                                          </p:stCondLst>
                                        </p:cTn>
                                        <p:tgtEl>
                                          <p:spTgt spid="987155"/>
                                        </p:tgtEl>
                                        <p:attrNameLst>
                                          <p:attrName>style.visibility</p:attrName>
                                        </p:attrNameLst>
                                      </p:cBhvr>
                                      <p:to>
                                        <p:strVal val="visible"/>
                                      </p:to>
                                    </p:set>
                                  </p:childTnLst>
                                </p:cTn>
                              </p:par>
                            </p:childTnLst>
                          </p:cTn>
                        </p:par>
                        <p:par>
                          <p:cTn id="42" fill="hold">
                            <p:stCondLst>
                              <p:cond delay="5500"/>
                            </p:stCondLst>
                            <p:childTnLst>
                              <p:par>
                                <p:cTn id="43" presetID="1" presetClass="entr" presetSubtype="0" fill="hold" nodeType="afterEffect">
                                  <p:stCondLst>
                                    <p:cond delay="0"/>
                                  </p:stCondLst>
                                  <p:childTnLst>
                                    <p:set>
                                      <p:cBhvr>
                                        <p:cTn id="44" dur="1" fill="hold">
                                          <p:stCondLst>
                                            <p:cond delay="499"/>
                                          </p:stCondLst>
                                        </p:cTn>
                                        <p:tgtEl>
                                          <p:spTgt spid="987156"/>
                                        </p:tgtEl>
                                        <p:attrNameLst>
                                          <p:attrName>style.visibility</p:attrName>
                                        </p:attrNameLst>
                                      </p:cBhvr>
                                      <p:to>
                                        <p:strVal val="visible"/>
                                      </p:to>
                                    </p:set>
                                  </p:childTnLst>
                                </p:cTn>
                              </p:par>
                            </p:childTnLst>
                          </p:cTn>
                        </p:par>
                        <p:par>
                          <p:cTn id="45" fill="hold">
                            <p:stCondLst>
                              <p:cond delay="6000"/>
                            </p:stCondLst>
                            <p:childTnLst>
                              <p:par>
                                <p:cTn id="46" presetID="1" presetClass="entr" presetSubtype="0" fill="hold" nodeType="afterEffect">
                                  <p:stCondLst>
                                    <p:cond delay="0"/>
                                  </p:stCondLst>
                                  <p:childTnLst>
                                    <p:set>
                                      <p:cBhvr>
                                        <p:cTn id="47" dur="1" fill="hold">
                                          <p:stCondLst>
                                            <p:cond delay="499"/>
                                          </p:stCondLst>
                                        </p:cTn>
                                        <p:tgtEl>
                                          <p:spTgt spid="987157"/>
                                        </p:tgtEl>
                                        <p:attrNameLst>
                                          <p:attrName>style.visibility</p:attrName>
                                        </p:attrNameLst>
                                      </p:cBhvr>
                                      <p:to>
                                        <p:strVal val="visible"/>
                                      </p:to>
                                    </p:set>
                                  </p:childTnLst>
                                </p:cTn>
                              </p:par>
                            </p:childTnLst>
                          </p:cTn>
                        </p:par>
                        <p:par>
                          <p:cTn id="48" fill="hold">
                            <p:stCondLst>
                              <p:cond delay="6500"/>
                            </p:stCondLst>
                            <p:childTnLst>
                              <p:par>
                                <p:cTn id="49" presetID="1" presetClass="entr" presetSubtype="0" fill="hold" nodeType="afterEffect">
                                  <p:stCondLst>
                                    <p:cond delay="0"/>
                                  </p:stCondLst>
                                  <p:childTnLst>
                                    <p:set>
                                      <p:cBhvr>
                                        <p:cTn id="50" dur="1" fill="hold">
                                          <p:stCondLst>
                                            <p:cond delay="499"/>
                                          </p:stCondLst>
                                        </p:cTn>
                                        <p:tgtEl>
                                          <p:spTgt spid="987158"/>
                                        </p:tgtEl>
                                        <p:attrNameLst>
                                          <p:attrName>style.visibility</p:attrName>
                                        </p:attrNameLst>
                                      </p:cBhvr>
                                      <p:to>
                                        <p:strVal val="visible"/>
                                      </p:to>
                                    </p:set>
                                  </p:childTnLst>
                                </p:cTn>
                              </p:par>
                            </p:childTnLst>
                          </p:cTn>
                        </p:par>
                        <p:par>
                          <p:cTn id="51" fill="hold">
                            <p:stCondLst>
                              <p:cond delay="7000"/>
                            </p:stCondLst>
                            <p:childTnLst>
                              <p:par>
                                <p:cTn id="52" presetID="1" presetClass="entr" presetSubtype="0" fill="hold" nodeType="afterEffect">
                                  <p:stCondLst>
                                    <p:cond delay="0"/>
                                  </p:stCondLst>
                                  <p:childTnLst>
                                    <p:set>
                                      <p:cBhvr>
                                        <p:cTn id="53" dur="1" fill="hold">
                                          <p:stCondLst>
                                            <p:cond delay="499"/>
                                          </p:stCondLst>
                                        </p:cTn>
                                        <p:tgtEl>
                                          <p:spTgt spid="987159"/>
                                        </p:tgtEl>
                                        <p:attrNameLst>
                                          <p:attrName>style.visibility</p:attrName>
                                        </p:attrNameLst>
                                      </p:cBhvr>
                                      <p:to>
                                        <p:strVal val="visible"/>
                                      </p:to>
                                    </p:set>
                                  </p:childTnLst>
                                </p:cTn>
                              </p:par>
                            </p:childTnLst>
                          </p:cTn>
                        </p:par>
                        <p:par>
                          <p:cTn id="54" fill="hold">
                            <p:stCondLst>
                              <p:cond delay="7500"/>
                            </p:stCondLst>
                            <p:childTnLst>
                              <p:par>
                                <p:cTn id="55" presetID="1" presetClass="entr" presetSubtype="0" fill="hold" nodeType="afterEffect">
                                  <p:stCondLst>
                                    <p:cond delay="0"/>
                                  </p:stCondLst>
                                  <p:childTnLst>
                                    <p:set>
                                      <p:cBhvr>
                                        <p:cTn id="56" dur="1" fill="hold">
                                          <p:stCondLst>
                                            <p:cond delay="499"/>
                                          </p:stCondLst>
                                        </p:cTn>
                                        <p:tgtEl>
                                          <p:spTgt spid="987160"/>
                                        </p:tgtEl>
                                        <p:attrNameLst>
                                          <p:attrName>style.visibility</p:attrName>
                                        </p:attrNameLst>
                                      </p:cBhvr>
                                      <p:to>
                                        <p:strVal val="visible"/>
                                      </p:to>
                                    </p:set>
                                  </p:childTnLst>
                                </p:cTn>
                              </p:par>
                            </p:childTnLst>
                          </p:cTn>
                        </p:par>
                        <p:par>
                          <p:cTn id="57" fill="hold">
                            <p:stCondLst>
                              <p:cond delay="8000"/>
                            </p:stCondLst>
                            <p:childTnLst>
                              <p:par>
                                <p:cTn id="58" presetID="1" presetClass="entr" presetSubtype="0" fill="hold" nodeType="afterEffect">
                                  <p:stCondLst>
                                    <p:cond delay="0"/>
                                  </p:stCondLst>
                                  <p:childTnLst>
                                    <p:set>
                                      <p:cBhvr>
                                        <p:cTn id="59" dur="1" fill="hold">
                                          <p:stCondLst>
                                            <p:cond delay="499"/>
                                          </p:stCondLst>
                                        </p:cTn>
                                        <p:tgtEl>
                                          <p:spTgt spid="987161"/>
                                        </p:tgtEl>
                                        <p:attrNameLst>
                                          <p:attrName>style.visibility</p:attrName>
                                        </p:attrNameLst>
                                      </p:cBhvr>
                                      <p:to>
                                        <p:strVal val="visible"/>
                                      </p:to>
                                    </p:set>
                                  </p:childTnLst>
                                </p:cTn>
                              </p:par>
                            </p:childTnLst>
                          </p:cTn>
                        </p:par>
                        <p:par>
                          <p:cTn id="60" fill="hold">
                            <p:stCondLst>
                              <p:cond delay="8500"/>
                            </p:stCondLst>
                            <p:childTnLst>
                              <p:par>
                                <p:cTn id="61" presetID="1" presetClass="entr" presetSubtype="0" fill="hold" nodeType="afterEffect">
                                  <p:stCondLst>
                                    <p:cond delay="0"/>
                                  </p:stCondLst>
                                  <p:childTnLst>
                                    <p:set>
                                      <p:cBhvr>
                                        <p:cTn id="62" dur="1" fill="hold">
                                          <p:stCondLst>
                                            <p:cond delay="499"/>
                                          </p:stCondLst>
                                        </p:cTn>
                                        <p:tgtEl>
                                          <p:spTgt spid="987162"/>
                                        </p:tgtEl>
                                        <p:attrNameLst>
                                          <p:attrName>style.visibility</p:attrName>
                                        </p:attrNameLst>
                                      </p:cBhvr>
                                      <p:to>
                                        <p:strVal val="visible"/>
                                      </p:to>
                                    </p:set>
                                  </p:childTnLst>
                                </p:cTn>
                              </p:par>
                            </p:childTnLst>
                          </p:cTn>
                        </p:par>
                        <p:par>
                          <p:cTn id="63" fill="hold">
                            <p:stCondLst>
                              <p:cond delay="9000"/>
                            </p:stCondLst>
                            <p:childTnLst>
                              <p:par>
                                <p:cTn id="64" presetID="1" presetClass="entr" presetSubtype="0" fill="hold" nodeType="afterEffect">
                                  <p:stCondLst>
                                    <p:cond delay="0"/>
                                  </p:stCondLst>
                                  <p:childTnLst>
                                    <p:set>
                                      <p:cBhvr>
                                        <p:cTn id="65" dur="1" fill="hold">
                                          <p:stCondLst>
                                            <p:cond delay="499"/>
                                          </p:stCondLst>
                                        </p:cTn>
                                        <p:tgtEl>
                                          <p:spTgt spid="987163"/>
                                        </p:tgtEl>
                                        <p:attrNameLst>
                                          <p:attrName>style.visibility</p:attrName>
                                        </p:attrNameLst>
                                      </p:cBhvr>
                                      <p:to>
                                        <p:strVal val="visible"/>
                                      </p:to>
                                    </p:set>
                                  </p:childTnLst>
                                </p:cTn>
                              </p:par>
                            </p:childTnLst>
                          </p:cTn>
                        </p:par>
                        <p:par>
                          <p:cTn id="66" fill="hold">
                            <p:stCondLst>
                              <p:cond delay="9500"/>
                            </p:stCondLst>
                            <p:childTnLst>
                              <p:par>
                                <p:cTn id="67" presetID="1" presetClass="entr" presetSubtype="0" fill="hold" nodeType="afterEffect">
                                  <p:stCondLst>
                                    <p:cond delay="0"/>
                                  </p:stCondLst>
                                  <p:childTnLst>
                                    <p:set>
                                      <p:cBhvr>
                                        <p:cTn id="68" dur="1" fill="hold">
                                          <p:stCondLst>
                                            <p:cond delay="499"/>
                                          </p:stCondLst>
                                        </p:cTn>
                                        <p:tgtEl>
                                          <p:spTgt spid="987140"/>
                                        </p:tgtEl>
                                        <p:attrNameLst>
                                          <p:attrName>style.visibility</p:attrName>
                                        </p:attrNameLst>
                                      </p:cBhvr>
                                      <p:to>
                                        <p:strVal val="visible"/>
                                      </p:to>
                                    </p:set>
                                  </p:childTnLst>
                                </p:cTn>
                              </p:par>
                            </p:childTnLst>
                          </p:cTn>
                        </p:par>
                        <p:par>
                          <p:cTn id="69" fill="hold">
                            <p:stCondLst>
                              <p:cond delay="10000"/>
                            </p:stCondLst>
                            <p:childTnLst>
                              <p:par>
                                <p:cTn id="70" presetID="1" presetClass="entr" presetSubtype="0" fill="hold" nodeType="afterEffect">
                                  <p:stCondLst>
                                    <p:cond delay="0"/>
                                  </p:stCondLst>
                                  <p:childTnLst>
                                    <p:set>
                                      <p:cBhvr>
                                        <p:cTn id="71" dur="1" fill="hold">
                                          <p:stCondLst>
                                            <p:cond delay="499"/>
                                          </p:stCondLst>
                                        </p:cTn>
                                        <p:tgtEl>
                                          <p:spTgt spid="987141"/>
                                        </p:tgtEl>
                                        <p:attrNameLst>
                                          <p:attrName>style.visibility</p:attrName>
                                        </p:attrNameLst>
                                      </p:cBhvr>
                                      <p:to>
                                        <p:strVal val="visible"/>
                                      </p:to>
                                    </p:set>
                                  </p:childTnLst>
                                </p:cTn>
                              </p:par>
                            </p:childTnLst>
                          </p:cTn>
                        </p:par>
                        <p:par>
                          <p:cTn id="72" fill="hold">
                            <p:stCondLst>
                              <p:cond delay="10500"/>
                            </p:stCondLst>
                            <p:childTnLst>
                              <p:par>
                                <p:cTn id="73" presetID="1" presetClass="entr" presetSubtype="0" fill="hold" nodeType="afterEffect">
                                  <p:stCondLst>
                                    <p:cond delay="0"/>
                                  </p:stCondLst>
                                  <p:childTnLst>
                                    <p:set>
                                      <p:cBhvr>
                                        <p:cTn id="74" dur="1" fill="hold">
                                          <p:stCondLst>
                                            <p:cond delay="499"/>
                                          </p:stCondLst>
                                        </p:cTn>
                                        <p:tgtEl>
                                          <p:spTgt spid="987142"/>
                                        </p:tgtEl>
                                        <p:attrNameLst>
                                          <p:attrName>style.visibility</p:attrName>
                                        </p:attrNameLst>
                                      </p:cBhvr>
                                      <p:to>
                                        <p:strVal val="visible"/>
                                      </p:to>
                                    </p:set>
                                  </p:childTnLst>
                                </p:cTn>
                              </p:par>
                            </p:childTnLst>
                          </p:cTn>
                        </p:par>
                        <p:par>
                          <p:cTn id="75" fill="hold">
                            <p:stCondLst>
                              <p:cond delay="11000"/>
                            </p:stCondLst>
                            <p:childTnLst>
                              <p:par>
                                <p:cTn id="76" presetID="1" presetClass="entr" presetSubtype="0" fill="hold" nodeType="afterEffect">
                                  <p:stCondLst>
                                    <p:cond delay="0"/>
                                  </p:stCondLst>
                                  <p:childTnLst>
                                    <p:set>
                                      <p:cBhvr>
                                        <p:cTn id="77" dur="1" fill="hold">
                                          <p:stCondLst>
                                            <p:cond delay="499"/>
                                          </p:stCondLst>
                                        </p:cTn>
                                        <p:tgtEl>
                                          <p:spTgt spid="987143"/>
                                        </p:tgtEl>
                                        <p:attrNameLst>
                                          <p:attrName>style.visibility</p:attrName>
                                        </p:attrNameLst>
                                      </p:cBhvr>
                                      <p:to>
                                        <p:strVal val="visible"/>
                                      </p:to>
                                    </p:set>
                                  </p:childTnLst>
                                </p:cTn>
                              </p:par>
                            </p:childTnLst>
                          </p:cTn>
                        </p:par>
                        <p:par>
                          <p:cTn id="78" fill="hold">
                            <p:stCondLst>
                              <p:cond delay="11500"/>
                            </p:stCondLst>
                            <p:childTnLst>
                              <p:par>
                                <p:cTn id="79" presetID="1" presetClass="entr" presetSubtype="0" fill="hold" nodeType="afterEffect">
                                  <p:stCondLst>
                                    <p:cond delay="0"/>
                                  </p:stCondLst>
                                  <p:childTnLst>
                                    <p:set>
                                      <p:cBhvr>
                                        <p:cTn id="80" dur="1" fill="hold">
                                          <p:stCondLst>
                                            <p:cond delay="499"/>
                                          </p:stCondLst>
                                        </p:cTn>
                                        <p:tgtEl>
                                          <p:spTgt spid="987144"/>
                                        </p:tgtEl>
                                        <p:attrNameLst>
                                          <p:attrName>style.visibility</p:attrName>
                                        </p:attrNameLst>
                                      </p:cBhvr>
                                      <p:to>
                                        <p:strVal val="visible"/>
                                      </p:to>
                                    </p:set>
                                  </p:childTnLst>
                                </p:cTn>
                              </p:par>
                            </p:childTnLst>
                          </p:cTn>
                        </p:par>
                        <p:par>
                          <p:cTn id="81" fill="hold">
                            <p:stCondLst>
                              <p:cond delay="12000"/>
                            </p:stCondLst>
                            <p:childTnLst>
                              <p:par>
                                <p:cTn id="82" presetID="1" presetClass="entr" presetSubtype="0" fill="hold" grpId="0" nodeType="afterEffect">
                                  <p:stCondLst>
                                    <p:cond delay="0"/>
                                  </p:stCondLst>
                                  <p:childTnLst>
                                    <p:set>
                                      <p:cBhvr>
                                        <p:cTn id="83" dur="1" fill="hold">
                                          <p:stCondLst>
                                            <p:cond delay="499"/>
                                          </p:stCondLst>
                                        </p:cTn>
                                        <p:tgtEl>
                                          <p:spTgt spid="987172"/>
                                        </p:tgtEl>
                                        <p:attrNameLst>
                                          <p:attrName>style.visibility</p:attrName>
                                        </p:attrNameLst>
                                      </p:cBhvr>
                                      <p:to>
                                        <p:strVal val="visible"/>
                                      </p:to>
                                    </p:set>
                                  </p:childTnLst>
                                </p:cTn>
                              </p:par>
                            </p:childTnLst>
                          </p:cTn>
                        </p:par>
                        <p:par>
                          <p:cTn id="84" fill="hold">
                            <p:stCondLst>
                              <p:cond delay="12500"/>
                            </p:stCondLst>
                            <p:childTnLst>
                              <p:par>
                                <p:cTn id="85" presetID="1" presetClass="entr" presetSubtype="0" fill="hold" nodeType="afterEffect">
                                  <p:stCondLst>
                                    <p:cond delay="0"/>
                                  </p:stCondLst>
                                  <p:childTnLst>
                                    <p:set>
                                      <p:cBhvr>
                                        <p:cTn id="86" dur="1" fill="hold">
                                          <p:stCondLst>
                                            <p:cond delay="499"/>
                                          </p:stCondLst>
                                        </p:cTn>
                                        <p:tgtEl>
                                          <p:spTgt spid="987150"/>
                                        </p:tgtEl>
                                        <p:attrNameLst>
                                          <p:attrName>style.visibility</p:attrName>
                                        </p:attrNameLst>
                                      </p:cBhvr>
                                      <p:to>
                                        <p:strVal val="visible"/>
                                      </p:to>
                                    </p:set>
                                  </p:childTnLst>
                                </p:cTn>
                              </p:par>
                            </p:childTnLst>
                          </p:cTn>
                        </p:par>
                        <p:par>
                          <p:cTn id="87" fill="hold">
                            <p:stCondLst>
                              <p:cond delay="13000"/>
                            </p:stCondLst>
                            <p:childTnLst>
                              <p:par>
                                <p:cTn id="88" presetID="1" presetClass="entr" presetSubtype="0" fill="hold" nodeType="afterEffect">
                                  <p:stCondLst>
                                    <p:cond delay="0"/>
                                  </p:stCondLst>
                                  <p:childTnLst>
                                    <p:set>
                                      <p:cBhvr>
                                        <p:cTn id="89" dur="1" fill="hold">
                                          <p:stCondLst>
                                            <p:cond delay="499"/>
                                          </p:stCondLst>
                                        </p:cTn>
                                        <p:tgtEl>
                                          <p:spTgt spid="987164"/>
                                        </p:tgtEl>
                                        <p:attrNameLst>
                                          <p:attrName>style.visibility</p:attrName>
                                        </p:attrNameLst>
                                      </p:cBhvr>
                                      <p:to>
                                        <p:strVal val="visible"/>
                                      </p:to>
                                    </p:set>
                                  </p:childTnLst>
                                </p:cTn>
                              </p:par>
                            </p:childTnLst>
                          </p:cTn>
                        </p:par>
                        <p:par>
                          <p:cTn id="90" fill="hold">
                            <p:stCondLst>
                              <p:cond delay="13500"/>
                            </p:stCondLst>
                            <p:childTnLst>
                              <p:par>
                                <p:cTn id="91" presetID="1" presetClass="entr" presetSubtype="0" fill="hold" nodeType="afterEffect">
                                  <p:stCondLst>
                                    <p:cond delay="0"/>
                                  </p:stCondLst>
                                  <p:childTnLst>
                                    <p:set>
                                      <p:cBhvr>
                                        <p:cTn id="92" dur="1" fill="hold">
                                          <p:stCondLst>
                                            <p:cond delay="499"/>
                                          </p:stCondLst>
                                        </p:cTn>
                                        <p:tgtEl>
                                          <p:spTgt spid="987165"/>
                                        </p:tgtEl>
                                        <p:attrNameLst>
                                          <p:attrName>style.visibility</p:attrName>
                                        </p:attrNameLst>
                                      </p:cBhvr>
                                      <p:to>
                                        <p:strVal val="visible"/>
                                      </p:to>
                                    </p:set>
                                  </p:childTnLst>
                                </p:cTn>
                              </p:par>
                            </p:childTnLst>
                          </p:cTn>
                        </p:par>
                        <p:par>
                          <p:cTn id="93" fill="hold">
                            <p:stCondLst>
                              <p:cond delay="14000"/>
                            </p:stCondLst>
                            <p:childTnLst>
                              <p:par>
                                <p:cTn id="94" presetID="1" presetClass="entr" presetSubtype="0" fill="hold" nodeType="afterEffect">
                                  <p:stCondLst>
                                    <p:cond delay="0"/>
                                  </p:stCondLst>
                                  <p:childTnLst>
                                    <p:set>
                                      <p:cBhvr>
                                        <p:cTn id="95" dur="1" fill="hold">
                                          <p:stCondLst>
                                            <p:cond delay="499"/>
                                          </p:stCondLst>
                                        </p:cTn>
                                        <p:tgtEl>
                                          <p:spTgt spid="987166"/>
                                        </p:tgtEl>
                                        <p:attrNameLst>
                                          <p:attrName>style.visibility</p:attrName>
                                        </p:attrNameLst>
                                      </p:cBhvr>
                                      <p:to>
                                        <p:strVal val="visible"/>
                                      </p:to>
                                    </p:set>
                                  </p:childTnLst>
                                </p:cTn>
                              </p:par>
                            </p:childTnLst>
                          </p:cTn>
                        </p:par>
                        <p:par>
                          <p:cTn id="96" fill="hold">
                            <p:stCondLst>
                              <p:cond delay="14500"/>
                            </p:stCondLst>
                            <p:childTnLst>
                              <p:par>
                                <p:cTn id="97" presetID="1" presetClass="entr" presetSubtype="0" fill="hold" nodeType="afterEffect">
                                  <p:stCondLst>
                                    <p:cond delay="0"/>
                                  </p:stCondLst>
                                  <p:childTnLst>
                                    <p:set>
                                      <p:cBhvr>
                                        <p:cTn id="98" dur="1" fill="hold">
                                          <p:stCondLst>
                                            <p:cond delay="499"/>
                                          </p:stCondLst>
                                        </p:cTn>
                                        <p:tgtEl>
                                          <p:spTgt spid="987167"/>
                                        </p:tgtEl>
                                        <p:attrNameLst>
                                          <p:attrName>style.visibility</p:attrName>
                                        </p:attrNameLst>
                                      </p:cBhvr>
                                      <p:to>
                                        <p:strVal val="visible"/>
                                      </p:to>
                                    </p:set>
                                  </p:childTnLst>
                                </p:cTn>
                              </p:par>
                            </p:childTnLst>
                          </p:cTn>
                        </p:par>
                        <p:par>
                          <p:cTn id="99" fill="hold">
                            <p:stCondLst>
                              <p:cond delay="15000"/>
                            </p:stCondLst>
                            <p:childTnLst>
                              <p:par>
                                <p:cTn id="100" presetID="1" presetClass="entr" presetSubtype="0" fill="hold" nodeType="afterEffect">
                                  <p:stCondLst>
                                    <p:cond delay="0"/>
                                  </p:stCondLst>
                                  <p:childTnLst>
                                    <p:set>
                                      <p:cBhvr>
                                        <p:cTn id="101" dur="1" fill="hold">
                                          <p:stCondLst>
                                            <p:cond delay="499"/>
                                          </p:stCondLst>
                                        </p:cTn>
                                        <p:tgtEl>
                                          <p:spTgt spid="987168"/>
                                        </p:tgtEl>
                                        <p:attrNameLst>
                                          <p:attrName>style.visibility</p:attrName>
                                        </p:attrNameLst>
                                      </p:cBhvr>
                                      <p:to>
                                        <p:strVal val="visible"/>
                                      </p:to>
                                    </p:set>
                                  </p:childTnLst>
                                </p:cTn>
                              </p:par>
                            </p:childTnLst>
                          </p:cTn>
                        </p:par>
                        <p:par>
                          <p:cTn id="102" fill="hold">
                            <p:stCondLst>
                              <p:cond delay="15500"/>
                            </p:stCondLst>
                            <p:childTnLst>
                              <p:par>
                                <p:cTn id="103" presetID="1" presetClass="entr" presetSubtype="0" fill="hold" nodeType="afterEffect">
                                  <p:stCondLst>
                                    <p:cond delay="0"/>
                                  </p:stCondLst>
                                  <p:childTnLst>
                                    <p:set>
                                      <p:cBhvr>
                                        <p:cTn id="104" dur="1" fill="hold">
                                          <p:stCondLst>
                                            <p:cond delay="499"/>
                                          </p:stCondLst>
                                        </p:cTn>
                                        <p:tgtEl>
                                          <p:spTgt spid="987169"/>
                                        </p:tgtEl>
                                        <p:attrNameLst>
                                          <p:attrName>style.visibility</p:attrName>
                                        </p:attrNameLst>
                                      </p:cBhvr>
                                      <p:to>
                                        <p:strVal val="visible"/>
                                      </p:to>
                                    </p:set>
                                  </p:childTnLst>
                                </p:cTn>
                              </p:par>
                            </p:childTnLst>
                          </p:cTn>
                        </p:par>
                        <p:par>
                          <p:cTn id="105" fill="hold">
                            <p:stCondLst>
                              <p:cond delay="16000"/>
                            </p:stCondLst>
                            <p:childTnLst>
                              <p:par>
                                <p:cTn id="106" presetID="1" presetClass="entr" presetSubtype="0" fill="hold" nodeType="afterEffect">
                                  <p:stCondLst>
                                    <p:cond delay="0"/>
                                  </p:stCondLst>
                                  <p:childTnLst>
                                    <p:set>
                                      <p:cBhvr>
                                        <p:cTn id="107" dur="1" fill="hold">
                                          <p:stCondLst>
                                            <p:cond delay="499"/>
                                          </p:stCondLst>
                                        </p:cTn>
                                        <p:tgtEl>
                                          <p:spTgt spid="987170"/>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iterate type="lt">
                                    <p:tmPct val="100000"/>
                                  </p:iterate>
                                  <p:childTnLst>
                                    <p:set>
                                      <p:cBhvr>
                                        <p:cTn id="111" dur="1" fill="hold">
                                          <p:stCondLst>
                                            <p:cond delay="0"/>
                                          </p:stCondLst>
                                        </p:cTn>
                                        <p:tgtEl>
                                          <p:spTgt spid="987173"/>
                                        </p:tgtEl>
                                        <p:attrNameLst>
                                          <p:attrName>style.visibility</p:attrName>
                                        </p:attrNameLst>
                                      </p:cBhvr>
                                      <p:to>
                                        <p:strVal val="visible"/>
                                      </p:to>
                                    </p:set>
                                    <p:animEffect transition="in" filter="wipe(left)">
                                      <p:cBhvr>
                                        <p:cTn id="112" dur="75"/>
                                        <p:tgtEl>
                                          <p:spTgt spid="987173"/>
                                        </p:tgtEl>
                                      </p:cBhvr>
                                    </p:animEffect>
                                  </p:childTnLst>
                                </p:cTn>
                              </p:par>
                            </p:childTnLst>
                          </p:cTn>
                        </p:par>
                      </p:childTnLst>
                    </p:cTn>
                  </p:par>
                  <p:par>
                    <p:cTn id="113" fill="hold">
                      <p:stCondLst>
                        <p:cond delay="indefinite"/>
                      </p:stCondLst>
                      <p:childTnLst>
                        <p:par>
                          <p:cTn id="114" fill="hold">
                            <p:stCondLst>
                              <p:cond delay="0"/>
                            </p:stCondLst>
                            <p:childTnLst>
                              <p:par>
                                <p:cTn id="115" presetID="5" presetClass="entr" presetSubtype="10" fill="hold" grpId="0" nodeType="clickEffect">
                                  <p:stCondLst>
                                    <p:cond delay="0"/>
                                  </p:stCondLst>
                                  <p:childTnLst>
                                    <p:set>
                                      <p:cBhvr>
                                        <p:cTn id="116" dur="1" fill="hold">
                                          <p:stCondLst>
                                            <p:cond delay="0"/>
                                          </p:stCondLst>
                                        </p:cTn>
                                        <p:tgtEl>
                                          <p:spTgt spid="987177"/>
                                        </p:tgtEl>
                                        <p:attrNameLst>
                                          <p:attrName>style.visibility</p:attrName>
                                        </p:attrNameLst>
                                      </p:cBhvr>
                                      <p:to>
                                        <p:strVal val="visible"/>
                                      </p:to>
                                    </p:set>
                                    <p:animEffect transition="in" filter="checkerboard(across)">
                                      <p:cBhvr>
                                        <p:cTn id="117" dur="500"/>
                                        <p:tgtEl>
                                          <p:spTgt spid="987177"/>
                                        </p:tgtEl>
                                      </p:cBhvr>
                                    </p:animEffect>
                                  </p:childTnLst>
                                </p:cTn>
                              </p:par>
                              <p:par>
                                <p:cTn id="118" presetID="5" presetClass="entr" presetSubtype="10" fill="hold" nodeType="withEffect">
                                  <p:stCondLst>
                                    <p:cond delay="0"/>
                                  </p:stCondLst>
                                  <p:childTnLst>
                                    <p:set>
                                      <p:cBhvr>
                                        <p:cTn id="119" dur="1" fill="hold">
                                          <p:stCondLst>
                                            <p:cond delay="0"/>
                                          </p:stCondLst>
                                        </p:cTn>
                                        <p:tgtEl>
                                          <p:spTgt spid="987174"/>
                                        </p:tgtEl>
                                        <p:attrNameLst>
                                          <p:attrName>style.visibility</p:attrName>
                                        </p:attrNameLst>
                                      </p:cBhvr>
                                      <p:to>
                                        <p:strVal val="visible"/>
                                      </p:to>
                                    </p:set>
                                    <p:animEffect transition="in" filter="checkerboard(across)">
                                      <p:cBhvr>
                                        <p:cTn id="120" dur="500"/>
                                        <p:tgtEl>
                                          <p:spTgt spid="987174"/>
                                        </p:tgtEl>
                                      </p:cBhvr>
                                    </p:animEffect>
                                  </p:childTnLst>
                                </p:cTn>
                              </p:par>
                            </p:childTnLst>
                          </p:cTn>
                        </p:par>
                      </p:childTnLst>
                    </p:cTn>
                  </p:par>
                  <p:par>
                    <p:cTn id="121" fill="hold">
                      <p:stCondLst>
                        <p:cond delay="indefinite"/>
                      </p:stCondLst>
                      <p:childTnLst>
                        <p:par>
                          <p:cTn id="122" fill="hold">
                            <p:stCondLst>
                              <p:cond delay="0"/>
                            </p:stCondLst>
                            <p:childTnLst>
                              <p:par>
                                <p:cTn id="123" presetID="4" presetClass="exit" presetSubtype="16" fill="hold" nodeType="clickEffect">
                                  <p:stCondLst>
                                    <p:cond delay="0"/>
                                  </p:stCondLst>
                                  <p:childTnLst>
                                    <p:animEffect transition="out" filter="box(in)">
                                      <p:cBhvr>
                                        <p:cTn id="124" dur="500"/>
                                        <p:tgtEl>
                                          <p:spTgt spid="987165"/>
                                        </p:tgtEl>
                                      </p:cBhvr>
                                    </p:animEffect>
                                    <p:set>
                                      <p:cBhvr>
                                        <p:cTn id="125" dur="1" fill="hold">
                                          <p:stCondLst>
                                            <p:cond delay="499"/>
                                          </p:stCondLst>
                                        </p:cTn>
                                        <p:tgtEl>
                                          <p:spTgt spid="987165"/>
                                        </p:tgtEl>
                                        <p:attrNameLst>
                                          <p:attrName>style.visibility</p:attrName>
                                        </p:attrNameLst>
                                      </p:cBhvr>
                                      <p:to>
                                        <p:strVal val="hidden"/>
                                      </p:to>
                                    </p:set>
                                  </p:childTnLst>
                                </p:cTn>
                              </p:par>
                              <p:par>
                                <p:cTn id="126" presetID="4" presetClass="exit" presetSubtype="16" fill="hold" nodeType="withEffect">
                                  <p:stCondLst>
                                    <p:cond delay="0"/>
                                  </p:stCondLst>
                                  <p:childTnLst>
                                    <p:animEffect transition="out" filter="box(in)">
                                      <p:cBhvr>
                                        <p:cTn id="127" dur="500"/>
                                        <p:tgtEl>
                                          <p:spTgt spid="987164"/>
                                        </p:tgtEl>
                                      </p:cBhvr>
                                    </p:animEffect>
                                    <p:set>
                                      <p:cBhvr>
                                        <p:cTn id="128" dur="1" fill="hold">
                                          <p:stCondLst>
                                            <p:cond delay="499"/>
                                          </p:stCondLst>
                                        </p:cTn>
                                        <p:tgtEl>
                                          <p:spTgt spid="9871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7138" grpId="0" autoUpdateAnimBg="0"/>
      <p:bldP spid="987139" grpId="0" autoUpdateAnimBg="0"/>
      <p:bldP spid="987172" grpId="0" animBg="1"/>
      <p:bldP spid="987173" grpId="0" autoUpdateAnimBg="0"/>
      <p:bldP spid="98717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74" name="Rectangle 2"/>
          <p:cNvSpPr>
            <a:spLocks noGrp="1" noChangeArrowheads="1"/>
          </p:cNvSpPr>
          <p:nvPr>
            <p:ph type="body" idx="1"/>
          </p:nvPr>
        </p:nvSpPr>
        <p:spPr>
          <a:xfrm>
            <a:off x="685800" y="304800"/>
            <a:ext cx="7772400" cy="2971800"/>
          </a:xfrm>
        </p:spPr>
        <p:txBody>
          <a:bodyPr>
            <a:normAutofit fontScale="77500" lnSpcReduction="20000"/>
          </a:bodyPr>
          <a:lstStyle/>
          <a:p>
            <a:pPr>
              <a:lnSpc>
                <a:spcPct val="105000"/>
              </a:lnSpc>
              <a:spcBef>
                <a:spcPct val="10000"/>
              </a:spcBef>
              <a:buClr>
                <a:srgbClr val="FF7C80"/>
              </a:buClr>
              <a:buSzPct val="50000"/>
              <a:defRPr/>
            </a:pPr>
            <a:endParaRPr lang="zh-CN" altLang="en-US" sz="3400" b="1">
              <a:effectLst>
                <a:outerShdw blurRad="38100" dist="38100" dir="2700000" algn="tl">
                  <a:srgbClr val="C0C0C0"/>
                </a:outerShdw>
              </a:effectLst>
              <a:ea typeface="仿宋_GB2312" panose="02010609030101010101" charset="-122"/>
            </a:endParaRPr>
          </a:p>
          <a:p>
            <a:pPr>
              <a:lnSpc>
                <a:spcPct val="105000"/>
              </a:lnSpc>
              <a:spcBef>
                <a:spcPct val="10000"/>
              </a:spcBef>
              <a:buClr>
                <a:srgbClr val="FF7C80"/>
              </a:buClr>
              <a:buSzPct val="50000"/>
              <a:defRPr/>
            </a:pPr>
            <a:r>
              <a:rPr lang="zh-CN" altLang="en-US" sz="3400" b="1">
                <a:effectLst>
                  <a:outerShdw blurRad="38100" dist="38100" dir="2700000" algn="tl">
                    <a:srgbClr val="C0C0C0"/>
                  </a:outerShdw>
                </a:effectLst>
                <a:ea typeface="仿宋_GB2312" panose="02010609030101010101" charset="-122"/>
              </a:rPr>
              <a:t>循环链表的示例</a:t>
            </a:r>
            <a:endParaRPr lang="zh-CN" altLang="en-US" sz="3400" b="1">
              <a:effectLst>
                <a:outerShdw blurRad="38100" dist="38100" dir="2700000" algn="tl">
                  <a:srgbClr val="C0C0C0"/>
                </a:outerShdw>
              </a:effectLst>
              <a:ea typeface="仿宋_GB2312" panose="02010609030101010101" charset="-122"/>
            </a:endParaRPr>
          </a:p>
          <a:p>
            <a:pPr>
              <a:lnSpc>
                <a:spcPct val="105000"/>
              </a:lnSpc>
              <a:spcBef>
                <a:spcPct val="10000"/>
              </a:spcBef>
              <a:buClr>
                <a:srgbClr val="FF7C80"/>
              </a:buClr>
              <a:buSzPct val="50000"/>
              <a:defRPr/>
            </a:pPr>
            <a:endParaRPr lang="zh-CN" altLang="en-US" sz="3400" b="1">
              <a:effectLst>
                <a:outerShdw blurRad="38100" dist="38100" dir="2700000" algn="tl">
                  <a:srgbClr val="C0C0C0"/>
                </a:outerShdw>
              </a:effectLst>
              <a:ea typeface="仿宋_GB2312" panose="02010609030101010101" charset="-122"/>
            </a:endParaRPr>
          </a:p>
          <a:p>
            <a:pPr>
              <a:lnSpc>
                <a:spcPct val="105000"/>
              </a:lnSpc>
              <a:spcBef>
                <a:spcPct val="10000"/>
              </a:spcBef>
              <a:buClr>
                <a:srgbClr val="FF7C80"/>
              </a:buClr>
              <a:buSzPct val="50000"/>
              <a:defRPr/>
            </a:pPr>
            <a:endParaRPr lang="zh-CN" altLang="en-US" sz="3400" b="1">
              <a:effectLst>
                <a:outerShdw blurRad="38100" dist="38100" dir="2700000" algn="tl">
                  <a:srgbClr val="C0C0C0"/>
                </a:outerShdw>
              </a:effectLst>
              <a:ea typeface="仿宋_GB2312" panose="02010609030101010101" charset="-122"/>
            </a:endParaRPr>
          </a:p>
          <a:p>
            <a:pPr>
              <a:lnSpc>
                <a:spcPct val="105000"/>
              </a:lnSpc>
              <a:spcBef>
                <a:spcPct val="10000"/>
              </a:spcBef>
              <a:buClr>
                <a:srgbClr val="FF7C80"/>
              </a:buClr>
              <a:buSzPct val="50000"/>
              <a:defRPr/>
            </a:pPr>
            <a:endParaRPr lang="zh-CN" altLang="en-US" sz="3400" b="1">
              <a:effectLst>
                <a:outerShdw blurRad="38100" dist="38100" dir="2700000" algn="tl">
                  <a:srgbClr val="C0C0C0"/>
                </a:outerShdw>
              </a:effectLst>
              <a:ea typeface="仿宋_GB2312" panose="02010609030101010101" charset="-122"/>
            </a:endParaRPr>
          </a:p>
          <a:p>
            <a:pPr>
              <a:lnSpc>
                <a:spcPct val="105000"/>
              </a:lnSpc>
              <a:spcBef>
                <a:spcPct val="10000"/>
              </a:spcBef>
              <a:buClr>
                <a:srgbClr val="FF7C80"/>
              </a:buClr>
              <a:buSzPct val="50000"/>
              <a:defRPr/>
            </a:pPr>
            <a:r>
              <a:rPr lang="zh-CN" altLang="en-US" sz="3400" b="1">
                <a:effectLst>
                  <a:outerShdw blurRad="38100" dist="38100" dir="2700000" algn="tl">
                    <a:srgbClr val="C0C0C0"/>
                  </a:outerShdw>
                </a:effectLst>
                <a:ea typeface="仿宋_GB2312" panose="02010609030101010101" charset="-122"/>
              </a:rPr>
              <a:t>带表头结点的循环链表</a:t>
            </a:r>
            <a:r>
              <a:rPr lang="zh-CN" altLang="en-US" sz="3400">
                <a:ea typeface="仿宋_GB2312" panose="02010609030101010101" charset="-122"/>
              </a:rPr>
              <a:t> </a:t>
            </a:r>
            <a:endParaRPr lang="zh-CN" altLang="en-US" sz="3400">
              <a:ea typeface="仿宋_GB2312" panose="02010609030101010101" charset="-122"/>
            </a:endParaRPr>
          </a:p>
        </p:txBody>
      </p:sp>
      <p:grpSp>
        <p:nvGrpSpPr>
          <p:cNvPr id="133122" name="Group 3"/>
          <p:cNvGrpSpPr/>
          <p:nvPr/>
        </p:nvGrpSpPr>
        <p:grpSpPr bwMode="auto">
          <a:xfrm>
            <a:off x="673100" y="1938338"/>
            <a:ext cx="7162800" cy="4310062"/>
            <a:chOff x="384" y="971"/>
            <a:chExt cx="4512" cy="2715"/>
          </a:xfrm>
        </p:grpSpPr>
        <p:sp>
          <p:nvSpPr>
            <p:cNvPr id="1027076" name="Rectangle 4"/>
            <p:cNvSpPr>
              <a:spLocks noChangeArrowheads="1"/>
            </p:cNvSpPr>
            <p:nvPr/>
          </p:nvSpPr>
          <p:spPr bwMode="auto">
            <a:xfrm>
              <a:off x="1200" y="1096"/>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077" name="Line 5"/>
            <p:cNvSpPr>
              <a:spLocks noChangeShapeType="1"/>
            </p:cNvSpPr>
            <p:nvPr/>
          </p:nvSpPr>
          <p:spPr bwMode="auto">
            <a:xfrm>
              <a:off x="1536"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78" name="Line 6"/>
            <p:cNvSpPr>
              <a:spLocks noChangeShapeType="1"/>
            </p:cNvSpPr>
            <p:nvPr/>
          </p:nvSpPr>
          <p:spPr bwMode="auto">
            <a:xfrm flipV="1">
              <a:off x="1536" y="1048"/>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79" name="Text Box 7"/>
            <p:cNvSpPr txBox="1">
              <a:spLocks noChangeArrowheads="1"/>
            </p:cNvSpPr>
            <p:nvPr/>
          </p:nvSpPr>
          <p:spPr bwMode="auto">
            <a:xfrm>
              <a:off x="1208" y="1019"/>
              <a:ext cx="3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accent2"/>
                  </a:solidFill>
                </a:rPr>
                <a:t>a</a:t>
              </a:r>
              <a:r>
                <a:rPr lang="en-US" altLang="zh-CN" sz="3200" b="1" baseline="-25000">
                  <a:solidFill>
                    <a:schemeClr val="accent2"/>
                  </a:solidFill>
                </a:rPr>
                <a:t>0</a:t>
              </a:r>
              <a:endParaRPr lang="en-US" altLang="zh-CN" sz="2400"/>
            </a:p>
          </p:txBody>
        </p:sp>
        <p:sp>
          <p:nvSpPr>
            <p:cNvPr id="1027080" name="Line 8"/>
            <p:cNvSpPr>
              <a:spLocks noChangeShapeType="1"/>
            </p:cNvSpPr>
            <p:nvPr/>
          </p:nvSpPr>
          <p:spPr bwMode="auto">
            <a:xfrm>
              <a:off x="960" y="1192"/>
              <a:ext cx="240"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81" name="Rectangle 9"/>
            <p:cNvSpPr>
              <a:spLocks noChangeArrowheads="1"/>
            </p:cNvSpPr>
            <p:nvPr/>
          </p:nvSpPr>
          <p:spPr bwMode="auto">
            <a:xfrm>
              <a:off x="2016" y="1096"/>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082" name="Line 10"/>
            <p:cNvSpPr>
              <a:spLocks noChangeShapeType="1"/>
            </p:cNvSpPr>
            <p:nvPr/>
          </p:nvSpPr>
          <p:spPr bwMode="auto">
            <a:xfrm>
              <a:off x="2352"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83" name="Line 11"/>
            <p:cNvSpPr>
              <a:spLocks noChangeShapeType="1"/>
            </p:cNvSpPr>
            <p:nvPr/>
          </p:nvSpPr>
          <p:spPr bwMode="auto">
            <a:xfrm flipV="1">
              <a:off x="2352" y="1029"/>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84" name="Text Box 12"/>
            <p:cNvSpPr txBox="1">
              <a:spLocks noChangeArrowheads="1"/>
            </p:cNvSpPr>
            <p:nvPr/>
          </p:nvSpPr>
          <p:spPr bwMode="auto">
            <a:xfrm>
              <a:off x="2024" y="1019"/>
              <a:ext cx="3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accent2"/>
                  </a:solidFill>
                </a:rPr>
                <a:t>a</a:t>
              </a:r>
              <a:r>
                <a:rPr lang="en-US" altLang="zh-CN" sz="3200" b="1" baseline="-25000">
                  <a:solidFill>
                    <a:schemeClr val="accent2"/>
                  </a:solidFill>
                </a:rPr>
                <a:t>1</a:t>
              </a:r>
              <a:endParaRPr lang="en-US" altLang="zh-CN" sz="2400"/>
            </a:p>
          </p:txBody>
        </p:sp>
        <p:sp>
          <p:nvSpPr>
            <p:cNvPr id="1027085" name="Line 13"/>
            <p:cNvSpPr>
              <a:spLocks noChangeShapeType="1"/>
            </p:cNvSpPr>
            <p:nvPr/>
          </p:nvSpPr>
          <p:spPr bwMode="auto">
            <a:xfrm>
              <a:off x="1824" y="1240"/>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86" name="Rectangle 14"/>
            <p:cNvSpPr>
              <a:spLocks noChangeArrowheads="1"/>
            </p:cNvSpPr>
            <p:nvPr/>
          </p:nvSpPr>
          <p:spPr bwMode="auto">
            <a:xfrm>
              <a:off x="2832" y="1096"/>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087" name="Line 15"/>
            <p:cNvSpPr>
              <a:spLocks noChangeShapeType="1"/>
            </p:cNvSpPr>
            <p:nvPr/>
          </p:nvSpPr>
          <p:spPr bwMode="auto">
            <a:xfrm>
              <a:off x="3168"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88" name="Line 16"/>
            <p:cNvSpPr>
              <a:spLocks noChangeShapeType="1"/>
            </p:cNvSpPr>
            <p:nvPr/>
          </p:nvSpPr>
          <p:spPr bwMode="auto">
            <a:xfrm flipV="1">
              <a:off x="3168" y="1048"/>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89" name="Line 17"/>
            <p:cNvSpPr>
              <a:spLocks noChangeShapeType="1"/>
            </p:cNvSpPr>
            <p:nvPr/>
          </p:nvSpPr>
          <p:spPr bwMode="auto">
            <a:xfrm>
              <a:off x="2640" y="1240"/>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0" name="Text Box 18"/>
            <p:cNvSpPr txBox="1">
              <a:spLocks noChangeArrowheads="1"/>
            </p:cNvSpPr>
            <p:nvPr/>
          </p:nvSpPr>
          <p:spPr bwMode="auto">
            <a:xfrm>
              <a:off x="2832" y="1019"/>
              <a:ext cx="3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accent2"/>
                  </a:solidFill>
                </a:rPr>
                <a:t>a</a:t>
              </a:r>
              <a:r>
                <a:rPr lang="en-US" altLang="zh-CN" sz="3200" b="1" baseline="-25000">
                  <a:solidFill>
                    <a:schemeClr val="accent2"/>
                  </a:solidFill>
                </a:rPr>
                <a:t>2</a:t>
              </a:r>
              <a:endParaRPr lang="en-US" altLang="zh-CN" sz="2400"/>
            </a:p>
          </p:txBody>
        </p:sp>
        <p:sp>
          <p:nvSpPr>
            <p:cNvPr id="1027091" name="Line 19"/>
            <p:cNvSpPr>
              <a:spLocks noChangeShapeType="1"/>
            </p:cNvSpPr>
            <p:nvPr/>
          </p:nvSpPr>
          <p:spPr bwMode="auto">
            <a:xfrm>
              <a:off x="3456" y="1240"/>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2" name="Line 20"/>
            <p:cNvSpPr>
              <a:spLocks noChangeShapeType="1"/>
            </p:cNvSpPr>
            <p:nvPr/>
          </p:nvSpPr>
          <p:spPr bwMode="auto">
            <a:xfrm>
              <a:off x="3648" y="1240"/>
              <a:ext cx="288" cy="0"/>
            </a:xfrm>
            <a:prstGeom prst="line">
              <a:avLst/>
            </a:prstGeom>
            <a:noFill/>
            <a:ln w="38100" cap="rnd">
              <a:solidFill>
                <a:schemeClr val="tx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3" name="Line 21"/>
            <p:cNvSpPr>
              <a:spLocks noChangeShapeType="1"/>
            </p:cNvSpPr>
            <p:nvPr/>
          </p:nvSpPr>
          <p:spPr bwMode="auto">
            <a:xfrm>
              <a:off x="3888" y="1240"/>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4" name="Rectangle 22"/>
            <p:cNvSpPr>
              <a:spLocks noChangeArrowheads="1"/>
            </p:cNvSpPr>
            <p:nvPr/>
          </p:nvSpPr>
          <p:spPr bwMode="auto">
            <a:xfrm>
              <a:off x="4080" y="1096"/>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095" name="Line 23"/>
            <p:cNvSpPr>
              <a:spLocks noChangeShapeType="1"/>
            </p:cNvSpPr>
            <p:nvPr/>
          </p:nvSpPr>
          <p:spPr bwMode="auto">
            <a:xfrm>
              <a:off x="4464"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6" name="Line 24"/>
            <p:cNvSpPr>
              <a:spLocks noChangeShapeType="1"/>
            </p:cNvSpPr>
            <p:nvPr/>
          </p:nvSpPr>
          <p:spPr bwMode="auto">
            <a:xfrm flipV="1">
              <a:off x="4464" y="1048"/>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7" name="Text Box 25"/>
            <p:cNvSpPr txBox="1">
              <a:spLocks noChangeArrowheads="1"/>
            </p:cNvSpPr>
            <p:nvPr/>
          </p:nvSpPr>
          <p:spPr bwMode="auto">
            <a:xfrm>
              <a:off x="4035" y="1019"/>
              <a:ext cx="47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accent2"/>
                  </a:solidFill>
                </a:rPr>
                <a:t>a</a:t>
              </a:r>
              <a:r>
                <a:rPr lang="en-US" altLang="zh-CN" sz="3200" b="1" i="1" baseline="-25000">
                  <a:solidFill>
                    <a:schemeClr val="accent2"/>
                  </a:solidFill>
                </a:rPr>
                <a:t>n</a:t>
              </a:r>
              <a:r>
                <a:rPr lang="en-US" altLang="zh-CN" sz="3200" b="1" baseline="-25000">
                  <a:solidFill>
                    <a:schemeClr val="accent2"/>
                  </a:solidFill>
                </a:rPr>
                <a:t>-1</a:t>
              </a:r>
              <a:endParaRPr lang="en-US" altLang="zh-CN" sz="2400"/>
            </a:p>
          </p:txBody>
        </p:sp>
        <p:sp>
          <p:nvSpPr>
            <p:cNvPr id="1027098" name="Line 26"/>
            <p:cNvSpPr>
              <a:spLocks noChangeShapeType="1"/>
            </p:cNvSpPr>
            <p:nvPr/>
          </p:nvSpPr>
          <p:spPr bwMode="auto">
            <a:xfrm>
              <a:off x="1008" y="1336"/>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9" name="Line 27"/>
            <p:cNvSpPr>
              <a:spLocks noChangeShapeType="1"/>
            </p:cNvSpPr>
            <p:nvPr/>
          </p:nvSpPr>
          <p:spPr bwMode="auto">
            <a:xfrm>
              <a:off x="1008" y="1336"/>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0" name="Line 28"/>
            <p:cNvSpPr>
              <a:spLocks noChangeShapeType="1"/>
            </p:cNvSpPr>
            <p:nvPr/>
          </p:nvSpPr>
          <p:spPr bwMode="auto">
            <a:xfrm>
              <a:off x="1008" y="1576"/>
              <a:ext cx="38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1" name="Line 29"/>
            <p:cNvSpPr>
              <a:spLocks noChangeShapeType="1"/>
            </p:cNvSpPr>
            <p:nvPr/>
          </p:nvSpPr>
          <p:spPr bwMode="auto">
            <a:xfrm>
              <a:off x="4704" y="1240"/>
              <a:ext cx="19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2" name="Line 30"/>
            <p:cNvSpPr>
              <a:spLocks noChangeShapeType="1"/>
            </p:cNvSpPr>
            <p:nvPr/>
          </p:nvSpPr>
          <p:spPr bwMode="auto">
            <a:xfrm>
              <a:off x="4896" y="1240"/>
              <a:ext cx="0" cy="33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3" name="Text Box 31"/>
            <p:cNvSpPr txBox="1">
              <a:spLocks noChangeArrowheads="1"/>
            </p:cNvSpPr>
            <p:nvPr/>
          </p:nvSpPr>
          <p:spPr bwMode="auto">
            <a:xfrm>
              <a:off x="432" y="971"/>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chemeClr val="tx2"/>
                  </a:solidFill>
                </a:rPr>
                <a:t>L</a:t>
              </a:r>
              <a:endParaRPr lang="en-US" altLang="zh-CN" sz="2400"/>
            </a:p>
          </p:txBody>
        </p:sp>
        <p:sp>
          <p:nvSpPr>
            <p:cNvPr id="1027104" name="Rectangle 32"/>
            <p:cNvSpPr>
              <a:spLocks noChangeArrowheads="1"/>
            </p:cNvSpPr>
            <p:nvPr/>
          </p:nvSpPr>
          <p:spPr bwMode="auto">
            <a:xfrm>
              <a:off x="1152" y="2344"/>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105" name="Line 33"/>
            <p:cNvSpPr>
              <a:spLocks noChangeShapeType="1"/>
            </p:cNvSpPr>
            <p:nvPr/>
          </p:nvSpPr>
          <p:spPr bwMode="auto">
            <a:xfrm>
              <a:off x="1488" y="23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6" name="Line 34"/>
            <p:cNvSpPr>
              <a:spLocks noChangeShapeType="1"/>
            </p:cNvSpPr>
            <p:nvPr/>
          </p:nvSpPr>
          <p:spPr bwMode="auto">
            <a:xfrm flipV="1">
              <a:off x="1488" y="2296"/>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7" name="Line 35"/>
            <p:cNvSpPr>
              <a:spLocks noChangeShapeType="1"/>
            </p:cNvSpPr>
            <p:nvPr/>
          </p:nvSpPr>
          <p:spPr bwMode="auto">
            <a:xfrm>
              <a:off x="912" y="2440"/>
              <a:ext cx="240"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8" name="Rectangle 36"/>
            <p:cNvSpPr>
              <a:spLocks noChangeArrowheads="1"/>
            </p:cNvSpPr>
            <p:nvPr/>
          </p:nvSpPr>
          <p:spPr bwMode="auto">
            <a:xfrm>
              <a:off x="1968" y="2344"/>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109" name="Line 37"/>
            <p:cNvSpPr>
              <a:spLocks noChangeShapeType="1"/>
            </p:cNvSpPr>
            <p:nvPr/>
          </p:nvSpPr>
          <p:spPr bwMode="auto">
            <a:xfrm>
              <a:off x="2304" y="23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0" name="Line 38"/>
            <p:cNvSpPr>
              <a:spLocks noChangeShapeType="1"/>
            </p:cNvSpPr>
            <p:nvPr/>
          </p:nvSpPr>
          <p:spPr bwMode="auto">
            <a:xfrm flipV="1">
              <a:off x="2304" y="2277"/>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1" name="Line 39"/>
            <p:cNvSpPr>
              <a:spLocks noChangeShapeType="1"/>
            </p:cNvSpPr>
            <p:nvPr/>
          </p:nvSpPr>
          <p:spPr bwMode="auto">
            <a:xfrm>
              <a:off x="1776" y="2488"/>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2" name="Rectangle 40"/>
            <p:cNvSpPr>
              <a:spLocks noChangeArrowheads="1"/>
            </p:cNvSpPr>
            <p:nvPr/>
          </p:nvSpPr>
          <p:spPr bwMode="auto">
            <a:xfrm>
              <a:off x="2784" y="2344"/>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113" name="Line 41"/>
            <p:cNvSpPr>
              <a:spLocks noChangeShapeType="1"/>
            </p:cNvSpPr>
            <p:nvPr/>
          </p:nvSpPr>
          <p:spPr bwMode="auto">
            <a:xfrm>
              <a:off x="3120" y="23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4" name="Line 42"/>
            <p:cNvSpPr>
              <a:spLocks noChangeShapeType="1"/>
            </p:cNvSpPr>
            <p:nvPr/>
          </p:nvSpPr>
          <p:spPr bwMode="auto">
            <a:xfrm flipV="1">
              <a:off x="3120" y="2296"/>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5" name="Line 43"/>
            <p:cNvSpPr>
              <a:spLocks noChangeShapeType="1"/>
            </p:cNvSpPr>
            <p:nvPr/>
          </p:nvSpPr>
          <p:spPr bwMode="auto">
            <a:xfrm>
              <a:off x="2592" y="2488"/>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6" name="Line 44"/>
            <p:cNvSpPr>
              <a:spLocks noChangeShapeType="1"/>
            </p:cNvSpPr>
            <p:nvPr/>
          </p:nvSpPr>
          <p:spPr bwMode="auto">
            <a:xfrm>
              <a:off x="3408" y="2488"/>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7" name="Line 45"/>
            <p:cNvSpPr>
              <a:spLocks noChangeShapeType="1"/>
            </p:cNvSpPr>
            <p:nvPr/>
          </p:nvSpPr>
          <p:spPr bwMode="auto">
            <a:xfrm>
              <a:off x="3600" y="2488"/>
              <a:ext cx="288" cy="0"/>
            </a:xfrm>
            <a:prstGeom prst="line">
              <a:avLst/>
            </a:prstGeom>
            <a:noFill/>
            <a:ln w="38100" cap="rnd">
              <a:solidFill>
                <a:schemeClr val="tx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8" name="Line 46"/>
            <p:cNvSpPr>
              <a:spLocks noChangeShapeType="1"/>
            </p:cNvSpPr>
            <p:nvPr/>
          </p:nvSpPr>
          <p:spPr bwMode="auto">
            <a:xfrm>
              <a:off x="3840" y="2488"/>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9" name="Rectangle 47"/>
            <p:cNvSpPr>
              <a:spLocks noChangeArrowheads="1"/>
            </p:cNvSpPr>
            <p:nvPr/>
          </p:nvSpPr>
          <p:spPr bwMode="auto">
            <a:xfrm>
              <a:off x="4032" y="2344"/>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120" name="Line 48"/>
            <p:cNvSpPr>
              <a:spLocks noChangeShapeType="1"/>
            </p:cNvSpPr>
            <p:nvPr/>
          </p:nvSpPr>
          <p:spPr bwMode="auto">
            <a:xfrm>
              <a:off x="4416" y="23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1" name="Line 49"/>
            <p:cNvSpPr>
              <a:spLocks noChangeShapeType="1"/>
            </p:cNvSpPr>
            <p:nvPr/>
          </p:nvSpPr>
          <p:spPr bwMode="auto">
            <a:xfrm flipV="1">
              <a:off x="4416" y="2296"/>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2" name="Text Box 50"/>
            <p:cNvSpPr txBox="1">
              <a:spLocks noChangeArrowheads="1"/>
            </p:cNvSpPr>
            <p:nvPr/>
          </p:nvSpPr>
          <p:spPr bwMode="auto">
            <a:xfrm>
              <a:off x="3987" y="2267"/>
              <a:ext cx="47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accent2"/>
                  </a:solidFill>
                </a:rPr>
                <a:t>a</a:t>
              </a:r>
              <a:r>
                <a:rPr lang="en-US" altLang="zh-CN" sz="3200" b="1" i="1" baseline="-25000">
                  <a:solidFill>
                    <a:schemeClr val="accent2"/>
                  </a:solidFill>
                </a:rPr>
                <a:t>n</a:t>
              </a:r>
              <a:r>
                <a:rPr lang="en-US" altLang="zh-CN" sz="3200" b="1" baseline="-25000">
                  <a:solidFill>
                    <a:schemeClr val="accent2"/>
                  </a:solidFill>
                </a:rPr>
                <a:t>-1</a:t>
              </a:r>
              <a:endParaRPr lang="en-US" altLang="zh-CN" sz="2400"/>
            </a:p>
          </p:txBody>
        </p:sp>
        <p:sp>
          <p:nvSpPr>
            <p:cNvPr id="1027123" name="Line 51"/>
            <p:cNvSpPr>
              <a:spLocks noChangeShapeType="1"/>
            </p:cNvSpPr>
            <p:nvPr/>
          </p:nvSpPr>
          <p:spPr bwMode="auto">
            <a:xfrm>
              <a:off x="960" y="2584"/>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4" name="Line 52"/>
            <p:cNvSpPr>
              <a:spLocks noChangeShapeType="1"/>
            </p:cNvSpPr>
            <p:nvPr/>
          </p:nvSpPr>
          <p:spPr bwMode="auto">
            <a:xfrm>
              <a:off x="960" y="2584"/>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5" name="Line 53"/>
            <p:cNvSpPr>
              <a:spLocks noChangeShapeType="1"/>
            </p:cNvSpPr>
            <p:nvPr/>
          </p:nvSpPr>
          <p:spPr bwMode="auto">
            <a:xfrm>
              <a:off x="960" y="2824"/>
              <a:ext cx="38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6" name="Line 54"/>
            <p:cNvSpPr>
              <a:spLocks noChangeShapeType="1"/>
            </p:cNvSpPr>
            <p:nvPr/>
          </p:nvSpPr>
          <p:spPr bwMode="auto">
            <a:xfrm>
              <a:off x="4656" y="2488"/>
              <a:ext cx="19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7" name="Line 55"/>
            <p:cNvSpPr>
              <a:spLocks noChangeShapeType="1"/>
            </p:cNvSpPr>
            <p:nvPr/>
          </p:nvSpPr>
          <p:spPr bwMode="auto">
            <a:xfrm>
              <a:off x="4848" y="2488"/>
              <a:ext cx="0" cy="33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8" name="Text Box 56"/>
            <p:cNvSpPr txBox="1">
              <a:spLocks noChangeArrowheads="1"/>
            </p:cNvSpPr>
            <p:nvPr/>
          </p:nvSpPr>
          <p:spPr bwMode="auto">
            <a:xfrm>
              <a:off x="384" y="2219"/>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chemeClr val="tx2"/>
                  </a:solidFill>
                </a:rPr>
                <a:t>L</a:t>
              </a:r>
              <a:endParaRPr lang="en-US" altLang="zh-CN" sz="2400"/>
            </a:p>
          </p:txBody>
        </p:sp>
        <p:sp>
          <p:nvSpPr>
            <p:cNvPr id="1027129" name="Text Box 57"/>
            <p:cNvSpPr txBox="1">
              <a:spLocks noChangeArrowheads="1"/>
            </p:cNvSpPr>
            <p:nvPr/>
          </p:nvSpPr>
          <p:spPr bwMode="auto">
            <a:xfrm>
              <a:off x="2792" y="2267"/>
              <a:ext cx="3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accent2"/>
                  </a:solidFill>
                </a:rPr>
                <a:t>a</a:t>
              </a:r>
              <a:r>
                <a:rPr lang="en-US" altLang="zh-CN" sz="3200" b="1" baseline="-25000">
                  <a:solidFill>
                    <a:schemeClr val="accent2"/>
                  </a:solidFill>
                </a:rPr>
                <a:t>1</a:t>
              </a:r>
              <a:endParaRPr lang="en-US" altLang="zh-CN" sz="2400"/>
            </a:p>
          </p:txBody>
        </p:sp>
        <p:sp>
          <p:nvSpPr>
            <p:cNvPr id="1027130" name="Text Box 58"/>
            <p:cNvSpPr txBox="1">
              <a:spLocks noChangeArrowheads="1"/>
            </p:cNvSpPr>
            <p:nvPr/>
          </p:nvSpPr>
          <p:spPr bwMode="auto">
            <a:xfrm>
              <a:off x="1976" y="2267"/>
              <a:ext cx="3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i="1">
                  <a:solidFill>
                    <a:schemeClr val="accent2"/>
                  </a:solidFill>
                </a:rPr>
                <a:t>a</a:t>
              </a:r>
              <a:r>
                <a:rPr lang="en-US" altLang="zh-CN" sz="3200" b="1" baseline="-25000">
                  <a:solidFill>
                    <a:schemeClr val="accent2"/>
                  </a:solidFill>
                </a:rPr>
                <a:t>0</a:t>
              </a:r>
              <a:endParaRPr lang="en-US" altLang="zh-CN" sz="2400"/>
            </a:p>
          </p:txBody>
        </p:sp>
        <p:sp>
          <p:nvSpPr>
            <p:cNvPr id="1027131" name="Rectangle 59"/>
            <p:cNvSpPr>
              <a:spLocks noChangeArrowheads="1"/>
            </p:cNvSpPr>
            <p:nvPr/>
          </p:nvSpPr>
          <p:spPr bwMode="auto">
            <a:xfrm>
              <a:off x="1152" y="3160"/>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132" name="Line 60"/>
            <p:cNvSpPr>
              <a:spLocks noChangeShapeType="1"/>
            </p:cNvSpPr>
            <p:nvPr/>
          </p:nvSpPr>
          <p:spPr bwMode="auto">
            <a:xfrm>
              <a:off x="1488" y="316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33" name="Line 61"/>
            <p:cNvSpPr>
              <a:spLocks noChangeShapeType="1"/>
            </p:cNvSpPr>
            <p:nvPr/>
          </p:nvSpPr>
          <p:spPr bwMode="auto">
            <a:xfrm flipV="1">
              <a:off x="1488" y="3112"/>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34" name="Line 62"/>
            <p:cNvSpPr>
              <a:spLocks noChangeShapeType="1"/>
            </p:cNvSpPr>
            <p:nvPr/>
          </p:nvSpPr>
          <p:spPr bwMode="auto">
            <a:xfrm>
              <a:off x="912" y="3256"/>
              <a:ext cx="240"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35" name="Line 63"/>
            <p:cNvSpPr>
              <a:spLocks noChangeShapeType="1"/>
            </p:cNvSpPr>
            <p:nvPr/>
          </p:nvSpPr>
          <p:spPr bwMode="auto">
            <a:xfrm>
              <a:off x="960" y="3400"/>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36" name="Line 64"/>
            <p:cNvSpPr>
              <a:spLocks noChangeShapeType="1"/>
            </p:cNvSpPr>
            <p:nvPr/>
          </p:nvSpPr>
          <p:spPr bwMode="auto">
            <a:xfrm>
              <a:off x="960" y="3400"/>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37" name="Line 65"/>
            <p:cNvSpPr>
              <a:spLocks noChangeShapeType="1"/>
            </p:cNvSpPr>
            <p:nvPr/>
          </p:nvSpPr>
          <p:spPr bwMode="auto">
            <a:xfrm>
              <a:off x="960" y="3640"/>
              <a:ext cx="100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38" name="Text Box 66"/>
            <p:cNvSpPr txBox="1">
              <a:spLocks noChangeArrowheads="1"/>
            </p:cNvSpPr>
            <p:nvPr/>
          </p:nvSpPr>
          <p:spPr bwMode="auto">
            <a:xfrm>
              <a:off x="384" y="3035"/>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chemeClr val="tx2"/>
                  </a:solidFill>
                </a:rPr>
                <a:t>L</a:t>
              </a:r>
              <a:endParaRPr lang="en-US" altLang="zh-CN" sz="2400"/>
            </a:p>
          </p:txBody>
        </p:sp>
        <p:sp>
          <p:nvSpPr>
            <p:cNvPr id="1027139" name="Line 67"/>
            <p:cNvSpPr>
              <a:spLocks noChangeShapeType="1"/>
            </p:cNvSpPr>
            <p:nvPr/>
          </p:nvSpPr>
          <p:spPr bwMode="auto">
            <a:xfrm>
              <a:off x="1776" y="3304"/>
              <a:ext cx="19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40" name="Line 68"/>
            <p:cNvSpPr>
              <a:spLocks noChangeShapeType="1"/>
            </p:cNvSpPr>
            <p:nvPr/>
          </p:nvSpPr>
          <p:spPr bwMode="auto">
            <a:xfrm>
              <a:off x="1968" y="3304"/>
              <a:ext cx="0" cy="33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41" name="Text Box 69"/>
            <p:cNvSpPr txBox="1">
              <a:spLocks noChangeArrowheads="1"/>
            </p:cNvSpPr>
            <p:nvPr/>
          </p:nvSpPr>
          <p:spPr bwMode="auto">
            <a:xfrm>
              <a:off x="2064" y="3340"/>
              <a:ext cx="83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000" b="1">
                  <a:latin typeface="隶书" panose="02010509060101010101" charset="-122"/>
                  <a:ea typeface="隶书" panose="02010509060101010101" charset="-122"/>
                </a:rPr>
                <a:t>(</a:t>
              </a:r>
              <a:r>
                <a:rPr lang="zh-CN" altLang="en-US" sz="3000" b="1">
                  <a:latin typeface="隶书" panose="02010509060101010101" charset="-122"/>
                  <a:ea typeface="隶书" panose="02010509060101010101" charset="-122"/>
                </a:rPr>
                <a:t>空表</a:t>
              </a:r>
              <a:r>
                <a:rPr lang="en-US" altLang="zh-CN" sz="3000" b="1">
                  <a:latin typeface="隶书" panose="02010509060101010101" charset="-122"/>
                  <a:ea typeface="隶书" panose="02010509060101010101" charset="-122"/>
                </a:rPr>
                <a:t>)</a:t>
              </a:r>
              <a:endParaRPr lang="en-US" altLang="zh-CN" sz="3000"/>
            </a:p>
          </p:txBody>
        </p:sp>
        <p:sp>
          <p:nvSpPr>
            <p:cNvPr id="1027142" name="Text Box 70"/>
            <p:cNvSpPr txBox="1">
              <a:spLocks noChangeArrowheads="1"/>
            </p:cNvSpPr>
            <p:nvPr/>
          </p:nvSpPr>
          <p:spPr bwMode="auto">
            <a:xfrm>
              <a:off x="3764" y="2841"/>
              <a:ext cx="107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000" b="1">
                  <a:latin typeface="隶书" panose="02010509060101010101" charset="-122"/>
                  <a:ea typeface="隶书" panose="02010509060101010101" charset="-122"/>
                </a:rPr>
                <a:t>(</a:t>
              </a:r>
              <a:r>
                <a:rPr lang="zh-CN" altLang="en-US" sz="3000" b="1">
                  <a:latin typeface="隶书" panose="02010509060101010101" charset="-122"/>
                  <a:ea typeface="隶书" panose="02010509060101010101" charset="-122"/>
                </a:rPr>
                <a:t>非空表</a:t>
              </a:r>
              <a:r>
                <a:rPr lang="en-US" altLang="zh-CN" sz="3000" b="1">
                  <a:latin typeface="隶书" panose="02010509060101010101" charset="-122"/>
                  <a:ea typeface="隶书" panose="02010509060101010101" charset="-122"/>
                </a:rPr>
                <a:t>)</a:t>
              </a:r>
              <a:endParaRPr lang="en-US" altLang="zh-CN" sz="3000"/>
            </a:p>
          </p:txBody>
        </p:sp>
      </p:gr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ext Box 2"/>
          <p:cNvSpPr txBox="1">
            <a:spLocks noChangeArrowheads="1"/>
          </p:cNvSpPr>
          <p:nvPr/>
        </p:nvSpPr>
        <p:spPr bwMode="auto">
          <a:xfrm>
            <a:off x="6083300" y="5575300"/>
            <a:ext cx="2257425" cy="601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12947" tIns="56473" rIns="112947" bIns="56473">
            <a:spAutoFit/>
          </a:bodyPr>
          <a:lstStyle>
            <a:lvl1pPr defTabSz="112903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565150" indent="-285750" defTabSz="112903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29030" indent="-228600" defTabSz="112903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94180" indent="-228600" defTabSz="112903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259330" indent="-228600" defTabSz="112903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7165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31737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6309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40881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200" b="1" u="sng">
                <a:latin typeface="Times New Roman" panose="02020603050405020304" charset="0"/>
                <a:ea typeface="隶书" panose="02010509060101010101" charset="-122"/>
              </a:rPr>
              <a:t>搜索不成功</a:t>
            </a:r>
            <a:endParaRPr lang="zh-CN" altLang="en-US" sz="3200">
              <a:latin typeface="Times New Roman" panose="02020603050405020304" charset="0"/>
            </a:endParaRPr>
          </a:p>
        </p:txBody>
      </p:sp>
      <p:sp>
        <p:nvSpPr>
          <p:cNvPr id="134146" name="Text Box 3"/>
          <p:cNvSpPr txBox="1">
            <a:spLocks noChangeArrowheads="1"/>
          </p:cNvSpPr>
          <p:nvPr/>
        </p:nvSpPr>
        <p:spPr bwMode="auto">
          <a:xfrm>
            <a:off x="2362200" y="228600"/>
            <a:ext cx="4437063" cy="663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112947" tIns="56473" rIns="112947" bIns="56473">
            <a:spAutoFit/>
          </a:bodyPr>
          <a:lstStyle>
            <a:lvl1pPr defTabSz="112903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565150" indent="-285750" defTabSz="112903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29030" indent="-228600" defTabSz="112903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94180" indent="-228600" defTabSz="112903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259330" indent="-228600" defTabSz="112903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7165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31737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6309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40881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CC0000"/>
                </a:solidFill>
                <a:latin typeface="Times New Roman" panose="02020603050405020304" charset="0"/>
                <a:ea typeface="华文新魏" panose="02010800040101010101" charset="-122"/>
              </a:rPr>
              <a:t>循环链表的搜索算法</a:t>
            </a:r>
            <a:endParaRPr lang="zh-CN" altLang="en-US" b="1">
              <a:solidFill>
                <a:srgbClr val="CC0000"/>
              </a:solidFill>
              <a:latin typeface="Times New Roman" panose="02020603050405020304" charset="0"/>
              <a:ea typeface="华文新魏" panose="02010800040101010101" charset="-122"/>
            </a:endParaRPr>
          </a:p>
        </p:txBody>
      </p:sp>
      <p:sp>
        <p:nvSpPr>
          <p:cNvPr id="1031172" name="Text Box 4"/>
          <p:cNvSpPr txBox="1">
            <a:spLocks noChangeArrowheads="1"/>
          </p:cNvSpPr>
          <p:nvPr/>
        </p:nvSpPr>
        <p:spPr bwMode="auto">
          <a:xfrm>
            <a:off x="609600" y="5729288"/>
            <a:ext cx="12223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8080"/>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2800" b="1">
                <a:latin typeface="Arial Narrow" panose="020B0606020202030204" charset="0"/>
                <a:ea typeface="仿宋_GB2312" panose="02010609030101010101" charset="-122"/>
              </a:rPr>
              <a:t>搜索</a:t>
            </a:r>
            <a:r>
              <a:rPr lang="en-US" altLang="zh-CN" sz="2800">
                <a:latin typeface="Arial Narrow" panose="020B0606020202030204" charset="0"/>
                <a:ea typeface="仿宋_GB2312" panose="02010609030101010101" charset="-122"/>
              </a:rPr>
              <a:t>25</a:t>
            </a:r>
            <a:endParaRPr lang="en-US" altLang="zh-CN" sz="2800"/>
          </a:p>
        </p:txBody>
      </p:sp>
      <p:grpSp>
        <p:nvGrpSpPr>
          <p:cNvPr id="134148" name="Group 5"/>
          <p:cNvGrpSpPr/>
          <p:nvPr/>
        </p:nvGrpSpPr>
        <p:grpSpPr bwMode="auto">
          <a:xfrm>
            <a:off x="593725" y="1909763"/>
            <a:ext cx="7797800" cy="1682750"/>
            <a:chOff x="334" y="864"/>
            <a:chExt cx="4912" cy="1060"/>
          </a:xfrm>
        </p:grpSpPr>
        <p:sp>
          <p:nvSpPr>
            <p:cNvPr id="134194" name="Text Box 6"/>
            <p:cNvSpPr txBox="1">
              <a:spLocks noChangeArrowheads="1"/>
            </p:cNvSpPr>
            <p:nvPr/>
          </p:nvSpPr>
          <p:spPr bwMode="auto">
            <a:xfrm>
              <a:off x="4080" y="1545"/>
              <a:ext cx="1166" cy="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12947" tIns="56473" rIns="112947" bIns="56473">
              <a:spAutoFit/>
            </a:bodyPr>
            <a:lstStyle>
              <a:lvl1pPr defTabSz="112903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565150" indent="-285750" defTabSz="112903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29030" indent="-228600" defTabSz="112903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94180" indent="-228600" defTabSz="112903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259330" indent="-228600" defTabSz="112903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7165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31737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6309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40881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200" b="1" u="sng">
                  <a:latin typeface="Times New Roman" panose="02020603050405020304" charset="0"/>
                  <a:ea typeface="隶书" panose="02010509060101010101" charset="-122"/>
                </a:rPr>
                <a:t>搜索成功</a:t>
              </a:r>
              <a:endParaRPr lang="zh-CN" altLang="en-US" sz="3200">
                <a:latin typeface="Times New Roman" panose="02020603050405020304" charset="0"/>
              </a:endParaRPr>
            </a:p>
          </p:txBody>
        </p:sp>
        <p:sp>
          <p:nvSpPr>
            <p:cNvPr id="1031175" name="Text Box 7"/>
            <p:cNvSpPr txBox="1">
              <a:spLocks noChangeArrowheads="1"/>
            </p:cNvSpPr>
            <p:nvPr/>
          </p:nvSpPr>
          <p:spPr bwMode="auto">
            <a:xfrm>
              <a:off x="334" y="1494"/>
              <a:ext cx="77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8080"/>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2800" b="1">
                  <a:latin typeface="Arial Narrow" panose="020B0606020202030204" charset="0"/>
                  <a:ea typeface="仿宋_GB2312" panose="02010609030101010101" charset="-122"/>
                </a:rPr>
                <a:t>搜索</a:t>
              </a:r>
              <a:r>
                <a:rPr lang="en-US" altLang="zh-CN" sz="2800">
                  <a:latin typeface="Arial Narrow" panose="020B0606020202030204" charset="0"/>
                  <a:ea typeface="仿宋_GB2312" panose="02010609030101010101" charset="-122"/>
                </a:rPr>
                <a:t>15</a:t>
              </a:r>
              <a:endParaRPr lang="en-US" altLang="zh-CN" sz="2800"/>
            </a:p>
          </p:txBody>
        </p:sp>
        <p:grpSp>
          <p:nvGrpSpPr>
            <p:cNvPr id="134196" name="Group 8"/>
            <p:cNvGrpSpPr/>
            <p:nvPr/>
          </p:nvGrpSpPr>
          <p:grpSpPr bwMode="auto">
            <a:xfrm>
              <a:off x="426" y="864"/>
              <a:ext cx="4470" cy="1056"/>
              <a:chOff x="426" y="864"/>
              <a:chExt cx="4470" cy="1056"/>
            </a:xfrm>
          </p:grpSpPr>
          <p:sp>
            <p:nvSpPr>
              <p:cNvPr id="1031177" name="Rectangle 9" descr="白色大理石"/>
              <p:cNvSpPr>
                <a:spLocks noChangeArrowheads="1"/>
              </p:cNvSpPr>
              <p:nvPr/>
            </p:nvSpPr>
            <p:spPr bwMode="auto">
              <a:xfrm>
                <a:off x="1056" y="105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178" name="Line 10"/>
              <p:cNvSpPr>
                <a:spLocks noChangeShapeType="1"/>
              </p:cNvSpPr>
              <p:nvPr/>
            </p:nvSpPr>
            <p:spPr bwMode="auto">
              <a:xfrm>
                <a:off x="1344" y="105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79" name="Line 11"/>
              <p:cNvSpPr>
                <a:spLocks noChangeShapeType="1"/>
              </p:cNvSpPr>
              <p:nvPr/>
            </p:nvSpPr>
            <p:spPr bwMode="auto">
              <a:xfrm flipV="1">
                <a:off x="1344" y="96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0" name="Rectangle 12" descr="白色大理石"/>
              <p:cNvSpPr>
                <a:spLocks noChangeArrowheads="1"/>
              </p:cNvSpPr>
              <p:nvPr/>
            </p:nvSpPr>
            <p:spPr bwMode="auto">
              <a:xfrm>
                <a:off x="1824" y="105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181" name="Line 13"/>
              <p:cNvSpPr>
                <a:spLocks noChangeShapeType="1"/>
              </p:cNvSpPr>
              <p:nvPr/>
            </p:nvSpPr>
            <p:spPr bwMode="auto">
              <a:xfrm>
                <a:off x="2112" y="105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2" name="Line 14"/>
              <p:cNvSpPr>
                <a:spLocks noChangeShapeType="1"/>
              </p:cNvSpPr>
              <p:nvPr/>
            </p:nvSpPr>
            <p:spPr bwMode="auto">
              <a:xfrm flipV="1">
                <a:off x="2112" y="96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3" name="Rectangle 15" descr="白色大理石"/>
              <p:cNvSpPr>
                <a:spLocks noChangeArrowheads="1"/>
              </p:cNvSpPr>
              <p:nvPr/>
            </p:nvSpPr>
            <p:spPr bwMode="auto">
              <a:xfrm>
                <a:off x="2592" y="105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184" name="Line 16"/>
              <p:cNvSpPr>
                <a:spLocks noChangeShapeType="1"/>
              </p:cNvSpPr>
              <p:nvPr/>
            </p:nvSpPr>
            <p:spPr bwMode="auto">
              <a:xfrm>
                <a:off x="2880" y="105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5" name="Line 17"/>
              <p:cNvSpPr>
                <a:spLocks noChangeShapeType="1"/>
              </p:cNvSpPr>
              <p:nvPr/>
            </p:nvSpPr>
            <p:spPr bwMode="auto">
              <a:xfrm flipV="1">
                <a:off x="2880" y="96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6" name="Rectangle 18" descr="白色大理石"/>
              <p:cNvSpPr>
                <a:spLocks noChangeArrowheads="1"/>
              </p:cNvSpPr>
              <p:nvPr/>
            </p:nvSpPr>
            <p:spPr bwMode="auto">
              <a:xfrm>
                <a:off x="3360" y="105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187" name="Line 19"/>
              <p:cNvSpPr>
                <a:spLocks noChangeShapeType="1"/>
              </p:cNvSpPr>
              <p:nvPr/>
            </p:nvSpPr>
            <p:spPr bwMode="auto">
              <a:xfrm>
                <a:off x="3648" y="105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8" name="Line 20"/>
              <p:cNvSpPr>
                <a:spLocks noChangeShapeType="1"/>
              </p:cNvSpPr>
              <p:nvPr/>
            </p:nvSpPr>
            <p:spPr bwMode="auto">
              <a:xfrm flipV="1">
                <a:off x="3648" y="96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9" name="Rectangle 21" descr="白色大理石"/>
              <p:cNvSpPr>
                <a:spLocks noChangeArrowheads="1"/>
              </p:cNvSpPr>
              <p:nvPr/>
            </p:nvSpPr>
            <p:spPr bwMode="auto">
              <a:xfrm>
                <a:off x="4128" y="105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190" name="Line 22"/>
              <p:cNvSpPr>
                <a:spLocks noChangeShapeType="1"/>
              </p:cNvSpPr>
              <p:nvPr/>
            </p:nvSpPr>
            <p:spPr bwMode="auto">
              <a:xfrm>
                <a:off x="4416" y="105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1" name="Line 23"/>
              <p:cNvSpPr>
                <a:spLocks noChangeShapeType="1"/>
              </p:cNvSpPr>
              <p:nvPr/>
            </p:nvSpPr>
            <p:spPr bwMode="auto">
              <a:xfrm flipV="1">
                <a:off x="4416" y="96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2" name="Line 24"/>
              <p:cNvSpPr>
                <a:spLocks noChangeShapeType="1"/>
              </p:cNvSpPr>
              <p:nvPr/>
            </p:nvSpPr>
            <p:spPr bwMode="auto">
              <a:xfrm>
                <a:off x="1632" y="116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3" name="Line 25"/>
              <p:cNvSpPr>
                <a:spLocks noChangeShapeType="1"/>
              </p:cNvSpPr>
              <p:nvPr/>
            </p:nvSpPr>
            <p:spPr bwMode="auto">
              <a:xfrm>
                <a:off x="2400" y="116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4" name="Line 26"/>
              <p:cNvSpPr>
                <a:spLocks noChangeShapeType="1"/>
              </p:cNvSpPr>
              <p:nvPr/>
            </p:nvSpPr>
            <p:spPr bwMode="auto">
              <a:xfrm>
                <a:off x="3168" y="116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5" name="Line 27"/>
              <p:cNvSpPr>
                <a:spLocks noChangeShapeType="1"/>
              </p:cNvSpPr>
              <p:nvPr/>
            </p:nvSpPr>
            <p:spPr bwMode="auto">
              <a:xfrm>
                <a:off x="3936" y="116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6" name="Line 28"/>
              <p:cNvSpPr>
                <a:spLocks noChangeShapeType="1"/>
              </p:cNvSpPr>
              <p:nvPr/>
            </p:nvSpPr>
            <p:spPr bwMode="auto">
              <a:xfrm>
                <a:off x="912" y="1161"/>
                <a:ext cx="144"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7" name="Line 29"/>
              <p:cNvSpPr>
                <a:spLocks noChangeShapeType="1"/>
              </p:cNvSpPr>
              <p:nvPr/>
            </p:nvSpPr>
            <p:spPr bwMode="auto">
              <a:xfrm flipV="1">
                <a:off x="768" y="1257"/>
                <a:ext cx="288"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8" name="Line 30"/>
              <p:cNvSpPr>
                <a:spLocks noChangeShapeType="1"/>
              </p:cNvSpPr>
              <p:nvPr/>
            </p:nvSpPr>
            <p:spPr bwMode="auto">
              <a:xfrm flipH="1">
                <a:off x="912" y="864"/>
                <a:ext cx="3984" cy="0"/>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9" name="Line 31"/>
              <p:cNvSpPr>
                <a:spLocks noChangeShapeType="1"/>
              </p:cNvSpPr>
              <p:nvPr/>
            </p:nvSpPr>
            <p:spPr bwMode="auto">
              <a:xfrm>
                <a:off x="912" y="864"/>
                <a:ext cx="0" cy="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00" name="Line 32"/>
              <p:cNvSpPr>
                <a:spLocks noChangeShapeType="1"/>
              </p:cNvSpPr>
              <p:nvPr/>
            </p:nvSpPr>
            <p:spPr bwMode="auto">
              <a:xfrm>
                <a:off x="4896" y="864"/>
                <a:ext cx="0" cy="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01" name="Line 33"/>
              <p:cNvSpPr>
                <a:spLocks noChangeShapeType="1"/>
              </p:cNvSpPr>
              <p:nvPr/>
            </p:nvSpPr>
            <p:spPr bwMode="auto">
              <a:xfrm>
                <a:off x="4704" y="1161"/>
                <a:ext cx="192" cy="0"/>
              </a:xfrm>
              <a:prstGeom prst="line">
                <a:avLst/>
              </a:prstGeom>
              <a:noFill/>
              <a:ln w="38100">
                <a:solidFill>
                  <a:schemeClr val="accent2"/>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02" name="Text Box 34"/>
              <p:cNvSpPr txBox="1">
                <a:spLocks noChangeArrowheads="1"/>
              </p:cNvSpPr>
              <p:nvPr/>
            </p:nvSpPr>
            <p:spPr bwMode="auto">
              <a:xfrm>
                <a:off x="426" y="1065"/>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L</a:t>
                </a:r>
                <a:endParaRPr lang="en-US" altLang="zh-CN" sz="2400"/>
              </a:p>
            </p:txBody>
          </p:sp>
          <p:sp>
            <p:nvSpPr>
              <p:cNvPr id="1031203" name="Text Box 35"/>
              <p:cNvSpPr txBox="1">
                <a:spLocks noChangeArrowheads="1"/>
              </p:cNvSpPr>
              <p:nvPr/>
            </p:nvSpPr>
            <p:spPr bwMode="auto">
              <a:xfrm>
                <a:off x="1824" y="105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31</a:t>
                </a:r>
                <a:endParaRPr lang="en-US" altLang="zh-CN" sz="2800"/>
              </a:p>
            </p:txBody>
          </p:sp>
          <p:sp>
            <p:nvSpPr>
              <p:cNvPr id="1031204" name="Text Box 36"/>
              <p:cNvSpPr txBox="1">
                <a:spLocks noChangeArrowheads="1"/>
              </p:cNvSpPr>
              <p:nvPr/>
            </p:nvSpPr>
            <p:spPr bwMode="auto">
              <a:xfrm>
                <a:off x="2592" y="105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48</a:t>
                </a:r>
                <a:endParaRPr lang="en-US" altLang="zh-CN" sz="2800"/>
              </a:p>
            </p:txBody>
          </p:sp>
          <p:sp>
            <p:nvSpPr>
              <p:cNvPr id="1031205" name="Text Box 37"/>
              <p:cNvSpPr txBox="1">
                <a:spLocks noChangeArrowheads="1"/>
              </p:cNvSpPr>
              <p:nvPr/>
            </p:nvSpPr>
            <p:spPr bwMode="auto">
              <a:xfrm>
                <a:off x="3360" y="105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15</a:t>
                </a:r>
                <a:endParaRPr lang="en-US" altLang="zh-CN" sz="2800"/>
              </a:p>
            </p:txBody>
          </p:sp>
          <p:sp>
            <p:nvSpPr>
              <p:cNvPr id="1031206" name="Text Box 38"/>
              <p:cNvSpPr txBox="1">
                <a:spLocks noChangeArrowheads="1"/>
              </p:cNvSpPr>
              <p:nvPr/>
            </p:nvSpPr>
            <p:spPr bwMode="auto">
              <a:xfrm>
                <a:off x="4128" y="105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57</a:t>
                </a:r>
                <a:endParaRPr lang="en-US" altLang="zh-CN" sz="2800"/>
              </a:p>
            </p:txBody>
          </p:sp>
          <p:sp>
            <p:nvSpPr>
              <p:cNvPr id="1031207" name="Line 39"/>
              <p:cNvSpPr>
                <a:spLocks noChangeShapeType="1"/>
              </p:cNvSpPr>
              <p:nvPr/>
            </p:nvSpPr>
            <p:spPr bwMode="auto">
              <a:xfrm flipV="1">
                <a:off x="1968" y="1392"/>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08" name="Line 40"/>
              <p:cNvSpPr>
                <a:spLocks noChangeShapeType="1"/>
              </p:cNvSpPr>
              <p:nvPr/>
            </p:nvSpPr>
            <p:spPr bwMode="auto">
              <a:xfrm flipV="1">
                <a:off x="2736" y="1392"/>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09" name="Line 41"/>
              <p:cNvSpPr>
                <a:spLocks noChangeShapeType="1"/>
              </p:cNvSpPr>
              <p:nvPr/>
            </p:nvSpPr>
            <p:spPr bwMode="auto">
              <a:xfrm flipV="1">
                <a:off x="3504" y="1392"/>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10" name="Text Box 42"/>
              <p:cNvSpPr txBox="1">
                <a:spLocks noChangeArrowheads="1"/>
              </p:cNvSpPr>
              <p:nvPr/>
            </p:nvSpPr>
            <p:spPr bwMode="auto">
              <a:xfrm>
                <a:off x="1999" y="1344"/>
                <a:ext cx="25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3200" b="1">
                    <a:solidFill>
                      <a:schemeClr val="tx2"/>
                    </a:solidFill>
                    <a:sym typeface="Symbol" panose="05050102010706020507" charset="2"/>
                  </a:rPr>
                  <a:t></a:t>
                </a:r>
                <a:endParaRPr lang="zh-CN" altLang="en-US" sz="2400"/>
              </a:p>
            </p:txBody>
          </p:sp>
          <p:sp>
            <p:nvSpPr>
              <p:cNvPr id="1031211" name="Text Box 43"/>
              <p:cNvSpPr txBox="1">
                <a:spLocks noChangeArrowheads="1"/>
              </p:cNvSpPr>
              <p:nvPr/>
            </p:nvSpPr>
            <p:spPr bwMode="auto">
              <a:xfrm>
                <a:off x="2767" y="1344"/>
                <a:ext cx="25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3200" b="1">
                    <a:solidFill>
                      <a:schemeClr val="tx2"/>
                    </a:solidFill>
                    <a:sym typeface="Symbol" panose="05050102010706020507" charset="2"/>
                  </a:rPr>
                  <a:t></a:t>
                </a:r>
                <a:endParaRPr lang="zh-CN" altLang="en-US" sz="2400"/>
              </a:p>
            </p:txBody>
          </p:sp>
          <p:sp>
            <p:nvSpPr>
              <p:cNvPr id="1031212" name="Text Box 44"/>
              <p:cNvSpPr txBox="1">
                <a:spLocks noChangeArrowheads="1"/>
              </p:cNvSpPr>
              <p:nvPr/>
            </p:nvSpPr>
            <p:spPr bwMode="auto">
              <a:xfrm>
                <a:off x="3513" y="1401"/>
                <a:ext cx="23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2800" b="1">
                    <a:solidFill>
                      <a:schemeClr val="tx2"/>
                    </a:solidFill>
                    <a:sym typeface="Symbol" panose="05050102010706020507" charset="2"/>
                  </a:rPr>
                  <a:t></a:t>
                </a:r>
                <a:endParaRPr lang="zh-CN" altLang="en-US" sz="2400"/>
              </a:p>
            </p:txBody>
          </p:sp>
          <p:sp>
            <p:nvSpPr>
              <p:cNvPr id="1031213" name="Text Box 45"/>
              <p:cNvSpPr txBox="1">
                <a:spLocks noChangeArrowheads="1"/>
              </p:cNvSpPr>
              <p:nvPr/>
            </p:nvSpPr>
            <p:spPr bwMode="auto">
              <a:xfrm>
                <a:off x="1536" y="1593"/>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sp>
            <p:nvSpPr>
              <p:cNvPr id="1031214" name="Text Box 46"/>
              <p:cNvSpPr txBox="1">
                <a:spLocks noChangeArrowheads="1"/>
              </p:cNvSpPr>
              <p:nvPr/>
            </p:nvSpPr>
            <p:spPr bwMode="auto">
              <a:xfrm>
                <a:off x="2379" y="1584"/>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sp>
            <p:nvSpPr>
              <p:cNvPr id="1031215" name="Text Box 47"/>
              <p:cNvSpPr txBox="1">
                <a:spLocks noChangeArrowheads="1"/>
              </p:cNvSpPr>
              <p:nvPr/>
            </p:nvSpPr>
            <p:spPr bwMode="auto">
              <a:xfrm>
                <a:off x="3243" y="1584"/>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grpSp>
      </p:grpSp>
      <p:grpSp>
        <p:nvGrpSpPr>
          <p:cNvPr id="134149" name="Group 48"/>
          <p:cNvGrpSpPr/>
          <p:nvPr/>
        </p:nvGrpSpPr>
        <p:grpSpPr bwMode="auto">
          <a:xfrm>
            <a:off x="765175" y="3941763"/>
            <a:ext cx="7172325" cy="1752600"/>
            <a:chOff x="426" y="2304"/>
            <a:chExt cx="4518" cy="1104"/>
          </a:xfrm>
        </p:grpSpPr>
        <p:sp>
          <p:nvSpPr>
            <p:cNvPr id="1031217" name="Rectangle 49" descr="白色大理石"/>
            <p:cNvSpPr>
              <a:spLocks noChangeArrowheads="1"/>
            </p:cNvSpPr>
            <p:nvPr/>
          </p:nvSpPr>
          <p:spPr bwMode="auto">
            <a:xfrm>
              <a:off x="1056" y="24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218" name="Line 50"/>
            <p:cNvSpPr>
              <a:spLocks noChangeShapeType="1"/>
            </p:cNvSpPr>
            <p:nvPr/>
          </p:nvSpPr>
          <p:spPr bwMode="auto">
            <a:xfrm>
              <a:off x="1344" y="24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19" name="Line 51"/>
            <p:cNvSpPr>
              <a:spLocks noChangeShapeType="1"/>
            </p:cNvSpPr>
            <p:nvPr/>
          </p:nvSpPr>
          <p:spPr bwMode="auto">
            <a:xfrm flipV="1">
              <a:off x="1344" y="24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0" name="Rectangle 52" descr="白色大理石"/>
            <p:cNvSpPr>
              <a:spLocks noChangeArrowheads="1"/>
            </p:cNvSpPr>
            <p:nvPr/>
          </p:nvSpPr>
          <p:spPr bwMode="auto">
            <a:xfrm>
              <a:off x="1824" y="24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221" name="Line 53"/>
            <p:cNvSpPr>
              <a:spLocks noChangeShapeType="1"/>
            </p:cNvSpPr>
            <p:nvPr/>
          </p:nvSpPr>
          <p:spPr bwMode="auto">
            <a:xfrm>
              <a:off x="2112" y="24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2" name="Line 54"/>
            <p:cNvSpPr>
              <a:spLocks noChangeShapeType="1"/>
            </p:cNvSpPr>
            <p:nvPr/>
          </p:nvSpPr>
          <p:spPr bwMode="auto">
            <a:xfrm flipV="1">
              <a:off x="2112" y="24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3" name="Rectangle 55" descr="白色大理石"/>
            <p:cNvSpPr>
              <a:spLocks noChangeArrowheads="1"/>
            </p:cNvSpPr>
            <p:nvPr/>
          </p:nvSpPr>
          <p:spPr bwMode="auto">
            <a:xfrm>
              <a:off x="2592" y="24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224" name="Line 56"/>
            <p:cNvSpPr>
              <a:spLocks noChangeShapeType="1"/>
            </p:cNvSpPr>
            <p:nvPr/>
          </p:nvSpPr>
          <p:spPr bwMode="auto">
            <a:xfrm>
              <a:off x="2880" y="24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5" name="Line 57"/>
            <p:cNvSpPr>
              <a:spLocks noChangeShapeType="1"/>
            </p:cNvSpPr>
            <p:nvPr/>
          </p:nvSpPr>
          <p:spPr bwMode="auto">
            <a:xfrm flipV="1">
              <a:off x="2880" y="24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6" name="Rectangle 58" descr="白色大理石"/>
            <p:cNvSpPr>
              <a:spLocks noChangeArrowheads="1"/>
            </p:cNvSpPr>
            <p:nvPr/>
          </p:nvSpPr>
          <p:spPr bwMode="auto">
            <a:xfrm>
              <a:off x="3360" y="24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227" name="Line 59"/>
            <p:cNvSpPr>
              <a:spLocks noChangeShapeType="1"/>
            </p:cNvSpPr>
            <p:nvPr/>
          </p:nvSpPr>
          <p:spPr bwMode="auto">
            <a:xfrm>
              <a:off x="3648" y="24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8" name="Line 60"/>
            <p:cNvSpPr>
              <a:spLocks noChangeShapeType="1"/>
            </p:cNvSpPr>
            <p:nvPr/>
          </p:nvSpPr>
          <p:spPr bwMode="auto">
            <a:xfrm flipV="1">
              <a:off x="3648" y="24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9" name="Rectangle 61" descr="白色大理石"/>
            <p:cNvSpPr>
              <a:spLocks noChangeArrowheads="1"/>
            </p:cNvSpPr>
            <p:nvPr/>
          </p:nvSpPr>
          <p:spPr bwMode="auto">
            <a:xfrm>
              <a:off x="4128" y="24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230" name="Line 62"/>
            <p:cNvSpPr>
              <a:spLocks noChangeShapeType="1"/>
            </p:cNvSpPr>
            <p:nvPr/>
          </p:nvSpPr>
          <p:spPr bwMode="auto">
            <a:xfrm>
              <a:off x="4416" y="24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1" name="Line 63"/>
            <p:cNvSpPr>
              <a:spLocks noChangeShapeType="1"/>
            </p:cNvSpPr>
            <p:nvPr/>
          </p:nvSpPr>
          <p:spPr bwMode="auto">
            <a:xfrm flipV="1">
              <a:off x="4416" y="24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2" name="Line 64"/>
            <p:cNvSpPr>
              <a:spLocks noChangeShapeType="1"/>
            </p:cNvSpPr>
            <p:nvPr/>
          </p:nvSpPr>
          <p:spPr bwMode="auto">
            <a:xfrm>
              <a:off x="1632" y="26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3" name="Line 65"/>
            <p:cNvSpPr>
              <a:spLocks noChangeShapeType="1"/>
            </p:cNvSpPr>
            <p:nvPr/>
          </p:nvSpPr>
          <p:spPr bwMode="auto">
            <a:xfrm>
              <a:off x="2400" y="26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4" name="Line 66"/>
            <p:cNvSpPr>
              <a:spLocks noChangeShapeType="1"/>
            </p:cNvSpPr>
            <p:nvPr/>
          </p:nvSpPr>
          <p:spPr bwMode="auto">
            <a:xfrm>
              <a:off x="3168" y="26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5" name="Line 67"/>
            <p:cNvSpPr>
              <a:spLocks noChangeShapeType="1"/>
            </p:cNvSpPr>
            <p:nvPr/>
          </p:nvSpPr>
          <p:spPr bwMode="auto">
            <a:xfrm>
              <a:off x="3936" y="26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6" name="Line 68"/>
            <p:cNvSpPr>
              <a:spLocks noChangeShapeType="1"/>
            </p:cNvSpPr>
            <p:nvPr/>
          </p:nvSpPr>
          <p:spPr bwMode="auto">
            <a:xfrm>
              <a:off x="912" y="2601"/>
              <a:ext cx="144"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7" name="Line 69"/>
            <p:cNvSpPr>
              <a:spLocks noChangeShapeType="1"/>
            </p:cNvSpPr>
            <p:nvPr/>
          </p:nvSpPr>
          <p:spPr bwMode="auto">
            <a:xfrm flipV="1">
              <a:off x="768" y="2697"/>
              <a:ext cx="288"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8" name="Line 70"/>
            <p:cNvSpPr>
              <a:spLocks noChangeShapeType="1"/>
            </p:cNvSpPr>
            <p:nvPr/>
          </p:nvSpPr>
          <p:spPr bwMode="auto">
            <a:xfrm flipH="1">
              <a:off x="912" y="2304"/>
              <a:ext cx="3984" cy="0"/>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9" name="Line 71"/>
            <p:cNvSpPr>
              <a:spLocks noChangeShapeType="1"/>
            </p:cNvSpPr>
            <p:nvPr/>
          </p:nvSpPr>
          <p:spPr bwMode="auto">
            <a:xfrm>
              <a:off x="912" y="2304"/>
              <a:ext cx="0" cy="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40" name="Line 72"/>
            <p:cNvSpPr>
              <a:spLocks noChangeShapeType="1"/>
            </p:cNvSpPr>
            <p:nvPr/>
          </p:nvSpPr>
          <p:spPr bwMode="auto">
            <a:xfrm>
              <a:off x="4896" y="2304"/>
              <a:ext cx="0" cy="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41" name="Line 73"/>
            <p:cNvSpPr>
              <a:spLocks noChangeShapeType="1"/>
            </p:cNvSpPr>
            <p:nvPr/>
          </p:nvSpPr>
          <p:spPr bwMode="auto">
            <a:xfrm>
              <a:off x="4704" y="2601"/>
              <a:ext cx="192" cy="0"/>
            </a:xfrm>
            <a:prstGeom prst="line">
              <a:avLst/>
            </a:prstGeom>
            <a:noFill/>
            <a:ln w="38100">
              <a:solidFill>
                <a:schemeClr val="accent2"/>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42" name="Text Box 74"/>
            <p:cNvSpPr txBox="1">
              <a:spLocks noChangeArrowheads="1"/>
            </p:cNvSpPr>
            <p:nvPr/>
          </p:nvSpPr>
          <p:spPr bwMode="auto">
            <a:xfrm>
              <a:off x="426" y="2505"/>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L</a:t>
              </a:r>
              <a:endParaRPr lang="en-US" altLang="zh-CN" sz="2400"/>
            </a:p>
          </p:txBody>
        </p:sp>
        <p:sp>
          <p:nvSpPr>
            <p:cNvPr id="1031243" name="Text Box 75"/>
            <p:cNvSpPr txBox="1">
              <a:spLocks noChangeArrowheads="1"/>
            </p:cNvSpPr>
            <p:nvPr/>
          </p:nvSpPr>
          <p:spPr bwMode="auto">
            <a:xfrm>
              <a:off x="1824" y="2505"/>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31</a:t>
              </a:r>
              <a:endParaRPr lang="en-US" altLang="zh-CN" sz="2800"/>
            </a:p>
          </p:txBody>
        </p:sp>
        <p:sp>
          <p:nvSpPr>
            <p:cNvPr id="1031244" name="Text Box 76"/>
            <p:cNvSpPr txBox="1">
              <a:spLocks noChangeArrowheads="1"/>
            </p:cNvSpPr>
            <p:nvPr/>
          </p:nvSpPr>
          <p:spPr bwMode="auto">
            <a:xfrm>
              <a:off x="2592" y="2505"/>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48</a:t>
              </a:r>
              <a:endParaRPr lang="en-US" altLang="zh-CN" sz="2800"/>
            </a:p>
          </p:txBody>
        </p:sp>
        <p:sp>
          <p:nvSpPr>
            <p:cNvPr id="1031245" name="Text Box 77"/>
            <p:cNvSpPr txBox="1">
              <a:spLocks noChangeArrowheads="1"/>
            </p:cNvSpPr>
            <p:nvPr/>
          </p:nvSpPr>
          <p:spPr bwMode="auto">
            <a:xfrm>
              <a:off x="3360" y="2505"/>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15</a:t>
              </a:r>
              <a:endParaRPr lang="en-US" altLang="zh-CN" sz="2800"/>
            </a:p>
          </p:txBody>
        </p:sp>
        <p:sp>
          <p:nvSpPr>
            <p:cNvPr id="1031246" name="Text Box 78"/>
            <p:cNvSpPr txBox="1">
              <a:spLocks noChangeArrowheads="1"/>
            </p:cNvSpPr>
            <p:nvPr/>
          </p:nvSpPr>
          <p:spPr bwMode="auto">
            <a:xfrm>
              <a:off x="4128" y="2505"/>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57</a:t>
              </a:r>
              <a:endParaRPr lang="en-US" altLang="zh-CN" sz="2800"/>
            </a:p>
          </p:txBody>
        </p:sp>
        <p:sp>
          <p:nvSpPr>
            <p:cNvPr id="1031247" name="Line 79"/>
            <p:cNvSpPr>
              <a:spLocks noChangeShapeType="1"/>
            </p:cNvSpPr>
            <p:nvPr/>
          </p:nvSpPr>
          <p:spPr bwMode="auto">
            <a:xfrm flipV="1">
              <a:off x="1968" y="2851"/>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48" name="Text Box 80"/>
            <p:cNvSpPr txBox="1">
              <a:spLocks noChangeArrowheads="1"/>
            </p:cNvSpPr>
            <p:nvPr/>
          </p:nvSpPr>
          <p:spPr bwMode="auto">
            <a:xfrm>
              <a:off x="1999" y="2784"/>
              <a:ext cx="25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3200" b="1">
                  <a:solidFill>
                    <a:schemeClr val="tx2"/>
                  </a:solidFill>
                  <a:sym typeface="Symbol" panose="05050102010706020507" charset="2"/>
                </a:rPr>
                <a:t></a:t>
              </a:r>
              <a:endParaRPr lang="zh-CN" altLang="en-US" sz="2400"/>
            </a:p>
          </p:txBody>
        </p:sp>
        <p:sp>
          <p:nvSpPr>
            <p:cNvPr id="1031249" name="Line 81"/>
            <p:cNvSpPr>
              <a:spLocks noChangeShapeType="1"/>
            </p:cNvSpPr>
            <p:nvPr/>
          </p:nvSpPr>
          <p:spPr bwMode="auto">
            <a:xfrm flipV="1">
              <a:off x="2736" y="2851"/>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50" name="Text Box 82"/>
            <p:cNvSpPr txBox="1">
              <a:spLocks noChangeArrowheads="1"/>
            </p:cNvSpPr>
            <p:nvPr/>
          </p:nvSpPr>
          <p:spPr bwMode="auto">
            <a:xfrm>
              <a:off x="2767" y="2784"/>
              <a:ext cx="25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3200" b="1">
                  <a:solidFill>
                    <a:schemeClr val="tx2"/>
                  </a:solidFill>
                  <a:sym typeface="Symbol" panose="05050102010706020507" charset="2"/>
                </a:rPr>
                <a:t></a:t>
              </a:r>
              <a:endParaRPr lang="zh-CN" altLang="en-US" sz="2400"/>
            </a:p>
          </p:txBody>
        </p:sp>
        <p:sp>
          <p:nvSpPr>
            <p:cNvPr id="1031251" name="Line 83"/>
            <p:cNvSpPr>
              <a:spLocks noChangeShapeType="1"/>
            </p:cNvSpPr>
            <p:nvPr/>
          </p:nvSpPr>
          <p:spPr bwMode="auto">
            <a:xfrm flipV="1">
              <a:off x="3504" y="2851"/>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52" name="Text Box 84"/>
            <p:cNvSpPr txBox="1">
              <a:spLocks noChangeArrowheads="1"/>
            </p:cNvSpPr>
            <p:nvPr/>
          </p:nvSpPr>
          <p:spPr bwMode="auto">
            <a:xfrm>
              <a:off x="3535" y="2784"/>
              <a:ext cx="25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3200" b="1">
                  <a:solidFill>
                    <a:schemeClr val="tx2"/>
                  </a:solidFill>
                  <a:sym typeface="Symbol" panose="05050102010706020507" charset="2"/>
                </a:rPr>
                <a:t></a:t>
              </a:r>
              <a:endParaRPr lang="zh-CN" altLang="en-US" sz="2400"/>
            </a:p>
          </p:txBody>
        </p:sp>
        <p:sp>
          <p:nvSpPr>
            <p:cNvPr id="1031253" name="Line 85"/>
            <p:cNvSpPr>
              <a:spLocks noChangeShapeType="1"/>
            </p:cNvSpPr>
            <p:nvPr/>
          </p:nvSpPr>
          <p:spPr bwMode="auto">
            <a:xfrm flipV="1">
              <a:off x="4272" y="2851"/>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54" name="Text Box 86"/>
            <p:cNvSpPr txBox="1">
              <a:spLocks noChangeArrowheads="1"/>
            </p:cNvSpPr>
            <p:nvPr/>
          </p:nvSpPr>
          <p:spPr bwMode="auto">
            <a:xfrm>
              <a:off x="4303" y="2784"/>
              <a:ext cx="25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3200" b="1">
                  <a:solidFill>
                    <a:schemeClr val="tx2"/>
                  </a:solidFill>
                  <a:sym typeface="Symbol" panose="05050102010706020507" charset="2"/>
                </a:rPr>
                <a:t></a:t>
              </a:r>
              <a:endParaRPr lang="zh-CN" altLang="en-US" sz="2400"/>
            </a:p>
          </p:txBody>
        </p:sp>
        <p:sp>
          <p:nvSpPr>
            <p:cNvPr id="1031255" name="Text Box 87"/>
            <p:cNvSpPr txBox="1">
              <a:spLocks noChangeArrowheads="1"/>
            </p:cNvSpPr>
            <p:nvPr/>
          </p:nvSpPr>
          <p:spPr bwMode="auto">
            <a:xfrm>
              <a:off x="1536" y="3081"/>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sp>
          <p:nvSpPr>
            <p:cNvPr id="1031256" name="Text Box 88"/>
            <p:cNvSpPr txBox="1">
              <a:spLocks noChangeArrowheads="1"/>
            </p:cNvSpPr>
            <p:nvPr/>
          </p:nvSpPr>
          <p:spPr bwMode="auto">
            <a:xfrm>
              <a:off x="2379" y="3072"/>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sp>
          <p:nvSpPr>
            <p:cNvPr id="1031257" name="Text Box 89"/>
            <p:cNvSpPr txBox="1">
              <a:spLocks noChangeArrowheads="1"/>
            </p:cNvSpPr>
            <p:nvPr/>
          </p:nvSpPr>
          <p:spPr bwMode="auto">
            <a:xfrm>
              <a:off x="3243" y="3072"/>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sp>
          <p:nvSpPr>
            <p:cNvPr id="1031258" name="Text Box 90"/>
            <p:cNvSpPr txBox="1">
              <a:spLocks noChangeArrowheads="1"/>
            </p:cNvSpPr>
            <p:nvPr/>
          </p:nvSpPr>
          <p:spPr bwMode="auto">
            <a:xfrm>
              <a:off x="4107" y="3072"/>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sp>
          <p:nvSpPr>
            <p:cNvPr id="1031259" name="Line 91"/>
            <p:cNvSpPr>
              <a:spLocks noChangeShapeType="1"/>
            </p:cNvSpPr>
            <p:nvPr/>
          </p:nvSpPr>
          <p:spPr bwMode="auto">
            <a:xfrm flipV="1">
              <a:off x="1200" y="2851"/>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60" name="Text Box 92"/>
            <p:cNvSpPr txBox="1">
              <a:spLocks noChangeArrowheads="1"/>
            </p:cNvSpPr>
            <p:nvPr/>
          </p:nvSpPr>
          <p:spPr bwMode="auto">
            <a:xfrm>
              <a:off x="720" y="3081"/>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rgbClr val="009900"/>
                  </a:solidFill>
                </a:rPr>
                <a:t>current</a:t>
              </a:r>
              <a:endParaRPr lang="en-US" altLang="zh-CN" sz="2400"/>
            </a:p>
          </p:txBody>
        </p:sp>
      </p:gr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8" name="Rectangle 2"/>
          <p:cNvSpPr>
            <a:spLocks noChangeArrowheads="1"/>
          </p:cNvSpPr>
          <p:nvPr/>
        </p:nvSpPr>
        <p:spPr bwMode="auto">
          <a:xfrm>
            <a:off x="1371600" y="0"/>
            <a:ext cx="7772400" cy="87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ctr" eaLnBrk="1" hangingPunct="1">
              <a:defRPr/>
            </a:pPr>
            <a:r>
              <a:rPr lang="zh-CN" altLang="en-US" sz="3600" b="1">
                <a:solidFill>
                  <a:srgbClr val="CC0000"/>
                </a:solidFill>
                <a:ea typeface="华文新魏" panose="02010800040101010101" charset="-122"/>
              </a:rPr>
              <a:t>带尾指针的循环链表</a:t>
            </a:r>
            <a:endParaRPr lang="zh-CN" altLang="en-US" sz="6000" b="1">
              <a:solidFill>
                <a:srgbClr val="CC0000"/>
              </a:solidFill>
              <a:ea typeface="华文新魏" panose="02010800040101010101" charset="-122"/>
            </a:endParaRPr>
          </a:p>
        </p:txBody>
      </p:sp>
      <p:grpSp>
        <p:nvGrpSpPr>
          <p:cNvPr id="135170" name="Group 3"/>
          <p:cNvGrpSpPr/>
          <p:nvPr/>
        </p:nvGrpSpPr>
        <p:grpSpPr bwMode="auto">
          <a:xfrm>
            <a:off x="1447800" y="1485900"/>
            <a:ext cx="6324600" cy="1433513"/>
            <a:chOff x="912" y="904"/>
            <a:chExt cx="3984" cy="903"/>
          </a:xfrm>
        </p:grpSpPr>
        <p:sp>
          <p:nvSpPr>
            <p:cNvPr id="1033220" name="Rectangle 4" descr="白色大理石"/>
            <p:cNvSpPr>
              <a:spLocks noChangeArrowheads="1"/>
            </p:cNvSpPr>
            <p:nvPr/>
          </p:nvSpPr>
          <p:spPr bwMode="auto">
            <a:xfrm>
              <a:off x="1056" y="10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3221" name="Line 5"/>
            <p:cNvSpPr>
              <a:spLocks noChangeShapeType="1"/>
            </p:cNvSpPr>
            <p:nvPr/>
          </p:nvSpPr>
          <p:spPr bwMode="auto">
            <a:xfrm>
              <a:off x="1344"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22" name="Line 6"/>
            <p:cNvSpPr>
              <a:spLocks noChangeShapeType="1"/>
            </p:cNvSpPr>
            <p:nvPr/>
          </p:nvSpPr>
          <p:spPr bwMode="auto">
            <a:xfrm flipV="1">
              <a:off x="1344" y="10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23" name="Rectangle 7" descr="白色大理石"/>
            <p:cNvSpPr>
              <a:spLocks noChangeArrowheads="1"/>
            </p:cNvSpPr>
            <p:nvPr/>
          </p:nvSpPr>
          <p:spPr bwMode="auto">
            <a:xfrm>
              <a:off x="1824" y="10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3224" name="Line 8"/>
            <p:cNvSpPr>
              <a:spLocks noChangeShapeType="1"/>
            </p:cNvSpPr>
            <p:nvPr/>
          </p:nvSpPr>
          <p:spPr bwMode="auto">
            <a:xfrm>
              <a:off x="2112"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25" name="Line 9"/>
            <p:cNvSpPr>
              <a:spLocks noChangeShapeType="1"/>
            </p:cNvSpPr>
            <p:nvPr/>
          </p:nvSpPr>
          <p:spPr bwMode="auto">
            <a:xfrm flipV="1">
              <a:off x="2112" y="10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26" name="Rectangle 10" descr="白色大理石"/>
            <p:cNvSpPr>
              <a:spLocks noChangeArrowheads="1"/>
            </p:cNvSpPr>
            <p:nvPr/>
          </p:nvSpPr>
          <p:spPr bwMode="auto">
            <a:xfrm>
              <a:off x="2592" y="10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3227" name="Line 11"/>
            <p:cNvSpPr>
              <a:spLocks noChangeShapeType="1"/>
            </p:cNvSpPr>
            <p:nvPr/>
          </p:nvSpPr>
          <p:spPr bwMode="auto">
            <a:xfrm>
              <a:off x="2880"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28" name="Line 12"/>
            <p:cNvSpPr>
              <a:spLocks noChangeShapeType="1"/>
            </p:cNvSpPr>
            <p:nvPr/>
          </p:nvSpPr>
          <p:spPr bwMode="auto">
            <a:xfrm flipV="1">
              <a:off x="2880" y="10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29" name="Rectangle 13" descr="白色大理石"/>
            <p:cNvSpPr>
              <a:spLocks noChangeArrowheads="1"/>
            </p:cNvSpPr>
            <p:nvPr/>
          </p:nvSpPr>
          <p:spPr bwMode="auto">
            <a:xfrm>
              <a:off x="3360" y="10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3230" name="Line 14"/>
            <p:cNvSpPr>
              <a:spLocks noChangeShapeType="1"/>
            </p:cNvSpPr>
            <p:nvPr/>
          </p:nvSpPr>
          <p:spPr bwMode="auto">
            <a:xfrm>
              <a:off x="3648"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1" name="Line 15"/>
            <p:cNvSpPr>
              <a:spLocks noChangeShapeType="1"/>
            </p:cNvSpPr>
            <p:nvPr/>
          </p:nvSpPr>
          <p:spPr bwMode="auto">
            <a:xfrm flipV="1">
              <a:off x="3648" y="10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2" name="Rectangle 16" descr="白色大理石"/>
            <p:cNvSpPr>
              <a:spLocks noChangeArrowheads="1"/>
            </p:cNvSpPr>
            <p:nvPr/>
          </p:nvSpPr>
          <p:spPr bwMode="auto">
            <a:xfrm>
              <a:off x="4128" y="10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3233" name="Line 17"/>
            <p:cNvSpPr>
              <a:spLocks noChangeShapeType="1"/>
            </p:cNvSpPr>
            <p:nvPr/>
          </p:nvSpPr>
          <p:spPr bwMode="auto">
            <a:xfrm>
              <a:off x="4416"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4" name="Line 18"/>
            <p:cNvSpPr>
              <a:spLocks noChangeShapeType="1"/>
            </p:cNvSpPr>
            <p:nvPr/>
          </p:nvSpPr>
          <p:spPr bwMode="auto">
            <a:xfrm flipV="1">
              <a:off x="4416" y="10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5" name="Line 19"/>
            <p:cNvSpPr>
              <a:spLocks noChangeShapeType="1"/>
            </p:cNvSpPr>
            <p:nvPr/>
          </p:nvSpPr>
          <p:spPr bwMode="auto">
            <a:xfrm>
              <a:off x="1632" y="12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6" name="Line 20"/>
            <p:cNvSpPr>
              <a:spLocks noChangeShapeType="1"/>
            </p:cNvSpPr>
            <p:nvPr/>
          </p:nvSpPr>
          <p:spPr bwMode="auto">
            <a:xfrm>
              <a:off x="2400" y="12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7" name="Line 21"/>
            <p:cNvSpPr>
              <a:spLocks noChangeShapeType="1"/>
            </p:cNvSpPr>
            <p:nvPr/>
          </p:nvSpPr>
          <p:spPr bwMode="auto">
            <a:xfrm>
              <a:off x="3168" y="12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8" name="Line 22"/>
            <p:cNvSpPr>
              <a:spLocks noChangeShapeType="1"/>
            </p:cNvSpPr>
            <p:nvPr/>
          </p:nvSpPr>
          <p:spPr bwMode="auto">
            <a:xfrm>
              <a:off x="3936" y="12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9" name="Line 23"/>
            <p:cNvSpPr>
              <a:spLocks noChangeShapeType="1"/>
            </p:cNvSpPr>
            <p:nvPr/>
          </p:nvSpPr>
          <p:spPr bwMode="auto">
            <a:xfrm>
              <a:off x="912" y="1201"/>
              <a:ext cx="144"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40" name="Line 24"/>
            <p:cNvSpPr>
              <a:spLocks noChangeShapeType="1"/>
            </p:cNvSpPr>
            <p:nvPr/>
          </p:nvSpPr>
          <p:spPr bwMode="auto">
            <a:xfrm flipH="1">
              <a:off x="912" y="904"/>
              <a:ext cx="3984" cy="0"/>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41" name="Line 25"/>
            <p:cNvSpPr>
              <a:spLocks noChangeShapeType="1"/>
            </p:cNvSpPr>
            <p:nvPr/>
          </p:nvSpPr>
          <p:spPr bwMode="auto">
            <a:xfrm>
              <a:off x="912" y="904"/>
              <a:ext cx="0" cy="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42" name="Line 26"/>
            <p:cNvSpPr>
              <a:spLocks noChangeShapeType="1"/>
            </p:cNvSpPr>
            <p:nvPr/>
          </p:nvSpPr>
          <p:spPr bwMode="auto">
            <a:xfrm>
              <a:off x="4896" y="904"/>
              <a:ext cx="0" cy="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43" name="Line 27"/>
            <p:cNvSpPr>
              <a:spLocks noChangeShapeType="1"/>
            </p:cNvSpPr>
            <p:nvPr/>
          </p:nvSpPr>
          <p:spPr bwMode="auto">
            <a:xfrm>
              <a:off x="4704" y="1201"/>
              <a:ext cx="192" cy="0"/>
            </a:xfrm>
            <a:prstGeom prst="line">
              <a:avLst/>
            </a:prstGeom>
            <a:noFill/>
            <a:ln w="38100">
              <a:solidFill>
                <a:schemeClr val="accent2"/>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44" name="Text Box 28"/>
            <p:cNvSpPr txBox="1">
              <a:spLocks noChangeArrowheads="1"/>
            </p:cNvSpPr>
            <p:nvPr/>
          </p:nvSpPr>
          <p:spPr bwMode="auto">
            <a:xfrm>
              <a:off x="4371" y="1480"/>
              <a:ext cx="52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rear</a:t>
              </a:r>
              <a:endParaRPr lang="en-US" altLang="zh-CN" sz="2400"/>
            </a:p>
          </p:txBody>
        </p:sp>
        <p:sp>
          <p:nvSpPr>
            <p:cNvPr id="1033245" name="Text Box 29"/>
            <p:cNvSpPr txBox="1">
              <a:spLocks noChangeArrowheads="1"/>
            </p:cNvSpPr>
            <p:nvPr/>
          </p:nvSpPr>
          <p:spPr bwMode="auto">
            <a:xfrm>
              <a:off x="1824" y="109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31</a:t>
              </a:r>
              <a:endParaRPr lang="en-US" altLang="zh-CN" sz="2800"/>
            </a:p>
          </p:txBody>
        </p:sp>
        <p:sp>
          <p:nvSpPr>
            <p:cNvPr id="1033246" name="Text Box 30"/>
            <p:cNvSpPr txBox="1">
              <a:spLocks noChangeArrowheads="1"/>
            </p:cNvSpPr>
            <p:nvPr/>
          </p:nvSpPr>
          <p:spPr bwMode="auto">
            <a:xfrm>
              <a:off x="2592" y="109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48</a:t>
              </a:r>
              <a:endParaRPr lang="en-US" altLang="zh-CN" sz="2800"/>
            </a:p>
          </p:txBody>
        </p:sp>
        <p:sp>
          <p:nvSpPr>
            <p:cNvPr id="1033247" name="Text Box 31"/>
            <p:cNvSpPr txBox="1">
              <a:spLocks noChangeArrowheads="1"/>
            </p:cNvSpPr>
            <p:nvPr/>
          </p:nvSpPr>
          <p:spPr bwMode="auto">
            <a:xfrm>
              <a:off x="3360" y="109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15</a:t>
              </a:r>
              <a:endParaRPr lang="en-US" altLang="zh-CN" sz="2800"/>
            </a:p>
          </p:txBody>
        </p:sp>
        <p:sp>
          <p:nvSpPr>
            <p:cNvPr id="1033248" name="Text Box 32"/>
            <p:cNvSpPr txBox="1">
              <a:spLocks noChangeArrowheads="1"/>
            </p:cNvSpPr>
            <p:nvPr/>
          </p:nvSpPr>
          <p:spPr bwMode="auto">
            <a:xfrm>
              <a:off x="4128" y="109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57</a:t>
              </a:r>
              <a:endParaRPr lang="en-US" altLang="zh-CN" sz="2800"/>
            </a:p>
          </p:txBody>
        </p:sp>
        <p:sp>
          <p:nvSpPr>
            <p:cNvPr id="1033249" name="Line 33"/>
            <p:cNvSpPr>
              <a:spLocks noChangeShapeType="1"/>
            </p:cNvSpPr>
            <p:nvPr/>
          </p:nvSpPr>
          <p:spPr bwMode="auto">
            <a:xfrm flipV="1">
              <a:off x="4328" y="1432"/>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50" name="Text Box 34"/>
            <p:cNvSpPr txBox="1">
              <a:spLocks noChangeArrowheads="1"/>
            </p:cNvSpPr>
            <p:nvPr/>
          </p:nvSpPr>
          <p:spPr bwMode="auto">
            <a:xfrm>
              <a:off x="1024" y="109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22</a:t>
              </a:r>
              <a:endParaRPr lang="en-US" altLang="zh-CN" sz="2800"/>
            </a:p>
          </p:txBody>
        </p:sp>
      </p:grpSp>
      <p:sp>
        <p:nvSpPr>
          <p:cNvPr id="1033251" name="Text Box 35"/>
          <p:cNvSpPr txBox="1">
            <a:spLocks noChangeArrowheads="1"/>
          </p:cNvSpPr>
          <p:nvPr/>
        </p:nvSpPr>
        <p:spPr bwMode="auto">
          <a:xfrm>
            <a:off x="736600" y="2974975"/>
            <a:ext cx="7753350" cy="311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defRPr kumimoji="1" sz="2000">
                <a:solidFill>
                  <a:schemeClr val="tx1"/>
                </a:solidFill>
                <a:latin typeface="Times New Roman" panose="02020603050405020304" charset="0"/>
                <a:ea typeface="宋体" panose="02010600030101010101" pitchFamily="2" charset="-122"/>
              </a:defRPr>
            </a:lvl1pPr>
            <a:lvl2pPr marL="800100" indent="-342900" eaLnBrk="0" hangingPunct="0">
              <a:defRPr kumimoji="1" sz="2000">
                <a:solidFill>
                  <a:schemeClr val="tx1"/>
                </a:solidFill>
                <a:latin typeface="Times New Roman" panose="02020603050405020304" charset="0"/>
                <a:ea typeface="宋体" panose="02010600030101010101" pitchFamily="2" charset="-122"/>
              </a:defRPr>
            </a:lvl2pPr>
            <a:lvl3pPr marL="1257300" indent="-342900" eaLnBrk="0" hangingPunct="0">
              <a:defRPr kumimoji="1" sz="2000">
                <a:solidFill>
                  <a:schemeClr val="tx1"/>
                </a:solidFill>
                <a:latin typeface="Times New Roman" panose="02020603050405020304" charset="0"/>
                <a:ea typeface="宋体" panose="02010600030101010101" pitchFamily="2" charset="-122"/>
              </a:defRPr>
            </a:lvl3pPr>
            <a:lvl4pPr marL="1714500" indent="-342900" eaLnBrk="0" hangingPunct="0">
              <a:defRPr kumimoji="1" sz="2000">
                <a:solidFill>
                  <a:schemeClr val="tx1"/>
                </a:solidFill>
                <a:latin typeface="Times New Roman" panose="02020603050405020304" charset="0"/>
                <a:ea typeface="宋体" panose="02010600030101010101" pitchFamily="2" charset="-122"/>
              </a:defRPr>
            </a:lvl4pPr>
            <a:lvl5pPr marL="2171700" indent="-342900" eaLnBrk="0" hangingPunct="0">
              <a:defRPr kumimoji="1" sz="2000">
                <a:solidFill>
                  <a:schemeClr val="tx1"/>
                </a:solidFill>
                <a:latin typeface="Times New Roman" panose="02020603050405020304" charset="0"/>
                <a:ea typeface="宋体" panose="02010600030101010101" pitchFamily="2" charset="-122"/>
              </a:defRPr>
            </a:lvl5pPr>
            <a:lvl6pPr marL="26289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30861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5433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40005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110000"/>
              </a:lnSpc>
              <a:buClr>
                <a:srgbClr val="800080"/>
              </a:buClr>
              <a:buSzPct val="50000"/>
              <a:buFont typeface="Wingdings" panose="05000000000000000000" pitchFamily="2" charset="2"/>
              <a:buChar char="n"/>
              <a:defRPr/>
            </a:pPr>
            <a:r>
              <a:rPr lang="zh-CN" altLang="en-US" sz="3000" b="1">
                <a:ea typeface="仿宋_GB2312" panose="02010609030101010101" charset="-122"/>
              </a:rPr>
              <a:t>如果插入与删除仅在链表的两端发生，可采用带表尾指针的循环链表结构。</a:t>
            </a:r>
            <a:endParaRPr lang="zh-CN" altLang="en-US" sz="3000" b="1">
              <a:ea typeface="仿宋_GB2312" panose="02010609030101010101" charset="-122"/>
            </a:endParaRPr>
          </a:p>
          <a:p>
            <a:pPr lvl="1" eaLnBrk="1" hangingPunct="1">
              <a:lnSpc>
                <a:spcPct val="110000"/>
              </a:lnSpc>
              <a:buClr>
                <a:srgbClr val="CC0000"/>
              </a:buClr>
              <a:buFont typeface="Wingdings" panose="05000000000000000000" pitchFamily="2" charset="2"/>
              <a:buChar char="Ø"/>
              <a:defRPr/>
            </a:pPr>
            <a:r>
              <a:rPr lang="zh-CN" altLang="en-US" sz="3000" b="1">
                <a:ea typeface="仿宋_GB2312" panose="02010609030101010101" charset="-122"/>
              </a:rPr>
              <a:t>在表尾插入，时间复杂性 </a:t>
            </a:r>
            <a:r>
              <a:rPr lang="en-US" altLang="zh-CN" sz="3000" b="1">
                <a:ea typeface="仿宋_GB2312" panose="02010609030101010101" charset="-122"/>
              </a:rPr>
              <a:t>O(1)</a:t>
            </a:r>
            <a:endParaRPr lang="en-US" altLang="zh-CN" sz="3000" b="1">
              <a:ea typeface="仿宋_GB2312" panose="02010609030101010101" charset="-122"/>
            </a:endParaRPr>
          </a:p>
          <a:p>
            <a:pPr lvl="1" eaLnBrk="1" hangingPunct="1">
              <a:lnSpc>
                <a:spcPct val="110000"/>
              </a:lnSpc>
              <a:buClr>
                <a:srgbClr val="CC0000"/>
              </a:buClr>
              <a:buFont typeface="Wingdings" panose="05000000000000000000" pitchFamily="2" charset="2"/>
              <a:buChar char="Ø"/>
              <a:defRPr/>
            </a:pPr>
            <a:r>
              <a:rPr lang="zh-CN" altLang="en-US" sz="3000" b="1">
                <a:ea typeface="仿宋_GB2312" panose="02010609030101010101" charset="-122"/>
              </a:rPr>
              <a:t>在表尾删除，时间复杂性 </a:t>
            </a:r>
            <a:r>
              <a:rPr lang="en-US" altLang="zh-CN" sz="3000" b="1">
                <a:ea typeface="仿宋_GB2312" panose="02010609030101010101" charset="-122"/>
              </a:rPr>
              <a:t>O(n)</a:t>
            </a:r>
            <a:endParaRPr lang="en-US" altLang="zh-CN" sz="3000" b="1">
              <a:ea typeface="仿宋_GB2312" panose="02010609030101010101" charset="-122"/>
            </a:endParaRPr>
          </a:p>
          <a:p>
            <a:pPr lvl="1" eaLnBrk="1" hangingPunct="1">
              <a:lnSpc>
                <a:spcPct val="110000"/>
              </a:lnSpc>
              <a:buClr>
                <a:srgbClr val="CC0000"/>
              </a:buClr>
              <a:buFont typeface="Wingdings" panose="05000000000000000000" pitchFamily="2" charset="2"/>
              <a:buChar char="Ø"/>
              <a:defRPr/>
            </a:pPr>
            <a:r>
              <a:rPr lang="zh-CN" altLang="en-US" sz="3000" b="1">
                <a:ea typeface="仿宋_GB2312" panose="02010609030101010101" charset="-122"/>
              </a:rPr>
              <a:t>在表头插入，相当于在表尾插入</a:t>
            </a:r>
            <a:endParaRPr lang="zh-CN" altLang="en-US" sz="3000" b="1">
              <a:ea typeface="仿宋_GB2312" panose="02010609030101010101" charset="-122"/>
            </a:endParaRPr>
          </a:p>
          <a:p>
            <a:pPr lvl="1" eaLnBrk="1" hangingPunct="1">
              <a:lnSpc>
                <a:spcPct val="110000"/>
              </a:lnSpc>
              <a:buClr>
                <a:srgbClr val="CC0000"/>
              </a:buClr>
              <a:buFont typeface="Wingdings" panose="05000000000000000000" pitchFamily="2" charset="2"/>
              <a:buChar char="Ø"/>
              <a:defRPr/>
            </a:pPr>
            <a:r>
              <a:rPr lang="zh-CN" altLang="en-US" sz="3000" b="1">
                <a:ea typeface="仿宋_GB2312" panose="02010609030101010101" charset="-122"/>
              </a:rPr>
              <a:t>在表头删除，时间复杂性 </a:t>
            </a:r>
            <a:r>
              <a:rPr lang="en-US" altLang="zh-CN" sz="3000" b="1">
                <a:ea typeface="仿宋_GB2312" panose="02010609030101010101" charset="-122"/>
              </a:rPr>
              <a:t>O(1)</a:t>
            </a:r>
            <a:endParaRPr lang="en-US" altLang="zh-CN" sz="3000" b="1">
              <a:ea typeface="仿宋_GB2312" panose="02010609030101010101" charset="-122"/>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p:cNvSpPr>
            <a:spLocks noGrp="1" noChangeArrowheads="1"/>
          </p:cNvSpPr>
          <p:nvPr>
            <p:ph type="title"/>
          </p:nvPr>
        </p:nvSpPr>
        <p:spPr>
          <a:xfrm>
            <a:off x="2057400" y="228600"/>
            <a:ext cx="6294438" cy="587375"/>
          </a:xfrm>
        </p:spPr>
        <p:txBody>
          <a:bodyPr/>
          <a:lstStyle/>
          <a:p>
            <a:pPr algn="ctr"/>
            <a:r>
              <a:rPr lang="zh-CN" altLang="en-US" sz="3200" b="0">
                <a:ea typeface="华文新魏" panose="02010800040101010101" charset="-122"/>
              </a:rPr>
              <a:t>用循环链表求解约瑟夫问题</a:t>
            </a:r>
            <a:endParaRPr lang="zh-CN" altLang="en-US" sz="3200">
              <a:ea typeface="华文新魏" panose="02010800040101010101" charset="-122"/>
            </a:endParaRPr>
          </a:p>
        </p:txBody>
      </p:sp>
      <p:sp>
        <p:nvSpPr>
          <p:cNvPr id="136194" name="Rectangle 3"/>
          <p:cNvSpPr>
            <a:spLocks noGrp="1" noChangeArrowheads="1"/>
          </p:cNvSpPr>
          <p:nvPr>
            <p:ph type="body" idx="1"/>
          </p:nvPr>
        </p:nvSpPr>
        <p:spPr>
          <a:xfrm>
            <a:off x="1143000" y="1066800"/>
            <a:ext cx="7802563" cy="4953000"/>
          </a:xfrm>
        </p:spPr>
        <p:txBody>
          <a:bodyPr/>
          <a:lstStyle/>
          <a:p>
            <a:pPr marL="609600" indent="-609600">
              <a:lnSpc>
                <a:spcPct val="105000"/>
              </a:lnSpc>
              <a:buClr>
                <a:srgbClr val="800080"/>
              </a:buClr>
              <a:buSzPct val="55000"/>
            </a:pPr>
            <a:r>
              <a:rPr lang="zh-CN" altLang="en-US" b="1">
                <a:latin typeface="Times New Roman" panose="02020603050405020304" charset="0"/>
                <a:ea typeface="仿宋_GB2312" panose="02010609030101010101" charset="-122"/>
              </a:rPr>
              <a:t>约瑟夫问题的提法</a:t>
            </a:r>
            <a:endParaRPr lang="zh-CN" altLang="en-US" b="1">
              <a:latin typeface="Times New Roman" panose="02020603050405020304" charset="0"/>
              <a:ea typeface="仿宋_GB2312" panose="02010609030101010101" charset="-122"/>
            </a:endParaRPr>
          </a:p>
          <a:p>
            <a:pPr marL="990600" lvl="1" indent="-533400">
              <a:lnSpc>
                <a:spcPct val="105000"/>
              </a:lnSpc>
              <a:buClr>
                <a:srgbClr val="CC0000"/>
              </a:buClr>
              <a:buFont typeface="Wingdings" panose="05000000000000000000" pitchFamily="2" charset="2"/>
              <a:buChar char="Ø"/>
            </a:pPr>
            <a:r>
              <a:rPr lang="en-US" altLang="zh-CN" b="1" i="1">
                <a:latin typeface="Times New Roman" panose="02020603050405020304" charset="0"/>
                <a:ea typeface="仿宋_GB2312" panose="02010609030101010101" charset="-122"/>
              </a:rPr>
              <a:t>n </a:t>
            </a:r>
            <a:r>
              <a:rPr lang="zh-CN" altLang="en-US" b="1">
                <a:latin typeface="Times New Roman" panose="02020603050405020304" charset="0"/>
                <a:ea typeface="仿宋_GB2312" panose="02010609030101010101" charset="-122"/>
              </a:rPr>
              <a:t>个人围成一个圆圈，首先第 </a:t>
            </a:r>
            <a:r>
              <a:rPr lang="en-US" altLang="zh-CN" b="1">
                <a:latin typeface="Times New Roman" panose="02020603050405020304" charset="0"/>
                <a:ea typeface="仿宋_GB2312" panose="02010609030101010101" charset="-122"/>
              </a:rPr>
              <a:t>1 </a:t>
            </a:r>
            <a:r>
              <a:rPr lang="zh-CN" altLang="en-US" b="1">
                <a:latin typeface="Times New Roman" panose="02020603050405020304" charset="0"/>
                <a:ea typeface="仿宋_GB2312" panose="02010609030101010101" charset="-122"/>
              </a:rPr>
              <a:t>个人从 </a:t>
            </a:r>
            <a:r>
              <a:rPr lang="en-US" altLang="zh-CN" b="1">
                <a:latin typeface="Times New Roman" panose="02020603050405020304" charset="0"/>
                <a:ea typeface="仿宋_GB2312" panose="02010609030101010101" charset="-122"/>
              </a:rPr>
              <a:t>1 </a:t>
            </a:r>
            <a:r>
              <a:rPr lang="zh-CN" altLang="en-US" b="1">
                <a:latin typeface="Times New Roman" panose="02020603050405020304" charset="0"/>
                <a:ea typeface="仿宋_GB2312" panose="02010609030101010101" charset="-122"/>
              </a:rPr>
              <a:t>开始，一个人一个人顺时针报数</a:t>
            </a:r>
            <a:r>
              <a:rPr lang="en-US" altLang="zh-CN" b="1">
                <a:latin typeface="Times New Roman" panose="02020603050405020304" charset="0"/>
                <a:ea typeface="仿宋_GB2312" panose="02010609030101010101" charset="-122"/>
              </a:rPr>
              <a:t>,  </a:t>
            </a:r>
            <a:r>
              <a:rPr lang="zh-CN" altLang="en-US" b="1">
                <a:latin typeface="Times New Roman" panose="02020603050405020304" charset="0"/>
                <a:ea typeface="仿宋_GB2312" panose="02010609030101010101" charset="-122"/>
              </a:rPr>
              <a:t>报到第 </a:t>
            </a:r>
            <a:r>
              <a:rPr lang="en-US" altLang="zh-CN" b="1" i="1">
                <a:latin typeface="Times New Roman" panose="02020603050405020304" charset="0"/>
                <a:ea typeface="仿宋_GB2312" panose="02010609030101010101" charset="-122"/>
              </a:rPr>
              <a:t>m </a:t>
            </a:r>
            <a:r>
              <a:rPr lang="zh-CN" altLang="en-US" b="1">
                <a:latin typeface="Times New Roman" panose="02020603050405020304" charset="0"/>
                <a:ea typeface="仿宋_GB2312" panose="02010609030101010101" charset="-122"/>
              </a:rPr>
              <a:t>个人，令其出列。然后再从下一 个人开始，从 </a:t>
            </a:r>
            <a:r>
              <a:rPr lang="en-US" altLang="zh-CN" b="1">
                <a:latin typeface="Times New Roman" panose="02020603050405020304" charset="0"/>
                <a:ea typeface="仿宋_GB2312" panose="02010609030101010101" charset="-122"/>
              </a:rPr>
              <a:t>1 </a:t>
            </a:r>
            <a:r>
              <a:rPr lang="zh-CN" altLang="en-US" b="1">
                <a:latin typeface="Times New Roman" panose="02020603050405020304" charset="0"/>
                <a:ea typeface="仿宋_GB2312" panose="02010609030101010101" charset="-122"/>
              </a:rPr>
              <a:t>顺时针报数，报到第 </a:t>
            </a:r>
            <a:r>
              <a:rPr lang="en-US" altLang="zh-CN" b="1" i="1">
                <a:latin typeface="Times New Roman" panose="02020603050405020304" charset="0"/>
                <a:ea typeface="仿宋_GB2312" panose="02010609030101010101" charset="-122"/>
              </a:rPr>
              <a:t>m </a:t>
            </a:r>
            <a:r>
              <a:rPr lang="zh-CN" altLang="en-US" b="1">
                <a:latin typeface="Times New Roman" panose="02020603050405020304" charset="0"/>
                <a:ea typeface="仿宋_GB2312" panose="02010609030101010101" charset="-122"/>
              </a:rPr>
              <a:t>个人，再令其出列，</a:t>
            </a:r>
            <a:r>
              <a:rPr lang="en-US" altLang="zh-CN" b="1">
                <a:latin typeface="Times New Roman" panose="02020603050405020304" charset="0"/>
                <a:ea typeface="仿宋_GB2312" panose="02010609030101010101" charset="-122"/>
              </a:rPr>
              <a:t>…</a:t>
            </a:r>
            <a:r>
              <a:rPr lang="zh-CN" altLang="en-US" b="1">
                <a:latin typeface="Times New Roman" panose="02020603050405020304" charset="0"/>
                <a:ea typeface="仿宋_GB2312" panose="02010609030101010101" charset="-122"/>
              </a:rPr>
              <a:t>，如此下去</a:t>
            </a:r>
            <a:r>
              <a:rPr lang="en-US" altLang="zh-CN" b="1">
                <a:latin typeface="Times New Roman" panose="02020603050405020304" charset="0"/>
                <a:ea typeface="仿宋_GB2312" panose="02010609030101010101" charset="-122"/>
              </a:rPr>
              <a:t>,  </a:t>
            </a:r>
            <a:r>
              <a:rPr lang="zh-CN" altLang="en-US" b="1">
                <a:latin typeface="Times New Roman" panose="02020603050405020304" charset="0"/>
                <a:ea typeface="仿宋_GB2312" panose="02010609030101010101" charset="-122"/>
              </a:rPr>
              <a:t>直到圆圈中只剩一个人为止。此人即</a:t>
            </a:r>
            <a:r>
              <a:rPr lang="zh-CN" altLang="en-US" b="1">
                <a:ea typeface="仿宋_GB2312" panose="02010609030101010101" charset="-122"/>
              </a:rPr>
              <a:t>为优胜者。</a:t>
            </a:r>
            <a:endParaRPr lang="zh-CN" altLang="en-US" b="1">
              <a:ea typeface="仿宋_GB2312" panose="02010609030101010101" charset="-122"/>
            </a:endParaRPr>
          </a:p>
          <a:p>
            <a:pPr marL="990600" lvl="1" indent="-533400">
              <a:lnSpc>
                <a:spcPct val="105000"/>
              </a:lnSpc>
              <a:buClr>
                <a:srgbClr val="CC0000"/>
              </a:buClr>
              <a:buFont typeface="Wingdings" panose="05000000000000000000" pitchFamily="2" charset="2"/>
              <a:buChar char="Ø"/>
            </a:pPr>
            <a:r>
              <a:rPr lang="zh-CN" altLang="en-US" b="1">
                <a:ea typeface="仿宋_GB2312" panose="02010609030101010101" charset="-122"/>
              </a:rPr>
              <a:t>用不带表头结点的循环链表来组织。</a:t>
            </a:r>
            <a:endParaRPr lang="zh-CN" altLang="en-US">
              <a:ea typeface="仿宋_GB2312" panose="02010609030101010101" charset="-122"/>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p:cNvSpPr>
            <a:spLocks noGrp="1" noChangeArrowheads="1"/>
          </p:cNvSpPr>
          <p:nvPr>
            <p:ph type="body" idx="1"/>
          </p:nvPr>
        </p:nvSpPr>
        <p:spPr>
          <a:xfrm>
            <a:off x="1600200" y="228600"/>
            <a:ext cx="6096000" cy="685800"/>
          </a:xfrm>
        </p:spPr>
        <p:txBody>
          <a:bodyPr/>
          <a:lstStyle/>
          <a:p>
            <a:pPr>
              <a:lnSpc>
                <a:spcPct val="90000"/>
              </a:lnSpc>
              <a:buFontTx/>
              <a:buNone/>
            </a:pPr>
            <a:r>
              <a:rPr lang="zh-CN" altLang="en-US" b="1">
                <a:latin typeface="Times New Roman" panose="02020603050405020304" charset="0"/>
                <a:ea typeface="仿宋_GB2312" panose="02010609030101010101" charset="-122"/>
              </a:rPr>
              <a:t>例如  </a:t>
            </a:r>
            <a:r>
              <a:rPr lang="en-US" altLang="zh-CN" b="1" i="1">
                <a:solidFill>
                  <a:srgbClr val="0000CC"/>
                </a:solidFill>
                <a:latin typeface="Times New Roman" panose="02020603050405020304" charset="0"/>
                <a:ea typeface="仿宋_GB2312" panose="02010609030101010101" charset="-122"/>
              </a:rPr>
              <a:t>n </a:t>
            </a:r>
            <a:r>
              <a:rPr lang="en-US" altLang="zh-CN" b="1">
                <a:solidFill>
                  <a:srgbClr val="0000CC"/>
                </a:solidFill>
                <a:latin typeface="Times New Roman" panose="02020603050405020304" charset="0"/>
                <a:ea typeface="仿宋_GB2312" panose="02010609030101010101" charset="-122"/>
              </a:rPr>
              <a:t>= 8   </a:t>
            </a:r>
            <a:r>
              <a:rPr lang="en-US" altLang="zh-CN" b="1" i="1">
                <a:solidFill>
                  <a:srgbClr val="0000CC"/>
                </a:solidFill>
                <a:latin typeface="Times New Roman" panose="02020603050405020304" charset="0"/>
                <a:ea typeface="仿宋_GB2312" panose="02010609030101010101" charset="-122"/>
              </a:rPr>
              <a:t>m</a:t>
            </a:r>
            <a:r>
              <a:rPr lang="en-US" altLang="zh-CN" b="1">
                <a:solidFill>
                  <a:srgbClr val="0000CC"/>
                </a:solidFill>
                <a:latin typeface="Times New Roman" panose="02020603050405020304" charset="0"/>
                <a:ea typeface="仿宋_GB2312" panose="02010609030101010101" charset="-122"/>
              </a:rPr>
              <a:t> = 3</a:t>
            </a:r>
            <a:endParaRPr lang="en-US" altLang="zh-CN" b="1">
              <a:solidFill>
                <a:srgbClr val="0000CC"/>
              </a:solidFill>
              <a:latin typeface="Times New Roman" panose="02020603050405020304" charset="0"/>
              <a:ea typeface="仿宋_GB2312" panose="02010609030101010101" charset="-122"/>
            </a:endParaRPr>
          </a:p>
        </p:txBody>
      </p:sp>
      <p:grpSp>
        <p:nvGrpSpPr>
          <p:cNvPr id="137218" name="Group 3"/>
          <p:cNvGrpSpPr/>
          <p:nvPr/>
        </p:nvGrpSpPr>
        <p:grpSpPr bwMode="auto">
          <a:xfrm>
            <a:off x="323850" y="1266825"/>
            <a:ext cx="2405063" cy="2660650"/>
            <a:chOff x="96" y="744"/>
            <a:chExt cx="1515" cy="1676"/>
          </a:xfrm>
        </p:grpSpPr>
        <p:grpSp>
          <p:nvGrpSpPr>
            <p:cNvPr id="137349" name="Group 4"/>
            <p:cNvGrpSpPr/>
            <p:nvPr/>
          </p:nvGrpSpPr>
          <p:grpSpPr bwMode="auto">
            <a:xfrm>
              <a:off x="96" y="744"/>
              <a:ext cx="1515" cy="1676"/>
              <a:chOff x="96" y="744"/>
              <a:chExt cx="1515" cy="1676"/>
            </a:xfrm>
          </p:grpSpPr>
          <p:grpSp>
            <p:nvGrpSpPr>
              <p:cNvPr id="137359" name="Group 5"/>
              <p:cNvGrpSpPr/>
              <p:nvPr/>
            </p:nvGrpSpPr>
            <p:grpSpPr bwMode="auto">
              <a:xfrm>
                <a:off x="297" y="1014"/>
                <a:ext cx="1143" cy="1143"/>
                <a:chOff x="864" y="1545"/>
                <a:chExt cx="1143" cy="1143"/>
              </a:xfrm>
            </p:grpSpPr>
            <p:sp>
              <p:nvSpPr>
                <p:cNvPr id="1035270" name="Oval 6"/>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5271" name="Line 7"/>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272" name="Line 8"/>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273" name="Line 9"/>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274" name="Line 10"/>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275" name="Oval 11"/>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5276" name="Text Box 12"/>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5277" name="Text Box 13"/>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5278" name="Text Box 14"/>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5279" name="Text Box 15"/>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5280" name="Text Box 16"/>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5281" name="Text Box 17"/>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5282" name="Text Box 18"/>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5283" name="Text Box 19"/>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5284" name="Text Box 20"/>
            <p:cNvSpPr txBox="1">
              <a:spLocks noChangeArrowheads="1"/>
            </p:cNvSpPr>
            <p:nvPr/>
          </p:nvSpPr>
          <p:spPr bwMode="auto">
            <a:xfrm>
              <a:off x="901" y="1033"/>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1</a:t>
              </a:r>
              <a:endParaRPr kumimoji="0" lang="en-US" altLang="zh-CN" sz="2600" b="1">
                <a:latin typeface="Arial" panose="020B0604020202020204" pitchFamily="34" charset="0"/>
              </a:endParaRPr>
            </a:p>
          </p:txBody>
        </p:sp>
        <p:sp>
          <p:nvSpPr>
            <p:cNvPr id="1035285" name="Text Box 21"/>
            <p:cNvSpPr txBox="1">
              <a:spLocks noChangeArrowheads="1"/>
            </p:cNvSpPr>
            <p:nvPr/>
          </p:nvSpPr>
          <p:spPr bwMode="auto">
            <a:xfrm>
              <a:off x="1154" y="127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2</a:t>
              </a:r>
              <a:endParaRPr kumimoji="0" lang="en-US" altLang="zh-CN" sz="2600" b="1">
                <a:latin typeface="Arial" panose="020B0604020202020204" pitchFamily="34" charset="0"/>
              </a:endParaRPr>
            </a:p>
          </p:txBody>
        </p:sp>
        <p:sp>
          <p:nvSpPr>
            <p:cNvPr id="1035286" name="Text Box 22"/>
            <p:cNvSpPr txBox="1">
              <a:spLocks noChangeArrowheads="1"/>
            </p:cNvSpPr>
            <p:nvPr/>
          </p:nvSpPr>
          <p:spPr bwMode="auto">
            <a:xfrm>
              <a:off x="1145" y="160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3</a:t>
              </a:r>
              <a:endParaRPr kumimoji="0" lang="en-US" altLang="zh-CN" sz="2600" b="1">
                <a:latin typeface="Arial" panose="020B0604020202020204" pitchFamily="34" charset="0"/>
              </a:endParaRPr>
            </a:p>
          </p:txBody>
        </p:sp>
        <p:sp>
          <p:nvSpPr>
            <p:cNvPr id="1035287" name="Text Box 23"/>
            <p:cNvSpPr txBox="1">
              <a:spLocks noChangeArrowheads="1"/>
            </p:cNvSpPr>
            <p:nvPr/>
          </p:nvSpPr>
          <p:spPr bwMode="auto">
            <a:xfrm>
              <a:off x="918" y="1825"/>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5288" name="Text Box 24"/>
            <p:cNvSpPr txBox="1">
              <a:spLocks noChangeArrowheads="1"/>
            </p:cNvSpPr>
            <p:nvPr/>
          </p:nvSpPr>
          <p:spPr bwMode="auto">
            <a:xfrm>
              <a:off x="613" y="184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5</a:t>
              </a:r>
              <a:endParaRPr kumimoji="0" lang="en-US" altLang="zh-CN" sz="2600" b="1">
                <a:latin typeface="Arial" panose="020B0604020202020204" pitchFamily="34" charset="0"/>
              </a:endParaRPr>
            </a:p>
          </p:txBody>
        </p:sp>
        <p:sp>
          <p:nvSpPr>
            <p:cNvPr id="1035289" name="Text Box 25"/>
            <p:cNvSpPr txBox="1">
              <a:spLocks noChangeArrowheads="1"/>
            </p:cNvSpPr>
            <p:nvPr/>
          </p:nvSpPr>
          <p:spPr bwMode="auto">
            <a:xfrm>
              <a:off x="368" y="160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6</a:t>
              </a:r>
              <a:endParaRPr kumimoji="0" lang="en-US" altLang="zh-CN" sz="2600" b="1">
                <a:latin typeface="Arial" panose="020B0604020202020204" pitchFamily="34" charset="0"/>
              </a:endParaRPr>
            </a:p>
          </p:txBody>
        </p:sp>
        <p:sp>
          <p:nvSpPr>
            <p:cNvPr id="1035290" name="Text Box 26"/>
            <p:cNvSpPr txBox="1">
              <a:spLocks noChangeArrowheads="1"/>
            </p:cNvSpPr>
            <p:nvPr/>
          </p:nvSpPr>
          <p:spPr bwMode="auto">
            <a:xfrm>
              <a:off x="378" y="126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5291" name="Text Box 27"/>
            <p:cNvSpPr txBox="1">
              <a:spLocks noChangeArrowheads="1"/>
            </p:cNvSpPr>
            <p:nvPr/>
          </p:nvSpPr>
          <p:spPr bwMode="auto">
            <a:xfrm>
              <a:off x="630" y="103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8</a:t>
              </a:r>
              <a:endParaRPr kumimoji="0" lang="en-US" altLang="zh-CN" sz="2600" b="1">
                <a:latin typeface="Arial" panose="020B0604020202020204" pitchFamily="34" charset="0"/>
              </a:endParaRPr>
            </a:p>
          </p:txBody>
        </p:sp>
        <p:sp>
          <p:nvSpPr>
            <p:cNvPr id="1035292" name="Line 28"/>
            <p:cNvSpPr>
              <a:spLocks noChangeShapeType="1"/>
            </p:cNvSpPr>
            <p:nvPr/>
          </p:nvSpPr>
          <p:spPr bwMode="auto">
            <a:xfrm flipH="1">
              <a:off x="1169" y="916"/>
              <a:ext cx="167" cy="175"/>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7219" name="Group 29"/>
          <p:cNvGrpSpPr/>
          <p:nvPr/>
        </p:nvGrpSpPr>
        <p:grpSpPr bwMode="auto">
          <a:xfrm>
            <a:off x="2768600" y="1266825"/>
            <a:ext cx="2405063" cy="2660650"/>
            <a:chOff x="1744" y="798"/>
            <a:chExt cx="1515" cy="1676"/>
          </a:xfrm>
        </p:grpSpPr>
        <p:grpSp>
          <p:nvGrpSpPr>
            <p:cNvPr id="137324" name="Group 30"/>
            <p:cNvGrpSpPr/>
            <p:nvPr/>
          </p:nvGrpSpPr>
          <p:grpSpPr bwMode="auto">
            <a:xfrm>
              <a:off x="1744" y="798"/>
              <a:ext cx="1515" cy="1676"/>
              <a:chOff x="96" y="744"/>
              <a:chExt cx="1515" cy="1676"/>
            </a:xfrm>
          </p:grpSpPr>
          <p:grpSp>
            <p:nvGrpSpPr>
              <p:cNvPr id="137334" name="Group 31"/>
              <p:cNvGrpSpPr/>
              <p:nvPr/>
            </p:nvGrpSpPr>
            <p:grpSpPr bwMode="auto">
              <a:xfrm>
                <a:off x="297" y="1014"/>
                <a:ext cx="1143" cy="1143"/>
                <a:chOff x="864" y="1545"/>
                <a:chExt cx="1143" cy="1143"/>
              </a:xfrm>
            </p:grpSpPr>
            <p:sp>
              <p:nvSpPr>
                <p:cNvPr id="1035296" name="Oval 32"/>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5297" name="Line 33"/>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298" name="Line 34"/>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299" name="Line 35"/>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00" name="Line 36"/>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01" name="Oval 37"/>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5302" name="Text Box 38"/>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5303" name="Text Box 39"/>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5304" name="Text Box 40"/>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5305" name="Text Box 41"/>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5306" name="Text Box 42"/>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5307" name="Text Box 43"/>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5308" name="Text Box 44"/>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5309" name="Text Box 45"/>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5310" name="Text Box 46"/>
            <p:cNvSpPr txBox="1">
              <a:spLocks noChangeArrowheads="1"/>
            </p:cNvSpPr>
            <p:nvPr/>
          </p:nvSpPr>
          <p:spPr bwMode="auto">
            <a:xfrm>
              <a:off x="2549" y="108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1</a:t>
              </a:r>
              <a:endParaRPr kumimoji="0" lang="en-US" altLang="zh-CN" sz="2600" b="1">
                <a:latin typeface="Arial" panose="020B0604020202020204" pitchFamily="34" charset="0"/>
              </a:endParaRPr>
            </a:p>
          </p:txBody>
        </p:sp>
        <p:sp>
          <p:nvSpPr>
            <p:cNvPr id="1035311" name="Text Box 47"/>
            <p:cNvSpPr txBox="1">
              <a:spLocks noChangeArrowheads="1"/>
            </p:cNvSpPr>
            <p:nvPr/>
          </p:nvSpPr>
          <p:spPr bwMode="auto">
            <a:xfrm>
              <a:off x="2802" y="133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2</a:t>
              </a:r>
              <a:endParaRPr kumimoji="0" lang="en-US" altLang="zh-CN" sz="2600" b="1">
                <a:latin typeface="Arial" panose="020B0604020202020204" pitchFamily="34" charset="0"/>
              </a:endParaRPr>
            </a:p>
          </p:txBody>
        </p:sp>
        <p:sp>
          <p:nvSpPr>
            <p:cNvPr id="1035312" name="Text Box 48"/>
            <p:cNvSpPr txBox="1">
              <a:spLocks noChangeArrowheads="1"/>
            </p:cNvSpPr>
            <p:nvPr/>
          </p:nvSpPr>
          <p:spPr bwMode="auto">
            <a:xfrm>
              <a:off x="2793" y="166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3</a:t>
              </a:r>
              <a:endParaRPr kumimoji="0" lang="en-US" altLang="zh-CN" sz="2600" b="1">
                <a:solidFill>
                  <a:srgbClr val="008000"/>
                </a:solidFill>
                <a:latin typeface="Arial" panose="020B0604020202020204" pitchFamily="34" charset="0"/>
              </a:endParaRPr>
            </a:p>
          </p:txBody>
        </p:sp>
        <p:sp>
          <p:nvSpPr>
            <p:cNvPr id="1035313" name="Text Box 49"/>
            <p:cNvSpPr txBox="1">
              <a:spLocks noChangeArrowheads="1"/>
            </p:cNvSpPr>
            <p:nvPr/>
          </p:nvSpPr>
          <p:spPr bwMode="auto">
            <a:xfrm>
              <a:off x="2566" y="1879"/>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5314" name="Text Box 50"/>
            <p:cNvSpPr txBox="1">
              <a:spLocks noChangeArrowheads="1"/>
            </p:cNvSpPr>
            <p:nvPr/>
          </p:nvSpPr>
          <p:spPr bwMode="auto">
            <a:xfrm>
              <a:off x="2261" y="189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5</a:t>
              </a:r>
              <a:endParaRPr kumimoji="0" lang="en-US" altLang="zh-CN" sz="2600" b="1">
                <a:latin typeface="Arial" panose="020B0604020202020204" pitchFamily="34" charset="0"/>
              </a:endParaRPr>
            </a:p>
          </p:txBody>
        </p:sp>
        <p:sp>
          <p:nvSpPr>
            <p:cNvPr id="1035315" name="Text Box 51"/>
            <p:cNvSpPr txBox="1">
              <a:spLocks noChangeArrowheads="1"/>
            </p:cNvSpPr>
            <p:nvPr/>
          </p:nvSpPr>
          <p:spPr bwMode="auto">
            <a:xfrm>
              <a:off x="2016" y="166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6</a:t>
              </a:r>
              <a:endParaRPr kumimoji="0" lang="en-US" altLang="zh-CN" sz="2600" b="1">
                <a:latin typeface="Arial" panose="020B0604020202020204" pitchFamily="34" charset="0"/>
              </a:endParaRPr>
            </a:p>
          </p:txBody>
        </p:sp>
        <p:sp>
          <p:nvSpPr>
            <p:cNvPr id="1035316" name="Text Box 52"/>
            <p:cNvSpPr txBox="1">
              <a:spLocks noChangeArrowheads="1"/>
            </p:cNvSpPr>
            <p:nvPr/>
          </p:nvSpPr>
          <p:spPr bwMode="auto">
            <a:xfrm>
              <a:off x="2026" y="132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5317" name="Text Box 53"/>
            <p:cNvSpPr txBox="1">
              <a:spLocks noChangeArrowheads="1"/>
            </p:cNvSpPr>
            <p:nvPr/>
          </p:nvSpPr>
          <p:spPr bwMode="auto">
            <a:xfrm>
              <a:off x="2278" y="1086"/>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8</a:t>
              </a:r>
              <a:endParaRPr kumimoji="0" lang="en-US" altLang="zh-CN" sz="2600" b="1">
                <a:latin typeface="Arial" panose="020B0604020202020204" pitchFamily="34" charset="0"/>
              </a:endParaRPr>
            </a:p>
          </p:txBody>
        </p:sp>
        <p:sp>
          <p:nvSpPr>
            <p:cNvPr id="1035318" name="Line 54"/>
            <p:cNvSpPr>
              <a:spLocks noChangeShapeType="1"/>
            </p:cNvSpPr>
            <p:nvPr/>
          </p:nvSpPr>
          <p:spPr bwMode="auto">
            <a:xfrm flipH="1" flipV="1">
              <a:off x="3009" y="1931"/>
              <a:ext cx="184" cy="139"/>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7220" name="Group 55"/>
          <p:cNvGrpSpPr/>
          <p:nvPr/>
        </p:nvGrpSpPr>
        <p:grpSpPr bwMode="auto">
          <a:xfrm>
            <a:off x="5192713" y="1265238"/>
            <a:ext cx="2405062" cy="2660650"/>
            <a:chOff x="3271" y="797"/>
            <a:chExt cx="1515" cy="1676"/>
          </a:xfrm>
        </p:grpSpPr>
        <p:grpSp>
          <p:nvGrpSpPr>
            <p:cNvPr id="137299" name="Group 56"/>
            <p:cNvGrpSpPr/>
            <p:nvPr/>
          </p:nvGrpSpPr>
          <p:grpSpPr bwMode="auto">
            <a:xfrm>
              <a:off x="3271" y="797"/>
              <a:ext cx="1515" cy="1676"/>
              <a:chOff x="96" y="744"/>
              <a:chExt cx="1515" cy="1676"/>
            </a:xfrm>
          </p:grpSpPr>
          <p:grpSp>
            <p:nvGrpSpPr>
              <p:cNvPr id="137309" name="Group 57"/>
              <p:cNvGrpSpPr/>
              <p:nvPr/>
            </p:nvGrpSpPr>
            <p:grpSpPr bwMode="auto">
              <a:xfrm>
                <a:off x="297" y="1014"/>
                <a:ext cx="1143" cy="1143"/>
                <a:chOff x="864" y="1545"/>
                <a:chExt cx="1143" cy="1143"/>
              </a:xfrm>
            </p:grpSpPr>
            <p:sp>
              <p:nvSpPr>
                <p:cNvPr id="1035322" name="Oval 58"/>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5323" name="Line 59"/>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24" name="Line 60"/>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25" name="Line 61"/>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26" name="Line 62"/>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27" name="Oval 63"/>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5328" name="Text Box 64"/>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5329" name="Text Box 65"/>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5330" name="Text Box 66"/>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5331" name="Text Box 67"/>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5332" name="Text Box 68"/>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5333" name="Text Box 69"/>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5334" name="Text Box 70"/>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5335" name="Text Box 71"/>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5336" name="Text Box 72"/>
            <p:cNvSpPr txBox="1">
              <a:spLocks noChangeArrowheads="1"/>
            </p:cNvSpPr>
            <p:nvPr/>
          </p:nvSpPr>
          <p:spPr bwMode="auto">
            <a:xfrm>
              <a:off x="4076" y="1086"/>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1</a:t>
              </a:r>
              <a:endParaRPr kumimoji="0" lang="en-US" altLang="zh-CN" sz="2600" b="1">
                <a:latin typeface="Arial" panose="020B0604020202020204" pitchFamily="34" charset="0"/>
              </a:endParaRPr>
            </a:p>
          </p:txBody>
        </p:sp>
        <p:sp>
          <p:nvSpPr>
            <p:cNvPr id="1035337" name="Text Box 73"/>
            <p:cNvSpPr txBox="1">
              <a:spLocks noChangeArrowheads="1"/>
            </p:cNvSpPr>
            <p:nvPr/>
          </p:nvSpPr>
          <p:spPr bwMode="auto">
            <a:xfrm>
              <a:off x="4329" y="1330"/>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2</a:t>
              </a:r>
              <a:endParaRPr kumimoji="0" lang="en-US" altLang="zh-CN" sz="2600" b="1">
                <a:latin typeface="Arial" panose="020B0604020202020204" pitchFamily="34" charset="0"/>
              </a:endParaRPr>
            </a:p>
          </p:txBody>
        </p:sp>
        <p:sp>
          <p:nvSpPr>
            <p:cNvPr id="1035338" name="Text Box 74"/>
            <p:cNvSpPr txBox="1">
              <a:spLocks noChangeArrowheads="1"/>
            </p:cNvSpPr>
            <p:nvPr/>
          </p:nvSpPr>
          <p:spPr bwMode="auto">
            <a:xfrm>
              <a:off x="4320" y="166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339" name="Text Box 75"/>
            <p:cNvSpPr txBox="1">
              <a:spLocks noChangeArrowheads="1"/>
            </p:cNvSpPr>
            <p:nvPr/>
          </p:nvSpPr>
          <p:spPr bwMode="auto">
            <a:xfrm>
              <a:off x="4093" y="187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5340" name="Text Box 76"/>
            <p:cNvSpPr txBox="1">
              <a:spLocks noChangeArrowheads="1"/>
            </p:cNvSpPr>
            <p:nvPr/>
          </p:nvSpPr>
          <p:spPr bwMode="auto">
            <a:xfrm>
              <a:off x="3788" y="189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5</a:t>
              </a:r>
              <a:endParaRPr kumimoji="0" lang="en-US" altLang="zh-CN" sz="2600" b="1">
                <a:latin typeface="Arial" panose="020B0604020202020204" pitchFamily="34" charset="0"/>
              </a:endParaRPr>
            </a:p>
          </p:txBody>
        </p:sp>
        <p:sp>
          <p:nvSpPr>
            <p:cNvPr id="1035341" name="Text Box 77"/>
            <p:cNvSpPr txBox="1">
              <a:spLocks noChangeArrowheads="1"/>
            </p:cNvSpPr>
            <p:nvPr/>
          </p:nvSpPr>
          <p:spPr bwMode="auto">
            <a:xfrm>
              <a:off x="3543" y="166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6</a:t>
              </a:r>
              <a:endParaRPr kumimoji="0" lang="en-US" altLang="zh-CN" sz="2600" b="1">
                <a:solidFill>
                  <a:srgbClr val="008000"/>
                </a:solidFill>
                <a:latin typeface="Arial" panose="020B0604020202020204" pitchFamily="34" charset="0"/>
              </a:endParaRPr>
            </a:p>
          </p:txBody>
        </p:sp>
        <p:sp>
          <p:nvSpPr>
            <p:cNvPr id="1035342" name="Text Box 78"/>
            <p:cNvSpPr txBox="1">
              <a:spLocks noChangeArrowheads="1"/>
            </p:cNvSpPr>
            <p:nvPr/>
          </p:nvSpPr>
          <p:spPr bwMode="auto">
            <a:xfrm>
              <a:off x="3553" y="132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5343" name="Text Box 79"/>
            <p:cNvSpPr txBox="1">
              <a:spLocks noChangeArrowheads="1"/>
            </p:cNvSpPr>
            <p:nvPr/>
          </p:nvSpPr>
          <p:spPr bwMode="auto">
            <a:xfrm>
              <a:off x="3805" y="1085"/>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8</a:t>
              </a:r>
              <a:endParaRPr kumimoji="0" lang="en-US" altLang="zh-CN" sz="2600" b="1">
                <a:latin typeface="Arial" panose="020B0604020202020204" pitchFamily="34" charset="0"/>
              </a:endParaRPr>
            </a:p>
          </p:txBody>
        </p:sp>
        <p:sp>
          <p:nvSpPr>
            <p:cNvPr id="1035344" name="Line 80"/>
            <p:cNvSpPr>
              <a:spLocks noChangeShapeType="1"/>
            </p:cNvSpPr>
            <p:nvPr/>
          </p:nvSpPr>
          <p:spPr bwMode="auto">
            <a:xfrm flipV="1">
              <a:off x="3359" y="1878"/>
              <a:ext cx="173" cy="130"/>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7221" name="Group 81"/>
          <p:cNvGrpSpPr/>
          <p:nvPr/>
        </p:nvGrpSpPr>
        <p:grpSpPr bwMode="auto">
          <a:xfrm>
            <a:off x="1338263" y="3716338"/>
            <a:ext cx="2405062" cy="2660650"/>
            <a:chOff x="843" y="2341"/>
            <a:chExt cx="1515" cy="1676"/>
          </a:xfrm>
        </p:grpSpPr>
        <p:grpSp>
          <p:nvGrpSpPr>
            <p:cNvPr id="137274" name="Group 82"/>
            <p:cNvGrpSpPr/>
            <p:nvPr/>
          </p:nvGrpSpPr>
          <p:grpSpPr bwMode="auto">
            <a:xfrm>
              <a:off x="843" y="2341"/>
              <a:ext cx="1515" cy="1676"/>
              <a:chOff x="96" y="744"/>
              <a:chExt cx="1515" cy="1676"/>
            </a:xfrm>
          </p:grpSpPr>
          <p:grpSp>
            <p:nvGrpSpPr>
              <p:cNvPr id="137284" name="Group 83"/>
              <p:cNvGrpSpPr/>
              <p:nvPr/>
            </p:nvGrpSpPr>
            <p:grpSpPr bwMode="auto">
              <a:xfrm>
                <a:off x="297" y="1014"/>
                <a:ext cx="1143" cy="1143"/>
                <a:chOff x="864" y="1545"/>
                <a:chExt cx="1143" cy="1143"/>
              </a:xfrm>
            </p:grpSpPr>
            <p:sp>
              <p:nvSpPr>
                <p:cNvPr id="1035348" name="Oval 84"/>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5349" name="Line 85"/>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50" name="Line 86"/>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51" name="Line 87"/>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52" name="Line 88"/>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53" name="Oval 89"/>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5354" name="Text Box 90"/>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5355" name="Text Box 91"/>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5356" name="Text Box 92"/>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5357" name="Text Box 93"/>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5358" name="Text Box 94"/>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5359" name="Text Box 95"/>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5360" name="Text Box 96"/>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5361" name="Text Box 97"/>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5362" name="Text Box 98"/>
            <p:cNvSpPr txBox="1">
              <a:spLocks noChangeArrowheads="1"/>
            </p:cNvSpPr>
            <p:nvPr/>
          </p:nvSpPr>
          <p:spPr bwMode="auto">
            <a:xfrm>
              <a:off x="1648" y="2630"/>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1</a:t>
              </a:r>
              <a:endParaRPr kumimoji="0" lang="en-US" altLang="zh-CN" sz="2600" b="1">
                <a:solidFill>
                  <a:srgbClr val="008000"/>
                </a:solidFill>
                <a:latin typeface="Arial" panose="020B0604020202020204" pitchFamily="34" charset="0"/>
              </a:endParaRPr>
            </a:p>
          </p:txBody>
        </p:sp>
        <p:sp>
          <p:nvSpPr>
            <p:cNvPr id="1035363" name="Text Box 99"/>
            <p:cNvSpPr txBox="1">
              <a:spLocks noChangeArrowheads="1"/>
            </p:cNvSpPr>
            <p:nvPr/>
          </p:nvSpPr>
          <p:spPr bwMode="auto">
            <a:xfrm>
              <a:off x="1901" y="287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2</a:t>
              </a:r>
              <a:endParaRPr kumimoji="0" lang="en-US" altLang="zh-CN" sz="2600" b="1">
                <a:latin typeface="Arial" panose="020B0604020202020204" pitchFamily="34" charset="0"/>
              </a:endParaRPr>
            </a:p>
          </p:txBody>
        </p:sp>
        <p:sp>
          <p:nvSpPr>
            <p:cNvPr id="1035364" name="Text Box 100"/>
            <p:cNvSpPr txBox="1">
              <a:spLocks noChangeArrowheads="1"/>
            </p:cNvSpPr>
            <p:nvPr/>
          </p:nvSpPr>
          <p:spPr bwMode="auto">
            <a:xfrm>
              <a:off x="1892" y="3205"/>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365" name="Text Box 101"/>
            <p:cNvSpPr txBox="1">
              <a:spLocks noChangeArrowheads="1"/>
            </p:cNvSpPr>
            <p:nvPr/>
          </p:nvSpPr>
          <p:spPr bwMode="auto">
            <a:xfrm>
              <a:off x="1665" y="342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5366" name="Text Box 102"/>
            <p:cNvSpPr txBox="1">
              <a:spLocks noChangeArrowheads="1"/>
            </p:cNvSpPr>
            <p:nvPr/>
          </p:nvSpPr>
          <p:spPr bwMode="auto">
            <a:xfrm>
              <a:off x="1360" y="344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5</a:t>
              </a:r>
              <a:endParaRPr kumimoji="0" lang="en-US" altLang="zh-CN" sz="2600" b="1">
                <a:latin typeface="Arial" panose="020B0604020202020204" pitchFamily="34" charset="0"/>
              </a:endParaRPr>
            </a:p>
          </p:txBody>
        </p:sp>
        <p:sp>
          <p:nvSpPr>
            <p:cNvPr id="1035367" name="Text Box 103"/>
            <p:cNvSpPr txBox="1">
              <a:spLocks noChangeArrowheads="1"/>
            </p:cNvSpPr>
            <p:nvPr/>
          </p:nvSpPr>
          <p:spPr bwMode="auto">
            <a:xfrm>
              <a:off x="1115" y="3205"/>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6</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368" name="Text Box 104"/>
            <p:cNvSpPr txBox="1">
              <a:spLocks noChangeArrowheads="1"/>
            </p:cNvSpPr>
            <p:nvPr/>
          </p:nvSpPr>
          <p:spPr bwMode="auto">
            <a:xfrm>
              <a:off x="1125" y="2865"/>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5369" name="Text Box 105"/>
            <p:cNvSpPr txBox="1">
              <a:spLocks noChangeArrowheads="1"/>
            </p:cNvSpPr>
            <p:nvPr/>
          </p:nvSpPr>
          <p:spPr bwMode="auto">
            <a:xfrm>
              <a:off x="1377" y="2629"/>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8</a:t>
              </a:r>
              <a:endParaRPr kumimoji="0" lang="en-US" altLang="zh-CN" sz="2600" b="1">
                <a:latin typeface="Arial" panose="020B0604020202020204" pitchFamily="34" charset="0"/>
              </a:endParaRPr>
            </a:p>
          </p:txBody>
        </p:sp>
        <p:sp>
          <p:nvSpPr>
            <p:cNvPr id="1035370" name="Line 106"/>
            <p:cNvSpPr>
              <a:spLocks noChangeShapeType="1"/>
            </p:cNvSpPr>
            <p:nvPr/>
          </p:nvSpPr>
          <p:spPr bwMode="auto">
            <a:xfrm flipH="1">
              <a:off x="1845" y="2417"/>
              <a:ext cx="89" cy="228"/>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7222" name="Group 107"/>
          <p:cNvGrpSpPr/>
          <p:nvPr/>
        </p:nvGrpSpPr>
        <p:grpSpPr bwMode="auto">
          <a:xfrm>
            <a:off x="3794125" y="3714750"/>
            <a:ext cx="2405063" cy="2660650"/>
            <a:chOff x="2390" y="2340"/>
            <a:chExt cx="1515" cy="1676"/>
          </a:xfrm>
        </p:grpSpPr>
        <p:grpSp>
          <p:nvGrpSpPr>
            <p:cNvPr id="137249" name="Group 108"/>
            <p:cNvGrpSpPr/>
            <p:nvPr/>
          </p:nvGrpSpPr>
          <p:grpSpPr bwMode="auto">
            <a:xfrm>
              <a:off x="2390" y="2340"/>
              <a:ext cx="1515" cy="1676"/>
              <a:chOff x="96" y="744"/>
              <a:chExt cx="1515" cy="1676"/>
            </a:xfrm>
          </p:grpSpPr>
          <p:grpSp>
            <p:nvGrpSpPr>
              <p:cNvPr id="137259" name="Group 109"/>
              <p:cNvGrpSpPr/>
              <p:nvPr/>
            </p:nvGrpSpPr>
            <p:grpSpPr bwMode="auto">
              <a:xfrm>
                <a:off x="297" y="1014"/>
                <a:ext cx="1143" cy="1143"/>
                <a:chOff x="864" y="1545"/>
                <a:chExt cx="1143" cy="1143"/>
              </a:xfrm>
            </p:grpSpPr>
            <p:sp>
              <p:nvSpPr>
                <p:cNvPr id="1035374" name="Oval 110"/>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5375" name="Line 111"/>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76" name="Line 112"/>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77" name="Line 113"/>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78" name="Line 114"/>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79" name="Oval 115"/>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5380" name="Text Box 116"/>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5381" name="Text Box 117"/>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5382" name="Text Box 118"/>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5383" name="Text Box 119"/>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5384" name="Text Box 120"/>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5385" name="Text Box 121"/>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5386" name="Text Box 122"/>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5387" name="Text Box 123"/>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5388" name="Text Box 124"/>
            <p:cNvSpPr txBox="1">
              <a:spLocks noChangeArrowheads="1"/>
            </p:cNvSpPr>
            <p:nvPr/>
          </p:nvSpPr>
          <p:spPr bwMode="auto">
            <a:xfrm>
              <a:off x="3195" y="2629"/>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1</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389" name="Text Box 125"/>
            <p:cNvSpPr txBox="1">
              <a:spLocks noChangeArrowheads="1"/>
            </p:cNvSpPr>
            <p:nvPr/>
          </p:nvSpPr>
          <p:spPr bwMode="auto">
            <a:xfrm>
              <a:off x="3448" y="2873"/>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2</a:t>
              </a:r>
              <a:endParaRPr kumimoji="0" lang="en-US" altLang="zh-CN" sz="2600" b="1">
                <a:latin typeface="Arial" panose="020B0604020202020204" pitchFamily="34" charset="0"/>
              </a:endParaRPr>
            </a:p>
          </p:txBody>
        </p:sp>
        <p:sp>
          <p:nvSpPr>
            <p:cNvPr id="1035390" name="Text Box 126"/>
            <p:cNvSpPr txBox="1">
              <a:spLocks noChangeArrowheads="1"/>
            </p:cNvSpPr>
            <p:nvPr/>
          </p:nvSpPr>
          <p:spPr bwMode="auto">
            <a:xfrm>
              <a:off x="3439" y="320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391" name="Text Box 127"/>
            <p:cNvSpPr txBox="1">
              <a:spLocks noChangeArrowheads="1"/>
            </p:cNvSpPr>
            <p:nvPr/>
          </p:nvSpPr>
          <p:spPr bwMode="auto">
            <a:xfrm>
              <a:off x="3212" y="342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5392" name="Text Box 128"/>
            <p:cNvSpPr txBox="1">
              <a:spLocks noChangeArrowheads="1"/>
            </p:cNvSpPr>
            <p:nvPr/>
          </p:nvSpPr>
          <p:spPr bwMode="auto">
            <a:xfrm>
              <a:off x="2907" y="3440"/>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5</a:t>
              </a:r>
              <a:endParaRPr kumimoji="0" lang="en-US" altLang="zh-CN" sz="2600" b="1">
                <a:solidFill>
                  <a:srgbClr val="008000"/>
                </a:solidFill>
                <a:latin typeface="Arial" panose="020B0604020202020204" pitchFamily="34" charset="0"/>
              </a:endParaRPr>
            </a:p>
          </p:txBody>
        </p:sp>
        <p:sp>
          <p:nvSpPr>
            <p:cNvPr id="1035393" name="Text Box 129"/>
            <p:cNvSpPr txBox="1">
              <a:spLocks noChangeArrowheads="1"/>
            </p:cNvSpPr>
            <p:nvPr/>
          </p:nvSpPr>
          <p:spPr bwMode="auto">
            <a:xfrm>
              <a:off x="2662" y="320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6</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394" name="Text Box 130"/>
            <p:cNvSpPr txBox="1">
              <a:spLocks noChangeArrowheads="1"/>
            </p:cNvSpPr>
            <p:nvPr/>
          </p:nvSpPr>
          <p:spPr bwMode="auto">
            <a:xfrm>
              <a:off x="2672" y="286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5395" name="Text Box 131"/>
            <p:cNvSpPr txBox="1">
              <a:spLocks noChangeArrowheads="1"/>
            </p:cNvSpPr>
            <p:nvPr/>
          </p:nvSpPr>
          <p:spPr bwMode="auto">
            <a:xfrm>
              <a:off x="2924" y="262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8</a:t>
              </a:r>
              <a:endParaRPr kumimoji="0" lang="en-US" altLang="zh-CN" sz="2600" b="1">
                <a:latin typeface="Arial" panose="020B0604020202020204" pitchFamily="34" charset="0"/>
              </a:endParaRPr>
            </a:p>
          </p:txBody>
        </p:sp>
        <p:sp>
          <p:nvSpPr>
            <p:cNvPr id="1035396" name="Line 132"/>
            <p:cNvSpPr>
              <a:spLocks noChangeShapeType="1"/>
            </p:cNvSpPr>
            <p:nvPr/>
          </p:nvSpPr>
          <p:spPr bwMode="auto">
            <a:xfrm flipV="1">
              <a:off x="2749" y="3692"/>
              <a:ext cx="172" cy="199"/>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7223" name="Group 133"/>
          <p:cNvGrpSpPr/>
          <p:nvPr/>
        </p:nvGrpSpPr>
        <p:grpSpPr bwMode="auto">
          <a:xfrm>
            <a:off x="6256338" y="3703638"/>
            <a:ext cx="2414587" cy="2660650"/>
            <a:chOff x="3941" y="2333"/>
            <a:chExt cx="1521" cy="1676"/>
          </a:xfrm>
        </p:grpSpPr>
        <p:grpSp>
          <p:nvGrpSpPr>
            <p:cNvPr id="137224" name="Group 134"/>
            <p:cNvGrpSpPr/>
            <p:nvPr/>
          </p:nvGrpSpPr>
          <p:grpSpPr bwMode="auto">
            <a:xfrm>
              <a:off x="3941" y="2333"/>
              <a:ext cx="1515" cy="1676"/>
              <a:chOff x="96" y="744"/>
              <a:chExt cx="1515" cy="1676"/>
            </a:xfrm>
          </p:grpSpPr>
          <p:grpSp>
            <p:nvGrpSpPr>
              <p:cNvPr id="137234" name="Group 135"/>
              <p:cNvGrpSpPr/>
              <p:nvPr/>
            </p:nvGrpSpPr>
            <p:grpSpPr bwMode="auto">
              <a:xfrm>
                <a:off x="297" y="1014"/>
                <a:ext cx="1143" cy="1143"/>
                <a:chOff x="864" y="1545"/>
                <a:chExt cx="1143" cy="1143"/>
              </a:xfrm>
            </p:grpSpPr>
            <p:sp>
              <p:nvSpPr>
                <p:cNvPr id="1035400" name="Oval 136"/>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5401" name="Line 137"/>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402" name="Line 138"/>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403" name="Line 139"/>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404" name="Line 140"/>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405" name="Oval 141"/>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5406" name="Text Box 142"/>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5407" name="Text Box 143"/>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5408" name="Text Box 144"/>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5409" name="Text Box 145"/>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5410" name="Text Box 146"/>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5411" name="Text Box 147"/>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5412" name="Text Box 148"/>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5413" name="Text Box 149"/>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5414" name="Text Box 150"/>
            <p:cNvSpPr txBox="1">
              <a:spLocks noChangeArrowheads="1"/>
            </p:cNvSpPr>
            <p:nvPr/>
          </p:nvSpPr>
          <p:spPr bwMode="auto">
            <a:xfrm>
              <a:off x="4746" y="262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1</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415" name="Text Box 151"/>
            <p:cNvSpPr txBox="1">
              <a:spLocks noChangeArrowheads="1"/>
            </p:cNvSpPr>
            <p:nvPr/>
          </p:nvSpPr>
          <p:spPr bwMode="auto">
            <a:xfrm>
              <a:off x="4999" y="2866"/>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2</a:t>
              </a:r>
              <a:endParaRPr kumimoji="0" lang="en-US" altLang="zh-CN" sz="2600" b="1">
                <a:solidFill>
                  <a:srgbClr val="008000"/>
                </a:solidFill>
                <a:latin typeface="Arial" panose="020B0604020202020204" pitchFamily="34" charset="0"/>
              </a:endParaRPr>
            </a:p>
          </p:txBody>
        </p:sp>
        <p:sp>
          <p:nvSpPr>
            <p:cNvPr id="1035416" name="Text Box 152"/>
            <p:cNvSpPr txBox="1">
              <a:spLocks noChangeArrowheads="1"/>
            </p:cNvSpPr>
            <p:nvPr/>
          </p:nvSpPr>
          <p:spPr bwMode="auto">
            <a:xfrm>
              <a:off x="4990" y="319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417" name="Text Box 153"/>
            <p:cNvSpPr txBox="1">
              <a:spLocks noChangeArrowheads="1"/>
            </p:cNvSpPr>
            <p:nvPr/>
          </p:nvSpPr>
          <p:spPr bwMode="auto">
            <a:xfrm>
              <a:off x="4763" y="341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5418" name="Text Box 154"/>
            <p:cNvSpPr txBox="1">
              <a:spLocks noChangeArrowheads="1"/>
            </p:cNvSpPr>
            <p:nvPr/>
          </p:nvSpPr>
          <p:spPr bwMode="auto">
            <a:xfrm>
              <a:off x="4458" y="3433"/>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5</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419" name="Text Box 155"/>
            <p:cNvSpPr txBox="1">
              <a:spLocks noChangeArrowheads="1"/>
            </p:cNvSpPr>
            <p:nvPr/>
          </p:nvSpPr>
          <p:spPr bwMode="auto">
            <a:xfrm>
              <a:off x="4213" y="319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6</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420" name="Text Box 156"/>
            <p:cNvSpPr txBox="1">
              <a:spLocks noChangeArrowheads="1"/>
            </p:cNvSpPr>
            <p:nvPr/>
          </p:nvSpPr>
          <p:spPr bwMode="auto">
            <a:xfrm>
              <a:off x="4223" y="285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5421" name="Text Box 157"/>
            <p:cNvSpPr txBox="1">
              <a:spLocks noChangeArrowheads="1"/>
            </p:cNvSpPr>
            <p:nvPr/>
          </p:nvSpPr>
          <p:spPr bwMode="auto">
            <a:xfrm>
              <a:off x="4475" y="262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8</a:t>
              </a:r>
              <a:endParaRPr kumimoji="0" lang="en-US" altLang="zh-CN" sz="2600" b="1">
                <a:latin typeface="Arial" panose="020B0604020202020204" pitchFamily="34" charset="0"/>
              </a:endParaRPr>
            </a:p>
          </p:txBody>
        </p:sp>
        <p:sp>
          <p:nvSpPr>
            <p:cNvPr id="1035422" name="Line 158"/>
            <p:cNvSpPr>
              <a:spLocks noChangeShapeType="1"/>
            </p:cNvSpPr>
            <p:nvPr/>
          </p:nvSpPr>
          <p:spPr bwMode="auto">
            <a:xfrm flipH="1">
              <a:off x="5258" y="2872"/>
              <a:ext cx="204" cy="115"/>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p:cNvSpPr>
            <a:spLocks noGrp="1" noChangeArrowheads="1"/>
          </p:cNvSpPr>
          <p:nvPr>
            <p:ph type="body" idx="1"/>
          </p:nvPr>
        </p:nvSpPr>
        <p:spPr>
          <a:xfrm>
            <a:off x="3373438" y="4348163"/>
            <a:ext cx="2744787" cy="833437"/>
          </a:xfrm>
        </p:spPr>
        <p:txBody>
          <a:bodyPr/>
          <a:lstStyle/>
          <a:p>
            <a:pPr>
              <a:lnSpc>
                <a:spcPct val="90000"/>
              </a:lnSpc>
              <a:buFontTx/>
              <a:buNone/>
            </a:pPr>
            <a:r>
              <a:rPr lang="en-US" altLang="zh-CN" b="1" i="1">
                <a:solidFill>
                  <a:srgbClr val="0000CC"/>
                </a:solidFill>
                <a:latin typeface="Times New Roman" panose="02020603050405020304" charset="0"/>
                <a:ea typeface="仿宋_GB2312" panose="02010609030101010101" charset="-122"/>
              </a:rPr>
              <a:t>n </a:t>
            </a:r>
            <a:r>
              <a:rPr lang="en-US" altLang="zh-CN" b="1">
                <a:solidFill>
                  <a:srgbClr val="0000CC"/>
                </a:solidFill>
                <a:latin typeface="Times New Roman" panose="02020603050405020304" charset="0"/>
                <a:ea typeface="仿宋_GB2312" panose="02010609030101010101" charset="-122"/>
              </a:rPr>
              <a:t>= 8   </a:t>
            </a:r>
            <a:r>
              <a:rPr lang="en-US" altLang="zh-CN" b="1" i="1">
                <a:solidFill>
                  <a:srgbClr val="0000CC"/>
                </a:solidFill>
                <a:latin typeface="Times New Roman" panose="02020603050405020304" charset="0"/>
                <a:ea typeface="仿宋_GB2312" panose="02010609030101010101" charset="-122"/>
              </a:rPr>
              <a:t>m</a:t>
            </a:r>
            <a:r>
              <a:rPr lang="en-US" altLang="zh-CN" b="1">
                <a:solidFill>
                  <a:srgbClr val="0000CC"/>
                </a:solidFill>
                <a:latin typeface="Times New Roman" panose="02020603050405020304" charset="0"/>
                <a:ea typeface="仿宋_GB2312" panose="02010609030101010101" charset="-122"/>
              </a:rPr>
              <a:t> = 3</a:t>
            </a:r>
            <a:endParaRPr lang="en-US" altLang="zh-CN" b="1">
              <a:solidFill>
                <a:srgbClr val="0000CC"/>
              </a:solidFill>
              <a:latin typeface="Times New Roman" panose="02020603050405020304" charset="0"/>
              <a:ea typeface="仿宋_GB2312" panose="02010609030101010101" charset="-122"/>
            </a:endParaRPr>
          </a:p>
        </p:txBody>
      </p:sp>
      <p:grpSp>
        <p:nvGrpSpPr>
          <p:cNvPr id="138242" name="Group 3"/>
          <p:cNvGrpSpPr/>
          <p:nvPr/>
        </p:nvGrpSpPr>
        <p:grpSpPr bwMode="auto">
          <a:xfrm>
            <a:off x="725488" y="2036763"/>
            <a:ext cx="2405062" cy="2660650"/>
            <a:chOff x="349" y="405"/>
            <a:chExt cx="1515" cy="1676"/>
          </a:xfrm>
        </p:grpSpPr>
        <p:grpSp>
          <p:nvGrpSpPr>
            <p:cNvPr id="138295" name="Group 4"/>
            <p:cNvGrpSpPr/>
            <p:nvPr/>
          </p:nvGrpSpPr>
          <p:grpSpPr bwMode="auto">
            <a:xfrm>
              <a:off x="349" y="405"/>
              <a:ext cx="1515" cy="1676"/>
              <a:chOff x="96" y="744"/>
              <a:chExt cx="1515" cy="1676"/>
            </a:xfrm>
          </p:grpSpPr>
          <p:grpSp>
            <p:nvGrpSpPr>
              <p:cNvPr id="138305" name="Group 5"/>
              <p:cNvGrpSpPr/>
              <p:nvPr/>
            </p:nvGrpSpPr>
            <p:grpSpPr bwMode="auto">
              <a:xfrm>
                <a:off x="297" y="1014"/>
                <a:ext cx="1143" cy="1143"/>
                <a:chOff x="864" y="1545"/>
                <a:chExt cx="1143" cy="1143"/>
              </a:xfrm>
            </p:grpSpPr>
            <p:sp>
              <p:nvSpPr>
                <p:cNvPr id="1036294" name="Oval 6"/>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6295" name="Line 7"/>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296" name="Line 8"/>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297" name="Line 9"/>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298" name="Line 10"/>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299" name="Oval 11"/>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6300" name="Text Box 12"/>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6301" name="Text Box 13"/>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6302" name="Text Box 14"/>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6303" name="Text Box 15"/>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6304" name="Text Box 16"/>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6305" name="Text Box 17"/>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6306" name="Text Box 18"/>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6307" name="Text Box 19"/>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6308" name="Text Box 20"/>
            <p:cNvSpPr txBox="1">
              <a:spLocks noChangeArrowheads="1"/>
            </p:cNvSpPr>
            <p:nvPr/>
          </p:nvSpPr>
          <p:spPr bwMode="auto">
            <a:xfrm>
              <a:off x="1154" y="6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1</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09" name="Text Box 21"/>
            <p:cNvSpPr txBox="1">
              <a:spLocks noChangeArrowheads="1"/>
            </p:cNvSpPr>
            <p:nvPr/>
          </p:nvSpPr>
          <p:spPr bwMode="auto">
            <a:xfrm>
              <a:off x="1407" y="93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2</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10" name="Text Box 22"/>
            <p:cNvSpPr txBox="1">
              <a:spLocks noChangeArrowheads="1"/>
            </p:cNvSpPr>
            <p:nvPr/>
          </p:nvSpPr>
          <p:spPr bwMode="auto">
            <a:xfrm>
              <a:off x="1398" y="1269"/>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11" name="Text Box 23"/>
            <p:cNvSpPr txBox="1">
              <a:spLocks noChangeArrowheads="1"/>
            </p:cNvSpPr>
            <p:nvPr/>
          </p:nvSpPr>
          <p:spPr bwMode="auto">
            <a:xfrm>
              <a:off x="1171" y="1486"/>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6312" name="Text Box 24"/>
            <p:cNvSpPr txBox="1">
              <a:spLocks noChangeArrowheads="1"/>
            </p:cNvSpPr>
            <p:nvPr/>
          </p:nvSpPr>
          <p:spPr bwMode="auto">
            <a:xfrm>
              <a:off x="866" y="1505"/>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5</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13" name="Text Box 25"/>
            <p:cNvSpPr txBox="1">
              <a:spLocks noChangeArrowheads="1"/>
            </p:cNvSpPr>
            <p:nvPr/>
          </p:nvSpPr>
          <p:spPr bwMode="auto">
            <a:xfrm>
              <a:off x="621" y="1269"/>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6</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14" name="Text Box 26"/>
            <p:cNvSpPr txBox="1">
              <a:spLocks noChangeArrowheads="1"/>
            </p:cNvSpPr>
            <p:nvPr/>
          </p:nvSpPr>
          <p:spPr bwMode="auto">
            <a:xfrm>
              <a:off x="631" y="929"/>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6315" name="Text Box 27"/>
            <p:cNvSpPr txBox="1">
              <a:spLocks noChangeArrowheads="1"/>
            </p:cNvSpPr>
            <p:nvPr/>
          </p:nvSpPr>
          <p:spPr bwMode="auto">
            <a:xfrm>
              <a:off x="883" y="693"/>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8</a:t>
              </a:r>
              <a:endParaRPr kumimoji="0" lang="en-US" altLang="zh-CN" sz="2600" b="1">
                <a:solidFill>
                  <a:srgbClr val="008000"/>
                </a:solidFill>
                <a:latin typeface="Arial" panose="020B0604020202020204" pitchFamily="34" charset="0"/>
              </a:endParaRPr>
            </a:p>
          </p:txBody>
        </p:sp>
        <p:sp>
          <p:nvSpPr>
            <p:cNvPr id="1036316" name="Line 28"/>
            <p:cNvSpPr>
              <a:spLocks noChangeShapeType="1"/>
            </p:cNvSpPr>
            <p:nvPr/>
          </p:nvSpPr>
          <p:spPr bwMode="auto">
            <a:xfrm>
              <a:off x="822" y="473"/>
              <a:ext cx="93" cy="237"/>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8243" name="Group 29"/>
          <p:cNvGrpSpPr/>
          <p:nvPr/>
        </p:nvGrpSpPr>
        <p:grpSpPr bwMode="auto">
          <a:xfrm>
            <a:off x="5943600" y="2035175"/>
            <a:ext cx="2405063" cy="2660650"/>
            <a:chOff x="3744" y="413"/>
            <a:chExt cx="1515" cy="1676"/>
          </a:xfrm>
        </p:grpSpPr>
        <p:grpSp>
          <p:nvGrpSpPr>
            <p:cNvPr id="138270" name="Group 30"/>
            <p:cNvGrpSpPr/>
            <p:nvPr/>
          </p:nvGrpSpPr>
          <p:grpSpPr bwMode="auto">
            <a:xfrm>
              <a:off x="3744" y="413"/>
              <a:ext cx="1515" cy="1676"/>
              <a:chOff x="96" y="744"/>
              <a:chExt cx="1515" cy="1676"/>
            </a:xfrm>
          </p:grpSpPr>
          <p:grpSp>
            <p:nvGrpSpPr>
              <p:cNvPr id="138280" name="Group 31"/>
              <p:cNvGrpSpPr/>
              <p:nvPr/>
            </p:nvGrpSpPr>
            <p:grpSpPr bwMode="auto">
              <a:xfrm>
                <a:off x="297" y="1014"/>
                <a:ext cx="1143" cy="1143"/>
                <a:chOff x="864" y="1545"/>
                <a:chExt cx="1143" cy="1143"/>
              </a:xfrm>
            </p:grpSpPr>
            <p:sp>
              <p:nvSpPr>
                <p:cNvPr id="1036320" name="Oval 32"/>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6321" name="Line 33"/>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22" name="Line 34"/>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23" name="Line 35"/>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24" name="Line 36"/>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25" name="Oval 37"/>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6326" name="Text Box 38"/>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6327" name="Text Box 39"/>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6328" name="Text Box 40"/>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6329" name="Text Box 41"/>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6330" name="Text Box 42"/>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6331" name="Text Box 43"/>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6332" name="Text Box 44"/>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6333" name="Text Box 45"/>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6334" name="Text Box 46"/>
            <p:cNvSpPr txBox="1">
              <a:spLocks noChangeArrowheads="1"/>
            </p:cNvSpPr>
            <p:nvPr/>
          </p:nvSpPr>
          <p:spPr bwMode="auto">
            <a:xfrm>
              <a:off x="4549" y="70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1</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35" name="Text Box 47"/>
            <p:cNvSpPr txBox="1">
              <a:spLocks noChangeArrowheads="1"/>
            </p:cNvSpPr>
            <p:nvPr/>
          </p:nvSpPr>
          <p:spPr bwMode="auto">
            <a:xfrm>
              <a:off x="4802" y="946"/>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2</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36" name="Text Box 48"/>
            <p:cNvSpPr txBox="1">
              <a:spLocks noChangeArrowheads="1"/>
            </p:cNvSpPr>
            <p:nvPr/>
          </p:nvSpPr>
          <p:spPr bwMode="auto">
            <a:xfrm>
              <a:off x="4793" y="127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37" name="Text Box 49"/>
            <p:cNvSpPr txBox="1">
              <a:spLocks noChangeArrowheads="1"/>
            </p:cNvSpPr>
            <p:nvPr/>
          </p:nvSpPr>
          <p:spPr bwMode="auto">
            <a:xfrm>
              <a:off x="4566" y="14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4</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38" name="Text Box 50"/>
            <p:cNvSpPr txBox="1">
              <a:spLocks noChangeArrowheads="1"/>
            </p:cNvSpPr>
            <p:nvPr/>
          </p:nvSpPr>
          <p:spPr bwMode="auto">
            <a:xfrm>
              <a:off x="4261" y="1513"/>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5</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39" name="Text Box 51"/>
            <p:cNvSpPr txBox="1">
              <a:spLocks noChangeArrowheads="1"/>
            </p:cNvSpPr>
            <p:nvPr/>
          </p:nvSpPr>
          <p:spPr bwMode="auto">
            <a:xfrm>
              <a:off x="4016" y="127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6</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40" name="Text Box 52"/>
            <p:cNvSpPr txBox="1">
              <a:spLocks noChangeArrowheads="1"/>
            </p:cNvSpPr>
            <p:nvPr/>
          </p:nvSpPr>
          <p:spPr bwMode="auto">
            <a:xfrm>
              <a:off x="4026" y="93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7</a:t>
              </a:r>
              <a:endParaRPr kumimoji="0" lang="en-US" altLang="zh-CN" sz="2600" b="1">
                <a:solidFill>
                  <a:srgbClr val="008000"/>
                </a:solidFill>
                <a:latin typeface="Arial" panose="020B0604020202020204" pitchFamily="34" charset="0"/>
              </a:endParaRPr>
            </a:p>
          </p:txBody>
        </p:sp>
        <p:sp>
          <p:nvSpPr>
            <p:cNvPr id="1036341" name="Text Box 53"/>
            <p:cNvSpPr txBox="1">
              <a:spLocks noChangeArrowheads="1"/>
            </p:cNvSpPr>
            <p:nvPr/>
          </p:nvSpPr>
          <p:spPr bwMode="auto">
            <a:xfrm>
              <a:off x="4278" y="70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8</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42" name="Line 54"/>
            <p:cNvSpPr>
              <a:spLocks noChangeShapeType="1"/>
            </p:cNvSpPr>
            <p:nvPr/>
          </p:nvSpPr>
          <p:spPr bwMode="auto">
            <a:xfrm>
              <a:off x="3810" y="824"/>
              <a:ext cx="198" cy="130"/>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8244" name="Group 55"/>
          <p:cNvGrpSpPr/>
          <p:nvPr/>
        </p:nvGrpSpPr>
        <p:grpSpPr bwMode="auto">
          <a:xfrm>
            <a:off x="3333750" y="2036763"/>
            <a:ext cx="2405063" cy="2660650"/>
            <a:chOff x="2059" y="413"/>
            <a:chExt cx="1515" cy="1676"/>
          </a:xfrm>
        </p:grpSpPr>
        <p:grpSp>
          <p:nvGrpSpPr>
            <p:cNvPr id="138245" name="Group 56"/>
            <p:cNvGrpSpPr/>
            <p:nvPr/>
          </p:nvGrpSpPr>
          <p:grpSpPr bwMode="auto">
            <a:xfrm>
              <a:off x="2059" y="413"/>
              <a:ext cx="1515" cy="1676"/>
              <a:chOff x="96" y="744"/>
              <a:chExt cx="1515" cy="1676"/>
            </a:xfrm>
          </p:grpSpPr>
          <p:grpSp>
            <p:nvGrpSpPr>
              <p:cNvPr id="138255" name="Group 57"/>
              <p:cNvGrpSpPr/>
              <p:nvPr/>
            </p:nvGrpSpPr>
            <p:grpSpPr bwMode="auto">
              <a:xfrm>
                <a:off x="297" y="1014"/>
                <a:ext cx="1143" cy="1143"/>
                <a:chOff x="864" y="1545"/>
                <a:chExt cx="1143" cy="1143"/>
              </a:xfrm>
            </p:grpSpPr>
            <p:sp>
              <p:nvSpPr>
                <p:cNvPr id="1036346" name="Oval 58"/>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6347" name="Line 59"/>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48" name="Line 60"/>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49" name="Line 61"/>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50" name="Line 62"/>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51" name="Oval 63"/>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6352" name="Text Box 64"/>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6353" name="Text Box 65"/>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6354" name="Text Box 66"/>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6355" name="Text Box 67"/>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6356" name="Text Box 68"/>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6357" name="Text Box 69"/>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6358" name="Text Box 70"/>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6359" name="Text Box 71"/>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6360" name="Text Box 72"/>
            <p:cNvSpPr txBox="1">
              <a:spLocks noChangeArrowheads="1"/>
            </p:cNvSpPr>
            <p:nvPr/>
          </p:nvSpPr>
          <p:spPr bwMode="auto">
            <a:xfrm>
              <a:off x="2864" y="70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1</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61" name="Text Box 73"/>
            <p:cNvSpPr txBox="1">
              <a:spLocks noChangeArrowheads="1"/>
            </p:cNvSpPr>
            <p:nvPr/>
          </p:nvSpPr>
          <p:spPr bwMode="auto">
            <a:xfrm>
              <a:off x="3117" y="946"/>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2</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62" name="Text Box 74"/>
            <p:cNvSpPr txBox="1">
              <a:spLocks noChangeArrowheads="1"/>
            </p:cNvSpPr>
            <p:nvPr/>
          </p:nvSpPr>
          <p:spPr bwMode="auto">
            <a:xfrm>
              <a:off x="3108" y="127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63" name="Text Box 75"/>
            <p:cNvSpPr txBox="1">
              <a:spLocks noChangeArrowheads="1"/>
            </p:cNvSpPr>
            <p:nvPr/>
          </p:nvSpPr>
          <p:spPr bwMode="auto">
            <a:xfrm>
              <a:off x="2881" y="14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4</a:t>
              </a:r>
              <a:endParaRPr kumimoji="0" lang="en-US" altLang="zh-CN" sz="2600" b="1">
                <a:solidFill>
                  <a:srgbClr val="008000"/>
                </a:solidFill>
                <a:latin typeface="Arial" panose="020B0604020202020204" pitchFamily="34" charset="0"/>
              </a:endParaRPr>
            </a:p>
          </p:txBody>
        </p:sp>
        <p:sp>
          <p:nvSpPr>
            <p:cNvPr id="1036364" name="Text Box 76"/>
            <p:cNvSpPr txBox="1">
              <a:spLocks noChangeArrowheads="1"/>
            </p:cNvSpPr>
            <p:nvPr/>
          </p:nvSpPr>
          <p:spPr bwMode="auto">
            <a:xfrm>
              <a:off x="2576" y="1513"/>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5</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65" name="Text Box 77"/>
            <p:cNvSpPr txBox="1">
              <a:spLocks noChangeArrowheads="1"/>
            </p:cNvSpPr>
            <p:nvPr/>
          </p:nvSpPr>
          <p:spPr bwMode="auto">
            <a:xfrm>
              <a:off x="2331" y="127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6</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66" name="Text Box 78"/>
            <p:cNvSpPr txBox="1">
              <a:spLocks noChangeArrowheads="1"/>
            </p:cNvSpPr>
            <p:nvPr/>
          </p:nvSpPr>
          <p:spPr bwMode="auto">
            <a:xfrm>
              <a:off x="2341" y="93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6367" name="Text Box 79"/>
            <p:cNvSpPr txBox="1">
              <a:spLocks noChangeArrowheads="1"/>
            </p:cNvSpPr>
            <p:nvPr/>
          </p:nvSpPr>
          <p:spPr bwMode="auto">
            <a:xfrm>
              <a:off x="2593" y="70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8</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68" name="Line 80"/>
            <p:cNvSpPr>
              <a:spLocks noChangeShapeType="1"/>
            </p:cNvSpPr>
            <p:nvPr/>
          </p:nvSpPr>
          <p:spPr bwMode="auto">
            <a:xfrm flipH="1" flipV="1">
              <a:off x="3009" y="1792"/>
              <a:ext cx="73" cy="243"/>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noChangeArrowheads="1"/>
          </p:cNvSpPr>
          <p:nvPr>
            <p:ph type="title"/>
          </p:nvPr>
        </p:nvSpPr>
        <p:spPr>
          <a:xfrm>
            <a:off x="914400" y="0"/>
            <a:ext cx="8229600" cy="914400"/>
          </a:xfrm>
        </p:spPr>
        <p:txBody>
          <a:bodyPr/>
          <a:lstStyle/>
          <a:p>
            <a:pPr algn="ctr"/>
            <a:r>
              <a:rPr lang="zh-CN" altLang="en-US" sz="3200" b="0">
                <a:latin typeface="华文新魏" panose="02010800040101010101" charset="-122"/>
                <a:ea typeface="华文新魏" panose="02010800040101010101" charset="-122"/>
              </a:rPr>
              <a:t>求解</a:t>
            </a:r>
            <a:r>
              <a:rPr lang="en-US" altLang="zh-CN" sz="3200" b="0">
                <a:latin typeface="华文新魏" panose="02010800040101010101" charset="-122"/>
                <a:ea typeface="华文新魏" panose="02010800040101010101" charset="-122"/>
              </a:rPr>
              <a:t>Josephus</a:t>
            </a:r>
            <a:r>
              <a:rPr lang="zh-CN" altLang="en-US" sz="3200" b="0">
                <a:latin typeface="华文新魏" panose="02010800040101010101" charset="-122"/>
                <a:ea typeface="华文新魏" panose="02010800040101010101" charset="-122"/>
              </a:rPr>
              <a:t>问题的算法</a:t>
            </a:r>
            <a:r>
              <a:rPr lang="zh-CN" altLang="en-US"/>
              <a:t> </a:t>
            </a:r>
            <a:endParaRPr lang="zh-CN" altLang="en-US"/>
          </a:p>
        </p:txBody>
      </p:sp>
      <p:sp>
        <p:nvSpPr>
          <p:cNvPr id="139266" name="Rectangle 3"/>
          <p:cNvSpPr>
            <a:spLocks noGrp="1" noChangeArrowheads="1"/>
          </p:cNvSpPr>
          <p:nvPr>
            <p:ph type="body" idx="1"/>
          </p:nvPr>
        </p:nvSpPr>
        <p:spPr>
          <a:xfrm>
            <a:off x="565150" y="1312863"/>
            <a:ext cx="8229600" cy="4935537"/>
          </a:xfrm>
        </p:spPr>
        <p:txBody>
          <a:bodyPr>
            <a:normAutofit fontScale="85000" lnSpcReduction="20000"/>
          </a:bodyPr>
          <a:lstStyle/>
          <a:p>
            <a:pPr>
              <a:lnSpc>
                <a:spcPct val="90000"/>
              </a:lnSpc>
              <a:spcBef>
                <a:spcPct val="0"/>
              </a:spcBef>
              <a:buFontTx/>
              <a:buNone/>
            </a:pPr>
            <a:r>
              <a:rPr lang="en-US" altLang="zh-CN" sz="2800">
                <a:latin typeface="Times New Roman" panose="02020603050405020304" charset="0"/>
                <a:ea typeface="隶书" panose="02010509060101010101" charset="-122"/>
              </a:rPr>
              <a:t>void Josephus(CircLinkList </a:t>
            </a:r>
            <a:r>
              <a:rPr lang="en-US" altLang="zh-CN" sz="2800" b="1">
                <a:latin typeface="Times New Roman" panose="02020603050405020304" charset="0"/>
                <a:ea typeface="隶书" panose="02010509060101010101" charset="-122"/>
              </a:rPr>
              <a:t>&amp;</a:t>
            </a:r>
            <a:r>
              <a:rPr lang="en-US" altLang="zh-CN" sz="2800">
                <a:latin typeface="Times New Roman" panose="02020603050405020304" charset="0"/>
                <a:ea typeface="隶书" panose="02010509060101010101" charset="-122"/>
              </a:rPr>
              <a:t>Js</a:t>
            </a:r>
            <a:r>
              <a:rPr lang="en-US" altLang="zh-CN" sz="2800" b="1">
                <a:latin typeface="Times New Roman" panose="02020603050405020304" charset="0"/>
                <a:ea typeface="隶书" panose="02010509060101010101" charset="-122"/>
              </a:rPr>
              <a:t>, int</a:t>
            </a:r>
            <a:r>
              <a:rPr lang="en-US" altLang="zh-CN" sz="2800">
                <a:latin typeface="Times New Roman" panose="02020603050405020304" charset="0"/>
                <a:ea typeface="隶书" panose="02010509060101010101" charset="-122"/>
              </a:rPr>
              <a:t> n</a:t>
            </a:r>
            <a:r>
              <a:rPr lang="en-US" altLang="zh-CN" sz="2800" b="1">
                <a:latin typeface="Times New Roman" panose="02020603050405020304" charset="0"/>
                <a:ea typeface="隶书" panose="02010509060101010101" charset="-122"/>
              </a:rPr>
              <a:t>, int</a:t>
            </a:r>
            <a:r>
              <a:rPr lang="en-US" altLang="zh-CN" sz="2800">
                <a:latin typeface="Times New Roman" panose="02020603050405020304" charset="0"/>
                <a:ea typeface="隶书" panose="02010509060101010101" charset="-122"/>
              </a:rPr>
              <a:t> m) </a:t>
            </a:r>
            <a:r>
              <a:rPr lang="en-US" altLang="zh-CN" sz="2800" b="1">
                <a:latin typeface="Times New Roman" panose="02020603050405020304" charset="0"/>
                <a:ea typeface="隶书" panose="02010509060101010101" charset="-122"/>
              </a:rPr>
              <a:t>{</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r>
              <a:rPr lang="en-US" altLang="zh-CN" sz="2800">
                <a:latin typeface="Times New Roman" panose="02020603050405020304" charset="0"/>
                <a:ea typeface="隶书" panose="02010509060101010101" charset="-122"/>
              </a:rPr>
              <a:t>     CircLinkNode *p = Js.getHead()</a:t>
            </a:r>
            <a:r>
              <a:rPr lang="en-US" altLang="zh-CN" sz="2800" b="1">
                <a:latin typeface="Times New Roman" panose="02020603050405020304" charset="0"/>
                <a:ea typeface="隶书" panose="02010509060101010101" charset="-122"/>
              </a:rPr>
              <a:t>, </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r>
              <a:rPr lang="en-US" altLang="zh-CN" sz="2800">
                <a:latin typeface="Times New Roman" panose="02020603050405020304" charset="0"/>
                <a:ea typeface="隶书" panose="02010509060101010101" charset="-122"/>
              </a:rPr>
              <a:t>                                        *pre = NULL</a:t>
            </a:r>
            <a:r>
              <a:rPr lang="en-US" altLang="zh-CN" sz="2800" b="1">
                <a:latin typeface="Times New Roman" panose="02020603050405020304" charset="0"/>
                <a:ea typeface="隶书" panose="02010509060101010101" charset="-122"/>
              </a:rPr>
              <a:t>; </a:t>
            </a:r>
            <a:r>
              <a:rPr lang="en-US" altLang="zh-CN" sz="2800">
                <a:latin typeface="Times New Roman" panose="02020603050405020304" charset="0"/>
                <a:ea typeface="隶书" panose="02010509060101010101" charset="-122"/>
              </a:rPr>
              <a:t> </a:t>
            </a:r>
            <a:endParaRPr lang="en-US" altLang="zh-CN" sz="2800">
              <a:latin typeface="Times New Roman" panose="02020603050405020304" charset="0"/>
              <a:ea typeface="隶书" panose="02010509060101010101" charset="-122"/>
            </a:endParaRPr>
          </a:p>
          <a:p>
            <a:pPr>
              <a:lnSpc>
                <a:spcPct val="90000"/>
              </a:lnSpc>
              <a:spcBef>
                <a:spcPct val="0"/>
              </a:spcBef>
              <a:buFontTx/>
              <a:buNone/>
            </a:pPr>
            <a:r>
              <a:rPr lang="en-US" altLang="zh-CN" sz="2800">
                <a:latin typeface="Times New Roman" panose="02020603050405020304" charset="0"/>
                <a:ea typeface="隶书" panose="02010509060101010101" charset="-122"/>
              </a:rPr>
              <a:t>     </a:t>
            </a:r>
            <a:r>
              <a:rPr lang="en-US" altLang="zh-CN" sz="2800" b="1">
                <a:latin typeface="Times New Roman" panose="02020603050405020304" charset="0"/>
                <a:ea typeface="隶书" panose="02010509060101010101" charset="-122"/>
              </a:rPr>
              <a:t>int</a:t>
            </a:r>
            <a:r>
              <a:rPr lang="en-US" altLang="zh-CN" sz="2800">
                <a:latin typeface="Times New Roman" panose="02020603050405020304" charset="0"/>
                <a:ea typeface="隶书" panose="02010509060101010101" charset="-122"/>
              </a:rPr>
              <a:t> i</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j</a:t>
            </a:r>
            <a:r>
              <a:rPr lang="en-US" altLang="zh-CN" sz="2800" b="1">
                <a:latin typeface="Times New Roman" panose="02020603050405020304" charset="0"/>
                <a:ea typeface="隶书" panose="02010509060101010101" charset="-122"/>
              </a:rPr>
              <a:t>;</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r>
              <a:rPr lang="en-US" altLang="zh-CN" sz="2800">
                <a:latin typeface="Times New Roman" panose="02020603050405020304" charset="0"/>
                <a:ea typeface="隶书" panose="02010509060101010101" charset="-122"/>
              </a:rPr>
              <a:t>     </a:t>
            </a:r>
            <a:r>
              <a:rPr lang="en-US" altLang="zh-CN" sz="2800" b="1">
                <a:latin typeface="Times New Roman" panose="02020603050405020304" charset="0"/>
                <a:ea typeface="隶书" panose="02010509060101010101" charset="-122"/>
              </a:rPr>
              <a:t>for</a:t>
            </a:r>
            <a:r>
              <a:rPr lang="en-US" altLang="zh-CN" sz="2800">
                <a:latin typeface="Times New Roman" panose="02020603050405020304" charset="0"/>
                <a:ea typeface="隶书" panose="02010509060101010101" charset="-122"/>
              </a:rPr>
              <a:t> ( i = 0</a:t>
            </a:r>
            <a:r>
              <a:rPr lang="en-US" altLang="zh-CN" sz="2800" b="1">
                <a:latin typeface="Times New Roman" panose="02020603050405020304" charset="0"/>
                <a:ea typeface="隶书" panose="02010509060101010101" charset="-122"/>
              </a:rPr>
              <a:t>; </a:t>
            </a:r>
            <a:r>
              <a:rPr lang="en-US" altLang="zh-CN" sz="2800">
                <a:latin typeface="Times New Roman" panose="02020603050405020304" charset="0"/>
                <a:ea typeface="隶书" panose="02010509060101010101" charset="-122"/>
              </a:rPr>
              <a:t>i &lt; n-1</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i++ ) </a:t>
            </a:r>
            <a:r>
              <a:rPr lang="en-US" altLang="zh-CN" sz="2800" b="1">
                <a:latin typeface="Times New Roman" panose="02020603050405020304" charset="0"/>
                <a:ea typeface="隶书" panose="02010509060101010101" charset="-122"/>
              </a:rPr>
              <a:t>{   </a:t>
            </a:r>
            <a:r>
              <a:rPr lang="en-US" altLang="zh-CN" sz="2800" b="1">
                <a:solidFill>
                  <a:schemeClr val="tx2"/>
                </a:solidFill>
                <a:latin typeface="Times New Roman" panose="02020603050405020304" charset="0"/>
                <a:ea typeface="隶书" panose="02010509060101010101" charset="-122"/>
              </a:rPr>
              <a:t>//</a:t>
            </a:r>
            <a:r>
              <a:rPr lang="zh-CN" altLang="en-US" sz="2800">
                <a:solidFill>
                  <a:schemeClr val="tx2"/>
                </a:solidFill>
                <a:latin typeface="Times New Roman" panose="02020603050405020304" charset="0"/>
                <a:ea typeface="隶书" panose="02010509060101010101" charset="-122"/>
              </a:rPr>
              <a:t>执行</a:t>
            </a:r>
            <a:r>
              <a:rPr lang="en-US" altLang="zh-CN" sz="2800">
                <a:solidFill>
                  <a:schemeClr val="tx2"/>
                </a:solidFill>
                <a:latin typeface="Times New Roman" panose="02020603050405020304" charset="0"/>
                <a:ea typeface="隶书" panose="02010509060101010101" charset="-122"/>
              </a:rPr>
              <a:t>n-1</a:t>
            </a:r>
            <a:r>
              <a:rPr lang="zh-CN" altLang="en-US" sz="2800">
                <a:solidFill>
                  <a:schemeClr val="tx2"/>
                </a:solidFill>
                <a:latin typeface="Times New Roman" panose="02020603050405020304" charset="0"/>
                <a:ea typeface="隶书" panose="02010509060101010101" charset="-122"/>
              </a:rPr>
              <a:t>次</a:t>
            </a:r>
            <a:endParaRPr lang="zh-CN" altLang="en-US" sz="2800">
              <a:solidFill>
                <a:schemeClr val="tx2"/>
              </a:solidFill>
              <a:latin typeface="Times New Roman" panose="02020603050405020304" charset="0"/>
              <a:ea typeface="隶书" panose="02010509060101010101" charset="-122"/>
            </a:endParaRPr>
          </a:p>
          <a:p>
            <a:pPr>
              <a:lnSpc>
                <a:spcPct val="90000"/>
              </a:lnSpc>
              <a:spcBef>
                <a:spcPct val="0"/>
              </a:spcBef>
              <a:buFontTx/>
              <a:buNone/>
            </a:pPr>
            <a:r>
              <a:rPr lang="zh-CN" altLang="en-US" sz="2800">
                <a:latin typeface="Times New Roman" panose="02020603050405020304" charset="0"/>
                <a:ea typeface="隶书" panose="02010509060101010101" charset="-122"/>
              </a:rPr>
              <a:t>          </a:t>
            </a:r>
            <a:r>
              <a:rPr lang="en-US" altLang="zh-CN" sz="2800" b="1">
                <a:latin typeface="Times New Roman" panose="02020603050405020304" charset="0"/>
                <a:ea typeface="隶书" panose="02010509060101010101" charset="-122"/>
              </a:rPr>
              <a:t>for</a:t>
            </a:r>
            <a:r>
              <a:rPr lang="en-US" altLang="zh-CN" sz="2800">
                <a:latin typeface="Times New Roman" panose="02020603050405020304" charset="0"/>
                <a:ea typeface="隶书" panose="02010509060101010101" charset="-122"/>
              </a:rPr>
              <a:t> ( j = 1</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j &lt; m</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j++)    </a:t>
            </a:r>
            <a:r>
              <a:rPr lang="en-US" altLang="zh-CN" sz="2800" b="1">
                <a:solidFill>
                  <a:schemeClr val="tx2"/>
                </a:solidFill>
                <a:latin typeface="Times New Roman" panose="02020603050405020304" charset="0"/>
                <a:ea typeface="隶书" panose="02010509060101010101" charset="-122"/>
              </a:rPr>
              <a:t>//</a:t>
            </a:r>
            <a:r>
              <a:rPr lang="zh-CN" altLang="en-US" sz="2800">
                <a:solidFill>
                  <a:schemeClr val="tx2"/>
                </a:solidFill>
                <a:latin typeface="Times New Roman" panose="02020603050405020304" charset="0"/>
                <a:ea typeface="隶书" panose="02010509060101010101" charset="-122"/>
              </a:rPr>
              <a:t>数</a:t>
            </a:r>
            <a:r>
              <a:rPr lang="en-US" altLang="zh-CN" sz="2800">
                <a:solidFill>
                  <a:schemeClr val="tx2"/>
                </a:solidFill>
                <a:latin typeface="Times New Roman" panose="02020603050405020304" charset="0"/>
                <a:ea typeface="隶书" panose="02010509060101010101" charset="-122"/>
              </a:rPr>
              <a:t>m-1</a:t>
            </a:r>
            <a:r>
              <a:rPr lang="zh-CN" altLang="en-US" sz="2800">
                <a:solidFill>
                  <a:schemeClr val="tx2"/>
                </a:solidFill>
                <a:latin typeface="Times New Roman" panose="02020603050405020304" charset="0"/>
                <a:ea typeface="隶书" panose="02010509060101010101" charset="-122"/>
              </a:rPr>
              <a:t>个人</a:t>
            </a:r>
            <a:endParaRPr lang="zh-CN" altLang="en-US" sz="2800">
              <a:latin typeface="Times New Roman" panose="02020603050405020304" charset="0"/>
              <a:ea typeface="隶书" panose="02010509060101010101" charset="-122"/>
            </a:endParaRPr>
          </a:p>
          <a:p>
            <a:pPr>
              <a:lnSpc>
                <a:spcPct val="90000"/>
              </a:lnSpc>
              <a:spcBef>
                <a:spcPct val="0"/>
              </a:spcBef>
              <a:buFontTx/>
              <a:buNone/>
            </a:pPr>
            <a:r>
              <a:rPr lang="zh-CN" altLang="en-US" sz="2800">
                <a:latin typeface="Times New Roman" panose="02020603050405020304" charset="0"/>
                <a:ea typeface="隶书" panose="02010509060101010101" charset="-122"/>
              </a:rPr>
              <a:t>              </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pre = p</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p = p</a:t>
            </a:r>
            <a:r>
              <a:rPr lang="en-US" altLang="zh-CN" sz="2800">
                <a:latin typeface="楷体_GB2312" charset="0"/>
                <a:ea typeface="楷体_GB2312" charset="0"/>
              </a:rPr>
              <a:t>-&gt;</a:t>
            </a:r>
            <a:r>
              <a:rPr lang="en-US" altLang="zh-CN" sz="2800">
                <a:latin typeface="Times New Roman" panose="02020603050405020304" charset="0"/>
                <a:ea typeface="隶书" panose="02010509060101010101" charset="-122"/>
              </a:rPr>
              <a:t>next</a:t>
            </a:r>
            <a:r>
              <a:rPr lang="en-US" altLang="zh-CN" sz="2800" b="1">
                <a:latin typeface="Times New Roman" panose="02020603050405020304" charset="0"/>
                <a:ea typeface="隶书" panose="02010509060101010101" charset="-122"/>
              </a:rPr>
              <a:t>; }</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r>
              <a:rPr lang="en-US" altLang="zh-CN" sz="2800">
                <a:latin typeface="Times New Roman" panose="02020603050405020304" charset="0"/>
                <a:ea typeface="隶书" panose="02010509060101010101" charset="-122"/>
              </a:rPr>
              <a:t>         printf( “</a:t>
            </a:r>
            <a:r>
              <a:rPr lang="zh-CN" altLang="en-US" sz="2800">
                <a:latin typeface="Times New Roman" panose="02020603050405020304" charset="0"/>
                <a:ea typeface="隶书" panose="02010509060101010101" charset="-122"/>
              </a:rPr>
              <a:t>出列的人是” </a:t>
            </a:r>
            <a:r>
              <a:rPr lang="en-US" altLang="zh-CN" sz="2800">
                <a:latin typeface="Times New Roman" panose="02020603050405020304" charset="0"/>
                <a:ea typeface="隶书" panose="02010509060101010101" charset="-122"/>
              </a:rPr>
              <a:t>+ p</a:t>
            </a:r>
            <a:r>
              <a:rPr lang="en-US" altLang="zh-CN" sz="2800">
                <a:latin typeface="楷体_GB2312" charset="0"/>
                <a:ea typeface="楷体_GB2312" charset="0"/>
              </a:rPr>
              <a:t>-&gt;</a:t>
            </a:r>
            <a:r>
              <a:rPr lang="en-US" altLang="zh-CN" sz="2800">
                <a:latin typeface="Times New Roman" panose="02020603050405020304" charset="0"/>
                <a:ea typeface="隶书" panose="02010509060101010101" charset="-122"/>
              </a:rPr>
              <a:t>data)</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a:t>
            </a:r>
            <a:endParaRPr lang="en-US" altLang="zh-CN" sz="2800">
              <a:latin typeface="Times New Roman" panose="02020603050405020304" charset="0"/>
              <a:ea typeface="隶书" panose="02010509060101010101" charset="-122"/>
            </a:endParaRPr>
          </a:p>
          <a:p>
            <a:pPr>
              <a:lnSpc>
                <a:spcPct val="90000"/>
              </a:lnSpc>
              <a:spcBef>
                <a:spcPct val="0"/>
              </a:spcBef>
              <a:buFontTx/>
              <a:buNone/>
            </a:pPr>
            <a:r>
              <a:rPr lang="zh-CN" altLang="en-US" sz="2800">
                <a:latin typeface="Times New Roman" panose="02020603050405020304" charset="0"/>
                <a:ea typeface="隶书" panose="02010509060101010101" charset="-122"/>
              </a:rPr>
              <a:t>         </a:t>
            </a:r>
            <a:r>
              <a:rPr lang="en-US" altLang="zh-CN" sz="2800">
                <a:latin typeface="Times New Roman" panose="02020603050405020304" charset="0"/>
                <a:ea typeface="隶书" panose="02010509060101010101" charset="-122"/>
              </a:rPr>
              <a:t>pre</a:t>
            </a:r>
            <a:r>
              <a:rPr lang="en-US" altLang="zh-CN" sz="2800">
                <a:latin typeface="楷体_GB2312" charset="0"/>
                <a:ea typeface="楷体_GB2312" charset="0"/>
              </a:rPr>
              <a:t>-&gt;</a:t>
            </a:r>
            <a:r>
              <a:rPr lang="en-US" altLang="zh-CN" sz="2800">
                <a:latin typeface="Times New Roman" panose="02020603050405020304" charset="0"/>
                <a:ea typeface="隶书" panose="02010509060101010101" charset="-122"/>
              </a:rPr>
              <a:t>next = p</a:t>
            </a:r>
            <a:r>
              <a:rPr lang="en-US" altLang="zh-CN" sz="2800">
                <a:latin typeface="楷体_GB2312" charset="0"/>
                <a:ea typeface="楷体_GB2312" charset="0"/>
              </a:rPr>
              <a:t>-&gt;</a:t>
            </a:r>
            <a:r>
              <a:rPr lang="en-US" altLang="zh-CN" sz="2800">
                <a:latin typeface="Times New Roman" panose="02020603050405020304" charset="0"/>
                <a:ea typeface="隶书" panose="02010509060101010101" charset="-122"/>
              </a:rPr>
              <a:t>next</a:t>
            </a:r>
            <a:r>
              <a:rPr lang="en-US" altLang="zh-CN" sz="2800" b="1">
                <a:latin typeface="Times New Roman" panose="02020603050405020304" charset="0"/>
                <a:ea typeface="隶书" panose="02010509060101010101" charset="-122"/>
              </a:rPr>
              <a:t>;  delete</a:t>
            </a:r>
            <a:r>
              <a:rPr lang="en-US" altLang="zh-CN" sz="2800">
                <a:latin typeface="Times New Roman" panose="02020603050405020304" charset="0"/>
                <a:ea typeface="隶书" panose="02010509060101010101" charset="-122"/>
              </a:rPr>
              <a:t> p</a:t>
            </a:r>
            <a:r>
              <a:rPr lang="en-US" altLang="zh-CN" sz="2800" b="1">
                <a:latin typeface="Times New Roman" panose="02020603050405020304" charset="0"/>
                <a:ea typeface="隶书" panose="02010509060101010101" charset="-122"/>
              </a:rPr>
              <a:t>;    	</a:t>
            </a:r>
            <a:r>
              <a:rPr lang="en-US" altLang="zh-CN" sz="2800" b="1">
                <a:solidFill>
                  <a:schemeClr val="tx2"/>
                </a:solidFill>
                <a:latin typeface="Times New Roman" panose="02020603050405020304" charset="0"/>
                <a:ea typeface="隶书" panose="02010509060101010101" charset="-122"/>
              </a:rPr>
              <a:t>//</a:t>
            </a:r>
            <a:r>
              <a:rPr lang="zh-CN" altLang="en-US" sz="2800">
                <a:solidFill>
                  <a:schemeClr val="tx2"/>
                </a:solidFill>
                <a:latin typeface="Times New Roman" panose="02020603050405020304" charset="0"/>
                <a:ea typeface="隶书" panose="02010509060101010101" charset="-122"/>
              </a:rPr>
              <a:t>删去</a:t>
            </a:r>
            <a:endParaRPr lang="zh-CN" altLang="en-US" sz="2800">
              <a:solidFill>
                <a:schemeClr val="tx2"/>
              </a:solidFill>
              <a:latin typeface="Times New Roman" panose="02020603050405020304" charset="0"/>
              <a:ea typeface="隶书" panose="02010509060101010101" charset="-122"/>
            </a:endParaRPr>
          </a:p>
          <a:p>
            <a:pPr>
              <a:lnSpc>
                <a:spcPct val="90000"/>
              </a:lnSpc>
              <a:spcBef>
                <a:spcPct val="0"/>
              </a:spcBef>
              <a:buFontTx/>
              <a:buNone/>
            </a:pPr>
            <a:r>
              <a:rPr lang="zh-CN" altLang="en-US" sz="2800">
                <a:latin typeface="Times New Roman" panose="02020603050405020304" charset="0"/>
                <a:ea typeface="隶书" panose="02010509060101010101" charset="-122"/>
              </a:rPr>
              <a:t>          </a:t>
            </a:r>
            <a:r>
              <a:rPr lang="en-US" altLang="zh-CN" sz="2800">
                <a:latin typeface="Times New Roman" panose="02020603050405020304" charset="0"/>
                <a:ea typeface="隶书" panose="02010509060101010101" charset="-122"/>
              </a:rPr>
              <a:t>p = pre</a:t>
            </a:r>
            <a:r>
              <a:rPr lang="en-US" altLang="zh-CN" sz="2800">
                <a:latin typeface="楷体_GB2312" charset="0"/>
                <a:ea typeface="楷体_GB2312" charset="0"/>
              </a:rPr>
              <a:t>-&gt;</a:t>
            </a:r>
            <a:r>
              <a:rPr lang="en-US" altLang="zh-CN" sz="2800">
                <a:latin typeface="Times New Roman" panose="02020603050405020304" charset="0"/>
                <a:ea typeface="隶书" panose="02010509060101010101" charset="-122"/>
              </a:rPr>
              <a:t>next</a:t>
            </a:r>
            <a:r>
              <a:rPr lang="en-US" altLang="zh-CN" sz="2800" b="1">
                <a:latin typeface="Times New Roman" panose="02020603050405020304" charset="0"/>
                <a:ea typeface="隶书" panose="02010509060101010101" charset="-122"/>
              </a:rPr>
              <a:t>;		</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r>
              <a:rPr lang="en-US" altLang="zh-CN" sz="2800" b="1">
                <a:latin typeface="Times New Roman" panose="02020603050405020304" charset="0"/>
                <a:ea typeface="隶书" panose="02010509060101010101" charset="-122"/>
              </a:rPr>
              <a:t>      }</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r>
              <a:rPr lang="en-US" altLang="zh-CN" sz="2800" b="1">
                <a:latin typeface="Times New Roman" panose="02020603050405020304" charset="0"/>
                <a:ea typeface="隶书" panose="02010509060101010101" charset="-122"/>
              </a:rPr>
              <a:t>};</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endParaRPr lang="en-US" altLang="zh-CN" sz="2800">
              <a:latin typeface="Times New Roman" panose="02020603050405020304" charset="0"/>
              <a:ea typeface="隶书" panose="02010509060101010101" charset="-122"/>
            </a:endParaRP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Text Box 2"/>
          <p:cNvSpPr txBox="1">
            <a:spLocks noChangeArrowheads="1"/>
          </p:cNvSpPr>
          <p:nvPr/>
        </p:nvSpPr>
        <p:spPr bwMode="auto">
          <a:xfrm>
            <a:off x="2225675" y="152400"/>
            <a:ext cx="38703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800" b="1">
                <a:solidFill>
                  <a:srgbClr val="CC0066"/>
                </a:solidFill>
                <a:ea typeface="楷体_GB2312" charset="0"/>
              </a:rPr>
              <a:t>双向循环链表</a:t>
            </a:r>
            <a:endParaRPr lang="zh-CN" altLang="en-US" sz="4800" b="1">
              <a:solidFill>
                <a:srgbClr val="CC0066"/>
              </a:solidFill>
              <a:ea typeface="楷体_GB2312" charset="0"/>
            </a:endParaRPr>
          </a:p>
        </p:txBody>
      </p:sp>
      <p:sp>
        <p:nvSpPr>
          <p:cNvPr id="988163" name="Text Box 3"/>
          <p:cNvSpPr txBox="1">
            <a:spLocks noChangeArrowheads="1"/>
          </p:cNvSpPr>
          <p:nvPr/>
        </p:nvSpPr>
        <p:spPr bwMode="auto">
          <a:xfrm>
            <a:off x="381000" y="1323975"/>
            <a:ext cx="1209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CC0066"/>
                </a:solidFill>
                <a:ea typeface="楷体_GB2312" charset="0"/>
              </a:rPr>
              <a:t>空表</a:t>
            </a:r>
            <a:endParaRPr lang="zh-CN" altLang="en-US" sz="4800" b="1">
              <a:solidFill>
                <a:srgbClr val="CC0066"/>
              </a:solidFill>
              <a:ea typeface="楷体_GB2312" charset="0"/>
            </a:endParaRPr>
          </a:p>
        </p:txBody>
      </p:sp>
      <p:sp>
        <p:nvSpPr>
          <p:cNvPr id="988164" name="Text Box 4"/>
          <p:cNvSpPr txBox="1">
            <a:spLocks noChangeArrowheads="1"/>
          </p:cNvSpPr>
          <p:nvPr/>
        </p:nvSpPr>
        <p:spPr bwMode="auto">
          <a:xfrm>
            <a:off x="381000" y="3124200"/>
            <a:ext cx="1722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CC0066"/>
                </a:solidFill>
                <a:ea typeface="楷体_GB2312" charset="0"/>
              </a:rPr>
              <a:t>非空表</a:t>
            </a:r>
            <a:endParaRPr lang="zh-CN" altLang="en-US" sz="4800" b="1">
              <a:solidFill>
                <a:srgbClr val="CC0066"/>
              </a:solidFill>
              <a:ea typeface="楷体_GB2312" charset="0"/>
            </a:endParaRPr>
          </a:p>
        </p:txBody>
      </p:sp>
      <p:sp>
        <p:nvSpPr>
          <p:cNvPr id="988165" name="Text Box 5"/>
          <p:cNvSpPr txBox="1">
            <a:spLocks noChangeArrowheads="1"/>
          </p:cNvSpPr>
          <p:nvPr/>
        </p:nvSpPr>
        <p:spPr bwMode="auto">
          <a:xfrm>
            <a:off x="2133600" y="4343400"/>
            <a:ext cx="6934200"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4800">
                <a:ea typeface="楷体_GB2312" charset="0"/>
              </a:rPr>
              <a:t>   </a:t>
            </a:r>
            <a:r>
              <a:rPr lang="en-US" altLang="zh-CN" sz="4800">
                <a:ea typeface="楷体_GB2312" charset="0"/>
              </a:rPr>
              <a:t>a</a:t>
            </a:r>
            <a:r>
              <a:rPr lang="en-US" altLang="zh-CN" sz="4800" baseline="-25000">
                <a:ea typeface="楷体_GB2312" charset="0"/>
              </a:rPr>
              <a:t>1</a:t>
            </a:r>
            <a:r>
              <a:rPr lang="en-US" altLang="zh-CN" sz="4800">
                <a:ea typeface="楷体_GB2312" charset="0"/>
              </a:rPr>
              <a:t>        a</a:t>
            </a:r>
            <a:r>
              <a:rPr lang="en-US" altLang="zh-CN" sz="4800" baseline="-25000">
                <a:ea typeface="楷体_GB2312" charset="0"/>
              </a:rPr>
              <a:t>2</a:t>
            </a:r>
            <a:r>
              <a:rPr lang="en-US" altLang="zh-CN" sz="4800">
                <a:ea typeface="楷体_GB2312" charset="0"/>
              </a:rPr>
              <a:t>    … ...     a</a:t>
            </a:r>
            <a:r>
              <a:rPr lang="en-US" altLang="zh-CN" sz="4800" baseline="-25000">
                <a:ea typeface="楷体_GB2312" charset="0"/>
              </a:rPr>
              <a:t>n</a:t>
            </a:r>
            <a:endParaRPr lang="en-US" altLang="zh-CN" sz="4800" baseline="-25000">
              <a:ea typeface="楷体_GB2312" charset="0"/>
            </a:endParaRPr>
          </a:p>
          <a:p>
            <a:pPr eaLnBrk="1" hangingPunct="1">
              <a:defRPr/>
            </a:pPr>
            <a:endParaRPr lang="zh-CN" altLang="en-US" sz="2400"/>
          </a:p>
        </p:txBody>
      </p:sp>
      <p:sp>
        <p:nvSpPr>
          <p:cNvPr id="988166" name="Line 6"/>
          <p:cNvSpPr>
            <a:spLocks noChangeShapeType="1"/>
          </p:cNvSpPr>
          <p:nvPr/>
        </p:nvSpPr>
        <p:spPr bwMode="auto">
          <a:xfrm>
            <a:off x="914400" y="4572000"/>
            <a:ext cx="990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67" name="Line 7"/>
          <p:cNvSpPr>
            <a:spLocks noChangeShapeType="1"/>
          </p:cNvSpPr>
          <p:nvPr/>
        </p:nvSpPr>
        <p:spPr bwMode="auto">
          <a:xfrm>
            <a:off x="914400" y="5181600"/>
            <a:ext cx="990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68" name="Line 8"/>
          <p:cNvSpPr>
            <a:spLocks noChangeShapeType="1"/>
          </p:cNvSpPr>
          <p:nvPr/>
        </p:nvSpPr>
        <p:spPr bwMode="auto">
          <a:xfrm>
            <a:off x="19050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69" name="Line 9"/>
          <p:cNvSpPr>
            <a:spLocks noChangeShapeType="1"/>
          </p:cNvSpPr>
          <p:nvPr/>
        </p:nvSpPr>
        <p:spPr bwMode="auto">
          <a:xfrm>
            <a:off x="9144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0" name="Line 10"/>
          <p:cNvSpPr>
            <a:spLocks noChangeShapeType="1"/>
          </p:cNvSpPr>
          <p:nvPr/>
        </p:nvSpPr>
        <p:spPr bwMode="auto">
          <a:xfrm>
            <a:off x="16002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1" name="Line 11"/>
          <p:cNvSpPr>
            <a:spLocks noChangeShapeType="1"/>
          </p:cNvSpPr>
          <p:nvPr/>
        </p:nvSpPr>
        <p:spPr bwMode="auto">
          <a:xfrm>
            <a:off x="2362200" y="4572000"/>
            <a:ext cx="1066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2" name="Line 12"/>
          <p:cNvSpPr>
            <a:spLocks noChangeShapeType="1"/>
          </p:cNvSpPr>
          <p:nvPr/>
        </p:nvSpPr>
        <p:spPr bwMode="auto">
          <a:xfrm>
            <a:off x="2362200" y="5181600"/>
            <a:ext cx="1066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3" name="Line 13"/>
          <p:cNvSpPr>
            <a:spLocks noChangeShapeType="1"/>
          </p:cNvSpPr>
          <p:nvPr/>
        </p:nvSpPr>
        <p:spPr bwMode="auto">
          <a:xfrm>
            <a:off x="34290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4" name="Line 14"/>
          <p:cNvSpPr>
            <a:spLocks noChangeShapeType="1"/>
          </p:cNvSpPr>
          <p:nvPr/>
        </p:nvSpPr>
        <p:spPr bwMode="auto">
          <a:xfrm>
            <a:off x="23622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5" name="Line 15"/>
          <p:cNvSpPr>
            <a:spLocks noChangeShapeType="1"/>
          </p:cNvSpPr>
          <p:nvPr/>
        </p:nvSpPr>
        <p:spPr bwMode="auto">
          <a:xfrm>
            <a:off x="31242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6" name="Line 16"/>
          <p:cNvSpPr>
            <a:spLocks noChangeShapeType="1"/>
          </p:cNvSpPr>
          <p:nvPr/>
        </p:nvSpPr>
        <p:spPr bwMode="auto">
          <a:xfrm>
            <a:off x="1752600" y="4876800"/>
            <a:ext cx="609600" cy="0"/>
          </a:xfrm>
          <a:prstGeom prst="line">
            <a:avLst/>
          </a:prstGeom>
          <a:noFill/>
          <a:ln w="3175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7" name="Line 17"/>
          <p:cNvSpPr>
            <a:spLocks noChangeShapeType="1"/>
          </p:cNvSpPr>
          <p:nvPr/>
        </p:nvSpPr>
        <p:spPr bwMode="auto">
          <a:xfrm>
            <a:off x="3352800" y="4876800"/>
            <a:ext cx="609600" cy="0"/>
          </a:xfrm>
          <a:prstGeom prst="line">
            <a:avLst/>
          </a:prstGeom>
          <a:noFill/>
          <a:ln w="3175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8" name="Line 18"/>
          <p:cNvSpPr>
            <a:spLocks noChangeShapeType="1"/>
          </p:cNvSpPr>
          <p:nvPr/>
        </p:nvSpPr>
        <p:spPr bwMode="auto">
          <a:xfrm>
            <a:off x="3962400" y="4572000"/>
            <a:ext cx="1143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9" name="Line 19"/>
          <p:cNvSpPr>
            <a:spLocks noChangeShapeType="1"/>
          </p:cNvSpPr>
          <p:nvPr/>
        </p:nvSpPr>
        <p:spPr bwMode="auto">
          <a:xfrm>
            <a:off x="39624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0" name="Line 20"/>
          <p:cNvSpPr>
            <a:spLocks noChangeShapeType="1"/>
          </p:cNvSpPr>
          <p:nvPr/>
        </p:nvSpPr>
        <p:spPr bwMode="auto">
          <a:xfrm>
            <a:off x="51054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1" name="Line 21"/>
          <p:cNvSpPr>
            <a:spLocks noChangeShapeType="1"/>
          </p:cNvSpPr>
          <p:nvPr/>
        </p:nvSpPr>
        <p:spPr bwMode="auto">
          <a:xfrm>
            <a:off x="48006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2" name="Line 22"/>
          <p:cNvSpPr>
            <a:spLocks noChangeShapeType="1"/>
          </p:cNvSpPr>
          <p:nvPr/>
        </p:nvSpPr>
        <p:spPr bwMode="auto">
          <a:xfrm>
            <a:off x="4953000" y="4876800"/>
            <a:ext cx="457200" cy="0"/>
          </a:xfrm>
          <a:prstGeom prst="line">
            <a:avLst/>
          </a:prstGeom>
          <a:noFill/>
          <a:ln w="3175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3" name="Line 23"/>
          <p:cNvSpPr>
            <a:spLocks noChangeShapeType="1"/>
          </p:cNvSpPr>
          <p:nvPr/>
        </p:nvSpPr>
        <p:spPr bwMode="auto">
          <a:xfrm>
            <a:off x="3962400" y="5181600"/>
            <a:ext cx="1143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4" name="Line 24"/>
          <p:cNvSpPr>
            <a:spLocks noChangeShapeType="1"/>
          </p:cNvSpPr>
          <p:nvPr/>
        </p:nvSpPr>
        <p:spPr bwMode="auto">
          <a:xfrm>
            <a:off x="7162800" y="5181600"/>
            <a:ext cx="1143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5" name="Line 25"/>
          <p:cNvSpPr>
            <a:spLocks noChangeShapeType="1"/>
          </p:cNvSpPr>
          <p:nvPr/>
        </p:nvSpPr>
        <p:spPr bwMode="auto">
          <a:xfrm>
            <a:off x="7162800" y="4572000"/>
            <a:ext cx="1143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6" name="Line 26"/>
          <p:cNvSpPr>
            <a:spLocks noChangeShapeType="1"/>
          </p:cNvSpPr>
          <p:nvPr/>
        </p:nvSpPr>
        <p:spPr bwMode="auto">
          <a:xfrm>
            <a:off x="71628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7" name="Line 27"/>
          <p:cNvSpPr>
            <a:spLocks noChangeShapeType="1"/>
          </p:cNvSpPr>
          <p:nvPr/>
        </p:nvSpPr>
        <p:spPr bwMode="auto">
          <a:xfrm>
            <a:off x="83058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8" name="Line 28"/>
          <p:cNvSpPr>
            <a:spLocks noChangeShapeType="1"/>
          </p:cNvSpPr>
          <p:nvPr/>
        </p:nvSpPr>
        <p:spPr bwMode="auto">
          <a:xfrm>
            <a:off x="80010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9" name="Line 29"/>
          <p:cNvSpPr>
            <a:spLocks noChangeShapeType="1"/>
          </p:cNvSpPr>
          <p:nvPr/>
        </p:nvSpPr>
        <p:spPr bwMode="auto">
          <a:xfrm>
            <a:off x="6781800" y="4876800"/>
            <a:ext cx="381000" cy="0"/>
          </a:xfrm>
          <a:prstGeom prst="line">
            <a:avLst/>
          </a:prstGeom>
          <a:noFill/>
          <a:ln w="3175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0" name="Line 30"/>
          <p:cNvSpPr>
            <a:spLocks noChangeShapeType="1"/>
          </p:cNvSpPr>
          <p:nvPr/>
        </p:nvSpPr>
        <p:spPr bwMode="auto">
          <a:xfrm>
            <a:off x="381000" y="4800600"/>
            <a:ext cx="533400" cy="0"/>
          </a:xfrm>
          <a:prstGeom prst="line">
            <a:avLst/>
          </a:prstGeom>
          <a:noFill/>
          <a:ln w="38100">
            <a:solidFill>
              <a:srgbClr val="FB415C"/>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1" name="Line 31"/>
          <p:cNvSpPr>
            <a:spLocks noChangeShapeType="1"/>
          </p:cNvSpPr>
          <p:nvPr/>
        </p:nvSpPr>
        <p:spPr bwMode="auto">
          <a:xfrm>
            <a:off x="381000" y="3733800"/>
            <a:ext cx="0" cy="1066800"/>
          </a:xfrm>
          <a:prstGeom prst="line">
            <a:avLst/>
          </a:prstGeom>
          <a:noFill/>
          <a:ln w="38100">
            <a:solidFill>
              <a:srgbClr val="FB415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2" name="Line 32"/>
          <p:cNvSpPr>
            <a:spLocks noChangeShapeType="1"/>
          </p:cNvSpPr>
          <p:nvPr/>
        </p:nvSpPr>
        <p:spPr bwMode="auto">
          <a:xfrm>
            <a:off x="8153400" y="4876800"/>
            <a:ext cx="609600" cy="0"/>
          </a:xfrm>
          <a:prstGeom prst="line">
            <a:avLst/>
          </a:prstGeom>
          <a:noFill/>
          <a:ln w="317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3" name="Line 33"/>
          <p:cNvSpPr>
            <a:spLocks noChangeShapeType="1"/>
          </p:cNvSpPr>
          <p:nvPr/>
        </p:nvSpPr>
        <p:spPr bwMode="auto">
          <a:xfrm>
            <a:off x="8763000" y="4876800"/>
            <a:ext cx="0" cy="762000"/>
          </a:xfrm>
          <a:prstGeom prst="line">
            <a:avLst/>
          </a:prstGeom>
          <a:noFill/>
          <a:ln w="317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4" name="Line 34"/>
          <p:cNvSpPr>
            <a:spLocks noChangeShapeType="1"/>
          </p:cNvSpPr>
          <p:nvPr/>
        </p:nvSpPr>
        <p:spPr bwMode="auto">
          <a:xfrm flipH="1">
            <a:off x="381000" y="5638800"/>
            <a:ext cx="8382000" cy="0"/>
          </a:xfrm>
          <a:prstGeom prst="line">
            <a:avLst/>
          </a:prstGeom>
          <a:noFill/>
          <a:ln w="317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5" name="Line 35"/>
          <p:cNvSpPr>
            <a:spLocks noChangeShapeType="1"/>
          </p:cNvSpPr>
          <p:nvPr/>
        </p:nvSpPr>
        <p:spPr bwMode="auto">
          <a:xfrm flipV="1">
            <a:off x="381000" y="4953000"/>
            <a:ext cx="0" cy="685800"/>
          </a:xfrm>
          <a:prstGeom prst="line">
            <a:avLst/>
          </a:prstGeom>
          <a:noFill/>
          <a:ln w="317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6" name="Line 36"/>
          <p:cNvSpPr>
            <a:spLocks noChangeShapeType="1"/>
          </p:cNvSpPr>
          <p:nvPr/>
        </p:nvSpPr>
        <p:spPr bwMode="auto">
          <a:xfrm>
            <a:off x="381000" y="4953000"/>
            <a:ext cx="533400" cy="0"/>
          </a:xfrm>
          <a:prstGeom prst="line">
            <a:avLst/>
          </a:prstGeom>
          <a:noFill/>
          <a:ln w="3175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7" name="Line 37"/>
          <p:cNvSpPr>
            <a:spLocks noChangeShapeType="1"/>
          </p:cNvSpPr>
          <p:nvPr/>
        </p:nvSpPr>
        <p:spPr bwMode="auto">
          <a:xfrm>
            <a:off x="12192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8" name="Line 38"/>
          <p:cNvSpPr>
            <a:spLocks noChangeShapeType="1"/>
          </p:cNvSpPr>
          <p:nvPr/>
        </p:nvSpPr>
        <p:spPr bwMode="auto">
          <a:xfrm>
            <a:off x="74676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9" name="Line 39"/>
          <p:cNvSpPr>
            <a:spLocks noChangeShapeType="1"/>
          </p:cNvSpPr>
          <p:nvPr/>
        </p:nvSpPr>
        <p:spPr bwMode="auto">
          <a:xfrm>
            <a:off x="42672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0" name="Line 40"/>
          <p:cNvSpPr>
            <a:spLocks noChangeShapeType="1"/>
          </p:cNvSpPr>
          <p:nvPr/>
        </p:nvSpPr>
        <p:spPr bwMode="auto">
          <a:xfrm>
            <a:off x="26670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1" name="Line 41"/>
          <p:cNvSpPr>
            <a:spLocks noChangeShapeType="1"/>
          </p:cNvSpPr>
          <p:nvPr/>
        </p:nvSpPr>
        <p:spPr bwMode="auto">
          <a:xfrm flipV="1">
            <a:off x="7315200" y="4267200"/>
            <a:ext cx="0" cy="60960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2" name="Line 42"/>
          <p:cNvSpPr>
            <a:spLocks noChangeShapeType="1"/>
          </p:cNvSpPr>
          <p:nvPr/>
        </p:nvSpPr>
        <p:spPr bwMode="auto">
          <a:xfrm flipH="1">
            <a:off x="6781800" y="4267200"/>
            <a:ext cx="533400" cy="0"/>
          </a:xfrm>
          <a:prstGeom prst="line">
            <a:avLst/>
          </a:prstGeom>
          <a:noFill/>
          <a:ln w="31750">
            <a:solidFill>
              <a:srgbClr val="99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3" name="Line 43"/>
          <p:cNvSpPr>
            <a:spLocks noChangeShapeType="1"/>
          </p:cNvSpPr>
          <p:nvPr/>
        </p:nvSpPr>
        <p:spPr bwMode="auto">
          <a:xfrm flipV="1">
            <a:off x="4114800" y="4267200"/>
            <a:ext cx="0" cy="60960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4" name="Line 44"/>
          <p:cNvSpPr>
            <a:spLocks noChangeShapeType="1"/>
          </p:cNvSpPr>
          <p:nvPr/>
        </p:nvSpPr>
        <p:spPr bwMode="auto">
          <a:xfrm flipH="1">
            <a:off x="2895600" y="4267200"/>
            <a:ext cx="1219200" cy="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5" name="Line 45"/>
          <p:cNvSpPr>
            <a:spLocks noChangeShapeType="1"/>
          </p:cNvSpPr>
          <p:nvPr/>
        </p:nvSpPr>
        <p:spPr bwMode="auto">
          <a:xfrm>
            <a:off x="2895600" y="4267200"/>
            <a:ext cx="0" cy="304800"/>
          </a:xfrm>
          <a:prstGeom prst="line">
            <a:avLst/>
          </a:prstGeom>
          <a:noFill/>
          <a:ln w="31750">
            <a:solidFill>
              <a:srgbClr val="99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6" name="Line 46"/>
          <p:cNvSpPr>
            <a:spLocks noChangeShapeType="1"/>
          </p:cNvSpPr>
          <p:nvPr/>
        </p:nvSpPr>
        <p:spPr bwMode="auto">
          <a:xfrm flipV="1">
            <a:off x="2514600" y="4267200"/>
            <a:ext cx="0" cy="60960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7" name="Line 47"/>
          <p:cNvSpPr>
            <a:spLocks noChangeShapeType="1"/>
          </p:cNvSpPr>
          <p:nvPr/>
        </p:nvSpPr>
        <p:spPr bwMode="auto">
          <a:xfrm flipH="1">
            <a:off x="1447800" y="4267200"/>
            <a:ext cx="1066800" cy="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8" name="Line 48"/>
          <p:cNvSpPr>
            <a:spLocks noChangeShapeType="1"/>
          </p:cNvSpPr>
          <p:nvPr/>
        </p:nvSpPr>
        <p:spPr bwMode="auto">
          <a:xfrm flipH="1">
            <a:off x="1447800" y="4267200"/>
            <a:ext cx="0" cy="304800"/>
          </a:xfrm>
          <a:prstGeom prst="line">
            <a:avLst/>
          </a:prstGeom>
          <a:noFill/>
          <a:ln w="31750">
            <a:solidFill>
              <a:srgbClr val="99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9" name="Line 49"/>
          <p:cNvSpPr>
            <a:spLocks noChangeShapeType="1"/>
          </p:cNvSpPr>
          <p:nvPr/>
        </p:nvSpPr>
        <p:spPr bwMode="auto">
          <a:xfrm flipV="1">
            <a:off x="1066800" y="4114800"/>
            <a:ext cx="0" cy="76200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0" name="Line 50"/>
          <p:cNvSpPr>
            <a:spLocks noChangeShapeType="1"/>
          </p:cNvSpPr>
          <p:nvPr/>
        </p:nvSpPr>
        <p:spPr bwMode="auto">
          <a:xfrm>
            <a:off x="1066800" y="4114800"/>
            <a:ext cx="6629400" cy="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1" name="Line 51"/>
          <p:cNvSpPr>
            <a:spLocks noChangeShapeType="1"/>
          </p:cNvSpPr>
          <p:nvPr/>
        </p:nvSpPr>
        <p:spPr bwMode="auto">
          <a:xfrm>
            <a:off x="7696200" y="4114800"/>
            <a:ext cx="0" cy="457200"/>
          </a:xfrm>
          <a:prstGeom prst="line">
            <a:avLst/>
          </a:prstGeom>
          <a:noFill/>
          <a:ln w="31750">
            <a:solidFill>
              <a:srgbClr val="99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2" name="Rectangle 52"/>
          <p:cNvSpPr>
            <a:spLocks noChangeArrowheads="1"/>
          </p:cNvSpPr>
          <p:nvPr/>
        </p:nvSpPr>
        <p:spPr bwMode="auto">
          <a:xfrm>
            <a:off x="2743200" y="2133600"/>
            <a:ext cx="533400" cy="533400"/>
          </a:xfrm>
          <a:prstGeom prst="rect">
            <a:avLst/>
          </a:prstGeom>
          <a:solidFill>
            <a:srgbClr val="CCFFCC"/>
          </a:solidFill>
          <a:ln w="2857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3" name="Rectangle 53"/>
          <p:cNvSpPr>
            <a:spLocks noChangeArrowheads="1"/>
          </p:cNvSpPr>
          <p:nvPr/>
        </p:nvSpPr>
        <p:spPr bwMode="auto">
          <a:xfrm>
            <a:off x="3276600" y="2133600"/>
            <a:ext cx="304800" cy="533400"/>
          </a:xfrm>
          <a:prstGeom prst="rect">
            <a:avLst/>
          </a:prstGeom>
          <a:solidFill>
            <a:srgbClr val="F4E4E4"/>
          </a:solidFill>
          <a:ln w="2857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4" name="Rectangle 54"/>
          <p:cNvSpPr>
            <a:spLocks noChangeArrowheads="1"/>
          </p:cNvSpPr>
          <p:nvPr/>
        </p:nvSpPr>
        <p:spPr bwMode="auto">
          <a:xfrm>
            <a:off x="2438400" y="2133600"/>
            <a:ext cx="304800" cy="533400"/>
          </a:xfrm>
          <a:prstGeom prst="rect">
            <a:avLst/>
          </a:prstGeom>
          <a:solidFill>
            <a:srgbClr val="F4E4E4"/>
          </a:solidFill>
          <a:ln w="2857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5" name="Line 55"/>
          <p:cNvSpPr>
            <a:spLocks noChangeShapeType="1"/>
          </p:cNvSpPr>
          <p:nvPr/>
        </p:nvSpPr>
        <p:spPr bwMode="auto">
          <a:xfrm>
            <a:off x="3429000" y="2362200"/>
            <a:ext cx="457200" cy="0"/>
          </a:xfrm>
          <a:prstGeom prst="line">
            <a:avLst/>
          </a:prstGeom>
          <a:noFill/>
          <a:ln w="31750">
            <a:solidFill>
              <a:schemeClr val="tx1"/>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6" name="Line 56"/>
          <p:cNvSpPr>
            <a:spLocks noChangeShapeType="1"/>
          </p:cNvSpPr>
          <p:nvPr/>
        </p:nvSpPr>
        <p:spPr bwMode="auto">
          <a:xfrm flipV="1">
            <a:off x="3886200" y="1676400"/>
            <a:ext cx="0" cy="685800"/>
          </a:xfrm>
          <a:prstGeom prst="line">
            <a:avLst/>
          </a:prstGeom>
          <a:noFill/>
          <a:ln w="31750">
            <a:solidFill>
              <a:schemeClr val="tx1"/>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7" name="Line 57"/>
          <p:cNvSpPr>
            <a:spLocks noChangeShapeType="1"/>
          </p:cNvSpPr>
          <p:nvPr/>
        </p:nvSpPr>
        <p:spPr bwMode="auto">
          <a:xfrm flipH="1">
            <a:off x="3200400" y="1676400"/>
            <a:ext cx="685800" cy="0"/>
          </a:xfrm>
          <a:prstGeom prst="line">
            <a:avLst/>
          </a:prstGeom>
          <a:noFill/>
          <a:ln w="31750">
            <a:solidFill>
              <a:schemeClr val="tx1"/>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8" name="Line 58"/>
          <p:cNvSpPr>
            <a:spLocks noChangeShapeType="1"/>
          </p:cNvSpPr>
          <p:nvPr/>
        </p:nvSpPr>
        <p:spPr bwMode="auto">
          <a:xfrm>
            <a:off x="3200400" y="1676400"/>
            <a:ext cx="0" cy="457200"/>
          </a:xfrm>
          <a:prstGeom prst="line">
            <a:avLst/>
          </a:prstGeom>
          <a:noFill/>
          <a:ln w="3175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9" name="Line 59"/>
          <p:cNvSpPr>
            <a:spLocks noChangeShapeType="1"/>
          </p:cNvSpPr>
          <p:nvPr/>
        </p:nvSpPr>
        <p:spPr bwMode="auto">
          <a:xfrm flipH="1">
            <a:off x="2133600" y="2362200"/>
            <a:ext cx="457200" cy="0"/>
          </a:xfrm>
          <a:prstGeom prst="line">
            <a:avLst/>
          </a:prstGeom>
          <a:noFill/>
          <a:ln w="31750">
            <a:solidFill>
              <a:srgbClr val="9900FF"/>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20" name="Line 60"/>
          <p:cNvSpPr>
            <a:spLocks noChangeShapeType="1"/>
          </p:cNvSpPr>
          <p:nvPr/>
        </p:nvSpPr>
        <p:spPr bwMode="auto">
          <a:xfrm flipV="1">
            <a:off x="2133600" y="1676400"/>
            <a:ext cx="0" cy="685800"/>
          </a:xfrm>
          <a:prstGeom prst="line">
            <a:avLst/>
          </a:prstGeom>
          <a:noFill/>
          <a:ln w="31750">
            <a:solidFill>
              <a:srgbClr val="9900FF"/>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21" name="Line 61"/>
          <p:cNvSpPr>
            <a:spLocks noChangeShapeType="1"/>
          </p:cNvSpPr>
          <p:nvPr/>
        </p:nvSpPr>
        <p:spPr bwMode="auto">
          <a:xfrm>
            <a:off x="2133600" y="1676400"/>
            <a:ext cx="685800" cy="0"/>
          </a:xfrm>
          <a:prstGeom prst="line">
            <a:avLst/>
          </a:prstGeom>
          <a:noFill/>
          <a:ln w="31750">
            <a:solidFill>
              <a:srgbClr val="9900FF"/>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22" name="Line 62"/>
          <p:cNvSpPr>
            <a:spLocks noChangeShapeType="1"/>
          </p:cNvSpPr>
          <p:nvPr/>
        </p:nvSpPr>
        <p:spPr bwMode="auto">
          <a:xfrm>
            <a:off x="2819400" y="1676400"/>
            <a:ext cx="0" cy="457200"/>
          </a:xfrm>
          <a:prstGeom prst="line">
            <a:avLst/>
          </a:prstGeom>
          <a:noFill/>
          <a:ln w="31750">
            <a:solidFill>
              <a:srgbClr val="99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23" name="Rectangle 63"/>
          <p:cNvSpPr>
            <a:spLocks noChangeArrowheads="1"/>
          </p:cNvSpPr>
          <p:nvPr/>
        </p:nvSpPr>
        <p:spPr bwMode="auto">
          <a:xfrm>
            <a:off x="1219200" y="4572000"/>
            <a:ext cx="381000" cy="609600"/>
          </a:xfrm>
          <a:prstGeom prst="rect">
            <a:avLst/>
          </a:prstGeom>
          <a:solidFill>
            <a:srgbClr val="CCFFCC"/>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24" name="Line 64"/>
          <p:cNvSpPr>
            <a:spLocks noChangeShapeType="1"/>
          </p:cNvSpPr>
          <p:nvPr/>
        </p:nvSpPr>
        <p:spPr bwMode="auto">
          <a:xfrm>
            <a:off x="1828800" y="2514600"/>
            <a:ext cx="609600" cy="0"/>
          </a:xfrm>
          <a:prstGeom prst="line">
            <a:avLst/>
          </a:prstGeom>
          <a:noFill/>
          <a:ln w="38100">
            <a:solidFill>
              <a:srgbClr val="FB415C"/>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25" name="Line 65"/>
          <p:cNvSpPr>
            <a:spLocks noChangeShapeType="1"/>
          </p:cNvSpPr>
          <p:nvPr/>
        </p:nvSpPr>
        <p:spPr bwMode="auto">
          <a:xfrm>
            <a:off x="1828800" y="1219200"/>
            <a:ext cx="0" cy="1295400"/>
          </a:xfrm>
          <a:prstGeom prst="line">
            <a:avLst/>
          </a:prstGeom>
          <a:noFill/>
          <a:ln w="38100">
            <a:solidFill>
              <a:srgbClr val="FB415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816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988174"/>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988171"/>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499"/>
                                          </p:stCondLst>
                                        </p:cTn>
                                        <p:tgtEl>
                                          <p:spTgt spid="988172"/>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0"/>
                                  </p:stCondLst>
                                  <p:childTnLst>
                                    <p:set>
                                      <p:cBhvr>
                                        <p:cTn id="18" dur="1" fill="hold">
                                          <p:stCondLst>
                                            <p:cond delay="499"/>
                                          </p:stCondLst>
                                        </p:cTn>
                                        <p:tgtEl>
                                          <p:spTgt spid="988173"/>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499"/>
                                          </p:stCondLst>
                                        </p:cTn>
                                        <p:tgtEl>
                                          <p:spTgt spid="988175"/>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nodeType="afterEffect">
                                  <p:stCondLst>
                                    <p:cond delay="0"/>
                                  </p:stCondLst>
                                  <p:childTnLst>
                                    <p:set>
                                      <p:cBhvr>
                                        <p:cTn id="24" dur="1" fill="hold">
                                          <p:stCondLst>
                                            <p:cond delay="499"/>
                                          </p:stCondLst>
                                        </p:cTn>
                                        <p:tgtEl>
                                          <p:spTgt spid="988178"/>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nodeType="afterEffect">
                                  <p:stCondLst>
                                    <p:cond delay="0"/>
                                  </p:stCondLst>
                                  <p:childTnLst>
                                    <p:set>
                                      <p:cBhvr>
                                        <p:cTn id="27" dur="1" fill="hold">
                                          <p:stCondLst>
                                            <p:cond delay="499"/>
                                          </p:stCondLst>
                                        </p:cTn>
                                        <p:tgtEl>
                                          <p:spTgt spid="988177"/>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nodeType="afterEffect">
                                  <p:stCondLst>
                                    <p:cond delay="0"/>
                                  </p:stCondLst>
                                  <p:childTnLst>
                                    <p:set>
                                      <p:cBhvr>
                                        <p:cTn id="30" dur="1" fill="hold">
                                          <p:stCondLst>
                                            <p:cond delay="499"/>
                                          </p:stCondLst>
                                        </p:cTn>
                                        <p:tgtEl>
                                          <p:spTgt spid="988179"/>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499"/>
                                          </p:stCondLst>
                                        </p:cTn>
                                        <p:tgtEl>
                                          <p:spTgt spid="988180"/>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nodeType="afterEffect">
                                  <p:stCondLst>
                                    <p:cond delay="0"/>
                                  </p:stCondLst>
                                  <p:childTnLst>
                                    <p:set>
                                      <p:cBhvr>
                                        <p:cTn id="36" dur="1" fill="hold">
                                          <p:stCondLst>
                                            <p:cond delay="499"/>
                                          </p:stCondLst>
                                        </p:cTn>
                                        <p:tgtEl>
                                          <p:spTgt spid="988181"/>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nodeType="afterEffect">
                                  <p:stCondLst>
                                    <p:cond delay="0"/>
                                  </p:stCondLst>
                                  <p:childTnLst>
                                    <p:set>
                                      <p:cBhvr>
                                        <p:cTn id="39" dur="1" fill="hold">
                                          <p:stCondLst>
                                            <p:cond delay="499"/>
                                          </p:stCondLst>
                                        </p:cTn>
                                        <p:tgtEl>
                                          <p:spTgt spid="988182"/>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nodeType="afterEffect">
                                  <p:stCondLst>
                                    <p:cond delay="0"/>
                                  </p:stCondLst>
                                  <p:childTnLst>
                                    <p:set>
                                      <p:cBhvr>
                                        <p:cTn id="42" dur="1" fill="hold">
                                          <p:stCondLst>
                                            <p:cond delay="499"/>
                                          </p:stCondLst>
                                        </p:cTn>
                                        <p:tgtEl>
                                          <p:spTgt spid="988183"/>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nodeType="afterEffect">
                                  <p:stCondLst>
                                    <p:cond delay="0"/>
                                  </p:stCondLst>
                                  <p:childTnLst>
                                    <p:set>
                                      <p:cBhvr>
                                        <p:cTn id="45" dur="1" fill="hold">
                                          <p:stCondLst>
                                            <p:cond delay="499"/>
                                          </p:stCondLst>
                                        </p:cTn>
                                        <p:tgtEl>
                                          <p:spTgt spid="988184"/>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nodeType="afterEffect">
                                  <p:stCondLst>
                                    <p:cond delay="0"/>
                                  </p:stCondLst>
                                  <p:childTnLst>
                                    <p:set>
                                      <p:cBhvr>
                                        <p:cTn id="48" dur="1" fill="hold">
                                          <p:stCondLst>
                                            <p:cond delay="499"/>
                                          </p:stCondLst>
                                        </p:cTn>
                                        <p:tgtEl>
                                          <p:spTgt spid="988185"/>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nodeType="afterEffect">
                                  <p:stCondLst>
                                    <p:cond delay="0"/>
                                  </p:stCondLst>
                                  <p:childTnLst>
                                    <p:set>
                                      <p:cBhvr>
                                        <p:cTn id="51" dur="1" fill="hold">
                                          <p:stCondLst>
                                            <p:cond delay="499"/>
                                          </p:stCondLst>
                                        </p:cTn>
                                        <p:tgtEl>
                                          <p:spTgt spid="988186"/>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nodeType="afterEffect">
                                  <p:stCondLst>
                                    <p:cond delay="0"/>
                                  </p:stCondLst>
                                  <p:childTnLst>
                                    <p:set>
                                      <p:cBhvr>
                                        <p:cTn id="54" dur="1" fill="hold">
                                          <p:stCondLst>
                                            <p:cond delay="499"/>
                                          </p:stCondLst>
                                        </p:cTn>
                                        <p:tgtEl>
                                          <p:spTgt spid="988187"/>
                                        </p:tgtEl>
                                        <p:attrNameLst>
                                          <p:attrName>style.visibility</p:attrName>
                                        </p:attrNameLst>
                                      </p:cBhvr>
                                      <p:to>
                                        <p:strVal val="visible"/>
                                      </p:to>
                                    </p:set>
                                  </p:childTnLst>
                                </p:cTn>
                              </p:par>
                            </p:childTnLst>
                          </p:cTn>
                        </p:par>
                        <p:par>
                          <p:cTn id="55" fill="hold">
                            <p:stCondLst>
                              <p:cond delay="8500"/>
                            </p:stCondLst>
                            <p:childTnLst>
                              <p:par>
                                <p:cTn id="56" presetID="1" presetClass="entr" presetSubtype="0" fill="hold" nodeType="afterEffect">
                                  <p:stCondLst>
                                    <p:cond delay="0"/>
                                  </p:stCondLst>
                                  <p:childTnLst>
                                    <p:set>
                                      <p:cBhvr>
                                        <p:cTn id="57" dur="1" fill="hold">
                                          <p:stCondLst>
                                            <p:cond delay="499"/>
                                          </p:stCondLst>
                                        </p:cTn>
                                        <p:tgtEl>
                                          <p:spTgt spid="988188"/>
                                        </p:tgtEl>
                                        <p:attrNameLst>
                                          <p:attrName>style.visibility</p:attrName>
                                        </p:attrNameLst>
                                      </p:cBhvr>
                                      <p:to>
                                        <p:strVal val="visible"/>
                                      </p:to>
                                    </p:set>
                                  </p:childTnLst>
                                </p:cTn>
                              </p:par>
                            </p:childTnLst>
                          </p:cTn>
                        </p:par>
                        <p:par>
                          <p:cTn id="58" fill="hold">
                            <p:stCondLst>
                              <p:cond delay="9000"/>
                            </p:stCondLst>
                            <p:childTnLst>
                              <p:par>
                                <p:cTn id="59" presetID="1" presetClass="entr" presetSubtype="0" fill="hold" nodeType="afterEffect">
                                  <p:stCondLst>
                                    <p:cond delay="0"/>
                                  </p:stCondLst>
                                  <p:childTnLst>
                                    <p:set>
                                      <p:cBhvr>
                                        <p:cTn id="60" dur="1" fill="hold">
                                          <p:stCondLst>
                                            <p:cond delay="499"/>
                                          </p:stCondLst>
                                        </p:cTn>
                                        <p:tgtEl>
                                          <p:spTgt spid="988189"/>
                                        </p:tgtEl>
                                        <p:attrNameLst>
                                          <p:attrName>style.visibility</p:attrName>
                                        </p:attrNameLst>
                                      </p:cBhvr>
                                      <p:to>
                                        <p:strVal val="visible"/>
                                      </p:to>
                                    </p:set>
                                  </p:childTnLst>
                                </p:cTn>
                              </p:par>
                            </p:childTnLst>
                          </p:cTn>
                        </p:par>
                        <p:par>
                          <p:cTn id="61" fill="hold">
                            <p:stCondLst>
                              <p:cond delay="9500"/>
                            </p:stCondLst>
                            <p:childTnLst>
                              <p:par>
                                <p:cTn id="62" presetID="1" presetClass="entr" presetSubtype="0" fill="hold" nodeType="afterEffect">
                                  <p:stCondLst>
                                    <p:cond delay="0"/>
                                  </p:stCondLst>
                                  <p:childTnLst>
                                    <p:set>
                                      <p:cBhvr>
                                        <p:cTn id="63" dur="1" fill="hold">
                                          <p:stCondLst>
                                            <p:cond delay="499"/>
                                          </p:stCondLst>
                                        </p:cTn>
                                        <p:tgtEl>
                                          <p:spTgt spid="988166"/>
                                        </p:tgtEl>
                                        <p:attrNameLst>
                                          <p:attrName>style.visibility</p:attrName>
                                        </p:attrNameLst>
                                      </p:cBhvr>
                                      <p:to>
                                        <p:strVal val="visible"/>
                                      </p:to>
                                    </p:set>
                                  </p:childTnLst>
                                </p:cTn>
                              </p:par>
                            </p:childTnLst>
                          </p:cTn>
                        </p:par>
                        <p:par>
                          <p:cTn id="64" fill="hold">
                            <p:stCondLst>
                              <p:cond delay="10000"/>
                            </p:stCondLst>
                            <p:childTnLst>
                              <p:par>
                                <p:cTn id="65" presetID="1" presetClass="entr" presetSubtype="0" fill="hold" nodeType="afterEffect">
                                  <p:stCondLst>
                                    <p:cond delay="0"/>
                                  </p:stCondLst>
                                  <p:childTnLst>
                                    <p:set>
                                      <p:cBhvr>
                                        <p:cTn id="66" dur="1" fill="hold">
                                          <p:stCondLst>
                                            <p:cond delay="499"/>
                                          </p:stCondLst>
                                        </p:cTn>
                                        <p:tgtEl>
                                          <p:spTgt spid="988167"/>
                                        </p:tgtEl>
                                        <p:attrNameLst>
                                          <p:attrName>style.visibility</p:attrName>
                                        </p:attrNameLst>
                                      </p:cBhvr>
                                      <p:to>
                                        <p:strVal val="visible"/>
                                      </p:to>
                                    </p:set>
                                  </p:childTnLst>
                                </p:cTn>
                              </p:par>
                            </p:childTnLst>
                          </p:cTn>
                        </p:par>
                        <p:par>
                          <p:cTn id="67" fill="hold">
                            <p:stCondLst>
                              <p:cond delay="10500"/>
                            </p:stCondLst>
                            <p:childTnLst>
                              <p:par>
                                <p:cTn id="68" presetID="1" presetClass="entr" presetSubtype="0" fill="hold" nodeType="afterEffect">
                                  <p:stCondLst>
                                    <p:cond delay="0"/>
                                  </p:stCondLst>
                                  <p:childTnLst>
                                    <p:set>
                                      <p:cBhvr>
                                        <p:cTn id="69" dur="1" fill="hold">
                                          <p:stCondLst>
                                            <p:cond delay="499"/>
                                          </p:stCondLst>
                                        </p:cTn>
                                        <p:tgtEl>
                                          <p:spTgt spid="988168"/>
                                        </p:tgtEl>
                                        <p:attrNameLst>
                                          <p:attrName>style.visibility</p:attrName>
                                        </p:attrNameLst>
                                      </p:cBhvr>
                                      <p:to>
                                        <p:strVal val="visible"/>
                                      </p:to>
                                    </p:set>
                                  </p:childTnLst>
                                </p:cTn>
                              </p:par>
                            </p:childTnLst>
                          </p:cTn>
                        </p:par>
                        <p:par>
                          <p:cTn id="70" fill="hold">
                            <p:stCondLst>
                              <p:cond delay="11000"/>
                            </p:stCondLst>
                            <p:childTnLst>
                              <p:par>
                                <p:cTn id="71" presetID="1" presetClass="entr" presetSubtype="0" fill="hold" nodeType="afterEffect">
                                  <p:stCondLst>
                                    <p:cond delay="0"/>
                                  </p:stCondLst>
                                  <p:childTnLst>
                                    <p:set>
                                      <p:cBhvr>
                                        <p:cTn id="72" dur="1" fill="hold">
                                          <p:stCondLst>
                                            <p:cond delay="499"/>
                                          </p:stCondLst>
                                        </p:cTn>
                                        <p:tgtEl>
                                          <p:spTgt spid="988169"/>
                                        </p:tgtEl>
                                        <p:attrNameLst>
                                          <p:attrName>style.visibility</p:attrName>
                                        </p:attrNameLst>
                                      </p:cBhvr>
                                      <p:to>
                                        <p:strVal val="visible"/>
                                      </p:to>
                                    </p:set>
                                  </p:childTnLst>
                                </p:cTn>
                              </p:par>
                            </p:childTnLst>
                          </p:cTn>
                        </p:par>
                        <p:par>
                          <p:cTn id="73" fill="hold">
                            <p:stCondLst>
                              <p:cond delay="11500"/>
                            </p:stCondLst>
                            <p:childTnLst>
                              <p:par>
                                <p:cTn id="74" presetID="1" presetClass="entr" presetSubtype="0" fill="hold" nodeType="afterEffect">
                                  <p:stCondLst>
                                    <p:cond delay="0"/>
                                  </p:stCondLst>
                                  <p:childTnLst>
                                    <p:set>
                                      <p:cBhvr>
                                        <p:cTn id="75" dur="1" fill="hold">
                                          <p:stCondLst>
                                            <p:cond delay="499"/>
                                          </p:stCondLst>
                                        </p:cTn>
                                        <p:tgtEl>
                                          <p:spTgt spid="988170"/>
                                        </p:tgtEl>
                                        <p:attrNameLst>
                                          <p:attrName>style.visibility</p:attrName>
                                        </p:attrNameLst>
                                      </p:cBhvr>
                                      <p:to>
                                        <p:strVal val="visible"/>
                                      </p:to>
                                    </p:set>
                                  </p:childTnLst>
                                </p:cTn>
                              </p:par>
                            </p:childTnLst>
                          </p:cTn>
                        </p:par>
                        <p:par>
                          <p:cTn id="76" fill="hold">
                            <p:stCondLst>
                              <p:cond delay="12000"/>
                            </p:stCondLst>
                            <p:childTnLst>
                              <p:par>
                                <p:cTn id="77" presetID="1" presetClass="entr" presetSubtype="0" fill="hold" nodeType="afterEffect">
                                  <p:stCondLst>
                                    <p:cond delay="0"/>
                                  </p:stCondLst>
                                  <p:childTnLst>
                                    <p:set>
                                      <p:cBhvr>
                                        <p:cTn id="78" dur="1" fill="hold">
                                          <p:stCondLst>
                                            <p:cond delay="499"/>
                                          </p:stCondLst>
                                        </p:cTn>
                                        <p:tgtEl>
                                          <p:spTgt spid="988176"/>
                                        </p:tgtEl>
                                        <p:attrNameLst>
                                          <p:attrName>style.visibility</p:attrName>
                                        </p:attrNameLst>
                                      </p:cBhvr>
                                      <p:to>
                                        <p:strVal val="visible"/>
                                      </p:to>
                                    </p:set>
                                  </p:childTnLst>
                                </p:cTn>
                              </p:par>
                            </p:childTnLst>
                          </p:cTn>
                        </p:par>
                        <p:par>
                          <p:cTn id="79" fill="hold">
                            <p:stCondLst>
                              <p:cond delay="12500"/>
                            </p:stCondLst>
                            <p:childTnLst>
                              <p:par>
                                <p:cTn id="80" presetID="1" presetClass="entr" presetSubtype="0" fill="hold" nodeType="afterEffect">
                                  <p:stCondLst>
                                    <p:cond delay="0"/>
                                  </p:stCondLst>
                                  <p:childTnLst>
                                    <p:set>
                                      <p:cBhvr>
                                        <p:cTn id="81" dur="1" fill="hold">
                                          <p:stCondLst>
                                            <p:cond delay="499"/>
                                          </p:stCondLst>
                                        </p:cTn>
                                        <p:tgtEl>
                                          <p:spTgt spid="988190"/>
                                        </p:tgtEl>
                                        <p:attrNameLst>
                                          <p:attrName>style.visibility</p:attrName>
                                        </p:attrNameLst>
                                      </p:cBhvr>
                                      <p:to>
                                        <p:strVal val="visible"/>
                                      </p:to>
                                    </p:set>
                                  </p:childTnLst>
                                </p:cTn>
                              </p:par>
                            </p:childTnLst>
                          </p:cTn>
                        </p:par>
                        <p:par>
                          <p:cTn id="82" fill="hold">
                            <p:stCondLst>
                              <p:cond delay="13000"/>
                            </p:stCondLst>
                            <p:childTnLst>
                              <p:par>
                                <p:cTn id="83" presetID="1" presetClass="entr" presetSubtype="0" fill="hold" nodeType="afterEffect">
                                  <p:stCondLst>
                                    <p:cond delay="0"/>
                                  </p:stCondLst>
                                  <p:childTnLst>
                                    <p:set>
                                      <p:cBhvr>
                                        <p:cTn id="84" dur="1" fill="hold">
                                          <p:stCondLst>
                                            <p:cond delay="499"/>
                                          </p:stCondLst>
                                        </p:cTn>
                                        <p:tgtEl>
                                          <p:spTgt spid="988224"/>
                                        </p:tgtEl>
                                        <p:attrNameLst>
                                          <p:attrName>style.visibility</p:attrName>
                                        </p:attrNameLst>
                                      </p:cBhvr>
                                      <p:to>
                                        <p:strVal val="visible"/>
                                      </p:to>
                                    </p:set>
                                  </p:childTnLst>
                                </p:cTn>
                              </p:par>
                            </p:childTnLst>
                          </p:cTn>
                        </p:par>
                        <p:par>
                          <p:cTn id="85" fill="hold">
                            <p:stCondLst>
                              <p:cond delay="13500"/>
                            </p:stCondLst>
                            <p:childTnLst>
                              <p:par>
                                <p:cTn id="86" presetID="1" presetClass="entr" presetSubtype="0" fill="hold" nodeType="afterEffect">
                                  <p:stCondLst>
                                    <p:cond delay="0"/>
                                  </p:stCondLst>
                                  <p:childTnLst>
                                    <p:set>
                                      <p:cBhvr>
                                        <p:cTn id="87" dur="1" fill="hold">
                                          <p:stCondLst>
                                            <p:cond delay="499"/>
                                          </p:stCondLst>
                                        </p:cTn>
                                        <p:tgtEl>
                                          <p:spTgt spid="988191"/>
                                        </p:tgtEl>
                                        <p:attrNameLst>
                                          <p:attrName>style.visibility</p:attrName>
                                        </p:attrNameLst>
                                      </p:cBhvr>
                                      <p:to>
                                        <p:strVal val="visible"/>
                                      </p:to>
                                    </p:set>
                                  </p:childTnLst>
                                </p:cTn>
                              </p:par>
                            </p:childTnLst>
                          </p:cTn>
                        </p:par>
                        <p:par>
                          <p:cTn id="88" fill="hold">
                            <p:stCondLst>
                              <p:cond delay="14000"/>
                            </p:stCondLst>
                            <p:childTnLst>
                              <p:par>
                                <p:cTn id="89" presetID="1" presetClass="entr" presetSubtype="0" fill="hold" nodeType="afterEffect">
                                  <p:stCondLst>
                                    <p:cond delay="0"/>
                                  </p:stCondLst>
                                  <p:childTnLst>
                                    <p:set>
                                      <p:cBhvr>
                                        <p:cTn id="90" dur="1" fill="hold">
                                          <p:stCondLst>
                                            <p:cond delay="499"/>
                                          </p:stCondLst>
                                        </p:cTn>
                                        <p:tgtEl>
                                          <p:spTgt spid="988225"/>
                                        </p:tgtEl>
                                        <p:attrNameLst>
                                          <p:attrName>style.visibility</p:attrName>
                                        </p:attrNameLst>
                                      </p:cBhvr>
                                      <p:to>
                                        <p:strVal val="visible"/>
                                      </p:to>
                                    </p:set>
                                  </p:childTnLst>
                                </p:cTn>
                              </p:par>
                            </p:childTnLst>
                          </p:cTn>
                        </p:par>
                        <p:par>
                          <p:cTn id="91" fill="hold">
                            <p:stCondLst>
                              <p:cond delay="14500"/>
                            </p:stCondLst>
                            <p:childTnLst>
                              <p:par>
                                <p:cTn id="92" presetID="1" presetClass="entr" presetSubtype="0" fill="hold" nodeType="afterEffect">
                                  <p:stCondLst>
                                    <p:cond delay="0"/>
                                  </p:stCondLst>
                                  <p:childTnLst>
                                    <p:set>
                                      <p:cBhvr>
                                        <p:cTn id="93" dur="1" fill="hold">
                                          <p:stCondLst>
                                            <p:cond delay="499"/>
                                          </p:stCondLst>
                                        </p:cTn>
                                        <p:tgtEl>
                                          <p:spTgt spid="988192"/>
                                        </p:tgtEl>
                                        <p:attrNameLst>
                                          <p:attrName>style.visibility</p:attrName>
                                        </p:attrNameLst>
                                      </p:cBhvr>
                                      <p:to>
                                        <p:strVal val="visible"/>
                                      </p:to>
                                    </p:set>
                                  </p:childTnLst>
                                </p:cTn>
                              </p:par>
                            </p:childTnLst>
                          </p:cTn>
                        </p:par>
                        <p:par>
                          <p:cTn id="94" fill="hold">
                            <p:stCondLst>
                              <p:cond delay="15000"/>
                            </p:stCondLst>
                            <p:childTnLst>
                              <p:par>
                                <p:cTn id="95" presetID="1" presetClass="entr" presetSubtype="0" fill="hold" nodeType="afterEffect">
                                  <p:stCondLst>
                                    <p:cond delay="0"/>
                                  </p:stCondLst>
                                  <p:childTnLst>
                                    <p:set>
                                      <p:cBhvr>
                                        <p:cTn id="96" dur="1" fill="hold">
                                          <p:stCondLst>
                                            <p:cond delay="499"/>
                                          </p:stCondLst>
                                        </p:cTn>
                                        <p:tgtEl>
                                          <p:spTgt spid="988193"/>
                                        </p:tgtEl>
                                        <p:attrNameLst>
                                          <p:attrName>style.visibility</p:attrName>
                                        </p:attrNameLst>
                                      </p:cBhvr>
                                      <p:to>
                                        <p:strVal val="visible"/>
                                      </p:to>
                                    </p:set>
                                  </p:childTnLst>
                                </p:cTn>
                              </p:par>
                            </p:childTnLst>
                          </p:cTn>
                        </p:par>
                        <p:par>
                          <p:cTn id="97" fill="hold">
                            <p:stCondLst>
                              <p:cond delay="15500"/>
                            </p:stCondLst>
                            <p:childTnLst>
                              <p:par>
                                <p:cTn id="98" presetID="1" presetClass="entr" presetSubtype="0" fill="hold" nodeType="afterEffect">
                                  <p:stCondLst>
                                    <p:cond delay="0"/>
                                  </p:stCondLst>
                                  <p:childTnLst>
                                    <p:set>
                                      <p:cBhvr>
                                        <p:cTn id="99" dur="1" fill="hold">
                                          <p:stCondLst>
                                            <p:cond delay="499"/>
                                          </p:stCondLst>
                                        </p:cTn>
                                        <p:tgtEl>
                                          <p:spTgt spid="988194"/>
                                        </p:tgtEl>
                                        <p:attrNameLst>
                                          <p:attrName>style.visibility</p:attrName>
                                        </p:attrNameLst>
                                      </p:cBhvr>
                                      <p:to>
                                        <p:strVal val="visible"/>
                                      </p:to>
                                    </p:set>
                                  </p:childTnLst>
                                </p:cTn>
                              </p:par>
                            </p:childTnLst>
                          </p:cTn>
                        </p:par>
                        <p:par>
                          <p:cTn id="100" fill="hold">
                            <p:stCondLst>
                              <p:cond delay="16000"/>
                            </p:stCondLst>
                            <p:childTnLst>
                              <p:par>
                                <p:cTn id="101" presetID="1" presetClass="entr" presetSubtype="0" fill="hold" nodeType="afterEffect">
                                  <p:stCondLst>
                                    <p:cond delay="0"/>
                                  </p:stCondLst>
                                  <p:childTnLst>
                                    <p:set>
                                      <p:cBhvr>
                                        <p:cTn id="102" dur="1" fill="hold">
                                          <p:stCondLst>
                                            <p:cond delay="499"/>
                                          </p:stCondLst>
                                        </p:cTn>
                                        <p:tgtEl>
                                          <p:spTgt spid="988195"/>
                                        </p:tgtEl>
                                        <p:attrNameLst>
                                          <p:attrName>style.visibility</p:attrName>
                                        </p:attrNameLst>
                                      </p:cBhvr>
                                      <p:to>
                                        <p:strVal val="visible"/>
                                      </p:to>
                                    </p:set>
                                  </p:childTnLst>
                                </p:cTn>
                              </p:par>
                            </p:childTnLst>
                          </p:cTn>
                        </p:par>
                        <p:par>
                          <p:cTn id="103" fill="hold">
                            <p:stCondLst>
                              <p:cond delay="16500"/>
                            </p:stCondLst>
                            <p:childTnLst>
                              <p:par>
                                <p:cTn id="104" presetID="1" presetClass="entr" presetSubtype="0" fill="hold" nodeType="afterEffect">
                                  <p:stCondLst>
                                    <p:cond delay="0"/>
                                  </p:stCondLst>
                                  <p:childTnLst>
                                    <p:set>
                                      <p:cBhvr>
                                        <p:cTn id="105" dur="1" fill="hold">
                                          <p:stCondLst>
                                            <p:cond delay="499"/>
                                          </p:stCondLst>
                                        </p:cTn>
                                        <p:tgtEl>
                                          <p:spTgt spid="988196"/>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499"/>
                                          </p:stCondLst>
                                        </p:cTn>
                                        <p:tgtEl>
                                          <p:spTgt spid="988197"/>
                                        </p:tgtEl>
                                        <p:attrNameLst>
                                          <p:attrName>style.visibility</p:attrName>
                                        </p:attrNameLst>
                                      </p:cBhvr>
                                      <p:to>
                                        <p:strVal val="visible"/>
                                      </p:to>
                                    </p:set>
                                  </p:childTnLst>
                                </p:cTn>
                              </p:par>
                            </p:childTnLst>
                          </p:cTn>
                        </p:par>
                        <p:par>
                          <p:cTn id="110" fill="hold">
                            <p:stCondLst>
                              <p:cond delay="500"/>
                            </p:stCondLst>
                            <p:childTnLst>
                              <p:par>
                                <p:cTn id="111" presetID="1" presetClass="entr" presetSubtype="0" fill="hold" nodeType="afterEffect">
                                  <p:stCondLst>
                                    <p:cond delay="0"/>
                                  </p:stCondLst>
                                  <p:childTnLst>
                                    <p:set>
                                      <p:cBhvr>
                                        <p:cTn id="112" dur="1" fill="hold">
                                          <p:stCondLst>
                                            <p:cond delay="499"/>
                                          </p:stCondLst>
                                        </p:cTn>
                                        <p:tgtEl>
                                          <p:spTgt spid="988198"/>
                                        </p:tgtEl>
                                        <p:attrNameLst>
                                          <p:attrName>style.visibility</p:attrName>
                                        </p:attrNameLst>
                                      </p:cBhvr>
                                      <p:to>
                                        <p:strVal val="visible"/>
                                      </p:to>
                                    </p:set>
                                  </p:childTnLst>
                                </p:cTn>
                              </p:par>
                            </p:childTnLst>
                          </p:cTn>
                        </p:par>
                        <p:par>
                          <p:cTn id="113" fill="hold">
                            <p:stCondLst>
                              <p:cond delay="1000"/>
                            </p:stCondLst>
                            <p:childTnLst>
                              <p:par>
                                <p:cTn id="114" presetID="1" presetClass="entr" presetSubtype="0" fill="hold" nodeType="afterEffect">
                                  <p:stCondLst>
                                    <p:cond delay="0"/>
                                  </p:stCondLst>
                                  <p:childTnLst>
                                    <p:set>
                                      <p:cBhvr>
                                        <p:cTn id="115" dur="1" fill="hold">
                                          <p:stCondLst>
                                            <p:cond delay="499"/>
                                          </p:stCondLst>
                                        </p:cTn>
                                        <p:tgtEl>
                                          <p:spTgt spid="988199"/>
                                        </p:tgtEl>
                                        <p:attrNameLst>
                                          <p:attrName>style.visibility</p:attrName>
                                        </p:attrNameLst>
                                      </p:cBhvr>
                                      <p:to>
                                        <p:strVal val="visible"/>
                                      </p:to>
                                    </p:set>
                                  </p:childTnLst>
                                </p:cTn>
                              </p:par>
                            </p:childTnLst>
                          </p:cTn>
                        </p:par>
                        <p:par>
                          <p:cTn id="116" fill="hold">
                            <p:stCondLst>
                              <p:cond delay="1500"/>
                            </p:stCondLst>
                            <p:childTnLst>
                              <p:par>
                                <p:cTn id="117" presetID="1" presetClass="entr" presetSubtype="0" fill="hold" nodeType="afterEffect">
                                  <p:stCondLst>
                                    <p:cond delay="0"/>
                                  </p:stCondLst>
                                  <p:childTnLst>
                                    <p:set>
                                      <p:cBhvr>
                                        <p:cTn id="118" dur="1" fill="hold">
                                          <p:stCondLst>
                                            <p:cond delay="499"/>
                                          </p:stCondLst>
                                        </p:cTn>
                                        <p:tgtEl>
                                          <p:spTgt spid="988200"/>
                                        </p:tgtEl>
                                        <p:attrNameLst>
                                          <p:attrName>style.visibility</p:attrName>
                                        </p:attrNameLst>
                                      </p:cBhvr>
                                      <p:to>
                                        <p:strVal val="visible"/>
                                      </p:to>
                                    </p:set>
                                  </p:childTnLst>
                                </p:cTn>
                              </p:par>
                            </p:childTnLst>
                          </p:cTn>
                        </p:par>
                        <p:par>
                          <p:cTn id="119" fill="hold">
                            <p:stCondLst>
                              <p:cond delay="2000"/>
                            </p:stCondLst>
                            <p:childTnLst>
                              <p:par>
                                <p:cTn id="120" presetID="1" presetClass="entr" presetSubtype="0" fill="hold" nodeType="afterEffect">
                                  <p:stCondLst>
                                    <p:cond delay="0"/>
                                  </p:stCondLst>
                                  <p:childTnLst>
                                    <p:set>
                                      <p:cBhvr>
                                        <p:cTn id="121" dur="1" fill="hold">
                                          <p:stCondLst>
                                            <p:cond delay="499"/>
                                          </p:stCondLst>
                                        </p:cTn>
                                        <p:tgtEl>
                                          <p:spTgt spid="988201"/>
                                        </p:tgtEl>
                                        <p:attrNameLst>
                                          <p:attrName>style.visibility</p:attrName>
                                        </p:attrNameLst>
                                      </p:cBhvr>
                                      <p:to>
                                        <p:strVal val="visible"/>
                                      </p:to>
                                    </p:set>
                                  </p:childTnLst>
                                </p:cTn>
                              </p:par>
                            </p:childTnLst>
                          </p:cTn>
                        </p:par>
                        <p:par>
                          <p:cTn id="122" fill="hold">
                            <p:stCondLst>
                              <p:cond delay="2500"/>
                            </p:stCondLst>
                            <p:childTnLst>
                              <p:par>
                                <p:cTn id="123" presetID="1" presetClass="entr" presetSubtype="0" fill="hold" nodeType="afterEffect">
                                  <p:stCondLst>
                                    <p:cond delay="0"/>
                                  </p:stCondLst>
                                  <p:childTnLst>
                                    <p:set>
                                      <p:cBhvr>
                                        <p:cTn id="124" dur="1" fill="hold">
                                          <p:stCondLst>
                                            <p:cond delay="499"/>
                                          </p:stCondLst>
                                        </p:cTn>
                                        <p:tgtEl>
                                          <p:spTgt spid="988202"/>
                                        </p:tgtEl>
                                        <p:attrNameLst>
                                          <p:attrName>style.visibility</p:attrName>
                                        </p:attrNameLst>
                                      </p:cBhvr>
                                      <p:to>
                                        <p:strVal val="visible"/>
                                      </p:to>
                                    </p:set>
                                  </p:childTnLst>
                                </p:cTn>
                              </p:par>
                            </p:childTnLst>
                          </p:cTn>
                        </p:par>
                        <p:par>
                          <p:cTn id="125" fill="hold">
                            <p:stCondLst>
                              <p:cond delay="3000"/>
                            </p:stCondLst>
                            <p:childTnLst>
                              <p:par>
                                <p:cTn id="126" presetID="1" presetClass="entr" presetSubtype="0" fill="hold" nodeType="afterEffect">
                                  <p:stCondLst>
                                    <p:cond delay="0"/>
                                  </p:stCondLst>
                                  <p:childTnLst>
                                    <p:set>
                                      <p:cBhvr>
                                        <p:cTn id="127" dur="1" fill="hold">
                                          <p:stCondLst>
                                            <p:cond delay="499"/>
                                          </p:stCondLst>
                                        </p:cTn>
                                        <p:tgtEl>
                                          <p:spTgt spid="988203"/>
                                        </p:tgtEl>
                                        <p:attrNameLst>
                                          <p:attrName>style.visibility</p:attrName>
                                        </p:attrNameLst>
                                      </p:cBhvr>
                                      <p:to>
                                        <p:strVal val="visible"/>
                                      </p:to>
                                    </p:set>
                                  </p:childTnLst>
                                </p:cTn>
                              </p:par>
                            </p:childTnLst>
                          </p:cTn>
                        </p:par>
                        <p:par>
                          <p:cTn id="128" fill="hold">
                            <p:stCondLst>
                              <p:cond delay="3500"/>
                            </p:stCondLst>
                            <p:childTnLst>
                              <p:par>
                                <p:cTn id="129" presetID="1" presetClass="entr" presetSubtype="0" fill="hold" nodeType="afterEffect">
                                  <p:stCondLst>
                                    <p:cond delay="0"/>
                                  </p:stCondLst>
                                  <p:childTnLst>
                                    <p:set>
                                      <p:cBhvr>
                                        <p:cTn id="130" dur="1" fill="hold">
                                          <p:stCondLst>
                                            <p:cond delay="499"/>
                                          </p:stCondLst>
                                        </p:cTn>
                                        <p:tgtEl>
                                          <p:spTgt spid="988204"/>
                                        </p:tgtEl>
                                        <p:attrNameLst>
                                          <p:attrName>style.visibility</p:attrName>
                                        </p:attrNameLst>
                                      </p:cBhvr>
                                      <p:to>
                                        <p:strVal val="visible"/>
                                      </p:to>
                                    </p:set>
                                  </p:childTnLst>
                                </p:cTn>
                              </p:par>
                            </p:childTnLst>
                          </p:cTn>
                        </p:par>
                        <p:par>
                          <p:cTn id="131" fill="hold">
                            <p:stCondLst>
                              <p:cond delay="4000"/>
                            </p:stCondLst>
                            <p:childTnLst>
                              <p:par>
                                <p:cTn id="132" presetID="1" presetClass="entr" presetSubtype="0" fill="hold" nodeType="afterEffect">
                                  <p:stCondLst>
                                    <p:cond delay="0"/>
                                  </p:stCondLst>
                                  <p:childTnLst>
                                    <p:set>
                                      <p:cBhvr>
                                        <p:cTn id="133" dur="1" fill="hold">
                                          <p:stCondLst>
                                            <p:cond delay="499"/>
                                          </p:stCondLst>
                                        </p:cTn>
                                        <p:tgtEl>
                                          <p:spTgt spid="988205"/>
                                        </p:tgtEl>
                                        <p:attrNameLst>
                                          <p:attrName>style.visibility</p:attrName>
                                        </p:attrNameLst>
                                      </p:cBhvr>
                                      <p:to>
                                        <p:strVal val="visible"/>
                                      </p:to>
                                    </p:set>
                                  </p:childTnLst>
                                </p:cTn>
                              </p:par>
                            </p:childTnLst>
                          </p:cTn>
                        </p:par>
                        <p:par>
                          <p:cTn id="134" fill="hold">
                            <p:stCondLst>
                              <p:cond delay="4500"/>
                            </p:stCondLst>
                            <p:childTnLst>
                              <p:par>
                                <p:cTn id="135" presetID="1" presetClass="entr" presetSubtype="0" fill="hold" nodeType="afterEffect">
                                  <p:stCondLst>
                                    <p:cond delay="0"/>
                                  </p:stCondLst>
                                  <p:childTnLst>
                                    <p:set>
                                      <p:cBhvr>
                                        <p:cTn id="136" dur="1" fill="hold">
                                          <p:stCondLst>
                                            <p:cond delay="499"/>
                                          </p:stCondLst>
                                        </p:cTn>
                                        <p:tgtEl>
                                          <p:spTgt spid="988206"/>
                                        </p:tgtEl>
                                        <p:attrNameLst>
                                          <p:attrName>style.visibility</p:attrName>
                                        </p:attrNameLst>
                                      </p:cBhvr>
                                      <p:to>
                                        <p:strVal val="visible"/>
                                      </p:to>
                                    </p:set>
                                  </p:childTnLst>
                                </p:cTn>
                              </p:par>
                            </p:childTnLst>
                          </p:cTn>
                        </p:par>
                        <p:par>
                          <p:cTn id="137" fill="hold">
                            <p:stCondLst>
                              <p:cond delay="5000"/>
                            </p:stCondLst>
                            <p:childTnLst>
                              <p:par>
                                <p:cTn id="138" presetID="1" presetClass="entr" presetSubtype="0" fill="hold" nodeType="afterEffect">
                                  <p:stCondLst>
                                    <p:cond delay="0"/>
                                  </p:stCondLst>
                                  <p:childTnLst>
                                    <p:set>
                                      <p:cBhvr>
                                        <p:cTn id="139" dur="1" fill="hold">
                                          <p:stCondLst>
                                            <p:cond delay="499"/>
                                          </p:stCondLst>
                                        </p:cTn>
                                        <p:tgtEl>
                                          <p:spTgt spid="988207"/>
                                        </p:tgtEl>
                                        <p:attrNameLst>
                                          <p:attrName>style.visibility</p:attrName>
                                        </p:attrNameLst>
                                      </p:cBhvr>
                                      <p:to>
                                        <p:strVal val="visible"/>
                                      </p:to>
                                    </p:set>
                                  </p:childTnLst>
                                </p:cTn>
                              </p:par>
                            </p:childTnLst>
                          </p:cTn>
                        </p:par>
                        <p:par>
                          <p:cTn id="140" fill="hold">
                            <p:stCondLst>
                              <p:cond delay="5500"/>
                            </p:stCondLst>
                            <p:childTnLst>
                              <p:par>
                                <p:cTn id="141" presetID="1" presetClass="entr" presetSubtype="0" fill="hold" nodeType="afterEffect">
                                  <p:stCondLst>
                                    <p:cond delay="0"/>
                                  </p:stCondLst>
                                  <p:childTnLst>
                                    <p:set>
                                      <p:cBhvr>
                                        <p:cTn id="142" dur="1" fill="hold">
                                          <p:stCondLst>
                                            <p:cond delay="499"/>
                                          </p:stCondLst>
                                        </p:cTn>
                                        <p:tgtEl>
                                          <p:spTgt spid="988208"/>
                                        </p:tgtEl>
                                        <p:attrNameLst>
                                          <p:attrName>style.visibility</p:attrName>
                                        </p:attrNameLst>
                                      </p:cBhvr>
                                      <p:to>
                                        <p:strVal val="visible"/>
                                      </p:to>
                                    </p:set>
                                  </p:childTnLst>
                                </p:cTn>
                              </p:par>
                            </p:childTnLst>
                          </p:cTn>
                        </p:par>
                        <p:par>
                          <p:cTn id="143" fill="hold">
                            <p:stCondLst>
                              <p:cond delay="6000"/>
                            </p:stCondLst>
                            <p:childTnLst>
                              <p:par>
                                <p:cTn id="144" presetID="1" presetClass="entr" presetSubtype="0" fill="hold" nodeType="afterEffect">
                                  <p:stCondLst>
                                    <p:cond delay="0"/>
                                  </p:stCondLst>
                                  <p:childTnLst>
                                    <p:set>
                                      <p:cBhvr>
                                        <p:cTn id="145" dur="1" fill="hold">
                                          <p:stCondLst>
                                            <p:cond delay="499"/>
                                          </p:stCondLst>
                                        </p:cTn>
                                        <p:tgtEl>
                                          <p:spTgt spid="988209"/>
                                        </p:tgtEl>
                                        <p:attrNameLst>
                                          <p:attrName>style.visibility</p:attrName>
                                        </p:attrNameLst>
                                      </p:cBhvr>
                                      <p:to>
                                        <p:strVal val="visible"/>
                                      </p:to>
                                    </p:set>
                                  </p:childTnLst>
                                </p:cTn>
                              </p:par>
                            </p:childTnLst>
                          </p:cTn>
                        </p:par>
                        <p:par>
                          <p:cTn id="146" fill="hold">
                            <p:stCondLst>
                              <p:cond delay="6500"/>
                            </p:stCondLst>
                            <p:childTnLst>
                              <p:par>
                                <p:cTn id="147" presetID="1" presetClass="entr" presetSubtype="0" fill="hold" nodeType="afterEffect">
                                  <p:stCondLst>
                                    <p:cond delay="0"/>
                                  </p:stCondLst>
                                  <p:childTnLst>
                                    <p:set>
                                      <p:cBhvr>
                                        <p:cTn id="148" dur="1" fill="hold">
                                          <p:stCondLst>
                                            <p:cond delay="499"/>
                                          </p:stCondLst>
                                        </p:cTn>
                                        <p:tgtEl>
                                          <p:spTgt spid="988210"/>
                                        </p:tgtEl>
                                        <p:attrNameLst>
                                          <p:attrName>style.visibility</p:attrName>
                                        </p:attrNameLst>
                                      </p:cBhvr>
                                      <p:to>
                                        <p:strVal val="visible"/>
                                      </p:to>
                                    </p:set>
                                  </p:childTnLst>
                                </p:cTn>
                              </p:par>
                            </p:childTnLst>
                          </p:cTn>
                        </p:par>
                        <p:par>
                          <p:cTn id="149" fill="hold">
                            <p:stCondLst>
                              <p:cond delay="7000"/>
                            </p:stCondLst>
                            <p:childTnLst>
                              <p:par>
                                <p:cTn id="150" presetID="1" presetClass="entr" presetSubtype="0" fill="hold" nodeType="afterEffect">
                                  <p:stCondLst>
                                    <p:cond delay="0"/>
                                  </p:stCondLst>
                                  <p:childTnLst>
                                    <p:set>
                                      <p:cBhvr>
                                        <p:cTn id="151" dur="1" fill="hold">
                                          <p:stCondLst>
                                            <p:cond delay="499"/>
                                          </p:stCondLst>
                                        </p:cTn>
                                        <p:tgtEl>
                                          <p:spTgt spid="988211"/>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499"/>
                                          </p:stCondLst>
                                        </p:cTn>
                                        <p:tgtEl>
                                          <p:spTgt spid="988212"/>
                                        </p:tgtEl>
                                        <p:attrNameLst>
                                          <p:attrName>style.visibility</p:attrName>
                                        </p:attrNameLst>
                                      </p:cBhvr>
                                      <p:to>
                                        <p:strVal val="visible"/>
                                      </p:to>
                                    </p:set>
                                  </p:childTnLst>
                                </p:cTn>
                              </p:par>
                            </p:childTnLst>
                          </p:cTn>
                        </p:par>
                        <p:par>
                          <p:cTn id="156" fill="hold">
                            <p:stCondLst>
                              <p:cond delay="500"/>
                            </p:stCondLst>
                            <p:childTnLst>
                              <p:par>
                                <p:cTn id="157" presetID="1" presetClass="entr" presetSubtype="0" fill="hold" grpId="0" nodeType="afterEffect">
                                  <p:stCondLst>
                                    <p:cond delay="0"/>
                                  </p:stCondLst>
                                  <p:childTnLst>
                                    <p:set>
                                      <p:cBhvr>
                                        <p:cTn id="158" dur="1" fill="hold">
                                          <p:stCondLst>
                                            <p:cond delay="499"/>
                                          </p:stCondLst>
                                        </p:cTn>
                                        <p:tgtEl>
                                          <p:spTgt spid="988213"/>
                                        </p:tgtEl>
                                        <p:attrNameLst>
                                          <p:attrName>style.visibility</p:attrName>
                                        </p:attrNameLst>
                                      </p:cBhvr>
                                      <p:to>
                                        <p:strVal val="visible"/>
                                      </p:to>
                                    </p:set>
                                  </p:childTnLst>
                                </p:cTn>
                              </p:par>
                            </p:childTnLst>
                          </p:cTn>
                        </p:par>
                        <p:par>
                          <p:cTn id="159" fill="hold">
                            <p:stCondLst>
                              <p:cond delay="1000"/>
                            </p:stCondLst>
                            <p:childTnLst>
                              <p:par>
                                <p:cTn id="160" presetID="1" presetClass="entr" presetSubtype="0" fill="hold" grpId="0" nodeType="afterEffect">
                                  <p:stCondLst>
                                    <p:cond delay="0"/>
                                  </p:stCondLst>
                                  <p:childTnLst>
                                    <p:set>
                                      <p:cBhvr>
                                        <p:cTn id="161" dur="1" fill="hold">
                                          <p:stCondLst>
                                            <p:cond delay="499"/>
                                          </p:stCondLst>
                                        </p:cTn>
                                        <p:tgtEl>
                                          <p:spTgt spid="988214"/>
                                        </p:tgtEl>
                                        <p:attrNameLst>
                                          <p:attrName>style.visibility</p:attrName>
                                        </p:attrNameLst>
                                      </p:cBhvr>
                                      <p:to>
                                        <p:strVal val="visible"/>
                                      </p:to>
                                    </p:set>
                                  </p:childTnLst>
                                </p:cTn>
                              </p:par>
                            </p:childTnLst>
                          </p:cTn>
                        </p:par>
                        <p:par>
                          <p:cTn id="162" fill="hold">
                            <p:stCondLst>
                              <p:cond delay="1500"/>
                            </p:stCondLst>
                            <p:childTnLst>
                              <p:par>
                                <p:cTn id="163" presetID="1" presetClass="entr" presetSubtype="0" fill="hold" nodeType="afterEffect">
                                  <p:stCondLst>
                                    <p:cond delay="0"/>
                                  </p:stCondLst>
                                  <p:childTnLst>
                                    <p:set>
                                      <p:cBhvr>
                                        <p:cTn id="164" dur="1" fill="hold">
                                          <p:stCondLst>
                                            <p:cond delay="499"/>
                                          </p:stCondLst>
                                        </p:cTn>
                                        <p:tgtEl>
                                          <p:spTgt spid="988215"/>
                                        </p:tgtEl>
                                        <p:attrNameLst>
                                          <p:attrName>style.visibility</p:attrName>
                                        </p:attrNameLst>
                                      </p:cBhvr>
                                      <p:to>
                                        <p:strVal val="visible"/>
                                      </p:to>
                                    </p:set>
                                  </p:childTnLst>
                                </p:cTn>
                              </p:par>
                            </p:childTnLst>
                          </p:cTn>
                        </p:par>
                        <p:par>
                          <p:cTn id="165" fill="hold">
                            <p:stCondLst>
                              <p:cond delay="2000"/>
                            </p:stCondLst>
                            <p:childTnLst>
                              <p:par>
                                <p:cTn id="166" presetID="1" presetClass="entr" presetSubtype="0" fill="hold" nodeType="afterEffect">
                                  <p:stCondLst>
                                    <p:cond delay="0"/>
                                  </p:stCondLst>
                                  <p:childTnLst>
                                    <p:set>
                                      <p:cBhvr>
                                        <p:cTn id="167" dur="1" fill="hold">
                                          <p:stCondLst>
                                            <p:cond delay="499"/>
                                          </p:stCondLst>
                                        </p:cTn>
                                        <p:tgtEl>
                                          <p:spTgt spid="988216"/>
                                        </p:tgtEl>
                                        <p:attrNameLst>
                                          <p:attrName>style.visibility</p:attrName>
                                        </p:attrNameLst>
                                      </p:cBhvr>
                                      <p:to>
                                        <p:strVal val="visible"/>
                                      </p:to>
                                    </p:set>
                                  </p:childTnLst>
                                </p:cTn>
                              </p:par>
                            </p:childTnLst>
                          </p:cTn>
                        </p:par>
                        <p:par>
                          <p:cTn id="168" fill="hold">
                            <p:stCondLst>
                              <p:cond delay="2500"/>
                            </p:stCondLst>
                            <p:childTnLst>
                              <p:par>
                                <p:cTn id="169" presetID="1" presetClass="entr" presetSubtype="0" fill="hold" nodeType="afterEffect">
                                  <p:stCondLst>
                                    <p:cond delay="0"/>
                                  </p:stCondLst>
                                  <p:childTnLst>
                                    <p:set>
                                      <p:cBhvr>
                                        <p:cTn id="170" dur="1" fill="hold">
                                          <p:stCondLst>
                                            <p:cond delay="499"/>
                                          </p:stCondLst>
                                        </p:cTn>
                                        <p:tgtEl>
                                          <p:spTgt spid="988217"/>
                                        </p:tgtEl>
                                        <p:attrNameLst>
                                          <p:attrName>style.visibility</p:attrName>
                                        </p:attrNameLst>
                                      </p:cBhvr>
                                      <p:to>
                                        <p:strVal val="visible"/>
                                      </p:to>
                                    </p:set>
                                  </p:childTnLst>
                                </p:cTn>
                              </p:par>
                            </p:childTnLst>
                          </p:cTn>
                        </p:par>
                        <p:par>
                          <p:cTn id="171" fill="hold">
                            <p:stCondLst>
                              <p:cond delay="3000"/>
                            </p:stCondLst>
                            <p:childTnLst>
                              <p:par>
                                <p:cTn id="172" presetID="1" presetClass="entr" presetSubtype="0" fill="hold" nodeType="afterEffect">
                                  <p:stCondLst>
                                    <p:cond delay="0"/>
                                  </p:stCondLst>
                                  <p:childTnLst>
                                    <p:set>
                                      <p:cBhvr>
                                        <p:cTn id="173" dur="1" fill="hold">
                                          <p:stCondLst>
                                            <p:cond delay="499"/>
                                          </p:stCondLst>
                                        </p:cTn>
                                        <p:tgtEl>
                                          <p:spTgt spid="988218"/>
                                        </p:tgtEl>
                                        <p:attrNameLst>
                                          <p:attrName>style.visibility</p:attrName>
                                        </p:attrNameLst>
                                      </p:cBhvr>
                                      <p:to>
                                        <p:strVal val="visible"/>
                                      </p:to>
                                    </p:set>
                                  </p:childTnLst>
                                </p:cTn>
                              </p:par>
                            </p:childTnLst>
                          </p:cTn>
                        </p:par>
                        <p:par>
                          <p:cTn id="174" fill="hold">
                            <p:stCondLst>
                              <p:cond delay="3500"/>
                            </p:stCondLst>
                            <p:childTnLst>
                              <p:par>
                                <p:cTn id="175" presetID="1" presetClass="entr" presetSubtype="0" fill="hold" nodeType="afterEffect">
                                  <p:stCondLst>
                                    <p:cond delay="0"/>
                                  </p:stCondLst>
                                  <p:childTnLst>
                                    <p:set>
                                      <p:cBhvr>
                                        <p:cTn id="176" dur="1" fill="hold">
                                          <p:stCondLst>
                                            <p:cond delay="499"/>
                                          </p:stCondLst>
                                        </p:cTn>
                                        <p:tgtEl>
                                          <p:spTgt spid="988219"/>
                                        </p:tgtEl>
                                        <p:attrNameLst>
                                          <p:attrName>style.visibility</p:attrName>
                                        </p:attrNameLst>
                                      </p:cBhvr>
                                      <p:to>
                                        <p:strVal val="visible"/>
                                      </p:to>
                                    </p:set>
                                  </p:childTnLst>
                                </p:cTn>
                              </p:par>
                            </p:childTnLst>
                          </p:cTn>
                        </p:par>
                        <p:par>
                          <p:cTn id="177" fill="hold">
                            <p:stCondLst>
                              <p:cond delay="4000"/>
                            </p:stCondLst>
                            <p:childTnLst>
                              <p:par>
                                <p:cTn id="178" presetID="1" presetClass="entr" presetSubtype="0" fill="hold" nodeType="afterEffect">
                                  <p:stCondLst>
                                    <p:cond delay="0"/>
                                  </p:stCondLst>
                                  <p:childTnLst>
                                    <p:set>
                                      <p:cBhvr>
                                        <p:cTn id="179" dur="1" fill="hold">
                                          <p:stCondLst>
                                            <p:cond delay="499"/>
                                          </p:stCondLst>
                                        </p:cTn>
                                        <p:tgtEl>
                                          <p:spTgt spid="988220"/>
                                        </p:tgtEl>
                                        <p:attrNameLst>
                                          <p:attrName>style.visibility</p:attrName>
                                        </p:attrNameLst>
                                      </p:cBhvr>
                                      <p:to>
                                        <p:strVal val="visible"/>
                                      </p:to>
                                    </p:set>
                                  </p:childTnLst>
                                </p:cTn>
                              </p:par>
                            </p:childTnLst>
                          </p:cTn>
                        </p:par>
                        <p:par>
                          <p:cTn id="180" fill="hold">
                            <p:stCondLst>
                              <p:cond delay="4500"/>
                            </p:stCondLst>
                            <p:childTnLst>
                              <p:par>
                                <p:cTn id="181" presetID="1" presetClass="entr" presetSubtype="0" fill="hold" nodeType="afterEffect">
                                  <p:stCondLst>
                                    <p:cond delay="0"/>
                                  </p:stCondLst>
                                  <p:childTnLst>
                                    <p:set>
                                      <p:cBhvr>
                                        <p:cTn id="182" dur="1" fill="hold">
                                          <p:stCondLst>
                                            <p:cond delay="499"/>
                                          </p:stCondLst>
                                        </p:cTn>
                                        <p:tgtEl>
                                          <p:spTgt spid="988221"/>
                                        </p:tgtEl>
                                        <p:attrNameLst>
                                          <p:attrName>style.visibility</p:attrName>
                                        </p:attrNameLst>
                                      </p:cBhvr>
                                      <p:to>
                                        <p:strVal val="visible"/>
                                      </p:to>
                                    </p:set>
                                  </p:childTnLst>
                                </p:cTn>
                              </p:par>
                            </p:childTnLst>
                          </p:cTn>
                        </p:par>
                        <p:par>
                          <p:cTn id="183" fill="hold">
                            <p:stCondLst>
                              <p:cond delay="5000"/>
                            </p:stCondLst>
                            <p:childTnLst>
                              <p:par>
                                <p:cTn id="184" presetID="1" presetClass="entr" presetSubtype="0" fill="hold" nodeType="afterEffect">
                                  <p:stCondLst>
                                    <p:cond delay="0"/>
                                  </p:stCondLst>
                                  <p:childTnLst>
                                    <p:set>
                                      <p:cBhvr>
                                        <p:cTn id="185" dur="1" fill="hold">
                                          <p:stCondLst>
                                            <p:cond delay="499"/>
                                          </p:stCondLst>
                                        </p:cTn>
                                        <p:tgtEl>
                                          <p:spTgt spid="9882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8165" grpId="0" autoUpdateAnimBg="0"/>
      <p:bldP spid="988212" grpId="0" animBg="1"/>
      <p:bldP spid="988213" grpId="0" animBg="1"/>
      <p:bldP spid="988214"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186" name="Text Box 2"/>
          <p:cNvSpPr txBox="1">
            <a:spLocks noChangeArrowheads="1"/>
          </p:cNvSpPr>
          <p:nvPr/>
        </p:nvSpPr>
        <p:spPr bwMode="auto">
          <a:xfrm>
            <a:off x="1752600" y="228600"/>
            <a:ext cx="5772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b="1">
                <a:solidFill>
                  <a:srgbClr val="660033"/>
                </a:solidFill>
              </a:rPr>
              <a:t>双向链表的操作特点：</a:t>
            </a:r>
            <a:endParaRPr lang="zh-CN" altLang="en-US" sz="3600" b="1">
              <a:solidFill>
                <a:srgbClr val="660033"/>
              </a:solidFill>
            </a:endParaRPr>
          </a:p>
        </p:txBody>
      </p:sp>
      <p:sp>
        <p:nvSpPr>
          <p:cNvPr id="989187" name="Text Box 3"/>
          <p:cNvSpPr txBox="1">
            <a:spLocks noChangeArrowheads="1"/>
          </p:cNvSpPr>
          <p:nvPr/>
        </p:nvSpPr>
        <p:spPr bwMode="auto">
          <a:xfrm>
            <a:off x="1143000" y="2144713"/>
            <a:ext cx="5562600"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600">
                <a:solidFill>
                  <a:srgbClr val="990000"/>
                </a:solidFill>
                <a:ea typeface="楷体_GB2312" charset="0"/>
              </a:rPr>
              <a:t>“</a:t>
            </a:r>
            <a:r>
              <a:rPr lang="zh-CN" altLang="en-US" sz="3600" b="1">
                <a:solidFill>
                  <a:srgbClr val="990000"/>
                </a:solidFill>
                <a:latin typeface="楷体_GB2312" charset="0"/>
                <a:ea typeface="楷体_GB2312" charset="0"/>
              </a:rPr>
              <a:t>查询</a:t>
            </a: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 和单链表相同。</a:t>
            </a:r>
            <a:endParaRPr lang="zh-CN" altLang="en-US" sz="3600">
              <a:solidFill>
                <a:srgbClr val="990000"/>
              </a:solidFill>
              <a:latin typeface="楷体_GB2312" charset="0"/>
              <a:ea typeface="楷体_GB2312" charset="0"/>
            </a:endParaRPr>
          </a:p>
        </p:txBody>
      </p:sp>
      <p:sp>
        <p:nvSpPr>
          <p:cNvPr id="989188" name="Rectangle 4"/>
          <p:cNvSpPr>
            <a:spLocks noChangeArrowheads="1"/>
          </p:cNvSpPr>
          <p:nvPr/>
        </p:nvSpPr>
        <p:spPr bwMode="auto">
          <a:xfrm>
            <a:off x="1143000" y="3276600"/>
            <a:ext cx="7315200"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插入</a:t>
            </a: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 和</a:t>
            </a: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删除</a:t>
            </a: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时需要同时修改两个方向上的指针。</a:t>
            </a:r>
            <a:endParaRPr lang="zh-CN" altLang="en-US" sz="3600" b="1">
              <a:solidFill>
                <a:srgbClr val="990000"/>
              </a:solidFill>
              <a:latin typeface="楷体_GB2312" charset="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989187"/>
                                        </p:tgtEl>
                                        <p:attrNameLst>
                                          <p:attrName>style.visibility</p:attrName>
                                        </p:attrNameLst>
                                      </p:cBhvr>
                                      <p:to>
                                        <p:strVal val="visible"/>
                                      </p:to>
                                    </p:set>
                                    <p:animEffect transition="in" filter="wipe(left)">
                                      <p:cBhvr>
                                        <p:cTn id="7" dur="75"/>
                                        <p:tgtEl>
                                          <p:spTgt spid="9891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89188"/>
                                        </p:tgtEl>
                                        <p:attrNameLst>
                                          <p:attrName>style.visibility</p:attrName>
                                        </p:attrNameLst>
                                      </p:cBhvr>
                                      <p:to>
                                        <p:strVal val="visible"/>
                                      </p:to>
                                    </p:set>
                                    <p:animEffect transition="in" filter="wipe(left)">
                                      <p:cBhvr>
                                        <p:cTn id="12" dur="75"/>
                                        <p:tgtEl>
                                          <p:spTgt spid="989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9187" grpId="0" autoUpdateAnimBg="0"/>
      <p:bldP spid="989188"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0210" name="Group 2"/>
          <p:cNvGrpSpPr/>
          <p:nvPr/>
        </p:nvGrpSpPr>
        <p:grpSpPr bwMode="auto">
          <a:xfrm>
            <a:off x="1981200" y="1600200"/>
            <a:ext cx="1905000" cy="609600"/>
            <a:chOff x="1248" y="1008"/>
            <a:chExt cx="1200" cy="384"/>
          </a:xfrm>
        </p:grpSpPr>
        <p:grpSp>
          <p:nvGrpSpPr>
            <p:cNvPr id="142379" name="Group 3"/>
            <p:cNvGrpSpPr/>
            <p:nvPr/>
          </p:nvGrpSpPr>
          <p:grpSpPr bwMode="auto">
            <a:xfrm>
              <a:off x="1680" y="1008"/>
              <a:ext cx="768" cy="384"/>
              <a:chOff x="1152" y="912"/>
              <a:chExt cx="768" cy="384"/>
            </a:xfrm>
          </p:grpSpPr>
          <p:sp>
            <p:nvSpPr>
              <p:cNvPr id="990212" name="Rectangle 4"/>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chemeClr val="tx2"/>
                    </a:solidFill>
                  </a:rPr>
                  <a:t>a</a:t>
                </a:r>
                <a:r>
                  <a:rPr lang="en-US" altLang="zh-CN" sz="2800" b="1" baseline="-25000">
                    <a:solidFill>
                      <a:schemeClr val="tx2"/>
                    </a:solidFill>
                  </a:rPr>
                  <a:t>i-1</a:t>
                </a:r>
                <a:endParaRPr lang="en-US" altLang="zh-CN" sz="2800"/>
              </a:p>
            </p:txBody>
          </p:sp>
          <p:sp>
            <p:nvSpPr>
              <p:cNvPr id="990213" name="Line 5"/>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14" name="Line 6"/>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sp>
          <p:nvSpPr>
            <p:cNvPr id="990215" name="Line 7"/>
            <p:cNvSpPr>
              <a:spLocks noChangeShapeType="1"/>
            </p:cNvSpPr>
            <p:nvPr/>
          </p:nvSpPr>
          <p:spPr bwMode="auto">
            <a:xfrm>
              <a:off x="1248" y="1200"/>
              <a:ext cx="432"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grpSp>
        <p:nvGrpSpPr>
          <p:cNvPr id="990216" name="Group 8"/>
          <p:cNvGrpSpPr/>
          <p:nvPr/>
        </p:nvGrpSpPr>
        <p:grpSpPr bwMode="auto">
          <a:xfrm>
            <a:off x="3733800" y="1600200"/>
            <a:ext cx="4038600" cy="609600"/>
            <a:chOff x="2352" y="1008"/>
            <a:chExt cx="2544" cy="384"/>
          </a:xfrm>
        </p:grpSpPr>
        <p:grpSp>
          <p:nvGrpSpPr>
            <p:cNvPr id="142373" name="Group 9"/>
            <p:cNvGrpSpPr/>
            <p:nvPr/>
          </p:nvGrpSpPr>
          <p:grpSpPr bwMode="auto">
            <a:xfrm>
              <a:off x="3744" y="1008"/>
              <a:ext cx="768" cy="384"/>
              <a:chOff x="1152" y="912"/>
              <a:chExt cx="768" cy="384"/>
            </a:xfrm>
          </p:grpSpPr>
          <p:sp>
            <p:nvSpPr>
              <p:cNvPr id="990218" name="Rectangle 10"/>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chemeClr val="tx2"/>
                    </a:solidFill>
                  </a:rPr>
                  <a:t>a</a:t>
                </a:r>
                <a:r>
                  <a:rPr lang="en-US" altLang="zh-CN" sz="2800" b="1" baseline="-25000">
                    <a:solidFill>
                      <a:schemeClr val="tx2"/>
                    </a:solidFill>
                  </a:rPr>
                  <a:t>i</a:t>
                </a:r>
                <a:endParaRPr lang="en-US" altLang="zh-CN" sz="2800"/>
              </a:p>
            </p:txBody>
          </p:sp>
          <p:sp>
            <p:nvSpPr>
              <p:cNvPr id="990219" name="Line 11"/>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20" name="Line 12"/>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sp>
          <p:nvSpPr>
            <p:cNvPr id="990221" name="Line 13"/>
            <p:cNvSpPr>
              <a:spLocks noChangeShapeType="1"/>
            </p:cNvSpPr>
            <p:nvPr/>
          </p:nvSpPr>
          <p:spPr bwMode="auto">
            <a:xfrm>
              <a:off x="2352" y="1200"/>
              <a:ext cx="1392"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22" name="Line 14"/>
            <p:cNvSpPr>
              <a:spLocks noChangeShapeType="1"/>
            </p:cNvSpPr>
            <p:nvPr/>
          </p:nvSpPr>
          <p:spPr bwMode="auto">
            <a:xfrm>
              <a:off x="4416" y="1200"/>
              <a:ext cx="480"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grpSp>
        <p:nvGrpSpPr>
          <p:cNvPr id="990223" name="Group 15"/>
          <p:cNvGrpSpPr/>
          <p:nvPr/>
        </p:nvGrpSpPr>
        <p:grpSpPr bwMode="auto">
          <a:xfrm>
            <a:off x="3276600" y="1295400"/>
            <a:ext cx="2819400" cy="609600"/>
            <a:chOff x="1872" y="720"/>
            <a:chExt cx="1776" cy="384"/>
          </a:xfrm>
        </p:grpSpPr>
        <p:sp>
          <p:nvSpPr>
            <p:cNvPr id="990224" name="Line 16"/>
            <p:cNvSpPr>
              <a:spLocks noChangeShapeType="1"/>
            </p:cNvSpPr>
            <p:nvPr/>
          </p:nvSpPr>
          <p:spPr bwMode="auto">
            <a:xfrm flipV="1">
              <a:off x="3648" y="720"/>
              <a:ext cx="0" cy="384"/>
            </a:xfrm>
            <a:prstGeom prst="line">
              <a:avLst/>
            </a:prstGeom>
            <a:noFill/>
            <a:ln w="31750">
              <a:solidFill>
                <a:srgbClr val="99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25" name="Line 17"/>
            <p:cNvSpPr>
              <a:spLocks noChangeShapeType="1"/>
            </p:cNvSpPr>
            <p:nvPr/>
          </p:nvSpPr>
          <p:spPr bwMode="auto">
            <a:xfrm flipH="1">
              <a:off x="1872" y="720"/>
              <a:ext cx="1776" cy="0"/>
            </a:xfrm>
            <a:prstGeom prst="line">
              <a:avLst/>
            </a:prstGeom>
            <a:noFill/>
            <a:ln w="31750">
              <a:solidFill>
                <a:srgbClr val="99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26" name="Line 18"/>
            <p:cNvSpPr>
              <a:spLocks noChangeShapeType="1"/>
            </p:cNvSpPr>
            <p:nvPr/>
          </p:nvSpPr>
          <p:spPr bwMode="auto">
            <a:xfrm>
              <a:off x="1872" y="720"/>
              <a:ext cx="0" cy="192"/>
            </a:xfrm>
            <a:prstGeom prst="line">
              <a:avLst/>
            </a:prstGeom>
            <a:noFill/>
            <a:ln w="31750">
              <a:solidFill>
                <a:srgbClr val="99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grpSp>
        <p:nvGrpSpPr>
          <p:cNvPr id="990227" name="Group 19"/>
          <p:cNvGrpSpPr/>
          <p:nvPr/>
        </p:nvGrpSpPr>
        <p:grpSpPr bwMode="auto">
          <a:xfrm>
            <a:off x="4343400" y="2667000"/>
            <a:ext cx="1219200" cy="609600"/>
            <a:chOff x="1152" y="912"/>
            <a:chExt cx="768" cy="384"/>
          </a:xfrm>
        </p:grpSpPr>
        <p:sp>
          <p:nvSpPr>
            <p:cNvPr id="990228" name="Rectangle 20"/>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chemeClr val="tx2"/>
                  </a:solidFill>
                </a:rPr>
                <a:t>e</a:t>
              </a:r>
              <a:endParaRPr lang="en-US" altLang="zh-CN" sz="2800"/>
            </a:p>
          </p:txBody>
        </p:sp>
        <p:sp>
          <p:nvSpPr>
            <p:cNvPr id="990229" name="Line 21"/>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30" name="Line 22"/>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sp>
        <p:nvSpPr>
          <p:cNvPr id="990231" name="Text Box 23"/>
          <p:cNvSpPr txBox="1">
            <a:spLocks noChangeArrowheads="1"/>
          </p:cNvSpPr>
          <p:nvPr/>
        </p:nvSpPr>
        <p:spPr bwMode="auto">
          <a:xfrm>
            <a:off x="1355725" y="4279900"/>
            <a:ext cx="6619120" cy="133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50000"/>
              </a:lnSpc>
              <a:defRPr/>
            </a:pPr>
            <a:r>
              <a:rPr lang="en-US" altLang="zh-CN" sz="2800" b="1">
                <a:solidFill>
                  <a:srgbClr val="990000"/>
                </a:solidFill>
              </a:rPr>
              <a:t>s-&gt;next = p-&gt;next;    p-&gt;next = s;</a:t>
            </a:r>
            <a:endParaRPr lang="en-US" altLang="zh-CN" sz="2800" b="1">
              <a:solidFill>
                <a:srgbClr val="990000"/>
              </a:solidFill>
            </a:endParaRPr>
          </a:p>
          <a:p>
            <a:pPr eaLnBrk="1" hangingPunct="1">
              <a:lnSpc>
                <a:spcPct val="150000"/>
              </a:lnSpc>
              <a:defRPr/>
            </a:pPr>
            <a:r>
              <a:rPr lang="en-US" altLang="zh-CN" sz="2800" b="1">
                <a:solidFill>
                  <a:srgbClr val="990000"/>
                </a:solidFill>
              </a:rPr>
              <a:t>s-&gt;next-&gt;prior = s;    s-&gt;prior = p;</a:t>
            </a:r>
            <a:endParaRPr lang="en-US" altLang="zh-CN" sz="2800"/>
          </a:p>
        </p:txBody>
      </p:sp>
      <p:sp>
        <p:nvSpPr>
          <p:cNvPr id="990232" name="AutoShape 24"/>
          <p:cNvSpPr>
            <a:spLocks noChangeArrowheads="1"/>
          </p:cNvSpPr>
          <p:nvPr/>
        </p:nvSpPr>
        <p:spPr bwMode="auto">
          <a:xfrm>
            <a:off x="2819400" y="381000"/>
            <a:ext cx="457200" cy="1219200"/>
          </a:xfrm>
          <a:prstGeom prst="downArrowCallout">
            <a:avLst>
              <a:gd name="adj1" fmla="val 15000"/>
              <a:gd name="adj2" fmla="val 25000"/>
              <a:gd name="adj3" fmla="val 48605"/>
              <a:gd name="adj4" fmla="val 43333"/>
            </a:avLst>
          </a:prstGeom>
          <a:solidFill>
            <a:srgbClr val="CCFFFF"/>
          </a:solidFill>
          <a:ln w="28575">
            <a:solidFill>
              <a:srgbClr val="0033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rgbClr val="000099"/>
                </a:solidFill>
              </a:rPr>
              <a:t>p</a:t>
            </a:r>
            <a:endParaRPr lang="en-US" altLang="zh-CN" sz="2800"/>
          </a:p>
        </p:txBody>
      </p:sp>
      <p:sp>
        <p:nvSpPr>
          <p:cNvPr id="990233" name="AutoShape 25"/>
          <p:cNvSpPr>
            <a:spLocks noChangeArrowheads="1"/>
          </p:cNvSpPr>
          <p:nvPr/>
        </p:nvSpPr>
        <p:spPr bwMode="auto">
          <a:xfrm>
            <a:off x="4724400" y="3276600"/>
            <a:ext cx="457200" cy="838200"/>
          </a:xfrm>
          <a:prstGeom prst="upArrowCallout">
            <a:avLst>
              <a:gd name="adj1" fmla="val 16667"/>
              <a:gd name="adj2" fmla="val 25000"/>
              <a:gd name="adj3" fmla="val 43058"/>
              <a:gd name="adj4" fmla="val 43940"/>
            </a:avLst>
          </a:prstGeom>
          <a:solidFill>
            <a:srgbClr val="FFFF99">
              <a:alpha val="50000"/>
            </a:srgbClr>
          </a:solidFill>
          <a:ln w="28575">
            <a:solidFill>
              <a:srgbClr val="9933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rgbClr val="FF0000"/>
                </a:solidFill>
              </a:rPr>
              <a:t>s</a:t>
            </a:r>
            <a:endParaRPr lang="en-US" altLang="zh-CN" sz="2800"/>
          </a:p>
        </p:txBody>
      </p:sp>
      <p:sp>
        <p:nvSpPr>
          <p:cNvPr id="990234" name="Line 26"/>
          <p:cNvSpPr>
            <a:spLocks noChangeShapeType="1"/>
          </p:cNvSpPr>
          <p:nvPr/>
        </p:nvSpPr>
        <p:spPr bwMode="auto">
          <a:xfrm>
            <a:off x="1447800" y="5105400"/>
            <a:ext cx="3581400" cy="0"/>
          </a:xfrm>
          <a:prstGeom prst="line">
            <a:avLst/>
          </a:prstGeom>
          <a:noFill/>
          <a:ln w="38100">
            <a:solidFill>
              <a:srgbClr val="66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useBgFill="1">
        <p:nvSpPr>
          <p:cNvPr id="990235" name="Rectangle 27"/>
          <p:cNvSpPr>
            <a:spLocks noChangeArrowheads="1"/>
          </p:cNvSpPr>
          <p:nvPr/>
        </p:nvSpPr>
        <p:spPr bwMode="auto">
          <a:xfrm>
            <a:off x="3657600" y="1828800"/>
            <a:ext cx="2286000" cy="228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nvGrpSpPr>
          <p:cNvPr id="990236" name="Group 28"/>
          <p:cNvGrpSpPr/>
          <p:nvPr/>
        </p:nvGrpSpPr>
        <p:grpSpPr bwMode="auto">
          <a:xfrm>
            <a:off x="2667000" y="1600200"/>
            <a:ext cx="1219200" cy="609600"/>
            <a:chOff x="1152" y="912"/>
            <a:chExt cx="768" cy="384"/>
          </a:xfrm>
        </p:grpSpPr>
        <p:sp>
          <p:nvSpPr>
            <p:cNvPr id="990237" name="Rectangle 29"/>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chemeClr val="tx2"/>
                  </a:solidFill>
                </a:rPr>
                <a:t>a</a:t>
              </a:r>
              <a:r>
                <a:rPr lang="en-US" altLang="zh-CN" sz="2800" b="1" baseline="-25000">
                  <a:solidFill>
                    <a:schemeClr val="tx2"/>
                  </a:solidFill>
                </a:rPr>
                <a:t>i-1</a:t>
              </a:r>
              <a:endParaRPr lang="en-US" altLang="zh-CN" sz="2800"/>
            </a:p>
          </p:txBody>
        </p:sp>
        <p:sp>
          <p:nvSpPr>
            <p:cNvPr id="990238" name="Line 30"/>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39" name="Line 31"/>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cxnSp>
        <p:nvCxnSpPr>
          <p:cNvPr id="990240" name="AutoShape 32"/>
          <p:cNvCxnSpPr>
            <a:cxnSpLocks noChangeShapeType="1"/>
            <a:stCxn id="990228" idx="3"/>
            <a:endCxn id="990218" idx="2"/>
          </p:cNvCxnSpPr>
          <p:nvPr/>
        </p:nvCxnSpPr>
        <p:spPr bwMode="auto">
          <a:xfrm flipV="1">
            <a:off x="5562600" y="2209800"/>
            <a:ext cx="990600" cy="762000"/>
          </a:xfrm>
          <a:prstGeom prst="bentConnector2">
            <a:avLst/>
          </a:prstGeom>
          <a:noFill/>
          <a:ln w="31750">
            <a:solidFill>
              <a:schemeClr val="tx2"/>
            </a:solidFill>
            <a:miter lim="800000"/>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90241" name="Line 33"/>
          <p:cNvSpPr>
            <a:spLocks noChangeShapeType="1"/>
          </p:cNvSpPr>
          <p:nvPr/>
        </p:nvSpPr>
        <p:spPr bwMode="auto">
          <a:xfrm>
            <a:off x="5486400" y="5105400"/>
            <a:ext cx="2286000" cy="0"/>
          </a:xfrm>
          <a:prstGeom prst="line">
            <a:avLst/>
          </a:prstGeom>
          <a:noFill/>
          <a:ln w="38100">
            <a:solidFill>
              <a:srgbClr val="66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cxnSp>
        <p:nvCxnSpPr>
          <p:cNvPr id="990242" name="AutoShape 34"/>
          <p:cNvCxnSpPr>
            <a:cxnSpLocks noChangeShapeType="1"/>
            <a:stCxn id="990237" idx="3"/>
            <a:endCxn id="990228" idx="1"/>
          </p:cNvCxnSpPr>
          <p:nvPr/>
        </p:nvCxnSpPr>
        <p:spPr bwMode="auto">
          <a:xfrm>
            <a:off x="3886200" y="1905000"/>
            <a:ext cx="457200" cy="1066800"/>
          </a:xfrm>
          <a:prstGeom prst="bentConnector3">
            <a:avLst>
              <a:gd name="adj1" fmla="val 50000"/>
            </a:avLst>
          </a:prstGeom>
          <a:noFill/>
          <a:ln w="31750">
            <a:solidFill>
              <a:schemeClr val="tx2"/>
            </a:solidFill>
            <a:miter lim="800000"/>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90243" name="Line 35"/>
          <p:cNvSpPr>
            <a:spLocks noChangeShapeType="1"/>
          </p:cNvSpPr>
          <p:nvPr/>
        </p:nvSpPr>
        <p:spPr bwMode="auto">
          <a:xfrm>
            <a:off x="1447800" y="5943600"/>
            <a:ext cx="3505200" cy="0"/>
          </a:xfrm>
          <a:prstGeom prst="line">
            <a:avLst/>
          </a:prstGeom>
          <a:noFill/>
          <a:ln w="38100">
            <a:solidFill>
              <a:srgbClr val="66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useBgFill="1">
        <p:nvSpPr>
          <p:cNvPr id="990244" name="Rectangle 36"/>
          <p:cNvSpPr>
            <a:spLocks noChangeArrowheads="1"/>
          </p:cNvSpPr>
          <p:nvPr/>
        </p:nvSpPr>
        <p:spPr bwMode="auto">
          <a:xfrm>
            <a:off x="3200400" y="1066800"/>
            <a:ext cx="29718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useBgFill="1">
        <p:nvSpPr>
          <p:cNvPr id="990245" name="Rectangle 37"/>
          <p:cNvSpPr>
            <a:spLocks noChangeArrowheads="1"/>
          </p:cNvSpPr>
          <p:nvPr/>
        </p:nvSpPr>
        <p:spPr bwMode="auto">
          <a:xfrm>
            <a:off x="6019800" y="1524000"/>
            <a:ext cx="152400" cy="381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nvGrpSpPr>
          <p:cNvPr id="990246" name="Group 38"/>
          <p:cNvGrpSpPr/>
          <p:nvPr/>
        </p:nvGrpSpPr>
        <p:grpSpPr bwMode="auto">
          <a:xfrm>
            <a:off x="5943600" y="1600200"/>
            <a:ext cx="1219200" cy="609600"/>
            <a:chOff x="1152" y="912"/>
            <a:chExt cx="768" cy="384"/>
          </a:xfrm>
        </p:grpSpPr>
        <p:sp>
          <p:nvSpPr>
            <p:cNvPr id="990247" name="Rectangle 39"/>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chemeClr val="tx2"/>
                  </a:solidFill>
                </a:rPr>
                <a:t>a</a:t>
              </a:r>
              <a:r>
                <a:rPr lang="en-US" altLang="zh-CN" sz="2800" b="1" baseline="-25000">
                  <a:solidFill>
                    <a:schemeClr val="tx2"/>
                  </a:solidFill>
                </a:rPr>
                <a:t>i</a:t>
              </a:r>
              <a:endParaRPr lang="en-US" altLang="zh-CN" sz="2800"/>
            </a:p>
          </p:txBody>
        </p:sp>
        <p:sp>
          <p:nvSpPr>
            <p:cNvPr id="990248" name="Line 40"/>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49" name="Line 41"/>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cxnSp>
        <p:nvCxnSpPr>
          <p:cNvPr id="990250" name="AutoShape 42"/>
          <p:cNvCxnSpPr>
            <a:cxnSpLocks noChangeShapeType="1"/>
            <a:stCxn id="990247" idx="1"/>
            <a:endCxn id="990228" idx="0"/>
          </p:cNvCxnSpPr>
          <p:nvPr/>
        </p:nvCxnSpPr>
        <p:spPr bwMode="auto">
          <a:xfrm rot="10800000" flipV="1">
            <a:off x="4953000" y="1905000"/>
            <a:ext cx="990600" cy="762000"/>
          </a:xfrm>
          <a:prstGeom prst="bentConnector2">
            <a:avLst/>
          </a:prstGeom>
          <a:noFill/>
          <a:ln w="31750">
            <a:solidFill>
              <a:srgbClr val="990000"/>
            </a:solidFill>
            <a:miter lim="800000"/>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90251" name="Line 43"/>
          <p:cNvSpPr>
            <a:spLocks noChangeShapeType="1"/>
          </p:cNvSpPr>
          <p:nvPr/>
        </p:nvSpPr>
        <p:spPr bwMode="auto">
          <a:xfrm>
            <a:off x="5562600" y="5943600"/>
            <a:ext cx="2286000" cy="0"/>
          </a:xfrm>
          <a:prstGeom prst="line">
            <a:avLst/>
          </a:prstGeom>
          <a:noFill/>
          <a:ln w="38100">
            <a:solidFill>
              <a:srgbClr val="66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cxnSp>
        <p:nvCxnSpPr>
          <p:cNvPr id="990252" name="AutoShape 44"/>
          <p:cNvCxnSpPr>
            <a:cxnSpLocks noChangeShapeType="1"/>
            <a:stCxn id="990228" idx="1"/>
            <a:endCxn id="990237" idx="2"/>
          </p:cNvCxnSpPr>
          <p:nvPr/>
        </p:nvCxnSpPr>
        <p:spPr bwMode="auto">
          <a:xfrm rot="10800000">
            <a:off x="3276600" y="2209800"/>
            <a:ext cx="1066800" cy="762000"/>
          </a:xfrm>
          <a:prstGeom prst="bentConnector2">
            <a:avLst/>
          </a:prstGeom>
          <a:noFill/>
          <a:ln w="31750">
            <a:solidFill>
              <a:srgbClr val="990000"/>
            </a:solidFill>
            <a:miter lim="800000"/>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nvGrpSpPr>
          <p:cNvPr id="990253" name="Group 45"/>
          <p:cNvGrpSpPr/>
          <p:nvPr/>
        </p:nvGrpSpPr>
        <p:grpSpPr bwMode="auto">
          <a:xfrm>
            <a:off x="1905000" y="1295400"/>
            <a:ext cx="914400" cy="609600"/>
            <a:chOff x="1008" y="720"/>
            <a:chExt cx="576" cy="384"/>
          </a:xfrm>
        </p:grpSpPr>
        <p:sp>
          <p:nvSpPr>
            <p:cNvPr id="990254" name="Line 46"/>
            <p:cNvSpPr>
              <a:spLocks noChangeShapeType="1"/>
            </p:cNvSpPr>
            <p:nvPr/>
          </p:nvSpPr>
          <p:spPr bwMode="auto">
            <a:xfrm flipV="1">
              <a:off x="1584" y="720"/>
              <a:ext cx="0" cy="384"/>
            </a:xfrm>
            <a:prstGeom prst="line">
              <a:avLst/>
            </a:prstGeom>
            <a:noFill/>
            <a:ln w="31750">
              <a:solidFill>
                <a:srgbClr val="99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55" name="Line 47"/>
            <p:cNvSpPr>
              <a:spLocks noChangeShapeType="1"/>
            </p:cNvSpPr>
            <p:nvPr/>
          </p:nvSpPr>
          <p:spPr bwMode="auto">
            <a:xfrm flipH="1">
              <a:off x="1008" y="720"/>
              <a:ext cx="576" cy="0"/>
            </a:xfrm>
            <a:prstGeom prst="line">
              <a:avLst/>
            </a:prstGeom>
            <a:noFill/>
            <a:ln w="31750">
              <a:solidFill>
                <a:srgbClr val="99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sp>
        <p:nvSpPr>
          <p:cNvPr id="990256" name="Text Box 48"/>
          <p:cNvSpPr txBox="1">
            <a:spLocks noChangeArrowheads="1"/>
          </p:cNvSpPr>
          <p:nvPr/>
        </p:nvSpPr>
        <p:spPr bwMode="auto">
          <a:xfrm>
            <a:off x="533400" y="273050"/>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660033"/>
                </a:solidFill>
              </a:rPr>
              <a:t>插入</a:t>
            </a: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0210"/>
                                        </p:tgtEl>
                                        <p:attrNameLst>
                                          <p:attrName>style.visibility</p:attrName>
                                        </p:attrNameLst>
                                      </p:cBhvr>
                                      <p:to>
                                        <p:strVal val="visible"/>
                                      </p:to>
                                    </p:set>
                                    <p:animEffect transition="in" filter="wipe(left)">
                                      <p:cBhvr>
                                        <p:cTn id="7" dur="500"/>
                                        <p:tgtEl>
                                          <p:spTgt spid="99021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90216"/>
                                        </p:tgtEl>
                                        <p:attrNameLst>
                                          <p:attrName>style.visibility</p:attrName>
                                        </p:attrNameLst>
                                      </p:cBhvr>
                                      <p:to>
                                        <p:strVal val="visible"/>
                                      </p:to>
                                    </p:set>
                                    <p:animEffect transition="in" filter="wipe(left)">
                                      <p:cBhvr>
                                        <p:cTn id="11" dur="500"/>
                                        <p:tgtEl>
                                          <p:spTgt spid="990216"/>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990223"/>
                                        </p:tgtEl>
                                        <p:attrNameLst>
                                          <p:attrName>style.visibility</p:attrName>
                                        </p:attrNameLst>
                                      </p:cBhvr>
                                      <p:to>
                                        <p:strVal val="visible"/>
                                      </p:to>
                                    </p:set>
                                    <p:animEffect transition="in" filter="wipe(right)">
                                      <p:cBhvr>
                                        <p:cTn id="15" dur="500"/>
                                        <p:tgtEl>
                                          <p:spTgt spid="990223"/>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990253"/>
                                        </p:tgtEl>
                                        <p:attrNameLst>
                                          <p:attrName>style.visibility</p:attrName>
                                        </p:attrNameLst>
                                      </p:cBhvr>
                                      <p:to>
                                        <p:strVal val="visible"/>
                                      </p:to>
                                    </p:set>
                                    <p:animEffect transition="in" filter="wipe(right)">
                                      <p:cBhvr>
                                        <p:cTn id="19" dur="500"/>
                                        <p:tgtEl>
                                          <p:spTgt spid="99025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990227"/>
                                        </p:tgtEl>
                                        <p:attrNameLst>
                                          <p:attrName>style.visibility</p:attrName>
                                        </p:attrNameLst>
                                      </p:cBhvr>
                                      <p:to>
                                        <p:strVal val="visible"/>
                                      </p:to>
                                    </p:set>
                                    <p:animEffect transition="in" filter="wipe(left)">
                                      <p:cBhvr>
                                        <p:cTn id="24" dur="500"/>
                                        <p:tgtEl>
                                          <p:spTgt spid="99022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990232"/>
                                        </p:tgtEl>
                                        <p:attrNameLst>
                                          <p:attrName>style.visibility</p:attrName>
                                        </p:attrNameLst>
                                      </p:cBhvr>
                                      <p:to>
                                        <p:strVal val="visible"/>
                                      </p:to>
                                    </p:set>
                                    <p:animEffect transition="in" filter="wipe(up)">
                                      <p:cBhvr>
                                        <p:cTn id="29" dur="500"/>
                                        <p:tgtEl>
                                          <p:spTgt spid="99023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990233"/>
                                        </p:tgtEl>
                                        <p:attrNameLst>
                                          <p:attrName>style.visibility</p:attrName>
                                        </p:attrNameLst>
                                      </p:cBhvr>
                                      <p:to>
                                        <p:strVal val="visible"/>
                                      </p:to>
                                    </p:set>
                                    <p:animEffect transition="in" filter="wipe(down)">
                                      <p:cBhvr>
                                        <p:cTn id="34" dur="500"/>
                                        <p:tgtEl>
                                          <p:spTgt spid="99023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990231"/>
                                        </p:tgtEl>
                                        <p:attrNameLst>
                                          <p:attrName>style.visibility</p:attrName>
                                        </p:attrNameLst>
                                      </p:cBhvr>
                                      <p:to>
                                        <p:strVal val="visible"/>
                                      </p:to>
                                    </p:set>
                                    <p:animEffect transition="in" filter="wipe(left)">
                                      <p:cBhvr>
                                        <p:cTn id="39" dur="500"/>
                                        <p:tgtEl>
                                          <p:spTgt spid="990231"/>
                                        </p:tgtEl>
                                      </p:cBhvr>
                                    </p:animEffect>
                                  </p:childTnLst>
                                </p:cTn>
                              </p:par>
                            </p:childTnLst>
                          </p:cTn>
                        </p:par>
                      </p:childTnLst>
                    </p:cTn>
                  </p:par>
                  <p:par>
                    <p:cTn id="40" fill="hold">
                      <p:stCondLst>
                        <p:cond delay="indefinite"/>
                      </p:stCondLst>
                      <p:childTnLst>
                        <p:par>
                          <p:cTn id="41" fill="hold">
                            <p:stCondLst>
                              <p:cond delay="0"/>
                            </p:stCondLst>
                            <p:childTnLst>
                              <p:par>
                                <p:cTn id="42" presetID="17" presetClass="entr" presetSubtype="8" fill="hold" nodeType="clickEffect">
                                  <p:stCondLst>
                                    <p:cond delay="0"/>
                                  </p:stCondLst>
                                  <p:childTnLst>
                                    <p:set>
                                      <p:cBhvr>
                                        <p:cTn id="43" dur="1" fill="hold">
                                          <p:stCondLst>
                                            <p:cond delay="0"/>
                                          </p:stCondLst>
                                        </p:cTn>
                                        <p:tgtEl>
                                          <p:spTgt spid="990234"/>
                                        </p:tgtEl>
                                        <p:attrNameLst>
                                          <p:attrName>style.visibility</p:attrName>
                                        </p:attrNameLst>
                                      </p:cBhvr>
                                      <p:to>
                                        <p:strVal val="visible"/>
                                      </p:to>
                                    </p:set>
                                    <p:anim calcmode="lin" valueType="num">
                                      <p:cBhvr>
                                        <p:cTn id="44" dur="500" fill="hold"/>
                                        <p:tgtEl>
                                          <p:spTgt spid="990234"/>
                                        </p:tgtEl>
                                        <p:attrNameLst>
                                          <p:attrName>ppt_x</p:attrName>
                                        </p:attrNameLst>
                                      </p:cBhvr>
                                      <p:tavLst>
                                        <p:tav tm="0">
                                          <p:val>
                                            <p:strVal val="#ppt_x-#ppt_w/2"/>
                                          </p:val>
                                        </p:tav>
                                        <p:tav tm="100000">
                                          <p:val>
                                            <p:strVal val="#ppt_x"/>
                                          </p:val>
                                        </p:tav>
                                      </p:tavLst>
                                    </p:anim>
                                    <p:anim calcmode="lin" valueType="num">
                                      <p:cBhvr>
                                        <p:cTn id="45" dur="500" fill="hold"/>
                                        <p:tgtEl>
                                          <p:spTgt spid="990234"/>
                                        </p:tgtEl>
                                        <p:attrNameLst>
                                          <p:attrName>ppt_y</p:attrName>
                                        </p:attrNameLst>
                                      </p:cBhvr>
                                      <p:tavLst>
                                        <p:tav tm="0">
                                          <p:val>
                                            <p:strVal val="#ppt_y"/>
                                          </p:val>
                                        </p:tav>
                                        <p:tav tm="100000">
                                          <p:val>
                                            <p:strVal val="#ppt_y"/>
                                          </p:val>
                                        </p:tav>
                                      </p:tavLst>
                                    </p:anim>
                                    <p:anim calcmode="lin" valueType="num">
                                      <p:cBhvr>
                                        <p:cTn id="46" dur="500" fill="hold"/>
                                        <p:tgtEl>
                                          <p:spTgt spid="990234"/>
                                        </p:tgtEl>
                                        <p:attrNameLst>
                                          <p:attrName>ppt_w</p:attrName>
                                        </p:attrNameLst>
                                      </p:cBhvr>
                                      <p:tavLst>
                                        <p:tav tm="0">
                                          <p:val>
                                            <p:fltVal val="0"/>
                                          </p:val>
                                        </p:tav>
                                        <p:tav tm="100000">
                                          <p:val>
                                            <p:strVal val="#ppt_w"/>
                                          </p:val>
                                        </p:tav>
                                      </p:tavLst>
                                    </p:anim>
                                    <p:anim calcmode="lin" valueType="num">
                                      <p:cBhvr>
                                        <p:cTn id="47" dur="500" fill="hold"/>
                                        <p:tgtEl>
                                          <p:spTgt spid="990234"/>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990240"/>
                                        </p:tgtEl>
                                        <p:attrNameLst>
                                          <p:attrName>style.visibility</p:attrName>
                                        </p:attrNameLst>
                                      </p:cBhvr>
                                      <p:to>
                                        <p:strVal val="visible"/>
                                      </p:to>
                                    </p:set>
                                    <p:animEffect transition="in" filter="wipe(left)">
                                      <p:cBhvr>
                                        <p:cTn id="52" dur="500"/>
                                        <p:tgtEl>
                                          <p:spTgt spid="990240"/>
                                        </p:tgtEl>
                                      </p:cBhvr>
                                    </p:animEffect>
                                  </p:childTnLst>
                                </p:cTn>
                              </p:par>
                            </p:childTnLst>
                          </p:cTn>
                        </p:par>
                      </p:childTnLst>
                    </p:cTn>
                  </p:par>
                  <p:par>
                    <p:cTn id="53" fill="hold">
                      <p:stCondLst>
                        <p:cond delay="indefinite"/>
                      </p:stCondLst>
                      <p:childTnLst>
                        <p:par>
                          <p:cTn id="54" fill="hold">
                            <p:stCondLst>
                              <p:cond delay="0"/>
                            </p:stCondLst>
                            <p:childTnLst>
                              <p:par>
                                <p:cTn id="55" presetID="17" presetClass="entr" presetSubtype="8" fill="hold" nodeType="clickEffect">
                                  <p:stCondLst>
                                    <p:cond delay="0"/>
                                  </p:stCondLst>
                                  <p:childTnLst>
                                    <p:set>
                                      <p:cBhvr>
                                        <p:cTn id="56" dur="1" fill="hold">
                                          <p:stCondLst>
                                            <p:cond delay="0"/>
                                          </p:stCondLst>
                                        </p:cTn>
                                        <p:tgtEl>
                                          <p:spTgt spid="990241"/>
                                        </p:tgtEl>
                                        <p:attrNameLst>
                                          <p:attrName>style.visibility</p:attrName>
                                        </p:attrNameLst>
                                      </p:cBhvr>
                                      <p:to>
                                        <p:strVal val="visible"/>
                                      </p:to>
                                    </p:set>
                                    <p:anim calcmode="lin" valueType="num">
                                      <p:cBhvr>
                                        <p:cTn id="57" dur="500" fill="hold"/>
                                        <p:tgtEl>
                                          <p:spTgt spid="990241"/>
                                        </p:tgtEl>
                                        <p:attrNameLst>
                                          <p:attrName>ppt_x</p:attrName>
                                        </p:attrNameLst>
                                      </p:cBhvr>
                                      <p:tavLst>
                                        <p:tav tm="0">
                                          <p:val>
                                            <p:strVal val="#ppt_x-#ppt_w/2"/>
                                          </p:val>
                                        </p:tav>
                                        <p:tav tm="100000">
                                          <p:val>
                                            <p:strVal val="#ppt_x"/>
                                          </p:val>
                                        </p:tav>
                                      </p:tavLst>
                                    </p:anim>
                                    <p:anim calcmode="lin" valueType="num">
                                      <p:cBhvr>
                                        <p:cTn id="58" dur="500" fill="hold"/>
                                        <p:tgtEl>
                                          <p:spTgt spid="990241"/>
                                        </p:tgtEl>
                                        <p:attrNameLst>
                                          <p:attrName>ppt_y</p:attrName>
                                        </p:attrNameLst>
                                      </p:cBhvr>
                                      <p:tavLst>
                                        <p:tav tm="0">
                                          <p:val>
                                            <p:strVal val="#ppt_y"/>
                                          </p:val>
                                        </p:tav>
                                        <p:tav tm="100000">
                                          <p:val>
                                            <p:strVal val="#ppt_y"/>
                                          </p:val>
                                        </p:tav>
                                      </p:tavLst>
                                    </p:anim>
                                    <p:anim calcmode="lin" valueType="num">
                                      <p:cBhvr>
                                        <p:cTn id="59" dur="500" fill="hold"/>
                                        <p:tgtEl>
                                          <p:spTgt spid="990241"/>
                                        </p:tgtEl>
                                        <p:attrNameLst>
                                          <p:attrName>ppt_w</p:attrName>
                                        </p:attrNameLst>
                                      </p:cBhvr>
                                      <p:tavLst>
                                        <p:tav tm="0">
                                          <p:val>
                                            <p:fltVal val="0"/>
                                          </p:val>
                                        </p:tav>
                                        <p:tav tm="100000">
                                          <p:val>
                                            <p:strVal val="#ppt_w"/>
                                          </p:val>
                                        </p:tav>
                                      </p:tavLst>
                                    </p:anim>
                                    <p:anim calcmode="lin" valueType="num">
                                      <p:cBhvr>
                                        <p:cTn id="60" dur="500" fill="hold"/>
                                        <p:tgtEl>
                                          <p:spTgt spid="990241"/>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990235"/>
                                        </p:tgtEl>
                                        <p:attrNameLst>
                                          <p:attrName>style.visibility</p:attrName>
                                        </p:attrNameLst>
                                      </p:cBhvr>
                                      <p:to>
                                        <p:strVal val="visible"/>
                                      </p:to>
                                    </p:set>
                                    <p:animEffect transition="in" filter="wipe(left)">
                                      <p:cBhvr>
                                        <p:cTn id="65" dur="500"/>
                                        <p:tgtEl>
                                          <p:spTgt spid="990235"/>
                                        </p:tgtEl>
                                      </p:cBhvr>
                                    </p:animEffect>
                                  </p:childTnLst>
                                </p:cTn>
                              </p:par>
                            </p:childTnLst>
                          </p:cTn>
                        </p:par>
                        <p:par>
                          <p:cTn id="66" fill="hold">
                            <p:stCondLst>
                              <p:cond delay="500"/>
                            </p:stCondLst>
                            <p:childTnLst>
                              <p:par>
                                <p:cTn id="67" presetID="1" presetClass="entr" presetSubtype="0" fill="hold" nodeType="afterEffect">
                                  <p:stCondLst>
                                    <p:cond delay="0"/>
                                  </p:stCondLst>
                                  <p:childTnLst>
                                    <p:set>
                                      <p:cBhvr>
                                        <p:cTn id="68" dur="1" fill="hold">
                                          <p:stCondLst>
                                            <p:cond delay="499"/>
                                          </p:stCondLst>
                                        </p:cTn>
                                        <p:tgtEl>
                                          <p:spTgt spid="990236"/>
                                        </p:tgtEl>
                                        <p:attrNameLst>
                                          <p:attrName>style.visibility</p:attrName>
                                        </p:attrNameLst>
                                      </p:cBhvr>
                                      <p:to>
                                        <p:strVal val="visible"/>
                                      </p:to>
                                    </p:set>
                                  </p:childTnLst>
                                </p:cTn>
                              </p:par>
                            </p:childTnLst>
                          </p:cTn>
                        </p:par>
                        <p:par>
                          <p:cTn id="69" fill="hold">
                            <p:stCondLst>
                              <p:cond delay="1000"/>
                            </p:stCondLst>
                            <p:childTnLst>
                              <p:par>
                                <p:cTn id="70" presetID="22" presetClass="entr" presetSubtype="1" fill="hold" nodeType="afterEffect">
                                  <p:stCondLst>
                                    <p:cond delay="0"/>
                                  </p:stCondLst>
                                  <p:childTnLst>
                                    <p:set>
                                      <p:cBhvr>
                                        <p:cTn id="71" dur="1" fill="hold">
                                          <p:stCondLst>
                                            <p:cond delay="0"/>
                                          </p:stCondLst>
                                        </p:cTn>
                                        <p:tgtEl>
                                          <p:spTgt spid="990242"/>
                                        </p:tgtEl>
                                        <p:attrNameLst>
                                          <p:attrName>style.visibility</p:attrName>
                                        </p:attrNameLst>
                                      </p:cBhvr>
                                      <p:to>
                                        <p:strVal val="visible"/>
                                      </p:to>
                                    </p:set>
                                    <p:animEffect transition="in" filter="wipe(up)">
                                      <p:cBhvr>
                                        <p:cTn id="72" dur="500"/>
                                        <p:tgtEl>
                                          <p:spTgt spid="990242"/>
                                        </p:tgtEl>
                                      </p:cBhvr>
                                    </p:animEffect>
                                  </p:childTnLst>
                                </p:cTn>
                              </p:par>
                            </p:childTnLst>
                          </p:cTn>
                        </p:par>
                      </p:childTnLst>
                    </p:cTn>
                  </p:par>
                  <p:par>
                    <p:cTn id="73" fill="hold">
                      <p:stCondLst>
                        <p:cond delay="indefinite"/>
                      </p:stCondLst>
                      <p:childTnLst>
                        <p:par>
                          <p:cTn id="74" fill="hold">
                            <p:stCondLst>
                              <p:cond delay="0"/>
                            </p:stCondLst>
                            <p:childTnLst>
                              <p:par>
                                <p:cTn id="75" presetID="17" presetClass="entr" presetSubtype="8" fill="hold" nodeType="clickEffect">
                                  <p:stCondLst>
                                    <p:cond delay="0"/>
                                  </p:stCondLst>
                                  <p:childTnLst>
                                    <p:set>
                                      <p:cBhvr>
                                        <p:cTn id="76" dur="1" fill="hold">
                                          <p:stCondLst>
                                            <p:cond delay="0"/>
                                          </p:stCondLst>
                                        </p:cTn>
                                        <p:tgtEl>
                                          <p:spTgt spid="990243"/>
                                        </p:tgtEl>
                                        <p:attrNameLst>
                                          <p:attrName>style.visibility</p:attrName>
                                        </p:attrNameLst>
                                      </p:cBhvr>
                                      <p:to>
                                        <p:strVal val="visible"/>
                                      </p:to>
                                    </p:set>
                                    <p:anim calcmode="lin" valueType="num">
                                      <p:cBhvr>
                                        <p:cTn id="77" dur="500" fill="hold"/>
                                        <p:tgtEl>
                                          <p:spTgt spid="990243"/>
                                        </p:tgtEl>
                                        <p:attrNameLst>
                                          <p:attrName>ppt_x</p:attrName>
                                        </p:attrNameLst>
                                      </p:cBhvr>
                                      <p:tavLst>
                                        <p:tav tm="0">
                                          <p:val>
                                            <p:strVal val="#ppt_x-#ppt_w/2"/>
                                          </p:val>
                                        </p:tav>
                                        <p:tav tm="100000">
                                          <p:val>
                                            <p:strVal val="#ppt_x"/>
                                          </p:val>
                                        </p:tav>
                                      </p:tavLst>
                                    </p:anim>
                                    <p:anim calcmode="lin" valueType="num">
                                      <p:cBhvr>
                                        <p:cTn id="78" dur="500" fill="hold"/>
                                        <p:tgtEl>
                                          <p:spTgt spid="990243"/>
                                        </p:tgtEl>
                                        <p:attrNameLst>
                                          <p:attrName>ppt_y</p:attrName>
                                        </p:attrNameLst>
                                      </p:cBhvr>
                                      <p:tavLst>
                                        <p:tav tm="0">
                                          <p:val>
                                            <p:strVal val="#ppt_y"/>
                                          </p:val>
                                        </p:tav>
                                        <p:tav tm="100000">
                                          <p:val>
                                            <p:strVal val="#ppt_y"/>
                                          </p:val>
                                        </p:tav>
                                      </p:tavLst>
                                    </p:anim>
                                    <p:anim calcmode="lin" valueType="num">
                                      <p:cBhvr>
                                        <p:cTn id="79" dur="500" fill="hold"/>
                                        <p:tgtEl>
                                          <p:spTgt spid="990243"/>
                                        </p:tgtEl>
                                        <p:attrNameLst>
                                          <p:attrName>ppt_w</p:attrName>
                                        </p:attrNameLst>
                                      </p:cBhvr>
                                      <p:tavLst>
                                        <p:tav tm="0">
                                          <p:val>
                                            <p:fltVal val="0"/>
                                          </p:val>
                                        </p:tav>
                                        <p:tav tm="100000">
                                          <p:val>
                                            <p:strVal val="#ppt_w"/>
                                          </p:val>
                                        </p:tav>
                                      </p:tavLst>
                                    </p:anim>
                                    <p:anim calcmode="lin" valueType="num">
                                      <p:cBhvr>
                                        <p:cTn id="80" dur="500" fill="hold"/>
                                        <p:tgtEl>
                                          <p:spTgt spid="990243"/>
                                        </p:tgtEl>
                                        <p:attrNameLst>
                                          <p:attrName>ppt_h</p:attrName>
                                        </p:attrNameLst>
                                      </p:cBhvr>
                                      <p:tavLst>
                                        <p:tav tm="0">
                                          <p:val>
                                            <p:strVal val="#ppt_h"/>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22" presetClass="entr" presetSubtype="2" fill="hold" grpId="0" nodeType="clickEffect">
                                  <p:stCondLst>
                                    <p:cond delay="0"/>
                                  </p:stCondLst>
                                  <p:childTnLst>
                                    <p:set>
                                      <p:cBhvr>
                                        <p:cTn id="84" dur="1" fill="hold">
                                          <p:stCondLst>
                                            <p:cond delay="0"/>
                                          </p:stCondLst>
                                        </p:cTn>
                                        <p:tgtEl>
                                          <p:spTgt spid="990245"/>
                                        </p:tgtEl>
                                        <p:attrNameLst>
                                          <p:attrName>style.visibility</p:attrName>
                                        </p:attrNameLst>
                                      </p:cBhvr>
                                      <p:to>
                                        <p:strVal val="visible"/>
                                      </p:to>
                                    </p:set>
                                    <p:animEffect transition="in" filter="wipe(right)">
                                      <p:cBhvr>
                                        <p:cTn id="85" dur="500"/>
                                        <p:tgtEl>
                                          <p:spTgt spid="990245"/>
                                        </p:tgtEl>
                                      </p:cBhvr>
                                    </p:animEffect>
                                  </p:childTnLst>
                                </p:cTn>
                              </p:par>
                            </p:childTnLst>
                          </p:cTn>
                        </p:par>
                        <p:par>
                          <p:cTn id="86" fill="hold">
                            <p:stCondLst>
                              <p:cond delay="500"/>
                            </p:stCondLst>
                            <p:childTnLst>
                              <p:par>
                                <p:cTn id="87" presetID="22" presetClass="entr" presetSubtype="4" fill="hold" grpId="0" nodeType="afterEffect">
                                  <p:stCondLst>
                                    <p:cond delay="0"/>
                                  </p:stCondLst>
                                  <p:childTnLst>
                                    <p:set>
                                      <p:cBhvr>
                                        <p:cTn id="88" dur="1" fill="hold">
                                          <p:stCondLst>
                                            <p:cond delay="0"/>
                                          </p:stCondLst>
                                        </p:cTn>
                                        <p:tgtEl>
                                          <p:spTgt spid="990244"/>
                                        </p:tgtEl>
                                        <p:attrNameLst>
                                          <p:attrName>style.visibility</p:attrName>
                                        </p:attrNameLst>
                                      </p:cBhvr>
                                      <p:to>
                                        <p:strVal val="visible"/>
                                      </p:to>
                                    </p:set>
                                    <p:animEffect transition="in" filter="wipe(down)">
                                      <p:cBhvr>
                                        <p:cTn id="89" dur="500"/>
                                        <p:tgtEl>
                                          <p:spTgt spid="990244"/>
                                        </p:tgtEl>
                                      </p:cBhvr>
                                    </p:animEffect>
                                  </p:childTnLst>
                                </p:cTn>
                              </p:par>
                            </p:childTnLst>
                          </p:cTn>
                        </p:par>
                        <p:par>
                          <p:cTn id="90" fill="hold">
                            <p:stCondLst>
                              <p:cond delay="1000"/>
                            </p:stCondLst>
                            <p:childTnLst>
                              <p:par>
                                <p:cTn id="91" presetID="1" presetClass="entr" presetSubtype="0" fill="hold" nodeType="afterEffect">
                                  <p:stCondLst>
                                    <p:cond delay="0"/>
                                  </p:stCondLst>
                                  <p:childTnLst>
                                    <p:set>
                                      <p:cBhvr>
                                        <p:cTn id="92" dur="1" fill="hold">
                                          <p:stCondLst>
                                            <p:cond delay="499"/>
                                          </p:stCondLst>
                                        </p:cTn>
                                        <p:tgtEl>
                                          <p:spTgt spid="990246"/>
                                        </p:tgtEl>
                                        <p:attrNameLst>
                                          <p:attrName>style.visibility</p:attrName>
                                        </p:attrNameLst>
                                      </p:cBhvr>
                                      <p:to>
                                        <p:strVal val="visible"/>
                                      </p:to>
                                    </p:set>
                                  </p:childTnLst>
                                </p:cTn>
                              </p:par>
                            </p:childTnLst>
                          </p:cTn>
                        </p:par>
                        <p:par>
                          <p:cTn id="93" fill="hold">
                            <p:stCondLst>
                              <p:cond delay="1500"/>
                            </p:stCondLst>
                            <p:childTnLst>
                              <p:par>
                                <p:cTn id="94" presetID="22" presetClass="entr" presetSubtype="2" fill="hold" nodeType="afterEffect">
                                  <p:stCondLst>
                                    <p:cond delay="0"/>
                                  </p:stCondLst>
                                  <p:childTnLst>
                                    <p:set>
                                      <p:cBhvr>
                                        <p:cTn id="95" dur="1" fill="hold">
                                          <p:stCondLst>
                                            <p:cond delay="0"/>
                                          </p:stCondLst>
                                        </p:cTn>
                                        <p:tgtEl>
                                          <p:spTgt spid="990250"/>
                                        </p:tgtEl>
                                        <p:attrNameLst>
                                          <p:attrName>style.visibility</p:attrName>
                                        </p:attrNameLst>
                                      </p:cBhvr>
                                      <p:to>
                                        <p:strVal val="visible"/>
                                      </p:to>
                                    </p:set>
                                    <p:animEffect transition="in" filter="wipe(right)">
                                      <p:cBhvr>
                                        <p:cTn id="96" dur="500"/>
                                        <p:tgtEl>
                                          <p:spTgt spid="990250"/>
                                        </p:tgtEl>
                                      </p:cBhvr>
                                    </p:animEffect>
                                  </p:childTnLst>
                                </p:cTn>
                              </p:par>
                            </p:childTnLst>
                          </p:cTn>
                        </p:par>
                      </p:childTnLst>
                    </p:cTn>
                  </p:par>
                  <p:par>
                    <p:cTn id="97" fill="hold">
                      <p:stCondLst>
                        <p:cond delay="indefinite"/>
                      </p:stCondLst>
                      <p:childTnLst>
                        <p:par>
                          <p:cTn id="98" fill="hold">
                            <p:stCondLst>
                              <p:cond delay="0"/>
                            </p:stCondLst>
                            <p:childTnLst>
                              <p:par>
                                <p:cTn id="99" presetID="17" presetClass="entr" presetSubtype="8" fill="hold" nodeType="clickEffect">
                                  <p:stCondLst>
                                    <p:cond delay="0"/>
                                  </p:stCondLst>
                                  <p:childTnLst>
                                    <p:set>
                                      <p:cBhvr>
                                        <p:cTn id="100" dur="1" fill="hold">
                                          <p:stCondLst>
                                            <p:cond delay="0"/>
                                          </p:stCondLst>
                                        </p:cTn>
                                        <p:tgtEl>
                                          <p:spTgt spid="990251"/>
                                        </p:tgtEl>
                                        <p:attrNameLst>
                                          <p:attrName>style.visibility</p:attrName>
                                        </p:attrNameLst>
                                      </p:cBhvr>
                                      <p:to>
                                        <p:strVal val="visible"/>
                                      </p:to>
                                    </p:set>
                                    <p:anim calcmode="lin" valueType="num">
                                      <p:cBhvr>
                                        <p:cTn id="101" dur="500" fill="hold"/>
                                        <p:tgtEl>
                                          <p:spTgt spid="990251"/>
                                        </p:tgtEl>
                                        <p:attrNameLst>
                                          <p:attrName>ppt_x</p:attrName>
                                        </p:attrNameLst>
                                      </p:cBhvr>
                                      <p:tavLst>
                                        <p:tav tm="0">
                                          <p:val>
                                            <p:strVal val="#ppt_x-#ppt_w/2"/>
                                          </p:val>
                                        </p:tav>
                                        <p:tav tm="100000">
                                          <p:val>
                                            <p:strVal val="#ppt_x"/>
                                          </p:val>
                                        </p:tav>
                                      </p:tavLst>
                                    </p:anim>
                                    <p:anim calcmode="lin" valueType="num">
                                      <p:cBhvr>
                                        <p:cTn id="102" dur="500" fill="hold"/>
                                        <p:tgtEl>
                                          <p:spTgt spid="990251"/>
                                        </p:tgtEl>
                                        <p:attrNameLst>
                                          <p:attrName>ppt_y</p:attrName>
                                        </p:attrNameLst>
                                      </p:cBhvr>
                                      <p:tavLst>
                                        <p:tav tm="0">
                                          <p:val>
                                            <p:strVal val="#ppt_y"/>
                                          </p:val>
                                        </p:tav>
                                        <p:tav tm="100000">
                                          <p:val>
                                            <p:strVal val="#ppt_y"/>
                                          </p:val>
                                        </p:tav>
                                      </p:tavLst>
                                    </p:anim>
                                    <p:anim calcmode="lin" valueType="num">
                                      <p:cBhvr>
                                        <p:cTn id="103" dur="500" fill="hold"/>
                                        <p:tgtEl>
                                          <p:spTgt spid="990251"/>
                                        </p:tgtEl>
                                        <p:attrNameLst>
                                          <p:attrName>ppt_w</p:attrName>
                                        </p:attrNameLst>
                                      </p:cBhvr>
                                      <p:tavLst>
                                        <p:tav tm="0">
                                          <p:val>
                                            <p:fltVal val="0"/>
                                          </p:val>
                                        </p:tav>
                                        <p:tav tm="100000">
                                          <p:val>
                                            <p:strVal val="#ppt_w"/>
                                          </p:val>
                                        </p:tav>
                                      </p:tavLst>
                                    </p:anim>
                                    <p:anim calcmode="lin" valueType="num">
                                      <p:cBhvr>
                                        <p:cTn id="104" dur="500" fill="hold"/>
                                        <p:tgtEl>
                                          <p:spTgt spid="990251"/>
                                        </p:tgtEl>
                                        <p:attrNameLst>
                                          <p:attrName>ppt_h</p:attrName>
                                        </p:attrNameLst>
                                      </p:cBhvr>
                                      <p:tavLst>
                                        <p:tav tm="0">
                                          <p:val>
                                            <p:strVal val="#ppt_h"/>
                                          </p:val>
                                        </p:tav>
                                        <p:tav tm="100000">
                                          <p:val>
                                            <p:strVal val="#ppt_h"/>
                                          </p:val>
                                        </p:tav>
                                      </p:tavLst>
                                    </p:anim>
                                  </p:childTnLst>
                                </p:cTn>
                              </p:par>
                            </p:childTnLst>
                          </p:cTn>
                        </p:par>
                      </p:childTnLst>
                    </p:cTn>
                  </p:par>
                  <p:par>
                    <p:cTn id="105" fill="hold">
                      <p:stCondLst>
                        <p:cond delay="indefinite"/>
                      </p:stCondLst>
                      <p:childTnLst>
                        <p:par>
                          <p:cTn id="106" fill="hold">
                            <p:stCondLst>
                              <p:cond delay="0"/>
                            </p:stCondLst>
                            <p:childTnLst>
                              <p:par>
                                <p:cTn id="107" presetID="22" presetClass="entr" presetSubtype="2" fill="hold" nodeType="clickEffect">
                                  <p:stCondLst>
                                    <p:cond delay="0"/>
                                  </p:stCondLst>
                                  <p:childTnLst>
                                    <p:set>
                                      <p:cBhvr>
                                        <p:cTn id="108" dur="1" fill="hold">
                                          <p:stCondLst>
                                            <p:cond delay="0"/>
                                          </p:stCondLst>
                                        </p:cTn>
                                        <p:tgtEl>
                                          <p:spTgt spid="990252"/>
                                        </p:tgtEl>
                                        <p:attrNameLst>
                                          <p:attrName>style.visibility</p:attrName>
                                        </p:attrNameLst>
                                      </p:cBhvr>
                                      <p:to>
                                        <p:strVal val="visible"/>
                                      </p:to>
                                    </p:set>
                                    <p:animEffect transition="in" filter="wipe(right)">
                                      <p:cBhvr>
                                        <p:cTn id="109" dur="500"/>
                                        <p:tgtEl>
                                          <p:spTgt spid="990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0231" grpId="0" autoUpdateAnimBg="0"/>
      <p:bldP spid="990232" grpId="0" animBg="1" autoUpdateAnimBg="0"/>
      <p:bldP spid="990233" grpId="0" animBg="1" autoUpdateAnimBg="0"/>
      <p:bldP spid="990235" grpId="0" animBg="1"/>
      <p:bldP spid="990244" grpId="0" animBg="1"/>
      <p:bldP spid="990245"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1234" name="Group 2"/>
          <p:cNvGrpSpPr/>
          <p:nvPr/>
        </p:nvGrpSpPr>
        <p:grpSpPr bwMode="auto">
          <a:xfrm>
            <a:off x="914400" y="1981200"/>
            <a:ext cx="2133600" cy="609600"/>
            <a:chOff x="576" y="912"/>
            <a:chExt cx="1344" cy="384"/>
          </a:xfrm>
        </p:grpSpPr>
        <p:grpSp>
          <p:nvGrpSpPr>
            <p:cNvPr id="143399" name="Group 3"/>
            <p:cNvGrpSpPr/>
            <p:nvPr/>
          </p:nvGrpSpPr>
          <p:grpSpPr bwMode="auto">
            <a:xfrm>
              <a:off x="1152" y="912"/>
              <a:ext cx="768" cy="384"/>
              <a:chOff x="1152" y="912"/>
              <a:chExt cx="768" cy="384"/>
            </a:xfrm>
          </p:grpSpPr>
          <p:sp>
            <p:nvSpPr>
              <p:cNvPr id="991236" name="Rectangle 4"/>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3600" b="1">
                    <a:solidFill>
                      <a:schemeClr val="tx2"/>
                    </a:solidFill>
                  </a:rPr>
                  <a:t>a</a:t>
                </a:r>
                <a:r>
                  <a:rPr lang="en-US" altLang="zh-CN" sz="3600" b="1" baseline="-25000">
                    <a:solidFill>
                      <a:schemeClr val="tx2"/>
                    </a:solidFill>
                  </a:rPr>
                  <a:t>i-1</a:t>
                </a:r>
                <a:endParaRPr lang="en-US" altLang="zh-CN" sz="3600"/>
              </a:p>
            </p:txBody>
          </p:sp>
          <p:sp>
            <p:nvSpPr>
              <p:cNvPr id="991237" name="Line 5"/>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38" name="Line 6"/>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91239" name="Line 7"/>
            <p:cNvSpPr>
              <a:spLocks noChangeShapeType="1"/>
            </p:cNvSpPr>
            <p:nvPr/>
          </p:nvSpPr>
          <p:spPr bwMode="auto">
            <a:xfrm>
              <a:off x="576" y="1104"/>
              <a:ext cx="576"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91240" name="Text Box 8"/>
          <p:cNvSpPr txBox="1">
            <a:spLocks noChangeArrowheads="1"/>
          </p:cNvSpPr>
          <p:nvPr/>
        </p:nvSpPr>
        <p:spPr bwMode="auto">
          <a:xfrm>
            <a:off x="1371600" y="152400"/>
            <a:ext cx="1098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rPr>
              <a:t>删除</a:t>
            </a:r>
            <a:endParaRPr lang="zh-CN" altLang="en-US" sz="3600"/>
          </a:p>
        </p:txBody>
      </p:sp>
      <p:grpSp>
        <p:nvGrpSpPr>
          <p:cNvPr id="991241" name="Group 9"/>
          <p:cNvGrpSpPr/>
          <p:nvPr/>
        </p:nvGrpSpPr>
        <p:grpSpPr bwMode="auto">
          <a:xfrm>
            <a:off x="2895600" y="1981200"/>
            <a:ext cx="2438400" cy="609600"/>
            <a:chOff x="1824" y="912"/>
            <a:chExt cx="1536" cy="384"/>
          </a:xfrm>
        </p:grpSpPr>
        <p:grpSp>
          <p:nvGrpSpPr>
            <p:cNvPr id="143394" name="Group 10"/>
            <p:cNvGrpSpPr/>
            <p:nvPr/>
          </p:nvGrpSpPr>
          <p:grpSpPr bwMode="auto">
            <a:xfrm>
              <a:off x="2592" y="912"/>
              <a:ext cx="768" cy="384"/>
              <a:chOff x="1152" y="912"/>
              <a:chExt cx="768" cy="384"/>
            </a:xfrm>
          </p:grpSpPr>
          <p:sp>
            <p:nvSpPr>
              <p:cNvPr id="991243" name="Rectangle 11"/>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3600" b="1">
                    <a:solidFill>
                      <a:schemeClr val="tx2"/>
                    </a:solidFill>
                  </a:rPr>
                  <a:t>a</a:t>
                </a:r>
                <a:r>
                  <a:rPr lang="en-US" altLang="zh-CN" sz="3600" b="1" baseline="-25000">
                    <a:solidFill>
                      <a:schemeClr val="tx2"/>
                    </a:solidFill>
                  </a:rPr>
                  <a:t>i</a:t>
                </a:r>
                <a:endParaRPr lang="en-US" altLang="zh-CN" sz="3600"/>
              </a:p>
            </p:txBody>
          </p:sp>
          <p:sp>
            <p:nvSpPr>
              <p:cNvPr id="991244" name="Line 12"/>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45" name="Line 13"/>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91246" name="Line 14"/>
            <p:cNvSpPr>
              <a:spLocks noChangeShapeType="1"/>
            </p:cNvSpPr>
            <p:nvPr/>
          </p:nvSpPr>
          <p:spPr bwMode="auto">
            <a:xfrm>
              <a:off x="1824" y="1104"/>
              <a:ext cx="720"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91247" name="Group 15"/>
          <p:cNvGrpSpPr/>
          <p:nvPr/>
        </p:nvGrpSpPr>
        <p:grpSpPr bwMode="auto">
          <a:xfrm>
            <a:off x="5181600" y="1981200"/>
            <a:ext cx="2971800" cy="609600"/>
            <a:chOff x="3264" y="912"/>
            <a:chExt cx="1872" cy="384"/>
          </a:xfrm>
        </p:grpSpPr>
        <p:grpSp>
          <p:nvGrpSpPr>
            <p:cNvPr id="143388" name="Group 16"/>
            <p:cNvGrpSpPr/>
            <p:nvPr/>
          </p:nvGrpSpPr>
          <p:grpSpPr bwMode="auto">
            <a:xfrm>
              <a:off x="3984" y="912"/>
              <a:ext cx="768" cy="384"/>
              <a:chOff x="1152" y="912"/>
              <a:chExt cx="768" cy="384"/>
            </a:xfrm>
          </p:grpSpPr>
          <p:sp>
            <p:nvSpPr>
              <p:cNvPr id="991249" name="Rectangle 17"/>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3600" b="1">
                    <a:solidFill>
                      <a:schemeClr val="tx2"/>
                    </a:solidFill>
                  </a:rPr>
                  <a:t>a</a:t>
                </a:r>
                <a:r>
                  <a:rPr lang="en-US" altLang="zh-CN" sz="3600" b="1" baseline="-25000">
                    <a:solidFill>
                      <a:schemeClr val="tx2"/>
                    </a:solidFill>
                  </a:rPr>
                  <a:t>i+1</a:t>
                </a:r>
                <a:endParaRPr lang="en-US" altLang="zh-CN" sz="3600"/>
              </a:p>
            </p:txBody>
          </p:sp>
          <p:sp>
            <p:nvSpPr>
              <p:cNvPr id="991250" name="Line 18"/>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51" name="Line 19"/>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91252" name="Line 20"/>
            <p:cNvSpPr>
              <a:spLocks noChangeShapeType="1"/>
            </p:cNvSpPr>
            <p:nvPr/>
          </p:nvSpPr>
          <p:spPr bwMode="auto">
            <a:xfrm>
              <a:off x="3264" y="1104"/>
              <a:ext cx="672"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53" name="Line 21"/>
            <p:cNvSpPr>
              <a:spLocks noChangeShapeType="1"/>
            </p:cNvSpPr>
            <p:nvPr/>
          </p:nvSpPr>
          <p:spPr bwMode="auto">
            <a:xfrm>
              <a:off x="4656" y="1104"/>
              <a:ext cx="480"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91254" name="Text Box 22"/>
          <p:cNvSpPr txBox="1">
            <a:spLocks noChangeArrowheads="1"/>
          </p:cNvSpPr>
          <p:nvPr/>
        </p:nvSpPr>
        <p:spPr bwMode="auto">
          <a:xfrm>
            <a:off x="1981200" y="3733800"/>
            <a:ext cx="508635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50000"/>
              </a:lnSpc>
              <a:defRPr/>
            </a:pPr>
            <a:r>
              <a:rPr lang="en-US" altLang="zh-CN" sz="3600" b="1">
                <a:solidFill>
                  <a:srgbClr val="660033"/>
                </a:solidFill>
              </a:rPr>
              <a:t>p-&gt;next = p-&gt;next-&gt;next;</a:t>
            </a:r>
            <a:endParaRPr lang="en-US" altLang="zh-CN" sz="3600" b="1">
              <a:solidFill>
                <a:srgbClr val="660033"/>
              </a:solidFill>
            </a:endParaRPr>
          </a:p>
          <a:p>
            <a:pPr eaLnBrk="1" hangingPunct="1">
              <a:lnSpc>
                <a:spcPct val="150000"/>
              </a:lnSpc>
              <a:defRPr/>
            </a:pPr>
            <a:r>
              <a:rPr lang="en-US" altLang="zh-CN" sz="3600" b="1">
                <a:solidFill>
                  <a:srgbClr val="660033"/>
                </a:solidFill>
              </a:rPr>
              <a:t>p-&gt;next-&gt;prior = p;</a:t>
            </a:r>
            <a:endParaRPr lang="en-US" altLang="zh-CN" sz="3600" b="1">
              <a:solidFill>
                <a:srgbClr val="660033"/>
              </a:solidFill>
            </a:endParaRPr>
          </a:p>
        </p:txBody>
      </p:sp>
      <p:sp>
        <p:nvSpPr>
          <p:cNvPr id="991255" name="Line 23"/>
          <p:cNvSpPr>
            <a:spLocks noChangeShapeType="1"/>
          </p:cNvSpPr>
          <p:nvPr/>
        </p:nvSpPr>
        <p:spPr bwMode="auto">
          <a:xfrm>
            <a:off x="2114550" y="4635500"/>
            <a:ext cx="4876800" cy="0"/>
          </a:xfrm>
          <a:prstGeom prst="line">
            <a:avLst/>
          </a:prstGeom>
          <a:noFill/>
          <a:ln w="38100">
            <a:solidFill>
              <a:srgbClr val="66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nvGrpSpPr>
          <p:cNvPr id="991256" name="Group 24"/>
          <p:cNvGrpSpPr/>
          <p:nvPr/>
        </p:nvGrpSpPr>
        <p:grpSpPr bwMode="auto">
          <a:xfrm>
            <a:off x="4724400" y="1524000"/>
            <a:ext cx="1752600" cy="762000"/>
            <a:chOff x="2976" y="624"/>
            <a:chExt cx="1104" cy="480"/>
          </a:xfrm>
        </p:grpSpPr>
        <p:sp>
          <p:nvSpPr>
            <p:cNvPr id="991257" name="Line 25"/>
            <p:cNvSpPr>
              <a:spLocks noChangeShapeType="1"/>
            </p:cNvSpPr>
            <p:nvPr/>
          </p:nvSpPr>
          <p:spPr bwMode="auto">
            <a:xfrm flipH="1">
              <a:off x="2976" y="624"/>
              <a:ext cx="1104" cy="0"/>
            </a:xfrm>
            <a:prstGeom prst="line">
              <a:avLst/>
            </a:prstGeom>
            <a:noFill/>
            <a:ln w="31750">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58" name="Line 26"/>
            <p:cNvSpPr>
              <a:spLocks noChangeShapeType="1"/>
            </p:cNvSpPr>
            <p:nvPr/>
          </p:nvSpPr>
          <p:spPr bwMode="auto">
            <a:xfrm flipV="1">
              <a:off x="4080" y="624"/>
              <a:ext cx="0" cy="480"/>
            </a:xfrm>
            <a:prstGeom prst="line">
              <a:avLst/>
            </a:prstGeom>
            <a:noFill/>
            <a:ln w="31750">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59" name="Line 27"/>
            <p:cNvSpPr>
              <a:spLocks noChangeShapeType="1"/>
            </p:cNvSpPr>
            <p:nvPr/>
          </p:nvSpPr>
          <p:spPr bwMode="auto">
            <a:xfrm>
              <a:off x="2976" y="624"/>
              <a:ext cx="0" cy="288"/>
            </a:xfrm>
            <a:prstGeom prst="line">
              <a:avLst/>
            </a:prstGeom>
            <a:noFill/>
            <a:ln w="31750">
              <a:solidFill>
                <a:srgbClr val="99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useBgFill="1">
        <p:nvSpPr>
          <p:cNvPr id="991260" name="Rectangle 28"/>
          <p:cNvSpPr>
            <a:spLocks noChangeArrowheads="1"/>
          </p:cNvSpPr>
          <p:nvPr/>
        </p:nvSpPr>
        <p:spPr bwMode="auto">
          <a:xfrm>
            <a:off x="2819400" y="2133600"/>
            <a:ext cx="1219200" cy="304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61" name="AutoShape 29"/>
          <p:cNvSpPr>
            <a:spLocks noChangeArrowheads="1"/>
          </p:cNvSpPr>
          <p:nvPr/>
        </p:nvSpPr>
        <p:spPr bwMode="auto">
          <a:xfrm>
            <a:off x="2286000" y="2590800"/>
            <a:ext cx="381000" cy="1295400"/>
          </a:xfrm>
          <a:prstGeom prst="upArrowCallout">
            <a:avLst>
              <a:gd name="adj1" fmla="val 15000"/>
              <a:gd name="adj2" fmla="val 20000"/>
              <a:gd name="adj3" fmla="val 61672"/>
              <a:gd name="adj4" fmla="val 37255"/>
            </a:avLst>
          </a:prstGeom>
          <a:solidFill>
            <a:srgbClr val="CCFFFF"/>
          </a:solidFill>
          <a:ln w="9525">
            <a:solidFill>
              <a:srgbClr val="0033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3600" b="1">
                <a:solidFill>
                  <a:srgbClr val="000099"/>
                </a:solidFill>
              </a:rPr>
              <a:t>p</a:t>
            </a:r>
            <a:endParaRPr lang="en-US" altLang="zh-CN" sz="3600"/>
          </a:p>
        </p:txBody>
      </p:sp>
      <p:grpSp>
        <p:nvGrpSpPr>
          <p:cNvPr id="991262" name="Group 30"/>
          <p:cNvGrpSpPr/>
          <p:nvPr/>
        </p:nvGrpSpPr>
        <p:grpSpPr bwMode="auto">
          <a:xfrm>
            <a:off x="2438400" y="1524000"/>
            <a:ext cx="1828800" cy="762000"/>
            <a:chOff x="1536" y="624"/>
            <a:chExt cx="1152" cy="480"/>
          </a:xfrm>
        </p:grpSpPr>
        <p:sp>
          <p:nvSpPr>
            <p:cNvPr id="991263" name="Line 31"/>
            <p:cNvSpPr>
              <a:spLocks noChangeShapeType="1"/>
            </p:cNvSpPr>
            <p:nvPr/>
          </p:nvSpPr>
          <p:spPr bwMode="auto">
            <a:xfrm flipV="1">
              <a:off x="2688" y="624"/>
              <a:ext cx="0" cy="480"/>
            </a:xfrm>
            <a:prstGeom prst="line">
              <a:avLst/>
            </a:prstGeom>
            <a:noFill/>
            <a:ln w="31750">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64" name="Line 32"/>
            <p:cNvSpPr>
              <a:spLocks noChangeShapeType="1"/>
            </p:cNvSpPr>
            <p:nvPr/>
          </p:nvSpPr>
          <p:spPr bwMode="auto">
            <a:xfrm flipH="1">
              <a:off x="1536" y="624"/>
              <a:ext cx="1152" cy="0"/>
            </a:xfrm>
            <a:prstGeom prst="line">
              <a:avLst/>
            </a:prstGeom>
            <a:noFill/>
            <a:ln w="31750">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65" name="Line 33"/>
            <p:cNvSpPr>
              <a:spLocks noChangeShapeType="1"/>
            </p:cNvSpPr>
            <p:nvPr/>
          </p:nvSpPr>
          <p:spPr bwMode="auto">
            <a:xfrm>
              <a:off x="1536" y="624"/>
              <a:ext cx="0" cy="288"/>
            </a:xfrm>
            <a:prstGeom prst="line">
              <a:avLst/>
            </a:prstGeom>
            <a:noFill/>
            <a:ln w="31750">
              <a:solidFill>
                <a:srgbClr val="99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91266" name="Group 34"/>
          <p:cNvGrpSpPr/>
          <p:nvPr/>
        </p:nvGrpSpPr>
        <p:grpSpPr bwMode="auto">
          <a:xfrm>
            <a:off x="1828800" y="1981200"/>
            <a:ext cx="1219200" cy="609600"/>
            <a:chOff x="1152" y="912"/>
            <a:chExt cx="768" cy="384"/>
          </a:xfrm>
        </p:grpSpPr>
        <p:sp>
          <p:nvSpPr>
            <p:cNvPr id="991267" name="Rectangle 35"/>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3600" b="1">
                  <a:solidFill>
                    <a:schemeClr val="tx2"/>
                  </a:solidFill>
                </a:rPr>
                <a:t>a</a:t>
              </a:r>
              <a:r>
                <a:rPr lang="en-US" altLang="zh-CN" sz="3600" b="1" baseline="-25000">
                  <a:solidFill>
                    <a:schemeClr val="tx2"/>
                  </a:solidFill>
                </a:rPr>
                <a:t>i-1</a:t>
              </a:r>
              <a:endParaRPr lang="en-US" altLang="zh-CN" sz="3600"/>
            </a:p>
          </p:txBody>
        </p:sp>
        <p:sp>
          <p:nvSpPr>
            <p:cNvPr id="991268" name="Line 36"/>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69" name="Line 37"/>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cxnSp>
        <p:nvCxnSpPr>
          <p:cNvPr id="991270" name="AutoShape 38"/>
          <p:cNvCxnSpPr>
            <a:cxnSpLocks noChangeShapeType="1"/>
            <a:stCxn id="991267" idx="3"/>
            <a:endCxn id="991249" idx="2"/>
          </p:cNvCxnSpPr>
          <p:nvPr/>
        </p:nvCxnSpPr>
        <p:spPr bwMode="auto">
          <a:xfrm>
            <a:off x="3048000" y="2286000"/>
            <a:ext cx="3886200" cy="304800"/>
          </a:xfrm>
          <a:prstGeom prst="bentConnector4">
            <a:avLst>
              <a:gd name="adj1" fmla="val 42157"/>
              <a:gd name="adj2" fmla="val 175000"/>
            </a:avLst>
          </a:prstGeom>
          <a:noFill/>
          <a:ln w="31750">
            <a:solidFill>
              <a:srgbClr val="008080"/>
            </a:solidFill>
            <a:miter lim="800000"/>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91271" name="Line 39"/>
          <p:cNvSpPr>
            <a:spLocks noChangeShapeType="1"/>
          </p:cNvSpPr>
          <p:nvPr/>
        </p:nvSpPr>
        <p:spPr bwMode="auto">
          <a:xfrm>
            <a:off x="2038350" y="5473700"/>
            <a:ext cx="3810000" cy="0"/>
          </a:xfrm>
          <a:prstGeom prst="line">
            <a:avLst/>
          </a:prstGeom>
          <a:noFill/>
          <a:ln w="38100">
            <a:solidFill>
              <a:srgbClr val="66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nvGrpSpPr>
          <p:cNvPr id="991272" name="Group 40"/>
          <p:cNvGrpSpPr/>
          <p:nvPr/>
        </p:nvGrpSpPr>
        <p:grpSpPr bwMode="auto">
          <a:xfrm>
            <a:off x="2438400" y="1295400"/>
            <a:ext cx="4038600" cy="990600"/>
            <a:chOff x="1536" y="480"/>
            <a:chExt cx="2544" cy="624"/>
          </a:xfrm>
        </p:grpSpPr>
        <p:sp>
          <p:nvSpPr>
            <p:cNvPr id="991273" name="Line 41"/>
            <p:cNvSpPr>
              <a:spLocks noChangeShapeType="1"/>
            </p:cNvSpPr>
            <p:nvPr/>
          </p:nvSpPr>
          <p:spPr bwMode="auto">
            <a:xfrm flipH="1" flipV="1">
              <a:off x="4080" y="480"/>
              <a:ext cx="0" cy="624"/>
            </a:xfrm>
            <a:prstGeom prst="line">
              <a:avLst/>
            </a:prstGeom>
            <a:noFill/>
            <a:ln w="349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74" name="Line 42"/>
            <p:cNvSpPr>
              <a:spLocks noChangeShapeType="1"/>
            </p:cNvSpPr>
            <p:nvPr/>
          </p:nvSpPr>
          <p:spPr bwMode="auto">
            <a:xfrm flipH="1">
              <a:off x="1536" y="480"/>
              <a:ext cx="2544" cy="0"/>
            </a:xfrm>
            <a:prstGeom prst="line">
              <a:avLst/>
            </a:prstGeom>
            <a:noFill/>
            <a:ln w="349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75" name="Line 43"/>
            <p:cNvSpPr>
              <a:spLocks noChangeShapeType="1"/>
            </p:cNvSpPr>
            <p:nvPr/>
          </p:nvSpPr>
          <p:spPr bwMode="auto">
            <a:xfrm>
              <a:off x="1536" y="480"/>
              <a:ext cx="0" cy="432"/>
            </a:xfrm>
            <a:prstGeom prst="line">
              <a:avLst/>
            </a:prstGeom>
            <a:noFill/>
            <a:ln w="34925">
              <a:solidFill>
                <a:srgbClr val="FF0000"/>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useBgFill="1">
        <p:nvSpPr>
          <p:cNvPr id="991276" name="Rectangle 44"/>
          <p:cNvSpPr>
            <a:spLocks noChangeArrowheads="1"/>
          </p:cNvSpPr>
          <p:nvPr/>
        </p:nvSpPr>
        <p:spPr bwMode="auto">
          <a:xfrm>
            <a:off x="4495800" y="1447800"/>
            <a:ext cx="19050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1234"/>
                                        </p:tgtEl>
                                        <p:attrNameLst>
                                          <p:attrName>style.visibility</p:attrName>
                                        </p:attrNameLst>
                                      </p:cBhvr>
                                      <p:to>
                                        <p:strVal val="visible"/>
                                      </p:to>
                                    </p:set>
                                    <p:animEffect transition="in" filter="wipe(left)">
                                      <p:cBhvr>
                                        <p:cTn id="7" dur="500"/>
                                        <p:tgtEl>
                                          <p:spTgt spid="99123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91241"/>
                                        </p:tgtEl>
                                        <p:attrNameLst>
                                          <p:attrName>style.visibility</p:attrName>
                                        </p:attrNameLst>
                                      </p:cBhvr>
                                      <p:to>
                                        <p:strVal val="visible"/>
                                      </p:to>
                                    </p:set>
                                    <p:animEffect transition="in" filter="wipe(left)">
                                      <p:cBhvr>
                                        <p:cTn id="11" dur="500"/>
                                        <p:tgtEl>
                                          <p:spTgt spid="99124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91247"/>
                                        </p:tgtEl>
                                        <p:attrNameLst>
                                          <p:attrName>style.visibility</p:attrName>
                                        </p:attrNameLst>
                                      </p:cBhvr>
                                      <p:to>
                                        <p:strVal val="visible"/>
                                      </p:to>
                                    </p:set>
                                    <p:animEffect transition="in" filter="wipe(left)">
                                      <p:cBhvr>
                                        <p:cTn id="15" dur="500"/>
                                        <p:tgtEl>
                                          <p:spTgt spid="991247"/>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991256"/>
                                        </p:tgtEl>
                                        <p:attrNameLst>
                                          <p:attrName>style.visibility</p:attrName>
                                        </p:attrNameLst>
                                      </p:cBhvr>
                                      <p:to>
                                        <p:strVal val="visible"/>
                                      </p:to>
                                    </p:set>
                                    <p:animEffect transition="in" filter="wipe(right)">
                                      <p:cBhvr>
                                        <p:cTn id="19" dur="500"/>
                                        <p:tgtEl>
                                          <p:spTgt spid="991256"/>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991262"/>
                                        </p:tgtEl>
                                        <p:attrNameLst>
                                          <p:attrName>style.visibility</p:attrName>
                                        </p:attrNameLst>
                                      </p:cBhvr>
                                      <p:to>
                                        <p:strVal val="visible"/>
                                      </p:to>
                                    </p:set>
                                    <p:animEffect transition="in" filter="wipe(right)">
                                      <p:cBhvr>
                                        <p:cTn id="23" dur="500"/>
                                        <p:tgtEl>
                                          <p:spTgt spid="99126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991261"/>
                                        </p:tgtEl>
                                        <p:attrNameLst>
                                          <p:attrName>style.visibility</p:attrName>
                                        </p:attrNameLst>
                                      </p:cBhvr>
                                      <p:to>
                                        <p:strVal val="visible"/>
                                      </p:to>
                                    </p:set>
                                    <p:animEffect transition="in" filter="wipe(down)">
                                      <p:cBhvr>
                                        <p:cTn id="28" dur="500"/>
                                        <p:tgtEl>
                                          <p:spTgt spid="99126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91254"/>
                                        </p:tgtEl>
                                        <p:attrNameLst>
                                          <p:attrName>style.visibility</p:attrName>
                                        </p:attrNameLst>
                                      </p:cBhvr>
                                      <p:to>
                                        <p:strVal val="visible"/>
                                      </p:to>
                                    </p:set>
                                    <p:animEffect transition="in" filter="wipe(left)">
                                      <p:cBhvr>
                                        <p:cTn id="33" dur="500"/>
                                        <p:tgtEl>
                                          <p:spTgt spid="991254"/>
                                        </p:tgtEl>
                                      </p:cBhvr>
                                    </p:animEffect>
                                  </p:childTnLst>
                                </p:cTn>
                              </p:par>
                            </p:childTnLst>
                          </p:cTn>
                        </p:par>
                      </p:childTnLst>
                    </p:cTn>
                  </p:par>
                  <p:par>
                    <p:cTn id="34" fill="hold">
                      <p:stCondLst>
                        <p:cond delay="indefinite"/>
                      </p:stCondLst>
                      <p:childTnLst>
                        <p:par>
                          <p:cTn id="35" fill="hold">
                            <p:stCondLst>
                              <p:cond delay="0"/>
                            </p:stCondLst>
                            <p:childTnLst>
                              <p:par>
                                <p:cTn id="36" presetID="17" presetClass="entr" presetSubtype="8" fill="hold" nodeType="clickEffect">
                                  <p:stCondLst>
                                    <p:cond delay="0"/>
                                  </p:stCondLst>
                                  <p:childTnLst>
                                    <p:set>
                                      <p:cBhvr>
                                        <p:cTn id="37" dur="1" fill="hold">
                                          <p:stCondLst>
                                            <p:cond delay="0"/>
                                          </p:stCondLst>
                                        </p:cTn>
                                        <p:tgtEl>
                                          <p:spTgt spid="991255"/>
                                        </p:tgtEl>
                                        <p:attrNameLst>
                                          <p:attrName>style.visibility</p:attrName>
                                        </p:attrNameLst>
                                      </p:cBhvr>
                                      <p:to>
                                        <p:strVal val="visible"/>
                                      </p:to>
                                    </p:set>
                                    <p:anim calcmode="lin" valueType="num">
                                      <p:cBhvr>
                                        <p:cTn id="38" dur="500" fill="hold"/>
                                        <p:tgtEl>
                                          <p:spTgt spid="991255"/>
                                        </p:tgtEl>
                                        <p:attrNameLst>
                                          <p:attrName>ppt_x</p:attrName>
                                        </p:attrNameLst>
                                      </p:cBhvr>
                                      <p:tavLst>
                                        <p:tav tm="0">
                                          <p:val>
                                            <p:strVal val="#ppt_x-#ppt_w/2"/>
                                          </p:val>
                                        </p:tav>
                                        <p:tav tm="100000">
                                          <p:val>
                                            <p:strVal val="#ppt_x"/>
                                          </p:val>
                                        </p:tav>
                                      </p:tavLst>
                                    </p:anim>
                                    <p:anim calcmode="lin" valueType="num">
                                      <p:cBhvr>
                                        <p:cTn id="39" dur="500" fill="hold"/>
                                        <p:tgtEl>
                                          <p:spTgt spid="991255"/>
                                        </p:tgtEl>
                                        <p:attrNameLst>
                                          <p:attrName>ppt_y</p:attrName>
                                        </p:attrNameLst>
                                      </p:cBhvr>
                                      <p:tavLst>
                                        <p:tav tm="0">
                                          <p:val>
                                            <p:strVal val="#ppt_y"/>
                                          </p:val>
                                        </p:tav>
                                        <p:tav tm="100000">
                                          <p:val>
                                            <p:strVal val="#ppt_y"/>
                                          </p:val>
                                        </p:tav>
                                      </p:tavLst>
                                    </p:anim>
                                    <p:anim calcmode="lin" valueType="num">
                                      <p:cBhvr>
                                        <p:cTn id="40" dur="500" fill="hold"/>
                                        <p:tgtEl>
                                          <p:spTgt spid="991255"/>
                                        </p:tgtEl>
                                        <p:attrNameLst>
                                          <p:attrName>ppt_w</p:attrName>
                                        </p:attrNameLst>
                                      </p:cBhvr>
                                      <p:tavLst>
                                        <p:tav tm="0">
                                          <p:val>
                                            <p:fltVal val="0"/>
                                          </p:val>
                                        </p:tav>
                                        <p:tav tm="100000">
                                          <p:val>
                                            <p:strVal val="#ppt_w"/>
                                          </p:val>
                                        </p:tav>
                                      </p:tavLst>
                                    </p:anim>
                                    <p:anim calcmode="lin" valueType="num">
                                      <p:cBhvr>
                                        <p:cTn id="41" dur="500" fill="hold"/>
                                        <p:tgtEl>
                                          <p:spTgt spid="991255"/>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991260"/>
                                        </p:tgtEl>
                                        <p:attrNameLst>
                                          <p:attrName>style.visibility</p:attrName>
                                        </p:attrNameLst>
                                      </p:cBhvr>
                                      <p:to>
                                        <p:strVal val="visible"/>
                                      </p:to>
                                    </p:set>
                                    <p:animEffect transition="in" filter="wipe(up)">
                                      <p:cBhvr>
                                        <p:cTn id="46" dur="500"/>
                                        <p:tgtEl>
                                          <p:spTgt spid="991260"/>
                                        </p:tgtEl>
                                      </p:cBhvr>
                                    </p:animEffect>
                                  </p:childTnLst>
                                </p:cTn>
                              </p:par>
                            </p:childTnLst>
                          </p:cTn>
                        </p:par>
                        <p:par>
                          <p:cTn id="47" fill="hold">
                            <p:stCondLst>
                              <p:cond delay="500"/>
                            </p:stCondLst>
                            <p:childTnLst>
                              <p:par>
                                <p:cTn id="48" presetID="1" presetClass="entr" presetSubtype="0" fill="hold" nodeType="afterEffect">
                                  <p:stCondLst>
                                    <p:cond delay="0"/>
                                  </p:stCondLst>
                                  <p:childTnLst>
                                    <p:set>
                                      <p:cBhvr>
                                        <p:cTn id="49" dur="1" fill="hold">
                                          <p:stCondLst>
                                            <p:cond delay="499"/>
                                          </p:stCondLst>
                                        </p:cTn>
                                        <p:tgtEl>
                                          <p:spTgt spid="991266"/>
                                        </p:tgtEl>
                                        <p:attrNameLst>
                                          <p:attrName>style.visibility</p:attrName>
                                        </p:attrNameLst>
                                      </p:cBhvr>
                                      <p:to>
                                        <p:strVal val="visible"/>
                                      </p:to>
                                    </p:se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991270"/>
                                        </p:tgtEl>
                                        <p:attrNameLst>
                                          <p:attrName>style.visibility</p:attrName>
                                        </p:attrNameLst>
                                      </p:cBhvr>
                                      <p:to>
                                        <p:strVal val="visible"/>
                                      </p:to>
                                    </p:set>
                                    <p:animEffect transition="in" filter="wipe(left)">
                                      <p:cBhvr>
                                        <p:cTn id="53" dur="500"/>
                                        <p:tgtEl>
                                          <p:spTgt spid="991270"/>
                                        </p:tgtEl>
                                      </p:cBhvr>
                                    </p:animEffect>
                                  </p:childTnLst>
                                </p:cTn>
                              </p:par>
                            </p:childTnLst>
                          </p:cTn>
                        </p:par>
                      </p:childTnLst>
                    </p:cTn>
                  </p:par>
                  <p:par>
                    <p:cTn id="54" fill="hold">
                      <p:stCondLst>
                        <p:cond delay="indefinite"/>
                      </p:stCondLst>
                      <p:childTnLst>
                        <p:par>
                          <p:cTn id="55" fill="hold">
                            <p:stCondLst>
                              <p:cond delay="0"/>
                            </p:stCondLst>
                            <p:childTnLst>
                              <p:par>
                                <p:cTn id="56" presetID="17" presetClass="entr" presetSubtype="8" fill="hold" nodeType="clickEffect">
                                  <p:stCondLst>
                                    <p:cond delay="0"/>
                                  </p:stCondLst>
                                  <p:childTnLst>
                                    <p:set>
                                      <p:cBhvr>
                                        <p:cTn id="57" dur="1" fill="hold">
                                          <p:stCondLst>
                                            <p:cond delay="0"/>
                                          </p:stCondLst>
                                        </p:cTn>
                                        <p:tgtEl>
                                          <p:spTgt spid="991271"/>
                                        </p:tgtEl>
                                        <p:attrNameLst>
                                          <p:attrName>style.visibility</p:attrName>
                                        </p:attrNameLst>
                                      </p:cBhvr>
                                      <p:to>
                                        <p:strVal val="visible"/>
                                      </p:to>
                                    </p:set>
                                    <p:anim calcmode="lin" valueType="num">
                                      <p:cBhvr>
                                        <p:cTn id="58" dur="500" fill="hold"/>
                                        <p:tgtEl>
                                          <p:spTgt spid="991271"/>
                                        </p:tgtEl>
                                        <p:attrNameLst>
                                          <p:attrName>ppt_x</p:attrName>
                                        </p:attrNameLst>
                                      </p:cBhvr>
                                      <p:tavLst>
                                        <p:tav tm="0">
                                          <p:val>
                                            <p:strVal val="#ppt_x-#ppt_w/2"/>
                                          </p:val>
                                        </p:tav>
                                        <p:tav tm="100000">
                                          <p:val>
                                            <p:strVal val="#ppt_x"/>
                                          </p:val>
                                        </p:tav>
                                      </p:tavLst>
                                    </p:anim>
                                    <p:anim calcmode="lin" valueType="num">
                                      <p:cBhvr>
                                        <p:cTn id="59" dur="500" fill="hold"/>
                                        <p:tgtEl>
                                          <p:spTgt spid="991271"/>
                                        </p:tgtEl>
                                        <p:attrNameLst>
                                          <p:attrName>ppt_y</p:attrName>
                                        </p:attrNameLst>
                                      </p:cBhvr>
                                      <p:tavLst>
                                        <p:tav tm="0">
                                          <p:val>
                                            <p:strVal val="#ppt_y"/>
                                          </p:val>
                                        </p:tav>
                                        <p:tav tm="100000">
                                          <p:val>
                                            <p:strVal val="#ppt_y"/>
                                          </p:val>
                                        </p:tav>
                                      </p:tavLst>
                                    </p:anim>
                                    <p:anim calcmode="lin" valueType="num">
                                      <p:cBhvr>
                                        <p:cTn id="60" dur="500" fill="hold"/>
                                        <p:tgtEl>
                                          <p:spTgt spid="991271"/>
                                        </p:tgtEl>
                                        <p:attrNameLst>
                                          <p:attrName>ppt_w</p:attrName>
                                        </p:attrNameLst>
                                      </p:cBhvr>
                                      <p:tavLst>
                                        <p:tav tm="0">
                                          <p:val>
                                            <p:fltVal val="0"/>
                                          </p:val>
                                        </p:tav>
                                        <p:tav tm="100000">
                                          <p:val>
                                            <p:strVal val="#ppt_w"/>
                                          </p:val>
                                        </p:tav>
                                      </p:tavLst>
                                    </p:anim>
                                    <p:anim calcmode="lin" valueType="num">
                                      <p:cBhvr>
                                        <p:cTn id="61" dur="500" fill="hold"/>
                                        <p:tgtEl>
                                          <p:spTgt spid="991271"/>
                                        </p:tgtEl>
                                        <p:attrNameLst>
                                          <p:attrName>ppt_h</p:attrName>
                                        </p:attrNameLst>
                                      </p:cBhvr>
                                      <p:tavLst>
                                        <p:tav tm="0">
                                          <p:val>
                                            <p:strVal val="#ppt_h"/>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991272"/>
                                        </p:tgtEl>
                                        <p:attrNameLst>
                                          <p:attrName>style.visibility</p:attrName>
                                        </p:attrNameLst>
                                      </p:cBhvr>
                                      <p:to>
                                        <p:strVal val="visible"/>
                                      </p:to>
                                    </p:set>
                                    <p:animEffect transition="in" filter="wipe(right)">
                                      <p:cBhvr>
                                        <p:cTn id="66" dur="500"/>
                                        <p:tgtEl>
                                          <p:spTgt spid="991272"/>
                                        </p:tgtEl>
                                      </p:cBhvr>
                                    </p:animEffect>
                                  </p:childTnLst>
                                </p:cTn>
                              </p:par>
                            </p:childTnLst>
                          </p:cTn>
                        </p:par>
                        <p:par>
                          <p:cTn id="67" fill="hold">
                            <p:stCondLst>
                              <p:cond delay="500"/>
                            </p:stCondLst>
                            <p:childTnLst>
                              <p:par>
                                <p:cTn id="68" presetID="1" presetClass="entr" presetSubtype="0" fill="hold" grpId="0" nodeType="afterEffect">
                                  <p:stCondLst>
                                    <p:cond delay="0"/>
                                  </p:stCondLst>
                                  <p:childTnLst>
                                    <p:set>
                                      <p:cBhvr>
                                        <p:cTn id="69" dur="1" fill="hold">
                                          <p:stCondLst>
                                            <p:cond delay="499"/>
                                          </p:stCondLst>
                                        </p:cTn>
                                        <p:tgtEl>
                                          <p:spTgt spid="991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1254" grpId="0" autoUpdateAnimBg="0"/>
      <p:bldP spid="991260" grpId="0" animBg="1"/>
      <p:bldP spid="991261" grpId="0" animBg="1" autoUpdateAnimBg="0"/>
      <p:bldP spid="991276"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p:cNvSpPr>
            <a:spLocks noGrp="1" noChangeArrowheads="1"/>
          </p:cNvSpPr>
          <p:nvPr>
            <p:ph idx="1"/>
          </p:nvPr>
        </p:nvSpPr>
        <p:spPr>
          <a:xfrm>
            <a:off x="381000" y="1143000"/>
            <a:ext cx="8458200" cy="5105400"/>
          </a:xfrm>
        </p:spPr>
        <p:txBody>
          <a:bodyPr>
            <a:normAutofit fontScale="92500" lnSpcReduction="20000"/>
          </a:bodyPr>
          <a:lstStyle/>
          <a:p>
            <a:pPr>
              <a:buFontTx/>
              <a:buNone/>
            </a:pPr>
            <a:r>
              <a:rPr lang="zh-CN" altLang="en-US" sz="4400" b="1">
                <a:solidFill>
                  <a:srgbClr val="663300"/>
                </a:solidFill>
                <a:latin typeface="Times New Roman" panose="02020603050405020304" charset="0"/>
                <a:ea typeface="隶书" panose="02010509060101010101" charset="-122"/>
              </a:rPr>
              <a:t> </a:t>
            </a:r>
            <a:r>
              <a:rPr lang="zh-CN" altLang="en-US" sz="2000" b="1">
                <a:solidFill>
                  <a:srgbClr val="000000"/>
                </a:solidFill>
              </a:rPr>
              <a:t>        </a:t>
            </a:r>
            <a:r>
              <a:rPr lang="zh-CN" altLang="en-US" sz="3200" b="1">
                <a:solidFill>
                  <a:srgbClr val="000000"/>
                </a:solidFill>
                <a:ea typeface="楷体_GB2312" charset="0"/>
              </a:rPr>
              <a:t>起因：一些语言不支持“指针”类型，不能动态生成结点，故借用一维数组来描述线性链表，便于在不支持指针类型的高级程序设计语言中使用链表结构。</a:t>
            </a:r>
            <a:endParaRPr lang="zh-CN" altLang="en-US" sz="3200" b="1">
              <a:solidFill>
                <a:srgbClr val="000000"/>
              </a:solidFill>
              <a:latin typeface="宋体" panose="02010600030101010101" pitchFamily="2" charset="-122"/>
              <a:ea typeface="楷体_GB2312" charset="0"/>
            </a:endParaRPr>
          </a:p>
          <a:p>
            <a:pPr algn="just">
              <a:buFontTx/>
              <a:buNone/>
            </a:pPr>
            <a:r>
              <a:rPr lang="zh-CN" altLang="en-US" sz="3000">
                <a:ea typeface="黑体" panose="02010609060101010101" charset="-122"/>
              </a:rPr>
              <a:t> 类型定义</a:t>
            </a:r>
            <a:endParaRPr lang="zh-CN" altLang="en-US" sz="3000">
              <a:ea typeface="黑体" panose="02010609060101010101" charset="-122"/>
            </a:endParaRPr>
          </a:p>
          <a:p>
            <a:pPr algn="just">
              <a:buFontTx/>
              <a:buNone/>
            </a:pPr>
            <a:r>
              <a:rPr lang="en-US" altLang="zh-CN" sz="3000" b="1">
                <a:solidFill>
                  <a:srgbClr val="800000"/>
                </a:solidFill>
                <a:latin typeface="宋体" panose="02010600030101010101" pitchFamily="2" charset="-122"/>
              </a:rPr>
              <a:t>#define	MAXSIZE	1000</a:t>
            </a:r>
            <a:endParaRPr lang="en-US" altLang="zh-CN" sz="3000" b="1">
              <a:solidFill>
                <a:srgbClr val="000000"/>
              </a:solidFill>
              <a:latin typeface="宋体" panose="02010600030101010101" pitchFamily="2" charset="-122"/>
            </a:endParaRPr>
          </a:p>
          <a:p>
            <a:pPr algn="just">
              <a:buFontTx/>
              <a:buNone/>
            </a:pPr>
            <a:r>
              <a:rPr lang="en-US" altLang="zh-CN" sz="3000" b="1">
                <a:solidFill>
                  <a:srgbClr val="800000"/>
                </a:solidFill>
                <a:latin typeface="宋体" panose="02010600030101010101" pitchFamily="2" charset="-122"/>
              </a:rPr>
              <a:t>typedef struct{</a:t>
            </a:r>
            <a:endParaRPr lang="en-US" altLang="zh-CN" sz="3000" b="1">
              <a:solidFill>
                <a:srgbClr val="000000"/>
              </a:solidFill>
              <a:latin typeface="宋体" panose="02010600030101010101" pitchFamily="2" charset="-122"/>
            </a:endParaRPr>
          </a:p>
          <a:p>
            <a:pPr algn="just">
              <a:buFontTx/>
              <a:buNone/>
            </a:pPr>
            <a:r>
              <a:rPr lang="en-US" altLang="zh-CN" sz="3000" b="1">
                <a:solidFill>
                  <a:srgbClr val="800000"/>
                </a:solidFill>
                <a:latin typeface="宋体" panose="02010600030101010101" pitchFamily="2" charset="-122"/>
              </a:rPr>
              <a:t> ElemType	data;</a:t>
            </a:r>
            <a:endParaRPr lang="en-US" altLang="zh-CN" sz="3000" b="1">
              <a:solidFill>
                <a:srgbClr val="000000"/>
              </a:solidFill>
              <a:latin typeface="宋体" panose="02010600030101010101" pitchFamily="2" charset="-122"/>
            </a:endParaRPr>
          </a:p>
          <a:p>
            <a:pPr algn="just">
              <a:buFontTx/>
              <a:buNone/>
            </a:pPr>
            <a:r>
              <a:rPr lang="en-US" altLang="zh-CN" sz="3000" b="1">
                <a:solidFill>
                  <a:srgbClr val="000000"/>
                </a:solidFill>
                <a:latin typeface="宋体" panose="02010600030101010101" pitchFamily="2" charset="-122"/>
              </a:rPr>
              <a:t> </a:t>
            </a:r>
            <a:r>
              <a:rPr lang="en-US" altLang="zh-CN" sz="3000" b="1">
                <a:solidFill>
                  <a:srgbClr val="800000"/>
                </a:solidFill>
                <a:latin typeface="宋体" panose="02010600030101010101" pitchFamily="2" charset="-122"/>
              </a:rPr>
              <a:t>int</a:t>
            </a:r>
            <a:r>
              <a:rPr lang="en-US" altLang="zh-CN" sz="3000" b="1">
                <a:solidFill>
                  <a:srgbClr val="000000"/>
                </a:solidFill>
                <a:latin typeface="宋体" panose="02010600030101010101" pitchFamily="2" charset="-122"/>
              </a:rPr>
              <a:t> </a:t>
            </a:r>
            <a:r>
              <a:rPr lang="en-US" altLang="zh-CN" sz="3000" b="1">
                <a:solidFill>
                  <a:srgbClr val="800000"/>
                </a:solidFill>
                <a:latin typeface="宋体" panose="02010600030101010101" pitchFamily="2" charset="-122"/>
              </a:rPr>
              <a:t>cur;	//</a:t>
            </a:r>
            <a:r>
              <a:rPr lang="zh-CN" altLang="en-US" sz="3000" b="1">
                <a:solidFill>
                  <a:srgbClr val="800000"/>
                </a:solidFill>
              </a:rPr>
              <a:t>替代动态链表结点中的指针域</a:t>
            </a:r>
            <a:endParaRPr lang="zh-CN" altLang="en-US" sz="3000" b="1">
              <a:solidFill>
                <a:srgbClr val="000000"/>
              </a:solidFill>
              <a:latin typeface="宋体" panose="02010600030101010101" pitchFamily="2" charset="-122"/>
            </a:endParaRPr>
          </a:p>
          <a:p>
            <a:pPr algn="just">
              <a:buFontTx/>
              <a:buNone/>
            </a:pPr>
            <a:r>
              <a:rPr lang="en-US" altLang="zh-CN" sz="3000" b="1">
                <a:solidFill>
                  <a:srgbClr val="800000"/>
                </a:solidFill>
                <a:latin typeface="宋体" panose="02010600030101010101" pitchFamily="2" charset="-122"/>
              </a:rPr>
              <a:t>}component, SLinkList[MAXSIZE];</a:t>
            </a:r>
            <a:endParaRPr lang="en-US" altLang="zh-CN" sz="3000" b="1">
              <a:solidFill>
                <a:srgbClr val="000000"/>
              </a:solidFill>
              <a:latin typeface="宋体" panose="02010600030101010101" pitchFamily="2" charset="-122"/>
            </a:endParaRPr>
          </a:p>
        </p:txBody>
      </p:sp>
      <p:sp>
        <p:nvSpPr>
          <p:cNvPr id="992260" name="Rectangle 4"/>
          <p:cNvSpPr>
            <a:spLocks noChangeArrowheads="1"/>
          </p:cNvSpPr>
          <p:nvPr/>
        </p:nvSpPr>
        <p:spPr bwMode="auto">
          <a:xfrm>
            <a:off x="1676400" y="228600"/>
            <a:ext cx="3257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b="1">
                <a:solidFill>
                  <a:srgbClr val="663300"/>
                </a:solidFill>
                <a:ea typeface="隶书" panose="02010509060101010101" charset="-122"/>
              </a:rPr>
              <a:t>六</a:t>
            </a:r>
            <a:r>
              <a:rPr lang="en-US" altLang="zh-CN" sz="4400" b="1">
                <a:solidFill>
                  <a:srgbClr val="663300"/>
                </a:solidFill>
                <a:ea typeface="隶书" panose="02010509060101010101" charset="-122"/>
              </a:rPr>
              <a:t>. </a:t>
            </a:r>
            <a:r>
              <a:rPr lang="zh-CN" altLang="en-US" sz="4400" b="1">
                <a:solidFill>
                  <a:srgbClr val="663300"/>
                </a:solidFill>
                <a:ea typeface="隶书" panose="02010509060101010101" charset="-122"/>
              </a:rPr>
              <a:t>静态链表</a:t>
            </a:r>
            <a:endParaRPr lang="zh-CN" altLang="en-US" sz="4400" b="1">
              <a:solidFill>
                <a:srgbClr val="663300"/>
              </a:solidFill>
              <a:ea typeface="隶书" panose="02010509060101010101" charset="-122"/>
            </a:endParaRP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p:cNvSpPr>
            <a:spLocks noGrp="1" noChangeArrowheads="1"/>
          </p:cNvSpPr>
          <p:nvPr>
            <p:ph idx="1"/>
          </p:nvPr>
        </p:nvSpPr>
        <p:spPr>
          <a:xfrm>
            <a:off x="457200" y="1371600"/>
            <a:ext cx="8458200" cy="5334000"/>
          </a:xfrm>
        </p:spPr>
        <p:txBody>
          <a:bodyPr/>
          <a:lstStyle/>
          <a:p>
            <a:pPr marL="666750" indent="-666750" defTabSz="1129030">
              <a:buFontTx/>
              <a:buNone/>
            </a:pPr>
            <a:r>
              <a:rPr lang="en-US" altLang="zh-CN" sz="2800" b="1">
                <a:latin typeface="楷体_GB2312" charset="0"/>
                <a:ea typeface="楷体_GB2312" charset="0"/>
              </a:rPr>
              <a:t>1)</a:t>
            </a:r>
            <a:r>
              <a:rPr lang="zh-CN" altLang="en-US" sz="2800" b="1">
                <a:latin typeface="楷体_GB2312" charset="0"/>
                <a:ea typeface="楷体_GB2312" charset="0"/>
              </a:rPr>
              <a:t>链表的结点是数组中的一个分量；</a:t>
            </a:r>
            <a:endParaRPr lang="zh-CN" altLang="en-US" sz="2800" b="1">
              <a:latin typeface="楷体_GB2312" charset="0"/>
              <a:ea typeface="楷体_GB2312" charset="0"/>
            </a:endParaRPr>
          </a:p>
          <a:p>
            <a:pPr marL="666750" indent="-666750" defTabSz="1129030">
              <a:buFontTx/>
              <a:buNone/>
            </a:pPr>
            <a:r>
              <a:rPr lang="en-US" altLang="zh-CN" sz="2800" b="1">
                <a:latin typeface="楷体_GB2312" charset="0"/>
                <a:ea typeface="楷体_GB2312" charset="0"/>
              </a:rPr>
              <a:t>2)</a:t>
            </a:r>
            <a:r>
              <a:rPr lang="zh-CN" altLang="en-US" sz="2800" b="1">
                <a:latin typeface="楷体_GB2312" charset="0"/>
                <a:ea typeface="楷体_GB2312" charset="0"/>
              </a:rPr>
              <a:t>数组分量中的</a:t>
            </a:r>
            <a:r>
              <a:rPr lang="en-US" altLang="zh-CN" sz="2800" b="1">
                <a:latin typeface="楷体_GB2312" charset="0"/>
                <a:ea typeface="楷体_GB2312" charset="0"/>
              </a:rPr>
              <a:t>cur</a:t>
            </a:r>
            <a:r>
              <a:rPr lang="zh-CN" altLang="en-US" sz="2800" b="1">
                <a:latin typeface="楷体_GB2312" charset="0"/>
                <a:ea typeface="楷体_GB2312" charset="0"/>
              </a:rPr>
              <a:t>代替动态链表中的指针域</a:t>
            </a:r>
            <a:r>
              <a:rPr lang="en-US" altLang="zh-CN" sz="2800" b="1">
                <a:latin typeface="楷体_GB2312" charset="0"/>
                <a:ea typeface="楷体_GB2312" charset="0"/>
              </a:rPr>
              <a:t>,</a:t>
            </a:r>
            <a:r>
              <a:rPr lang="zh-CN" altLang="en-US" sz="2800" b="1">
                <a:latin typeface="楷体_GB2312" charset="0"/>
                <a:ea typeface="楷体_GB2312" charset="0"/>
              </a:rPr>
              <a:t>用来 指示直接后继或直接前驱结点在数组中的相对位置；</a:t>
            </a:r>
            <a:endParaRPr lang="zh-CN" altLang="en-US" sz="2800" b="1">
              <a:latin typeface="楷体_GB2312" charset="0"/>
              <a:ea typeface="楷体_GB2312" charset="0"/>
            </a:endParaRPr>
          </a:p>
          <a:p>
            <a:pPr marL="666750" indent="-666750" algn="just" defTabSz="1129030">
              <a:buFontTx/>
              <a:buNone/>
            </a:pPr>
            <a:r>
              <a:rPr lang="en-US" altLang="zh-CN" sz="2800" b="1">
                <a:latin typeface="楷体_GB2312" charset="0"/>
                <a:ea typeface="楷体_GB2312" charset="0"/>
              </a:rPr>
              <a:t>3) </a:t>
            </a:r>
            <a:r>
              <a:rPr lang="zh-CN" altLang="en-US" sz="2800" b="1">
                <a:latin typeface="楷体_GB2312" charset="0"/>
                <a:ea typeface="楷体_GB2312" charset="0"/>
              </a:rPr>
              <a:t>数组的第</a:t>
            </a:r>
            <a:r>
              <a:rPr lang="en-US" altLang="zh-CN" sz="2800" b="1">
                <a:latin typeface="楷体_GB2312" charset="0"/>
                <a:ea typeface="楷体_GB2312" charset="0"/>
              </a:rPr>
              <a:t>0</a:t>
            </a:r>
            <a:r>
              <a:rPr lang="zh-CN" altLang="en-US" sz="2800" b="1">
                <a:latin typeface="楷体_GB2312" charset="0"/>
                <a:ea typeface="楷体_GB2312" charset="0"/>
              </a:rPr>
              <a:t>个分量可视为头结点；</a:t>
            </a:r>
            <a:endParaRPr lang="zh-CN" altLang="en-US" sz="2800" b="1">
              <a:latin typeface="楷体_GB2312" charset="0"/>
              <a:ea typeface="楷体_GB2312" charset="0"/>
            </a:endParaRPr>
          </a:p>
          <a:p>
            <a:pPr marL="666750" indent="-666750" algn="just" defTabSz="1129030">
              <a:buFontTx/>
              <a:buNone/>
            </a:pPr>
            <a:r>
              <a:rPr lang="en-US" altLang="zh-CN" sz="2800" b="1">
                <a:latin typeface="楷体_GB2312" charset="0"/>
                <a:ea typeface="楷体_GB2312" charset="0"/>
              </a:rPr>
              <a:t>4)</a:t>
            </a:r>
            <a:r>
              <a:rPr lang="zh-CN" altLang="en-US" sz="2800" b="1">
                <a:latin typeface="楷体_GB2312" charset="0"/>
                <a:ea typeface="楷体_GB2312" charset="0"/>
              </a:rPr>
              <a:t>以</a:t>
            </a:r>
            <a:r>
              <a:rPr lang="en-US" altLang="zh-CN" sz="2800" b="1">
                <a:latin typeface="楷体_GB2312" charset="0"/>
                <a:ea typeface="楷体_GB2312" charset="0"/>
              </a:rPr>
              <a:t>0</a:t>
            </a:r>
            <a:r>
              <a:rPr lang="zh-CN" altLang="en-US" sz="2800" b="1">
                <a:latin typeface="楷体_GB2312" charset="0"/>
                <a:ea typeface="楷体_GB2312" charset="0"/>
              </a:rPr>
              <a:t>代表空指针</a:t>
            </a:r>
            <a:r>
              <a:rPr lang="en-US" altLang="zh-CN" sz="2800" b="1">
                <a:latin typeface="楷体_GB2312" charset="0"/>
                <a:ea typeface="楷体_GB2312" charset="0"/>
              </a:rPr>
              <a:t>NULL</a:t>
            </a:r>
            <a:endParaRPr lang="en-US" altLang="zh-CN" sz="2800" b="1">
              <a:latin typeface="楷体_GB2312" charset="0"/>
              <a:ea typeface="楷体_GB2312" charset="0"/>
            </a:endParaRPr>
          </a:p>
          <a:p>
            <a:pPr marL="666750" indent="-666750" algn="just" defTabSz="1129030">
              <a:buFontTx/>
              <a:buNone/>
            </a:pPr>
            <a:r>
              <a:rPr lang="en-US" altLang="zh-CN" sz="2800" b="1">
                <a:latin typeface="楷体_GB2312" charset="0"/>
                <a:ea typeface="楷体_GB2312" charset="0"/>
              </a:rPr>
              <a:t>5)</a:t>
            </a:r>
            <a:r>
              <a:rPr lang="zh-CN" altLang="en-US" sz="2800" b="1">
                <a:latin typeface="楷体_GB2312" charset="0"/>
                <a:ea typeface="楷体_GB2312" charset="0"/>
              </a:rPr>
              <a:t>以整型游标</a:t>
            </a:r>
            <a:r>
              <a:rPr lang="en-US" altLang="zh-CN" sz="2800" b="1">
                <a:latin typeface="楷体_GB2312" charset="0"/>
                <a:ea typeface="楷体_GB2312" charset="0"/>
              </a:rPr>
              <a:t>i</a:t>
            </a:r>
            <a:r>
              <a:rPr lang="zh-CN" altLang="en-US" sz="2800" b="1">
                <a:latin typeface="楷体_GB2312" charset="0"/>
                <a:ea typeface="楷体_GB2312" charset="0"/>
              </a:rPr>
              <a:t>代替动态指针</a:t>
            </a:r>
            <a:r>
              <a:rPr lang="en-US" altLang="zh-CN" sz="2800" b="1">
                <a:latin typeface="楷体_GB2312" charset="0"/>
                <a:ea typeface="楷体_GB2312" charset="0"/>
              </a:rPr>
              <a:t>p</a:t>
            </a:r>
            <a:r>
              <a:rPr lang="zh-CN" altLang="en-US" sz="2800" b="1">
                <a:latin typeface="楷体_GB2312" charset="0"/>
                <a:ea typeface="楷体_GB2312" charset="0"/>
              </a:rPr>
              <a:t>，以</a:t>
            </a:r>
            <a:r>
              <a:rPr lang="en-US" altLang="zh-CN" sz="2800" b="1">
                <a:latin typeface="楷体_GB2312" charset="0"/>
                <a:ea typeface="楷体_GB2312" charset="0"/>
              </a:rPr>
              <a:t>i = S[i].cur</a:t>
            </a:r>
            <a:r>
              <a:rPr lang="zh-CN" altLang="en-US" sz="2800" b="1">
                <a:latin typeface="楷体_GB2312" charset="0"/>
                <a:ea typeface="楷体_GB2312" charset="0"/>
              </a:rPr>
              <a:t>代替</a:t>
            </a:r>
            <a:r>
              <a:rPr lang="en-US" altLang="zh-CN" sz="2800" b="1">
                <a:latin typeface="楷体_GB2312" charset="0"/>
                <a:ea typeface="楷体_GB2312" charset="0"/>
              </a:rPr>
              <a:t>p = p-&gt;next</a:t>
            </a:r>
            <a:r>
              <a:rPr lang="zh-CN" altLang="en-US" sz="2800" b="1">
                <a:latin typeface="楷体_GB2312" charset="0"/>
                <a:ea typeface="楷体_GB2312" charset="0"/>
              </a:rPr>
              <a:t>取下一个元素的位置</a:t>
            </a:r>
            <a:endParaRPr lang="zh-CN" altLang="en-US" sz="2800" b="1">
              <a:latin typeface="楷体_GB2312" charset="0"/>
              <a:ea typeface="楷体_GB2312" charset="0"/>
            </a:endParaRPr>
          </a:p>
        </p:txBody>
      </p:sp>
      <p:sp>
        <p:nvSpPr>
          <p:cNvPr id="993284" name="Rectangle 4"/>
          <p:cNvSpPr>
            <a:spLocks noChangeArrowheads="1"/>
          </p:cNvSpPr>
          <p:nvPr/>
        </p:nvSpPr>
        <p:spPr bwMode="auto">
          <a:xfrm>
            <a:off x="1600200" y="304800"/>
            <a:ext cx="4095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FF0000"/>
                </a:solidFill>
                <a:latin typeface="楷体_GB2312" charset="0"/>
                <a:ea typeface="楷体_GB2312" charset="0"/>
              </a:rPr>
              <a:t>与动态链表使用上的差异</a:t>
            </a:r>
            <a:endParaRPr lang="zh-CN" altLang="en-US" sz="2800" b="1">
              <a:solidFill>
                <a:srgbClr val="FF0000"/>
              </a:solidFill>
              <a:latin typeface="楷体_GB2312" charset="0"/>
              <a:ea typeface="楷体_GB2312" charset="0"/>
            </a:endParaRP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433" name="Group 2"/>
          <p:cNvGrpSpPr/>
          <p:nvPr/>
        </p:nvGrpSpPr>
        <p:grpSpPr bwMode="auto">
          <a:xfrm>
            <a:off x="1524000" y="1219200"/>
            <a:ext cx="1905000" cy="542925"/>
            <a:chOff x="1104" y="1527"/>
            <a:chExt cx="1200" cy="342"/>
          </a:xfrm>
        </p:grpSpPr>
        <p:grpSp>
          <p:nvGrpSpPr>
            <p:cNvPr id="146560" name="Group 3"/>
            <p:cNvGrpSpPr/>
            <p:nvPr/>
          </p:nvGrpSpPr>
          <p:grpSpPr bwMode="auto">
            <a:xfrm>
              <a:off x="1344" y="1527"/>
              <a:ext cx="960" cy="336"/>
              <a:chOff x="1560" y="1968"/>
              <a:chExt cx="960" cy="336"/>
            </a:xfrm>
          </p:grpSpPr>
          <p:sp>
            <p:nvSpPr>
              <p:cNvPr id="994308" name="Rectangle 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309" name="Rectangle 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1</a:t>
                </a:r>
                <a:endParaRPr kumimoji="0" lang="en-US" altLang="zh-CN" sz="2800">
                  <a:ea typeface="楷体_GB2312" charset="0"/>
                </a:endParaRPr>
              </a:p>
            </p:txBody>
          </p:sp>
        </p:grpSp>
        <p:sp>
          <p:nvSpPr>
            <p:cNvPr id="994310" name="Text Box 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6434" name="Group 7"/>
          <p:cNvGrpSpPr/>
          <p:nvPr/>
        </p:nvGrpSpPr>
        <p:grpSpPr bwMode="auto">
          <a:xfrm>
            <a:off x="1524000" y="1752600"/>
            <a:ext cx="1905000" cy="542925"/>
            <a:chOff x="1104" y="1527"/>
            <a:chExt cx="1200" cy="342"/>
          </a:xfrm>
        </p:grpSpPr>
        <p:grpSp>
          <p:nvGrpSpPr>
            <p:cNvPr id="146556" name="Group 8"/>
            <p:cNvGrpSpPr/>
            <p:nvPr/>
          </p:nvGrpSpPr>
          <p:grpSpPr bwMode="auto">
            <a:xfrm>
              <a:off x="1344" y="1527"/>
              <a:ext cx="960" cy="336"/>
              <a:chOff x="1560" y="1968"/>
              <a:chExt cx="960" cy="336"/>
            </a:xfrm>
          </p:grpSpPr>
          <p:sp>
            <p:nvSpPr>
              <p:cNvPr id="994313" name="Rectangle 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赵</a:t>
                </a:r>
                <a:endParaRPr kumimoji="0" lang="zh-CN" altLang="en-US" sz="2800">
                  <a:ea typeface="楷体_GB2312" charset="0"/>
                </a:endParaRPr>
              </a:p>
            </p:txBody>
          </p:sp>
          <p:sp>
            <p:nvSpPr>
              <p:cNvPr id="994314" name="Rectangle 1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4315" name="Text Box 1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6435" name="Group 12"/>
          <p:cNvGrpSpPr/>
          <p:nvPr/>
        </p:nvGrpSpPr>
        <p:grpSpPr bwMode="auto">
          <a:xfrm>
            <a:off x="1524000" y="2286000"/>
            <a:ext cx="1905000" cy="542925"/>
            <a:chOff x="1104" y="1527"/>
            <a:chExt cx="1200" cy="342"/>
          </a:xfrm>
        </p:grpSpPr>
        <p:grpSp>
          <p:nvGrpSpPr>
            <p:cNvPr id="146552" name="Group 13"/>
            <p:cNvGrpSpPr/>
            <p:nvPr/>
          </p:nvGrpSpPr>
          <p:grpSpPr bwMode="auto">
            <a:xfrm>
              <a:off x="1344" y="1527"/>
              <a:ext cx="960" cy="336"/>
              <a:chOff x="1560" y="1968"/>
              <a:chExt cx="960" cy="336"/>
            </a:xfrm>
          </p:grpSpPr>
          <p:sp>
            <p:nvSpPr>
              <p:cNvPr id="994318" name="Rectangle 1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钱</a:t>
                </a:r>
                <a:endParaRPr kumimoji="0" lang="zh-CN" altLang="en-US" sz="2800">
                  <a:ea typeface="楷体_GB2312" charset="0"/>
                </a:endParaRPr>
              </a:p>
            </p:txBody>
          </p:sp>
          <p:sp>
            <p:nvSpPr>
              <p:cNvPr id="994319" name="Rectangle 1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3</a:t>
                </a:r>
                <a:endParaRPr kumimoji="0" lang="en-US" altLang="zh-CN" sz="2800">
                  <a:ea typeface="楷体_GB2312" charset="0"/>
                </a:endParaRPr>
              </a:p>
            </p:txBody>
          </p:sp>
        </p:grpSp>
        <p:sp>
          <p:nvSpPr>
            <p:cNvPr id="994320" name="Text Box 1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6436" name="Group 17"/>
          <p:cNvGrpSpPr/>
          <p:nvPr/>
        </p:nvGrpSpPr>
        <p:grpSpPr bwMode="auto">
          <a:xfrm>
            <a:off x="1524000" y="2819400"/>
            <a:ext cx="1905000" cy="542925"/>
            <a:chOff x="1104" y="1527"/>
            <a:chExt cx="1200" cy="342"/>
          </a:xfrm>
        </p:grpSpPr>
        <p:grpSp>
          <p:nvGrpSpPr>
            <p:cNvPr id="146548" name="Group 18"/>
            <p:cNvGrpSpPr/>
            <p:nvPr/>
          </p:nvGrpSpPr>
          <p:grpSpPr bwMode="auto">
            <a:xfrm>
              <a:off x="1344" y="1527"/>
              <a:ext cx="960" cy="336"/>
              <a:chOff x="1560" y="1968"/>
              <a:chExt cx="960" cy="336"/>
            </a:xfrm>
          </p:grpSpPr>
          <p:sp>
            <p:nvSpPr>
              <p:cNvPr id="994323" name="Rectangle 1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孙</a:t>
                </a:r>
                <a:endParaRPr kumimoji="0" lang="zh-CN" altLang="en-US" sz="2800">
                  <a:ea typeface="楷体_GB2312" charset="0"/>
                </a:endParaRPr>
              </a:p>
            </p:txBody>
          </p:sp>
          <p:sp>
            <p:nvSpPr>
              <p:cNvPr id="994324" name="Rectangle 2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4325" name="Text Box 2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6437" name="Group 22"/>
          <p:cNvGrpSpPr/>
          <p:nvPr/>
        </p:nvGrpSpPr>
        <p:grpSpPr bwMode="auto">
          <a:xfrm>
            <a:off x="1524000" y="3352800"/>
            <a:ext cx="1905000" cy="542925"/>
            <a:chOff x="1104" y="1527"/>
            <a:chExt cx="1200" cy="342"/>
          </a:xfrm>
        </p:grpSpPr>
        <p:grpSp>
          <p:nvGrpSpPr>
            <p:cNvPr id="146544" name="Group 23"/>
            <p:cNvGrpSpPr/>
            <p:nvPr/>
          </p:nvGrpSpPr>
          <p:grpSpPr bwMode="auto">
            <a:xfrm>
              <a:off x="1344" y="1527"/>
              <a:ext cx="960" cy="336"/>
              <a:chOff x="1560" y="1968"/>
              <a:chExt cx="960" cy="336"/>
            </a:xfrm>
          </p:grpSpPr>
          <p:sp>
            <p:nvSpPr>
              <p:cNvPr id="994328" name="Rectangle 2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周</a:t>
                </a:r>
                <a:endParaRPr kumimoji="0" lang="zh-CN" altLang="en-US" sz="2800">
                  <a:ea typeface="楷体_GB2312" charset="0"/>
                </a:endParaRPr>
              </a:p>
            </p:txBody>
          </p:sp>
          <p:sp>
            <p:nvSpPr>
              <p:cNvPr id="994329" name="Rectangle 2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4330" name="Text Box 2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6438" name="Group 27"/>
          <p:cNvGrpSpPr/>
          <p:nvPr/>
        </p:nvGrpSpPr>
        <p:grpSpPr bwMode="auto">
          <a:xfrm>
            <a:off x="1524000" y="3886200"/>
            <a:ext cx="1905000" cy="542925"/>
            <a:chOff x="1104" y="1527"/>
            <a:chExt cx="1200" cy="342"/>
          </a:xfrm>
        </p:grpSpPr>
        <p:grpSp>
          <p:nvGrpSpPr>
            <p:cNvPr id="146540" name="Group 28"/>
            <p:cNvGrpSpPr/>
            <p:nvPr/>
          </p:nvGrpSpPr>
          <p:grpSpPr bwMode="auto">
            <a:xfrm>
              <a:off x="1344" y="1527"/>
              <a:ext cx="960" cy="336"/>
              <a:chOff x="1560" y="1968"/>
              <a:chExt cx="960" cy="336"/>
            </a:xfrm>
          </p:grpSpPr>
          <p:sp>
            <p:nvSpPr>
              <p:cNvPr id="994333" name="Rectangle 2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吴</a:t>
                </a:r>
                <a:endParaRPr kumimoji="0" lang="zh-CN" altLang="en-US" sz="2800">
                  <a:ea typeface="楷体_GB2312" charset="0"/>
                </a:endParaRPr>
              </a:p>
            </p:txBody>
          </p:sp>
          <p:sp>
            <p:nvSpPr>
              <p:cNvPr id="994334" name="Rectangle 3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4335" name="Text Box 3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grpSp>
        <p:nvGrpSpPr>
          <p:cNvPr id="146439" name="Group 32"/>
          <p:cNvGrpSpPr/>
          <p:nvPr/>
        </p:nvGrpSpPr>
        <p:grpSpPr bwMode="auto">
          <a:xfrm>
            <a:off x="1524000" y="4419600"/>
            <a:ext cx="1905000" cy="542925"/>
            <a:chOff x="1104" y="1527"/>
            <a:chExt cx="1200" cy="342"/>
          </a:xfrm>
        </p:grpSpPr>
        <p:grpSp>
          <p:nvGrpSpPr>
            <p:cNvPr id="146536" name="Group 33"/>
            <p:cNvGrpSpPr/>
            <p:nvPr/>
          </p:nvGrpSpPr>
          <p:grpSpPr bwMode="auto">
            <a:xfrm>
              <a:off x="1344" y="1527"/>
              <a:ext cx="960" cy="336"/>
              <a:chOff x="1560" y="1968"/>
              <a:chExt cx="960" cy="336"/>
            </a:xfrm>
          </p:grpSpPr>
          <p:sp>
            <p:nvSpPr>
              <p:cNvPr id="994338" name="Rectangle 3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339" name="Rectangle 3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grpSp>
        <p:sp>
          <p:nvSpPr>
            <p:cNvPr id="994340" name="Text Box 3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grpSp>
        <p:nvGrpSpPr>
          <p:cNvPr id="146440" name="Group 37"/>
          <p:cNvGrpSpPr/>
          <p:nvPr/>
        </p:nvGrpSpPr>
        <p:grpSpPr bwMode="auto">
          <a:xfrm>
            <a:off x="1524000" y="4953000"/>
            <a:ext cx="1905000" cy="542925"/>
            <a:chOff x="1104" y="1527"/>
            <a:chExt cx="1200" cy="342"/>
          </a:xfrm>
        </p:grpSpPr>
        <p:grpSp>
          <p:nvGrpSpPr>
            <p:cNvPr id="146532" name="Group 38"/>
            <p:cNvGrpSpPr/>
            <p:nvPr/>
          </p:nvGrpSpPr>
          <p:grpSpPr bwMode="auto">
            <a:xfrm>
              <a:off x="1344" y="1527"/>
              <a:ext cx="960" cy="336"/>
              <a:chOff x="1560" y="1968"/>
              <a:chExt cx="960" cy="336"/>
            </a:xfrm>
          </p:grpSpPr>
          <p:sp>
            <p:nvSpPr>
              <p:cNvPr id="994343" name="Rectangle 3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344" name="Rectangle 4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grpSp>
        <p:sp>
          <p:nvSpPr>
            <p:cNvPr id="994345" name="Text Box 4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sp>
        <p:nvSpPr>
          <p:cNvPr id="994346" name="Text Box 42"/>
          <p:cNvSpPr txBox="1">
            <a:spLocks noChangeArrowheads="1"/>
          </p:cNvSpPr>
          <p:nvPr/>
        </p:nvSpPr>
        <p:spPr bwMode="auto">
          <a:xfrm>
            <a:off x="2895600" y="6985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cur</a:t>
            </a:r>
            <a:endParaRPr kumimoji="0" lang="en-US" altLang="zh-CN" sz="2800">
              <a:ea typeface="楷体_GB2312" charset="0"/>
            </a:endParaRPr>
          </a:p>
        </p:txBody>
      </p:sp>
      <p:sp>
        <p:nvSpPr>
          <p:cNvPr id="994347" name="Text Box 43"/>
          <p:cNvSpPr txBox="1">
            <a:spLocks noChangeArrowheads="1"/>
          </p:cNvSpPr>
          <p:nvPr/>
        </p:nvSpPr>
        <p:spPr bwMode="auto">
          <a:xfrm>
            <a:off x="1905000" y="6858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data</a:t>
            </a:r>
            <a:endParaRPr kumimoji="0" lang="en-US" altLang="zh-CN" sz="2800">
              <a:ea typeface="楷体_GB2312" charset="0"/>
            </a:endParaRPr>
          </a:p>
        </p:txBody>
      </p:sp>
      <p:grpSp>
        <p:nvGrpSpPr>
          <p:cNvPr id="146443" name="Group 44"/>
          <p:cNvGrpSpPr/>
          <p:nvPr/>
        </p:nvGrpSpPr>
        <p:grpSpPr bwMode="auto">
          <a:xfrm>
            <a:off x="4191000" y="1219200"/>
            <a:ext cx="1905000" cy="542925"/>
            <a:chOff x="1104" y="1527"/>
            <a:chExt cx="1200" cy="342"/>
          </a:xfrm>
        </p:grpSpPr>
        <p:grpSp>
          <p:nvGrpSpPr>
            <p:cNvPr id="146528" name="Group 45"/>
            <p:cNvGrpSpPr/>
            <p:nvPr/>
          </p:nvGrpSpPr>
          <p:grpSpPr bwMode="auto">
            <a:xfrm>
              <a:off x="1344" y="1527"/>
              <a:ext cx="960" cy="336"/>
              <a:chOff x="1560" y="1968"/>
              <a:chExt cx="960" cy="336"/>
            </a:xfrm>
          </p:grpSpPr>
          <p:sp>
            <p:nvSpPr>
              <p:cNvPr id="994350" name="Rectangle 4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351" name="Rectangle 4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1</a:t>
                </a:r>
                <a:endParaRPr kumimoji="0" lang="en-US" altLang="zh-CN" sz="2800">
                  <a:ea typeface="楷体_GB2312" charset="0"/>
                </a:endParaRPr>
              </a:p>
            </p:txBody>
          </p:sp>
        </p:grpSp>
        <p:sp>
          <p:nvSpPr>
            <p:cNvPr id="994352" name="Text Box 4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6444" name="Group 49"/>
          <p:cNvGrpSpPr/>
          <p:nvPr/>
        </p:nvGrpSpPr>
        <p:grpSpPr bwMode="auto">
          <a:xfrm>
            <a:off x="4191000" y="1752600"/>
            <a:ext cx="1905000" cy="542925"/>
            <a:chOff x="1104" y="1527"/>
            <a:chExt cx="1200" cy="342"/>
          </a:xfrm>
        </p:grpSpPr>
        <p:grpSp>
          <p:nvGrpSpPr>
            <p:cNvPr id="146524" name="Group 50"/>
            <p:cNvGrpSpPr/>
            <p:nvPr/>
          </p:nvGrpSpPr>
          <p:grpSpPr bwMode="auto">
            <a:xfrm>
              <a:off x="1344" y="1527"/>
              <a:ext cx="960" cy="336"/>
              <a:chOff x="1560" y="1968"/>
              <a:chExt cx="960" cy="336"/>
            </a:xfrm>
          </p:grpSpPr>
          <p:sp>
            <p:nvSpPr>
              <p:cNvPr id="994355" name="Rectangle 5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赵</a:t>
                </a:r>
                <a:endParaRPr kumimoji="0" lang="zh-CN" altLang="en-US" sz="2800">
                  <a:ea typeface="楷体_GB2312" charset="0"/>
                </a:endParaRPr>
              </a:p>
            </p:txBody>
          </p:sp>
          <p:sp>
            <p:nvSpPr>
              <p:cNvPr id="994356" name="Rectangle 5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4357" name="Text Box 5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6445" name="Group 54"/>
          <p:cNvGrpSpPr/>
          <p:nvPr/>
        </p:nvGrpSpPr>
        <p:grpSpPr bwMode="auto">
          <a:xfrm>
            <a:off x="4191000" y="2286000"/>
            <a:ext cx="1905000" cy="542925"/>
            <a:chOff x="1104" y="1527"/>
            <a:chExt cx="1200" cy="342"/>
          </a:xfrm>
        </p:grpSpPr>
        <p:grpSp>
          <p:nvGrpSpPr>
            <p:cNvPr id="146520" name="Group 55"/>
            <p:cNvGrpSpPr/>
            <p:nvPr/>
          </p:nvGrpSpPr>
          <p:grpSpPr bwMode="auto">
            <a:xfrm>
              <a:off x="1344" y="1527"/>
              <a:ext cx="960" cy="336"/>
              <a:chOff x="1560" y="1968"/>
              <a:chExt cx="960" cy="336"/>
            </a:xfrm>
          </p:grpSpPr>
          <p:sp>
            <p:nvSpPr>
              <p:cNvPr id="994360" name="Rectangle 5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钱</a:t>
                </a:r>
                <a:endParaRPr kumimoji="0" lang="zh-CN" altLang="en-US" sz="2800">
                  <a:ea typeface="楷体_GB2312" charset="0"/>
                </a:endParaRPr>
              </a:p>
            </p:txBody>
          </p:sp>
          <p:sp>
            <p:nvSpPr>
              <p:cNvPr id="994361" name="Rectangle 5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3</a:t>
                </a:r>
                <a:endParaRPr kumimoji="0" lang="en-US" altLang="zh-CN" sz="2800">
                  <a:ea typeface="楷体_GB2312" charset="0"/>
                </a:endParaRPr>
              </a:p>
            </p:txBody>
          </p:sp>
        </p:grpSp>
        <p:sp>
          <p:nvSpPr>
            <p:cNvPr id="994362" name="Text Box 5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6446" name="Group 59"/>
          <p:cNvGrpSpPr/>
          <p:nvPr/>
        </p:nvGrpSpPr>
        <p:grpSpPr bwMode="auto">
          <a:xfrm>
            <a:off x="4191000" y="2819400"/>
            <a:ext cx="1905000" cy="542925"/>
            <a:chOff x="1104" y="1527"/>
            <a:chExt cx="1200" cy="342"/>
          </a:xfrm>
        </p:grpSpPr>
        <p:grpSp>
          <p:nvGrpSpPr>
            <p:cNvPr id="146516" name="Group 60"/>
            <p:cNvGrpSpPr/>
            <p:nvPr/>
          </p:nvGrpSpPr>
          <p:grpSpPr bwMode="auto">
            <a:xfrm>
              <a:off x="1344" y="1527"/>
              <a:ext cx="960" cy="336"/>
              <a:chOff x="1560" y="1968"/>
              <a:chExt cx="960" cy="336"/>
            </a:xfrm>
          </p:grpSpPr>
          <p:sp>
            <p:nvSpPr>
              <p:cNvPr id="994365" name="Rectangle 6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孙</a:t>
                </a:r>
                <a:endParaRPr kumimoji="0" lang="zh-CN" altLang="en-US" sz="2800">
                  <a:ea typeface="楷体_GB2312" charset="0"/>
                </a:endParaRPr>
              </a:p>
            </p:txBody>
          </p:sp>
          <p:sp>
            <p:nvSpPr>
              <p:cNvPr id="994366" name="Rectangle 6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6</a:t>
                </a:r>
                <a:endParaRPr kumimoji="0" lang="en-US" altLang="zh-CN" sz="2800">
                  <a:ea typeface="楷体_GB2312" charset="0"/>
                </a:endParaRPr>
              </a:p>
            </p:txBody>
          </p:sp>
        </p:grpSp>
        <p:sp>
          <p:nvSpPr>
            <p:cNvPr id="994367" name="Text Box 6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6447" name="Group 64"/>
          <p:cNvGrpSpPr/>
          <p:nvPr/>
        </p:nvGrpSpPr>
        <p:grpSpPr bwMode="auto">
          <a:xfrm>
            <a:off x="4191000" y="3352800"/>
            <a:ext cx="1905000" cy="542925"/>
            <a:chOff x="1104" y="1527"/>
            <a:chExt cx="1200" cy="342"/>
          </a:xfrm>
        </p:grpSpPr>
        <p:grpSp>
          <p:nvGrpSpPr>
            <p:cNvPr id="146512" name="Group 65"/>
            <p:cNvGrpSpPr/>
            <p:nvPr/>
          </p:nvGrpSpPr>
          <p:grpSpPr bwMode="auto">
            <a:xfrm>
              <a:off x="1344" y="1527"/>
              <a:ext cx="960" cy="336"/>
              <a:chOff x="1560" y="1968"/>
              <a:chExt cx="960" cy="336"/>
            </a:xfrm>
          </p:grpSpPr>
          <p:sp>
            <p:nvSpPr>
              <p:cNvPr id="994370" name="Rectangle 6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周</a:t>
                </a:r>
                <a:endParaRPr kumimoji="0" lang="zh-CN" altLang="en-US" sz="2800">
                  <a:ea typeface="楷体_GB2312" charset="0"/>
                </a:endParaRPr>
              </a:p>
            </p:txBody>
          </p:sp>
          <p:sp>
            <p:nvSpPr>
              <p:cNvPr id="994371" name="Rectangle 6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4372" name="Text Box 6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6448" name="Group 69"/>
          <p:cNvGrpSpPr/>
          <p:nvPr/>
        </p:nvGrpSpPr>
        <p:grpSpPr bwMode="auto">
          <a:xfrm>
            <a:off x="4191000" y="3886200"/>
            <a:ext cx="1905000" cy="542925"/>
            <a:chOff x="1104" y="1527"/>
            <a:chExt cx="1200" cy="342"/>
          </a:xfrm>
        </p:grpSpPr>
        <p:grpSp>
          <p:nvGrpSpPr>
            <p:cNvPr id="146508" name="Group 70"/>
            <p:cNvGrpSpPr/>
            <p:nvPr/>
          </p:nvGrpSpPr>
          <p:grpSpPr bwMode="auto">
            <a:xfrm>
              <a:off x="1344" y="1527"/>
              <a:ext cx="960" cy="336"/>
              <a:chOff x="1560" y="1968"/>
              <a:chExt cx="960" cy="336"/>
            </a:xfrm>
          </p:grpSpPr>
          <p:sp>
            <p:nvSpPr>
              <p:cNvPr id="994375" name="Rectangle 7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吴</a:t>
                </a:r>
                <a:endParaRPr kumimoji="0" lang="zh-CN" altLang="en-US" sz="2800">
                  <a:ea typeface="楷体_GB2312" charset="0"/>
                </a:endParaRPr>
              </a:p>
            </p:txBody>
          </p:sp>
          <p:sp>
            <p:nvSpPr>
              <p:cNvPr id="994376" name="Rectangle 7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4377" name="Text Box 7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grpSp>
        <p:nvGrpSpPr>
          <p:cNvPr id="146449" name="Group 74"/>
          <p:cNvGrpSpPr/>
          <p:nvPr/>
        </p:nvGrpSpPr>
        <p:grpSpPr bwMode="auto">
          <a:xfrm>
            <a:off x="4191000" y="4953000"/>
            <a:ext cx="1905000" cy="542925"/>
            <a:chOff x="1104" y="1527"/>
            <a:chExt cx="1200" cy="342"/>
          </a:xfrm>
        </p:grpSpPr>
        <p:grpSp>
          <p:nvGrpSpPr>
            <p:cNvPr id="146504" name="Group 75"/>
            <p:cNvGrpSpPr/>
            <p:nvPr/>
          </p:nvGrpSpPr>
          <p:grpSpPr bwMode="auto">
            <a:xfrm>
              <a:off x="1344" y="1527"/>
              <a:ext cx="960" cy="336"/>
              <a:chOff x="1560" y="1968"/>
              <a:chExt cx="960" cy="336"/>
            </a:xfrm>
          </p:grpSpPr>
          <p:sp>
            <p:nvSpPr>
              <p:cNvPr id="994380" name="Rectangle 7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381" name="Rectangle 7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grpSp>
        <p:sp>
          <p:nvSpPr>
            <p:cNvPr id="994382" name="Text Box 7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sp>
        <p:nvSpPr>
          <p:cNvPr id="994383" name="Text Box 79"/>
          <p:cNvSpPr txBox="1">
            <a:spLocks noChangeArrowheads="1"/>
          </p:cNvSpPr>
          <p:nvPr/>
        </p:nvSpPr>
        <p:spPr bwMode="auto">
          <a:xfrm>
            <a:off x="5562600" y="6985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cur</a:t>
            </a:r>
            <a:endParaRPr kumimoji="0" lang="en-US" altLang="zh-CN" sz="2800">
              <a:ea typeface="楷体_GB2312" charset="0"/>
            </a:endParaRPr>
          </a:p>
        </p:txBody>
      </p:sp>
      <p:sp>
        <p:nvSpPr>
          <p:cNvPr id="994384" name="Text Box 80"/>
          <p:cNvSpPr txBox="1">
            <a:spLocks noChangeArrowheads="1"/>
          </p:cNvSpPr>
          <p:nvPr/>
        </p:nvSpPr>
        <p:spPr bwMode="auto">
          <a:xfrm>
            <a:off x="4572000" y="6858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data</a:t>
            </a:r>
            <a:endParaRPr kumimoji="0" lang="en-US" altLang="zh-CN" sz="2800">
              <a:ea typeface="楷体_GB2312" charset="0"/>
            </a:endParaRPr>
          </a:p>
        </p:txBody>
      </p:sp>
      <p:grpSp>
        <p:nvGrpSpPr>
          <p:cNvPr id="146452" name="Group 81"/>
          <p:cNvGrpSpPr/>
          <p:nvPr/>
        </p:nvGrpSpPr>
        <p:grpSpPr bwMode="auto">
          <a:xfrm>
            <a:off x="4191000" y="4419600"/>
            <a:ext cx="1905000" cy="542925"/>
            <a:chOff x="1104" y="1527"/>
            <a:chExt cx="1200" cy="342"/>
          </a:xfrm>
        </p:grpSpPr>
        <p:grpSp>
          <p:nvGrpSpPr>
            <p:cNvPr id="146500" name="Group 82"/>
            <p:cNvGrpSpPr/>
            <p:nvPr/>
          </p:nvGrpSpPr>
          <p:grpSpPr bwMode="auto">
            <a:xfrm>
              <a:off x="1344" y="1527"/>
              <a:ext cx="960" cy="336"/>
              <a:chOff x="1560" y="1968"/>
              <a:chExt cx="960" cy="336"/>
            </a:xfrm>
          </p:grpSpPr>
          <p:sp>
            <p:nvSpPr>
              <p:cNvPr id="994387" name="Rectangle 83"/>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李</a:t>
                </a:r>
                <a:endParaRPr kumimoji="0" lang="zh-CN" altLang="en-US" sz="2800">
                  <a:ea typeface="楷体_GB2312" charset="0"/>
                </a:endParaRPr>
              </a:p>
            </p:txBody>
          </p:sp>
          <p:sp>
            <p:nvSpPr>
              <p:cNvPr id="994388" name="Rectangle 84"/>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4389" name="Text Box 85"/>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sp>
        <p:nvSpPr>
          <p:cNvPr id="994390" name="Rectangle 86"/>
          <p:cNvSpPr>
            <a:spLocks noChangeArrowheads="1"/>
          </p:cNvSpPr>
          <p:nvPr/>
        </p:nvSpPr>
        <p:spPr bwMode="auto">
          <a:xfrm>
            <a:off x="4213225" y="762000"/>
            <a:ext cx="2921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kumimoji="0" lang="en-US" altLang="zh-CN" sz="2800">
                <a:ea typeface="楷体_GB2312" charset="0"/>
              </a:rPr>
              <a:t>i</a:t>
            </a:r>
            <a:endParaRPr kumimoji="0" lang="en-US" altLang="zh-CN" sz="2800">
              <a:ea typeface="楷体_GB2312" charset="0"/>
            </a:endParaRPr>
          </a:p>
        </p:txBody>
      </p:sp>
      <p:sp>
        <p:nvSpPr>
          <p:cNvPr id="994391" name="Rectangle 87"/>
          <p:cNvSpPr>
            <a:spLocks noChangeArrowheads="1"/>
          </p:cNvSpPr>
          <p:nvPr/>
        </p:nvSpPr>
        <p:spPr bwMode="auto">
          <a:xfrm>
            <a:off x="1911350" y="5805488"/>
            <a:ext cx="1265238" cy="5286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楷体_GB2312" charset="0"/>
                <a:ea typeface="楷体_GB2312" charset="0"/>
              </a:rPr>
              <a:t>修改前</a:t>
            </a:r>
            <a:endParaRPr lang="zh-CN" altLang="en-US" sz="2800" b="1">
              <a:latin typeface="楷体_GB2312" charset="0"/>
              <a:ea typeface="楷体_GB2312" charset="0"/>
            </a:endParaRPr>
          </a:p>
        </p:txBody>
      </p:sp>
      <p:grpSp>
        <p:nvGrpSpPr>
          <p:cNvPr id="146455" name="Group 88"/>
          <p:cNvGrpSpPr/>
          <p:nvPr/>
        </p:nvGrpSpPr>
        <p:grpSpPr bwMode="auto">
          <a:xfrm>
            <a:off x="6553200" y="1219200"/>
            <a:ext cx="1905000" cy="542925"/>
            <a:chOff x="1104" y="1527"/>
            <a:chExt cx="1200" cy="342"/>
          </a:xfrm>
        </p:grpSpPr>
        <p:grpSp>
          <p:nvGrpSpPr>
            <p:cNvPr id="146496" name="Group 89"/>
            <p:cNvGrpSpPr/>
            <p:nvPr/>
          </p:nvGrpSpPr>
          <p:grpSpPr bwMode="auto">
            <a:xfrm>
              <a:off x="1344" y="1527"/>
              <a:ext cx="960" cy="336"/>
              <a:chOff x="1560" y="1968"/>
              <a:chExt cx="960" cy="336"/>
            </a:xfrm>
          </p:grpSpPr>
          <p:sp>
            <p:nvSpPr>
              <p:cNvPr id="994394" name="Rectangle 90"/>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395" name="Rectangle 91"/>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1</a:t>
                </a:r>
                <a:endParaRPr kumimoji="0" lang="en-US" altLang="zh-CN" sz="2800">
                  <a:ea typeface="楷体_GB2312" charset="0"/>
                </a:endParaRPr>
              </a:p>
            </p:txBody>
          </p:sp>
        </p:grpSp>
        <p:sp>
          <p:nvSpPr>
            <p:cNvPr id="994396" name="Text Box 92"/>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6456" name="Group 93"/>
          <p:cNvGrpSpPr/>
          <p:nvPr/>
        </p:nvGrpSpPr>
        <p:grpSpPr bwMode="auto">
          <a:xfrm>
            <a:off x="6553200" y="1752600"/>
            <a:ext cx="1905000" cy="542925"/>
            <a:chOff x="1104" y="1527"/>
            <a:chExt cx="1200" cy="342"/>
          </a:xfrm>
        </p:grpSpPr>
        <p:grpSp>
          <p:nvGrpSpPr>
            <p:cNvPr id="146492" name="Group 94"/>
            <p:cNvGrpSpPr/>
            <p:nvPr/>
          </p:nvGrpSpPr>
          <p:grpSpPr bwMode="auto">
            <a:xfrm>
              <a:off x="1344" y="1527"/>
              <a:ext cx="960" cy="336"/>
              <a:chOff x="1560" y="1968"/>
              <a:chExt cx="960" cy="336"/>
            </a:xfrm>
          </p:grpSpPr>
          <p:sp>
            <p:nvSpPr>
              <p:cNvPr id="994399" name="Rectangle 95"/>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赵</a:t>
                </a:r>
                <a:endParaRPr kumimoji="0" lang="zh-CN" altLang="en-US" sz="2800">
                  <a:ea typeface="楷体_GB2312" charset="0"/>
                </a:endParaRPr>
              </a:p>
            </p:txBody>
          </p:sp>
          <p:sp>
            <p:nvSpPr>
              <p:cNvPr id="994400" name="Rectangle 96"/>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4401" name="Text Box 97"/>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6457" name="Group 98"/>
          <p:cNvGrpSpPr/>
          <p:nvPr/>
        </p:nvGrpSpPr>
        <p:grpSpPr bwMode="auto">
          <a:xfrm>
            <a:off x="6553200" y="2286000"/>
            <a:ext cx="1905000" cy="542925"/>
            <a:chOff x="1104" y="1527"/>
            <a:chExt cx="1200" cy="342"/>
          </a:xfrm>
        </p:grpSpPr>
        <p:grpSp>
          <p:nvGrpSpPr>
            <p:cNvPr id="146488" name="Group 99"/>
            <p:cNvGrpSpPr/>
            <p:nvPr/>
          </p:nvGrpSpPr>
          <p:grpSpPr bwMode="auto">
            <a:xfrm>
              <a:off x="1344" y="1527"/>
              <a:ext cx="960" cy="336"/>
              <a:chOff x="1560" y="1968"/>
              <a:chExt cx="960" cy="336"/>
            </a:xfrm>
          </p:grpSpPr>
          <p:sp>
            <p:nvSpPr>
              <p:cNvPr id="994404" name="Rectangle 100"/>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钱</a:t>
                </a:r>
                <a:endParaRPr kumimoji="0" lang="zh-CN" altLang="en-US" sz="2800">
                  <a:ea typeface="楷体_GB2312" charset="0"/>
                </a:endParaRPr>
              </a:p>
            </p:txBody>
          </p:sp>
          <p:sp>
            <p:nvSpPr>
              <p:cNvPr id="994405" name="Rectangle 101"/>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6</a:t>
                </a:r>
                <a:endParaRPr kumimoji="0" lang="en-US" altLang="zh-CN" sz="2800">
                  <a:ea typeface="楷体_GB2312" charset="0"/>
                </a:endParaRPr>
              </a:p>
            </p:txBody>
          </p:sp>
        </p:grpSp>
        <p:sp>
          <p:nvSpPr>
            <p:cNvPr id="994406" name="Text Box 102"/>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6458" name="Group 103"/>
          <p:cNvGrpSpPr/>
          <p:nvPr/>
        </p:nvGrpSpPr>
        <p:grpSpPr bwMode="auto">
          <a:xfrm>
            <a:off x="6553200" y="2819400"/>
            <a:ext cx="1905000" cy="542925"/>
            <a:chOff x="1104" y="1527"/>
            <a:chExt cx="1200" cy="342"/>
          </a:xfrm>
        </p:grpSpPr>
        <p:grpSp>
          <p:nvGrpSpPr>
            <p:cNvPr id="146484" name="Group 104"/>
            <p:cNvGrpSpPr/>
            <p:nvPr/>
          </p:nvGrpSpPr>
          <p:grpSpPr bwMode="auto">
            <a:xfrm>
              <a:off x="1344" y="1527"/>
              <a:ext cx="960" cy="336"/>
              <a:chOff x="1560" y="1968"/>
              <a:chExt cx="960" cy="336"/>
            </a:xfrm>
          </p:grpSpPr>
          <p:sp>
            <p:nvSpPr>
              <p:cNvPr id="994409" name="Rectangle 105"/>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410" name="Rectangle 106"/>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grpSp>
        <p:sp>
          <p:nvSpPr>
            <p:cNvPr id="994411" name="Text Box 107"/>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6459" name="Group 108"/>
          <p:cNvGrpSpPr/>
          <p:nvPr/>
        </p:nvGrpSpPr>
        <p:grpSpPr bwMode="auto">
          <a:xfrm>
            <a:off x="6553200" y="3352800"/>
            <a:ext cx="1905000" cy="542925"/>
            <a:chOff x="1104" y="1527"/>
            <a:chExt cx="1200" cy="342"/>
          </a:xfrm>
        </p:grpSpPr>
        <p:grpSp>
          <p:nvGrpSpPr>
            <p:cNvPr id="146480" name="Group 109"/>
            <p:cNvGrpSpPr/>
            <p:nvPr/>
          </p:nvGrpSpPr>
          <p:grpSpPr bwMode="auto">
            <a:xfrm>
              <a:off x="1344" y="1527"/>
              <a:ext cx="960" cy="336"/>
              <a:chOff x="1560" y="1968"/>
              <a:chExt cx="960" cy="336"/>
            </a:xfrm>
          </p:grpSpPr>
          <p:sp>
            <p:nvSpPr>
              <p:cNvPr id="994414" name="Rectangle 110"/>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周</a:t>
                </a:r>
                <a:endParaRPr kumimoji="0" lang="zh-CN" altLang="en-US" sz="2800">
                  <a:ea typeface="楷体_GB2312" charset="0"/>
                </a:endParaRPr>
              </a:p>
            </p:txBody>
          </p:sp>
          <p:sp>
            <p:nvSpPr>
              <p:cNvPr id="994415" name="Rectangle 111"/>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4416" name="Text Box 112"/>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6460" name="Group 113"/>
          <p:cNvGrpSpPr/>
          <p:nvPr/>
        </p:nvGrpSpPr>
        <p:grpSpPr bwMode="auto">
          <a:xfrm>
            <a:off x="6553200" y="3886200"/>
            <a:ext cx="1905000" cy="542925"/>
            <a:chOff x="1104" y="1527"/>
            <a:chExt cx="1200" cy="342"/>
          </a:xfrm>
        </p:grpSpPr>
        <p:grpSp>
          <p:nvGrpSpPr>
            <p:cNvPr id="146476" name="Group 114"/>
            <p:cNvGrpSpPr/>
            <p:nvPr/>
          </p:nvGrpSpPr>
          <p:grpSpPr bwMode="auto">
            <a:xfrm>
              <a:off x="1344" y="1527"/>
              <a:ext cx="960" cy="336"/>
              <a:chOff x="1560" y="1968"/>
              <a:chExt cx="960" cy="336"/>
            </a:xfrm>
          </p:grpSpPr>
          <p:sp>
            <p:nvSpPr>
              <p:cNvPr id="994419" name="Rectangle 115"/>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吴</a:t>
                </a:r>
                <a:endParaRPr kumimoji="0" lang="zh-CN" altLang="en-US" sz="2800">
                  <a:ea typeface="楷体_GB2312" charset="0"/>
                </a:endParaRPr>
              </a:p>
            </p:txBody>
          </p:sp>
          <p:sp>
            <p:nvSpPr>
              <p:cNvPr id="994420" name="Rectangle 116"/>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4421" name="Text Box 117"/>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grpSp>
        <p:nvGrpSpPr>
          <p:cNvPr id="146461" name="Group 118"/>
          <p:cNvGrpSpPr/>
          <p:nvPr/>
        </p:nvGrpSpPr>
        <p:grpSpPr bwMode="auto">
          <a:xfrm>
            <a:off x="6553200" y="4953000"/>
            <a:ext cx="1905000" cy="542925"/>
            <a:chOff x="1104" y="1527"/>
            <a:chExt cx="1200" cy="342"/>
          </a:xfrm>
        </p:grpSpPr>
        <p:grpSp>
          <p:nvGrpSpPr>
            <p:cNvPr id="146472" name="Group 119"/>
            <p:cNvGrpSpPr/>
            <p:nvPr/>
          </p:nvGrpSpPr>
          <p:grpSpPr bwMode="auto">
            <a:xfrm>
              <a:off x="1344" y="1527"/>
              <a:ext cx="960" cy="336"/>
              <a:chOff x="1560" y="1968"/>
              <a:chExt cx="960" cy="336"/>
            </a:xfrm>
          </p:grpSpPr>
          <p:sp>
            <p:nvSpPr>
              <p:cNvPr id="994424" name="Rectangle 120"/>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425" name="Rectangle 121"/>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grpSp>
        <p:sp>
          <p:nvSpPr>
            <p:cNvPr id="994426" name="Text Box 122"/>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sp>
        <p:nvSpPr>
          <p:cNvPr id="994427" name="Text Box 123"/>
          <p:cNvSpPr txBox="1">
            <a:spLocks noChangeArrowheads="1"/>
          </p:cNvSpPr>
          <p:nvPr/>
        </p:nvSpPr>
        <p:spPr bwMode="auto">
          <a:xfrm>
            <a:off x="7924800" y="6985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cur</a:t>
            </a:r>
            <a:endParaRPr kumimoji="0" lang="en-US" altLang="zh-CN" sz="2800">
              <a:ea typeface="楷体_GB2312" charset="0"/>
            </a:endParaRPr>
          </a:p>
        </p:txBody>
      </p:sp>
      <p:sp>
        <p:nvSpPr>
          <p:cNvPr id="994428" name="Text Box 124"/>
          <p:cNvSpPr txBox="1">
            <a:spLocks noChangeArrowheads="1"/>
          </p:cNvSpPr>
          <p:nvPr/>
        </p:nvSpPr>
        <p:spPr bwMode="auto">
          <a:xfrm>
            <a:off x="6934200" y="6858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data</a:t>
            </a:r>
            <a:endParaRPr kumimoji="0" lang="en-US" altLang="zh-CN" sz="2800">
              <a:ea typeface="楷体_GB2312" charset="0"/>
            </a:endParaRPr>
          </a:p>
        </p:txBody>
      </p:sp>
      <p:grpSp>
        <p:nvGrpSpPr>
          <p:cNvPr id="146464" name="Group 125"/>
          <p:cNvGrpSpPr/>
          <p:nvPr/>
        </p:nvGrpSpPr>
        <p:grpSpPr bwMode="auto">
          <a:xfrm>
            <a:off x="6553200" y="4419600"/>
            <a:ext cx="1905000" cy="542925"/>
            <a:chOff x="1104" y="1527"/>
            <a:chExt cx="1200" cy="342"/>
          </a:xfrm>
        </p:grpSpPr>
        <p:grpSp>
          <p:nvGrpSpPr>
            <p:cNvPr id="146468" name="Group 126"/>
            <p:cNvGrpSpPr/>
            <p:nvPr/>
          </p:nvGrpSpPr>
          <p:grpSpPr bwMode="auto">
            <a:xfrm>
              <a:off x="1344" y="1527"/>
              <a:ext cx="960" cy="336"/>
              <a:chOff x="1560" y="1968"/>
              <a:chExt cx="960" cy="336"/>
            </a:xfrm>
          </p:grpSpPr>
          <p:sp>
            <p:nvSpPr>
              <p:cNvPr id="994431" name="Rectangle 127"/>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李</a:t>
                </a:r>
                <a:endParaRPr kumimoji="0" lang="zh-CN" altLang="en-US" sz="2800">
                  <a:ea typeface="楷体_GB2312" charset="0"/>
                </a:endParaRPr>
              </a:p>
            </p:txBody>
          </p:sp>
          <p:sp>
            <p:nvSpPr>
              <p:cNvPr id="994432" name="Rectangle 128"/>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4433" name="Text Box 129"/>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sp>
        <p:nvSpPr>
          <p:cNvPr id="994434" name="Rectangle 130"/>
          <p:cNvSpPr>
            <a:spLocks noChangeArrowheads="1"/>
          </p:cNvSpPr>
          <p:nvPr/>
        </p:nvSpPr>
        <p:spPr bwMode="auto">
          <a:xfrm>
            <a:off x="6575425" y="762000"/>
            <a:ext cx="2921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kumimoji="0" lang="en-US" altLang="zh-CN" sz="2800">
                <a:ea typeface="楷体_GB2312" charset="0"/>
              </a:rPr>
              <a:t>i</a:t>
            </a:r>
            <a:endParaRPr kumimoji="0" lang="en-US" altLang="zh-CN" sz="2800">
              <a:ea typeface="楷体_GB2312" charset="0"/>
            </a:endParaRPr>
          </a:p>
        </p:txBody>
      </p:sp>
      <p:sp>
        <p:nvSpPr>
          <p:cNvPr id="994435" name="Rectangle 131"/>
          <p:cNvSpPr>
            <a:spLocks noChangeArrowheads="1"/>
          </p:cNvSpPr>
          <p:nvPr/>
        </p:nvSpPr>
        <p:spPr bwMode="auto">
          <a:xfrm>
            <a:off x="3719513" y="5811838"/>
            <a:ext cx="2690812" cy="5286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Arial" panose="020B0604020202020204" pitchFamily="34" charset="0"/>
                <a:ea typeface="楷体_GB2312" charset="0"/>
              </a:rPr>
              <a:t>“</a:t>
            </a:r>
            <a:r>
              <a:rPr lang="zh-CN" altLang="en-US" sz="2800" b="1">
                <a:latin typeface="楷体_GB2312" charset="0"/>
                <a:ea typeface="楷体_GB2312" charset="0"/>
              </a:rPr>
              <a:t>孙</a:t>
            </a:r>
            <a:r>
              <a:rPr lang="zh-CN" altLang="en-US" sz="2800" b="1">
                <a:latin typeface="Arial" panose="020B0604020202020204" pitchFamily="34" charset="0"/>
                <a:ea typeface="楷体_GB2312" charset="0"/>
              </a:rPr>
              <a:t>”</a:t>
            </a:r>
            <a:r>
              <a:rPr lang="zh-CN" altLang="en-US" sz="2800" b="1">
                <a:latin typeface="楷体_GB2312" charset="0"/>
                <a:ea typeface="楷体_GB2312" charset="0"/>
              </a:rPr>
              <a:t>后插入</a:t>
            </a:r>
            <a:r>
              <a:rPr lang="zh-CN" altLang="en-US" sz="2800" b="1">
                <a:latin typeface="Arial" panose="020B0604020202020204" pitchFamily="34" charset="0"/>
                <a:ea typeface="楷体_GB2312" charset="0"/>
              </a:rPr>
              <a:t>“</a:t>
            </a:r>
            <a:r>
              <a:rPr lang="zh-CN" altLang="en-US" sz="2800" b="1">
                <a:latin typeface="楷体_GB2312" charset="0"/>
                <a:ea typeface="楷体_GB2312" charset="0"/>
              </a:rPr>
              <a:t>李</a:t>
            </a:r>
            <a:r>
              <a:rPr lang="zh-CN" altLang="en-US" sz="2800" b="1">
                <a:latin typeface="Arial" panose="020B0604020202020204" pitchFamily="34" charset="0"/>
                <a:ea typeface="楷体_GB2312" charset="0"/>
              </a:rPr>
              <a:t>”</a:t>
            </a:r>
            <a:endParaRPr lang="zh-CN" altLang="en-US" sz="2800" b="1">
              <a:latin typeface="楷体_GB2312" charset="0"/>
              <a:ea typeface="楷体_GB2312" charset="0"/>
            </a:endParaRPr>
          </a:p>
        </p:txBody>
      </p:sp>
      <p:sp>
        <p:nvSpPr>
          <p:cNvPr id="994436" name="Rectangle 132"/>
          <p:cNvSpPr>
            <a:spLocks noChangeArrowheads="1"/>
          </p:cNvSpPr>
          <p:nvPr/>
        </p:nvSpPr>
        <p:spPr bwMode="auto">
          <a:xfrm>
            <a:off x="6973888" y="5811838"/>
            <a:ext cx="1620837" cy="5286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楷体_GB2312" charset="0"/>
                <a:ea typeface="楷体_GB2312" charset="0"/>
              </a:rPr>
              <a:t>删除</a:t>
            </a:r>
            <a:r>
              <a:rPr lang="zh-CN" altLang="en-US" sz="2800" b="1">
                <a:latin typeface="Arial" panose="020B0604020202020204" pitchFamily="34" charset="0"/>
                <a:ea typeface="楷体_GB2312" charset="0"/>
              </a:rPr>
              <a:t>“</a:t>
            </a:r>
            <a:r>
              <a:rPr lang="zh-CN" altLang="en-US" sz="2800" b="1">
                <a:latin typeface="楷体_GB2312" charset="0"/>
                <a:ea typeface="楷体_GB2312" charset="0"/>
              </a:rPr>
              <a:t>孙</a:t>
            </a:r>
            <a:r>
              <a:rPr lang="zh-CN" altLang="en-US" sz="2800" b="1">
                <a:latin typeface="Arial" panose="020B0604020202020204" pitchFamily="34" charset="0"/>
                <a:ea typeface="楷体_GB2312" charset="0"/>
              </a:rPr>
              <a:t>”</a:t>
            </a:r>
            <a:endParaRPr lang="zh-CN" altLang="en-US" sz="2800" b="1">
              <a:latin typeface="楷体_GB2312" charset="0"/>
              <a:ea typeface="楷体_GB2312" charset="0"/>
            </a:endParaRP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p:cNvSpPr>
            <a:spLocks noGrp="1" noChangeArrowheads="1"/>
          </p:cNvSpPr>
          <p:nvPr>
            <p:ph type="body" idx="1"/>
          </p:nvPr>
        </p:nvSpPr>
        <p:spPr>
          <a:xfrm>
            <a:off x="1066800" y="1371600"/>
            <a:ext cx="7772400" cy="5259388"/>
          </a:xfrm>
        </p:spPr>
        <p:txBody>
          <a:bodyPr/>
          <a:lstStyle/>
          <a:p>
            <a:pPr algn="just">
              <a:buFontTx/>
              <a:buNone/>
            </a:pPr>
            <a:r>
              <a:rPr lang="en-US" altLang="zh-CN" b="1">
                <a:latin typeface="楷体_GB2312" charset="0"/>
                <a:ea typeface="楷体_GB2312" charset="0"/>
              </a:rPr>
              <a:t>2</a:t>
            </a:r>
            <a:r>
              <a:rPr lang="zh-CN" altLang="en-US" b="1">
                <a:latin typeface="楷体_GB2312" charset="0"/>
                <a:ea typeface="楷体_GB2312" charset="0"/>
              </a:rPr>
              <a:t>、</a:t>
            </a:r>
            <a:r>
              <a:rPr lang="zh-CN" altLang="en-US" b="1">
                <a:solidFill>
                  <a:srgbClr val="FF0000"/>
                </a:solidFill>
                <a:latin typeface="楷体_GB2312" charset="0"/>
                <a:ea typeface="楷体_GB2312" charset="0"/>
              </a:rPr>
              <a:t>动态分配</a:t>
            </a:r>
            <a:r>
              <a:rPr lang="zh-CN" altLang="en-US" b="1">
                <a:latin typeface="楷体_GB2312" charset="0"/>
                <a:ea typeface="楷体_GB2312" charset="0"/>
              </a:rPr>
              <a:t>与释放的模拟</a:t>
            </a:r>
            <a:endParaRPr lang="zh-CN" altLang="en-US" b="1">
              <a:latin typeface="楷体_GB2312" charset="0"/>
              <a:ea typeface="楷体_GB2312" charset="0"/>
            </a:endParaRPr>
          </a:p>
          <a:p>
            <a:pPr>
              <a:buFontTx/>
              <a:buNone/>
            </a:pPr>
            <a:r>
              <a:rPr lang="zh-CN" altLang="en-US" b="1">
                <a:latin typeface="楷体_GB2312" charset="0"/>
                <a:ea typeface="楷体_GB2312" charset="0"/>
              </a:rPr>
              <a:t>  思想：将未使用的分量用游标链成一个备用链；插入时，取备用链中的第一个结点作为插入的新结点；删除时将从链表中删除下来的结点链接到备用链上。</a:t>
            </a:r>
            <a:r>
              <a:rPr lang="zh-CN" altLang="en-US" sz="3000" b="1">
                <a:solidFill>
                  <a:srgbClr val="FF0000"/>
                </a:solidFill>
                <a:latin typeface="楷体_GB2312" charset="0"/>
                <a:ea typeface="楷体_GB2312" charset="0"/>
              </a:rPr>
              <a:t> </a:t>
            </a:r>
            <a:endParaRPr lang="zh-CN" altLang="en-US" sz="3000" b="1">
              <a:solidFill>
                <a:srgbClr val="FF0000"/>
              </a:solidFill>
              <a:latin typeface="楷体_GB2312" charset="0"/>
              <a:ea typeface="楷体_GB2312" charset="0"/>
            </a:endParaRPr>
          </a:p>
          <a:p>
            <a:endParaRPr lang="zh-CN" altLang="en-US"/>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8481" name="Group 2"/>
          <p:cNvGrpSpPr/>
          <p:nvPr/>
        </p:nvGrpSpPr>
        <p:grpSpPr bwMode="auto">
          <a:xfrm>
            <a:off x="2362200" y="1676400"/>
            <a:ext cx="1905000" cy="542925"/>
            <a:chOff x="1104" y="1527"/>
            <a:chExt cx="1200" cy="342"/>
          </a:xfrm>
        </p:grpSpPr>
        <p:grpSp>
          <p:nvGrpSpPr>
            <p:cNvPr id="148653" name="Group 3"/>
            <p:cNvGrpSpPr/>
            <p:nvPr/>
          </p:nvGrpSpPr>
          <p:grpSpPr bwMode="auto">
            <a:xfrm>
              <a:off x="1344" y="1527"/>
              <a:ext cx="960" cy="336"/>
              <a:chOff x="1560" y="1968"/>
              <a:chExt cx="960" cy="336"/>
            </a:xfrm>
          </p:grpSpPr>
          <p:sp>
            <p:nvSpPr>
              <p:cNvPr id="996356" name="Rectangle 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357" name="Rectangle 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6</a:t>
                </a:r>
                <a:endParaRPr kumimoji="0" lang="en-US" altLang="zh-CN" sz="2800">
                  <a:ea typeface="楷体_GB2312" charset="0"/>
                </a:endParaRPr>
              </a:p>
            </p:txBody>
          </p:sp>
        </p:grpSp>
        <p:sp>
          <p:nvSpPr>
            <p:cNvPr id="996358" name="Text Box 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8482" name="Group 7"/>
          <p:cNvGrpSpPr/>
          <p:nvPr/>
        </p:nvGrpSpPr>
        <p:grpSpPr bwMode="auto">
          <a:xfrm>
            <a:off x="2362200" y="2209800"/>
            <a:ext cx="1905000" cy="542925"/>
            <a:chOff x="1104" y="1527"/>
            <a:chExt cx="1200" cy="342"/>
          </a:xfrm>
        </p:grpSpPr>
        <p:grpSp>
          <p:nvGrpSpPr>
            <p:cNvPr id="148649" name="Group 8"/>
            <p:cNvGrpSpPr/>
            <p:nvPr/>
          </p:nvGrpSpPr>
          <p:grpSpPr bwMode="auto">
            <a:xfrm>
              <a:off x="1344" y="1527"/>
              <a:ext cx="960" cy="336"/>
              <a:chOff x="1560" y="1968"/>
              <a:chExt cx="960" cy="336"/>
            </a:xfrm>
          </p:grpSpPr>
          <p:sp>
            <p:nvSpPr>
              <p:cNvPr id="996361" name="Rectangle 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赵</a:t>
                </a:r>
                <a:endParaRPr kumimoji="0" lang="zh-CN" altLang="en-US" sz="2800">
                  <a:ea typeface="楷体_GB2312" charset="0"/>
                </a:endParaRPr>
              </a:p>
            </p:txBody>
          </p:sp>
          <p:sp>
            <p:nvSpPr>
              <p:cNvPr id="996362" name="Rectangle 1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6363" name="Text Box 1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8483" name="Group 12"/>
          <p:cNvGrpSpPr/>
          <p:nvPr/>
        </p:nvGrpSpPr>
        <p:grpSpPr bwMode="auto">
          <a:xfrm>
            <a:off x="2362200" y="2743200"/>
            <a:ext cx="1905000" cy="542925"/>
            <a:chOff x="1104" y="1527"/>
            <a:chExt cx="1200" cy="342"/>
          </a:xfrm>
        </p:grpSpPr>
        <p:grpSp>
          <p:nvGrpSpPr>
            <p:cNvPr id="148645" name="Group 13"/>
            <p:cNvGrpSpPr/>
            <p:nvPr/>
          </p:nvGrpSpPr>
          <p:grpSpPr bwMode="auto">
            <a:xfrm>
              <a:off x="1344" y="1527"/>
              <a:ext cx="960" cy="336"/>
              <a:chOff x="1560" y="1968"/>
              <a:chExt cx="960" cy="336"/>
            </a:xfrm>
          </p:grpSpPr>
          <p:sp>
            <p:nvSpPr>
              <p:cNvPr id="996366" name="Rectangle 1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钱</a:t>
                </a:r>
                <a:endParaRPr kumimoji="0" lang="zh-CN" altLang="en-US" sz="2800">
                  <a:ea typeface="楷体_GB2312" charset="0"/>
                </a:endParaRPr>
              </a:p>
            </p:txBody>
          </p:sp>
          <p:sp>
            <p:nvSpPr>
              <p:cNvPr id="996367" name="Rectangle 1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3</a:t>
                </a:r>
                <a:endParaRPr kumimoji="0" lang="en-US" altLang="zh-CN" sz="2800">
                  <a:ea typeface="楷体_GB2312" charset="0"/>
                </a:endParaRPr>
              </a:p>
            </p:txBody>
          </p:sp>
        </p:grpSp>
        <p:sp>
          <p:nvSpPr>
            <p:cNvPr id="996368" name="Text Box 1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8484" name="Group 17"/>
          <p:cNvGrpSpPr/>
          <p:nvPr/>
        </p:nvGrpSpPr>
        <p:grpSpPr bwMode="auto">
          <a:xfrm>
            <a:off x="2362200" y="3276600"/>
            <a:ext cx="1905000" cy="542925"/>
            <a:chOff x="1104" y="1527"/>
            <a:chExt cx="1200" cy="342"/>
          </a:xfrm>
        </p:grpSpPr>
        <p:grpSp>
          <p:nvGrpSpPr>
            <p:cNvPr id="148641" name="Group 18"/>
            <p:cNvGrpSpPr/>
            <p:nvPr/>
          </p:nvGrpSpPr>
          <p:grpSpPr bwMode="auto">
            <a:xfrm>
              <a:off x="1344" y="1527"/>
              <a:ext cx="960" cy="336"/>
              <a:chOff x="1560" y="1968"/>
              <a:chExt cx="960" cy="336"/>
            </a:xfrm>
          </p:grpSpPr>
          <p:sp>
            <p:nvSpPr>
              <p:cNvPr id="996371" name="Rectangle 1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孙</a:t>
                </a:r>
                <a:endParaRPr kumimoji="0" lang="zh-CN" altLang="en-US" sz="2800">
                  <a:ea typeface="楷体_GB2312" charset="0"/>
                </a:endParaRPr>
              </a:p>
            </p:txBody>
          </p:sp>
          <p:sp>
            <p:nvSpPr>
              <p:cNvPr id="996372" name="Rectangle 2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6373" name="Text Box 2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8485" name="Group 22"/>
          <p:cNvGrpSpPr/>
          <p:nvPr/>
        </p:nvGrpSpPr>
        <p:grpSpPr bwMode="auto">
          <a:xfrm>
            <a:off x="2362200" y="3810000"/>
            <a:ext cx="1905000" cy="542925"/>
            <a:chOff x="1104" y="1527"/>
            <a:chExt cx="1200" cy="342"/>
          </a:xfrm>
        </p:grpSpPr>
        <p:grpSp>
          <p:nvGrpSpPr>
            <p:cNvPr id="148637" name="Group 23"/>
            <p:cNvGrpSpPr/>
            <p:nvPr/>
          </p:nvGrpSpPr>
          <p:grpSpPr bwMode="auto">
            <a:xfrm>
              <a:off x="1344" y="1527"/>
              <a:ext cx="960" cy="336"/>
              <a:chOff x="1560" y="1968"/>
              <a:chExt cx="960" cy="336"/>
            </a:xfrm>
          </p:grpSpPr>
          <p:sp>
            <p:nvSpPr>
              <p:cNvPr id="996376" name="Rectangle 2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周</a:t>
                </a:r>
                <a:endParaRPr kumimoji="0" lang="zh-CN" altLang="en-US" sz="2800">
                  <a:ea typeface="楷体_GB2312" charset="0"/>
                </a:endParaRPr>
              </a:p>
            </p:txBody>
          </p:sp>
          <p:sp>
            <p:nvSpPr>
              <p:cNvPr id="996377" name="Rectangle 2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6378" name="Text Box 2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8486" name="Group 27"/>
          <p:cNvGrpSpPr/>
          <p:nvPr/>
        </p:nvGrpSpPr>
        <p:grpSpPr bwMode="auto">
          <a:xfrm>
            <a:off x="2362200" y="4343400"/>
            <a:ext cx="1905000" cy="542925"/>
            <a:chOff x="1104" y="1527"/>
            <a:chExt cx="1200" cy="342"/>
          </a:xfrm>
        </p:grpSpPr>
        <p:grpSp>
          <p:nvGrpSpPr>
            <p:cNvPr id="148633" name="Group 28"/>
            <p:cNvGrpSpPr/>
            <p:nvPr/>
          </p:nvGrpSpPr>
          <p:grpSpPr bwMode="auto">
            <a:xfrm>
              <a:off x="1344" y="1527"/>
              <a:ext cx="960" cy="336"/>
              <a:chOff x="1560" y="1968"/>
              <a:chExt cx="960" cy="336"/>
            </a:xfrm>
          </p:grpSpPr>
          <p:sp>
            <p:nvSpPr>
              <p:cNvPr id="996381" name="Rectangle 2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吴</a:t>
                </a:r>
                <a:endParaRPr kumimoji="0" lang="zh-CN" altLang="en-US" sz="2800">
                  <a:ea typeface="楷体_GB2312" charset="0"/>
                </a:endParaRPr>
              </a:p>
            </p:txBody>
          </p:sp>
          <p:sp>
            <p:nvSpPr>
              <p:cNvPr id="996382" name="Rectangle 3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383" name="Text Box 3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sp>
        <p:nvSpPr>
          <p:cNvPr id="996384" name="Text Box 32"/>
          <p:cNvSpPr txBox="1">
            <a:spLocks noChangeArrowheads="1"/>
          </p:cNvSpPr>
          <p:nvPr/>
        </p:nvSpPr>
        <p:spPr bwMode="auto">
          <a:xfrm>
            <a:off x="3733800" y="11557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cur</a:t>
            </a:r>
            <a:endParaRPr kumimoji="0" lang="en-US" altLang="zh-CN" sz="2800">
              <a:ea typeface="楷体_GB2312" charset="0"/>
            </a:endParaRPr>
          </a:p>
        </p:txBody>
      </p:sp>
      <p:sp>
        <p:nvSpPr>
          <p:cNvPr id="996385" name="Text Box 33"/>
          <p:cNvSpPr txBox="1">
            <a:spLocks noChangeArrowheads="1"/>
          </p:cNvSpPr>
          <p:nvPr/>
        </p:nvSpPr>
        <p:spPr bwMode="auto">
          <a:xfrm>
            <a:off x="2743200" y="11430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data</a:t>
            </a:r>
            <a:endParaRPr kumimoji="0" lang="en-US" altLang="zh-CN" sz="2800">
              <a:ea typeface="楷体_GB2312" charset="0"/>
            </a:endParaRPr>
          </a:p>
        </p:txBody>
      </p:sp>
      <p:grpSp>
        <p:nvGrpSpPr>
          <p:cNvPr id="148489" name="Group 34"/>
          <p:cNvGrpSpPr/>
          <p:nvPr/>
        </p:nvGrpSpPr>
        <p:grpSpPr bwMode="auto">
          <a:xfrm>
            <a:off x="4648200" y="1676400"/>
            <a:ext cx="1905000" cy="542925"/>
            <a:chOff x="1104" y="1527"/>
            <a:chExt cx="1200" cy="342"/>
          </a:xfrm>
        </p:grpSpPr>
        <p:grpSp>
          <p:nvGrpSpPr>
            <p:cNvPr id="148629" name="Group 35"/>
            <p:cNvGrpSpPr/>
            <p:nvPr/>
          </p:nvGrpSpPr>
          <p:grpSpPr bwMode="auto">
            <a:xfrm>
              <a:off x="1344" y="1527"/>
              <a:ext cx="960" cy="336"/>
              <a:chOff x="1560" y="1968"/>
              <a:chExt cx="960" cy="336"/>
            </a:xfrm>
          </p:grpSpPr>
          <p:sp>
            <p:nvSpPr>
              <p:cNvPr id="996388" name="Rectangle 3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389" name="Rectangle 3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7</a:t>
                </a:r>
                <a:endParaRPr kumimoji="0" lang="en-US" altLang="zh-CN" sz="2800">
                  <a:ea typeface="楷体_GB2312" charset="0"/>
                </a:endParaRPr>
              </a:p>
            </p:txBody>
          </p:sp>
        </p:grpSp>
        <p:sp>
          <p:nvSpPr>
            <p:cNvPr id="996390" name="Text Box 3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8490" name="Group 39"/>
          <p:cNvGrpSpPr/>
          <p:nvPr/>
        </p:nvGrpSpPr>
        <p:grpSpPr bwMode="auto">
          <a:xfrm>
            <a:off x="4648200" y="2209800"/>
            <a:ext cx="1905000" cy="542925"/>
            <a:chOff x="1104" y="1527"/>
            <a:chExt cx="1200" cy="342"/>
          </a:xfrm>
        </p:grpSpPr>
        <p:grpSp>
          <p:nvGrpSpPr>
            <p:cNvPr id="148625" name="Group 40"/>
            <p:cNvGrpSpPr/>
            <p:nvPr/>
          </p:nvGrpSpPr>
          <p:grpSpPr bwMode="auto">
            <a:xfrm>
              <a:off x="1344" y="1527"/>
              <a:ext cx="960" cy="336"/>
              <a:chOff x="1560" y="1968"/>
              <a:chExt cx="960" cy="336"/>
            </a:xfrm>
          </p:grpSpPr>
          <p:sp>
            <p:nvSpPr>
              <p:cNvPr id="996393" name="Rectangle 4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赵</a:t>
                </a:r>
                <a:endParaRPr kumimoji="0" lang="zh-CN" altLang="en-US" sz="2800">
                  <a:ea typeface="楷体_GB2312" charset="0"/>
                </a:endParaRPr>
              </a:p>
            </p:txBody>
          </p:sp>
          <p:sp>
            <p:nvSpPr>
              <p:cNvPr id="996394" name="Rectangle 4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6395" name="Text Box 4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8491" name="Group 44"/>
          <p:cNvGrpSpPr/>
          <p:nvPr/>
        </p:nvGrpSpPr>
        <p:grpSpPr bwMode="auto">
          <a:xfrm>
            <a:off x="4648200" y="2743200"/>
            <a:ext cx="1905000" cy="542925"/>
            <a:chOff x="1104" y="1527"/>
            <a:chExt cx="1200" cy="342"/>
          </a:xfrm>
        </p:grpSpPr>
        <p:grpSp>
          <p:nvGrpSpPr>
            <p:cNvPr id="148621" name="Group 45"/>
            <p:cNvGrpSpPr/>
            <p:nvPr/>
          </p:nvGrpSpPr>
          <p:grpSpPr bwMode="auto">
            <a:xfrm>
              <a:off x="1344" y="1527"/>
              <a:ext cx="960" cy="336"/>
              <a:chOff x="1560" y="1968"/>
              <a:chExt cx="960" cy="336"/>
            </a:xfrm>
          </p:grpSpPr>
          <p:sp>
            <p:nvSpPr>
              <p:cNvPr id="996398" name="Rectangle 4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钱</a:t>
                </a:r>
                <a:endParaRPr kumimoji="0" lang="zh-CN" altLang="en-US" sz="2800">
                  <a:ea typeface="楷体_GB2312" charset="0"/>
                </a:endParaRPr>
              </a:p>
            </p:txBody>
          </p:sp>
          <p:sp>
            <p:nvSpPr>
              <p:cNvPr id="996399" name="Rectangle 4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3</a:t>
                </a:r>
                <a:endParaRPr kumimoji="0" lang="en-US" altLang="zh-CN" sz="2800">
                  <a:ea typeface="楷体_GB2312" charset="0"/>
                </a:endParaRPr>
              </a:p>
            </p:txBody>
          </p:sp>
        </p:grpSp>
        <p:sp>
          <p:nvSpPr>
            <p:cNvPr id="996400" name="Text Box 4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8492" name="Group 49"/>
          <p:cNvGrpSpPr/>
          <p:nvPr/>
        </p:nvGrpSpPr>
        <p:grpSpPr bwMode="auto">
          <a:xfrm>
            <a:off x="4648200" y="3276600"/>
            <a:ext cx="1905000" cy="542925"/>
            <a:chOff x="1104" y="1527"/>
            <a:chExt cx="1200" cy="342"/>
          </a:xfrm>
        </p:grpSpPr>
        <p:grpSp>
          <p:nvGrpSpPr>
            <p:cNvPr id="148617" name="Group 50"/>
            <p:cNvGrpSpPr/>
            <p:nvPr/>
          </p:nvGrpSpPr>
          <p:grpSpPr bwMode="auto">
            <a:xfrm>
              <a:off x="1344" y="1527"/>
              <a:ext cx="960" cy="336"/>
              <a:chOff x="1560" y="1968"/>
              <a:chExt cx="960" cy="336"/>
            </a:xfrm>
          </p:grpSpPr>
          <p:sp>
            <p:nvSpPr>
              <p:cNvPr id="996403" name="Rectangle 5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孙</a:t>
                </a:r>
                <a:endParaRPr kumimoji="0" lang="zh-CN" altLang="en-US" sz="2800">
                  <a:ea typeface="楷体_GB2312" charset="0"/>
                </a:endParaRPr>
              </a:p>
            </p:txBody>
          </p:sp>
          <p:sp>
            <p:nvSpPr>
              <p:cNvPr id="996404" name="Rectangle 5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6</a:t>
                </a:r>
                <a:endParaRPr kumimoji="0" lang="en-US" altLang="zh-CN" sz="2800">
                  <a:ea typeface="楷体_GB2312" charset="0"/>
                </a:endParaRPr>
              </a:p>
            </p:txBody>
          </p:sp>
        </p:grpSp>
        <p:sp>
          <p:nvSpPr>
            <p:cNvPr id="996405" name="Text Box 5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8493" name="Group 54"/>
          <p:cNvGrpSpPr/>
          <p:nvPr/>
        </p:nvGrpSpPr>
        <p:grpSpPr bwMode="auto">
          <a:xfrm>
            <a:off x="4648200" y="3810000"/>
            <a:ext cx="1905000" cy="542925"/>
            <a:chOff x="1104" y="1527"/>
            <a:chExt cx="1200" cy="342"/>
          </a:xfrm>
        </p:grpSpPr>
        <p:grpSp>
          <p:nvGrpSpPr>
            <p:cNvPr id="148613" name="Group 55"/>
            <p:cNvGrpSpPr/>
            <p:nvPr/>
          </p:nvGrpSpPr>
          <p:grpSpPr bwMode="auto">
            <a:xfrm>
              <a:off x="1344" y="1527"/>
              <a:ext cx="960" cy="336"/>
              <a:chOff x="1560" y="1968"/>
              <a:chExt cx="960" cy="336"/>
            </a:xfrm>
          </p:grpSpPr>
          <p:sp>
            <p:nvSpPr>
              <p:cNvPr id="996408" name="Rectangle 5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周</a:t>
                </a:r>
                <a:endParaRPr kumimoji="0" lang="zh-CN" altLang="en-US" sz="2800">
                  <a:ea typeface="楷体_GB2312" charset="0"/>
                </a:endParaRPr>
              </a:p>
            </p:txBody>
          </p:sp>
          <p:sp>
            <p:nvSpPr>
              <p:cNvPr id="996409" name="Rectangle 5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6410" name="Text Box 5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8494" name="Group 59"/>
          <p:cNvGrpSpPr/>
          <p:nvPr/>
        </p:nvGrpSpPr>
        <p:grpSpPr bwMode="auto">
          <a:xfrm>
            <a:off x="4648200" y="4343400"/>
            <a:ext cx="1905000" cy="542925"/>
            <a:chOff x="1104" y="1527"/>
            <a:chExt cx="1200" cy="342"/>
          </a:xfrm>
        </p:grpSpPr>
        <p:grpSp>
          <p:nvGrpSpPr>
            <p:cNvPr id="148609" name="Group 60"/>
            <p:cNvGrpSpPr/>
            <p:nvPr/>
          </p:nvGrpSpPr>
          <p:grpSpPr bwMode="auto">
            <a:xfrm>
              <a:off x="1344" y="1527"/>
              <a:ext cx="960" cy="336"/>
              <a:chOff x="1560" y="1968"/>
              <a:chExt cx="960" cy="336"/>
            </a:xfrm>
          </p:grpSpPr>
          <p:sp>
            <p:nvSpPr>
              <p:cNvPr id="996413" name="Rectangle 6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吴</a:t>
                </a:r>
                <a:endParaRPr kumimoji="0" lang="zh-CN" altLang="en-US" sz="2800">
                  <a:ea typeface="楷体_GB2312" charset="0"/>
                </a:endParaRPr>
              </a:p>
            </p:txBody>
          </p:sp>
          <p:sp>
            <p:nvSpPr>
              <p:cNvPr id="996414" name="Rectangle 6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415" name="Text Box 6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sp>
        <p:nvSpPr>
          <p:cNvPr id="996416" name="Text Box 64"/>
          <p:cNvSpPr txBox="1">
            <a:spLocks noChangeArrowheads="1"/>
          </p:cNvSpPr>
          <p:nvPr/>
        </p:nvSpPr>
        <p:spPr bwMode="auto">
          <a:xfrm>
            <a:off x="6019800" y="11557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cur</a:t>
            </a:r>
            <a:endParaRPr kumimoji="0" lang="en-US" altLang="zh-CN" sz="2800">
              <a:ea typeface="楷体_GB2312" charset="0"/>
            </a:endParaRPr>
          </a:p>
        </p:txBody>
      </p:sp>
      <p:sp>
        <p:nvSpPr>
          <p:cNvPr id="996417" name="Text Box 65"/>
          <p:cNvSpPr txBox="1">
            <a:spLocks noChangeArrowheads="1"/>
          </p:cNvSpPr>
          <p:nvPr/>
        </p:nvSpPr>
        <p:spPr bwMode="auto">
          <a:xfrm>
            <a:off x="5029200" y="11430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data</a:t>
            </a:r>
            <a:endParaRPr kumimoji="0" lang="en-US" altLang="zh-CN" sz="2800">
              <a:ea typeface="楷体_GB2312" charset="0"/>
            </a:endParaRPr>
          </a:p>
        </p:txBody>
      </p:sp>
      <p:grpSp>
        <p:nvGrpSpPr>
          <p:cNvPr id="148497" name="Group 66"/>
          <p:cNvGrpSpPr/>
          <p:nvPr/>
        </p:nvGrpSpPr>
        <p:grpSpPr bwMode="auto">
          <a:xfrm>
            <a:off x="4648200" y="4876800"/>
            <a:ext cx="1905000" cy="542925"/>
            <a:chOff x="1104" y="1527"/>
            <a:chExt cx="1200" cy="342"/>
          </a:xfrm>
        </p:grpSpPr>
        <p:grpSp>
          <p:nvGrpSpPr>
            <p:cNvPr id="148605" name="Group 67"/>
            <p:cNvGrpSpPr/>
            <p:nvPr/>
          </p:nvGrpSpPr>
          <p:grpSpPr bwMode="auto">
            <a:xfrm>
              <a:off x="1344" y="1527"/>
              <a:ext cx="960" cy="336"/>
              <a:chOff x="1560" y="1968"/>
              <a:chExt cx="960" cy="336"/>
            </a:xfrm>
          </p:grpSpPr>
          <p:sp>
            <p:nvSpPr>
              <p:cNvPr id="996420" name="Rectangle 68"/>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李</a:t>
                </a:r>
                <a:endParaRPr kumimoji="0" lang="zh-CN" altLang="en-US" sz="2800">
                  <a:ea typeface="楷体_GB2312" charset="0"/>
                </a:endParaRPr>
              </a:p>
            </p:txBody>
          </p:sp>
          <p:sp>
            <p:nvSpPr>
              <p:cNvPr id="996421" name="Rectangle 69"/>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6422" name="Text Box 70"/>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sp>
        <p:nvSpPr>
          <p:cNvPr id="996423" name="Rectangle 71"/>
          <p:cNvSpPr>
            <a:spLocks noChangeArrowheads="1"/>
          </p:cNvSpPr>
          <p:nvPr/>
        </p:nvSpPr>
        <p:spPr bwMode="auto">
          <a:xfrm>
            <a:off x="4670425" y="1219200"/>
            <a:ext cx="2921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kumimoji="0" lang="en-US" altLang="zh-CN" sz="2800">
                <a:ea typeface="楷体_GB2312" charset="0"/>
              </a:rPr>
              <a:t>i</a:t>
            </a:r>
            <a:endParaRPr kumimoji="0" lang="en-US" altLang="zh-CN" sz="2800">
              <a:ea typeface="楷体_GB2312" charset="0"/>
            </a:endParaRPr>
          </a:p>
        </p:txBody>
      </p:sp>
      <p:sp>
        <p:nvSpPr>
          <p:cNvPr id="996424" name="Rectangle 72"/>
          <p:cNvSpPr>
            <a:spLocks noChangeArrowheads="1"/>
          </p:cNvSpPr>
          <p:nvPr/>
        </p:nvSpPr>
        <p:spPr bwMode="auto">
          <a:xfrm>
            <a:off x="2935288" y="6262688"/>
            <a:ext cx="1260475" cy="5286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楷体_GB2312" charset="0"/>
                <a:ea typeface="楷体_GB2312" charset="0"/>
              </a:rPr>
              <a:t>修改前</a:t>
            </a:r>
            <a:endParaRPr lang="zh-CN" altLang="en-US" sz="2800" b="1">
              <a:latin typeface="楷体_GB2312" charset="0"/>
              <a:ea typeface="楷体_GB2312" charset="0"/>
            </a:endParaRPr>
          </a:p>
        </p:txBody>
      </p:sp>
      <p:grpSp>
        <p:nvGrpSpPr>
          <p:cNvPr id="148500" name="Group 73"/>
          <p:cNvGrpSpPr/>
          <p:nvPr/>
        </p:nvGrpSpPr>
        <p:grpSpPr bwMode="auto">
          <a:xfrm>
            <a:off x="7010400" y="1676400"/>
            <a:ext cx="1905000" cy="542925"/>
            <a:chOff x="1104" y="1527"/>
            <a:chExt cx="1200" cy="342"/>
          </a:xfrm>
        </p:grpSpPr>
        <p:grpSp>
          <p:nvGrpSpPr>
            <p:cNvPr id="148601" name="Group 74"/>
            <p:cNvGrpSpPr/>
            <p:nvPr/>
          </p:nvGrpSpPr>
          <p:grpSpPr bwMode="auto">
            <a:xfrm>
              <a:off x="1344" y="1527"/>
              <a:ext cx="960" cy="336"/>
              <a:chOff x="1560" y="1968"/>
              <a:chExt cx="960" cy="336"/>
            </a:xfrm>
          </p:grpSpPr>
          <p:sp>
            <p:nvSpPr>
              <p:cNvPr id="996427" name="Rectangle 75"/>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28" name="Rectangle 76"/>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3</a:t>
                </a:r>
                <a:endParaRPr kumimoji="0" lang="en-US" altLang="zh-CN" sz="2800">
                  <a:ea typeface="楷体_GB2312" charset="0"/>
                </a:endParaRPr>
              </a:p>
            </p:txBody>
          </p:sp>
        </p:grpSp>
        <p:sp>
          <p:nvSpPr>
            <p:cNvPr id="996429" name="Text Box 77"/>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8501" name="Group 78"/>
          <p:cNvGrpSpPr/>
          <p:nvPr/>
        </p:nvGrpSpPr>
        <p:grpSpPr bwMode="auto">
          <a:xfrm>
            <a:off x="7010400" y="2209800"/>
            <a:ext cx="1905000" cy="542925"/>
            <a:chOff x="1104" y="1527"/>
            <a:chExt cx="1200" cy="342"/>
          </a:xfrm>
        </p:grpSpPr>
        <p:grpSp>
          <p:nvGrpSpPr>
            <p:cNvPr id="148597" name="Group 79"/>
            <p:cNvGrpSpPr/>
            <p:nvPr/>
          </p:nvGrpSpPr>
          <p:grpSpPr bwMode="auto">
            <a:xfrm>
              <a:off x="1344" y="1527"/>
              <a:ext cx="960" cy="336"/>
              <a:chOff x="1560" y="1968"/>
              <a:chExt cx="960" cy="336"/>
            </a:xfrm>
          </p:grpSpPr>
          <p:sp>
            <p:nvSpPr>
              <p:cNvPr id="996432" name="Rectangle 80"/>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赵</a:t>
                </a:r>
                <a:endParaRPr kumimoji="0" lang="zh-CN" altLang="en-US" sz="2800">
                  <a:ea typeface="楷体_GB2312" charset="0"/>
                </a:endParaRPr>
              </a:p>
            </p:txBody>
          </p:sp>
          <p:sp>
            <p:nvSpPr>
              <p:cNvPr id="996433" name="Rectangle 81"/>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6434" name="Text Box 82"/>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8502" name="Group 83"/>
          <p:cNvGrpSpPr/>
          <p:nvPr/>
        </p:nvGrpSpPr>
        <p:grpSpPr bwMode="auto">
          <a:xfrm>
            <a:off x="7010400" y="2743200"/>
            <a:ext cx="1905000" cy="542925"/>
            <a:chOff x="1104" y="1527"/>
            <a:chExt cx="1200" cy="342"/>
          </a:xfrm>
        </p:grpSpPr>
        <p:grpSp>
          <p:nvGrpSpPr>
            <p:cNvPr id="148593" name="Group 84"/>
            <p:cNvGrpSpPr/>
            <p:nvPr/>
          </p:nvGrpSpPr>
          <p:grpSpPr bwMode="auto">
            <a:xfrm>
              <a:off x="1344" y="1527"/>
              <a:ext cx="960" cy="336"/>
              <a:chOff x="1560" y="1968"/>
              <a:chExt cx="960" cy="336"/>
            </a:xfrm>
          </p:grpSpPr>
          <p:sp>
            <p:nvSpPr>
              <p:cNvPr id="996437" name="Rectangle 85"/>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钱</a:t>
                </a:r>
                <a:endParaRPr kumimoji="0" lang="zh-CN" altLang="en-US" sz="2800">
                  <a:ea typeface="楷体_GB2312" charset="0"/>
                </a:endParaRPr>
              </a:p>
            </p:txBody>
          </p:sp>
          <p:sp>
            <p:nvSpPr>
              <p:cNvPr id="996438" name="Rectangle 86"/>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6</a:t>
                </a:r>
                <a:endParaRPr kumimoji="0" lang="en-US" altLang="zh-CN" sz="2800">
                  <a:ea typeface="楷体_GB2312" charset="0"/>
                </a:endParaRPr>
              </a:p>
            </p:txBody>
          </p:sp>
        </p:grpSp>
        <p:sp>
          <p:nvSpPr>
            <p:cNvPr id="996439" name="Text Box 87"/>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8503" name="Group 88"/>
          <p:cNvGrpSpPr/>
          <p:nvPr/>
        </p:nvGrpSpPr>
        <p:grpSpPr bwMode="auto">
          <a:xfrm>
            <a:off x="7010400" y="3810000"/>
            <a:ext cx="1905000" cy="542925"/>
            <a:chOff x="1104" y="1527"/>
            <a:chExt cx="1200" cy="342"/>
          </a:xfrm>
        </p:grpSpPr>
        <p:grpSp>
          <p:nvGrpSpPr>
            <p:cNvPr id="148589" name="Group 89"/>
            <p:cNvGrpSpPr/>
            <p:nvPr/>
          </p:nvGrpSpPr>
          <p:grpSpPr bwMode="auto">
            <a:xfrm>
              <a:off x="1344" y="1527"/>
              <a:ext cx="960" cy="336"/>
              <a:chOff x="1560" y="1968"/>
              <a:chExt cx="960" cy="336"/>
            </a:xfrm>
          </p:grpSpPr>
          <p:sp>
            <p:nvSpPr>
              <p:cNvPr id="996442" name="Rectangle 90"/>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周</a:t>
                </a:r>
                <a:endParaRPr kumimoji="0" lang="zh-CN" altLang="en-US" sz="2800">
                  <a:ea typeface="楷体_GB2312" charset="0"/>
                </a:endParaRPr>
              </a:p>
            </p:txBody>
          </p:sp>
          <p:sp>
            <p:nvSpPr>
              <p:cNvPr id="996443" name="Rectangle 91"/>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6444" name="Text Box 92"/>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8504" name="Group 93"/>
          <p:cNvGrpSpPr/>
          <p:nvPr/>
        </p:nvGrpSpPr>
        <p:grpSpPr bwMode="auto">
          <a:xfrm>
            <a:off x="7010400" y="4343400"/>
            <a:ext cx="1905000" cy="542925"/>
            <a:chOff x="1104" y="1527"/>
            <a:chExt cx="1200" cy="342"/>
          </a:xfrm>
        </p:grpSpPr>
        <p:grpSp>
          <p:nvGrpSpPr>
            <p:cNvPr id="148585" name="Group 94"/>
            <p:cNvGrpSpPr/>
            <p:nvPr/>
          </p:nvGrpSpPr>
          <p:grpSpPr bwMode="auto">
            <a:xfrm>
              <a:off x="1344" y="1527"/>
              <a:ext cx="960" cy="336"/>
              <a:chOff x="1560" y="1968"/>
              <a:chExt cx="960" cy="336"/>
            </a:xfrm>
          </p:grpSpPr>
          <p:sp>
            <p:nvSpPr>
              <p:cNvPr id="996447" name="Rectangle 95"/>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吴</a:t>
                </a:r>
                <a:endParaRPr kumimoji="0" lang="zh-CN" altLang="en-US" sz="2800">
                  <a:ea typeface="楷体_GB2312" charset="0"/>
                </a:endParaRPr>
              </a:p>
            </p:txBody>
          </p:sp>
          <p:sp>
            <p:nvSpPr>
              <p:cNvPr id="996448" name="Rectangle 96"/>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449" name="Text Box 97"/>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sp>
        <p:nvSpPr>
          <p:cNvPr id="996450" name="Text Box 98"/>
          <p:cNvSpPr txBox="1">
            <a:spLocks noChangeArrowheads="1"/>
          </p:cNvSpPr>
          <p:nvPr/>
        </p:nvSpPr>
        <p:spPr bwMode="auto">
          <a:xfrm>
            <a:off x="7924800" y="11557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cur</a:t>
            </a:r>
            <a:endParaRPr kumimoji="0" lang="en-US" altLang="zh-CN" sz="2800">
              <a:ea typeface="楷体_GB2312" charset="0"/>
            </a:endParaRPr>
          </a:p>
        </p:txBody>
      </p:sp>
      <p:sp>
        <p:nvSpPr>
          <p:cNvPr id="996451" name="Text Box 99"/>
          <p:cNvSpPr txBox="1">
            <a:spLocks noChangeArrowheads="1"/>
          </p:cNvSpPr>
          <p:nvPr/>
        </p:nvSpPr>
        <p:spPr bwMode="auto">
          <a:xfrm>
            <a:off x="7391400" y="11430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data</a:t>
            </a:r>
            <a:endParaRPr kumimoji="0" lang="en-US" altLang="zh-CN" sz="2800">
              <a:ea typeface="楷体_GB2312" charset="0"/>
            </a:endParaRPr>
          </a:p>
        </p:txBody>
      </p:sp>
      <p:grpSp>
        <p:nvGrpSpPr>
          <p:cNvPr id="148507" name="Group 100"/>
          <p:cNvGrpSpPr/>
          <p:nvPr/>
        </p:nvGrpSpPr>
        <p:grpSpPr bwMode="auto">
          <a:xfrm>
            <a:off x="7010400" y="4876800"/>
            <a:ext cx="1905000" cy="542925"/>
            <a:chOff x="1104" y="1527"/>
            <a:chExt cx="1200" cy="342"/>
          </a:xfrm>
        </p:grpSpPr>
        <p:grpSp>
          <p:nvGrpSpPr>
            <p:cNvPr id="148581" name="Group 101"/>
            <p:cNvGrpSpPr/>
            <p:nvPr/>
          </p:nvGrpSpPr>
          <p:grpSpPr bwMode="auto">
            <a:xfrm>
              <a:off x="1344" y="1527"/>
              <a:ext cx="960" cy="336"/>
              <a:chOff x="1560" y="1968"/>
              <a:chExt cx="960" cy="336"/>
            </a:xfrm>
          </p:grpSpPr>
          <p:sp>
            <p:nvSpPr>
              <p:cNvPr id="996454" name="Rectangle 102"/>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李</a:t>
                </a:r>
                <a:endParaRPr kumimoji="0" lang="zh-CN" altLang="en-US" sz="2800">
                  <a:ea typeface="楷体_GB2312" charset="0"/>
                </a:endParaRPr>
              </a:p>
            </p:txBody>
          </p:sp>
          <p:sp>
            <p:nvSpPr>
              <p:cNvPr id="996455" name="Rectangle 103"/>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6456" name="Text Box 104"/>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sp>
        <p:nvSpPr>
          <p:cNvPr id="996457" name="Rectangle 105"/>
          <p:cNvSpPr>
            <a:spLocks noChangeArrowheads="1"/>
          </p:cNvSpPr>
          <p:nvPr/>
        </p:nvSpPr>
        <p:spPr bwMode="auto">
          <a:xfrm>
            <a:off x="7032625" y="1219200"/>
            <a:ext cx="2921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kumimoji="0" lang="en-US" altLang="zh-CN" sz="2800">
                <a:ea typeface="楷体_GB2312" charset="0"/>
              </a:rPr>
              <a:t>i</a:t>
            </a:r>
            <a:endParaRPr kumimoji="0" lang="en-US" altLang="zh-CN" sz="2800">
              <a:ea typeface="楷体_GB2312" charset="0"/>
            </a:endParaRPr>
          </a:p>
        </p:txBody>
      </p:sp>
      <p:sp>
        <p:nvSpPr>
          <p:cNvPr id="996458" name="Rectangle 106"/>
          <p:cNvSpPr>
            <a:spLocks noChangeArrowheads="1"/>
          </p:cNvSpPr>
          <p:nvPr/>
        </p:nvSpPr>
        <p:spPr bwMode="auto">
          <a:xfrm>
            <a:off x="3886200" y="457200"/>
            <a:ext cx="37338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en-US" altLang="zh-CN" sz="2800" b="1">
                <a:latin typeface="楷体_GB2312" charset="0"/>
                <a:ea typeface="楷体_GB2312" charset="0"/>
              </a:rPr>
              <a:t>i = S[i].cur</a:t>
            </a:r>
            <a:endParaRPr lang="en-US" altLang="zh-CN" sz="2800" b="1">
              <a:latin typeface="楷体_GB2312" charset="0"/>
              <a:ea typeface="楷体_GB2312" charset="0"/>
            </a:endParaRPr>
          </a:p>
        </p:txBody>
      </p:sp>
      <p:sp>
        <p:nvSpPr>
          <p:cNvPr id="996459" name="Rectangle 107"/>
          <p:cNvSpPr>
            <a:spLocks noChangeArrowheads="1"/>
          </p:cNvSpPr>
          <p:nvPr/>
        </p:nvSpPr>
        <p:spPr bwMode="auto">
          <a:xfrm>
            <a:off x="4867275" y="6248400"/>
            <a:ext cx="904875"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楷体_GB2312" charset="0"/>
                <a:ea typeface="楷体_GB2312" charset="0"/>
              </a:rPr>
              <a:t>插入</a:t>
            </a:r>
            <a:endParaRPr lang="zh-CN" altLang="en-US" sz="2800" b="1">
              <a:latin typeface="楷体_GB2312" charset="0"/>
              <a:ea typeface="楷体_GB2312" charset="0"/>
            </a:endParaRPr>
          </a:p>
        </p:txBody>
      </p:sp>
      <p:sp>
        <p:nvSpPr>
          <p:cNvPr id="996460" name="Rectangle 108"/>
          <p:cNvSpPr>
            <a:spLocks noChangeArrowheads="1"/>
          </p:cNvSpPr>
          <p:nvPr/>
        </p:nvSpPr>
        <p:spPr bwMode="auto">
          <a:xfrm>
            <a:off x="7254875" y="6248400"/>
            <a:ext cx="904875"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楷体_GB2312" charset="0"/>
                <a:ea typeface="楷体_GB2312" charset="0"/>
              </a:rPr>
              <a:t>删除</a:t>
            </a:r>
            <a:endParaRPr lang="zh-CN" altLang="en-US" sz="2800" b="1">
              <a:latin typeface="楷体_GB2312" charset="0"/>
              <a:ea typeface="楷体_GB2312" charset="0"/>
            </a:endParaRPr>
          </a:p>
        </p:txBody>
      </p:sp>
      <p:grpSp>
        <p:nvGrpSpPr>
          <p:cNvPr id="148512" name="Group 109"/>
          <p:cNvGrpSpPr/>
          <p:nvPr/>
        </p:nvGrpSpPr>
        <p:grpSpPr bwMode="auto">
          <a:xfrm>
            <a:off x="2362200" y="4876800"/>
            <a:ext cx="1905000" cy="542925"/>
            <a:chOff x="1104" y="1527"/>
            <a:chExt cx="1200" cy="342"/>
          </a:xfrm>
        </p:grpSpPr>
        <p:grpSp>
          <p:nvGrpSpPr>
            <p:cNvPr id="148577" name="Group 110"/>
            <p:cNvGrpSpPr/>
            <p:nvPr/>
          </p:nvGrpSpPr>
          <p:grpSpPr bwMode="auto">
            <a:xfrm>
              <a:off x="1344" y="1527"/>
              <a:ext cx="960" cy="336"/>
              <a:chOff x="1560" y="1968"/>
              <a:chExt cx="960" cy="336"/>
            </a:xfrm>
          </p:grpSpPr>
          <p:sp>
            <p:nvSpPr>
              <p:cNvPr id="996463" name="Rectangle 11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64" name="Rectangle 11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7</a:t>
                </a:r>
                <a:endParaRPr kumimoji="0" lang="en-US" altLang="zh-CN" sz="2800">
                  <a:ea typeface="楷体_GB2312" charset="0"/>
                </a:endParaRPr>
              </a:p>
            </p:txBody>
          </p:sp>
        </p:grpSp>
        <p:sp>
          <p:nvSpPr>
            <p:cNvPr id="996465" name="Text Box 11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grpSp>
        <p:nvGrpSpPr>
          <p:cNvPr id="148513" name="Group 114"/>
          <p:cNvGrpSpPr/>
          <p:nvPr/>
        </p:nvGrpSpPr>
        <p:grpSpPr bwMode="auto">
          <a:xfrm>
            <a:off x="2362200" y="5410200"/>
            <a:ext cx="1905000" cy="542925"/>
            <a:chOff x="1104" y="1527"/>
            <a:chExt cx="1200" cy="342"/>
          </a:xfrm>
        </p:grpSpPr>
        <p:grpSp>
          <p:nvGrpSpPr>
            <p:cNvPr id="148573" name="Group 115"/>
            <p:cNvGrpSpPr/>
            <p:nvPr/>
          </p:nvGrpSpPr>
          <p:grpSpPr bwMode="auto">
            <a:xfrm>
              <a:off x="1344" y="1527"/>
              <a:ext cx="960" cy="336"/>
              <a:chOff x="1560" y="1968"/>
              <a:chExt cx="960" cy="336"/>
            </a:xfrm>
          </p:grpSpPr>
          <p:sp>
            <p:nvSpPr>
              <p:cNvPr id="996468" name="Rectangle 11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69" name="Rectangle 11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470" name="Text Box 11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sp>
        <p:nvSpPr>
          <p:cNvPr id="996471" name="Rectangle 119"/>
          <p:cNvSpPr>
            <a:spLocks noChangeArrowheads="1"/>
          </p:cNvSpPr>
          <p:nvPr/>
        </p:nvSpPr>
        <p:spPr bwMode="auto">
          <a:xfrm>
            <a:off x="2476500" y="533400"/>
            <a:ext cx="533400" cy="5334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1</a:t>
            </a:r>
            <a:endParaRPr kumimoji="0" lang="en-US" altLang="zh-CN" sz="2800">
              <a:ea typeface="楷体_GB2312" charset="0"/>
            </a:endParaRPr>
          </a:p>
        </p:txBody>
      </p:sp>
      <p:sp>
        <p:nvSpPr>
          <p:cNvPr id="996472" name="Text Box 120"/>
          <p:cNvSpPr txBox="1">
            <a:spLocks noChangeArrowheads="1"/>
          </p:cNvSpPr>
          <p:nvPr/>
        </p:nvSpPr>
        <p:spPr bwMode="auto">
          <a:xfrm>
            <a:off x="1981200" y="533400"/>
            <a:ext cx="3810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S</a:t>
            </a:r>
            <a:endParaRPr kumimoji="0" lang="en-US" altLang="zh-CN" sz="2800">
              <a:ea typeface="楷体_GB2312" charset="0"/>
            </a:endParaRPr>
          </a:p>
        </p:txBody>
      </p:sp>
      <p:grpSp>
        <p:nvGrpSpPr>
          <p:cNvPr id="148516" name="Group 121"/>
          <p:cNvGrpSpPr/>
          <p:nvPr/>
        </p:nvGrpSpPr>
        <p:grpSpPr bwMode="auto">
          <a:xfrm>
            <a:off x="4648200" y="5410200"/>
            <a:ext cx="1905000" cy="542925"/>
            <a:chOff x="1104" y="1527"/>
            <a:chExt cx="1200" cy="342"/>
          </a:xfrm>
        </p:grpSpPr>
        <p:grpSp>
          <p:nvGrpSpPr>
            <p:cNvPr id="148569" name="Group 122"/>
            <p:cNvGrpSpPr/>
            <p:nvPr/>
          </p:nvGrpSpPr>
          <p:grpSpPr bwMode="auto">
            <a:xfrm>
              <a:off x="1344" y="1527"/>
              <a:ext cx="960" cy="336"/>
              <a:chOff x="1560" y="1968"/>
              <a:chExt cx="960" cy="336"/>
            </a:xfrm>
          </p:grpSpPr>
          <p:sp>
            <p:nvSpPr>
              <p:cNvPr id="996475" name="Rectangle 123"/>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76" name="Rectangle 124"/>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477" name="Text Box 125"/>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grpSp>
        <p:nvGrpSpPr>
          <p:cNvPr id="148517" name="Group 126"/>
          <p:cNvGrpSpPr/>
          <p:nvPr/>
        </p:nvGrpSpPr>
        <p:grpSpPr bwMode="auto">
          <a:xfrm>
            <a:off x="7010400" y="5410200"/>
            <a:ext cx="1905000" cy="542925"/>
            <a:chOff x="1104" y="1527"/>
            <a:chExt cx="1200" cy="342"/>
          </a:xfrm>
        </p:grpSpPr>
        <p:grpSp>
          <p:nvGrpSpPr>
            <p:cNvPr id="148565" name="Group 127"/>
            <p:cNvGrpSpPr/>
            <p:nvPr/>
          </p:nvGrpSpPr>
          <p:grpSpPr bwMode="auto">
            <a:xfrm>
              <a:off x="1344" y="1527"/>
              <a:ext cx="960" cy="336"/>
              <a:chOff x="1560" y="1968"/>
              <a:chExt cx="960" cy="336"/>
            </a:xfrm>
          </p:grpSpPr>
          <p:sp>
            <p:nvSpPr>
              <p:cNvPr id="996480" name="Rectangle 128"/>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81" name="Rectangle 129"/>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482" name="Text Box 130"/>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grpSp>
        <p:nvGrpSpPr>
          <p:cNvPr id="148518" name="Group 131"/>
          <p:cNvGrpSpPr/>
          <p:nvPr/>
        </p:nvGrpSpPr>
        <p:grpSpPr bwMode="auto">
          <a:xfrm>
            <a:off x="7010400" y="3276600"/>
            <a:ext cx="1905000" cy="542925"/>
            <a:chOff x="1104" y="1527"/>
            <a:chExt cx="1200" cy="342"/>
          </a:xfrm>
        </p:grpSpPr>
        <p:grpSp>
          <p:nvGrpSpPr>
            <p:cNvPr id="148561" name="Group 132"/>
            <p:cNvGrpSpPr/>
            <p:nvPr/>
          </p:nvGrpSpPr>
          <p:grpSpPr bwMode="auto">
            <a:xfrm>
              <a:off x="1344" y="1527"/>
              <a:ext cx="960" cy="336"/>
              <a:chOff x="1560" y="1968"/>
              <a:chExt cx="960" cy="336"/>
            </a:xfrm>
          </p:grpSpPr>
          <p:sp>
            <p:nvSpPr>
              <p:cNvPr id="996485" name="Rectangle 133"/>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86" name="Rectangle 134"/>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7</a:t>
                </a:r>
                <a:endParaRPr kumimoji="0" lang="en-US" altLang="zh-CN" sz="2800">
                  <a:ea typeface="楷体_GB2312" charset="0"/>
                </a:endParaRPr>
              </a:p>
            </p:txBody>
          </p:sp>
        </p:grpSp>
        <p:sp>
          <p:nvSpPr>
            <p:cNvPr id="996487" name="Text Box 135"/>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8519" name="Group 136"/>
          <p:cNvGrpSpPr/>
          <p:nvPr/>
        </p:nvGrpSpPr>
        <p:grpSpPr bwMode="auto">
          <a:xfrm>
            <a:off x="152400" y="1676400"/>
            <a:ext cx="1905000" cy="542925"/>
            <a:chOff x="1104" y="1527"/>
            <a:chExt cx="1200" cy="342"/>
          </a:xfrm>
        </p:grpSpPr>
        <p:grpSp>
          <p:nvGrpSpPr>
            <p:cNvPr id="148557" name="Group 137"/>
            <p:cNvGrpSpPr/>
            <p:nvPr/>
          </p:nvGrpSpPr>
          <p:grpSpPr bwMode="auto">
            <a:xfrm>
              <a:off x="1344" y="1527"/>
              <a:ext cx="960" cy="336"/>
              <a:chOff x="1560" y="1968"/>
              <a:chExt cx="960" cy="336"/>
            </a:xfrm>
          </p:grpSpPr>
          <p:sp>
            <p:nvSpPr>
              <p:cNvPr id="996490" name="Rectangle 138"/>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91" name="Rectangle 139"/>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1</a:t>
                </a:r>
                <a:endParaRPr kumimoji="0" lang="en-US" altLang="zh-CN" sz="2800">
                  <a:ea typeface="楷体_GB2312" charset="0"/>
                </a:endParaRPr>
              </a:p>
            </p:txBody>
          </p:sp>
        </p:grpSp>
        <p:sp>
          <p:nvSpPr>
            <p:cNvPr id="996492" name="Text Box 140"/>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8520" name="Group 141"/>
          <p:cNvGrpSpPr/>
          <p:nvPr/>
        </p:nvGrpSpPr>
        <p:grpSpPr bwMode="auto">
          <a:xfrm>
            <a:off x="152400" y="2209800"/>
            <a:ext cx="1905000" cy="542925"/>
            <a:chOff x="1104" y="1527"/>
            <a:chExt cx="1200" cy="342"/>
          </a:xfrm>
        </p:grpSpPr>
        <p:grpSp>
          <p:nvGrpSpPr>
            <p:cNvPr id="148553" name="Group 142"/>
            <p:cNvGrpSpPr/>
            <p:nvPr/>
          </p:nvGrpSpPr>
          <p:grpSpPr bwMode="auto">
            <a:xfrm>
              <a:off x="1344" y="1527"/>
              <a:ext cx="960" cy="336"/>
              <a:chOff x="1560" y="1968"/>
              <a:chExt cx="960" cy="336"/>
            </a:xfrm>
          </p:grpSpPr>
          <p:sp>
            <p:nvSpPr>
              <p:cNvPr id="996495" name="Rectangle 143"/>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96" name="Rectangle 144"/>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6497" name="Text Box 145"/>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8521" name="Group 146"/>
          <p:cNvGrpSpPr/>
          <p:nvPr/>
        </p:nvGrpSpPr>
        <p:grpSpPr bwMode="auto">
          <a:xfrm>
            <a:off x="152400" y="2743200"/>
            <a:ext cx="1905000" cy="542925"/>
            <a:chOff x="1104" y="1527"/>
            <a:chExt cx="1200" cy="342"/>
          </a:xfrm>
        </p:grpSpPr>
        <p:grpSp>
          <p:nvGrpSpPr>
            <p:cNvPr id="148549" name="Group 147"/>
            <p:cNvGrpSpPr/>
            <p:nvPr/>
          </p:nvGrpSpPr>
          <p:grpSpPr bwMode="auto">
            <a:xfrm>
              <a:off x="1344" y="1527"/>
              <a:ext cx="960" cy="336"/>
              <a:chOff x="1560" y="1968"/>
              <a:chExt cx="960" cy="336"/>
            </a:xfrm>
          </p:grpSpPr>
          <p:sp>
            <p:nvSpPr>
              <p:cNvPr id="996500" name="Rectangle 148"/>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501" name="Rectangle 149"/>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3</a:t>
                </a:r>
                <a:endParaRPr kumimoji="0" lang="en-US" altLang="zh-CN" sz="2800">
                  <a:ea typeface="楷体_GB2312" charset="0"/>
                </a:endParaRPr>
              </a:p>
            </p:txBody>
          </p:sp>
        </p:grpSp>
        <p:sp>
          <p:nvSpPr>
            <p:cNvPr id="996502" name="Text Box 150"/>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8522" name="Group 151"/>
          <p:cNvGrpSpPr/>
          <p:nvPr/>
        </p:nvGrpSpPr>
        <p:grpSpPr bwMode="auto">
          <a:xfrm>
            <a:off x="152400" y="3276600"/>
            <a:ext cx="1905000" cy="542925"/>
            <a:chOff x="1104" y="1527"/>
            <a:chExt cx="1200" cy="342"/>
          </a:xfrm>
        </p:grpSpPr>
        <p:grpSp>
          <p:nvGrpSpPr>
            <p:cNvPr id="148545" name="Group 152"/>
            <p:cNvGrpSpPr/>
            <p:nvPr/>
          </p:nvGrpSpPr>
          <p:grpSpPr bwMode="auto">
            <a:xfrm>
              <a:off x="1344" y="1527"/>
              <a:ext cx="960" cy="336"/>
              <a:chOff x="1560" y="1968"/>
              <a:chExt cx="960" cy="336"/>
            </a:xfrm>
          </p:grpSpPr>
          <p:sp>
            <p:nvSpPr>
              <p:cNvPr id="996505" name="Rectangle 153"/>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506" name="Rectangle 154"/>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6507" name="Text Box 155"/>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8523" name="Group 156"/>
          <p:cNvGrpSpPr/>
          <p:nvPr/>
        </p:nvGrpSpPr>
        <p:grpSpPr bwMode="auto">
          <a:xfrm>
            <a:off x="152400" y="3810000"/>
            <a:ext cx="1905000" cy="542925"/>
            <a:chOff x="1104" y="1527"/>
            <a:chExt cx="1200" cy="342"/>
          </a:xfrm>
        </p:grpSpPr>
        <p:grpSp>
          <p:nvGrpSpPr>
            <p:cNvPr id="148541" name="Group 157"/>
            <p:cNvGrpSpPr/>
            <p:nvPr/>
          </p:nvGrpSpPr>
          <p:grpSpPr bwMode="auto">
            <a:xfrm>
              <a:off x="1344" y="1527"/>
              <a:ext cx="960" cy="336"/>
              <a:chOff x="1560" y="1968"/>
              <a:chExt cx="960" cy="336"/>
            </a:xfrm>
          </p:grpSpPr>
          <p:sp>
            <p:nvSpPr>
              <p:cNvPr id="996510" name="Rectangle 158"/>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511" name="Rectangle 159"/>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6512" name="Text Box 160"/>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8524" name="Group 161"/>
          <p:cNvGrpSpPr/>
          <p:nvPr/>
        </p:nvGrpSpPr>
        <p:grpSpPr bwMode="auto">
          <a:xfrm>
            <a:off x="152400" y="4343400"/>
            <a:ext cx="1905000" cy="542925"/>
            <a:chOff x="1104" y="1527"/>
            <a:chExt cx="1200" cy="342"/>
          </a:xfrm>
        </p:grpSpPr>
        <p:grpSp>
          <p:nvGrpSpPr>
            <p:cNvPr id="148537" name="Group 162"/>
            <p:cNvGrpSpPr/>
            <p:nvPr/>
          </p:nvGrpSpPr>
          <p:grpSpPr bwMode="auto">
            <a:xfrm>
              <a:off x="1344" y="1527"/>
              <a:ext cx="960" cy="336"/>
              <a:chOff x="1560" y="1968"/>
              <a:chExt cx="960" cy="336"/>
            </a:xfrm>
          </p:grpSpPr>
          <p:sp>
            <p:nvSpPr>
              <p:cNvPr id="996515" name="Rectangle 163"/>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516" name="Rectangle 164"/>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6</a:t>
                </a:r>
                <a:endParaRPr kumimoji="0" lang="en-US" altLang="zh-CN" sz="2800">
                  <a:ea typeface="楷体_GB2312" charset="0"/>
                </a:endParaRPr>
              </a:p>
            </p:txBody>
          </p:sp>
        </p:grpSp>
        <p:sp>
          <p:nvSpPr>
            <p:cNvPr id="996517" name="Text Box 165"/>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sp>
        <p:nvSpPr>
          <p:cNvPr id="996518" name="Text Box 166"/>
          <p:cNvSpPr txBox="1">
            <a:spLocks noChangeArrowheads="1"/>
          </p:cNvSpPr>
          <p:nvPr/>
        </p:nvSpPr>
        <p:spPr bwMode="auto">
          <a:xfrm>
            <a:off x="533400" y="1143000"/>
            <a:ext cx="19431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Space(0:7)</a:t>
            </a:r>
            <a:endParaRPr kumimoji="0" lang="en-US" altLang="zh-CN" sz="2800">
              <a:ea typeface="楷体_GB2312" charset="0"/>
            </a:endParaRPr>
          </a:p>
        </p:txBody>
      </p:sp>
      <p:grpSp>
        <p:nvGrpSpPr>
          <p:cNvPr id="148526" name="Group 167"/>
          <p:cNvGrpSpPr/>
          <p:nvPr/>
        </p:nvGrpSpPr>
        <p:grpSpPr bwMode="auto">
          <a:xfrm>
            <a:off x="152400" y="4876800"/>
            <a:ext cx="1905000" cy="542925"/>
            <a:chOff x="1104" y="1527"/>
            <a:chExt cx="1200" cy="342"/>
          </a:xfrm>
        </p:grpSpPr>
        <p:grpSp>
          <p:nvGrpSpPr>
            <p:cNvPr id="148533" name="Group 168"/>
            <p:cNvGrpSpPr/>
            <p:nvPr/>
          </p:nvGrpSpPr>
          <p:grpSpPr bwMode="auto">
            <a:xfrm>
              <a:off x="1344" y="1527"/>
              <a:ext cx="960" cy="336"/>
              <a:chOff x="1560" y="1968"/>
              <a:chExt cx="960" cy="336"/>
            </a:xfrm>
          </p:grpSpPr>
          <p:sp>
            <p:nvSpPr>
              <p:cNvPr id="996521" name="Rectangle 16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522" name="Rectangle 17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7</a:t>
                </a:r>
                <a:endParaRPr kumimoji="0" lang="en-US" altLang="zh-CN" sz="2800">
                  <a:ea typeface="楷体_GB2312" charset="0"/>
                </a:endParaRPr>
              </a:p>
            </p:txBody>
          </p:sp>
        </p:grpSp>
        <p:sp>
          <p:nvSpPr>
            <p:cNvPr id="996523" name="Text Box 17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grpSp>
        <p:nvGrpSpPr>
          <p:cNvPr id="148527" name="Group 172"/>
          <p:cNvGrpSpPr/>
          <p:nvPr/>
        </p:nvGrpSpPr>
        <p:grpSpPr bwMode="auto">
          <a:xfrm>
            <a:off x="152400" y="5410200"/>
            <a:ext cx="1905000" cy="542925"/>
            <a:chOff x="1104" y="1527"/>
            <a:chExt cx="1200" cy="342"/>
          </a:xfrm>
        </p:grpSpPr>
        <p:grpSp>
          <p:nvGrpSpPr>
            <p:cNvPr id="148529" name="Group 173"/>
            <p:cNvGrpSpPr/>
            <p:nvPr/>
          </p:nvGrpSpPr>
          <p:grpSpPr bwMode="auto">
            <a:xfrm>
              <a:off x="1344" y="1527"/>
              <a:ext cx="960" cy="336"/>
              <a:chOff x="1560" y="1968"/>
              <a:chExt cx="960" cy="336"/>
            </a:xfrm>
          </p:grpSpPr>
          <p:sp>
            <p:nvSpPr>
              <p:cNvPr id="996526" name="Rectangle 17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527" name="Rectangle 17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528" name="Text Box 17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sp>
        <p:nvSpPr>
          <p:cNvPr id="996529" name="Rectangle 177"/>
          <p:cNvSpPr>
            <a:spLocks noChangeArrowheads="1"/>
          </p:cNvSpPr>
          <p:nvPr/>
        </p:nvSpPr>
        <p:spPr bwMode="auto">
          <a:xfrm>
            <a:off x="533400" y="6248400"/>
            <a:ext cx="1260475"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楷体_GB2312" charset="0"/>
                <a:ea typeface="楷体_GB2312" charset="0"/>
              </a:rPr>
              <a:t>初始化</a:t>
            </a:r>
            <a:endParaRPr lang="zh-CN" altLang="en-US" sz="2800" b="1">
              <a:latin typeface="楷体_GB2312" charset="0"/>
              <a:ea typeface="楷体_GB2312" charset="0"/>
            </a:endParaRP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p:cNvSpPr>
            <a:spLocks noGrp="1" noChangeArrowheads="1"/>
          </p:cNvSpPr>
          <p:nvPr>
            <p:ph type="body" idx="1"/>
          </p:nvPr>
        </p:nvSpPr>
        <p:spPr>
          <a:xfrm>
            <a:off x="685800" y="1454150"/>
            <a:ext cx="7772400" cy="4718050"/>
          </a:xfrm>
        </p:spPr>
        <p:txBody>
          <a:bodyPr/>
          <a:lstStyle/>
          <a:p>
            <a:pPr>
              <a:buFontTx/>
              <a:buNone/>
            </a:pPr>
            <a:r>
              <a:rPr lang="zh-CN" altLang="en-US" b="1">
                <a:solidFill>
                  <a:srgbClr val="660033"/>
                </a:solidFill>
                <a:latin typeface="楷体_GB2312" charset="0"/>
                <a:ea typeface="楷体_GB2312" charset="0"/>
              </a:rPr>
              <a:t>初始化链表</a:t>
            </a:r>
            <a:endParaRPr lang="zh-CN" altLang="en-US" b="1">
              <a:solidFill>
                <a:srgbClr val="660033"/>
              </a:solidFill>
              <a:latin typeface="楷体_GB2312" charset="0"/>
              <a:ea typeface="楷体_GB2312" charset="0"/>
            </a:endParaRPr>
          </a:p>
          <a:p>
            <a:pPr>
              <a:buFontTx/>
              <a:buNone/>
            </a:pPr>
            <a:r>
              <a:rPr lang="en-US" altLang="zh-CN">
                <a:latin typeface="楷体_GB2312" charset="0"/>
                <a:ea typeface="楷体_GB2312" charset="0"/>
              </a:rPr>
              <a:t>space[0].cur</a:t>
            </a:r>
            <a:r>
              <a:rPr lang="zh-CN" altLang="en-US">
                <a:latin typeface="楷体_GB2312" charset="0"/>
                <a:ea typeface="楷体_GB2312" charset="0"/>
              </a:rPr>
              <a:t>为备用链的头指针，</a:t>
            </a:r>
            <a:endParaRPr lang="zh-CN" altLang="en-US">
              <a:latin typeface="楷体_GB2312" charset="0"/>
              <a:ea typeface="楷体_GB2312" charset="0"/>
            </a:endParaRPr>
          </a:p>
          <a:p>
            <a:pPr>
              <a:buFontTx/>
              <a:buNone/>
            </a:pPr>
            <a:r>
              <a:rPr lang="en-US" altLang="zh-CN">
                <a:latin typeface="楷体_GB2312" charset="0"/>
                <a:ea typeface="楷体_GB2312" charset="0"/>
              </a:rPr>
              <a:t>cur</a:t>
            </a:r>
            <a:r>
              <a:rPr lang="zh-CN" altLang="en-US">
                <a:latin typeface="楷体_GB2312" charset="0"/>
                <a:ea typeface="楷体_GB2312" charset="0"/>
              </a:rPr>
              <a:t>域为</a:t>
            </a:r>
            <a:r>
              <a:rPr lang="en-US" altLang="zh-CN">
                <a:latin typeface="楷体_GB2312" charset="0"/>
                <a:ea typeface="楷体_GB2312" charset="0"/>
              </a:rPr>
              <a:t>0</a:t>
            </a:r>
            <a:r>
              <a:rPr lang="zh-CN" altLang="en-US">
                <a:latin typeface="楷体_GB2312" charset="0"/>
                <a:ea typeface="楷体_GB2312" charset="0"/>
              </a:rPr>
              <a:t>表示空指针</a:t>
            </a:r>
            <a:endParaRPr lang="zh-CN" altLang="en-US">
              <a:latin typeface="楷体_GB2312" charset="0"/>
              <a:ea typeface="楷体_GB2312" charset="0"/>
            </a:endParaRPr>
          </a:p>
          <a:p>
            <a:pPr>
              <a:buFontTx/>
              <a:buNone/>
            </a:pPr>
            <a:endParaRPr lang="zh-CN" altLang="en-US"/>
          </a:p>
          <a:p>
            <a:pPr>
              <a:buFontTx/>
              <a:buNone/>
            </a:pPr>
            <a:r>
              <a:rPr lang="en-US" altLang="zh-CN">
                <a:latin typeface="Times New Roman" panose="02020603050405020304" charset="0"/>
              </a:rPr>
              <a:t>void InitSpace_SL(SlinkList &amp;space){</a:t>
            </a:r>
            <a:endParaRPr lang="en-US" altLang="zh-CN">
              <a:latin typeface="Times New Roman" panose="02020603050405020304" charset="0"/>
            </a:endParaRPr>
          </a:p>
          <a:p>
            <a:pPr>
              <a:buFontTx/>
              <a:buNone/>
            </a:pPr>
            <a:r>
              <a:rPr lang="en-US" altLang="zh-CN">
                <a:latin typeface="Times New Roman" panose="02020603050405020304" charset="0"/>
              </a:rPr>
              <a:t>   for( i=0 ; i &lt; MAXSIZE-1; i++)            space[i].cur=i+1;</a:t>
            </a:r>
            <a:endParaRPr lang="en-US" altLang="zh-CN">
              <a:latin typeface="Times New Roman" panose="02020603050405020304" charset="0"/>
            </a:endParaRPr>
          </a:p>
          <a:p>
            <a:pPr>
              <a:buFontTx/>
              <a:buNone/>
            </a:pPr>
            <a:r>
              <a:rPr lang="en-US" altLang="zh-CN">
                <a:latin typeface="Times New Roman" panose="02020603050405020304" charset="0"/>
              </a:rPr>
              <a:t>     space[MAXSIZE-1] = 0;</a:t>
            </a:r>
            <a:endParaRPr lang="en-US" altLang="zh-CN">
              <a:latin typeface="Times New Roman" panose="02020603050405020304" charset="0"/>
            </a:endParaRPr>
          </a:p>
          <a:p>
            <a:pPr>
              <a:buFontTx/>
              <a:buNone/>
            </a:pPr>
            <a:endParaRPr lang="zh-CN" altLang="en-US">
              <a:latin typeface="Times New Roman" panose="02020603050405020304" charset="0"/>
            </a:endParaRP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p:cNvSpPr>
            <a:spLocks noGrp="1" noChangeArrowheads="1"/>
          </p:cNvSpPr>
          <p:nvPr>
            <p:ph type="body" idx="1"/>
          </p:nvPr>
        </p:nvSpPr>
        <p:spPr>
          <a:xfrm>
            <a:off x="685800" y="1371600"/>
            <a:ext cx="7772400" cy="5297488"/>
          </a:xfrm>
        </p:spPr>
        <p:txBody>
          <a:bodyPr>
            <a:normAutofit fontScale="92500" lnSpcReduction="10000"/>
          </a:bodyPr>
          <a:lstStyle/>
          <a:p>
            <a:pPr>
              <a:lnSpc>
                <a:spcPct val="80000"/>
              </a:lnSpc>
              <a:buFontTx/>
              <a:buNone/>
            </a:pPr>
            <a:r>
              <a:rPr lang="zh-CN" altLang="en-US" b="1">
                <a:solidFill>
                  <a:srgbClr val="660033"/>
                </a:solidFill>
                <a:latin typeface="楷体_GB2312" charset="0"/>
                <a:ea typeface="楷体_GB2312" charset="0"/>
              </a:rPr>
              <a:t>模拟动态分配</a:t>
            </a:r>
            <a:endParaRPr lang="zh-CN" altLang="en-US" b="1">
              <a:solidFill>
                <a:srgbClr val="660033"/>
              </a:solidFill>
              <a:latin typeface="楷体_GB2312" charset="0"/>
              <a:ea typeface="楷体_GB2312" charset="0"/>
            </a:endParaRPr>
          </a:p>
          <a:p>
            <a:pPr>
              <a:lnSpc>
                <a:spcPct val="80000"/>
              </a:lnSpc>
              <a:buFontTx/>
              <a:buNone/>
            </a:pPr>
            <a:r>
              <a:rPr lang="en-US" altLang="zh-CN" sz="2400">
                <a:latin typeface="Times New Roman" panose="02020603050405020304" charset="0"/>
              </a:rPr>
              <a:t>int Malloc_SL(SlinkList &amp;space){</a:t>
            </a:r>
            <a:endParaRPr lang="en-US" altLang="zh-CN" sz="2400">
              <a:latin typeface="Times New Roman" panose="02020603050405020304" charset="0"/>
            </a:endParaRPr>
          </a:p>
          <a:p>
            <a:pPr>
              <a:lnSpc>
                <a:spcPct val="80000"/>
              </a:lnSpc>
              <a:buFontTx/>
              <a:buNone/>
            </a:pPr>
            <a:r>
              <a:rPr lang="en-US" altLang="zh-CN" sz="2400">
                <a:latin typeface="Times New Roman" panose="02020603050405020304" charset="0"/>
              </a:rPr>
              <a:t>  i = space[0].cur;</a:t>
            </a:r>
            <a:endParaRPr lang="en-US" altLang="zh-CN" sz="2400">
              <a:latin typeface="Times New Roman" panose="02020603050405020304" charset="0"/>
            </a:endParaRPr>
          </a:p>
          <a:p>
            <a:pPr>
              <a:lnSpc>
                <a:spcPct val="80000"/>
              </a:lnSpc>
              <a:buFontTx/>
              <a:buNone/>
            </a:pPr>
            <a:r>
              <a:rPr lang="en-US" altLang="zh-CN" sz="2400">
                <a:latin typeface="Times New Roman" panose="02020603050405020304" charset="0"/>
              </a:rPr>
              <a:t>if ( space[0].cur!=0 )    space[0].cur = space[i].cur;	</a:t>
            </a:r>
            <a:endParaRPr lang="en-US" altLang="zh-CN" sz="2400">
              <a:latin typeface="Times New Roman" panose="02020603050405020304" charset="0"/>
            </a:endParaRPr>
          </a:p>
          <a:p>
            <a:pPr>
              <a:lnSpc>
                <a:spcPct val="80000"/>
              </a:lnSpc>
              <a:buFontTx/>
              <a:buNone/>
            </a:pPr>
            <a:r>
              <a:rPr lang="en-US" altLang="zh-CN" sz="2400">
                <a:latin typeface="Times New Roman" panose="02020603050405020304" charset="0"/>
              </a:rPr>
              <a:t>	// 0</a:t>
            </a:r>
            <a:r>
              <a:rPr lang="zh-CN" altLang="en-US" sz="2400">
                <a:latin typeface="Times New Roman" panose="02020603050405020304" charset="0"/>
              </a:rPr>
              <a:t>表示为空</a:t>
            </a:r>
            <a:endParaRPr lang="zh-CN" altLang="en-US" sz="2400">
              <a:latin typeface="Times New Roman" panose="02020603050405020304" charset="0"/>
            </a:endParaRPr>
          </a:p>
          <a:p>
            <a:pPr>
              <a:lnSpc>
                <a:spcPct val="80000"/>
              </a:lnSpc>
              <a:buFontTx/>
              <a:buNone/>
            </a:pPr>
            <a:r>
              <a:rPr lang="zh-CN" altLang="en-US" sz="2400">
                <a:latin typeface="Times New Roman" panose="02020603050405020304" charset="0"/>
              </a:rPr>
              <a:t>   </a:t>
            </a:r>
            <a:r>
              <a:rPr lang="en-US" altLang="zh-CN" sz="2400">
                <a:latin typeface="Times New Roman" panose="02020603050405020304" charset="0"/>
              </a:rPr>
              <a:t>return i;</a:t>
            </a:r>
            <a:endParaRPr lang="en-US" altLang="zh-CN" sz="2400">
              <a:latin typeface="Times New Roman" panose="02020603050405020304" charset="0"/>
            </a:endParaRPr>
          </a:p>
          <a:p>
            <a:pPr>
              <a:lnSpc>
                <a:spcPct val="80000"/>
              </a:lnSpc>
              <a:buFontTx/>
              <a:buNone/>
            </a:pPr>
            <a:r>
              <a:rPr lang="en-US" altLang="zh-CN" sz="2400">
                <a:latin typeface="Times New Roman" panose="02020603050405020304" charset="0"/>
              </a:rPr>
              <a:t>}</a:t>
            </a:r>
            <a:endParaRPr lang="en-US" altLang="zh-CN" sz="2400">
              <a:latin typeface="Times New Roman" panose="02020603050405020304" charset="0"/>
            </a:endParaRPr>
          </a:p>
          <a:p>
            <a:pPr>
              <a:lnSpc>
                <a:spcPct val="80000"/>
              </a:lnSpc>
              <a:buFontTx/>
              <a:buNone/>
            </a:pPr>
            <a:endParaRPr lang="en-US" altLang="zh-CN" b="1">
              <a:solidFill>
                <a:srgbClr val="660033"/>
              </a:solidFill>
              <a:latin typeface="Times New Roman" panose="02020603050405020304" charset="0"/>
              <a:ea typeface="楷体_GB2312" charset="0"/>
            </a:endParaRPr>
          </a:p>
          <a:p>
            <a:pPr>
              <a:lnSpc>
                <a:spcPct val="80000"/>
              </a:lnSpc>
              <a:buFontTx/>
              <a:buNone/>
            </a:pPr>
            <a:r>
              <a:rPr lang="zh-CN" altLang="en-US" b="1">
                <a:solidFill>
                  <a:srgbClr val="660033"/>
                </a:solidFill>
                <a:latin typeface="楷体_GB2312" charset="0"/>
                <a:ea typeface="楷体_GB2312" charset="0"/>
              </a:rPr>
              <a:t>模拟动态释放</a:t>
            </a:r>
            <a:endParaRPr lang="zh-CN" altLang="en-US" b="1">
              <a:solidFill>
                <a:srgbClr val="660033"/>
              </a:solidFill>
              <a:latin typeface="楷体_GB2312" charset="0"/>
              <a:ea typeface="楷体_GB2312" charset="0"/>
            </a:endParaRPr>
          </a:p>
          <a:p>
            <a:pPr>
              <a:lnSpc>
                <a:spcPct val="80000"/>
              </a:lnSpc>
              <a:buFontTx/>
              <a:buNone/>
            </a:pPr>
            <a:r>
              <a:rPr lang="en-US" altLang="zh-CN" sz="2400">
                <a:latin typeface="Times New Roman" panose="02020603050405020304" charset="0"/>
              </a:rPr>
              <a:t>void Free_SL(SlinkList &amp;space, int k){</a:t>
            </a:r>
            <a:endParaRPr lang="en-US" altLang="zh-CN" sz="2400">
              <a:latin typeface="Times New Roman" panose="02020603050405020304" charset="0"/>
            </a:endParaRPr>
          </a:p>
          <a:p>
            <a:pPr>
              <a:lnSpc>
                <a:spcPct val="80000"/>
              </a:lnSpc>
              <a:buFontTx/>
              <a:buNone/>
            </a:pPr>
            <a:r>
              <a:rPr lang="en-US" altLang="zh-CN" sz="2400">
                <a:latin typeface="Times New Roman" panose="02020603050405020304" charset="0"/>
              </a:rPr>
              <a:t>space[k].cur = space[0].cur;  space[0].cur = k;</a:t>
            </a:r>
            <a:endParaRPr lang="en-US" altLang="zh-CN" sz="2400">
              <a:latin typeface="Times New Roman" panose="02020603050405020304" charset="0"/>
            </a:endParaRPr>
          </a:p>
          <a:p>
            <a:pPr>
              <a:lnSpc>
                <a:spcPct val="80000"/>
              </a:lnSpc>
              <a:buFontTx/>
              <a:buNone/>
            </a:pPr>
            <a:r>
              <a:rPr lang="en-US" altLang="zh-CN" sz="2400">
                <a:latin typeface="Times New Roman" panose="02020603050405020304" charset="0"/>
              </a:rPr>
              <a:t>}</a:t>
            </a:r>
            <a:endParaRPr lang="en-US" altLang="zh-CN" sz="2400">
              <a:latin typeface="Times New Roman" panose="02020603050405020304" charset="0"/>
            </a:endParaRPr>
          </a:p>
          <a:p>
            <a:pPr>
              <a:lnSpc>
                <a:spcPct val="80000"/>
              </a:lnSpc>
              <a:buFontTx/>
              <a:buNone/>
            </a:pPr>
            <a:endParaRPr lang="zh-CN" altLang="en-US" sz="2400">
              <a:latin typeface="Times New Roman" panose="02020603050405020304" charset="0"/>
            </a:endParaRP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426" name="WordArt 2"/>
          <p:cNvSpPr>
            <a:spLocks noChangeArrowheads="1" noChangeShapeType="1" noTextEdit="1"/>
          </p:cNvSpPr>
          <p:nvPr/>
        </p:nvSpPr>
        <p:spPr bwMode="auto">
          <a:xfrm rot="273506">
            <a:off x="76200" y="1762125"/>
            <a:ext cx="8382000" cy="2959100"/>
          </a:xfrm>
          <a:prstGeom prst="rect">
            <a:avLst/>
          </a:prstGeom>
          <a:extLst>
            <a:ext uri="{AF507438-7753-43E0-B8FC-AC1667EBCBE1}">
              <a14:hiddenEffects xmlns:a14="http://schemas.microsoft.com/office/drawing/2010/main">
                <a:effectLst/>
              </a14:hiddenEffects>
            </a:ext>
          </a:extLst>
        </p:spPr>
        <p:txBody>
          <a:bodyPr wrap="none" fromWordArt="1">
            <a:prstTxWarp prst="textCascadeUp">
              <a:avLst>
                <a:gd name="adj" fmla="val 57204"/>
              </a:avLst>
            </a:prstTxWarp>
            <a:scene3d>
              <a:camera prst="legacyPerspectiveFront">
                <a:rot lat="20519999" lon="1080000" rev="0"/>
              </a:camera>
              <a:lightRig rig="legacyHarsh2" dir="b"/>
            </a:scene3d>
            <a:sp3d extrusionH="430200" contourW="12700" prstMaterial="legacyMatte">
              <a:extrusionClr>
                <a:srgbClr val="FF6600"/>
              </a:extrusionClr>
              <a:contourClr>
                <a:srgbClr val="FFE701"/>
              </a:contourClr>
            </a:sp3d>
          </a:bodyPr>
          <a:lstStyle/>
          <a:p>
            <a:pPr algn="ctr" eaLnBrk="1" hangingPunct="1">
              <a:defRPr/>
            </a:pPr>
            <a:r>
              <a:rPr lang="en-US" altLang="zh-CN" sz="6600" kern="10">
                <a:ln w="9525">
                  <a:round/>
                </a:ln>
                <a:gradFill rotWithShape="0">
                  <a:gsLst>
                    <a:gs pos="0">
                      <a:srgbClr val="FFE701"/>
                    </a:gs>
                    <a:gs pos="100000">
                      <a:srgbClr val="FE3E02"/>
                    </a:gs>
                  </a:gsLst>
                  <a:lin ang="5126494" scaled="1"/>
                </a:gradFill>
                <a:latin typeface="宋体" panose="02010600030101010101" pitchFamily="2" charset="-122"/>
                <a:cs typeface="宋体" panose="02010600030101010101" pitchFamily="2" charset="-122"/>
              </a:rPr>
              <a:t>2.4 </a:t>
            </a:r>
            <a:r>
              <a:rPr lang="zh-CN" altLang="en-US" sz="6600" kern="10">
                <a:ln w="9525">
                  <a:round/>
                </a:ln>
                <a:gradFill rotWithShape="0">
                  <a:gsLst>
                    <a:gs pos="0">
                      <a:srgbClr val="FFE701"/>
                    </a:gs>
                    <a:gs pos="100000">
                      <a:srgbClr val="FE3E02"/>
                    </a:gs>
                  </a:gsLst>
                  <a:lin ang="5126494" scaled="1"/>
                </a:gradFill>
                <a:latin typeface="宋体" panose="02010600030101010101" pitchFamily="2" charset="-122"/>
                <a:cs typeface="宋体" panose="02010600030101010101" pitchFamily="2" charset="-122"/>
              </a:rPr>
              <a:t>一元多项式的表示</a:t>
            </a:r>
            <a:endParaRPr lang="zh-CN" altLang="en-US" sz="6600" kern="10">
              <a:ln w="9525">
                <a:round/>
              </a:ln>
              <a:gradFill rotWithShape="0">
                <a:gsLst>
                  <a:gs pos="0">
                    <a:srgbClr val="FFE701"/>
                  </a:gs>
                  <a:gs pos="100000">
                    <a:srgbClr val="FE3E02"/>
                  </a:gs>
                </a:gsLst>
                <a:lin ang="5126494" scaled="1"/>
              </a:gradFill>
              <a:latin typeface="宋体" panose="02010600030101010101" pitchFamily="2" charset="-122"/>
              <a:cs typeface="宋体" panose="02010600030101010101" pitchFamily="2" charset="-122"/>
            </a:endParaRP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0450" name="Object 2"/>
          <p:cNvGraphicFramePr>
            <a:graphicFrameLocks noChangeAspect="1"/>
          </p:cNvGraphicFramePr>
          <p:nvPr/>
        </p:nvGraphicFramePr>
        <p:xfrm>
          <a:off x="882650" y="1430338"/>
          <a:ext cx="7383463" cy="788987"/>
        </p:xfrm>
        <a:graphic>
          <a:graphicData uri="http://schemas.openxmlformats.org/presentationml/2006/ole">
            <mc:AlternateContent xmlns:mc="http://schemas.openxmlformats.org/markup-compatibility/2006">
              <mc:Choice xmlns:v="urn:schemas-microsoft-com:vml" Requires="v">
                <p:oleObj spid="_x0000_s145420" name="公式" r:id="rId1" imgW="2247900" imgH="241300" progId="Equation.3">
                  <p:embed/>
                </p:oleObj>
              </mc:Choice>
              <mc:Fallback>
                <p:oleObj name="公式" r:id="rId1" imgW="2247900" imgH="241300" progId="Equation.3">
                  <p:embed/>
                  <p:pic>
                    <p:nvPicPr>
                      <p:cNvPr id="0" name="图片 1454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650" y="1430338"/>
                        <a:ext cx="7383463"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1000451" name="Text Box 3"/>
          <p:cNvSpPr txBox="1">
            <a:spLocks noChangeArrowheads="1"/>
          </p:cNvSpPr>
          <p:nvPr/>
        </p:nvSpPr>
        <p:spPr bwMode="auto">
          <a:xfrm>
            <a:off x="425450" y="2344738"/>
            <a:ext cx="6375463" cy="1104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2800" b="1">
                <a:latin typeface="楷体_GB2312" charset="0"/>
                <a:ea typeface="楷体_GB2312" charset="0"/>
              </a:rPr>
              <a:t>在计算机中，可以用一个线性表来表示</a:t>
            </a:r>
            <a:r>
              <a:rPr lang="en-US" altLang="zh-CN" sz="2800">
                <a:latin typeface="楷体_GB2312" charset="0"/>
                <a:ea typeface="楷体_GB2312" charset="0"/>
              </a:rPr>
              <a:t>:</a:t>
            </a:r>
            <a:endParaRPr lang="en-US" altLang="zh-CN" sz="2800">
              <a:latin typeface="楷体_GB2312" charset="0"/>
              <a:ea typeface="楷体_GB2312" charset="0"/>
            </a:endParaRPr>
          </a:p>
          <a:p>
            <a:pPr eaLnBrk="1" hangingPunct="1">
              <a:lnSpc>
                <a:spcPct val="120000"/>
              </a:lnSpc>
              <a:defRPr/>
            </a:pPr>
            <a:r>
              <a:rPr lang="en-US" altLang="zh-CN" sz="2800">
                <a:ea typeface="楷体_GB2312" charset="0"/>
              </a:rPr>
              <a:t>      P = (p</a:t>
            </a:r>
            <a:r>
              <a:rPr lang="en-US" altLang="zh-CN" sz="2800" baseline="-25000">
                <a:ea typeface="楷体_GB2312" charset="0"/>
              </a:rPr>
              <a:t>0</a:t>
            </a:r>
            <a:r>
              <a:rPr lang="en-US" altLang="zh-CN" sz="2800">
                <a:ea typeface="楷体_GB2312" charset="0"/>
              </a:rPr>
              <a:t>, p</a:t>
            </a:r>
            <a:r>
              <a:rPr lang="en-US" altLang="zh-CN" sz="2800" baseline="-25000">
                <a:ea typeface="楷体_GB2312" charset="0"/>
              </a:rPr>
              <a:t>1</a:t>
            </a:r>
            <a:r>
              <a:rPr lang="en-US" altLang="zh-CN" sz="2800">
                <a:ea typeface="楷体_GB2312" charset="0"/>
              </a:rPr>
              <a:t>, …</a:t>
            </a:r>
            <a:r>
              <a:rPr lang="zh-CN" altLang="en-US" sz="2800">
                <a:ea typeface="楷体_GB2312" charset="0"/>
              </a:rPr>
              <a:t>，</a:t>
            </a:r>
            <a:r>
              <a:rPr lang="en-US" altLang="zh-CN" sz="2800">
                <a:ea typeface="楷体_GB2312" charset="0"/>
              </a:rPr>
              <a:t>p</a:t>
            </a:r>
            <a:r>
              <a:rPr lang="en-US" altLang="zh-CN" sz="2800" baseline="-25000">
                <a:ea typeface="楷体_GB2312" charset="0"/>
              </a:rPr>
              <a:t>n</a:t>
            </a:r>
            <a:r>
              <a:rPr lang="en-US" altLang="zh-CN" sz="2800">
                <a:ea typeface="楷体_GB2312" charset="0"/>
              </a:rPr>
              <a:t>)</a:t>
            </a:r>
            <a:endParaRPr lang="en-US" altLang="zh-CN" sz="2800"/>
          </a:p>
        </p:txBody>
      </p:sp>
      <p:sp>
        <p:nvSpPr>
          <p:cNvPr id="1000452" name="Text Box 4"/>
          <p:cNvSpPr txBox="1">
            <a:spLocks noChangeArrowheads="1"/>
          </p:cNvSpPr>
          <p:nvPr/>
        </p:nvSpPr>
        <p:spPr bwMode="auto">
          <a:xfrm>
            <a:off x="1676400" y="228600"/>
            <a:ext cx="19800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3333CC"/>
                </a:solidFill>
                <a:latin typeface="楷体_GB2312" charset="0"/>
                <a:ea typeface="楷体_GB2312" charset="0"/>
              </a:rPr>
              <a:t>一元多项式</a:t>
            </a:r>
            <a:endParaRPr lang="zh-CN" altLang="en-US" sz="2800"/>
          </a:p>
        </p:txBody>
      </p:sp>
      <p:sp>
        <p:nvSpPr>
          <p:cNvPr id="1000453" name="Text Box 5"/>
          <p:cNvSpPr txBox="1">
            <a:spLocks noChangeArrowheads="1"/>
          </p:cNvSpPr>
          <p:nvPr/>
        </p:nvSpPr>
        <p:spPr bwMode="auto">
          <a:xfrm>
            <a:off x="457200" y="4114800"/>
            <a:ext cx="8382000"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zh-CN" altLang="en-US" sz="2800" b="1">
                <a:ea typeface="楷体_GB2312" charset="0"/>
              </a:rPr>
              <a:t>但是对于形如</a:t>
            </a:r>
            <a:endParaRPr lang="zh-CN" altLang="en-US" sz="2800"/>
          </a:p>
          <a:p>
            <a:pPr eaLnBrk="1" hangingPunct="1">
              <a:spcBef>
                <a:spcPct val="50000"/>
              </a:spcBef>
              <a:defRPr/>
            </a:pPr>
            <a:r>
              <a:rPr lang="zh-CN" altLang="en-US" sz="2800">
                <a:ea typeface="楷体_GB2312" charset="0"/>
              </a:rPr>
              <a:t>      </a:t>
            </a:r>
            <a:r>
              <a:rPr lang="en-US" altLang="zh-CN" sz="2800" b="1">
                <a:solidFill>
                  <a:srgbClr val="000099"/>
                </a:solidFill>
                <a:ea typeface="楷体_GB2312" charset="0"/>
              </a:rPr>
              <a:t>S(x) = 1 + 3x</a:t>
            </a:r>
            <a:r>
              <a:rPr lang="en-US" altLang="zh-CN" sz="2800" b="1" baseline="30000">
                <a:solidFill>
                  <a:srgbClr val="000099"/>
                </a:solidFill>
                <a:ea typeface="楷体_GB2312" charset="0"/>
              </a:rPr>
              <a:t>10000</a:t>
            </a:r>
            <a:r>
              <a:rPr lang="en-US" altLang="zh-CN" sz="2800" b="1">
                <a:solidFill>
                  <a:srgbClr val="000099"/>
                </a:solidFill>
                <a:ea typeface="楷体_GB2312" charset="0"/>
              </a:rPr>
              <a:t> – 2x</a:t>
            </a:r>
            <a:r>
              <a:rPr lang="en-US" altLang="zh-CN" sz="2800" b="1" baseline="30000">
                <a:solidFill>
                  <a:srgbClr val="000099"/>
                </a:solidFill>
                <a:ea typeface="楷体_GB2312" charset="0"/>
              </a:rPr>
              <a:t>20000</a:t>
            </a:r>
            <a:endParaRPr lang="en-US" altLang="zh-CN" sz="2800" baseline="30000">
              <a:solidFill>
                <a:srgbClr val="000099"/>
              </a:solidFill>
              <a:ea typeface="楷体_GB2312" charset="0"/>
            </a:endParaRPr>
          </a:p>
          <a:p>
            <a:pPr eaLnBrk="1" hangingPunct="1">
              <a:spcBef>
                <a:spcPct val="50000"/>
              </a:spcBef>
              <a:defRPr/>
            </a:pPr>
            <a:r>
              <a:rPr lang="zh-CN" altLang="en-US" sz="2800" b="1" baseline="30000">
                <a:ea typeface="楷体_GB2312" charset="0"/>
              </a:rPr>
              <a:t>的多项式，上述表示方法是否合适？</a:t>
            </a:r>
            <a:endParaRPr lang="zh-CN" altLang="en-US" sz="2800" baseline="3000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00450"/>
                                        </p:tgtEl>
                                        <p:attrNameLst>
                                          <p:attrName>style.visibility</p:attrName>
                                        </p:attrNameLst>
                                      </p:cBhvr>
                                      <p:to>
                                        <p:strVal val="visible"/>
                                      </p:to>
                                    </p:set>
                                    <p:animEffect transition="in" filter="wipe(left)">
                                      <p:cBhvr>
                                        <p:cTn id="7" dur="500"/>
                                        <p:tgtEl>
                                          <p:spTgt spid="10004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0451"/>
                                        </p:tgtEl>
                                        <p:attrNameLst>
                                          <p:attrName>style.visibility</p:attrName>
                                        </p:attrNameLst>
                                      </p:cBhvr>
                                      <p:to>
                                        <p:strVal val="visible"/>
                                      </p:to>
                                    </p:set>
                                    <p:animEffect transition="in" filter="wipe(left)">
                                      <p:cBhvr>
                                        <p:cTn id="12" dur="500"/>
                                        <p:tgtEl>
                                          <p:spTgt spid="10004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0453"/>
                                        </p:tgtEl>
                                        <p:attrNameLst>
                                          <p:attrName>style.visibility</p:attrName>
                                        </p:attrNameLst>
                                      </p:cBhvr>
                                      <p:to>
                                        <p:strVal val="visible"/>
                                      </p:to>
                                    </p:set>
                                    <p:animEffect transition="in" filter="wipe(left)">
                                      <p:cBhvr>
                                        <p:cTn id="17" dur="500"/>
                                        <p:tgtEl>
                                          <p:spTgt spid="1000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0451" grpId="0" autoUpdateAnimBg="0"/>
      <p:bldP spid="1000453" grpId="0"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4" name="Text Box 2"/>
          <p:cNvSpPr txBox="1">
            <a:spLocks noChangeArrowheads="1"/>
          </p:cNvSpPr>
          <p:nvPr/>
        </p:nvSpPr>
        <p:spPr bwMode="auto">
          <a:xfrm>
            <a:off x="666750" y="1073150"/>
            <a:ext cx="6720109"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40000"/>
              </a:lnSpc>
              <a:defRPr/>
            </a:pPr>
            <a:r>
              <a:rPr lang="zh-CN" altLang="en-US" sz="2800">
                <a:ea typeface="楷体_GB2312" charset="0"/>
              </a:rPr>
              <a:t> 一般情况下的</a:t>
            </a:r>
            <a:r>
              <a:rPr lang="zh-CN" altLang="en-US" sz="2800" b="1">
                <a:solidFill>
                  <a:srgbClr val="000099"/>
                </a:solidFill>
                <a:ea typeface="楷体_GB2312" charset="0"/>
              </a:rPr>
              <a:t>一元稀疏多项式</a:t>
            </a:r>
            <a:r>
              <a:rPr lang="zh-CN" altLang="en-US" sz="2800">
                <a:ea typeface="楷体_GB2312" charset="0"/>
              </a:rPr>
              <a:t>可写成</a:t>
            </a:r>
            <a:endParaRPr lang="zh-CN" altLang="en-US" sz="2800">
              <a:ea typeface="楷体_GB2312" charset="0"/>
            </a:endParaRPr>
          </a:p>
          <a:p>
            <a:pPr eaLnBrk="1" hangingPunct="1">
              <a:lnSpc>
                <a:spcPct val="140000"/>
              </a:lnSpc>
              <a:defRPr/>
            </a:pPr>
            <a:r>
              <a:rPr lang="zh-CN" altLang="en-US" sz="2800">
                <a:ea typeface="楷体_GB2312" charset="0"/>
              </a:rPr>
              <a:t>      </a:t>
            </a:r>
            <a:r>
              <a:rPr lang="en-US" altLang="zh-CN" sz="2800" b="1">
                <a:solidFill>
                  <a:srgbClr val="3333CC"/>
                </a:solidFill>
                <a:ea typeface="楷体_GB2312" charset="0"/>
              </a:rPr>
              <a:t>P</a:t>
            </a:r>
            <a:r>
              <a:rPr lang="en-US" altLang="zh-CN" sz="2800" b="1" baseline="-25000">
                <a:solidFill>
                  <a:srgbClr val="3333CC"/>
                </a:solidFill>
                <a:ea typeface="楷体_GB2312" charset="0"/>
              </a:rPr>
              <a:t>n</a:t>
            </a:r>
            <a:r>
              <a:rPr lang="en-US" altLang="zh-CN" sz="2800" b="1">
                <a:solidFill>
                  <a:srgbClr val="3333CC"/>
                </a:solidFill>
                <a:ea typeface="楷体_GB2312" charset="0"/>
              </a:rPr>
              <a:t>(x) = p</a:t>
            </a:r>
            <a:r>
              <a:rPr lang="en-US" altLang="zh-CN" sz="2800" b="1" baseline="-25000">
                <a:solidFill>
                  <a:srgbClr val="3333CC"/>
                </a:solidFill>
                <a:ea typeface="楷体_GB2312" charset="0"/>
              </a:rPr>
              <a:t>1</a:t>
            </a:r>
            <a:r>
              <a:rPr lang="en-US" altLang="zh-CN" sz="2800" b="1">
                <a:solidFill>
                  <a:srgbClr val="3333CC"/>
                </a:solidFill>
                <a:ea typeface="楷体_GB2312" charset="0"/>
              </a:rPr>
              <a:t>x</a:t>
            </a:r>
            <a:r>
              <a:rPr lang="en-US" altLang="zh-CN" sz="2800" b="1" baseline="30000">
                <a:solidFill>
                  <a:srgbClr val="3333CC"/>
                </a:solidFill>
                <a:ea typeface="楷体_GB2312" charset="0"/>
              </a:rPr>
              <a:t>e1</a:t>
            </a:r>
            <a:r>
              <a:rPr lang="en-US" altLang="zh-CN" sz="2800" b="1">
                <a:solidFill>
                  <a:srgbClr val="3333CC"/>
                </a:solidFill>
                <a:ea typeface="楷体_GB2312" charset="0"/>
              </a:rPr>
              <a:t> + p</a:t>
            </a:r>
            <a:r>
              <a:rPr lang="en-US" altLang="zh-CN" sz="2800" b="1" baseline="-25000">
                <a:solidFill>
                  <a:srgbClr val="3333CC"/>
                </a:solidFill>
                <a:ea typeface="楷体_GB2312" charset="0"/>
              </a:rPr>
              <a:t>2</a:t>
            </a:r>
            <a:r>
              <a:rPr lang="en-US" altLang="zh-CN" sz="2800" b="1">
                <a:solidFill>
                  <a:srgbClr val="3333CC"/>
                </a:solidFill>
                <a:ea typeface="楷体_GB2312" charset="0"/>
              </a:rPr>
              <a:t>x</a:t>
            </a:r>
            <a:r>
              <a:rPr lang="en-US" altLang="zh-CN" sz="2800" b="1" baseline="30000">
                <a:solidFill>
                  <a:srgbClr val="3333CC"/>
                </a:solidFill>
                <a:ea typeface="楷体_GB2312" charset="0"/>
              </a:rPr>
              <a:t>e2</a:t>
            </a:r>
            <a:r>
              <a:rPr lang="en-US" altLang="zh-CN" sz="2800" b="1">
                <a:solidFill>
                  <a:srgbClr val="3333CC"/>
                </a:solidFill>
                <a:ea typeface="楷体_GB2312" charset="0"/>
              </a:rPr>
              <a:t> + </a:t>
            </a:r>
            <a:r>
              <a:rPr lang="en-US" altLang="zh-CN" sz="2800" b="1">
                <a:solidFill>
                  <a:srgbClr val="3333CC"/>
                </a:solidFill>
                <a:latin typeface="楷体_GB2312" charset="0"/>
                <a:ea typeface="楷体_GB2312" charset="0"/>
              </a:rPr>
              <a:t>┄</a:t>
            </a:r>
            <a:r>
              <a:rPr lang="en-US" altLang="zh-CN" sz="2800" b="1">
                <a:solidFill>
                  <a:srgbClr val="3333CC"/>
                </a:solidFill>
                <a:ea typeface="楷体_GB2312" charset="0"/>
              </a:rPr>
              <a:t> + p</a:t>
            </a:r>
            <a:r>
              <a:rPr lang="en-US" altLang="zh-CN" sz="2800" b="1" baseline="-25000">
                <a:solidFill>
                  <a:srgbClr val="3333CC"/>
                </a:solidFill>
                <a:ea typeface="楷体_GB2312" charset="0"/>
              </a:rPr>
              <a:t>m</a:t>
            </a:r>
            <a:r>
              <a:rPr lang="en-US" altLang="zh-CN" sz="2800" b="1">
                <a:solidFill>
                  <a:srgbClr val="3333CC"/>
                </a:solidFill>
                <a:ea typeface="楷体_GB2312" charset="0"/>
              </a:rPr>
              <a:t>x</a:t>
            </a:r>
            <a:r>
              <a:rPr lang="en-US" altLang="zh-CN" sz="2800" b="1" baseline="30000">
                <a:solidFill>
                  <a:srgbClr val="3333CC"/>
                </a:solidFill>
                <a:ea typeface="楷体_GB2312" charset="0"/>
              </a:rPr>
              <a:t>em</a:t>
            </a:r>
            <a:endParaRPr lang="en-US" altLang="zh-CN" sz="2800">
              <a:ea typeface="楷体_GB2312" charset="0"/>
            </a:endParaRPr>
          </a:p>
          <a:p>
            <a:pPr eaLnBrk="1" hangingPunct="1">
              <a:lnSpc>
                <a:spcPct val="140000"/>
              </a:lnSpc>
              <a:defRPr/>
            </a:pPr>
            <a:r>
              <a:rPr lang="zh-CN" altLang="en-US" sz="2800" b="1">
                <a:ea typeface="楷体_GB2312" charset="0"/>
              </a:rPr>
              <a:t>其中：</a:t>
            </a:r>
            <a:r>
              <a:rPr lang="en-US" altLang="zh-CN" sz="2800" b="1">
                <a:solidFill>
                  <a:srgbClr val="000099"/>
                </a:solidFill>
                <a:ea typeface="楷体_GB2312" charset="0"/>
              </a:rPr>
              <a:t>p</a:t>
            </a:r>
            <a:r>
              <a:rPr lang="en-US" altLang="zh-CN" sz="2800" b="1" baseline="-25000">
                <a:solidFill>
                  <a:srgbClr val="000099"/>
                </a:solidFill>
                <a:ea typeface="楷体_GB2312" charset="0"/>
              </a:rPr>
              <a:t>i</a:t>
            </a:r>
            <a:r>
              <a:rPr lang="en-US" altLang="zh-CN" sz="2800">
                <a:ea typeface="楷体_GB2312" charset="0"/>
              </a:rPr>
              <a:t> </a:t>
            </a:r>
            <a:r>
              <a:rPr lang="zh-CN" altLang="en-US" sz="2800">
                <a:ea typeface="楷体_GB2312" charset="0"/>
              </a:rPr>
              <a:t>是指数为</a:t>
            </a:r>
            <a:r>
              <a:rPr lang="en-US" altLang="zh-CN" sz="2800" b="1">
                <a:solidFill>
                  <a:srgbClr val="000099"/>
                </a:solidFill>
                <a:ea typeface="楷体_GB2312" charset="0"/>
              </a:rPr>
              <a:t>e</a:t>
            </a:r>
            <a:r>
              <a:rPr lang="en-US" altLang="zh-CN" sz="2800" b="1" baseline="-25000">
                <a:solidFill>
                  <a:srgbClr val="000099"/>
                </a:solidFill>
                <a:ea typeface="楷体_GB2312" charset="0"/>
              </a:rPr>
              <a:t>i</a:t>
            </a:r>
            <a:r>
              <a:rPr lang="en-US" altLang="zh-CN" sz="2800" b="1">
                <a:solidFill>
                  <a:srgbClr val="000099"/>
                </a:solidFill>
                <a:ea typeface="楷体_GB2312" charset="0"/>
              </a:rPr>
              <a:t> </a:t>
            </a:r>
            <a:r>
              <a:rPr lang="zh-CN" altLang="en-US" sz="2800">
                <a:ea typeface="楷体_GB2312" charset="0"/>
              </a:rPr>
              <a:t>的项的非零系数，</a:t>
            </a:r>
            <a:endParaRPr lang="zh-CN" altLang="en-US" sz="2800">
              <a:ea typeface="楷体_GB2312" charset="0"/>
            </a:endParaRPr>
          </a:p>
          <a:p>
            <a:pPr eaLnBrk="1" hangingPunct="1">
              <a:lnSpc>
                <a:spcPct val="140000"/>
              </a:lnSpc>
              <a:defRPr/>
            </a:pPr>
            <a:r>
              <a:rPr lang="zh-CN" altLang="en-US" sz="2800">
                <a:ea typeface="楷体_GB2312" charset="0"/>
              </a:rPr>
              <a:t>            </a:t>
            </a:r>
            <a:r>
              <a:rPr lang="en-US" altLang="zh-CN" sz="2800" b="1">
                <a:solidFill>
                  <a:srgbClr val="000099"/>
                </a:solidFill>
                <a:ea typeface="楷体_GB2312" charset="0"/>
              </a:rPr>
              <a:t>0≤ e</a:t>
            </a:r>
            <a:r>
              <a:rPr lang="en-US" altLang="zh-CN" sz="2800" b="1" baseline="-25000">
                <a:solidFill>
                  <a:srgbClr val="000099"/>
                </a:solidFill>
                <a:ea typeface="楷体_GB2312" charset="0"/>
              </a:rPr>
              <a:t>1</a:t>
            </a:r>
            <a:r>
              <a:rPr lang="en-US" altLang="zh-CN" sz="2800" b="1">
                <a:solidFill>
                  <a:srgbClr val="000099"/>
                </a:solidFill>
                <a:ea typeface="楷体_GB2312" charset="0"/>
              </a:rPr>
              <a:t> &lt; e</a:t>
            </a:r>
            <a:r>
              <a:rPr lang="en-US" altLang="zh-CN" sz="2800" b="1" baseline="-25000">
                <a:solidFill>
                  <a:srgbClr val="000099"/>
                </a:solidFill>
                <a:ea typeface="楷体_GB2312" charset="0"/>
              </a:rPr>
              <a:t>2</a:t>
            </a:r>
            <a:r>
              <a:rPr lang="en-US" altLang="zh-CN" sz="2800" b="1">
                <a:solidFill>
                  <a:srgbClr val="000099"/>
                </a:solidFill>
                <a:ea typeface="楷体_GB2312" charset="0"/>
              </a:rPr>
              <a:t> &lt; ┄ &lt; e</a:t>
            </a:r>
            <a:r>
              <a:rPr lang="en-US" altLang="zh-CN" sz="2800" b="1" baseline="-25000">
                <a:solidFill>
                  <a:srgbClr val="000099"/>
                </a:solidFill>
                <a:ea typeface="楷体_GB2312" charset="0"/>
              </a:rPr>
              <a:t>m</a:t>
            </a:r>
            <a:r>
              <a:rPr lang="en-US" altLang="zh-CN" sz="2800" b="1">
                <a:solidFill>
                  <a:srgbClr val="000099"/>
                </a:solidFill>
                <a:ea typeface="楷体_GB2312" charset="0"/>
              </a:rPr>
              <a:t> = n</a:t>
            </a:r>
            <a:endParaRPr lang="en-US" altLang="zh-CN" sz="2800" b="1">
              <a:solidFill>
                <a:srgbClr val="000099"/>
              </a:solidFill>
            </a:endParaRPr>
          </a:p>
        </p:txBody>
      </p:sp>
      <p:sp>
        <p:nvSpPr>
          <p:cNvPr id="1001475" name="Text Box 3"/>
          <p:cNvSpPr txBox="1">
            <a:spLocks noChangeArrowheads="1"/>
          </p:cNvSpPr>
          <p:nvPr/>
        </p:nvSpPr>
        <p:spPr bwMode="auto">
          <a:xfrm>
            <a:off x="457200" y="4630738"/>
            <a:ext cx="5997155" cy="1142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zh-CN" altLang="en-US" sz="2800">
                <a:ea typeface="楷体_GB2312" charset="0"/>
              </a:rPr>
              <a:t>可以下列线性表表示：</a:t>
            </a:r>
            <a:endParaRPr lang="zh-CN" altLang="en-US" sz="2800">
              <a:ea typeface="楷体_GB2312" charset="0"/>
            </a:endParaRPr>
          </a:p>
          <a:p>
            <a:pPr eaLnBrk="1" hangingPunct="1">
              <a:lnSpc>
                <a:spcPct val="125000"/>
              </a:lnSpc>
              <a:defRPr/>
            </a:pPr>
            <a:r>
              <a:rPr lang="zh-CN" altLang="en-US" sz="2800" b="1">
                <a:solidFill>
                  <a:srgbClr val="3333CC"/>
                </a:solidFill>
                <a:ea typeface="楷体_GB2312" charset="0"/>
              </a:rPr>
              <a:t>（（</a:t>
            </a:r>
            <a:r>
              <a:rPr lang="en-US" altLang="zh-CN" sz="2800" b="1">
                <a:solidFill>
                  <a:srgbClr val="3333CC"/>
                </a:solidFill>
                <a:ea typeface="楷体_GB2312" charset="0"/>
              </a:rPr>
              <a:t>p</a:t>
            </a:r>
            <a:r>
              <a:rPr lang="en-US" altLang="zh-CN" sz="2800" b="1" baseline="-25000">
                <a:solidFill>
                  <a:srgbClr val="3333CC"/>
                </a:solidFill>
                <a:ea typeface="楷体_GB2312" charset="0"/>
              </a:rPr>
              <a:t>1</a:t>
            </a:r>
            <a:r>
              <a:rPr lang="en-US" altLang="zh-CN" sz="2800" b="1">
                <a:solidFill>
                  <a:srgbClr val="3333CC"/>
                </a:solidFill>
                <a:ea typeface="楷体_GB2312" charset="0"/>
              </a:rPr>
              <a:t>, e</a:t>
            </a:r>
            <a:r>
              <a:rPr lang="en-US" altLang="zh-CN" sz="2800" b="1" baseline="-25000">
                <a:solidFill>
                  <a:srgbClr val="3333CC"/>
                </a:solidFill>
                <a:ea typeface="楷体_GB2312" charset="0"/>
              </a:rPr>
              <a:t>1</a:t>
            </a:r>
            <a:r>
              <a:rPr lang="zh-CN" altLang="en-US" sz="2800" b="1">
                <a:solidFill>
                  <a:srgbClr val="3333CC"/>
                </a:solidFill>
                <a:ea typeface="楷体_GB2312" charset="0"/>
              </a:rPr>
              <a:t>）</a:t>
            </a:r>
            <a:r>
              <a:rPr lang="en-US" altLang="zh-CN" sz="2800" b="1">
                <a:solidFill>
                  <a:srgbClr val="3333CC"/>
                </a:solidFill>
                <a:ea typeface="楷体_GB2312" charset="0"/>
              </a:rPr>
              <a:t>, (p</a:t>
            </a:r>
            <a:r>
              <a:rPr lang="en-US" altLang="zh-CN" sz="2800" b="1" baseline="-25000">
                <a:solidFill>
                  <a:srgbClr val="3333CC"/>
                </a:solidFill>
                <a:ea typeface="楷体_GB2312" charset="0"/>
              </a:rPr>
              <a:t>2</a:t>
            </a:r>
            <a:r>
              <a:rPr lang="en-US" altLang="zh-CN" sz="2800" b="1">
                <a:solidFill>
                  <a:srgbClr val="3333CC"/>
                </a:solidFill>
                <a:ea typeface="楷体_GB2312" charset="0"/>
              </a:rPr>
              <a:t>, e</a:t>
            </a:r>
            <a:r>
              <a:rPr lang="en-US" altLang="zh-CN" sz="2800" b="1" baseline="-25000">
                <a:solidFill>
                  <a:srgbClr val="3333CC"/>
                </a:solidFill>
                <a:ea typeface="楷体_GB2312" charset="0"/>
              </a:rPr>
              <a:t>2</a:t>
            </a:r>
            <a:r>
              <a:rPr lang="en-US" altLang="zh-CN" sz="2800" b="1">
                <a:solidFill>
                  <a:srgbClr val="3333CC"/>
                </a:solidFill>
                <a:ea typeface="楷体_GB2312" charset="0"/>
              </a:rPr>
              <a:t>), </a:t>
            </a:r>
            <a:r>
              <a:rPr lang="en-US" altLang="zh-CN" sz="2800" b="1">
                <a:solidFill>
                  <a:srgbClr val="3333CC"/>
                </a:solidFill>
                <a:latin typeface="楷体_GB2312" charset="0"/>
                <a:ea typeface="楷体_GB2312" charset="0"/>
              </a:rPr>
              <a:t>┄</a:t>
            </a:r>
            <a:r>
              <a:rPr lang="en-US" altLang="zh-CN" sz="2800" b="1">
                <a:solidFill>
                  <a:srgbClr val="3333CC"/>
                </a:solidFill>
                <a:ea typeface="楷体_GB2312" charset="0"/>
              </a:rPr>
              <a:t>, (p</a:t>
            </a:r>
            <a:r>
              <a:rPr lang="en-US" altLang="zh-CN" sz="2800" b="1" baseline="-25000">
                <a:solidFill>
                  <a:srgbClr val="3333CC"/>
                </a:solidFill>
                <a:ea typeface="楷体_GB2312" charset="0"/>
              </a:rPr>
              <a:t>m</a:t>
            </a:r>
            <a:r>
              <a:rPr lang="en-US" altLang="zh-CN" sz="2800" b="1">
                <a:solidFill>
                  <a:srgbClr val="3333CC"/>
                </a:solidFill>
                <a:ea typeface="楷体_GB2312" charset="0"/>
              </a:rPr>
              <a:t>,e</a:t>
            </a:r>
            <a:r>
              <a:rPr lang="en-US" altLang="zh-CN" sz="2800" b="1" baseline="-25000">
                <a:solidFill>
                  <a:srgbClr val="3333CC"/>
                </a:solidFill>
                <a:ea typeface="楷体_GB2312" charset="0"/>
              </a:rPr>
              <a:t>m</a:t>
            </a:r>
            <a:r>
              <a:rPr lang="en-US" altLang="zh-CN" sz="2800" b="1">
                <a:solidFill>
                  <a:srgbClr val="3333CC"/>
                </a:solidFill>
                <a:ea typeface="楷体_GB2312" charset="0"/>
              </a:rPr>
              <a:t>) </a:t>
            </a:r>
            <a:r>
              <a:rPr lang="zh-CN" altLang="en-US" sz="2800" b="1">
                <a:solidFill>
                  <a:srgbClr val="3333CC"/>
                </a:solidFill>
                <a:ea typeface="楷体_GB2312" charset="0"/>
              </a:rPr>
              <a:t>）</a:t>
            </a: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001474"/>
                                        </p:tgtEl>
                                        <p:attrNameLst>
                                          <p:attrName>style.visibility</p:attrName>
                                        </p:attrNameLst>
                                      </p:cBhvr>
                                      <p:to>
                                        <p:strVal val="visible"/>
                                      </p:to>
                                    </p:set>
                                    <p:animEffect transition="in" filter="strips(downRight)">
                                      <p:cBhvr>
                                        <p:cTn id="7" dur="500"/>
                                        <p:tgtEl>
                                          <p:spTgt spid="100147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01475"/>
                                        </p:tgtEl>
                                        <p:attrNameLst>
                                          <p:attrName>style.visibility</p:attrName>
                                        </p:attrNameLst>
                                      </p:cBhvr>
                                      <p:to>
                                        <p:strVal val="visible"/>
                                      </p:to>
                                    </p:set>
                                    <p:animEffect transition="in" filter="strips(downRight)">
                                      <p:cBhvr>
                                        <p:cTn id="12" dur="500"/>
                                        <p:tgtEl>
                                          <p:spTgt spid="1001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474" grpId="0" autoUpdateAnimBg="0"/>
      <p:bldP spid="1001475" grpId="0" autoUpdateAnimBg="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498" name="Text Box 2"/>
          <p:cNvSpPr txBox="1">
            <a:spLocks noChangeArrowheads="1"/>
          </p:cNvSpPr>
          <p:nvPr/>
        </p:nvSpPr>
        <p:spPr bwMode="auto">
          <a:xfrm>
            <a:off x="1924050" y="1524000"/>
            <a:ext cx="50337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a:ea typeface="楷体_GB2312" charset="0"/>
              </a:rPr>
              <a:t> </a:t>
            </a:r>
            <a:r>
              <a:rPr lang="en-US" altLang="zh-CN" sz="2800" b="1">
                <a:solidFill>
                  <a:srgbClr val="3333CC"/>
                </a:solidFill>
                <a:ea typeface="楷体_GB2312" charset="0"/>
              </a:rPr>
              <a:t>P</a:t>
            </a:r>
            <a:r>
              <a:rPr lang="en-US" altLang="zh-CN" sz="2800" b="1" baseline="-25000">
                <a:solidFill>
                  <a:srgbClr val="3333CC"/>
                </a:solidFill>
                <a:ea typeface="楷体_GB2312" charset="0"/>
              </a:rPr>
              <a:t>999</a:t>
            </a:r>
            <a:r>
              <a:rPr lang="en-US" altLang="zh-CN" sz="2800" b="1">
                <a:solidFill>
                  <a:srgbClr val="3333CC"/>
                </a:solidFill>
                <a:ea typeface="楷体_GB2312" charset="0"/>
              </a:rPr>
              <a:t>(x) = 7x</a:t>
            </a:r>
            <a:r>
              <a:rPr lang="en-US" altLang="zh-CN" sz="2800" b="1" baseline="30000">
                <a:solidFill>
                  <a:srgbClr val="3333CC"/>
                </a:solidFill>
                <a:ea typeface="楷体_GB2312" charset="0"/>
              </a:rPr>
              <a:t>3</a:t>
            </a:r>
            <a:r>
              <a:rPr lang="en-US" altLang="zh-CN" sz="2800" b="1">
                <a:solidFill>
                  <a:srgbClr val="3333CC"/>
                </a:solidFill>
                <a:ea typeface="楷体_GB2312" charset="0"/>
              </a:rPr>
              <a:t> - 2x</a:t>
            </a:r>
            <a:r>
              <a:rPr lang="en-US" altLang="zh-CN" sz="2800" b="1" baseline="30000">
                <a:solidFill>
                  <a:srgbClr val="3333CC"/>
                </a:solidFill>
                <a:ea typeface="楷体_GB2312" charset="0"/>
              </a:rPr>
              <a:t>12</a:t>
            </a:r>
            <a:r>
              <a:rPr lang="en-US" altLang="zh-CN" sz="2800" b="1">
                <a:solidFill>
                  <a:srgbClr val="3333CC"/>
                </a:solidFill>
                <a:ea typeface="楷体_GB2312" charset="0"/>
              </a:rPr>
              <a:t> - 8x</a:t>
            </a:r>
            <a:r>
              <a:rPr lang="en-US" altLang="zh-CN" sz="2800" b="1" baseline="30000">
                <a:solidFill>
                  <a:srgbClr val="3333CC"/>
                </a:solidFill>
                <a:ea typeface="楷体_GB2312" charset="0"/>
              </a:rPr>
              <a:t>999</a:t>
            </a:r>
            <a:endParaRPr lang="en-US" altLang="zh-CN" sz="2800"/>
          </a:p>
        </p:txBody>
      </p:sp>
      <p:sp>
        <p:nvSpPr>
          <p:cNvPr id="1002499" name="Text Box 3"/>
          <p:cNvSpPr txBox="1">
            <a:spLocks noChangeArrowheads="1"/>
          </p:cNvSpPr>
          <p:nvPr/>
        </p:nvSpPr>
        <p:spPr bwMode="auto">
          <a:xfrm>
            <a:off x="1524000" y="136525"/>
            <a:ext cx="10198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t>例如</a:t>
            </a:r>
            <a:r>
              <a:rPr lang="en-US" altLang="zh-CN" sz="2800" b="1"/>
              <a:t>:</a:t>
            </a:r>
            <a:endParaRPr lang="en-US" altLang="zh-CN" sz="2800"/>
          </a:p>
        </p:txBody>
      </p:sp>
      <p:sp>
        <p:nvSpPr>
          <p:cNvPr id="1002500" name="Text Box 4"/>
          <p:cNvSpPr txBox="1">
            <a:spLocks noChangeArrowheads="1"/>
          </p:cNvSpPr>
          <p:nvPr/>
        </p:nvSpPr>
        <p:spPr bwMode="auto">
          <a:xfrm>
            <a:off x="1114425" y="2651125"/>
            <a:ext cx="5748690" cy="1681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zh-CN" altLang="en-US" sz="2800">
                <a:ea typeface="楷体_GB2312" charset="0"/>
              </a:rPr>
              <a:t>可用线性表</a:t>
            </a:r>
            <a:endParaRPr lang="zh-CN" altLang="en-US" sz="2800">
              <a:ea typeface="楷体_GB2312" charset="0"/>
            </a:endParaRPr>
          </a:p>
          <a:p>
            <a:pPr eaLnBrk="1" hangingPunct="1">
              <a:lnSpc>
                <a:spcPct val="125000"/>
              </a:lnSpc>
              <a:defRPr/>
            </a:pPr>
            <a:r>
              <a:rPr lang="zh-CN" altLang="en-US" sz="2800">
                <a:ea typeface="楷体_GB2312" charset="0"/>
              </a:rPr>
              <a:t>       </a:t>
            </a:r>
            <a:r>
              <a:rPr lang="en-US" altLang="zh-CN" sz="2800" b="1">
                <a:solidFill>
                  <a:srgbClr val="3333CC"/>
                </a:solidFill>
                <a:ea typeface="楷体_GB2312" charset="0"/>
              </a:rPr>
              <a:t>( (7, 3), (-2, 12), (-8, 999) )</a:t>
            </a:r>
            <a:endParaRPr lang="en-US" altLang="zh-CN" sz="2800">
              <a:ea typeface="楷体_GB2312" charset="0"/>
            </a:endParaRPr>
          </a:p>
          <a:p>
            <a:pPr eaLnBrk="1" hangingPunct="1">
              <a:lnSpc>
                <a:spcPct val="125000"/>
              </a:lnSpc>
              <a:defRPr/>
            </a:pPr>
            <a:r>
              <a:rPr lang="zh-CN" altLang="en-US" sz="2800">
                <a:ea typeface="楷体_GB2312" charset="0"/>
              </a:rPr>
              <a:t>表示</a:t>
            </a:r>
            <a:endParaRPr lang="zh-CN" altLang="en-US" sz="280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2498"/>
                                        </p:tgtEl>
                                        <p:attrNameLst>
                                          <p:attrName>style.visibility</p:attrName>
                                        </p:attrNameLst>
                                      </p:cBhvr>
                                      <p:to>
                                        <p:strVal val="visible"/>
                                      </p:to>
                                    </p:set>
                                    <p:animEffect transition="in" filter="wipe(left)">
                                      <p:cBhvr>
                                        <p:cTn id="7" dur="500"/>
                                        <p:tgtEl>
                                          <p:spTgt spid="100249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02500"/>
                                        </p:tgtEl>
                                        <p:attrNameLst>
                                          <p:attrName>style.visibility</p:attrName>
                                        </p:attrNameLst>
                                      </p:cBhvr>
                                      <p:to>
                                        <p:strVal val="visible"/>
                                      </p:to>
                                    </p:set>
                                    <p:animEffect transition="in" filter="strips(downRight)">
                                      <p:cBhvr>
                                        <p:cTn id="12" dur="500"/>
                                        <p:tgtEl>
                                          <p:spTgt spid="1002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498" grpId="0" autoUpdateAnimBg="0"/>
      <p:bldP spid="1002500" grpId="0"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Text Box 2"/>
          <p:cNvSpPr txBox="1">
            <a:spLocks noChangeArrowheads="1"/>
          </p:cNvSpPr>
          <p:nvPr/>
        </p:nvSpPr>
        <p:spPr bwMode="auto">
          <a:xfrm>
            <a:off x="304800" y="1184275"/>
            <a:ext cx="8534400" cy="317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en-US" altLang="zh-CN" sz="2800" b="1">
                <a:solidFill>
                  <a:srgbClr val="660033"/>
                </a:solidFill>
              </a:rPr>
              <a:t>ADT Polynomial {</a:t>
            </a:r>
            <a:endParaRPr lang="en-US" altLang="zh-CN" sz="2800">
              <a:solidFill>
                <a:srgbClr val="660033"/>
              </a:solidFill>
            </a:endParaRPr>
          </a:p>
          <a:p>
            <a:pPr eaLnBrk="1" hangingPunct="1">
              <a:lnSpc>
                <a:spcPct val="120000"/>
              </a:lnSpc>
              <a:defRPr/>
            </a:pPr>
            <a:r>
              <a:rPr lang="en-US" altLang="zh-CN" sz="2800" b="1"/>
              <a:t>  </a:t>
            </a:r>
            <a:r>
              <a:rPr lang="zh-CN" altLang="en-US" sz="2800" b="1">
                <a:solidFill>
                  <a:srgbClr val="CC0000"/>
                </a:solidFill>
                <a:ea typeface="楷体_GB2312" charset="0"/>
              </a:rPr>
              <a:t>数据对象</a:t>
            </a:r>
            <a:r>
              <a:rPr lang="zh-CN" altLang="en-US" sz="2800">
                <a:solidFill>
                  <a:srgbClr val="990000"/>
                </a:solidFill>
              </a:rPr>
              <a:t>：</a:t>
            </a:r>
            <a:endParaRPr lang="zh-CN" altLang="en-US" sz="2800">
              <a:solidFill>
                <a:srgbClr val="990000"/>
              </a:solidFill>
            </a:endParaRPr>
          </a:p>
          <a:p>
            <a:pPr eaLnBrk="1" hangingPunct="1">
              <a:lnSpc>
                <a:spcPct val="120000"/>
              </a:lnSpc>
              <a:defRPr/>
            </a:pPr>
            <a:endParaRPr lang="zh-CN" altLang="en-US" sz="2800">
              <a:solidFill>
                <a:srgbClr val="990000"/>
              </a:solidFill>
            </a:endParaRPr>
          </a:p>
          <a:p>
            <a:pPr eaLnBrk="1" hangingPunct="1">
              <a:lnSpc>
                <a:spcPct val="120000"/>
              </a:lnSpc>
              <a:defRPr/>
            </a:pPr>
            <a:endParaRPr lang="zh-CN" altLang="en-US" sz="2800">
              <a:solidFill>
                <a:srgbClr val="990000"/>
              </a:solidFill>
            </a:endParaRPr>
          </a:p>
          <a:p>
            <a:pPr eaLnBrk="1" hangingPunct="1">
              <a:lnSpc>
                <a:spcPct val="120000"/>
              </a:lnSpc>
              <a:defRPr/>
            </a:pPr>
            <a:endParaRPr lang="zh-CN" altLang="en-US" sz="2800">
              <a:solidFill>
                <a:srgbClr val="990000"/>
              </a:solidFill>
            </a:endParaRPr>
          </a:p>
          <a:p>
            <a:pPr eaLnBrk="1" hangingPunct="1">
              <a:lnSpc>
                <a:spcPct val="120000"/>
              </a:lnSpc>
              <a:defRPr/>
            </a:pPr>
            <a:r>
              <a:rPr lang="zh-CN" altLang="en-US" sz="2800"/>
              <a:t>  </a:t>
            </a:r>
            <a:r>
              <a:rPr lang="zh-CN" altLang="en-US" sz="2800" b="1">
                <a:solidFill>
                  <a:srgbClr val="CC0000"/>
                </a:solidFill>
                <a:ea typeface="楷体_GB2312" charset="0"/>
              </a:rPr>
              <a:t>数据关系</a:t>
            </a:r>
            <a:r>
              <a:rPr lang="zh-CN" altLang="en-US" sz="2800">
                <a:solidFill>
                  <a:srgbClr val="990000"/>
                </a:solidFill>
              </a:rPr>
              <a:t>：</a:t>
            </a:r>
            <a:endParaRPr lang="zh-CN" altLang="en-US" sz="2800"/>
          </a:p>
        </p:txBody>
      </p:sp>
      <p:sp>
        <p:nvSpPr>
          <p:cNvPr id="1003523" name="Text Box 3"/>
          <p:cNvSpPr txBox="1">
            <a:spLocks noChangeArrowheads="1"/>
          </p:cNvSpPr>
          <p:nvPr/>
        </p:nvSpPr>
        <p:spPr bwMode="auto">
          <a:xfrm>
            <a:off x="1371600" y="136525"/>
            <a:ext cx="77374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2800">
                <a:solidFill>
                  <a:srgbClr val="3333CC"/>
                </a:solidFill>
                <a:ea typeface="隶书" panose="02010509060101010101" charset="-122"/>
              </a:rPr>
              <a:t>抽象数据类型一元多项式的定义</a:t>
            </a:r>
            <a:endParaRPr lang="zh-CN" altLang="en-US" sz="2800"/>
          </a:p>
        </p:txBody>
      </p:sp>
      <p:sp>
        <p:nvSpPr>
          <p:cNvPr id="1003524" name="Rectangle 4"/>
          <p:cNvSpPr>
            <a:spLocks noChangeArrowheads="1"/>
          </p:cNvSpPr>
          <p:nvPr/>
        </p:nvSpPr>
        <p:spPr bwMode="auto">
          <a:xfrm>
            <a:off x="761414" y="2276872"/>
            <a:ext cx="7059946" cy="1621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dirty="0"/>
              <a:t>D</a:t>
            </a:r>
            <a:r>
              <a:rPr lang="zh-CN" altLang="en-US" sz="2800" dirty="0"/>
              <a:t>＝</a:t>
            </a:r>
            <a:r>
              <a:rPr lang="en-US" altLang="zh-CN" sz="2800" b="1" dirty="0"/>
              <a:t>{ </a:t>
            </a:r>
            <a:r>
              <a:rPr lang="en-US" altLang="zh-CN" sz="2800" dirty="0"/>
              <a:t>a</a:t>
            </a:r>
            <a:r>
              <a:rPr lang="en-US" altLang="zh-CN" sz="2800" baseline="-25000" dirty="0"/>
              <a:t>i</a:t>
            </a:r>
            <a:r>
              <a:rPr lang="en-US" altLang="zh-CN" sz="2800" dirty="0"/>
              <a:t> | a</a:t>
            </a:r>
            <a:r>
              <a:rPr lang="en-US" altLang="zh-CN" sz="2800" baseline="-25000" dirty="0"/>
              <a:t>i</a:t>
            </a:r>
            <a:r>
              <a:rPr lang="en-US" altLang="zh-CN" sz="2800" dirty="0"/>
              <a:t> ∈</a:t>
            </a:r>
            <a:r>
              <a:rPr lang="en-US" altLang="zh-CN" sz="2800" dirty="0" err="1"/>
              <a:t>TermSet</a:t>
            </a:r>
            <a:r>
              <a:rPr lang="en-US" altLang="zh-CN" sz="2800" dirty="0"/>
              <a:t>, </a:t>
            </a:r>
            <a:r>
              <a:rPr lang="en-US" altLang="zh-CN" sz="2800" dirty="0" err="1"/>
              <a:t>i</a:t>
            </a:r>
            <a:r>
              <a:rPr lang="en-US" altLang="zh-CN" sz="2800" dirty="0"/>
              <a:t>=1,2,...,m,  m≥0</a:t>
            </a:r>
            <a:endParaRPr lang="en-US" altLang="zh-CN" sz="2800" dirty="0"/>
          </a:p>
          <a:p>
            <a:pPr eaLnBrk="1" hangingPunct="1">
              <a:lnSpc>
                <a:spcPct val="120000"/>
              </a:lnSpc>
              <a:defRPr/>
            </a:pPr>
            <a:r>
              <a:rPr lang="en-US" altLang="zh-CN" sz="2800" dirty="0"/>
              <a:t>         </a:t>
            </a:r>
            <a:r>
              <a:rPr lang="en-US" altLang="zh-CN" sz="2800" dirty="0" err="1"/>
              <a:t>TermSet</a:t>
            </a:r>
            <a:r>
              <a:rPr lang="en-US" altLang="zh-CN" sz="2800" dirty="0"/>
              <a:t> </a:t>
            </a:r>
            <a:r>
              <a:rPr lang="zh-CN" altLang="en-US" sz="2800" dirty="0">
                <a:latin typeface="楷体_GB2312" charset="0"/>
                <a:ea typeface="楷体_GB2312" charset="0"/>
              </a:rPr>
              <a:t>中的</a:t>
            </a:r>
            <a:r>
              <a:rPr lang="zh-CN" altLang="en-US" sz="2800" b="1" dirty="0">
                <a:solidFill>
                  <a:srgbClr val="660033"/>
                </a:solidFill>
                <a:latin typeface="楷体_GB2312" charset="0"/>
                <a:ea typeface="楷体_GB2312" charset="0"/>
              </a:rPr>
              <a:t>每个元素包含一个</a:t>
            </a:r>
            <a:endParaRPr lang="zh-CN" altLang="en-US" sz="2800" dirty="0">
              <a:latin typeface="楷体_GB2312" charset="0"/>
              <a:ea typeface="楷体_GB2312" charset="0"/>
            </a:endParaRPr>
          </a:p>
          <a:p>
            <a:pPr eaLnBrk="1" hangingPunct="1">
              <a:lnSpc>
                <a:spcPct val="120000"/>
              </a:lnSpc>
              <a:defRPr/>
            </a:pPr>
            <a:r>
              <a:rPr lang="zh-CN" altLang="en-US" sz="2800" b="1" dirty="0">
                <a:solidFill>
                  <a:srgbClr val="660033"/>
                </a:solidFill>
                <a:latin typeface="楷体_GB2312" charset="0"/>
                <a:ea typeface="楷体_GB2312" charset="0"/>
              </a:rPr>
              <a:t>    表示系数的实数和表示指数的整数</a:t>
            </a:r>
            <a:r>
              <a:rPr lang="zh-CN" altLang="en-US" sz="2800" dirty="0"/>
              <a:t> </a:t>
            </a:r>
            <a:r>
              <a:rPr lang="en-US" altLang="zh-CN" sz="2800" b="1" dirty="0"/>
              <a:t>}</a:t>
            </a:r>
            <a:endParaRPr lang="en-US" altLang="zh-CN" sz="2800" b="1" dirty="0"/>
          </a:p>
        </p:txBody>
      </p:sp>
      <p:sp>
        <p:nvSpPr>
          <p:cNvPr id="1003525" name="Rectangle 5"/>
          <p:cNvSpPr>
            <a:spLocks noChangeArrowheads="1"/>
          </p:cNvSpPr>
          <p:nvPr/>
        </p:nvSpPr>
        <p:spPr bwMode="auto">
          <a:xfrm>
            <a:off x="744150" y="4568871"/>
            <a:ext cx="6915676" cy="1104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dirty="0"/>
              <a:t>R1</a:t>
            </a:r>
            <a:r>
              <a:rPr lang="zh-CN" altLang="en-US" sz="2800" dirty="0"/>
              <a:t>＝</a:t>
            </a:r>
            <a:r>
              <a:rPr lang="en-US" altLang="zh-CN" sz="2800" b="1" dirty="0"/>
              <a:t>{</a:t>
            </a:r>
            <a:r>
              <a:rPr lang="en-US" altLang="zh-CN" sz="2800" dirty="0"/>
              <a:t> &lt;a</a:t>
            </a:r>
            <a:r>
              <a:rPr lang="en-US" altLang="zh-CN" sz="2800" baseline="-25000" dirty="0"/>
              <a:t>i-1</a:t>
            </a:r>
            <a:r>
              <a:rPr lang="en-US" altLang="zh-CN" sz="2800" dirty="0"/>
              <a:t> ,a</a:t>
            </a:r>
            <a:r>
              <a:rPr lang="en-US" altLang="zh-CN" sz="2800" baseline="-25000" dirty="0"/>
              <a:t>i</a:t>
            </a:r>
            <a:r>
              <a:rPr lang="en-US" altLang="zh-CN" sz="2800" dirty="0"/>
              <a:t> &gt;|a</a:t>
            </a:r>
            <a:r>
              <a:rPr lang="en-US" altLang="zh-CN" sz="2800" baseline="-25000" dirty="0"/>
              <a:t>i-1</a:t>
            </a:r>
            <a:r>
              <a:rPr lang="en-US" altLang="zh-CN" sz="2800" dirty="0"/>
              <a:t> ,</a:t>
            </a:r>
            <a:r>
              <a:rPr lang="en-US" altLang="zh-CN" sz="2800" dirty="0" err="1"/>
              <a:t>a</a:t>
            </a:r>
            <a:r>
              <a:rPr lang="en-US" altLang="zh-CN" sz="2800" baseline="-25000" dirty="0" err="1"/>
              <a:t>i</a:t>
            </a:r>
            <a:r>
              <a:rPr lang="en-US" altLang="zh-CN" sz="2800" dirty="0" err="1"/>
              <a:t>∈D</a:t>
            </a:r>
            <a:r>
              <a:rPr lang="en-US" altLang="zh-CN" sz="2800" dirty="0"/>
              <a:t>,    </a:t>
            </a:r>
            <a:r>
              <a:rPr lang="en-US" altLang="zh-CN" sz="2800" dirty="0" err="1"/>
              <a:t>i</a:t>
            </a:r>
            <a:r>
              <a:rPr lang="en-US" altLang="zh-CN" sz="2800" dirty="0"/>
              <a:t>=2,...,n</a:t>
            </a:r>
            <a:endParaRPr lang="en-US" altLang="zh-CN" sz="2800" dirty="0"/>
          </a:p>
          <a:p>
            <a:pPr eaLnBrk="1" hangingPunct="1">
              <a:lnSpc>
                <a:spcPct val="120000"/>
              </a:lnSpc>
              <a:defRPr/>
            </a:pPr>
            <a:r>
              <a:rPr lang="en-US" altLang="zh-CN" sz="2800" dirty="0">
                <a:ea typeface="楷体_GB2312" charset="0"/>
              </a:rPr>
              <a:t>            </a:t>
            </a:r>
            <a:r>
              <a:rPr lang="zh-CN" altLang="en-US" sz="2800" dirty="0">
                <a:ea typeface="楷体_GB2312" charset="0"/>
              </a:rPr>
              <a:t>且</a:t>
            </a:r>
            <a:r>
              <a:rPr lang="en-US" altLang="zh-CN" sz="2800" b="1" dirty="0">
                <a:solidFill>
                  <a:srgbClr val="660033"/>
                </a:solidFill>
              </a:rPr>
              <a:t>a</a:t>
            </a:r>
            <a:r>
              <a:rPr lang="en-US" altLang="zh-CN" sz="2800" b="1" baseline="-25000" dirty="0">
                <a:solidFill>
                  <a:srgbClr val="660033"/>
                </a:solidFill>
              </a:rPr>
              <a:t>i-1</a:t>
            </a:r>
            <a:r>
              <a:rPr lang="zh-CN" altLang="en-US" sz="2800" b="1" dirty="0">
                <a:solidFill>
                  <a:srgbClr val="660033"/>
                </a:solidFill>
                <a:ea typeface="楷体_GB2312" charset="0"/>
              </a:rPr>
              <a:t>中的指数值</a:t>
            </a:r>
            <a:r>
              <a:rPr lang="zh-CN" altLang="en-US" sz="2800" b="1" dirty="0">
                <a:solidFill>
                  <a:srgbClr val="660033"/>
                </a:solidFill>
              </a:rPr>
              <a:t>＜</a:t>
            </a:r>
            <a:r>
              <a:rPr lang="en-US" altLang="zh-CN" sz="2800" b="1" dirty="0">
                <a:solidFill>
                  <a:srgbClr val="660033"/>
                </a:solidFill>
              </a:rPr>
              <a:t>a</a:t>
            </a:r>
            <a:r>
              <a:rPr lang="en-US" altLang="zh-CN" sz="2800" b="1" baseline="-25000" dirty="0">
                <a:solidFill>
                  <a:srgbClr val="660033"/>
                </a:solidFill>
              </a:rPr>
              <a:t>i</a:t>
            </a:r>
            <a:r>
              <a:rPr lang="zh-CN" altLang="en-US" sz="2800" b="1" dirty="0">
                <a:solidFill>
                  <a:srgbClr val="660033"/>
                </a:solidFill>
                <a:ea typeface="楷体_GB2312" charset="0"/>
              </a:rPr>
              <a:t>中的指数值</a:t>
            </a:r>
            <a:r>
              <a:rPr lang="zh-CN" altLang="en-US" sz="2800" b="1" dirty="0">
                <a:solidFill>
                  <a:srgbClr val="996600"/>
                </a:solidFill>
                <a:ea typeface="楷体_GB2312" charset="0"/>
              </a:rPr>
              <a:t> </a:t>
            </a:r>
            <a:r>
              <a:rPr lang="en-US" altLang="zh-CN" sz="2800" b="1" dirty="0"/>
              <a:t>}</a:t>
            </a:r>
            <a:endParaRPr lang="en-US" altLang="zh-CN"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lt">
                                    <p:tmPct val="100000"/>
                                  </p:iterate>
                                  <p:childTnLst>
                                    <p:set>
                                      <p:cBhvr>
                                        <p:cTn id="6" dur="1" fill="hold">
                                          <p:stCondLst>
                                            <p:cond delay="0"/>
                                          </p:stCondLst>
                                        </p:cTn>
                                        <p:tgtEl>
                                          <p:spTgt spid="1003522"/>
                                        </p:tgtEl>
                                        <p:attrNameLst>
                                          <p:attrName>style.visibility</p:attrName>
                                        </p:attrNameLst>
                                      </p:cBhvr>
                                      <p:to>
                                        <p:strVal val="visible"/>
                                      </p:to>
                                    </p:set>
                                    <p:animEffect transition="in" filter="strips(downRight)">
                                      <p:cBhvr>
                                        <p:cTn id="7" dur="75"/>
                                        <p:tgtEl>
                                          <p:spTgt spid="10035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3524"/>
                                        </p:tgtEl>
                                        <p:attrNameLst>
                                          <p:attrName>style.visibility</p:attrName>
                                        </p:attrNameLst>
                                      </p:cBhvr>
                                      <p:to>
                                        <p:strVal val="visible"/>
                                      </p:to>
                                    </p:set>
                                    <p:animEffect transition="in" filter="wipe(left)">
                                      <p:cBhvr>
                                        <p:cTn id="12" dur="500"/>
                                        <p:tgtEl>
                                          <p:spTgt spid="10035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3525"/>
                                        </p:tgtEl>
                                        <p:attrNameLst>
                                          <p:attrName>style.visibility</p:attrName>
                                        </p:attrNameLst>
                                      </p:cBhvr>
                                      <p:to>
                                        <p:strVal val="visible"/>
                                      </p:to>
                                    </p:set>
                                    <p:animEffect transition="in" filter="wipe(left)">
                                      <p:cBhvr>
                                        <p:cTn id="17" dur="500"/>
                                        <p:tgtEl>
                                          <p:spTgt spid="1003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22" grpId="0" autoUpdateAnimBg="0"/>
      <p:bldP spid="1003524" grpId="0" autoUpdateAnimBg="0"/>
      <p:bldP spid="1003525" grpId="0" autoUpdateAnimBg="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6" name="Text Box 2"/>
          <p:cNvSpPr txBox="1">
            <a:spLocks noChangeArrowheads="1"/>
          </p:cNvSpPr>
          <p:nvPr/>
        </p:nvSpPr>
        <p:spPr bwMode="auto">
          <a:xfrm>
            <a:off x="669925" y="782638"/>
            <a:ext cx="6950075" cy="470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2400"/>
              <a:t>         </a:t>
            </a:r>
            <a:r>
              <a:rPr lang="en-US" altLang="zh-CN" sz="3600" b="1">
                <a:solidFill>
                  <a:srgbClr val="660033"/>
                </a:solidFill>
              </a:rPr>
              <a:t>CreatPolyn ( &amp;P, m )</a:t>
            </a:r>
            <a:endParaRPr lang="en-US" altLang="zh-CN" sz="3600"/>
          </a:p>
          <a:p>
            <a:pPr eaLnBrk="1" hangingPunct="1">
              <a:lnSpc>
                <a:spcPct val="120000"/>
              </a:lnSpc>
              <a:defRPr/>
            </a:pPr>
            <a:endParaRPr lang="en-US" altLang="zh-CN" sz="3600"/>
          </a:p>
          <a:p>
            <a:pPr eaLnBrk="1" hangingPunct="1">
              <a:lnSpc>
                <a:spcPct val="120000"/>
              </a:lnSpc>
              <a:defRPr/>
            </a:pPr>
            <a:endParaRPr lang="en-US" altLang="zh-CN" sz="3600"/>
          </a:p>
          <a:p>
            <a:pPr eaLnBrk="1" hangingPunct="1">
              <a:lnSpc>
                <a:spcPct val="120000"/>
              </a:lnSpc>
              <a:defRPr/>
            </a:pPr>
            <a:r>
              <a:rPr lang="en-US" altLang="zh-CN" sz="3600"/>
              <a:t>      </a:t>
            </a:r>
            <a:r>
              <a:rPr lang="en-US" altLang="zh-CN" sz="3600" b="1">
                <a:solidFill>
                  <a:srgbClr val="660033"/>
                </a:solidFill>
              </a:rPr>
              <a:t>DestroyPolyn ( &amp;P )</a:t>
            </a:r>
            <a:endParaRPr lang="en-US" altLang="zh-CN" sz="3600" b="1"/>
          </a:p>
          <a:p>
            <a:pPr eaLnBrk="1" hangingPunct="1">
              <a:lnSpc>
                <a:spcPct val="120000"/>
              </a:lnSpc>
              <a:defRPr/>
            </a:pPr>
            <a:endParaRPr lang="en-US" altLang="zh-CN" sz="3600"/>
          </a:p>
          <a:p>
            <a:pPr eaLnBrk="1" hangingPunct="1">
              <a:lnSpc>
                <a:spcPct val="120000"/>
              </a:lnSpc>
              <a:defRPr/>
            </a:pPr>
            <a:endParaRPr lang="en-US" altLang="zh-CN" sz="3600"/>
          </a:p>
          <a:p>
            <a:pPr eaLnBrk="1" hangingPunct="1">
              <a:lnSpc>
                <a:spcPct val="120000"/>
              </a:lnSpc>
              <a:defRPr/>
            </a:pPr>
            <a:r>
              <a:rPr lang="en-US" altLang="zh-CN" sz="3600"/>
              <a:t>      </a:t>
            </a:r>
            <a:r>
              <a:rPr lang="en-US" altLang="zh-CN" sz="3600" b="1">
                <a:solidFill>
                  <a:srgbClr val="660033"/>
                </a:solidFill>
              </a:rPr>
              <a:t>PrintPolyn ( &amp;P )</a:t>
            </a:r>
            <a:endParaRPr lang="en-US" altLang="zh-CN" sz="3600"/>
          </a:p>
        </p:txBody>
      </p:sp>
      <p:sp>
        <p:nvSpPr>
          <p:cNvPr id="1004547" name="Text Box 3"/>
          <p:cNvSpPr txBox="1">
            <a:spLocks noChangeArrowheads="1"/>
          </p:cNvSpPr>
          <p:nvPr/>
        </p:nvSpPr>
        <p:spPr bwMode="auto">
          <a:xfrm>
            <a:off x="1219200" y="136525"/>
            <a:ext cx="297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CC0000"/>
                </a:solidFill>
                <a:ea typeface="楷体_GB2312" charset="0"/>
              </a:rPr>
              <a:t>  基本操作</a:t>
            </a:r>
            <a:r>
              <a:rPr lang="zh-CN" altLang="en-US" sz="4000" b="1">
                <a:solidFill>
                  <a:srgbClr val="CC0000"/>
                </a:solidFill>
              </a:rPr>
              <a:t>：</a:t>
            </a:r>
            <a:endParaRPr lang="zh-CN" altLang="en-US" sz="2400"/>
          </a:p>
        </p:txBody>
      </p:sp>
      <p:sp>
        <p:nvSpPr>
          <p:cNvPr id="1004548" name="Rectangle 4"/>
          <p:cNvSpPr>
            <a:spLocks noChangeArrowheads="1"/>
          </p:cNvSpPr>
          <p:nvPr/>
        </p:nvSpPr>
        <p:spPr bwMode="auto">
          <a:xfrm>
            <a:off x="808038" y="1431925"/>
            <a:ext cx="6811962"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b="1">
                <a:solidFill>
                  <a:srgbClr val="FF5050"/>
                </a:solidFill>
                <a:ea typeface="楷体_GB2312" charset="0"/>
              </a:rPr>
              <a:t>操作结果</a:t>
            </a:r>
            <a:r>
              <a:rPr lang="zh-CN" altLang="en-US" sz="3200"/>
              <a:t>：</a:t>
            </a:r>
            <a:r>
              <a:rPr lang="zh-CN" altLang="en-US" sz="3200">
                <a:latin typeface="楷体_GB2312" charset="0"/>
                <a:ea typeface="楷体_GB2312" charset="0"/>
              </a:rPr>
              <a:t>输入</a:t>
            </a:r>
            <a:r>
              <a:rPr lang="zh-CN" altLang="en-US" sz="3200">
                <a:ea typeface="楷体_GB2312" charset="0"/>
              </a:rPr>
              <a:t> </a:t>
            </a:r>
            <a:r>
              <a:rPr lang="en-US" altLang="zh-CN" sz="3200">
                <a:ea typeface="楷体_GB2312" charset="0"/>
              </a:rPr>
              <a:t>m </a:t>
            </a:r>
            <a:r>
              <a:rPr lang="zh-CN" altLang="en-US" sz="3200">
                <a:latin typeface="楷体_GB2312" charset="0"/>
                <a:ea typeface="楷体_GB2312" charset="0"/>
              </a:rPr>
              <a:t>项的系数和指数，</a:t>
            </a:r>
            <a:endParaRPr lang="zh-CN" altLang="en-US" sz="3200">
              <a:latin typeface="楷体_GB2312" charset="0"/>
              <a:ea typeface="楷体_GB2312" charset="0"/>
            </a:endParaRPr>
          </a:p>
          <a:p>
            <a:pPr eaLnBrk="1" hangingPunct="1">
              <a:lnSpc>
                <a:spcPct val="120000"/>
              </a:lnSpc>
              <a:defRPr/>
            </a:pPr>
            <a:r>
              <a:rPr lang="zh-CN" altLang="en-US" sz="3200">
                <a:latin typeface="楷体_GB2312" charset="0"/>
                <a:ea typeface="楷体_GB2312" charset="0"/>
              </a:rPr>
              <a:t>          建立一元多项式</a:t>
            </a:r>
            <a:r>
              <a:rPr lang="zh-CN" altLang="en-US" sz="3200">
                <a:ea typeface="楷体_GB2312" charset="0"/>
              </a:rPr>
              <a:t> </a:t>
            </a:r>
            <a:r>
              <a:rPr lang="en-US" altLang="zh-CN" sz="3200">
                <a:ea typeface="楷体_GB2312" charset="0"/>
              </a:rPr>
              <a:t>P</a:t>
            </a:r>
            <a:r>
              <a:rPr lang="zh-CN" altLang="en-US" sz="3200"/>
              <a:t>。</a:t>
            </a:r>
            <a:endParaRPr lang="zh-CN" altLang="en-US" sz="3200"/>
          </a:p>
        </p:txBody>
      </p:sp>
      <p:sp>
        <p:nvSpPr>
          <p:cNvPr id="1004549" name="Rectangle 5"/>
          <p:cNvSpPr>
            <a:spLocks noChangeArrowheads="1"/>
          </p:cNvSpPr>
          <p:nvPr/>
        </p:nvSpPr>
        <p:spPr bwMode="auto">
          <a:xfrm>
            <a:off x="771525" y="3413125"/>
            <a:ext cx="631507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b="1">
                <a:solidFill>
                  <a:srgbClr val="FF5050"/>
                </a:solidFill>
                <a:ea typeface="楷体_GB2312" charset="0"/>
              </a:rPr>
              <a:t>初始条件</a:t>
            </a:r>
            <a:r>
              <a:rPr lang="zh-CN" altLang="en-US" sz="3200"/>
              <a:t>：</a:t>
            </a:r>
            <a:r>
              <a:rPr lang="zh-CN" altLang="en-US" sz="3200">
                <a:ea typeface="楷体_GB2312" charset="0"/>
              </a:rPr>
              <a:t>一元多项式 </a:t>
            </a:r>
            <a:r>
              <a:rPr lang="en-US" altLang="zh-CN" sz="3200">
                <a:ea typeface="楷体_GB2312" charset="0"/>
              </a:rPr>
              <a:t>P </a:t>
            </a:r>
            <a:r>
              <a:rPr lang="zh-CN" altLang="en-US" sz="3200">
                <a:ea typeface="楷体_GB2312" charset="0"/>
              </a:rPr>
              <a:t>已存在</a:t>
            </a:r>
            <a:r>
              <a:rPr lang="zh-CN" altLang="en-US" sz="3200"/>
              <a:t>。</a:t>
            </a:r>
            <a:endParaRPr lang="zh-CN" altLang="en-US" sz="3200"/>
          </a:p>
          <a:p>
            <a:pPr eaLnBrk="1" hangingPunct="1">
              <a:lnSpc>
                <a:spcPct val="120000"/>
              </a:lnSpc>
              <a:defRPr/>
            </a:pPr>
            <a:r>
              <a:rPr lang="zh-CN" altLang="en-US" sz="3200" b="1">
                <a:solidFill>
                  <a:srgbClr val="FF5050"/>
                </a:solidFill>
                <a:ea typeface="楷体_GB2312" charset="0"/>
              </a:rPr>
              <a:t>操作结果</a:t>
            </a:r>
            <a:r>
              <a:rPr lang="zh-CN" altLang="en-US" sz="3200"/>
              <a:t>：</a:t>
            </a:r>
            <a:r>
              <a:rPr lang="zh-CN" altLang="en-US" sz="3200">
                <a:ea typeface="楷体_GB2312" charset="0"/>
              </a:rPr>
              <a:t>销毁一元多项式 </a:t>
            </a:r>
            <a:r>
              <a:rPr lang="en-US" altLang="zh-CN" sz="3200"/>
              <a:t>P</a:t>
            </a:r>
            <a:r>
              <a:rPr lang="zh-CN" altLang="en-US" sz="3200"/>
              <a:t>。</a:t>
            </a:r>
            <a:endParaRPr lang="zh-CN" altLang="en-US" sz="3200"/>
          </a:p>
        </p:txBody>
      </p:sp>
      <p:sp>
        <p:nvSpPr>
          <p:cNvPr id="1004550" name="Rectangle 6"/>
          <p:cNvSpPr>
            <a:spLocks noChangeArrowheads="1"/>
          </p:cNvSpPr>
          <p:nvPr/>
        </p:nvSpPr>
        <p:spPr bwMode="auto">
          <a:xfrm>
            <a:off x="762000" y="5410200"/>
            <a:ext cx="661987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b="1">
                <a:solidFill>
                  <a:srgbClr val="FF5050"/>
                </a:solidFill>
                <a:ea typeface="楷体_GB2312" charset="0"/>
              </a:rPr>
              <a:t>初始条件</a:t>
            </a:r>
            <a:r>
              <a:rPr lang="zh-CN" altLang="en-US" sz="3200"/>
              <a:t>：</a:t>
            </a:r>
            <a:r>
              <a:rPr lang="zh-CN" altLang="en-US" sz="3200">
                <a:ea typeface="楷体_GB2312" charset="0"/>
              </a:rPr>
              <a:t>一元多项式 </a:t>
            </a:r>
            <a:r>
              <a:rPr lang="en-US" altLang="zh-CN" sz="3200">
                <a:ea typeface="楷体_GB2312" charset="0"/>
              </a:rPr>
              <a:t>P </a:t>
            </a:r>
            <a:r>
              <a:rPr lang="zh-CN" altLang="en-US" sz="3200">
                <a:ea typeface="楷体_GB2312" charset="0"/>
              </a:rPr>
              <a:t>已存在</a:t>
            </a:r>
            <a:r>
              <a:rPr lang="zh-CN" altLang="en-US" sz="3200"/>
              <a:t>。</a:t>
            </a:r>
            <a:endParaRPr lang="zh-CN" altLang="en-US" sz="3200"/>
          </a:p>
          <a:p>
            <a:pPr eaLnBrk="1" hangingPunct="1">
              <a:lnSpc>
                <a:spcPct val="120000"/>
              </a:lnSpc>
              <a:defRPr/>
            </a:pPr>
            <a:r>
              <a:rPr lang="zh-CN" altLang="en-US" sz="3200" b="1">
                <a:solidFill>
                  <a:srgbClr val="FF5050"/>
                </a:solidFill>
                <a:ea typeface="楷体_GB2312" charset="0"/>
              </a:rPr>
              <a:t>操作结果</a:t>
            </a:r>
            <a:r>
              <a:rPr lang="zh-CN" altLang="en-US" sz="3200"/>
              <a:t>：</a:t>
            </a:r>
            <a:r>
              <a:rPr lang="zh-CN" altLang="en-US" sz="3200">
                <a:ea typeface="楷体_GB2312" charset="0"/>
              </a:rPr>
              <a:t>打印输出一元多项式 </a:t>
            </a:r>
            <a:r>
              <a:rPr lang="en-US" altLang="zh-CN" sz="3200"/>
              <a:t>P</a:t>
            </a:r>
            <a:r>
              <a:rPr lang="zh-CN" altLang="en-US" sz="3200"/>
              <a:t>。</a:t>
            </a:r>
            <a:endParaRPr lang="zh-CN" altLang="en-US"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lt">
                                    <p:tmPct val="100000"/>
                                  </p:iterate>
                                  <p:childTnLst>
                                    <p:set>
                                      <p:cBhvr>
                                        <p:cTn id="6" dur="1" fill="hold">
                                          <p:stCondLst>
                                            <p:cond delay="0"/>
                                          </p:stCondLst>
                                        </p:cTn>
                                        <p:tgtEl>
                                          <p:spTgt spid="1004546"/>
                                        </p:tgtEl>
                                        <p:attrNameLst>
                                          <p:attrName>style.visibility</p:attrName>
                                        </p:attrNameLst>
                                      </p:cBhvr>
                                      <p:to>
                                        <p:strVal val="visible"/>
                                      </p:to>
                                    </p:set>
                                    <p:animEffect transition="in" filter="strips(downRight)">
                                      <p:cBhvr>
                                        <p:cTn id="7" dur="75"/>
                                        <p:tgtEl>
                                          <p:spTgt spid="10045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4548"/>
                                        </p:tgtEl>
                                        <p:attrNameLst>
                                          <p:attrName>style.visibility</p:attrName>
                                        </p:attrNameLst>
                                      </p:cBhvr>
                                      <p:to>
                                        <p:strVal val="visible"/>
                                      </p:to>
                                    </p:set>
                                    <p:animEffect transition="in" filter="wipe(left)">
                                      <p:cBhvr>
                                        <p:cTn id="12" dur="500"/>
                                        <p:tgtEl>
                                          <p:spTgt spid="10045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4549"/>
                                        </p:tgtEl>
                                        <p:attrNameLst>
                                          <p:attrName>style.visibility</p:attrName>
                                        </p:attrNameLst>
                                      </p:cBhvr>
                                      <p:to>
                                        <p:strVal val="visible"/>
                                      </p:to>
                                    </p:set>
                                    <p:animEffect transition="in" filter="wipe(left)">
                                      <p:cBhvr>
                                        <p:cTn id="17" dur="500"/>
                                        <p:tgtEl>
                                          <p:spTgt spid="10045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04550"/>
                                        </p:tgtEl>
                                        <p:attrNameLst>
                                          <p:attrName>style.visibility</p:attrName>
                                        </p:attrNameLst>
                                      </p:cBhvr>
                                      <p:to>
                                        <p:strVal val="visible"/>
                                      </p:to>
                                    </p:set>
                                    <p:animEffect transition="in" filter="wipe(left)">
                                      <p:cBhvr>
                                        <p:cTn id="22" dur="500"/>
                                        <p:tgtEl>
                                          <p:spTgt spid="1004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46" grpId="0" autoUpdateAnimBg="0"/>
      <p:bldP spid="1004548" grpId="0" autoUpdateAnimBg="0"/>
      <p:bldP spid="1004549" grpId="0" autoUpdateAnimBg="0"/>
      <p:bldP spid="1004550" grpId="0"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0" name="Text Box 2"/>
          <p:cNvSpPr txBox="1">
            <a:spLocks noChangeArrowheads="1"/>
          </p:cNvSpPr>
          <p:nvPr/>
        </p:nvSpPr>
        <p:spPr bwMode="auto">
          <a:xfrm>
            <a:off x="609600" y="177800"/>
            <a:ext cx="8915400" cy="668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2400"/>
              <a:t>            </a:t>
            </a:r>
            <a:r>
              <a:rPr lang="en-US" altLang="zh-CN" sz="3600" b="1">
                <a:solidFill>
                  <a:srgbClr val="660033"/>
                </a:solidFill>
              </a:rPr>
              <a:t>PolynLength( P )</a:t>
            </a:r>
            <a:endParaRPr lang="en-US" altLang="zh-CN" sz="3600" b="1">
              <a:solidFill>
                <a:srgbClr val="660033"/>
              </a:solidFill>
            </a:endParaRPr>
          </a:p>
          <a:p>
            <a:pPr eaLnBrk="1" hangingPunct="1">
              <a:lnSpc>
                <a:spcPct val="120000"/>
              </a:lnSpc>
              <a:defRPr/>
            </a:pPr>
            <a:endParaRPr lang="en-US" altLang="zh-CN" sz="3600" b="1">
              <a:solidFill>
                <a:srgbClr val="660033"/>
              </a:solidFill>
            </a:endParaRPr>
          </a:p>
          <a:p>
            <a:pPr eaLnBrk="1" hangingPunct="1">
              <a:lnSpc>
                <a:spcPct val="120000"/>
              </a:lnSpc>
              <a:defRPr/>
            </a:pPr>
            <a:r>
              <a:rPr lang="en-US" altLang="zh-CN" sz="3600" b="1">
                <a:solidFill>
                  <a:srgbClr val="660033"/>
                </a:solidFill>
              </a:rPr>
              <a:t>     </a:t>
            </a:r>
            <a:endParaRPr lang="en-US" altLang="zh-CN" sz="3600" b="1">
              <a:solidFill>
                <a:srgbClr val="660033"/>
              </a:solidFill>
            </a:endParaRPr>
          </a:p>
          <a:p>
            <a:pPr eaLnBrk="1" hangingPunct="1">
              <a:lnSpc>
                <a:spcPct val="120000"/>
              </a:lnSpc>
              <a:defRPr/>
            </a:pPr>
            <a:r>
              <a:rPr lang="en-US" altLang="zh-CN" sz="3600" b="1">
                <a:solidFill>
                  <a:srgbClr val="660033"/>
                </a:solidFill>
              </a:rPr>
              <a:t>        AddPolyn ( &amp;Pa, &amp;Pb )</a:t>
            </a:r>
            <a:endParaRPr lang="en-US" altLang="zh-CN" sz="3600" b="1">
              <a:solidFill>
                <a:srgbClr val="660033"/>
              </a:solidFill>
            </a:endParaRPr>
          </a:p>
          <a:p>
            <a:pPr eaLnBrk="1" hangingPunct="1">
              <a:lnSpc>
                <a:spcPct val="120000"/>
              </a:lnSpc>
              <a:defRPr/>
            </a:pPr>
            <a:endParaRPr lang="en-US" altLang="zh-CN" sz="3600" b="1">
              <a:solidFill>
                <a:srgbClr val="660033"/>
              </a:solidFill>
            </a:endParaRPr>
          </a:p>
          <a:p>
            <a:pPr eaLnBrk="1" hangingPunct="1">
              <a:lnSpc>
                <a:spcPct val="120000"/>
              </a:lnSpc>
              <a:defRPr/>
            </a:pPr>
            <a:endParaRPr lang="en-US" altLang="zh-CN" sz="3600" b="1">
              <a:solidFill>
                <a:srgbClr val="660033"/>
              </a:solidFill>
            </a:endParaRPr>
          </a:p>
          <a:p>
            <a:pPr eaLnBrk="1" hangingPunct="1">
              <a:lnSpc>
                <a:spcPct val="120000"/>
              </a:lnSpc>
              <a:defRPr/>
            </a:pPr>
            <a:endParaRPr lang="en-US" altLang="zh-CN" sz="3600" b="1">
              <a:solidFill>
                <a:srgbClr val="660033"/>
              </a:solidFill>
            </a:endParaRPr>
          </a:p>
          <a:p>
            <a:pPr eaLnBrk="1" hangingPunct="1">
              <a:lnSpc>
                <a:spcPct val="120000"/>
              </a:lnSpc>
              <a:defRPr/>
            </a:pPr>
            <a:r>
              <a:rPr lang="en-US" altLang="zh-CN" sz="3600" b="1">
                <a:solidFill>
                  <a:srgbClr val="660033"/>
                </a:solidFill>
              </a:rPr>
              <a:t>        SubtractPolyn ( &amp;Pa, &amp;Pb )</a:t>
            </a:r>
            <a:endParaRPr lang="en-US" altLang="zh-CN" sz="3600" b="1">
              <a:solidFill>
                <a:srgbClr val="660033"/>
              </a:solidFill>
            </a:endParaRPr>
          </a:p>
          <a:p>
            <a:pPr eaLnBrk="1" hangingPunct="1">
              <a:lnSpc>
                <a:spcPct val="120000"/>
              </a:lnSpc>
              <a:defRPr/>
            </a:pPr>
            <a:r>
              <a:rPr lang="en-US" altLang="zh-CN" sz="3600" b="1">
                <a:solidFill>
                  <a:srgbClr val="660033"/>
                </a:solidFill>
              </a:rPr>
              <a:t>              …   …</a:t>
            </a:r>
            <a:endParaRPr lang="en-US" altLang="zh-CN" sz="3600" b="1">
              <a:solidFill>
                <a:srgbClr val="660033"/>
              </a:solidFill>
            </a:endParaRPr>
          </a:p>
          <a:p>
            <a:pPr eaLnBrk="1" hangingPunct="1">
              <a:lnSpc>
                <a:spcPct val="120000"/>
              </a:lnSpc>
              <a:defRPr/>
            </a:pPr>
            <a:r>
              <a:rPr lang="en-US" altLang="zh-CN" sz="3600" b="1">
                <a:solidFill>
                  <a:srgbClr val="660033"/>
                </a:solidFill>
              </a:rPr>
              <a:t>} ADT Polynomial</a:t>
            </a:r>
            <a:endParaRPr lang="en-US" altLang="zh-CN" sz="3600" b="1">
              <a:solidFill>
                <a:srgbClr val="660033"/>
              </a:solidFill>
            </a:endParaRPr>
          </a:p>
        </p:txBody>
      </p:sp>
      <p:sp>
        <p:nvSpPr>
          <p:cNvPr id="1005571" name="Rectangle 3"/>
          <p:cNvSpPr>
            <a:spLocks noChangeArrowheads="1"/>
          </p:cNvSpPr>
          <p:nvPr/>
        </p:nvSpPr>
        <p:spPr bwMode="auto">
          <a:xfrm>
            <a:off x="1066800" y="939800"/>
            <a:ext cx="752157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b="1">
                <a:solidFill>
                  <a:srgbClr val="FF5050"/>
                </a:solidFill>
                <a:ea typeface="楷体_GB2312" charset="0"/>
              </a:rPr>
              <a:t>初始条件</a:t>
            </a:r>
            <a:r>
              <a:rPr lang="zh-CN" altLang="en-US" sz="3200"/>
              <a:t>：</a:t>
            </a:r>
            <a:r>
              <a:rPr lang="zh-CN" altLang="en-US" sz="3200">
                <a:ea typeface="楷体_GB2312" charset="0"/>
              </a:rPr>
              <a:t>一元多项式 </a:t>
            </a:r>
            <a:r>
              <a:rPr lang="en-US" altLang="zh-CN" sz="3200"/>
              <a:t>P </a:t>
            </a:r>
            <a:r>
              <a:rPr lang="zh-CN" altLang="en-US" sz="3200">
                <a:ea typeface="楷体_GB2312" charset="0"/>
              </a:rPr>
              <a:t>已存在</a:t>
            </a:r>
            <a:r>
              <a:rPr lang="zh-CN" altLang="en-US" sz="3200"/>
              <a:t>。</a:t>
            </a:r>
            <a:endParaRPr lang="zh-CN" altLang="en-US" sz="3200"/>
          </a:p>
          <a:p>
            <a:pPr eaLnBrk="1" hangingPunct="1">
              <a:lnSpc>
                <a:spcPct val="120000"/>
              </a:lnSpc>
              <a:defRPr/>
            </a:pPr>
            <a:r>
              <a:rPr lang="zh-CN" altLang="en-US" sz="3200" b="1">
                <a:solidFill>
                  <a:srgbClr val="FF5050"/>
                </a:solidFill>
                <a:ea typeface="楷体_GB2312" charset="0"/>
              </a:rPr>
              <a:t>操作结果</a:t>
            </a:r>
            <a:r>
              <a:rPr lang="zh-CN" altLang="en-US" sz="3200"/>
              <a:t>：</a:t>
            </a:r>
            <a:r>
              <a:rPr lang="zh-CN" altLang="en-US" sz="3200">
                <a:ea typeface="楷体_GB2312" charset="0"/>
              </a:rPr>
              <a:t>返回一元多项式 </a:t>
            </a:r>
            <a:r>
              <a:rPr lang="en-US" altLang="zh-CN" sz="3200"/>
              <a:t>P </a:t>
            </a:r>
            <a:r>
              <a:rPr lang="zh-CN" altLang="en-US" sz="3200">
                <a:ea typeface="楷体_GB2312" charset="0"/>
              </a:rPr>
              <a:t>中的项数</a:t>
            </a:r>
            <a:r>
              <a:rPr lang="zh-CN" altLang="en-US" sz="3200"/>
              <a:t>。</a:t>
            </a:r>
            <a:endParaRPr lang="zh-CN" altLang="en-US" sz="3600"/>
          </a:p>
        </p:txBody>
      </p:sp>
      <p:sp>
        <p:nvSpPr>
          <p:cNvPr id="1005572" name="Rectangle 4"/>
          <p:cNvSpPr>
            <a:spLocks noChangeArrowheads="1"/>
          </p:cNvSpPr>
          <p:nvPr/>
        </p:nvSpPr>
        <p:spPr bwMode="auto">
          <a:xfrm>
            <a:off x="1066800" y="2905125"/>
            <a:ext cx="80772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b="1">
                <a:solidFill>
                  <a:srgbClr val="FF5050"/>
                </a:solidFill>
                <a:ea typeface="楷体_GB2312" charset="0"/>
              </a:rPr>
              <a:t>初始条件</a:t>
            </a:r>
            <a:r>
              <a:rPr lang="zh-CN" altLang="en-US" sz="3200"/>
              <a:t>：</a:t>
            </a:r>
            <a:r>
              <a:rPr lang="zh-CN" altLang="en-US" sz="3200">
                <a:ea typeface="楷体_GB2312" charset="0"/>
              </a:rPr>
              <a:t>一元多项式 </a:t>
            </a:r>
            <a:r>
              <a:rPr lang="en-US" altLang="zh-CN" sz="3200">
                <a:ea typeface="楷体_GB2312" charset="0"/>
              </a:rPr>
              <a:t>Pa </a:t>
            </a:r>
            <a:r>
              <a:rPr lang="zh-CN" altLang="en-US" sz="3200">
                <a:ea typeface="楷体_GB2312" charset="0"/>
              </a:rPr>
              <a:t>和 </a:t>
            </a:r>
            <a:r>
              <a:rPr lang="en-US" altLang="zh-CN" sz="3200">
                <a:ea typeface="楷体_GB2312" charset="0"/>
              </a:rPr>
              <a:t>Pb </a:t>
            </a:r>
            <a:r>
              <a:rPr lang="zh-CN" altLang="en-US" sz="3200">
                <a:ea typeface="楷体_GB2312" charset="0"/>
              </a:rPr>
              <a:t>已存在</a:t>
            </a:r>
            <a:r>
              <a:rPr lang="zh-CN" altLang="en-US" sz="3200"/>
              <a:t>。</a:t>
            </a:r>
            <a:endParaRPr lang="zh-CN" altLang="en-US" sz="3200"/>
          </a:p>
          <a:p>
            <a:pPr eaLnBrk="1" hangingPunct="1">
              <a:lnSpc>
                <a:spcPct val="120000"/>
              </a:lnSpc>
              <a:defRPr/>
            </a:pPr>
            <a:r>
              <a:rPr lang="zh-CN" altLang="en-US" sz="3200" b="1">
                <a:solidFill>
                  <a:srgbClr val="FF5050"/>
                </a:solidFill>
                <a:ea typeface="楷体_GB2312" charset="0"/>
              </a:rPr>
              <a:t>操作结果</a:t>
            </a:r>
            <a:r>
              <a:rPr lang="zh-CN" altLang="en-US" sz="3200"/>
              <a:t>：</a:t>
            </a:r>
            <a:r>
              <a:rPr lang="zh-CN" altLang="en-US" sz="3200">
                <a:ea typeface="楷体_GB2312" charset="0"/>
              </a:rPr>
              <a:t>完成多项式相加运算，即：</a:t>
            </a:r>
            <a:endParaRPr lang="zh-CN" altLang="en-US" sz="3200">
              <a:ea typeface="楷体_GB2312" charset="0"/>
            </a:endParaRPr>
          </a:p>
          <a:p>
            <a:pPr eaLnBrk="1" hangingPunct="1">
              <a:lnSpc>
                <a:spcPct val="120000"/>
              </a:lnSpc>
              <a:defRPr/>
            </a:pPr>
            <a:r>
              <a:rPr lang="zh-CN" altLang="en-US" sz="3200">
                <a:ea typeface="楷体_GB2312" charset="0"/>
              </a:rPr>
              <a:t>            </a:t>
            </a:r>
            <a:r>
              <a:rPr lang="en-US" altLang="zh-CN" sz="3200">
                <a:ea typeface="楷体_GB2312" charset="0"/>
              </a:rPr>
              <a:t>Pa = Pa</a:t>
            </a:r>
            <a:r>
              <a:rPr lang="zh-CN" altLang="en-US" sz="3200">
                <a:ea typeface="楷体_GB2312" charset="0"/>
              </a:rPr>
              <a:t>＋</a:t>
            </a:r>
            <a:r>
              <a:rPr lang="en-US" altLang="zh-CN" sz="3200">
                <a:ea typeface="楷体_GB2312" charset="0"/>
              </a:rPr>
              <a:t>Pb</a:t>
            </a:r>
            <a:r>
              <a:rPr lang="zh-CN" altLang="en-US" sz="3200">
                <a:ea typeface="楷体_GB2312" charset="0"/>
              </a:rPr>
              <a:t>，并销毁一元多项式 </a:t>
            </a:r>
            <a:r>
              <a:rPr lang="en-US" altLang="zh-CN" sz="3200"/>
              <a:t>Pb</a:t>
            </a:r>
            <a:r>
              <a:rPr lang="zh-CN" altLang="en-US" sz="3200"/>
              <a:t>。</a:t>
            </a:r>
            <a:endParaRPr lang="zh-CN" altLang="en-US"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lt">
                                    <p:tmPct val="100000"/>
                                  </p:iterate>
                                  <p:childTnLst>
                                    <p:set>
                                      <p:cBhvr>
                                        <p:cTn id="6" dur="1" fill="hold">
                                          <p:stCondLst>
                                            <p:cond delay="0"/>
                                          </p:stCondLst>
                                        </p:cTn>
                                        <p:tgtEl>
                                          <p:spTgt spid="1005570"/>
                                        </p:tgtEl>
                                        <p:attrNameLst>
                                          <p:attrName>style.visibility</p:attrName>
                                        </p:attrNameLst>
                                      </p:cBhvr>
                                      <p:to>
                                        <p:strVal val="visible"/>
                                      </p:to>
                                    </p:set>
                                    <p:animEffect transition="in" filter="strips(downRight)">
                                      <p:cBhvr>
                                        <p:cTn id="7" dur="75"/>
                                        <p:tgtEl>
                                          <p:spTgt spid="10055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5571"/>
                                        </p:tgtEl>
                                        <p:attrNameLst>
                                          <p:attrName>style.visibility</p:attrName>
                                        </p:attrNameLst>
                                      </p:cBhvr>
                                      <p:to>
                                        <p:strVal val="visible"/>
                                      </p:to>
                                    </p:set>
                                    <p:animEffect transition="in" filter="wipe(left)">
                                      <p:cBhvr>
                                        <p:cTn id="12" dur="500"/>
                                        <p:tgtEl>
                                          <p:spTgt spid="10055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5572"/>
                                        </p:tgtEl>
                                        <p:attrNameLst>
                                          <p:attrName>style.visibility</p:attrName>
                                        </p:attrNameLst>
                                      </p:cBhvr>
                                      <p:to>
                                        <p:strVal val="visible"/>
                                      </p:to>
                                    </p:set>
                                    <p:animEffect transition="in" filter="wipe(left)">
                                      <p:cBhvr>
                                        <p:cTn id="17" dur="500"/>
                                        <p:tgtEl>
                                          <p:spTgt spid="1005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570" grpId="0" autoUpdateAnimBg="0"/>
      <p:bldP spid="1005571" grpId="0" autoUpdateAnimBg="0"/>
      <p:bldP spid="1005572" grpId="0"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Text Box 2"/>
          <p:cNvSpPr txBox="1">
            <a:spLocks noChangeArrowheads="1"/>
          </p:cNvSpPr>
          <p:nvPr/>
        </p:nvSpPr>
        <p:spPr bwMode="auto">
          <a:xfrm>
            <a:off x="1568450" y="288925"/>
            <a:ext cx="3430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3333CC"/>
                </a:solidFill>
                <a:ea typeface="隶书" panose="02010509060101010101" charset="-122"/>
              </a:rPr>
              <a:t>一元多项式的实现：</a:t>
            </a:r>
            <a:endParaRPr lang="zh-CN" altLang="en-US" sz="2800"/>
          </a:p>
        </p:txBody>
      </p:sp>
      <p:sp>
        <p:nvSpPr>
          <p:cNvPr id="1006595" name="Text Box 3"/>
          <p:cNvSpPr txBox="1">
            <a:spLocks noChangeArrowheads="1"/>
          </p:cNvSpPr>
          <p:nvPr/>
        </p:nvSpPr>
        <p:spPr bwMode="auto">
          <a:xfrm>
            <a:off x="685800" y="3749675"/>
            <a:ext cx="7483475" cy="213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en-US" altLang="zh-CN" sz="2800" b="1"/>
              <a:t>typedef struct {    </a:t>
            </a:r>
            <a:r>
              <a:rPr lang="en-US" altLang="zh-CN" sz="2800"/>
              <a:t>  // </a:t>
            </a:r>
            <a:r>
              <a:rPr lang="zh-CN" altLang="en-US" sz="2800" b="1">
                <a:solidFill>
                  <a:srgbClr val="800000"/>
                </a:solidFill>
                <a:ea typeface="楷体_GB2312" charset="0"/>
              </a:rPr>
              <a:t>项</a:t>
            </a:r>
            <a:r>
              <a:rPr lang="zh-CN" altLang="en-US" sz="2800">
                <a:solidFill>
                  <a:srgbClr val="800000"/>
                </a:solidFill>
                <a:ea typeface="楷体_GB2312" charset="0"/>
              </a:rPr>
              <a:t>的表示</a:t>
            </a:r>
            <a:endParaRPr lang="zh-CN" altLang="en-US" sz="2800">
              <a:solidFill>
                <a:srgbClr val="800000"/>
              </a:solidFill>
            </a:endParaRPr>
          </a:p>
          <a:p>
            <a:pPr eaLnBrk="1" hangingPunct="1">
              <a:lnSpc>
                <a:spcPct val="120000"/>
              </a:lnSpc>
              <a:defRPr/>
            </a:pPr>
            <a:r>
              <a:rPr lang="zh-CN" altLang="en-US" sz="2800"/>
              <a:t>    </a:t>
            </a:r>
            <a:r>
              <a:rPr lang="en-US" altLang="zh-CN" sz="2800" b="1"/>
              <a:t>float</a:t>
            </a:r>
            <a:r>
              <a:rPr lang="en-US" altLang="zh-CN" sz="2800"/>
              <a:t>  coef;          // </a:t>
            </a:r>
            <a:r>
              <a:rPr lang="zh-CN" altLang="en-US" sz="2800" b="1">
                <a:solidFill>
                  <a:srgbClr val="800000"/>
                </a:solidFill>
                <a:ea typeface="楷体_GB2312" charset="0"/>
              </a:rPr>
              <a:t>系数</a:t>
            </a:r>
            <a:endParaRPr lang="zh-CN" altLang="en-US" sz="2800"/>
          </a:p>
          <a:p>
            <a:pPr eaLnBrk="1" hangingPunct="1">
              <a:lnSpc>
                <a:spcPct val="120000"/>
              </a:lnSpc>
              <a:defRPr/>
            </a:pPr>
            <a:r>
              <a:rPr lang="zh-CN" altLang="en-US" sz="2800"/>
              <a:t>    </a:t>
            </a:r>
            <a:r>
              <a:rPr lang="en-US" altLang="zh-CN" sz="2800" b="1"/>
              <a:t>int </a:t>
            </a:r>
            <a:r>
              <a:rPr lang="en-US" altLang="zh-CN" sz="2800"/>
              <a:t>  expn;           // </a:t>
            </a:r>
            <a:r>
              <a:rPr lang="zh-CN" altLang="en-US" sz="2800" b="1">
                <a:solidFill>
                  <a:srgbClr val="800000"/>
                </a:solidFill>
                <a:ea typeface="楷体_GB2312" charset="0"/>
              </a:rPr>
              <a:t>指数</a:t>
            </a:r>
            <a:endParaRPr lang="zh-CN" altLang="en-US" sz="2800"/>
          </a:p>
          <a:p>
            <a:pPr eaLnBrk="1" hangingPunct="1">
              <a:lnSpc>
                <a:spcPct val="120000"/>
              </a:lnSpc>
              <a:defRPr/>
            </a:pPr>
            <a:r>
              <a:rPr lang="en-US" altLang="zh-CN" sz="2800" b="1"/>
              <a:t>}</a:t>
            </a:r>
            <a:r>
              <a:rPr lang="en-US" altLang="zh-CN" sz="2800"/>
              <a:t> </a:t>
            </a:r>
            <a:r>
              <a:rPr lang="en-US" altLang="zh-CN" sz="2800">
                <a:solidFill>
                  <a:srgbClr val="FF0000"/>
                </a:solidFill>
              </a:rPr>
              <a:t>term, ElemType</a:t>
            </a:r>
            <a:r>
              <a:rPr lang="en-US" altLang="zh-CN" sz="2800"/>
              <a:t>;  </a:t>
            </a:r>
            <a:endParaRPr lang="en-US" altLang="zh-CN" sz="2800"/>
          </a:p>
        </p:txBody>
      </p:sp>
      <p:sp>
        <p:nvSpPr>
          <p:cNvPr id="1006596" name="Text Box 4"/>
          <p:cNvSpPr txBox="1">
            <a:spLocks noChangeArrowheads="1"/>
          </p:cNvSpPr>
          <p:nvPr/>
        </p:nvSpPr>
        <p:spPr bwMode="auto">
          <a:xfrm>
            <a:off x="304800" y="1219200"/>
            <a:ext cx="8550275" cy="1142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en-US" altLang="zh-CN" sz="2800" b="1" dirty="0"/>
              <a:t>typedef</a:t>
            </a:r>
            <a:r>
              <a:rPr lang="en-US" altLang="zh-CN" sz="2800" dirty="0"/>
              <a:t>  </a:t>
            </a:r>
            <a:r>
              <a:rPr lang="en-US" altLang="zh-CN" sz="2800" dirty="0" err="1"/>
              <a:t>OrderedLinkList</a:t>
            </a:r>
            <a:r>
              <a:rPr lang="en-US" altLang="zh-CN" sz="2800" dirty="0"/>
              <a:t>   </a:t>
            </a:r>
            <a:r>
              <a:rPr lang="en-US" altLang="zh-CN" sz="2800" dirty="0">
                <a:solidFill>
                  <a:srgbClr val="FF0000"/>
                </a:solidFill>
              </a:rPr>
              <a:t>polynomial</a:t>
            </a:r>
            <a:r>
              <a:rPr lang="en-US" altLang="zh-CN" sz="2800" dirty="0"/>
              <a:t>; </a:t>
            </a:r>
            <a:endParaRPr lang="en-US" altLang="zh-CN" sz="2800" dirty="0"/>
          </a:p>
          <a:p>
            <a:pPr eaLnBrk="1" hangingPunct="1">
              <a:lnSpc>
                <a:spcPct val="125000"/>
              </a:lnSpc>
              <a:defRPr/>
            </a:pPr>
            <a:r>
              <a:rPr lang="en-US" altLang="zh-CN" sz="2800" dirty="0"/>
              <a:t>    // </a:t>
            </a:r>
            <a:r>
              <a:rPr lang="zh-CN" altLang="en-US" sz="2800" b="1" dirty="0">
                <a:solidFill>
                  <a:srgbClr val="800000"/>
                </a:solidFill>
                <a:ea typeface="楷体_GB2312" charset="0"/>
              </a:rPr>
              <a:t>用带表头结点的有序链表表示多项式</a:t>
            </a:r>
            <a:endParaRPr lang="zh-CN" altLang="en-US" sz="2800" dirty="0"/>
          </a:p>
        </p:txBody>
      </p:sp>
      <p:sp>
        <p:nvSpPr>
          <p:cNvPr id="1006597" name="Text Box 5"/>
          <p:cNvSpPr txBox="1">
            <a:spLocks noChangeArrowheads="1"/>
          </p:cNvSpPr>
          <p:nvPr/>
        </p:nvSpPr>
        <p:spPr bwMode="auto">
          <a:xfrm>
            <a:off x="685800" y="2895600"/>
            <a:ext cx="467307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a:solidFill>
                  <a:srgbClr val="000099"/>
                </a:solidFill>
                <a:latin typeface="隶书" panose="02010509060101010101" charset="-122"/>
                <a:ea typeface="隶书" panose="02010509060101010101" charset="-122"/>
              </a:rPr>
              <a:t>结点的数据元素类型定义为</a:t>
            </a:r>
            <a:r>
              <a:rPr lang="en-US" altLang="zh-CN" sz="2800">
                <a:solidFill>
                  <a:srgbClr val="000099"/>
                </a:solidFill>
                <a:latin typeface="隶书" panose="02010509060101010101" charset="-122"/>
                <a:ea typeface="隶书" panose="02010509060101010101" charset="-122"/>
              </a:rPr>
              <a:t>:</a:t>
            </a:r>
            <a:endParaRPr lang="en-US" altLang="zh-CN"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06596"/>
                                        </p:tgtEl>
                                        <p:attrNameLst>
                                          <p:attrName>style.visibility</p:attrName>
                                        </p:attrNameLst>
                                      </p:cBhvr>
                                      <p:to>
                                        <p:strVal val="visible"/>
                                      </p:to>
                                    </p:set>
                                    <p:animEffect transition="in" filter="slide(fromBottom)">
                                      <p:cBhvr>
                                        <p:cTn id="7" dur="500"/>
                                        <p:tgtEl>
                                          <p:spTgt spid="10065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6597"/>
                                        </p:tgtEl>
                                        <p:attrNameLst>
                                          <p:attrName>style.visibility</p:attrName>
                                        </p:attrNameLst>
                                      </p:cBhvr>
                                      <p:to>
                                        <p:strVal val="visible"/>
                                      </p:to>
                                    </p:set>
                                    <p:animEffect transition="in" filter="wipe(left)">
                                      <p:cBhvr>
                                        <p:cTn id="12" dur="500"/>
                                        <p:tgtEl>
                                          <p:spTgt spid="100659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06595"/>
                                        </p:tgtEl>
                                        <p:attrNameLst>
                                          <p:attrName>style.visibility</p:attrName>
                                        </p:attrNameLst>
                                      </p:cBhvr>
                                      <p:to>
                                        <p:strVal val="visible"/>
                                      </p:to>
                                    </p:set>
                                    <p:animEffect transition="in" filter="strips(downRight)">
                                      <p:cBhvr>
                                        <p:cTn id="17" dur="500"/>
                                        <p:tgtEl>
                                          <p:spTgt spid="1006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6595" grpId="0" autoUpdateAnimBg="0"/>
      <p:bldP spid="1006596" grpId="0" autoUpdateAnimBg="0"/>
      <p:bldP spid="1006597" grpId="0"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18" name="Text Box 2"/>
          <p:cNvSpPr txBox="1">
            <a:spLocks noChangeArrowheads="1"/>
          </p:cNvSpPr>
          <p:nvPr/>
        </p:nvSpPr>
        <p:spPr bwMode="auto">
          <a:xfrm>
            <a:off x="152400" y="0"/>
            <a:ext cx="8855075" cy="608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en-US" altLang="zh-CN" sz="2800" dirty="0">
                <a:solidFill>
                  <a:srgbClr val="990000"/>
                </a:solidFill>
                <a:ea typeface="楷体_GB2312" charset="0"/>
              </a:rPr>
              <a:t>Status </a:t>
            </a:r>
            <a:r>
              <a:rPr lang="en-US" altLang="zh-CN" sz="2800" dirty="0" err="1">
                <a:solidFill>
                  <a:srgbClr val="990000"/>
                </a:solidFill>
                <a:ea typeface="楷体_GB2312" charset="0"/>
              </a:rPr>
              <a:t>CreatPolyn</a:t>
            </a:r>
            <a:r>
              <a:rPr lang="en-US" altLang="zh-CN" sz="2800" dirty="0">
                <a:solidFill>
                  <a:srgbClr val="990000"/>
                </a:solidFill>
                <a:ea typeface="楷体_GB2312" charset="0"/>
              </a:rPr>
              <a:t> ( </a:t>
            </a:r>
            <a:r>
              <a:rPr lang="en-US" altLang="zh-CN" sz="2800" dirty="0" err="1">
                <a:solidFill>
                  <a:srgbClr val="990000"/>
                </a:solidFill>
                <a:ea typeface="楷体_GB2312" charset="0"/>
              </a:rPr>
              <a:t>polynomail</a:t>
            </a:r>
            <a:r>
              <a:rPr lang="en-US" altLang="zh-CN" sz="2800" dirty="0">
                <a:solidFill>
                  <a:srgbClr val="990000"/>
                </a:solidFill>
                <a:ea typeface="楷体_GB2312" charset="0"/>
              </a:rPr>
              <a:t> </a:t>
            </a:r>
            <a:r>
              <a:rPr lang="en-US" altLang="zh-CN" sz="2800" b="1" dirty="0">
                <a:solidFill>
                  <a:srgbClr val="990000"/>
                </a:solidFill>
                <a:ea typeface="楷体_GB2312" charset="0"/>
              </a:rPr>
              <a:t>&amp;</a:t>
            </a:r>
            <a:r>
              <a:rPr lang="en-US" altLang="zh-CN" sz="2800" dirty="0">
                <a:solidFill>
                  <a:srgbClr val="990000"/>
                </a:solidFill>
                <a:ea typeface="楷体_GB2312" charset="0"/>
              </a:rPr>
              <a:t>P, </a:t>
            </a:r>
            <a:r>
              <a:rPr lang="en-US" altLang="zh-CN" sz="2800" b="1" dirty="0">
                <a:solidFill>
                  <a:srgbClr val="990000"/>
                </a:solidFill>
                <a:ea typeface="楷体_GB2312" charset="0"/>
              </a:rPr>
              <a:t>int </a:t>
            </a:r>
            <a:r>
              <a:rPr lang="en-US" altLang="zh-CN" sz="2800" dirty="0">
                <a:solidFill>
                  <a:srgbClr val="990000"/>
                </a:solidFill>
                <a:ea typeface="楷体_GB2312" charset="0"/>
              </a:rPr>
              <a:t>m ) </a:t>
            </a:r>
            <a:r>
              <a:rPr lang="en-US" altLang="zh-CN" sz="2800" b="1" dirty="0">
                <a:solidFill>
                  <a:srgbClr val="990000"/>
                </a:solidFill>
                <a:ea typeface="楷体_GB2312" charset="0"/>
              </a:rPr>
              <a:t>{</a:t>
            </a:r>
            <a:endParaRPr lang="en-US" altLang="zh-CN" sz="2800" dirty="0">
              <a:solidFill>
                <a:srgbClr val="990000"/>
              </a:solidFill>
              <a:ea typeface="楷体_GB2312" charset="0"/>
            </a:endParaRPr>
          </a:p>
          <a:p>
            <a:pPr eaLnBrk="1" hangingPunct="1">
              <a:lnSpc>
                <a:spcPct val="140000"/>
              </a:lnSpc>
              <a:defRPr/>
            </a:pPr>
            <a:r>
              <a:rPr lang="en-US" altLang="zh-CN" sz="2800" b="1" dirty="0">
                <a:solidFill>
                  <a:srgbClr val="990000"/>
                </a:solidFill>
                <a:ea typeface="楷体_GB2312" charset="0"/>
              </a:rPr>
              <a:t> </a:t>
            </a:r>
            <a:r>
              <a:rPr lang="en-US" altLang="zh-CN" sz="2400" b="1" dirty="0">
                <a:solidFill>
                  <a:srgbClr val="660033"/>
                </a:solidFill>
                <a:ea typeface="楷体_GB2312" charset="0"/>
              </a:rPr>
              <a:t>// </a:t>
            </a:r>
            <a:r>
              <a:rPr lang="zh-CN" altLang="en-US" sz="2400" b="1" dirty="0">
                <a:solidFill>
                  <a:srgbClr val="660033"/>
                </a:solidFill>
                <a:ea typeface="楷体_GB2312" charset="0"/>
              </a:rPr>
              <a:t>输入</a:t>
            </a:r>
            <a:r>
              <a:rPr lang="en-US" altLang="zh-CN" sz="2400" b="1" dirty="0">
                <a:solidFill>
                  <a:srgbClr val="660033"/>
                </a:solidFill>
                <a:ea typeface="楷体_GB2312" charset="0"/>
              </a:rPr>
              <a:t>m</a:t>
            </a:r>
            <a:r>
              <a:rPr lang="zh-CN" altLang="en-US" sz="2400" b="1" dirty="0">
                <a:solidFill>
                  <a:srgbClr val="660033"/>
                </a:solidFill>
                <a:ea typeface="楷体_GB2312" charset="0"/>
              </a:rPr>
              <a:t>项的系数和指数，建立表示一元多项式的有序链表</a:t>
            </a:r>
            <a:r>
              <a:rPr lang="en-US" altLang="zh-CN" sz="2400" b="1" dirty="0">
                <a:solidFill>
                  <a:srgbClr val="660033"/>
                </a:solidFill>
                <a:ea typeface="楷体_GB2312" charset="0"/>
              </a:rPr>
              <a:t>P</a:t>
            </a:r>
            <a:endParaRPr lang="en-US" altLang="zh-CN" sz="2400" b="1" dirty="0">
              <a:solidFill>
                <a:srgbClr val="660033"/>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r>
              <a:rPr lang="en-US" altLang="zh-CN" sz="2800" b="1" dirty="0">
                <a:solidFill>
                  <a:srgbClr val="990000"/>
                </a:solidFill>
                <a:ea typeface="楷体_GB2312" charset="0"/>
              </a:rPr>
              <a:t>} </a:t>
            </a:r>
            <a:r>
              <a:rPr lang="en-US" altLang="zh-CN" sz="2800" dirty="0">
                <a:solidFill>
                  <a:srgbClr val="990000"/>
                </a:solidFill>
                <a:ea typeface="楷体_GB2312" charset="0"/>
              </a:rPr>
              <a:t>// </a:t>
            </a:r>
            <a:r>
              <a:rPr lang="en-US" altLang="zh-CN" sz="2800" dirty="0" err="1">
                <a:solidFill>
                  <a:srgbClr val="990000"/>
                </a:solidFill>
                <a:ea typeface="楷体_GB2312" charset="0"/>
              </a:rPr>
              <a:t>CreatPolyn</a:t>
            </a:r>
            <a:endParaRPr lang="en-US" altLang="zh-CN" sz="2800" dirty="0">
              <a:solidFill>
                <a:srgbClr val="990000"/>
              </a:solidFill>
            </a:endParaRPr>
          </a:p>
        </p:txBody>
      </p:sp>
      <p:sp>
        <p:nvSpPr>
          <p:cNvPr id="1007619" name="Rectangle 3"/>
          <p:cNvSpPr>
            <a:spLocks noChangeArrowheads="1"/>
          </p:cNvSpPr>
          <p:nvPr/>
        </p:nvSpPr>
        <p:spPr bwMode="auto">
          <a:xfrm>
            <a:off x="685800" y="1371600"/>
            <a:ext cx="7585731" cy="1067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dirty="0" err="1">
                <a:solidFill>
                  <a:srgbClr val="990000"/>
                </a:solidFill>
                <a:ea typeface="楷体_GB2312" charset="0"/>
              </a:rPr>
              <a:t>InitList</a:t>
            </a:r>
            <a:r>
              <a:rPr lang="en-US" altLang="zh-CN" sz="2800" dirty="0">
                <a:solidFill>
                  <a:srgbClr val="990000"/>
                </a:solidFill>
                <a:ea typeface="楷体_GB2312" charset="0"/>
              </a:rPr>
              <a:t> (P); </a:t>
            </a:r>
            <a:r>
              <a:rPr lang="en-US" altLang="zh-CN" sz="2800" dirty="0" err="1">
                <a:solidFill>
                  <a:srgbClr val="990000"/>
                </a:solidFill>
                <a:ea typeface="楷体_GB2312" charset="0"/>
              </a:rPr>
              <a:t>e.coef</a:t>
            </a:r>
            <a:r>
              <a:rPr lang="en-US" altLang="zh-CN" sz="2800" dirty="0">
                <a:solidFill>
                  <a:srgbClr val="990000"/>
                </a:solidFill>
                <a:ea typeface="楷体_GB2312" charset="0"/>
              </a:rPr>
              <a:t> = 0.0;  </a:t>
            </a:r>
            <a:r>
              <a:rPr lang="en-US" altLang="zh-CN" sz="2800" dirty="0" err="1">
                <a:solidFill>
                  <a:srgbClr val="990000"/>
                </a:solidFill>
                <a:ea typeface="楷体_GB2312" charset="0"/>
              </a:rPr>
              <a:t>e.expn</a:t>
            </a:r>
            <a:r>
              <a:rPr lang="en-US" altLang="zh-CN" sz="2800" dirty="0">
                <a:solidFill>
                  <a:srgbClr val="990000"/>
                </a:solidFill>
                <a:ea typeface="楷体_GB2312" charset="0"/>
              </a:rPr>
              <a:t> = -1; </a:t>
            </a:r>
            <a:endParaRPr lang="en-US" altLang="zh-CN" sz="2800" dirty="0">
              <a:solidFill>
                <a:srgbClr val="990000"/>
              </a:solidFill>
              <a:ea typeface="楷体_GB2312" charset="0"/>
            </a:endParaRPr>
          </a:p>
          <a:p>
            <a:pPr eaLnBrk="1" hangingPunct="1">
              <a:lnSpc>
                <a:spcPct val="115000"/>
              </a:lnSpc>
              <a:defRPr/>
            </a:pPr>
            <a:r>
              <a:rPr lang="en-US" altLang="zh-CN" sz="2800" dirty="0" err="1">
                <a:solidFill>
                  <a:srgbClr val="990000"/>
                </a:solidFill>
                <a:ea typeface="楷体_GB2312" charset="0"/>
              </a:rPr>
              <a:t>SetCurElem</a:t>
            </a:r>
            <a:r>
              <a:rPr lang="en-US" altLang="zh-CN" sz="2800" dirty="0">
                <a:solidFill>
                  <a:srgbClr val="990000"/>
                </a:solidFill>
                <a:ea typeface="楷体_GB2312" charset="0"/>
              </a:rPr>
              <a:t> (h, e);  // </a:t>
            </a:r>
            <a:r>
              <a:rPr lang="zh-CN" altLang="en-US" sz="2800" dirty="0">
                <a:solidFill>
                  <a:srgbClr val="990000"/>
                </a:solidFill>
                <a:ea typeface="楷体_GB2312" charset="0"/>
              </a:rPr>
              <a:t>设置头结点的数据元素</a:t>
            </a:r>
            <a:endParaRPr lang="zh-CN" altLang="en-US" sz="2800" dirty="0">
              <a:solidFill>
                <a:srgbClr val="990000"/>
              </a:solidFill>
              <a:ea typeface="楷体_GB2312" charset="0"/>
            </a:endParaRPr>
          </a:p>
        </p:txBody>
      </p:sp>
      <p:sp>
        <p:nvSpPr>
          <p:cNvPr id="1007620" name="Rectangle 4"/>
          <p:cNvSpPr>
            <a:spLocks noChangeArrowheads="1"/>
          </p:cNvSpPr>
          <p:nvPr/>
        </p:nvSpPr>
        <p:spPr bwMode="auto">
          <a:xfrm>
            <a:off x="685800" y="2514600"/>
            <a:ext cx="840005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a:solidFill>
                  <a:srgbClr val="990000"/>
                </a:solidFill>
                <a:ea typeface="楷体_GB2312" charset="0"/>
              </a:rPr>
              <a:t>for</a:t>
            </a:r>
            <a:r>
              <a:rPr lang="en-US" altLang="zh-CN" sz="2800">
                <a:solidFill>
                  <a:srgbClr val="990000"/>
                </a:solidFill>
                <a:ea typeface="楷体_GB2312" charset="0"/>
              </a:rPr>
              <a:t> ( i=1; i&lt;=m; ++i ) </a:t>
            </a:r>
            <a:r>
              <a:rPr lang="en-US" altLang="zh-CN" sz="2800" b="1">
                <a:solidFill>
                  <a:srgbClr val="990000"/>
                </a:solidFill>
                <a:ea typeface="楷体_GB2312" charset="0"/>
              </a:rPr>
              <a:t>{  </a:t>
            </a:r>
            <a:r>
              <a:rPr lang="en-US" altLang="zh-CN" sz="2800">
                <a:solidFill>
                  <a:srgbClr val="990000"/>
                </a:solidFill>
                <a:ea typeface="楷体_GB2312" charset="0"/>
              </a:rPr>
              <a:t>// </a:t>
            </a:r>
            <a:r>
              <a:rPr lang="zh-CN" altLang="en-US" sz="2800">
                <a:solidFill>
                  <a:srgbClr val="990000"/>
                </a:solidFill>
                <a:ea typeface="楷体_GB2312" charset="0"/>
              </a:rPr>
              <a:t>依次输入 </a:t>
            </a:r>
            <a:r>
              <a:rPr lang="en-US" altLang="zh-CN" sz="2800">
                <a:solidFill>
                  <a:srgbClr val="990000"/>
                </a:solidFill>
                <a:ea typeface="楷体_GB2312" charset="0"/>
              </a:rPr>
              <a:t>m </a:t>
            </a:r>
            <a:r>
              <a:rPr lang="zh-CN" altLang="en-US" sz="2800">
                <a:solidFill>
                  <a:srgbClr val="990000"/>
                </a:solidFill>
                <a:ea typeface="楷体_GB2312" charset="0"/>
              </a:rPr>
              <a:t>个非零项</a:t>
            </a:r>
            <a:endParaRPr lang="zh-CN" altLang="en-US" sz="2800">
              <a:solidFill>
                <a:srgbClr val="990000"/>
              </a:solidFill>
              <a:ea typeface="楷体_GB2312" charset="0"/>
            </a:endParaRPr>
          </a:p>
          <a:p>
            <a:pPr eaLnBrk="1" hangingPunct="1">
              <a:lnSpc>
                <a:spcPct val="120000"/>
              </a:lnSpc>
              <a:defRPr/>
            </a:pPr>
            <a:endParaRPr lang="zh-CN" altLang="en-US" sz="2800" b="1">
              <a:solidFill>
                <a:srgbClr val="990000"/>
              </a:solidFill>
              <a:ea typeface="楷体_GB2312" charset="0"/>
            </a:endParaRPr>
          </a:p>
          <a:p>
            <a:pPr eaLnBrk="1" hangingPunct="1">
              <a:lnSpc>
                <a:spcPct val="120000"/>
              </a:lnSpc>
              <a:defRPr/>
            </a:pPr>
            <a:endParaRPr lang="zh-CN" altLang="en-US" sz="2800" b="1">
              <a:solidFill>
                <a:srgbClr val="990000"/>
              </a:solidFill>
              <a:ea typeface="楷体_GB2312" charset="0"/>
            </a:endParaRPr>
          </a:p>
          <a:p>
            <a:pPr eaLnBrk="1" hangingPunct="1">
              <a:lnSpc>
                <a:spcPct val="120000"/>
              </a:lnSpc>
              <a:defRPr/>
            </a:pPr>
            <a:endParaRPr lang="zh-CN" altLang="en-US" sz="2800" b="1">
              <a:solidFill>
                <a:srgbClr val="990000"/>
              </a:solidFill>
              <a:ea typeface="楷体_GB2312" charset="0"/>
            </a:endParaRPr>
          </a:p>
          <a:p>
            <a:pPr eaLnBrk="1" hangingPunct="1">
              <a:lnSpc>
                <a:spcPct val="110000"/>
              </a:lnSpc>
              <a:defRPr/>
            </a:pPr>
            <a:r>
              <a:rPr lang="en-US" altLang="zh-CN" sz="2800" b="1">
                <a:solidFill>
                  <a:srgbClr val="990000"/>
                </a:solidFill>
                <a:ea typeface="楷体_GB2312" charset="0"/>
              </a:rPr>
              <a:t>}</a:t>
            </a:r>
            <a:endParaRPr lang="en-US" altLang="zh-CN" sz="2800" b="1">
              <a:solidFill>
                <a:srgbClr val="990000"/>
              </a:solidFill>
              <a:ea typeface="楷体_GB2312" charset="0"/>
            </a:endParaRPr>
          </a:p>
          <a:p>
            <a:pPr eaLnBrk="1" hangingPunct="1">
              <a:lnSpc>
                <a:spcPct val="110000"/>
              </a:lnSpc>
              <a:defRPr/>
            </a:pPr>
            <a:r>
              <a:rPr lang="en-US" altLang="zh-CN" sz="2800" b="1">
                <a:solidFill>
                  <a:srgbClr val="990000"/>
                </a:solidFill>
                <a:ea typeface="楷体_GB2312" charset="0"/>
              </a:rPr>
              <a:t>return</a:t>
            </a:r>
            <a:r>
              <a:rPr lang="en-US" altLang="zh-CN" sz="2800">
                <a:solidFill>
                  <a:srgbClr val="990000"/>
                </a:solidFill>
                <a:ea typeface="楷体_GB2312" charset="0"/>
              </a:rPr>
              <a:t> OK;</a:t>
            </a:r>
            <a:endParaRPr lang="en-US" altLang="zh-CN" sz="2800" b="1">
              <a:solidFill>
                <a:srgbClr val="990000"/>
              </a:solidFill>
              <a:ea typeface="楷体_GB2312" charset="0"/>
            </a:endParaRPr>
          </a:p>
        </p:txBody>
      </p:sp>
      <p:sp>
        <p:nvSpPr>
          <p:cNvPr id="1007621" name="Rectangle 5"/>
          <p:cNvSpPr>
            <a:spLocks noChangeArrowheads="1"/>
          </p:cNvSpPr>
          <p:nvPr/>
        </p:nvSpPr>
        <p:spPr bwMode="auto">
          <a:xfrm>
            <a:off x="1117600" y="3048000"/>
            <a:ext cx="7281160" cy="1681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en-US" altLang="zh-CN" sz="2800" b="1">
                <a:solidFill>
                  <a:srgbClr val="990000"/>
                </a:solidFill>
                <a:ea typeface="楷体_GB2312" charset="0"/>
              </a:rPr>
              <a:t>scanf </a:t>
            </a:r>
            <a:r>
              <a:rPr lang="en-US" altLang="zh-CN" sz="2800">
                <a:solidFill>
                  <a:srgbClr val="990000"/>
                </a:solidFill>
                <a:ea typeface="楷体_GB2312" charset="0"/>
              </a:rPr>
              <a:t>(e.coef, e.expn);</a:t>
            </a:r>
            <a:endParaRPr lang="en-US" altLang="zh-CN" sz="2800">
              <a:solidFill>
                <a:srgbClr val="990000"/>
              </a:solidFill>
              <a:ea typeface="楷体_GB2312" charset="0"/>
            </a:endParaRPr>
          </a:p>
          <a:p>
            <a:pPr eaLnBrk="1" hangingPunct="1">
              <a:lnSpc>
                <a:spcPct val="125000"/>
              </a:lnSpc>
              <a:defRPr/>
            </a:pPr>
            <a:r>
              <a:rPr lang="en-US" altLang="zh-CN" sz="2800" b="1">
                <a:solidFill>
                  <a:srgbClr val="990000"/>
                </a:solidFill>
                <a:ea typeface="楷体_GB2312" charset="0"/>
              </a:rPr>
              <a:t>if</a:t>
            </a:r>
            <a:r>
              <a:rPr lang="en-US" altLang="zh-CN" sz="2800">
                <a:solidFill>
                  <a:srgbClr val="990000"/>
                </a:solidFill>
                <a:ea typeface="楷体_GB2312" charset="0"/>
              </a:rPr>
              <a:t> (</a:t>
            </a:r>
            <a:r>
              <a:rPr lang="en-US" altLang="zh-CN" sz="2800" b="1">
                <a:solidFill>
                  <a:srgbClr val="990000"/>
                </a:solidFill>
                <a:ea typeface="楷体_GB2312" charset="0"/>
              </a:rPr>
              <a:t>!</a:t>
            </a:r>
            <a:r>
              <a:rPr lang="en-US" altLang="zh-CN" sz="2800">
                <a:solidFill>
                  <a:srgbClr val="990000"/>
                </a:solidFill>
                <a:ea typeface="楷体_GB2312" charset="0"/>
              </a:rPr>
              <a:t>LocateElem ( P, e, (</a:t>
            </a:r>
            <a:r>
              <a:rPr lang="en-US" altLang="zh-CN" sz="2800" b="1">
                <a:solidFill>
                  <a:srgbClr val="990000"/>
                </a:solidFill>
                <a:ea typeface="楷体_GB2312" charset="0"/>
              </a:rPr>
              <a:t>*</a:t>
            </a:r>
            <a:r>
              <a:rPr lang="en-US" altLang="zh-CN" sz="2800">
                <a:solidFill>
                  <a:srgbClr val="990000"/>
                </a:solidFill>
                <a:ea typeface="楷体_GB2312" charset="0"/>
              </a:rPr>
              <a:t>cmp)()) ) </a:t>
            </a:r>
            <a:r>
              <a:rPr lang="en-US" altLang="zh-CN" sz="2800" b="1">
                <a:solidFill>
                  <a:srgbClr val="990000"/>
                </a:solidFill>
                <a:ea typeface="楷体_GB2312" charset="0"/>
              </a:rPr>
              <a:t>  </a:t>
            </a:r>
            <a:endParaRPr lang="en-US" altLang="zh-CN" sz="2800">
              <a:solidFill>
                <a:srgbClr val="990000"/>
              </a:solidFill>
              <a:ea typeface="楷体_GB2312" charset="0"/>
            </a:endParaRPr>
          </a:p>
          <a:p>
            <a:pPr eaLnBrk="1" hangingPunct="1">
              <a:lnSpc>
                <a:spcPct val="125000"/>
              </a:lnSpc>
              <a:defRPr/>
            </a:pPr>
            <a:r>
              <a:rPr lang="en-US" altLang="zh-CN" sz="2800">
                <a:solidFill>
                  <a:srgbClr val="990000"/>
                </a:solidFill>
                <a:ea typeface="楷体_GB2312" charset="0"/>
              </a:rPr>
              <a:t>     </a:t>
            </a:r>
            <a:r>
              <a:rPr lang="en-US" altLang="zh-CN" sz="2800" b="1">
                <a:solidFill>
                  <a:srgbClr val="990000"/>
                </a:solidFill>
                <a:ea typeface="楷体_GB2312" charset="0"/>
              </a:rPr>
              <a:t>if</a:t>
            </a:r>
            <a:r>
              <a:rPr lang="en-US" altLang="zh-CN" sz="2800">
                <a:solidFill>
                  <a:srgbClr val="990000"/>
                </a:solidFill>
                <a:ea typeface="楷体_GB2312" charset="0"/>
              </a:rPr>
              <a:t> ( </a:t>
            </a:r>
            <a:r>
              <a:rPr lang="en-US" altLang="zh-CN" sz="2800" b="1">
                <a:solidFill>
                  <a:srgbClr val="990000"/>
                </a:solidFill>
                <a:ea typeface="楷体_GB2312" charset="0"/>
              </a:rPr>
              <a:t>!</a:t>
            </a:r>
            <a:r>
              <a:rPr lang="en-US" altLang="zh-CN" sz="2800">
                <a:solidFill>
                  <a:srgbClr val="990000"/>
                </a:solidFill>
                <a:ea typeface="楷体_GB2312" charset="0"/>
              </a:rPr>
              <a:t>InsAfter ( P, e ) )   </a:t>
            </a:r>
            <a:r>
              <a:rPr lang="en-US" altLang="zh-CN" sz="2800" b="1">
                <a:solidFill>
                  <a:srgbClr val="990000"/>
                </a:solidFill>
                <a:ea typeface="楷体_GB2312" charset="0"/>
              </a:rPr>
              <a:t>return</a:t>
            </a:r>
            <a:r>
              <a:rPr lang="en-US" altLang="zh-CN" sz="2800">
                <a:solidFill>
                  <a:srgbClr val="990000"/>
                </a:solidFill>
                <a:ea typeface="楷体_GB2312" charset="0"/>
              </a:rPr>
              <a:t> ERROR;  </a:t>
            </a:r>
            <a:endParaRPr lang="en-US" altLang="zh-CN" sz="2800">
              <a:solidFill>
                <a:srgbClr val="990000"/>
              </a:solidFill>
              <a:ea typeface="楷体_GB2312" charset="0"/>
            </a:endParaRPr>
          </a:p>
        </p:txBody>
      </p:sp>
      <p:sp>
        <p:nvSpPr>
          <p:cNvPr id="1007622" name="Comment 6"/>
          <p:cNvSpPr>
            <a:spLocks noChangeArrowheads="1"/>
          </p:cNvSpPr>
          <p:nvPr/>
        </p:nvSpPr>
        <p:spPr bwMode="auto">
          <a:xfrm>
            <a:off x="3200400" y="5232400"/>
            <a:ext cx="5867400" cy="1169551"/>
          </a:xfrm>
          <a:prstGeom prst="rect">
            <a:avLst/>
          </a:prstGeom>
          <a:solidFill>
            <a:srgbClr val="FCFDC6"/>
          </a:solidFill>
          <a:ln w="9525">
            <a:solidFill>
              <a:schemeClr val="tx1"/>
            </a:solidFill>
            <a:miter lim="800000"/>
          </a:ln>
          <a:effectLst>
            <a:outerShdw blurRad="63500" dist="107763" dir="2700000" algn="ctr" rotWithShape="0">
              <a:schemeClr val="bg2">
                <a:alpha val="74997"/>
              </a:schemeClr>
            </a:outerShdw>
          </a:effectLst>
        </p:spPr>
        <p:txBody>
          <a:bodyPr>
            <a:spAutoFit/>
          </a:bodyPr>
          <a:lstStyle/>
          <a:p>
            <a:pPr eaLnBrk="1" hangingPunct="1">
              <a:spcBef>
                <a:spcPct val="50000"/>
              </a:spcBef>
              <a:defRPr/>
            </a:pPr>
            <a:r>
              <a:rPr kumimoji="0" lang="zh-CN" altLang="en-US" sz="2800" b="1">
                <a:solidFill>
                  <a:srgbClr val="800000"/>
                </a:solidFill>
                <a:latin typeface="楷体_GB2312" charset="0"/>
                <a:ea typeface="楷体_GB2312" charset="0"/>
              </a:rPr>
              <a:t>注意</a:t>
            </a:r>
            <a:r>
              <a:rPr kumimoji="0" lang="en-US" altLang="zh-CN" sz="2800" b="1">
                <a:solidFill>
                  <a:srgbClr val="800000"/>
                </a:solidFill>
                <a:latin typeface="楷体_GB2312" charset="0"/>
                <a:ea typeface="楷体_GB2312" charset="0"/>
              </a:rPr>
              <a:t>: </a:t>
            </a:r>
            <a:r>
              <a:rPr kumimoji="0" lang="en-US" altLang="zh-CN" sz="2800" b="1">
                <a:solidFill>
                  <a:srgbClr val="800000"/>
                </a:solidFill>
                <a:ea typeface="楷体_GB2312" charset="0"/>
              </a:rPr>
              <a:t>1</a:t>
            </a:r>
            <a:r>
              <a:rPr kumimoji="0" lang="en-US" altLang="zh-CN" sz="2800" b="1">
                <a:solidFill>
                  <a:srgbClr val="800000"/>
                </a:solidFill>
                <a:latin typeface="楷体_GB2312" charset="0"/>
                <a:ea typeface="楷体_GB2312" charset="0"/>
              </a:rPr>
              <a:t>.</a:t>
            </a:r>
            <a:r>
              <a:rPr kumimoji="0" lang="zh-CN" altLang="en-US" sz="2800" b="1">
                <a:solidFill>
                  <a:srgbClr val="800000"/>
                </a:solidFill>
                <a:latin typeface="楷体_GB2312" charset="0"/>
                <a:ea typeface="楷体_GB2312" charset="0"/>
              </a:rPr>
              <a:t>输入次序不限</a:t>
            </a:r>
            <a:r>
              <a:rPr kumimoji="0" lang="en-US" altLang="zh-CN" sz="2800" b="1">
                <a:solidFill>
                  <a:srgbClr val="800000"/>
                </a:solidFill>
                <a:latin typeface="楷体_GB2312" charset="0"/>
                <a:ea typeface="楷体_GB2312" charset="0"/>
              </a:rPr>
              <a:t>;</a:t>
            </a:r>
            <a:endParaRPr kumimoji="0" lang="en-US" altLang="zh-CN" sz="2800" b="1">
              <a:solidFill>
                <a:srgbClr val="800000"/>
              </a:solidFill>
              <a:latin typeface="楷体_GB2312" charset="0"/>
              <a:ea typeface="楷体_GB2312" charset="0"/>
            </a:endParaRPr>
          </a:p>
          <a:p>
            <a:pPr eaLnBrk="1" hangingPunct="1">
              <a:spcBef>
                <a:spcPct val="50000"/>
              </a:spcBef>
              <a:defRPr/>
            </a:pPr>
            <a:r>
              <a:rPr kumimoji="0" lang="en-US" altLang="zh-CN" sz="2800" b="1">
                <a:solidFill>
                  <a:srgbClr val="800000"/>
                </a:solidFill>
                <a:ea typeface="楷体_GB2312" charset="0"/>
              </a:rPr>
              <a:t>2</a:t>
            </a:r>
            <a:r>
              <a:rPr kumimoji="0" lang="en-US" altLang="zh-CN" sz="2800" b="1">
                <a:solidFill>
                  <a:srgbClr val="800000"/>
                </a:solidFill>
                <a:latin typeface="楷体_GB2312" charset="0"/>
                <a:ea typeface="楷体_GB2312" charset="0"/>
              </a:rPr>
              <a:t>.</a:t>
            </a:r>
            <a:r>
              <a:rPr kumimoji="0" lang="zh-CN" altLang="en-US" sz="2800" b="1">
                <a:solidFill>
                  <a:srgbClr val="800000"/>
                </a:solidFill>
                <a:latin typeface="楷体_GB2312" charset="0"/>
                <a:ea typeface="楷体_GB2312" charset="0"/>
              </a:rPr>
              <a:t>指数相同的项只能输入一次</a:t>
            </a:r>
            <a:endParaRPr lang="zh-CN" altLang="en-US" sz="2800">
              <a:solidFill>
                <a:srgbClr val="000000"/>
              </a:solidFill>
              <a:latin typeface="楷体_GB2312" charset="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07622"/>
                                        </p:tgtEl>
                                        <p:attrNameLst>
                                          <p:attrName>style.visibility</p:attrName>
                                        </p:attrNameLst>
                                      </p:cBhvr>
                                      <p:to>
                                        <p:strVal val="visible"/>
                                      </p:to>
                                    </p:set>
                                    <p:anim calcmode="lin" valueType="num">
                                      <p:cBhvr additive="base">
                                        <p:cTn id="7" dur="500" fill="hold"/>
                                        <p:tgtEl>
                                          <p:spTgt spid="1007622"/>
                                        </p:tgtEl>
                                        <p:attrNameLst>
                                          <p:attrName>ppt_x</p:attrName>
                                        </p:attrNameLst>
                                      </p:cBhvr>
                                      <p:tavLst>
                                        <p:tav tm="0">
                                          <p:val>
                                            <p:strVal val="1+#ppt_w/2"/>
                                          </p:val>
                                        </p:tav>
                                        <p:tav tm="100000">
                                          <p:val>
                                            <p:strVal val="#ppt_x"/>
                                          </p:val>
                                        </p:tav>
                                      </p:tavLst>
                                    </p:anim>
                                    <p:anim calcmode="lin" valueType="num">
                                      <p:cBhvr additive="base">
                                        <p:cTn id="8" dur="500" fill="hold"/>
                                        <p:tgtEl>
                                          <p:spTgt spid="10076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7622" grpId="0" animBg="1"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0769" name="Group 2"/>
          <p:cNvGrpSpPr/>
          <p:nvPr/>
        </p:nvGrpSpPr>
        <p:grpSpPr bwMode="auto">
          <a:xfrm>
            <a:off x="665163" y="3352800"/>
            <a:ext cx="7635875" cy="3243806"/>
            <a:chOff x="384" y="1603"/>
            <a:chExt cx="4810" cy="2170"/>
          </a:xfrm>
        </p:grpSpPr>
        <p:sp>
          <p:nvSpPr>
            <p:cNvPr id="1041411" name="Rectangle 3" descr="羊皮纸"/>
            <p:cNvSpPr>
              <a:spLocks noChangeArrowheads="1"/>
            </p:cNvSpPr>
            <p:nvPr/>
          </p:nvSpPr>
          <p:spPr bwMode="auto">
            <a:xfrm>
              <a:off x="1392" y="1632"/>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12" name="Text Box 4"/>
            <p:cNvSpPr txBox="1">
              <a:spLocks noChangeArrowheads="1"/>
            </p:cNvSpPr>
            <p:nvPr/>
          </p:nvSpPr>
          <p:spPr bwMode="auto">
            <a:xfrm>
              <a:off x="384" y="1632"/>
              <a:ext cx="78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1413" name="Text Box 5"/>
            <p:cNvSpPr txBox="1">
              <a:spLocks noChangeArrowheads="1"/>
            </p:cNvSpPr>
            <p:nvPr/>
          </p:nvSpPr>
          <p:spPr bwMode="auto">
            <a:xfrm>
              <a:off x="384" y="2121"/>
              <a:ext cx="78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1414" name="Line 6"/>
            <p:cNvSpPr>
              <a:spLocks noChangeShapeType="1"/>
            </p:cNvSpPr>
            <p:nvPr/>
          </p:nvSpPr>
          <p:spPr bwMode="auto">
            <a:xfrm>
              <a:off x="1680" y="163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15" name="Rectangle 7" descr="花束"/>
            <p:cNvSpPr>
              <a:spLocks noChangeArrowheads="1"/>
            </p:cNvSpPr>
            <p:nvPr/>
          </p:nvSpPr>
          <p:spPr bwMode="auto">
            <a:xfrm>
              <a:off x="1920" y="1632"/>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16" name="Rectangle 8" descr="羊皮纸"/>
            <p:cNvSpPr>
              <a:spLocks noChangeArrowheads="1"/>
            </p:cNvSpPr>
            <p:nvPr/>
          </p:nvSpPr>
          <p:spPr bwMode="auto">
            <a:xfrm>
              <a:off x="1392" y="2112"/>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17" name="Line 9"/>
            <p:cNvSpPr>
              <a:spLocks noChangeShapeType="1"/>
            </p:cNvSpPr>
            <p:nvPr/>
          </p:nvSpPr>
          <p:spPr bwMode="auto">
            <a:xfrm>
              <a:off x="1680" y="211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18" name="Rectangle 10" descr="花束"/>
            <p:cNvSpPr>
              <a:spLocks noChangeArrowheads="1"/>
            </p:cNvSpPr>
            <p:nvPr/>
          </p:nvSpPr>
          <p:spPr bwMode="auto">
            <a:xfrm>
              <a:off x="1920" y="2112"/>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19" name="Rectangle 11" descr="羊皮纸"/>
            <p:cNvSpPr>
              <a:spLocks noChangeArrowheads="1"/>
            </p:cNvSpPr>
            <p:nvPr/>
          </p:nvSpPr>
          <p:spPr bwMode="auto">
            <a:xfrm>
              <a:off x="2400" y="1632"/>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0" name="Line 12"/>
            <p:cNvSpPr>
              <a:spLocks noChangeShapeType="1"/>
            </p:cNvSpPr>
            <p:nvPr/>
          </p:nvSpPr>
          <p:spPr bwMode="auto">
            <a:xfrm>
              <a:off x="2688" y="163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21" name="Rectangle 13" descr="花束"/>
            <p:cNvSpPr>
              <a:spLocks noChangeArrowheads="1"/>
            </p:cNvSpPr>
            <p:nvPr/>
          </p:nvSpPr>
          <p:spPr bwMode="auto">
            <a:xfrm>
              <a:off x="2928" y="1632"/>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2" name="Rectangle 14" descr="羊皮纸"/>
            <p:cNvSpPr>
              <a:spLocks noChangeArrowheads="1"/>
            </p:cNvSpPr>
            <p:nvPr/>
          </p:nvSpPr>
          <p:spPr bwMode="auto">
            <a:xfrm>
              <a:off x="2400" y="2112"/>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3" name="Line 15"/>
            <p:cNvSpPr>
              <a:spLocks noChangeShapeType="1"/>
            </p:cNvSpPr>
            <p:nvPr/>
          </p:nvSpPr>
          <p:spPr bwMode="auto">
            <a:xfrm>
              <a:off x="2688" y="211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24" name="Rectangle 16" descr="花束"/>
            <p:cNvSpPr>
              <a:spLocks noChangeArrowheads="1"/>
            </p:cNvSpPr>
            <p:nvPr/>
          </p:nvSpPr>
          <p:spPr bwMode="auto">
            <a:xfrm>
              <a:off x="2928" y="2112"/>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5" name="Rectangle 17" descr="羊皮纸"/>
            <p:cNvSpPr>
              <a:spLocks noChangeArrowheads="1"/>
            </p:cNvSpPr>
            <p:nvPr/>
          </p:nvSpPr>
          <p:spPr bwMode="auto">
            <a:xfrm>
              <a:off x="3408" y="1632"/>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6" name="Line 18"/>
            <p:cNvSpPr>
              <a:spLocks noChangeShapeType="1"/>
            </p:cNvSpPr>
            <p:nvPr/>
          </p:nvSpPr>
          <p:spPr bwMode="auto">
            <a:xfrm>
              <a:off x="3696" y="163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27" name="Rectangle 19" descr="花束"/>
            <p:cNvSpPr>
              <a:spLocks noChangeArrowheads="1"/>
            </p:cNvSpPr>
            <p:nvPr/>
          </p:nvSpPr>
          <p:spPr bwMode="auto">
            <a:xfrm>
              <a:off x="3984" y="1632"/>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8" name="Rectangle 20" descr="羊皮纸"/>
            <p:cNvSpPr>
              <a:spLocks noChangeArrowheads="1"/>
            </p:cNvSpPr>
            <p:nvPr/>
          </p:nvSpPr>
          <p:spPr bwMode="auto">
            <a:xfrm>
              <a:off x="3408" y="2112"/>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9" name="Line 21"/>
            <p:cNvSpPr>
              <a:spLocks noChangeShapeType="1"/>
            </p:cNvSpPr>
            <p:nvPr/>
          </p:nvSpPr>
          <p:spPr bwMode="auto">
            <a:xfrm>
              <a:off x="3696" y="211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0" name="Rectangle 22" descr="花束"/>
            <p:cNvSpPr>
              <a:spLocks noChangeArrowheads="1"/>
            </p:cNvSpPr>
            <p:nvPr/>
          </p:nvSpPr>
          <p:spPr bwMode="auto">
            <a:xfrm>
              <a:off x="3984" y="2112"/>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31" name="Rectangle 23" descr="羊皮纸"/>
            <p:cNvSpPr>
              <a:spLocks noChangeArrowheads="1"/>
            </p:cNvSpPr>
            <p:nvPr/>
          </p:nvSpPr>
          <p:spPr bwMode="auto">
            <a:xfrm>
              <a:off x="4416" y="2112"/>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32" name="Line 24"/>
            <p:cNvSpPr>
              <a:spLocks noChangeShapeType="1"/>
            </p:cNvSpPr>
            <p:nvPr/>
          </p:nvSpPr>
          <p:spPr bwMode="auto">
            <a:xfrm>
              <a:off x="4704" y="211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3" name="Rectangle 25" descr="花束"/>
            <p:cNvSpPr>
              <a:spLocks noChangeArrowheads="1"/>
            </p:cNvSpPr>
            <p:nvPr/>
          </p:nvSpPr>
          <p:spPr bwMode="auto">
            <a:xfrm>
              <a:off x="4992" y="2112"/>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34" name="Line 26"/>
            <p:cNvSpPr>
              <a:spLocks noChangeShapeType="1"/>
            </p:cNvSpPr>
            <p:nvPr/>
          </p:nvSpPr>
          <p:spPr bwMode="auto">
            <a:xfrm>
              <a:off x="1152" y="1824"/>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5" name="Line 27"/>
            <p:cNvSpPr>
              <a:spLocks noChangeShapeType="1"/>
            </p:cNvSpPr>
            <p:nvPr/>
          </p:nvSpPr>
          <p:spPr bwMode="auto">
            <a:xfrm>
              <a:off x="1152" y="2304"/>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6" name="Line 28"/>
            <p:cNvSpPr>
              <a:spLocks noChangeShapeType="1"/>
            </p:cNvSpPr>
            <p:nvPr/>
          </p:nvSpPr>
          <p:spPr bwMode="auto">
            <a:xfrm>
              <a:off x="2064" y="1824"/>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7" name="Line 29"/>
            <p:cNvSpPr>
              <a:spLocks noChangeShapeType="1"/>
            </p:cNvSpPr>
            <p:nvPr/>
          </p:nvSpPr>
          <p:spPr bwMode="auto">
            <a:xfrm>
              <a:off x="2064" y="2304"/>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8" name="Line 30"/>
            <p:cNvSpPr>
              <a:spLocks noChangeShapeType="1"/>
            </p:cNvSpPr>
            <p:nvPr/>
          </p:nvSpPr>
          <p:spPr bwMode="auto">
            <a:xfrm>
              <a:off x="3072" y="2304"/>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9" name="Line 31"/>
            <p:cNvSpPr>
              <a:spLocks noChangeShapeType="1"/>
            </p:cNvSpPr>
            <p:nvPr/>
          </p:nvSpPr>
          <p:spPr bwMode="auto">
            <a:xfrm>
              <a:off x="4080" y="2304"/>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40" name="Line 32"/>
            <p:cNvSpPr>
              <a:spLocks noChangeShapeType="1"/>
            </p:cNvSpPr>
            <p:nvPr/>
          </p:nvSpPr>
          <p:spPr bwMode="auto">
            <a:xfrm>
              <a:off x="3072" y="1824"/>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41" name="Text Box 33"/>
            <p:cNvSpPr txBox="1">
              <a:spLocks noChangeArrowheads="1"/>
            </p:cNvSpPr>
            <p:nvPr/>
          </p:nvSpPr>
          <p:spPr bwMode="auto">
            <a:xfrm>
              <a:off x="3953" y="1603"/>
              <a:ext cx="233"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1442" name="Text Box 34"/>
            <p:cNvSpPr txBox="1">
              <a:spLocks noChangeArrowheads="1"/>
            </p:cNvSpPr>
            <p:nvPr/>
          </p:nvSpPr>
          <p:spPr bwMode="auto">
            <a:xfrm>
              <a:off x="4961" y="2083"/>
              <a:ext cx="233"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1443" name="Text Box 35"/>
            <p:cNvSpPr txBox="1">
              <a:spLocks noChangeArrowheads="1"/>
            </p:cNvSpPr>
            <p:nvPr/>
          </p:nvSpPr>
          <p:spPr bwMode="auto">
            <a:xfrm>
              <a:off x="384" y="2889"/>
              <a:ext cx="78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1444" name="Rectangle 36" descr="羊皮纸"/>
            <p:cNvSpPr>
              <a:spLocks noChangeArrowheads="1"/>
            </p:cNvSpPr>
            <p:nvPr/>
          </p:nvSpPr>
          <p:spPr bwMode="auto">
            <a:xfrm>
              <a:off x="1392" y="2880"/>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45" name="Line 37"/>
            <p:cNvSpPr>
              <a:spLocks noChangeShapeType="1"/>
            </p:cNvSpPr>
            <p:nvPr/>
          </p:nvSpPr>
          <p:spPr bwMode="auto">
            <a:xfrm>
              <a:off x="1680" y="2880"/>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46" name="Rectangle 38" descr="花束"/>
            <p:cNvSpPr>
              <a:spLocks noChangeArrowheads="1"/>
            </p:cNvSpPr>
            <p:nvPr/>
          </p:nvSpPr>
          <p:spPr bwMode="auto">
            <a:xfrm>
              <a:off x="1920" y="288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47" name="Rectangle 39" descr="羊皮纸"/>
            <p:cNvSpPr>
              <a:spLocks noChangeArrowheads="1"/>
            </p:cNvSpPr>
            <p:nvPr/>
          </p:nvSpPr>
          <p:spPr bwMode="auto">
            <a:xfrm>
              <a:off x="2400" y="2880"/>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48" name="Line 40"/>
            <p:cNvSpPr>
              <a:spLocks noChangeShapeType="1"/>
            </p:cNvSpPr>
            <p:nvPr/>
          </p:nvSpPr>
          <p:spPr bwMode="auto">
            <a:xfrm>
              <a:off x="2688" y="2880"/>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49" name="Rectangle 41" descr="花束"/>
            <p:cNvSpPr>
              <a:spLocks noChangeArrowheads="1"/>
            </p:cNvSpPr>
            <p:nvPr/>
          </p:nvSpPr>
          <p:spPr bwMode="auto">
            <a:xfrm>
              <a:off x="2928" y="288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50" name="Rectangle 42" descr="羊皮纸"/>
            <p:cNvSpPr>
              <a:spLocks noChangeArrowheads="1"/>
            </p:cNvSpPr>
            <p:nvPr/>
          </p:nvSpPr>
          <p:spPr bwMode="auto">
            <a:xfrm>
              <a:off x="3408" y="2880"/>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51" name="Line 43"/>
            <p:cNvSpPr>
              <a:spLocks noChangeShapeType="1"/>
            </p:cNvSpPr>
            <p:nvPr/>
          </p:nvSpPr>
          <p:spPr bwMode="auto">
            <a:xfrm>
              <a:off x="3696" y="2880"/>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52" name="Rectangle 44" descr="花束"/>
            <p:cNvSpPr>
              <a:spLocks noChangeArrowheads="1"/>
            </p:cNvSpPr>
            <p:nvPr/>
          </p:nvSpPr>
          <p:spPr bwMode="auto">
            <a:xfrm>
              <a:off x="3984" y="2880"/>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53" name="Line 45"/>
            <p:cNvSpPr>
              <a:spLocks noChangeShapeType="1"/>
            </p:cNvSpPr>
            <p:nvPr/>
          </p:nvSpPr>
          <p:spPr bwMode="auto">
            <a:xfrm>
              <a:off x="1152" y="3072"/>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54" name="Line 46"/>
            <p:cNvSpPr>
              <a:spLocks noChangeShapeType="1"/>
            </p:cNvSpPr>
            <p:nvPr/>
          </p:nvSpPr>
          <p:spPr bwMode="auto">
            <a:xfrm>
              <a:off x="2064" y="3072"/>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55" name="Line 47"/>
            <p:cNvSpPr>
              <a:spLocks noChangeShapeType="1"/>
            </p:cNvSpPr>
            <p:nvPr/>
          </p:nvSpPr>
          <p:spPr bwMode="auto">
            <a:xfrm>
              <a:off x="3072" y="3072"/>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56" name="Rectangle 48" descr="羊皮纸"/>
            <p:cNvSpPr>
              <a:spLocks noChangeArrowheads="1"/>
            </p:cNvSpPr>
            <p:nvPr/>
          </p:nvSpPr>
          <p:spPr bwMode="auto">
            <a:xfrm>
              <a:off x="3408" y="3437"/>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57" name="Line 49"/>
            <p:cNvSpPr>
              <a:spLocks noChangeShapeType="1"/>
            </p:cNvSpPr>
            <p:nvPr/>
          </p:nvSpPr>
          <p:spPr bwMode="auto">
            <a:xfrm>
              <a:off x="3696" y="3437"/>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58" name="Rectangle 50" descr="花束"/>
            <p:cNvSpPr>
              <a:spLocks noChangeArrowheads="1"/>
            </p:cNvSpPr>
            <p:nvPr/>
          </p:nvSpPr>
          <p:spPr bwMode="auto">
            <a:xfrm>
              <a:off x="3984" y="3437"/>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59" name="Rectangle 51" descr="羊皮纸"/>
            <p:cNvSpPr>
              <a:spLocks noChangeArrowheads="1"/>
            </p:cNvSpPr>
            <p:nvPr/>
          </p:nvSpPr>
          <p:spPr bwMode="auto">
            <a:xfrm>
              <a:off x="4416" y="3437"/>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60" name="Line 52"/>
            <p:cNvSpPr>
              <a:spLocks noChangeShapeType="1"/>
            </p:cNvSpPr>
            <p:nvPr/>
          </p:nvSpPr>
          <p:spPr bwMode="auto">
            <a:xfrm>
              <a:off x="4704" y="3437"/>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1" name="Rectangle 53" descr="花束"/>
            <p:cNvSpPr>
              <a:spLocks noChangeArrowheads="1"/>
            </p:cNvSpPr>
            <p:nvPr/>
          </p:nvSpPr>
          <p:spPr bwMode="auto">
            <a:xfrm>
              <a:off x="4992" y="3437"/>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62" name="Line 54"/>
            <p:cNvSpPr>
              <a:spLocks noChangeShapeType="1"/>
            </p:cNvSpPr>
            <p:nvPr/>
          </p:nvSpPr>
          <p:spPr bwMode="auto">
            <a:xfrm>
              <a:off x="3168" y="362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3" name="Line 55"/>
            <p:cNvSpPr>
              <a:spLocks noChangeShapeType="1"/>
            </p:cNvSpPr>
            <p:nvPr/>
          </p:nvSpPr>
          <p:spPr bwMode="auto">
            <a:xfrm>
              <a:off x="4080" y="362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4" name="Text Box 56"/>
            <p:cNvSpPr txBox="1">
              <a:spLocks noChangeArrowheads="1"/>
            </p:cNvSpPr>
            <p:nvPr/>
          </p:nvSpPr>
          <p:spPr bwMode="auto">
            <a:xfrm>
              <a:off x="4961" y="3408"/>
              <a:ext cx="233"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1465" name="Line 57"/>
            <p:cNvSpPr>
              <a:spLocks noChangeShapeType="1"/>
            </p:cNvSpPr>
            <p:nvPr/>
          </p:nvSpPr>
          <p:spPr bwMode="auto">
            <a:xfrm flipV="1">
              <a:off x="3168" y="3360"/>
              <a:ext cx="0" cy="289"/>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6" name="Line 58"/>
            <p:cNvSpPr>
              <a:spLocks noChangeShapeType="1"/>
            </p:cNvSpPr>
            <p:nvPr/>
          </p:nvSpPr>
          <p:spPr bwMode="auto">
            <a:xfrm>
              <a:off x="3168" y="3360"/>
              <a:ext cx="1200"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7" name="Line 59"/>
            <p:cNvSpPr>
              <a:spLocks noChangeShapeType="1"/>
            </p:cNvSpPr>
            <p:nvPr/>
          </p:nvSpPr>
          <p:spPr bwMode="auto">
            <a:xfrm>
              <a:off x="4080" y="3072"/>
              <a:ext cx="2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8" name="Line 60"/>
            <p:cNvSpPr>
              <a:spLocks noChangeShapeType="1"/>
            </p:cNvSpPr>
            <p:nvPr/>
          </p:nvSpPr>
          <p:spPr bwMode="auto">
            <a:xfrm>
              <a:off x="4368" y="3072"/>
              <a:ext cx="0" cy="288"/>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9" name="Text Box 61"/>
            <p:cNvSpPr txBox="1">
              <a:spLocks noChangeArrowheads="1"/>
            </p:cNvSpPr>
            <p:nvPr/>
          </p:nvSpPr>
          <p:spPr bwMode="auto">
            <a:xfrm>
              <a:off x="1420" y="1603"/>
              <a:ext cx="48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1470" name="Text Box 62"/>
            <p:cNvSpPr txBox="1">
              <a:spLocks noChangeArrowheads="1"/>
            </p:cNvSpPr>
            <p:nvPr/>
          </p:nvSpPr>
          <p:spPr bwMode="auto">
            <a:xfrm>
              <a:off x="1420" y="2851"/>
              <a:ext cx="48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1471" name="Text Box 63"/>
            <p:cNvSpPr txBox="1">
              <a:spLocks noChangeArrowheads="1"/>
            </p:cNvSpPr>
            <p:nvPr/>
          </p:nvSpPr>
          <p:spPr bwMode="auto">
            <a:xfrm>
              <a:off x="1392" y="2083"/>
              <a:ext cx="53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1472" name="Text Box 64"/>
            <p:cNvSpPr txBox="1">
              <a:spLocks noChangeArrowheads="1"/>
            </p:cNvSpPr>
            <p:nvPr/>
          </p:nvSpPr>
          <p:spPr bwMode="auto">
            <a:xfrm>
              <a:off x="2407" y="2851"/>
              <a:ext cx="53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1473" name="Text Box 65"/>
            <p:cNvSpPr txBox="1">
              <a:spLocks noChangeArrowheads="1"/>
            </p:cNvSpPr>
            <p:nvPr/>
          </p:nvSpPr>
          <p:spPr bwMode="auto">
            <a:xfrm>
              <a:off x="2400" y="1603"/>
              <a:ext cx="53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1474" name="Text Box 66"/>
            <p:cNvSpPr txBox="1">
              <a:spLocks noChangeArrowheads="1"/>
            </p:cNvSpPr>
            <p:nvPr/>
          </p:nvSpPr>
          <p:spPr bwMode="auto">
            <a:xfrm>
              <a:off x="2428" y="2083"/>
              <a:ext cx="48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1475" name="Text Box 67"/>
            <p:cNvSpPr txBox="1">
              <a:spLocks noChangeArrowheads="1"/>
            </p:cNvSpPr>
            <p:nvPr/>
          </p:nvSpPr>
          <p:spPr bwMode="auto">
            <a:xfrm>
              <a:off x="3383" y="2083"/>
              <a:ext cx="66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1476" name="Text Box 68"/>
            <p:cNvSpPr txBox="1">
              <a:spLocks noChangeArrowheads="1"/>
            </p:cNvSpPr>
            <p:nvPr/>
          </p:nvSpPr>
          <p:spPr bwMode="auto">
            <a:xfrm>
              <a:off x="3383" y="2851"/>
              <a:ext cx="66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1477" name="Text Box 69"/>
            <p:cNvSpPr txBox="1">
              <a:spLocks noChangeArrowheads="1"/>
            </p:cNvSpPr>
            <p:nvPr/>
          </p:nvSpPr>
          <p:spPr bwMode="auto">
            <a:xfrm>
              <a:off x="3468" y="1603"/>
              <a:ext cx="54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1478" name="Text Box 70"/>
            <p:cNvSpPr txBox="1">
              <a:spLocks noChangeArrowheads="1"/>
            </p:cNvSpPr>
            <p:nvPr/>
          </p:nvSpPr>
          <p:spPr bwMode="auto">
            <a:xfrm>
              <a:off x="3468" y="3408"/>
              <a:ext cx="54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1479" name="Text Box 71"/>
            <p:cNvSpPr txBox="1">
              <a:spLocks noChangeArrowheads="1"/>
            </p:cNvSpPr>
            <p:nvPr/>
          </p:nvSpPr>
          <p:spPr bwMode="auto">
            <a:xfrm>
              <a:off x="4476" y="2083"/>
              <a:ext cx="54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1480" name="Text Box 72"/>
            <p:cNvSpPr txBox="1">
              <a:spLocks noChangeArrowheads="1"/>
            </p:cNvSpPr>
            <p:nvPr/>
          </p:nvSpPr>
          <p:spPr bwMode="auto">
            <a:xfrm>
              <a:off x="4464" y="3408"/>
              <a:ext cx="54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grpSp>
      <p:sp>
        <p:nvSpPr>
          <p:cNvPr id="160770" name="Rectangle 73"/>
          <p:cNvSpPr>
            <a:spLocks noGrp="1" noChangeArrowheads="1"/>
          </p:cNvSpPr>
          <p:nvPr>
            <p:ph type="title"/>
          </p:nvPr>
        </p:nvSpPr>
        <p:spPr>
          <a:xfrm>
            <a:off x="1441450" y="68263"/>
            <a:ext cx="7551738" cy="458787"/>
          </a:xfrm>
        </p:spPr>
        <p:txBody>
          <a:bodyPr>
            <a:normAutofit fontScale="90000"/>
          </a:bodyPr>
          <a:lstStyle/>
          <a:p>
            <a:pPr algn="ctr"/>
            <a:r>
              <a:rPr lang="zh-CN" altLang="en-US" sz="3200" b="0">
                <a:ea typeface="华文新魏" panose="02010800040101010101" charset="-122"/>
              </a:rPr>
              <a:t>多项式链表的相加</a:t>
            </a:r>
            <a:endParaRPr lang="zh-CN" altLang="en-US" sz="3200" b="0">
              <a:ea typeface="华文新魏" panose="02010800040101010101" charset="-122"/>
            </a:endParaRPr>
          </a:p>
        </p:txBody>
      </p:sp>
      <p:sp>
        <p:nvSpPr>
          <p:cNvPr id="160771" name="Rectangle 74"/>
          <p:cNvSpPr>
            <a:spLocks noGrp="1" noChangeArrowheads="1"/>
          </p:cNvSpPr>
          <p:nvPr>
            <p:ph type="body" idx="1"/>
          </p:nvPr>
        </p:nvSpPr>
        <p:spPr>
          <a:xfrm>
            <a:off x="730250" y="1244600"/>
            <a:ext cx="8229600" cy="3886200"/>
          </a:xfrm>
        </p:spPr>
        <p:txBody>
          <a:bodyPr/>
          <a:lstStyle/>
          <a:p>
            <a:pPr>
              <a:lnSpc>
                <a:spcPct val="110000"/>
              </a:lnSpc>
              <a:spcBef>
                <a:spcPct val="0"/>
              </a:spcBef>
              <a:buFontTx/>
              <a:buNone/>
            </a:pPr>
            <a:r>
              <a:rPr lang="en-US" altLang="zh-CN" b="1" i="1">
                <a:latin typeface="Times New Roman" panose="02020603050405020304" charset="0"/>
              </a:rPr>
              <a:t>AH</a:t>
            </a:r>
            <a:r>
              <a:rPr lang="en-US" altLang="zh-CN" b="1">
                <a:latin typeface="Times New Roman" panose="02020603050405020304" charset="0"/>
              </a:rPr>
              <a:t> = 1 </a:t>
            </a:r>
            <a:r>
              <a:rPr lang="en-US" altLang="zh-CN" b="1">
                <a:latin typeface="Courier New" panose="02070309020205020404" charset="0"/>
              </a:rPr>
              <a:t>-</a:t>
            </a:r>
            <a:r>
              <a:rPr lang="en-US" altLang="zh-CN" b="1">
                <a:latin typeface="Times New Roman" panose="02020603050405020304" charset="0"/>
              </a:rPr>
              <a:t> 3</a:t>
            </a:r>
            <a:r>
              <a:rPr lang="en-US" altLang="zh-CN" b="1" i="1">
                <a:latin typeface="Times New Roman" panose="02020603050405020304" charset="0"/>
              </a:rPr>
              <a:t>x</a:t>
            </a:r>
            <a:r>
              <a:rPr lang="en-US" altLang="zh-CN" b="1" baseline="30000">
                <a:latin typeface="Times New Roman" panose="02020603050405020304" charset="0"/>
              </a:rPr>
              <a:t>6</a:t>
            </a:r>
            <a:r>
              <a:rPr lang="en-US" altLang="zh-CN" b="1">
                <a:latin typeface="Times New Roman" panose="02020603050405020304" charset="0"/>
              </a:rPr>
              <a:t> + 7</a:t>
            </a:r>
            <a:r>
              <a:rPr lang="en-US" altLang="zh-CN" b="1" i="1">
                <a:latin typeface="Times New Roman" panose="02020603050405020304" charset="0"/>
              </a:rPr>
              <a:t>x</a:t>
            </a:r>
            <a:r>
              <a:rPr lang="en-US" altLang="zh-CN" b="1" baseline="30000">
                <a:latin typeface="Times New Roman" panose="02020603050405020304" charset="0"/>
              </a:rPr>
              <a:t>12</a:t>
            </a:r>
            <a:endParaRPr lang="en-US" altLang="zh-CN" b="1" i="1">
              <a:latin typeface="Times New Roman" panose="02020603050405020304" charset="0"/>
            </a:endParaRPr>
          </a:p>
          <a:p>
            <a:pPr>
              <a:lnSpc>
                <a:spcPct val="110000"/>
              </a:lnSpc>
              <a:spcBef>
                <a:spcPct val="0"/>
              </a:spcBef>
              <a:buFontTx/>
              <a:buNone/>
            </a:pPr>
            <a:r>
              <a:rPr lang="en-US" altLang="zh-CN" b="1" i="1">
                <a:solidFill>
                  <a:srgbClr val="006600"/>
                </a:solidFill>
                <a:latin typeface="Times New Roman" panose="02020603050405020304" charset="0"/>
              </a:rPr>
              <a:t>BH</a:t>
            </a:r>
            <a:r>
              <a:rPr lang="en-US" altLang="zh-CN" b="1">
                <a:solidFill>
                  <a:srgbClr val="006600"/>
                </a:solidFill>
                <a:latin typeface="Times New Roman" panose="02020603050405020304" charset="0"/>
              </a:rPr>
              <a:t> = </a:t>
            </a:r>
            <a:r>
              <a:rPr lang="en-US" altLang="zh-CN" b="1">
                <a:solidFill>
                  <a:srgbClr val="006600"/>
                </a:solidFill>
                <a:latin typeface="Courier New" panose="02070309020205020404" charset="0"/>
              </a:rPr>
              <a:t>-</a:t>
            </a:r>
            <a:r>
              <a:rPr lang="en-US" altLang="zh-CN" b="1">
                <a:solidFill>
                  <a:srgbClr val="006600"/>
                </a:solidFill>
                <a:latin typeface="Times New Roman" panose="02020603050405020304" charset="0"/>
              </a:rPr>
              <a:t> </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4</a:t>
            </a:r>
            <a:r>
              <a:rPr lang="en-US" altLang="zh-CN" b="1">
                <a:solidFill>
                  <a:srgbClr val="006600"/>
                </a:solidFill>
                <a:latin typeface="Times New Roman" panose="02020603050405020304" charset="0"/>
              </a:rPr>
              <a:t> + 3</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6</a:t>
            </a:r>
            <a:r>
              <a:rPr lang="en-US" altLang="zh-CN" b="1">
                <a:solidFill>
                  <a:srgbClr val="006600"/>
                </a:solidFill>
                <a:latin typeface="Times New Roman" panose="02020603050405020304" charset="0"/>
              </a:rPr>
              <a:t> </a:t>
            </a:r>
            <a:r>
              <a:rPr lang="en-US" altLang="zh-CN" b="1">
                <a:solidFill>
                  <a:srgbClr val="006600"/>
                </a:solidFill>
                <a:latin typeface="Courier New" panose="02070309020205020404" charset="0"/>
              </a:rPr>
              <a:t>-</a:t>
            </a:r>
            <a:r>
              <a:rPr lang="en-US" altLang="zh-CN" b="1">
                <a:solidFill>
                  <a:srgbClr val="006600"/>
                </a:solidFill>
                <a:latin typeface="Times New Roman" panose="02020603050405020304" charset="0"/>
              </a:rPr>
              <a:t> 9</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10</a:t>
            </a:r>
            <a:r>
              <a:rPr lang="en-US" altLang="zh-CN" b="1">
                <a:solidFill>
                  <a:srgbClr val="006600"/>
                </a:solidFill>
                <a:latin typeface="Times New Roman" panose="02020603050405020304" charset="0"/>
              </a:rPr>
              <a:t> + 8</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14</a:t>
            </a:r>
            <a:endParaRPr lang="en-US" altLang="zh-CN" b="1" baseline="30000">
              <a:solidFill>
                <a:srgbClr val="006600"/>
              </a:solidFill>
              <a:latin typeface="Times New Roman" panose="02020603050405020304" charset="0"/>
            </a:endParaRPr>
          </a:p>
          <a:p>
            <a:pPr>
              <a:lnSpc>
                <a:spcPct val="110000"/>
              </a:lnSpc>
              <a:spcBef>
                <a:spcPct val="0"/>
              </a:spcBef>
              <a:buFontTx/>
              <a:buNone/>
            </a:pPr>
            <a:r>
              <a:rPr lang="en-US" altLang="zh-CN" b="1" i="1">
                <a:solidFill>
                  <a:schemeClr val="tx2"/>
                </a:solidFill>
                <a:latin typeface="Times New Roman" panose="02020603050405020304" charset="0"/>
              </a:rPr>
              <a:t>CH </a:t>
            </a:r>
            <a:r>
              <a:rPr lang="en-US" altLang="zh-CN" b="1">
                <a:solidFill>
                  <a:srgbClr val="006600"/>
                </a:solidFill>
                <a:latin typeface="Times New Roman" panose="02020603050405020304" charset="0"/>
              </a:rPr>
              <a:t>= </a:t>
            </a:r>
            <a:r>
              <a:rPr lang="en-US" altLang="zh-CN" b="1">
                <a:latin typeface="Times New Roman" panose="02020603050405020304" charset="0"/>
              </a:rPr>
              <a:t>1 </a:t>
            </a:r>
            <a:r>
              <a:rPr lang="en-US" altLang="zh-CN" b="1">
                <a:solidFill>
                  <a:srgbClr val="006600"/>
                </a:solidFill>
                <a:latin typeface="Courier New" panose="02070309020205020404" charset="0"/>
              </a:rPr>
              <a:t>-</a:t>
            </a:r>
            <a:r>
              <a:rPr lang="en-US" altLang="zh-CN" b="1">
                <a:solidFill>
                  <a:srgbClr val="006600"/>
                </a:solidFill>
                <a:latin typeface="Times New Roman" panose="02020603050405020304" charset="0"/>
              </a:rPr>
              <a:t> </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4</a:t>
            </a:r>
            <a:r>
              <a:rPr lang="en-US" altLang="zh-CN" b="1">
                <a:solidFill>
                  <a:srgbClr val="006600"/>
                </a:solidFill>
                <a:latin typeface="Times New Roman" panose="02020603050405020304" charset="0"/>
              </a:rPr>
              <a:t> </a:t>
            </a:r>
            <a:r>
              <a:rPr lang="en-US" altLang="zh-CN" b="1">
                <a:solidFill>
                  <a:srgbClr val="006600"/>
                </a:solidFill>
                <a:latin typeface="Courier New" panose="02070309020205020404" charset="0"/>
              </a:rPr>
              <a:t>-</a:t>
            </a:r>
            <a:r>
              <a:rPr lang="en-US" altLang="zh-CN" b="1">
                <a:solidFill>
                  <a:srgbClr val="006600"/>
                </a:solidFill>
                <a:latin typeface="Times New Roman" panose="02020603050405020304" charset="0"/>
              </a:rPr>
              <a:t> 9</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10</a:t>
            </a:r>
            <a:r>
              <a:rPr lang="en-US" altLang="zh-CN" b="1">
                <a:solidFill>
                  <a:srgbClr val="006600"/>
                </a:solidFill>
                <a:latin typeface="Times New Roman" panose="02020603050405020304" charset="0"/>
              </a:rPr>
              <a:t> </a:t>
            </a:r>
            <a:r>
              <a:rPr lang="en-US" altLang="zh-CN" b="1">
                <a:latin typeface="Times New Roman" panose="02020603050405020304" charset="0"/>
              </a:rPr>
              <a:t>+ 7</a:t>
            </a:r>
            <a:r>
              <a:rPr lang="en-US" altLang="zh-CN" b="1" i="1">
                <a:latin typeface="Times New Roman" panose="02020603050405020304" charset="0"/>
              </a:rPr>
              <a:t>x</a:t>
            </a:r>
            <a:r>
              <a:rPr lang="en-US" altLang="zh-CN" b="1" baseline="30000">
                <a:latin typeface="Times New Roman" panose="02020603050405020304" charset="0"/>
              </a:rPr>
              <a:t>12 </a:t>
            </a:r>
            <a:r>
              <a:rPr lang="en-US" altLang="zh-CN" b="1">
                <a:solidFill>
                  <a:srgbClr val="006600"/>
                </a:solidFill>
                <a:latin typeface="Times New Roman" panose="02020603050405020304" charset="0"/>
              </a:rPr>
              <a:t>+ 8</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14</a:t>
            </a:r>
            <a:endParaRPr lang="en-US" altLang="zh-CN" b="1" baseline="30000">
              <a:solidFill>
                <a:srgbClr val="006600"/>
              </a:solidFill>
              <a:latin typeface="Times New Roman" panose="02020603050405020304" charset="0"/>
            </a:endParaRP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1793" name="Group 2"/>
          <p:cNvGrpSpPr/>
          <p:nvPr/>
        </p:nvGrpSpPr>
        <p:grpSpPr bwMode="auto">
          <a:xfrm>
            <a:off x="685800" y="461963"/>
            <a:ext cx="7635875" cy="4498975"/>
            <a:chOff x="432" y="291"/>
            <a:chExt cx="4810" cy="2834"/>
          </a:xfrm>
        </p:grpSpPr>
        <p:sp>
          <p:nvSpPr>
            <p:cNvPr id="1042435" name="Rectangle 3" descr="羊皮纸"/>
            <p:cNvSpPr>
              <a:spLocks noChangeArrowheads="1"/>
            </p:cNvSpPr>
            <p:nvPr/>
          </p:nvSpPr>
          <p:spPr bwMode="auto">
            <a:xfrm>
              <a:off x="4464"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36" name="Line 4"/>
            <p:cNvSpPr>
              <a:spLocks noChangeShapeType="1"/>
            </p:cNvSpPr>
            <p:nvPr/>
          </p:nvSpPr>
          <p:spPr bwMode="auto">
            <a:xfrm>
              <a:off x="4752"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37" name="Rectangle 5"/>
            <p:cNvSpPr>
              <a:spLocks noChangeArrowheads="1"/>
            </p:cNvSpPr>
            <p:nvPr/>
          </p:nvSpPr>
          <p:spPr bwMode="auto">
            <a:xfrm>
              <a:off x="1440" y="696"/>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38" name="Text Box 6"/>
            <p:cNvSpPr txBox="1">
              <a:spLocks noChangeArrowheads="1"/>
            </p:cNvSpPr>
            <p:nvPr/>
          </p:nvSpPr>
          <p:spPr bwMode="auto">
            <a:xfrm>
              <a:off x="432" y="696"/>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2439" name="Text Box 7"/>
            <p:cNvSpPr txBox="1">
              <a:spLocks noChangeArrowheads="1"/>
            </p:cNvSpPr>
            <p:nvPr/>
          </p:nvSpPr>
          <p:spPr bwMode="auto">
            <a:xfrm>
              <a:off x="432" y="1992"/>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2440" name="Line 8"/>
            <p:cNvSpPr>
              <a:spLocks noChangeShapeType="1"/>
            </p:cNvSpPr>
            <p:nvPr/>
          </p:nvSpPr>
          <p:spPr bwMode="auto">
            <a:xfrm>
              <a:off x="1728"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41" name="Rectangle 9" descr="花束"/>
            <p:cNvSpPr>
              <a:spLocks noChangeArrowheads="1"/>
            </p:cNvSpPr>
            <p:nvPr/>
          </p:nvSpPr>
          <p:spPr bwMode="auto">
            <a:xfrm>
              <a:off x="4992"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42" name="Rectangle 10" descr="羊皮纸"/>
            <p:cNvSpPr>
              <a:spLocks noChangeArrowheads="1"/>
            </p:cNvSpPr>
            <p:nvPr/>
          </p:nvSpPr>
          <p:spPr bwMode="auto">
            <a:xfrm>
              <a:off x="1440"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43" name="Line 11"/>
            <p:cNvSpPr>
              <a:spLocks noChangeShapeType="1"/>
            </p:cNvSpPr>
            <p:nvPr/>
          </p:nvSpPr>
          <p:spPr bwMode="auto">
            <a:xfrm>
              <a:off x="1728"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44" name="Rectangle 12" descr="花束"/>
            <p:cNvSpPr>
              <a:spLocks noChangeArrowheads="1"/>
            </p:cNvSpPr>
            <p:nvPr/>
          </p:nvSpPr>
          <p:spPr bwMode="auto">
            <a:xfrm>
              <a:off x="1968"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45" name="Rectangle 13" descr="羊皮纸"/>
            <p:cNvSpPr>
              <a:spLocks noChangeArrowheads="1"/>
            </p:cNvSpPr>
            <p:nvPr/>
          </p:nvSpPr>
          <p:spPr bwMode="auto">
            <a:xfrm>
              <a:off x="2448"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46" name="Line 14"/>
            <p:cNvSpPr>
              <a:spLocks noChangeShapeType="1"/>
            </p:cNvSpPr>
            <p:nvPr/>
          </p:nvSpPr>
          <p:spPr bwMode="auto">
            <a:xfrm>
              <a:off x="2736"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47" name="Rectangle 15" descr="花束"/>
            <p:cNvSpPr>
              <a:spLocks noChangeArrowheads="1"/>
            </p:cNvSpPr>
            <p:nvPr/>
          </p:nvSpPr>
          <p:spPr bwMode="auto">
            <a:xfrm>
              <a:off x="3984"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48" name="Rectangle 16" descr="羊皮纸"/>
            <p:cNvSpPr>
              <a:spLocks noChangeArrowheads="1"/>
            </p:cNvSpPr>
            <p:nvPr/>
          </p:nvSpPr>
          <p:spPr bwMode="auto">
            <a:xfrm>
              <a:off x="2448"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49" name="Line 17"/>
            <p:cNvSpPr>
              <a:spLocks noChangeShapeType="1"/>
            </p:cNvSpPr>
            <p:nvPr/>
          </p:nvSpPr>
          <p:spPr bwMode="auto">
            <a:xfrm>
              <a:off x="2736"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50" name="Rectangle 18" descr="花束"/>
            <p:cNvSpPr>
              <a:spLocks noChangeArrowheads="1"/>
            </p:cNvSpPr>
            <p:nvPr/>
          </p:nvSpPr>
          <p:spPr bwMode="auto">
            <a:xfrm>
              <a:off x="2976"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51" name="Rectangle 19" descr="羊皮纸"/>
            <p:cNvSpPr>
              <a:spLocks noChangeArrowheads="1"/>
            </p:cNvSpPr>
            <p:nvPr/>
          </p:nvSpPr>
          <p:spPr bwMode="auto">
            <a:xfrm>
              <a:off x="3456" y="69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52" name="Line 20"/>
            <p:cNvSpPr>
              <a:spLocks noChangeShapeType="1"/>
            </p:cNvSpPr>
            <p:nvPr/>
          </p:nvSpPr>
          <p:spPr bwMode="auto">
            <a:xfrm>
              <a:off x="3744"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53" name="Rectangle 21" descr="花束"/>
            <p:cNvSpPr>
              <a:spLocks noChangeArrowheads="1"/>
            </p:cNvSpPr>
            <p:nvPr/>
          </p:nvSpPr>
          <p:spPr bwMode="auto">
            <a:xfrm>
              <a:off x="4032" y="69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54" name="Rectangle 22" descr="羊皮纸"/>
            <p:cNvSpPr>
              <a:spLocks noChangeArrowheads="1"/>
            </p:cNvSpPr>
            <p:nvPr/>
          </p:nvSpPr>
          <p:spPr bwMode="auto">
            <a:xfrm>
              <a:off x="3456"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55" name="Line 23"/>
            <p:cNvSpPr>
              <a:spLocks noChangeShapeType="1"/>
            </p:cNvSpPr>
            <p:nvPr/>
          </p:nvSpPr>
          <p:spPr bwMode="auto">
            <a:xfrm>
              <a:off x="3744"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56" name="Rectangle 24" descr="花束"/>
            <p:cNvSpPr>
              <a:spLocks noChangeArrowheads="1"/>
            </p:cNvSpPr>
            <p:nvPr/>
          </p:nvSpPr>
          <p:spPr bwMode="auto">
            <a:xfrm>
              <a:off x="4032"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57" name="Rectangle 25" descr="羊皮纸"/>
            <p:cNvSpPr>
              <a:spLocks noChangeArrowheads="1"/>
            </p:cNvSpPr>
            <p:nvPr/>
          </p:nvSpPr>
          <p:spPr bwMode="auto">
            <a:xfrm>
              <a:off x="4464"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58" name="Line 26"/>
            <p:cNvSpPr>
              <a:spLocks noChangeShapeType="1"/>
            </p:cNvSpPr>
            <p:nvPr/>
          </p:nvSpPr>
          <p:spPr bwMode="auto">
            <a:xfrm>
              <a:off x="4752"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59" name="Rectangle 27" descr="花束"/>
            <p:cNvSpPr>
              <a:spLocks noChangeArrowheads="1"/>
            </p:cNvSpPr>
            <p:nvPr/>
          </p:nvSpPr>
          <p:spPr bwMode="auto">
            <a:xfrm>
              <a:off x="5040"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60" name="Line 28"/>
            <p:cNvSpPr>
              <a:spLocks noChangeShapeType="1"/>
            </p:cNvSpPr>
            <p:nvPr/>
          </p:nvSpPr>
          <p:spPr bwMode="auto">
            <a:xfrm>
              <a:off x="1200" y="888"/>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61" name="Line 29"/>
            <p:cNvSpPr>
              <a:spLocks noChangeShapeType="1"/>
            </p:cNvSpPr>
            <p:nvPr/>
          </p:nvSpPr>
          <p:spPr bwMode="auto">
            <a:xfrm>
              <a:off x="2064" y="1656"/>
              <a:ext cx="384"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62" name="Line 30"/>
            <p:cNvSpPr>
              <a:spLocks noChangeShapeType="1"/>
            </p:cNvSpPr>
            <p:nvPr/>
          </p:nvSpPr>
          <p:spPr bwMode="auto">
            <a:xfrm>
              <a:off x="3120"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63" name="Line 31"/>
            <p:cNvSpPr>
              <a:spLocks noChangeShapeType="1"/>
            </p:cNvSpPr>
            <p:nvPr/>
          </p:nvSpPr>
          <p:spPr bwMode="auto">
            <a:xfrm>
              <a:off x="4128"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64" name="Line 32"/>
            <p:cNvSpPr>
              <a:spLocks noChangeShapeType="1"/>
            </p:cNvSpPr>
            <p:nvPr/>
          </p:nvSpPr>
          <p:spPr bwMode="auto">
            <a:xfrm>
              <a:off x="4128" y="888"/>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65" name="Text Box 33"/>
            <p:cNvSpPr txBox="1">
              <a:spLocks noChangeArrowheads="1"/>
            </p:cNvSpPr>
            <p:nvPr/>
          </p:nvSpPr>
          <p:spPr bwMode="auto">
            <a:xfrm>
              <a:off x="5009" y="66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2466" name="Text Box 34"/>
            <p:cNvSpPr txBox="1">
              <a:spLocks noChangeArrowheads="1"/>
            </p:cNvSpPr>
            <p:nvPr/>
          </p:nvSpPr>
          <p:spPr bwMode="auto">
            <a:xfrm>
              <a:off x="5009" y="1435"/>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2467" name="Text Box 35"/>
            <p:cNvSpPr txBox="1">
              <a:spLocks noChangeArrowheads="1"/>
            </p:cNvSpPr>
            <p:nvPr/>
          </p:nvSpPr>
          <p:spPr bwMode="auto">
            <a:xfrm>
              <a:off x="432" y="2798"/>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2468" name="Rectangle 36"/>
            <p:cNvSpPr>
              <a:spLocks noChangeArrowheads="1"/>
            </p:cNvSpPr>
            <p:nvPr/>
          </p:nvSpPr>
          <p:spPr bwMode="auto">
            <a:xfrm>
              <a:off x="1440" y="2789"/>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69" name="Line 37"/>
            <p:cNvSpPr>
              <a:spLocks noChangeShapeType="1"/>
            </p:cNvSpPr>
            <p:nvPr/>
          </p:nvSpPr>
          <p:spPr bwMode="auto">
            <a:xfrm>
              <a:off x="1728" y="2792"/>
              <a:ext cx="0" cy="319"/>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70" name="Rectangle 38" descr="花束"/>
            <p:cNvSpPr>
              <a:spLocks noChangeArrowheads="1"/>
            </p:cNvSpPr>
            <p:nvPr/>
          </p:nvSpPr>
          <p:spPr bwMode="auto">
            <a:xfrm>
              <a:off x="1968" y="2789"/>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71" name="Line 39"/>
            <p:cNvSpPr>
              <a:spLocks noChangeShapeType="1"/>
            </p:cNvSpPr>
            <p:nvPr/>
          </p:nvSpPr>
          <p:spPr bwMode="auto">
            <a:xfrm>
              <a:off x="1200" y="2981"/>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72" name="Text Box 40"/>
            <p:cNvSpPr txBox="1">
              <a:spLocks noChangeArrowheads="1"/>
            </p:cNvSpPr>
            <p:nvPr/>
          </p:nvSpPr>
          <p:spPr bwMode="auto">
            <a:xfrm>
              <a:off x="2476" y="66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2473" name="Text Box 41"/>
            <p:cNvSpPr txBox="1">
              <a:spLocks noChangeArrowheads="1"/>
            </p:cNvSpPr>
            <p:nvPr/>
          </p:nvSpPr>
          <p:spPr bwMode="auto">
            <a:xfrm>
              <a:off x="1440" y="1435"/>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2474" name="Text Box 42"/>
            <p:cNvSpPr txBox="1">
              <a:spLocks noChangeArrowheads="1"/>
            </p:cNvSpPr>
            <p:nvPr/>
          </p:nvSpPr>
          <p:spPr bwMode="auto">
            <a:xfrm>
              <a:off x="3456" y="66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2475" name="Text Box 43"/>
            <p:cNvSpPr txBox="1">
              <a:spLocks noChangeArrowheads="1"/>
            </p:cNvSpPr>
            <p:nvPr/>
          </p:nvSpPr>
          <p:spPr bwMode="auto">
            <a:xfrm>
              <a:off x="2476" y="1435"/>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2476" name="Text Box 44"/>
            <p:cNvSpPr txBox="1">
              <a:spLocks noChangeArrowheads="1"/>
            </p:cNvSpPr>
            <p:nvPr/>
          </p:nvSpPr>
          <p:spPr bwMode="auto">
            <a:xfrm>
              <a:off x="3431" y="1435"/>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2477" name="Text Box 45"/>
            <p:cNvSpPr txBox="1">
              <a:spLocks noChangeArrowheads="1"/>
            </p:cNvSpPr>
            <p:nvPr/>
          </p:nvSpPr>
          <p:spPr bwMode="auto">
            <a:xfrm>
              <a:off x="4476" y="66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2478" name="Text Box 46"/>
            <p:cNvSpPr txBox="1">
              <a:spLocks noChangeArrowheads="1"/>
            </p:cNvSpPr>
            <p:nvPr/>
          </p:nvSpPr>
          <p:spPr bwMode="auto">
            <a:xfrm>
              <a:off x="4524" y="1435"/>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2479" name="Line 47"/>
            <p:cNvSpPr>
              <a:spLocks noChangeShapeType="1"/>
            </p:cNvSpPr>
            <p:nvPr/>
          </p:nvSpPr>
          <p:spPr bwMode="auto">
            <a:xfrm flipH="1">
              <a:off x="2575" y="456"/>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80" name="Text Box 48"/>
            <p:cNvSpPr txBox="1">
              <a:spLocks noChangeArrowheads="1"/>
            </p:cNvSpPr>
            <p:nvPr/>
          </p:nvSpPr>
          <p:spPr bwMode="auto">
            <a:xfrm>
              <a:off x="2819" y="291"/>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2481" name="Rectangle 49" descr="花束"/>
            <p:cNvSpPr>
              <a:spLocks noChangeArrowheads="1"/>
            </p:cNvSpPr>
            <p:nvPr/>
          </p:nvSpPr>
          <p:spPr bwMode="auto">
            <a:xfrm>
              <a:off x="2976"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82" name="Rectangle 50" descr="花束"/>
            <p:cNvSpPr>
              <a:spLocks noChangeArrowheads="1"/>
            </p:cNvSpPr>
            <p:nvPr/>
          </p:nvSpPr>
          <p:spPr bwMode="auto">
            <a:xfrm>
              <a:off x="1968"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83" name="Line 51"/>
            <p:cNvSpPr>
              <a:spLocks noChangeShapeType="1"/>
            </p:cNvSpPr>
            <p:nvPr/>
          </p:nvSpPr>
          <p:spPr bwMode="auto">
            <a:xfrm>
              <a:off x="3072" y="888"/>
              <a:ext cx="384"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84" name="Line 52"/>
            <p:cNvSpPr>
              <a:spLocks noChangeShapeType="1"/>
            </p:cNvSpPr>
            <p:nvPr/>
          </p:nvSpPr>
          <p:spPr bwMode="auto">
            <a:xfrm>
              <a:off x="2064" y="888"/>
              <a:ext cx="384" cy="0"/>
            </a:xfrm>
            <a:prstGeom prst="line">
              <a:avLst/>
            </a:prstGeom>
            <a:noFill/>
            <a:ln w="381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85" name="Line 53"/>
            <p:cNvSpPr>
              <a:spLocks noChangeShapeType="1"/>
            </p:cNvSpPr>
            <p:nvPr/>
          </p:nvSpPr>
          <p:spPr bwMode="auto">
            <a:xfrm>
              <a:off x="1604" y="2608"/>
              <a:ext cx="192" cy="192"/>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86" name="Text Box 54"/>
            <p:cNvSpPr txBox="1">
              <a:spLocks noChangeArrowheads="1"/>
            </p:cNvSpPr>
            <p:nvPr/>
          </p:nvSpPr>
          <p:spPr bwMode="auto">
            <a:xfrm>
              <a:off x="1255" y="2398"/>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sp>
          <p:nvSpPr>
            <p:cNvPr id="1042487" name="Rectangle 55"/>
            <p:cNvSpPr>
              <a:spLocks noChangeArrowheads="1"/>
            </p:cNvSpPr>
            <p:nvPr/>
          </p:nvSpPr>
          <p:spPr bwMode="auto">
            <a:xfrm>
              <a:off x="432" y="1464"/>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88" name="Line 56"/>
            <p:cNvSpPr>
              <a:spLocks noChangeShapeType="1"/>
            </p:cNvSpPr>
            <p:nvPr/>
          </p:nvSpPr>
          <p:spPr bwMode="auto">
            <a:xfrm>
              <a:off x="720"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89" name="Rectangle 57" descr="花束"/>
            <p:cNvSpPr>
              <a:spLocks noChangeArrowheads="1"/>
            </p:cNvSpPr>
            <p:nvPr/>
          </p:nvSpPr>
          <p:spPr bwMode="auto">
            <a:xfrm>
              <a:off x="960"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90" name="Line 58"/>
            <p:cNvSpPr>
              <a:spLocks noChangeShapeType="1"/>
            </p:cNvSpPr>
            <p:nvPr/>
          </p:nvSpPr>
          <p:spPr bwMode="auto">
            <a:xfrm>
              <a:off x="1104" y="1656"/>
              <a:ext cx="336" cy="0"/>
            </a:xfrm>
            <a:prstGeom prst="line">
              <a:avLst/>
            </a:prstGeom>
            <a:noFill/>
            <a:ln w="381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91" name="Line 59"/>
            <p:cNvSpPr>
              <a:spLocks noChangeShapeType="1"/>
            </p:cNvSpPr>
            <p:nvPr/>
          </p:nvSpPr>
          <p:spPr bwMode="auto">
            <a:xfrm flipV="1">
              <a:off x="672" y="1848"/>
              <a:ext cx="0" cy="192"/>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92" name="Line 60"/>
            <p:cNvSpPr>
              <a:spLocks noChangeShapeType="1"/>
            </p:cNvSpPr>
            <p:nvPr/>
          </p:nvSpPr>
          <p:spPr bwMode="auto">
            <a:xfrm flipH="1" flipV="1">
              <a:off x="1602" y="1848"/>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93" name="Text Box 61"/>
            <p:cNvSpPr txBox="1">
              <a:spLocks noChangeArrowheads="1"/>
            </p:cNvSpPr>
            <p:nvPr/>
          </p:nvSpPr>
          <p:spPr bwMode="auto">
            <a:xfrm>
              <a:off x="1845" y="1923"/>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sp>
          <p:nvSpPr>
            <p:cNvPr id="1042494" name="Text Box 62"/>
            <p:cNvSpPr txBox="1">
              <a:spLocks noChangeArrowheads="1"/>
            </p:cNvSpPr>
            <p:nvPr/>
          </p:nvSpPr>
          <p:spPr bwMode="auto">
            <a:xfrm>
              <a:off x="1954" y="2728"/>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gr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2817" name="Group 2"/>
          <p:cNvGrpSpPr/>
          <p:nvPr/>
        </p:nvGrpSpPr>
        <p:grpSpPr bwMode="auto">
          <a:xfrm>
            <a:off x="590550" y="461963"/>
            <a:ext cx="7654925" cy="5641975"/>
            <a:chOff x="372" y="291"/>
            <a:chExt cx="4822" cy="3554"/>
          </a:xfrm>
        </p:grpSpPr>
        <p:sp>
          <p:nvSpPr>
            <p:cNvPr id="1043459" name="Rectangle 3" descr="羊皮纸"/>
            <p:cNvSpPr>
              <a:spLocks noChangeArrowheads="1"/>
            </p:cNvSpPr>
            <p:nvPr/>
          </p:nvSpPr>
          <p:spPr bwMode="auto">
            <a:xfrm>
              <a:off x="4416"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60" name="Line 4"/>
            <p:cNvSpPr>
              <a:spLocks noChangeShapeType="1"/>
            </p:cNvSpPr>
            <p:nvPr/>
          </p:nvSpPr>
          <p:spPr bwMode="auto">
            <a:xfrm>
              <a:off x="4704"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61" name="Rectangle 5"/>
            <p:cNvSpPr>
              <a:spLocks noChangeArrowheads="1"/>
            </p:cNvSpPr>
            <p:nvPr/>
          </p:nvSpPr>
          <p:spPr bwMode="auto">
            <a:xfrm>
              <a:off x="1392" y="696"/>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62" name="Text Box 6"/>
            <p:cNvSpPr txBox="1">
              <a:spLocks noChangeArrowheads="1"/>
            </p:cNvSpPr>
            <p:nvPr/>
          </p:nvSpPr>
          <p:spPr bwMode="auto">
            <a:xfrm>
              <a:off x="384" y="696"/>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3463" name="Line 7"/>
            <p:cNvSpPr>
              <a:spLocks noChangeShapeType="1"/>
            </p:cNvSpPr>
            <p:nvPr/>
          </p:nvSpPr>
          <p:spPr bwMode="auto">
            <a:xfrm>
              <a:off x="1680"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64" name="Rectangle 8" descr="花束"/>
            <p:cNvSpPr>
              <a:spLocks noChangeArrowheads="1"/>
            </p:cNvSpPr>
            <p:nvPr/>
          </p:nvSpPr>
          <p:spPr bwMode="auto">
            <a:xfrm>
              <a:off x="4944"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65" name="Rectangle 9" descr="羊皮纸"/>
            <p:cNvSpPr>
              <a:spLocks noChangeArrowheads="1"/>
            </p:cNvSpPr>
            <p:nvPr/>
          </p:nvSpPr>
          <p:spPr bwMode="auto">
            <a:xfrm>
              <a:off x="1392"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66" name="Line 10"/>
            <p:cNvSpPr>
              <a:spLocks noChangeShapeType="1"/>
            </p:cNvSpPr>
            <p:nvPr/>
          </p:nvSpPr>
          <p:spPr bwMode="auto">
            <a:xfrm>
              <a:off x="1680"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67" name="Rectangle 11" descr="花束"/>
            <p:cNvSpPr>
              <a:spLocks noChangeArrowheads="1"/>
            </p:cNvSpPr>
            <p:nvPr/>
          </p:nvSpPr>
          <p:spPr bwMode="auto">
            <a:xfrm>
              <a:off x="1920"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68" name="Rectangle 12" descr="羊皮纸"/>
            <p:cNvSpPr>
              <a:spLocks noChangeArrowheads="1"/>
            </p:cNvSpPr>
            <p:nvPr/>
          </p:nvSpPr>
          <p:spPr bwMode="auto">
            <a:xfrm>
              <a:off x="2400"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69" name="Line 13"/>
            <p:cNvSpPr>
              <a:spLocks noChangeShapeType="1"/>
            </p:cNvSpPr>
            <p:nvPr/>
          </p:nvSpPr>
          <p:spPr bwMode="auto">
            <a:xfrm>
              <a:off x="2688"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70" name="Rectangle 14" descr="花束"/>
            <p:cNvSpPr>
              <a:spLocks noChangeArrowheads="1"/>
            </p:cNvSpPr>
            <p:nvPr/>
          </p:nvSpPr>
          <p:spPr bwMode="auto">
            <a:xfrm>
              <a:off x="3936"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71" name="Rectangle 15" descr="羊皮纸"/>
            <p:cNvSpPr>
              <a:spLocks noChangeArrowheads="1"/>
            </p:cNvSpPr>
            <p:nvPr/>
          </p:nvSpPr>
          <p:spPr bwMode="auto">
            <a:xfrm>
              <a:off x="2400"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72" name="Line 16"/>
            <p:cNvSpPr>
              <a:spLocks noChangeShapeType="1"/>
            </p:cNvSpPr>
            <p:nvPr/>
          </p:nvSpPr>
          <p:spPr bwMode="auto">
            <a:xfrm>
              <a:off x="2688"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73" name="Rectangle 17" descr="花束"/>
            <p:cNvSpPr>
              <a:spLocks noChangeArrowheads="1"/>
            </p:cNvSpPr>
            <p:nvPr/>
          </p:nvSpPr>
          <p:spPr bwMode="auto">
            <a:xfrm>
              <a:off x="2928"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74" name="Rectangle 18" descr="羊皮纸"/>
            <p:cNvSpPr>
              <a:spLocks noChangeArrowheads="1"/>
            </p:cNvSpPr>
            <p:nvPr/>
          </p:nvSpPr>
          <p:spPr bwMode="auto">
            <a:xfrm>
              <a:off x="3408" y="69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75" name="Line 19"/>
            <p:cNvSpPr>
              <a:spLocks noChangeShapeType="1"/>
            </p:cNvSpPr>
            <p:nvPr/>
          </p:nvSpPr>
          <p:spPr bwMode="auto">
            <a:xfrm>
              <a:off x="3696"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76" name="Rectangle 20" descr="花束"/>
            <p:cNvSpPr>
              <a:spLocks noChangeArrowheads="1"/>
            </p:cNvSpPr>
            <p:nvPr/>
          </p:nvSpPr>
          <p:spPr bwMode="auto">
            <a:xfrm>
              <a:off x="3984" y="69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77" name="Rectangle 21" descr="羊皮纸"/>
            <p:cNvSpPr>
              <a:spLocks noChangeArrowheads="1"/>
            </p:cNvSpPr>
            <p:nvPr/>
          </p:nvSpPr>
          <p:spPr bwMode="auto">
            <a:xfrm>
              <a:off x="3408"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78" name="Line 22"/>
            <p:cNvSpPr>
              <a:spLocks noChangeShapeType="1"/>
            </p:cNvSpPr>
            <p:nvPr/>
          </p:nvSpPr>
          <p:spPr bwMode="auto">
            <a:xfrm>
              <a:off x="3696"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79" name="Rectangle 23" descr="花束"/>
            <p:cNvSpPr>
              <a:spLocks noChangeArrowheads="1"/>
            </p:cNvSpPr>
            <p:nvPr/>
          </p:nvSpPr>
          <p:spPr bwMode="auto">
            <a:xfrm>
              <a:off x="3984"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80" name="Rectangle 24" descr="羊皮纸"/>
            <p:cNvSpPr>
              <a:spLocks noChangeArrowheads="1"/>
            </p:cNvSpPr>
            <p:nvPr/>
          </p:nvSpPr>
          <p:spPr bwMode="auto">
            <a:xfrm>
              <a:off x="4416"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81" name="Line 25"/>
            <p:cNvSpPr>
              <a:spLocks noChangeShapeType="1"/>
            </p:cNvSpPr>
            <p:nvPr/>
          </p:nvSpPr>
          <p:spPr bwMode="auto">
            <a:xfrm>
              <a:off x="4704"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82" name="Rectangle 26" descr="花束"/>
            <p:cNvSpPr>
              <a:spLocks noChangeArrowheads="1"/>
            </p:cNvSpPr>
            <p:nvPr/>
          </p:nvSpPr>
          <p:spPr bwMode="auto">
            <a:xfrm>
              <a:off x="4992"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83" name="Line 27"/>
            <p:cNvSpPr>
              <a:spLocks noChangeShapeType="1"/>
            </p:cNvSpPr>
            <p:nvPr/>
          </p:nvSpPr>
          <p:spPr bwMode="auto">
            <a:xfrm>
              <a:off x="1152" y="888"/>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84" name="Line 28"/>
            <p:cNvSpPr>
              <a:spLocks noChangeShapeType="1"/>
            </p:cNvSpPr>
            <p:nvPr/>
          </p:nvSpPr>
          <p:spPr bwMode="auto">
            <a:xfrm>
              <a:off x="2016" y="1656"/>
              <a:ext cx="384"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85" name="Line 29"/>
            <p:cNvSpPr>
              <a:spLocks noChangeShapeType="1"/>
            </p:cNvSpPr>
            <p:nvPr/>
          </p:nvSpPr>
          <p:spPr bwMode="auto">
            <a:xfrm>
              <a:off x="3072"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86" name="Line 30"/>
            <p:cNvSpPr>
              <a:spLocks noChangeShapeType="1"/>
            </p:cNvSpPr>
            <p:nvPr/>
          </p:nvSpPr>
          <p:spPr bwMode="auto">
            <a:xfrm>
              <a:off x="4080"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87" name="Line 31"/>
            <p:cNvSpPr>
              <a:spLocks noChangeShapeType="1"/>
            </p:cNvSpPr>
            <p:nvPr/>
          </p:nvSpPr>
          <p:spPr bwMode="auto">
            <a:xfrm>
              <a:off x="4080" y="888"/>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88" name="Text Box 32"/>
            <p:cNvSpPr txBox="1">
              <a:spLocks noChangeArrowheads="1"/>
            </p:cNvSpPr>
            <p:nvPr/>
          </p:nvSpPr>
          <p:spPr bwMode="auto">
            <a:xfrm>
              <a:off x="4961" y="66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3489" name="Text Box 33"/>
            <p:cNvSpPr txBox="1">
              <a:spLocks noChangeArrowheads="1"/>
            </p:cNvSpPr>
            <p:nvPr/>
          </p:nvSpPr>
          <p:spPr bwMode="auto">
            <a:xfrm>
              <a:off x="4961" y="1435"/>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3490" name="Text Box 34"/>
            <p:cNvSpPr txBox="1">
              <a:spLocks noChangeArrowheads="1"/>
            </p:cNvSpPr>
            <p:nvPr/>
          </p:nvSpPr>
          <p:spPr bwMode="auto">
            <a:xfrm>
              <a:off x="384" y="2710"/>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3491" name="Rectangle 35"/>
            <p:cNvSpPr>
              <a:spLocks noChangeArrowheads="1"/>
            </p:cNvSpPr>
            <p:nvPr/>
          </p:nvSpPr>
          <p:spPr bwMode="auto">
            <a:xfrm>
              <a:off x="1392" y="2701"/>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92" name="Line 36"/>
            <p:cNvSpPr>
              <a:spLocks noChangeShapeType="1"/>
            </p:cNvSpPr>
            <p:nvPr/>
          </p:nvSpPr>
          <p:spPr bwMode="auto">
            <a:xfrm>
              <a:off x="1680" y="272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93" name="Rectangle 37" descr="花束"/>
            <p:cNvSpPr>
              <a:spLocks noChangeArrowheads="1"/>
            </p:cNvSpPr>
            <p:nvPr/>
          </p:nvSpPr>
          <p:spPr bwMode="auto">
            <a:xfrm>
              <a:off x="1920" y="2701"/>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94" name="Rectangle 38" descr="羊皮纸"/>
            <p:cNvSpPr>
              <a:spLocks noChangeArrowheads="1"/>
            </p:cNvSpPr>
            <p:nvPr/>
          </p:nvSpPr>
          <p:spPr bwMode="auto">
            <a:xfrm>
              <a:off x="2400" y="2712"/>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95" name="Line 39"/>
            <p:cNvSpPr>
              <a:spLocks noChangeShapeType="1"/>
            </p:cNvSpPr>
            <p:nvPr/>
          </p:nvSpPr>
          <p:spPr bwMode="auto">
            <a:xfrm>
              <a:off x="2688" y="270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96" name="Rectangle 40" descr="花束"/>
            <p:cNvSpPr>
              <a:spLocks noChangeArrowheads="1"/>
            </p:cNvSpPr>
            <p:nvPr/>
          </p:nvSpPr>
          <p:spPr bwMode="auto">
            <a:xfrm>
              <a:off x="2928" y="2712"/>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97" name="Line 41"/>
            <p:cNvSpPr>
              <a:spLocks noChangeShapeType="1"/>
            </p:cNvSpPr>
            <p:nvPr/>
          </p:nvSpPr>
          <p:spPr bwMode="auto">
            <a:xfrm>
              <a:off x="1152" y="2893"/>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98" name="Line 42"/>
            <p:cNvSpPr>
              <a:spLocks noChangeShapeType="1"/>
            </p:cNvSpPr>
            <p:nvPr/>
          </p:nvSpPr>
          <p:spPr bwMode="auto">
            <a:xfrm>
              <a:off x="2064" y="2893"/>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99" name="Line 43"/>
            <p:cNvSpPr>
              <a:spLocks noChangeShapeType="1"/>
            </p:cNvSpPr>
            <p:nvPr/>
          </p:nvSpPr>
          <p:spPr bwMode="auto">
            <a:xfrm>
              <a:off x="4704" y="3509"/>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00" name="Text Box 44"/>
            <p:cNvSpPr txBox="1">
              <a:spLocks noChangeArrowheads="1"/>
            </p:cNvSpPr>
            <p:nvPr/>
          </p:nvSpPr>
          <p:spPr bwMode="auto">
            <a:xfrm>
              <a:off x="2927" y="2656"/>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3501" name="Text Box 45"/>
            <p:cNvSpPr txBox="1">
              <a:spLocks noChangeArrowheads="1"/>
            </p:cNvSpPr>
            <p:nvPr/>
          </p:nvSpPr>
          <p:spPr bwMode="auto">
            <a:xfrm>
              <a:off x="2428" y="66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3502" name="Text Box 46"/>
            <p:cNvSpPr txBox="1">
              <a:spLocks noChangeArrowheads="1"/>
            </p:cNvSpPr>
            <p:nvPr/>
          </p:nvSpPr>
          <p:spPr bwMode="auto">
            <a:xfrm>
              <a:off x="2428" y="2683"/>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3503" name="Text Box 47"/>
            <p:cNvSpPr txBox="1">
              <a:spLocks noChangeArrowheads="1"/>
            </p:cNvSpPr>
            <p:nvPr/>
          </p:nvSpPr>
          <p:spPr bwMode="auto">
            <a:xfrm>
              <a:off x="1392" y="1435"/>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3504" name="Text Box 48"/>
            <p:cNvSpPr txBox="1">
              <a:spLocks noChangeArrowheads="1"/>
            </p:cNvSpPr>
            <p:nvPr/>
          </p:nvSpPr>
          <p:spPr bwMode="auto">
            <a:xfrm>
              <a:off x="3408" y="66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3505" name="Text Box 49"/>
            <p:cNvSpPr txBox="1">
              <a:spLocks noChangeArrowheads="1"/>
            </p:cNvSpPr>
            <p:nvPr/>
          </p:nvSpPr>
          <p:spPr bwMode="auto">
            <a:xfrm>
              <a:off x="2428" y="1435"/>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3506" name="Text Box 50"/>
            <p:cNvSpPr txBox="1">
              <a:spLocks noChangeArrowheads="1"/>
            </p:cNvSpPr>
            <p:nvPr/>
          </p:nvSpPr>
          <p:spPr bwMode="auto">
            <a:xfrm>
              <a:off x="3383" y="1435"/>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3507" name="Text Box 51"/>
            <p:cNvSpPr txBox="1">
              <a:spLocks noChangeArrowheads="1"/>
            </p:cNvSpPr>
            <p:nvPr/>
          </p:nvSpPr>
          <p:spPr bwMode="auto">
            <a:xfrm>
              <a:off x="4428" y="66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3508" name="Text Box 52"/>
            <p:cNvSpPr txBox="1">
              <a:spLocks noChangeArrowheads="1"/>
            </p:cNvSpPr>
            <p:nvPr/>
          </p:nvSpPr>
          <p:spPr bwMode="auto">
            <a:xfrm>
              <a:off x="4476" y="1435"/>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3509" name="Line 53"/>
            <p:cNvSpPr>
              <a:spLocks noChangeShapeType="1"/>
            </p:cNvSpPr>
            <p:nvPr/>
          </p:nvSpPr>
          <p:spPr bwMode="auto">
            <a:xfrm flipH="1">
              <a:off x="3607" y="456"/>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10" name="Text Box 54"/>
            <p:cNvSpPr txBox="1">
              <a:spLocks noChangeArrowheads="1"/>
            </p:cNvSpPr>
            <p:nvPr/>
          </p:nvSpPr>
          <p:spPr bwMode="auto">
            <a:xfrm>
              <a:off x="3843" y="291"/>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3511" name="Line 55"/>
            <p:cNvSpPr>
              <a:spLocks noChangeShapeType="1"/>
            </p:cNvSpPr>
            <p:nvPr/>
          </p:nvSpPr>
          <p:spPr bwMode="auto">
            <a:xfrm flipH="1" flipV="1">
              <a:off x="1634" y="1848"/>
              <a:ext cx="199" cy="206"/>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12" name="Text Box 56"/>
            <p:cNvSpPr txBox="1">
              <a:spLocks noChangeArrowheads="1"/>
            </p:cNvSpPr>
            <p:nvPr/>
          </p:nvSpPr>
          <p:spPr bwMode="auto">
            <a:xfrm>
              <a:off x="1797" y="1923"/>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sp>
          <p:nvSpPr>
            <p:cNvPr id="1043513" name="Rectangle 57" descr="花束"/>
            <p:cNvSpPr>
              <a:spLocks noChangeArrowheads="1"/>
            </p:cNvSpPr>
            <p:nvPr/>
          </p:nvSpPr>
          <p:spPr bwMode="auto">
            <a:xfrm>
              <a:off x="2928"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514" name="Rectangle 58" descr="花束"/>
            <p:cNvSpPr>
              <a:spLocks noChangeArrowheads="1"/>
            </p:cNvSpPr>
            <p:nvPr/>
          </p:nvSpPr>
          <p:spPr bwMode="auto">
            <a:xfrm>
              <a:off x="1920"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515" name="Line 59"/>
            <p:cNvSpPr>
              <a:spLocks noChangeShapeType="1"/>
            </p:cNvSpPr>
            <p:nvPr/>
          </p:nvSpPr>
          <p:spPr bwMode="auto">
            <a:xfrm>
              <a:off x="3024" y="888"/>
              <a:ext cx="384" cy="0"/>
            </a:xfrm>
            <a:prstGeom prst="line">
              <a:avLst/>
            </a:prstGeom>
            <a:noFill/>
            <a:ln w="381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16" name="Line 60"/>
            <p:cNvSpPr>
              <a:spLocks noChangeShapeType="1"/>
            </p:cNvSpPr>
            <p:nvPr/>
          </p:nvSpPr>
          <p:spPr bwMode="auto">
            <a:xfrm>
              <a:off x="2016" y="888"/>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17" name="Line 61"/>
            <p:cNvSpPr>
              <a:spLocks noChangeShapeType="1"/>
            </p:cNvSpPr>
            <p:nvPr/>
          </p:nvSpPr>
          <p:spPr bwMode="auto">
            <a:xfrm>
              <a:off x="2411" y="2519"/>
              <a:ext cx="192" cy="192"/>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18" name="Text Box 62"/>
            <p:cNvSpPr txBox="1">
              <a:spLocks noChangeArrowheads="1"/>
            </p:cNvSpPr>
            <p:nvPr/>
          </p:nvSpPr>
          <p:spPr bwMode="auto">
            <a:xfrm>
              <a:off x="2080" y="2309"/>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grpSp>
          <p:nvGrpSpPr>
            <p:cNvPr id="162878" name="Group 63"/>
            <p:cNvGrpSpPr/>
            <p:nvPr/>
          </p:nvGrpSpPr>
          <p:grpSpPr bwMode="auto">
            <a:xfrm>
              <a:off x="372" y="1462"/>
              <a:ext cx="1014" cy="816"/>
              <a:chOff x="372" y="1390"/>
              <a:chExt cx="1014" cy="816"/>
            </a:xfrm>
          </p:grpSpPr>
          <p:sp>
            <p:nvSpPr>
              <p:cNvPr id="1043520" name="Rectangle 64"/>
              <p:cNvSpPr>
                <a:spLocks noChangeArrowheads="1"/>
              </p:cNvSpPr>
              <p:nvPr/>
            </p:nvSpPr>
            <p:spPr bwMode="auto">
              <a:xfrm>
                <a:off x="378" y="1390"/>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521" name="Line 65"/>
              <p:cNvSpPr>
                <a:spLocks noChangeShapeType="1"/>
              </p:cNvSpPr>
              <p:nvPr/>
            </p:nvSpPr>
            <p:spPr bwMode="auto">
              <a:xfrm>
                <a:off x="666" y="139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22" name="Text Box 66"/>
              <p:cNvSpPr txBox="1">
                <a:spLocks noChangeArrowheads="1"/>
              </p:cNvSpPr>
              <p:nvPr/>
            </p:nvSpPr>
            <p:spPr bwMode="auto">
              <a:xfrm>
                <a:off x="372" y="1915"/>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3523" name="Line 67"/>
              <p:cNvSpPr>
                <a:spLocks noChangeShapeType="1"/>
              </p:cNvSpPr>
              <p:nvPr/>
            </p:nvSpPr>
            <p:spPr bwMode="auto">
              <a:xfrm flipH="1" flipV="1">
                <a:off x="615" y="1768"/>
                <a:ext cx="5" cy="178"/>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24" name="Rectangle 68" descr="花束"/>
              <p:cNvSpPr>
                <a:spLocks noChangeArrowheads="1"/>
              </p:cNvSpPr>
              <p:nvPr/>
            </p:nvSpPr>
            <p:spPr bwMode="auto">
              <a:xfrm>
                <a:off x="906" y="139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525" name="Line 69"/>
              <p:cNvSpPr>
                <a:spLocks noChangeShapeType="1"/>
              </p:cNvSpPr>
              <p:nvPr/>
            </p:nvSpPr>
            <p:spPr bwMode="auto">
              <a:xfrm>
                <a:off x="1002" y="1582"/>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gr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41" name="Group 2"/>
          <p:cNvGrpSpPr/>
          <p:nvPr/>
        </p:nvGrpSpPr>
        <p:grpSpPr bwMode="auto">
          <a:xfrm>
            <a:off x="590550" y="461963"/>
            <a:ext cx="7654925" cy="4491037"/>
            <a:chOff x="372" y="291"/>
            <a:chExt cx="4822" cy="2829"/>
          </a:xfrm>
        </p:grpSpPr>
        <p:sp>
          <p:nvSpPr>
            <p:cNvPr id="1044483" name="Rectangle 3" descr="羊皮纸"/>
            <p:cNvSpPr>
              <a:spLocks noChangeArrowheads="1"/>
            </p:cNvSpPr>
            <p:nvPr/>
          </p:nvSpPr>
          <p:spPr bwMode="auto">
            <a:xfrm>
              <a:off x="4416"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84" name="Line 4"/>
            <p:cNvSpPr>
              <a:spLocks noChangeShapeType="1"/>
            </p:cNvSpPr>
            <p:nvPr/>
          </p:nvSpPr>
          <p:spPr bwMode="auto">
            <a:xfrm>
              <a:off x="4704"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485" name="Rectangle 5"/>
            <p:cNvSpPr>
              <a:spLocks noChangeArrowheads="1"/>
            </p:cNvSpPr>
            <p:nvPr/>
          </p:nvSpPr>
          <p:spPr bwMode="auto">
            <a:xfrm>
              <a:off x="1392" y="696"/>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86" name="Text Box 6"/>
            <p:cNvSpPr txBox="1">
              <a:spLocks noChangeArrowheads="1"/>
            </p:cNvSpPr>
            <p:nvPr/>
          </p:nvSpPr>
          <p:spPr bwMode="auto">
            <a:xfrm>
              <a:off x="384" y="696"/>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4487" name="Line 7"/>
            <p:cNvSpPr>
              <a:spLocks noChangeShapeType="1"/>
            </p:cNvSpPr>
            <p:nvPr/>
          </p:nvSpPr>
          <p:spPr bwMode="auto">
            <a:xfrm>
              <a:off x="1680"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488" name="Rectangle 8" descr="花束"/>
            <p:cNvSpPr>
              <a:spLocks noChangeArrowheads="1"/>
            </p:cNvSpPr>
            <p:nvPr/>
          </p:nvSpPr>
          <p:spPr bwMode="auto">
            <a:xfrm>
              <a:off x="4944"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89" name="Rectangle 9" descr="羊皮纸"/>
            <p:cNvSpPr>
              <a:spLocks noChangeArrowheads="1"/>
            </p:cNvSpPr>
            <p:nvPr/>
          </p:nvSpPr>
          <p:spPr bwMode="auto">
            <a:xfrm>
              <a:off x="1392"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0" name="Line 10"/>
            <p:cNvSpPr>
              <a:spLocks noChangeShapeType="1"/>
            </p:cNvSpPr>
            <p:nvPr/>
          </p:nvSpPr>
          <p:spPr bwMode="auto">
            <a:xfrm>
              <a:off x="1680"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491" name="Rectangle 11" descr="花束"/>
            <p:cNvSpPr>
              <a:spLocks noChangeArrowheads="1"/>
            </p:cNvSpPr>
            <p:nvPr/>
          </p:nvSpPr>
          <p:spPr bwMode="auto">
            <a:xfrm>
              <a:off x="1920"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2" name="Rectangle 12" descr="羊皮纸"/>
            <p:cNvSpPr>
              <a:spLocks noChangeArrowheads="1"/>
            </p:cNvSpPr>
            <p:nvPr/>
          </p:nvSpPr>
          <p:spPr bwMode="auto">
            <a:xfrm>
              <a:off x="2400"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3" name="Line 13"/>
            <p:cNvSpPr>
              <a:spLocks noChangeShapeType="1"/>
            </p:cNvSpPr>
            <p:nvPr/>
          </p:nvSpPr>
          <p:spPr bwMode="auto">
            <a:xfrm>
              <a:off x="2688"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494" name="Rectangle 14" descr="花束"/>
            <p:cNvSpPr>
              <a:spLocks noChangeArrowheads="1"/>
            </p:cNvSpPr>
            <p:nvPr/>
          </p:nvSpPr>
          <p:spPr bwMode="auto">
            <a:xfrm>
              <a:off x="3936"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5" name="Rectangle 15" descr="羊皮纸"/>
            <p:cNvSpPr>
              <a:spLocks noChangeArrowheads="1"/>
            </p:cNvSpPr>
            <p:nvPr/>
          </p:nvSpPr>
          <p:spPr bwMode="auto">
            <a:xfrm>
              <a:off x="2400"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6" name="Line 16"/>
            <p:cNvSpPr>
              <a:spLocks noChangeShapeType="1"/>
            </p:cNvSpPr>
            <p:nvPr/>
          </p:nvSpPr>
          <p:spPr bwMode="auto">
            <a:xfrm>
              <a:off x="2688"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497" name="Rectangle 17" descr="花束"/>
            <p:cNvSpPr>
              <a:spLocks noChangeArrowheads="1"/>
            </p:cNvSpPr>
            <p:nvPr/>
          </p:nvSpPr>
          <p:spPr bwMode="auto">
            <a:xfrm>
              <a:off x="2928"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8" name="Rectangle 18" descr="羊皮纸"/>
            <p:cNvSpPr>
              <a:spLocks noChangeArrowheads="1"/>
            </p:cNvSpPr>
            <p:nvPr/>
          </p:nvSpPr>
          <p:spPr bwMode="auto">
            <a:xfrm>
              <a:off x="3408" y="69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9" name="Line 19"/>
            <p:cNvSpPr>
              <a:spLocks noChangeShapeType="1"/>
            </p:cNvSpPr>
            <p:nvPr/>
          </p:nvSpPr>
          <p:spPr bwMode="auto">
            <a:xfrm>
              <a:off x="3696"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00" name="Rectangle 20" descr="花束"/>
            <p:cNvSpPr>
              <a:spLocks noChangeArrowheads="1"/>
            </p:cNvSpPr>
            <p:nvPr/>
          </p:nvSpPr>
          <p:spPr bwMode="auto">
            <a:xfrm>
              <a:off x="3984" y="69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01" name="Rectangle 21" descr="羊皮纸"/>
            <p:cNvSpPr>
              <a:spLocks noChangeArrowheads="1"/>
            </p:cNvSpPr>
            <p:nvPr/>
          </p:nvSpPr>
          <p:spPr bwMode="auto">
            <a:xfrm>
              <a:off x="3408"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02" name="Line 22"/>
            <p:cNvSpPr>
              <a:spLocks noChangeShapeType="1"/>
            </p:cNvSpPr>
            <p:nvPr/>
          </p:nvSpPr>
          <p:spPr bwMode="auto">
            <a:xfrm>
              <a:off x="3696"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03" name="Rectangle 23" descr="花束"/>
            <p:cNvSpPr>
              <a:spLocks noChangeArrowheads="1"/>
            </p:cNvSpPr>
            <p:nvPr/>
          </p:nvSpPr>
          <p:spPr bwMode="auto">
            <a:xfrm>
              <a:off x="3984"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04" name="Rectangle 24" descr="羊皮纸"/>
            <p:cNvSpPr>
              <a:spLocks noChangeArrowheads="1"/>
            </p:cNvSpPr>
            <p:nvPr/>
          </p:nvSpPr>
          <p:spPr bwMode="auto">
            <a:xfrm>
              <a:off x="4416"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05" name="Line 25"/>
            <p:cNvSpPr>
              <a:spLocks noChangeShapeType="1"/>
            </p:cNvSpPr>
            <p:nvPr/>
          </p:nvSpPr>
          <p:spPr bwMode="auto">
            <a:xfrm>
              <a:off x="4704"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06" name="Rectangle 26" descr="花束"/>
            <p:cNvSpPr>
              <a:spLocks noChangeArrowheads="1"/>
            </p:cNvSpPr>
            <p:nvPr/>
          </p:nvSpPr>
          <p:spPr bwMode="auto">
            <a:xfrm>
              <a:off x="4992"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07" name="Line 27"/>
            <p:cNvSpPr>
              <a:spLocks noChangeShapeType="1"/>
            </p:cNvSpPr>
            <p:nvPr/>
          </p:nvSpPr>
          <p:spPr bwMode="auto">
            <a:xfrm>
              <a:off x="1152" y="888"/>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08" name="Line 28"/>
            <p:cNvSpPr>
              <a:spLocks noChangeShapeType="1"/>
            </p:cNvSpPr>
            <p:nvPr/>
          </p:nvSpPr>
          <p:spPr bwMode="auto">
            <a:xfrm>
              <a:off x="2016" y="1656"/>
              <a:ext cx="384"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09" name="Line 29"/>
            <p:cNvSpPr>
              <a:spLocks noChangeShapeType="1"/>
            </p:cNvSpPr>
            <p:nvPr/>
          </p:nvSpPr>
          <p:spPr bwMode="auto">
            <a:xfrm>
              <a:off x="3072"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10" name="Line 30"/>
            <p:cNvSpPr>
              <a:spLocks noChangeShapeType="1"/>
            </p:cNvSpPr>
            <p:nvPr/>
          </p:nvSpPr>
          <p:spPr bwMode="auto">
            <a:xfrm>
              <a:off x="4080"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11" name="Line 31"/>
            <p:cNvSpPr>
              <a:spLocks noChangeShapeType="1"/>
            </p:cNvSpPr>
            <p:nvPr/>
          </p:nvSpPr>
          <p:spPr bwMode="auto">
            <a:xfrm>
              <a:off x="4080" y="888"/>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12" name="Text Box 32"/>
            <p:cNvSpPr txBox="1">
              <a:spLocks noChangeArrowheads="1"/>
            </p:cNvSpPr>
            <p:nvPr/>
          </p:nvSpPr>
          <p:spPr bwMode="auto">
            <a:xfrm>
              <a:off x="4961" y="66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4513" name="Text Box 33"/>
            <p:cNvSpPr txBox="1">
              <a:spLocks noChangeArrowheads="1"/>
            </p:cNvSpPr>
            <p:nvPr/>
          </p:nvSpPr>
          <p:spPr bwMode="auto">
            <a:xfrm>
              <a:off x="4961" y="1435"/>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4514" name="Text Box 34"/>
            <p:cNvSpPr txBox="1">
              <a:spLocks noChangeArrowheads="1"/>
            </p:cNvSpPr>
            <p:nvPr/>
          </p:nvSpPr>
          <p:spPr bwMode="auto">
            <a:xfrm>
              <a:off x="384" y="2766"/>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4515" name="Rectangle 35"/>
            <p:cNvSpPr>
              <a:spLocks noChangeArrowheads="1"/>
            </p:cNvSpPr>
            <p:nvPr/>
          </p:nvSpPr>
          <p:spPr bwMode="auto">
            <a:xfrm>
              <a:off x="1392" y="2773"/>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16" name="Line 36"/>
            <p:cNvSpPr>
              <a:spLocks noChangeShapeType="1"/>
            </p:cNvSpPr>
            <p:nvPr/>
          </p:nvSpPr>
          <p:spPr bwMode="auto">
            <a:xfrm>
              <a:off x="1680" y="2768"/>
              <a:ext cx="0" cy="328"/>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17" name="Rectangle 37" descr="花束"/>
            <p:cNvSpPr>
              <a:spLocks noChangeArrowheads="1"/>
            </p:cNvSpPr>
            <p:nvPr/>
          </p:nvSpPr>
          <p:spPr bwMode="auto">
            <a:xfrm>
              <a:off x="1920" y="2773"/>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18" name="Rectangle 38" descr="羊皮纸"/>
            <p:cNvSpPr>
              <a:spLocks noChangeArrowheads="1"/>
            </p:cNvSpPr>
            <p:nvPr/>
          </p:nvSpPr>
          <p:spPr bwMode="auto">
            <a:xfrm>
              <a:off x="2400" y="277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19" name="Line 39"/>
            <p:cNvSpPr>
              <a:spLocks noChangeShapeType="1"/>
            </p:cNvSpPr>
            <p:nvPr/>
          </p:nvSpPr>
          <p:spPr bwMode="auto">
            <a:xfrm>
              <a:off x="2688" y="277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20" name="Rectangle 40" descr="花束"/>
            <p:cNvSpPr>
              <a:spLocks noChangeArrowheads="1"/>
            </p:cNvSpPr>
            <p:nvPr/>
          </p:nvSpPr>
          <p:spPr bwMode="auto">
            <a:xfrm>
              <a:off x="2928" y="277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21" name="Rectangle 41" descr="羊皮纸"/>
            <p:cNvSpPr>
              <a:spLocks noChangeArrowheads="1"/>
            </p:cNvSpPr>
            <p:nvPr/>
          </p:nvSpPr>
          <p:spPr bwMode="auto">
            <a:xfrm>
              <a:off x="3408" y="277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22" name="Line 42"/>
            <p:cNvSpPr>
              <a:spLocks noChangeShapeType="1"/>
            </p:cNvSpPr>
            <p:nvPr/>
          </p:nvSpPr>
          <p:spPr bwMode="auto">
            <a:xfrm>
              <a:off x="3696" y="278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23" name="Rectangle 43" descr="花束"/>
            <p:cNvSpPr>
              <a:spLocks noChangeArrowheads="1"/>
            </p:cNvSpPr>
            <p:nvPr/>
          </p:nvSpPr>
          <p:spPr bwMode="auto">
            <a:xfrm>
              <a:off x="3984" y="277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24" name="Line 44"/>
            <p:cNvSpPr>
              <a:spLocks noChangeShapeType="1"/>
            </p:cNvSpPr>
            <p:nvPr/>
          </p:nvSpPr>
          <p:spPr bwMode="auto">
            <a:xfrm>
              <a:off x="1152" y="294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25" name="Line 45"/>
            <p:cNvSpPr>
              <a:spLocks noChangeShapeType="1"/>
            </p:cNvSpPr>
            <p:nvPr/>
          </p:nvSpPr>
          <p:spPr bwMode="auto">
            <a:xfrm>
              <a:off x="2064" y="294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26" name="Line 46"/>
            <p:cNvSpPr>
              <a:spLocks noChangeShapeType="1"/>
            </p:cNvSpPr>
            <p:nvPr/>
          </p:nvSpPr>
          <p:spPr bwMode="auto">
            <a:xfrm>
              <a:off x="3072" y="294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27" name="Text Box 47"/>
            <p:cNvSpPr txBox="1">
              <a:spLocks noChangeArrowheads="1"/>
            </p:cNvSpPr>
            <p:nvPr/>
          </p:nvSpPr>
          <p:spPr bwMode="auto">
            <a:xfrm>
              <a:off x="3945" y="2730"/>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4528" name="Text Box 48"/>
            <p:cNvSpPr txBox="1">
              <a:spLocks noChangeArrowheads="1"/>
            </p:cNvSpPr>
            <p:nvPr/>
          </p:nvSpPr>
          <p:spPr bwMode="auto">
            <a:xfrm>
              <a:off x="2428" y="66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4529" name="Text Box 49"/>
            <p:cNvSpPr txBox="1">
              <a:spLocks noChangeArrowheads="1"/>
            </p:cNvSpPr>
            <p:nvPr/>
          </p:nvSpPr>
          <p:spPr bwMode="auto">
            <a:xfrm>
              <a:off x="2428" y="274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4530" name="Text Box 50"/>
            <p:cNvSpPr txBox="1">
              <a:spLocks noChangeArrowheads="1"/>
            </p:cNvSpPr>
            <p:nvPr/>
          </p:nvSpPr>
          <p:spPr bwMode="auto">
            <a:xfrm>
              <a:off x="1392" y="1435"/>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4531" name="Text Box 51"/>
            <p:cNvSpPr txBox="1">
              <a:spLocks noChangeArrowheads="1"/>
            </p:cNvSpPr>
            <p:nvPr/>
          </p:nvSpPr>
          <p:spPr bwMode="auto">
            <a:xfrm>
              <a:off x="3400" y="274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4532" name="Text Box 52"/>
            <p:cNvSpPr txBox="1">
              <a:spLocks noChangeArrowheads="1"/>
            </p:cNvSpPr>
            <p:nvPr/>
          </p:nvSpPr>
          <p:spPr bwMode="auto">
            <a:xfrm>
              <a:off x="3408" y="66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4533" name="Text Box 53"/>
            <p:cNvSpPr txBox="1">
              <a:spLocks noChangeArrowheads="1"/>
            </p:cNvSpPr>
            <p:nvPr/>
          </p:nvSpPr>
          <p:spPr bwMode="auto">
            <a:xfrm>
              <a:off x="2428" y="1435"/>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4534" name="Text Box 54"/>
            <p:cNvSpPr txBox="1">
              <a:spLocks noChangeArrowheads="1"/>
            </p:cNvSpPr>
            <p:nvPr/>
          </p:nvSpPr>
          <p:spPr bwMode="auto">
            <a:xfrm>
              <a:off x="3383" y="1435"/>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4535" name="Text Box 55"/>
            <p:cNvSpPr txBox="1">
              <a:spLocks noChangeArrowheads="1"/>
            </p:cNvSpPr>
            <p:nvPr/>
          </p:nvSpPr>
          <p:spPr bwMode="auto">
            <a:xfrm>
              <a:off x="4428" y="66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4536" name="Text Box 56"/>
            <p:cNvSpPr txBox="1">
              <a:spLocks noChangeArrowheads="1"/>
            </p:cNvSpPr>
            <p:nvPr/>
          </p:nvSpPr>
          <p:spPr bwMode="auto">
            <a:xfrm>
              <a:off x="4476" y="1435"/>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4537" name="Line 57"/>
            <p:cNvSpPr>
              <a:spLocks noChangeShapeType="1"/>
            </p:cNvSpPr>
            <p:nvPr/>
          </p:nvSpPr>
          <p:spPr bwMode="auto">
            <a:xfrm flipH="1">
              <a:off x="3535" y="456"/>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38" name="Text Box 58"/>
            <p:cNvSpPr txBox="1">
              <a:spLocks noChangeArrowheads="1"/>
            </p:cNvSpPr>
            <p:nvPr/>
          </p:nvSpPr>
          <p:spPr bwMode="auto">
            <a:xfrm>
              <a:off x="3779" y="291"/>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4539" name="Line 59"/>
            <p:cNvSpPr>
              <a:spLocks noChangeShapeType="1"/>
            </p:cNvSpPr>
            <p:nvPr/>
          </p:nvSpPr>
          <p:spPr bwMode="auto">
            <a:xfrm flipH="1" flipV="1">
              <a:off x="2592" y="1848"/>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40" name="Text Box 60"/>
            <p:cNvSpPr txBox="1">
              <a:spLocks noChangeArrowheads="1"/>
            </p:cNvSpPr>
            <p:nvPr/>
          </p:nvSpPr>
          <p:spPr bwMode="auto">
            <a:xfrm>
              <a:off x="2835" y="1923"/>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sp>
          <p:nvSpPr>
            <p:cNvPr id="1044541" name="Rectangle 61" descr="花束"/>
            <p:cNvSpPr>
              <a:spLocks noChangeArrowheads="1"/>
            </p:cNvSpPr>
            <p:nvPr/>
          </p:nvSpPr>
          <p:spPr bwMode="auto">
            <a:xfrm>
              <a:off x="2928"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42" name="Rectangle 62" descr="花束"/>
            <p:cNvSpPr>
              <a:spLocks noChangeArrowheads="1"/>
            </p:cNvSpPr>
            <p:nvPr/>
          </p:nvSpPr>
          <p:spPr bwMode="auto">
            <a:xfrm>
              <a:off x="1920"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43" name="Line 63"/>
            <p:cNvSpPr>
              <a:spLocks noChangeShapeType="1"/>
            </p:cNvSpPr>
            <p:nvPr/>
          </p:nvSpPr>
          <p:spPr bwMode="auto">
            <a:xfrm>
              <a:off x="3024" y="888"/>
              <a:ext cx="373"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44" name="Line 64"/>
            <p:cNvSpPr>
              <a:spLocks noChangeShapeType="1"/>
            </p:cNvSpPr>
            <p:nvPr/>
          </p:nvSpPr>
          <p:spPr bwMode="auto">
            <a:xfrm>
              <a:off x="2016" y="888"/>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45" name="Line 65"/>
            <p:cNvSpPr>
              <a:spLocks noChangeShapeType="1"/>
            </p:cNvSpPr>
            <p:nvPr/>
          </p:nvSpPr>
          <p:spPr bwMode="auto">
            <a:xfrm>
              <a:off x="3380" y="2590"/>
              <a:ext cx="192" cy="192"/>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46" name="Text Box 66"/>
            <p:cNvSpPr txBox="1">
              <a:spLocks noChangeArrowheads="1"/>
            </p:cNvSpPr>
            <p:nvPr/>
          </p:nvSpPr>
          <p:spPr bwMode="auto">
            <a:xfrm>
              <a:off x="3099" y="2320"/>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grpSp>
          <p:nvGrpSpPr>
            <p:cNvPr id="163906" name="Group 67"/>
            <p:cNvGrpSpPr/>
            <p:nvPr/>
          </p:nvGrpSpPr>
          <p:grpSpPr bwMode="auto">
            <a:xfrm>
              <a:off x="372" y="1462"/>
              <a:ext cx="1014" cy="816"/>
              <a:chOff x="372" y="1390"/>
              <a:chExt cx="1014" cy="816"/>
            </a:xfrm>
          </p:grpSpPr>
          <p:sp>
            <p:nvSpPr>
              <p:cNvPr id="1044548" name="Rectangle 68"/>
              <p:cNvSpPr>
                <a:spLocks noChangeArrowheads="1"/>
              </p:cNvSpPr>
              <p:nvPr/>
            </p:nvSpPr>
            <p:spPr bwMode="auto">
              <a:xfrm>
                <a:off x="378" y="1390"/>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49" name="Line 69"/>
              <p:cNvSpPr>
                <a:spLocks noChangeShapeType="1"/>
              </p:cNvSpPr>
              <p:nvPr/>
            </p:nvSpPr>
            <p:spPr bwMode="auto">
              <a:xfrm>
                <a:off x="666" y="139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50" name="Text Box 70"/>
              <p:cNvSpPr txBox="1">
                <a:spLocks noChangeArrowheads="1"/>
              </p:cNvSpPr>
              <p:nvPr/>
            </p:nvSpPr>
            <p:spPr bwMode="auto">
              <a:xfrm>
                <a:off x="372" y="1915"/>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4551" name="Line 71"/>
              <p:cNvSpPr>
                <a:spLocks noChangeShapeType="1"/>
              </p:cNvSpPr>
              <p:nvPr/>
            </p:nvSpPr>
            <p:spPr bwMode="auto">
              <a:xfrm flipH="1" flipV="1">
                <a:off x="615" y="1768"/>
                <a:ext cx="5" cy="178"/>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52" name="Rectangle 72" descr="花束"/>
              <p:cNvSpPr>
                <a:spLocks noChangeArrowheads="1"/>
              </p:cNvSpPr>
              <p:nvPr/>
            </p:nvSpPr>
            <p:spPr bwMode="auto">
              <a:xfrm>
                <a:off x="906" y="139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53" name="Line 73"/>
              <p:cNvSpPr>
                <a:spLocks noChangeShapeType="1"/>
              </p:cNvSpPr>
              <p:nvPr/>
            </p:nvSpPr>
            <p:spPr bwMode="auto">
              <a:xfrm>
                <a:off x="1002" y="1582"/>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gr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865" name="Group 2"/>
          <p:cNvGrpSpPr/>
          <p:nvPr/>
        </p:nvGrpSpPr>
        <p:grpSpPr bwMode="auto">
          <a:xfrm>
            <a:off x="590550" y="461963"/>
            <a:ext cx="7654925" cy="5527675"/>
            <a:chOff x="372" y="291"/>
            <a:chExt cx="4822" cy="3482"/>
          </a:xfrm>
        </p:grpSpPr>
        <p:sp>
          <p:nvSpPr>
            <p:cNvPr id="1045507" name="Rectangle 3" descr="羊皮纸"/>
            <p:cNvSpPr>
              <a:spLocks noChangeArrowheads="1"/>
            </p:cNvSpPr>
            <p:nvPr/>
          </p:nvSpPr>
          <p:spPr bwMode="auto">
            <a:xfrm>
              <a:off x="4416"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08" name="Line 4"/>
            <p:cNvSpPr>
              <a:spLocks noChangeShapeType="1"/>
            </p:cNvSpPr>
            <p:nvPr/>
          </p:nvSpPr>
          <p:spPr bwMode="auto">
            <a:xfrm>
              <a:off x="4704"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09" name="Rectangle 5"/>
            <p:cNvSpPr>
              <a:spLocks noChangeArrowheads="1"/>
            </p:cNvSpPr>
            <p:nvPr/>
          </p:nvSpPr>
          <p:spPr bwMode="auto">
            <a:xfrm>
              <a:off x="1392" y="696"/>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10" name="Text Box 6"/>
            <p:cNvSpPr txBox="1">
              <a:spLocks noChangeArrowheads="1"/>
            </p:cNvSpPr>
            <p:nvPr/>
          </p:nvSpPr>
          <p:spPr bwMode="auto">
            <a:xfrm>
              <a:off x="384" y="696"/>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5511" name="Line 7"/>
            <p:cNvSpPr>
              <a:spLocks noChangeShapeType="1"/>
            </p:cNvSpPr>
            <p:nvPr/>
          </p:nvSpPr>
          <p:spPr bwMode="auto">
            <a:xfrm>
              <a:off x="1680"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12" name="Rectangle 8" descr="花束"/>
            <p:cNvSpPr>
              <a:spLocks noChangeArrowheads="1"/>
            </p:cNvSpPr>
            <p:nvPr/>
          </p:nvSpPr>
          <p:spPr bwMode="auto">
            <a:xfrm>
              <a:off x="4944"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13" name="Rectangle 9" descr="羊皮纸"/>
            <p:cNvSpPr>
              <a:spLocks noChangeArrowheads="1"/>
            </p:cNvSpPr>
            <p:nvPr/>
          </p:nvSpPr>
          <p:spPr bwMode="auto">
            <a:xfrm>
              <a:off x="1392"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14" name="Line 10"/>
            <p:cNvSpPr>
              <a:spLocks noChangeShapeType="1"/>
            </p:cNvSpPr>
            <p:nvPr/>
          </p:nvSpPr>
          <p:spPr bwMode="auto">
            <a:xfrm>
              <a:off x="1680"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15" name="Rectangle 11" descr="花束"/>
            <p:cNvSpPr>
              <a:spLocks noChangeArrowheads="1"/>
            </p:cNvSpPr>
            <p:nvPr/>
          </p:nvSpPr>
          <p:spPr bwMode="auto">
            <a:xfrm>
              <a:off x="1920"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16" name="Rectangle 12" descr="羊皮纸"/>
            <p:cNvSpPr>
              <a:spLocks noChangeArrowheads="1"/>
            </p:cNvSpPr>
            <p:nvPr/>
          </p:nvSpPr>
          <p:spPr bwMode="auto">
            <a:xfrm>
              <a:off x="2400"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17" name="Line 13"/>
            <p:cNvSpPr>
              <a:spLocks noChangeShapeType="1"/>
            </p:cNvSpPr>
            <p:nvPr/>
          </p:nvSpPr>
          <p:spPr bwMode="auto">
            <a:xfrm>
              <a:off x="2688"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18" name="Rectangle 14" descr="花束"/>
            <p:cNvSpPr>
              <a:spLocks noChangeArrowheads="1"/>
            </p:cNvSpPr>
            <p:nvPr/>
          </p:nvSpPr>
          <p:spPr bwMode="auto">
            <a:xfrm>
              <a:off x="3936"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19" name="Rectangle 15" descr="羊皮纸"/>
            <p:cNvSpPr>
              <a:spLocks noChangeArrowheads="1"/>
            </p:cNvSpPr>
            <p:nvPr/>
          </p:nvSpPr>
          <p:spPr bwMode="auto">
            <a:xfrm>
              <a:off x="2400"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0" name="Line 16"/>
            <p:cNvSpPr>
              <a:spLocks noChangeShapeType="1"/>
            </p:cNvSpPr>
            <p:nvPr/>
          </p:nvSpPr>
          <p:spPr bwMode="auto">
            <a:xfrm>
              <a:off x="2688"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21" name="Rectangle 17" descr="花束"/>
            <p:cNvSpPr>
              <a:spLocks noChangeArrowheads="1"/>
            </p:cNvSpPr>
            <p:nvPr/>
          </p:nvSpPr>
          <p:spPr bwMode="auto">
            <a:xfrm>
              <a:off x="2928"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2" name="Rectangle 18" descr="羊皮纸"/>
            <p:cNvSpPr>
              <a:spLocks noChangeArrowheads="1"/>
            </p:cNvSpPr>
            <p:nvPr/>
          </p:nvSpPr>
          <p:spPr bwMode="auto">
            <a:xfrm>
              <a:off x="3408" y="69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3" name="Line 19"/>
            <p:cNvSpPr>
              <a:spLocks noChangeShapeType="1"/>
            </p:cNvSpPr>
            <p:nvPr/>
          </p:nvSpPr>
          <p:spPr bwMode="auto">
            <a:xfrm>
              <a:off x="3696"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24" name="Rectangle 20" descr="花束"/>
            <p:cNvSpPr>
              <a:spLocks noChangeArrowheads="1"/>
            </p:cNvSpPr>
            <p:nvPr/>
          </p:nvSpPr>
          <p:spPr bwMode="auto">
            <a:xfrm>
              <a:off x="3984" y="69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5" name="Rectangle 21" descr="羊皮纸"/>
            <p:cNvSpPr>
              <a:spLocks noChangeArrowheads="1"/>
            </p:cNvSpPr>
            <p:nvPr/>
          </p:nvSpPr>
          <p:spPr bwMode="auto">
            <a:xfrm>
              <a:off x="3408"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6" name="Line 22"/>
            <p:cNvSpPr>
              <a:spLocks noChangeShapeType="1"/>
            </p:cNvSpPr>
            <p:nvPr/>
          </p:nvSpPr>
          <p:spPr bwMode="auto">
            <a:xfrm>
              <a:off x="3696"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27" name="Rectangle 23" descr="花束"/>
            <p:cNvSpPr>
              <a:spLocks noChangeArrowheads="1"/>
            </p:cNvSpPr>
            <p:nvPr/>
          </p:nvSpPr>
          <p:spPr bwMode="auto">
            <a:xfrm>
              <a:off x="3984"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8" name="Rectangle 24" descr="羊皮纸"/>
            <p:cNvSpPr>
              <a:spLocks noChangeArrowheads="1"/>
            </p:cNvSpPr>
            <p:nvPr/>
          </p:nvSpPr>
          <p:spPr bwMode="auto">
            <a:xfrm>
              <a:off x="4416"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9" name="Line 25"/>
            <p:cNvSpPr>
              <a:spLocks noChangeShapeType="1"/>
            </p:cNvSpPr>
            <p:nvPr/>
          </p:nvSpPr>
          <p:spPr bwMode="auto">
            <a:xfrm>
              <a:off x="4704"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30" name="Rectangle 26" descr="花束"/>
            <p:cNvSpPr>
              <a:spLocks noChangeArrowheads="1"/>
            </p:cNvSpPr>
            <p:nvPr/>
          </p:nvSpPr>
          <p:spPr bwMode="auto">
            <a:xfrm>
              <a:off x="4992"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31" name="Line 27"/>
            <p:cNvSpPr>
              <a:spLocks noChangeShapeType="1"/>
            </p:cNvSpPr>
            <p:nvPr/>
          </p:nvSpPr>
          <p:spPr bwMode="auto">
            <a:xfrm>
              <a:off x="1152" y="888"/>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32" name="Line 28"/>
            <p:cNvSpPr>
              <a:spLocks noChangeShapeType="1"/>
            </p:cNvSpPr>
            <p:nvPr/>
          </p:nvSpPr>
          <p:spPr bwMode="auto">
            <a:xfrm>
              <a:off x="2016" y="1656"/>
              <a:ext cx="384"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33" name="Line 29"/>
            <p:cNvSpPr>
              <a:spLocks noChangeShapeType="1"/>
            </p:cNvSpPr>
            <p:nvPr/>
          </p:nvSpPr>
          <p:spPr bwMode="auto">
            <a:xfrm>
              <a:off x="3072" y="1656"/>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34" name="Line 30"/>
            <p:cNvSpPr>
              <a:spLocks noChangeShapeType="1"/>
            </p:cNvSpPr>
            <p:nvPr/>
          </p:nvSpPr>
          <p:spPr bwMode="auto">
            <a:xfrm>
              <a:off x="4080"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35" name="Line 31"/>
            <p:cNvSpPr>
              <a:spLocks noChangeShapeType="1"/>
            </p:cNvSpPr>
            <p:nvPr/>
          </p:nvSpPr>
          <p:spPr bwMode="auto">
            <a:xfrm>
              <a:off x="4080" y="88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36" name="Text Box 32"/>
            <p:cNvSpPr txBox="1">
              <a:spLocks noChangeArrowheads="1"/>
            </p:cNvSpPr>
            <p:nvPr/>
          </p:nvSpPr>
          <p:spPr bwMode="auto">
            <a:xfrm>
              <a:off x="4961" y="66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5537" name="Text Box 33"/>
            <p:cNvSpPr txBox="1">
              <a:spLocks noChangeArrowheads="1"/>
            </p:cNvSpPr>
            <p:nvPr/>
          </p:nvSpPr>
          <p:spPr bwMode="auto">
            <a:xfrm>
              <a:off x="4961" y="1435"/>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5538" name="Text Box 34"/>
            <p:cNvSpPr txBox="1">
              <a:spLocks noChangeArrowheads="1"/>
            </p:cNvSpPr>
            <p:nvPr/>
          </p:nvSpPr>
          <p:spPr bwMode="auto">
            <a:xfrm>
              <a:off x="384" y="2766"/>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5539" name="Rectangle 35"/>
            <p:cNvSpPr>
              <a:spLocks noChangeArrowheads="1"/>
            </p:cNvSpPr>
            <p:nvPr/>
          </p:nvSpPr>
          <p:spPr bwMode="auto">
            <a:xfrm>
              <a:off x="1392" y="2773"/>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40" name="Line 36"/>
            <p:cNvSpPr>
              <a:spLocks noChangeShapeType="1"/>
            </p:cNvSpPr>
            <p:nvPr/>
          </p:nvSpPr>
          <p:spPr bwMode="auto">
            <a:xfrm>
              <a:off x="1680" y="2768"/>
              <a:ext cx="0" cy="328"/>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41" name="Rectangle 37" descr="花束"/>
            <p:cNvSpPr>
              <a:spLocks noChangeArrowheads="1"/>
            </p:cNvSpPr>
            <p:nvPr/>
          </p:nvSpPr>
          <p:spPr bwMode="auto">
            <a:xfrm>
              <a:off x="1920" y="2773"/>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42" name="Rectangle 38" descr="羊皮纸"/>
            <p:cNvSpPr>
              <a:spLocks noChangeArrowheads="1"/>
            </p:cNvSpPr>
            <p:nvPr/>
          </p:nvSpPr>
          <p:spPr bwMode="auto">
            <a:xfrm>
              <a:off x="2400" y="277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43" name="Line 39"/>
            <p:cNvSpPr>
              <a:spLocks noChangeShapeType="1"/>
            </p:cNvSpPr>
            <p:nvPr/>
          </p:nvSpPr>
          <p:spPr bwMode="auto">
            <a:xfrm>
              <a:off x="2688" y="277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44" name="Rectangle 40" descr="花束"/>
            <p:cNvSpPr>
              <a:spLocks noChangeArrowheads="1"/>
            </p:cNvSpPr>
            <p:nvPr/>
          </p:nvSpPr>
          <p:spPr bwMode="auto">
            <a:xfrm>
              <a:off x="2928" y="277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45" name="Rectangle 41" descr="羊皮纸"/>
            <p:cNvSpPr>
              <a:spLocks noChangeArrowheads="1"/>
            </p:cNvSpPr>
            <p:nvPr/>
          </p:nvSpPr>
          <p:spPr bwMode="auto">
            <a:xfrm>
              <a:off x="3408" y="277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46" name="Line 42"/>
            <p:cNvSpPr>
              <a:spLocks noChangeShapeType="1"/>
            </p:cNvSpPr>
            <p:nvPr/>
          </p:nvSpPr>
          <p:spPr bwMode="auto">
            <a:xfrm>
              <a:off x="3696" y="278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47" name="Rectangle 43" descr="花束"/>
            <p:cNvSpPr>
              <a:spLocks noChangeArrowheads="1"/>
            </p:cNvSpPr>
            <p:nvPr/>
          </p:nvSpPr>
          <p:spPr bwMode="auto">
            <a:xfrm>
              <a:off x="3984" y="277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48" name="Line 44"/>
            <p:cNvSpPr>
              <a:spLocks noChangeShapeType="1"/>
            </p:cNvSpPr>
            <p:nvPr/>
          </p:nvSpPr>
          <p:spPr bwMode="auto">
            <a:xfrm>
              <a:off x="1152" y="294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49" name="Line 45"/>
            <p:cNvSpPr>
              <a:spLocks noChangeShapeType="1"/>
            </p:cNvSpPr>
            <p:nvPr/>
          </p:nvSpPr>
          <p:spPr bwMode="auto">
            <a:xfrm>
              <a:off x="2064" y="294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50" name="Line 46"/>
            <p:cNvSpPr>
              <a:spLocks noChangeShapeType="1"/>
            </p:cNvSpPr>
            <p:nvPr/>
          </p:nvSpPr>
          <p:spPr bwMode="auto">
            <a:xfrm>
              <a:off x="3072" y="294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51" name="Text Box 47"/>
            <p:cNvSpPr txBox="1">
              <a:spLocks noChangeArrowheads="1"/>
            </p:cNvSpPr>
            <p:nvPr/>
          </p:nvSpPr>
          <p:spPr bwMode="auto">
            <a:xfrm>
              <a:off x="3945" y="2730"/>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5552" name="Text Box 48"/>
            <p:cNvSpPr txBox="1">
              <a:spLocks noChangeArrowheads="1"/>
            </p:cNvSpPr>
            <p:nvPr/>
          </p:nvSpPr>
          <p:spPr bwMode="auto">
            <a:xfrm>
              <a:off x="2428" y="66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5553" name="Text Box 49"/>
            <p:cNvSpPr txBox="1">
              <a:spLocks noChangeArrowheads="1"/>
            </p:cNvSpPr>
            <p:nvPr/>
          </p:nvSpPr>
          <p:spPr bwMode="auto">
            <a:xfrm>
              <a:off x="2428" y="274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5554" name="Text Box 50"/>
            <p:cNvSpPr txBox="1">
              <a:spLocks noChangeArrowheads="1"/>
            </p:cNvSpPr>
            <p:nvPr/>
          </p:nvSpPr>
          <p:spPr bwMode="auto">
            <a:xfrm>
              <a:off x="1392" y="1435"/>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5555" name="Text Box 51"/>
            <p:cNvSpPr txBox="1">
              <a:spLocks noChangeArrowheads="1"/>
            </p:cNvSpPr>
            <p:nvPr/>
          </p:nvSpPr>
          <p:spPr bwMode="auto">
            <a:xfrm>
              <a:off x="3400" y="274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5556" name="Text Box 52"/>
            <p:cNvSpPr txBox="1">
              <a:spLocks noChangeArrowheads="1"/>
            </p:cNvSpPr>
            <p:nvPr/>
          </p:nvSpPr>
          <p:spPr bwMode="auto">
            <a:xfrm>
              <a:off x="3408" y="66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5557" name="Text Box 53"/>
            <p:cNvSpPr txBox="1">
              <a:spLocks noChangeArrowheads="1"/>
            </p:cNvSpPr>
            <p:nvPr/>
          </p:nvSpPr>
          <p:spPr bwMode="auto">
            <a:xfrm>
              <a:off x="2428" y="1435"/>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5558" name="Text Box 54"/>
            <p:cNvSpPr txBox="1">
              <a:spLocks noChangeArrowheads="1"/>
            </p:cNvSpPr>
            <p:nvPr/>
          </p:nvSpPr>
          <p:spPr bwMode="auto">
            <a:xfrm>
              <a:off x="3383" y="1435"/>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5559" name="Text Box 55"/>
            <p:cNvSpPr txBox="1">
              <a:spLocks noChangeArrowheads="1"/>
            </p:cNvSpPr>
            <p:nvPr/>
          </p:nvSpPr>
          <p:spPr bwMode="auto">
            <a:xfrm>
              <a:off x="4428" y="66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5560" name="Text Box 56"/>
            <p:cNvSpPr txBox="1">
              <a:spLocks noChangeArrowheads="1"/>
            </p:cNvSpPr>
            <p:nvPr/>
          </p:nvSpPr>
          <p:spPr bwMode="auto">
            <a:xfrm>
              <a:off x="4476" y="1435"/>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5561" name="Line 57"/>
            <p:cNvSpPr>
              <a:spLocks noChangeShapeType="1"/>
            </p:cNvSpPr>
            <p:nvPr/>
          </p:nvSpPr>
          <p:spPr bwMode="auto">
            <a:xfrm flipH="1">
              <a:off x="4599" y="456"/>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62" name="Text Box 58"/>
            <p:cNvSpPr txBox="1">
              <a:spLocks noChangeArrowheads="1"/>
            </p:cNvSpPr>
            <p:nvPr/>
          </p:nvSpPr>
          <p:spPr bwMode="auto">
            <a:xfrm>
              <a:off x="4843" y="291"/>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5563" name="Line 59"/>
            <p:cNvSpPr>
              <a:spLocks noChangeShapeType="1"/>
            </p:cNvSpPr>
            <p:nvPr/>
          </p:nvSpPr>
          <p:spPr bwMode="auto">
            <a:xfrm flipH="1" flipV="1">
              <a:off x="3592" y="1848"/>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64" name="Text Box 60"/>
            <p:cNvSpPr txBox="1">
              <a:spLocks noChangeArrowheads="1"/>
            </p:cNvSpPr>
            <p:nvPr/>
          </p:nvSpPr>
          <p:spPr bwMode="auto">
            <a:xfrm>
              <a:off x="3835" y="1923"/>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sp>
          <p:nvSpPr>
            <p:cNvPr id="1045565" name="Rectangle 61" descr="花束"/>
            <p:cNvSpPr>
              <a:spLocks noChangeArrowheads="1"/>
            </p:cNvSpPr>
            <p:nvPr/>
          </p:nvSpPr>
          <p:spPr bwMode="auto">
            <a:xfrm>
              <a:off x="2928"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66" name="Rectangle 62" descr="花束"/>
            <p:cNvSpPr>
              <a:spLocks noChangeArrowheads="1"/>
            </p:cNvSpPr>
            <p:nvPr/>
          </p:nvSpPr>
          <p:spPr bwMode="auto">
            <a:xfrm>
              <a:off x="1920"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67" name="Line 63"/>
            <p:cNvSpPr>
              <a:spLocks noChangeShapeType="1"/>
            </p:cNvSpPr>
            <p:nvPr/>
          </p:nvSpPr>
          <p:spPr bwMode="auto">
            <a:xfrm>
              <a:off x="3024" y="888"/>
              <a:ext cx="373"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68" name="Line 64"/>
            <p:cNvSpPr>
              <a:spLocks noChangeShapeType="1"/>
            </p:cNvSpPr>
            <p:nvPr/>
          </p:nvSpPr>
          <p:spPr bwMode="auto">
            <a:xfrm>
              <a:off x="2016" y="888"/>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69" name="Line 65"/>
            <p:cNvSpPr>
              <a:spLocks noChangeShapeType="1"/>
            </p:cNvSpPr>
            <p:nvPr/>
          </p:nvSpPr>
          <p:spPr bwMode="auto">
            <a:xfrm>
              <a:off x="3380" y="2590"/>
              <a:ext cx="192" cy="192"/>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70" name="Text Box 66"/>
            <p:cNvSpPr txBox="1">
              <a:spLocks noChangeArrowheads="1"/>
            </p:cNvSpPr>
            <p:nvPr/>
          </p:nvSpPr>
          <p:spPr bwMode="auto">
            <a:xfrm>
              <a:off x="3099" y="2320"/>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grpSp>
          <p:nvGrpSpPr>
            <p:cNvPr id="164930" name="Group 67"/>
            <p:cNvGrpSpPr/>
            <p:nvPr/>
          </p:nvGrpSpPr>
          <p:grpSpPr bwMode="auto">
            <a:xfrm>
              <a:off x="372" y="1462"/>
              <a:ext cx="1014" cy="816"/>
              <a:chOff x="372" y="1390"/>
              <a:chExt cx="1014" cy="816"/>
            </a:xfrm>
          </p:grpSpPr>
          <p:sp>
            <p:nvSpPr>
              <p:cNvPr id="1045572" name="Rectangle 68"/>
              <p:cNvSpPr>
                <a:spLocks noChangeArrowheads="1"/>
              </p:cNvSpPr>
              <p:nvPr/>
            </p:nvSpPr>
            <p:spPr bwMode="auto">
              <a:xfrm>
                <a:off x="378" y="1390"/>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73" name="Line 69"/>
              <p:cNvSpPr>
                <a:spLocks noChangeShapeType="1"/>
              </p:cNvSpPr>
              <p:nvPr/>
            </p:nvSpPr>
            <p:spPr bwMode="auto">
              <a:xfrm>
                <a:off x="666" y="139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74" name="Text Box 70"/>
              <p:cNvSpPr txBox="1">
                <a:spLocks noChangeArrowheads="1"/>
              </p:cNvSpPr>
              <p:nvPr/>
            </p:nvSpPr>
            <p:spPr bwMode="auto">
              <a:xfrm>
                <a:off x="372" y="1915"/>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5575" name="Line 71"/>
              <p:cNvSpPr>
                <a:spLocks noChangeShapeType="1"/>
              </p:cNvSpPr>
              <p:nvPr/>
            </p:nvSpPr>
            <p:spPr bwMode="auto">
              <a:xfrm flipH="1" flipV="1">
                <a:off x="615" y="1768"/>
                <a:ext cx="5" cy="178"/>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76" name="Rectangle 72" descr="花束"/>
              <p:cNvSpPr>
                <a:spLocks noChangeArrowheads="1"/>
              </p:cNvSpPr>
              <p:nvPr/>
            </p:nvSpPr>
            <p:spPr bwMode="auto">
              <a:xfrm>
                <a:off x="906" y="139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77" name="Line 73"/>
              <p:cNvSpPr>
                <a:spLocks noChangeShapeType="1"/>
              </p:cNvSpPr>
              <p:nvPr/>
            </p:nvSpPr>
            <p:spPr bwMode="auto">
              <a:xfrm>
                <a:off x="1002" y="1582"/>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sp>
          <p:nvSpPr>
            <p:cNvPr id="1045578" name="Line 74"/>
            <p:cNvSpPr>
              <a:spLocks noChangeShapeType="1"/>
            </p:cNvSpPr>
            <p:nvPr/>
          </p:nvSpPr>
          <p:spPr bwMode="auto">
            <a:xfrm>
              <a:off x="4704" y="3437"/>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79" name="Text Box 75"/>
            <p:cNvSpPr txBox="1">
              <a:spLocks noChangeArrowheads="1"/>
            </p:cNvSpPr>
            <p:nvPr/>
          </p:nvSpPr>
          <p:spPr bwMode="auto">
            <a:xfrm>
              <a:off x="1854" y="1998"/>
              <a:ext cx="1683" cy="291"/>
            </a:xfrm>
            <a:prstGeom prst="rect">
              <a:avLst/>
            </a:pr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t>tmp = -3+3 = 0</a:t>
              </a:r>
              <a:endParaRPr kumimoji="0" lang="en-US" altLang="zh-CN" sz="2400" b="1"/>
            </a:p>
          </p:txBody>
        </p:sp>
        <p:sp>
          <p:nvSpPr>
            <p:cNvPr id="1045580" name="Line 76"/>
            <p:cNvSpPr>
              <a:spLocks noChangeShapeType="1"/>
            </p:cNvSpPr>
            <p:nvPr/>
          </p:nvSpPr>
          <p:spPr bwMode="auto">
            <a:xfrm flipV="1">
              <a:off x="2406" y="1770"/>
              <a:ext cx="118" cy="245"/>
            </a:xfrm>
            <a:prstGeom prst="line">
              <a:avLst/>
            </a:prstGeom>
            <a:noFill/>
            <a:ln w="28575">
              <a:solidFill>
                <a:srgbClr val="FF99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sz="2400"/>
            </a:p>
          </p:txBody>
        </p:sp>
        <p:sp>
          <p:nvSpPr>
            <p:cNvPr id="1045581" name="Line 77"/>
            <p:cNvSpPr>
              <a:spLocks noChangeShapeType="1"/>
            </p:cNvSpPr>
            <p:nvPr/>
          </p:nvSpPr>
          <p:spPr bwMode="auto">
            <a:xfrm flipV="1">
              <a:off x="2688" y="994"/>
              <a:ext cx="856" cy="1008"/>
            </a:xfrm>
            <a:prstGeom prst="line">
              <a:avLst/>
            </a:prstGeom>
            <a:noFill/>
            <a:ln w="28575">
              <a:solidFill>
                <a:srgbClr val="FF99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sz="2400"/>
            </a:p>
          </p:txBody>
        </p:sp>
      </p:gr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5889" name="Group 2"/>
          <p:cNvGrpSpPr/>
          <p:nvPr/>
        </p:nvGrpSpPr>
        <p:grpSpPr bwMode="auto">
          <a:xfrm>
            <a:off x="590550" y="449263"/>
            <a:ext cx="7654925" cy="5715000"/>
            <a:chOff x="372" y="283"/>
            <a:chExt cx="4822" cy="3600"/>
          </a:xfrm>
        </p:grpSpPr>
        <p:sp>
          <p:nvSpPr>
            <p:cNvPr id="1046531" name="Rectangle 3" descr="羊皮纸"/>
            <p:cNvSpPr>
              <a:spLocks noChangeArrowheads="1"/>
            </p:cNvSpPr>
            <p:nvPr/>
          </p:nvSpPr>
          <p:spPr bwMode="auto">
            <a:xfrm>
              <a:off x="4416" y="688"/>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32" name="Line 4"/>
            <p:cNvSpPr>
              <a:spLocks noChangeShapeType="1"/>
            </p:cNvSpPr>
            <p:nvPr/>
          </p:nvSpPr>
          <p:spPr bwMode="auto">
            <a:xfrm>
              <a:off x="4704"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33" name="Rectangle 5"/>
            <p:cNvSpPr>
              <a:spLocks noChangeArrowheads="1"/>
            </p:cNvSpPr>
            <p:nvPr/>
          </p:nvSpPr>
          <p:spPr bwMode="auto">
            <a:xfrm>
              <a:off x="1392" y="688"/>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34" name="Text Box 6"/>
            <p:cNvSpPr txBox="1">
              <a:spLocks noChangeArrowheads="1"/>
            </p:cNvSpPr>
            <p:nvPr/>
          </p:nvSpPr>
          <p:spPr bwMode="auto">
            <a:xfrm>
              <a:off x="384" y="688"/>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6535" name="Line 7"/>
            <p:cNvSpPr>
              <a:spLocks noChangeShapeType="1"/>
            </p:cNvSpPr>
            <p:nvPr/>
          </p:nvSpPr>
          <p:spPr bwMode="auto">
            <a:xfrm>
              <a:off x="1680"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36" name="Rectangle 8" descr="花束"/>
            <p:cNvSpPr>
              <a:spLocks noChangeArrowheads="1"/>
            </p:cNvSpPr>
            <p:nvPr/>
          </p:nvSpPr>
          <p:spPr bwMode="auto">
            <a:xfrm>
              <a:off x="4944"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37" name="Rectangle 9" descr="羊皮纸"/>
            <p:cNvSpPr>
              <a:spLocks noChangeArrowheads="1"/>
            </p:cNvSpPr>
            <p:nvPr/>
          </p:nvSpPr>
          <p:spPr bwMode="auto">
            <a:xfrm>
              <a:off x="1392" y="145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38" name="Line 10"/>
            <p:cNvSpPr>
              <a:spLocks noChangeShapeType="1"/>
            </p:cNvSpPr>
            <p:nvPr/>
          </p:nvSpPr>
          <p:spPr bwMode="auto">
            <a:xfrm>
              <a:off x="1680"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39" name="Rectangle 11" descr="花束"/>
            <p:cNvSpPr>
              <a:spLocks noChangeArrowheads="1"/>
            </p:cNvSpPr>
            <p:nvPr/>
          </p:nvSpPr>
          <p:spPr bwMode="auto">
            <a:xfrm>
              <a:off x="1928" y="145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0" name="Rectangle 12" descr="羊皮纸"/>
            <p:cNvSpPr>
              <a:spLocks noChangeArrowheads="1"/>
            </p:cNvSpPr>
            <p:nvPr/>
          </p:nvSpPr>
          <p:spPr bwMode="auto">
            <a:xfrm>
              <a:off x="2400" y="688"/>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1" name="Line 13"/>
            <p:cNvSpPr>
              <a:spLocks noChangeShapeType="1"/>
            </p:cNvSpPr>
            <p:nvPr/>
          </p:nvSpPr>
          <p:spPr bwMode="auto">
            <a:xfrm>
              <a:off x="2688"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42" name="Rectangle 14" descr="花束"/>
            <p:cNvSpPr>
              <a:spLocks noChangeArrowheads="1"/>
            </p:cNvSpPr>
            <p:nvPr/>
          </p:nvSpPr>
          <p:spPr bwMode="auto">
            <a:xfrm>
              <a:off x="3936"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3" name="Rectangle 15" descr="羊皮纸"/>
            <p:cNvSpPr>
              <a:spLocks noChangeArrowheads="1"/>
            </p:cNvSpPr>
            <p:nvPr/>
          </p:nvSpPr>
          <p:spPr bwMode="auto">
            <a:xfrm>
              <a:off x="2400" y="145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4" name="Line 16"/>
            <p:cNvSpPr>
              <a:spLocks noChangeShapeType="1"/>
            </p:cNvSpPr>
            <p:nvPr/>
          </p:nvSpPr>
          <p:spPr bwMode="auto">
            <a:xfrm>
              <a:off x="2688"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45" name="Rectangle 17" descr="花束"/>
            <p:cNvSpPr>
              <a:spLocks noChangeArrowheads="1"/>
            </p:cNvSpPr>
            <p:nvPr/>
          </p:nvSpPr>
          <p:spPr bwMode="auto">
            <a:xfrm>
              <a:off x="2928" y="145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6" name="Rectangle 18" descr="羊皮纸"/>
            <p:cNvSpPr>
              <a:spLocks noChangeArrowheads="1"/>
            </p:cNvSpPr>
            <p:nvPr/>
          </p:nvSpPr>
          <p:spPr bwMode="auto">
            <a:xfrm>
              <a:off x="3408" y="688"/>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7" name="Line 19"/>
            <p:cNvSpPr>
              <a:spLocks noChangeShapeType="1"/>
            </p:cNvSpPr>
            <p:nvPr/>
          </p:nvSpPr>
          <p:spPr bwMode="auto">
            <a:xfrm>
              <a:off x="3696"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48" name="Rectangle 20" descr="花束"/>
            <p:cNvSpPr>
              <a:spLocks noChangeArrowheads="1"/>
            </p:cNvSpPr>
            <p:nvPr/>
          </p:nvSpPr>
          <p:spPr bwMode="auto">
            <a:xfrm>
              <a:off x="3984" y="688"/>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9" name="Rectangle 21" descr="羊皮纸"/>
            <p:cNvSpPr>
              <a:spLocks noChangeArrowheads="1"/>
            </p:cNvSpPr>
            <p:nvPr/>
          </p:nvSpPr>
          <p:spPr bwMode="auto">
            <a:xfrm>
              <a:off x="3408" y="145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50" name="Line 22"/>
            <p:cNvSpPr>
              <a:spLocks noChangeShapeType="1"/>
            </p:cNvSpPr>
            <p:nvPr/>
          </p:nvSpPr>
          <p:spPr bwMode="auto">
            <a:xfrm>
              <a:off x="3696"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51" name="Rectangle 23" descr="花束"/>
            <p:cNvSpPr>
              <a:spLocks noChangeArrowheads="1"/>
            </p:cNvSpPr>
            <p:nvPr/>
          </p:nvSpPr>
          <p:spPr bwMode="auto">
            <a:xfrm>
              <a:off x="3984" y="145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52" name="Rectangle 24" descr="羊皮纸"/>
            <p:cNvSpPr>
              <a:spLocks noChangeArrowheads="1"/>
            </p:cNvSpPr>
            <p:nvPr/>
          </p:nvSpPr>
          <p:spPr bwMode="auto">
            <a:xfrm>
              <a:off x="4416" y="145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53" name="Line 25"/>
            <p:cNvSpPr>
              <a:spLocks noChangeShapeType="1"/>
            </p:cNvSpPr>
            <p:nvPr/>
          </p:nvSpPr>
          <p:spPr bwMode="auto">
            <a:xfrm>
              <a:off x="4704"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54" name="Rectangle 26" descr="花束"/>
            <p:cNvSpPr>
              <a:spLocks noChangeArrowheads="1"/>
            </p:cNvSpPr>
            <p:nvPr/>
          </p:nvSpPr>
          <p:spPr bwMode="auto">
            <a:xfrm>
              <a:off x="4992" y="145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55" name="Line 27"/>
            <p:cNvSpPr>
              <a:spLocks noChangeShapeType="1"/>
            </p:cNvSpPr>
            <p:nvPr/>
          </p:nvSpPr>
          <p:spPr bwMode="auto">
            <a:xfrm>
              <a:off x="1152" y="880"/>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56" name="Line 28"/>
            <p:cNvSpPr>
              <a:spLocks noChangeShapeType="1"/>
            </p:cNvSpPr>
            <p:nvPr/>
          </p:nvSpPr>
          <p:spPr bwMode="auto">
            <a:xfrm>
              <a:off x="2016" y="1648"/>
              <a:ext cx="384"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57" name="Line 29"/>
            <p:cNvSpPr>
              <a:spLocks noChangeShapeType="1"/>
            </p:cNvSpPr>
            <p:nvPr/>
          </p:nvSpPr>
          <p:spPr bwMode="auto">
            <a:xfrm>
              <a:off x="3072" y="164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58" name="Line 30"/>
            <p:cNvSpPr>
              <a:spLocks noChangeShapeType="1"/>
            </p:cNvSpPr>
            <p:nvPr/>
          </p:nvSpPr>
          <p:spPr bwMode="auto">
            <a:xfrm>
              <a:off x="4080" y="164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59" name="Line 31"/>
            <p:cNvSpPr>
              <a:spLocks noChangeShapeType="1"/>
            </p:cNvSpPr>
            <p:nvPr/>
          </p:nvSpPr>
          <p:spPr bwMode="auto">
            <a:xfrm>
              <a:off x="4080" y="880"/>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60" name="Text Box 32"/>
            <p:cNvSpPr txBox="1">
              <a:spLocks noChangeArrowheads="1"/>
            </p:cNvSpPr>
            <p:nvPr/>
          </p:nvSpPr>
          <p:spPr bwMode="auto">
            <a:xfrm>
              <a:off x="4961" y="659"/>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6561" name="Text Box 33"/>
            <p:cNvSpPr txBox="1">
              <a:spLocks noChangeArrowheads="1"/>
            </p:cNvSpPr>
            <p:nvPr/>
          </p:nvSpPr>
          <p:spPr bwMode="auto">
            <a:xfrm>
              <a:off x="4961" y="142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6562" name="Text Box 34"/>
            <p:cNvSpPr txBox="1">
              <a:spLocks noChangeArrowheads="1"/>
            </p:cNvSpPr>
            <p:nvPr/>
          </p:nvSpPr>
          <p:spPr bwMode="auto">
            <a:xfrm>
              <a:off x="384" y="2542"/>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6563" name="Rectangle 35"/>
            <p:cNvSpPr>
              <a:spLocks noChangeArrowheads="1"/>
            </p:cNvSpPr>
            <p:nvPr/>
          </p:nvSpPr>
          <p:spPr bwMode="auto">
            <a:xfrm>
              <a:off x="1400" y="2533"/>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64" name="Line 36"/>
            <p:cNvSpPr>
              <a:spLocks noChangeShapeType="1"/>
            </p:cNvSpPr>
            <p:nvPr/>
          </p:nvSpPr>
          <p:spPr bwMode="auto">
            <a:xfrm>
              <a:off x="1680" y="2536"/>
              <a:ext cx="0" cy="328"/>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65" name="Rectangle 37" descr="花束"/>
            <p:cNvSpPr>
              <a:spLocks noChangeArrowheads="1"/>
            </p:cNvSpPr>
            <p:nvPr/>
          </p:nvSpPr>
          <p:spPr bwMode="auto">
            <a:xfrm>
              <a:off x="1928" y="2533"/>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66" name="Rectangle 38" descr="羊皮纸"/>
            <p:cNvSpPr>
              <a:spLocks noChangeArrowheads="1"/>
            </p:cNvSpPr>
            <p:nvPr/>
          </p:nvSpPr>
          <p:spPr bwMode="auto">
            <a:xfrm>
              <a:off x="2400" y="253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67" name="Line 39"/>
            <p:cNvSpPr>
              <a:spLocks noChangeShapeType="1"/>
            </p:cNvSpPr>
            <p:nvPr/>
          </p:nvSpPr>
          <p:spPr bwMode="auto">
            <a:xfrm>
              <a:off x="2688" y="252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68" name="Rectangle 40" descr="花束"/>
            <p:cNvSpPr>
              <a:spLocks noChangeArrowheads="1"/>
            </p:cNvSpPr>
            <p:nvPr/>
          </p:nvSpPr>
          <p:spPr bwMode="auto">
            <a:xfrm>
              <a:off x="2928" y="253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69" name="Rectangle 41" descr="羊皮纸"/>
            <p:cNvSpPr>
              <a:spLocks noChangeArrowheads="1"/>
            </p:cNvSpPr>
            <p:nvPr/>
          </p:nvSpPr>
          <p:spPr bwMode="auto">
            <a:xfrm>
              <a:off x="3408" y="253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70" name="Line 42"/>
            <p:cNvSpPr>
              <a:spLocks noChangeShapeType="1"/>
            </p:cNvSpPr>
            <p:nvPr/>
          </p:nvSpPr>
          <p:spPr bwMode="auto">
            <a:xfrm>
              <a:off x="3704" y="252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1" name="Rectangle 43" descr="花束"/>
            <p:cNvSpPr>
              <a:spLocks noChangeArrowheads="1"/>
            </p:cNvSpPr>
            <p:nvPr/>
          </p:nvSpPr>
          <p:spPr bwMode="auto">
            <a:xfrm>
              <a:off x="3984" y="253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72" name="Line 44"/>
            <p:cNvSpPr>
              <a:spLocks noChangeShapeType="1"/>
            </p:cNvSpPr>
            <p:nvPr/>
          </p:nvSpPr>
          <p:spPr bwMode="auto">
            <a:xfrm>
              <a:off x="1152" y="270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3" name="Line 45"/>
            <p:cNvSpPr>
              <a:spLocks noChangeShapeType="1"/>
            </p:cNvSpPr>
            <p:nvPr/>
          </p:nvSpPr>
          <p:spPr bwMode="auto">
            <a:xfrm>
              <a:off x="2064" y="270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4" name="Line 46"/>
            <p:cNvSpPr>
              <a:spLocks noChangeShapeType="1"/>
            </p:cNvSpPr>
            <p:nvPr/>
          </p:nvSpPr>
          <p:spPr bwMode="auto">
            <a:xfrm>
              <a:off x="3072" y="270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5" name="Line 47"/>
            <p:cNvSpPr>
              <a:spLocks noChangeShapeType="1"/>
            </p:cNvSpPr>
            <p:nvPr/>
          </p:nvSpPr>
          <p:spPr bwMode="auto">
            <a:xfrm>
              <a:off x="2160" y="342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6" name="Line 48"/>
            <p:cNvSpPr>
              <a:spLocks noChangeShapeType="1"/>
            </p:cNvSpPr>
            <p:nvPr/>
          </p:nvSpPr>
          <p:spPr bwMode="auto">
            <a:xfrm flipV="1">
              <a:off x="2160" y="3056"/>
              <a:ext cx="0" cy="384"/>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7" name="Line 49"/>
            <p:cNvSpPr>
              <a:spLocks noChangeShapeType="1"/>
            </p:cNvSpPr>
            <p:nvPr/>
          </p:nvSpPr>
          <p:spPr bwMode="auto">
            <a:xfrm>
              <a:off x="2160" y="3064"/>
              <a:ext cx="220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8" name="Line 50"/>
            <p:cNvSpPr>
              <a:spLocks noChangeShapeType="1"/>
            </p:cNvSpPr>
            <p:nvPr/>
          </p:nvSpPr>
          <p:spPr bwMode="auto">
            <a:xfrm>
              <a:off x="4080" y="2728"/>
              <a:ext cx="2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9" name="Line 51"/>
            <p:cNvSpPr>
              <a:spLocks noChangeShapeType="1"/>
            </p:cNvSpPr>
            <p:nvPr/>
          </p:nvSpPr>
          <p:spPr bwMode="auto">
            <a:xfrm>
              <a:off x="4360" y="2728"/>
              <a:ext cx="0" cy="33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80" name="Text Box 52"/>
            <p:cNvSpPr txBox="1">
              <a:spLocks noChangeArrowheads="1"/>
            </p:cNvSpPr>
            <p:nvPr/>
          </p:nvSpPr>
          <p:spPr bwMode="auto">
            <a:xfrm>
              <a:off x="2428" y="659"/>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6581" name="Text Box 53"/>
            <p:cNvSpPr txBox="1">
              <a:spLocks noChangeArrowheads="1"/>
            </p:cNvSpPr>
            <p:nvPr/>
          </p:nvSpPr>
          <p:spPr bwMode="auto">
            <a:xfrm>
              <a:off x="2428" y="250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6582" name="Text Box 54"/>
            <p:cNvSpPr txBox="1">
              <a:spLocks noChangeArrowheads="1"/>
            </p:cNvSpPr>
            <p:nvPr/>
          </p:nvSpPr>
          <p:spPr bwMode="auto">
            <a:xfrm>
              <a:off x="1392" y="142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6583" name="Text Box 55"/>
            <p:cNvSpPr txBox="1">
              <a:spLocks noChangeArrowheads="1"/>
            </p:cNvSpPr>
            <p:nvPr/>
          </p:nvSpPr>
          <p:spPr bwMode="auto">
            <a:xfrm>
              <a:off x="3408" y="250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6584" name="Text Box 56"/>
            <p:cNvSpPr txBox="1">
              <a:spLocks noChangeArrowheads="1"/>
            </p:cNvSpPr>
            <p:nvPr/>
          </p:nvSpPr>
          <p:spPr bwMode="auto">
            <a:xfrm>
              <a:off x="3408" y="659"/>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6585" name="Text Box 57"/>
            <p:cNvSpPr txBox="1">
              <a:spLocks noChangeArrowheads="1"/>
            </p:cNvSpPr>
            <p:nvPr/>
          </p:nvSpPr>
          <p:spPr bwMode="auto">
            <a:xfrm>
              <a:off x="2428" y="142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6586" name="Text Box 58"/>
            <p:cNvSpPr txBox="1">
              <a:spLocks noChangeArrowheads="1"/>
            </p:cNvSpPr>
            <p:nvPr/>
          </p:nvSpPr>
          <p:spPr bwMode="auto">
            <a:xfrm>
              <a:off x="3383" y="1427"/>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6587" name="Text Box 59"/>
            <p:cNvSpPr txBox="1">
              <a:spLocks noChangeArrowheads="1"/>
            </p:cNvSpPr>
            <p:nvPr/>
          </p:nvSpPr>
          <p:spPr bwMode="auto">
            <a:xfrm>
              <a:off x="4428" y="659"/>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6588" name="Text Box 60"/>
            <p:cNvSpPr txBox="1">
              <a:spLocks noChangeArrowheads="1"/>
            </p:cNvSpPr>
            <p:nvPr/>
          </p:nvSpPr>
          <p:spPr bwMode="auto">
            <a:xfrm>
              <a:off x="4476" y="142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6589" name="Line 61"/>
            <p:cNvSpPr>
              <a:spLocks noChangeShapeType="1"/>
            </p:cNvSpPr>
            <p:nvPr/>
          </p:nvSpPr>
          <p:spPr bwMode="auto">
            <a:xfrm flipH="1">
              <a:off x="4575" y="448"/>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90" name="Text Box 62"/>
            <p:cNvSpPr txBox="1">
              <a:spLocks noChangeArrowheads="1"/>
            </p:cNvSpPr>
            <p:nvPr/>
          </p:nvSpPr>
          <p:spPr bwMode="auto">
            <a:xfrm>
              <a:off x="4819" y="283"/>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6591" name="Rectangle 63" descr="花束"/>
            <p:cNvSpPr>
              <a:spLocks noChangeArrowheads="1"/>
            </p:cNvSpPr>
            <p:nvPr/>
          </p:nvSpPr>
          <p:spPr bwMode="auto">
            <a:xfrm>
              <a:off x="2928"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92" name="Rectangle 64" descr="花束"/>
            <p:cNvSpPr>
              <a:spLocks noChangeArrowheads="1"/>
            </p:cNvSpPr>
            <p:nvPr/>
          </p:nvSpPr>
          <p:spPr bwMode="auto">
            <a:xfrm>
              <a:off x="1920"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93" name="Line 65"/>
            <p:cNvSpPr>
              <a:spLocks noChangeShapeType="1"/>
            </p:cNvSpPr>
            <p:nvPr/>
          </p:nvSpPr>
          <p:spPr bwMode="auto">
            <a:xfrm>
              <a:off x="3040" y="872"/>
              <a:ext cx="347" cy="1"/>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94" name="Line 66"/>
            <p:cNvSpPr>
              <a:spLocks noChangeShapeType="1"/>
            </p:cNvSpPr>
            <p:nvPr/>
          </p:nvSpPr>
          <p:spPr bwMode="auto">
            <a:xfrm>
              <a:off x="2016" y="880"/>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95" name="Line 67"/>
            <p:cNvSpPr>
              <a:spLocks noChangeShapeType="1"/>
            </p:cNvSpPr>
            <p:nvPr/>
          </p:nvSpPr>
          <p:spPr bwMode="auto">
            <a:xfrm flipV="1">
              <a:off x="2396" y="3609"/>
              <a:ext cx="192" cy="147"/>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96" name="Text Box 68"/>
            <p:cNvSpPr txBox="1">
              <a:spLocks noChangeArrowheads="1"/>
            </p:cNvSpPr>
            <p:nvPr/>
          </p:nvSpPr>
          <p:spPr bwMode="auto">
            <a:xfrm>
              <a:off x="2065" y="3592"/>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sp>
          <p:nvSpPr>
            <p:cNvPr id="1046597" name="Rectangle 69" descr="羊皮纸"/>
            <p:cNvSpPr>
              <a:spLocks noChangeArrowheads="1"/>
            </p:cNvSpPr>
            <p:nvPr/>
          </p:nvSpPr>
          <p:spPr bwMode="auto">
            <a:xfrm>
              <a:off x="2400" y="3237"/>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98" name="Rectangle 70" descr="花束"/>
            <p:cNvSpPr>
              <a:spLocks noChangeArrowheads="1"/>
            </p:cNvSpPr>
            <p:nvPr/>
          </p:nvSpPr>
          <p:spPr bwMode="auto">
            <a:xfrm>
              <a:off x="2976" y="3237"/>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99" name="Text Box 71"/>
            <p:cNvSpPr txBox="1">
              <a:spLocks noChangeArrowheads="1"/>
            </p:cNvSpPr>
            <p:nvPr/>
          </p:nvSpPr>
          <p:spPr bwMode="auto">
            <a:xfrm>
              <a:off x="2375" y="3208"/>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6600" name="Line 72"/>
            <p:cNvSpPr>
              <a:spLocks noChangeShapeType="1"/>
            </p:cNvSpPr>
            <p:nvPr/>
          </p:nvSpPr>
          <p:spPr bwMode="auto">
            <a:xfrm flipV="1">
              <a:off x="4319" y="1832"/>
              <a:ext cx="209" cy="206"/>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601" name="Text Box 73"/>
            <p:cNvSpPr txBox="1">
              <a:spLocks noChangeArrowheads="1"/>
            </p:cNvSpPr>
            <p:nvPr/>
          </p:nvSpPr>
          <p:spPr bwMode="auto">
            <a:xfrm>
              <a:off x="3973" y="1915"/>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grpSp>
          <p:nvGrpSpPr>
            <p:cNvPr id="165961" name="Group 74"/>
            <p:cNvGrpSpPr/>
            <p:nvPr/>
          </p:nvGrpSpPr>
          <p:grpSpPr bwMode="auto">
            <a:xfrm>
              <a:off x="372" y="1446"/>
              <a:ext cx="1014" cy="816"/>
              <a:chOff x="372" y="1390"/>
              <a:chExt cx="1014" cy="816"/>
            </a:xfrm>
          </p:grpSpPr>
          <p:sp>
            <p:nvSpPr>
              <p:cNvPr id="1046603" name="Rectangle 75"/>
              <p:cNvSpPr>
                <a:spLocks noChangeArrowheads="1"/>
              </p:cNvSpPr>
              <p:nvPr/>
            </p:nvSpPr>
            <p:spPr bwMode="auto">
              <a:xfrm>
                <a:off x="378" y="1390"/>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604" name="Line 76"/>
              <p:cNvSpPr>
                <a:spLocks noChangeShapeType="1"/>
              </p:cNvSpPr>
              <p:nvPr/>
            </p:nvSpPr>
            <p:spPr bwMode="auto">
              <a:xfrm>
                <a:off x="666" y="139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605" name="Text Box 77"/>
              <p:cNvSpPr txBox="1">
                <a:spLocks noChangeArrowheads="1"/>
              </p:cNvSpPr>
              <p:nvPr/>
            </p:nvSpPr>
            <p:spPr bwMode="auto">
              <a:xfrm>
                <a:off x="372" y="1915"/>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6606" name="Line 78"/>
              <p:cNvSpPr>
                <a:spLocks noChangeShapeType="1"/>
              </p:cNvSpPr>
              <p:nvPr/>
            </p:nvSpPr>
            <p:spPr bwMode="auto">
              <a:xfrm flipH="1" flipV="1">
                <a:off x="615" y="1768"/>
                <a:ext cx="5" cy="178"/>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607" name="Rectangle 79" descr="花束"/>
              <p:cNvSpPr>
                <a:spLocks noChangeArrowheads="1"/>
              </p:cNvSpPr>
              <p:nvPr/>
            </p:nvSpPr>
            <p:spPr bwMode="auto">
              <a:xfrm>
                <a:off x="906" y="139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608" name="Line 80"/>
              <p:cNvSpPr>
                <a:spLocks noChangeShapeType="1"/>
              </p:cNvSpPr>
              <p:nvPr/>
            </p:nvSpPr>
            <p:spPr bwMode="auto">
              <a:xfrm>
                <a:off x="1002" y="1582"/>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sp>
          <p:nvSpPr>
            <p:cNvPr id="1046609" name="Text Box 81"/>
            <p:cNvSpPr txBox="1">
              <a:spLocks noChangeArrowheads="1"/>
            </p:cNvSpPr>
            <p:nvPr/>
          </p:nvSpPr>
          <p:spPr bwMode="auto">
            <a:xfrm>
              <a:off x="2948" y="3169"/>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6610" name="Line 82"/>
            <p:cNvSpPr>
              <a:spLocks noChangeShapeType="1"/>
            </p:cNvSpPr>
            <p:nvPr/>
          </p:nvSpPr>
          <p:spPr bwMode="auto">
            <a:xfrm>
              <a:off x="2700" y="3242"/>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6913" name="Group 2"/>
          <p:cNvGrpSpPr/>
          <p:nvPr/>
        </p:nvGrpSpPr>
        <p:grpSpPr bwMode="auto">
          <a:xfrm>
            <a:off x="590550" y="465138"/>
            <a:ext cx="7989888" cy="5741987"/>
            <a:chOff x="372" y="293"/>
            <a:chExt cx="5033" cy="3617"/>
          </a:xfrm>
        </p:grpSpPr>
        <p:sp>
          <p:nvSpPr>
            <p:cNvPr id="1047555" name="Rectangle 3" descr="羊皮纸"/>
            <p:cNvSpPr>
              <a:spLocks noChangeArrowheads="1"/>
            </p:cNvSpPr>
            <p:nvPr/>
          </p:nvSpPr>
          <p:spPr bwMode="auto">
            <a:xfrm>
              <a:off x="4416" y="688"/>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56" name="Line 4"/>
            <p:cNvSpPr>
              <a:spLocks noChangeShapeType="1"/>
            </p:cNvSpPr>
            <p:nvPr/>
          </p:nvSpPr>
          <p:spPr bwMode="auto">
            <a:xfrm>
              <a:off x="4704"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57" name="Rectangle 5"/>
            <p:cNvSpPr>
              <a:spLocks noChangeArrowheads="1"/>
            </p:cNvSpPr>
            <p:nvPr/>
          </p:nvSpPr>
          <p:spPr bwMode="auto">
            <a:xfrm>
              <a:off x="1392" y="688"/>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58" name="Text Box 6"/>
            <p:cNvSpPr txBox="1">
              <a:spLocks noChangeArrowheads="1"/>
            </p:cNvSpPr>
            <p:nvPr/>
          </p:nvSpPr>
          <p:spPr bwMode="auto">
            <a:xfrm>
              <a:off x="384" y="688"/>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7559" name="Line 7"/>
            <p:cNvSpPr>
              <a:spLocks noChangeShapeType="1"/>
            </p:cNvSpPr>
            <p:nvPr/>
          </p:nvSpPr>
          <p:spPr bwMode="auto">
            <a:xfrm>
              <a:off x="1680"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60" name="Rectangle 8" descr="花束"/>
            <p:cNvSpPr>
              <a:spLocks noChangeArrowheads="1"/>
            </p:cNvSpPr>
            <p:nvPr/>
          </p:nvSpPr>
          <p:spPr bwMode="auto">
            <a:xfrm>
              <a:off x="4944"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61" name="Rectangle 9" descr="羊皮纸"/>
            <p:cNvSpPr>
              <a:spLocks noChangeArrowheads="1"/>
            </p:cNvSpPr>
            <p:nvPr/>
          </p:nvSpPr>
          <p:spPr bwMode="auto">
            <a:xfrm>
              <a:off x="1392" y="145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62" name="Line 10"/>
            <p:cNvSpPr>
              <a:spLocks noChangeShapeType="1"/>
            </p:cNvSpPr>
            <p:nvPr/>
          </p:nvSpPr>
          <p:spPr bwMode="auto">
            <a:xfrm>
              <a:off x="1680"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63" name="Rectangle 11" descr="花束"/>
            <p:cNvSpPr>
              <a:spLocks noChangeArrowheads="1"/>
            </p:cNvSpPr>
            <p:nvPr/>
          </p:nvSpPr>
          <p:spPr bwMode="auto">
            <a:xfrm>
              <a:off x="1928" y="145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64" name="Rectangle 12" descr="羊皮纸"/>
            <p:cNvSpPr>
              <a:spLocks noChangeArrowheads="1"/>
            </p:cNvSpPr>
            <p:nvPr/>
          </p:nvSpPr>
          <p:spPr bwMode="auto">
            <a:xfrm>
              <a:off x="2400" y="688"/>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65" name="Line 13"/>
            <p:cNvSpPr>
              <a:spLocks noChangeShapeType="1"/>
            </p:cNvSpPr>
            <p:nvPr/>
          </p:nvSpPr>
          <p:spPr bwMode="auto">
            <a:xfrm>
              <a:off x="2688"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66" name="Rectangle 14" descr="花束"/>
            <p:cNvSpPr>
              <a:spLocks noChangeArrowheads="1"/>
            </p:cNvSpPr>
            <p:nvPr/>
          </p:nvSpPr>
          <p:spPr bwMode="auto">
            <a:xfrm>
              <a:off x="3936"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67" name="Rectangle 15" descr="羊皮纸"/>
            <p:cNvSpPr>
              <a:spLocks noChangeArrowheads="1"/>
            </p:cNvSpPr>
            <p:nvPr/>
          </p:nvSpPr>
          <p:spPr bwMode="auto">
            <a:xfrm>
              <a:off x="2400" y="145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68" name="Line 16"/>
            <p:cNvSpPr>
              <a:spLocks noChangeShapeType="1"/>
            </p:cNvSpPr>
            <p:nvPr/>
          </p:nvSpPr>
          <p:spPr bwMode="auto">
            <a:xfrm>
              <a:off x="2688"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69" name="Rectangle 17" descr="花束"/>
            <p:cNvSpPr>
              <a:spLocks noChangeArrowheads="1"/>
            </p:cNvSpPr>
            <p:nvPr/>
          </p:nvSpPr>
          <p:spPr bwMode="auto">
            <a:xfrm>
              <a:off x="2928" y="145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0" name="Rectangle 18" descr="羊皮纸"/>
            <p:cNvSpPr>
              <a:spLocks noChangeArrowheads="1"/>
            </p:cNvSpPr>
            <p:nvPr/>
          </p:nvSpPr>
          <p:spPr bwMode="auto">
            <a:xfrm>
              <a:off x="3408" y="688"/>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1" name="Line 19"/>
            <p:cNvSpPr>
              <a:spLocks noChangeShapeType="1"/>
            </p:cNvSpPr>
            <p:nvPr/>
          </p:nvSpPr>
          <p:spPr bwMode="auto">
            <a:xfrm>
              <a:off x="3696"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72" name="Rectangle 20" descr="花束"/>
            <p:cNvSpPr>
              <a:spLocks noChangeArrowheads="1"/>
            </p:cNvSpPr>
            <p:nvPr/>
          </p:nvSpPr>
          <p:spPr bwMode="auto">
            <a:xfrm>
              <a:off x="3984" y="688"/>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3" name="Rectangle 21" descr="羊皮纸"/>
            <p:cNvSpPr>
              <a:spLocks noChangeArrowheads="1"/>
            </p:cNvSpPr>
            <p:nvPr/>
          </p:nvSpPr>
          <p:spPr bwMode="auto">
            <a:xfrm>
              <a:off x="3408" y="145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4" name="Line 22"/>
            <p:cNvSpPr>
              <a:spLocks noChangeShapeType="1"/>
            </p:cNvSpPr>
            <p:nvPr/>
          </p:nvSpPr>
          <p:spPr bwMode="auto">
            <a:xfrm>
              <a:off x="3696"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75" name="Rectangle 23" descr="花束"/>
            <p:cNvSpPr>
              <a:spLocks noChangeArrowheads="1"/>
            </p:cNvSpPr>
            <p:nvPr/>
          </p:nvSpPr>
          <p:spPr bwMode="auto">
            <a:xfrm>
              <a:off x="3984" y="145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6" name="Rectangle 24" descr="羊皮纸"/>
            <p:cNvSpPr>
              <a:spLocks noChangeArrowheads="1"/>
            </p:cNvSpPr>
            <p:nvPr/>
          </p:nvSpPr>
          <p:spPr bwMode="auto">
            <a:xfrm>
              <a:off x="4416" y="145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7" name="Line 25"/>
            <p:cNvSpPr>
              <a:spLocks noChangeShapeType="1"/>
            </p:cNvSpPr>
            <p:nvPr/>
          </p:nvSpPr>
          <p:spPr bwMode="auto">
            <a:xfrm>
              <a:off x="4704"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78" name="Rectangle 26" descr="花束"/>
            <p:cNvSpPr>
              <a:spLocks noChangeArrowheads="1"/>
            </p:cNvSpPr>
            <p:nvPr/>
          </p:nvSpPr>
          <p:spPr bwMode="auto">
            <a:xfrm>
              <a:off x="4992" y="145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9" name="Line 27"/>
            <p:cNvSpPr>
              <a:spLocks noChangeShapeType="1"/>
            </p:cNvSpPr>
            <p:nvPr/>
          </p:nvSpPr>
          <p:spPr bwMode="auto">
            <a:xfrm>
              <a:off x="1152" y="880"/>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80" name="Line 28"/>
            <p:cNvSpPr>
              <a:spLocks noChangeShapeType="1"/>
            </p:cNvSpPr>
            <p:nvPr/>
          </p:nvSpPr>
          <p:spPr bwMode="auto">
            <a:xfrm>
              <a:off x="2016" y="1648"/>
              <a:ext cx="384"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81" name="Line 29"/>
            <p:cNvSpPr>
              <a:spLocks noChangeShapeType="1"/>
            </p:cNvSpPr>
            <p:nvPr/>
          </p:nvSpPr>
          <p:spPr bwMode="auto">
            <a:xfrm>
              <a:off x="3072" y="164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82" name="Line 30"/>
            <p:cNvSpPr>
              <a:spLocks noChangeShapeType="1"/>
            </p:cNvSpPr>
            <p:nvPr/>
          </p:nvSpPr>
          <p:spPr bwMode="auto">
            <a:xfrm>
              <a:off x="4080" y="164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83" name="Line 31"/>
            <p:cNvSpPr>
              <a:spLocks noChangeShapeType="1"/>
            </p:cNvSpPr>
            <p:nvPr/>
          </p:nvSpPr>
          <p:spPr bwMode="auto">
            <a:xfrm>
              <a:off x="4080" y="880"/>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84" name="Text Box 32"/>
            <p:cNvSpPr txBox="1">
              <a:spLocks noChangeArrowheads="1"/>
            </p:cNvSpPr>
            <p:nvPr/>
          </p:nvSpPr>
          <p:spPr bwMode="auto">
            <a:xfrm>
              <a:off x="4945" y="651"/>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ym typeface="Symbol" panose="05050102010706020507" charset="2"/>
                </a:rPr>
                <a:t></a:t>
              </a:r>
              <a:endParaRPr lang="zh-CN" altLang="en-US" sz="2400"/>
            </a:p>
          </p:txBody>
        </p:sp>
        <p:sp>
          <p:nvSpPr>
            <p:cNvPr id="1047585" name="Text Box 33"/>
            <p:cNvSpPr txBox="1">
              <a:spLocks noChangeArrowheads="1"/>
            </p:cNvSpPr>
            <p:nvPr/>
          </p:nvSpPr>
          <p:spPr bwMode="auto">
            <a:xfrm>
              <a:off x="4961" y="142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7586" name="Text Box 34"/>
            <p:cNvSpPr txBox="1">
              <a:spLocks noChangeArrowheads="1"/>
            </p:cNvSpPr>
            <p:nvPr/>
          </p:nvSpPr>
          <p:spPr bwMode="auto">
            <a:xfrm>
              <a:off x="384" y="2542"/>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7587" name="Rectangle 35"/>
            <p:cNvSpPr>
              <a:spLocks noChangeArrowheads="1"/>
            </p:cNvSpPr>
            <p:nvPr/>
          </p:nvSpPr>
          <p:spPr bwMode="auto">
            <a:xfrm>
              <a:off x="1400" y="2533"/>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88" name="Line 36"/>
            <p:cNvSpPr>
              <a:spLocks noChangeShapeType="1"/>
            </p:cNvSpPr>
            <p:nvPr/>
          </p:nvSpPr>
          <p:spPr bwMode="auto">
            <a:xfrm>
              <a:off x="1680" y="2536"/>
              <a:ext cx="0" cy="32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89" name="Rectangle 37" descr="花束"/>
            <p:cNvSpPr>
              <a:spLocks noChangeArrowheads="1"/>
            </p:cNvSpPr>
            <p:nvPr/>
          </p:nvSpPr>
          <p:spPr bwMode="auto">
            <a:xfrm>
              <a:off x="1928" y="2533"/>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90" name="Rectangle 38" descr="羊皮纸"/>
            <p:cNvSpPr>
              <a:spLocks noChangeArrowheads="1"/>
            </p:cNvSpPr>
            <p:nvPr/>
          </p:nvSpPr>
          <p:spPr bwMode="auto">
            <a:xfrm>
              <a:off x="2400" y="253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91" name="Line 39"/>
            <p:cNvSpPr>
              <a:spLocks noChangeShapeType="1"/>
            </p:cNvSpPr>
            <p:nvPr/>
          </p:nvSpPr>
          <p:spPr bwMode="auto">
            <a:xfrm>
              <a:off x="2688" y="252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92" name="Rectangle 40" descr="花束"/>
            <p:cNvSpPr>
              <a:spLocks noChangeArrowheads="1"/>
            </p:cNvSpPr>
            <p:nvPr/>
          </p:nvSpPr>
          <p:spPr bwMode="auto">
            <a:xfrm>
              <a:off x="2928" y="253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93" name="Rectangle 41" descr="羊皮纸"/>
            <p:cNvSpPr>
              <a:spLocks noChangeArrowheads="1"/>
            </p:cNvSpPr>
            <p:nvPr/>
          </p:nvSpPr>
          <p:spPr bwMode="auto">
            <a:xfrm>
              <a:off x="3408" y="253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94" name="Line 42"/>
            <p:cNvSpPr>
              <a:spLocks noChangeShapeType="1"/>
            </p:cNvSpPr>
            <p:nvPr/>
          </p:nvSpPr>
          <p:spPr bwMode="auto">
            <a:xfrm>
              <a:off x="3704" y="252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95" name="Rectangle 43" descr="花束"/>
            <p:cNvSpPr>
              <a:spLocks noChangeArrowheads="1"/>
            </p:cNvSpPr>
            <p:nvPr/>
          </p:nvSpPr>
          <p:spPr bwMode="auto">
            <a:xfrm>
              <a:off x="3984" y="253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96" name="Line 44"/>
            <p:cNvSpPr>
              <a:spLocks noChangeShapeType="1"/>
            </p:cNvSpPr>
            <p:nvPr/>
          </p:nvSpPr>
          <p:spPr bwMode="auto">
            <a:xfrm>
              <a:off x="1152" y="270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97" name="Line 45"/>
            <p:cNvSpPr>
              <a:spLocks noChangeShapeType="1"/>
            </p:cNvSpPr>
            <p:nvPr/>
          </p:nvSpPr>
          <p:spPr bwMode="auto">
            <a:xfrm>
              <a:off x="2064" y="270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98" name="Line 46"/>
            <p:cNvSpPr>
              <a:spLocks noChangeShapeType="1"/>
            </p:cNvSpPr>
            <p:nvPr/>
          </p:nvSpPr>
          <p:spPr bwMode="auto">
            <a:xfrm>
              <a:off x="3072" y="270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99" name="Line 47"/>
            <p:cNvSpPr>
              <a:spLocks noChangeShapeType="1"/>
            </p:cNvSpPr>
            <p:nvPr/>
          </p:nvSpPr>
          <p:spPr bwMode="auto">
            <a:xfrm>
              <a:off x="2160" y="342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00" name="Line 48"/>
            <p:cNvSpPr>
              <a:spLocks noChangeShapeType="1"/>
            </p:cNvSpPr>
            <p:nvPr/>
          </p:nvSpPr>
          <p:spPr bwMode="auto">
            <a:xfrm flipV="1">
              <a:off x="2160" y="3056"/>
              <a:ext cx="0" cy="384"/>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01" name="Line 49"/>
            <p:cNvSpPr>
              <a:spLocks noChangeShapeType="1"/>
            </p:cNvSpPr>
            <p:nvPr/>
          </p:nvSpPr>
          <p:spPr bwMode="auto">
            <a:xfrm>
              <a:off x="2160" y="3064"/>
              <a:ext cx="220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02" name="Line 50"/>
            <p:cNvSpPr>
              <a:spLocks noChangeShapeType="1"/>
            </p:cNvSpPr>
            <p:nvPr/>
          </p:nvSpPr>
          <p:spPr bwMode="auto">
            <a:xfrm>
              <a:off x="4080" y="2728"/>
              <a:ext cx="2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03" name="Line 51"/>
            <p:cNvSpPr>
              <a:spLocks noChangeShapeType="1"/>
            </p:cNvSpPr>
            <p:nvPr/>
          </p:nvSpPr>
          <p:spPr bwMode="auto">
            <a:xfrm>
              <a:off x="4360" y="2728"/>
              <a:ext cx="0" cy="33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04" name="Text Box 52"/>
            <p:cNvSpPr txBox="1">
              <a:spLocks noChangeArrowheads="1"/>
            </p:cNvSpPr>
            <p:nvPr/>
          </p:nvSpPr>
          <p:spPr bwMode="auto">
            <a:xfrm>
              <a:off x="2428" y="659"/>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7605" name="Text Box 53"/>
            <p:cNvSpPr txBox="1">
              <a:spLocks noChangeArrowheads="1"/>
            </p:cNvSpPr>
            <p:nvPr/>
          </p:nvSpPr>
          <p:spPr bwMode="auto">
            <a:xfrm>
              <a:off x="2428" y="250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7606" name="Text Box 54"/>
            <p:cNvSpPr txBox="1">
              <a:spLocks noChangeArrowheads="1"/>
            </p:cNvSpPr>
            <p:nvPr/>
          </p:nvSpPr>
          <p:spPr bwMode="auto">
            <a:xfrm>
              <a:off x="1392" y="142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7607" name="Text Box 55"/>
            <p:cNvSpPr txBox="1">
              <a:spLocks noChangeArrowheads="1"/>
            </p:cNvSpPr>
            <p:nvPr/>
          </p:nvSpPr>
          <p:spPr bwMode="auto">
            <a:xfrm>
              <a:off x="3408" y="250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7608" name="Text Box 56"/>
            <p:cNvSpPr txBox="1">
              <a:spLocks noChangeArrowheads="1"/>
            </p:cNvSpPr>
            <p:nvPr/>
          </p:nvSpPr>
          <p:spPr bwMode="auto">
            <a:xfrm>
              <a:off x="3408" y="659"/>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7609" name="Text Box 57"/>
            <p:cNvSpPr txBox="1">
              <a:spLocks noChangeArrowheads="1"/>
            </p:cNvSpPr>
            <p:nvPr/>
          </p:nvSpPr>
          <p:spPr bwMode="auto">
            <a:xfrm>
              <a:off x="2428" y="142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7610" name="Text Box 58"/>
            <p:cNvSpPr txBox="1">
              <a:spLocks noChangeArrowheads="1"/>
            </p:cNvSpPr>
            <p:nvPr/>
          </p:nvSpPr>
          <p:spPr bwMode="auto">
            <a:xfrm>
              <a:off x="3383" y="1427"/>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7611" name="Text Box 59"/>
            <p:cNvSpPr txBox="1">
              <a:spLocks noChangeArrowheads="1"/>
            </p:cNvSpPr>
            <p:nvPr/>
          </p:nvSpPr>
          <p:spPr bwMode="auto">
            <a:xfrm>
              <a:off x="4428" y="659"/>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7612" name="Text Box 60"/>
            <p:cNvSpPr txBox="1">
              <a:spLocks noChangeArrowheads="1"/>
            </p:cNvSpPr>
            <p:nvPr/>
          </p:nvSpPr>
          <p:spPr bwMode="auto">
            <a:xfrm>
              <a:off x="4476" y="142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7613" name="Line 61"/>
            <p:cNvSpPr>
              <a:spLocks noChangeShapeType="1"/>
            </p:cNvSpPr>
            <p:nvPr/>
          </p:nvSpPr>
          <p:spPr bwMode="auto">
            <a:xfrm>
              <a:off x="5281" y="499"/>
              <a:ext cx="124" cy="207"/>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14" name="Text Box 62"/>
            <p:cNvSpPr txBox="1">
              <a:spLocks noChangeArrowheads="1"/>
            </p:cNvSpPr>
            <p:nvPr/>
          </p:nvSpPr>
          <p:spPr bwMode="auto">
            <a:xfrm>
              <a:off x="4963" y="293"/>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7615" name="Rectangle 63" descr="花束"/>
            <p:cNvSpPr>
              <a:spLocks noChangeArrowheads="1"/>
            </p:cNvSpPr>
            <p:nvPr/>
          </p:nvSpPr>
          <p:spPr bwMode="auto">
            <a:xfrm>
              <a:off x="2928"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16" name="Rectangle 64" descr="花束"/>
            <p:cNvSpPr>
              <a:spLocks noChangeArrowheads="1"/>
            </p:cNvSpPr>
            <p:nvPr/>
          </p:nvSpPr>
          <p:spPr bwMode="auto">
            <a:xfrm>
              <a:off x="1920"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17" name="Line 65"/>
            <p:cNvSpPr>
              <a:spLocks noChangeShapeType="1"/>
            </p:cNvSpPr>
            <p:nvPr/>
          </p:nvSpPr>
          <p:spPr bwMode="auto">
            <a:xfrm>
              <a:off x="3040" y="872"/>
              <a:ext cx="347" cy="1"/>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18" name="Line 66"/>
            <p:cNvSpPr>
              <a:spLocks noChangeShapeType="1"/>
            </p:cNvSpPr>
            <p:nvPr/>
          </p:nvSpPr>
          <p:spPr bwMode="auto">
            <a:xfrm>
              <a:off x="2016" y="880"/>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19" name="Line 67"/>
            <p:cNvSpPr>
              <a:spLocks noChangeShapeType="1"/>
            </p:cNvSpPr>
            <p:nvPr/>
          </p:nvSpPr>
          <p:spPr bwMode="auto">
            <a:xfrm flipV="1">
              <a:off x="3412" y="3635"/>
              <a:ext cx="192" cy="147"/>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20" name="Text Box 68"/>
            <p:cNvSpPr txBox="1">
              <a:spLocks noChangeArrowheads="1"/>
            </p:cNvSpPr>
            <p:nvPr/>
          </p:nvSpPr>
          <p:spPr bwMode="auto">
            <a:xfrm>
              <a:off x="3088" y="3619"/>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sp>
          <p:nvSpPr>
            <p:cNvPr id="1047621" name="Rectangle 69" descr="羊皮纸"/>
            <p:cNvSpPr>
              <a:spLocks noChangeArrowheads="1"/>
            </p:cNvSpPr>
            <p:nvPr/>
          </p:nvSpPr>
          <p:spPr bwMode="auto">
            <a:xfrm>
              <a:off x="2400" y="3237"/>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22" name="Rectangle 70" descr="花束"/>
            <p:cNvSpPr>
              <a:spLocks noChangeArrowheads="1"/>
            </p:cNvSpPr>
            <p:nvPr/>
          </p:nvSpPr>
          <p:spPr bwMode="auto">
            <a:xfrm>
              <a:off x="2976" y="3237"/>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23" name="Text Box 71"/>
            <p:cNvSpPr txBox="1">
              <a:spLocks noChangeArrowheads="1"/>
            </p:cNvSpPr>
            <p:nvPr/>
          </p:nvSpPr>
          <p:spPr bwMode="auto">
            <a:xfrm>
              <a:off x="2375" y="3208"/>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7624" name="Line 72"/>
            <p:cNvSpPr>
              <a:spLocks noChangeShapeType="1"/>
            </p:cNvSpPr>
            <p:nvPr/>
          </p:nvSpPr>
          <p:spPr bwMode="auto">
            <a:xfrm flipV="1">
              <a:off x="4319" y="1832"/>
              <a:ext cx="209" cy="206"/>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25" name="Text Box 73"/>
            <p:cNvSpPr txBox="1">
              <a:spLocks noChangeArrowheads="1"/>
            </p:cNvSpPr>
            <p:nvPr/>
          </p:nvSpPr>
          <p:spPr bwMode="auto">
            <a:xfrm>
              <a:off x="3973" y="1915"/>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grpSp>
          <p:nvGrpSpPr>
            <p:cNvPr id="166985" name="Group 74"/>
            <p:cNvGrpSpPr/>
            <p:nvPr/>
          </p:nvGrpSpPr>
          <p:grpSpPr bwMode="auto">
            <a:xfrm>
              <a:off x="372" y="1446"/>
              <a:ext cx="1014" cy="816"/>
              <a:chOff x="372" y="1390"/>
              <a:chExt cx="1014" cy="816"/>
            </a:xfrm>
          </p:grpSpPr>
          <p:sp>
            <p:nvSpPr>
              <p:cNvPr id="1047627" name="Rectangle 75"/>
              <p:cNvSpPr>
                <a:spLocks noChangeArrowheads="1"/>
              </p:cNvSpPr>
              <p:nvPr/>
            </p:nvSpPr>
            <p:spPr bwMode="auto">
              <a:xfrm>
                <a:off x="378" y="1390"/>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28" name="Line 76"/>
              <p:cNvSpPr>
                <a:spLocks noChangeShapeType="1"/>
              </p:cNvSpPr>
              <p:nvPr/>
            </p:nvSpPr>
            <p:spPr bwMode="auto">
              <a:xfrm>
                <a:off x="666" y="139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29" name="Text Box 77"/>
              <p:cNvSpPr txBox="1">
                <a:spLocks noChangeArrowheads="1"/>
              </p:cNvSpPr>
              <p:nvPr/>
            </p:nvSpPr>
            <p:spPr bwMode="auto">
              <a:xfrm>
                <a:off x="372" y="1915"/>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7630" name="Line 78"/>
              <p:cNvSpPr>
                <a:spLocks noChangeShapeType="1"/>
              </p:cNvSpPr>
              <p:nvPr/>
            </p:nvSpPr>
            <p:spPr bwMode="auto">
              <a:xfrm flipH="1" flipV="1">
                <a:off x="615" y="1768"/>
                <a:ext cx="5" cy="178"/>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31" name="Rectangle 79" descr="花束"/>
              <p:cNvSpPr>
                <a:spLocks noChangeArrowheads="1"/>
              </p:cNvSpPr>
              <p:nvPr/>
            </p:nvSpPr>
            <p:spPr bwMode="auto">
              <a:xfrm>
                <a:off x="906" y="139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32" name="Line 80"/>
              <p:cNvSpPr>
                <a:spLocks noChangeShapeType="1"/>
              </p:cNvSpPr>
              <p:nvPr/>
            </p:nvSpPr>
            <p:spPr bwMode="auto">
              <a:xfrm>
                <a:off x="1002" y="1582"/>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sp>
          <p:nvSpPr>
            <p:cNvPr id="1047633" name="Line 81"/>
            <p:cNvSpPr>
              <a:spLocks noChangeShapeType="1"/>
            </p:cNvSpPr>
            <p:nvPr/>
          </p:nvSpPr>
          <p:spPr bwMode="auto">
            <a:xfrm>
              <a:off x="2700" y="323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34" name="Rectangle 82" descr="羊皮纸"/>
            <p:cNvSpPr>
              <a:spLocks noChangeArrowheads="1"/>
            </p:cNvSpPr>
            <p:nvPr/>
          </p:nvSpPr>
          <p:spPr bwMode="auto">
            <a:xfrm>
              <a:off x="3408" y="3245"/>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35" name="Rectangle 83" descr="花束"/>
            <p:cNvSpPr>
              <a:spLocks noChangeArrowheads="1"/>
            </p:cNvSpPr>
            <p:nvPr/>
          </p:nvSpPr>
          <p:spPr bwMode="auto">
            <a:xfrm>
              <a:off x="3984" y="3245"/>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36" name="Line 84"/>
            <p:cNvSpPr>
              <a:spLocks noChangeShapeType="1"/>
            </p:cNvSpPr>
            <p:nvPr/>
          </p:nvSpPr>
          <p:spPr bwMode="auto">
            <a:xfrm>
              <a:off x="3072" y="3420"/>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37" name="Text Box 85"/>
            <p:cNvSpPr txBox="1">
              <a:spLocks noChangeArrowheads="1"/>
            </p:cNvSpPr>
            <p:nvPr/>
          </p:nvSpPr>
          <p:spPr bwMode="auto">
            <a:xfrm>
              <a:off x="3468" y="3224"/>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7638" name="Line 86"/>
            <p:cNvSpPr>
              <a:spLocks noChangeShapeType="1"/>
            </p:cNvSpPr>
            <p:nvPr/>
          </p:nvSpPr>
          <p:spPr bwMode="auto">
            <a:xfrm>
              <a:off x="3699" y="3251"/>
              <a:ext cx="0" cy="32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39" name="Text Box 87"/>
            <p:cNvSpPr txBox="1">
              <a:spLocks noChangeArrowheads="1"/>
            </p:cNvSpPr>
            <p:nvPr/>
          </p:nvSpPr>
          <p:spPr bwMode="auto">
            <a:xfrm>
              <a:off x="3947" y="3195"/>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gr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7937" name="Group 2"/>
          <p:cNvGrpSpPr/>
          <p:nvPr/>
        </p:nvGrpSpPr>
        <p:grpSpPr bwMode="auto">
          <a:xfrm>
            <a:off x="590550" y="465138"/>
            <a:ext cx="7989888" cy="5745162"/>
            <a:chOff x="372" y="293"/>
            <a:chExt cx="5033" cy="3619"/>
          </a:xfrm>
        </p:grpSpPr>
        <p:sp>
          <p:nvSpPr>
            <p:cNvPr id="1048579" name="Rectangle 3" descr="羊皮纸"/>
            <p:cNvSpPr>
              <a:spLocks noChangeArrowheads="1"/>
            </p:cNvSpPr>
            <p:nvPr/>
          </p:nvSpPr>
          <p:spPr bwMode="auto">
            <a:xfrm>
              <a:off x="4416" y="688"/>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80" name="Line 4"/>
            <p:cNvSpPr>
              <a:spLocks noChangeShapeType="1"/>
            </p:cNvSpPr>
            <p:nvPr/>
          </p:nvSpPr>
          <p:spPr bwMode="auto">
            <a:xfrm>
              <a:off x="4704"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81" name="Rectangle 5"/>
            <p:cNvSpPr>
              <a:spLocks noChangeArrowheads="1"/>
            </p:cNvSpPr>
            <p:nvPr/>
          </p:nvSpPr>
          <p:spPr bwMode="auto">
            <a:xfrm>
              <a:off x="1392" y="688"/>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82" name="Text Box 6"/>
            <p:cNvSpPr txBox="1">
              <a:spLocks noChangeArrowheads="1"/>
            </p:cNvSpPr>
            <p:nvPr/>
          </p:nvSpPr>
          <p:spPr bwMode="auto">
            <a:xfrm>
              <a:off x="384" y="688"/>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8583" name="Line 7"/>
            <p:cNvSpPr>
              <a:spLocks noChangeShapeType="1"/>
            </p:cNvSpPr>
            <p:nvPr/>
          </p:nvSpPr>
          <p:spPr bwMode="auto">
            <a:xfrm>
              <a:off x="1680"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84" name="Rectangle 8" descr="花束"/>
            <p:cNvSpPr>
              <a:spLocks noChangeArrowheads="1"/>
            </p:cNvSpPr>
            <p:nvPr/>
          </p:nvSpPr>
          <p:spPr bwMode="auto">
            <a:xfrm>
              <a:off x="4944"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85" name="Rectangle 9" descr="羊皮纸"/>
            <p:cNvSpPr>
              <a:spLocks noChangeArrowheads="1"/>
            </p:cNvSpPr>
            <p:nvPr/>
          </p:nvSpPr>
          <p:spPr bwMode="auto">
            <a:xfrm>
              <a:off x="1392" y="145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86" name="Line 10"/>
            <p:cNvSpPr>
              <a:spLocks noChangeShapeType="1"/>
            </p:cNvSpPr>
            <p:nvPr/>
          </p:nvSpPr>
          <p:spPr bwMode="auto">
            <a:xfrm>
              <a:off x="1680"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87" name="Rectangle 11" descr="花束"/>
            <p:cNvSpPr>
              <a:spLocks noChangeArrowheads="1"/>
            </p:cNvSpPr>
            <p:nvPr/>
          </p:nvSpPr>
          <p:spPr bwMode="auto">
            <a:xfrm>
              <a:off x="1928" y="145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88" name="Rectangle 12" descr="羊皮纸"/>
            <p:cNvSpPr>
              <a:spLocks noChangeArrowheads="1"/>
            </p:cNvSpPr>
            <p:nvPr/>
          </p:nvSpPr>
          <p:spPr bwMode="auto">
            <a:xfrm>
              <a:off x="2400" y="688"/>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89" name="Line 13"/>
            <p:cNvSpPr>
              <a:spLocks noChangeShapeType="1"/>
            </p:cNvSpPr>
            <p:nvPr/>
          </p:nvSpPr>
          <p:spPr bwMode="auto">
            <a:xfrm>
              <a:off x="2688"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90" name="Rectangle 14" descr="花束"/>
            <p:cNvSpPr>
              <a:spLocks noChangeArrowheads="1"/>
            </p:cNvSpPr>
            <p:nvPr/>
          </p:nvSpPr>
          <p:spPr bwMode="auto">
            <a:xfrm>
              <a:off x="3936"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91" name="Rectangle 15" descr="羊皮纸"/>
            <p:cNvSpPr>
              <a:spLocks noChangeArrowheads="1"/>
            </p:cNvSpPr>
            <p:nvPr/>
          </p:nvSpPr>
          <p:spPr bwMode="auto">
            <a:xfrm>
              <a:off x="2400" y="145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92" name="Line 16"/>
            <p:cNvSpPr>
              <a:spLocks noChangeShapeType="1"/>
            </p:cNvSpPr>
            <p:nvPr/>
          </p:nvSpPr>
          <p:spPr bwMode="auto">
            <a:xfrm>
              <a:off x="2688"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93" name="Rectangle 17" descr="花束"/>
            <p:cNvSpPr>
              <a:spLocks noChangeArrowheads="1"/>
            </p:cNvSpPr>
            <p:nvPr/>
          </p:nvSpPr>
          <p:spPr bwMode="auto">
            <a:xfrm>
              <a:off x="2928" y="145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94" name="Rectangle 18" descr="羊皮纸"/>
            <p:cNvSpPr>
              <a:spLocks noChangeArrowheads="1"/>
            </p:cNvSpPr>
            <p:nvPr/>
          </p:nvSpPr>
          <p:spPr bwMode="auto">
            <a:xfrm>
              <a:off x="3408" y="688"/>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95" name="Line 19"/>
            <p:cNvSpPr>
              <a:spLocks noChangeShapeType="1"/>
            </p:cNvSpPr>
            <p:nvPr/>
          </p:nvSpPr>
          <p:spPr bwMode="auto">
            <a:xfrm>
              <a:off x="3696"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96" name="Rectangle 20" descr="花束"/>
            <p:cNvSpPr>
              <a:spLocks noChangeArrowheads="1"/>
            </p:cNvSpPr>
            <p:nvPr/>
          </p:nvSpPr>
          <p:spPr bwMode="auto">
            <a:xfrm>
              <a:off x="3984" y="688"/>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97" name="Rectangle 21" descr="羊皮纸"/>
            <p:cNvSpPr>
              <a:spLocks noChangeArrowheads="1"/>
            </p:cNvSpPr>
            <p:nvPr/>
          </p:nvSpPr>
          <p:spPr bwMode="auto">
            <a:xfrm>
              <a:off x="3408" y="145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98" name="Line 22"/>
            <p:cNvSpPr>
              <a:spLocks noChangeShapeType="1"/>
            </p:cNvSpPr>
            <p:nvPr/>
          </p:nvSpPr>
          <p:spPr bwMode="auto">
            <a:xfrm>
              <a:off x="3696"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99" name="Rectangle 23" descr="花束"/>
            <p:cNvSpPr>
              <a:spLocks noChangeArrowheads="1"/>
            </p:cNvSpPr>
            <p:nvPr/>
          </p:nvSpPr>
          <p:spPr bwMode="auto">
            <a:xfrm>
              <a:off x="3984" y="145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00" name="Rectangle 24" descr="羊皮纸"/>
            <p:cNvSpPr>
              <a:spLocks noChangeArrowheads="1"/>
            </p:cNvSpPr>
            <p:nvPr/>
          </p:nvSpPr>
          <p:spPr bwMode="auto">
            <a:xfrm>
              <a:off x="4416" y="145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01" name="Line 25"/>
            <p:cNvSpPr>
              <a:spLocks noChangeShapeType="1"/>
            </p:cNvSpPr>
            <p:nvPr/>
          </p:nvSpPr>
          <p:spPr bwMode="auto">
            <a:xfrm>
              <a:off x="4704"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02" name="Rectangle 26" descr="花束"/>
            <p:cNvSpPr>
              <a:spLocks noChangeArrowheads="1"/>
            </p:cNvSpPr>
            <p:nvPr/>
          </p:nvSpPr>
          <p:spPr bwMode="auto">
            <a:xfrm>
              <a:off x="4992" y="145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03" name="Line 27"/>
            <p:cNvSpPr>
              <a:spLocks noChangeShapeType="1"/>
            </p:cNvSpPr>
            <p:nvPr/>
          </p:nvSpPr>
          <p:spPr bwMode="auto">
            <a:xfrm>
              <a:off x="1152" y="880"/>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04" name="Line 28"/>
            <p:cNvSpPr>
              <a:spLocks noChangeShapeType="1"/>
            </p:cNvSpPr>
            <p:nvPr/>
          </p:nvSpPr>
          <p:spPr bwMode="auto">
            <a:xfrm>
              <a:off x="2016" y="1648"/>
              <a:ext cx="384"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05" name="Line 29"/>
            <p:cNvSpPr>
              <a:spLocks noChangeShapeType="1"/>
            </p:cNvSpPr>
            <p:nvPr/>
          </p:nvSpPr>
          <p:spPr bwMode="auto">
            <a:xfrm>
              <a:off x="3072" y="164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06" name="Line 30"/>
            <p:cNvSpPr>
              <a:spLocks noChangeShapeType="1"/>
            </p:cNvSpPr>
            <p:nvPr/>
          </p:nvSpPr>
          <p:spPr bwMode="auto">
            <a:xfrm>
              <a:off x="4080" y="164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07" name="Line 31"/>
            <p:cNvSpPr>
              <a:spLocks noChangeShapeType="1"/>
            </p:cNvSpPr>
            <p:nvPr/>
          </p:nvSpPr>
          <p:spPr bwMode="auto">
            <a:xfrm>
              <a:off x="4080" y="880"/>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08" name="Text Box 32"/>
            <p:cNvSpPr txBox="1">
              <a:spLocks noChangeArrowheads="1"/>
            </p:cNvSpPr>
            <p:nvPr/>
          </p:nvSpPr>
          <p:spPr bwMode="auto">
            <a:xfrm>
              <a:off x="4945" y="651"/>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ym typeface="Symbol" panose="05050102010706020507" charset="2"/>
                </a:rPr>
                <a:t></a:t>
              </a:r>
              <a:endParaRPr lang="zh-CN" altLang="en-US" sz="2400"/>
            </a:p>
          </p:txBody>
        </p:sp>
        <p:sp>
          <p:nvSpPr>
            <p:cNvPr id="1048609" name="Text Box 33"/>
            <p:cNvSpPr txBox="1">
              <a:spLocks noChangeArrowheads="1"/>
            </p:cNvSpPr>
            <p:nvPr/>
          </p:nvSpPr>
          <p:spPr bwMode="auto">
            <a:xfrm>
              <a:off x="4961" y="142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8610" name="Text Box 34"/>
            <p:cNvSpPr txBox="1">
              <a:spLocks noChangeArrowheads="1"/>
            </p:cNvSpPr>
            <p:nvPr/>
          </p:nvSpPr>
          <p:spPr bwMode="auto">
            <a:xfrm>
              <a:off x="384" y="2542"/>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8611" name="Rectangle 35"/>
            <p:cNvSpPr>
              <a:spLocks noChangeArrowheads="1"/>
            </p:cNvSpPr>
            <p:nvPr/>
          </p:nvSpPr>
          <p:spPr bwMode="auto">
            <a:xfrm>
              <a:off x="1400" y="2533"/>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12" name="Line 36"/>
            <p:cNvSpPr>
              <a:spLocks noChangeShapeType="1"/>
            </p:cNvSpPr>
            <p:nvPr/>
          </p:nvSpPr>
          <p:spPr bwMode="auto">
            <a:xfrm>
              <a:off x="1680" y="2536"/>
              <a:ext cx="0" cy="32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13" name="Rectangle 37" descr="花束"/>
            <p:cNvSpPr>
              <a:spLocks noChangeArrowheads="1"/>
            </p:cNvSpPr>
            <p:nvPr/>
          </p:nvSpPr>
          <p:spPr bwMode="auto">
            <a:xfrm>
              <a:off x="1928" y="2533"/>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14" name="Rectangle 38" descr="羊皮纸"/>
            <p:cNvSpPr>
              <a:spLocks noChangeArrowheads="1"/>
            </p:cNvSpPr>
            <p:nvPr/>
          </p:nvSpPr>
          <p:spPr bwMode="auto">
            <a:xfrm>
              <a:off x="2400" y="253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15" name="Line 39"/>
            <p:cNvSpPr>
              <a:spLocks noChangeShapeType="1"/>
            </p:cNvSpPr>
            <p:nvPr/>
          </p:nvSpPr>
          <p:spPr bwMode="auto">
            <a:xfrm>
              <a:off x="2688" y="252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16" name="Rectangle 40" descr="花束"/>
            <p:cNvSpPr>
              <a:spLocks noChangeArrowheads="1"/>
            </p:cNvSpPr>
            <p:nvPr/>
          </p:nvSpPr>
          <p:spPr bwMode="auto">
            <a:xfrm>
              <a:off x="2928" y="253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17" name="Rectangle 41" descr="羊皮纸"/>
            <p:cNvSpPr>
              <a:spLocks noChangeArrowheads="1"/>
            </p:cNvSpPr>
            <p:nvPr/>
          </p:nvSpPr>
          <p:spPr bwMode="auto">
            <a:xfrm>
              <a:off x="3408" y="253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18" name="Line 42"/>
            <p:cNvSpPr>
              <a:spLocks noChangeShapeType="1"/>
            </p:cNvSpPr>
            <p:nvPr/>
          </p:nvSpPr>
          <p:spPr bwMode="auto">
            <a:xfrm>
              <a:off x="3704" y="252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19" name="Rectangle 43" descr="花束"/>
            <p:cNvSpPr>
              <a:spLocks noChangeArrowheads="1"/>
            </p:cNvSpPr>
            <p:nvPr/>
          </p:nvSpPr>
          <p:spPr bwMode="auto">
            <a:xfrm>
              <a:off x="3984" y="253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20" name="Line 44"/>
            <p:cNvSpPr>
              <a:spLocks noChangeShapeType="1"/>
            </p:cNvSpPr>
            <p:nvPr/>
          </p:nvSpPr>
          <p:spPr bwMode="auto">
            <a:xfrm>
              <a:off x="1152" y="270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1" name="Line 45"/>
            <p:cNvSpPr>
              <a:spLocks noChangeShapeType="1"/>
            </p:cNvSpPr>
            <p:nvPr/>
          </p:nvSpPr>
          <p:spPr bwMode="auto">
            <a:xfrm>
              <a:off x="2064" y="270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2" name="Line 46"/>
            <p:cNvSpPr>
              <a:spLocks noChangeShapeType="1"/>
            </p:cNvSpPr>
            <p:nvPr/>
          </p:nvSpPr>
          <p:spPr bwMode="auto">
            <a:xfrm>
              <a:off x="3072" y="270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3" name="Line 47"/>
            <p:cNvSpPr>
              <a:spLocks noChangeShapeType="1"/>
            </p:cNvSpPr>
            <p:nvPr/>
          </p:nvSpPr>
          <p:spPr bwMode="auto">
            <a:xfrm>
              <a:off x="2160" y="342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4" name="Line 48"/>
            <p:cNvSpPr>
              <a:spLocks noChangeShapeType="1"/>
            </p:cNvSpPr>
            <p:nvPr/>
          </p:nvSpPr>
          <p:spPr bwMode="auto">
            <a:xfrm flipV="1">
              <a:off x="2160" y="3056"/>
              <a:ext cx="0" cy="384"/>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5" name="Line 49"/>
            <p:cNvSpPr>
              <a:spLocks noChangeShapeType="1"/>
            </p:cNvSpPr>
            <p:nvPr/>
          </p:nvSpPr>
          <p:spPr bwMode="auto">
            <a:xfrm>
              <a:off x="2160" y="3064"/>
              <a:ext cx="220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6" name="Line 50"/>
            <p:cNvSpPr>
              <a:spLocks noChangeShapeType="1"/>
            </p:cNvSpPr>
            <p:nvPr/>
          </p:nvSpPr>
          <p:spPr bwMode="auto">
            <a:xfrm>
              <a:off x="4080" y="2728"/>
              <a:ext cx="2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7" name="Line 51"/>
            <p:cNvSpPr>
              <a:spLocks noChangeShapeType="1"/>
            </p:cNvSpPr>
            <p:nvPr/>
          </p:nvSpPr>
          <p:spPr bwMode="auto">
            <a:xfrm>
              <a:off x="4360" y="2728"/>
              <a:ext cx="0" cy="33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8" name="Text Box 52"/>
            <p:cNvSpPr txBox="1">
              <a:spLocks noChangeArrowheads="1"/>
            </p:cNvSpPr>
            <p:nvPr/>
          </p:nvSpPr>
          <p:spPr bwMode="auto">
            <a:xfrm>
              <a:off x="2428" y="659"/>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8629" name="Text Box 53"/>
            <p:cNvSpPr txBox="1">
              <a:spLocks noChangeArrowheads="1"/>
            </p:cNvSpPr>
            <p:nvPr/>
          </p:nvSpPr>
          <p:spPr bwMode="auto">
            <a:xfrm>
              <a:off x="2428" y="250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8630" name="Text Box 54"/>
            <p:cNvSpPr txBox="1">
              <a:spLocks noChangeArrowheads="1"/>
            </p:cNvSpPr>
            <p:nvPr/>
          </p:nvSpPr>
          <p:spPr bwMode="auto">
            <a:xfrm>
              <a:off x="1392" y="142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8631" name="Text Box 55"/>
            <p:cNvSpPr txBox="1">
              <a:spLocks noChangeArrowheads="1"/>
            </p:cNvSpPr>
            <p:nvPr/>
          </p:nvSpPr>
          <p:spPr bwMode="auto">
            <a:xfrm>
              <a:off x="3408" y="250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8632" name="Text Box 56"/>
            <p:cNvSpPr txBox="1">
              <a:spLocks noChangeArrowheads="1"/>
            </p:cNvSpPr>
            <p:nvPr/>
          </p:nvSpPr>
          <p:spPr bwMode="auto">
            <a:xfrm>
              <a:off x="3408" y="659"/>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8633" name="Text Box 57"/>
            <p:cNvSpPr txBox="1">
              <a:spLocks noChangeArrowheads="1"/>
            </p:cNvSpPr>
            <p:nvPr/>
          </p:nvSpPr>
          <p:spPr bwMode="auto">
            <a:xfrm>
              <a:off x="2428" y="142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8634" name="Text Box 58"/>
            <p:cNvSpPr txBox="1">
              <a:spLocks noChangeArrowheads="1"/>
            </p:cNvSpPr>
            <p:nvPr/>
          </p:nvSpPr>
          <p:spPr bwMode="auto">
            <a:xfrm>
              <a:off x="3383" y="1427"/>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8635" name="Text Box 59"/>
            <p:cNvSpPr txBox="1">
              <a:spLocks noChangeArrowheads="1"/>
            </p:cNvSpPr>
            <p:nvPr/>
          </p:nvSpPr>
          <p:spPr bwMode="auto">
            <a:xfrm>
              <a:off x="4428" y="659"/>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8636" name="Text Box 60"/>
            <p:cNvSpPr txBox="1">
              <a:spLocks noChangeArrowheads="1"/>
            </p:cNvSpPr>
            <p:nvPr/>
          </p:nvSpPr>
          <p:spPr bwMode="auto">
            <a:xfrm>
              <a:off x="4476" y="142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8637" name="Line 61"/>
            <p:cNvSpPr>
              <a:spLocks noChangeShapeType="1"/>
            </p:cNvSpPr>
            <p:nvPr/>
          </p:nvSpPr>
          <p:spPr bwMode="auto">
            <a:xfrm>
              <a:off x="5281" y="499"/>
              <a:ext cx="124" cy="207"/>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38" name="Text Box 62"/>
            <p:cNvSpPr txBox="1">
              <a:spLocks noChangeArrowheads="1"/>
            </p:cNvSpPr>
            <p:nvPr/>
          </p:nvSpPr>
          <p:spPr bwMode="auto">
            <a:xfrm>
              <a:off x="4963" y="293"/>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8639" name="Rectangle 63" descr="花束"/>
            <p:cNvSpPr>
              <a:spLocks noChangeArrowheads="1"/>
            </p:cNvSpPr>
            <p:nvPr/>
          </p:nvSpPr>
          <p:spPr bwMode="auto">
            <a:xfrm>
              <a:off x="2928"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40" name="Rectangle 64" descr="花束"/>
            <p:cNvSpPr>
              <a:spLocks noChangeArrowheads="1"/>
            </p:cNvSpPr>
            <p:nvPr/>
          </p:nvSpPr>
          <p:spPr bwMode="auto">
            <a:xfrm>
              <a:off x="1920"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41" name="Line 65"/>
            <p:cNvSpPr>
              <a:spLocks noChangeShapeType="1"/>
            </p:cNvSpPr>
            <p:nvPr/>
          </p:nvSpPr>
          <p:spPr bwMode="auto">
            <a:xfrm>
              <a:off x="3040" y="872"/>
              <a:ext cx="347" cy="1"/>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42" name="Line 66"/>
            <p:cNvSpPr>
              <a:spLocks noChangeShapeType="1"/>
            </p:cNvSpPr>
            <p:nvPr/>
          </p:nvSpPr>
          <p:spPr bwMode="auto">
            <a:xfrm>
              <a:off x="2016" y="880"/>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43" name="Line 67"/>
            <p:cNvSpPr>
              <a:spLocks noChangeShapeType="1"/>
            </p:cNvSpPr>
            <p:nvPr/>
          </p:nvSpPr>
          <p:spPr bwMode="auto">
            <a:xfrm flipV="1">
              <a:off x="4394" y="3627"/>
              <a:ext cx="192" cy="147"/>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44" name="Text Box 68"/>
            <p:cNvSpPr txBox="1">
              <a:spLocks noChangeArrowheads="1"/>
            </p:cNvSpPr>
            <p:nvPr/>
          </p:nvSpPr>
          <p:spPr bwMode="auto">
            <a:xfrm>
              <a:off x="4088" y="3621"/>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sp>
          <p:nvSpPr>
            <p:cNvPr id="1048645" name="Rectangle 69" descr="羊皮纸"/>
            <p:cNvSpPr>
              <a:spLocks noChangeArrowheads="1"/>
            </p:cNvSpPr>
            <p:nvPr/>
          </p:nvSpPr>
          <p:spPr bwMode="auto">
            <a:xfrm>
              <a:off x="2400" y="3237"/>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46" name="Rectangle 70" descr="花束"/>
            <p:cNvSpPr>
              <a:spLocks noChangeArrowheads="1"/>
            </p:cNvSpPr>
            <p:nvPr/>
          </p:nvSpPr>
          <p:spPr bwMode="auto">
            <a:xfrm>
              <a:off x="2976" y="3237"/>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47" name="Text Box 71"/>
            <p:cNvSpPr txBox="1">
              <a:spLocks noChangeArrowheads="1"/>
            </p:cNvSpPr>
            <p:nvPr/>
          </p:nvSpPr>
          <p:spPr bwMode="auto">
            <a:xfrm>
              <a:off x="2375" y="3208"/>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8648" name="Line 72"/>
            <p:cNvSpPr>
              <a:spLocks noChangeShapeType="1"/>
            </p:cNvSpPr>
            <p:nvPr/>
          </p:nvSpPr>
          <p:spPr bwMode="auto">
            <a:xfrm flipV="1">
              <a:off x="4319" y="1832"/>
              <a:ext cx="209" cy="206"/>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49" name="Text Box 73"/>
            <p:cNvSpPr txBox="1">
              <a:spLocks noChangeArrowheads="1"/>
            </p:cNvSpPr>
            <p:nvPr/>
          </p:nvSpPr>
          <p:spPr bwMode="auto">
            <a:xfrm>
              <a:off x="3973" y="1915"/>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grpSp>
          <p:nvGrpSpPr>
            <p:cNvPr id="168010" name="Group 74"/>
            <p:cNvGrpSpPr/>
            <p:nvPr/>
          </p:nvGrpSpPr>
          <p:grpSpPr bwMode="auto">
            <a:xfrm>
              <a:off x="372" y="1446"/>
              <a:ext cx="1014" cy="816"/>
              <a:chOff x="372" y="1390"/>
              <a:chExt cx="1014" cy="816"/>
            </a:xfrm>
          </p:grpSpPr>
          <p:sp>
            <p:nvSpPr>
              <p:cNvPr id="1048651" name="Rectangle 75"/>
              <p:cNvSpPr>
                <a:spLocks noChangeArrowheads="1"/>
              </p:cNvSpPr>
              <p:nvPr/>
            </p:nvSpPr>
            <p:spPr bwMode="auto">
              <a:xfrm>
                <a:off x="378" y="1390"/>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52" name="Line 76"/>
              <p:cNvSpPr>
                <a:spLocks noChangeShapeType="1"/>
              </p:cNvSpPr>
              <p:nvPr/>
            </p:nvSpPr>
            <p:spPr bwMode="auto">
              <a:xfrm>
                <a:off x="666" y="139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53" name="Text Box 77"/>
              <p:cNvSpPr txBox="1">
                <a:spLocks noChangeArrowheads="1"/>
              </p:cNvSpPr>
              <p:nvPr/>
            </p:nvSpPr>
            <p:spPr bwMode="auto">
              <a:xfrm>
                <a:off x="372" y="1915"/>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8654" name="Line 78"/>
              <p:cNvSpPr>
                <a:spLocks noChangeShapeType="1"/>
              </p:cNvSpPr>
              <p:nvPr/>
            </p:nvSpPr>
            <p:spPr bwMode="auto">
              <a:xfrm flipH="1" flipV="1">
                <a:off x="615" y="1768"/>
                <a:ext cx="5" cy="178"/>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55" name="Rectangle 79" descr="花束"/>
              <p:cNvSpPr>
                <a:spLocks noChangeArrowheads="1"/>
              </p:cNvSpPr>
              <p:nvPr/>
            </p:nvSpPr>
            <p:spPr bwMode="auto">
              <a:xfrm>
                <a:off x="906" y="139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56" name="Line 80"/>
              <p:cNvSpPr>
                <a:spLocks noChangeShapeType="1"/>
              </p:cNvSpPr>
              <p:nvPr/>
            </p:nvSpPr>
            <p:spPr bwMode="auto">
              <a:xfrm>
                <a:off x="1002" y="1582"/>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sp>
          <p:nvSpPr>
            <p:cNvPr id="1048657" name="Line 81"/>
            <p:cNvSpPr>
              <a:spLocks noChangeShapeType="1"/>
            </p:cNvSpPr>
            <p:nvPr/>
          </p:nvSpPr>
          <p:spPr bwMode="auto">
            <a:xfrm>
              <a:off x="2700" y="323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58" name="Rectangle 82" descr="羊皮纸"/>
            <p:cNvSpPr>
              <a:spLocks noChangeArrowheads="1"/>
            </p:cNvSpPr>
            <p:nvPr/>
          </p:nvSpPr>
          <p:spPr bwMode="auto">
            <a:xfrm>
              <a:off x="3408" y="3245"/>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59" name="Rectangle 83" descr="花束"/>
            <p:cNvSpPr>
              <a:spLocks noChangeArrowheads="1"/>
            </p:cNvSpPr>
            <p:nvPr/>
          </p:nvSpPr>
          <p:spPr bwMode="auto">
            <a:xfrm>
              <a:off x="3984" y="3245"/>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60" name="Line 84"/>
            <p:cNvSpPr>
              <a:spLocks noChangeShapeType="1"/>
            </p:cNvSpPr>
            <p:nvPr/>
          </p:nvSpPr>
          <p:spPr bwMode="auto">
            <a:xfrm>
              <a:off x="3072" y="3420"/>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61" name="Text Box 85"/>
            <p:cNvSpPr txBox="1">
              <a:spLocks noChangeArrowheads="1"/>
            </p:cNvSpPr>
            <p:nvPr/>
          </p:nvSpPr>
          <p:spPr bwMode="auto">
            <a:xfrm>
              <a:off x="3468" y="3224"/>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8662" name="Line 86"/>
            <p:cNvSpPr>
              <a:spLocks noChangeShapeType="1"/>
            </p:cNvSpPr>
            <p:nvPr/>
          </p:nvSpPr>
          <p:spPr bwMode="auto">
            <a:xfrm>
              <a:off x="3699" y="3251"/>
              <a:ext cx="0" cy="32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63" name="Rectangle 87" descr="羊皮纸"/>
            <p:cNvSpPr>
              <a:spLocks noChangeArrowheads="1"/>
            </p:cNvSpPr>
            <p:nvPr/>
          </p:nvSpPr>
          <p:spPr bwMode="auto">
            <a:xfrm>
              <a:off x="4416" y="3245"/>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64" name="Rectangle 88" descr="花束"/>
            <p:cNvSpPr>
              <a:spLocks noChangeArrowheads="1"/>
            </p:cNvSpPr>
            <p:nvPr/>
          </p:nvSpPr>
          <p:spPr bwMode="auto">
            <a:xfrm>
              <a:off x="4992" y="3245"/>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65" name="Line 89"/>
            <p:cNvSpPr>
              <a:spLocks noChangeShapeType="1"/>
            </p:cNvSpPr>
            <p:nvPr/>
          </p:nvSpPr>
          <p:spPr bwMode="auto">
            <a:xfrm>
              <a:off x="4080" y="3413"/>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66" name="Text Box 90"/>
            <p:cNvSpPr txBox="1">
              <a:spLocks noChangeArrowheads="1"/>
            </p:cNvSpPr>
            <p:nvPr/>
          </p:nvSpPr>
          <p:spPr bwMode="auto">
            <a:xfrm>
              <a:off x="4464" y="3216"/>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8667" name="Text Box 91"/>
            <p:cNvSpPr txBox="1">
              <a:spLocks noChangeArrowheads="1"/>
            </p:cNvSpPr>
            <p:nvPr/>
          </p:nvSpPr>
          <p:spPr bwMode="auto">
            <a:xfrm>
              <a:off x="4955" y="318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8668" name="Line 92"/>
            <p:cNvSpPr>
              <a:spLocks noChangeShapeType="1"/>
            </p:cNvSpPr>
            <p:nvPr/>
          </p:nvSpPr>
          <p:spPr bwMode="auto">
            <a:xfrm>
              <a:off x="4690" y="3250"/>
              <a:ext cx="0" cy="32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69" name="Line 93"/>
            <p:cNvSpPr>
              <a:spLocks noChangeShapeType="1"/>
            </p:cNvSpPr>
            <p:nvPr/>
          </p:nvSpPr>
          <p:spPr bwMode="auto">
            <a:xfrm flipH="1" flipV="1">
              <a:off x="4581" y="1828"/>
              <a:ext cx="129" cy="214"/>
            </a:xfrm>
            <a:prstGeom prst="line">
              <a:avLst/>
            </a:prstGeom>
            <a:noFill/>
            <a:ln w="38100">
              <a:solidFill>
                <a:srgbClr val="80008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70" name="Text Box 94"/>
            <p:cNvSpPr txBox="1">
              <a:spLocks noChangeArrowheads="1"/>
            </p:cNvSpPr>
            <p:nvPr/>
          </p:nvSpPr>
          <p:spPr bwMode="auto">
            <a:xfrm>
              <a:off x="4752" y="1897"/>
              <a:ext cx="23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800080"/>
                  </a:solidFill>
                </a:rPr>
                <a:t>p</a:t>
              </a:r>
              <a:endParaRPr lang="en-US" altLang="zh-CN" sz="2400">
                <a:solidFill>
                  <a:srgbClr val="800080"/>
                </a:solidFill>
              </a:endParaRPr>
            </a:p>
          </p:txBody>
        </p:sp>
      </p:grpSp>
      <p:sp>
        <p:nvSpPr>
          <p:cNvPr id="167938" name="AutoShape 95">
            <a:hlinkClick r:id="rId3" action="ppaction://hlinksldjump" highlightClick="1"/>
          </p:cNvPr>
          <p:cNvSpPr>
            <a:spLocks noChangeArrowheads="1"/>
          </p:cNvSpPr>
          <p:nvPr/>
        </p:nvSpPr>
        <p:spPr bwMode="auto">
          <a:xfrm>
            <a:off x="8229600" y="6221413"/>
            <a:ext cx="585788" cy="381000"/>
          </a:xfrm>
          <a:prstGeom prst="actionButtonBackPrevious">
            <a:avLst/>
          </a:prstGeom>
          <a:solidFill>
            <a:srgbClr val="C0C0C0"/>
          </a:solidFill>
          <a:ln w="0">
            <a:solidFill>
              <a:srgbClr val="FFFFFF"/>
            </a:solidFill>
            <a:miter lim="800000"/>
          </a:ln>
        </p:spPr>
        <p:txBody>
          <a:bodyPr wrap="none" anchor="ctr"/>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endParaRPr lang="zh-CN" altLang="en-US" sz="2400"/>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642" name="Text Box 2"/>
          <p:cNvSpPr txBox="1">
            <a:spLocks noChangeArrowheads="1"/>
          </p:cNvSpPr>
          <p:nvPr/>
        </p:nvSpPr>
        <p:spPr bwMode="auto">
          <a:xfrm>
            <a:off x="152400" y="152400"/>
            <a:ext cx="8991600" cy="552689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5000"/>
              </a:lnSpc>
              <a:defRPr/>
            </a:pPr>
            <a:r>
              <a:rPr lang="en-US" altLang="zh-CN" sz="2800" b="1" dirty="0">
                <a:solidFill>
                  <a:srgbClr val="660033"/>
                </a:solidFill>
              </a:rPr>
              <a:t>Status</a:t>
            </a:r>
            <a:r>
              <a:rPr lang="en-US" altLang="zh-CN" sz="2800" dirty="0">
                <a:solidFill>
                  <a:srgbClr val="660033"/>
                </a:solidFill>
              </a:rPr>
              <a:t> </a:t>
            </a:r>
            <a:r>
              <a:rPr lang="en-US" altLang="zh-CN" sz="2800" dirty="0" err="1">
                <a:solidFill>
                  <a:srgbClr val="660033"/>
                </a:solidFill>
              </a:rPr>
              <a:t>AddPolyn</a:t>
            </a:r>
            <a:r>
              <a:rPr lang="en-US" altLang="zh-CN" sz="2800" dirty="0">
                <a:solidFill>
                  <a:srgbClr val="660033"/>
                </a:solidFill>
              </a:rPr>
              <a:t> ( polynomial </a:t>
            </a:r>
            <a:r>
              <a:rPr lang="en-US" altLang="zh-CN" sz="2800" b="1" dirty="0">
                <a:solidFill>
                  <a:srgbClr val="660033"/>
                </a:solidFill>
              </a:rPr>
              <a:t>&amp;</a:t>
            </a:r>
            <a:r>
              <a:rPr lang="en-US" altLang="zh-CN" sz="2800" dirty="0">
                <a:solidFill>
                  <a:srgbClr val="660033"/>
                </a:solidFill>
              </a:rPr>
              <a:t>Pc, </a:t>
            </a:r>
            <a:endParaRPr lang="en-US" altLang="zh-CN" sz="2800" dirty="0">
              <a:solidFill>
                <a:srgbClr val="660033"/>
              </a:solidFill>
            </a:endParaRPr>
          </a:p>
          <a:p>
            <a:pPr eaLnBrk="1" hangingPunct="1">
              <a:lnSpc>
                <a:spcPct val="115000"/>
              </a:lnSpc>
              <a:defRPr/>
            </a:pPr>
            <a:r>
              <a:rPr lang="en-US" altLang="zh-CN" sz="2800" dirty="0">
                <a:solidFill>
                  <a:srgbClr val="660033"/>
                </a:solidFill>
              </a:rPr>
              <a:t>                 polynomial </a:t>
            </a:r>
            <a:r>
              <a:rPr lang="en-US" altLang="zh-CN" sz="2800" b="1" dirty="0">
                <a:solidFill>
                  <a:srgbClr val="660033"/>
                </a:solidFill>
              </a:rPr>
              <a:t>&amp;</a:t>
            </a:r>
            <a:r>
              <a:rPr lang="en-US" altLang="zh-CN" sz="2800" dirty="0">
                <a:solidFill>
                  <a:srgbClr val="660033"/>
                </a:solidFill>
              </a:rPr>
              <a:t>Pa, polynomial </a:t>
            </a:r>
            <a:r>
              <a:rPr lang="en-US" altLang="zh-CN" sz="2800" b="1" dirty="0">
                <a:solidFill>
                  <a:srgbClr val="660033"/>
                </a:solidFill>
              </a:rPr>
              <a:t>&amp;</a:t>
            </a:r>
            <a:r>
              <a:rPr lang="en-US" altLang="zh-CN" sz="2800" dirty="0">
                <a:solidFill>
                  <a:srgbClr val="660033"/>
                </a:solidFill>
              </a:rPr>
              <a:t>Pb) </a:t>
            </a:r>
            <a:r>
              <a:rPr lang="en-US" altLang="zh-CN" sz="2800" b="1" dirty="0">
                <a:solidFill>
                  <a:srgbClr val="660033"/>
                </a:solidFill>
              </a:rPr>
              <a:t>{</a:t>
            </a:r>
            <a:r>
              <a:rPr lang="en-US" altLang="zh-CN" sz="2800" dirty="0">
                <a:solidFill>
                  <a:srgbClr val="660033"/>
                </a:solidFill>
              </a:rPr>
              <a:t>   </a:t>
            </a:r>
            <a:r>
              <a:rPr lang="en-US" altLang="zh-CN" sz="2800" dirty="0">
                <a:solidFill>
                  <a:srgbClr val="660033"/>
                </a:solidFill>
                <a:ea typeface="隶书" panose="02010509060101010101" charset="-122"/>
              </a:rPr>
              <a:t>// </a:t>
            </a:r>
            <a:r>
              <a:rPr lang="zh-CN" altLang="en-US" sz="2800" dirty="0">
                <a:solidFill>
                  <a:srgbClr val="660033"/>
                </a:solidFill>
                <a:ea typeface="隶书" panose="02010509060101010101" charset="-122"/>
              </a:rPr>
              <a:t>利用两个多项式的结点构成“和多项式” </a:t>
            </a:r>
            <a:r>
              <a:rPr lang="en-US" altLang="zh-CN" sz="2800" dirty="0">
                <a:solidFill>
                  <a:srgbClr val="660033"/>
                </a:solidFill>
                <a:ea typeface="隶书" panose="02010509060101010101" charset="-122"/>
              </a:rPr>
              <a:t>Pc = Pa</a:t>
            </a:r>
            <a:r>
              <a:rPr lang="zh-CN" altLang="en-US" sz="2800" dirty="0">
                <a:solidFill>
                  <a:srgbClr val="660033"/>
                </a:solidFill>
                <a:ea typeface="隶书" panose="02010509060101010101" charset="-122"/>
              </a:rPr>
              <a:t>＋</a:t>
            </a:r>
            <a:r>
              <a:rPr lang="en-US" altLang="zh-CN" sz="2800" dirty="0">
                <a:solidFill>
                  <a:srgbClr val="660033"/>
                </a:solidFill>
                <a:ea typeface="隶书" panose="02010509060101010101" charset="-122"/>
              </a:rPr>
              <a:t>Pb</a:t>
            </a:r>
            <a:endParaRPr lang="en-US" altLang="zh-CN" sz="2800" dirty="0">
              <a:solidFill>
                <a:srgbClr val="660033"/>
              </a:solidFill>
              <a:ea typeface="隶书" panose="02010509060101010101" charset="-122"/>
            </a:endParaRPr>
          </a:p>
          <a:p>
            <a:pPr eaLnBrk="1" hangingPunct="1">
              <a:lnSpc>
                <a:spcPct val="115000"/>
              </a:lnSpc>
              <a:defRPr/>
            </a:pPr>
            <a:r>
              <a:rPr lang="en-US" altLang="zh-CN" sz="2800" b="1" dirty="0">
                <a:solidFill>
                  <a:srgbClr val="660033"/>
                </a:solidFill>
              </a:rPr>
              <a:t>                         …  …</a:t>
            </a:r>
            <a:endParaRPr lang="en-US" altLang="zh-CN" sz="2800" dirty="0">
              <a:solidFill>
                <a:srgbClr val="660033"/>
              </a:solidFill>
            </a:endParaRPr>
          </a:p>
          <a:p>
            <a:pPr eaLnBrk="1" hangingPunct="1">
              <a:lnSpc>
                <a:spcPct val="115000"/>
              </a:lnSpc>
              <a:defRPr/>
            </a:pPr>
            <a:r>
              <a:rPr lang="en-US" altLang="zh-CN" sz="2800" dirty="0">
                <a:solidFill>
                  <a:srgbClr val="660033"/>
                </a:solidFill>
              </a:rPr>
              <a:t>  </a:t>
            </a:r>
            <a:r>
              <a:rPr lang="en-US" altLang="zh-CN" sz="2800" b="1" dirty="0">
                <a:solidFill>
                  <a:srgbClr val="660033"/>
                </a:solidFill>
              </a:rPr>
              <a:t> if</a:t>
            </a:r>
            <a:r>
              <a:rPr lang="en-US" altLang="zh-CN" sz="2800" dirty="0">
                <a:solidFill>
                  <a:srgbClr val="660033"/>
                </a:solidFill>
              </a:rPr>
              <a:t> (</a:t>
            </a:r>
            <a:r>
              <a:rPr lang="en-US" altLang="zh-CN" sz="2800" dirty="0" err="1">
                <a:solidFill>
                  <a:srgbClr val="660033"/>
                </a:solidFill>
              </a:rPr>
              <a:t>DelAfter</a:t>
            </a:r>
            <a:r>
              <a:rPr lang="en-US" altLang="zh-CN" sz="2800" dirty="0">
                <a:solidFill>
                  <a:srgbClr val="660033"/>
                </a:solidFill>
              </a:rPr>
              <a:t>(Pa, e1))  a=e1.expn   </a:t>
            </a:r>
            <a:r>
              <a:rPr lang="en-US" altLang="zh-CN" sz="2800" b="1" dirty="0">
                <a:solidFill>
                  <a:srgbClr val="660033"/>
                </a:solidFill>
              </a:rPr>
              <a:t>else</a:t>
            </a:r>
            <a:r>
              <a:rPr lang="en-US" altLang="zh-CN" sz="2800" dirty="0">
                <a:solidFill>
                  <a:srgbClr val="660033"/>
                </a:solidFill>
              </a:rPr>
              <a:t>  a=MAXE;</a:t>
            </a:r>
            <a:endParaRPr lang="en-US" altLang="zh-CN" sz="2800" dirty="0">
              <a:solidFill>
                <a:srgbClr val="660033"/>
              </a:solidFill>
            </a:endParaRPr>
          </a:p>
          <a:p>
            <a:pPr eaLnBrk="1" hangingPunct="1">
              <a:lnSpc>
                <a:spcPct val="115000"/>
              </a:lnSpc>
              <a:defRPr/>
            </a:pPr>
            <a:r>
              <a:rPr lang="en-US" altLang="zh-CN" sz="2800" dirty="0">
                <a:solidFill>
                  <a:srgbClr val="660033"/>
                </a:solidFill>
              </a:rPr>
              <a:t>   </a:t>
            </a:r>
            <a:r>
              <a:rPr lang="en-US" altLang="zh-CN" sz="2800" b="1" dirty="0">
                <a:solidFill>
                  <a:srgbClr val="660033"/>
                </a:solidFill>
              </a:rPr>
              <a:t>if</a:t>
            </a:r>
            <a:r>
              <a:rPr lang="en-US" altLang="zh-CN" sz="2800" dirty="0">
                <a:solidFill>
                  <a:srgbClr val="660033"/>
                </a:solidFill>
              </a:rPr>
              <a:t> (</a:t>
            </a:r>
            <a:r>
              <a:rPr lang="en-US" altLang="zh-CN" sz="2800" dirty="0" err="1">
                <a:solidFill>
                  <a:srgbClr val="660033"/>
                </a:solidFill>
              </a:rPr>
              <a:t>DelAfter</a:t>
            </a:r>
            <a:r>
              <a:rPr lang="en-US" altLang="zh-CN" sz="2800" dirty="0">
                <a:solidFill>
                  <a:srgbClr val="660033"/>
                </a:solidFill>
              </a:rPr>
              <a:t>(Pb, e2))  b=e2.expn   </a:t>
            </a:r>
            <a:r>
              <a:rPr lang="en-US" altLang="zh-CN" sz="2800" b="1" dirty="0">
                <a:solidFill>
                  <a:srgbClr val="660033"/>
                </a:solidFill>
              </a:rPr>
              <a:t>else </a:t>
            </a:r>
            <a:r>
              <a:rPr lang="en-US" altLang="zh-CN" sz="2800" dirty="0">
                <a:solidFill>
                  <a:srgbClr val="660033"/>
                </a:solidFill>
              </a:rPr>
              <a:t> b=MAXE;</a:t>
            </a:r>
            <a:endParaRPr lang="en-US" altLang="zh-CN" sz="2800" b="1" dirty="0">
              <a:solidFill>
                <a:srgbClr val="660033"/>
              </a:solidFill>
            </a:endParaRPr>
          </a:p>
          <a:p>
            <a:pPr eaLnBrk="1" hangingPunct="1">
              <a:lnSpc>
                <a:spcPct val="115000"/>
              </a:lnSpc>
              <a:defRPr/>
            </a:pPr>
            <a:r>
              <a:rPr lang="en-US" altLang="zh-CN" sz="2800" b="1" dirty="0">
                <a:solidFill>
                  <a:srgbClr val="660033"/>
                </a:solidFill>
              </a:rPr>
              <a:t>   while</a:t>
            </a:r>
            <a:r>
              <a:rPr lang="en-US" altLang="zh-CN" sz="2800" dirty="0">
                <a:solidFill>
                  <a:srgbClr val="660033"/>
                </a:solidFill>
              </a:rPr>
              <a:t> (</a:t>
            </a:r>
            <a:r>
              <a:rPr lang="en-US" altLang="zh-CN" sz="2800" b="1" dirty="0">
                <a:solidFill>
                  <a:srgbClr val="660033"/>
                </a:solidFill>
              </a:rPr>
              <a:t>!</a:t>
            </a:r>
            <a:r>
              <a:rPr lang="en-US" altLang="zh-CN" sz="2800" dirty="0">
                <a:solidFill>
                  <a:srgbClr val="660033"/>
                </a:solidFill>
              </a:rPr>
              <a:t>(a=MAXE </a:t>
            </a:r>
            <a:r>
              <a:rPr lang="en-US" altLang="zh-CN" sz="2800" b="1" dirty="0">
                <a:solidFill>
                  <a:srgbClr val="660033"/>
                </a:solidFill>
              </a:rPr>
              <a:t>&amp;&amp; </a:t>
            </a:r>
            <a:r>
              <a:rPr lang="en-US" altLang="zh-CN" sz="2800" dirty="0">
                <a:solidFill>
                  <a:srgbClr val="660033"/>
                </a:solidFill>
              </a:rPr>
              <a:t>b=MAXE)) </a:t>
            </a:r>
            <a:r>
              <a:rPr lang="en-US" altLang="zh-CN" sz="2800" b="1" dirty="0">
                <a:solidFill>
                  <a:srgbClr val="660033"/>
                </a:solidFill>
              </a:rPr>
              <a:t>{</a:t>
            </a:r>
            <a:endParaRPr lang="en-US" altLang="zh-CN" sz="2800" dirty="0">
              <a:solidFill>
                <a:srgbClr val="660033"/>
              </a:solidFill>
            </a:endParaRPr>
          </a:p>
          <a:p>
            <a:pPr eaLnBrk="1" hangingPunct="1">
              <a:lnSpc>
                <a:spcPct val="115000"/>
              </a:lnSpc>
              <a:defRPr/>
            </a:pPr>
            <a:r>
              <a:rPr lang="en-US" altLang="zh-CN" sz="2800" b="1" dirty="0">
                <a:solidFill>
                  <a:srgbClr val="660033"/>
                </a:solidFill>
              </a:rPr>
              <a:t>                …  … </a:t>
            </a:r>
            <a:endParaRPr lang="en-US" altLang="zh-CN" sz="2800" b="1" dirty="0">
              <a:solidFill>
                <a:srgbClr val="660033"/>
              </a:solidFill>
            </a:endParaRPr>
          </a:p>
          <a:p>
            <a:pPr eaLnBrk="1" hangingPunct="1">
              <a:lnSpc>
                <a:spcPct val="115000"/>
              </a:lnSpc>
              <a:defRPr/>
            </a:pPr>
            <a:r>
              <a:rPr lang="en-US" altLang="zh-CN" sz="2800" b="1" dirty="0">
                <a:solidFill>
                  <a:srgbClr val="660033"/>
                </a:solidFill>
              </a:rPr>
              <a:t>    }</a:t>
            </a:r>
            <a:endParaRPr lang="en-US" altLang="zh-CN" sz="2800" b="1" dirty="0">
              <a:solidFill>
                <a:srgbClr val="660033"/>
              </a:solidFill>
            </a:endParaRPr>
          </a:p>
          <a:p>
            <a:pPr eaLnBrk="1" hangingPunct="1">
              <a:lnSpc>
                <a:spcPct val="115000"/>
              </a:lnSpc>
              <a:defRPr/>
            </a:pPr>
            <a:r>
              <a:rPr lang="en-US" altLang="zh-CN" sz="2800" b="1" dirty="0">
                <a:solidFill>
                  <a:srgbClr val="660033"/>
                </a:solidFill>
              </a:rPr>
              <a:t>              …  …</a:t>
            </a:r>
            <a:endParaRPr lang="en-US" altLang="zh-CN" sz="2800" dirty="0">
              <a:solidFill>
                <a:srgbClr val="660033"/>
              </a:solidFill>
            </a:endParaRPr>
          </a:p>
          <a:p>
            <a:pPr eaLnBrk="1" hangingPunct="1">
              <a:lnSpc>
                <a:spcPct val="115000"/>
              </a:lnSpc>
              <a:defRPr/>
            </a:pPr>
            <a:r>
              <a:rPr lang="en-US" altLang="zh-CN" sz="2800" b="1" dirty="0">
                <a:solidFill>
                  <a:srgbClr val="660033"/>
                </a:solidFill>
              </a:rPr>
              <a:t>}</a:t>
            </a:r>
            <a:r>
              <a:rPr lang="en-US" altLang="zh-CN" sz="2800" dirty="0">
                <a:solidFill>
                  <a:srgbClr val="660033"/>
                </a:solidFill>
              </a:rPr>
              <a:t> // </a:t>
            </a:r>
            <a:r>
              <a:rPr lang="en-US" altLang="zh-CN" sz="2800" dirty="0" err="1">
                <a:solidFill>
                  <a:srgbClr val="660033"/>
                </a:solidFill>
              </a:rPr>
              <a:t>AddPolyn</a:t>
            </a:r>
            <a:endParaRPr lang="en-US" altLang="zh-CN" sz="2800" dirty="0">
              <a:solidFill>
                <a:srgbClr val="660033"/>
              </a:solidFill>
            </a:endParaRPr>
          </a:p>
        </p:txBody>
      </p:sp>
      <p:sp>
        <p:nvSpPr>
          <p:cNvPr id="1008643" name="AutoShape 3">
            <a:hlinkClick r:id="rId1" action="ppaction://hlinksldjump" highlightClick="1"/>
          </p:cNvPr>
          <p:cNvSpPr>
            <a:spLocks noChangeArrowheads="1"/>
          </p:cNvSpPr>
          <p:nvPr/>
        </p:nvSpPr>
        <p:spPr bwMode="auto">
          <a:xfrm>
            <a:off x="8153400" y="6096000"/>
            <a:ext cx="685800" cy="381000"/>
          </a:xfrm>
          <a:prstGeom prst="actionButtonBeginning">
            <a:avLst/>
          </a:prstGeom>
          <a:solidFill>
            <a:schemeClr val="bg2"/>
          </a:solidFill>
          <a:ln>
            <a:noFill/>
          </a:ln>
          <a:effectLst>
            <a:prstShdw prst="shdw17" dist="17961" dir="2700000">
              <a:srgbClr val="4D4D4D">
                <a:alpha val="74997"/>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eaLnBrk="1" hangingPunct="1">
              <a:defRPr/>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08643"/>
                                        </p:tgtEl>
                                        <p:attrNameLst>
                                          <p:attrName>style.visibility</p:attrName>
                                        </p:attrNameLst>
                                      </p:cBhvr>
                                      <p:to>
                                        <p:strVal val="visible"/>
                                      </p:to>
                                    </p:set>
                                    <p:anim calcmode="lin" valueType="num">
                                      <p:cBhvr additive="base">
                                        <p:cTn id="7" dur="500" fill="hold"/>
                                        <p:tgtEl>
                                          <p:spTgt spid="1008643"/>
                                        </p:tgtEl>
                                        <p:attrNameLst>
                                          <p:attrName>ppt_x</p:attrName>
                                        </p:attrNameLst>
                                      </p:cBhvr>
                                      <p:tavLst>
                                        <p:tav tm="0">
                                          <p:val>
                                            <p:strVal val="0-#ppt_w/2"/>
                                          </p:val>
                                        </p:tav>
                                        <p:tav tm="100000">
                                          <p:val>
                                            <p:strVal val="#ppt_x"/>
                                          </p:val>
                                        </p:tav>
                                      </p:tavLst>
                                    </p:anim>
                                    <p:anim calcmode="lin" valueType="num">
                                      <p:cBhvr additive="base">
                                        <p:cTn id="8" dur="500" fill="hold"/>
                                        <p:tgtEl>
                                          <p:spTgt spid="10086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8643"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666" name="Text Box 2"/>
          <p:cNvSpPr txBox="1">
            <a:spLocks noChangeArrowheads="1"/>
          </p:cNvSpPr>
          <p:nvPr/>
        </p:nvSpPr>
        <p:spPr bwMode="auto">
          <a:xfrm>
            <a:off x="304800" y="0"/>
            <a:ext cx="8839200" cy="6924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2800" b="1">
                <a:solidFill>
                  <a:srgbClr val="660033"/>
                </a:solidFill>
              </a:rPr>
              <a:t>switch</a:t>
            </a:r>
            <a:r>
              <a:rPr lang="en-US" altLang="zh-CN" sz="2800">
                <a:solidFill>
                  <a:srgbClr val="660033"/>
                </a:solidFill>
              </a:rPr>
              <a:t> (</a:t>
            </a:r>
            <a:r>
              <a:rPr lang="en-US" altLang="zh-CN" sz="2800" b="1">
                <a:solidFill>
                  <a:srgbClr val="660033"/>
                </a:solidFill>
              </a:rPr>
              <a:t>*</a:t>
            </a:r>
            <a:r>
              <a:rPr lang="en-US" altLang="zh-CN" sz="2800">
                <a:solidFill>
                  <a:srgbClr val="660033"/>
                </a:solidFill>
              </a:rPr>
              <a:t>cmp(e1, e2)) </a:t>
            </a:r>
            <a:r>
              <a:rPr lang="en-US" altLang="zh-CN" sz="2800" b="1">
                <a:solidFill>
                  <a:srgbClr val="660033"/>
                </a:solidFill>
              </a:rPr>
              <a:t>{ </a:t>
            </a:r>
            <a:endParaRPr lang="en-US" altLang="zh-CN" sz="2800" b="1">
              <a:solidFill>
                <a:srgbClr val="660033"/>
              </a:solidFill>
            </a:endParaRPr>
          </a:p>
          <a:p>
            <a:pPr eaLnBrk="1" hangingPunct="1">
              <a:defRPr/>
            </a:pPr>
            <a:r>
              <a:rPr lang="en-US" altLang="zh-CN" sz="2800" b="1">
                <a:solidFill>
                  <a:srgbClr val="660033"/>
                </a:solidFill>
              </a:rPr>
              <a:t>    case</a:t>
            </a:r>
            <a:r>
              <a:rPr lang="en-US" altLang="zh-CN" sz="2800">
                <a:solidFill>
                  <a:srgbClr val="660033"/>
                </a:solidFill>
              </a:rPr>
              <a:t> -1: </a:t>
            </a:r>
            <a:r>
              <a:rPr lang="en-US" altLang="zh-CN" sz="2800" b="1">
                <a:solidFill>
                  <a:srgbClr val="660033"/>
                </a:solidFill>
              </a:rPr>
              <a:t>{  //</a:t>
            </a:r>
            <a:r>
              <a:rPr lang="en-US" altLang="zh-CN" sz="2800" b="1"/>
              <a:t> </a:t>
            </a:r>
            <a:r>
              <a:rPr lang="zh-CN" altLang="en-US" sz="2800" b="1">
                <a:solidFill>
                  <a:srgbClr val="800000"/>
                </a:solidFill>
                <a:latin typeface="楷体_GB2312" charset="0"/>
                <a:ea typeface="楷体_GB2312" charset="0"/>
              </a:rPr>
              <a:t>多项式</a:t>
            </a:r>
            <a:r>
              <a:rPr lang="en-US" altLang="zh-CN" sz="2800" b="1">
                <a:solidFill>
                  <a:srgbClr val="800000"/>
                </a:solidFill>
                <a:ea typeface="楷体_GB2312" charset="0"/>
              </a:rPr>
              <a:t>PA</a:t>
            </a:r>
            <a:r>
              <a:rPr lang="zh-CN" altLang="en-US" sz="2800" b="1">
                <a:solidFill>
                  <a:srgbClr val="800000"/>
                </a:solidFill>
                <a:latin typeface="楷体_GB2312" charset="0"/>
                <a:ea typeface="楷体_GB2312" charset="0"/>
              </a:rPr>
              <a:t>中当前结点的指数值小</a:t>
            </a:r>
            <a:endParaRPr lang="zh-CN" altLang="en-US" sz="2800" b="1"/>
          </a:p>
          <a:p>
            <a:pPr eaLnBrk="1" hangingPunct="1">
              <a:defRPr/>
            </a:pPr>
            <a:r>
              <a:rPr lang="zh-CN" altLang="en-US" sz="2800">
                <a:solidFill>
                  <a:srgbClr val="660033"/>
                </a:solidFill>
              </a:rPr>
              <a:t>          </a:t>
            </a:r>
            <a:r>
              <a:rPr lang="zh-CN" altLang="zh-CN" sz="2800">
                <a:solidFill>
                  <a:srgbClr val="660033"/>
                </a:solidFill>
              </a:rPr>
              <a:t>InsAfter(Lc, </a:t>
            </a:r>
            <a:r>
              <a:rPr lang="en-US" altLang="zh-CN" sz="2800">
                <a:solidFill>
                  <a:srgbClr val="660033"/>
                </a:solidFill>
              </a:rPr>
              <a:t>e1</a:t>
            </a:r>
            <a:r>
              <a:rPr lang="zh-CN" altLang="zh-CN" sz="2800">
                <a:solidFill>
                  <a:srgbClr val="660033"/>
                </a:solidFill>
              </a:rPr>
              <a:t>);</a:t>
            </a:r>
            <a:r>
              <a:rPr lang="en-US" altLang="zh-CN" sz="2800">
                <a:solidFill>
                  <a:srgbClr val="660033"/>
                </a:solidFill>
              </a:rPr>
              <a:t> </a:t>
            </a:r>
            <a:endParaRPr lang="en-US" altLang="zh-CN" sz="2800">
              <a:solidFill>
                <a:srgbClr val="660033"/>
              </a:solidFill>
            </a:endParaRPr>
          </a:p>
          <a:p>
            <a:pPr eaLnBrk="1" hangingPunct="1">
              <a:defRPr/>
            </a:pPr>
            <a:r>
              <a:rPr lang="en-US" altLang="zh-CN" sz="2800">
                <a:solidFill>
                  <a:srgbClr val="660033"/>
                </a:solidFill>
              </a:rPr>
              <a:t>           </a:t>
            </a:r>
            <a:r>
              <a:rPr lang="zh-CN" altLang="zh-CN" sz="2800">
                <a:solidFill>
                  <a:srgbClr val="660033"/>
                </a:solidFill>
              </a:rPr>
              <a:t>if ( DelAfter( </a:t>
            </a:r>
            <a:r>
              <a:rPr lang="en-US" altLang="zh-CN" sz="2800">
                <a:solidFill>
                  <a:srgbClr val="660033"/>
                </a:solidFill>
              </a:rPr>
              <a:t>P</a:t>
            </a:r>
            <a:r>
              <a:rPr lang="zh-CN" altLang="zh-CN" sz="2800">
                <a:solidFill>
                  <a:srgbClr val="660033"/>
                </a:solidFill>
              </a:rPr>
              <a:t>a, e1) ) a=</a:t>
            </a:r>
            <a:r>
              <a:rPr lang="en-US" altLang="zh-CN" sz="2800">
                <a:solidFill>
                  <a:srgbClr val="660033"/>
                </a:solidFill>
              </a:rPr>
              <a:t>e1.expn</a:t>
            </a:r>
            <a:r>
              <a:rPr lang="zh-CN" altLang="zh-CN" sz="2800">
                <a:solidFill>
                  <a:srgbClr val="660033"/>
                </a:solidFill>
              </a:rPr>
              <a:t>;</a:t>
            </a:r>
            <a:endParaRPr lang="zh-CN" altLang="zh-CN" sz="2800">
              <a:solidFill>
                <a:srgbClr val="660033"/>
              </a:solidFill>
            </a:endParaRPr>
          </a:p>
          <a:p>
            <a:pPr eaLnBrk="1" hangingPunct="1">
              <a:defRPr/>
            </a:pPr>
            <a:r>
              <a:rPr lang="zh-CN" altLang="zh-CN" sz="2800">
                <a:solidFill>
                  <a:srgbClr val="660033"/>
                </a:solidFill>
              </a:rPr>
              <a:t>      </a:t>
            </a:r>
            <a:r>
              <a:rPr lang="en-US" altLang="zh-CN" sz="2800">
                <a:solidFill>
                  <a:srgbClr val="660033"/>
                </a:solidFill>
              </a:rPr>
              <a:t>    </a:t>
            </a:r>
            <a:r>
              <a:rPr lang="zh-CN" altLang="zh-CN" sz="2800">
                <a:solidFill>
                  <a:srgbClr val="660033"/>
                </a:solidFill>
              </a:rPr>
              <a:t>else a = MAXC;</a:t>
            </a:r>
            <a:r>
              <a:rPr lang="en-US" altLang="zh-CN" sz="2800">
                <a:solidFill>
                  <a:srgbClr val="660033"/>
                </a:solidFill>
              </a:rPr>
              <a:t>    </a:t>
            </a:r>
            <a:r>
              <a:rPr lang="en-US" altLang="zh-CN" sz="2800" b="1">
                <a:solidFill>
                  <a:srgbClr val="660033"/>
                </a:solidFill>
              </a:rPr>
              <a:t>break</a:t>
            </a:r>
            <a:r>
              <a:rPr lang="en-US" altLang="zh-CN" sz="2800">
                <a:solidFill>
                  <a:srgbClr val="660033"/>
                </a:solidFill>
              </a:rPr>
              <a:t>;  </a:t>
            </a:r>
            <a:r>
              <a:rPr lang="en-US" altLang="zh-CN" sz="2800" b="1">
                <a:solidFill>
                  <a:srgbClr val="660033"/>
                </a:solidFill>
              </a:rPr>
              <a:t>}</a:t>
            </a:r>
            <a:endParaRPr lang="en-US" altLang="zh-CN" sz="2800" b="1">
              <a:solidFill>
                <a:srgbClr val="660033"/>
              </a:solidFill>
            </a:endParaRPr>
          </a:p>
          <a:p>
            <a:pPr eaLnBrk="1" hangingPunct="1">
              <a:defRPr/>
            </a:pPr>
            <a:r>
              <a:rPr lang="en-US" altLang="zh-CN" sz="2800" b="1">
                <a:solidFill>
                  <a:srgbClr val="660033"/>
                </a:solidFill>
              </a:rPr>
              <a:t>    case </a:t>
            </a:r>
            <a:r>
              <a:rPr lang="en-US" altLang="zh-CN" sz="2800">
                <a:solidFill>
                  <a:srgbClr val="660033"/>
                </a:solidFill>
              </a:rPr>
              <a:t>0: </a:t>
            </a:r>
            <a:r>
              <a:rPr lang="en-US" altLang="zh-CN" sz="2800" b="1">
                <a:solidFill>
                  <a:srgbClr val="660033"/>
                </a:solidFill>
              </a:rPr>
              <a:t>{</a:t>
            </a:r>
            <a:r>
              <a:rPr lang="en-US" altLang="zh-CN" sz="2800">
                <a:solidFill>
                  <a:srgbClr val="660033"/>
                </a:solidFill>
              </a:rPr>
              <a:t>   </a:t>
            </a:r>
            <a:r>
              <a:rPr lang="en-US" altLang="zh-CN" sz="2800" b="1">
                <a:solidFill>
                  <a:srgbClr val="660033"/>
                </a:solidFill>
                <a:ea typeface="楷体_GB2312" charset="0"/>
              </a:rPr>
              <a:t>//</a:t>
            </a:r>
            <a:r>
              <a:rPr lang="en-US" altLang="zh-CN" sz="2800" b="1">
                <a:latin typeface="楷体_GB2312" charset="0"/>
                <a:ea typeface="楷体_GB2312" charset="0"/>
              </a:rPr>
              <a:t> </a:t>
            </a:r>
            <a:r>
              <a:rPr lang="zh-CN" altLang="en-US" sz="2800" b="1">
                <a:solidFill>
                  <a:srgbClr val="800000"/>
                </a:solidFill>
                <a:latin typeface="楷体_GB2312" charset="0"/>
                <a:ea typeface="楷体_GB2312" charset="0"/>
              </a:rPr>
              <a:t>两者的指数值相等</a:t>
            </a:r>
            <a:endParaRPr lang="zh-CN" altLang="en-US" sz="2800"/>
          </a:p>
          <a:p>
            <a:pPr eaLnBrk="1" hangingPunct="1">
              <a:defRPr/>
            </a:pPr>
            <a:r>
              <a:rPr lang="zh-CN" altLang="en-US" sz="2800"/>
              <a:t>        </a:t>
            </a:r>
            <a:r>
              <a:rPr lang="en-US" altLang="zh-CN" sz="2800">
                <a:solidFill>
                  <a:srgbClr val="660033"/>
                </a:solidFill>
              </a:rPr>
              <a:t>e1.coef= a.coef + b.coef ;</a:t>
            </a:r>
            <a:endParaRPr lang="en-US" altLang="zh-CN" sz="2800">
              <a:solidFill>
                <a:srgbClr val="660033"/>
              </a:solidFill>
            </a:endParaRPr>
          </a:p>
          <a:p>
            <a:pPr eaLnBrk="1" hangingPunct="1">
              <a:defRPr/>
            </a:pPr>
            <a:r>
              <a:rPr lang="en-US" altLang="zh-CN" sz="2800">
                <a:solidFill>
                  <a:srgbClr val="660033"/>
                </a:solidFill>
              </a:rPr>
              <a:t>        </a:t>
            </a:r>
            <a:r>
              <a:rPr lang="en-US" altLang="zh-CN" sz="2800" b="1">
                <a:solidFill>
                  <a:srgbClr val="660033"/>
                </a:solidFill>
              </a:rPr>
              <a:t>if</a:t>
            </a:r>
            <a:r>
              <a:rPr lang="en-US" altLang="zh-CN" sz="2800">
                <a:solidFill>
                  <a:srgbClr val="660033"/>
                </a:solidFill>
              </a:rPr>
              <a:t> ( a.coef </a:t>
            </a:r>
            <a:r>
              <a:rPr lang="en-US" altLang="zh-CN" sz="2800" b="1">
                <a:solidFill>
                  <a:srgbClr val="660033"/>
                </a:solidFill>
              </a:rPr>
              <a:t>!=</a:t>
            </a:r>
            <a:r>
              <a:rPr lang="en-US" altLang="zh-CN" sz="2800">
                <a:solidFill>
                  <a:srgbClr val="660033"/>
                </a:solidFill>
              </a:rPr>
              <a:t> 0.0 ) InsAfter(Pc, e1); </a:t>
            </a:r>
            <a:endParaRPr lang="en-US" altLang="zh-CN" sz="2800">
              <a:solidFill>
                <a:srgbClr val="660033"/>
              </a:solidFill>
            </a:endParaRPr>
          </a:p>
          <a:p>
            <a:pPr eaLnBrk="1" hangingPunct="1">
              <a:defRPr/>
            </a:pPr>
            <a:r>
              <a:rPr lang="en-US" altLang="zh-CN" sz="2800">
                <a:solidFill>
                  <a:srgbClr val="660033"/>
                </a:solidFill>
              </a:rPr>
              <a:t>        </a:t>
            </a:r>
            <a:r>
              <a:rPr lang="zh-CN" altLang="zh-CN" sz="2800">
                <a:solidFill>
                  <a:srgbClr val="660033"/>
                </a:solidFill>
              </a:rPr>
              <a:t>if ( DelAfter( </a:t>
            </a:r>
            <a:r>
              <a:rPr lang="en-US" altLang="zh-CN" sz="2800">
                <a:solidFill>
                  <a:srgbClr val="660033"/>
                </a:solidFill>
              </a:rPr>
              <a:t>P</a:t>
            </a:r>
            <a:r>
              <a:rPr lang="zh-CN" altLang="zh-CN" sz="2800">
                <a:solidFill>
                  <a:srgbClr val="660033"/>
                </a:solidFill>
              </a:rPr>
              <a:t>a, e1) ) a=</a:t>
            </a:r>
            <a:r>
              <a:rPr lang="en-US" altLang="zh-CN" sz="2800">
                <a:solidFill>
                  <a:srgbClr val="660033"/>
                </a:solidFill>
              </a:rPr>
              <a:t>e1.expn</a:t>
            </a:r>
            <a:r>
              <a:rPr lang="zh-CN" altLang="zh-CN" sz="2800">
                <a:solidFill>
                  <a:srgbClr val="660033"/>
                </a:solidFill>
              </a:rPr>
              <a:t>;</a:t>
            </a:r>
            <a:endParaRPr lang="zh-CN" altLang="zh-CN" sz="2800">
              <a:solidFill>
                <a:srgbClr val="660033"/>
              </a:solidFill>
            </a:endParaRPr>
          </a:p>
          <a:p>
            <a:pPr eaLnBrk="1" hangingPunct="1">
              <a:defRPr/>
            </a:pPr>
            <a:r>
              <a:rPr lang="zh-CN" altLang="zh-CN" sz="2800">
                <a:solidFill>
                  <a:srgbClr val="660033"/>
                </a:solidFill>
              </a:rPr>
              <a:t>      </a:t>
            </a:r>
            <a:r>
              <a:rPr lang="en-US" altLang="zh-CN" sz="2800">
                <a:solidFill>
                  <a:srgbClr val="660033"/>
                </a:solidFill>
              </a:rPr>
              <a:t>    </a:t>
            </a:r>
            <a:r>
              <a:rPr lang="zh-CN" altLang="zh-CN" sz="2800">
                <a:solidFill>
                  <a:srgbClr val="660033"/>
                </a:solidFill>
              </a:rPr>
              <a:t>else a = MAXC;</a:t>
            </a:r>
            <a:r>
              <a:rPr lang="en-US" altLang="zh-CN" sz="2800">
                <a:solidFill>
                  <a:srgbClr val="660033"/>
                </a:solidFill>
              </a:rPr>
              <a:t> </a:t>
            </a:r>
            <a:endParaRPr lang="en-US" altLang="zh-CN" sz="2800">
              <a:solidFill>
                <a:srgbClr val="660033"/>
              </a:solidFill>
            </a:endParaRPr>
          </a:p>
          <a:p>
            <a:pPr eaLnBrk="1" hangingPunct="1">
              <a:defRPr/>
            </a:pPr>
            <a:r>
              <a:rPr lang="en-US" altLang="zh-CN" sz="2800">
                <a:solidFill>
                  <a:srgbClr val="660033"/>
                </a:solidFill>
              </a:rPr>
              <a:t>         </a:t>
            </a:r>
            <a:r>
              <a:rPr lang="zh-CN" altLang="zh-CN" sz="2800">
                <a:solidFill>
                  <a:srgbClr val="660033"/>
                </a:solidFill>
              </a:rPr>
              <a:t>if ( DelAfter( </a:t>
            </a:r>
            <a:r>
              <a:rPr lang="en-US" altLang="zh-CN" sz="2800">
                <a:solidFill>
                  <a:srgbClr val="660033"/>
                </a:solidFill>
              </a:rPr>
              <a:t>Pb</a:t>
            </a:r>
            <a:r>
              <a:rPr lang="zh-CN" altLang="zh-CN" sz="2800">
                <a:solidFill>
                  <a:srgbClr val="660033"/>
                </a:solidFill>
              </a:rPr>
              <a:t>, e</a:t>
            </a:r>
            <a:r>
              <a:rPr lang="en-US" altLang="zh-CN" sz="2800">
                <a:solidFill>
                  <a:srgbClr val="660033"/>
                </a:solidFill>
              </a:rPr>
              <a:t>2</a:t>
            </a:r>
            <a:r>
              <a:rPr lang="zh-CN" altLang="zh-CN" sz="2800">
                <a:solidFill>
                  <a:srgbClr val="660033"/>
                </a:solidFill>
              </a:rPr>
              <a:t>) ) </a:t>
            </a:r>
            <a:r>
              <a:rPr lang="en-US" altLang="zh-CN" sz="2800">
                <a:solidFill>
                  <a:srgbClr val="660033"/>
                </a:solidFill>
              </a:rPr>
              <a:t>b</a:t>
            </a:r>
            <a:r>
              <a:rPr lang="zh-CN" altLang="zh-CN" sz="2800">
                <a:solidFill>
                  <a:srgbClr val="660033"/>
                </a:solidFill>
              </a:rPr>
              <a:t>=</a:t>
            </a:r>
            <a:r>
              <a:rPr lang="en-US" altLang="zh-CN" sz="2800">
                <a:solidFill>
                  <a:srgbClr val="660033"/>
                </a:solidFill>
              </a:rPr>
              <a:t>e2.expn</a:t>
            </a:r>
            <a:r>
              <a:rPr lang="zh-CN" altLang="zh-CN" sz="2800">
                <a:solidFill>
                  <a:srgbClr val="660033"/>
                </a:solidFill>
              </a:rPr>
              <a:t>;</a:t>
            </a:r>
            <a:endParaRPr lang="zh-CN" altLang="zh-CN" sz="2800">
              <a:solidFill>
                <a:srgbClr val="660033"/>
              </a:solidFill>
            </a:endParaRPr>
          </a:p>
          <a:p>
            <a:pPr eaLnBrk="1" hangingPunct="1">
              <a:defRPr/>
            </a:pPr>
            <a:r>
              <a:rPr lang="zh-CN" altLang="zh-CN" sz="2800">
                <a:solidFill>
                  <a:srgbClr val="660033"/>
                </a:solidFill>
              </a:rPr>
              <a:t>      </a:t>
            </a:r>
            <a:r>
              <a:rPr lang="en-US" altLang="zh-CN" sz="2800">
                <a:solidFill>
                  <a:srgbClr val="660033"/>
                </a:solidFill>
              </a:rPr>
              <a:t>        </a:t>
            </a:r>
            <a:r>
              <a:rPr lang="zh-CN" altLang="zh-CN" sz="2800">
                <a:solidFill>
                  <a:srgbClr val="660033"/>
                </a:solidFill>
              </a:rPr>
              <a:t>else </a:t>
            </a:r>
            <a:r>
              <a:rPr lang="en-US" altLang="zh-CN" sz="2800">
                <a:solidFill>
                  <a:srgbClr val="660033"/>
                </a:solidFill>
              </a:rPr>
              <a:t>b</a:t>
            </a:r>
            <a:r>
              <a:rPr lang="zh-CN" altLang="zh-CN" sz="2800">
                <a:solidFill>
                  <a:srgbClr val="660033"/>
                </a:solidFill>
              </a:rPr>
              <a:t> = MAXC;</a:t>
            </a:r>
            <a:r>
              <a:rPr lang="en-US" altLang="zh-CN" sz="2800">
                <a:solidFill>
                  <a:srgbClr val="660033"/>
                </a:solidFill>
              </a:rPr>
              <a:t>   </a:t>
            </a:r>
            <a:r>
              <a:rPr lang="en-US" altLang="zh-CN" sz="2800" b="1">
                <a:solidFill>
                  <a:srgbClr val="660033"/>
                </a:solidFill>
              </a:rPr>
              <a:t>break</a:t>
            </a:r>
            <a:r>
              <a:rPr lang="en-US" altLang="zh-CN" sz="2800">
                <a:solidFill>
                  <a:srgbClr val="660033"/>
                </a:solidFill>
              </a:rPr>
              <a:t>;</a:t>
            </a:r>
            <a:endParaRPr lang="en-US" altLang="zh-CN" sz="2800">
              <a:solidFill>
                <a:srgbClr val="660033"/>
              </a:solidFill>
            </a:endParaRPr>
          </a:p>
          <a:p>
            <a:pPr eaLnBrk="1" hangingPunct="1">
              <a:defRPr/>
            </a:pPr>
            <a:r>
              <a:rPr lang="en-US" altLang="zh-CN" sz="2800">
                <a:solidFill>
                  <a:srgbClr val="660033"/>
                </a:solidFill>
              </a:rPr>
              <a:t>    </a:t>
            </a:r>
            <a:r>
              <a:rPr lang="en-US" altLang="zh-CN" sz="2800" b="1">
                <a:solidFill>
                  <a:srgbClr val="660033"/>
                </a:solidFill>
              </a:rPr>
              <a:t>}</a:t>
            </a:r>
            <a:endParaRPr lang="en-US" altLang="zh-CN" sz="2800">
              <a:solidFill>
                <a:srgbClr val="660033"/>
              </a:solidFill>
            </a:endParaRPr>
          </a:p>
          <a:p>
            <a:pPr eaLnBrk="1" hangingPunct="1">
              <a:defRPr/>
            </a:pPr>
            <a:r>
              <a:rPr lang="en-US" altLang="zh-CN" sz="2800">
                <a:solidFill>
                  <a:srgbClr val="660033"/>
                </a:solidFill>
              </a:rPr>
              <a:t>    </a:t>
            </a:r>
            <a:r>
              <a:rPr lang="en-US" altLang="zh-CN" sz="2800" b="1">
                <a:solidFill>
                  <a:srgbClr val="660033"/>
                </a:solidFill>
              </a:rPr>
              <a:t>case</a:t>
            </a:r>
            <a:r>
              <a:rPr lang="en-US" altLang="zh-CN" sz="2800">
                <a:solidFill>
                  <a:srgbClr val="660033"/>
                </a:solidFill>
              </a:rPr>
              <a:t> 1: </a:t>
            </a:r>
            <a:r>
              <a:rPr lang="en-US" altLang="zh-CN" sz="2800" b="1">
                <a:solidFill>
                  <a:srgbClr val="660033"/>
                </a:solidFill>
              </a:rPr>
              <a:t>{</a:t>
            </a:r>
            <a:r>
              <a:rPr lang="en-US" altLang="zh-CN" sz="2800" b="1"/>
              <a:t>  </a:t>
            </a:r>
            <a:r>
              <a:rPr lang="en-US" altLang="zh-CN" sz="2800" b="1">
                <a:solidFill>
                  <a:srgbClr val="800000"/>
                </a:solidFill>
                <a:ea typeface="楷体_GB2312" charset="0"/>
              </a:rPr>
              <a:t>//</a:t>
            </a:r>
            <a:r>
              <a:rPr lang="zh-CN" altLang="en-US" sz="2800" b="1">
                <a:solidFill>
                  <a:srgbClr val="800000"/>
                </a:solidFill>
                <a:latin typeface="楷体_GB2312" charset="0"/>
                <a:ea typeface="楷体_GB2312" charset="0"/>
              </a:rPr>
              <a:t>多项式</a:t>
            </a:r>
            <a:r>
              <a:rPr lang="en-US" altLang="zh-CN" sz="2800" b="1">
                <a:solidFill>
                  <a:srgbClr val="800000"/>
                </a:solidFill>
                <a:ea typeface="楷体_GB2312" charset="0"/>
              </a:rPr>
              <a:t>PB</a:t>
            </a:r>
            <a:r>
              <a:rPr lang="zh-CN" altLang="en-US" sz="2800" b="1">
                <a:solidFill>
                  <a:srgbClr val="800000"/>
                </a:solidFill>
                <a:latin typeface="楷体_GB2312" charset="0"/>
                <a:ea typeface="楷体_GB2312" charset="0"/>
              </a:rPr>
              <a:t>中当前结点的指数值小</a:t>
            </a:r>
            <a:endParaRPr lang="zh-CN" altLang="en-US" sz="2800"/>
          </a:p>
          <a:p>
            <a:pPr eaLnBrk="1" hangingPunct="1">
              <a:defRPr/>
            </a:pPr>
            <a:r>
              <a:rPr lang="zh-CN" altLang="en-US" sz="2800" b="1">
                <a:solidFill>
                  <a:srgbClr val="660033"/>
                </a:solidFill>
              </a:rPr>
              <a:t>       </a:t>
            </a:r>
            <a:r>
              <a:rPr lang="en-US" altLang="zh-CN" sz="2800" b="1">
                <a:solidFill>
                  <a:srgbClr val="660033"/>
                </a:solidFill>
              </a:rPr>
              <a:t>break</a:t>
            </a:r>
            <a:r>
              <a:rPr lang="en-US" altLang="zh-CN" sz="2800">
                <a:solidFill>
                  <a:srgbClr val="660033"/>
                </a:solidFill>
              </a:rPr>
              <a:t>;  </a:t>
            </a:r>
            <a:r>
              <a:rPr lang="en-US" altLang="zh-CN" sz="2800" b="1">
                <a:solidFill>
                  <a:srgbClr val="660033"/>
                </a:solidFill>
              </a:rPr>
              <a:t>}</a:t>
            </a:r>
            <a:endParaRPr lang="en-US" altLang="zh-CN" sz="2800" b="1">
              <a:solidFill>
                <a:srgbClr val="660033"/>
              </a:solidFill>
            </a:endParaRPr>
          </a:p>
          <a:p>
            <a:pPr eaLnBrk="1" hangingPunct="1">
              <a:defRPr/>
            </a:pPr>
            <a:r>
              <a:rPr lang="en-US" altLang="zh-CN" sz="2800" b="1">
                <a:solidFill>
                  <a:srgbClr val="660033"/>
                </a:solidFill>
              </a:rPr>
              <a:t>}</a:t>
            </a:r>
            <a:endParaRPr lang="zh-CN" altLang="en-US" sz="2800"/>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86" name="Rectangle 2"/>
          <p:cNvSpPr>
            <a:spLocks noChangeArrowheads="1"/>
          </p:cNvSpPr>
          <p:nvPr/>
        </p:nvSpPr>
        <p:spPr bwMode="auto">
          <a:xfrm>
            <a:off x="400050" y="1343025"/>
            <a:ext cx="4960938"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defRPr/>
            </a:pPr>
            <a:r>
              <a:rPr kumimoji="0" lang="zh-CN" altLang="en-US" sz="3200" b="1">
                <a:solidFill>
                  <a:srgbClr val="3333CC"/>
                </a:solidFill>
                <a:latin typeface="Arial" panose="020B0604020202020204" pitchFamily="34" charset="0"/>
                <a:ea typeface="楷体_GB2312" charset="0"/>
              </a:rPr>
              <a:t>存储分配方式比较</a:t>
            </a:r>
            <a:endParaRPr kumimoji="0" lang="en-US" altLang="zh-CN" sz="3200" b="1">
              <a:solidFill>
                <a:srgbClr val="3333CC"/>
              </a:solidFill>
              <a:latin typeface="Arial" panose="020B0604020202020204" pitchFamily="34" charset="0"/>
              <a:ea typeface="楷体_GB2312" charset="0"/>
            </a:endParaRPr>
          </a:p>
        </p:txBody>
      </p:sp>
      <p:sp>
        <p:nvSpPr>
          <p:cNvPr id="1014787" name="Text Box 3"/>
          <p:cNvSpPr txBox="1">
            <a:spLocks noChangeArrowheads="1"/>
          </p:cNvSpPr>
          <p:nvPr/>
        </p:nvSpPr>
        <p:spPr bwMode="auto">
          <a:xfrm>
            <a:off x="352425" y="1887538"/>
            <a:ext cx="8153400" cy="411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spcBef>
                <a:spcPct val="50000"/>
              </a:spcBef>
              <a:buFont typeface="Wingdings" panose="05000000000000000000" pitchFamily="2" charset="2"/>
              <a:buChar char="Ø"/>
              <a:defRPr/>
            </a:pPr>
            <a:r>
              <a:rPr kumimoji="0" lang="zh-CN" altLang="en-US" sz="2800" b="1">
                <a:ea typeface="楷体_GB2312" charset="0"/>
              </a:rPr>
              <a:t>顺序表采用顺序存储结构，即用一段地址</a:t>
            </a:r>
            <a:r>
              <a:rPr kumimoji="0" lang="zh-CN" altLang="en-US" sz="2800" b="1">
                <a:solidFill>
                  <a:srgbClr val="CC3300"/>
                </a:solidFill>
                <a:ea typeface="楷体_GB2312" charset="0"/>
              </a:rPr>
              <a:t>连续</a:t>
            </a:r>
            <a:r>
              <a:rPr kumimoji="0" lang="zh-CN" altLang="en-US" sz="2800" b="1">
                <a:ea typeface="楷体_GB2312" charset="0"/>
              </a:rPr>
              <a:t>的存储单元</a:t>
            </a:r>
            <a:r>
              <a:rPr kumimoji="0" lang="zh-CN" altLang="en-US" sz="2800" b="1">
                <a:solidFill>
                  <a:srgbClr val="CC3300"/>
                </a:solidFill>
                <a:ea typeface="楷体_GB2312" charset="0"/>
              </a:rPr>
              <a:t>依次</a:t>
            </a:r>
            <a:r>
              <a:rPr kumimoji="0" lang="zh-CN" altLang="en-US" sz="2800" b="1">
                <a:ea typeface="楷体_GB2312" charset="0"/>
              </a:rPr>
              <a:t>存储线性表的数据元素，数据元素之间的逻辑关系通过</a:t>
            </a:r>
            <a:r>
              <a:rPr kumimoji="0" lang="zh-CN" altLang="en-US" sz="2800" b="1">
                <a:solidFill>
                  <a:srgbClr val="CC3300"/>
                </a:solidFill>
                <a:ea typeface="楷体_GB2312" charset="0"/>
              </a:rPr>
              <a:t>存储位置</a:t>
            </a:r>
            <a:r>
              <a:rPr kumimoji="0" lang="zh-CN" altLang="en-US" sz="2800" b="1">
                <a:ea typeface="楷体_GB2312" charset="0"/>
              </a:rPr>
              <a:t>来实现。</a:t>
            </a:r>
            <a:endParaRPr kumimoji="0" lang="zh-CN" altLang="en-US" sz="2800" b="1">
              <a:ea typeface="楷体_GB2312" charset="0"/>
            </a:endParaRPr>
          </a:p>
          <a:p>
            <a:pPr>
              <a:lnSpc>
                <a:spcPct val="120000"/>
              </a:lnSpc>
              <a:spcBef>
                <a:spcPct val="50000"/>
              </a:spcBef>
              <a:buFont typeface="Wingdings" panose="05000000000000000000" pitchFamily="2" charset="2"/>
              <a:buChar char="Ø"/>
              <a:defRPr/>
            </a:pPr>
            <a:r>
              <a:rPr kumimoji="0" lang="zh-CN" altLang="en-US" sz="2800" b="1">
                <a:latin typeface="Arial" panose="020B0604020202020204" pitchFamily="34" charset="0"/>
                <a:ea typeface="楷体_GB2312" charset="0"/>
              </a:rPr>
              <a:t>单链表采用链接存储结构，即用一组</a:t>
            </a:r>
            <a:r>
              <a:rPr kumimoji="0" lang="zh-CN" altLang="en-US" sz="2800" b="1">
                <a:solidFill>
                  <a:srgbClr val="CC3300"/>
                </a:solidFill>
                <a:latin typeface="Arial" panose="020B0604020202020204" pitchFamily="34" charset="0"/>
                <a:ea typeface="楷体_GB2312" charset="0"/>
              </a:rPr>
              <a:t>任意</a:t>
            </a:r>
            <a:r>
              <a:rPr kumimoji="0" lang="zh-CN" altLang="en-US" sz="2800" b="1">
                <a:latin typeface="Arial" panose="020B0604020202020204" pitchFamily="34" charset="0"/>
                <a:ea typeface="楷体_GB2312" charset="0"/>
              </a:rPr>
              <a:t>的存储单元存放线性表的元素。用</a:t>
            </a:r>
            <a:r>
              <a:rPr kumimoji="0" lang="zh-CN" altLang="en-US" sz="2800" b="1">
                <a:solidFill>
                  <a:srgbClr val="CC3300"/>
                </a:solidFill>
                <a:latin typeface="Arial" panose="020B0604020202020204" pitchFamily="34" charset="0"/>
                <a:ea typeface="楷体_GB2312" charset="0"/>
              </a:rPr>
              <a:t>指针</a:t>
            </a:r>
            <a:r>
              <a:rPr kumimoji="0" lang="zh-CN" altLang="en-US" sz="2800" b="1">
                <a:latin typeface="Arial" panose="020B0604020202020204" pitchFamily="34" charset="0"/>
                <a:ea typeface="楷体_GB2312" charset="0"/>
              </a:rPr>
              <a:t>来反映数据元素之间的逻辑关系。</a:t>
            </a:r>
            <a:endParaRPr kumimoji="0" lang="zh-CN" altLang="en-US" sz="2800" b="1">
              <a:latin typeface="Arial" panose="020B0604020202020204" pitchFamily="34" charset="0"/>
              <a:ea typeface="楷体_GB2312" charset="0"/>
            </a:endParaRPr>
          </a:p>
          <a:p>
            <a:pPr>
              <a:lnSpc>
                <a:spcPct val="120000"/>
              </a:lnSpc>
              <a:spcBef>
                <a:spcPct val="50000"/>
              </a:spcBef>
              <a:buFont typeface="Wingdings" panose="05000000000000000000" pitchFamily="2" charset="2"/>
              <a:buChar char="Ø"/>
              <a:defRPr/>
            </a:pPr>
            <a:endParaRPr kumimoji="0" lang="zh-CN" altLang="en-US" sz="2800" b="1">
              <a:ea typeface="楷体_GB2312" charset="0"/>
            </a:endParaRPr>
          </a:p>
        </p:txBody>
      </p:sp>
      <p:sp>
        <p:nvSpPr>
          <p:cNvPr id="1014788" name="Rectangle 4"/>
          <p:cNvSpPr>
            <a:spLocks noChangeArrowheads="1"/>
          </p:cNvSpPr>
          <p:nvPr/>
        </p:nvSpPr>
        <p:spPr bwMode="auto">
          <a:xfrm>
            <a:off x="1535113" y="401638"/>
            <a:ext cx="6016625"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defRPr/>
            </a:pPr>
            <a:r>
              <a:rPr kumimoji="0" lang="zh-CN" altLang="en-US" sz="3600" b="1">
                <a:solidFill>
                  <a:srgbClr val="3333CC"/>
                </a:solidFill>
              </a:rPr>
              <a:t>顺序表和单链表的比较</a:t>
            </a:r>
            <a:endParaRPr kumimoji="0" lang="en-US" altLang="zh-CN" sz="3600" b="1">
              <a:solidFill>
                <a:srgbClr val="3333CC"/>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5810" name="Rectangle 2"/>
          <p:cNvSpPr>
            <a:spLocks noChangeArrowheads="1"/>
          </p:cNvSpPr>
          <p:nvPr/>
        </p:nvSpPr>
        <p:spPr bwMode="auto">
          <a:xfrm>
            <a:off x="1535113" y="401638"/>
            <a:ext cx="6016625"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defRPr/>
            </a:pPr>
            <a:r>
              <a:rPr kumimoji="0" lang="zh-CN" altLang="en-US" sz="3600" b="1">
                <a:solidFill>
                  <a:srgbClr val="3333CC"/>
                </a:solidFill>
              </a:rPr>
              <a:t>顺序表和单链表的比较</a:t>
            </a:r>
            <a:endParaRPr kumimoji="0" lang="en-US" altLang="zh-CN" sz="3600" b="1">
              <a:solidFill>
                <a:srgbClr val="3333CC"/>
              </a:solidFill>
            </a:endParaRPr>
          </a:p>
        </p:txBody>
      </p:sp>
      <p:sp>
        <p:nvSpPr>
          <p:cNvPr id="1015811" name="Text Box 3"/>
          <p:cNvSpPr txBox="1">
            <a:spLocks noChangeArrowheads="1"/>
          </p:cNvSpPr>
          <p:nvPr/>
        </p:nvSpPr>
        <p:spPr bwMode="auto">
          <a:xfrm>
            <a:off x="369888" y="1089025"/>
            <a:ext cx="6019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kumimoji="0" lang="zh-CN" altLang="en-US" sz="3200" b="1">
                <a:solidFill>
                  <a:srgbClr val="3333CC"/>
                </a:solidFill>
                <a:latin typeface="楷体_GB2312" charset="0"/>
                <a:ea typeface="楷体_GB2312" charset="0"/>
              </a:rPr>
              <a:t>时间性能比较 </a:t>
            </a:r>
            <a:endParaRPr kumimoji="0" lang="zh-CN" altLang="en-US" sz="3200" b="1">
              <a:solidFill>
                <a:srgbClr val="3333CC"/>
              </a:solidFill>
              <a:latin typeface="楷体_GB2312" charset="0"/>
              <a:ea typeface="楷体_GB2312" charset="0"/>
            </a:endParaRPr>
          </a:p>
        </p:txBody>
      </p:sp>
      <p:sp>
        <p:nvSpPr>
          <p:cNvPr id="1015812" name="Text Box 4"/>
          <p:cNvSpPr txBox="1">
            <a:spLocks noChangeArrowheads="1"/>
          </p:cNvSpPr>
          <p:nvPr/>
        </p:nvSpPr>
        <p:spPr bwMode="auto">
          <a:xfrm>
            <a:off x="461963" y="1781175"/>
            <a:ext cx="8305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p>
            <a:pPr eaLnBrk="1" hangingPunct="1">
              <a:spcBef>
                <a:spcPct val="50000"/>
              </a:spcBef>
              <a:defRPr/>
            </a:pPr>
            <a:r>
              <a:rPr kumimoji="0" lang="zh-CN" altLang="en-US" sz="2800" b="1">
                <a:solidFill>
                  <a:srgbClr val="FF3300"/>
                </a:solidFill>
                <a:latin typeface="楷体_GB2312" charset="0"/>
                <a:ea typeface="楷体_GB2312" charset="0"/>
              </a:rPr>
              <a:t>时间性能</a:t>
            </a:r>
            <a:r>
              <a:rPr kumimoji="0" lang="zh-CN" altLang="en-US" sz="2800" b="1">
                <a:latin typeface="楷体_GB2312" charset="0"/>
                <a:ea typeface="楷体_GB2312" charset="0"/>
              </a:rPr>
              <a:t>是指实现基于某种存储结构的基本操作（即算法）的时间复杂度。 </a:t>
            </a:r>
            <a:endParaRPr kumimoji="0" lang="zh-CN" altLang="en-US" sz="2800" b="1">
              <a:latin typeface="楷体_GB2312" charset="0"/>
              <a:ea typeface="楷体_GB2312" charset="0"/>
            </a:endParaRPr>
          </a:p>
        </p:txBody>
      </p:sp>
      <p:sp>
        <p:nvSpPr>
          <p:cNvPr id="1015813" name="Rectangle 5"/>
          <p:cNvSpPr>
            <a:spLocks noChangeArrowheads="1"/>
          </p:cNvSpPr>
          <p:nvPr/>
        </p:nvSpPr>
        <p:spPr bwMode="auto">
          <a:xfrm>
            <a:off x="373063" y="2806700"/>
            <a:ext cx="8348662" cy="333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eaLnBrk="1" hangingPunct="1">
              <a:defRPr/>
            </a:pPr>
            <a:r>
              <a:rPr kumimoji="0" lang="zh-CN" altLang="en-US" sz="2800" b="1">
                <a:solidFill>
                  <a:schemeClr val="accent2"/>
                </a:solidFill>
                <a:latin typeface="楷体_GB2312" charset="0"/>
                <a:ea typeface="楷体_GB2312" charset="0"/>
              </a:rPr>
              <a:t>按位查找：</a:t>
            </a:r>
            <a:endParaRPr kumimoji="0" lang="zh-CN" altLang="en-US" sz="2800" b="1">
              <a:solidFill>
                <a:schemeClr val="accent2"/>
              </a:solidFill>
              <a:latin typeface="楷体_GB2312" charset="0"/>
              <a:ea typeface="楷体_GB2312" charset="0"/>
            </a:endParaRPr>
          </a:p>
          <a:p>
            <a:pPr eaLnBrk="1" hangingPunct="1">
              <a:spcBef>
                <a:spcPct val="30000"/>
              </a:spcBef>
              <a:buFont typeface="Wingdings" panose="05000000000000000000" pitchFamily="2" charset="2"/>
              <a:buChar char="Ø"/>
              <a:defRPr/>
            </a:pPr>
            <a:r>
              <a:rPr kumimoji="0" lang="zh-CN" altLang="en-US" sz="2800" b="1">
                <a:latin typeface="楷体_GB2312" charset="0"/>
                <a:ea typeface="楷体_GB2312" charset="0"/>
              </a:rPr>
              <a:t>顺序表的时间为</a:t>
            </a:r>
            <a:r>
              <a:rPr kumimoji="0" lang="zh-CN" altLang="en-US" sz="2800" b="1" i="1">
                <a:latin typeface="楷体_GB2312" charset="0"/>
                <a:ea typeface="楷体_GB2312" charset="0"/>
              </a:rPr>
              <a:t>Ｏ</a:t>
            </a:r>
            <a:r>
              <a:rPr kumimoji="0" lang="en-US" altLang="zh-CN" sz="2800" b="1">
                <a:latin typeface="楷体_GB2312" charset="0"/>
                <a:ea typeface="楷体_GB2312" charset="0"/>
              </a:rPr>
              <a:t>(1)</a:t>
            </a:r>
            <a:r>
              <a:rPr kumimoji="0" lang="zh-CN" altLang="en-US" sz="2800" b="1">
                <a:latin typeface="楷体_GB2312" charset="0"/>
                <a:ea typeface="楷体_GB2312" charset="0"/>
              </a:rPr>
              <a:t>，是随机存取；</a:t>
            </a:r>
            <a:endParaRPr kumimoji="0" lang="zh-CN" altLang="en-US" sz="2800" b="1">
              <a:latin typeface="楷体_GB2312" charset="0"/>
              <a:ea typeface="楷体_GB2312" charset="0"/>
            </a:endParaRPr>
          </a:p>
          <a:p>
            <a:pPr eaLnBrk="1" hangingPunct="1">
              <a:buFont typeface="Wingdings" panose="05000000000000000000" pitchFamily="2" charset="2"/>
              <a:buChar char="Ø"/>
              <a:defRPr/>
            </a:pPr>
            <a:r>
              <a:rPr kumimoji="0" lang="zh-CN" altLang="en-US" sz="2800" b="1">
                <a:latin typeface="楷体_GB2312" charset="0"/>
                <a:ea typeface="楷体_GB2312" charset="0"/>
              </a:rPr>
              <a:t>单链表的时间为</a:t>
            </a:r>
            <a:r>
              <a:rPr kumimoji="0" lang="zh-CN" altLang="en-US" sz="2800" b="1" i="1">
                <a:latin typeface="楷体_GB2312" charset="0"/>
                <a:ea typeface="楷体_GB2312" charset="0"/>
              </a:rPr>
              <a:t>Ｏ</a:t>
            </a:r>
            <a:r>
              <a:rPr kumimoji="0" lang="en-US" altLang="zh-CN" sz="2800" b="1">
                <a:latin typeface="楷体_GB2312" charset="0"/>
                <a:ea typeface="楷体_GB2312" charset="0"/>
              </a:rPr>
              <a:t>(</a:t>
            </a:r>
            <a:r>
              <a:rPr kumimoji="0" lang="en-US" altLang="zh-CN" sz="2800" b="1" i="1">
                <a:latin typeface="楷体_GB2312" charset="0"/>
                <a:ea typeface="楷体_GB2312" charset="0"/>
              </a:rPr>
              <a:t>n</a:t>
            </a:r>
            <a:r>
              <a:rPr kumimoji="0" lang="en-US" altLang="zh-CN" sz="2800" b="1">
                <a:latin typeface="楷体_GB2312" charset="0"/>
                <a:ea typeface="楷体_GB2312" charset="0"/>
              </a:rPr>
              <a:t>)</a:t>
            </a:r>
            <a:r>
              <a:rPr kumimoji="0" lang="zh-CN" altLang="en-US" sz="2800" b="1">
                <a:latin typeface="楷体_GB2312" charset="0"/>
                <a:ea typeface="楷体_GB2312" charset="0"/>
              </a:rPr>
              <a:t>，是顺序存取。</a:t>
            </a:r>
            <a:endParaRPr kumimoji="0" lang="zh-CN" altLang="en-US" sz="2800" b="1">
              <a:latin typeface="楷体_GB2312" charset="0"/>
              <a:ea typeface="楷体_GB2312" charset="0"/>
            </a:endParaRPr>
          </a:p>
          <a:p>
            <a:pPr eaLnBrk="1" hangingPunct="1">
              <a:defRPr/>
            </a:pPr>
            <a:r>
              <a:rPr kumimoji="0" lang="zh-CN" altLang="en-US" sz="2800" b="1">
                <a:solidFill>
                  <a:schemeClr val="accent2"/>
                </a:solidFill>
                <a:latin typeface="楷体_GB2312" charset="0"/>
                <a:ea typeface="楷体_GB2312" charset="0"/>
              </a:rPr>
              <a:t>插入和删除：</a:t>
            </a:r>
            <a:endParaRPr kumimoji="0" lang="zh-CN" altLang="en-US" sz="2800" b="1">
              <a:solidFill>
                <a:schemeClr val="accent2"/>
              </a:solidFill>
              <a:latin typeface="楷体_GB2312" charset="0"/>
              <a:ea typeface="楷体_GB2312" charset="0"/>
            </a:endParaRPr>
          </a:p>
          <a:p>
            <a:pPr eaLnBrk="1" hangingPunct="1">
              <a:spcBef>
                <a:spcPct val="30000"/>
              </a:spcBef>
              <a:buFont typeface="Wingdings" panose="05000000000000000000" pitchFamily="2" charset="2"/>
              <a:buChar char="Ø"/>
              <a:defRPr/>
            </a:pPr>
            <a:r>
              <a:rPr kumimoji="0" lang="zh-CN" altLang="en-US" sz="2800" b="1">
                <a:latin typeface="楷体_GB2312" charset="0"/>
                <a:ea typeface="楷体_GB2312" charset="0"/>
              </a:rPr>
              <a:t>顺序表需移动表长一半的元素，时间为</a:t>
            </a:r>
            <a:r>
              <a:rPr kumimoji="0" lang="zh-CN" altLang="en-US" sz="2800" b="1" i="1">
                <a:latin typeface="楷体_GB2312" charset="0"/>
                <a:ea typeface="楷体_GB2312" charset="0"/>
              </a:rPr>
              <a:t>Ｏ</a:t>
            </a:r>
            <a:r>
              <a:rPr kumimoji="0" lang="en-US" altLang="zh-CN" sz="2800" b="1">
                <a:latin typeface="楷体_GB2312" charset="0"/>
                <a:ea typeface="楷体_GB2312" charset="0"/>
              </a:rPr>
              <a:t>(</a:t>
            </a:r>
            <a:r>
              <a:rPr kumimoji="0" lang="en-US" altLang="zh-CN" sz="2800" b="1" i="1">
                <a:latin typeface="楷体_GB2312" charset="0"/>
                <a:ea typeface="楷体_GB2312" charset="0"/>
              </a:rPr>
              <a:t>n</a:t>
            </a:r>
            <a:r>
              <a:rPr kumimoji="0" lang="en-US" altLang="zh-CN" sz="2800" b="1">
                <a:latin typeface="楷体_GB2312" charset="0"/>
                <a:ea typeface="楷体_GB2312" charset="0"/>
              </a:rPr>
              <a:t>)</a:t>
            </a:r>
            <a:r>
              <a:rPr kumimoji="0" lang="zh-CN" altLang="en-US" sz="2800" b="1">
                <a:latin typeface="楷体_GB2312" charset="0"/>
                <a:ea typeface="楷体_GB2312" charset="0"/>
              </a:rPr>
              <a:t>；</a:t>
            </a:r>
            <a:endParaRPr kumimoji="0" lang="zh-CN" altLang="en-US" sz="2800" b="1">
              <a:latin typeface="楷体_GB2312" charset="0"/>
              <a:ea typeface="楷体_GB2312" charset="0"/>
            </a:endParaRPr>
          </a:p>
          <a:p>
            <a:pPr eaLnBrk="1" hangingPunct="1">
              <a:buFont typeface="Wingdings" panose="05000000000000000000" pitchFamily="2" charset="2"/>
              <a:buChar char="Ø"/>
              <a:defRPr/>
            </a:pPr>
            <a:r>
              <a:rPr kumimoji="0" lang="zh-CN" altLang="en-US" sz="2800" b="1">
                <a:latin typeface="楷体_GB2312" charset="0"/>
                <a:ea typeface="楷体_GB2312" charset="0"/>
              </a:rPr>
              <a:t>单链表不需要移动元素，在给出某个合适位置的指针后，插入和删除操作所需的时间仅为</a:t>
            </a:r>
            <a:r>
              <a:rPr kumimoji="0" lang="zh-CN" altLang="en-US" sz="2800" b="1" i="1">
                <a:latin typeface="楷体_GB2312" charset="0"/>
                <a:ea typeface="楷体_GB2312" charset="0"/>
              </a:rPr>
              <a:t>Ｏ</a:t>
            </a:r>
            <a:r>
              <a:rPr kumimoji="0" lang="en-US" altLang="zh-CN" sz="2800" b="1">
                <a:latin typeface="楷体_GB2312" charset="0"/>
                <a:ea typeface="楷体_GB2312" charset="0"/>
              </a:rPr>
              <a:t>(1)</a:t>
            </a:r>
            <a:r>
              <a:rPr kumimoji="0" lang="zh-CN" altLang="en-US" sz="2800" b="1">
                <a:latin typeface="楷体_GB2312" charset="0"/>
                <a:ea typeface="楷体_GB2312" charset="0"/>
              </a:rPr>
              <a:t>。</a:t>
            </a:r>
            <a:endParaRPr kumimoji="0" lang="zh-CN" altLang="en-US" sz="2800" b="1">
              <a:latin typeface="楷体_GB2312" charset="0"/>
              <a:ea typeface="楷体_GB2312"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6835" name="Text Box 3"/>
          <p:cNvSpPr txBox="1">
            <a:spLocks noChangeArrowheads="1"/>
          </p:cNvSpPr>
          <p:nvPr/>
        </p:nvSpPr>
        <p:spPr bwMode="auto">
          <a:xfrm>
            <a:off x="1447800" y="228600"/>
            <a:ext cx="7010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kumimoji="0" lang="zh-CN" altLang="en-US" sz="3200" b="1">
                <a:solidFill>
                  <a:srgbClr val="3333CC"/>
                </a:solidFill>
                <a:latin typeface="宋体" panose="02010600030101010101" pitchFamily="2" charset="-122"/>
              </a:rPr>
              <a:t>空间性能比较</a:t>
            </a:r>
            <a:r>
              <a:rPr kumimoji="0" lang="zh-CN" altLang="en-US" sz="3200" b="1">
                <a:solidFill>
                  <a:srgbClr val="3333CC"/>
                </a:solidFill>
                <a:latin typeface="Arial" panose="020B0604020202020204" pitchFamily="34" charset="0"/>
              </a:rPr>
              <a:t> </a:t>
            </a:r>
            <a:endParaRPr kumimoji="0" lang="zh-CN" altLang="en-US" sz="3200" b="1">
              <a:solidFill>
                <a:srgbClr val="3333CC"/>
              </a:solidFill>
              <a:latin typeface="Arial" panose="020B0604020202020204" pitchFamily="34" charset="0"/>
            </a:endParaRPr>
          </a:p>
        </p:txBody>
      </p:sp>
      <p:sp>
        <p:nvSpPr>
          <p:cNvPr id="1016836" name="Text Box 4"/>
          <p:cNvSpPr txBox="1">
            <a:spLocks noChangeArrowheads="1"/>
          </p:cNvSpPr>
          <p:nvPr/>
        </p:nvSpPr>
        <p:spPr bwMode="auto">
          <a:xfrm>
            <a:off x="393700" y="1782763"/>
            <a:ext cx="8750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p>
            <a:pPr eaLnBrk="1" hangingPunct="1">
              <a:spcBef>
                <a:spcPct val="50000"/>
              </a:spcBef>
              <a:defRPr/>
            </a:pPr>
            <a:r>
              <a:rPr kumimoji="0" lang="zh-CN" altLang="en-US" sz="2800" b="1">
                <a:solidFill>
                  <a:srgbClr val="FF3300"/>
                </a:solidFill>
                <a:latin typeface="楷体_GB2312" charset="0"/>
                <a:ea typeface="楷体_GB2312" charset="0"/>
              </a:rPr>
              <a:t>空间性能</a:t>
            </a:r>
            <a:r>
              <a:rPr kumimoji="0" lang="zh-CN" altLang="en-US" sz="2800" b="1">
                <a:latin typeface="楷体_GB2312" charset="0"/>
                <a:ea typeface="楷体_GB2312" charset="0"/>
              </a:rPr>
              <a:t>是指某种存储结构所占用的存储空间的大小。 </a:t>
            </a:r>
            <a:endParaRPr kumimoji="0" lang="zh-CN" altLang="en-US" sz="2800" b="1">
              <a:latin typeface="楷体_GB2312" charset="0"/>
              <a:ea typeface="楷体_GB2312" charset="0"/>
            </a:endParaRPr>
          </a:p>
        </p:txBody>
      </p:sp>
      <p:sp>
        <p:nvSpPr>
          <p:cNvPr id="1016837" name="Rectangle 5"/>
          <p:cNvSpPr>
            <a:spLocks noChangeArrowheads="1"/>
          </p:cNvSpPr>
          <p:nvPr/>
        </p:nvSpPr>
        <p:spPr bwMode="auto">
          <a:xfrm>
            <a:off x="123825" y="2265363"/>
            <a:ext cx="662146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lIns="0"/>
          <a:lstStyle>
            <a:lvl1pPr eaLnBrk="0" hangingPunct="0">
              <a:defRPr kumimoji="1" sz="2000">
                <a:solidFill>
                  <a:schemeClr val="tx1"/>
                </a:solidFill>
                <a:latin typeface="Times New Roman" panose="02020603050405020304" charset="0"/>
                <a:ea typeface="宋体" panose="02010600030101010101" pitchFamily="2" charset="-122"/>
              </a:defRPr>
            </a:lvl1pPr>
            <a:lvl2pPr marL="716280"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defRPr/>
            </a:pPr>
            <a:r>
              <a:rPr kumimoji="0" lang="zh-CN" altLang="en-US" sz="2800" b="1">
                <a:latin typeface="楷体_GB2312" charset="0"/>
                <a:ea typeface="楷体_GB2312" charset="0"/>
                <a:cs typeface="Times New Roman" panose="02020603050405020304" charset="0"/>
              </a:rPr>
              <a:t>定义结点的存储密度：</a:t>
            </a:r>
            <a:endParaRPr kumimoji="0" lang="zh-CN" altLang="en-US" sz="2800" b="1">
              <a:latin typeface="楷体_GB2312" charset="0"/>
              <a:ea typeface="楷体_GB2312" charset="0"/>
              <a:cs typeface="Times New Roman" panose="02020603050405020304" charset="0"/>
            </a:endParaRPr>
          </a:p>
          <a:p>
            <a:pPr>
              <a:defRPr/>
            </a:pPr>
            <a:endParaRPr kumimoji="0" lang="zh-CN" altLang="en-US" sz="2800" b="1">
              <a:latin typeface="楷体_GB2312" charset="0"/>
              <a:ea typeface="楷体_GB2312" charset="0"/>
              <a:cs typeface="Times New Roman" panose="02020603050405020304" charset="0"/>
            </a:endParaRPr>
          </a:p>
        </p:txBody>
      </p:sp>
      <p:grpSp>
        <p:nvGrpSpPr>
          <p:cNvPr id="174084" name="Group 6"/>
          <p:cNvGrpSpPr/>
          <p:nvPr/>
        </p:nvGrpSpPr>
        <p:grpSpPr bwMode="auto">
          <a:xfrm>
            <a:off x="1393825" y="3176588"/>
            <a:ext cx="5746750" cy="798512"/>
            <a:chOff x="1271" y="2330"/>
            <a:chExt cx="3620" cy="503"/>
          </a:xfrm>
        </p:grpSpPr>
        <p:sp>
          <p:nvSpPr>
            <p:cNvPr id="174085" name="Text Box 7"/>
            <p:cNvSpPr txBox="1">
              <a:spLocks noChangeArrowheads="1"/>
            </p:cNvSpPr>
            <p:nvPr/>
          </p:nvSpPr>
          <p:spPr bwMode="auto">
            <a:xfrm>
              <a:off x="2393" y="2330"/>
              <a:ext cx="2498"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120000"/>
                </a:lnSpc>
              </a:pPr>
              <a:r>
                <a:rPr kumimoji="0" lang="zh-CN" altLang="en-US" sz="2400" b="1">
                  <a:latin typeface="楷体_GB2312" charset="0"/>
                  <a:ea typeface="楷体_GB2312" charset="0"/>
                  <a:cs typeface="Times New Roman" panose="02020603050405020304" charset="0"/>
                </a:rPr>
                <a:t> 数据域占用的存储量</a:t>
              </a:r>
              <a:endParaRPr kumimoji="0" lang="zh-CN" altLang="en-US" sz="2400" b="1">
                <a:latin typeface="楷体_GB2312" charset="0"/>
                <a:ea typeface="楷体_GB2312" charset="0"/>
                <a:cs typeface="Times New Roman" panose="02020603050405020304" charset="0"/>
              </a:endParaRPr>
            </a:p>
            <a:p>
              <a:pPr eaLnBrk="1" hangingPunct="1">
                <a:lnSpc>
                  <a:spcPct val="120000"/>
                </a:lnSpc>
              </a:pPr>
              <a:r>
                <a:rPr kumimoji="0" lang="zh-CN" altLang="en-US" sz="2400" b="1">
                  <a:latin typeface="楷体_GB2312" charset="0"/>
                  <a:ea typeface="楷体_GB2312" charset="0"/>
                  <a:cs typeface="Times New Roman" panose="02020603050405020304" charset="0"/>
                </a:rPr>
                <a:t>整个结点占用的存储量</a:t>
              </a:r>
              <a:endParaRPr kumimoji="0" lang="zh-CN" altLang="en-US" sz="2400" b="1">
                <a:latin typeface="楷体_GB2312" charset="0"/>
                <a:ea typeface="楷体_GB2312" charset="0"/>
                <a:cs typeface="Times New Roman" panose="02020603050405020304" charset="0"/>
              </a:endParaRPr>
            </a:p>
          </p:txBody>
        </p:sp>
        <p:sp>
          <p:nvSpPr>
            <p:cNvPr id="174086" name="Freeform 8"/>
            <p:cNvSpPr/>
            <p:nvPr/>
          </p:nvSpPr>
          <p:spPr bwMode="auto">
            <a:xfrm>
              <a:off x="2322" y="2618"/>
              <a:ext cx="2267" cy="1"/>
            </a:xfrm>
            <a:custGeom>
              <a:avLst/>
              <a:gdLst>
                <a:gd name="T0" fmla="*/ 0 w 2631"/>
                <a:gd name="T1" fmla="*/ 0 h 2"/>
                <a:gd name="T2" fmla="*/ 2267 w 2631"/>
                <a:gd name="T3" fmla="*/ 1 h 2"/>
                <a:gd name="T4" fmla="*/ 0 60000 65536"/>
                <a:gd name="T5" fmla="*/ 0 60000 65536"/>
              </a:gdLst>
              <a:ahLst/>
              <a:cxnLst>
                <a:cxn ang="T4">
                  <a:pos x="T0" y="T1"/>
                </a:cxn>
                <a:cxn ang="T5">
                  <a:pos x="T2" y="T3"/>
                </a:cxn>
              </a:cxnLst>
              <a:rect l="0" t="0" r="r" b="b"/>
              <a:pathLst>
                <a:path w="2631" h="2">
                  <a:moveTo>
                    <a:pt x="0" y="0"/>
                  </a:moveTo>
                  <a:lnTo>
                    <a:pt x="2631" y="2"/>
                  </a:lnTo>
                </a:path>
              </a:pathLst>
            </a:custGeom>
            <a:noFill/>
            <a:ln w="2540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087" name="Text Box 9"/>
            <p:cNvSpPr txBox="1">
              <a:spLocks noChangeArrowheads="1"/>
            </p:cNvSpPr>
            <p:nvPr/>
          </p:nvSpPr>
          <p:spPr bwMode="auto">
            <a:xfrm>
              <a:off x="1271" y="2497"/>
              <a:ext cx="97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r>
                <a:rPr kumimoji="0" lang="zh-CN" altLang="en-US" sz="2400" b="1">
                  <a:latin typeface="楷体_GB2312" charset="0"/>
                  <a:ea typeface="楷体_GB2312" charset="0"/>
                  <a:cs typeface="Times New Roman" panose="02020603050405020304" charset="0"/>
                </a:rPr>
                <a:t>存储密度＝</a:t>
              </a:r>
              <a:endParaRPr kumimoji="0" lang="zh-CN" altLang="en-US" sz="2400" b="1">
                <a:latin typeface="楷体_GB2312" charset="0"/>
                <a:ea typeface="楷体_GB2312" charset="0"/>
                <a:cs typeface="Times New Roman" panose="02020603050405020304" charset="0"/>
              </a:endParaRPr>
            </a:p>
          </p:txBody>
        </p:sp>
      </p:gr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859" name="Text Box 3"/>
          <p:cNvSpPr txBox="1">
            <a:spLocks noChangeArrowheads="1"/>
          </p:cNvSpPr>
          <p:nvPr/>
        </p:nvSpPr>
        <p:spPr bwMode="auto">
          <a:xfrm>
            <a:off x="1524000" y="228600"/>
            <a:ext cx="8077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kumimoji="0" lang="zh-CN" altLang="en-US" sz="3200" b="1">
                <a:solidFill>
                  <a:srgbClr val="3333CC"/>
                </a:solidFill>
                <a:latin typeface="宋体" panose="02010600030101010101" pitchFamily="2" charset="-122"/>
              </a:rPr>
              <a:t>空间性能比较</a:t>
            </a:r>
            <a:r>
              <a:rPr kumimoji="0" lang="zh-CN" altLang="en-US" sz="3200" b="1">
                <a:solidFill>
                  <a:srgbClr val="3333CC"/>
                </a:solidFill>
                <a:latin typeface="Arial" panose="020B0604020202020204" pitchFamily="34" charset="0"/>
              </a:rPr>
              <a:t> </a:t>
            </a:r>
            <a:endParaRPr kumimoji="0" lang="zh-CN" altLang="en-US" sz="3200" b="1">
              <a:solidFill>
                <a:srgbClr val="3333CC"/>
              </a:solidFill>
              <a:latin typeface="Arial" panose="020B0604020202020204" pitchFamily="34" charset="0"/>
            </a:endParaRPr>
          </a:p>
        </p:txBody>
      </p:sp>
      <p:sp>
        <p:nvSpPr>
          <p:cNvPr id="1017860" name="Rectangle 4"/>
          <p:cNvSpPr>
            <a:spLocks noChangeArrowheads="1"/>
          </p:cNvSpPr>
          <p:nvPr/>
        </p:nvSpPr>
        <p:spPr bwMode="auto">
          <a:xfrm>
            <a:off x="304800" y="1600200"/>
            <a:ext cx="8551863"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r>
              <a:rPr kumimoji="0" lang="zh-CN" altLang="en-US" sz="2800" b="1">
                <a:solidFill>
                  <a:schemeClr val="accent2"/>
                </a:solidFill>
                <a:latin typeface="楷体_GB2312" charset="0"/>
                <a:ea typeface="楷体_GB2312" charset="0"/>
              </a:rPr>
              <a:t>结点的存储密度：</a:t>
            </a:r>
            <a:endParaRPr kumimoji="0" lang="zh-CN" altLang="en-US" sz="2800" b="1">
              <a:solidFill>
                <a:schemeClr val="accent2"/>
              </a:solidFill>
              <a:latin typeface="楷体_GB2312" charset="0"/>
              <a:ea typeface="楷体_GB2312" charset="0"/>
            </a:endParaRPr>
          </a:p>
          <a:p>
            <a:pPr eaLnBrk="1" hangingPunct="1">
              <a:spcBef>
                <a:spcPct val="30000"/>
              </a:spcBef>
              <a:buFont typeface="Wingdings" panose="05000000000000000000" pitchFamily="2" charset="2"/>
              <a:buChar char="Ø"/>
              <a:defRPr/>
            </a:pPr>
            <a:r>
              <a:rPr kumimoji="0" lang="zh-CN" altLang="en-US" sz="2800" b="1">
                <a:latin typeface="楷体_GB2312" charset="0"/>
                <a:ea typeface="楷体_GB2312" charset="0"/>
              </a:rPr>
              <a:t>顺序表中每个结点的存储密度为</a:t>
            </a:r>
            <a:r>
              <a:rPr kumimoji="0" lang="en-US" altLang="zh-CN" sz="2800" b="1">
                <a:latin typeface="楷体_GB2312" charset="0"/>
                <a:ea typeface="楷体_GB2312" charset="0"/>
              </a:rPr>
              <a:t>1</a:t>
            </a:r>
            <a:r>
              <a:rPr kumimoji="0" lang="zh-CN" altLang="en-US" sz="2800" b="1">
                <a:latin typeface="楷体_GB2312" charset="0"/>
                <a:ea typeface="楷体_GB2312" charset="0"/>
              </a:rPr>
              <a:t>（只存储数据元素），没有浪费空间；</a:t>
            </a:r>
            <a:endParaRPr kumimoji="0" lang="zh-CN" altLang="en-US" sz="2800" b="1">
              <a:latin typeface="楷体_GB2312" charset="0"/>
              <a:ea typeface="楷体_GB2312" charset="0"/>
            </a:endParaRPr>
          </a:p>
          <a:p>
            <a:pPr eaLnBrk="1" hangingPunct="1">
              <a:buFont typeface="Wingdings" panose="05000000000000000000" pitchFamily="2" charset="2"/>
              <a:buChar char="Ø"/>
              <a:defRPr/>
            </a:pPr>
            <a:r>
              <a:rPr kumimoji="0" lang="zh-CN" altLang="en-US" sz="2800" b="1">
                <a:latin typeface="楷体_GB2312" charset="0"/>
                <a:ea typeface="楷体_GB2312" charset="0"/>
              </a:rPr>
              <a:t>单链表的每个结点的存储密度</a:t>
            </a:r>
            <a:r>
              <a:rPr kumimoji="0" lang="en-US" altLang="zh-CN" sz="2800" b="1">
                <a:latin typeface="楷体_GB2312" charset="0"/>
                <a:ea typeface="楷体_GB2312" charset="0"/>
              </a:rPr>
              <a:t>&lt;1</a:t>
            </a:r>
            <a:r>
              <a:rPr kumimoji="0" lang="zh-CN" altLang="en-US" sz="2800" b="1">
                <a:latin typeface="楷体_GB2312" charset="0"/>
                <a:ea typeface="楷体_GB2312" charset="0"/>
              </a:rPr>
              <a:t>（包括数据域和指针域），有指针的结构性开销。</a:t>
            </a:r>
            <a:endParaRPr kumimoji="0" lang="zh-CN" altLang="en-US" sz="2800" b="1">
              <a:latin typeface="楷体_GB2312" charset="0"/>
              <a:ea typeface="楷体_GB2312" charset="0"/>
            </a:endParaRPr>
          </a:p>
          <a:p>
            <a:pPr eaLnBrk="1" hangingPunct="1">
              <a:buFont typeface="Wingdings" panose="05000000000000000000" pitchFamily="2" charset="2"/>
              <a:buNone/>
              <a:defRPr/>
            </a:pPr>
            <a:r>
              <a:rPr kumimoji="0" lang="zh-CN" altLang="en-US" sz="2800" b="1">
                <a:solidFill>
                  <a:schemeClr val="accent2"/>
                </a:solidFill>
                <a:latin typeface="楷体_GB2312" charset="0"/>
                <a:ea typeface="楷体_GB2312" charset="0"/>
              </a:rPr>
              <a:t>整体结构：</a:t>
            </a:r>
            <a:endParaRPr kumimoji="0" lang="zh-CN" altLang="en-US" sz="2800" b="1">
              <a:solidFill>
                <a:schemeClr val="accent2"/>
              </a:solidFill>
              <a:latin typeface="楷体_GB2312" charset="0"/>
              <a:ea typeface="楷体_GB2312" charset="0"/>
            </a:endParaRPr>
          </a:p>
          <a:p>
            <a:pPr eaLnBrk="1" hangingPunct="1">
              <a:spcBef>
                <a:spcPct val="30000"/>
              </a:spcBef>
              <a:buFont typeface="Wingdings" panose="05000000000000000000" pitchFamily="2" charset="2"/>
              <a:buChar char="Ø"/>
              <a:defRPr/>
            </a:pPr>
            <a:r>
              <a:rPr kumimoji="0" lang="zh-CN" altLang="en-US" sz="2800" b="1">
                <a:latin typeface="楷体_GB2312" charset="0"/>
                <a:ea typeface="楷体_GB2312" charset="0"/>
              </a:rPr>
              <a:t>顺序表需要预分配存储空间，如果预分配得过大，造成浪费，若估计得过小，又将发生上溢；</a:t>
            </a:r>
            <a:endParaRPr kumimoji="0" lang="zh-CN" altLang="en-US" sz="2800" b="1">
              <a:latin typeface="楷体_GB2312" charset="0"/>
              <a:ea typeface="楷体_GB2312" charset="0"/>
            </a:endParaRPr>
          </a:p>
          <a:p>
            <a:pPr eaLnBrk="1" hangingPunct="1">
              <a:buFont typeface="Wingdings" panose="05000000000000000000" pitchFamily="2" charset="2"/>
              <a:buChar char="Ø"/>
              <a:defRPr/>
            </a:pPr>
            <a:r>
              <a:rPr kumimoji="0" lang="zh-CN" altLang="en-US" sz="2800" b="1">
                <a:latin typeface="楷体_GB2312" charset="0"/>
                <a:ea typeface="楷体_GB2312" charset="0"/>
              </a:rPr>
              <a:t>单链表不需要预分配空间，只要有内存空间可以分配，单链表中的元素个数就没有限制。 </a:t>
            </a:r>
            <a:endParaRPr kumimoji="0" lang="zh-CN" altLang="en-US" sz="2800" b="1">
              <a:latin typeface="楷体_GB2312" charset="0"/>
              <a:ea typeface="楷体_GB2312" charset="0"/>
            </a:endParaRPr>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p:cNvSpPr>
            <a:spLocks noChangeArrowheads="1"/>
          </p:cNvSpPr>
          <p:nvPr/>
        </p:nvSpPr>
        <p:spPr bwMode="auto">
          <a:xfrm>
            <a:off x="1447800" y="228600"/>
            <a:ext cx="3667125"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defRPr/>
            </a:pPr>
            <a:r>
              <a:rPr kumimoji="0" lang="zh-CN" altLang="en-US" sz="3200" b="1">
                <a:solidFill>
                  <a:srgbClr val="3333CC"/>
                </a:solidFill>
                <a:latin typeface="Arial" panose="020B0604020202020204" pitchFamily="34" charset="0"/>
              </a:rPr>
              <a:t>结论</a:t>
            </a:r>
            <a:endParaRPr kumimoji="0" lang="en-US" altLang="zh-CN" sz="3200" b="1">
              <a:solidFill>
                <a:srgbClr val="3333CC"/>
              </a:solidFill>
              <a:latin typeface="Arial" panose="020B0604020202020204" pitchFamily="34" charset="0"/>
            </a:endParaRPr>
          </a:p>
        </p:txBody>
      </p:sp>
      <p:sp>
        <p:nvSpPr>
          <p:cNvPr id="1018883" name="Text Box 3"/>
          <p:cNvSpPr txBox="1">
            <a:spLocks noChangeArrowheads="1"/>
          </p:cNvSpPr>
          <p:nvPr/>
        </p:nvSpPr>
        <p:spPr bwMode="auto">
          <a:xfrm>
            <a:off x="381000" y="1295400"/>
            <a:ext cx="861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endParaRPr kumimoji="0" lang="zh-CN" altLang="en-US" sz="2800" b="1">
              <a:latin typeface="Arial" panose="020B0604020202020204" pitchFamily="34" charset="0"/>
            </a:endParaRPr>
          </a:p>
        </p:txBody>
      </p:sp>
      <p:sp>
        <p:nvSpPr>
          <p:cNvPr id="1018884" name="Rectangle 4"/>
          <p:cNvSpPr>
            <a:spLocks noGrp="1" noChangeArrowheads="1"/>
          </p:cNvSpPr>
          <p:nvPr>
            <p:ph type="body" idx="1"/>
          </p:nvPr>
        </p:nvSpPr>
        <p:spPr>
          <a:xfrm>
            <a:off x="304800" y="1447800"/>
            <a:ext cx="8534400" cy="32289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indent="0">
              <a:lnSpc>
                <a:spcPct val="90000"/>
              </a:lnSpc>
              <a:spcBef>
                <a:spcPct val="0"/>
              </a:spcBef>
              <a:buFontTx/>
              <a:buNone/>
              <a:defRPr/>
            </a:pPr>
            <a:r>
              <a:rPr lang="zh-CN" altLang="en-US" sz="2800" b="1">
                <a:latin typeface="楷体_GB2312" charset="0"/>
                <a:ea typeface="楷体_GB2312" charset="0"/>
              </a:rPr>
              <a:t>⑴若线性表需</a:t>
            </a:r>
            <a:r>
              <a:rPr lang="zh-CN" altLang="en-US" sz="2800" b="1">
                <a:solidFill>
                  <a:srgbClr val="FF3300"/>
                </a:solidFill>
                <a:latin typeface="楷体_GB2312" charset="0"/>
                <a:ea typeface="楷体_GB2312" charset="0"/>
              </a:rPr>
              <a:t>频繁查找</a:t>
            </a:r>
            <a:r>
              <a:rPr lang="zh-CN" altLang="en-US" sz="2800" b="1">
                <a:latin typeface="楷体_GB2312" charset="0"/>
                <a:ea typeface="楷体_GB2312" charset="0"/>
              </a:rPr>
              <a:t>却很少进行插入和删除操作，或其操作和元素在表中的位置密切相关时，宜采用顺序表作为存储结构；若线性表需</a:t>
            </a:r>
            <a:r>
              <a:rPr lang="zh-CN" altLang="en-US" sz="2800" b="1">
                <a:solidFill>
                  <a:srgbClr val="FF3300"/>
                </a:solidFill>
                <a:latin typeface="楷体_GB2312" charset="0"/>
                <a:ea typeface="楷体_GB2312" charset="0"/>
              </a:rPr>
              <a:t>频繁插入和删除（即动态性较强）</a:t>
            </a:r>
            <a:r>
              <a:rPr lang="zh-CN" altLang="en-US" sz="2800" b="1">
                <a:latin typeface="楷体_GB2312" charset="0"/>
                <a:ea typeface="楷体_GB2312" charset="0"/>
              </a:rPr>
              <a:t>时，则宜采用单链表做存储结构。</a:t>
            </a:r>
            <a:endParaRPr lang="zh-CN" altLang="en-US" sz="2800" b="1">
              <a:latin typeface="楷体_GB2312" charset="0"/>
              <a:ea typeface="楷体_GB2312" charset="0"/>
            </a:endParaRPr>
          </a:p>
          <a:p>
            <a:pPr marL="0" indent="0">
              <a:lnSpc>
                <a:spcPct val="90000"/>
              </a:lnSpc>
              <a:spcBef>
                <a:spcPct val="0"/>
              </a:spcBef>
              <a:buFontTx/>
              <a:buNone/>
              <a:defRPr/>
            </a:pPr>
            <a:r>
              <a:rPr lang="zh-CN" altLang="en-US" sz="2800" b="1">
                <a:latin typeface="楷体_GB2312" charset="0"/>
                <a:ea typeface="楷体_GB2312" charset="0"/>
              </a:rPr>
              <a:t>⑵当线性表中元素</a:t>
            </a:r>
            <a:r>
              <a:rPr lang="zh-CN" altLang="en-US" sz="2800" b="1">
                <a:solidFill>
                  <a:srgbClr val="FF3300"/>
                </a:solidFill>
                <a:latin typeface="楷体_GB2312" charset="0"/>
                <a:ea typeface="楷体_GB2312" charset="0"/>
              </a:rPr>
              <a:t>个数变化</a:t>
            </a:r>
            <a:r>
              <a:rPr lang="zh-CN" altLang="en-US" sz="2800" b="1">
                <a:latin typeface="楷体_GB2312" charset="0"/>
                <a:ea typeface="楷体_GB2312" charset="0"/>
              </a:rPr>
              <a:t>较大或者未知时，最好使用单链表实现；而如果用户事先知道线性表的大致长度，使用顺序表的空间效率会更高。</a:t>
            </a:r>
            <a:endParaRPr lang="zh-CN" altLang="en-US" sz="2800" b="1">
              <a:latin typeface="楷体_GB2312" charset="0"/>
              <a:ea typeface="楷体_GB2312" charset="0"/>
            </a:endParaRPr>
          </a:p>
        </p:txBody>
      </p:sp>
      <p:sp>
        <p:nvSpPr>
          <p:cNvPr id="1018886" name="Text Box 6"/>
          <p:cNvSpPr txBox="1">
            <a:spLocks noChangeArrowheads="1"/>
          </p:cNvSpPr>
          <p:nvPr/>
        </p:nvSpPr>
        <p:spPr bwMode="auto">
          <a:xfrm>
            <a:off x="341313" y="4781550"/>
            <a:ext cx="8745537"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zh-CN" altLang="en-US" sz="2800" b="1">
                <a:solidFill>
                  <a:srgbClr val="FF0000"/>
                </a:solidFill>
                <a:latin typeface="楷体_GB2312" charset="0"/>
                <a:ea typeface="楷体_GB2312" charset="0"/>
              </a:rPr>
              <a:t>总之</a:t>
            </a:r>
            <a:r>
              <a:rPr kumimoji="0" lang="zh-CN" altLang="en-US" sz="2800" b="1">
                <a:latin typeface="楷体_GB2312" charset="0"/>
                <a:ea typeface="楷体_GB2312" charset="0"/>
              </a:rPr>
              <a:t>，线性表的顺序实现和链表实现各有其优缺点，不能笼统地说哪种实现更好，只能根据实际问题的具体需要，并对各方面的优缺点加以综合平衡，才能最终选定比较适宜的实现方法。</a:t>
            </a:r>
            <a:endParaRPr kumimoji="0" lang="zh-CN" altLang="en-US" sz="2800" b="1">
              <a:latin typeface="楷体_GB2312" charset="0"/>
              <a:ea typeface="楷体_GB2312"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62" name="Text Box 2"/>
          <p:cNvSpPr txBox="1">
            <a:spLocks noChangeArrowheads="1"/>
          </p:cNvSpPr>
          <p:nvPr/>
        </p:nvSpPr>
        <p:spPr bwMode="auto">
          <a:xfrm>
            <a:off x="1524000" y="76200"/>
            <a:ext cx="27209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4000" b="1">
                <a:solidFill>
                  <a:srgbClr val="009999"/>
                </a:solidFill>
                <a:ea typeface="隶书" panose="02010509060101010101" charset="-122"/>
              </a:rPr>
              <a:t>本章小结</a:t>
            </a:r>
            <a:endParaRPr lang="zh-CN" altLang="en-US" sz="2400">
              <a:solidFill>
                <a:srgbClr val="00FF99"/>
              </a:solidFill>
            </a:endParaRPr>
          </a:p>
        </p:txBody>
      </p:sp>
      <p:sp>
        <p:nvSpPr>
          <p:cNvPr id="1013763" name="Text Box 3"/>
          <p:cNvSpPr txBox="1">
            <a:spLocks noChangeArrowheads="1"/>
          </p:cNvSpPr>
          <p:nvPr/>
        </p:nvSpPr>
        <p:spPr bwMode="auto">
          <a:xfrm>
            <a:off x="381000" y="974725"/>
            <a:ext cx="8382000"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just" eaLnBrk="1" hangingPunct="1">
              <a:lnSpc>
                <a:spcPct val="125000"/>
              </a:lnSpc>
              <a:defRPr/>
            </a:pPr>
            <a:r>
              <a:rPr lang="en-US" altLang="zh-CN" sz="3200" b="1">
                <a:solidFill>
                  <a:srgbClr val="990000"/>
                </a:solidFill>
                <a:latin typeface="楷体_GB2312" charset="0"/>
                <a:ea typeface="楷体_GB2312" charset="0"/>
              </a:rPr>
              <a:t>1.</a:t>
            </a:r>
            <a:r>
              <a:rPr lang="zh-CN" altLang="en-US" sz="3200" b="1">
                <a:solidFill>
                  <a:srgbClr val="990000"/>
                </a:solidFill>
                <a:latin typeface="楷体_GB2312" charset="0"/>
                <a:ea typeface="楷体_GB2312" charset="0"/>
              </a:rPr>
              <a:t>了解线性表的逻辑结构特性是数据元素之间存在着线性关系，在计算机中表示这种关系的两类不同的存储结构是顺序存储结构和链式存储结构。用前者表示的线性表简称为顺序表，用后者表示的线性表简称为链表。</a:t>
            </a:r>
            <a:endParaRPr lang="zh-CN" altLang="en-US" sz="2400">
              <a:solidFill>
                <a:srgbClr val="990000"/>
              </a:solidFill>
            </a:endParaRPr>
          </a:p>
        </p:txBody>
      </p:sp>
      <p:sp>
        <p:nvSpPr>
          <p:cNvPr id="1013764" name="Rectangle 4"/>
          <p:cNvSpPr>
            <a:spLocks noChangeArrowheads="1"/>
          </p:cNvSpPr>
          <p:nvPr/>
        </p:nvSpPr>
        <p:spPr bwMode="auto">
          <a:xfrm>
            <a:off x="381000" y="3962400"/>
            <a:ext cx="8534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en-US" altLang="zh-CN" sz="3200" b="1">
                <a:solidFill>
                  <a:srgbClr val="000099"/>
                </a:solidFill>
                <a:latin typeface="楷体_GB2312" charset="0"/>
                <a:ea typeface="楷体_GB2312" charset="0"/>
              </a:rPr>
              <a:t>2.</a:t>
            </a:r>
            <a:r>
              <a:rPr lang="zh-CN" altLang="en-US" sz="3200" b="1">
                <a:solidFill>
                  <a:srgbClr val="000099"/>
                </a:solidFill>
                <a:latin typeface="楷体_GB2312" charset="0"/>
                <a:ea typeface="楷体_GB2312" charset="0"/>
              </a:rPr>
              <a:t>熟练掌握这两类存储结构的描述方法，以及线性表的各种基本操作的实现。</a:t>
            </a:r>
            <a:endParaRPr lang="zh-CN" altLang="en-US" sz="3200" b="1">
              <a:solidFill>
                <a:srgbClr val="000099"/>
              </a:solidFill>
              <a:latin typeface="楷体_GB2312" charset="0"/>
              <a:ea typeface="楷体_GB2312" charset="0"/>
            </a:endParaRPr>
          </a:p>
        </p:txBody>
      </p:sp>
      <p:sp>
        <p:nvSpPr>
          <p:cNvPr id="1013765" name="Rectangle 5"/>
          <p:cNvSpPr>
            <a:spLocks noChangeArrowheads="1"/>
          </p:cNvSpPr>
          <p:nvPr/>
        </p:nvSpPr>
        <p:spPr bwMode="auto">
          <a:xfrm>
            <a:off x="381000" y="5318125"/>
            <a:ext cx="8763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en-US" altLang="zh-CN" sz="3200" b="1">
                <a:solidFill>
                  <a:srgbClr val="660033"/>
                </a:solidFill>
                <a:latin typeface="楷体_GB2312" charset="0"/>
                <a:ea typeface="楷体_GB2312" charset="0"/>
              </a:rPr>
              <a:t>3.</a:t>
            </a:r>
            <a:r>
              <a:rPr lang="zh-CN" altLang="en-US" sz="3200" b="1">
                <a:solidFill>
                  <a:srgbClr val="660033"/>
                </a:solidFill>
                <a:latin typeface="楷体_GB2312" charset="0"/>
                <a:ea typeface="楷体_GB2312" charset="0"/>
              </a:rPr>
              <a:t>能够从时间和空间复杂度的角度综合比较线性表两种存储结构的不同特点及其适用场合。</a:t>
            </a:r>
            <a:endParaRPr lang="zh-CN" altLang="en-US" sz="3200" b="1">
              <a:latin typeface="楷体_GB2312" charset="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13763"/>
                                        </p:tgtEl>
                                        <p:attrNameLst>
                                          <p:attrName>style.visibility</p:attrName>
                                        </p:attrNameLst>
                                      </p:cBhvr>
                                      <p:to>
                                        <p:strVal val="visible"/>
                                      </p:to>
                                    </p:set>
                                    <p:animEffect transition="in" filter="strips(downRight)">
                                      <p:cBhvr>
                                        <p:cTn id="7" dur="500"/>
                                        <p:tgtEl>
                                          <p:spTgt spid="101376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13764"/>
                                        </p:tgtEl>
                                        <p:attrNameLst>
                                          <p:attrName>style.visibility</p:attrName>
                                        </p:attrNameLst>
                                      </p:cBhvr>
                                      <p:to>
                                        <p:strVal val="visible"/>
                                      </p:to>
                                    </p:set>
                                    <p:animEffect transition="in" filter="strips(downRight)">
                                      <p:cBhvr>
                                        <p:cTn id="12" dur="500"/>
                                        <p:tgtEl>
                                          <p:spTgt spid="101376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13765"/>
                                        </p:tgtEl>
                                        <p:attrNameLst>
                                          <p:attrName>style.visibility</p:attrName>
                                        </p:attrNameLst>
                                      </p:cBhvr>
                                      <p:to>
                                        <p:strVal val="visible"/>
                                      </p:to>
                                    </p:set>
                                    <p:animEffect transition="in" filter="strips(downRight)">
                                      <p:cBhvr>
                                        <p:cTn id="17" dur="500"/>
                                        <p:tgtEl>
                                          <p:spTgt spid="1013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63" grpId="0" autoUpdateAnimBg="0"/>
      <p:bldP spid="1013764" grpId="0" autoUpdateAnimBg="0"/>
      <p:bldP spid="1013765" grpId="0" autoUpdateAnimBg="0"/>
    </p:bldLst>
  </p:timing>
</p:sld>
</file>

<file path=ppt/tags/tag1.xml><?xml version="1.0" encoding="utf-8"?>
<p:tagLst xmlns:p="http://schemas.openxmlformats.org/presentationml/2006/main">
  <p:tag name="COMMONDATA" val="eyJoZGlkIjoiODgxYjlmNmQ4YmNkYmVkNDFhNmRjY2MwZmIwNDVkNDg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TM03457496[[fn=视差]]</Template>
  <TotalTime>0</TotalTime>
  <Words>24335</Words>
  <Application>WPS 演示</Application>
  <PresentationFormat>全屏显示(4:3)</PresentationFormat>
  <Paragraphs>3273</Paragraphs>
  <Slides>148</Slides>
  <Notes>11</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15</vt:i4>
      </vt:variant>
      <vt:variant>
        <vt:lpstr>幻灯片标题</vt:lpstr>
      </vt:variant>
      <vt:variant>
        <vt:i4>148</vt:i4>
      </vt:variant>
    </vt:vector>
  </HeadingPairs>
  <TitlesOfParts>
    <vt:vector size="188" baseType="lpstr">
      <vt:lpstr>Arial</vt:lpstr>
      <vt:lpstr>宋体</vt:lpstr>
      <vt:lpstr>Wingdings</vt:lpstr>
      <vt:lpstr>Wingdings 3</vt:lpstr>
      <vt:lpstr>Verdana</vt:lpstr>
      <vt:lpstr>Wingdings 2</vt:lpstr>
      <vt:lpstr>华文楷体</vt:lpstr>
      <vt:lpstr>Times New Roman</vt:lpstr>
      <vt:lpstr>楷体_GB2312</vt:lpstr>
      <vt:lpstr>新宋体</vt:lpstr>
      <vt:lpstr>Symbol</vt:lpstr>
      <vt:lpstr>隶书</vt:lpstr>
      <vt:lpstr>微软雅黑</vt:lpstr>
      <vt:lpstr>Arial Unicode MS</vt:lpstr>
      <vt:lpstr>Lucida Sans Unicode</vt:lpstr>
      <vt:lpstr>黑体</vt:lpstr>
      <vt:lpstr>Calibri</vt:lpstr>
      <vt:lpstr>华文行楷</vt:lpstr>
      <vt:lpstr>Arial Unicode MS</vt:lpstr>
      <vt:lpstr>华文新魏</vt:lpstr>
      <vt:lpstr>仿宋_GB2312</vt:lpstr>
      <vt:lpstr>仿宋</vt:lpstr>
      <vt:lpstr>Arial Narrow</vt:lpstr>
      <vt:lpstr>Courier New</vt:lpstr>
      <vt:lpstr>聚合</vt:lpstr>
      <vt:lpstr>MS_ClipArt_Gallery.2</vt:lpstr>
      <vt:lpstr>Equation.3</vt:lpstr>
      <vt:lpstr>Equation.3</vt:lpstr>
      <vt:lpstr>Equation.3</vt:lpstr>
      <vt:lpstr>Equation.3</vt:lpstr>
      <vt:lpstr>Equation.3</vt:lpstr>
      <vt:lpstr>Equation.3</vt:lpstr>
      <vt:lpstr>MS_ClipArt_Gallery.2</vt:lpstr>
      <vt:lpstr>MS_ClipArt_Gallery.2</vt:lpstr>
      <vt:lpstr>MS_ClipArt_Gallery.2</vt:lpstr>
      <vt:lpstr>MS_ClipArt_Gallery.2</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线性表的顺序存储结构示意图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双向链表</vt:lpstr>
      <vt:lpstr>PowerPoint 演示文稿</vt:lpstr>
      <vt:lpstr>PowerPoint 演示文稿</vt:lpstr>
      <vt:lpstr>PowerPoint 演示文稿</vt:lpstr>
      <vt:lpstr>PowerPoint 演示文稿</vt:lpstr>
      <vt:lpstr>PowerPoint 演示文稿</vt:lpstr>
      <vt:lpstr>用循环链表求解约瑟夫问题</vt:lpstr>
      <vt:lpstr>PowerPoint 演示文稿</vt:lpstr>
      <vt:lpstr>PowerPoint 演示文稿</vt:lpstr>
      <vt:lpstr>求解Josephus问题的算法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多项式链表的相加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in C</dc:title>
  <dc:creator>zl</dc:creator>
  <cp:lastModifiedBy>鲍建华</cp:lastModifiedBy>
  <cp:revision>78</cp:revision>
  <dcterms:created xsi:type="dcterms:W3CDTF">2021-09-07T07:00:00Z</dcterms:created>
  <dcterms:modified xsi:type="dcterms:W3CDTF">2026-09-26T09:57:22Z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CADF6424C67F4878824CBAFDDE4F69C5</vt:lpwstr>
  </property>
  <property fmtid="{D5CDD505-2E9C-101B-9397-08002B2CF9AE}" pid="3" name="KSOProductBuildVer">
    <vt:lpwstr>2052-12.1.0.22175</vt:lpwstr>
  </property>
</Properties>
</file>