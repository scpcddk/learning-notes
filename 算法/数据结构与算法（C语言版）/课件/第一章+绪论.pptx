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13.fntdata" ContentType="application/x-fontdata"/>
  <Override PartName="/ppt/fonts/font14.fntdata" ContentType="application/x-fontdata"/>
  <Override PartName="/ppt/fonts/font15.fntdata" ContentType="application/x-fontdata"/>
  <Override PartName="/ppt/fonts/font16.fntdata" ContentType="application/x-fontdata"/>
  <Override PartName="/ppt/fonts/font17.fntdata" ContentType="application/x-fontdata"/>
  <Override PartName="/ppt/fonts/font18.fntdata" ContentType="application/x-fontdata"/>
  <Override PartName="/ppt/fonts/font19.fntdata" ContentType="application/x-fontdata"/>
  <Override PartName="/ppt/fonts/font2.fntdata" ContentType="application/x-fontdata"/>
  <Override PartName="/ppt/fonts/font20.fntdata" ContentType="application/x-fontdata"/>
  <Override PartName="/ppt/fonts/font21.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4"/>
  </p:notesMasterIdLst>
  <p:sldIdLst>
    <p:sldId id="425" r:id="rId3"/>
    <p:sldId id="426" r:id="rId5"/>
    <p:sldId id="465" r:id="rId6"/>
    <p:sldId id="466" r:id="rId7"/>
    <p:sldId id="429" r:id="rId8"/>
    <p:sldId id="467" r:id="rId9"/>
    <p:sldId id="468" r:id="rId10"/>
    <p:sldId id="436" r:id="rId11"/>
    <p:sldId id="470" r:id="rId12"/>
    <p:sldId id="471" r:id="rId13"/>
    <p:sldId id="472" r:id="rId14"/>
    <p:sldId id="540" r:id="rId15"/>
    <p:sldId id="541" r:id="rId16"/>
    <p:sldId id="634" r:id="rId17"/>
    <p:sldId id="474" r:id="rId18"/>
    <p:sldId id="635" r:id="rId19"/>
    <p:sldId id="636" r:id="rId20"/>
    <p:sldId id="476" r:id="rId21"/>
    <p:sldId id="637" r:id="rId22"/>
    <p:sldId id="477" r:id="rId23"/>
    <p:sldId id="478" r:id="rId24"/>
    <p:sldId id="479" r:id="rId25"/>
    <p:sldId id="543" r:id="rId26"/>
    <p:sldId id="544" r:id="rId27"/>
    <p:sldId id="545" r:id="rId28"/>
    <p:sldId id="546" r:id="rId29"/>
    <p:sldId id="547" r:id="rId30"/>
    <p:sldId id="620" r:id="rId31"/>
    <p:sldId id="548" r:id="rId32"/>
    <p:sldId id="549" r:id="rId33"/>
    <p:sldId id="550" r:id="rId34"/>
    <p:sldId id="551" r:id="rId35"/>
    <p:sldId id="552" r:id="rId36"/>
    <p:sldId id="553" r:id="rId37"/>
    <p:sldId id="554" r:id="rId38"/>
    <p:sldId id="555" r:id="rId39"/>
    <p:sldId id="556" r:id="rId40"/>
    <p:sldId id="557" r:id="rId41"/>
    <p:sldId id="558" r:id="rId42"/>
    <p:sldId id="559" r:id="rId43"/>
    <p:sldId id="560" r:id="rId44"/>
    <p:sldId id="561" r:id="rId45"/>
    <p:sldId id="562" r:id="rId46"/>
    <p:sldId id="563" r:id="rId47"/>
    <p:sldId id="564" r:id="rId48"/>
    <p:sldId id="565" r:id="rId49"/>
    <p:sldId id="566" r:id="rId50"/>
    <p:sldId id="567" r:id="rId51"/>
    <p:sldId id="568" r:id="rId52"/>
    <p:sldId id="569" r:id="rId53"/>
    <p:sldId id="570" r:id="rId54"/>
    <p:sldId id="571" r:id="rId55"/>
    <p:sldId id="572" r:id="rId56"/>
    <p:sldId id="573" r:id="rId57"/>
    <p:sldId id="574" r:id="rId58"/>
    <p:sldId id="575" r:id="rId59"/>
    <p:sldId id="576" r:id="rId60"/>
    <p:sldId id="577" r:id="rId61"/>
    <p:sldId id="578" r:id="rId62"/>
    <p:sldId id="621" r:id="rId63"/>
    <p:sldId id="579" r:id="rId64"/>
    <p:sldId id="580" r:id="rId65"/>
    <p:sldId id="581" r:id="rId66"/>
    <p:sldId id="582" r:id="rId67"/>
    <p:sldId id="583" r:id="rId68"/>
    <p:sldId id="584" r:id="rId69"/>
    <p:sldId id="585" r:id="rId70"/>
    <p:sldId id="586" r:id="rId71"/>
    <p:sldId id="587" r:id="rId72"/>
    <p:sldId id="588" r:id="rId73"/>
    <p:sldId id="589" r:id="rId74"/>
    <p:sldId id="590" r:id="rId75"/>
    <p:sldId id="591" r:id="rId76"/>
    <p:sldId id="592" r:id="rId77"/>
    <p:sldId id="593" r:id="rId78"/>
    <p:sldId id="594" r:id="rId79"/>
    <p:sldId id="595" r:id="rId80"/>
    <p:sldId id="596" r:id="rId81"/>
    <p:sldId id="597" r:id="rId82"/>
    <p:sldId id="622" r:id="rId83"/>
    <p:sldId id="598" r:id="rId84"/>
    <p:sldId id="599" r:id="rId85"/>
    <p:sldId id="623" r:id="rId86"/>
    <p:sldId id="600" r:id="rId87"/>
    <p:sldId id="601" r:id="rId88"/>
    <p:sldId id="624" r:id="rId89"/>
    <p:sldId id="395" r:id="rId90"/>
    <p:sldId id="625" r:id="rId91"/>
    <p:sldId id="626" r:id="rId92"/>
    <p:sldId id="627" r:id="rId93"/>
    <p:sldId id="628" r:id="rId94"/>
    <p:sldId id="629" r:id="rId95"/>
    <p:sldId id="630" r:id="rId96"/>
    <p:sldId id="631" r:id="rId97"/>
    <p:sldId id="632" r:id="rId98"/>
    <p:sldId id="633" r:id="rId99"/>
    <p:sldId id="603" r:id="rId100"/>
    <p:sldId id="604" r:id="rId101"/>
    <p:sldId id="605" r:id="rId102"/>
    <p:sldId id="606" r:id="rId103"/>
    <p:sldId id="607" r:id="rId104"/>
    <p:sldId id="608" r:id="rId105"/>
    <p:sldId id="609" r:id="rId106"/>
    <p:sldId id="610" r:id="rId107"/>
    <p:sldId id="611" r:id="rId108"/>
    <p:sldId id="612" r:id="rId109"/>
    <p:sldId id="613" r:id="rId110"/>
    <p:sldId id="614" r:id="rId111"/>
    <p:sldId id="615" r:id="rId112"/>
    <p:sldId id="616" r:id="rId113"/>
    <p:sldId id="617" r:id="rId114"/>
    <p:sldId id="618" r:id="rId115"/>
  </p:sldIdLst>
  <p:sldSz cx="9144000" cy="6858000" type="screen4x3"/>
  <p:notesSz cx="6858000" cy="9144000"/>
  <p:embeddedFontLst>
    <p:embeddedFont>
      <p:font typeface="方正楷体_GB2312" panose="02000000000000000000" charset="-122"/>
      <p:regular r:id="rId119"/>
    </p:embeddedFont>
    <p:embeddedFont>
      <p:font typeface="Wingdings 3" panose="05040102010807070707"/>
      <p:regular r:id="rId120"/>
    </p:embeddedFont>
    <p:embeddedFont>
      <p:font typeface="Verdana" panose="020B0604030504040204"/>
      <p:regular r:id="rId121"/>
    </p:embeddedFont>
    <p:embeddedFont>
      <p:font typeface="Wingdings 2" panose="05020102010507070707"/>
      <p:regular r:id="rId122"/>
    </p:embeddedFont>
    <p:embeddedFont>
      <p:font typeface="华文楷体" panose="02010600040101010101" charset="-122"/>
      <p:regular r:id="rId123"/>
    </p:embeddedFont>
    <p:embeddedFont>
      <p:font typeface="Tahoma" panose="020B0604030504040204" pitchFamily="34" charset="0"/>
      <p:regular r:id="rId124"/>
      <p:bold r:id="rId125"/>
    </p:embeddedFont>
    <p:embeddedFont>
      <p:font typeface="黑体" panose="02010609060101010101" pitchFamily="2" charset="-122"/>
      <p:regular r:id="rId126"/>
    </p:embeddedFont>
    <p:embeddedFont>
      <p:font typeface="楷体_GB2312" panose="02010609030101010101" pitchFamily="49" charset="-122"/>
      <p:regular r:id="rId127"/>
    </p:embeddedFont>
    <p:embeddedFont>
      <p:font typeface="Lucida Sans Unicode" panose="020B0602030504020204" charset="0"/>
      <p:regular r:id="rId128"/>
    </p:embeddedFont>
    <p:embeddedFont>
      <p:font typeface="Calibri" panose="020F0502020204030204" charset="0"/>
      <p:regular r:id="rId129"/>
      <p:bold r:id="rId130"/>
      <p:italic r:id="rId131"/>
      <p:boldItalic r:id="rId132"/>
    </p:embeddedFont>
    <p:embeddedFont>
      <p:font typeface="Comic Sans MS" panose="030F0702030302020204" pitchFamily="66" charset="0"/>
      <p:regular r:id="rId133"/>
      <p:bold r:id="rId134"/>
      <p:italic r:id="rId135"/>
      <p:boldItalic r:id="rId136"/>
    </p:embeddedFont>
    <p:embeddedFont>
      <p:font typeface="隶书" panose="02010509060101010101" pitchFamily="49" charset="-122"/>
      <p:regular r:id="rId137"/>
    </p:embeddedFont>
    <p:embeddedFont>
      <p:font typeface="굴림" panose="020B0600000101010101" pitchFamily="34" charset="-127"/>
      <p:regular r:id="rId138"/>
    </p:embeddedFont>
    <p:embeddedFont>
      <p:font typeface="Malgun Gothic" panose="020B0503020000020004" charset="-127"/>
      <p:regular r:id="rId139"/>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3" userDrawn="1">
          <p15:clr>
            <a:srgbClr val="A4A3A4"/>
          </p15:clr>
        </p15:guide>
        <p15:guide id="2" pos="286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9"/>
    <p:restoredTop sz="94656"/>
  </p:normalViewPr>
  <p:slideViewPr>
    <p:cSldViewPr showGuides="1">
      <p:cViewPr varScale="1">
        <p:scale>
          <a:sx n="107" d="100"/>
          <a:sy n="107" d="100"/>
        </p:scale>
        <p:origin x="1536" y="102"/>
      </p:cViewPr>
      <p:guideLst>
        <p:guide orient="horz" pos="2183"/>
        <p:guide pos="2864"/>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9" Type="http://schemas.openxmlformats.org/officeDocument/2006/relationships/font" Target="fonts/font21.fntdata"/><Relationship Id="rId138" Type="http://schemas.openxmlformats.org/officeDocument/2006/relationships/font" Target="fonts/font20.fntdata"/><Relationship Id="rId137" Type="http://schemas.openxmlformats.org/officeDocument/2006/relationships/font" Target="fonts/font19.fntdata"/><Relationship Id="rId136" Type="http://schemas.openxmlformats.org/officeDocument/2006/relationships/font" Target="fonts/font18.fntdata"/><Relationship Id="rId135" Type="http://schemas.openxmlformats.org/officeDocument/2006/relationships/font" Target="fonts/font17.fntdata"/><Relationship Id="rId134" Type="http://schemas.openxmlformats.org/officeDocument/2006/relationships/font" Target="fonts/font16.fntdata"/><Relationship Id="rId133" Type="http://schemas.openxmlformats.org/officeDocument/2006/relationships/font" Target="fonts/font15.fntdata"/><Relationship Id="rId132" Type="http://schemas.openxmlformats.org/officeDocument/2006/relationships/font" Target="fonts/font14.fntdata"/><Relationship Id="rId131" Type="http://schemas.openxmlformats.org/officeDocument/2006/relationships/font" Target="fonts/font13.fntdata"/><Relationship Id="rId130" Type="http://schemas.openxmlformats.org/officeDocument/2006/relationships/font" Target="fonts/font12.fntdata"/><Relationship Id="rId13" Type="http://schemas.openxmlformats.org/officeDocument/2006/relationships/slide" Target="slides/slide10.xml"/><Relationship Id="rId129" Type="http://schemas.openxmlformats.org/officeDocument/2006/relationships/font" Target="fonts/font11.fntdata"/><Relationship Id="rId128" Type="http://schemas.openxmlformats.org/officeDocument/2006/relationships/font" Target="fonts/font10.fntdata"/><Relationship Id="rId127" Type="http://schemas.openxmlformats.org/officeDocument/2006/relationships/font" Target="fonts/font9.fntdata"/><Relationship Id="rId126" Type="http://schemas.openxmlformats.org/officeDocument/2006/relationships/font" Target="fonts/font8.fntdata"/><Relationship Id="rId125" Type="http://schemas.openxmlformats.org/officeDocument/2006/relationships/font" Target="fonts/font7.fntdata"/><Relationship Id="rId124" Type="http://schemas.openxmlformats.org/officeDocument/2006/relationships/font" Target="fonts/font6.fntdata"/><Relationship Id="rId123" Type="http://schemas.openxmlformats.org/officeDocument/2006/relationships/font" Target="fonts/font5.fntdata"/><Relationship Id="rId122" Type="http://schemas.openxmlformats.org/officeDocument/2006/relationships/font" Target="fonts/font4.fntdata"/><Relationship Id="rId121" Type="http://schemas.openxmlformats.org/officeDocument/2006/relationships/font" Target="fonts/font3.fntdata"/><Relationship Id="rId120" Type="http://schemas.openxmlformats.org/officeDocument/2006/relationships/font" Target="fonts/font2.fntdata"/><Relationship Id="rId12" Type="http://schemas.openxmlformats.org/officeDocument/2006/relationships/slide" Target="slides/slide9.xml"/><Relationship Id="rId119" Type="http://schemas.openxmlformats.org/officeDocument/2006/relationships/font" Target="fonts/font1.fntdata"/><Relationship Id="rId118" Type="http://schemas.openxmlformats.org/officeDocument/2006/relationships/tableStyles" Target="tableStyles.xml"/><Relationship Id="rId117" Type="http://schemas.openxmlformats.org/officeDocument/2006/relationships/viewProps" Target="viewProps.xml"/><Relationship Id="rId116" Type="http://schemas.openxmlformats.org/officeDocument/2006/relationships/presProps" Target="presProps.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8.wmf"/><Relationship Id="rId1" Type="http://schemas.openxmlformats.org/officeDocument/2006/relationships/image" Target="../media/image19.jpeg"/></Relationships>
</file>

<file path=ppt/drawings/_rels/vmlDrawing6.v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image" Target="../media/image20.wmf"/><Relationship Id="rId1" Type="http://schemas.openxmlformats.org/officeDocument/2006/relationships/image" Target="../media/image19.jpeg"/></Relationships>
</file>

<file path=ppt/drawings/_rels/vmlDrawing7.vml.rels><?xml version="1.0" encoding="UTF-8" standalone="yes"?>
<Relationships xmlns="http://schemas.openxmlformats.org/package/2006/relationships"><Relationship Id="rId6" Type="http://schemas.openxmlformats.org/officeDocument/2006/relationships/image" Target="../media/image26.wmf"/><Relationship Id="rId5" Type="http://schemas.openxmlformats.org/officeDocument/2006/relationships/image" Target="../media/image25.wmf"/><Relationship Id="rId4" Type="http://schemas.openxmlformats.org/officeDocument/2006/relationships/image" Target="../media/image24.wmf"/><Relationship Id="rId3" Type="http://schemas.openxmlformats.org/officeDocument/2006/relationships/image" Target="../media/image23.wmf"/><Relationship Id="rId2" Type="http://schemas.openxmlformats.org/officeDocument/2006/relationships/image" Target="../media/image22.wmf"/><Relationship Id="rId1" Type="http://schemas.openxmlformats.org/officeDocument/2006/relationships/image" Target="../media/image19.jpeg"/></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7.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EFC51EC-6FD5-4863-83B5-92D981B3290E}"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CE40C3E-DC0F-454B-B64E-DAEF5FEB7671}"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3.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4.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5.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6.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txBox="1">
            <a:spLocks noGrp="1"/>
          </p:cNvSpPr>
          <p:nvPr>
            <p:ph type="sldNum" sz="quarter"/>
          </p:nvPr>
        </p:nvSpPr>
        <p:spPr>
          <a:xfrm>
            <a:off x="4983163" y="5792788"/>
            <a:ext cx="3810000" cy="303212"/>
          </a:xfrm>
          <a:prstGeom prst="rect">
            <a:avLst/>
          </a:prstGeom>
          <a:noFill/>
          <a:ln w="9525">
            <a:noFill/>
          </a:ln>
        </p:spPr>
        <p:txBody>
          <a:bodyPr lIns="85078" tIns="42539" rIns="85078" bIns="42539" anchor="b"/>
          <a:lstStyle/>
          <a:p>
            <a:pPr lvl="0" algn="r" defTabSz="850900"/>
            <a:fld id="{9A0DB2DC-4C9A-4742-B13C-FB6460FD3503}" type="slidenum">
              <a:rPr lang="zh-CN" altLang="en-US" sz="1100" b="0" dirty="0"/>
            </a:fld>
            <a:endParaRPr lang="zh-CN" altLang="en-US" sz="1100" b="0" dirty="0"/>
          </a:p>
        </p:txBody>
      </p:sp>
      <p:sp>
        <p:nvSpPr>
          <p:cNvPr id="8195" name="Rectangle 2"/>
          <p:cNvSpPr>
            <a:spLocks noGrp="1" noRot="1" noChangeAspect="1" noTextEdit="1"/>
          </p:cNvSpPr>
          <p:nvPr>
            <p:ph type="sldImg"/>
          </p:nvPr>
        </p:nvSpPr>
        <p:spPr/>
      </p:sp>
      <p:sp>
        <p:nvSpPr>
          <p:cNvPr id="8196" name="Rectangle 3"/>
          <p:cNvSpPr>
            <a:spLocks noGrp="1"/>
          </p:cNvSpPr>
          <p:nvPr>
            <p:ph type="body" idx="1"/>
          </p:nvPr>
        </p:nvSpPr>
        <p:spPr>
          <a:xfrm>
            <a:off x="1173163" y="2895600"/>
            <a:ext cx="6446837" cy="2743200"/>
          </a:xfrm>
        </p:spPr>
        <p:txBody>
          <a:bodyPr wrap="square" lIns="85078" tIns="42539" rIns="85078" bIns="42539" anchor="t"/>
          <a:lstStyle/>
          <a:p>
            <a:pPr lvl="0"/>
            <a:endParaRPr lang="zh-CN" altLang="en-US" dirty="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幻灯片图像占位符 1"/>
          <p:cNvSpPr>
            <a:spLocks noGrp="1" noRot="1" noChangeAspect="1" noTextEdit="1"/>
          </p:cNvSpPr>
          <p:nvPr>
            <p:ph type="sldImg"/>
          </p:nvPr>
        </p:nvSpPr>
        <p:spPr/>
      </p:sp>
      <p:sp>
        <p:nvSpPr>
          <p:cNvPr id="8195" name="备注占位符 2"/>
          <p:cNvSpPr>
            <a:spLocks noGrp="1"/>
          </p:cNvSpPr>
          <p:nvPr>
            <p:ph type="body" idx="1"/>
          </p:nvPr>
        </p:nvSpPr>
        <p:spPr/>
        <p:txBody>
          <a:bodyPr wrap="square" lIns="91440" tIns="45720" rIns="91440" bIns="45720" anchor="t"/>
          <a:lstStyle/>
          <a:p>
            <a:pPr lvl="0"/>
            <a:endParaRPr lang="zh-CN" altLang="en-US" dirty="0"/>
          </a:p>
        </p:txBody>
      </p:sp>
      <p:sp>
        <p:nvSpPr>
          <p:cNvPr id="8196" name="灯片编号占位符 3"/>
          <p:cNvSpPr txBox="1">
            <a:spLocks noGrp="1"/>
          </p:cNvSpPr>
          <p:nvPr>
            <p:ph type="sldNum" sz="quarter"/>
          </p:nvPr>
        </p:nvSpPr>
        <p:spPr>
          <a:xfrm>
            <a:off x="3886200" y="8686800"/>
            <a:ext cx="2971800" cy="457200"/>
          </a:xfrm>
          <a:prstGeom prst="rect">
            <a:avLst/>
          </a:prstGeom>
          <a:noFill/>
          <a:ln w="9525">
            <a:noFill/>
          </a:ln>
        </p:spPr>
        <p:txBody>
          <a:bodyPr anchor="b"/>
          <a:lstStyle/>
          <a:p>
            <a:pPr lvl="0" algn="r" eaLnBrk="1" hangingPunct="1">
              <a:spcBef>
                <a:spcPct val="0"/>
              </a:spcBef>
            </a:pPr>
            <a:fld id="{9A0DB2DC-4C9A-4742-B13C-FB6460FD3503}" type="slidenum">
              <a:rPr lang="en-US" altLang="zh-CN" dirty="0"/>
            </a:fld>
            <a:endParaRPr lang="en-US" alt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幻灯片图像占位符 1"/>
          <p:cNvSpPr>
            <a:spLocks noGrp="1" noRot="1" noChangeAspect="1" noTextEdit="1"/>
          </p:cNvSpPr>
          <p:nvPr>
            <p:ph type="sldImg"/>
          </p:nvPr>
        </p:nvSpPr>
        <p:spPr/>
      </p:sp>
      <p:sp>
        <p:nvSpPr>
          <p:cNvPr id="8195" name="备注占位符 2"/>
          <p:cNvSpPr>
            <a:spLocks noGrp="1"/>
          </p:cNvSpPr>
          <p:nvPr>
            <p:ph type="body" idx="1"/>
          </p:nvPr>
        </p:nvSpPr>
        <p:spPr/>
        <p:txBody>
          <a:bodyPr wrap="square" lIns="91440" tIns="45720" rIns="91440" bIns="45720" anchor="t"/>
          <a:lstStyle/>
          <a:p>
            <a:pPr lvl="0"/>
            <a:endParaRPr lang="zh-CN" altLang="en-US" dirty="0"/>
          </a:p>
        </p:txBody>
      </p:sp>
      <p:sp>
        <p:nvSpPr>
          <p:cNvPr id="8196" name="灯片编号占位符 3"/>
          <p:cNvSpPr txBox="1">
            <a:spLocks noGrp="1"/>
          </p:cNvSpPr>
          <p:nvPr>
            <p:ph type="sldNum" sz="quarter"/>
          </p:nvPr>
        </p:nvSpPr>
        <p:spPr>
          <a:xfrm>
            <a:off x="3886200" y="8686800"/>
            <a:ext cx="2971800" cy="457200"/>
          </a:xfrm>
          <a:prstGeom prst="rect">
            <a:avLst/>
          </a:prstGeom>
          <a:noFill/>
          <a:ln w="9525">
            <a:noFill/>
          </a:ln>
        </p:spPr>
        <p:txBody>
          <a:bodyPr anchor="b"/>
          <a:lstStyle/>
          <a:p>
            <a:pPr lvl="0" algn="r" eaLnBrk="1" hangingPunct="1">
              <a:spcBef>
                <a:spcPct val="0"/>
              </a:spcBef>
            </a:pPr>
            <a:fld id="{9A0DB2DC-4C9A-4742-B13C-FB6460FD3503}" type="slidenum">
              <a:rPr lang="en-US" altLang="zh-CN" dirty="0"/>
            </a:fld>
            <a:endParaRPr lang="en-US" altLang="zh-CN"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幻灯片图像占位符 1"/>
          <p:cNvSpPr>
            <a:spLocks noGrp="1" noRot="1" noChangeAspect="1" noTextEdit="1"/>
          </p:cNvSpPr>
          <p:nvPr>
            <p:ph type="sldImg"/>
          </p:nvPr>
        </p:nvSpPr>
        <p:spPr/>
      </p:sp>
      <p:sp>
        <p:nvSpPr>
          <p:cNvPr id="21507" name="备注占位符 2"/>
          <p:cNvSpPr>
            <a:spLocks noGrp="1"/>
          </p:cNvSpPr>
          <p:nvPr>
            <p:ph type="body" idx="1"/>
          </p:nvPr>
        </p:nvSpPr>
        <p:spPr/>
        <p:txBody>
          <a:bodyPr wrap="square" lIns="91440" tIns="45720" rIns="91440" bIns="45720" anchor="t"/>
          <a:lstStyle/>
          <a:p>
            <a:pPr lvl="0"/>
            <a:endParaRPr lang="zh-CN" altLang="en-US" dirty="0"/>
          </a:p>
        </p:txBody>
      </p:sp>
      <p:sp>
        <p:nvSpPr>
          <p:cNvPr id="21508" name="灯片编号占位符 3"/>
          <p:cNvSpPr txBox="1">
            <a:spLocks noGrp="1"/>
          </p:cNvSpPr>
          <p:nvPr>
            <p:ph type="sldNum" sz="quarter"/>
          </p:nvPr>
        </p:nvSpPr>
        <p:spPr>
          <a:xfrm>
            <a:off x="3886200" y="8686800"/>
            <a:ext cx="2971800" cy="457200"/>
          </a:xfrm>
          <a:prstGeom prst="rect">
            <a:avLst/>
          </a:prstGeom>
          <a:noFill/>
          <a:ln w="9525">
            <a:noFill/>
          </a:ln>
        </p:spPr>
        <p:txBody>
          <a:bodyPr anchor="b"/>
          <a:lstStyle/>
          <a:p>
            <a:pPr lvl="0" algn="r" eaLnBrk="1" hangingPunct="1">
              <a:spcBef>
                <a:spcPct val="0"/>
              </a:spcBef>
            </a:pPr>
            <a:fld id="{9A0DB2DC-4C9A-4742-B13C-FB6460FD3503}" type="slidenum">
              <a:rPr lang="en-US" altLang="zh-CN" dirty="0"/>
            </a:fld>
            <a:endParaRPr lang="en-US" altLang="zh-CN"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lstStyle/>
          <a:p>
            <a:pPr lvl="0" indent="0" algn="r" eaLnBrk="1" hangingPunct="1"/>
            <a:r>
              <a:rPr lang="en-US" altLang="zh-CN" sz="1200" dirty="0"/>
              <a:t>*</a:t>
            </a:r>
            <a:endParaRPr lang="en-US" altLang="zh-CN" sz="1200" dirty="0"/>
          </a:p>
        </p:txBody>
      </p:sp>
      <p:sp>
        <p:nvSpPr>
          <p:cNvPr id="8194" name="Rectangle 2"/>
          <p:cNvSpPr>
            <a:spLocks noGrp="1" noRot="1" noChangeAspect="1" noTextEdit="1"/>
          </p:cNvSpPr>
          <p:nvPr>
            <p:ph type="sldImg"/>
          </p:nvPr>
        </p:nvSpPr>
        <p:spPr/>
      </p:sp>
      <p:sp>
        <p:nvSpPr>
          <p:cNvPr id="8195" name="Rectangle 3"/>
          <p:cNvSpPr>
            <a:spLocks noGrp="1"/>
          </p:cNvSpPr>
          <p:nvPr>
            <p:ph type="body"/>
          </p:nvPr>
        </p:nvSpPr>
        <p:spPr/>
        <p:txBody>
          <a:bodyPr wrap="square" lIns="91440" tIns="45720" rIns="91440" bIns="45720" anchor="t"/>
          <a:lstStyle/>
          <a:p>
            <a:pPr lvl="0" eaLnBrk="1" hangingPunct="1"/>
            <a:endParaRPr lang="zh-CN" altLang="zh-CN"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Rot="1" noChangeAspect="1" noTextEdit="1"/>
          </p:cNvSpPr>
          <p:nvPr>
            <p:ph type="sldImg"/>
          </p:nvPr>
        </p:nvSpPr>
        <p:spPr>
          <a:xfrm>
            <a:off x="917575" y="744538"/>
            <a:ext cx="4962525" cy="3722687"/>
          </a:xfrm>
        </p:spPr>
      </p:sp>
      <p:sp>
        <p:nvSpPr>
          <p:cNvPr id="105475" name="Rectangle 3"/>
          <p:cNvSpPr>
            <a:spLocks noGrp="1"/>
          </p:cNvSpPr>
          <p:nvPr>
            <p:ph type="body" idx="1"/>
          </p:nvPr>
        </p:nvSpPr>
        <p:spPr>
          <a:xfrm>
            <a:off x="906463" y="4714875"/>
            <a:ext cx="4984750" cy="4467225"/>
          </a:xfrm>
        </p:spPr>
        <p:txBody>
          <a:bodyPr wrap="square" lIns="95556" tIns="47778" rIns="95556" bIns="47778" anchor="t"/>
          <a:lstStyle/>
          <a:p>
            <a:pPr lvl="0"/>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7"/>
          <p:cNvSpPr>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lstStyle/>
          <a:p>
            <a:pPr lvl="0" indent="0" algn="r"/>
            <a:r>
              <a:rPr lang="zh-CN" altLang="en-US" sz="1100"/>
              <a:t>*</a:t>
            </a:r>
            <a:endParaRPr lang="en-US" altLang="zh-CN" sz="1100"/>
          </a:p>
        </p:txBody>
      </p:sp>
      <p:sp>
        <p:nvSpPr>
          <p:cNvPr id="12290" name="Rectangle 2"/>
          <p:cNvSpPr>
            <a:spLocks noGrp="1" noRot="1" noChangeAspect="1" noTextEdit="1"/>
          </p:cNvSpPr>
          <p:nvPr>
            <p:ph type="sldImg"/>
          </p:nvPr>
        </p:nvSpPr>
        <p:spPr/>
      </p:sp>
      <p:sp>
        <p:nvSpPr>
          <p:cNvPr id="12291" name="Rectangle 3"/>
          <p:cNvSpPr>
            <a:spLocks noGrp="1"/>
          </p:cNvSpPr>
          <p:nvPr>
            <p:ph type="body"/>
          </p:nvPr>
        </p:nvSpPr>
        <p:spPr/>
        <p:txBody>
          <a:bodyPr wrap="square" lIns="91440" tIns="45720" rIns="91440" bIns="45720" anchor="t"/>
          <a:lstStyle/>
          <a:p>
            <a:pPr lvl="0"/>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7"/>
          <p:cNvSpPr>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lstStyle/>
          <a:p>
            <a:pPr lvl="0" indent="0" algn="r"/>
            <a:r>
              <a:rPr lang="zh-CN" altLang="en-US" sz="1100"/>
              <a:t>*</a:t>
            </a:r>
            <a:endParaRPr lang="en-US" altLang="zh-CN" sz="1100"/>
          </a:p>
        </p:txBody>
      </p:sp>
      <p:sp>
        <p:nvSpPr>
          <p:cNvPr id="12290" name="Rectangle 2"/>
          <p:cNvSpPr>
            <a:spLocks noGrp="1" noRot="1" noChangeAspect="1" noTextEdit="1"/>
          </p:cNvSpPr>
          <p:nvPr>
            <p:ph type="sldImg"/>
          </p:nvPr>
        </p:nvSpPr>
        <p:spPr/>
      </p:sp>
      <p:sp>
        <p:nvSpPr>
          <p:cNvPr id="12291" name="Rectangle 3"/>
          <p:cNvSpPr>
            <a:spLocks noGrp="1"/>
          </p:cNvSpPr>
          <p:nvPr>
            <p:ph type="body"/>
          </p:nvPr>
        </p:nvSpPr>
        <p:spPr/>
        <p:txBody>
          <a:bodyPr wrap="square" lIns="91440" tIns="45720" rIns="91440" bIns="45720" anchor="t"/>
          <a:lstStyle/>
          <a:p>
            <a:pPr lvl="0"/>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p:cNvSpPr>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lstStyle/>
          <a:p>
            <a:pPr lvl="0" indent="0" algn="r"/>
            <a:r>
              <a:rPr lang="zh-CN" altLang="en-US" sz="1100"/>
              <a:t>*</a:t>
            </a:r>
            <a:endParaRPr lang="en-US" altLang="zh-CN" sz="1100"/>
          </a:p>
        </p:txBody>
      </p:sp>
      <p:sp>
        <p:nvSpPr>
          <p:cNvPr id="16386" name="Rectangle 2"/>
          <p:cNvSpPr>
            <a:spLocks noGrp="1" noRot="1" noChangeAspect="1" noTextEdit="1"/>
          </p:cNvSpPr>
          <p:nvPr>
            <p:ph type="sldImg"/>
          </p:nvPr>
        </p:nvSpPr>
        <p:spPr/>
      </p:sp>
      <p:sp>
        <p:nvSpPr>
          <p:cNvPr id="16387" name="Rectangle 3"/>
          <p:cNvSpPr>
            <a:spLocks noGrp="1"/>
          </p:cNvSpPr>
          <p:nvPr>
            <p:ph type="body"/>
          </p:nvPr>
        </p:nvSpPr>
        <p:spPr/>
        <p:txBody>
          <a:bodyPr wrap="square" lIns="91440" tIns="45720" rIns="91440" bIns="45720" anchor="t"/>
          <a:lstStyle/>
          <a:p>
            <a:pPr lvl="0"/>
            <a:endParaRPr lang="zh-CN"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p:cNvSpPr>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lstStyle/>
          <a:p>
            <a:pPr lvl="0" indent="0" algn="r"/>
            <a:r>
              <a:rPr lang="zh-CN" altLang="en-US" sz="1100"/>
              <a:t>*</a:t>
            </a:r>
            <a:endParaRPr lang="en-US" altLang="zh-CN" sz="1100"/>
          </a:p>
        </p:txBody>
      </p:sp>
      <p:sp>
        <p:nvSpPr>
          <p:cNvPr id="16386" name="Rectangle 2"/>
          <p:cNvSpPr>
            <a:spLocks noGrp="1" noRot="1" noChangeAspect="1" noTextEdit="1"/>
          </p:cNvSpPr>
          <p:nvPr>
            <p:ph type="sldImg"/>
          </p:nvPr>
        </p:nvSpPr>
        <p:spPr/>
      </p:sp>
      <p:sp>
        <p:nvSpPr>
          <p:cNvPr id="16387" name="Rectangle 3"/>
          <p:cNvSpPr>
            <a:spLocks noGrp="1"/>
          </p:cNvSpPr>
          <p:nvPr>
            <p:ph type="body"/>
          </p:nvPr>
        </p:nvSpPr>
        <p:spPr/>
        <p:txBody>
          <a:bodyPr wrap="square" lIns="91440" tIns="45720" rIns="91440" bIns="45720" anchor="t"/>
          <a:lstStyle/>
          <a:p>
            <a:pPr lvl="0"/>
            <a:endParaRPr lang="zh-CN"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7"/>
          <p:cNvSpPr>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lstStyle/>
          <a:p>
            <a:pPr lvl="0" indent="0" algn="r"/>
            <a:r>
              <a:rPr lang="zh-CN" altLang="en-US" sz="1100"/>
              <a:t>*</a:t>
            </a:r>
            <a:endParaRPr lang="en-US" altLang="zh-CN" sz="1100"/>
          </a:p>
        </p:txBody>
      </p:sp>
      <p:sp>
        <p:nvSpPr>
          <p:cNvPr id="18434" name="Rectangle 2"/>
          <p:cNvSpPr>
            <a:spLocks noGrp="1" noRot="1" noChangeAspect="1" noTextEdit="1"/>
          </p:cNvSpPr>
          <p:nvPr>
            <p:ph type="sldImg"/>
          </p:nvPr>
        </p:nvSpPr>
        <p:spPr/>
      </p:sp>
      <p:sp>
        <p:nvSpPr>
          <p:cNvPr id="18435" name="Rectangle 3"/>
          <p:cNvSpPr>
            <a:spLocks noGrp="1"/>
          </p:cNvSpPr>
          <p:nvPr>
            <p:ph type="body"/>
          </p:nvPr>
        </p:nvSpPr>
        <p:spPr/>
        <p:txBody>
          <a:bodyPr wrap="square" lIns="91440" tIns="45720" rIns="91440" bIns="45720" anchor="t"/>
          <a:lstStyle/>
          <a:p>
            <a:pPr lvl="0"/>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7"/>
          <p:cNvSpPr>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lstStyle/>
          <a:p>
            <a:pPr lvl="0" indent="0" algn="r"/>
            <a:r>
              <a:rPr lang="zh-CN" altLang="en-US" sz="1100"/>
              <a:t>*</a:t>
            </a:r>
            <a:endParaRPr lang="en-US" altLang="zh-CN" sz="1100"/>
          </a:p>
        </p:txBody>
      </p:sp>
      <p:sp>
        <p:nvSpPr>
          <p:cNvPr id="18434" name="Rectangle 2"/>
          <p:cNvSpPr>
            <a:spLocks noGrp="1" noRot="1" noChangeAspect="1" noTextEdit="1"/>
          </p:cNvSpPr>
          <p:nvPr>
            <p:ph type="sldImg"/>
          </p:nvPr>
        </p:nvSpPr>
        <p:spPr/>
      </p:sp>
      <p:sp>
        <p:nvSpPr>
          <p:cNvPr id="18435" name="Rectangle 3"/>
          <p:cNvSpPr>
            <a:spLocks noGrp="1"/>
          </p:cNvSpPr>
          <p:nvPr>
            <p:ph type="body"/>
          </p:nvPr>
        </p:nvSpPr>
        <p:spPr/>
        <p:txBody>
          <a:bodyPr wrap="square" lIns="91440" tIns="45720" rIns="91440" bIns="45720" anchor="t"/>
          <a:lstStyle/>
          <a:p>
            <a:pPr lvl="0"/>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7"/>
          <p:cNvSpPr>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lstStyle/>
          <a:p>
            <a:pPr lvl="0" indent="0" algn="r"/>
            <a:r>
              <a:rPr lang="zh-CN" altLang="en-US" sz="1100"/>
              <a:t>*</a:t>
            </a:r>
            <a:endParaRPr lang="en-US" altLang="zh-CN" sz="1100"/>
          </a:p>
        </p:txBody>
      </p:sp>
      <p:sp>
        <p:nvSpPr>
          <p:cNvPr id="20482" name="Rectangle 2"/>
          <p:cNvSpPr>
            <a:spLocks noGrp="1" noRot="1" noChangeAspect="1" noTextEdit="1"/>
          </p:cNvSpPr>
          <p:nvPr>
            <p:ph type="sldImg"/>
          </p:nvPr>
        </p:nvSpPr>
        <p:spPr/>
      </p:sp>
      <p:sp>
        <p:nvSpPr>
          <p:cNvPr id="20483" name="Rectangle 3"/>
          <p:cNvSpPr>
            <a:spLocks noGrp="1"/>
          </p:cNvSpPr>
          <p:nvPr>
            <p:ph type="body"/>
          </p:nvPr>
        </p:nvSpPr>
        <p:spPr/>
        <p:txBody>
          <a:bodyPr wrap="square" lIns="91440" tIns="45720" rIns="91440" bIns="45720" anchor="t"/>
          <a:lstStyle/>
          <a:p>
            <a:pPr lvl="0"/>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7"/>
          <p:cNvSpPr>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lstStyle/>
          <a:p>
            <a:pPr lvl="0" indent="0" algn="r"/>
            <a:r>
              <a:rPr lang="zh-CN" altLang="en-US" sz="1100"/>
              <a:t>*</a:t>
            </a:r>
            <a:endParaRPr lang="en-US" altLang="zh-CN" sz="1100"/>
          </a:p>
        </p:txBody>
      </p:sp>
      <p:sp>
        <p:nvSpPr>
          <p:cNvPr id="22530" name="Rectangle 2"/>
          <p:cNvSpPr>
            <a:spLocks noGrp="1" noRot="1" noChangeAspect="1" noTextEdit="1"/>
          </p:cNvSpPr>
          <p:nvPr>
            <p:ph type="sldImg"/>
          </p:nvPr>
        </p:nvSpPr>
        <p:spPr/>
      </p:sp>
      <p:sp>
        <p:nvSpPr>
          <p:cNvPr id="22531" name="Rectangle 3"/>
          <p:cNvSpPr>
            <a:spLocks noGrp="1"/>
          </p:cNvSpPr>
          <p:nvPr>
            <p:ph type="body"/>
          </p:nvPr>
        </p:nvSpPr>
        <p:spPr/>
        <p:txBody>
          <a:bodyPr wrap="square" lIns="91440" tIns="45720" rIns="91440" bIns="45720" anchor="t"/>
          <a:lstStyle/>
          <a:p>
            <a:pPr lvl="0"/>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Rot="1" noChangeAspect="1" noTextEdit="1"/>
          </p:cNvSpPr>
          <p:nvPr>
            <p:ph type="sldImg"/>
          </p:nvPr>
        </p:nvSpPr>
        <p:spPr>
          <a:xfrm>
            <a:off x="917575" y="744538"/>
            <a:ext cx="4962525" cy="3722687"/>
          </a:xfrm>
        </p:spPr>
      </p:sp>
      <p:sp>
        <p:nvSpPr>
          <p:cNvPr id="108547" name="Rectangle 3"/>
          <p:cNvSpPr>
            <a:spLocks noGrp="1"/>
          </p:cNvSpPr>
          <p:nvPr>
            <p:ph type="body" idx="1"/>
          </p:nvPr>
        </p:nvSpPr>
        <p:spPr>
          <a:xfrm>
            <a:off x="906463" y="4714875"/>
            <a:ext cx="4984750" cy="4467225"/>
          </a:xfrm>
        </p:spPr>
        <p:txBody>
          <a:bodyPr wrap="square" lIns="95556" tIns="47778" rIns="95556" bIns="47778" anchor="t"/>
          <a:lstStyle/>
          <a:p>
            <a:pPr lvl="0"/>
            <a:r>
              <a:rPr lang="zh-CN" altLang="en-US" dirty="0"/>
              <a:t>数据是信息的载体，它能够被计算机识别、存储和加工处理。它是计算机程序加工的原料，应用程序处理各种各样的数据。计算机科学中，所谓数据就是计算机加工处理的对象，它可以是数值数据，也可以是非数值数据。数值数据是一些整数、实数或复数，主要用于工程计算、科学计算和商务处理等；非数值数据包括字符、文字、图形、图像、语音等。</a:t>
            </a:r>
            <a:endParaRPr lang="zh-CN"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7"/>
          <p:cNvSpPr>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lstStyle/>
          <a:p>
            <a:pPr lvl="0" indent="0" algn="r"/>
            <a:r>
              <a:rPr lang="zh-CN" altLang="en-US" sz="1100"/>
              <a:t>*</a:t>
            </a:r>
            <a:endParaRPr lang="en-US" altLang="zh-CN" sz="1100"/>
          </a:p>
        </p:txBody>
      </p:sp>
      <p:sp>
        <p:nvSpPr>
          <p:cNvPr id="46082" name="Rectangle 2"/>
          <p:cNvSpPr>
            <a:spLocks noGrp="1" noRot="1" noChangeAspect="1" noTextEdit="1"/>
          </p:cNvSpPr>
          <p:nvPr>
            <p:ph type="sldImg"/>
          </p:nvPr>
        </p:nvSpPr>
        <p:spPr/>
      </p:sp>
      <p:sp>
        <p:nvSpPr>
          <p:cNvPr id="46083" name="Rectangle 3"/>
          <p:cNvSpPr>
            <a:spLocks noGrp="1"/>
          </p:cNvSpPr>
          <p:nvPr>
            <p:ph type="body"/>
          </p:nvPr>
        </p:nvSpPr>
        <p:spPr>
          <a:xfrm>
            <a:off x="684213" y="4343400"/>
            <a:ext cx="5489575" cy="4114800"/>
          </a:xfrm>
        </p:spPr>
        <p:txBody>
          <a:bodyPr wrap="square" lIns="91440" tIns="45720" rIns="91440" bIns="45720" anchor="t"/>
          <a:lstStyle/>
          <a:p>
            <a:pPr lvl="0"/>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Rot="1" noChangeAspect="1" noTextEdit="1"/>
          </p:cNvSpPr>
          <p:nvPr>
            <p:ph type="sldImg"/>
          </p:nvPr>
        </p:nvSpPr>
        <p:spPr>
          <a:xfrm>
            <a:off x="917575" y="744538"/>
            <a:ext cx="4962525" cy="3722687"/>
          </a:xfrm>
        </p:spPr>
      </p:sp>
      <p:sp>
        <p:nvSpPr>
          <p:cNvPr id="109571" name="Rectangle 3"/>
          <p:cNvSpPr>
            <a:spLocks noGrp="1"/>
          </p:cNvSpPr>
          <p:nvPr>
            <p:ph type="body" idx="1"/>
          </p:nvPr>
        </p:nvSpPr>
        <p:spPr>
          <a:xfrm>
            <a:off x="906463" y="4714875"/>
            <a:ext cx="4984750" cy="4467225"/>
          </a:xfrm>
        </p:spPr>
        <p:txBody>
          <a:bodyPr wrap="square" lIns="95556" tIns="47778" rIns="95556" bIns="47778" anchor="t"/>
          <a:lstStyle/>
          <a:p>
            <a:pPr lvl="0"/>
            <a:r>
              <a:rPr lang="zh-CN" altLang="en-US" dirty="0"/>
              <a:t>“规模” 的含义模糊不清的，要视具体算法而定  。规模一般指输入量的数目。</a:t>
            </a:r>
            <a:endParaRPr lang="zh-CN" alt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Rot="1" noChangeAspect="1" noTextEdit="1"/>
          </p:cNvSpPr>
          <p:nvPr>
            <p:ph type="sldImg"/>
          </p:nvPr>
        </p:nvSpPr>
        <p:spPr>
          <a:xfrm>
            <a:off x="928688" y="752475"/>
            <a:ext cx="4945062" cy="3708400"/>
          </a:xfrm>
        </p:spPr>
      </p:sp>
      <p:sp>
        <p:nvSpPr>
          <p:cNvPr id="110595" name="Rectangle 3"/>
          <p:cNvSpPr>
            <a:spLocks noGrp="1"/>
          </p:cNvSpPr>
          <p:nvPr>
            <p:ph type="body" idx="1"/>
          </p:nvPr>
        </p:nvSpPr>
        <p:spPr>
          <a:xfrm>
            <a:off x="908050" y="4714875"/>
            <a:ext cx="4981575" cy="4465638"/>
          </a:xfrm>
        </p:spPr>
        <p:txBody>
          <a:bodyPr wrap="square" lIns="95556" tIns="47778" rIns="95556" bIns="47778" anchor="t"/>
          <a:lstStyle/>
          <a:p>
            <a:pPr lvl="0"/>
            <a:endParaRPr lang="zh-CN" alt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50900">
              <a:defRPr sz="2400" b="1">
                <a:solidFill>
                  <a:schemeClr val="tx1"/>
                </a:solidFill>
                <a:latin typeface="Times New Roman" panose="02020603050405020304" pitchFamily="18" charset="0"/>
                <a:ea typeface="宋体" panose="02010600030101010101" pitchFamily="2" charset="-122"/>
              </a:defRPr>
            </a:lvl1pPr>
            <a:lvl2pPr marL="742950" indent="-285750" defTabSz="850900">
              <a:defRPr sz="2400" b="1">
                <a:solidFill>
                  <a:schemeClr val="tx1"/>
                </a:solidFill>
                <a:latin typeface="Times New Roman" panose="02020603050405020304" pitchFamily="18" charset="0"/>
                <a:ea typeface="宋体" panose="02010600030101010101" pitchFamily="2" charset="-122"/>
              </a:defRPr>
            </a:lvl2pPr>
            <a:lvl3pPr marL="1143000" indent="-228600" defTabSz="850900">
              <a:defRPr sz="2400" b="1">
                <a:solidFill>
                  <a:schemeClr val="tx1"/>
                </a:solidFill>
                <a:latin typeface="Times New Roman" panose="02020603050405020304" pitchFamily="18" charset="0"/>
                <a:ea typeface="宋体" panose="02010600030101010101" pitchFamily="2" charset="-122"/>
              </a:defRPr>
            </a:lvl3pPr>
            <a:lvl4pPr marL="1600200" indent="-228600" defTabSz="850900">
              <a:defRPr sz="2400" b="1">
                <a:solidFill>
                  <a:schemeClr val="tx1"/>
                </a:solidFill>
                <a:latin typeface="Times New Roman" panose="02020603050405020304" pitchFamily="18" charset="0"/>
                <a:ea typeface="宋体" panose="02010600030101010101" pitchFamily="2" charset="-122"/>
              </a:defRPr>
            </a:lvl4pPr>
            <a:lvl5pPr marL="2057400" indent="-228600" defTabSz="850900">
              <a:defRPr sz="2400" b="1">
                <a:solidFill>
                  <a:schemeClr val="tx1"/>
                </a:solidFill>
                <a:latin typeface="Times New Roman" panose="02020603050405020304" pitchFamily="18" charset="0"/>
                <a:ea typeface="宋体" panose="02010600030101010101" pitchFamily="2" charset="-122"/>
              </a:defRPr>
            </a:lvl5pPr>
            <a:lvl6pPr marL="2514600" indent="-228600" defTabSz="8509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defTabSz="8509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defTabSz="8509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defTabSz="8509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fld id="{B5684C41-879C-4E1C-92D4-72AA63AC716B}" type="slidenum">
              <a:rPr lang="zh-CN" altLang="en-US" sz="1100" b="0"/>
            </a:fld>
            <a:endParaRPr lang="en-US" altLang="zh-CN" sz="1100" b="0"/>
          </a:p>
        </p:txBody>
      </p:sp>
      <p:sp>
        <p:nvSpPr>
          <p:cNvPr id="184323" name="Rectangle 2"/>
          <p:cNvSpPr>
            <a:spLocks noGrp="1" noRot="1" noChangeAspect="1" noChangeArrowheads="1" noTextEdit="1"/>
          </p:cNvSpPr>
          <p:nvPr>
            <p:ph type="sldImg"/>
          </p:nvPr>
        </p:nvSpPr>
        <p:spPr>
          <a:xfrm>
            <a:off x="2871788" y="455613"/>
            <a:ext cx="3049587" cy="2287587"/>
          </a:xfrm>
        </p:spPr>
      </p:sp>
      <p:sp>
        <p:nvSpPr>
          <p:cNvPr id="184324" name="Rectangle 3"/>
          <p:cNvSpPr>
            <a:spLocks noGrp="1" noChangeArrowheads="1"/>
          </p:cNvSpPr>
          <p:nvPr>
            <p:ph type="body" idx="1"/>
          </p:nvPr>
        </p:nvSpPr>
        <p:spPr>
          <a:xfrm>
            <a:off x="1173163" y="2895600"/>
            <a:ext cx="6446837" cy="27447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7"/>
          <p:cNvSpPr>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indent="0" algn="r"/>
            <a:r>
              <a:rPr lang="zh-CN" altLang="en-US" sz="1100"/>
              <a:t>*</a:t>
            </a:r>
            <a:endParaRPr lang="en-US" altLang="zh-CN" sz="1100"/>
          </a:p>
        </p:txBody>
      </p:sp>
      <p:sp>
        <p:nvSpPr>
          <p:cNvPr id="80898" name="Rectangle 2"/>
          <p:cNvSpPr>
            <a:spLocks noGrp="1" noRot="1" noChangeAspect="1" noTextEdit="1"/>
          </p:cNvSpPr>
          <p:nvPr>
            <p:ph type="sldImg"/>
          </p:nvPr>
        </p:nvSpPr>
        <p:spPr>
          <a:xfrm>
            <a:off x="2871788" y="455613"/>
            <a:ext cx="3049587" cy="2287587"/>
          </a:xfrm>
        </p:spPr>
      </p:sp>
      <p:sp>
        <p:nvSpPr>
          <p:cNvPr id="80899" name="Rectangle 3"/>
          <p:cNvSpPr>
            <a:spLocks noGrp="1"/>
          </p:cNvSpPr>
          <p:nvPr>
            <p:ph type="body"/>
          </p:nvPr>
        </p:nvSpPr>
        <p:spPr>
          <a:xfrm>
            <a:off x="1173163" y="2895600"/>
            <a:ext cx="6446837" cy="2744788"/>
          </a:xfrm>
        </p:spPr>
        <p:txBody>
          <a:bodyPr wrap="square" lIns="91440" tIns="45720" rIns="91440" bIns="45720" anchor="t" anchorCtr="0"/>
          <a:lstStyle/>
          <a:p>
            <a:pPr lvl="0"/>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50900">
              <a:defRPr sz="2400" b="1">
                <a:solidFill>
                  <a:schemeClr val="tx1"/>
                </a:solidFill>
                <a:latin typeface="Times New Roman" panose="02020603050405020304" pitchFamily="18" charset="0"/>
                <a:ea typeface="宋体" panose="02010600030101010101" pitchFamily="2" charset="-122"/>
              </a:defRPr>
            </a:lvl1pPr>
            <a:lvl2pPr marL="742950" indent="-285750" defTabSz="850900">
              <a:defRPr sz="2400" b="1">
                <a:solidFill>
                  <a:schemeClr val="tx1"/>
                </a:solidFill>
                <a:latin typeface="Times New Roman" panose="02020603050405020304" pitchFamily="18" charset="0"/>
                <a:ea typeface="宋体" panose="02010600030101010101" pitchFamily="2" charset="-122"/>
              </a:defRPr>
            </a:lvl2pPr>
            <a:lvl3pPr marL="1143000" indent="-228600" defTabSz="850900">
              <a:defRPr sz="2400" b="1">
                <a:solidFill>
                  <a:schemeClr val="tx1"/>
                </a:solidFill>
                <a:latin typeface="Times New Roman" panose="02020603050405020304" pitchFamily="18" charset="0"/>
                <a:ea typeface="宋体" panose="02010600030101010101" pitchFamily="2" charset="-122"/>
              </a:defRPr>
            </a:lvl3pPr>
            <a:lvl4pPr marL="1600200" indent="-228600" defTabSz="850900">
              <a:defRPr sz="2400" b="1">
                <a:solidFill>
                  <a:schemeClr val="tx1"/>
                </a:solidFill>
                <a:latin typeface="Times New Roman" panose="02020603050405020304" pitchFamily="18" charset="0"/>
                <a:ea typeface="宋体" panose="02010600030101010101" pitchFamily="2" charset="-122"/>
              </a:defRPr>
            </a:lvl4pPr>
            <a:lvl5pPr marL="2057400" indent="-228600" defTabSz="850900">
              <a:defRPr sz="2400" b="1">
                <a:solidFill>
                  <a:schemeClr val="tx1"/>
                </a:solidFill>
                <a:latin typeface="Times New Roman" panose="02020603050405020304" pitchFamily="18" charset="0"/>
                <a:ea typeface="宋体" panose="02010600030101010101" pitchFamily="2" charset="-122"/>
              </a:defRPr>
            </a:lvl5pPr>
            <a:lvl6pPr marL="2514600" indent="-228600" defTabSz="8509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defTabSz="8509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defTabSz="8509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defTabSz="8509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fld id="{467E320F-373A-4957-9F81-A2946E007CE5}" type="slidenum">
              <a:rPr lang="zh-CN" altLang="en-US" sz="1100" b="0"/>
            </a:fld>
            <a:endParaRPr lang="en-US" altLang="zh-CN" sz="1100" b="0"/>
          </a:p>
        </p:txBody>
      </p:sp>
      <p:sp>
        <p:nvSpPr>
          <p:cNvPr id="186371" name="Rectangle 2"/>
          <p:cNvSpPr>
            <a:spLocks noGrp="1" noRot="1" noChangeAspect="1" noChangeArrowheads="1" noTextEdit="1"/>
          </p:cNvSpPr>
          <p:nvPr>
            <p:ph type="sldImg"/>
          </p:nvPr>
        </p:nvSpPr>
        <p:spPr>
          <a:xfrm>
            <a:off x="2871788" y="455613"/>
            <a:ext cx="3049587" cy="2287587"/>
          </a:xfrm>
        </p:spPr>
      </p:sp>
      <p:sp>
        <p:nvSpPr>
          <p:cNvPr id="186372" name="Rectangle 3"/>
          <p:cNvSpPr>
            <a:spLocks noGrp="1" noChangeArrowheads="1"/>
          </p:cNvSpPr>
          <p:nvPr>
            <p:ph type="body" idx="1"/>
          </p:nvPr>
        </p:nvSpPr>
        <p:spPr>
          <a:xfrm>
            <a:off x="1173163" y="2895600"/>
            <a:ext cx="6446837" cy="27447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50900">
              <a:defRPr sz="2400" b="1">
                <a:solidFill>
                  <a:schemeClr val="tx1"/>
                </a:solidFill>
                <a:latin typeface="Times New Roman" panose="02020603050405020304" pitchFamily="18" charset="0"/>
                <a:ea typeface="宋体" panose="02010600030101010101" pitchFamily="2" charset="-122"/>
              </a:defRPr>
            </a:lvl1pPr>
            <a:lvl2pPr marL="742950" indent="-285750" defTabSz="850900">
              <a:defRPr sz="2400" b="1">
                <a:solidFill>
                  <a:schemeClr val="tx1"/>
                </a:solidFill>
                <a:latin typeface="Times New Roman" panose="02020603050405020304" pitchFamily="18" charset="0"/>
                <a:ea typeface="宋体" panose="02010600030101010101" pitchFamily="2" charset="-122"/>
              </a:defRPr>
            </a:lvl2pPr>
            <a:lvl3pPr marL="1143000" indent="-228600" defTabSz="850900">
              <a:defRPr sz="2400" b="1">
                <a:solidFill>
                  <a:schemeClr val="tx1"/>
                </a:solidFill>
                <a:latin typeface="Times New Roman" panose="02020603050405020304" pitchFamily="18" charset="0"/>
                <a:ea typeface="宋体" panose="02010600030101010101" pitchFamily="2" charset="-122"/>
              </a:defRPr>
            </a:lvl3pPr>
            <a:lvl4pPr marL="1600200" indent="-228600" defTabSz="850900">
              <a:defRPr sz="2400" b="1">
                <a:solidFill>
                  <a:schemeClr val="tx1"/>
                </a:solidFill>
                <a:latin typeface="Times New Roman" panose="02020603050405020304" pitchFamily="18" charset="0"/>
                <a:ea typeface="宋体" panose="02010600030101010101" pitchFamily="2" charset="-122"/>
              </a:defRPr>
            </a:lvl4pPr>
            <a:lvl5pPr marL="2057400" indent="-228600" defTabSz="850900">
              <a:defRPr sz="2400" b="1">
                <a:solidFill>
                  <a:schemeClr val="tx1"/>
                </a:solidFill>
                <a:latin typeface="Times New Roman" panose="02020603050405020304" pitchFamily="18" charset="0"/>
                <a:ea typeface="宋体" panose="02010600030101010101" pitchFamily="2" charset="-122"/>
              </a:defRPr>
            </a:lvl5pPr>
            <a:lvl6pPr marL="2514600" indent="-228600" defTabSz="8509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defTabSz="8509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defTabSz="8509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defTabSz="8509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fld id="{53A5518C-06D5-49BA-93D4-98B42AEBA49F}" type="slidenum">
              <a:rPr lang="zh-CN" altLang="en-US" sz="1100" b="0"/>
            </a:fld>
            <a:endParaRPr lang="en-US" altLang="zh-CN" sz="1100" b="0"/>
          </a:p>
        </p:txBody>
      </p:sp>
      <p:sp>
        <p:nvSpPr>
          <p:cNvPr id="188419" name="Rectangle 2"/>
          <p:cNvSpPr>
            <a:spLocks noGrp="1" noRot="1" noChangeAspect="1" noChangeArrowheads="1" noTextEdit="1"/>
          </p:cNvSpPr>
          <p:nvPr>
            <p:ph type="sldImg"/>
          </p:nvPr>
        </p:nvSpPr>
        <p:spPr>
          <a:xfrm>
            <a:off x="2871788" y="455613"/>
            <a:ext cx="3049587" cy="2287587"/>
          </a:xfrm>
        </p:spPr>
      </p:sp>
      <p:sp>
        <p:nvSpPr>
          <p:cNvPr id="188420" name="Rectangle 3"/>
          <p:cNvSpPr>
            <a:spLocks noGrp="1" noChangeArrowheads="1"/>
          </p:cNvSpPr>
          <p:nvPr>
            <p:ph type="body" idx="1"/>
          </p:nvPr>
        </p:nvSpPr>
        <p:spPr>
          <a:xfrm>
            <a:off x="1173163" y="2895600"/>
            <a:ext cx="6446837" cy="27447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50900">
              <a:defRPr sz="2400" b="1">
                <a:solidFill>
                  <a:schemeClr val="tx1"/>
                </a:solidFill>
                <a:latin typeface="Times New Roman" panose="02020603050405020304" pitchFamily="18" charset="0"/>
                <a:ea typeface="宋体" panose="02010600030101010101" pitchFamily="2" charset="-122"/>
              </a:defRPr>
            </a:lvl1pPr>
            <a:lvl2pPr marL="742950" indent="-285750" defTabSz="850900">
              <a:defRPr sz="2400" b="1">
                <a:solidFill>
                  <a:schemeClr val="tx1"/>
                </a:solidFill>
                <a:latin typeface="Times New Roman" panose="02020603050405020304" pitchFamily="18" charset="0"/>
                <a:ea typeface="宋体" panose="02010600030101010101" pitchFamily="2" charset="-122"/>
              </a:defRPr>
            </a:lvl2pPr>
            <a:lvl3pPr marL="1143000" indent="-228600" defTabSz="850900">
              <a:defRPr sz="2400" b="1">
                <a:solidFill>
                  <a:schemeClr val="tx1"/>
                </a:solidFill>
                <a:latin typeface="Times New Roman" panose="02020603050405020304" pitchFamily="18" charset="0"/>
                <a:ea typeface="宋体" panose="02010600030101010101" pitchFamily="2" charset="-122"/>
              </a:defRPr>
            </a:lvl3pPr>
            <a:lvl4pPr marL="1600200" indent="-228600" defTabSz="850900">
              <a:defRPr sz="2400" b="1">
                <a:solidFill>
                  <a:schemeClr val="tx1"/>
                </a:solidFill>
                <a:latin typeface="Times New Roman" panose="02020603050405020304" pitchFamily="18" charset="0"/>
                <a:ea typeface="宋体" panose="02010600030101010101" pitchFamily="2" charset="-122"/>
              </a:defRPr>
            </a:lvl4pPr>
            <a:lvl5pPr marL="2057400" indent="-228600" defTabSz="850900">
              <a:defRPr sz="2400" b="1">
                <a:solidFill>
                  <a:schemeClr val="tx1"/>
                </a:solidFill>
                <a:latin typeface="Times New Roman" panose="02020603050405020304" pitchFamily="18" charset="0"/>
                <a:ea typeface="宋体" panose="02010600030101010101" pitchFamily="2" charset="-122"/>
              </a:defRPr>
            </a:lvl5pPr>
            <a:lvl6pPr marL="2514600" indent="-228600" defTabSz="8509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defTabSz="8509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defTabSz="8509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defTabSz="8509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fld id="{BF0FD7A9-1E9A-4480-8E97-1CEED25D3368}" type="slidenum">
              <a:rPr lang="zh-CN" altLang="en-US" sz="1100" b="0"/>
            </a:fld>
            <a:endParaRPr lang="en-US" altLang="zh-CN" sz="1100" b="0"/>
          </a:p>
        </p:txBody>
      </p:sp>
      <p:sp>
        <p:nvSpPr>
          <p:cNvPr id="190467" name="Rectangle 2"/>
          <p:cNvSpPr>
            <a:spLocks noGrp="1" noRot="1" noChangeAspect="1" noChangeArrowheads="1" noTextEdit="1"/>
          </p:cNvSpPr>
          <p:nvPr>
            <p:ph type="sldImg"/>
          </p:nvPr>
        </p:nvSpPr>
        <p:spPr/>
      </p:sp>
      <p:sp>
        <p:nvSpPr>
          <p:cNvPr id="19046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50900">
              <a:defRPr sz="2400" b="1">
                <a:solidFill>
                  <a:schemeClr val="tx1"/>
                </a:solidFill>
                <a:latin typeface="Times New Roman" panose="02020603050405020304" pitchFamily="18" charset="0"/>
                <a:ea typeface="宋体" panose="02010600030101010101" pitchFamily="2" charset="-122"/>
              </a:defRPr>
            </a:lvl1pPr>
            <a:lvl2pPr marL="742950" indent="-285750" defTabSz="850900">
              <a:defRPr sz="2400" b="1">
                <a:solidFill>
                  <a:schemeClr val="tx1"/>
                </a:solidFill>
                <a:latin typeface="Times New Roman" panose="02020603050405020304" pitchFamily="18" charset="0"/>
                <a:ea typeface="宋体" panose="02010600030101010101" pitchFamily="2" charset="-122"/>
              </a:defRPr>
            </a:lvl2pPr>
            <a:lvl3pPr marL="1143000" indent="-228600" defTabSz="850900">
              <a:defRPr sz="2400" b="1">
                <a:solidFill>
                  <a:schemeClr val="tx1"/>
                </a:solidFill>
                <a:latin typeface="Times New Roman" panose="02020603050405020304" pitchFamily="18" charset="0"/>
                <a:ea typeface="宋体" panose="02010600030101010101" pitchFamily="2" charset="-122"/>
              </a:defRPr>
            </a:lvl3pPr>
            <a:lvl4pPr marL="1600200" indent="-228600" defTabSz="850900">
              <a:defRPr sz="2400" b="1">
                <a:solidFill>
                  <a:schemeClr val="tx1"/>
                </a:solidFill>
                <a:latin typeface="Times New Roman" panose="02020603050405020304" pitchFamily="18" charset="0"/>
                <a:ea typeface="宋体" panose="02010600030101010101" pitchFamily="2" charset="-122"/>
              </a:defRPr>
            </a:lvl4pPr>
            <a:lvl5pPr marL="2057400" indent="-228600" defTabSz="850900">
              <a:defRPr sz="2400" b="1">
                <a:solidFill>
                  <a:schemeClr val="tx1"/>
                </a:solidFill>
                <a:latin typeface="Times New Roman" panose="02020603050405020304" pitchFamily="18" charset="0"/>
                <a:ea typeface="宋体" panose="02010600030101010101" pitchFamily="2" charset="-122"/>
              </a:defRPr>
            </a:lvl5pPr>
            <a:lvl6pPr marL="2514600" indent="-228600" defTabSz="8509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defTabSz="8509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defTabSz="8509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defTabSz="8509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fld id="{D6DE3C82-9B9A-48EB-979A-9407A8668C25}" type="slidenum">
              <a:rPr lang="zh-CN" altLang="en-US" sz="1100" b="0"/>
            </a:fld>
            <a:endParaRPr lang="en-US" altLang="zh-CN" sz="1100" b="0"/>
          </a:p>
        </p:txBody>
      </p:sp>
      <p:sp>
        <p:nvSpPr>
          <p:cNvPr id="192515" name="Rectangle 2"/>
          <p:cNvSpPr>
            <a:spLocks noGrp="1" noRot="1" noChangeAspect="1" noChangeArrowheads="1" noTextEdit="1"/>
          </p:cNvSpPr>
          <p:nvPr>
            <p:ph type="sldImg"/>
          </p:nvPr>
        </p:nvSpPr>
        <p:spPr>
          <a:xfrm>
            <a:off x="2871788" y="455613"/>
            <a:ext cx="3049587" cy="2287587"/>
          </a:xfrm>
        </p:spPr>
      </p:sp>
      <p:sp>
        <p:nvSpPr>
          <p:cNvPr id="192516" name="Rectangle 3"/>
          <p:cNvSpPr>
            <a:spLocks noGrp="1" noChangeArrowheads="1"/>
          </p:cNvSpPr>
          <p:nvPr>
            <p:ph type="body" idx="1"/>
          </p:nvPr>
        </p:nvSpPr>
        <p:spPr>
          <a:xfrm>
            <a:off x="1173163" y="2895600"/>
            <a:ext cx="6446837" cy="27447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50900">
              <a:defRPr sz="2400" b="1">
                <a:solidFill>
                  <a:schemeClr val="tx1"/>
                </a:solidFill>
                <a:latin typeface="Times New Roman" panose="02020603050405020304" pitchFamily="18" charset="0"/>
                <a:ea typeface="宋体" panose="02010600030101010101" pitchFamily="2" charset="-122"/>
              </a:defRPr>
            </a:lvl1pPr>
            <a:lvl2pPr marL="742950" indent="-285750" defTabSz="850900">
              <a:defRPr sz="2400" b="1">
                <a:solidFill>
                  <a:schemeClr val="tx1"/>
                </a:solidFill>
                <a:latin typeface="Times New Roman" panose="02020603050405020304" pitchFamily="18" charset="0"/>
                <a:ea typeface="宋体" panose="02010600030101010101" pitchFamily="2" charset="-122"/>
              </a:defRPr>
            </a:lvl2pPr>
            <a:lvl3pPr marL="1143000" indent="-228600" defTabSz="850900">
              <a:defRPr sz="2400" b="1">
                <a:solidFill>
                  <a:schemeClr val="tx1"/>
                </a:solidFill>
                <a:latin typeface="Times New Roman" panose="02020603050405020304" pitchFamily="18" charset="0"/>
                <a:ea typeface="宋体" panose="02010600030101010101" pitchFamily="2" charset="-122"/>
              </a:defRPr>
            </a:lvl3pPr>
            <a:lvl4pPr marL="1600200" indent="-228600" defTabSz="850900">
              <a:defRPr sz="2400" b="1">
                <a:solidFill>
                  <a:schemeClr val="tx1"/>
                </a:solidFill>
                <a:latin typeface="Times New Roman" panose="02020603050405020304" pitchFamily="18" charset="0"/>
                <a:ea typeface="宋体" panose="02010600030101010101" pitchFamily="2" charset="-122"/>
              </a:defRPr>
            </a:lvl4pPr>
            <a:lvl5pPr marL="2057400" indent="-228600" defTabSz="850900">
              <a:defRPr sz="2400" b="1">
                <a:solidFill>
                  <a:schemeClr val="tx1"/>
                </a:solidFill>
                <a:latin typeface="Times New Roman" panose="02020603050405020304" pitchFamily="18" charset="0"/>
                <a:ea typeface="宋体" panose="02010600030101010101" pitchFamily="2" charset="-122"/>
              </a:defRPr>
            </a:lvl5pPr>
            <a:lvl6pPr marL="2514600" indent="-228600" defTabSz="8509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defTabSz="8509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defTabSz="8509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defTabSz="8509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fld id="{DFCBCDD1-A58A-4729-8E92-F3E9D7A259CA}" type="slidenum">
              <a:rPr lang="zh-CN" altLang="en-US" sz="1100" b="0"/>
            </a:fld>
            <a:endParaRPr lang="en-US" altLang="zh-CN" sz="1100" b="0"/>
          </a:p>
        </p:txBody>
      </p:sp>
      <p:sp>
        <p:nvSpPr>
          <p:cNvPr id="194563" name="Rectangle 2"/>
          <p:cNvSpPr>
            <a:spLocks noGrp="1" noRot="1" noChangeAspect="1" noChangeArrowheads="1" noTextEdit="1"/>
          </p:cNvSpPr>
          <p:nvPr>
            <p:ph type="sldImg"/>
          </p:nvPr>
        </p:nvSpPr>
        <p:spPr>
          <a:xfrm>
            <a:off x="2871788" y="455613"/>
            <a:ext cx="3049587" cy="2287587"/>
          </a:xfrm>
        </p:spPr>
      </p:sp>
      <p:sp>
        <p:nvSpPr>
          <p:cNvPr id="194564" name="Rectangle 3"/>
          <p:cNvSpPr>
            <a:spLocks noGrp="1" noChangeArrowheads="1"/>
          </p:cNvSpPr>
          <p:nvPr>
            <p:ph type="body" idx="1"/>
          </p:nvPr>
        </p:nvSpPr>
        <p:spPr>
          <a:xfrm>
            <a:off x="1173163" y="2895600"/>
            <a:ext cx="6446837" cy="27447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50900">
              <a:defRPr sz="2400" b="1">
                <a:solidFill>
                  <a:schemeClr val="tx1"/>
                </a:solidFill>
                <a:latin typeface="Times New Roman" panose="02020603050405020304" pitchFamily="18" charset="0"/>
                <a:ea typeface="宋体" panose="02010600030101010101" pitchFamily="2" charset="-122"/>
              </a:defRPr>
            </a:lvl1pPr>
            <a:lvl2pPr marL="742950" indent="-285750" defTabSz="850900">
              <a:defRPr sz="2400" b="1">
                <a:solidFill>
                  <a:schemeClr val="tx1"/>
                </a:solidFill>
                <a:latin typeface="Times New Roman" panose="02020603050405020304" pitchFamily="18" charset="0"/>
                <a:ea typeface="宋体" panose="02010600030101010101" pitchFamily="2" charset="-122"/>
              </a:defRPr>
            </a:lvl2pPr>
            <a:lvl3pPr marL="1143000" indent="-228600" defTabSz="850900">
              <a:defRPr sz="2400" b="1">
                <a:solidFill>
                  <a:schemeClr val="tx1"/>
                </a:solidFill>
                <a:latin typeface="Times New Roman" panose="02020603050405020304" pitchFamily="18" charset="0"/>
                <a:ea typeface="宋体" panose="02010600030101010101" pitchFamily="2" charset="-122"/>
              </a:defRPr>
            </a:lvl3pPr>
            <a:lvl4pPr marL="1600200" indent="-228600" defTabSz="850900">
              <a:defRPr sz="2400" b="1">
                <a:solidFill>
                  <a:schemeClr val="tx1"/>
                </a:solidFill>
                <a:latin typeface="Times New Roman" panose="02020603050405020304" pitchFamily="18" charset="0"/>
                <a:ea typeface="宋体" panose="02010600030101010101" pitchFamily="2" charset="-122"/>
              </a:defRPr>
            </a:lvl4pPr>
            <a:lvl5pPr marL="2057400" indent="-228600" defTabSz="850900">
              <a:defRPr sz="2400" b="1">
                <a:solidFill>
                  <a:schemeClr val="tx1"/>
                </a:solidFill>
                <a:latin typeface="Times New Roman" panose="02020603050405020304" pitchFamily="18" charset="0"/>
                <a:ea typeface="宋体" panose="02010600030101010101" pitchFamily="2" charset="-122"/>
              </a:defRPr>
            </a:lvl5pPr>
            <a:lvl6pPr marL="2514600" indent="-228600" defTabSz="8509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defTabSz="8509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defTabSz="8509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defTabSz="8509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fld id="{D064BAB0-BA7E-4741-9288-E3C119EF83EF}" type="slidenum">
              <a:rPr lang="zh-CN" altLang="en-US" sz="1100" b="0"/>
            </a:fld>
            <a:endParaRPr lang="en-US" altLang="zh-CN" sz="1100" b="0"/>
          </a:p>
        </p:txBody>
      </p:sp>
      <p:sp>
        <p:nvSpPr>
          <p:cNvPr id="196611" name="Rectangle 2"/>
          <p:cNvSpPr>
            <a:spLocks noGrp="1" noRot="1" noChangeAspect="1" noChangeArrowheads="1" noTextEdit="1"/>
          </p:cNvSpPr>
          <p:nvPr>
            <p:ph type="sldImg"/>
          </p:nvPr>
        </p:nvSpPr>
        <p:spPr>
          <a:xfrm>
            <a:off x="2873375" y="458788"/>
            <a:ext cx="3046413" cy="2284412"/>
          </a:xfrm>
        </p:spPr>
      </p:sp>
      <p:sp>
        <p:nvSpPr>
          <p:cNvPr id="196612" name="Rectangle 3"/>
          <p:cNvSpPr>
            <a:spLocks noGrp="1" noChangeArrowheads="1"/>
          </p:cNvSpPr>
          <p:nvPr>
            <p:ph type="body" idx="1"/>
          </p:nvPr>
        </p:nvSpPr>
        <p:spPr>
          <a:xfrm>
            <a:off x="1173163" y="2895600"/>
            <a:ext cx="6446837" cy="27416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50900">
              <a:defRPr sz="2400" b="1">
                <a:solidFill>
                  <a:schemeClr val="tx1"/>
                </a:solidFill>
                <a:latin typeface="Times New Roman" panose="02020603050405020304" pitchFamily="18" charset="0"/>
                <a:ea typeface="宋体" panose="02010600030101010101" pitchFamily="2" charset="-122"/>
              </a:defRPr>
            </a:lvl1pPr>
            <a:lvl2pPr marL="742950" indent="-285750" defTabSz="850900">
              <a:defRPr sz="2400" b="1">
                <a:solidFill>
                  <a:schemeClr val="tx1"/>
                </a:solidFill>
                <a:latin typeface="Times New Roman" panose="02020603050405020304" pitchFamily="18" charset="0"/>
                <a:ea typeface="宋体" panose="02010600030101010101" pitchFamily="2" charset="-122"/>
              </a:defRPr>
            </a:lvl2pPr>
            <a:lvl3pPr marL="1143000" indent="-228600" defTabSz="850900">
              <a:defRPr sz="2400" b="1">
                <a:solidFill>
                  <a:schemeClr val="tx1"/>
                </a:solidFill>
                <a:latin typeface="Times New Roman" panose="02020603050405020304" pitchFamily="18" charset="0"/>
                <a:ea typeface="宋体" panose="02010600030101010101" pitchFamily="2" charset="-122"/>
              </a:defRPr>
            </a:lvl3pPr>
            <a:lvl4pPr marL="1600200" indent="-228600" defTabSz="850900">
              <a:defRPr sz="2400" b="1">
                <a:solidFill>
                  <a:schemeClr val="tx1"/>
                </a:solidFill>
                <a:latin typeface="Times New Roman" panose="02020603050405020304" pitchFamily="18" charset="0"/>
                <a:ea typeface="宋体" panose="02010600030101010101" pitchFamily="2" charset="-122"/>
              </a:defRPr>
            </a:lvl4pPr>
            <a:lvl5pPr marL="2057400" indent="-228600" defTabSz="850900">
              <a:defRPr sz="2400" b="1">
                <a:solidFill>
                  <a:schemeClr val="tx1"/>
                </a:solidFill>
                <a:latin typeface="Times New Roman" panose="02020603050405020304" pitchFamily="18" charset="0"/>
                <a:ea typeface="宋体" panose="02010600030101010101" pitchFamily="2" charset="-122"/>
              </a:defRPr>
            </a:lvl5pPr>
            <a:lvl6pPr marL="2514600" indent="-228600" defTabSz="8509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defTabSz="8509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defTabSz="8509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defTabSz="8509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fld id="{B804D682-E802-4619-917D-1F8C04947F0F}" type="slidenum">
              <a:rPr lang="zh-CN" altLang="en-US" sz="1100" b="0"/>
            </a:fld>
            <a:endParaRPr lang="en-US" altLang="zh-CN" sz="1100" b="0"/>
          </a:p>
        </p:txBody>
      </p:sp>
      <p:sp>
        <p:nvSpPr>
          <p:cNvPr id="198659" name="Rectangle 2"/>
          <p:cNvSpPr>
            <a:spLocks noGrp="1" noRot="1" noChangeAspect="1" noChangeArrowheads="1" noTextEdit="1"/>
          </p:cNvSpPr>
          <p:nvPr>
            <p:ph type="sldImg"/>
          </p:nvPr>
        </p:nvSpPr>
        <p:spPr>
          <a:xfrm>
            <a:off x="2873375" y="458788"/>
            <a:ext cx="3046413" cy="2284412"/>
          </a:xfrm>
        </p:spPr>
      </p:sp>
      <p:sp>
        <p:nvSpPr>
          <p:cNvPr id="198660" name="Rectangle 3"/>
          <p:cNvSpPr>
            <a:spLocks noGrp="1" noChangeArrowheads="1"/>
          </p:cNvSpPr>
          <p:nvPr>
            <p:ph type="body" idx="1"/>
          </p:nvPr>
        </p:nvSpPr>
        <p:spPr>
          <a:xfrm>
            <a:off x="1173163" y="2895600"/>
            <a:ext cx="6446837" cy="27416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50900">
              <a:defRPr sz="2400" b="1">
                <a:solidFill>
                  <a:schemeClr val="tx1"/>
                </a:solidFill>
                <a:latin typeface="Times New Roman" panose="02020603050405020304" pitchFamily="18" charset="0"/>
                <a:ea typeface="宋体" panose="02010600030101010101" pitchFamily="2" charset="-122"/>
              </a:defRPr>
            </a:lvl1pPr>
            <a:lvl2pPr marL="742950" indent="-285750" defTabSz="850900">
              <a:defRPr sz="2400" b="1">
                <a:solidFill>
                  <a:schemeClr val="tx1"/>
                </a:solidFill>
                <a:latin typeface="Times New Roman" panose="02020603050405020304" pitchFamily="18" charset="0"/>
                <a:ea typeface="宋体" panose="02010600030101010101" pitchFamily="2" charset="-122"/>
              </a:defRPr>
            </a:lvl2pPr>
            <a:lvl3pPr marL="1143000" indent="-228600" defTabSz="850900">
              <a:defRPr sz="2400" b="1">
                <a:solidFill>
                  <a:schemeClr val="tx1"/>
                </a:solidFill>
                <a:latin typeface="Times New Roman" panose="02020603050405020304" pitchFamily="18" charset="0"/>
                <a:ea typeface="宋体" panose="02010600030101010101" pitchFamily="2" charset="-122"/>
              </a:defRPr>
            </a:lvl3pPr>
            <a:lvl4pPr marL="1600200" indent="-228600" defTabSz="850900">
              <a:defRPr sz="2400" b="1">
                <a:solidFill>
                  <a:schemeClr val="tx1"/>
                </a:solidFill>
                <a:latin typeface="Times New Roman" panose="02020603050405020304" pitchFamily="18" charset="0"/>
                <a:ea typeface="宋体" panose="02010600030101010101" pitchFamily="2" charset="-122"/>
              </a:defRPr>
            </a:lvl4pPr>
            <a:lvl5pPr marL="2057400" indent="-228600" defTabSz="850900">
              <a:defRPr sz="2400" b="1">
                <a:solidFill>
                  <a:schemeClr val="tx1"/>
                </a:solidFill>
                <a:latin typeface="Times New Roman" panose="02020603050405020304" pitchFamily="18" charset="0"/>
                <a:ea typeface="宋体" panose="02010600030101010101" pitchFamily="2" charset="-122"/>
              </a:defRPr>
            </a:lvl5pPr>
            <a:lvl6pPr marL="2514600" indent="-228600" defTabSz="8509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defTabSz="8509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defTabSz="8509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defTabSz="8509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fld id="{170E3B0D-E81C-41CD-A8EE-6D7B86D41CF8}" type="slidenum">
              <a:rPr lang="zh-CN" altLang="en-US" sz="1100" b="0"/>
            </a:fld>
            <a:endParaRPr lang="en-US" altLang="zh-CN" sz="1100" b="0"/>
          </a:p>
        </p:txBody>
      </p:sp>
      <p:sp>
        <p:nvSpPr>
          <p:cNvPr id="200707" name="Rectangle 2"/>
          <p:cNvSpPr>
            <a:spLocks noGrp="1" noRot="1" noChangeAspect="1" noChangeArrowheads="1" noTextEdit="1"/>
          </p:cNvSpPr>
          <p:nvPr>
            <p:ph type="sldImg"/>
          </p:nvPr>
        </p:nvSpPr>
        <p:spPr>
          <a:xfrm>
            <a:off x="2873375" y="458788"/>
            <a:ext cx="3046413" cy="2284412"/>
          </a:xfrm>
        </p:spPr>
      </p:sp>
      <p:sp>
        <p:nvSpPr>
          <p:cNvPr id="200708" name="Rectangle 3"/>
          <p:cNvSpPr>
            <a:spLocks noGrp="1" noChangeArrowheads="1"/>
          </p:cNvSpPr>
          <p:nvPr>
            <p:ph type="body" idx="1"/>
          </p:nvPr>
        </p:nvSpPr>
        <p:spPr>
          <a:xfrm>
            <a:off x="1173163" y="2895600"/>
            <a:ext cx="6446837" cy="27416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50900">
              <a:defRPr sz="2400" b="1">
                <a:solidFill>
                  <a:schemeClr val="tx1"/>
                </a:solidFill>
                <a:latin typeface="Times New Roman" panose="02020603050405020304" pitchFamily="18" charset="0"/>
                <a:ea typeface="宋体" panose="02010600030101010101" pitchFamily="2" charset="-122"/>
              </a:defRPr>
            </a:lvl1pPr>
            <a:lvl2pPr marL="742950" indent="-285750" defTabSz="850900">
              <a:defRPr sz="2400" b="1">
                <a:solidFill>
                  <a:schemeClr val="tx1"/>
                </a:solidFill>
                <a:latin typeface="Times New Roman" panose="02020603050405020304" pitchFamily="18" charset="0"/>
                <a:ea typeface="宋体" panose="02010600030101010101" pitchFamily="2" charset="-122"/>
              </a:defRPr>
            </a:lvl2pPr>
            <a:lvl3pPr marL="1143000" indent="-228600" defTabSz="850900">
              <a:defRPr sz="2400" b="1">
                <a:solidFill>
                  <a:schemeClr val="tx1"/>
                </a:solidFill>
                <a:latin typeface="Times New Roman" panose="02020603050405020304" pitchFamily="18" charset="0"/>
                <a:ea typeface="宋体" panose="02010600030101010101" pitchFamily="2" charset="-122"/>
              </a:defRPr>
            </a:lvl3pPr>
            <a:lvl4pPr marL="1600200" indent="-228600" defTabSz="850900">
              <a:defRPr sz="2400" b="1">
                <a:solidFill>
                  <a:schemeClr val="tx1"/>
                </a:solidFill>
                <a:latin typeface="Times New Roman" panose="02020603050405020304" pitchFamily="18" charset="0"/>
                <a:ea typeface="宋体" panose="02010600030101010101" pitchFamily="2" charset="-122"/>
              </a:defRPr>
            </a:lvl4pPr>
            <a:lvl5pPr marL="2057400" indent="-228600" defTabSz="850900">
              <a:defRPr sz="2400" b="1">
                <a:solidFill>
                  <a:schemeClr val="tx1"/>
                </a:solidFill>
                <a:latin typeface="Times New Roman" panose="02020603050405020304" pitchFamily="18" charset="0"/>
                <a:ea typeface="宋体" panose="02010600030101010101" pitchFamily="2" charset="-122"/>
              </a:defRPr>
            </a:lvl5pPr>
            <a:lvl6pPr marL="2514600" indent="-228600" defTabSz="8509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defTabSz="8509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defTabSz="8509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defTabSz="8509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fld id="{FD91ABF8-8112-464F-AE5B-B095FF5283A2}" type="slidenum">
              <a:rPr lang="zh-CN" altLang="en-US" sz="1100" b="0"/>
            </a:fld>
            <a:endParaRPr lang="en-US" altLang="zh-CN" sz="1100" b="0"/>
          </a:p>
        </p:txBody>
      </p:sp>
      <p:sp>
        <p:nvSpPr>
          <p:cNvPr id="202755" name="Rectangle 2"/>
          <p:cNvSpPr>
            <a:spLocks noGrp="1" noRot="1" noChangeAspect="1" noChangeArrowheads="1" noTextEdit="1"/>
          </p:cNvSpPr>
          <p:nvPr>
            <p:ph type="sldImg"/>
          </p:nvPr>
        </p:nvSpPr>
        <p:spPr>
          <a:xfrm>
            <a:off x="2873375" y="458788"/>
            <a:ext cx="3046413" cy="2284412"/>
          </a:xfrm>
        </p:spPr>
      </p:sp>
      <p:sp>
        <p:nvSpPr>
          <p:cNvPr id="202756" name="Rectangle 3"/>
          <p:cNvSpPr>
            <a:spLocks noGrp="1" noChangeArrowheads="1"/>
          </p:cNvSpPr>
          <p:nvPr>
            <p:ph type="body" idx="1"/>
          </p:nvPr>
        </p:nvSpPr>
        <p:spPr>
          <a:xfrm>
            <a:off x="1173163" y="2895600"/>
            <a:ext cx="6446837" cy="27416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Rot="1" noChangeAspect="1" noTextEdit="1"/>
          </p:cNvSpPr>
          <p:nvPr>
            <p:ph type="sldImg"/>
          </p:nvPr>
        </p:nvSpPr>
        <p:spPr>
          <a:xfrm>
            <a:off x="917575" y="744538"/>
            <a:ext cx="4962525" cy="3722687"/>
          </a:xfrm>
        </p:spPr>
      </p:sp>
      <p:sp>
        <p:nvSpPr>
          <p:cNvPr id="112643" name="Rectangle 3"/>
          <p:cNvSpPr>
            <a:spLocks noGrp="1"/>
          </p:cNvSpPr>
          <p:nvPr>
            <p:ph type="body" idx="1"/>
          </p:nvPr>
        </p:nvSpPr>
        <p:spPr>
          <a:xfrm>
            <a:off x="906463" y="4714875"/>
            <a:ext cx="4984750" cy="4467225"/>
          </a:xfrm>
        </p:spPr>
        <p:txBody>
          <a:bodyPr wrap="square" lIns="95556" tIns="47778" rIns="95556" bIns="47778" anchor="t"/>
          <a:lstStyle/>
          <a:p>
            <a:pPr lvl="0"/>
            <a:r>
              <a:rPr lang="zh-CN" altLang="en-US" dirty="0"/>
              <a:t>基本操作必须具有这样的特性： 完成该操作所需时间与操作数的具体取值无关。</a:t>
            </a:r>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10" name="直角三角形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标题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lstStyle>
          <a:p>
            <a:r>
              <a:rPr kumimoji="0" lang="zh-CN" altLang="en-US"/>
              <a:t>单击此处编辑母版标题样式</a:t>
            </a:r>
            <a:endParaRPr kumimoji="0" lang="en-US"/>
          </a:p>
        </p:txBody>
      </p:sp>
      <p:sp>
        <p:nvSpPr>
          <p:cNvPr id="17" name="副标题 16"/>
          <p:cNvSpPr>
            <a:spLocks noGrp="1"/>
          </p:cNvSpPr>
          <p:nvPr>
            <p:ph type="subTitle" idx="1"/>
          </p:nvPr>
        </p:nvSpPr>
        <p:spPr>
          <a:xfrm>
            <a:off x="685800" y="3611607"/>
            <a:ext cx="7772400" cy="1199704"/>
          </a:xfrm>
        </p:spPr>
        <p:txBody>
          <a:bodyPr lIns="45720" rIns="45720"/>
          <a:lstStyle>
            <a:lvl1pPr marL="0" marR="64135"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zh-CN" altLang="en-US"/>
              <a:t>单击此处编辑母版副标题样式</a:t>
            </a:r>
            <a:endParaRPr kumimoji="0" lang="en-US"/>
          </a:p>
        </p:txBody>
      </p:sp>
      <p:grpSp>
        <p:nvGrpSpPr>
          <p:cNvPr id="2" name="组合 1"/>
          <p:cNvGrpSpPr/>
          <p:nvPr userDrawn="1"/>
        </p:nvGrpSpPr>
        <p:grpSpPr>
          <a:xfrm>
            <a:off x="-3765" y="4953000"/>
            <a:ext cx="9147765" cy="1912088"/>
            <a:chOff x="-3765" y="4832896"/>
            <a:chExt cx="9147765" cy="2032192"/>
          </a:xfrm>
        </p:grpSpPr>
        <p:sp>
          <p:nvSpPr>
            <p:cNvPr id="7" name="任意多边形 6"/>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任意多边形 7"/>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任意多边形 10"/>
            <p:cNvSpPr/>
            <p:nvPr userDrawn="1"/>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2" name="直接连接符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日期占位符 29"/>
          <p:cNvSpPr>
            <a:spLocks noGrp="1"/>
          </p:cNvSpPr>
          <p:nvPr>
            <p:ph type="dt" sz="half" idx="10"/>
          </p:nvPr>
        </p:nvSpPr>
        <p:spPr/>
        <p:txBody>
          <a:bodyPr/>
          <a:lstStyle>
            <a:lvl1pPr>
              <a:defRPr>
                <a:solidFill>
                  <a:srgbClr val="FFFFFF"/>
                </a:solidFill>
              </a:defRPr>
            </a:lvl1pPr>
          </a:lstStyle>
          <a:p>
            <a:endParaRPr lang="zh-CN" altLang="en-US" dirty="0"/>
          </a:p>
        </p:txBody>
      </p:sp>
      <p:sp>
        <p:nvSpPr>
          <p:cNvPr id="19" name="页脚占位符 18"/>
          <p:cNvSpPr>
            <a:spLocks noGrp="1"/>
          </p:cNvSpPr>
          <p:nvPr>
            <p:ph type="ftr" sz="quarter" idx="11"/>
          </p:nvPr>
        </p:nvSpPr>
        <p:spPr/>
        <p:txBody>
          <a:bodyPr/>
          <a:lstStyle>
            <a:lvl1pPr>
              <a:defRPr>
                <a:solidFill>
                  <a:schemeClr val="accent1">
                    <a:tint val="20000"/>
                  </a:schemeClr>
                </a:solidFill>
              </a:defRPr>
            </a:lvl1pPr>
          </a:lstStyle>
          <a:p>
            <a:endParaRPr lang="zh-CN" altLang="en-US" dirty="0"/>
          </a:p>
        </p:txBody>
      </p:sp>
      <p:sp>
        <p:nvSpPr>
          <p:cNvPr id="27" name="灯片编号占位符 26"/>
          <p:cNvSpPr>
            <a:spLocks noGrp="1"/>
          </p:cNvSpPr>
          <p:nvPr>
            <p:ph type="sldNum" sz="quarter" idx="12"/>
          </p:nvPr>
        </p:nvSpPr>
        <p:spPr/>
        <p:txBody>
          <a:bodyPr/>
          <a:lstStyle>
            <a:lvl1pPr>
              <a:defRPr>
                <a:solidFill>
                  <a:srgbClr val="FFFFFF"/>
                </a:solidFill>
              </a:defRPr>
            </a:lvl1pPr>
          </a:lstStyle>
          <a:p>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lvl1pPr>
              <a:spcAft>
                <a:spcPts val="1000"/>
              </a:spcAft>
              <a:defRPr>
                <a:solidFill>
                  <a:schemeClr val="tx2">
                    <a:lumMod val="75000"/>
                  </a:schemeClr>
                </a:solidFill>
                <a:latin typeface="华文楷体" panose="02010600040101010101" charset="-122"/>
                <a:ea typeface="华文楷体" panose="02010600040101010101" charset="-122"/>
              </a:defRPr>
            </a:lvl1pPr>
            <a:lvl2pPr>
              <a:spcAft>
                <a:spcPts val="1000"/>
              </a:spcAft>
              <a:defRPr>
                <a:solidFill>
                  <a:schemeClr val="tx2">
                    <a:lumMod val="75000"/>
                  </a:schemeClr>
                </a:solidFill>
                <a:latin typeface="华文楷体" panose="02010600040101010101" charset="-122"/>
                <a:ea typeface="华文楷体" panose="02010600040101010101" charset="-122"/>
              </a:defRPr>
            </a:lvl2pPr>
            <a:lvl3pPr>
              <a:spcAft>
                <a:spcPts val="1000"/>
              </a:spcAft>
              <a:defRPr>
                <a:solidFill>
                  <a:schemeClr val="tx2">
                    <a:lumMod val="75000"/>
                  </a:schemeClr>
                </a:solidFill>
                <a:latin typeface="华文楷体" panose="02010600040101010101" charset="-122"/>
                <a:ea typeface="华文楷体" panose="02010600040101010101" charset="-122"/>
              </a:defRPr>
            </a:lvl3pPr>
          </a:lstStyle>
          <a:p>
            <a:pPr lvl="0" eaLnBrk="1" latinLnBrk="0" hangingPunct="1"/>
            <a:r>
              <a:rPr lang="zh-CN" altLang="en-US" dirty="0"/>
              <a:t>单击此处编辑母版文本样式</a:t>
            </a:r>
            <a:endParaRPr lang="zh-CN" altLang="en-US" dirty="0"/>
          </a:p>
          <a:p>
            <a:pPr lvl="1" eaLnBrk="1" latinLnBrk="0" hangingPunct="1"/>
            <a:r>
              <a:rPr lang="zh-CN" altLang="en-US" dirty="0"/>
              <a:t>第二级</a:t>
            </a:r>
            <a:endParaRPr lang="zh-CN" altLang="en-US" dirty="0"/>
          </a:p>
          <a:p>
            <a:pPr lvl="2" eaLnBrk="1" latinLnBrk="0" hangingPunct="1"/>
            <a:r>
              <a:rPr lang="zh-CN" altLang="en-US"/>
              <a:t>第三级</a:t>
            </a:r>
            <a:endParaRPr lang="zh-CN" altLang="en-US" dirty="0"/>
          </a:p>
        </p:txBody>
      </p:sp>
      <p:sp>
        <p:nvSpPr>
          <p:cNvPr id="4" name="日期占位符 3"/>
          <p:cNvSpPr>
            <a:spLocks noGrp="1"/>
          </p:cNvSpPr>
          <p:nvPr>
            <p:ph type="dt" sz="half" idx="10"/>
          </p:nvPr>
        </p:nvSpPr>
        <p:spPr>
          <a:xfrm>
            <a:off x="323528" y="6400482"/>
            <a:ext cx="2520280" cy="365760"/>
          </a:xfrm>
        </p:spPr>
        <p:txBody>
          <a:bodyPr/>
          <a:lstStyle/>
          <a:p>
            <a:r>
              <a:rPr lang="en-US" altLang="zh-CN"/>
              <a:t>Data Structures and algorithms</a:t>
            </a:r>
            <a:endParaRPr lang="zh-CN" altLang="en-US"/>
          </a:p>
        </p:txBody>
      </p:sp>
      <p:sp>
        <p:nvSpPr>
          <p:cNvPr id="5" name="页脚占位符 4"/>
          <p:cNvSpPr>
            <a:spLocks noGrp="1"/>
          </p:cNvSpPr>
          <p:nvPr>
            <p:ph type="ftr" sz="quarter" idx="11"/>
          </p:nvPr>
        </p:nvSpPr>
        <p:spPr>
          <a:xfrm>
            <a:off x="3570447" y="6408579"/>
            <a:ext cx="2801753" cy="365125"/>
          </a:xfrm>
        </p:spPr>
        <p:txBody>
          <a:bodyPr/>
          <a:lstStyle/>
          <a:p>
            <a:r>
              <a:rPr lang="en-US" altLang="zh-CN" dirty="0"/>
              <a:t>Software College Northeastern University</a:t>
            </a:r>
            <a:endParaRPr lang="zh-CN" altLang="en-US" dirty="0"/>
          </a:p>
        </p:txBody>
      </p:sp>
      <p:sp>
        <p:nvSpPr>
          <p:cNvPr id="6" name="灯片编号占位符 5"/>
          <p:cNvSpPr>
            <a:spLocks noGrp="1"/>
          </p:cNvSpPr>
          <p:nvPr>
            <p:ph type="sldNum" sz="quarter" idx="12"/>
          </p:nvPr>
        </p:nvSpPr>
        <p:spPr>
          <a:xfrm>
            <a:off x="8084185" y="6407785"/>
            <a:ext cx="929005" cy="365125"/>
          </a:xfrm>
        </p:spPr>
        <p:txBody>
          <a:bodyPr/>
          <a:lstStyle/>
          <a:p>
            <a:fld id="{6E1C0148-8E4B-4B2F-95CE-20B4709700AE}" type="slidenum">
              <a:rPr lang="zh-CN" altLang="en-US" smtClean="0"/>
            </a:fld>
            <a:endParaRPr lang="zh-CN" altLang="en-US" dirty="0"/>
          </a:p>
        </p:txBody>
      </p:sp>
      <p:sp>
        <p:nvSpPr>
          <p:cNvPr id="7" name="标题 6"/>
          <p:cNvSpPr>
            <a:spLocks noGrp="1"/>
          </p:cNvSpPr>
          <p:nvPr>
            <p:ph type="title"/>
          </p:nvPr>
        </p:nvSpPr>
        <p:spPr/>
        <p:txBody>
          <a:bodyPr rtlCol="0"/>
          <a:lstStyle/>
          <a:p>
            <a:r>
              <a:rPr kumimoji="0" lang="zh-CN" altLang="en-US"/>
              <a:t>单击此处编辑母版标题样式</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Ref idx="1002">
        <a:schemeClr val="bg1"/>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zh-CN" altLang="en-US"/>
              <a:t>单击此处编辑母版文本样式</a:t>
            </a:r>
            <a:endParaRPr kumimoji="0" lang="zh-CN" altLang="en-US"/>
          </a:p>
        </p:txBody>
      </p:sp>
      <p:sp>
        <p:nvSpPr>
          <p:cNvPr id="4" name="日期占位符 3"/>
          <p:cNvSpPr>
            <a:spLocks noGrp="1"/>
          </p:cNvSpPr>
          <p:nvPr>
            <p:ph type="dt" sz="half" idx="10"/>
          </p:nvPr>
        </p:nvSpPr>
        <p:spPr/>
        <p:txBody>
          <a:bodyPr/>
          <a:lstStyle/>
          <a:p>
            <a:r>
              <a:rPr lang="en-US" altLang="zh-CN"/>
              <a:t>Data Structures and algorithms</a:t>
            </a:r>
            <a:endParaRPr lang="zh-CN" altLang="en-US"/>
          </a:p>
        </p:txBody>
      </p:sp>
      <p:sp>
        <p:nvSpPr>
          <p:cNvPr id="5" name="页脚占位符 4"/>
          <p:cNvSpPr>
            <a:spLocks noGrp="1"/>
          </p:cNvSpPr>
          <p:nvPr>
            <p:ph type="ftr" sz="quarter" idx="11"/>
          </p:nvPr>
        </p:nvSpPr>
        <p:spPr/>
        <p:txBody>
          <a:bodyPr/>
          <a:lstStyle/>
          <a:p>
            <a:r>
              <a:rPr lang="en-US" altLang="zh-CN"/>
              <a:t>Software College Northeastern University</a:t>
            </a:r>
            <a:endParaRPr lang="zh-CN" altLang="en-US"/>
          </a:p>
        </p:txBody>
      </p:sp>
      <p:sp>
        <p:nvSpPr>
          <p:cNvPr id="6" name="灯片编号占位符 5"/>
          <p:cNvSpPr>
            <a:spLocks noGrp="1"/>
          </p:cNvSpPr>
          <p:nvPr>
            <p:ph type="sldNum" sz="quarter" idx="12"/>
          </p:nvPr>
        </p:nvSpPr>
        <p:spPr/>
        <p:txBody>
          <a:bodyPr/>
          <a:lstStyle/>
          <a:p>
            <a:fld id="{6E1C0148-8E4B-4B2F-95CE-20B4709700AE}" type="slidenum">
              <a:rPr lang="zh-CN" altLang="en-US" smtClean="0"/>
            </a:fld>
            <a:endParaRPr lang="zh-CN" altLang="en-US"/>
          </a:p>
        </p:txBody>
      </p:sp>
      <p:sp>
        <p:nvSpPr>
          <p:cNvPr id="7" name="燕尾形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8" name="燕尾形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Ref idx="1002">
        <a:schemeClr val="bg1"/>
      </p:bgRef>
    </p:bg>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4" name="内容占位符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r>
              <a:rPr lang="en-US" altLang="zh-CN"/>
              <a:t>Data Structures and algorithms</a:t>
            </a:r>
            <a:endParaRPr lang="zh-CN" altLang="en-US"/>
          </a:p>
        </p:txBody>
      </p:sp>
      <p:sp>
        <p:nvSpPr>
          <p:cNvPr id="6" name="页脚占位符 5"/>
          <p:cNvSpPr>
            <a:spLocks noGrp="1"/>
          </p:cNvSpPr>
          <p:nvPr>
            <p:ph type="ftr" sz="quarter" idx="11"/>
          </p:nvPr>
        </p:nvSpPr>
        <p:spPr/>
        <p:txBody>
          <a:bodyPr/>
          <a:lstStyle/>
          <a:p>
            <a:r>
              <a:rPr lang="en-US" altLang="zh-CN"/>
              <a:t>Software College Northeastern University</a:t>
            </a:r>
            <a:endParaRPr lang="zh-CN" altLang="en-US"/>
          </a:p>
        </p:txBody>
      </p:sp>
      <p:sp>
        <p:nvSpPr>
          <p:cNvPr id="7" name="灯片编号占位符 6"/>
          <p:cNvSpPr>
            <a:spLocks noGrp="1"/>
          </p:cNvSpPr>
          <p:nvPr>
            <p:ph type="sldNum" sz="quarter" idx="12"/>
          </p:nvPr>
        </p:nvSpPr>
        <p:spPr/>
        <p:txBody>
          <a:bodyPr/>
          <a:lstStyle/>
          <a:p>
            <a:fld id="{6E1C0148-8E4B-4B2F-95CE-20B4709700AE}" type="slidenum">
              <a:rPr lang="zh-CN" altLang="en-US" smtClean="0"/>
            </a:fld>
            <a:endParaRPr lang="zh-CN" altLang="en-US"/>
          </a:p>
        </p:txBody>
      </p:sp>
      <p:sp>
        <p:nvSpPr>
          <p:cNvPr id="8" name="标题 7"/>
          <p:cNvSpPr>
            <a:spLocks noGrp="1"/>
          </p:cNvSpPr>
          <p:nvPr>
            <p:ph type="title"/>
          </p:nvPr>
        </p:nvSpPr>
        <p:spPr/>
        <p:txBody>
          <a:bodyPr rtlCol="0"/>
          <a:lstStyle/>
          <a:p>
            <a:r>
              <a:rPr kumimoji="0" lang="zh-CN" altLang="en-US"/>
              <a:t>单击此处编辑母版标题样式</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showMasterSp="0">
  <p:cSld name="比较">
    <p:bg>
      <p:bgRef idx="1003">
        <a:schemeClr val="bg1"/>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8229600" cy="1143000"/>
          </a:xfrm>
        </p:spPr>
        <p:txBody>
          <a:bodyPr anchor="ctr"/>
          <a:lstStyle>
            <a:lvl1pPr>
              <a:defRPr/>
            </a:lvl1p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a:t>单击此处编辑母版文本样式</a:t>
            </a:r>
            <a:endParaRPr kumimoji="0" lang="zh-CN" altLang="en-US"/>
          </a:p>
        </p:txBody>
      </p:sp>
      <p:sp>
        <p:nvSpPr>
          <p:cNvPr id="4" name="文本占位符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a:t>单击此处编辑母版文本样式</a:t>
            </a:r>
            <a:endParaRPr kumimoji="0" lang="zh-CN" altLang="en-US"/>
          </a:p>
        </p:txBody>
      </p:sp>
      <p:sp>
        <p:nvSpPr>
          <p:cNvPr id="5" name="内容占位符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6" name="内容占位符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7" name="日期占位符 6"/>
          <p:cNvSpPr>
            <a:spLocks noGrp="1"/>
          </p:cNvSpPr>
          <p:nvPr>
            <p:ph type="dt" sz="half" idx="10"/>
          </p:nvPr>
        </p:nvSpPr>
        <p:spPr/>
        <p:txBody>
          <a:bodyPr/>
          <a:lstStyle/>
          <a:p>
            <a:r>
              <a:rPr lang="en-US" altLang="zh-CN"/>
              <a:t>Data Structures and algorithms</a:t>
            </a:r>
            <a:endParaRPr lang="zh-CN" altLang="en-US"/>
          </a:p>
        </p:txBody>
      </p:sp>
      <p:sp>
        <p:nvSpPr>
          <p:cNvPr id="8" name="页脚占位符 7"/>
          <p:cNvSpPr>
            <a:spLocks noGrp="1"/>
          </p:cNvSpPr>
          <p:nvPr>
            <p:ph type="ftr" sz="quarter" idx="11"/>
          </p:nvPr>
        </p:nvSpPr>
        <p:spPr/>
        <p:txBody>
          <a:bodyPr/>
          <a:lstStyle/>
          <a:p>
            <a:r>
              <a:rPr lang="en-US" altLang="zh-CN"/>
              <a:t>Software College Northeastern University</a:t>
            </a:r>
            <a:endParaRPr lang="zh-CN" altLang="en-US"/>
          </a:p>
        </p:txBody>
      </p:sp>
      <p:sp>
        <p:nvSpPr>
          <p:cNvPr id="9" name="灯片编号占位符 8"/>
          <p:cNvSpPr>
            <a:spLocks noGrp="1"/>
          </p:cNvSpPr>
          <p:nvPr>
            <p:ph type="sldNum" sz="quarter" idx="12"/>
          </p:nvPr>
        </p:nvSpPr>
        <p:spPr/>
        <p:txBody>
          <a:bodyPr/>
          <a:lstStyle/>
          <a:p>
            <a:fld id="{6E1C0148-8E4B-4B2F-95CE-20B4709700AE}" type="slidenum">
              <a:rPr lang="zh-CN" altLang="en-US" smtClean="0"/>
            </a:fld>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Ref idx="1002">
        <a:schemeClr val="bg1"/>
      </p:bgRef>
    </p:bg>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r>
              <a:rPr lang="en-US" altLang="zh-CN"/>
              <a:t>Data Structures and algorithms</a:t>
            </a:r>
            <a:endParaRPr lang="zh-CN" altLang="en-US"/>
          </a:p>
        </p:txBody>
      </p:sp>
      <p:sp>
        <p:nvSpPr>
          <p:cNvPr id="4" name="页脚占位符 3"/>
          <p:cNvSpPr>
            <a:spLocks noGrp="1"/>
          </p:cNvSpPr>
          <p:nvPr>
            <p:ph type="ftr" sz="quarter" idx="11"/>
          </p:nvPr>
        </p:nvSpPr>
        <p:spPr/>
        <p:txBody>
          <a:bodyPr/>
          <a:lstStyle/>
          <a:p>
            <a:r>
              <a:rPr lang="en-US" altLang="zh-CN"/>
              <a:t>Software College Northeastern University</a:t>
            </a:r>
            <a:endParaRPr lang="zh-CN" altLang="en-US"/>
          </a:p>
        </p:txBody>
      </p:sp>
      <p:sp>
        <p:nvSpPr>
          <p:cNvPr id="5" name="灯片编号占位符 4"/>
          <p:cNvSpPr>
            <a:spLocks noGrp="1"/>
          </p:cNvSpPr>
          <p:nvPr>
            <p:ph type="sldNum" sz="quarter" idx="12"/>
          </p:nvPr>
        </p:nvSpPr>
        <p:spPr/>
        <p:txBody>
          <a:bodyPr/>
          <a:lstStyle/>
          <a:p>
            <a:fld id="{6E1C0148-8E4B-4B2F-95CE-20B4709700AE}" type="slidenum">
              <a:rPr lang="zh-CN" altLang="en-US" smtClean="0"/>
            </a:fld>
            <a:endParaRPr lang="zh-CN" altLang="en-US"/>
          </a:p>
        </p:txBody>
      </p:sp>
      <p:sp>
        <p:nvSpPr>
          <p:cNvPr id="6" name="标题 5"/>
          <p:cNvSpPr>
            <a:spLocks noGrp="1"/>
          </p:cNvSpPr>
          <p:nvPr>
            <p:ph type="title"/>
          </p:nvPr>
        </p:nvSpPr>
        <p:spPr/>
        <p:txBody>
          <a:bodyPr rtlCol="0"/>
          <a:lstStyle/>
          <a:p>
            <a:r>
              <a:rPr kumimoji="0" lang="zh-CN" altLang="en-US"/>
              <a:t>单击此处编辑母版标题样式</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r>
              <a:rPr lang="en-US" altLang="zh-CN"/>
              <a:t>Data Structures and algorithms</a:t>
            </a:r>
            <a:endParaRPr lang="zh-CN" altLang="en-US"/>
          </a:p>
        </p:txBody>
      </p:sp>
      <p:sp>
        <p:nvSpPr>
          <p:cNvPr id="3" name="页脚占位符 2"/>
          <p:cNvSpPr>
            <a:spLocks noGrp="1"/>
          </p:cNvSpPr>
          <p:nvPr>
            <p:ph type="ftr" sz="quarter" idx="11"/>
          </p:nvPr>
        </p:nvSpPr>
        <p:spPr/>
        <p:txBody>
          <a:bodyPr/>
          <a:lstStyle/>
          <a:p>
            <a:r>
              <a:rPr lang="en-US" altLang="zh-CN"/>
              <a:t>Software College Northeastern University</a:t>
            </a:r>
            <a:endParaRPr lang="zh-CN" altLang="en-US"/>
          </a:p>
        </p:txBody>
      </p:sp>
      <p:sp>
        <p:nvSpPr>
          <p:cNvPr id="4" name="灯片编号占位符 3"/>
          <p:cNvSpPr>
            <a:spLocks noGrp="1"/>
          </p:cNvSpPr>
          <p:nvPr>
            <p:ph type="sldNum" sz="quarter" idx="12"/>
          </p:nvPr>
        </p:nvSpPr>
        <p:spPr/>
        <p:txBody>
          <a:bodyPr/>
          <a:lstStyle/>
          <a:p>
            <a:fld id="{6E1C0148-8E4B-4B2F-95CE-20B4709700AE}"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内容与标题">
    <p:bg>
      <p:bgRef idx="1003">
        <a:schemeClr val="bg1"/>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lstStyle>
          <a:p>
            <a:r>
              <a:rPr kumimoji="0" lang="zh-CN" altLang="en-US"/>
              <a:t>单击此处编辑母版标题样式</a:t>
            </a:r>
            <a:endParaRPr kumimoji="0" lang="en-US"/>
          </a:p>
        </p:txBody>
      </p:sp>
      <p:sp>
        <p:nvSpPr>
          <p:cNvPr id="3" name="文本占位符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lstStyle>
          <a:p>
            <a:pPr lvl="0" eaLnBrk="1" latinLnBrk="0" hangingPunct="1"/>
            <a:r>
              <a:rPr kumimoji="0" lang="zh-CN" altLang="en-US"/>
              <a:t>单击此处编辑母版文本样式</a:t>
            </a:r>
            <a:endParaRPr kumimoji="0" lang="zh-CN" altLang="en-US"/>
          </a:p>
        </p:txBody>
      </p:sp>
      <p:sp>
        <p:nvSpPr>
          <p:cNvPr id="4" name="内容占位符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5" name="日期占位符 4"/>
          <p:cNvSpPr>
            <a:spLocks noGrp="1"/>
          </p:cNvSpPr>
          <p:nvPr>
            <p:ph type="dt" sz="half" idx="10"/>
          </p:nvPr>
        </p:nvSpPr>
        <p:spPr>
          <a:xfrm>
            <a:off x="323528" y="6492240"/>
            <a:ext cx="2592288" cy="365760"/>
          </a:xfrm>
        </p:spPr>
        <p:txBody>
          <a:bodyPr/>
          <a:lstStyle/>
          <a:p>
            <a:r>
              <a:rPr lang="en-US" altLang="zh-CN" dirty="0"/>
              <a:t>Data Structures and algorithms</a:t>
            </a:r>
            <a:endParaRPr lang="zh-CN" altLang="en-US" dirty="0"/>
          </a:p>
        </p:txBody>
      </p:sp>
      <p:sp>
        <p:nvSpPr>
          <p:cNvPr id="6" name="页脚占位符 5"/>
          <p:cNvSpPr>
            <a:spLocks noGrp="1"/>
          </p:cNvSpPr>
          <p:nvPr>
            <p:ph type="ftr" sz="quarter" idx="11"/>
          </p:nvPr>
        </p:nvSpPr>
        <p:spPr/>
        <p:txBody>
          <a:bodyPr/>
          <a:lstStyle/>
          <a:p>
            <a:r>
              <a:rPr lang="en-US" altLang="zh-CN"/>
              <a:t>Software College Northeastern University</a:t>
            </a:r>
            <a:endParaRPr lang="zh-CN" altLang="en-US"/>
          </a:p>
        </p:txBody>
      </p:sp>
      <p:sp>
        <p:nvSpPr>
          <p:cNvPr id="7" name="灯片编号占位符 6"/>
          <p:cNvSpPr>
            <a:spLocks noGrp="1"/>
          </p:cNvSpPr>
          <p:nvPr>
            <p:ph type="sldNum" sz="quarter" idx="12"/>
          </p:nvPr>
        </p:nvSpPr>
        <p:spPr/>
        <p:txBody>
          <a:bodyPr/>
          <a:lstStyle/>
          <a:p>
            <a:fld id="{6E1C0148-8E4B-4B2F-95CE-20B4709700AE}" type="slidenum">
              <a:rPr lang="zh-CN" altLang="en-US" smtClean="0"/>
            </a:fld>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图片与标题">
    <p:bg>
      <p:bgRef idx="1002">
        <a:schemeClr val="bg1"/>
      </p:bgRef>
    </p:bg>
    <p:spTree>
      <p:nvGrpSpPr>
        <p:cNvPr id="1" name=""/>
        <p:cNvGrpSpPr/>
        <p:nvPr/>
      </p:nvGrpSpPr>
      <p:grpSpPr>
        <a:xfrm>
          <a:off x="0" y="0"/>
          <a:ext cx="0" cy="0"/>
          <a:chOff x="0" y="0"/>
          <a:chExt cx="0" cy="0"/>
        </a:xfrm>
      </p:grpSpPr>
      <p:sp>
        <p:nvSpPr>
          <p:cNvPr id="4" name="文本占位符 3"/>
          <p:cNvSpPr>
            <a:spLocks noGrp="1"/>
          </p:cNvSpPr>
          <p:nvPr>
            <p:ph type="body" sz="half" idx="2"/>
          </p:nvPr>
        </p:nvSpPr>
        <p:spPr>
          <a:xfrm>
            <a:off x="1141232" y="5443402"/>
            <a:ext cx="7162800" cy="648232"/>
          </a:xfrm>
          <a:noFill/>
        </p:spPr>
        <p:txBody>
          <a:bodyPr lIns="91440" tIns="0" rIns="91440" anchor="t"/>
          <a:lstStyle>
            <a:lvl1pPr marL="0" marR="18415" indent="0" algn="r">
              <a:buNone/>
              <a:defRPr sz="1400"/>
            </a:lvl1pPr>
            <a:lvl2pPr>
              <a:defRPr sz="1200"/>
            </a:lvl2pPr>
            <a:lvl3pPr>
              <a:defRPr sz="1000"/>
            </a:lvl3pPr>
            <a:lvl4pPr>
              <a:defRPr sz="900"/>
            </a:lvl4pPr>
            <a:lvl5pPr>
              <a:defRPr sz="900"/>
            </a:lvl5pPr>
          </a:lstStyle>
          <a:p>
            <a:pPr lvl="0" eaLnBrk="1" latinLnBrk="0" hangingPunct="1"/>
            <a:r>
              <a:rPr kumimoji="0" lang="zh-CN" altLang="en-US"/>
              <a:t>单击此处编辑母版文本样式</a:t>
            </a:r>
            <a:endParaRPr kumimoji="0" lang="zh-CN" altLang="en-US"/>
          </a:p>
        </p:txBody>
      </p:sp>
      <p:sp>
        <p:nvSpPr>
          <p:cNvPr id="3" name="图片占位符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lstStyle>
          <a:p>
            <a:r>
              <a:rPr kumimoji="0" lang="zh-CN" altLang="en-US"/>
              <a:t>单击图标添加图片</a:t>
            </a:r>
            <a:endParaRPr kumimoji="0" lang="en-US" dirty="0"/>
          </a:p>
        </p:txBody>
      </p:sp>
      <p:sp>
        <p:nvSpPr>
          <p:cNvPr id="5" name="日期占位符 4"/>
          <p:cNvSpPr>
            <a:spLocks noGrp="1"/>
          </p:cNvSpPr>
          <p:nvPr>
            <p:ph type="dt" sz="half" idx="10"/>
          </p:nvPr>
        </p:nvSpPr>
        <p:spPr/>
        <p:txBody>
          <a:bodyPr/>
          <a:lstStyle>
            <a:lvl1pPr>
              <a:defRPr>
                <a:solidFill>
                  <a:schemeClr val="tx1"/>
                </a:solidFill>
              </a:defRPr>
            </a:lvl1pPr>
          </a:lstStyle>
          <a:p>
            <a:r>
              <a:rPr lang="en-US" altLang="zh-CN"/>
              <a:t>Data Structures and algorithms</a:t>
            </a:r>
            <a:endParaRPr lang="zh-CN" altLang="en-US"/>
          </a:p>
        </p:txBody>
      </p:sp>
      <p:sp>
        <p:nvSpPr>
          <p:cNvPr id="6" name="页脚占位符 5"/>
          <p:cNvSpPr>
            <a:spLocks noGrp="1"/>
          </p:cNvSpPr>
          <p:nvPr>
            <p:ph type="ftr" sz="quarter" idx="11"/>
          </p:nvPr>
        </p:nvSpPr>
        <p:spPr>
          <a:xfrm>
            <a:off x="4380072" y="6407944"/>
            <a:ext cx="2350681" cy="365125"/>
          </a:xfrm>
        </p:spPr>
        <p:txBody>
          <a:bodyPr/>
          <a:lstStyle>
            <a:lvl1pPr>
              <a:defRPr>
                <a:solidFill>
                  <a:schemeClr val="tx1"/>
                </a:solidFill>
              </a:defRPr>
            </a:lvl1pPr>
          </a:lstStyle>
          <a:p>
            <a:r>
              <a:rPr lang="en-US" altLang="zh-CN"/>
              <a:t>Software College Northeastern University</a:t>
            </a:r>
            <a:endParaRPr lang="zh-CN" altLang="en-US"/>
          </a:p>
        </p:txBody>
      </p:sp>
      <p:sp>
        <p:nvSpPr>
          <p:cNvPr id="7" name="灯片编号占位符 6"/>
          <p:cNvSpPr>
            <a:spLocks noGrp="1"/>
          </p:cNvSpPr>
          <p:nvPr>
            <p:ph type="sldNum" sz="quarter" idx="12"/>
          </p:nvPr>
        </p:nvSpPr>
        <p:spPr/>
        <p:txBody>
          <a:bodyPr/>
          <a:lstStyle>
            <a:lvl1pPr>
              <a:defRPr>
                <a:solidFill>
                  <a:schemeClr val="tx1"/>
                </a:solidFill>
              </a:defRPr>
            </a:lvl1pPr>
          </a:lstStyle>
          <a:p>
            <a:fld id="{6E1C0148-8E4B-4B2F-95CE-20B4709700AE}" type="slidenum">
              <a:rPr lang="zh-CN" altLang="en-US" smtClean="0"/>
            </a:fld>
            <a:endParaRPr lang="zh-CN" altLang="en-US"/>
          </a:p>
        </p:txBody>
      </p:sp>
      <p:sp>
        <p:nvSpPr>
          <p:cNvPr id="2" name="标题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lstStyle>
          <a:p>
            <a:r>
              <a:rPr kumimoji="0" lang="zh-CN" altLang="en-US"/>
              <a:t>单击此处编辑母版标题样式</a:t>
            </a:r>
            <a:endParaRPr kumimoji="0" lang="en-US"/>
          </a:p>
        </p:txBody>
      </p:sp>
      <p:sp>
        <p:nvSpPr>
          <p:cNvPr id="8" name="任意多边形 7"/>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任意多边形 8"/>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直角三角形 9"/>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1" name="直接连接符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燕尾形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13" name="燕尾形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a:xfrm>
            <a:off x="457200" y="1481329"/>
            <a:ext cx="8229600" cy="4386071"/>
          </a:xfrm>
        </p:spPr>
        <p:txBody>
          <a:bodyPr vert="eaVert"/>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r>
              <a:rPr lang="en-US" altLang="zh-CN"/>
              <a:t>Data Structures and algorithms</a:t>
            </a:r>
            <a:endParaRPr lang="zh-CN" altLang="en-US"/>
          </a:p>
        </p:txBody>
      </p:sp>
      <p:sp>
        <p:nvSpPr>
          <p:cNvPr id="5" name="页脚占位符 4"/>
          <p:cNvSpPr>
            <a:spLocks noGrp="1"/>
          </p:cNvSpPr>
          <p:nvPr>
            <p:ph type="ftr" sz="quarter" idx="11"/>
          </p:nvPr>
        </p:nvSpPr>
        <p:spPr/>
        <p:txBody>
          <a:bodyPr/>
          <a:lstStyle/>
          <a:p>
            <a:r>
              <a:rPr lang="en-US" altLang="zh-CN"/>
              <a:t>Software College Northeastern University</a:t>
            </a:r>
            <a:endParaRPr lang="zh-CN" altLang="en-US"/>
          </a:p>
        </p:txBody>
      </p:sp>
      <p:sp>
        <p:nvSpPr>
          <p:cNvPr id="6" name="灯片编号占位符 5"/>
          <p:cNvSpPr>
            <a:spLocks noGrp="1"/>
          </p:cNvSpPr>
          <p:nvPr>
            <p:ph type="sldNum" sz="quarter" idx="12"/>
          </p:nvPr>
        </p:nvSpPr>
        <p:spPr/>
        <p:txBody>
          <a:bodyPr/>
          <a:lstStyle/>
          <a:p>
            <a:fld id="{6E1C0148-8E4B-4B2F-95CE-20B4709700AE}"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44013" y="274640"/>
            <a:ext cx="1777470" cy="5592761"/>
          </a:xfrm>
        </p:spPr>
        <p:txBody>
          <a:bodyPr vert="eaVert"/>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a:xfrm>
            <a:off x="457200" y="274641"/>
            <a:ext cx="6324600" cy="5592760"/>
          </a:xfrm>
        </p:spPr>
        <p:txBody>
          <a:bodyPr vert="eaVert"/>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r>
              <a:rPr lang="en-US" altLang="zh-CN"/>
              <a:t>Data Structures and algorithms</a:t>
            </a:r>
            <a:endParaRPr lang="zh-CN" altLang="en-US"/>
          </a:p>
        </p:txBody>
      </p:sp>
      <p:sp>
        <p:nvSpPr>
          <p:cNvPr id="5" name="页脚占位符 4"/>
          <p:cNvSpPr>
            <a:spLocks noGrp="1"/>
          </p:cNvSpPr>
          <p:nvPr>
            <p:ph type="ftr" sz="quarter" idx="11"/>
          </p:nvPr>
        </p:nvSpPr>
        <p:spPr/>
        <p:txBody>
          <a:bodyPr/>
          <a:lstStyle/>
          <a:p>
            <a:r>
              <a:rPr lang="en-US" altLang="zh-CN"/>
              <a:t>Software College Northeastern University</a:t>
            </a:r>
            <a:endParaRPr lang="zh-CN" altLang="en-US"/>
          </a:p>
        </p:txBody>
      </p:sp>
      <p:sp>
        <p:nvSpPr>
          <p:cNvPr id="6" name="灯片编号占位符 5"/>
          <p:cNvSpPr>
            <a:spLocks noGrp="1"/>
          </p:cNvSpPr>
          <p:nvPr>
            <p:ph type="sldNum" sz="quarter" idx="12"/>
          </p:nvPr>
        </p:nvSpPr>
        <p:spPr/>
        <p:txBody>
          <a:bodyPr/>
          <a:lstStyle/>
          <a:p>
            <a:fld id="{6E1C0148-8E4B-4B2F-95CE-20B4709700AE}"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06703" y="228600"/>
            <a:ext cx="7772702" cy="762000"/>
          </a:xfrm>
        </p:spPr>
        <p:txBody>
          <a:bodyPr/>
          <a:lstStyle/>
          <a:p>
            <a:r>
              <a:rPr lang="zh-CN" altLang="en-US"/>
              <a:t>单击此处编辑母版标题样式</a:t>
            </a:r>
            <a:endParaRPr lang="zh-CN" altLang="en-US"/>
          </a:p>
        </p:txBody>
      </p:sp>
      <p:sp>
        <p:nvSpPr>
          <p:cNvPr id="3" name="表格占位符 2"/>
          <p:cNvSpPr>
            <a:spLocks noGrp="1"/>
          </p:cNvSpPr>
          <p:nvPr>
            <p:ph type="tbl" idx="1"/>
          </p:nvPr>
        </p:nvSpPr>
        <p:spPr>
          <a:xfrm>
            <a:off x="456596" y="1371600"/>
            <a:ext cx="8179405" cy="4686300"/>
          </a:xfrm>
        </p:spPr>
        <p:txBody>
          <a:bodyPr/>
          <a:lstStyle/>
          <a:p>
            <a:pPr lvl="0"/>
            <a:endParaRPr lang="zh-CN" altLang="en-US" noProof="0"/>
          </a:p>
        </p:txBody>
      </p:sp>
      <p:sp>
        <p:nvSpPr>
          <p:cNvPr id="4" name="Rectangle 4"/>
          <p:cNvSpPr>
            <a:spLocks noGrp="1" noChangeArrowheads="1"/>
          </p:cNvSpPr>
          <p:nvPr>
            <p:ph type="dt" sz="half" idx="10"/>
          </p:nvPr>
        </p:nvSpPr>
        <p:spPr>
          <a:xfrm>
            <a:off x="435041" y="6446520"/>
            <a:ext cx="2350681" cy="365760"/>
          </a:xfrm>
        </p:spPr>
        <p:txBody>
          <a:bodyPr/>
          <a:lstStyle>
            <a:lvl1pPr>
              <a:defRPr/>
            </a:lvl1pPr>
          </a:lstStyle>
          <a:p>
            <a:pPr>
              <a:defRPr/>
            </a:pPr>
            <a:r>
              <a:rPr lang="en-US" altLang="zh-CN"/>
              <a:t>Data Structures and algorithms</a:t>
            </a:r>
            <a:endParaRPr lang="en-US" altLang="zh-CN"/>
          </a:p>
        </p:txBody>
      </p:sp>
      <p:sp>
        <p:nvSpPr>
          <p:cNvPr id="5" name="Rectangle 5"/>
          <p:cNvSpPr>
            <a:spLocks noGrp="1" noChangeArrowheads="1"/>
          </p:cNvSpPr>
          <p:nvPr>
            <p:ph type="ftr" sz="quarter" idx="11"/>
          </p:nvPr>
        </p:nvSpPr>
        <p:spPr>
          <a:xfrm>
            <a:off x="3275856" y="6431866"/>
            <a:ext cx="3082424" cy="365125"/>
          </a:xfrm>
        </p:spPr>
        <p:txBody>
          <a:bodyPr/>
          <a:lstStyle>
            <a:lvl1pPr>
              <a:defRPr/>
            </a:lvl1pPr>
          </a:lstStyle>
          <a:p>
            <a:pPr>
              <a:defRPr/>
            </a:pPr>
            <a:r>
              <a:rPr lang="zh-CN" altLang="en-US" dirty="0"/>
              <a:t>Software College Northeastern University</a:t>
            </a:r>
            <a:endParaRPr lang="en-US" altLang="zh-CN" dirty="0"/>
          </a:p>
        </p:txBody>
      </p:sp>
      <p:sp>
        <p:nvSpPr>
          <p:cNvPr id="6" name="Rectangle 6"/>
          <p:cNvSpPr>
            <a:spLocks noGrp="1" noChangeArrowheads="1"/>
          </p:cNvSpPr>
          <p:nvPr>
            <p:ph type="sldNum" sz="quarter" idx="12"/>
          </p:nvPr>
        </p:nvSpPr>
        <p:spPr>
          <a:xfrm>
            <a:off x="7452320" y="6431866"/>
            <a:ext cx="365760" cy="365125"/>
          </a:xfrm>
        </p:spPr>
        <p:txBody>
          <a:bodyPr/>
          <a:lstStyle>
            <a:lvl1pPr>
              <a:defRPr/>
            </a:lvl1pPr>
          </a:lstStyle>
          <a:p>
            <a:pPr>
              <a:defRPr/>
            </a:pPr>
            <a:fld id="{DCD95ECE-03D4-44F6-8B2E-79A27ABAD67A}" type="slidenum">
              <a:rPr lang="zh-CN" altLang="en-US"/>
            </a:fld>
            <a:endParaRPr lang="en-US" altLang="zh-CN"/>
          </a:p>
        </p:txBody>
      </p:sp>
    </p:spTree>
  </p:cSld>
  <p:clrMapOvr>
    <a:masterClrMapping/>
  </p:clrMapOvr>
  <p:transition spd="slow">
    <p:wipe dir="r"/>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任意多边形 12"/>
          <p:cNvSpPr/>
          <p:nvPr userDrawn="1"/>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任意多边形 11"/>
          <p:cNvSpPr/>
          <p:nvPr userDrawn="1"/>
        </p:nvSpPr>
        <p:spPr bwMode="auto">
          <a:xfrm>
            <a:off x="557472"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cxnSp>
        <p:nvCxnSpPr>
          <p:cNvPr id="15" name="直接连接符 14"/>
          <p:cNvCxnSpPr/>
          <p:nvPr userDrawn="1"/>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标题占位符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kumimoji="0" lang="zh-CN" altLang="en-US"/>
              <a:t>单击此处编辑母版标题样式</a:t>
            </a:r>
            <a:endParaRPr kumimoji="0" lang="en-US"/>
          </a:p>
        </p:txBody>
      </p:sp>
      <p:sp>
        <p:nvSpPr>
          <p:cNvPr id="30" name="文本占位符 29"/>
          <p:cNvSpPr>
            <a:spLocks noGrp="1"/>
          </p:cNvSpPr>
          <p:nvPr>
            <p:ph type="body" idx="1"/>
          </p:nvPr>
        </p:nvSpPr>
        <p:spPr>
          <a:xfrm>
            <a:off x="457200" y="1481328"/>
            <a:ext cx="8229600" cy="4525963"/>
          </a:xfrm>
          <a:prstGeom prst="rect">
            <a:avLst/>
          </a:prstGeom>
        </p:spPr>
        <p:txBody>
          <a:bodyPr vert="horz">
            <a:normAutofit/>
          </a:bodyPr>
          <a:lstStyle/>
          <a:p>
            <a:pPr lvl="0" eaLnBrk="1" latinLnBrk="0" hangingPunct="1"/>
            <a:r>
              <a:rPr kumimoji="0" lang="zh-CN" altLang="en-US"/>
              <a:t>单击此处编辑母版文本样式</a:t>
            </a:r>
            <a:endParaRPr kumimoji="0" lang="zh-CN" altLang="en-US"/>
          </a:p>
          <a:p>
            <a:pPr lvl="1" eaLnBrk="1" latinLnBrk="0" hangingPunct="1"/>
            <a:r>
              <a:rPr kumimoji="0" lang="zh-CN" altLang="en-US"/>
              <a:t>第二级</a:t>
            </a:r>
            <a:endParaRPr kumimoji="0" lang="zh-CN" altLang="en-US"/>
          </a:p>
          <a:p>
            <a:pPr lvl="2" eaLnBrk="1" latinLnBrk="0" hangingPunct="1"/>
            <a:r>
              <a:rPr kumimoji="0" lang="zh-CN" altLang="en-US"/>
              <a:t>第三级</a:t>
            </a:r>
            <a:endParaRPr kumimoji="0" lang="zh-CN" altLang="en-US"/>
          </a:p>
          <a:p>
            <a:pPr lvl="3" eaLnBrk="1" latinLnBrk="0" hangingPunct="1"/>
            <a:r>
              <a:rPr kumimoji="0" lang="zh-CN" altLang="en-US"/>
              <a:t>第四级</a:t>
            </a:r>
            <a:endParaRPr kumimoji="0" lang="zh-CN" altLang="en-US"/>
          </a:p>
          <a:p>
            <a:pPr lvl="4" eaLnBrk="1" latinLnBrk="0" hangingPunct="1"/>
            <a:r>
              <a:rPr kumimoji="0" lang="zh-CN" altLang="en-US"/>
              <a:t>第五级</a:t>
            </a:r>
            <a:endParaRPr kumimoji="0" lang="en-US"/>
          </a:p>
        </p:txBody>
      </p:sp>
      <p:sp>
        <p:nvSpPr>
          <p:cNvPr id="10" name="日期占位符 9"/>
          <p:cNvSpPr>
            <a:spLocks noGrp="1"/>
          </p:cNvSpPr>
          <p:nvPr>
            <p:ph type="dt" sz="half" idx="2"/>
          </p:nvPr>
        </p:nvSpPr>
        <p:spPr>
          <a:xfrm>
            <a:off x="323528" y="6431231"/>
            <a:ext cx="2376264" cy="365760"/>
          </a:xfrm>
          <a:prstGeom prst="rect">
            <a:avLst/>
          </a:prstGeom>
        </p:spPr>
        <p:txBody>
          <a:bodyPr vert="horz" anchor="b"/>
          <a:lstStyle>
            <a:lvl1pPr algn="l" eaLnBrk="1" latinLnBrk="0" hangingPunct="1">
              <a:defRPr kumimoji="0" sz="1000">
                <a:solidFill>
                  <a:schemeClr val="tx1"/>
                </a:solidFill>
              </a:defRPr>
            </a:lvl1pPr>
          </a:lstStyle>
          <a:p>
            <a:r>
              <a:rPr lang="en-US" altLang="zh-CN"/>
              <a:t>Data Structures and algorithms</a:t>
            </a:r>
            <a:endParaRPr lang="zh-CN" altLang="en-US"/>
          </a:p>
        </p:txBody>
      </p:sp>
      <p:sp>
        <p:nvSpPr>
          <p:cNvPr id="22" name="页脚占位符 21"/>
          <p:cNvSpPr>
            <a:spLocks noGrp="1"/>
          </p:cNvSpPr>
          <p:nvPr>
            <p:ph type="ftr" sz="quarter" idx="3"/>
          </p:nvPr>
        </p:nvSpPr>
        <p:spPr>
          <a:xfrm>
            <a:off x="3635896" y="6407944"/>
            <a:ext cx="3094857" cy="365125"/>
          </a:xfrm>
          <a:prstGeom prst="rect">
            <a:avLst/>
          </a:prstGeom>
        </p:spPr>
        <p:txBody>
          <a:bodyPr vert="horz" anchor="b"/>
          <a:lstStyle>
            <a:lvl1pPr algn="r" eaLnBrk="1" latinLnBrk="0" hangingPunct="1">
              <a:defRPr kumimoji="0" sz="1000">
                <a:solidFill>
                  <a:schemeClr val="tx1"/>
                </a:solidFill>
              </a:defRPr>
            </a:lvl1pPr>
          </a:lstStyle>
          <a:p>
            <a:r>
              <a:rPr lang="en-US" altLang="zh-CN" dirty="0"/>
              <a:t>Software College Northeastern University</a:t>
            </a:r>
            <a:endParaRPr lang="zh-CN" altLang="en-US" dirty="0"/>
          </a:p>
        </p:txBody>
      </p:sp>
      <p:sp>
        <p:nvSpPr>
          <p:cNvPr id="18" name="灯片编号占位符 17"/>
          <p:cNvSpPr>
            <a:spLocks noGrp="1"/>
          </p:cNvSpPr>
          <p:nvPr>
            <p:ph type="sldNum" sz="quarter" idx="4"/>
          </p:nvPr>
        </p:nvSpPr>
        <p:spPr>
          <a:xfrm>
            <a:off x="7812360" y="6422232"/>
            <a:ext cx="365760" cy="365125"/>
          </a:xfrm>
          <a:prstGeom prst="rect">
            <a:avLst/>
          </a:prstGeom>
        </p:spPr>
        <p:txBody>
          <a:bodyPr vert="horz" anchor="b"/>
          <a:lstStyle>
            <a:lvl1pPr algn="r" eaLnBrk="1" latinLnBrk="0" hangingPunct="1">
              <a:defRPr kumimoji="0" sz="1000" b="0">
                <a:solidFill>
                  <a:schemeClr val="tx1"/>
                </a:solidFill>
              </a:defRPr>
            </a:lvl1pPr>
          </a:lstStyle>
          <a:p>
            <a:fld id="{6E1C0148-8E4B-4B2F-95CE-20B4709700AE}"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方正楷体_GB2312" panose="02000000000000000000" charset="-122"/>
          <a:ea typeface="方正楷体_GB2312" panose="02000000000000000000" charset="-122"/>
          <a:cs typeface="+mj-cs"/>
        </a:defRPr>
      </a:lvl1pPr>
    </p:titleStyle>
    <p:bodyStyle>
      <a:lvl1pPr marL="365760" indent="-255905" algn="l" rtl="0" eaLnBrk="1" latinLnBrk="0" hangingPunct="1">
        <a:spcBef>
          <a:spcPts val="400"/>
        </a:spcBef>
        <a:spcAft>
          <a:spcPts val="0"/>
        </a:spcAft>
        <a:buClr>
          <a:schemeClr val="accent1"/>
        </a:buClr>
        <a:buSzPct val="68000"/>
        <a:buFont typeface="Wingdings 3" panose="05040102010807070707"/>
        <a:buChar char=""/>
        <a:defRPr kumimoji="0" sz="2700" kern="1200">
          <a:solidFill>
            <a:schemeClr val="tx1"/>
          </a:solidFill>
          <a:latin typeface="方正楷体_GB2312" panose="02000000000000000000" charset="-122"/>
          <a:ea typeface="方正楷体_GB2312" panose="02000000000000000000" charset="-122"/>
          <a:cs typeface="+mn-cs"/>
        </a:defRPr>
      </a:lvl1pPr>
      <a:lvl2pPr marL="621665" indent="-228600" algn="l" rtl="0" eaLnBrk="1" latinLnBrk="0" hangingPunct="1">
        <a:spcBef>
          <a:spcPts val="325"/>
        </a:spcBef>
        <a:buClr>
          <a:schemeClr val="accent1"/>
        </a:buClr>
        <a:buFont typeface="Verdana" panose="020B0604030504040204"/>
        <a:buChar char="◦"/>
        <a:defRPr kumimoji="0" sz="2300" kern="1200">
          <a:solidFill>
            <a:schemeClr val="tx1"/>
          </a:solidFill>
          <a:latin typeface="方正楷体_GB2312" panose="02000000000000000000" charset="-122"/>
          <a:ea typeface="方正楷体_GB2312" panose="02000000000000000000" charset="-122"/>
          <a:cs typeface="+mn-cs"/>
        </a:defRPr>
      </a:lvl2pPr>
      <a:lvl3pPr marL="859790" indent="-228600" algn="l" rtl="0" eaLnBrk="1" latinLnBrk="0" hangingPunct="1">
        <a:spcBef>
          <a:spcPts val="350"/>
        </a:spcBef>
        <a:buClr>
          <a:schemeClr val="accent2"/>
        </a:buClr>
        <a:buSzPct val="100000"/>
        <a:buFont typeface="Wingdings 2" panose="05020102010507070707"/>
        <a:buChar char=""/>
        <a:defRPr kumimoji="0" sz="2100" kern="1200">
          <a:solidFill>
            <a:schemeClr val="tx1"/>
          </a:solidFill>
          <a:latin typeface="方正楷体_GB2312" panose="02000000000000000000" charset="-122"/>
          <a:ea typeface="方正楷体_GB2312" panose="02000000000000000000" charset="-122"/>
          <a:cs typeface="+mn-cs"/>
        </a:defRPr>
      </a:lvl3pPr>
      <a:lvl4pPr marL="1143000" indent="-228600" algn="l" rtl="0" eaLnBrk="1" latinLnBrk="0" hangingPunct="1">
        <a:spcBef>
          <a:spcPts val="350"/>
        </a:spcBef>
        <a:buClr>
          <a:schemeClr val="accent2"/>
        </a:buClr>
        <a:buFont typeface="Wingdings 2" panose="05020102010507070707"/>
        <a:buChar char=""/>
        <a:defRPr kumimoji="0" sz="1900" kern="1200">
          <a:solidFill>
            <a:schemeClr val="tx1"/>
          </a:solidFill>
          <a:latin typeface="方正楷体_GB2312" panose="02000000000000000000" charset="-122"/>
          <a:ea typeface="方正楷体_GB2312" panose="02000000000000000000" charset="-122"/>
          <a:cs typeface="+mn-cs"/>
        </a:defRPr>
      </a:lvl4pPr>
      <a:lvl5pPr marL="1371600" indent="-228600" algn="l" rtl="0" eaLnBrk="1" latinLnBrk="0" hangingPunct="1">
        <a:spcBef>
          <a:spcPts val="350"/>
        </a:spcBef>
        <a:buClr>
          <a:schemeClr val="accent2"/>
        </a:buClr>
        <a:buFont typeface="Wingdings 2" panose="05020102010507070707"/>
        <a:buChar char=""/>
        <a:defRPr kumimoji="0" sz="1800" kern="1200">
          <a:solidFill>
            <a:schemeClr val="tx1"/>
          </a:solidFill>
          <a:latin typeface="方正楷体_GB2312" panose="02000000000000000000" charset="-122"/>
          <a:ea typeface="方正楷体_GB2312" panose="02000000000000000000" charset="-122"/>
          <a:cs typeface="+mn-cs"/>
        </a:defRPr>
      </a:lvl5pPr>
      <a:lvl6pPr marL="1600200" indent="-228600" algn="l" rtl="0" eaLnBrk="1" latinLnBrk="0" hangingPunct="1">
        <a:spcBef>
          <a:spcPts val="350"/>
        </a:spcBef>
        <a:buClr>
          <a:schemeClr val="accent3"/>
        </a:buClr>
        <a:buFont typeface="Wingdings 2" panose="05020102010507070707"/>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panose="05020102010507070707"/>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panose="05020102010507070707"/>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panose="05020102010507070707"/>
        <a:buChar char=""/>
        <a:defRPr kumimoji="0" sz="16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jpeg"/><Relationship Id="rId1" Type="http://schemas.openxmlformats.org/officeDocument/2006/relationships/image" Target="../media/image2.wm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jpeg"/><Relationship Id="rId1" Type="http://schemas.openxmlformats.org/officeDocument/2006/relationships/image" Target="../media/image4.jpe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slide" Target="slide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image" Target="../media/image8.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5" Type="http://schemas.openxmlformats.org/officeDocument/2006/relationships/notesSlide" Target="../notesSlides/notesSlide16.xml"/><Relationship Id="rId4" Type="http://schemas.openxmlformats.org/officeDocument/2006/relationships/vmlDrawing" Target="../drawings/vmlDrawing1.vml"/><Relationship Id="rId3" Type="http://schemas.openxmlformats.org/officeDocument/2006/relationships/slideLayout" Target="../slideLayouts/slideLayout7.xml"/><Relationship Id="rId2" Type="http://schemas.openxmlformats.org/officeDocument/2006/relationships/image" Target="../media/image11.emf"/><Relationship Id="rId1" Type="http://schemas.openxmlformats.org/officeDocument/2006/relationships/oleObject" Target="../embeddings/oleObject1.bin"/></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3.png"/><Relationship Id="rId1" Type="http://schemas.openxmlformats.org/officeDocument/2006/relationships/image" Target="../media/image1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7.xml"/><Relationship Id="rId2" Type="http://schemas.openxmlformats.org/officeDocument/2006/relationships/image" Target="../media/image11.emf"/><Relationship Id="rId1" Type="http://schemas.openxmlformats.org/officeDocument/2006/relationships/oleObject" Target="../embeddings/oleObject2.bin"/></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7.xml"/><Relationship Id="rId2" Type="http://schemas.openxmlformats.org/officeDocument/2006/relationships/image" Target="../media/image14.wmf"/><Relationship Id="rId1" Type="http://schemas.openxmlformats.org/officeDocument/2006/relationships/oleObject" Target="../embeddings/oleObject3.bin"/></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slide" Target="slide109.xml"/><Relationship Id="rId2" Type="http://schemas.openxmlformats.org/officeDocument/2006/relationships/slide" Target="slide78.xml"/><Relationship Id="rId1" Type="http://schemas.openxmlformats.org/officeDocument/2006/relationships/slide" Target="slide7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slide" Target="slide64.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slide" Target="slide76.xml"/><Relationship Id="rId2" Type="http://schemas.openxmlformats.org/officeDocument/2006/relationships/slide" Target="slide75.xml"/><Relationship Id="rId1" Type="http://schemas.openxmlformats.org/officeDocument/2006/relationships/slide" Target="slide74.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1.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7.xml"/><Relationship Id="rId1" Type="http://schemas.openxmlformats.org/officeDocument/2006/relationships/image" Target="../media/image15.png"/></Relationships>
</file>

<file path=ppt/slides/_rels/slide91.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92.xml.rels><?xml version="1.0" encoding="UTF-8" standalone="yes"?>
<Relationships xmlns="http://schemas.openxmlformats.org/package/2006/relationships"><Relationship Id="rId5" Type="http://schemas.openxmlformats.org/officeDocument/2006/relationships/notesSlide" Target="../notesSlides/notesSlide26.xml"/><Relationship Id="rId4" Type="http://schemas.openxmlformats.org/officeDocument/2006/relationships/vmlDrawing" Target="../drawings/vmlDrawing4.vml"/><Relationship Id="rId3" Type="http://schemas.openxmlformats.org/officeDocument/2006/relationships/slideLayout" Target="../slideLayouts/slideLayout2.xml"/><Relationship Id="rId2" Type="http://schemas.openxmlformats.org/officeDocument/2006/relationships/image" Target="../media/image17.emf"/><Relationship Id="rId1" Type="http://schemas.openxmlformats.org/officeDocument/2006/relationships/oleObject" Target="../embeddings/oleObject4.bin"/></Relationships>
</file>

<file path=ppt/slides/_rels/slide93.xml.rels><?xml version="1.0" encoding="UTF-8" standalone="yes"?>
<Relationships xmlns="http://schemas.openxmlformats.org/package/2006/relationships"><Relationship Id="rId6" Type="http://schemas.openxmlformats.org/officeDocument/2006/relationships/notesSlide" Target="../notesSlides/notesSlide27.xml"/><Relationship Id="rId5" Type="http://schemas.openxmlformats.org/officeDocument/2006/relationships/vmlDrawing" Target="../drawings/vmlDrawing5.vml"/><Relationship Id="rId4" Type="http://schemas.openxmlformats.org/officeDocument/2006/relationships/slideLayout" Target="../slideLayouts/slideLayout2.xml"/><Relationship Id="rId3" Type="http://schemas.openxmlformats.org/officeDocument/2006/relationships/image" Target="../media/image19.jpeg"/><Relationship Id="rId2" Type="http://schemas.openxmlformats.org/officeDocument/2006/relationships/image" Target="../media/image18.wmf"/><Relationship Id="rId1" Type="http://schemas.openxmlformats.org/officeDocument/2006/relationships/oleObject" Target="../embeddings/oleObject5.bin"/></Relationships>
</file>

<file path=ppt/slides/_rels/slide94.xml.rels><?xml version="1.0" encoding="UTF-8" standalone="yes"?>
<Relationships xmlns="http://schemas.openxmlformats.org/package/2006/relationships"><Relationship Id="rId8" Type="http://schemas.openxmlformats.org/officeDocument/2006/relationships/notesSlide" Target="../notesSlides/notesSlide28.xml"/><Relationship Id="rId7" Type="http://schemas.openxmlformats.org/officeDocument/2006/relationships/vmlDrawing" Target="../drawings/vmlDrawing6.vml"/><Relationship Id="rId6" Type="http://schemas.openxmlformats.org/officeDocument/2006/relationships/slideLayout" Target="../slideLayouts/slideLayout2.xml"/><Relationship Id="rId5" Type="http://schemas.openxmlformats.org/officeDocument/2006/relationships/image" Target="../media/image21.wmf"/><Relationship Id="rId4" Type="http://schemas.openxmlformats.org/officeDocument/2006/relationships/oleObject" Target="../embeddings/oleObject7.bin"/><Relationship Id="rId3" Type="http://schemas.openxmlformats.org/officeDocument/2006/relationships/image" Target="../media/image19.jpeg"/><Relationship Id="rId2" Type="http://schemas.openxmlformats.org/officeDocument/2006/relationships/image" Target="../media/image20.wmf"/><Relationship Id="rId1" Type="http://schemas.openxmlformats.org/officeDocument/2006/relationships/oleObject" Target="../embeddings/oleObject6.bin"/></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9" Type="http://schemas.openxmlformats.org/officeDocument/2006/relationships/image" Target="../media/image25.wmf"/><Relationship Id="rId8" Type="http://schemas.openxmlformats.org/officeDocument/2006/relationships/oleObject" Target="../embeddings/oleObject11.bin"/><Relationship Id="rId7" Type="http://schemas.openxmlformats.org/officeDocument/2006/relationships/image" Target="../media/image24.wmf"/><Relationship Id="rId6" Type="http://schemas.openxmlformats.org/officeDocument/2006/relationships/oleObject" Target="../embeddings/oleObject10.bin"/><Relationship Id="rId5" Type="http://schemas.openxmlformats.org/officeDocument/2006/relationships/image" Target="../media/image23.wmf"/><Relationship Id="rId4" Type="http://schemas.openxmlformats.org/officeDocument/2006/relationships/oleObject" Target="../embeddings/oleObject9.bin"/><Relationship Id="rId3" Type="http://schemas.openxmlformats.org/officeDocument/2006/relationships/image" Target="../media/image19.jpeg"/><Relationship Id="rId2" Type="http://schemas.openxmlformats.org/officeDocument/2006/relationships/image" Target="../media/image22.wmf"/><Relationship Id="rId14" Type="http://schemas.openxmlformats.org/officeDocument/2006/relationships/notesSlide" Target="../notesSlides/notesSlide30.xml"/><Relationship Id="rId13" Type="http://schemas.openxmlformats.org/officeDocument/2006/relationships/vmlDrawing" Target="../drawings/vmlDrawing7.vml"/><Relationship Id="rId12" Type="http://schemas.openxmlformats.org/officeDocument/2006/relationships/slideLayout" Target="../slideLayouts/slideLayout2.xml"/><Relationship Id="rId11" Type="http://schemas.openxmlformats.org/officeDocument/2006/relationships/image" Target="../media/image26.wmf"/><Relationship Id="rId10" Type="http://schemas.openxmlformats.org/officeDocument/2006/relationships/oleObject" Target="../embeddings/oleObject12.bin"/><Relationship Id="rId1" Type="http://schemas.openxmlformats.org/officeDocument/2006/relationships/oleObject" Target="../embeddings/oleObject8.bin"/></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4" Type="http://schemas.openxmlformats.org/officeDocument/2006/relationships/vmlDrawing" Target="../drawings/vmlDrawing8.vml"/><Relationship Id="rId3" Type="http://schemas.openxmlformats.org/officeDocument/2006/relationships/slideLayout" Target="../slideLayouts/slideLayout7.xml"/><Relationship Id="rId2" Type="http://schemas.openxmlformats.org/officeDocument/2006/relationships/image" Target="../media/image27.wmf"/><Relationship Id="rId1" Type="http://schemas.openxmlformats.org/officeDocument/2006/relationships/oleObject" Target="../embeddings/oleObject13.bin"/></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slide" Target="slide6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2642" name="Rectangle 2"/>
          <p:cNvSpPr>
            <a:spLocks noGrp="1" noChangeArrowheads="1"/>
          </p:cNvSpPr>
          <p:nvPr>
            <p:ph type="ctrTitle"/>
          </p:nvPr>
        </p:nvSpPr>
        <p:spPr/>
        <p:txBody>
          <a:bodyPr vert="horz" wrap="square" lIns="87085" tIns="43542" rIns="87085" bIns="43542" numCol="1" anchor="b"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dirty="0">
                <a:ln>
                  <a:noFill/>
                </a:ln>
                <a:solidFill>
                  <a:schemeClr val="tx2"/>
                </a:solidFill>
                <a:effectLst>
                  <a:outerShdw blurRad="38100" dist="38100" dir="2700000" algn="tl">
                    <a:srgbClr val="C0C0C0"/>
                  </a:outerShdw>
                </a:effectLst>
                <a:uLnTx/>
                <a:uFillTx/>
                <a:latin typeface="+mn-lt"/>
                <a:ea typeface="+mj-ea"/>
                <a:cs typeface="+mn-lt"/>
              </a:rPr>
              <a:t>数据结构与算法</a:t>
            </a:r>
            <a:endParaRPr kumimoji="0" lang="zh-CN" altLang="en-US" sz="4400" b="1" i="0" u="none" strike="noStrike" kern="0" cap="none" spc="0" normalizeH="0" baseline="0" noProof="0" dirty="0">
              <a:ln>
                <a:noFill/>
              </a:ln>
              <a:solidFill>
                <a:schemeClr val="tx2"/>
              </a:solidFill>
              <a:effectLst>
                <a:outerShdw blurRad="38100" dist="38100" dir="2700000" algn="tl">
                  <a:srgbClr val="C0C0C0"/>
                </a:outerShdw>
              </a:effectLst>
              <a:uLnTx/>
              <a:uFillTx/>
              <a:latin typeface="+mn-lt"/>
              <a:ea typeface="+mj-ea"/>
              <a:cs typeface="+mn-lt"/>
            </a:endParaRPr>
          </a:p>
        </p:txBody>
      </p:sp>
      <p:sp>
        <p:nvSpPr>
          <p:cNvPr id="752643" name="Rectangle 3"/>
          <p:cNvSpPr>
            <a:spLocks noGrp="1" noChangeArrowheads="1"/>
          </p:cNvSpPr>
          <p:nvPr>
            <p:ph type="subTitle" idx="1"/>
          </p:nvPr>
        </p:nvSpPr>
        <p:spPr>
          <a:xfrm>
            <a:off x="685800" y="2276872"/>
            <a:ext cx="7772400" cy="2376264"/>
          </a:xfrm>
        </p:spPr>
        <p:txBody>
          <a:bodyPr vert="horz" wrap="square" lIns="87085" tIns="43542" rIns="87085" bIns="43542" numCol="1" anchor="t" anchorCtr="0" compatLnSpc="1">
            <a:noAutofit/>
          </a:bodyPr>
          <a:lstStyle/>
          <a:p>
            <a:pPr marL="0" marR="0" lvl="0" indent="0" algn="l" defTabSz="914400" rtl="0" eaLnBrk="1" fontAlgn="base" latinLnBrk="0" hangingPunct="1">
              <a:lnSpc>
                <a:spcPct val="90000"/>
              </a:lnSpc>
              <a:spcBef>
                <a:spcPct val="20000"/>
              </a:spcBef>
              <a:spcAft>
                <a:spcPct val="0"/>
              </a:spcAft>
              <a:buClr>
                <a:schemeClr val="accent2"/>
              </a:buClr>
              <a:buSzTx/>
              <a:buFont typeface="Monotype Sorts" pitchFamily="2" charset="2"/>
              <a:buNone/>
              <a:defRPr/>
            </a:pPr>
            <a:endParaRPr kumimoji="0" lang="zh-CN" altLang="en-US" sz="2800" b="0" i="0" u="none" strike="noStrike" kern="0" cap="none" spc="0" normalizeH="0" baseline="0" noProof="0" dirty="0">
              <a:ln>
                <a:noFill/>
              </a:ln>
              <a:solidFill>
                <a:schemeClr val="tx1"/>
              </a:solidFill>
              <a:effectLst/>
              <a:uLnTx/>
              <a:uFillTx/>
              <a:latin typeface="+mn-lt"/>
              <a:ea typeface="+mn-ea"/>
              <a:cs typeface="+mn-lt"/>
            </a:endParaRPr>
          </a:p>
          <a:p>
            <a:pPr marL="0" marR="0" lvl="0" indent="0" algn="l" defTabSz="914400" rtl="0" eaLnBrk="1" fontAlgn="base" latinLnBrk="0" hangingPunct="1">
              <a:lnSpc>
                <a:spcPct val="90000"/>
              </a:lnSpc>
              <a:spcBef>
                <a:spcPct val="20000"/>
              </a:spcBef>
              <a:spcAft>
                <a:spcPct val="0"/>
              </a:spcAft>
              <a:buClr>
                <a:schemeClr val="accent2"/>
              </a:buClr>
              <a:buSzTx/>
              <a:buFont typeface="Monotype Sorts" pitchFamily="2" charset="2"/>
              <a:buNone/>
              <a:defRPr/>
            </a:pPr>
            <a:r>
              <a:rPr kumimoji="0" lang="zh-CN" altLang="en-US" sz="2800" b="0" i="0" u="none" strike="noStrike" kern="0" cap="none" spc="0" normalizeH="0" baseline="0" noProof="0" dirty="0">
                <a:ln>
                  <a:noFill/>
                </a:ln>
                <a:solidFill>
                  <a:schemeClr val="tx1"/>
                </a:solidFill>
                <a:effectLst/>
                <a:uLnTx/>
                <a:uFillTx/>
                <a:latin typeface="+mn-lt"/>
                <a:ea typeface="+mn-ea"/>
                <a:cs typeface="+mn-lt"/>
              </a:rPr>
              <a:t>    </a:t>
            </a:r>
            <a:endParaRPr kumimoji="0" lang="zh-CN" altLang="en-US" sz="2800" b="0" i="0" u="none" strike="noStrike" kern="0" cap="none" spc="0" normalizeH="0" baseline="0" noProof="0" dirty="0">
              <a:ln>
                <a:noFill/>
              </a:ln>
              <a:solidFill>
                <a:schemeClr val="tx1"/>
              </a:solidFill>
              <a:effectLst/>
              <a:uLnTx/>
              <a:uFillTx/>
              <a:latin typeface="+mn-lt"/>
              <a:ea typeface="+mn-ea"/>
              <a:cs typeface="+mn-lt"/>
            </a:endParaRPr>
          </a:p>
          <a:p>
            <a:pPr marL="0" marR="0" lvl="0" indent="0" algn="ctr" defTabSz="914400" rtl="0" eaLnBrk="1" fontAlgn="base" latinLnBrk="0" hangingPunct="1">
              <a:lnSpc>
                <a:spcPct val="90000"/>
              </a:lnSpc>
              <a:spcBef>
                <a:spcPct val="20000"/>
              </a:spcBef>
              <a:spcAft>
                <a:spcPct val="0"/>
              </a:spcAft>
              <a:buClr>
                <a:schemeClr val="accent2"/>
              </a:buClr>
              <a:buSzTx/>
              <a:buFont typeface="Monotype Sorts" pitchFamily="2" charset="2"/>
              <a:buNone/>
              <a:defRPr/>
            </a:pPr>
            <a:endParaRPr kumimoji="0" lang="zh-CN" altLang="en-US" sz="2800" b="1" i="0" u="none" strike="noStrike" kern="0" cap="none" spc="0" normalizeH="0" baseline="0" noProof="0" dirty="0">
              <a:ln>
                <a:noFill/>
              </a:ln>
              <a:solidFill>
                <a:schemeClr val="tx2"/>
              </a:solidFill>
              <a:effectLst>
                <a:outerShdw blurRad="38100" dist="38100" dir="2700000" algn="tl">
                  <a:srgbClr val="C0C0C0"/>
                </a:outerShdw>
              </a:effectLst>
              <a:uLnTx/>
              <a:uFillTx/>
              <a:latin typeface="+mn-lt"/>
              <a:ea typeface="+mn-ea"/>
              <a:cs typeface="+mn-lt"/>
            </a:endParaRPr>
          </a:p>
          <a:p>
            <a:pPr marL="0" marR="0" lvl="0" indent="0" algn="ctr" defTabSz="914400" rtl="0" eaLnBrk="1" fontAlgn="base" latinLnBrk="0" hangingPunct="1">
              <a:lnSpc>
                <a:spcPct val="90000"/>
              </a:lnSpc>
              <a:spcBef>
                <a:spcPct val="20000"/>
              </a:spcBef>
              <a:spcAft>
                <a:spcPct val="0"/>
              </a:spcAft>
              <a:buClr>
                <a:schemeClr val="accent2"/>
              </a:buClr>
              <a:buSzTx/>
              <a:buFont typeface="Monotype Sorts" pitchFamily="2" charset="2"/>
              <a:buNone/>
              <a:defRPr/>
            </a:pPr>
            <a:endParaRPr kumimoji="0" lang="zh-CN" altLang="en-US" sz="2800" b="1" i="0" u="none" strike="noStrike" kern="0" cap="none" spc="0" normalizeH="0" baseline="0" noProof="0" dirty="0">
              <a:ln>
                <a:noFill/>
              </a:ln>
              <a:solidFill>
                <a:schemeClr val="tx2"/>
              </a:solidFill>
              <a:effectLst>
                <a:outerShdw blurRad="38100" dist="38100" dir="2700000" algn="tl">
                  <a:srgbClr val="C0C0C0"/>
                </a:outerShdw>
              </a:effectLst>
              <a:uLnTx/>
              <a:uFillTx/>
              <a:latin typeface="+mn-lt"/>
              <a:ea typeface="+mn-ea"/>
              <a:cs typeface="+mn-lt"/>
            </a:endParaRPr>
          </a:p>
          <a:p>
            <a:pPr marL="0" marR="0" lvl="0" indent="0" algn="ctr" defTabSz="914400" rtl="0" eaLnBrk="1" fontAlgn="base" latinLnBrk="0" hangingPunct="1">
              <a:lnSpc>
                <a:spcPct val="90000"/>
              </a:lnSpc>
              <a:spcBef>
                <a:spcPct val="20000"/>
              </a:spcBef>
              <a:spcAft>
                <a:spcPct val="0"/>
              </a:spcAft>
              <a:buClr>
                <a:schemeClr val="accent2"/>
              </a:buClr>
              <a:buSzTx/>
              <a:buFont typeface="Monotype Sorts" pitchFamily="2" charset="2"/>
              <a:buNone/>
              <a:defRPr/>
            </a:pPr>
            <a:r>
              <a:rPr kumimoji="0" lang="zh-CN" altLang="en-US" sz="2800" b="1" i="0" u="none" strike="noStrike" kern="0" cap="none" spc="0" normalizeH="0" baseline="0" noProof="0" dirty="0">
                <a:ln>
                  <a:noFill/>
                </a:ln>
                <a:solidFill>
                  <a:schemeClr val="tx2"/>
                </a:solidFill>
                <a:effectLst>
                  <a:outerShdw blurRad="38100" dist="38100" dir="2700000" algn="tl">
                    <a:srgbClr val="C0C0C0"/>
                  </a:outerShdw>
                </a:effectLst>
                <a:uLnTx/>
                <a:uFillTx/>
                <a:latin typeface="+mn-lt"/>
                <a:ea typeface="+mn-ea"/>
                <a:cs typeface="+mn-lt"/>
              </a:rPr>
              <a:t>东北大学软件学院</a:t>
            </a:r>
            <a:endParaRPr kumimoji="0" lang="zh-CN" altLang="en-US" sz="2800" b="1" i="0" u="none" strike="noStrike" kern="0" cap="none" spc="0" normalizeH="0" baseline="0" noProof="0" dirty="0">
              <a:ln>
                <a:noFill/>
              </a:ln>
              <a:solidFill>
                <a:schemeClr val="tx2"/>
              </a:solidFill>
              <a:effectLst>
                <a:outerShdw blurRad="38100" dist="38100" dir="2700000" algn="tl">
                  <a:srgbClr val="C0C0C0"/>
                </a:outerShdw>
              </a:effectLst>
              <a:uLnTx/>
              <a:uFillTx/>
              <a:latin typeface="+mn-lt"/>
              <a:ea typeface="+mn-ea"/>
              <a:cs typeface="+mn-lt"/>
            </a:endParaRPr>
          </a:p>
          <a:p>
            <a:pPr marL="0" marR="0" lvl="0" indent="0" algn="ctr" defTabSz="914400" rtl="0" eaLnBrk="1" fontAlgn="base" latinLnBrk="0" hangingPunct="1">
              <a:lnSpc>
                <a:spcPct val="90000"/>
              </a:lnSpc>
              <a:spcBef>
                <a:spcPct val="20000"/>
              </a:spcBef>
              <a:spcAft>
                <a:spcPct val="0"/>
              </a:spcAft>
              <a:buClr>
                <a:schemeClr val="accent2"/>
              </a:buClr>
              <a:buSzTx/>
              <a:buFont typeface="Monotype Sorts" pitchFamily="2" charset="2"/>
              <a:buNone/>
              <a:defRPr/>
            </a:pPr>
            <a:r>
              <a:rPr kumimoji="0" lang="zh-CN" altLang="en-US" sz="2800" b="1" i="0" u="none" strike="noStrike" kern="0" cap="none" spc="0" normalizeH="0" baseline="0" noProof="0" dirty="0">
                <a:ln>
                  <a:noFill/>
                </a:ln>
                <a:solidFill>
                  <a:schemeClr val="tx2"/>
                </a:solidFill>
                <a:effectLst>
                  <a:outerShdw blurRad="38100" dist="38100" dir="2700000" algn="tl">
                    <a:srgbClr val="C0C0C0"/>
                  </a:outerShdw>
                </a:effectLst>
                <a:uLnTx/>
                <a:uFillTx/>
                <a:latin typeface="+mn-lt"/>
                <a:ea typeface="+mn-ea"/>
                <a:cs typeface="+mn-lt"/>
              </a:rPr>
              <a:t>张莉</a:t>
            </a:r>
            <a:endParaRPr kumimoji="0" lang="en-US" altLang="zh-CN" sz="2800" b="1" i="0" u="none" strike="noStrike" kern="0" cap="none" spc="0" normalizeH="0" baseline="0" noProof="0" dirty="0">
              <a:ln>
                <a:noFill/>
              </a:ln>
              <a:solidFill>
                <a:schemeClr val="tx2"/>
              </a:solidFill>
              <a:effectLst>
                <a:outerShdw blurRad="38100" dist="38100" dir="2700000" algn="tl">
                  <a:srgbClr val="C0C0C0"/>
                </a:outerShdw>
              </a:effectLst>
              <a:uLnTx/>
              <a:uFillTx/>
              <a:latin typeface="+mn-lt"/>
              <a:ea typeface="+mn-ea"/>
              <a:cs typeface="+mn-lt"/>
            </a:endParaRPr>
          </a:p>
          <a:p>
            <a:pPr marL="0" marR="0" lvl="0" algn="ctr" defTabSz="914400" rtl="0" eaLnBrk="1" fontAlgn="base" latinLnBrk="0" hangingPunct="1">
              <a:lnSpc>
                <a:spcPct val="90000"/>
              </a:lnSpc>
              <a:spcBef>
                <a:spcPct val="20000"/>
              </a:spcBef>
              <a:buClr>
                <a:schemeClr val="accent2"/>
              </a:buClr>
              <a:buSzTx/>
              <a:buFont typeface="Monotype Sorts" pitchFamily="2" charset="2"/>
              <a:buNone/>
              <a:defRPr/>
            </a:pPr>
            <a:endParaRPr kumimoji="0" lang="zh-CN" altLang="en-US" sz="2800" b="1" i="0" u="none" strike="noStrike" kern="0" cap="none" spc="0" normalizeH="0" baseline="0" noProof="0" dirty="0">
              <a:ln>
                <a:noFill/>
              </a:ln>
              <a:solidFill>
                <a:schemeClr val="tx2"/>
              </a:solidFill>
              <a:effectLst>
                <a:outerShdw blurRad="38100" dist="38100" dir="2700000" algn="tl">
                  <a:srgbClr val="C0C0C0"/>
                </a:outerShdw>
              </a:effectLst>
              <a:uLnTx/>
              <a:uFillTx/>
              <a:latin typeface="+mn-lt"/>
              <a:ea typeface="+mn-ea"/>
              <a:cs typeface="+mn-lt"/>
            </a:endParaRPr>
          </a:p>
          <a:p>
            <a:pPr marL="0" marR="0" lvl="0" algn="ctr" defTabSz="914400" rtl="0" eaLnBrk="1" fontAlgn="base" latinLnBrk="0" hangingPunct="1">
              <a:lnSpc>
                <a:spcPct val="90000"/>
              </a:lnSpc>
              <a:spcBef>
                <a:spcPct val="20000"/>
              </a:spcBef>
              <a:buClr>
                <a:schemeClr val="accent2"/>
              </a:buClr>
              <a:buSzTx/>
              <a:buFont typeface="Monotype Sorts" pitchFamily="2" charset="2"/>
              <a:buNone/>
              <a:defRPr/>
            </a:pPr>
            <a:r>
              <a:rPr kumimoji="0" lang="zh-CN" altLang="en-US" sz="2800" b="1" i="0" u="none" strike="noStrike" kern="0" cap="none" spc="0" normalizeH="0" baseline="0" noProof="0" dirty="0">
                <a:ln>
                  <a:noFill/>
                </a:ln>
                <a:solidFill>
                  <a:schemeClr val="tx2"/>
                </a:solidFill>
                <a:effectLst>
                  <a:outerShdw blurRad="38100" dist="38100" dir="2700000" algn="tl">
                    <a:srgbClr val="C0C0C0"/>
                  </a:outerShdw>
                </a:effectLst>
                <a:uLnTx/>
                <a:uFillTx/>
                <a:latin typeface="+mn-lt"/>
                <a:ea typeface="+mn-ea"/>
                <a:cs typeface="+mn-lt"/>
              </a:rPr>
              <a:t> 202</a:t>
            </a:r>
            <a:r>
              <a:rPr lang="en-US" altLang="zh-CN" sz="2800" b="1" kern="0" dirty="0">
                <a:effectLst>
                  <a:outerShdw blurRad="38100" dist="38100" dir="2700000" algn="tl">
                    <a:srgbClr val="C0C0C0"/>
                  </a:outerShdw>
                </a:effectLst>
                <a:cs typeface="+mn-lt"/>
              </a:rPr>
              <a:t>5</a:t>
            </a:r>
            <a:r>
              <a:rPr kumimoji="0" lang="zh-CN" altLang="en-US" sz="2800" b="1" i="0" u="none" strike="noStrike" kern="0" cap="none" spc="0" normalizeH="0" baseline="0" noProof="0" dirty="0">
                <a:ln>
                  <a:noFill/>
                </a:ln>
                <a:solidFill>
                  <a:schemeClr val="tx2"/>
                </a:solidFill>
                <a:effectLst>
                  <a:outerShdw blurRad="38100" dist="38100" dir="2700000" algn="tl">
                    <a:srgbClr val="C0C0C0"/>
                  </a:outerShdw>
                </a:effectLst>
                <a:uLnTx/>
                <a:uFillTx/>
                <a:latin typeface="+mn-lt"/>
                <a:ea typeface="+mn-ea"/>
                <a:cs typeface="+mn-lt"/>
              </a:rPr>
              <a:t>年9月</a:t>
            </a:r>
            <a:endParaRPr kumimoji="0" lang="zh-CN" altLang="en-US" sz="2800" b="1" i="0" u="none" strike="noStrike" kern="0" cap="none" spc="0" normalizeH="0" baseline="0" noProof="0" dirty="0">
              <a:ln>
                <a:noFill/>
              </a:ln>
              <a:solidFill>
                <a:schemeClr val="tx2"/>
              </a:solidFill>
              <a:effectLst>
                <a:outerShdw blurRad="38100" dist="38100" dir="2700000" algn="tl">
                  <a:srgbClr val="C0C0C0"/>
                </a:outerShdw>
              </a:effectLst>
              <a:uLnTx/>
              <a:uFillTx/>
              <a:latin typeface="+mn-lt"/>
              <a:ea typeface="+mn-ea"/>
              <a:cs typeface="+mn-lt"/>
            </a:endParaRPr>
          </a:p>
        </p:txBody>
      </p:sp>
      <p:sp>
        <p:nvSpPr>
          <p:cNvPr id="2" name="日期占位符 1"/>
          <p:cNvSpPr>
            <a:spLocks noGrp="1"/>
          </p:cNvSpPr>
          <p:nvPr>
            <p:ph type="dt" sz="half" idx="10"/>
          </p:nvPr>
        </p:nvSpPr>
        <p:spPr/>
        <p:txBody>
          <a:bodyPr/>
          <a:lstStyle/>
          <a:p>
            <a:endParaRPr lang="zh-CN" altLang="en-US" dirty="0"/>
          </a:p>
        </p:txBody>
      </p:sp>
      <p:sp>
        <p:nvSpPr>
          <p:cNvPr id="3" name="页脚占位符 2"/>
          <p:cNvSpPr>
            <a:spLocks noGrp="1"/>
          </p:cNvSpPr>
          <p:nvPr>
            <p:ph type="ftr" sz="quarter" idx="11"/>
          </p:nvPr>
        </p:nvSpPr>
        <p:spPr/>
        <p:txBody>
          <a:bodyPr/>
          <a:lstStyle/>
          <a:p>
            <a:endParaRPr lang="zh-CN" altLang="en-US" dirty="0"/>
          </a:p>
        </p:txBody>
      </p:sp>
      <p:sp>
        <p:nvSpPr>
          <p:cNvPr id="4" name="灯片编号占位符 3"/>
          <p:cNvSpPr>
            <a:spLocks noGrp="1"/>
          </p:cNvSpPr>
          <p:nvPr>
            <p:ph type="sldNum" sz="quarter" idx="12"/>
          </p:nvPr>
        </p:nvSpPr>
        <p:spPr/>
        <p:txBody>
          <a:bodyPr/>
          <a:lstStyle/>
          <a:p>
            <a:endParaRPr lang="zh-CN" altLang="en-US" dirty="0"/>
          </a:p>
        </p:txBody>
      </p:sp>
    </p:spTree>
  </p:cSld>
  <p:clrMapOvr>
    <a:masterClrMapping/>
  </p:clrMapOvr>
  <p:transition spd="slow">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p:txBody>
          <a:bodyPr/>
          <a:lstStyle/>
          <a:p>
            <a:endParaRPr lang="zh-CN" altLang="en-US"/>
          </a:p>
        </p:txBody>
      </p:sp>
      <p:sp>
        <p:nvSpPr>
          <p:cNvPr id="5" name="标题 4"/>
          <p:cNvSpPr>
            <a:spLocks noGrp="1"/>
          </p:cNvSpPr>
          <p:nvPr>
            <p:ph type="title"/>
          </p:nvPr>
        </p:nvSpPr>
        <p:spPr/>
        <p:txBody>
          <a:bodyPr/>
          <a:lstStyle/>
          <a:p>
            <a:endParaRPr lang="zh-CN" altLang="en-US"/>
          </a:p>
        </p:txBody>
      </p:sp>
      <p:sp>
        <p:nvSpPr>
          <p:cNvPr id="7173" name="Rectangle 3"/>
          <p:cNvSpPr txBox="1">
            <a:spLocks noChangeArrowheads="1"/>
          </p:cNvSpPr>
          <p:nvPr/>
        </p:nvSpPr>
        <p:spPr bwMode="auto">
          <a:xfrm>
            <a:off x="2849869" y="719773"/>
            <a:ext cx="5509260" cy="2881630"/>
          </a:xfrm>
          <a:prstGeom prst="rect">
            <a:avLst/>
          </a:prstGeom>
          <a:solidFill>
            <a:srgbClr val="D9EDE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Font typeface="Monotype Sorts" pitchFamily="2" charset="2"/>
              <a:buChar char="z"/>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accent2"/>
              </a:buClr>
              <a:buFont typeface="Monotype Sorts" pitchFamily="2" charset="2"/>
              <a:buChar char="y"/>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accent2"/>
              </a:buClr>
              <a:buFont typeface="Monotype Sorts" pitchFamily="2" charset="2"/>
              <a:buChar char="x"/>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2"/>
              </a:buClr>
              <a:buChar char="–"/>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sz="2000">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20000"/>
              </a:spcBef>
              <a:spcAft>
                <a:spcPct val="0"/>
              </a:spcAft>
              <a:buClrTx/>
              <a:buSzTx/>
              <a:buFont typeface="Wingdings" panose="05000000000000000000" pitchFamily="2" charset="2"/>
              <a:buNone/>
              <a:defRPr/>
            </a:pPr>
            <a:r>
              <a:rPr kumimoji="1" lang="zh-CN" altLang="en-US" sz="3050" b="0" i="0" u="none" strike="noStrike" kern="120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rPr>
              <a:t>张莉</a:t>
            </a:r>
            <a:endParaRPr kumimoji="1" lang="en-US" altLang="zh-CN" sz="3050" b="0" i="0" u="none" strike="noStrike" kern="120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endParaRPr>
          </a:p>
          <a:p>
            <a:pPr marL="342900" marR="0" lvl="0" indent="-342900" algn="l" defTabSz="914400" rtl="0" eaLnBrk="1" fontAlgn="base" latinLnBrk="0" hangingPunct="1">
              <a:lnSpc>
                <a:spcPct val="100000"/>
              </a:lnSpc>
              <a:spcBef>
                <a:spcPct val="20000"/>
              </a:spcBef>
              <a:spcAft>
                <a:spcPct val="0"/>
              </a:spcAft>
              <a:buClrTx/>
              <a:buSzTx/>
              <a:buFont typeface="Wingdings" panose="05000000000000000000" pitchFamily="2" charset="2"/>
              <a:buNone/>
              <a:defRPr/>
            </a:pPr>
            <a:r>
              <a:rPr kumimoji="1" lang="en-US" altLang="zh-CN" sz="3050" b="0" i="0" u="none" strike="noStrike" kern="120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rPr>
              <a:t>Office</a:t>
            </a:r>
            <a:r>
              <a:rPr kumimoji="1" lang="zh-CN" altLang="en-US" sz="3050" b="0" i="0" u="none" strike="noStrike" kern="120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rPr>
              <a:t>：信息</a:t>
            </a:r>
            <a:r>
              <a:rPr kumimoji="1" lang="en-US" altLang="zh-CN" sz="3050" b="0" i="0" u="none" strike="noStrike" kern="120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rPr>
              <a:t>B  447</a:t>
            </a:r>
            <a:endParaRPr kumimoji="1" lang="en-US" altLang="zh-CN" sz="305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342900" marR="0" lvl="0" indent="-342900" algn="l" defTabSz="914400" rtl="0" eaLnBrk="1" fontAlgn="base" latinLnBrk="0" hangingPunct="1">
              <a:lnSpc>
                <a:spcPct val="100000"/>
              </a:lnSpc>
              <a:spcBef>
                <a:spcPct val="20000"/>
              </a:spcBef>
              <a:spcAft>
                <a:spcPct val="0"/>
              </a:spcAft>
              <a:buClrTx/>
              <a:buSzTx/>
              <a:buFont typeface="Wingdings" panose="05000000000000000000" pitchFamily="2" charset="2"/>
              <a:buNone/>
              <a:defRPr/>
            </a:pPr>
            <a:r>
              <a:rPr kumimoji="1" lang="en-US" altLang="zh-CN" sz="3050" b="0" i="0" u="none" strike="noStrike" kern="1200" cap="none" spc="0" normalizeH="0" baseline="0" noProof="0" dirty="0" err="1">
                <a:ln>
                  <a:noFill/>
                </a:ln>
                <a:solidFill>
                  <a:schemeClr val="tx1"/>
                </a:solidFill>
                <a:effectLst/>
                <a:uLnTx/>
                <a:uFillTx/>
                <a:latin typeface="Tahoma" panose="020B0604030504040204" pitchFamily="34" charset="0"/>
                <a:ea typeface="宋体" panose="02010600030101010101" pitchFamily="2" charset="-122"/>
                <a:cs typeface="+mn-cs"/>
              </a:rPr>
              <a:t>E-mail:zhangl@swc.neu.edu.cn</a:t>
            </a:r>
            <a:endParaRPr kumimoji="1" lang="en-US" altLang="zh-CN" sz="3050" b="0" i="0" u="none" strike="noStrike" kern="1200" cap="none" spc="0" normalizeH="0" baseline="0" noProof="0" dirty="0" err="1">
              <a:ln>
                <a:noFill/>
              </a:ln>
              <a:solidFill>
                <a:schemeClr val="tx1"/>
              </a:solidFill>
              <a:effectLst/>
              <a:uLnTx/>
              <a:uFillTx/>
              <a:latin typeface="Tahoma" panose="020B0604030504040204" pitchFamily="34" charset="0"/>
              <a:ea typeface="宋体" panose="02010600030101010101" pitchFamily="2" charset="-122"/>
              <a:cs typeface="+mn-cs"/>
            </a:endParaRPr>
          </a:p>
          <a:p>
            <a:pPr marL="342900" marR="0" lvl="0" indent="-342900" algn="l" defTabSz="914400" rtl="0" eaLnBrk="1" fontAlgn="base" latinLnBrk="0" hangingPunct="1">
              <a:lnSpc>
                <a:spcPct val="100000"/>
              </a:lnSpc>
              <a:spcBef>
                <a:spcPct val="20000"/>
              </a:spcBef>
              <a:spcAft>
                <a:spcPct val="0"/>
              </a:spcAft>
              <a:buClrTx/>
              <a:buSzTx/>
              <a:buFont typeface="Wingdings" panose="05000000000000000000" pitchFamily="2" charset="2"/>
              <a:buNone/>
              <a:defRPr/>
            </a:pPr>
            <a:r>
              <a:rPr kumimoji="1" lang="zh-CN" altLang="en-US" sz="3050" b="0" i="0" u="none" strike="noStrike" kern="120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rPr>
              <a:t>关注微助教公众号</a:t>
            </a:r>
            <a:endParaRPr kumimoji="1" lang="zh-CN" altLang="en-US" sz="3050" b="0" i="0" u="none" strike="noStrike" kern="120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endParaRPr>
          </a:p>
          <a:p>
            <a:pPr marL="342900" marR="0" lvl="0" indent="-342900" algn="l" defTabSz="914400" rtl="0" eaLnBrk="1" fontAlgn="base" latinLnBrk="0" hangingPunct="1">
              <a:lnSpc>
                <a:spcPct val="100000"/>
              </a:lnSpc>
              <a:spcBef>
                <a:spcPct val="20000"/>
              </a:spcBef>
              <a:spcAft>
                <a:spcPct val="0"/>
              </a:spcAft>
              <a:buClrTx/>
              <a:buSzTx/>
              <a:buFont typeface="Wingdings" panose="05000000000000000000" pitchFamily="2" charset="2"/>
              <a:buNone/>
              <a:defRPr/>
            </a:pPr>
            <a:r>
              <a:rPr kumimoji="1" lang="zh-CN" altLang="en-US" sz="3050" b="0" i="0" u="none" strike="noStrike" kern="120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rPr>
              <a:t>课程编号：</a:t>
            </a:r>
            <a:r>
              <a:rPr kumimoji="1" lang="en-US" altLang="zh-CN" sz="3050" dirty="0"/>
              <a:t>PO870</a:t>
            </a:r>
            <a:endParaRPr kumimoji="1" lang="zh-CN" altLang="en-US" sz="3050" dirty="0"/>
          </a:p>
          <a:p>
            <a:pPr marL="342900" marR="0" lvl="0" indent="-342900" algn="l" defTabSz="914400" rtl="0" eaLnBrk="1" fontAlgn="base" latinLnBrk="0" hangingPunct="1">
              <a:lnSpc>
                <a:spcPct val="100000"/>
              </a:lnSpc>
              <a:spcBef>
                <a:spcPct val="20000"/>
              </a:spcBef>
              <a:spcAft>
                <a:spcPct val="0"/>
              </a:spcAft>
              <a:buClrTx/>
              <a:buSzTx/>
              <a:buFont typeface="Wingdings" panose="05000000000000000000" pitchFamily="2" charset="2"/>
              <a:buNone/>
              <a:defRPr/>
            </a:pPr>
            <a:endParaRPr kumimoji="1" lang="zh-CN" altLang="en-US" sz="3050" b="0" i="0" u="none" strike="noStrike" kern="120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endParaRPr>
          </a:p>
          <a:p>
            <a:pPr marL="342900" marR="0" lvl="0" indent="-342900" algn="l" defTabSz="914400" rtl="0" eaLnBrk="1" fontAlgn="base" latinLnBrk="0" hangingPunct="1">
              <a:lnSpc>
                <a:spcPct val="100000"/>
              </a:lnSpc>
              <a:spcBef>
                <a:spcPct val="20000"/>
              </a:spcBef>
              <a:spcAft>
                <a:spcPct val="0"/>
              </a:spcAft>
              <a:buClrTx/>
              <a:buSzTx/>
              <a:buFont typeface="Wingdings" panose="05000000000000000000" pitchFamily="2" charset="2"/>
              <a:buNone/>
              <a:defRPr/>
            </a:pPr>
            <a:endParaRPr kumimoji="1" lang="en-US" altLang="zh-CN" sz="3050" b="0" i="0" u="none" strike="noStrike" kern="120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endParaRPr>
          </a:p>
          <a:p>
            <a:pPr marL="342900" marR="0" lvl="0" indent="-342900" algn="l" defTabSz="914400" rtl="0" eaLnBrk="1" fontAlgn="base" latinLnBrk="0" hangingPunct="1">
              <a:lnSpc>
                <a:spcPct val="100000"/>
              </a:lnSpc>
              <a:spcBef>
                <a:spcPct val="20000"/>
              </a:spcBef>
              <a:spcAft>
                <a:spcPct val="0"/>
              </a:spcAft>
              <a:buClrTx/>
              <a:buSzTx/>
              <a:buFont typeface="Wingdings" panose="05000000000000000000" pitchFamily="2" charset="2"/>
              <a:buNone/>
              <a:defRPr/>
            </a:pPr>
            <a:endParaRPr kumimoji="1" lang="en-US" altLang="zh-CN" sz="3050" b="0" i="0" u="none" strike="noStrike" kern="1200" cap="none" spc="0" normalizeH="0" baseline="0" noProof="0" dirty="0">
              <a:ln>
                <a:noFill/>
              </a:ln>
              <a:solidFill>
                <a:schemeClr val="tx1"/>
              </a:solidFill>
              <a:effectLst/>
              <a:uLnTx/>
              <a:uFillTx/>
              <a:latin typeface="Tahoma" panose="020B0604030504040204" pitchFamily="34" charset="0"/>
              <a:ea typeface="宋体" panose="02010600030101010101" pitchFamily="2" charset="-122"/>
              <a:cs typeface="+mn-cs"/>
            </a:endParaRPr>
          </a:p>
        </p:txBody>
      </p:sp>
      <p:pic>
        <p:nvPicPr>
          <p:cNvPr id="6149" name="Picture 4" descr="j0195384"/>
          <p:cNvPicPr>
            <a:picLocks noChangeAspect="1"/>
          </p:cNvPicPr>
          <p:nvPr/>
        </p:nvPicPr>
        <p:blipFill>
          <a:blip r:embed="rId1"/>
          <a:stretch>
            <a:fillRect/>
          </a:stretch>
        </p:blipFill>
        <p:spPr>
          <a:xfrm>
            <a:off x="28575" y="2160588"/>
            <a:ext cx="2608263" cy="2536825"/>
          </a:xfrm>
          <a:prstGeom prst="rect">
            <a:avLst/>
          </a:prstGeom>
          <a:noFill/>
          <a:ln w="9525">
            <a:noFill/>
          </a:ln>
        </p:spPr>
      </p:pic>
      <p:pic>
        <p:nvPicPr>
          <p:cNvPr id="3" name="图片 2"/>
          <p:cNvPicPr/>
          <p:nvPr/>
        </p:nvPicPr>
        <p:blipFill>
          <a:blip r:embed="rId2"/>
          <a:stretch>
            <a:fillRect/>
          </a:stretch>
        </p:blipFill>
        <p:spPr>
          <a:xfrm>
            <a:off x="2849880" y="3601720"/>
            <a:ext cx="3912870" cy="3150870"/>
          </a:xfrm>
          <a:prstGeom prst="rect">
            <a:avLst/>
          </a:prstGeom>
        </p:spPr>
      </p:pic>
      <p:sp>
        <p:nvSpPr>
          <p:cNvPr id="2" name="日期占位符 1"/>
          <p:cNvSpPr>
            <a:spLocks noGrp="1"/>
          </p:cNvSpPr>
          <p:nvPr>
            <p:ph type="dt" sz="half" idx="10"/>
          </p:nvPr>
        </p:nvSpPr>
        <p:spPr/>
        <p:txBody>
          <a:bodyPr/>
          <a:lstStyle/>
          <a:p>
            <a:r>
              <a:rPr lang="en-US" altLang="zh-CN"/>
              <a:t>Data Structures and algorithms</a:t>
            </a:r>
            <a:endParaRPr lang="zh-CN" altLang="en-US"/>
          </a:p>
        </p:txBody>
      </p:sp>
      <p:sp>
        <p:nvSpPr>
          <p:cNvPr id="6" name="页脚占位符 5"/>
          <p:cNvSpPr>
            <a:spLocks noGrp="1"/>
          </p:cNvSpPr>
          <p:nvPr>
            <p:ph type="ftr" sz="quarter" idx="11"/>
          </p:nvPr>
        </p:nvSpPr>
        <p:spPr/>
        <p:txBody>
          <a:bodyPr/>
          <a:lstStyle/>
          <a:p>
            <a:r>
              <a:rPr lang="en-US" altLang="zh-CN"/>
              <a:t>Software College Northeastern University</a:t>
            </a:r>
            <a:endParaRPr lang="zh-CN" altLang="en-US"/>
          </a:p>
        </p:txBody>
      </p:sp>
      <p:sp>
        <p:nvSpPr>
          <p:cNvPr id="7" name="灯片编号占位符 6"/>
          <p:cNvSpPr>
            <a:spLocks noGrp="1"/>
          </p:cNvSpPr>
          <p:nvPr>
            <p:ph type="sldNum" sz="quarter" idx="12"/>
          </p:nvPr>
        </p:nvSpPr>
        <p:spPr/>
        <p:txBody>
          <a:bodyPr/>
          <a:lstStyle/>
          <a:p>
            <a:fld id="{6E1C0148-8E4B-4B2F-95CE-20B4709700AE}" type="slidenum">
              <a:rPr lang="zh-CN" altLang="en-US" smtClean="0"/>
            </a:fld>
            <a:endParaRPr lang="zh-CN" altLang="en-US" dirty="0"/>
          </a:p>
        </p:txBody>
      </p:sp>
    </p:spTree>
  </p:cSld>
  <p:clrMapOvr>
    <a:masterClrMapping/>
  </p:clrMapOvr>
  <p:transition>
    <p:cover dir="d"/>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normAutofit fontScale="90000" lnSpcReduction="10000"/>
          </a:bodyPr>
          <a:lstStyle/>
          <a:p>
            <a:pPr>
              <a:lnSpc>
                <a:spcPct val="150000"/>
              </a:lnSpc>
              <a:spcAft>
                <a:spcPts val="600"/>
              </a:spcAft>
            </a:pPr>
            <a:r>
              <a:rPr lang="zh-CN" altLang="en-US" dirty="0">
                <a:latin typeface="华文楷体" panose="02010600040101010101" charset="-122"/>
                <a:ea typeface="华文楷体" panose="02010600040101010101" charset="-122"/>
                <a:cs typeface="华文楷体" panose="02010600040101010101" charset="-122"/>
              </a:rPr>
              <a:t>程序是用来处理数据，执行复杂计算的。</a:t>
            </a:r>
            <a:endParaRPr lang="zh-CN" altLang="en-US" dirty="0">
              <a:latin typeface="华文楷体" panose="02010600040101010101" charset="-122"/>
              <a:ea typeface="华文楷体" panose="02010600040101010101" charset="-122"/>
              <a:cs typeface="华文楷体" panose="02010600040101010101" charset="-122"/>
            </a:endParaRPr>
          </a:p>
          <a:p>
            <a:pPr>
              <a:lnSpc>
                <a:spcPct val="150000"/>
              </a:lnSpc>
              <a:spcAft>
                <a:spcPts val="600"/>
              </a:spcAft>
            </a:pPr>
            <a:r>
              <a:rPr lang="zh-CN" altLang="en-US" dirty="0">
                <a:latin typeface="华文楷体" panose="02010600040101010101" charset="-122"/>
                <a:ea typeface="华文楷体" panose="02010600040101010101" charset="-122"/>
                <a:cs typeface="华文楷体" panose="02010600040101010101" charset="-122"/>
              </a:rPr>
              <a:t>数据形式越来越复杂，数据量越来越大</a:t>
            </a:r>
            <a:endParaRPr lang="zh-CN" altLang="en-US" dirty="0">
              <a:latin typeface="华文楷体" panose="02010600040101010101" charset="-122"/>
              <a:ea typeface="华文楷体" panose="02010600040101010101" charset="-122"/>
              <a:cs typeface="华文楷体" panose="02010600040101010101" charset="-122"/>
            </a:endParaRPr>
          </a:p>
          <a:p>
            <a:pPr>
              <a:lnSpc>
                <a:spcPct val="150000"/>
              </a:lnSpc>
              <a:spcAft>
                <a:spcPts val="600"/>
              </a:spcAft>
            </a:pPr>
            <a:r>
              <a:rPr lang="zh-CN" altLang="en-US" b="1" dirty="0">
                <a:latin typeface="华文楷体" panose="02010600040101010101" charset="-122"/>
                <a:ea typeface="华文楷体" panose="02010600040101010101" charset="-122"/>
                <a:cs typeface="华文楷体" panose="02010600040101010101" charset="-122"/>
              </a:rPr>
              <a:t>合适的数据结构和算法设计</a:t>
            </a:r>
            <a:r>
              <a:rPr lang="zh-CN" altLang="en-US" dirty="0">
                <a:latin typeface="华文楷体" panose="02010600040101010101" charset="-122"/>
                <a:ea typeface="华文楷体" panose="02010600040101010101" charset="-122"/>
                <a:cs typeface="华文楷体" panose="02010600040101010101" charset="-122"/>
              </a:rPr>
              <a:t>可以大幅度提高程序的性能</a:t>
            </a:r>
            <a:endParaRPr lang="en-US" altLang="zh-CN" dirty="0">
              <a:latin typeface="华文楷体" panose="02010600040101010101" charset="-122"/>
              <a:ea typeface="华文楷体" panose="02010600040101010101" charset="-122"/>
              <a:cs typeface="华文楷体" panose="02010600040101010101" charset="-122"/>
            </a:endParaRPr>
          </a:p>
          <a:p>
            <a:pPr>
              <a:lnSpc>
                <a:spcPct val="150000"/>
              </a:lnSpc>
            </a:pPr>
            <a:r>
              <a:rPr lang="zh-CN" altLang="en-US" dirty="0">
                <a:latin typeface="华文楷体" panose="02010600040101010101" charset="-122"/>
                <a:ea typeface="华文楷体" panose="02010600040101010101" charset="-122"/>
                <a:cs typeface="华文楷体" panose="02010600040101010101" charset="-122"/>
              </a:rPr>
              <a:t>本课程主要讨论</a:t>
            </a:r>
            <a:endParaRPr lang="en-US" altLang="zh-CN" dirty="0">
              <a:latin typeface="华文楷体" panose="02010600040101010101" charset="-122"/>
              <a:ea typeface="华文楷体" panose="02010600040101010101" charset="-122"/>
              <a:cs typeface="华文楷体" panose="02010600040101010101" charset="-122"/>
            </a:endParaRPr>
          </a:p>
          <a:p>
            <a:pPr lvl="1">
              <a:lnSpc>
                <a:spcPct val="150000"/>
              </a:lnSpc>
            </a:pPr>
            <a:r>
              <a:rPr lang="zh-CN" altLang="en-US" dirty="0">
                <a:latin typeface="华文楷体" panose="02010600040101010101" charset="-122"/>
                <a:ea typeface="华文楷体" panose="02010600040101010101" charset="-122"/>
                <a:cs typeface="华文楷体" panose="02010600040101010101" charset="-122"/>
              </a:rPr>
              <a:t>如何组织数据，建立合适的数据结构</a:t>
            </a:r>
            <a:endParaRPr lang="zh-CN" altLang="en-US" dirty="0">
              <a:latin typeface="华文楷体" panose="02010600040101010101" charset="-122"/>
              <a:ea typeface="华文楷体" panose="02010600040101010101" charset="-122"/>
              <a:cs typeface="华文楷体" panose="02010600040101010101" charset="-122"/>
            </a:endParaRPr>
          </a:p>
          <a:p>
            <a:pPr lvl="1">
              <a:lnSpc>
                <a:spcPct val="150000"/>
              </a:lnSpc>
            </a:pPr>
            <a:r>
              <a:rPr lang="zh-CN" altLang="en-US" dirty="0">
                <a:latin typeface="华文楷体" panose="02010600040101010101" charset="-122"/>
                <a:ea typeface="华文楷体" panose="02010600040101010101" charset="-122"/>
                <a:cs typeface="华文楷体" panose="02010600040101010101" charset="-122"/>
              </a:rPr>
              <a:t>如何设计算法，提高程序执行的效率</a:t>
            </a:r>
            <a:endParaRPr lang="zh-CN" altLang="en-US" dirty="0">
              <a:latin typeface="华文楷体" panose="02010600040101010101" charset="-122"/>
              <a:ea typeface="华文楷体" panose="02010600040101010101" charset="-122"/>
              <a:cs typeface="华文楷体" panose="02010600040101010101" charset="-122"/>
            </a:endParaRPr>
          </a:p>
          <a:p>
            <a:pPr lvl="1">
              <a:lnSpc>
                <a:spcPct val="150000"/>
              </a:lnSpc>
            </a:pPr>
            <a:r>
              <a:rPr lang="zh-CN" altLang="en-US" dirty="0">
                <a:latin typeface="华文楷体" panose="02010600040101010101" charset="-122"/>
                <a:ea typeface="华文楷体" panose="02010600040101010101" charset="-122"/>
                <a:cs typeface="华文楷体" panose="02010600040101010101" charset="-122"/>
              </a:rPr>
              <a:t>如何评估算法性能</a:t>
            </a:r>
            <a:endParaRPr lang="zh-CN" altLang="en-US" dirty="0">
              <a:latin typeface="华文楷体" panose="02010600040101010101" charset="-122"/>
              <a:ea typeface="华文楷体" panose="02010600040101010101" charset="-122"/>
              <a:cs typeface="华文楷体" panose="02010600040101010101" charset="-122"/>
            </a:endParaRPr>
          </a:p>
        </p:txBody>
      </p:sp>
      <p:sp>
        <p:nvSpPr>
          <p:cNvPr id="2" name="标题 1"/>
          <p:cNvSpPr>
            <a:spLocks noGrp="1"/>
          </p:cNvSpPr>
          <p:nvPr>
            <p:ph type="title"/>
          </p:nvPr>
        </p:nvSpPr>
        <p:spPr/>
        <p:txBody>
          <a:bodyPr/>
          <a:lstStyle/>
          <a:p>
            <a:r>
              <a:rPr lang="zh-CN" altLang="en-US" dirty="0">
                <a:latin typeface="华文楷体" panose="02010600040101010101" charset="-122"/>
                <a:ea typeface="华文楷体" panose="02010600040101010101" charset="-122"/>
                <a:cs typeface="华文楷体" panose="02010600040101010101" charset="-122"/>
              </a:rPr>
              <a:t>为什么学习数据结构</a:t>
            </a:r>
            <a:r>
              <a:rPr lang="en-US" altLang="zh-CN" dirty="0">
                <a:latin typeface="华文楷体" panose="02010600040101010101" charset="-122"/>
                <a:ea typeface="华文楷体" panose="02010600040101010101" charset="-122"/>
                <a:cs typeface="华文楷体" panose="02010600040101010101" charset="-122"/>
              </a:rPr>
              <a:t>?</a:t>
            </a:r>
            <a:endParaRPr lang="zh-CN" altLang="en-US" dirty="0">
              <a:latin typeface="华文楷体" panose="02010600040101010101" charset="-122"/>
              <a:ea typeface="华文楷体" panose="02010600040101010101" charset="-122"/>
              <a:cs typeface="华文楷体" panose="02010600040101010101" charset="-122"/>
            </a:endParaRPr>
          </a:p>
        </p:txBody>
      </p:sp>
      <p:sp>
        <p:nvSpPr>
          <p:cNvPr id="4" name="日期占位符 3"/>
          <p:cNvSpPr>
            <a:spLocks noGrp="1"/>
          </p:cNvSpPr>
          <p:nvPr>
            <p:ph type="dt" sz="half" idx="10"/>
          </p:nvPr>
        </p:nvSpPr>
        <p:spPr/>
        <p:txBody>
          <a:bodyPr/>
          <a:lstStyle/>
          <a:p>
            <a:r>
              <a:rPr lang="en-US" altLang="zh-CN"/>
              <a:t>Data Structures and algorithms</a:t>
            </a:r>
            <a:endParaRPr lang="zh-CN" altLang="en-US"/>
          </a:p>
        </p:txBody>
      </p:sp>
      <p:sp>
        <p:nvSpPr>
          <p:cNvPr id="5" name="页脚占位符 4"/>
          <p:cNvSpPr>
            <a:spLocks noGrp="1"/>
          </p:cNvSpPr>
          <p:nvPr>
            <p:ph type="ftr" sz="quarter" idx="11"/>
          </p:nvPr>
        </p:nvSpPr>
        <p:spPr/>
        <p:txBody>
          <a:bodyPr/>
          <a:lstStyle/>
          <a:p>
            <a:r>
              <a:rPr lang="en-US" altLang="zh-CN"/>
              <a:t>Software College Northeastern University</a:t>
            </a:r>
            <a:endParaRPr lang="zh-CN" altLang="en-US"/>
          </a:p>
        </p:txBody>
      </p:sp>
      <p:sp>
        <p:nvSpPr>
          <p:cNvPr id="6" name="灯片编号占位符 5"/>
          <p:cNvSpPr>
            <a:spLocks noGrp="1"/>
          </p:cNvSpPr>
          <p:nvPr>
            <p:ph type="sldNum" sz="quarter" idx="12"/>
          </p:nvPr>
        </p:nvSpPr>
        <p:spPr/>
        <p:txBody>
          <a:bodyPr/>
          <a:lstStyle/>
          <a:p>
            <a:fld id="{6E1C0148-8E4B-4B2F-95CE-20B4709700AE}" type="slidenum">
              <a:rPr lang="zh-CN" altLang="en-US" smtClean="0"/>
            </a:fld>
            <a:endParaRPr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3"/>
          <p:cNvSpPr>
            <a:spLocks noGrp="1"/>
          </p:cNvSpPr>
          <p:nvPr>
            <p:ph idx="1"/>
          </p:nvPr>
        </p:nvSpPr>
        <p:spPr/>
        <p:txBody>
          <a:bodyPr vert="horz" wrap="square" lIns="91436" tIns="45718" rIns="91436" bIns="45718" anchor="t"/>
          <a:lstStyle/>
          <a:p>
            <a:r>
              <a:rPr lang="zh-CN" altLang="en-US" dirty="0">
                <a:latin typeface="华文楷体" panose="02010600040101010101" charset="-122"/>
                <a:ea typeface="华文楷体" panose="02010600040101010101" charset="-122"/>
              </a:rPr>
              <a:t>数据结构</a:t>
            </a:r>
            <a:r>
              <a:rPr lang="en-US" altLang="zh-CN" dirty="0">
                <a:latin typeface="华文楷体" panose="02010600040101010101" charset="-122"/>
                <a:ea typeface="华文楷体" panose="02010600040101010101" charset="-122"/>
              </a:rPr>
              <a:t>+</a:t>
            </a:r>
            <a:r>
              <a:rPr lang="zh-CN" altLang="en-US" dirty="0">
                <a:latin typeface="华文楷体" panose="02010600040101010101" charset="-122"/>
                <a:ea typeface="华文楷体" panose="02010600040101010101" charset="-122"/>
              </a:rPr>
              <a:t>算法</a:t>
            </a:r>
            <a:r>
              <a:rPr lang="en-US" altLang="zh-CN" dirty="0">
                <a:latin typeface="华文楷体" panose="02010600040101010101" charset="-122"/>
                <a:ea typeface="华文楷体" panose="02010600040101010101" charset="-122"/>
              </a:rPr>
              <a:t>=</a:t>
            </a:r>
            <a:r>
              <a:rPr lang="zh-CN" altLang="en-US" dirty="0">
                <a:latin typeface="华文楷体" panose="02010600040101010101" charset="-122"/>
                <a:ea typeface="华文楷体" panose="02010600040101010101" charset="-122"/>
              </a:rPr>
              <a:t>程序 </a:t>
            </a:r>
            <a:endParaRPr lang="zh-CN" altLang="en-US" dirty="0">
              <a:latin typeface="华文楷体" panose="02010600040101010101" charset="-122"/>
              <a:ea typeface="华文楷体" panose="02010600040101010101" charset="-122"/>
            </a:endParaRPr>
          </a:p>
          <a:p>
            <a:r>
              <a:rPr lang="zh-CN" altLang="en-US" dirty="0">
                <a:latin typeface="华文楷体" panose="02010600040101010101" charset="-122"/>
                <a:ea typeface="华文楷体" panose="02010600040101010101" charset="-122"/>
              </a:rPr>
              <a:t>数据结构：问题的数据模型</a:t>
            </a:r>
            <a:endParaRPr lang="zh-CN" altLang="en-US" dirty="0">
              <a:latin typeface="华文楷体" panose="02010600040101010101" charset="-122"/>
              <a:ea typeface="华文楷体" panose="02010600040101010101" charset="-122"/>
            </a:endParaRPr>
          </a:p>
          <a:p>
            <a:pPr lvl="1"/>
            <a:r>
              <a:rPr lang="zh-CN" altLang="en-US" dirty="0">
                <a:latin typeface="华文楷体" panose="02010600040101010101" charset="-122"/>
                <a:ea typeface="华文楷体" panose="02010600040101010101" charset="-122"/>
              </a:rPr>
              <a:t>线性结构： 线性表、栈、队列、串、</a:t>
            </a:r>
            <a:r>
              <a:rPr lang="en-US" altLang="zh-CN" dirty="0">
                <a:latin typeface="华文楷体" panose="02010600040101010101" charset="-122"/>
                <a:ea typeface="华文楷体" panose="02010600040101010101" charset="-122"/>
              </a:rPr>
              <a:t>…..</a:t>
            </a:r>
            <a:endParaRPr lang="en-US" altLang="zh-CN" dirty="0">
              <a:latin typeface="华文楷体" panose="02010600040101010101" charset="-122"/>
              <a:ea typeface="华文楷体" panose="02010600040101010101" charset="-122"/>
            </a:endParaRPr>
          </a:p>
          <a:p>
            <a:pPr lvl="1"/>
            <a:r>
              <a:rPr lang="zh-CN" altLang="en-US" dirty="0">
                <a:latin typeface="华文楷体" panose="02010600040101010101" charset="-122"/>
                <a:ea typeface="华文楷体" panose="02010600040101010101" charset="-122"/>
              </a:rPr>
              <a:t>非线性结构：树、图</a:t>
            </a:r>
            <a:endParaRPr lang="zh-CN" altLang="en-US" dirty="0">
              <a:latin typeface="华文楷体" panose="02010600040101010101" charset="-122"/>
              <a:ea typeface="华文楷体" panose="02010600040101010101" charset="-122"/>
            </a:endParaRPr>
          </a:p>
          <a:p>
            <a:r>
              <a:rPr lang="zh-CN" altLang="en-US" dirty="0">
                <a:latin typeface="华文楷体" panose="02010600040101010101" charset="-122"/>
                <a:ea typeface="华文楷体" panose="02010600040101010101" charset="-122"/>
              </a:rPr>
              <a:t>算法： 求解问题的策略</a:t>
            </a:r>
            <a:endParaRPr lang="zh-CN" altLang="en-US" dirty="0">
              <a:latin typeface="华文楷体" panose="02010600040101010101" charset="-122"/>
              <a:ea typeface="华文楷体" panose="02010600040101010101" charset="-122"/>
            </a:endParaRPr>
          </a:p>
          <a:p>
            <a:pPr lvl="1"/>
            <a:r>
              <a:rPr lang="zh-CN" altLang="en-US" dirty="0">
                <a:latin typeface="华文楷体" panose="02010600040101010101" charset="-122"/>
                <a:ea typeface="华文楷体" panose="02010600040101010101" charset="-122"/>
              </a:rPr>
              <a:t>查找：</a:t>
            </a:r>
            <a:endParaRPr lang="zh-CN" altLang="en-US" dirty="0">
              <a:latin typeface="华文楷体" panose="02010600040101010101" charset="-122"/>
              <a:ea typeface="华文楷体" panose="02010600040101010101" charset="-122"/>
            </a:endParaRPr>
          </a:p>
          <a:p>
            <a:pPr lvl="1"/>
            <a:r>
              <a:rPr lang="zh-CN" altLang="en-US" dirty="0">
                <a:latin typeface="华文楷体" panose="02010600040101010101" charset="-122"/>
                <a:ea typeface="华文楷体" panose="02010600040101010101" charset="-122"/>
              </a:rPr>
              <a:t>排序</a:t>
            </a:r>
            <a:endParaRPr lang="zh-CN" altLang="en-US" dirty="0">
              <a:latin typeface="华文楷体" panose="02010600040101010101" charset="-122"/>
              <a:ea typeface="华文楷体" panose="02010600040101010101" charset="-122"/>
            </a:endParaRPr>
          </a:p>
          <a:p>
            <a:endParaRPr lang="zh-CN" altLang="en-US" dirty="0"/>
          </a:p>
        </p:txBody>
      </p:sp>
      <p:sp>
        <p:nvSpPr>
          <p:cNvPr id="6146" name="Rectangle 2"/>
          <p:cNvSpPr>
            <a:spLocks noGrp="1"/>
          </p:cNvSpPr>
          <p:nvPr>
            <p:ph type="title"/>
          </p:nvPr>
        </p:nvSpPr>
        <p:spPr/>
        <p:txBody>
          <a:bodyPr vert="horz" wrap="square" lIns="91436" tIns="45718" rIns="91436" bIns="45718" anchor="ctr"/>
          <a:lstStyle/>
          <a:p>
            <a:pPr algn="l">
              <a:buClrTx/>
              <a:buSzTx/>
              <a:buFontTx/>
            </a:pPr>
            <a:r>
              <a:rPr lang="zh-CN" altLang="en-US" dirty="0">
                <a:latin typeface="华文楷体" panose="02010600040101010101" charset="-122"/>
                <a:ea typeface="华文楷体" panose="02010600040101010101" charset="-122"/>
                <a:cs typeface="华文楷体" panose="02010600040101010101" charset="-122"/>
              </a:rPr>
              <a:t>课程简介</a:t>
            </a:r>
            <a:endParaRPr lang="zh-CN" altLang="en-US" dirty="0">
              <a:latin typeface="华文楷体" panose="02010600040101010101" charset="-122"/>
              <a:ea typeface="华文楷体" panose="02010600040101010101" charset="-122"/>
              <a:cs typeface="华文楷体" panose="02010600040101010101" charset="-122"/>
            </a:endParaRPr>
          </a:p>
        </p:txBody>
      </p:sp>
      <p:sp>
        <p:nvSpPr>
          <p:cNvPr id="2" name="日期占位符 1"/>
          <p:cNvSpPr>
            <a:spLocks noGrp="1"/>
          </p:cNvSpPr>
          <p:nvPr>
            <p:ph type="dt" sz="half" idx="10"/>
          </p:nvPr>
        </p:nvSpPr>
        <p:spPr/>
        <p:txBody>
          <a:bodyPr/>
          <a:lstStyle/>
          <a:p>
            <a:r>
              <a:rPr lang="en-US" altLang="zh-CN"/>
              <a:t>Data Structures and algorithms</a:t>
            </a:r>
            <a:endParaRPr lang="zh-CN" altLang="en-US"/>
          </a:p>
        </p:txBody>
      </p:sp>
      <p:sp>
        <p:nvSpPr>
          <p:cNvPr id="3" name="页脚占位符 2"/>
          <p:cNvSpPr>
            <a:spLocks noGrp="1"/>
          </p:cNvSpPr>
          <p:nvPr>
            <p:ph type="ftr" sz="quarter" idx="11"/>
          </p:nvPr>
        </p:nvSpPr>
        <p:spPr/>
        <p:txBody>
          <a:bodyPr/>
          <a:lstStyle/>
          <a:p>
            <a:r>
              <a:rPr lang="en-US" altLang="zh-CN"/>
              <a:t>Software College Northeastern University</a:t>
            </a:r>
            <a:endParaRPr lang="zh-CN" altLang="en-US"/>
          </a:p>
        </p:txBody>
      </p:sp>
      <p:sp>
        <p:nvSpPr>
          <p:cNvPr id="4" name="灯片编号占位符 3"/>
          <p:cNvSpPr>
            <a:spLocks noGrp="1"/>
          </p:cNvSpPr>
          <p:nvPr>
            <p:ph type="sldNum" sz="quarter" idx="12"/>
          </p:nvPr>
        </p:nvSpPr>
        <p:spPr/>
        <p:txBody>
          <a:bodyPr/>
          <a:lstStyle/>
          <a:p>
            <a:fld id="{6E1C0148-8E4B-4B2F-95CE-20B4709700AE}" type="slidenum">
              <a:rPr lang="zh-CN" altLang="en-US" smtClean="0"/>
            </a:fld>
            <a:endParaRPr lang="zh-CN" altLang="en-US" dirty="0"/>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3"/>
          <p:cNvSpPr>
            <a:spLocks noGrp="1" noChangeArrowheads="1"/>
          </p:cNvSpPr>
          <p:nvPr>
            <p:ph idx="1"/>
          </p:nvPr>
        </p:nvSpPr>
        <p:spPr>
          <a:xfrm>
            <a:off x="457200" y="1340768"/>
            <a:ext cx="8229600" cy="4525963"/>
          </a:xfrm>
        </p:spPr>
        <p:txBody>
          <a:bodyPr vert="horz" wrap="square" lIns="91440" tIns="45720" rIns="91440" bIns="45720" numCol="1" anchor="t" anchorCtr="0" compatLnSpc="1">
            <a:normAutofit fontScale="70000" lnSpcReduction="20000"/>
          </a:bodyPr>
          <a:lstStyle/>
          <a:p>
            <a:pPr marL="0" marR="0" lvl="0" indent="0" algn="l" defTabSz="914400" rtl="0" eaLnBrk="0" fontAlgn="base" latinLnBrk="0" hangingPunct="0">
              <a:lnSpc>
                <a:spcPct val="150000"/>
              </a:lnSpc>
              <a:spcBef>
                <a:spcPts val="0"/>
              </a:spcBef>
              <a:spcAft>
                <a:spcPct val="0"/>
              </a:spcAft>
              <a:buClr>
                <a:schemeClr val="bg2"/>
              </a:buClr>
              <a:buSzTx/>
              <a:buFont typeface="Monotype Sorts" pitchFamily="2" charset="2"/>
              <a:buNone/>
              <a:defRPr/>
            </a:pPr>
            <a:r>
              <a:rPr kumimoji="1" lang="zh-CN" altLang="en-US" sz="2800" b="1" i="0" u="none" strike="noStrike" kern="0" cap="none" spc="0" normalizeH="0" baseline="0" noProof="0" dirty="0">
                <a:ln>
                  <a:noFill/>
                </a:ln>
                <a:solidFill>
                  <a:schemeClr val="tx2">
                    <a:lumMod val="75000"/>
                  </a:schemeClr>
                </a:solidFill>
                <a:effectLst/>
                <a:uLnTx/>
                <a:uFillTx/>
                <a:latin typeface="华文楷体" panose="02010600040101010101" charset="-122"/>
                <a:ea typeface="华文楷体" panose="02010600040101010101" charset="-122"/>
                <a:cs typeface="华文楷体" panose="02010600040101010101" charset="-122"/>
              </a:rPr>
              <a:t>课程性质 ：专业技术基础课</a:t>
            </a:r>
            <a:endParaRPr kumimoji="1" lang="zh-CN" altLang="en-US" sz="2800" b="1" i="0" u="none" strike="noStrike" kern="0" cap="none" spc="0" normalizeH="0" baseline="0" noProof="0" dirty="0">
              <a:ln>
                <a:noFill/>
              </a:ln>
              <a:solidFill>
                <a:schemeClr val="tx2">
                  <a:lumMod val="75000"/>
                </a:schemeClr>
              </a:solidFill>
              <a:effectLst/>
              <a:uLnTx/>
              <a:uFillTx/>
              <a:latin typeface="华文楷体" panose="02010600040101010101" charset="-122"/>
              <a:ea typeface="华文楷体" panose="02010600040101010101" charset="-122"/>
              <a:cs typeface="华文楷体" panose="02010600040101010101" charset="-122"/>
            </a:endParaRPr>
          </a:p>
          <a:p>
            <a:pPr marL="0" marR="0" lvl="0" indent="0" algn="l" defTabSz="914400" rtl="0" eaLnBrk="0" fontAlgn="base" latinLnBrk="0" hangingPunct="0">
              <a:lnSpc>
                <a:spcPct val="150000"/>
              </a:lnSpc>
              <a:spcBef>
                <a:spcPts val="0"/>
              </a:spcBef>
              <a:spcAft>
                <a:spcPct val="0"/>
              </a:spcAft>
              <a:buClr>
                <a:schemeClr val="bg2"/>
              </a:buClr>
              <a:buSzTx/>
              <a:buFont typeface="Monotype Sorts" pitchFamily="2" charset="2"/>
              <a:buNone/>
              <a:defRPr/>
            </a:pPr>
            <a:r>
              <a:rPr kumimoji="1" lang="zh-CN" altLang="en-US" sz="2800" b="1" i="0" u="none" strike="noStrike" kern="0" cap="none" spc="0" normalizeH="0" baseline="0" noProof="0" dirty="0">
                <a:ln>
                  <a:noFill/>
                </a:ln>
                <a:solidFill>
                  <a:schemeClr val="tx2">
                    <a:lumMod val="75000"/>
                  </a:schemeClr>
                </a:solidFill>
                <a:effectLst/>
                <a:uLnTx/>
                <a:uFillTx/>
                <a:latin typeface="华文楷体" panose="02010600040101010101" charset="-122"/>
                <a:ea typeface="华文楷体" panose="02010600040101010101" charset="-122"/>
                <a:cs typeface="华文楷体" panose="02010600040101010101" charset="-122"/>
              </a:rPr>
              <a:t>先修课程 ：离散数学、</a:t>
            </a:r>
            <a:r>
              <a:rPr kumimoji="1" lang="en-US" altLang="zh-CN" sz="2800" b="1" i="0" u="none" strike="noStrike" kern="0" cap="none" spc="0" normalizeH="0" baseline="0" noProof="0" dirty="0">
                <a:ln>
                  <a:noFill/>
                </a:ln>
                <a:solidFill>
                  <a:schemeClr val="tx2">
                    <a:lumMod val="75000"/>
                  </a:schemeClr>
                </a:solidFill>
                <a:effectLst/>
                <a:uLnTx/>
                <a:uFillTx/>
                <a:latin typeface="华文楷体" panose="02010600040101010101" charset="-122"/>
                <a:ea typeface="华文楷体" panose="02010600040101010101" charset="-122"/>
                <a:cs typeface="华文楷体" panose="02010600040101010101" charset="-122"/>
              </a:rPr>
              <a:t>C/C++</a:t>
            </a:r>
            <a:r>
              <a:rPr kumimoji="1" lang="zh-CN" altLang="en-US" sz="2800" b="1" i="0" u="none" strike="noStrike" kern="0" cap="none" spc="0" normalizeH="0" baseline="0" noProof="0" dirty="0">
                <a:ln>
                  <a:noFill/>
                </a:ln>
                <a:solidFill>
                  <a:schemeClr val="tx2">
                    <a:lumMod val="75000"/>
                  </a:schemeClr>
                </a:solidFill>
                <a:effectLst/>
                <a:uLnTx/>
                <a:uFillTx/>
                <a:latin typeface="华文楷体" panose="02010600040101010101" charset="-122"/>
                <a:ea typeface="华文楷体" panose="02010600040101010101" charset="-122"/>
                <a:cs typeface="华文楷体" panose="02010600040101010101" charset="-122"/>
              </a:rPr>
              <a:t>语言程序设计</a:t>
            </a:r>
            <a:endParaRPr kumimoji="1" lang="zh-CN" altLang="en-US" sz="2800" b="1" i="0" u="none" strike="noStrike" kern="0" cap="none" spc="0" normalizeH="0" baseline="0" noProof="0" dirty="0">
              <a:ln>
                <a:noFill/>
              </a:ln>
              <a:solidFill>
                <a:schemeClr val="tx2">
                  <a:lumMod val="75000"/>
                </a:schemeClr>
              </a:solidFill>
              <a:effectLst/>
              <a:uLnTx/>
              <a:uFillTx/>
              <a:latin typeface="华文楷体" panose="02010600040101010101" charset="-122"/>
              <a:ea typeface="华文楷体" panose="02010600040101010101" charset="-122"/>
              <a:cs typeface="华文楷体" panose="02010600040101010101" charset="-122"/>
            </a:endParaRPr>
          </a:p>
          <a:p>
            <a:pPr marL="0" marR="0" lvl="0" indent="0" algn="l" defTabSz="914400" rtl="0" eaLnBrk="0" fontAlgn="base" latinLnBrk="0" hangingPunct="0">
              <a:lnSpc>
                <a:spcPct val="150000"/>
              </a:lnSpc>
              <a:spcBef>
                <a:spcPts val="0"/>
              </a:spcBef>
              <a:spcAft>
                <a:spcPct val="0"/>
              </a:spcAft>
              <a:buClr>
                <a:schemeClr val="bg2"/>
              </a:buClr>
              <a:buSzTx/>
              <a:buFont typeface="Monotype Sorts" pitchFamily="2" charset="2"/>
              <a:buNone/>
              <a:defRPr/>
            </a:pPr>
            <a:r>
              <a:rPr kumimoji="1" lang="zh-CN" altLang="en-US" sz="2800" b="1" i="0" u="none" strike="noStrike" kern="0" cap="none" spc="0" normalizeH="0" baseline="0" noProof="0" dirty="0">
                <a:ln>
                  <a:noFill/>
                </a:ln>
                <a:solidFill>
                  <a:schemeClr val="tx2">
                    <a:lumMod val="75000"/>
                  </a:schemeClr>
                </a:solidFill>
                <a:effectLst/>
                <a:uLnTx/>
                <a:uFillTx/>
                <a:latin typeface="华文楷体" panose="02010600040101010101" charset="-122"/>
                <a:ea typeface="华文楷体" panose="02010600040101010101" charset="-122"/>
                <a:cs typeface="华文楷体" panose="02010600040101010101" charset="-122"/>
              </a:rPr>
              <a:t>学时安排： 总学时 </a:t>
            </a:r>
            <a:r>
              <a:rPr kumimoji="1" lang="en-US" altLang="zh-CN" sz="2800" b="1" i="0" u="none" strike="noStrike" kern="0" cap="none" spc="0" normalizeH="0" baseline="0" noProof="0" dirty="0">
                <a:ln>
                  <a:noFill/>
                </a:ln>
                <a:solidFill>
                  <a:schemeClr val="tx2">
                    <a:lumMod val="75000"/>
                  </a:schemeClr>
                </a:solidFill>
                <a:effectLst/>
                <a:uLnTx/>
                <a:uFillTx/>
                <a:latin typeface="华文楷体" panose="02010600040101010101" charset="-122"/>
                <a:ea typeface="华文楷体" panose="02010600040101010101" charset="-122"/>
                <a:cs typeface="华文楷体" panose="02010600040101010101" charset="-122"/>
              </a:rPr>
              <a:t>64</a:t>
            </a:r>
            <a:r>
              <a:rPr kumimoji="1" lang="zh-CN" altLang="en-US" sz="2800" b="1" i="0" u="none" strike="noStrike" kern="0" cap="none" spc="0" normalizeH="0" baseline="0" noProof="0" dirty="0">
                <a:ln>
                  <a:noFill/>
                </a:ln>
                <a:solidFill>
                  <a:schemeClr val="tx2">
                    <a:lumMod val="75000"/>
                  </a:schemeClr>
                </a:solidFill>
                <a:effectLst/>
                <a:uLnTx/>
                <a:uFillTx/>
                <a:latin typeface="华文楷体" panose="02010600040101010101" charset="-122"/>
                <a:ea typeface="华文楷体" panose="02010600040101010101" charset="-122"/>
                <a:cs typeface="华文楷体" panose="02010600040101010101" charset="-122"/>
              </a:rPr>
              <a:t>学时（含</a:t>
            </a:r>
            <a:r>
              <a:rPr kumimoji="1" lang="en-US" altLang="zh-CN" sz="2800" b="1" i="0" u="none" strike="noStrike" kern="0" cap="none" spc="0" normalizeH="0" baseline="0" noProof="0" dirty="0">
                <a:ln>
                  <a:noFill/>
                </a:ln>
                <a:solidFill>
                  <a:schemeClr val="tx2">
                    <a:lumMod val="75000"/>
                  </a:schemeClr>
                </a:solidFill>
                <a:effectLst/>
                <a:uLnTx/>
                <a:uFillTx/>
                <a:latin typeface="华文楷体" panose="02010600040101010101" charset="-122"/>
                <a:ea typeface="华文楷体" panose="02010600040101010101" charset="-122"/>
                <a:cs typeface="华文楷体" panose="02010600040101010101" charset="-122"/>
              </a:rPr>
              <a:t>16</a:t>
            </a:r>
            <a:r>
              <a:rPr kumimoji="1" lang="zh-CN" altLang="en-US" sz="2800" b="1" i="0" u="none" strike="noStrike" kern="0" cap="none" spc="0" normalizeH="0" baseline="0" noProof="0" dirty="0">
                <a:ln>
                  <a:noFill/>
                </a:ln>
                <a:solidFill>
                  <a:schemeClr val="tx2">
                    <a:lumMod val="75000"/>
                  </a:schemeClr>
                </a:solidFill>
                <a:effectLst/>
                <a:uLnTx/>
                <a:uFillTx/>
                <a:latin typeface="华文楷体" panose="02010600040101010101" charset="-122"/>
                <a:ea typeface="华文楷体" panose="02010600040101010101" charset="-122"/>
                <a:cs typeface="华文楷体" panose="02010600040101010101" charset="-122"/>
              </a:rPr>
              <a:t>学时实验）</a:t>
            </a:r>
            <a:endParaRPr kumimoji="1" lang="zh-CN" altLang="en-US" sz="2800" b="1" i="0" u="none" strike="noStrike" kern="0" cap="none" spc="0" normalizeH="0" baseline="0" noProof="0" dirty="0">
              <a:ln>
                <a:noFill/>
              </a:ln>
              <a:solidFill>
                <a:schemeClr val="tx2">
                  <a:lumMod val="75000"/>
                </a:schemeClr>
              </a:solidFill>
              <a:effectLst/>
              <a:uLnTx/>
              <a:uFillTx/>
              <a:latin typeface="华文楷体" panose="02010600040101010101" charset="-122"/>
              <a:ea typeface="华文楷体" panose="02010600040101010101" charset="-122"/>
              <a:cs typeface="华文楷体" panose="02010600040101010101" charset="-122"/>
            </a:endParaRPr>
          </a:p>
          <a:p>
            <a:pPr>
              <a:lnSpc>
                <a:spcPct val="80000"/>
              </a:lnSpc>
            </a:pPr>
            <a:r>
              <a:rPr lang="zh-CN" altLang="en-US" sz="2800" dirty="0">
                <a:sym typeface="+mn-ea"/>
              </a:rPr>
              <a:t>后续课：算法基础</a:t>
            </a:r>
            <a:endParaRPr lang="zh-CN" altLang="en-US" sz="2800" dirty="0">
              <a:latin typeface="华文楷体" panose="02010600040101010101" charset="-122"/>
              <a:ea typeface="华文楷体" panose="02010600040101010101" charset="-122"/>
            </a:endParaRPr>
          </a:p>
          <a:p>
            <a:pPr lvl="1">
              <a:lnSpc>
                <a:spcPct val="80000"/>
              </a:lnSpc>
            </a:pPr>
            <a:r>
              <a:rPr lang="zh-CN" altLang="en-US" sz="2800" dirty="0">
                <a:sym typeface="+mn-ea"/>
              </a:rPr>
              <a:t>部分数据结构的内容移至算法基础</a:t>
            </a:r>
            <a:endParaRPr lang="zh-CN" altLang="en-US" sz="2800" dirty="0">
              <a:latin typeface="华文楷体" panose="02010600040101010101" charset="-122"/>
              <a:ea typeface="华文楷体" panose="02010600040101010101" charset="-122"/>
            </a:endParaRPr>
          </a:p>
          <a:p>
            <a:pPr>
              <a:lnSpc>
                <a:spcPct val="80000"/>
              </a:lnSpc>
            </a:pPr>
            <a:r>
              <a:rPr lang="zh-CN" altLang="en-US" sz="2800" dirty="0">
                <a:sym typeface="+mn-ea"/>
              </a:rPr>
              <a:t>操作系统、数据库、编译原理</a:t>
            </a:r>
            <a:r>
              <a:rPr lang="en-US" altLang="zh-CN" sz="2800" dirty="0">
                <a:sym typeface="+mn-ea"/>
              </a:rPr>
              <a:t>….</a:t>
            </a:r>
            <a:endParaRPr lang="en-US" altLang="zh-CN" sz="2800" dirty="0">
              <a:latin typeface="华文楷体" panose="02010600040101010101" charset="-122"/>
              <a:ea typeface="华文楷体" panose="02010600040101010101" charset="-122"/>
            </a:endParaRPr>
          </a:p>
          <a:p>
            <a:pPr>
              <a:lnSpc>
                <a:spcPct val="80000"/>
              </a:lnSpc>
            </a:pPr>
            <a:r>
              <a:rPr lang="en-US" altLang="zh-CN" sz="2800" dirty="0">
                <a:sym typeface="+mn-ea"/>
              </a:rPr>
              <a:t>“</a:t>
            </a:r>
            <a:r>
              <a:rPr lang="zh-CN" altLang="en-US" sz="2800" b="1" dirty="0">
                <a:sym typeface="+mn-ea"/>
              </a:rPr>
              <a:t>数据结构</a:t>
            </a:r>
            <a:r>
              <a:rPr lang="zh-CN" altLang="en-US" sz="2800" dirty="0">
                <a:sym typeface="+mn-ea"/>
              </a:rPr>
              <a:t>涉及到各方面的知识，</a:t>
            </a:r>
            <a:endParaRPr lang="zh-CN" altLang="en-US" sz="2800" dirty="0">
              <a:latin typeface="华文楷体" panose="02010600040101010101" charset="-122"/>
              <a:ea typeface="华文楷体" panose="02010600040101010101" charset="-122"/>
            </a:endParaRPr>
          </a:p>
          <a:p>
            <a:pPr lvl="1">
              <a:lnSpc>
                <a:spcPct val="80000"/>
              </a:lnSpc>
            </a:pPr>
            <a:r>
              <a:rPr lang="zh-CN" altLang="en-US" sz="2800" dirty="0">
                <a:sym typeface="+mn-ea"/>
              </a:rPr>
              <a:t>如计算机硬件范围的存储装置和存取方法；</a:t>
            </a:r>
            <a:endParaRPr lang="zh-CN" altLang="en-US" sz="2800" dirty="0">
              <a:latin typeface="华文楷体" panose="02010600040101010101" charset="-122"/>
              <a:ea typeface="华文楷体" panose="02010600040101010101" charset="-122"/>
            </a:endParaRPr>
          </a:p>
          <a:p>
            <a:pPr lvl="1">
              <a:lnSpc>
                <a:spcPct val="80000"/>
              </a:lnSpc>
            </a:pPr>
            <a:r>
              <a:rPr lang="zh-CN" altLang="en-US" sz="2800" dirty="0">
                <a:sym typeface="+mn-ea"/>
              </a:rPr>
              <a:t>在计算机软件范围中的文件系统，数据的动态存储与管理，信息检索；数学范围的许多算法知识，</a:t>
            </a:r>
            <a:endParaRPr lang="zh-CN" altLang="en-US" sz="2800" dirty="0">
              <a:latin typeface="华文楷体" panose="02010600040101010101" charset="-122"/>
              <a:ea typeface="华文楷体" panose="02010600040101010101" charset="-122"/>
            </a:endParaRPr>
          </a:p>
          <a:p>
            <a:pPr lvl="1">
              <a:lnSpc>
                <a:spcPct val="80000"/>
              </a:lnSpc>
            </a:pPr>
            <a:r>
              <a:rPr lang="zh-CN" altLang="en-US" sz="2800" dirty="0">
                <a:sym typeface="+mn-ea"/>
              </a:rPr>
              <a:t>还有一些综合性的知识，如编码理论、算子关系、数据类型、数据表示、数据运算、数据存取等各方面的知识。</a:t>
            </a:r>
            <a:endParaRPr lang="zh-CN" altLang="en-US" sz="2800" dirty="0">
              <a:latin typeface="华文楷体" panose="02010600040101010101" charset="-122"/>
              <a:ea typeface="华文楷体" panose="02010600040101010101" charset="-122"/>
            </a:endParaRPr>
          </a:p>
          <a:p>
            <a:pPr>
              <a:lnSpc>
                <a:spcPct val="80000"/>
              </a:lnSpc>
            </a:pPr>
            <a:r>
              <a:rPr lang="zh-CN" altLang="en-US" sz="2800" dirty="0">
                <a:sym typeface="+mn-ea"/>
              </a:rPr>
              <a:t>因此，</a:t>
            </a:r>
            <a:r>
              <a:rPr lang="zh-CN" altLang="en-US" sz="2800" b="1" dirty="0">
                <a:sym typeface="+mn-ea"/>
              </a:rPr>
              <a:t>数据结构</a:t>
            </a:r>
            <a:r>
              <a:rPr lang="zh-CN" altLang="en-US" sz="2800" dirty="0">
                <a:sym typeface="+mn-ea"/>
              </a:rPr>
              <a:t>是数学、计算机硬件、软件三者之间的一门核心课程。 </a:t>
            </a:r>
            <a:endParaRPr kumimoji="1" lang="zh-CN" altLang="en-US" sz="2800" b="1" i="0" u="none" strike="noStrike" kern="0" cap="none" spc="0" normalizeH="0" baseline="0" noProof="0" dirty="0">
              <a:ln>
                <a:noFill/>
              </a:ln>
              <a:solidFill>
                <a:schemeClr val="tx2">
                  <a:lumMod val="75000"/>
                </a:schemeClr>
              </a:solidFill>
              <a:effectLst/>
              <a:uLnTx/>
              <a:uFillTx/>
              <a:latin typeface="华文楷体" panose="02010600040101010101" charset="-122"/>
              <a:ea typeface="华文楷体" panose="02010600040101010101" charset="-122"/>
              <a:cs typeface="华文楷体" panose="02010600040101010101" charset="-122"/>
            </a:endParaRPr>
          </a:p>
        </p:txBody>
      </p:sp>
      <p:sp>
        <p:nvSpPr>
          <p:cNvPr id="7170" name="Rectangle 2"/>
          <p:cNvSpPr>
            <a:spLocks noGrp="1"/>
          </p:cNvSpPr>
          <p:nvPr>
            <p:ph type="title"/>
          </p:nvPr>
        </p:nvSpPr>
        <p:spPr/>
        <p:txBody>
          <a:bodyPr vert="horz" wrap="square" lIns="91436" tIns="45718" rIns="91436" bIns="45718" rtlCol="0" anchor="ctr">
            <a:normAutofit/>
            <a:scene3d>
              <a:camera prst="orthographicFront"/>
              <a:lightRig rig="soft" dir="t"/>
            </a:scene3d>
            <a:sp3d prstMaterial="softEdge">
              <a:bevelT w="25400" h="25400"/>
            </a:sp3d>
          </a:bodyPr>
          <a:lstStyle/>
          <a:p>
            <a:pPr lvl="0" algn="l">
              <a:buClrTx/>
              <a:buSzTx/>
              <a:buFontTx/>
            </a:pPr>
            <a:r>
              <a:rPr lang="zh-CN" altLang="en-US" dirty="0">
                <a:latin typeface="华文楷体" panose="02010600040101010101" charset="-122"/>
                <a:ea typeface="华文楷体" panose="02010600040101010101" charset="-122"/>
                <a:cs typeface="华文楷体" panose="02010600040101010101" charset="-122"/>
                <a:sym typeface="+mn-ea"/>
              </a:rPr>
              <a:t>课程简介</a:t>
            </a:r>
            <a:endParaRPr lang="zh-CN" altLang="en-US" dirty="0">
              <a:latin typeface="华文楷体" panose="02010600040101010101" charset="-122"/>
              <a:ea typeface="华文楷体" panose="02010600040101010101" charset="-122"/>
              <a:cs typeface="华文楷体" panose="02010600040101010101" charset="-122"/>
              <a:sym typeface="+mn-ea"/>
            </a:endParaRPr>
          </a:p>
        </p:txBody>
      </p:sp>
      <p:sp>
        <p:nvSpPr>
          <p:cNvPr id="2" name="日期占位符 1"/>
          <p:cNvSpPr>
            <a:spLocks noGrp="1"/>
          </p:cNvSpPr>
          <p:nvPr>
            <p:ph type="dt" sz="half" idx="10"/>
          </p:nvPr>
        </p:nvSpPr>
        <p:spPr/>
        <p:txBody>
          <a:bodyPr/>
          <a:lstStyle/>
          <a:p>
            <a:r>
              <a:rPr lang="en-US" altLang="zh-CN"/>
              <a:t>Data Structures and algorithms</a:t>
            </a:r>
            <a:endParaRPr lang="zh-CN" altLang="en-US"/>
          </a:p>
        </p:txBody>
      </p:sp>
      <p:sp>
        <p:nvSpPr>
          <p:cNvPr id="3" name="页脚占位符 2"/>
          <p:cNvSpPr>
            <a:spLocks noGrp="1"/>
          </p:cNvSpPr>
          <p:nvPr>
            <p:ph type="ftr" sz="quarter" idx="11"/>
          </p:nvPr>
        </p:nvSpPr>
        <p:spPr/>
        <p:txBody>
          <a:bodyPr/>
          <a:lstStyle/>
          <a:p>
            <a:r>
              <a:rPr lang="en-US" altLang="zh-CN"/>
              <a:t>Software College Northeastern University</a:t>
            </a:r>
            <a:endParaRPr lang="zh-CN" altLang="en-US"/>
          </a:p>
        </p:txBody>
      </p:sp>
      <p:sp>
        <p:nvSpPr>
          <p:cNvPr id="4" name="灯片编号占位符 3"/>
          <p:cNvSpPr>
            <a:spLocks noGrp="1"/>
          </p:cNvSpPr>
          <p:nvPr>
            <p:ph type="sldNum" sz="quarter" idx="12"/>
          </p:nvPr>
        </p:nvSpPr>
        <p:spPr/>
        <p:txBody>
          <a:bodyPr/>
          <a:lstStyle/>
          <a:p>
            <a:fld id="{6E1C0148-8E4B-4B2F-95CE-20B4709700AE}" type="slidenum">
              <a:rPr lang="zh-CN" altLang="en-US" smtClean="0"/>
            </a:fld>
            <a:endParaRPr lang="zh-CN" altLang="en-US" dirty="0"/>
          </a:p>
        </p:txBody>
      </p:sp>
    </p:spTree>
  </p:cSld>
  <p:clrMapOvr>
    <a:masterClrMapping/>
  </p:clrMapOvr>
  <p:transition>
    <p:cover dir="d"/>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3"/>
          <p:cNvSpPr>
            <a:spLocks noGrp="1" noChangeArrowheads="1"/>
          </p:cNvSpPr>
          <p:nvPr>
            <p:ph idx="1"/>
          </p:nvPr>
        </p:nvSpPr>
        <p:spPr>
          <a:xfrm>
            <a:off x="457200" y="1481328"/>
            <a:ext cx="8291264" cy="4525963"/>
          </a:xfrm>
        </p:spPr>
        <p:txBody>
          <a:bodyPr vert="horz" wrap="square" lIns="91440" tIns="45720" rIns="91440" bIns="45720" numCol="1" anchor="t" anchorCtr="0" compatLnSpc="1">
            <a:normAutofit/>
          </a:bodyPr>
          <a:lstStyle/>
          <a:p>
            <a:pPr marL="109855" indent="0" eaLnBrk="1" hangingPunct="1">
              <a:lnSpc>
                <a:spcPct val="150000"/>
              </a:lnSpc>
              <a:buNone/>
            </a:pPr>
            <a:r>
              <a:rPr lang="zh-CN" altLang="en-US" sz="2400" b="1" dirty="0">
                <a:solidFill>
                  <a:schemeClr val="tx2"/>
                </a:solidFill>
                <a:latin typeface="Arial" panose="020B0604020202020204" pitchFamily="34" charset="0"/>
                <a:cs typeface="Arial" panose="020B0604020202020204" pitchFamily="34" charset="0"/>
                <a:sym typeface="+mn-ea"/>
              </a:rPr>
              <a:t>成绩结构</a:t>
            </a:r>
            <a:endParaRPr lang="zh-CN" altLang="en-US" sz="2400" b="1" dirty="0">
              <a:solidFill>
                <a:schemeClr val="tx2"/>
              </a:solidFill>
              <a:latin typeface="Arial" panose="020B0604020202020204" pitchFamily="34" charset="0"/>
              <a:cs typeface="Arial" panose="020B0604020202020204" pitchFamily="34" charset="0"/>
              <a:sym typeface="+mn-ea"/>
            </a:endParaRPr>
          </a:p>
          <a:p>
            <a:pPr lvl="3" eaLnBrk="1" hangingPunct="1">
              <a:lnSpc>
                <a:spcPct val="150000"/>
              </a:lnSpc>
            </a:pPr>
            <a:r>
              <a:rPr lang="zh-CN" altLang="en-US" sz="2400" b="1" dirty="0">
                <a:solidFill>
                  <a:schemeClr val="tx2"/>
                </a:solidFill>
                <a:latin typeface="Arial" panose="020B0604020202020204" pitchFamily="34" charset="0"/>
                <a:cs typeface="Arial" panose="020B0604020202020204" pitchFamily="34" charset="0"/>
                <a:sym typeface="+mn-ea"/>
              </a:rPr>
              <a:t>平时成绩（作业，课堂测试，期中考试等）：</a:t>
            </a:r>
            <a:r>
              <a:rPr lang="en-US" altLang="zh-CN" sz="2400" b="1" dirty="0">
                <a:solidFill>
                  <a:schemeClr val="tx2"/>
                </a:solidFill>
                <a:latin typeface="Arial" panose="020B0604020202020204" pitchFamily="34" charset="0"/>
                <a:cs typeface="Arial" panose="020B0604020202020204" pitchFamily="34" charset="0"/>
                <a:sym typeface="+mn-ea"/>
              </a:rPr>
              <a:t>  </a:t>
            </a:r>
            <a:r>
              <a:rPr lang="en-US" altLang="zh-CN" sz="2400" b="1" dirty="0">
                <a:solidFill>
                  <a:srgbClr val="3333FF"/>
                </a:solidFill>
                <a:latin typeface="Arial" panose="020B0604020202020204" pitchFamily="34" charset="0"/>
                <a:cs typeface="Arial" panose="020B0604020202020204" pitchFamily="34" charset="0"/>
                <a:sym typeface="+mn-ea"/>
              </a:rPr>
              <a:t>20%</a:t>
            </a:r>
            <a:endParaRPr lang="en-US" altLang="zh-CN" sz="2400" b="1" dirty="0">
              <a:solidFill>
                <a:srgbClr val="3333FF"/>
              </a:solidFill>
              <a:latin typeface="Arial" panose="020B0604020202020204" pitchFamily="34" charset="0"/>
              <a:cs typeface="Arial" panose="020B0604020202020204" pitchFamily="34" charset="0"/>
            </a:endParaRPr>
          </a:p>
          <a:p>
            <a:pPr lvl="3" eaLnBrk="1" hangingPunct="1">
              <a:lnSpc>
                <a:spcPct val="150000"/>
              </a:lnSpc>
            </a:pPr>
            <a:r>
              <a:rPr lang="zh-CN" altLang="en-US" sz="2400" b="1" dirty="0">
                <a:solidFill>
                  <a:schemeClr val="tx2"/>
                </a:solidFill>
                <a:latin typeface="Arial" panose="020B0604020202020204" pitchFamily="34" charset="0"/>
                <a:cs typeface="Arial" panose="020B0604020202020204" pitchFamily="34" charset="0"/>
                <a:sym typeface="+mn-ea"/>
              </a:rPr>
              <a:t>实验（实验代码，报告）：</a:t>
            </a:r>
            <a:r>
              <a:rPr lang="en-US" altLang="zh-CN" sz="2400" b="1" dirty="0">
                <a:solidFill>
                  <a:srgbClr val="3333FF"/>
                </a:solidFill>
                <a:latin typeface="Arial" panose="020B0604020202020204" pitchFamily="34" charset="0"/>
                <a:cs typeface="Arial" panose="020B0604020202020204" pitchFamily="34" charset="0"/>
                <a:sym typeface="+mn-ea"/>
              </a:rPr>
              <a:t>  20%</a:t>
            </a:r>
            <a:r>
              <a:rPr lang="en-US" altLang="zh-CN" sz="2400" b="1" dirty="0">
                <a:solidFill>
                  <a:schemeClr val="tx2"/>
                </a:solidFill>
                <a:latin typeface="Arial" panose="020B0604020202020204" pitchFamily="34" charset="0"/>
                <a:cs typeface="Arial" panose="020B0604020202020204" pitchFamily="34" charset="0"/>
                <a:sym typeface="+mn-ea"/>
              </a:rPr>
              <a:t> </a:t>
            </a:r>
            <a:endParaRPr lang="en-US" altLang="zh-CN" sz="2400" b="1" dirty="0">
              <a:solidFill>
                <a:schemeClr val="tx2"/>
              </a:solidFill>
              <a:latin typeface="Arial" panose="020B0604020202020204" pitchFamily="34" charset="0"/>
              <a:cs typeface="Arial" panose="020B0604020202020204" pitchFamily="34" charset="0"/>
            </a:endParaRPr>
          </a:p>
          <a:p>
            <a:pPr lvl="3" eaLnBrk="1" hangingPunct="1">
              <a:lnSpc>
                <a:spcPct val="150000"/>
              </a:lnSpc>
            </a:pPr>
            <a:r>
              <a:rPr lang="zh-CN" altLang="en-US" sz="2400" b="1" dirty="0">
                <a:solidFill>
                  <a:schemeClr val="tx2"/>
                </a:solidFill>
                <a:latin typeface="Arial" panose="020B0604020202020204" pitchFamily="34" charset="0"/>
                <a:cs typeface="Arial" panose="020B0604020202020204" pitchFamily="34" charset="0"/>
                <a:sym typeface="+mn-ea"/>
              </a:rPr>
              <a:t>期末考试</a:t>
            </a:r>
            <a:r>
              <a:rPr lang="en-US" altLang="zh-CN" sz="2400" b="1" dirty="0">
                <a:solidFill>
                  <a:schemeClr val="tx2"/>
                </a:solidFill>
                <a:latin typeface="Arial" panose="020B0604020202020204" pitchFamily="34" charset="0"/>
                <a:cs typeface="Arial" panose="020B0604020202020204" pitchFamily="34" charset="0"/>
                <a:sym typeface="+mn-ea"/>
              </a:rPr>
              <a:t>:</a:t>
            </a:r>
            <a:endParaRPr lang="en-US" altLang="zh-CN" sz="2400" b="1" dirty="0">
              <a:solidFill>
                <a:schemeClr val="tx2"/>
              </a:solidFill>
              <a:latin typeface="Arial" panose="020B0604020202020204" pitchFamily="34" charset="0"/>
              <a:cs typeface="Arial" panose="020B0604020202020204" pitchFamily="34" charset="0"/>
            </a:endParaRPr>
          </a:p>
          <a:p>
            <a:pPr lvl="4" eaLnBrk="1" hangingPunct="1">
              <a:lnSpc>
                <a:spcPct val="150000"/>
              </a:lnSpc>
            </a:pPr>
            <a:r>
              <a:rPr lang="zh-CN" altLang="en-US" sz="2400" b="1" dirty="0">
                <a:solidFill>
                  <a:schemeClr val="tx2"/>
                </a:solidFill>
                <a:latin typeface="Arial" panose="020B0604020202020204" pitchFamily="34" charset="0"/>
                <a:cs typeface="Arial" panose="020B0604020202020204" pitchFamily="34" charset="0"/>
                <a:sym typeface="+mn-ea"/>
              </a:rPr>
              <a:t>闭卷</a:t>
            </a:r>
            <a:r>
              <a:rPr lang="en-US" altLang="zh-CN" sz="2400" b="1" dirty="0">
                <a:solidFill>
                  <a:schemeClr val="tx2"/>
                </a:solidFill>
                <a:latin typeface="Arial" panose="020B0604020202020204" pitchFamily="34" charset="0"/>
                <a:cs typeface="Arial" panose="020B0604020202020204" pitchFamily="34" charset="0"/>
                <a:sym typeface="+mn-ea"/>
              </a:rPr>
              <a:t>  </a:t>
            </a:r>
            <a:r>
              <a:rPr lang="en-US" altLang="zh-CN" sz="2400" b="1" dirty="0">
                <a:solidFill>
                  <a:srgbClr val="3333FF"/>
                </a:solidFill>
                <a:latin typeface="Arial" panose="020B0604020202020204" pitchFamily="34" charset="0"/>
                <a:cs typeface="Arial" panose="020B0604020202020204" pitchFamily="34" charset="0"/>
                <a:sym typeface="+mn-ea"/>
              </a:rPr>
              <a:t>60%</a:t>
            </a:r>
            <a:endParaRPr lang="en-US" altLang="zh-CN" sz="2400" b="1" dirty="0">
              <a:solidFill>
                <a:srgbClr val="3333FF"/>
              </a:solidFill>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50000"/>
              </a:lnSpc>
              <a:spcBef>
                <a:spcPts val="0"/>
              </a:spcBef>
              <a:spcAft>
                <a:spcPct val="0"/>
              </a:spcAft>
              <a:buClr>
                <a:schemeClr val="bg2"/>
              </a:buClr>
              <a:buSzTx/>
              <a:buFont typeface="Monotype Sorts" pitchFamily="2" charset="2"/>
              <a:buNone/>
              <a:defRPr/>
            </a:pPr>
            <a:r>
              <a:rPr kumimoji="1" lang="zh-CN" altLang="en-US" sz="2400" b="1" i="0" u="none" strike="noStrike" kern="0" cap="none" spc="0" normalizeH="0" baseline="0" noProof="0" dirty="0">
                <a:ln>
                  <a:noFill/>
                </a:ln>
                <a:solidFill>
                  <a:schemeClr val="tx2">
                    <a:lumMod val="75000"/>
                  </a:schemeClr>
                </a:solidFill>
                <a:effectLst/>
                <a:uLnTx/>
                <a:uFillTx/>
                <a:latin typeface="华文楷体" panose="02010600040101010101" charset="-122"/>
                <a:ea typeface="华文楷体" panose="02010600040101010101" charset="-122"/>
                <a:cs typeface="华文楷体" panose="02010600040101010101" charset="-122"/>
              </a:rPr>
              <a:t>        </a:t>
            </a:r>
            <a:endParaRPr kumimoji="1" lang="zh-CN" altLang="en-US" sz="2400" b="1" i="0" u="none" strike="noStrike" kern="0" cap="none" spc="0" normalizeH="0" baseline="0" noProof="0" dirty="0">
              <a:ln>
                <a:noFill/>
              </a:ln>
              <a:solidFill>
                <a:schemeClr val="tx2">
                  <a:lumMod val="75000"/>
                </a:schemeClr>
              </a:solidFill>
              <a:effectLst/>
              <a:uLnTx/>
              <a:uFillTx/>
              <a:latin typeface="华文楷体" panose="02010600040101010101" charset="-122"/>
              <a:ea typeface="华文楷体" panose="02010600040101010101" charset="-122"/>
              <a:cs typeface="华文楷体" panose="02010600040101010101" charset="-122"/>
            </a:endParaRPr>
          </a:p>
          <a:p>
            <a:pPr marL="342900" marR="0" lvl="0" indent="-342900" algn="just" defTabSz="914400" rtl="0" eaLnBrk="1" fontAlgn="base" latinLnBrk="0" hangingPunct="1">
              <a:lnSpc>
                <a:spcPct val="90000"/>
              </a:lnSpc>
              <a:spcBef>
                <a:spcPct val="20000"/>
              </a:spcBef>
              <a:spcAft>
                <a:spcPct val="0"/>
              </a:spcAft>
              <a:buClr>
                <a:schemeClr val="bg2"/>
              </a:buClr>
              <a:buSzTx/>
              <a:buFont typeface="Monotype Sorts" pitchFamily="2" charset="2"/>
              <a:buChar char="§"/>
              <a:defRPr/>
            </a:pPr>
            <a:endParaRPr kumimoji="1" lang="zh-CN" altLang="en-US" sz="2400" b="1" i="0" u="none" strike="noStrike" kern="0" cap="none" spc="0" normalizeH="0" baseline="0" noProof="0" dirty="0">
              <a:ln>
                <a:noFill/>
              </a:ln>
              <a:solidFill>
                <a:schemeClr val="tx2">
                  <a:lumMod val="75000"/>
                </a:schemeClr>
              </a:solidFill>
              <a:effectLst/>
              <a:uLnTx/>
              <a:uFillTx/>
              <a:latin typeface="华文楷体" panose="02010600040101010101" charset="-122"/>
              <a:ea typeface="华文楷体" panose="02010600040101010101" charset="-122"/>
              <a:cs typeface="华文楷体" panose="02010600040101010101" charset="-122"/>
            </a:endParaRPr>
          </a:p>
        </p:txBody>
      </p:sp>
      <p:sp>
        <p:nvSpPr>
          <p:cNvPr id="7170" name="Rectangle 2"/>
          <p:cNvSpPr>
            <a:spLocks noGrp="1"/>
          </p:cNvSpPr>
          <p:nvPr>
            <p:ph type="title"/>
          </p:nvPr>
        </p:nvSpPr>
        <p:spPr/>
        <p:txBody>
          <a:bodyPr vert="horz" wrap="square" lIns="91436" tIns="45718" rIns="91436" bIns="45718" rtlCol="0" anchor="ctr">
            <a:normAutofit/>
            <a:scene3d>
              <a:camera prst="orthographicFront"/>
              <a:lightRig rig="soft" dir="t"/>
            </a:scene3d>
            <a:sp3d prstMaterial="softEdge">
              <a:bevelT w="25400" h="25400"/>
            </a:sp3d>
          </a:bodyPr>
          <a:lstStyle/>
          <a:p>
            <a:pPr lvl="0" algn="l">
              <a:buClrTx/>
              <a:buSzTx/>
              <a:buFontTx/>
            </a:pPr>
            <a:r>
              <a:rPr lang="zh-CN" altLang="en-US" dirty="0">
                <a:latin typeface="华文楷体" panose="02010600040101010101" charset="-122"/>
                <a:ea typeface="华文楷体" panose="02010600040101010101" charset="-122"/>
                <a:cs typeface="华文楷体" panose="02010600040101010101" charset="-122"/>
                <a:sym typeface="+mn-ea"/>
              </a:rPr>
              <a:t>课程简介</a:t>
            </a:r>
            <a:endParaRPr lang="zh-CN" altLang="en-US" dirty="0">
              <a:latin typeface="华文楷体" panose="02010600040101010101" charset="-122"/>
              <a:ea typeface="华文楷体" panose="02010600040101010101" charset="-122"/>
              <a:cs typeface="华文楷体" panose="02010600040101010101" charset="-122"/>
              <a:sym typeface="+mn-ea"/>
            </a:endParaRPr>
          </a:p>
        </p:txBody>
      </p:sp>
      <p:sp>
        <p:nvSpPr>
          <p:cNvPr id="2" name="日期占位符 1"/>
          <p:cNvSpPr>
            <a:spLocks noGrp="1"/>
          </p:cNvSpPr>
          <p:nvPr>
            <p:ph type="dt" sz="half" idx="10"/>
          </p:nvPr>
        </p:nvSpPr>
        <p:spPr/>
        <p:txBody>
          <a:bodyPr/>
          <a:lstStyle/>
          <a:p>
            <a:r>
              <a:rPr lang="en-US" altLang="zh-CN"/>
              <a:t>Data Structures and algorithms</a:t>
            </a:r>
            <a:endParaRPr lang="zh-CN" altLang="en-US"/>
          </a:p>
        </p:txBody>
      </p:sp>
      <p:sp>
        <p:nvSpPr>
          <p:cNvPr id="3" name="页脚占位符 2"/>
          <p:cNvSpPr>
            <a:spLocks noGrp="1"/>
          </p:cNvSpPr>
          <p:nvPr>
            <p:ph type="ftr" sz="quarter" idx="11"/>
          </p:nvPr>
        </p:nvSpPr>
        <p:spPr/>
        <p:txBody>
          <a:bodyPr/>
          <a:lstStyle/>
          <a:p>
            <a:r>
              <a:rPr lang="en-US" altLang="zh-CN"/>
              <a:t>Software College Northeastern University</a:t>
            </a:r>
            <a:endParaRPr lang="zh-CN" altLang="en-US"/>
          </a:p>
        </p:txBody>
      </p:sp>
      <p:sp>
        <p:nvSpPr>
          <p:cNvPr id="4" name="灯片编号占位符 3"/>
          <p:cNvSpPr>
            <a:spLocks noGrp="1"/>
          </p:cNvSpPr>
          <p:nvPr>
            <p:ph type="sldNum" sz="quarter" idx="12"/>
          </p:nvPr>
        </p:nvSpPr>
        <p:spPr/>
        <p:txBody>
          <a:bodyPr/>
          <a:lstStyle/>
          <a:p>
            <a:fld id="{6E1C0148-8E4B-4B2F-95CE-20B4709700AE}" type="slidenum">
              <a:rPr lang="zh-CN" altLang="en-US" smtClean="0"/>
            </a:fld>
            <a:endParaRPr lang="zh-CN" altLang="en-US" dirty="0"/>
          </a:p>
        </p:txBody>
      </p:sp>
    </p:spTree>
  </p:cSld>
  <p:clrMapOvr>
    <a:masterClrMapping/>
  </p:clrMapOvr>
  <p:transition>
    <p:cover dir="d"/>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0003" name="Rectangle 3"/>
          <p:cNvSpPr>
            <a:spLocks noGrp="1" noChangeArrowheads="1"/>
          </p:cNvSpPr>
          <p:nvPr>
            <p:ph idx="1"/>
          </p:nvPr>
        </p:nvSpPr>
        <p:spPr>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normAutofit/>
          </a:bodyPr>
          <a:lstStyle/>
          <a:p>
            <a:pPr marL="342900" marR="0" lvl="0" indent="-342900" algn="l" defTabSz="914400" rtl="0" eaLnBrk="0" fontAlgn="base" latinLnBrk="0" hangingPunct="0">
              <a:lnSpc>
                <a:spcPct val="100000"/>
              </a:lnSpc>
              <a:spcBef>
                <a:spcPct val="20000"/>
              </a:spcBef>
              <a:spcAft>
                <a:spcPct val="0"/>
              </a:spcAft>
              <a:buClr>
                <a:schemeClr val="accent1"/>
              </a:buClr>
              <a:buSzTx/>
              <a:buFontTx/>
              <a:buChar char="•"/>
              <a:defRPr/>
            </a:pPr>
            <a:r>
              <a:rPr kumimoji="1" lang="en-US" altLang="zh-CN" sz="3600" b="1" i="0" u="none" strike="noStrike" kern="0" cap="none" spc="0" normalizeH="0" baseline="0" noProof="0">
                <a:ln>
                  <a:noFill/>
                </a:ln>
                <a:solidFill>
                  <a:schemeClr val="accent1"/>
                </a:solidFill>
                <a:effectLst>
                  <a:outerShdw blurRad="38100" dist="38100" dir="2700000" algn="tl">
                    <a:srgbClr val="C0C0C0"/>
                  </a:outerShdw>
                </a:effectLst>
                <a:uLnTx/>
                <a:uFillTx/>
                <a:cs typeface="华文楷体" panose="02010600040101010101" charset="-122"/>
              </a:rPr>
              <a:t>《</a:t>
            </a:r>
            <a:r>
              <a:rPr kumimoji="1" lang="zh-CN" altLang="en-US" sz="3600" b="1" i="0" u="none" strike="noStrike" kern="0" cap="none" spc="0" normalizeH="0" baseline="0" noProof="0">
                <a:ln>
                  <a:noFill/>
                </a:ln>
                <a:solidFill>
                  <a:schemeClr val="accent1"/>
                </a:solidFill>
                <a:effectLst>
                  <a:outerShdw blurRad="38100" dist="38100" dir="2700000" algn="tl">
                    <a:srgbClr val="C0C0C0"/>
                  </a:outerShdw>
                </a:effectLst>
                <a:uLnTx/>
                <a:uFillTx/>
                <a:cs typeface="华文楷体" panose="02010600040101010101" charset="-122"/>
              </a:rPr>
              <a:t>数据结构（</a:t>
            </a:r>
            <a:r>
              <a:rPr kumimoji="1" lang="en-US" altLang="zh-CN" sz="3600" b="1" i="0" u="none" strike="noStrike" kern="0" cap="none" spc="0" normalizeH="0" baseline="0" noProof="0">
                <a:ln>
                  <a:noFill/>
                </a:ln>
                <a:solidFill>
                  <a:schemeClr val="accent1"/>
                </a:solidFill>
                <a:effectLst>
                  <a:outerShdw blurRad="38100" dist="38100" dir="2700000" algn="tl">
                    <a:srgbClr val="C0C0C0"/>
                  </a:outerShdw>
                </a:effectLst>
                <a:uLnTx/>
                <a:uFillTx/>
                <a:cs typeface="华文楷体" panose="02010600040101010101" charset="-122"/>
              </a:rPr>
              <a:t>C</a:t>
            </a:r>
            <a:r>
              <a:rPr kumimoji="1" lang="zh-CN" altLang="en-US" sz="3600" b="1" i="0" u="none" strike="noStrike" kern="0" cap="none" spc="0" normalizeH="0" baseline="0" noProof="0">
                <a:ln>
                  <a:noFill/>
                </a:ln>
                <a:solidFill>
                  <a:schemeClr val="accent1"/>
                </a:solidFill>
                <a:effectLst>
                  <a:outerShdw blurRad="38100" dist="38100" dir="2700000" algn="tl">
                    <a:srgbClr val="C0C0C0"/>
                  </a:outerShdw>
                </a:effectLst>
                <a:uLnTx/>
                <a:uFillTx/>
                <a:cs typeface="华文楷体" panose="02010600040101010101" charset="-122"/>
              </a:rPr>
              <a:t>语言版）</a:t>
            </a:r>
            <a:r>
              <a:rPr kumimoji="1" lang="en-US" altLang="zh-CN" sz="3600" b="1" i="0" u="none" strike="noStrike" kern="0" cap="none" spc="0" normalizeH="0" baseline="0" noProof="0">
                <a:ln>
                  <a:noFill/>
                </a:ln>
                <a:solidFill>
                  <a:schemeClr val="accent1"/>
                </a:solidFill>
                <a:effectLst>
                  <a:outerShdw blurRad="38100" dist="38100" dir="2700000" algn="tl">
                    <a:srgbClr val="C0C0C0"/>
                  </a:outerShdw>
                </a:effectLst>
                <a:uLnTx/>
                <a:uFillTx/>
                <a:cs typeface="华文楷体" panose="02010600040101010101" charset="-122"/>
              </a:rPr>
              <a:t>》</a:t>
            </a:r>
            <a:endParaRPr kumimoji="1" lang="en-US" altLang="zh-CN" sz="3600" b="1" i="0" u="none" strike="noStrike" kern="0" cap="none" spc="0" normalizeH="0" baseline="0" noProof="0">
              <a:ln>
                <a:noFill/>
              </a:ln>
              <a:solidFill>
                <a:schemeClr val="accent1"/>
              </a:solidFill>
              <a:effectLst>
                <a:outerShdw blurRad="38100" dist="38100" dir="2700000" algn="tl">
                  <a:srgbClr val="C0C0C0"/>
                </a:outerShdw>
              </a:effectLst>
              <a:uLnTx/>
              <a:uFillTx/>
              <a:cs typeface="华文楷体" panose="02010600040101010101" charset="-122"/>
            </a:endParaRPr>
          </a:p>
          <a:p>
            <a:pPr marL="342900" marR="0" lvl="0" indent="-342900" algn="l" defTabSz="914400" rtl="0" eaLnBrk="0" fontAlgn="base" latinLnBrk="0" hangingPunct="0">
              <a:lnSpc>
                <a:spcPct val="100000"/>
              </a:lnSpc>
              <a:spcBef>
                <a:spcPct val="20000"/>
              </a:spcBef>
              <a:spcAft>
                <a:spcPct val="0"/>
              </a:spcAft>
              <a:buClr>
                <a:schemeClr val="accent1"/>
              </a:buClr>
              <a:buSzTx/>
              <a:buFontTx/>
              <a:buNone/>
              <a:defRPr/>
            </a:pPr>
            <a:r>
              <a:rPr kumimoji="1" lang="zh-CN" altLang="en-US" sz="3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黑体" panose="02010609060101010101" pitchFamily="2" charset="-122"/>
                <a:cs typeface="+mn-cs"/>
              </a:rPr>
              <a:t>        </a:t>
            </a:r>
            <a:r>
              <a:rPr kumimoji="1" lang="zh-CN" altLang="en-US" sz="3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anose="02010609030101010101" pitchFamily="49" charset="-122"/>
                <a:cs typeface="+mn-cs"/>
              </a:rPr>
              <a:t>严蔚敏 吴伟民编著     清华大学出版社</a:t>
            </a:r>
            <a:endParaRPr kumimoji="1" lang="zh-CN" altLang="en-US" sz="3600" b="1" i="0" u="none" strike="noStrike" kern="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anose="02010609030101010101" pitchFamily="49" charset="-122"/>
              <a:cs typeface="+mn-cs"/>
            </a:endParaRPr>
          </a:p>
        </p:txBody>
      </p:sp>
      <p:sp>
        <p:nvSpPr>
          <p:cNvPr id="640002" name="Rectangle 2"/>
          <p:cNvSpPr>
            <a:spLocks noGrp="1" noChangeArrowheads="1"/>
          </p:cNvSpPr>
          <p:nvPr>
            <p:ph type="title"/>
          </p:nvPr>
        </p:nvSpPr>
        <p:spPr>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ctr" anchorCtr="0" compatLnSpc="1"/>
          <a:lstStyle/>
          <a:p>
            <a:pPr marL="0" marR="0" lvl="0" algn="l" rtl="0" latinLnBrk="0">
              <a:lnSpc>
                <a:spcPct val="100000"/>
              </a:lnSpc>
              <a:buClrTx/>
              <a:buSzTx/>
              <a:buFontTx/>
              <a:buNone/>
            </a:pPr>
            <a:r>
              <a:rPr lang="zh-CN" altLang="en-US" sz="4100" b="1" i="0" u="none" strike="noStrike" cap="none" spc="0" normalizeH="0" baseline="0" dirty="0">
                <a:solidFill>
                  <a:schemeClr val="tx2"/>
                </a:solidFill>
                <a:latin typeface="华文楷体" panose="02010600040101010101" charset="-122"/>
                <a:ea typeface="华文楷体" panose="02010600040101010101" charset="-122"/>
                <a:cs typeface="华文楷体" panose="02010600040101010101" charset="-122"/>
              </a:rPr>
              <a:t>参考教材</a:t>
            </a:r>
            <a:endParaRPr lang="zh-CN" altLang="en-US" sz="4100" b="1" i="0" u="none" strike="noStrike" cap="none" spc="0" normalizeH="0" baseline="0" dirty="0">
              <a:solidFill>
                <a:schemeClr val="tx2"/>
              </a:solidFill>
              <a:latin typeface="华文楷体" panose="02010600040101010101" charset="-122"/>
              <a:ea typeface="华文楷体" panose="02010600040101010101" charset="-122"/>
              <a:cs typeface="华文楷体" panose="02010600040101010101" charset="-122"/>
            </a:endParaRPr>
          </a:p>
        </p:txBody>
      </p:sp>
      <p:pic>
        <p:nvPicPr>
          <p:cNvPr id="8196" name="Picture 4" descr="cover_DS_2"/>
          <p:cNvPicPr>
            <a:picLocks noChangeAspect="1"/>
          </p:cNvPicPr>
          <p:nvPr/>
        </p:nvPicPr>
        <p:blipFill>
          <a:blip r:embed="rId1"/>
          <a:stretch>
            <a:fillRect/>
          </a:stretch>
        </p:blipFill>
        <p:spPr>
          <a:xfrm>
            <a:off x="1763713" y="2563813"/>
            <a:ext cx="2627312" cy="3657600"/>
          </a:xfrm>
          <a:prstGeom prst="rect">
            <a:avLst/>
          </a:prstGeom>
          <a:noFill/>
          <a:ln w="9525">
            <a:noFill/>
          </a:ln>
        </p:spPr>
      </p:pic>
      <p:pic>
        <p:nvPicPr>
          <p:cNvPr id="8197" name="Picture 5" descr="cover_DS_1"/>
          <p:cNvPicPr>
            <a:picLocks noChangeAspect="1"/>
          </p:cNvPicPr>
          <p:nvPr/>
        </p:nvPicPr>
        <p:blipFill>
          <a:blip r:embed="rId2"/>
          <a:stretch>
            <a:fillRect/>
          </a:stretch>
        </p:blipFill>
        <p:spPr>
          <a:xfrm>
            <a:off x="5003800" y="2492375"/>
            <a:ext cx="2527300" cy="3716338"/>
          </a:xfrm>
          <a:prstGeom prst="rect">
            <a:avLst/>
          </a:prstGeom>
          <a:noFill/>
          <a:ln w="9525">
            <a:noFill/>
          </a:ln>
        </p:spPr>
      </p:pic>
      <p:sp>
        <p:nvSpPr>
          <p:cNvPr id="2" name="日期占位符 1"/>
          <p:cNvSpPr>
            <a:spLocks noGrp="1"/>
          </p:cNvSpPr>
          <p:nvPr>
            <p:ph type="dt" sz="half" idx="10"/>
          </p:nvPr>
        </p:nvSpPr>
        <p:spPr/>
        <p:txBody>
          <a:bodyPr/>
          <a:lstStyle/>
          <a:p>
            <a:r>
              <a:rPr lang="en-US" altLang="zh-CN"/>
              <a:t>Data Structures and algorithms</a:t>
            </a:r>
            <a:endParaRPr lang="zh-CN" altLang="en-US"/>
          </a:p>
        </p:txBody>
      </p:sp>
      <p:sp>
        <p:nvSpPr>
          <p:cNvPr id="3" name="页脚占位符 2"/>
          <p:cNvSpPr>
            <a:spLocks noGrp="1"/>
          </p:cNvSpPr>
          <p:nvPr>
            <p:ph type="ftr" sz="quarter" idx="11"/>
          </p:nvPr>
        </p:nvSpPr>
        <p:spPr/>
        <p:txBody>
          <a:bodyPr/>
          <a:lstStyle/>
          <a:p>
            <a:r>
              <a:rPr lang="en-US" altLang="zh-CN"/>
              <a:t>Software College Northeastern University</a:t>
            </a:r>
            <a:endParaRPr lang="zh-CN" altLang="en-US"/>
          </a:p>
        </p:txBody>
      </p:sp>
      <p:sp>
        <p:nvSpPr>
          <p:cNvPr id="4" name="灯片编号占位符 3"/>
          <p:cNvSpPr>
            <a:spLocks noGrp="1"/>
          </p:cNvSpPr>
          <p:nvPr>
            <p:ph type="sldNum" sz="quarter" idx="12"/>
          </p:nvPr>
        </p:nvSpPr>
        <p:spPr/>
        <p:txBody>
          <a:bodyPr/>
          <a:lstStyle/>
          <a:p>
            <a:fld id="{6E1C0148-8E4B-4B2F-95CE-20B4709700AE}" type="slidenum">
              <a:rPr lang="zh-CN" altLang="en-US" smtClean="0"/>
            </a:fld>
            <a:endParaRPr lang="zh-CN"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3"/>
          <p:cNvSpPr>
            <a:spLocks noGrp="1"/>
          </p:cNvSpPr>
          <p:nvPr>
            <p:ph idx="1"/>
          </p:nvPr>
        </p:nvSpPr>
        <p:spPr/>
        <p:txBody>
          <a:bodyPr vert="horz" wrap="square" lIns="91440" tIns="45720" rIns="91440" bIns="45720" anchor="t">
            <a:normAutofit/>
          </a:bodyPr>
          <a:lstStyle/>
          <a:p>
            <a:pPr eaLnBrk="1" hangingPunct="1">
              <a:lnSpc>
                <a:spcPct val="150000"/>
              </a:lnSpc>
              <a:buNone/>
            </a:pPr>
            <a:r>
              <a:rPr lang="zh-CN" altLang="en-US" sz="2400" b="1" dirty="0">
                <a:solidFill>
                  <a:srgbClr val="002060"/>
                </a:solidFill>
                <a:ea typeface="楷体_GB2312" panose="02010609030101010101" pitchFamily="49" charset="-122"/>
              </a:rPr>
              <a:t>第</a:t>
            </a:r>
            <a:r>
              <a:rPr lang="en-US" altLang="zh-CN" sz="2400" b="1" dirty="0">
                <a:solidFill>
                  <a:srgbClr val="002060"/>
                </a:solidFill>
                <a:ea typeface="楷体_GB2312" panose="02010609030101010101" pitchFamily="49" charset="-122"/>
              </a:rPr>
              <a:t>1</a:t>
            </a:r>
            <a:r>
              <a:rPr lang="zh-CN" altLang="en-US" sz="2400" b="1" dirty="0">
                <a:solidFill>
                  <a:srgbClr val="002060"/>
                </a:solidFill>
                <a:ea typeface="楷体_GB2312" panose="02010609030101010101" pitchFamily="49" charset="-122"/>
              </a:rPr>
              <a:t>章 绪论</a:t>
            </a:r>
            <a:endParaRPr lang="en-US" altLang="zh-CN" sz="2400" b="1" dirty="0">
              <a:solidFill>
                <a:srgbClr val="002060"/>
              </a:solidFill>
              <a:ea typeface="楷体_GB2312" panose="02010609030101010101" pitchFamily="49" charset="-122"/>
            </a:endParaRPr>
          </a:p>
          <a:p>
            <a:pPr eaLnBrk="1" hangingPunct="1">
              <a:lnSpc>
                <a:spcPct val="150000"/>
              </a:lnSpc>
              <a:buNone/>
            </a:pPr>
            <a:r>
              <a:rPr lang="zh-CN" altLang="en-US" sz="2400" b="1" dirty="0">
                <a:solidFill>
                  <a:srgbClr val="002060"/>
                </a:solidFill>
                <a:ea typeface="楷体_GB2312" panose="02010609030101010101" pitchFamily="49" charset="-122"/>
              </a:rPr>
              <a:t>第</a:t>
            </a:r>
            <a:r>
              <a:rPr lang="en-US" altLang="zh-CN" sz="2400" b="1" dirty="0">
                <a:solidFill>
                  <a:srgbClr val="002060"/>
                </a:solidFill>
                <a:ea typeface="楷体_GB2312" panose="02010609030101010101" pitchFamily="49" charset="-122"/>
              </a:rPr>
              <a:t>2</a:t>
            </a:r>
            <a:r>
              <a:rPr lang="zh-CN" altLang="en-US" sz="2400" b="1" dirty="0">
                <a:solidFill>
                  <a:srgbClr val="002060"/>
                </a:solidFill>
                <a:ea typeface="楷体_GB2312" panose="02010609030101010101" pitchFamily="49" charset="-122"/>
              </a:rPr>
              <a:t>章 线性表</a:t>
            </a:r>
            <a:endParaRPr lang="en-US" altLang="zh-CN" sz="2400" b="1" dirty="0">
              <a:solidFill>
                <a:srgbClr val="002060"/>
              </a:solidFill>
              <a:ea typeface="楷体_GB2312" panose="02010609030101010101" pitchFamily="49" charset="-122"/>
            </a:endParaRPr>
          </a:p>
          <a:p>
            <a:pPr eaLnBrk="1" hangingPunct="1">
              <a:lnSpc>
                <a:spcPct val="150000"/>
              </a:lnSpc>
              <a:buNone/>
            </a:pPr>
            <a:r>
              <a:rPr lang="zh-CN" altLang="en-US" sz="2400" b="1" dirty="0">
                <a:solidFill>
                  <a:srgbClr val="002060"/>
                </a:solidFill>
                <a:ea typeface="楷体_GB2312" panose="02010609030101010101" pitchFamily="49" charset="-122"/>
              </a:rPr>
              <a:t>第</a:t>
            </a:r>
            <a:r>
              <a:rPr lang="en-US" altLang="zh-CN" sz="2400" b="1" dirty="0">
                <a:solidFill>
                  <a:srgbClr val="002060"/>
                </a:solidFill>
                <a:ea typeface="楷体_GB2312" panose="02010609030101010101" pitchFamily="49" charset="-122"/>
              </a:rPr>
              <a:t>3</a:t>
            </a:r>
            <a:r>
              <a:rPr lang="zh-CN" altLang="en-US" sz="2400" b="1" dirty="0">
                <a:solidFill>
                  <a:srgbClr val="002060"/>
                </a:solidFill>
                <a:ea typeface="楷体_GB2312" panose="02010609030101010101" pitchFamily="49" charset="-122"/>
              </a:rPr>
              <a:t>章 栈和队列</a:t>
            </a:r>
            <a:endParaRPr lang="en-US" altLang="zh-CN" sz="2400" b="1" dirty="0">
              <a:solidFill>
                <a:srgbClr val="002060"/>
              </a:solidFill>
              <a:ea typeface="楷体_GB2312" panose="02010609030101010101" pitchFamily="49" charset="-122"/>
            </a:endParaRPr>
          </a:p>
          <a:p>
            <a:pPr eaLnBrk="1" hangingPunct="1">
              <a:lnSpc>
                <a:spcPct val="150000"/>
              </a:lnSpc>
              <a:buNone/>
            </a:pPr>
            <a:r>
              <a:rPr lang="zh-CN" altLang="en-US" sz="2400" b="1" dirty="0">
                <a:solidFill>
                  <a:srgbClr val="002060"/>
                </a:solidFill>
                <a:ea typeface="楷体_GB2312" panose="02010609030101010101" pitchFamily="49" charset="-122"/>
              </a:rPr>
              <a:t>第</a:t>
            </a:r>
            <a:r>
              <a:rPr lang="en-US" altLang="zh-CN" sz="2400" b="1" dirty="0">
                <a:solidFill>
                  <a:srgbClr val="002060"/>
                </a:solidFill>
                <a:ea typeface="楷体_GB2312" panose="02010609030101010101" pitchFamily="49" charset="-122"/>
              </a:rPr>
              <a:t>4</a:t>
            </a:r>
            <a:r>
              <a:rPr lang="zh-CN" altLang="en-US" sz="2400" b="1" dirty="0">
                <a:solidFill>
                  <a:srgbClr val="002060"/>
                </a:solidFill>
                <a:ea typeface="楷体_GB2312" panose="02010609030101010101" pitchFamily="49" charset="-122"/>
              </a:rPr>
              <a:t>章 串</a:t>
            </a:r>
            <a:endParaRPr lang="zh-CN" altLang="en-US" sz="2400" b="1" dirty="0">
              <a:solidFill>
                <a:srgbClr val="002060"/>
              </a:solidFill>
              <a:ea typeface="楷体_GB2312" panose="02010609030101010101" pitchFamily="49" charset="-122"/>
            </a:endParaRPr>
          </a:p>
          <a:p>
            <a:pPr eaLnBrk="1" hangingPunct="1">
              <a:lnSpc>
                <a:spcPct val="150000"/>
              </a:lnSpc>
              <a:buNone/>
            </a:pPr>
            <a:r>
              <a:rPr lang="zh-CN" altLang="en-US" sz="2400" b="1" dirty="0">
                <a:solidFill>
                  <a:srgbClr val="002060"/>
                </a:solidFill>
                <a:latin typeface="楷体_GB2312" panose="02010609030101010101" pitchFamily="49" charset="-122"/>
                <a:ea typeface="楷体_GB2312" panose="02010609030101010101" pitchFamily="49" charset="-122"/>
                <a:sym typeface="+mn-ea"/>
              </a:rPr>
              <a:t>第</a:t>
            </a:r>
            <a:r>
              <a:rPr lang="en-US" altLang="zh-CN" sz="2400" b="1" dirty="0">
                <a:solidFill>
                  <a:srgbClr val="002060"/>
                </a:solidFill>
                <a:latin typeface="楷体_GB2312" panose="02010609030101010101" pitchFamily="49" charset="-122"/>
                <a:ea typeface="楷体_GB2312" panose="02010609030101010101" pitchFamily="49" charset="-122"/>
                <a:sym typeface="+mn-ea"/>
              </a:rPr>
              <a:t>5</a:t>
            </a:r>
            <a:r>
              <a:rPr lang="zh-CN" altLang="en-US" sz="2400" b="1" dirty="0">
                <a:solidFill>
                  <a:srgbClr val="002060"/>
                </a:solidFill>
                <a:latin typeface="楷体_GB2312" panose="02010609030101010101" pitchFamily="49" charset="-122"/>
                <a:ea typeface="楷体_GB2312" panose="02010609030101010101" pitchFamily="49" charset="-122"/>
                <a:sym typeface="+mn-ea"/>
              </a:rPr>
              <a:t>章 数组和矩阵</a:t>
            </a:r>
            <a:endParaRPr lang="en-US" altLang="zh-CN" sz="2400" b="1" dirty="0">
              <a:solidFill>
                <a:srgbClr val="002060"/>
              </a:solidFill>
              <a:latin typeface="楷体_GB2312" panose="02010609030101010101" pitchFamily="49" charset="-122"/>
              <a:ea typeface="楷体_GB2312" panose="02010609030101010101" pitchFamily="49" charset="-122"/>
            </a:endParaRPr>
          </a:p>
          <a:p>
            <a:pPr eaLnBrk="1" hangingPunct="1">
              <a:lnSpc>
                <a:spcPct val="150000"/>
              </a:lnSpc>
              <a:buNone/>
            </a:pPr>
            <a:endParaRPr lang="en-US" altLang="zh-CN" sz="2400" dirty="0">
              <a:solidFill>
                <a:srgbClr val="002060"/>
              </a:solidFill>
              <a:cs typeface="华文楷体" panose="02010600040101010101" charset="-122"/>
            </a:endParaRPr>
          </a:p>
        </p:txBody>
      </p:sp>
      <p:sp>
        <p:nvSpPr>
          <p:cNvPr id="20483" name="Rectangle 2"/>
          <p:cNvSpPr>
            <a:spLocks noGrp="1"/>
          </p:cNvSpPr>
          <p:nvPr>
            <p:ph type="title"/>
          </p:nvPr>
        </p:nvSpPr>
        <p:spPr/>
        <p:txBody>
          <a:bodyPr vert="horz" wrap="square" lIns="91436" tIns="45718" rIns="91436" bIns="45718" rtlCol="0" anchor="ctr">
            <a:normAutofit/>
            <a:scene3d>
              <a:camera prst="orthographicFront"/>
              <a:lightRig rig="soft" dir="t"/>
            </a:scene3d>
            <a:sp3d prstMaterial="softEdge">
              <a:bevelT w="25400" h="25400"/>
            </a:sp3d>
          </a:bodyPr>
          <a:lstStyle/>
          <a:p>
            <a:pPr lvl="0" algn="l"/>
            <a:r>
              <a:rPr lang="zh-CN" altLang="en-US" dirty="0">
                <a:latin typeface="华文楷体" panose="02010600040101010101" charset="-122"/>
                <a:ea typeface="华文楷体" panose="02010600040101010101" charset="-122"/>
                <a:cs typeface="华文楷体" panose="02010600040101010101" charset="-122"/>
                <a:sym typeface="+mn-ea"/>
              </a:rPr>
              <a:t>2 章节目录</a:t>
            </a:r>
            <a:endParaRPr lang="zh-CN" altLang="en-US" dirty="0">
              <a:latin typeface="华文楷体" panose="02010600040101010101" charset="-122"/>
              <a:ea typeface="华文楷体" panose="02010600040101010101" charset="-122"/>
              <a:cs typeface="华文楷体" panose="02010600040101010101" charset="-122"/>
              <a:sym typeface="+mn-ea"/>
            </a:endParaRPr>
          </a:p>
        </p:txBody>
      </p:sp>
      <p:sp>
        <p:nvSpPr>
          <p:cNvPr id="2" name="Rectangle 3"/>
          <p:cNvSpPr>
            <a:spLocks noGrp="1"/>
          </p:cNvSpPr>
          <p:nvPr/>
        </p:nvSpPr>
        <p:spPr>
          <a:xfrm>
            <a:off x="3639820" y="1960880"/>
            <a:ext cx="4402455" cy="4679950"/>
          </a:xfrm>
          <a:prstGeom prst="rect">
            <a:avLst/>
          </a:prstGeom>
        </p:spPr>
        <p:txBody>
          <a:bodyPr vert="horz" wrap="square" lIns="91440" tIns="45720" rIns="91440" bIns="45720" anchor="t">
            <a:normAutofit/>
          </a:bodyPr>
          <a:lstStyle>
            <a:lvl1pPr marL="365760" indent="-255905" algn="l" rtl="0" eaLnBrk="1" latinLnBrk="0" hangingPunct="1">
              <a:spcBef>
                <a:spcPts val="400"/>
              </a:spcBef>
              <a:spcAft>
                <a:spcPts val="1000"/>
              </a:spcAft>
              <a:buClr>
                <a:schemeClr val="accent1"/>
              </a:buClr>
              <a:buSzPct val="68000"/>
              <a:buFont typeface="Wingdings 3" panose="05040102010807070707"/>
              <a:buChar char=""/>
              <a:defRPr kumimoji="0" sz="2700" kern="1200">
                <a:solidFill>
                  <a:schemeClr val="tx2">
                    <a:lumMod val="75000"/>
                  </a:schemeClr>
                </a:solidFill>
                <a:latin typeface="华文楷体" panose="02010600040101010101" charset="-122"/>
                <a:ea typeface="华文楷体" panose="02010600040101010101" charset="-122"/>
                <a:cs typeface="+mn-cs"/>
              </a:defRPr>
            </a:lvl1pPr>
            <a:lvl2pPr marL="621665" indent="-228600" algn="l" rtl="0" eaLnBrk="1" latinLnBrk="0" hangingPunct="1">
              <a:spcBef>
                <a:spcPts val="325"/>
              </a:spcBef>
              <a:spcAft>
                <a:spcPts val="1000"/>
              </a:spcAft>
              <a:buClr>
                <a:schemeClr val="accent1"/>
              </a:buClr>
              <a:buFont typeface="Verdana" panose="020B0604030504040204"/>
              <a:buChar char="◦"/>
              <a:defRPr kumimoji="0" sz="2300" kern="1200">
                <a:solidFill>
                  <a:schemeClr val="tx2">
                    <a:lumMod val="75000"/>
                  </a:schemeClr>
                </a:solidFill>
                <a:latin typeface="华文楷体" panose="02010600040101010101" charset="-122"/>
                <a:ea typeface="华文楷体" panose="02010600040101010101" charset="-122"/>
                <a:cs typeface="+mn-cs"/>
              </a:defRPr>
            </a:lvl2pPr>
            <a:lvl3pPr marL="859790" indent="-228600" algn="l" rtl="0" eaLnBrk="1" latinLnBrk="0" hangingPunct="1">
              <a:spcBef>
                <a:spcPts val="350"/>
              </a:spcBef>
              <a:spcAft>
                <a:spcPts val="1000"/>
              </a:spcAft>
              <a:buClr>
                <a:schemeClr val="accent2"/>
              </a:buClr>
              <a:buSzPct val="100000"/>
              <a:buFont typeface="Wingdings 2" panose="05020102010507070707"/>
              <a:buChar char=""/>
              <a:defRPr kumimoji="0" sz="2100" kern="1200">
                <a:solidFill>
                  <a:schemeClr val="tx2">
                    <a:lumMod val="75000"/>
                  </a:schemeClr>
                </a:solidFill>
                <a:latin typeface="华文楷体" panose="02010600040101010101" charset="-122"/>
                <a:ea typeface="华文楷体" panose="02010600040101010101" charset="-122"/>
                <a:cs typeface="+mn-cs"/>
              </a:defRPr>
            </a:lvl3pPr>
            <a:lvl4pPr marL="1143000" indent="-228600" algn="l" rtl="0" eaLnBrk="1" latinLnBrk="0" hangingPunct="1">
              <a:spcBef>
                <a:spcPts val="350"/>
              </a:spcBef>
              <a:buClr>
                <a:schemeClr val="accent2"/>
              </a:buClr>
              <a:buFont typeface="Wingdings 2" panose="05020102010507070707"/>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panose="05020102010507070707"/>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panose="05020102010507070707"/>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panose="05020102010507070707"/>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panose="05020102010507070707"/>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panose="05020102010507070707"/>
              <a:buChar char=""/>
              <a:defRPr kumimoji="0" sz="1600" kern="1200" baseline="0">
                <a:solidFill>
                  <a:schemeClr val="tx1"/>
                </a:solidFill>
                <a:latin typeface="+mn-lt"/>
                <a:ea typeface="+mn-ea"/>
                <a:cs typeface="+mn-cs"/>
              </a:defRPr>
            </a:lvl9pPr>
          </a:lstStyle>
          <a:p>
            <a:pPr eaLnBrk="1" hangingPunct="1">
              <a:lnSpc>
                <a:spcPct val="150000"/>
              </a:lnSpc>
              <a:buNone/>
            </a:pPr>
            <a:r>
              <a:rPr lang="zh-CN" altLang="en-US" sz="2400" b="1" dirty="0">
                <a:solidFill>
                  <a:srgbClr val="002060"/>
                </a:solidFill>
                <a:latin typeface="楷体_GB2312" panose="02010609030101010101" pitchFamily="49" charset="-122"/>
                <a:ea typeface="楷体_GB2312" panose="02010609030101010101" pitchFamily="49" charset="-122"/>
                <a:sym typeface="+mn-ea"/>
              </a:rPr>
              <a:t>第</a:t>
            </a:r>
            <a:r>
              <a:rPr lang="en-US" altLang="zh-CN" sz="2400" b="1" dirty="0">
                <a:solidFill>
                  <a:srgbClr val="002060"/>
                </a:solidFill>
                <a:latin typeface="楷体_GB2312" panose="02010609030101010101" pitchFamily="49" charset="-122"/>
                <a:ea typeface="楷体_GB2312" panose="02010609030101010101" pitchFamily="49" charset="-122"/>
                <a:sym typeface="+mn-ea"/>
              </a:rPr>
              <a:t>6</a:t>
            </a:r>
            <a:r>
              <a:rPr lang="zh-CN" altLang="en-US" sz="2400" b="1" dirty="0">
                <a:solidFill>
                  <a:srgbClr val="002060"/>
                </a:solidFill>
                <a:latin typeface="楷体_GB2312" panose="02010609030101010101" pitchFamily="49" charset="-122"/>
                <a:ea typeface="楷体_GB2312" panose="02010609030101010101" pitchFamily="49" charset="-122"/>
                <a:sym typeface="+mn-ea"/>
              </a:rPr>
              <a:t>章 树和二叉树</a:t>
            </a:r>
            <a:endParaRPr lang="en-US" altLang="zh-CN" sz="2400" b="1" dirty="0">
              <a:solidFill>
                <a:srgbClr val="002060"/>
              </a:solidFill>
              <a:latin typeface="楷体_GB2312" panose="02010609030101010101" pitchFamily="49" charset="-122"/>
              <a:ea typeface="楷体_GB2312" panose="02010609030101010101" pitchFamily="49" charset="-122"/>
            </a:endParaRPr>
          </a:p>
          <a:p>
            <a:pPr eaLnBrk="1" hangingPunct="1">
              <a:lnSpc>
                <a:spcPct val="150000"/>
              </a:lnSpc>
              <a:buNone/>
            </a:pPr>
            <a:r>
              <a:rPr lang="zh-CN" altLang="en-US" sz="2400" b="1" dirty="0">
                <a:solidFill>
                  <a:srgbClr val="002060"/>
                </a:solidFill>
                <a:latin typeface="楷体_GB2312" panose="02010609030101010101" pitchFamily="49" charset="-122"/>
                <a:ea typeface="楷体_GB2312" panose="02010609030101010101" pitchFamily="49" charset="-122"/>
                <a:sym typeface="+mn-ea"/>
              </a:rPr>
              <a:t>第</a:t>
            </a:r>
            <a:r>
              <a:rPr lang="en-US" altLang="zh-CN" sz="2400" b="1" dirty="0">
                <a:solidFill>
                  <a:srgbClr val="002060"/>
                </a:solidFill>
                <a:latin typeface="楷体_GB2312" panose="02010609030101010101" pitchFamily="49" charset="-122"/>
                <a:ea typeface="楷体_GB2312" panose="02010609030101010101" pitchFamily="49" charset="-122"/>
                <a:sym typeface="+mn-ea"/>
              </a:rPr>
              <a:t>7</a:t>
            </a:r>
            <a:r>
              <a:rPr lang="zh-CN" altLang="en-US" sz="2400" b="1" dirty="0">
                <a:solidFill>
                  <a:srgbClr val="002060"/>
                </a:solidFill>
                <a:latin typeface="楷体_GB2312" panose="02010609030101010101" pitchFamily="49" charset="-122"/>
                <a:ea typeface="楷体_GB2312" panose="02010609030101010101" pitchFamily="49" charset="-122"/>
                <a:sym typeface="+mn-ea"/>
              </a:rPr>
              <a:t>章 图</a:t>
            </a:r>
            <a:endParaRPr lang="en-US" altLang="zh-CN" sz="2400" b="1" dirty="0">
              <a:solidFill>
                <a:srgbClr val="002060"/>
              </a:solidFill>
              <a:latin typeface="楷体_GB2312" panose="02010609030101010101" pitchFamily="49" charset="-122"/>
              <a:ea typeface="楷体_GB2312" panose="02010609030101010101" pitchFamily="49" charset="-122"/>
            </a:endParaRPr>
          </a:p>
          <a:p>
            <a:pPr eaLnBrk="1" hangingPunct="1">
              <a:lnSpc>
                <a:spcPct val="150000"/>
              </a:lnSpc>
              <a:buNone/>
            </a:pPr>
            <a:r>
              <a:rPr lang="zh-CN" altLang="en-US" sz="2400" b="1" dirty="0">
                <a:solidFill>
                  <a:srgbClr val="002060"/>
                </a:solidFill>
                <a:latin typeface="楷体_GB2312" panose="02010609030101010101" pitchFamily="49" charset="-122"/>
                <a:ea typeface="楷体_GB2312" panose="02010609030101010101" pitchFamily="49" charset="-122"/>
                <a:sym typeface="+mn-ea"/>
              </a:rPr>
              <a:t>第</a:t>
            </a:r>
            <a:r>
              <a:rPr lang="en-US" altLang="zh-CN" sz="2400" b="1" dirty="0">
                <a:solidFill>
                  <a:srgbClr val="002060"/>
                </a:solidFill>
                <a:latin typeface="楷体_GB2312" panose="02010609030101010101" pitchFamily="49" charset="-122"/>
                <a:ea typeface="楷体_GB2312" panose="02010609030101010101" pitchFamily="49" charset="-122"/>
                <a:sym typeface="+mn-ea"/>
              </a:rPr>
              <a:t>9</a:t>
            </a:r>
            <a:r>
              <a:rPr lang="zh-CN" altLang="en-US" sz="2400" b="1" dirty="0">
                <a:solidFill>
                  <a:srgbClr val="002060"/>
                </a:solidFill>
                <a:latin typeface="楷体_GB2312" panose="02010609030101010101" pitchFamily="49" charset="-122"/>
                <a:ea typeface="楷体_GB2312" panose="02010609030101010101" pitchFamily="49" charset="-122"/>
                <a:sym typeface="+mn-ea"/>
              </a:rPr>
              <a:t>章 查找 </a:t>
            </a:r>
            <a:endParaRPr lang="en-US" altLang="zh-CN" sz="2400" b="1" dirty="0">
              <a:solidFill>
                <a:srgbClr val="002060"/>
              </a:solidFill>
              <a:latin typeface="楷体_GB2312" panose="02010609030101010101" pitchFamily="49" charset="-122"/>
              <a:ea typeface="楷体_GB2312" panose="02010609030101010101" pitchFamily="49" charset="-122"/>
            </a:endParaRPr>
          </a:p>
          <a:p>
            <a:pPr eaLnBrk="1" hangingPunct="1">
              <a:lnSpc>
                <a:spcPct val="150000"/>
              </a:lnSpc>
              <a:buNone/>
            </a:pPr>
            <a:r>
              <a:rPr lang="zh-CN" altLang="en-US" sz="2400" b="1" dirty="0">
                <a:solidFill>
                  <a:srgbClr val="002060"/>
                </a:solidFill>
                <a:latin typeface="楷体_GB2312" panose="02010609030101010101" pitchFamily="49" charset="-122"/>
                <a:ea typeface="楷体_GB2312" panose="02010609030101010101" pitchFamily="49" charset="-122"/>
                <a:sym typeface="+mn-ea"/>
              </a:rPr>
              <a:t>第</a:t>
            </a:r>
            <a:r>
              <a:rPr lang="en-US" altLang="zh-CN" sz="2400" b="1" dirty="0">
                <a:solidFill>
                  <a:srgbClr val="002060"/>
                </a:solidFill>
                <a:latin typeface="楷体_GB2312" panose="02010609030101010101" pitchFamily="49" charset="-122"/>
                <a:ea typeface="楷体_GB2312" panose="02010609030101010101" pitchFamily="49" charset="-122"/>
                <a:sym typeface="+mn-ea"/>
              </a:rPr>
              <a:t>10</a:t>
            </a:r>
            <a:r>
              <a:rPr lang="zh-CN" altLang="en-US" sz="2400" b="1" dirty="0">
                <a:solidFill>
                  <a:srgbClr val="002060"/>
                </a:solidFill>
                <a:latin typeface="楷体_GB2312" panose="02010609030101010101" pitchFamily="49" charset="-122"/>
                <a:ea typeface="楷体_GB2312" panose="02010609030101010101" pitchFamily="49" charset="-122"/>
                <a:sym typeface="+mn-ea"/>
              </a:rPr>
              <a:t>章 排序</a:t>
            </a:r>
            <a:endParaRPr lang="zh-CN" altLang="en-US" sz="2400" dirty="0">
              <a:solidFill>
                <a:srgbClr val="002060"/>
              </a:solidFill>
            </a:endParaRPr>
          </a:p>
          <a:p>
            <a:pPr eaLnBrk="1" hangingPunct="1">
              <a:lnSpc>
                <a:spcPct val="150000"/>
              </a:lnSpc>
              <a:buNone/>
            </a:pPr>
            <a:endParaRPr lang="en-US" altLang="zh-CN" sz="2400" dirty="0">
              <a:solidFill>
                <a:srgbClr val="002060"/>
              </a:solidFill>
              <a:cs typeface="华文楷体" panose="02010600040101010101" charset="-122"/>
            </a:endParaRPr>
          </a:p>
        </p:txBody>
      </p:sp>
      <p:sp>
        <p:nvSpPr>
          <p:cNvPr id="3" name="日期占位符 2"/>
          <p:cNvSpPr>
            <a:spLocks noGrp="1"/>
          </p:cNvSpPr>
          <p:nvPr>
            <p:ph type="dt" sz="half" idx="10"/>
          </p:nvPr>
        </p:nvSpPr>
        <p:spPr/>
        <p:txBody>
          <a:bodyPr/>
          <a:lstStyle/>
          <a:p>
            <a:r>
              <a:rPr lang="en-US" altLang="zh-CN"/>
              <a:t>Data Structures and algorithms</a:t>
            </a:r>
            <a:endParaRPr lang="zh-CN" altLang="en-US"/>
          </a:p>
        </p:txBody>
      </p:sp>
      <p:sp>
        <p:nvSpPr>
          <p:cNvPr id="4" name="页脚占位符 3"/>
          <p:cNvSpPr>
            <a:spLocks noGrp="1"/>
          </p:cNvSpPr>
          <p:nvPr>
            <p:ph type="ftr" sz="quarter" idx="11"/>
          </p:nvPr>
        </p:nvSpPr>
        <p:spPr/>
        <p:txBody>
          <a:bodyPr/>
          <a:lstStyle/>
          <a:p>
            <a:r>
              <a:rPr lang="en-US" altLang="zh-CN"/>
              <a:t>Software College Northeastern University</a:t>
            </a:r>
            <a:endParaRPr lang="zh-CN" altLang="en-US"/>
          </a:p>
        </p:txBody>
      </p:sp>
      <p:sp>
        <p:nvSpPr>
          <p:cNvPr id="5" name="灯片编号占位符 4"/>
          <p:cNvSpPr>
            <a:spLocks noGrp="1"/>
          </p:cNvSpPr>
          <p:nvPr>
            <p:ph type="sldNum" sz="quarter" idx="12"/>
          </p:nvPr>
        </p:nvSpPr>
        <p:spPr/>
        <p:txBody>
          <a:bodyPr/>
          <a:lstStyle/>
          <a:p>
            <a:fld id="{6E1C0148-8E4B-4B2F-95CE-20B4709700AE}" type="slidenum">
              <a:rPr lang="zh-CN" altLang="en-US" smtClean="0"/>
            </a:fld>
            <a:endParaRPr lang="zh-CN" altLang="en-US" dirty="0"/>
          </a:p>
        </p:txBody>
      </p:sp>
    </p:spTree>
  </p:cSld>
  <p:clrMapOvr>
    <a:masterClrMapping/>
  </p:clrMapOvr>
  <p:transition>
    <p:cover dir="d"/>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6" name="Text Box 6">
            <a:hlinkClick r:id="" action="ppaction://hlinkshowjump?jump=nextslide"/>
          </p:cNvPr>
          <p:cNvSpPr/>
          <p:nvPr/>
        </p:nvSpPr>
        <p:spPr>
          <a:xfrm>
            <a:off x="609600" y="1485900"/>
            <a:ext cx="7923213" cy="922020"/>
          </a:xfrm>
          <a:prstGeom prst="rect">
            <a:avLst/>
          </a:prstGeom>
        </p:spPr>
        <p:txBody>
          <a:bodyPr vert="horz" rtlCol="0" anchor="ctr">
            <a:normAutofit/>
            <a:scene3d>
              <a:camera prst="orthographicFront"/>
              <a:lightRig rig="soft" dir="t"/>
            </a:scene3d>
            <a:sp3d prstMaterial="softEdge">
              <a:bevelT w="25400" h="25400"/>
            </a:sp3d>
          </a:bodyPr>
          <a:lstStyle/>
          <a:p>
            <a:pPr lvl="0" algn="l"/>
            <a:r>
              <a:rPr lang="zh-CN" altLang="en-US" sz="3200" b="1" dirty="0">
                <a:solidFill>
                  <a:schemeClr val="tx2"/>
                </a:solidFill>
                <a:effectLst>
                  <a:outerShdw blurRad="31750" dist="25400" dir="5400000" algn="tl" rotWithShape="0">
                    <a:srgbClr val="000000">
                      <a:alpha val="25000"/>
                    </a:srgbClr>
                  </a:outerShdw>
                </a:effectLst>
                <a:latin typeface="华文楷体" panose="02010600040101010101" charset="-122"/>
                <a:ea typeface="华文楷体" panose="02010600040101010101" charset="-122"/>
                <a:cs typeface="华文楷体" panose="02010600040101010101" charset="-122"/>
                <a:sym typeface="+mn-ea"/>
              </a:rPr>
              <a:t>1.1   数据结构讨论的范畴</a:t>
            </a:r>
            <a:endParaRPr lang="zh-CN" altLang="en-US" sz="3200" b="1" dirty="0">
              <a:solidFill>
                <a:schemeClr val="tx2"/>
              </a:solidFill>
              <a:effectLst>
                <a:outerShdw blurRad="31750" dist="25400" dir="5400000" algn="tl" rotWithShape="0">
                  <a:srgbClr val="000000">
                    <a:alpha val="25000"/>
                  </a:srgbClr>
                </a:outerShdw>
              </a:effectLst>
              <a:latin typeface="华文楷体" panose="02010600040101010101" charset="-122"/>
              <a:ea typeface="华文楷体" panose="02010600040101010101" charset="-122"/>
              <a:cs typeface="华文楷体" panose="02010600040101010101" charset="-122"/>
              <a:sym typeface="+mn-ea"/>
            </a:endParaRPr>
          </a:p>
        </p:txBody>
      </p:sp>
      <p:sp>
        <p:nvSpPr>
          <p:cNvPr id="61447" name="Text Box 7">
            <a:hlinkClick r:id="rId1" action="ppaction://hlinksldjump"/>
          </p:cNvPr>
          <p:cNvSpPr/>
          <p:nvPr/>
        </p:nvSpPr>
        <p:spPr>
          <a:xfrm>
            <a:off x="635000" y="2510790"/>
            <a:ext cx="4318000" cy="922020"/>
          </a:xfrm>
          <a:prstGeom prst="rect">
            <a:avLst/>
          </a:prstGeom>
        </p:spPr>
        <p:txBody>
          <a:bodyPr vert="horz" wrap="square" rtlCol="0" anchor="ctr">
            <a:normAutofit/>
            <a:scene3d>
              <a:camera prst="orthographicFront"/>
              <a:lightRig rig="soft" dir="t"/>
            </a:scene3d>
            <a:sp3d prstMaterial="softEdge">
              <a:bevelT w="25400" h="25400"/>
            </a:sp3d>
          </a:bodyPr>
          <a:lstStyle/>
          <a:p>
            <a:pPr lvl="0" algn="l"/>
            <a:r>
              <a:rPr lang="zh-CN" altLang="en-US" sz="3200" b="1" dirty="0">
                <a:solidFill>
                  <a:schemeClr val="tx2"/>
                </a:solidFill>
                <a:effectLst>
                  <a:outerShdw blurRad="31750" dist="25400" dir="5400000" algn="tl" rotWithShape="0">
                    <a:srgbClr val="000000">
                      <a:alpha val="25000"/>
                    </a:srgbClr>
                  </a:outerShdw>
                </a:effectLst>
                <a:latin typeface="华文楷体" panose="02010600040101010101" charset="-122"/>
                <a:ea typeface="华文楷体" panose="02010600040101010101" charset="-122"/>
                <a:cs typeface="华文楷体" panose="02010600040101010101" charset="-122"/>
                <a:sym typeface="+mn-ea"/>
              </a:rPr>
              <a:t>1.2   基本概念</a:t>
            </a:r>
            <a:endParaRPr lang="zh-CN" altLang="en-US" sz="3200" b="1" dirty="0">
              <a:solidFill>
                <a:schemeClr val="tx2"/>
              </a:solidFill>
              <a:effectLst>
                <a:outerShdw blurRad="31750" dist="25400" dir="5400000" algn="tl" rotWithShape="0">
                  <a:srgbClr val="000000">
                    <a:alpha val="25000"/>
                  </a:srgbClr>
                </a:outerShdw>
              </a:effectLst>
              <a:latin typeface="华文楷体" panose="02010600040101010101" charset="-122"/>
              <a:ea typeface="华文楷体" panose="02010600040101010101" charset="-122"/>
              <a:cs typeface="华文楷体" panose="02010600040101010101" charset="-122"/>
              <a:sym typeface="+mn-ea"/>
            </a:endParaRPr>
          </a:p>
        </p:txBody>
      </p:sp>
      <p:sp>
        <p:nvSpPr>
          <p:cNvPr id="61448" name="Text Box 8">
            <a:hlinkClick r:id="rId1" action="ppaction://hlinksldjump"/>
          </p:cNvPr>
          <p:cNvSpPr/>
          <p:nvPr/>
        </p:nvSpPr>
        <p:spPr>
          <a:xfrm>
            <a:off x="683260" y="3572510"/>
            <a:ext cx="7080250" cy="922020"/>
          </a:xfrm>
          <a:prstGeom prst="rect">
            <a:avLst/>
          </a:prstGeom>
        </p:spPr>
        <p:txBody>
          <a:bodyPr vert="horz" wrap="square" rtlCol="0" anchor="ctr">
            <a:normAutofit/>
            <a:scene3d>
              <a:camera prst="orthographicFront"/>
              <a:lightRig rig="soft" dir="t"/>
            </a:scene3d>
            <a:sp3d prstMaterial="softEdge">
              <a:bevelT w="25400" h="25400"/>
            </a:sp3d>
          </a:bodyPr>
          <a:lstStyle/>
          <a:p>
            <a:pPr lvl="0" algn="l"/>
            <a:r>
              <a:rPr lang="zh-CN" altLang="en-US" sz="3200" b="1" dirty="0">
                <a:solidFill>
                  <a:schemeClr val="tx2"/>
                </a:solidFill>
                <a:effectLst>
                  <a:outerShdw blurRad="31750" dist="25400" dir="5400000" algn="tl" rotWithShape="0">
                    <a:srgbClr val="000000">
                      <a:alpha val="25000"/>
                    </a:srgbClr>
                  </a:outerShdw>
                </a:effectLst>
                <a:latin typeface="华文楷体" panose="02010600040101010101" charset="-122"/>
                <a:ea typeface="华文楷体" panose="02010600040101010101" charset="-122"/>
                <a:cs typeface="华文楷体" panose="02010600040101010101" charset="-122"/>
                <a:sym typeface="+mn-ea"/>
              </a:rPr>
              <a:t>1.3   算法和算法的量度</a:t>
            </a:r>
            <a:endParaRPr lang="zh-CN" altLang="en-US" sz="3200" b="1" dirty="0">
              <a:solidFill>
                <a:schemeClr val="tx2"/>
              </a:solidFill>
              <a:effectLst>
                <a:outerShdw blurRad="31750" dist="25400" dir="5400000" algn="tl" rotWithShape="0">
                  <a:srgbClr val="000000">
                    <a:alpha val="25000"/>
                  </a:srgbClr>
                </a:outerShdw>
              </a:effectLst>
              <a:latin typeface="华文楷体" panose="02010600040101010101" charset="-122"/>
              <a:ea typeface="华文楷体" panose="02010600040101010101" charset="-122"/>
              <a:cs typeface="华文楷体" panose="02010600040101010101" charset="-122"/>
              <a:sym typeface="+mn-ea"/>
            </a:endParaRPr>
          </a:p>
        </p:txBody>
      </p:sp>
      <p:sp>
        <p:nvSpPr>
          <p:cNvPr id="61450" name="AutoShape 10">
            <a:hlinkClick r:id="" action="ppaction://hlinkshowjump?jump=lastslide" highlightClick="1"/>
          </p:cNvPr>
          <p:cNvSpPr>
            <a:spLocks noChangeArrowheads="1"/>
          </p:cNvSpPr>
          <p:nvPr/>
        </p:nvSpPr>
        <p:spPr bwMode="auto">
          <a:xfrm>
            <a:off x="8077200" y="6096000"/>
            <a:ext cx="685800" cy="381000"/>
          </a:xfrm>
          <a:prstGeom prst="actionButtonEnd">
            <a:avLst/>
          </a:prstGeom>
          <a:solidFill>
            <a:schemeClr val="bg2"/>
          </a:solidFill>
          <a:ln>
            <a:noFill/>
          </a:ln>
          <a:effectLst>
            <a:prstShdw prst="shdw17" dist="17961" dir="2700000">
              <a:schemeClr val="bg2">
                <a:gamma/>
                <a:shade val="60000"/>
                <a:invGamma/>
              </a:schemeClr>
            </a:prst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3200" b="0" i="0" u="none" strike="noStrike" kern="1200" cap="none" spc="0" normalizeH="0" baseline="0" noProof="0">
              <a:ln>
                <a:noFill/>
              </a:ln>
              <a:solidFill>
                <a:schemeClr val="tx1"/>
              </a:solidFill>
              <a:effectLst/>
              <a:uLnTx/>
              <a:uFillTx/>
              <a:latin typeface="华文楷体" panose="02010600040101010101" charset="-122"/>
              <a:ea typeface="华文楷体" panose="02010600040101010101" charset="-122"/>
              <a:cs typeface="+mn-cs"/>
            </a:endParaRPr>
          </a:p>
        </p:txBody>
      </p:sp>
      <p:sp>
        <p:nvSpPr>
          <p:cNvPr id="3" name="标题 2"/>
          <p:cNvSpPr>
            <a:spLocks noGrp="1"/>
          </p:cNvSpPr>
          <p:nvPr/>
        </p:nvSpPr>
        <p:spPr>
          <a:xfrm>
            <a:off x="457200" y="274638"/>
            <a:ext cx="8229600" cy="1143000"/>
          </a:xfrm>
          <a:prstGeom prst="rect">
            <a:avLst/>
          </a:prstGeom>
        </p:spPr>
        <p:txBody>
          <a:bodyPr vert="horz" rtlCol="0" anchor="ctr">
            <a:normAutofit/>
            <a:scene3d>
              <a:camera prst="orthographicFront"/>
              <a:lightRig rig="soft" dir="t"/>
            </a:scene3d>
            <a:sp3d prstMaterial="softEdge">
              <a:bevelT w="25400" h="25400"/>
            </a:sp3d>
          </a:bodyPr>
          <a:lst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lstStyle>
          <a:p>
            <a:r>
              <a:rPr lang="zh-CN" altLang="en-US" dirty="0">
                <a:latin typeface="华文楷体" panose="02010600040101010101" charset="-122"/>
                <a:ea typeface="华文楷体" panose="02010600040101010101" charset="-122"/>
                <a:cs typeface="华文楷体" panose="02010600040101010101" charset="-122"/>
              </a:rPr>
              <a:t>第一章 绪论</a:t>
            </a:r>
            <a:endParaRPr lang="zh-CN" altLang="en-US" dirty="0">
              <a:latin typeface="华文楷体" panose="02010600040101010101" charset="-122"/>
              <a:ea typeface="华文楷体" panose="02010600040101010101" charset="-122"/>
              <a:cs typeface="华文楷体" panose="02010600040101010101" charset="-122"/>
            </a:endParaRPr>
          </a:p>
        </p:txBody>
      </p:sp>
      <p:sp>
        <p:nvSpPr>
          <p:cNvPr id="2" name="日期占位符 1"/>
          <p:cNvSpPr>
            <a:spLocks noGrp="1"/>
          </p:cNvSpPr>
          <p:nvPr>
            <p:ph type="dt" sz="half" idx="10"/>
          </p:nvPr>
        </p:nvSpPr>
        <p:spPr/>
        <p:txBody>
          <a:bodyPr/>
          <a:lstStyle/>
          <a:p>
            <a:r>
              <a:rPr lang="en-US" altLang="zh-CN"/>
              <a:t>Data Structures and algorithms</a:t>
            </a:r>
            <a:endParaRPr lang="zh-CN" altLang="en-US"/>
          </a:p>
        </p:txBody>
      </p:sp>
      <p:sp>
        <p:nvSpPr>
          <p:cNvPr id="4" name="页脚占位符 3"/>
          <p:cNvSpPr>
            <a:spLocks noGrp="1"/>
          </p:cNvSpPr>
          <p:nvPr>
            <p:ph type="ftr" sz="quarter" idx="11"/>
          </p:nvPr>
        </p:nvSpPr>
        <p:spPr/>
        <p:txBody>
          <a:bodyPr/>
          <a:lstStyle/>
          <a:p>
            <a:r>
              <a:rPr lang="en-US" altLang="zh-CN"/>
              <a:t>Software College Northeastern University</a:t>
            </a:r>
            <a:endParaRPr lang="zh-CN" altLang="en-US"/>
          </a:p>
        </p:txBody>
      </p:sp>
      <p:sp>
        <p:nvSpPr>
          <p:cNvPr id="5" name="灯片编号占位符 4"/>
          <p:cNvSpPr>
            <a:spLocks noGrp="1"/>
          </p:cNvSpPr>
          <p:nvPr>
            <p:ph type="sldNum" sz="quarter" idx="12"/>
          </p:nvPr>
        </p:nvSpPr>
        <p:spPr/>
        <p:txBody>
          <a:bodyPr/>
          <a:lstStyle/>
          <a:p>
            <a:fld id="{6E1C0148-8E4B-4B2F-95CE-20B4709700AE}" type="slidenum">
              <a:rPr lang="zh-CN" altLang="en-US" smtClean="0"/>
            </a:fld>
            <a:endParaRPr lang="zh-CN" altLang="en-US"/>
          </a:p>
        </p:txBody>
      </p:sp>
    </p:spTree>
  </p:cSld>
  <p:clrMapOvr>
    <a:masterClrMapping/>
  </p:clrMapOvr>
  <p:transition>
    <p:cover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61446"/>
                                        </p:tgtEl>
                                        <p:attrNameLst>
                                          <p:attrName>style.visibility</p:attrName>
                                        </p:attrNameLst>
                                      </p:cBhvr>
                                      <p:to>
                                        <p:strVal val="visible"/>
                                      </p:to>
                                    </p:set>
                                    <p:anim calcmode="lin" valueType="num">
                                      <p:cBhvr additive="base">
                                        <p:cTn id="7" dur="500" fill="hold"/>
                                        <p:tgtEl>
                                          <p:spTgt spid="61446"/>
                                        </p:tgtEl>
                                        <p:attrNameLst>
                                          <p:attrName>ppt_x</p:attrName>
                                        </p:attrNameLst>
                                      </p:cBhvr>
                                      <p:tavLst>
                                        <p:tav tm="0">
                                          <p:val>
                                            <p:strVal val="1+#ppt_w/2"/>
                                          </p:val>
                                        </p:tav>
                                        <p:tav tm="100000">
                                          <p:val>
                                            <p:strVal val="#ppt_x"/>
                                          </p:val>
                                        </p:tav>
                                      </p:tavLst>
                                    </p:anim>
                                    <p:anim calcmode="lin" valueType="num">
                                      <p:cBhvr additive="base">
                                        <p:cTn id="8" dur="500" fill="hold"/>
                                        <p:tgtEl>
                                          <p:spTgt spid="6144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61447"/>
                                        </p:tgtEl>
                                        <p:attrNameLst>
                                          <p:attrName>style.visibility</p:attrName>
                                        </p:attrNameLst>
                                      </p:cBhvr>
                                      <p:to>
                                        <p:strVal val="visible"/>
                                      </p:to>
                                    </p:set>
                                    <p:anim calcmode="lin" valueType="num">
                                      <p:cBhvr additive="base">
                                        <p:cTn id="13" dur="500" fill="hold"/>
                                        <p:tgtEl>
                                          <p:spTgt spid="61447"/>
                                        </p:tgtEl>
                                        <p:attrNameLst>
                                          <p:attrName>ppt_x</p:attrName>
                                        </p:attrNameLst>
                                      </p:cBhvr>
                                      <p:tavLst>
                                        <p:tav tm="0">
                                          <p:val>
                                            <p:strVal val="1+#ppt_w/2"/>
                                          </p:val>
                                        </p:tav>
                                        <p:tav tm="100000">
                                          <p:val>
                                            <p:strVal val="#ppt_x"/>
                                          </p:val>
                                        </p:tav>
                                      </p:tavLst>
                                    </p:anim>
                                    <p:anim calcmode="lin" valueType="num">
                                      <p:cBhvr additive="base">
                                        <p:cTn id="14" dur="500" fill="hold"/>
                                        <p:tgtEl>
                                          <p:spTgt spid="61447"/>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61448"/>
                                        </p:tgtEl>
                                        <p:attrNameLst>
                                          <p:attrName>style.visibility</p:attrName>
                                        </p:attrNameLst>
                                      </p:cBhvr>
                                      <p:to>
                                        <p:strVal val="visible"/>
                                      </p:to>
                                    </p:set>
                                    <p:anim calcmode="lin" valueType="num">
                                      <p:cBhvr additive="base">
                                        <p:cTn id="19" dur="500" fill="hold"/>
                                        <p:tgtEl>
                                          <p:spTgt spid="61448"/>
                                        </p:tgtEl>
                                        <p:attrNameLst>
                                          <p:attrName>ppt_x</p:attrName>
                                        </p:attrNameLst>
                                      </p:cBhvr>
                                      <p:tavLst>
                                        <p:tav tm="0">
                                          <p:val>
                                            <p:strVal val="1+#ppt_w/2"/>
                                          </p:val>
                                        </p:tav>
                                        <p:tav tm="100000">
                                          <p:val>
                                            <p:strVal val="#ppt_x"/>
                                          </p:val>
                                        </p:tav>
                                      </p:tavLst>
                                    </p:anim>
                                    <p:anim calcmode="lin" valueType="num">
                                      <p:cBhvr additive="base">
                                        <p:cTn id="20" dur="500" fill="hold"/>
                                        <p:tgtEl>
                                          <p:spTgt spid="61448"/>
                                        </p:tgtEl>
                                        <p:attrNameLst>
                                          <p:attrName>ppt_y</p:attrName>
                                        </p:attrNameLst>
                                      </p:cBhvr>
                                      <p:tavLst>
                                        <p:tav tm="0">
                                          <p:val>
                                            <p:strVal val="#ppt_y"/>
                                          </p:val>
                                        </p:tav>
                                        <p:tav tm="100000">
                                          <p:val>
                                            <p:strVal val="#ppt_y"/>
                                          </p:val>
                                        </p:tav>
                                      </p:tavLst>
                                    </p:anim>
                                  </p:childTnLst>
                                </p:cTn>
                              </p:par>
                            </p:childTnLst>
                          </p:cTn>
                        </p:par>
                        <p:par>
                          <p:cTn id="21" fill="hold">
                            <p:stCondLst>
                              <p:cond delay="500"/>
                            </p:stCondLst>
                            <p:childTnLst>
                              <p:par>
                                <p:cTn id="22" presetID="2" presetClass="entr" presetSubtype="8" fill="hold" nodeType="afterEffect">
                                  <p:stCondLst>
                                    <p:cond delay="0"/>
                                  </p:stCondLst>
                                  <p:childTnLst>
                                    <p:set>
                                      <p:cBhvr>
                                        <p:cTn id="23" dur="1" fill="hold">
                                          <p:stCondLst>
                                            <p:cond delay="0"/>
                                          </p:stCondLst>
                                        </p:cTn>
                                        <p:tgtEl>
                                          <p:spTgt spid="61450"/>
                                        </p:tgtEl>
                                        <p:attrNameLst>
                                          <p:attrName>style.visibility</p:attrName>
                                        </p:attrNameLst>
                                      </p:cBhvr>
                                      <p:to>
                                        <p:strVal val="visible"/>
                                      </p:to>
                                    </p:set>
                                    <p:anim calcmode="lin" valueType="num">
                                      <p:cBhvr additive="base">
                                        <p:cTn id="24" dur="500" fill="hold"/>
                                        <p:tgtEl>
                                          <p:spTgt spid="61450"/>
                                        </p:tgtEl>
                                        <p:attrNameLst>
                                          <p:attrName>ppt_x</p:attrName>
                                        </p:attrNameLst>
                                      </p:cBhvr>
                                      <p:tavLst>
                                        <p:tav tm="0">
                                          <p:val>
                                            <p:strVal val="0-#ppt_w/2"/>
                                          </p:val>
                                        </p:tav>
                                        <p:tav tm="100000">
                                          <p:val>
                                            <p:strVal val="#ppt_x"/>
                                          </p:val>
                                        </p:tav>
                                      </p:tavLst>
                                    </p:anim>
                                    <p:anim calcmode="lin" valueType="num">
                                      <p:cBhvr additive="base">
                                        <p:cTn id="25" dur="500" fill="hold"/>
                                        <p:tgtEl>
                                          <p:spTgt spid="6145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6" grpId="0"/>
      <p:bldP spid="61447" grpId="0"/>
      <p:bldP spid="6144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Text Box 1026"/>
          <p:cNvSpPr/>
          <p:nvPr/>
        </p:nvSpPr>
        <p:spPr>
          <a:xfrm>
            <a:off x="763588" y="453390"/>
            <a:ext cx="8056562" cy="922020"/>
          </a:xfrm>
          <a:prstGeom prst="rect">
            <a:avLst/>
          </a:prstGeom>
        </p:spPr>
        <p:txBody>
          <a:bodyPr vert="horz" rtlCol="0" anchor="ctr">
            <a:normAutofit/>
            <a:scene3d>
              <a:camera prst="orthographicFront"/>
              <a:lightRig rig="soft" dir="t"/>
            </a:scene3d>
            <a:sp3d prstMaterial="softEdge">
              <a:bevelT w="25400" h="25400"/>
            </a:sp3d>
          </a:bodyPr>
          <a:lstStyle/>
          <a:p>
            <a:pPr lvl="0" algn="l"/>
            <a:r>
              <a:rPr lang="zh-CN" altLang="en-US" sz="4000" b="1" dirty="0">
                <a:solidFill>
                  <a:srgbClr val="C00000"/>
                </a:solidFill>
                <a:effectLst>
                  <a:outerShdw blurRad="31750" dist="25400" dir="5400000" algn="tl" rotWithShape="0">
                    <a:srgbClr val="000000">
                      <a:alpha val="25000"/>
                    </a:srgbClr>
                  </a:outerShdw>
                </a:effectLst>
                <a:latin typeface="华文楷体" panose="02010600040101010101" charset="-122"/>
                <a:ea typeface="华文楷体" panose="02010600040101010101" charset="-122"/>
                <a:cs typeface="华文楷体" panose="02010600040101010101" charset="-122"/>
                <a:sym typeface="+mn-ea"/>
              </a:rPr>
              <a:t>1.1 数据结构讨论的范畴</a:t>
            </a:r>
            <a:endParaRPr lang="zh-CN" altLang="en-US" sz="4000" b="1" dirty="0">
              <a:solidFill>
                <a:srgbClr val="C00000"/>
              </a:solidFill>
              <a:effectLst>
                <a:outerShdw blurRad="31750" dist="25400" dir="5400000" algn="tl" rotWithShape="0">
                  <a:srgbClr val="000000">
                    <a:alpha val="25000"/>
                  </a:srgbClr>
                </a:outerShdw>
              </a:effectLst>
              <a:latin typeface="华文楷体" panose="02010600040101010101" charset="-122"/>
              <a:ea typeface="华文楷体" panose="02010600040101010101" charset="-122"/>
              <a:cs typeface="华文楷体" panose="02010600040101010101" charset="-122"/>
              <a:sym typeface="+mn-ea"/>
            </a:endParaRPr>
          </a:p>
        </p:txBody>
      </p:sp>
      <p:sp>
        <p:nvSpPr>
          <p:cNvPr id="62467" name="Text Box 1027"/>
          <p:cNvSpPr/>
          <p:nvPr/>
        </p:nvSpPr>
        <p:spPr>
          <a:xfrm>
            <a:off x="298450" y="1708150"/>
            <a:ext cx="8616950" cy="1568450"/>
          </a:xfrm>
          <a:prstGeom prst="rect">
            <a:avLst/>
          </a:prstGeom>
        </p:spPr>
        <p:txBody>
          <a:bodyPr vert="horz" wrap="square" rtlCol="0" anchor="ctr">
            <a:normAutofit/>
            <a:scene3d>
              <a:camera prst="orthographicFront"/>
              <a:lightRig rig="soft" dir="t"/>
            </a:scene3d>
            <a:sp3d prstMaterial="softEdge">
              <a:bevelT w="25400" h="25400"/>
            </a:sp3d>
          </a:bodyPr>
          <a:lstStyle/>
          <a:p>
            <a:pPr lvl="0" algn="l"/>
            <a:r>
              <a:rPr lang="zh-CN" altLang="en-US" sz="3500" b="1" dirty="0">
                <a:solidFill>
                  <a:schemeClr val="tx2"/>
                </a:solidFill>
                <a:effectLst>
                  <a:outerShdw blurRad="31750" dist="25400" dir="5400000" algn="tl" rotWithShape="0">
                    <a:srgbClr val="000000">
                      <a:alpha val="25000"/>
                    </a:srgbClr>
                  </a:outerShdw>
                </a:effectLst>
                <a:latin typeface="华文楷体" panose="02010600040101010101" charset="-122"/>
                <a:ea typeface="华文楷体" panose="02010600040101010101" charset="-122"/>
                <a:cs typeface="华文楷体" panose="02010600040101010101" charset="-122"/>
                <a:sym typeface="+mn-ea"/>
              </a:rPr>
              <a:t>Niklaus Wirth：</a:t>
            </a:r>
            <a:endParaRPr lang="zh-CN" altLang="en-US" sz="3500" b="1" dirty="0">
              <a:solidFill>
                <a:schemeClr val="tx2"/>
              </a:solidFill>
              <a:effectLst>
                <a:outerShdw blurRad="31750" dist="25400" dir="5400000" algn="tl" rotWithShape="0">
                  <a:srgbClr val="000000">
                    <a:alpha val="25000"/>
                  </a:srgbClr>
                </a:outerShdw>
              </a:effectLst>
              <a:latin typeface="华文楷体" panose="02010600040101010101" charset="-122"/>
              <a:ea typeface="华文楷体" panose="02010600040101010101" charset="-122"/>
              <a:cs typeface="华文楷体" panose="02010600040101010101" charset="-122"/>
              <a:sym typeface="+mn-ea"/>
            </a:endParaRPr>
          </a:p>
          <a:p>
            <a:pPr lvl="0" algn="l"/>
            <a:r>
              <a:rPr lang="zh-CN" altLang="en-US" sz="3500" b="1" dirty="0">
                <a:solidFill>
                  <a:schemeClr val="tx2"/>
                </a:solidFill>
                <a:effectLst>
                  <a:outerShdw blurRad="31750" dist="25400" dir="5400000" algn="tl" rotWithShape="0">
                    <a:srgbClr val="000000">
                      <a:alpha val="25000"/>
                    </a:srgbClr>
                  </a:outerShdw>
                </a:effectLst>
                <a:latin typeface="华文楷体" panose="02010600040101010101" charset="-122"/>
                <a:ea typeface="华文楷体" panose="02010600040101010101" charset="-122"/>
                <a:cs typeface="华文楷体" panose="02010600040101010101" charset="-122"/>
                <a:sym typeface="+mn-ea"/>
              </a:rPr>
              <a:t>   Algorithm + Data Structures = Programs</a:t>
            </a:r>
            <a:endParaRPr lang="zh-CN" altLang="en-US" sz="3500" b="1" dirty="0">
              <a:solidFill>
                <a:schemeClr val="tx2"/>
              </a:solidFill>
              <a:effectLst>
                <a:outerShdw blurRad="31750" dist="25400" dir="5400000" algn="tl" rotWithShape="0">
                  <a:srgbClr val="000000">
                    <a:alpha val="25000"/>
                  </a:srgbClr>
                </a:outerShdw>
              </a:effectLst>
              <a:latin typeface="华文楷体" panose="02010600040101010101" charset="-122"/>
              <a:ea typeface="华文楷体" panose="02010600040101010101" charset="-122"/>
              <a:cs typeface="华文楷体" panose="02010600040101010101" charset="-122"/>
              <a:sym typeface="+mn-ea"/>
            </a:endParaRPr>
          </a:p>
        </p:txBody>
      </p:sp>
      <p:sp>
        <p:nvSpPr>
          <p:cNvPr id="62468" name="Text Box 1028"/>
          <p:cNvSpPr txBox="1"/>
          <p:nvPr/>
        </p:nvSpPr>
        <p:spPr>
          <a:xfrm>
            <a:off x="304800" y="3733800"/>
            <a:ext cx="3083560" cy="2245360"/>
          </a:xfrm>
          <a:prstGeom prst="rect">
            <a:avLst/>
          </a:prstGeom>
          <a:noFill/>
          <a:ln w="9525">
            <a:noFill/>
          </a:ln>
        </p:spPr>
        <p:txBody>
          <a:bodyPr wrap="none" anchor="t">
            <a:spAutoFit/>
          </a:bodyPr>
          <a:lstStyle/>
          <a:p>
            <a:pPr indent="0"/>
            <a:r>
              <a:rPr lang="zh-CN" altLang="en-US" sz="3500" b="1" dirty="0">
                <a:solidFill>
                  <a:srgbClr val="FF0000"/>
                </a:solidFill>
                <a:latin typeface="华文楷体" panose="02010600040101010101" charset="-122"/>
                <a:ea typeface="华文楷体" panose="02010600040101010101" charset="-122"/>
                <a:cs typeface="华文楷体" panose="02010600040101010101" charset="-122"/>
              </a:rPr>
              <a:t>程序设计</a:t>
            </a:r>
            <a:r>
              <a:rPr lang="en-US" altLang="zh-CN" sz="3500" b="1" dirty="0">
                <a:solidFill>
                  <a:srgbClr val="FF0000"/>
                </a:solidFill>
                <a:latin typeface="华文楷体" panose="02010600040101010101" charset="-122"/>
                <a:ea typeface="华文楷体" panose="02010600040101010101" charset="-122"/>
                <a:cs typeface="华文楷体" panose="02010600040101010101" charset="-122"/>
              </a:rPr>
              <a:t>:</a:t>
            </a:r>
            <a:endParaRPr lang="en-US" altLang="zh-CN" sz="3500" b="1" dirty="0">
              <a:solidFill>
                <a:srgbClr val="FF0000"/>
              </a:solidFill>
              <a:latin typeface="华文楷体" panose="02010600040101010101" charset="-122"/>
              <a:ea typeface="华文楷体" panose="02010600040101010101" charset="-122"/>
              <a:cs typeface="华文楷体" panose="02010600040101010101" charset="-122"/>
            </a:endParaRPr>
          </a:p>
          <a:p>
            <a:pPr indent="0"/>
            <a:endParaRPr lang="en-US" altLang="zh-CN" sz="3500" dirty="0">
              <a:latin typeface="华文楷体" panose="02010600040101010101" charset="-122"/>
              <a:ea typeface="华文楷体" panose="02010600040101010101" charset="-122"/>
              <a:cs typeface="华文楷体" panose="02010600040101010101" charset="-122"/>
            </a:endParaRPr>
          </a:p>
          <a:p>
            <a:pPr indent="0"/>
            <a:r>
              <a:rPr lang="en-US" altLang="zh-CN" sz="3500" b="1" dirty="0">
                <a:solidFill>
                  <a:srgbClr val="FF0000"/>
                </a:solidFill>
                <a:latin typeface="华文楷体" panose="02010600040101010101" charset="-122"/>
                <a:ea typeface="华文楷体" panose="02010600040101010101" charset="-122"/>
                <a:cs typeface="华文楷体" panose="02010600040101010101" charset="-122"/>
              </a:rPr>
              <a:t>    </a:t>
            </a:r>
            <a:r>
              <a:rPr lang="zh-CN" altLang="en-US" sz="3500" b="1" dirty="0">
                <a:solidFill>
                  <a:srgbClr val="FF0000"/>
                </a:solidFill>
                <a:latin typeface="华文楷体" panose="02010600040101010101" charset="-122"/>
                <a:ea typeface="华文楷体" panose="02010600040101010101" charset="-122"/>
                <a:cs typeface="华文楷体" panose="02010600040101010101" charset="-122"/>
              </a:rPr>
              <a:t>算法</a:t>
            </a:r>
            <a:r>
              <a:rPr lang="en-US" altLang="zh-CN" sz="3500" dirty="0">
                <a:solidFill>
                  <a:srgbClr val="FF0000"/>
                </a:solidFill>
                <a:latin typeface="华文楷体" panose="02010600040101010101" charset="-122"/>
                <a:ea typeface="华文楷体" panose="02010600040101010101" charset="-122"/>
                <a:cs typeface="华文楷体" panose="02010600040101010101" charset="-122"/>
              </a:rPr>
              <a:t>:    </a:t>
            </a:r>
            <a:endParaRPr lang="en-US" altLang="zh-CN" sz="3500" dirty="0">
              <a:solidFill>
                <a:srgbClr val="800000"/>
              </a:solidFill>
              <a:latin typeface="华文楷体" panose="02010600040101010101" charset="-122"/>
              <a:ea typeface="华文楷体" panose="02010600040101010101" charset="-122"/>
              <a:cs typeface="华文楷体" panose="02010600040101010101" charset="-122"/>
            </a:endParaRPr>
          </a:p>
          <a:p>
            <a:pPr indent="0"/>
            <a:r>
              <a:rPr lang="zh-CN" altLang="en-US" sz="3500" b="1" dirty="0">
                <a:solidFill>
                  <a:srgbClr val="FF0000"/>
                </a:solidFill>
                <a:latin typeface="华文楷体" panose="02010600040101010101" charset="-122"/>
                <a:ea typeface="华文楷体" panose="02010600040101010101" charset="-122"/>
                <a:cs typeface="华文楷体" panose="02010600040101010101" charset="-122"/>
              </a:rPr>
              <a:t>数据结构</a:t>
            </a:r>
            <a:r>
              <a:rPr lang="en-US" altLang="zh-CN" sz="3500" dirty="0">
                <a:solidFill>
                  <a:srgbClr val="FF0000"/>
                </a:solidFill>
                <a:latin typeface="华文楷体" panose="02010600040101010101" charset="-122"/>
                <a:ea typeface="华文楷体" panose="02010600040101010101" charset="-122"/>
                <a:cs typeface="华文楷体" panose="02010600040101010101" charset="-122"/>
              </a:rPr>
              <a:t>: </a:t>
            </a:r>
            <a:endParaRPr lang="en-US" altLang="zh-CN" sz="3500" b="1" dirty="0">
              <a:solidFill>
                <a:srgbClr val="800000"/>
              </a:solidFill>
              <a:latin typeface="华文楷体" panose="02010600040101010101" charset="-122"/>
              <a:ea typeface="华文楷体" panose="02010600040101010101" charset="-122"/>
              <a:cs typeface="华文楷体" panose="02010600040101010101" charset="-122"/>
            </a:endParaRPr>
          </a:p>
        </p:txBody>
      </p:sp>
      <p:sp>
        <p:nvSpPr>
          <p:cNvPr id="62469" name="Text Box 1029"/>
          <p:cNvSpPr txBox="1"/>
          <p:nvPr/>
        </p:nvSpPr>
        <p:spPr>
          <a:xfrm>
            <a:off x="2334895" y="3805555"/>
            <a:ext cx="6929120" cy="629920"/>
          </a:xfrm>
          <a:prstGeom prst="rect">
            <a:avLst/>
          </a:prstGeom>
          <a:noFill/>
          <a:ln w="9525">
            <a:noFill/>
          </a:ln>
        </p:spPr>
        <p:txBody>
          <a:bodyPr wrap="square" anchor="t">
            <a:spAutoFit/>
          </a:bodyPr>
          <a:lstStyle/>
          <a:p>
            <a:pPr indent="0"/>
            <a:r>
              <a:rPr lang="zh-CN" altLang="en-US" sz="3500" dirty="0">
                <a:latin typeface="华文楷体" panose="02010600040101010101" charset="-122"/>
                <a:ea typeface="华文楷体" panose="02010600040101010101" charset="-122"/>
                <a:cs typeface="华文楷体" panose="02010600040101010101" charset="-122"/>
              </a:rPr>
              <a:t>为计算机处理问题编制一组指令集 </a:t>
            </a:r>
            <a:endParaRPr lang="zh-CN" altLang="en-US" sz="3500" dirty="0">
              <a:latin typeface="华文楷体" panose="02010600040101010101" charset="-122"/>
              <a:ea typeface="华文楷体" panose="02010600040101010101" charset="-122"/>
              <a:cs typeface="华文楷体" panose="02010600040101010101" charset="-122"/>
            </a:endParaRPr>
          </a:p>
        </p:txBody>
      </p:sp>
      <p:sp>
        <p:nvSpPr>
          <p:cNvPr id="62470" name="Text Box 1030"/>
          <p:cNvSpPr txBox="1"/>
          <p:nvPr/>
        </p:nvSpPr>
        <p:spPr>
          <a:xfrm>
            <a:off x="2478405" y="4805045"/>
            <a:ext cx="3968750" cy="629920"/>
          </a:xfrm>
          <a:prstGeom prst="rect">
            <a:avLst/>
          </a:prstGeom>
          <a:noFill/>
          <a:ln w="9525">
            <a:noFill/>
          </a:ln>
        </p:spPr>
        <p:txBody>
          <a:bodyPr anchor="t">
            <a:spAutoFit/>
          </a:bodyPr>
          <a:lstStyle/>
          <a:p>
            <a:pPr indent="0"/>
            <a:r>
              <a:rPr lang="zh-CN" altLang="en-US" sz="3500" b="1" dirty="0">
                <a:solidFill>
                  <a:srgbClr val="800000"/>
                </a:solidFill>
                <a:latin typeface="华文楷体" panose="02010600040101010101" charset="-122"/>
                <a:ea typeface="华文楷体" panose="02010600040101010101" charset="-122"/>
              </a:rPr>
              <a:t>处理问题的策略</a:t>
            </a:r>
            <a:endParaRPr lang="zh-CN" altLang="en-US" sz="3500" b="1" dirty="0">
              <a:solidFill>
                <a:srgbClr val="800000"/>
              </a:solidFill>
              <a:latin typeface="华文楷体" panose="02010600040101010101" charset="-122"/>
              <a:ea typeface="华文楷体" panose="02010600040101010101" charset="-122"/>
            </a:endParaRPr>
          </a:p>
        </p:txBody>
      </p:sp>
      <p:sp>
        <p:nvSpPr>
          <p:cNvPr id="62471" name="Text Box 1031"/>
          <p:cNvSpPr txBox="1"/>
          <p:nvPr/>
        </p:nvSpPr>
        <p:spPr>
          <a:xfrm>
            <a:off x="2478405" y="5419090"/>
            <a:ext cx="3968750" cy="629920"/>
          </a:xfrm>
          <a:prstGeom prst="rect">
            <a:avLst/>
          </a:prstGeom>
          <a:noFill/>
          <a:ln w="9525">
            <a:noFill/>
          </a:ln>
        </p:spPr>
        <p:txBody>
          <a:bodyPr anchor="t">
            <a:spAutoFit/>
          </a:bodyPr>
          <a:lstStyle/>
          <a:p>
            <a:pPr indent="0"/>
            <a:r>
              <a:rPr lang="zh-CN" altLang="en-US" sz="3500" b="1" dirty="0">
                <a:solidFill>
                  <a:srgbClr val="800000"/>
                </a:solidFill>
                <a:latin typeface="华文楷体" panose="02010600040101010101" charset="-122"/>
                <a:ea typeface="华文楷体" panose="02010600040101010101" charset="-122"/>
              </a:rPr>
              <a:t>问题的数学模型</a:t>
            </a:r>
            <a:endParaRPr lang="zh-CN" altLang="en-US" sz="3500" b="1" dirty="0">
              <a:solidFill>
                <a:srgbClr val="800000"/>
              </a:solidFill>
              <a:latin typeface="华文楷体" panose="02010600040101010101" charset="-122"/>
              <a:ea typeface="华文楷体" panose="02010600040101010101" charset="-122"/>
            </a:endParaRPr>
          </a:p>
        </p:txBody>
      </p:sp>
      <p:sp>
        <p:nvSpPr>
          <p:cNvPr id="2" name="日期占位符 1"/>
          <p:cNvSpPr>
            <a:spLocks noGrp="1"/>
          </p:cNvSpPr>
          <p:nvPr>
            <p:ph type="dt" sz="half" idx="10"/>
          </p:nvPr>
        </p:nvSpPr>
        <p:spPr/>
        <p:txBody>
          <a:bodyPr/>
          <a:lstStyle/>
          <a:p>
            <a:r>
              <a:rPr lang="en-US" altLang="zh-CN"/>
              <a:t>Data Structures and algorithms</a:t>
            </a:r>
            <a:endParaRPr lang="zh-CN" altLang="en-US"/>
          </a:p>
        </p:txBody>
      </p:sp>
      <p:sp>
        <p:nvSpPr>
          <p:cNvPr id="3" name="页脚占位符 2"/>
          <p:cNvSpPr>
            <a:spLocks noGrp="1"/>
          </p:cNvSpPr>
          <p:nvPr>
            <p:ph type="ftr" sz="quarter" idx="11"/>
          </p:nvPr>
        </p:nvSpPr>
        <p:spPr/>
        <p:txBody>
          <a:bodyPr/>
          <a:lstStyle/>
          <a:p>
            <a:r>
              <a:rPr lang="en-US" altLang="zh-CN"/>
              <a:t>Software College Northeastern University</a:t>
            </a:r>
            <a:endParaRPr lang="zh-CN" altLang="en-US"/>
          </a:p>
        </p:txBody>
      </p:sp>
      <p:sp>
        <p:nvSpPr>
          <p:cNvPr id="4" name="灯片编号占位符 3"/>
          <p:cNvSpPr>
            <a:spLocks noGrp="1"/>
          </p:cNvSpPr>
          <p:nvPr>
            <p:ph type="sldNum" sz="quarter" idx="12"/>
          </p:nvPr>
        </p:nvSpPr>
        <p:spPr/>
        <p:txBody>
          <a:bodyPr/>
          <a:lstStyle/>
          <a:p>
            <a:fld id="{6E1C0148-8E4B-4B2F-95CE-20B4709700AE}" type="slidenum">
              <a:rPr lang="zh-CN" altLang="en-US" smtClean="0"/>
            </a:fld>
            <a:endParaRPr lang="zh-CN" altLang="en-US"/>
          </a:p>
        </p:txBody>
      </p:sp>
    </p:spTree>
  </p:cSld>
  <p:clrMapOvr>
    <a:masterClrMapping/>
  </p:clrMapOvr>
  <p:transition>
    <p:cover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62467"/>
                                        </p:tgtEl>
                                        <p:attrNameLst>
                                          <p:attrName>style.visibility</p:attrName>
                                        </p:attrNameLst>
                                      </p:cBhvr>
                                      <p:to>
                                        <p:strVal val="visible"/>
                                      </p:to>
                                    </p:set>
                                    <p:anim calcmode="lin" valueType="num">
                                      <p:cBhvr additive="base">
                                        <p:cTn id="7" dur="500" fill="hold"/>
                                        <p:tgtEl>
                                          <p:spTgt spid="62467"/>
                                        </p:tgtEl>
                                        <p:attrNameLst>
                                          <p:attrName>ppt_x</p:attrName>
                                        </p:attrNameLst>
                                      </p:cBhvr>
                                      <p:tavLst>
                                        <p:tav tm="0">
                                          <p:val>
                                            <p:strVal val="1+#ppt_w/2"/>
                                          </p:val>
                                        </p:tav>
                                        <p:tav tm="100000">
                                          <p:val>
                                            <p:strVal val="#ppt_x"/>
                                          </p:val>
                                        </p:tav>
                                      </p:tavLst>
                                    </p:anim>
                                    <p:anim calcmode="lin" valueType="num">
                                      <p:cBhvr additive="base">
                                        <p:cTn id="8" dur="500" fill="hold"/>
                                        <p:tgtEl>
                                          <p:spTgt spid="6246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62468"/>
                                        </p:tgtEl>
                                        <p:attrNameLst>
                                          <p:attrName>style.visibility</p:attrName>
                                        </p:attrNameLst>
                                      </p:cBhvr>
                                      <p:to>
                                        <p:strVal val="visible"/>
                                      </p:to>
                                    </p:set>
                                    <p:animEffect transition="in" filter="box(out)">
                                      <p:cBhvr>
                                        <p:cTn id="13" dur="500"/>
                                        <p:tgtEl>
                                          <p:spTgt spid="62468"/>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62469"/>
                                        </p:tgtEl>
                                        <p:attrNameLst>
                                          <p:attrName>style.visibility</p:attrName>
                                        </p:attrNameLst>
                                      </p:cBhvr>
                                      <p:to>
                                        <p:strVal val="visible"/>
                                      </p:to>
                                    </p:set>
                                    <p:animEffect transition="in" filter="wipe(left)">
                                      <p:cBhvr>
                                        <p:cTn id="18" dur="500"/>
                                        <p:tgtEl>
                                          <p:spTgt spid="62469"/>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62470"/>
                                        </p:tgtEl>
                                        <p:attrNameLst>
                                          <p:attrName>style.visibility</p:attrName>
                                        </p:attrNameLst>
                                      </p:cBhvr>
                                      <p:to>
                                        <p:strVal val="visible"/>
                                      </p:to>
                                    </p:set>
                                    <p:animEffect transition="in" filter="wipe(left)">
                                      <p:cBhvr>
                                        <p:cTn id="23" dur="500"/>
                                        <p:tgtEl>
                                          <p:spTgt spid="62470"/>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62471"/>
                                        </p:tgtEl>
                                        <p:attrNameLst>
                                          <p:attrName>style.visibility</p:attrName>
                                        </p:attrNameLst>
                                      </p:cBhvr>
                                      <p:to>
                                        <p:strVal val="visible"/>
                                      </p:to>
                                    </p:set>
                                    <p:animEffect transition="in" filter="wipe(left)">
                                      <p:cBhvr>
                                        <p:cTn id="28" dur="500"/>
                                        <p:tgtEl>
                                          <p:spTgt spid="624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7" grpId="0"/>
      <p:bldP spid="62468" grpId="0"/>
      <p:bldP spid="62469" grpId="0"/>
      <p:bldP spid="62470" grpId="0"/>
      <p:bldP spid="6247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Text Box 3"/>
          <p:cNvSpPr txBox="1"/>
          <p:nvPr/>
        </p:nvSpPr>
        <p:spPr>
          <a:xfrm>
            <a:off x="683260" y="2348865"/>
            <a:ext cx="6629400" cy="521970"/>
          </a:xfrm>
          <a:prstGeom prst="rect">
            <a:avLst/>
          </a:prstGeom>
          <a:noFill/>
          <a:ln w="9525">
            <a:noFill/>
          </a:ln>
        </p:spPr>
        <p:txBody>
          <a:bodyPr anchor="t">
            <a:spAutoFit/>
          </a:bodyPr>
          <a:lstStyle/>
          <a:p>
            <a:pPr indent="0"/>
            <a:r>
              <a:rPr lang="en-US" altLang="zh-CN" sz="2800" dirty="0">
                <a:latin typeface="楷体_GB2312" panose="02010609030101010101" pitchFamily="49" charset="-122"/>
                <a:ea typeface="楷体_GB2312" panose="02010609030101010101" pitchFamily="49" charset="-122"/>
              </a:rPr>
              <a:t> </a:t>
            </a:r>
            <a:r>
              <a:rPr lang="zh-CN" altLang="en-US" sz="2800" dirty="0">
                <a:latin typeface="楷体_GB2312" panose="02010609030101010101" pitchFamily="49" charset="-122"/>
                <a:ea typeface="楷体_GB2312" panose="02010609030101010101" pitchFamily="49" charset="-122"/>
              </a:rPr>
              <a:t>结构静力分析计算        </a:t>
            </a:r>
            <a:endParaRPr lang="zh-CN" altLang="en-US" sz="2800" dirty="0">
              <a:latin typeface="Times New Roman" panose="02020603050405020304" pitchFamily="18" charset="0"/>
              <a:ea typeface="宋体" panose="02010600030101010101" pitchFamily="2" charset="-122"/>
            </a:endParaRPr>
          </a:p>
        </p:txBody>
      </p:sp>
      <p:sp>
        <p:nvSpPr>
          <p:cNvPr id="2053" name="Text Box 5"/>
          <p:cNvSpPr txBox="1"/>
          <p:nvPr/>
        </p:nvSpPr>
        <p:spPr>
          <a:xfrm>
            <a:off x="899795" y="954405"/>
            <a:ext cx="5832475" cy="1370965"/>
          </a:xfrm>
          <a:prstGeom prst="rect">
            <a:avLst/>
          </a:prstGeom>
          <a:noFill/>
          <a:ln w="9525">
            <a:noFill/>
          </a:ln>
        </p:spPr>
        <p:txBody>
          <a:bodyPr wrap="none" anchor="t">
            <a:noAutofit/>
          </a:bodyPr>
          <a:lstStyle/>
          <a:p>
            <a:pPr indent="0"/>
            <a:r>
              <a:rPr lang="zh-CN" altLang="en-US" sz="3600" b="1" dirty="0">
                <a:latin typeface="楷体_GB2312" panose="02010609030101010101" pitchFamily="49" charset="-122"/>
                <a:ea typeface="楷体_GB2312" panose="02010609030101010101" pitchFamily="49" charset="-122"/>
              </a:rPr>
              <a:t>例如</a:t>
            </a:r>
            <a:r>
              <a:rPr lang="en-US" altLang="zh-CN" sz="3600" dirty="0">
                <a:latin typeface="楷体_GB2312" panose="02010609030101010101" pitchFamily="49" charset="-122"/>
                <a:ea typeface="楷体_GB2312" panose="02010609030101010101" pitchFamily="49" charset="-122"/>
              </a:rPr>
              <a:t>: </a:t>
            </a:r>
            <a:r>
              <a:rPr lang="zh-CN" altLang="en-US" sz="3600" dirty="0">
                <a:latin typeface="楷体_GB2312" panose="02010609030101010101" pitchFamily="49" charset="-122"/>
                <a:ea typeface="楷体_GB2312" panose="02010609030101010101" pitchFamily="49" charset="-122"/>
              </a:rPr>
              <a:t>数值计算的程序设计问题</a:t>
            </a:r>
            <a:endParaRPr lang="zh-CN" altLang="en-US" sz="3600" dirty="0">
              <a:latin typeface="楷体_GB2312" panose="02010609030101010101" pitchFamily="49" charset="-122"/>
              <a:ea typeface="楷体_GB2312" panose="02010609030101010101" pitchFamily="49" charset="-122"/>
            </a:endParaRPr>
          </a:p>
          <a:p>
            <a:pPr indent="0"/>
            <a:endParaRPr lang="en-US" altLang="zh-CN" sz="3600" dirty="0">
              <a:latin typeface="Times New Roman" panose="02020603050405020304" pitchFamily="18" charset="0"/>
              <a:ea typeface="宋体" panose="02010600030101010101" pitchFamily="2" charset="-122"/>
            </a:endParaRPr>
          </a:p>
        </p:txBody>
      </p:sp>
      <p:sp>
        <p:nvSpPr>
          <p:cNvPr id="2054" name="Text Box 6"/>
          <p:cNvSpPr txBox="1"/>
          <p:nvPr/>
        </p:nvSpPr>
        <p:spPr>
          <a:xfrm>
            <a:off x="3636010" y="2870835"/>
            <a:ext cx="3738880" cy="953135"/>
          </a:xfrm>
          <a:prstGeom prst="rect">
            <a:avLst/>
          </a:prstGeom>
          <a:noFill/>
          <a:ln w="9525">
            <a:noFill/>
          </a:ln>
        </p:spPr>
        <p:txBody>
          <a:bodyPr wrap="none" anchor="t">
            <a:spAutoFit/>
          </a:bodyPr>
          <a:lstStyle/>
          <a:p>
            <a:pPr indent="0"/>
            <a:r>
              <a:rPr lang="en-US" altLang="zh-CN" sz="2800" dirty="0">
                <a:latin typeface="楷体_GB2312" panose="02010609030101010101" pitchFamily="49" charset="-122"/>
                <a:ea typeface="楷体_GB2312" panose="02010609030101010101" pitchFamily="49" charset="-122"/>
              </a:rPr>
              <a:t> ─━ </a:t>
            </a:r>
            <a:r>
              <a:rPr lang="zh-CN" altLang="en-US" sz="2800" dirty="0">
                <a:latin typeface="楷体_GB2312" panose="02010609030101010101" pitchFamily="49" charset="-122"/>
                <a:ea typeface="楷体_GB2312" panose="02010609030101010101" pitchFamily="49" charset="-122"/>
              </a:rPr>
              <a:t>线性代数方程组</a:t>
            </a:r>
            <a:endParaRPr lang="zh-CN" altLang="en-US" sz="2800" dirty="0">
              <a:latin typeface="Times New Roman" panose="02020603050405020304" pitchFamily="18" charset="0"/>
              <a:ea typeface="宋体" panose="02010600030101010101" pitchFamily="2" charset="-122"/>
            </a:endParaRPr>
          </a:p>
          <a:p>
            <a:pPr indent="0"/>
            <a:endParaRPr lang="en-US" altLang="zh-CN" sz="2800" dirty="0">
              <a:latin typeface="Times New Roman" panose="02020603050405020304" pitchFamily="18" charset="0"/>
              <a:ea typeface="宋体" panose="02010600030101010101" pitchFamily="2" charset="-122"/>
            </a:endParaRPr>
          </a:p>
        </p:txBody>
      </p:sp>
      <p:sp>
        <p:nvSpPr>
          <p:cNvPr id="2056" name="Text Box 8"/>
          <p:cNvSpPr txBox="1"/>
          <p:nvPr/>
        </p:nvSpPr>
        <p:spPr>
          <a:xfrm>
            <a:off x="3491865" y="4787265"/>
            <a:ext cx="5105400" cy="953135"/>
          </a:xfrm>
          <a:prstGeom prst="rect">
            <a:avLst/>
          </a:prstGeom>
          <a:noFill/>
          <a:ln w="9525">
            <a:noFill/>
          </a:ln>
        </p:spPr>
        <p:txBody>
          <a:bodyPr anchor="t">
            <a:spAutoFit/>
          </a:bodyPr>
          <a:lstStyle/>
          <a:p>
            <a:pPr indent="0"/>
            <a:r>
              <a:rPr lang="en-US" altLang="zh-CN" sz="2800" dirty="0">
                <a:latin typeface="楷体_GB2312" panose="02010609030101010101" pitchFamily="49" charset="-122"/>
                <a:ea typeface="楷体_GB2312" panose="02010609030101010101" pitchFamily="49" charset="-122"/>
              </a:rPr>
              <a:t> ─━ </a:t>
            </a:r>
            <a:r>
              <a:rPr lang="zh-CN" altLang="en-US" sz="2800" dirty="0">
                <a:latin typeface="楷体_GB2312" panose="02010609030101010101" pitchFamily="49" charset="-122"/>
                <a:ea typeface="楷体_GB2312" panose="02010609030101010101" pitchFamily="49" charset="-122"/>
              </a:rPr>
              <a:t>环流模式方程</a:t>
            </a:r>
            <a:endParaRPr lang="zh-CN" altLang="en-US" sz="2800" dirty="0">
              <a:latin typeface="楷体_GB2312" panose="02010609030101010101" pitchFamily="49" charset="-122"/>
              <a:ea typeface="楷体_GB2312" panose="02010609030101010101" pitchFamily="49" charset="-122"/>
            </a:endParaRPr>
          </a:p>
          <a:p>
            <a:pPr indent="0"/>
            <a:r>
              <a:rPr lang="zh-CN" altLang="en-US" sz="2800" dirty="0">
                <a:latin typeface="楷体_GB2312" panose="02010609030101010101" pitchFamily="49" charset="-122"/>
                <a:ea typeface="楷体_GB2312" panose="02010609030101010101" pitchFamily="49" charset="-122"/>
              </a:rPr>
              <a:t>      </a:t>
            </a:r>
            <a:r>
              <a:rPr lang="en-US" altLang="zh-CN" sz="2800" dirty="0">
                <a:latin typeface="楷体_GB2312" panose="02010609030101010101" pitchFamily="49" charset="-122"/>
                <a:ea typeface="楷体_GB2312" panose="02010609030101010101" pitchFamily="49" charset="-122"/>
              </a:rPr>
              <a:t>(</a:t>
            </a:r>
            <a:r>
              <a:rPr lang="zh-CN" altLang="en-US" sz="2800" dirty="0">
                <a:latin typeface="楷体_GB2312" panose="02010609030101010101" pitchFamily="49" charset="-122"/>
                <a:ea typeface="楷体_GB2312" panose="02010609030101010101" pitchFamily="49" charset="-122"/>
              </a:rPr>
              <a:t>球面坐标系</a:t>
            </a:r>
            <a:r>
              <a:rPr lang="en-US" altLang="zh-CN" sz="2800" dirty="0">
                <a:latin typeface="楷体_GB2312" panose="02010609030101010101" pitchFamily="49" charset="-122"/>
                <a:ea typeface="楷体_GB2312" panose="02010609030101010101" pitchFamily="49" charset="-122"/>
              </a:rPr>
              <a:t>)</a:t>
            </a:r>
            <a:endParaRPr lang="en-US" altLang="zh-CN" sz="2800" dirty="0">
              <a:latin typeface="Times New Roman" panose="02020603050405020304" pitchFamily="18" charset="0"/>
              <a:ea typeface="宋体" panose="02010600030101010101" pitchFamily="2" charset="-122"/>
            </a:endParaRPr>
          </a:p>
        </p:txBody>
      </p:sp>
      <p:sp>
        <p:nvSpPr>
          <p:cNvPr id="2057" name="Text Box 9"/>
          <p:cNvSpPr txBox="1"/>
          <p:nvPr/>
        </p:nvSpPr>
        <p:spPr>
          <a:xfrm>
            <a:off x="1043305" y="4076700"/>
            <a:ext cx="2494280" cy="521970"/>
          </a:xfrm>
          <a:prstGeom prst="rect">
            <a:avLst/>
          </a:prstGeom>
          <a:noFill/>
          <a:ln w="9525">
            <a:noFill/>
          </a:ln>
        </p:spPr>
        <p:txBody>
          <a:bodyPr wrap="none" anchor="t">
            <a:spAutoFit/>
          </a:bodyPr>
          <a:lstStyle/>
          <a:p>
            <a:pPr indent="0"/>
            <a:r>
              <a:rPr lang="zh-CN" altLang="en-US" sz="2800" dirty="0">
                <a:latin typeface="楷体_GB2312" panose="02010609030101010101" pitchFamily="49" charset="-122"/>
                <a:ea typeface="楷体_GB2312" panose="02010609030101010101" pitchFamily="49" charset="-122"/>
              </a:rPr>
              <a:t>全球天气预报 </a:t>
            </a:r>
            <a:endParaRPr lang="zh-CN" altLang="en-US" sz="2800" dirty="0">
              <a:latin typeface="楷体_GB2312" panose="02010609030101010101" pitchFamily="49" charset="-122"/>
              <a:ea typeface="楷体_GB2312" panose="02010609030101010101" pitchFamily="49" charset="-122"/>
            </a:endParaRPr>
          </a:p>
        </p:txBody>
      </p:sp>
      <p:sp>
        <p:nvSpPr>
          <p:cNvPr id="2" name="日期占位符 1"/>
          <p:cNvSpPr>
            <a:spLocks noGrp="1"/>
          </p:cNvSpPr>
          <p:nvPr>
            <p:ph type="dt" sz="half" idx="10"/>
          </p:nvPr>
        </p:nvSpPr>
        <p:spPr/>
        <p:txBody>
          <a:bodyPr/>
          <a:lstStyle/>
          <a:p>
            <a:r>
              <a:rPr lang="en-US" altLang="zh-CN"/>
              <a:t>Data Structures and algorithms</a:t>
            </a:r>
            <a:endParaRPr lang="zh-CN" altLang="en-US"/>
          </a:p>
        </p:txBody>
      </p:sp>
      <p:sp>
        <p:nvSpPr>
          <p:cNvPr id="3" name="页脚占位符 2"/>
          <p:cNvSpPr>
            <a:spLocks noGrp="1"/>
          </p:cNvSpPr>
          <p:nvPr>
            <p:ph type="ftr" sz="quarter" idx="11"/>
          </p:nvPr>
        </p:nvSpPr>
        <p:spPr/>
        <p:txBody>
          <a:bodyPr/>
          <a:lstStyle/>
          <a:p>
            <a:r>
              <a:rPr lang="en-US" altLang="zh-CN"/>
              <a:t>Software College Northeastern University</a:t>
            </a:r>
            <a:endParaRPr lang="zh-CN" altLang="en-US"/>
          </a:p>
        </p:txBody>
      </p:sp>
      <p:sp>
        <p:nvSpPr>
          <p:cNvPr id="4" name="灯片编号占位符 3"/>
          <p:cNvSpPr>
            <a:spLocks noGrp="1"/>
          </p:cNvSpPr>
          <p:nvPr>
            <p:ph type="sldNum" sz="quarter" idx="12"/>
          </p:nvPr>
        </p:nvSpPr>
        <p:spPr/>
        <p:txBody>
          <a:bodyPr/>
          <a:lstStyle/>
          <a:p>
            <a:fld id="{6E1C0148-8E4B-4B2F-95CE-20B4709700AE}" type="slidenum">
              <a:rPr lang="zh-CN" altLang="en-US" smtClean="0"/>
            </a:fld>
            <a:endParaRPr lang="zh-CN" altLang="en-US"/>
          </a:p>
        </p:txBody>
      </p:sp>
    </p:spTree>
  </p:cSld>
  <p:clrMapOvr>
    <a:masterClrMapping/>
  </p:clrMapOvr>
  <p:transition>
    <p:cover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2053"/>
                                        </p:tgtEl>
                                        <p:attrNameLst>
                                          <p:attrName>style.visibility</p:attrName>
                                        </p:attrNameLst>
                                      </p:cBhvr>
                                      <p:to>
                                        <p:strVal val="visible"/>
                                      </p:to>
                                    </p:set>
                                    <p:anim calcmode="lin" valueType="num">
                                      <p:cBhvr additive="base">
                                        <p:cTn id="7" dur="500" fill="hold"/>
                                        <p:tgtEl>
                                          <p:spTgt spid="2053"/>
                                        </p:tgtEl>
                                        <p:attrNameLst>
                                          <p:attrName>ppt_x</p:attrName>
                                        </p:attrNameLst>
                                      </p:cBhvr>
                                      <p:tavLst>
                                        <p:tav tm="0">
                                          <p:val>
                                            <p:strVal val="#ppt_x"/>
                                          </p:val>
                                        </p:tav>
                                        <p:tav tm="100000">
                                          <p:val>
                                            <p:strVal val="#ppt_x"/>
                                          </p:val>
                                        </p:tav>
                                      </p:tavLst>
                                    </p:anim>
                                    <p:anim calcmode="lin" valueType="num">
                                      <p:cBhvr additive="base">
                                        <p:cTn id="8" dur="500" fill="hold"/>
                                        <p:tgtEl>
                                          <p:spTgt spid="2053"/>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051"/>
                                        </p:tgtEl>
                                        <p:attrNameLst>
                                          <p:attrName>style.visibility</p:attrName>
                                        </p:attrNameLst>
                                      </p:cBhvr>
                                      <p:to>
                                        <p:strVal val="visible"/>
                                      </p:to>
                                    </p:set>
                                    <p:anim calcmode="lin" valueType="num">
                                      <p:cBhvr additive="base">
                                        <p:cTn id="13" dur="500" fill="hold"/>
                                        <p:tgtEl>
                                          <p:spTgt spid="2051"/>
                                        </p:tgtEl>
                                        <p:attrNameLst>
                                          <p:attrName>ppt_x</p:attrName>
                                        </p:attrNameLst>
                                      </p:cBhvr>
                                      <p:tavLst>
                                        <p:tav tm="0">
                                          <p:val>
                                            <p:strVal val="#ppt_x"/>
                                          </p:val>
                                        </p:tav>
                                        <p:tav tm="100000">
                                          <p:val>
                                            <p:strVal val="#ppt_x"/>
                                          </p:val>
                                        </p:tav>
                                      </p:tavLst>
                                    </p:anim>
                                    <p:anim calcmode="lin" valueType="num">
                                      <p:cBhvr additive="base">
                                        <p:cTn id="14" dur="500" fill="hold"/>
                                        <p:tgtEl>
                                          <p:spTgt spid="205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2054"/>
                                        </p:tgtEl>
                                        <p:attrNameLst>
                                          <p:attrName>style.visibility</p:attrName>
                                        </p:attrNameLst>
                                      </p:cBhvr>
                                      <p:to>
                                        <p:strVal val="visible"/>
                                      </p:to>
                                    </p:set>
                                    <p:animEffect transition="in" filter="wipe(left)">
                                      <p:cBhvr>
                                        <p:cTn id="19" dur="500"/>
                                        <p:tgtEl>
                                          <p:spTgt spid="2054"/>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2057"/>
                                        </p:tgtEl>
                                        <p:attrNameLst>
                                          <p:attrName>style.visibility</p:attrName>
                                        </p:attrNameLst>
                                      </p:cBhvr>
                                      <p:to>
                                        <p:strVal val="visible"/>
                                      </p:to>
                                    </p:set>
                                    <p:anim calcmode="lin" valueType="num">
                                      <p:cBhvr additive="base">
                                        <p:cTn id="24" dur="500" fill="hold"/>
                                        <p:tgtEl>
                                          <p:spTgt spid="2057"/>
                                        </p:tgtEl>
                                        <p:attrNameLst>
                                          <p:attrName>ppt_x</p:attrName>
                                        </p:attrNameLst>
                                      </p:cBhvr>
                                      <p:tavLst>
                                        <p:tav tm="0">
                                          <p:val>
                                            <p:strVal val="#ppt_x"/>
                                          </p:val>
                                        </p:tav>
                                        <p:tav tm="100000">
                                          <p:val>
                                            <p:strVal val="#ppt_x"/>
                                          </p:val>
                                        </p:tav>
                                      </p:tavLst>
                                    </p:anim>
                                    <p:anim calcmode="lin" valueType="num">
                                      <p:cBhvr additive="base">
                                        <p:cTn id="25" dur="500" fill="hold"/>
                                        <p:tgtEl>
                                          <p:spTgt spid="2057"/>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2056"/>
                                        </p:tgtEl>
                                        <p:attrNameLst>
                                          <p:attrName>style.visibility</p:attrName>
                                        </p:attrNameLst>
                                      </p:cBhvr>
                                      <p:to>
                                        <p:strVal val="visible"/>
                                      </p:to>
                                    </p:set>
                                    <p:animEffect transition="in" filter="wipe(left)">
                                      <p:cBhvr>
                                        <p:cTn id="30" dur="500"/>
                                        <p:tgtEl>
                                          <p:spTgt spid="20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1" grpId="0"/>
      <p:bldP spid="2053" grpId="0"/>
      <p:bldP spid="2054" grpId="0"/>
      <p:bldP spid="2056" grpId="0"/>
      <p:bldP spid="205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3506" name="Text Box 2"/>
          <p:cNvSpPr txBox="1"/>
          <p:nvPr/>
        </p:nvSpPr>
        <p:spPr>
          <a:xfrm>
            <a:off x="457200" y="4618038"/>
            <a:ext cx="3657600" cy="521970"/>
          </a:xfrm>
          <a:prstGeom prst="rect">
            <a:avLst/>
          </a:prstGeom>
          <a:noFill/>
          <a:ln w="9525">
            <a:noFill/>
          </a:ln>
        </p:spPr>
        <p:txBody>
          <a:bodyPr>
            <a:spAutoFit/>
          </a:bodyPr>
          <a:lstStyle/>
          <a:p>
            <a:r>
              <a:rPr lang="zh-CN" altLang="en-US" sz="2800" dirty="0">
                <a:solidFill>
                  <a:srgbClr val="0000FF"/>
                </a:solidFill>
                <a:latin typeface="楷体_GB2312" panose="02010609030101010101" pitchFamily="49" charset="-122"/>
                <a:ea typeface="楷体_GB2312" panose="02010609030101010101" pitchFamily="49" charset="-122"/>
              </a:rPr>
              <a:t> </a:t>
            </a:r>
            <a:r>
              <a:rPr lang="zh-CN" altLang="en-US" sz="2800" dirty="0">
                <a:solidFill>
                  <a:srgbClr val="0000FF"/>
                </a:solidFill>
                <a:latin typeface="Times New Roman" panose="02020603050405020304" pitchFamily="18" charset="0"/>
                <a:ea typeface="楷体_GB2312" panose="02010609030101010101" pitchFamily="49" charset="-122"/>
              </a:rPr>
              <a:t>“</a:t>
            </a:r>
            <a:r>
              <a:rPr lang="zh-CN" altLang="en-US" sz="2800" dirty="0">
                <a:solidFill>
                  <a:srgbClr val="0000FF"/>
                </a:solidFill>
                <a:latin typeface="楷体_GB2312" panose="02010609030101010101" pitchFamily="49" charset="-122"/>
                <a:ea typeface="楷体_GB2312" panose="02010609030101010101" pitchFamily="49" charset="-122"/>
              </a:rPr>
              <a:t>鸡兔同笼</a:t>
            </a:r>
            <a:r>
              <a:rPr lang="zh-CN" altLang="en-US" sz="2800" dirty="0">
                <a:solidFill>
                  <a:srgbClr val="0000FF"/>
                </a:solidFill>
                <a:latin typeface="Times New Roman" panose="02020603050405020304" pitchFamily="18" charset="0"/>
                <a:ea typeface="楷体_GB2312" panose="02010609030101010101" pitchFamily="49" charset="-122"/>
              </a:rPr>
              <a:t>”</a:t>
            </a:r>
            <a:r>
              <a:rPr lang="zh-CN" altLang="en-US" sz="2800" dirty="0">
                <a:solidFill>
                  <a:srgbClr val="0000FF"/>
                </a:solidFill>
                <a:latin typeface="楷体_GB2312" panose="02010609030101010101" pitchFamily="49" charset="-122"/>
                <a:ea typeface="楷体_GB2312" panose="02010609030101010101" pitchFamily="49" charset="-122"/>
              </a:rPr>
              <a:t>问题</a:t>
            </a:r>
            <a:endParaRPr lang="zh-CN" altLang="en-US" sz="2800" dirty="0">
              <a:solidFill>
                <a:srgbClr val="0000FF"/>
              </a:solidFill>
              <a:latin typeface="楷体_GB2312" panose="02010609030101010101" pitchFamily="49" charset="-122"/>
              <a:ea typeface="楷体_GB2312" panose="02010609030101010101" pitchFamily="49" charset="-122"/>
            </a:endParaRPr>
          </a:p>
        </p:txBody>
      </p:sp>
      <p:sp>
        <p:nvSpPr>
          <p:cNvPr id="533507" name="Text Box 3"/>
          <p:cNvSpPr txBox="1"/>
          <p:nvPr/>
        </p:nvSpPr>
        <p:spPr>
          <a:xfrm>
            <a:off x="971550" y="260350"/>
            <a:ext cx="8016875" cy="1198880"/>
          </a:xfrm>
          <a:prstGeom prst="rect">
            <a:avLst/>
          </a:prstGeom>
          <a:noFill/>
          <a:ln w="9525">
            <a:noFill/>
          </a:ln>
        </p:spPr>
        <p:txBody>
          <a:bodyPr>
            <a:spAutoFit/>
          </a:bodyPr>
          <a:lstStyle/>
          <a:p>
            <a:r>
              <a:rPr lang="zh-CN" altLang="en-US" sz="3600" b="1" dirty="0">
                <a:latin typeface="楷体_GB2312" panose="02010609030101010101" pitchFamily="49" charset="-122"/>
                <a:ea typeface="楷体_GB2312" panose="02010609030101010101" pitchFamily="49" charset="-122"/>
              </a:rPr>
              <a:t>数值计算的程序设计问题</a:t>
            </a:r>
            <a:endParaRPr lang="zh-CN" altLang="en-US" sz="3600" b="1" dirty="0">
              <a:latin typeface="楷体_GB2312" panose="02010609030101010101" pitchFamily="49" charset="-122"/>
              <a:ea typeface="楷体_GB2312" panose="02010609030101010101" pitchFamily="49" charset="-122"/>
            </a:endParaRPr>
          </a:p>
          <a:p>
            <a:endParaRPr lang="zh-CN" altLang="en-US" sz="3600" b="1" dirty="0">
              <a:latin typeface="楷体_GB2312" panose="02010609030101010101" pitchFamily="49" charset="-122"/>
              <a:ea typeface="楷体_GB2312" panose="02010609030101010101" pitchFamily="49" charset="-122"/>
            </a:endParaRPr>
          </a:p>
        </p:txBody>
      </p:sp>
      <p:sp>
        <p:nvSpPr>
          <p:cNvPr id="533508" name="Text Box 4"/>
          <p:cNvSpPr txBox="1"/>
          <p:nvPr/>
        </p:nvSpPr>
        <p:spPr>
          <a:xfrm>
            <a:off x="4114800" y="4664075"/>
            <a:ext cx="3205480" cy="953135"/>
          </a:xfrm>
          <a:prstGeom prst="rect">
            <a:avLst/>
          </a:prstGeom>
          <a:noFill/>
          <a:ln w="9525">
            <a:noFill/>
          </a:ln>
        </p:spPr>
        <p:txBody>
          <a:bodyPr wrap="none">
            <a:spAutoFit/>
          </a:bodyPr>
          <a:lstStyle/>
          <a:p>
            <a:r>
              <a:rPr lang="zh-CN" altLang="en-US" sz="2800" dirty="0">
                <a:solidFill>
                  <a:srgbClr val="0000FF"/>
                </a:solidFill>
                <a:latin typeface="楷体_GB2312" panose="02010609030101010101" pitchFamily="49" charset="-122"/>
                <a:ea typeface="楷体_GB2312" panose="02010609030101010101" pitchFamily="49" charset="-122"/>
              </a:rPr>
              <a:t> ━二元一次方程组</a:t>
            </a:r>
            <a:endParaRPr lang="zh-CN" altLang="en-US" sz="2800" dirty="0">
              <a:solidFill>
                <a:srgbClr val="0000FF"/>
              </a:solidFill>
              <a:latin typeface="Times New Roman" panose="02020603050405020304" pitchFamily="18" charset="0"/>
            </a:endParaRPr>
          </a:p>
          <a:p>
            <a:endParaRPr lang="zh-CN" altLang="en-US" sz="2800" dirty="0">
              <a:solidFill>
                <a:srgbClr val="0000FF"/>
              </a:solidFill>
              <a:latin typeface="Times New Roman" panose="02020603050405020304" pitchFamily="18" charset="0"/>
            </a:endParaRPr>
          </a:p>
        </p:txBody>
      </p:sp>
      <p:sp>
        <p:nvSpPr>
          <p:cNvPr id="533509" name="Text Box 5"/>
          <p:cNvSpPr txBox="1"/>
          <p:nvPr/>
        </p:nvSpPr>
        <p:spPr>
          <a:xfrm>
            <a:off x="3733800" y="5410200"/>
            <a:ext cx="5105400" cy="953135"/>
          </a:xfrm>
          <a:prstGeom prst="rect">
            <a:avLst/>
          </a:prstGeom>
          <a:noFill/>
          <a:ln w="9525">
            <a:noFill/>
          </a:ln>
        </p:spPr>
        <p:txBody>
          <a:bodyPr>
            <a:spAutoFit/>
          </a:bodyPr>
          <a:lstStyle/>
          <a:p>
            <a:r>
              <a:rPr lang="zh-CN" altLang="en-US" sz="2800" dirty="0">
                <a:solidFill>
                  <a:srgbClr val="0000FF"/>
                </a:solidFill>
                <a:latin typeface="楷体_GB2312" panose="02010609030101010101" pitchFamily="49" charset="-122"/>
                <a:ea typeface="楷体_GB2312" panose="02010609030101010101" pitchFamily="49" charset="-122"/>
              </a:rPr>
              <a:t> ━ 环流模式方程</a:t>
            </a:r>
            <a:endParaRPr lang="zh-CN" altLang="en-US" sz="2800" dirty="0">
              <a:solidFill>
                <a:srgbClr val="0000FF"/>
              </a:solidFill>
              <a:latin typeface="楷体_GB2312" panose="02010609030101010101" pitchFamily="49" charset="-122"/>
              <a:ea typeface="楷体_GB2312" panose="02010609030101010101" pitchFamily="49" charset="-122"/>
            </a:endParaRPr>
          </a:p>
          <a:p>
            <a:r>
              <a:rPr lang="zh-CN" altLang="en-US" sz="2800" dirty="0">
                <a:solidFill>
                  <a:srgbClr val="0000FF"/>
                </a:solidFill>
                <a:latin typeface="楷体_GB2312" panose="02010609030101010101" pitchFamily="49" charset="-122"/>
                <a:ea typeface="楷体_GB2312" panose="02010609030101010101" pitchFamily="49" charset="-122"/>
              </a:rPr>
              <a:t>      </a:t>
            </a:r>
            <a:r>
              <a:rPr lang="en-US" altLang="zh-CN" sz="2800" dirty="0">
                <a:solidFill>
                  <a:srgbClr val="0000FF"/>
                </a:solidFill>
                <a:latin typeface="楷体_GB2312" panose="02010609030101010101" pitchFamily="49" charset="-122"/>
                <a:ea typeface="楷体_GB2312" panose="02010609030101010101" pitchFamily="49" charset="-122"/>
              </a:rPr>
              <a:t>(</a:t>
            </a:r>
            <a:r>
              <a:rPr lang="zh-CN" altLang="en-US" sz="2800" dirty="0">
                <a:solidFill>
                  <a:srgbClr val="0000FF"/>
                </a:solidFill>
                <a:latin typeface="楷体_GB2312" panose="02010609030101010101" pitchFamily="49" charset="-122"/>
                <a:ea typeface="楷体_GB2312" panose="02010609030101010101" pitchFamily="49" charset="-122"/>
              </a:rPr>
              <a:t>球面坐标系</a:t>
            </a:r>
            <a:r>
              <a:rPr lang="en-US" altLang="zh-CN" sz="2800" dirty="0">
                <a:solidFill>
                  <a:srgbClr val="0000FF"/>
                </a:solidFill>
                <a:latin typeface="楷体_GB2312" panose="02010609030101010101" pitchFamily="49" charset="-122"/>
                <a:ea typeface="楷体_GB2312" panose="02010609030101010101" pitchFamily="49" charset="-122"/>
              </a:rPr>
              <a:t>)</a:t>
            </a:r>
            <a:endParaRPr lang="en-US" altLang="zh-CN" sz="2800" dirty="0">
              <a:solidFill>
                <a:srgbClr val="0000FF"/>
              </a:solidFill>
              <a:latin typeface="Times New Roman" panose="02020603050405020304" pitchFamily="18" charset="0"/>
            </a:endParaRPr>
          </a:p>
        </p:txBody>
      </p:sp>
      <p:sp>
        <p:nvSpPr>
          <p:cNvPr id="533510" name="Text Box 6"/>
          <p:cNvSpPr txBox="1"/>
          <p:nvPr/>
        </p:nvSpPr>
        <p:spPr>
          <a:xfrm>
            <a:off x="762000" y="5514975"/>
            <a:ext cx="2494280" cy="521970"/>
          </a:xfrm>
          <a:prstGeom prst="rect">
            <a:avLst/>
          </a:prstGeom>
          <a:noFill/>
          <a:ln w="9525">
            <a:noFill/>
          </a:ln>
        </p:spPr>
        <p:txBody>
          <a:bodyPr wrap="none">
            <a:spAutoFit/>
          </a:bodyPr>
          <a:lstStyle/>
          <a:p>
            <a:r>
              <a:rPr lang="zh-CN" altLang="en-US" sz="2800" dirty="0">
                <a:solidFill>
                  <a:srgbClr val="0000FF"/>
                </a:solidFill>
                <a:latin typeface="楷体_GB2312" panose="02010609030101010101" pitchFamily="49" charset="-122"/>
                <a:ea typeface="楷体_GB2312" panose="02010609030101010101" pitchFamily="49" charset="-122"/>
              </a:rPr>
              <a:t>全球天气预报 </a:t>
            </a:r>
            <a:endParaRPr lang="zh-CN" altLang="en-US" sz="2800" dirty="0">
              <a:solidFill>
                <a:srgbClr val="0000FF"/>
              </a:solidFill>
              <a:latin typeface="楷体_GB2312" panose="02010609030101010101" pitchFamily="49" charset="-122"/>
              <a:ea typeface="楷体_GB2312" panose="02010609030101010101" pitchFamily="49" charset="-122"/>
            </a:endParaRPr>
          </a:p>
        </p:txBody>
      </p:sp>
      <p:sp>
        <p:nvSpPr>
          <p:cNvPr id="533511" name="Text Box 7"/>
          <p:cNvSpPr txBox="1"/>
          <p:nvPr/>
        </p:nvSpPr>
        <p:spPr>
          <a:xfrm>
            <a:off x="762000" y="1295400"/>
            <a:ext cx="7772400" cy="2414905"/>
          </a:xfrm>
          <a:prstGeom prst="rect">
            <a:avLst/>
          </a:prstGeom>
          <a:noFill/>
          <a:ln w="9525">
            <a:noFill/>
          </a:ln>
        </p:spPr>
        <p:txBody>
          <a:bodyPr>
            <a:spAutoFit/>
          </a:bodyPr>
          <a:lstStyle/>
          <a:p>
            <a:pPr eaLnBrk="0" hangingPunct="0">
              <a:lnSpc>
                <a:spcPct val="80000"/>
              </a:lnSpc>
              <a:spcBef>
                <a:spcPct val="20000"/>
              </a:spcBef>
              <a:buChar char="•"/>
            </a:pPr>
            <a:r>
              <a:rPr lang="zh-CN" altLang="en-US" sz="2800" dirty="0">
                <a:latin typeface="楷体_GB2312" panose="02010609030101010101" pitchFamily="49" charset="-122"/>
                <a:ea typeface="楷体_GB2312" panose="02010609030101010101" pitchFamily="49" charset="-122"/>
              </a:rPr>
              <a:t>数值计算解决问题的一般步骤：</a:t>
            </a:r>
            <a:endParaRPr lang="zh-CN" altLang="en-US" sz="2800" dirty="0">
              <a:latin typeface="楷体_GB2312" panose="02010609030101010101" pitchFamily="49" charset="-122"/>
              <a:ea typeface="楷体_GB2312" panose="02010609030101010101" pitchFamily="49" charset="-122"/>
            </a:endParaRPr>
          </a:p>
          <a:p>
            <a:pPr eaLnBrk="0" hangingPunct="0">
              <a:lnSpc>
                <a:spcPct val="80000"/>
              </a:lnSpc>
              <a:spcBef>
                <a:spcPct val="20000"/>
              </a:spcBef>
              <a:buChar char="•"/>
            </a:pPr>
            <a:r>
              <a:rPr lang="zh-CN" altLang="en-US" sz="2800" dirty="0">
                <a:latin typeface="楷体_GB2312" panose="02010609030101010101" pitchFamily="49" charset="-122"/>
                <a:ea typeface="楷体_GB2312" panose="02010609030101010101" pitchFamily="49" charset="-122"/>
              </a:rPr>
              <a:t>数学模型→设计算法→编出程序→测试→最终解答</a:t>
            </a:r>
            <a:endParaRPr lang="zh-CN" altLang="en-US" sz="2800" dirty="0">
              <a:latin typeface="楷体_GB2312" panose="02010609030101010101" pitchFamily="49" charset="-122"/>
              <a:ea typeface="楷体_GB2312" panose="02010609030101010101" pitchFamily="49" charset="-122"/>
            </a:endParaRPr>
          </a:p>
          <a:p>
            <a:pPr eaLnBrk="0" hangingPunct="0">
              <a:lnSpc>
                <a:spcPct val="80000"/>
              </a:lnSpc>
              <a:spcBef>
                <a:spcPct val="20000"/>
              </a:spcBef>
              <a:buChar char="•"/>
            </a:pPr>
            <a:r>
              <a:rPr lang="zh-CN" altLang="en-US" sz="2800" dirty="0">
                <a:latin typeface="楷体_GB2312" panose="02010609030101010101" pitchFamily="49" charset="-122"/>
                <a:ea typeface="楷体_GB2312" panose="02010609030101010101" pitchFamily="49" charset="-122"/>
              </a:rPr>
              <a:t>数值计算的关键是：如何得出数学模型（方程）？</a:t>
            </a:r>
            <a:endParaRPr lang="zh-CN" altLang="en-US" sz="2800" dirty="0">
              <a:latin typeface="楷体_GB2312" panose="02010609030101010101" pitchFamily="49" charset="-122"/>
              <a:ea typeface="楷体_GB2312" panose="02010609030101010101" pitchFamily="49" charset="-122"/>
            </a:endParaRPr>
          </a:p>
          <a:p>
            <a:pPr eaLnBrk="0" hangingPunct="0">
              <a:lnSpc>
                <a:spcPct val="80000"/>
              </a:lnSpc>
              <a:spcBef>
                <a:spcPct val="20000"/>
              </a:spcBef>
              <a:buChar char="•"/>
            </a:pPr>
            <a:r>
              <a:rPr lang="zh-CN" altLang="en-US" sz="2800" dirty="0">
                <a:latin typeface="楷体_GB2312" panose="02010609030101010101" pitchFamily="49" charset="-122"/>
                <a:ea typeface="楷体_GB2312" panose="02010609030101010101" pitchFamily="49" charset="-122"/>
              </a:rPr>
              <a:t>程序设计人员比较关注程序设计的技巧</a:t>
            </a:r>
            <a:endParaRPr lang="zh-CN" altLang="en-US" sz="2800" dirty="0">
              <a:latin typeface="楷体_GB2312" panose="02010609030101010101" pitchFamily="49" charset="-122"/>
              <a:ea typeface="楷体_GB2312" panose="02010609030101010101" pitchFamily="49" charset="-122"/>
            </a:endParaRPr>
          </a:p>
        </p:txBody>
      </p:sp>
      <p:sp>
        <p:nvSpPr>
          <p:cNvPr id="533512" name="AutoShape 8"/>
          <p:cNvSpPr>
            <a:spLocks noChangeArrowheads="1"/>
          </p:cNvSpPr>
          <p:nvPr/>
        </p:nvSpPr>
        <p:spPr bwMode="auto">
          <a:xfrm>
            <a:off x="4787900" y="1989138"/>
            <a:ext cx="3384550" cy="1873250"/>
          </a:xfrm>
          <a:prstGeom prst="wedgeRoundRectCallout">
            <a:avLst>
              <a:gd name="adj1" fmla="val -102954"/>
              <a:gd name="adj2" fmla="val 88389"/>
              <a:gd name="adj3" fmla="val 16667"/>
            </a:avLst>
          </a:prstGeom>
          <a:solidFill>
            <a:srgbClr val="993366"/>
          </a:solidFill>
          <a:ln w="25400" algn="ctr">
            <a:solidFill>
              <a:schemeClr val="bg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l" defTabSz="914400" rtl="0" eaLnBrk="1" fontAlgn="base" latinLnBrk="0" hangingPunct="1">
              <a:lnSpc>
                <a:spcPct val="100000"/>
              </a:lnSpc>
              <a:spcBef>
                <a:spcPct val="30000"/>
              </a:spcBef>
              <a:spcAft>
                <a:spcPct val="0"/>
              </a:spcAft>
              <a:buClrTx/>
              <a:buSzPct val="80000"/>
              <a:buFont typeface="Wingdings" panose="05000000000000000000" pitchFamily="2" charset="2"/>
              <a:buNone/>
              <a:defRPr/>
            </a:pPr>
            <a:r>
              <a:rPr kumimoji="0" lang="zh-CN" altLang="en-US" sz="2800" b="1" i="0" u="none" strike="noStrike" kern="1200" cap="none" spc="0" normalizeH="0" baseline="0" noProof="0">
                <a:ln>
                  <a:noFill/>
                </a:ln>
                <a:solidFill>
                  <a:schemeClr val="bg1"/>
                </a:solidFill>
                <a:effectLst>
                  <a:outerShdw blurRad="38100" dist="38100" dir="2700000" algn="tl">
                    <a:srgbClr val="000000"/>
                  </a:outerShdw>
                </a:effectLst>
                <a:uLnTx/>
                <a:uFillTx/>
                <a:latin typeface="Times New Roman" panose="02020603050405020304" pitchFamily="18" charset="0"/>
                <a:ea typeface="楷体_GB2312" panose="02010609030101010101" pitchFamily="49" charset="-122"/>
                <a:cs typeface="+mn-cs"/>
              </a:rPr>
              <a:t>    今有鸡兔同笼，上有三十五头，下有九十四足，问鸡兔各几何？</a:t>
            </a:r>
            <a:r>
              <a:rPr kumimoji="0" lang="zh-CN" altLang="en-US" sz="2800" b="1"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黑体" panose="02010609060101010101" pitchFamily="2" charset="-122"/>
                <a:cs typeface="+mn-cs"/>
              </a:rPr>
              <a:t> </a:t>
            </a:r>
            <a:endParaRPr kumimoji="0" lang="zh-CN" altLang="en-US" sz="2800" b="1"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黑体" panose="02010609060101010101" pitchFamily="2" charset="-122"/>
              <a:cs typeface="+mn-cs"/>
            </a:endParaRPr>
          </a:p>
        </p:txBody>
      </p:sp>
      <p:sp>
        <p:nvSpPr>
          <p:cNvPr id="2" name="日期占位符 1"/>
          <p:cNvSpPr>
            <a:spLocks noGrp="1"/>
          </p:cNvSpPr>
          <p:nvPr>
            <p:ph type="dt" sz="half" idx="10"/>
          </p:nvPr>
        </p:nvSpPr>
        <p:spPr/>
        <p:txBody>
          <a:bodyPr/>
          <a:lstStyle/>
          <a:p>
            <a:r>
              <a:rPr lang="en-US" altLang="zh-CN"/>
              <a:t>Data Structures and algorithms</a:t>
            </a:r>
            <a:endParaRPr lang="zh-CN" altLang="en-US"/>
          </a:p>
        </p:txBody>
      </p:sp>
      <p:sp>
        <p:nvSpPr>
          <p:cNvPr id="3" name="页脚占位符 2"/>
          <p:cNvSpPr>
            <a:spLocks noGrp="1"/>
          </p:cNvSpPr>
          <p:nvPr>
            <p:ph type="ftr" sz="quarter" idx="11"/>
          </p:nvPr>
        </p:nvSpPr>
        <p:spPr/>
        <p:txBody>
          <a:bodyPr/>
          <a:lstStyle/>
          <a:p>
            <a:r>
              <a:rPr lang="en-US" altLang="zh-CN"/>
              <a:t>Software College Northeastern University</a:t>
            </a:r>
            <a:endParaRPr lang="zh-CN" altLang="en-US"/>
          </a:p>
        </p:txBody>
      </p:sp>
      <p:sp>
        <p:nvSpPr>
          <p:cNvPr id="4" name="灯片编号占位符 3"/>
          <p:cNvSpPr>
            <a:spLocks noGrp="1"/>
          </p:cNvSpPr>
          <p:nvPr>
            <p:ph type="sldNum" sz="quarter" idx="12"/>
          </p:nvPr>
        </p:nvSpPr>
        <p:spPr/>
        <p:txBody>
          <a:bodyPr/>
          <a:lstStyle/>
          <a:p>
            <a:fld id="{6E1C0148-8E4B-4B2F-95CE-20B4709700AE}" type="slidenum">
              <a:rPr lang="zh-CN" altLang="en-US" smtClean="0"/>
            </a:fld>
            <a:endParaRPr lang="zh-CN" altLang="en-US"/>
          </a:p>
        </p:txBody>
      </p:sp>
    </p:spTree>
  </p:cSld>
  <p:clrMapOvr>
    <a:overrideClrMapping bg1="lt1" tx1="dk1" bg2="lt2" tx2="dk2" accent1="accent1" accent2="accent2" accent3="accent3" accent4="accent4" accent5="accent5" accent6="accent6" hlink="hlink" folHlink="folHlink"/>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533507"/>
                                        </p:tgtEl>
                                        <p:attrNameLst>
                                          <p:attrName>style.visibility</p:attrName>
                                        </p:attrNameLst>
                                      </p:cBhvr>
                                      <p:to>
                                        <p:strVal val="visible"/>
                                      </p:to>
                                    </p:set>
                                    <p:anim calcmode="lin" valueType="num">
                                      <p:cBhvr additive="base">
                                        <p:cTn id="7" dur="500" fill="hold"/>
                                        <p:tgtEl>
                                          <p:spTgt spid="533507"/>
                                        </p:tgtEl>
                                        <p:attrNameLst>
                                          <p:attrName>ppt_x</p:attrName>
                                        </p:attrNameLst>
                                      </p:cBhvr>
                                      <p:tavLst>
                                        <p:tav tm="0">
                                          <p:val>
                                            <p:strVal val="#ppt_x"/>
                                          </p:val>
                                        </p:tav>
                                        <p:tav tm="100000">
                                          <p:val>
                                            <p:strVal val="#ppt_x"/>
                                          </p:val>
                                        </p:tav>
                                      </p:tavLst>
                                    </p:anim>
                                    <p:anim calcmode="lin" valueType="num">
                                      <p:cBhvr additive="base">
                                        <p:cTn id="8" dur="500" fill="hold"/>
                                        <p:tgtEl>
                                          <p:spTgt spid="533507"/>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33506"/>
                                        </p:tgtEl>
                                        <p:attrNameLst>
                                          <p:attrName>style.visibility</p:attrName>
                                        </p:attrNameLst>
                                      </p:cBhvr>
                                      <p:to>
                                        <p:strVal val="visible"/>
                                      </p:to>
                                    </p:set>
                                    <p:anim calcmode="lin" valueType="num">
                                      <p:cBhvr additive="base">
                                        <p:cTn id="13" dur="500" fill="hold"/>
                                        <p:tgtEl>
                                          <p:spTgt spid="533506"/>
                                        </p:tgtEl>
                                        <p:attrNameLst>
                                          <p:attrName>ppt_x</p:attrName>
                                        </p:attrNameLst>
                                      </p:cBhvr>
                                      <p:tavLst>
                                        <p:tav tm="0">
                                          <p:val>
                                            <p:strVal val="#ppt_x"/>
                                          </p:val>
                                        </p:tav>
                                        <p:tav tm="100000">
                                          <p:val>
                                            <p:strVal val="#ppt_x"/>
                                          </p:val>
                                        </p:tav>
                                      </p:tavLst>
                                    </p:anim>
                                    <p:anim calcmode="lin" valueType="num">
                                      <p:cBhvr additive="base">
                                        <p:cTn id="14" dur="500" fill="hold"/>
                                        <p:tgtEl>
                                          <p:spTgt spid="53350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33512"/>
                                        </p:tgtEl>
                                        <p:attrNameLst>
                                          <p:attrName>style.visibility</p:attrName>
                                        </p:attrNameLst>
                                      </p:cBhvr>
                                      <p:to>
                                        <p:strVal val="visible"/>
                                      </p:to>
                                    </p:set>
                                    <p:anim calcmode="lin" valueType="num">
                                      <p:cBhvr additive="base">
                                        <p:cTn id="19" dur="500" fill="hold"/>
                                        <p:tgtEl>
                                          <p:spTgt spid="533512"/>
                                        </p:tgtEl>
                                        <p:attrNameLst>
                                          <p:attrName>ppt_x</p:attrName>
                                        </p:attrNameLst>
                                      </p:cBhvr>
                                      <p:tavLst>
                                        <p:tav tm="0">
                                          <p:val>
                                            <p:strVal val="#ppt_x"/>
                                          </p:val>
                                        </p:tav>
                                        <p:tav tm="100000">
                                          <p:val>
                                            <p:strVal val="#ppt_x"/>
                                          </p:val>
                                        </p:tav>
                                      </p:tavLst>
                                    </p:anim>
                                    <p:anim calcmode="lin" valueType="num">
                                      <p:cBhvr additive="base">
                                        <p:cTn id="20" dur="500" fill="hold"/>
                                        <p:tgtEl>
                                          <p:spTgt spid="533512"/>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533508"/>
                                        </p:tgtEl>
                                        <p:attrNameLst>
                                          <p:attrName>style.visibility</p:attrName>
                                        </p:attrNameLst>
                                      </p:cBhvr>
                                      <p:to>
                                        <p:strVal val="visible"/>
                                      </p:to>
                                    </p:set>
                                    <p:animEffect transition="in" filter="wipe(left)">
                                      <p:cBhvr>
                                        <p:cTn id="25" dur="500"/>
                                        <p:tgtEl>
                                          <p:spTgt spid="533508"/>
                                        </p:tgtEl>
                                      </p:cBhvr>
                                    </p:animEffect>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533510"/>
                                        </p:tgtEl>
                                        <p:attrNameLst>
                                          <p:attrName>style.visibility</p:attrName>
                                        </p:attrNameLst>
                                      </p:cBhvr>
                                      <p:to>
                                        <p:strVal val="visible"/>
                                      </p:to>
                                    </p:set>
                                    <p:anim calcmode="lin" valueType="num">
                                      <p:cBhvr additive="base">
                                        <p:cTn id="30" dur="500" fill="hold"/>
                                        <p:tgtEl>
                                          <p:spTgt spid="533510"/>
                                        </p:tgtEl>
                                        <p:attrNameLst>
                                          <p:attrName>ppt_x</p:attrName>
                                        </p:attrNameLst>
                                      </p:cBhvr>
                                      <p:tavLst>
                                        <p:tav tm="0">
                                          <p:val>
                                            <p:strVal val="#ppt_x"/>
                                          </p:val>
                                        </p:tav>
                                        <p:tav tm="100000">
                                          <p:val>
                                            <p:strVal val="#ppt_x"/>
                                          </p:val>
                                        </p:tav>
                                      </p:tavLst>
                                    </p:anim>
                                    <p:anim calcmode="lin" valueType="num">
                                      <p:cBhvr additive="base">
                                        <p:cTn id="31" dur="500" fill="hold"/>
                                        <p:tgtEl>
                                          <p:spTgt spid="533510"/>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533509"/>
                                        </p:tgtEl>
                                        <p:attrNameLst>
                                          <p:attrName>style.visibility</p:attrName>
                                        </p:attrNameLst>
                                      </p:cBhvr>
                                      <p:to>
                                        <p:strVal val="visible"/>
                                      </p:to>
                                    </p:set>
                                    <p:animEffect transition="in" filter="wipe(left)">
                                      <p:cBhvr>
                                        <p:cTn id="36" dur="500"/>
                                        <p:tgtEl>
                                          <p:spTgt spid="533509"/>
                                        </p:tgtEl>
                                      </p:cBhvr>
                                    </p:animEffect>
                                  </p:childTnLst>
                                </p:cTn>
                              </p:par>
                            </p:childTnLst>
                          </p:cTn>
                        </p:par>
                      </p:childTnLst>
                    </p:cTn>
                  </p:par>
                  <p:par>
                    <p:cTn id="37" fill="hold">
                      <p:stCondLst>
                        <p:cond delay="indefinite"/>
                      </p:stCondLst>
                      <p:childTnLst>
                        <p:par>
                          <p:cTn id="38" fill="hold">
                            <p:stCondLst>
                              <p:cond delay="0"/>
                            </p:stCondLst>
                            <p:childTnLst>
                              <p:par>
                                <p:cTn id="39" presetID="2" presetClass="exit" presetSubtype="4" fill="hold" grpId="1" nodeType="clickEffect">
                                  <p:stCondLst>
                                    <p:cond delay="0"/>
                                  </p:stCondLst>
                                  <p:childTnLst>
                                    <p:anim calcmode="lin" valueType="num">
                                      <p:cBhvr additive="base">
                                        <p:cTn id="40" dur="500"/>
                                        <p:tgtEl>
                                          <p:spTgt spid="533512"/>
                                        </p:tgtEl>
                                        <p:attrNameLst>
                                          <p:attrName>ppt_x</p:attrName>
                                        </p:attrNameLst>
                                      </p:cBhvr>
                                      <p:tavLst>
                                        <p:tav tm="0">
                                          <p:val>
                                            <p:strVal val="ppt_x"/>
                                          </p:val>
                                        </p:tav>
                                        <p:tav tm="100000">
                                          <p:val>
                                            <p:strVal val="ppt_x"/>
                                          </p:val>
                                        </p:tav>
                                      </p:tavLst>
                                    </p:anim>
                                    <p:anim calcmode="lin" valueType="num">
                                      <p:cBhvr additive="base">
                                        <p:cTn id="41" dur="500"/>
                                        <p:tgtEl>
                                          <p:spTgt spid="533512"/>
                                        </p:tgtEl>
                                        <p:attrNameLst>
                                          <p:attrName>ppt_y</p:attrName>
                                        </p:attrNameLst>
                                      </p:cBhvr>
                                      <p:tavLst>
                                        <p:tav tm="0">
                                          <p:val>
                                            <p:strVal val="ppt_y"/>
                                          </p:val>
                                        </p:tav>
                                        <p:tav tm="100000">
                                          <p:val>
                                            <p:strVal val="1+ppt_h/2"/>
                                          </p:val>
                                        </p:tav>
                                      </p:tavLst>
                                    </p:anim>
                                    <p:set>
                                      <p:cBhvr>
                                        <p:cTn id="42" dur="1" fill="hold">
                                          <p:stCondLst>
                                            <p:cond delay="499"/>
                                          </p:stCondLst>
                                        </p:cTn>
                                        <p:tgtEl>
                                          <p:spTgt spid="533512"/>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533511"/>
                                        </p:tgtEl>
                                        <p:attrNameLst>
                                          <p:attrName>style.visibility</p:attrName>
                                        </p:attrNameLst>
                                      </p:cBhvr>
                                      <p:to>
                                        <p:strVal val="visible"/>
                                      </p:to>
                                    </p:set>
                                    <p:animEffect transition="in" filter="wipe(left)">
                                      <p:cBhvr>
                                        <p:cTn id="47" dur="500"/>
                                        <p:tgtEl>
                                          <p:spTgt spid="5335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3506" grpId="0"/>
      <p:bldP spid="533507" grpId="0"/>
      <p:bldP spid="533508" grpId="0"/>
      <p:bldP spid="533509" grpId="0"/>
      <p:bldP spid="533510" grpId="0"/>
      <p:bldP spid="533511" grpId="0"/>
      <p:bldP spid="533512" grpId="0" bldLvl="0" animBg="1"/>
      <p:bldP spid="533512" grpId="1" bldLvl="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5554" name="Text Box 2"/>
          <p:cNvSpPr txBox="1"/>
          <p:nvPr/>
        </p:nvSpPr>
        <p:spPr>
          <a:xfrm>
            <a:off x="609600" y="2590800"/>
            <a:ext cx="4274185" cy="521970"/>
          </a:xfrm>
          <a:prstGeom prst="rect">
            <a:avLst/>
          </a:prstGeom>
          <a:noFill/>
          <a:ln w="9525">
            <a:noFill/>
          </a:ln>
        </p:spPr>
        <p:txBody>
          <a:bodyPr wrap="none">
            <a:spAutoFit/>
          </a:bodyPr>
          <a:lstStyle/>
          <a:p>
            <a:r>
              <a:rPr lang="zh-CN" altLang="en-US" sz="2800" b="1" dirty="0">
                <a:latin typeface="楷体_GB2312" panose="02010609030101010101" pitchFamily="49" charset="-122"/>
                <a:ea typeface="楷体_GB2312" panose="02010609030101010101" pitchFamily="49" charset="-122"/>
              </a:rPr>
              <a:t>例一：</a:t>
            </a:r>
            <a:r>
              <a:rPr lang="zh-CN" altLang="en-US" sz="2800" dirty="0">
                <a:latin typeface="楷体_GB2312" panose="02010609030101010101" pitchFamily="49" charset="-122"/>
                <a:ea typeface="楷体_GB2312" panose="02010609030101010101" pitchFamily="49" charset="-122"/>
              </a:rPr>
              <a:t>学生信息检索系统 </a:t>
            </a:r>
            <a:endParaRPr lang="zh-CN" altLang="en-US" sz="2800" dirty="0">
              <a:latin typeface="Times New Roman" panose="02020603050405020304" pitchFamily="18" charset="0"/>
            </a:endParaRPr>
          </a:p>
        </p:txBody>
      </p:sp>
      <p:sp>
        <p:nvSpPr>
          <p:cNvPr id="535555" name="Text Box 3"/>
          <p:cNvSpPr txBox="1"/>
          <p:nvPr/>
        </p:nvSpPr>
        <p:spPr>
          <a:xfrm>
            <a:off x="623888" y="3884613"/>
            <a:ext cx="2305050" cy="1383665"/>
          </a:xfrm>
          <a:prstGeom prst="rect">
            <a:avLst/>
          </a:prstGeom>
          <a:noFill/>
          <a:ln w="9525">
            <a:noFill/>
          </a:ln>
        </p:spPr>
        <p:txBody>
          <a:bodyPr>
            <a:spAutoFit/>
          </a:bodyPr>
          <a:lstStyle/>
          <a:p>
            <a:r>
              <a:rPr lang="zh-CN" altLang="en-US" sz="2800" dirty="0">
                <a:solidFill>
                  <a:srgbClr val="FF0000"/>
                </a:solidFill>
                <a:latin typeface="楷体_GB2312" panose="02010609030101010101" pitchFamily="49" charset="-122"/>
                <a:ea typeface="楷体_GB2312" panose="02010609030101010101" pitchFamily="49" charset="-122"/>
              </a:rPr>
              <a:t>算法：</a:t>
            </a:r>
            <a:r>
              <a:rPr lang="en-US" altLang="zh-CN" sz="2800" dirty="0">
                <a:latin typeface="楷体_GB2312" panose="02010609030101010101" pitchFamily="49" charset="-122"/>
                <a:ea typeface="楷体_GB2312" panose="02010609030101010101" pitchFamily="49" charset="-122"/>
              </a:rPr>
              <a:t>?</a:t>
            </a:r>
            <a:endParaRPr lang="en-US" altLang="zh-CN" sz="2800" dirty="0">
              <a:latin typeface="楷体_GB2312" panose="02010609030101010101" pitchFamily="49" charset="-122"/>
              <a:ea typeface="楷体_GB2312" panose="02010609030101010101" pitchFamily="49" charset="-122"/>
            </a:endParaRPr>
          </a:p>
          <a:p>
            <a:endParaRPr lang="en-US" altLang="zh-CN" sz="2800" dirty="0">
              <a:latin typeface="楷体_GB2312" panose="02010609030101010101" pitchFamily="49" charset="-122"/>
              <a:ea typeface="楷体_GB2312" panose="02010609030101010101" pitchFamily="49" charset="-122"/>
            </a:endParaRPr>
          </a:p>
          <a:p>
            <a:r>
              <a:rPr lang="zh-CN" altLang="en-US" sz="2800" dirty="0">
                <a:solidFill>
                  <a:srgbClr val="FF0000"/>
                </a:solidFill>
                <a:latin typeface="楷体_GB2312" panose="02010609030101010101" pitchFamily="49" charset="-122"/>
                <a:ea typeface="楷体_GB2312" panose="02010609030101010101" pitchFamily="49" charset="-122"/>
              </a:rPr>
              <a:t>模型：</a:t>
            </a:r>
            <a:r>
              <a:rPr lang="en-US" altLang="zh-CN" sz="2800" dirty="0">
                <a:latin typeface="楷体_GB2312" panose="02010609030101010101" pitchFamily="49" charset="-122"/>
                <a:ea typeface="楷体_GB2312" panose="02010609030101010101" pitchFamily="49" charset="-122"/>
              </a:rPr>
              <a:t>?</a:t>
            </a:r>
            <a:endParaRPr lang="en-US" altLang="zh-CN" sz="2800" dirty="0">
              <a:solidFill>
                <a:srgbClr val="FF0000"/>
              </a:solidFill>
              <a:latin typeface="楷体_GB2312" panose="02010609030101010101" pitchFamily="49" charset="-122"/>
              <a:ea typeface="楷体_GB2312" panose="02010609030101010101" pitchFamily="49" charset="-122"/>
            </a:endParaRPr>
          </a:p>
        </p:txBody>
      </p:sp>
      <p:sp>
        <p:nvSpPr>
          <p:cNvPr id="535556" name="Text Box 4"/>
          <p:cNvSpPr txBox="1"/>
          <p:nvPr/>
        </p:nvSpPr>
        <p:spPr>
          <a:xfrm>
            <a:off x="3686810" y="3530918"/>
            <a:ext cx="5181600" cy="1210945"/>
          </a:xfrm>
          <a:prstGeom prst="rect">
            <a:avLst/>
          </a:prstGeom>
          <a:noFill/>
          <a:ln w="9525">
            <a:noFill/>
          </a:ln>
        </p:spPr>
        <p:txBody>
          <a:bodyPr>
            <a:spAutoFit/>
          </a:bodyPr>
          <a:lstStyle/>
          <a:p>
            <a:pPr>
              <a:lnSpc>
                <a:spcPct val="130000"/>
              </a:lnSpc>
            </a:pPr>
            <a:r>
              <a:rPr lang="zh-CN" altLang="en-US" sz="2800" dirty="0">
                <a:latin typeface="楷体_GB2312" panose="02010609030101010101" pitchFamily="49" charset="-122"/>
                <a:ea typeface="楷体_GB2312" panose="02010609030101010101" pitchFamily="49" charset="-122"/>
              </a:rPr>
              <a:t>需要检索的项目</a:t>
            </a:r>
            <a:endParaRPr lang="zh-CN" altLang="en-US" sz="2800" dirty="0">
              <a:latin typeface="楷体_GB2312" panose="02010609030101010101" pitchFamily="49" charset="-122"/>
              <a:ea typeface="楷体_GB2312" panose="02010609030101010101" pitchFamily="49" charset="-122"/>
            </a:endParaRPr>
          </a:p>
          <a:p>
            <a:pPr>
              <a:lnSpc>
                <a:spcPct val="130000"/>
              </a:lnSpc>
            </a:pPr>
            <a:r>
              <a:rPr lang="zh-CN" altLang="en-US" sz="2800" dirty="0">
                <a:latin typeface="楷体_GB2312" panose="02010609030101010101" pitchFamily="49" charset="-122"/>
                <a:ea typeface="楷体_GB2312" panose="02010609030101010101" pitchFamily="49" charset="-122"/>
              </a:rPr>
              <a:t>如何检索。 用户界面</a:t>
            </a:r>
            <a:endParaRPr lang="zh-CN" altLang="en-US" sz="2800" dirty="0">
              <a:latin typeface="Times New Roman" panose="02020603050405020304" pitchFamily="18" charset="0"/>
            </a:endParaRPr>
          </a:p>
        </p:txBody>
      </p:sp>
      <p:sp>
        <p:nvSpPr>
          <p:cNvPr id="535557" name="Text Box 5"/>
          <p:cNvSpPr txBox="1"/>
          <p:nvPr/>
        </p:nvSpPr>
        <p:spPr>
          <a:xfrm>
            <a:off x="3839210" y="4746308"/>
            <a:ext cx="1605280" cy="521970"/>
          </a:xfrm>
          <a:prstGeom prst="rect">
            <a:avLst/>
          </a:prstGeom>
          <a:noFill/>
          <a:ln w="9525">
            <a:noFill/>
          </a:ln>
        </p:spPr>
        <p:txBody>
          <a:bodyPr wrap="none">
            <a:spAutoFit/>
          </a:bodyPr>
          <a:lstStyle/>
          <a:p>
            <a:r>
              <a:rPr lang="zh-CN" altLang="en-US" sz="2800" dirty="0">
                <a:solidFill>
                  <a:srgbClr val="663300"/>
                </a:solidFill>
                <a:latin typeface="Times New Roman" panose="02020603050405020304" pitchFamily="18" charset="0"/>
                <a:ea typeface="楷体_GB2312" panose="02010609030101010101" pitchFamily="49" charset="-122"/>
              </a:rPr>
              <a:t>各种表格</a:t>
            </a:r>
            <a:endParaRPr lang="zh-CN" altLang="en-US" sz="2800" dirty="0">
              <a:solidFill>
                <a:srgbClr val="663300"/>
              </a:solidFill>
              <a:latin typeface="Times New Roman" panose="02020603050405020304" pitchFamily="18" charset="0"/>
              <a:ea typeface="楷体_GB2312" panose="02010609030101010101" pitchFamily="49" charset="-122"/>
            </a:endParaRPr>
          </a:p>
        </p:txBody>
      </p:sp>
      <p:sp>
        <p:nvSpPr>
          <p:cNvPr id="535558" name="Text Box 6"/>
          <p:cNvSpPr txBox="1"/>
          <p:nvPr/>
        </p:nvSpPr>
        <p:spPr>
          <a:xfrm>
            <a:off x="1331595" y="188595"/>
            <a:ext cx="8413750" cy="645160"/>
          </a:xfrm>
          <a:prstGeom prst="rect">
            <a:avLst/>
          </a:prstGeom>
          <a:noFill/>
          <a:ln w="9525">
            <a:noFill/>
          </a:ln>
        </p:spPr>
        <p:txBody>
          <a:bodyPr>
            <a:spAutoFit/>
          </a:bodyPr>
          <a:lstStyle/>
          <a:p>
            <a:r>
              <a:rPr lang="zh-CN" altLang="en-US" sz="3600" b="1" dirty="0">
                <a:latin typeface="华文楷体" panose="02010600040101010101" charset="-122"/>
                <a:ea typeface="华文楷体" panose="02010600040101010101" charset="-122"/>
              </a:rPr>
              <a:t>非数值计算的程序设计问题</a:t>
            </a:r>
            <a:endParaRPr lang="zh-CN" altLang="en-US" sz="3600" b="1" dirty="0">
              <a:latin typeface="华文楷体" panose="02010600040101010101" charset="-122"/>
              <a:ea typeface="华文楷体" panose="02010600040101010101" charset="-122"/>
            </a:endParaRPr>
          </a:p>
        </p:txBody>
      </p:sp>
      <p:sp>
        <p:nvSpPr>
          <p:cNvPr id="535559" name="Text Box 7"/>
          <p:cNvSpPr txBox="1"/>
          <p:nvPr/>
        </p:nvSpPr>
        <p:spPr>
          <a:xfrm>
            <a:off x="1066800" y="1219200"/>
            <a:ext cx="7696200" cy="953135"/>
          </a:xfrm>
          <a:prstGeom prst="rect">
            <a:avLst/>
          </a:prstGeom>
          <a:noFill/>
          <a:ln w="9525">
            <a:noFill/>
          </a:ln>
        </p:spPr>
        <p:txBody>
          <a:bodyPr>
            <a:spAutoFit/>
          </a:bodyPr>
          <a:lstStyle/>
          <a:p>
            <a:r>
              <a:rPr lang="zh-CN" altLang="en-US" sz="2800" dirty="0">
                <a:latin typeface="楷体_GB2312" panose="02010609030101010101" pitchFamily="49" charset="-122"/>
                <a:ea typeface="楷体_GB2312" panose="02010609030101010101" pitchFamily="49" charset="-122"/>
              </a:rPr>
              <a:t>数据元素之间的相互关系一般无法用数学</a:t>
            </a:r>
            <a:endParaRPr lang="zh-CN" altLang="en-US" sz="2800" dirty="0">
              <a:latin typeface="楷体_GB2312" panose="02010609030101010101" pitchFamily="49" charset="-122"/>
              <a:ea typeface="楷体_GB2312" panose="02010609030101010101" pitchFamily="49" charset="-122"/>
            </a:endParaRPr>
          </a:p>
          <a:p>
            <a:r>
              <a:rPr lang="zh-CN" altLang="en-US" sz="2800" dirty="0">
                <a:latin typeface="楷体_GB2312" panose="02010609030101010101" pitchFamily="49" charset="-122"/>
                <a:ea typeface="楷体_GB2312" panose="02010609030101010101" pitchFamily="49" charset="-122"/>
              </a:rPr>
              <a:t>方程加以描述</a:t>
            </a:r>
            <a:endParaRPr lang="zh-CN" altLang="en-US" sz="2800" dirty="0">
              <a:latin typeface="Times New Roman" panose="02020603050405020304" pitchFamily="18" charset="0"/>
            </a:endParaRPr>
          </a:p>
        </p:txBody>
      </p:sp>
      <p:sp>
        <p:nvSpPr>
          <p:cNvPr id="2" name="日期占位符 1"/>
          <p:cNvSpPr>
            <a:spLocks noGrp="1"/>
          </p:cNvSpPr>
          <p:nvPr>
            <p:ph type="dt" sz="half" idx="10"/>
          </p:nvPr>
        </p:nvSpPr>
        <p:spPr/>
        <p:txBody>
          <a:bodyPr/>
          <a:lstStyle/>
          <a:p>
            <a:r>
              <a:rPr lang="en-US" altLang="zh-CN"/>
              <a:t>Data Structures and algorithms</a:t>
            </a:r>
            <a:endParaRPr lang="zh-CN" altLang="en-US"/>
          </a:p>
        </p:txBody>
      </p:sp>
      <p:sp>
        <p:nvSpPr>
          <p:cNvPr id="3" name="页脚占位符 2"/>
          <p:cNvSpPr>
            <a:spLocks noGrp="1"/>
          </p:cNvSpPr>
          <p:nvPr>
            <p:ph type="ftr" sz="quarter" idx="11"/>
          </p:nvPr>
        </p:nvSpPr>
        <p:spPr/>
        <p:txBody>
          <a:bodyPr/>
          <a:lstStyle/>
          <a:p>
            <a:r>
              <a:rPr lang="en-US" altLang="zh-CN"/>
              <a:t>Software College Northeastern University</a:t>
            </a:r>
            <a:endParaRPr lang="zh-CN" altLang="en-US"/>
          </a:p>
        </p:txBody>
      </p:sp>
      <p:sp>
        <p:nvSpPr>
          <p:cNvPr id="4" name="灯片编号占位符 3"/>
          <p:cNvSpPr>
            <a:spLocks noGrp="1"/>
          </p:cNvSpPr>
          <p:nvPr>
            <p:ph type="sldNum" sz="quarter" idx="12"/>
          </p:nvPr>
        </p:nvSpPr>
        <p:spPr/>
        <p:txBody>
          <a:bodyPr/>
          <a:lstStyle/>
          <a:p>
            <a:fld id="{6E1C0148-8E4B-4B2F-95CE-20B4709700AE}" type="slidenum">
              <a:rPr lang="zh-CN" altLang="en-US" smtClean="0"/>
            </a:fld>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535558"/>
                                        </p:tgtEl>
                                        <p:attrNameLst>
                                          <p:attrName>style.visibility</p:attrName>
                                        </p:attrNameLst>
                                      </p:cBhvr>
                                      <p:to>
                                        <p:strVal val="visible"/>
                                      </p:to>
                                    </p:set>
                                    <p:anim calcmode="lin" valueType="num">
                                      <p:cBhvr additive="base">
                                        <p:cTn id="7" dur="500" fill="hold"/>
                                        <p:tgtEl>
                                          <p:spTgt spid="535558"/>
                                        </p:tgtEl>
                                        <p:attrNameLst>
                                          <p:attrName>ppt_x</p:attrName>
                                        </p:attrNameLst>
                                      </p:cBhvr>
                                      <p:tavLst>
                                        <p:tav tm="0">
                                          <p:val>
                                            <p:strVal val="#ppt_x"/>
                                          </p:val>
                                        </p:tav>
                                        <p:tav tm="100000">
                                          <p:val>
                                            <p:strVal val="#ppt_x"/>
                                          </p:val>
                                        </p:tav>
                                      </p:tavLst>
                                    </p:anim>
                                    <p:anim calcmode="lin" valueType="num">
                                      <p:cBhvr additive="base">
                                        <p:cTn id="8" dur="500" fill="hold"/>
                                        <p:tgtEl>
                                          <p:spTgt spid="535558"/>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535554"/>
                                        </p:tgtEl>
                                        <p:attrNameLst>
                                          <p:attrName>style.visibility</p:attrName>
                                        </p:attrNameLst>
                                      </p:cBhvr>
                                      <p:to>
                                        <p:strVal val="visible"/>
                                      </p:to>
                                    </p:set>
                                    <p:anim calcmode="lin" valueType="num">
                                      <p:cBhvr additive="base">
                                        <p:cTn id="13" dur="500" fill="hold"/>
                                        <p:tgtEl>
                                          <p:spTgt spid="535554"/>
                                        </p:tgtEl>
                                        <p:attrNameLst>
                                          <p:attrName>ppt_x</p:attrName>
                                        </p:attrNameLst>
                                      </p:cBhvr>
                                      <p:tavLst>
                                        <p:tav tm="0">
                                          <p:val>
                                            <p:strVal val="1+#ppt_w/2"/>
                                          </p:val>
                                        </p:tav>
                                        <p:tav tm="100000">
                                          <p:val>
                                            <p:strVal val="#ppt_x"/>
                                          </p:val>
                                        </p:tav>
                                      </p:tavLst>
                                    </p:anim>
                                    <p:anim calcmode="lin" valueType="num">
                                      <p:cBhvr additive="base">
                                        <p:cTn id="14" dur="500" fill="hold"/>
                                        <p:tgtEl>
                                          <p:spTgt spid="535554"/>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 presetClass="entr" presetSubtype="32" fill="hold" grpId="0" nodeType="clickEffect">
                                  <p:stCondLst>
                                    <p:cond delay="0"/>
                                  </p:stCondLst>
                                  <p:childTnLst>
                                    <p:set>
                                      <p:cBhvr>
                                        <p:cTn id="18" dur="1" fill="hold">
                                          <p:stCondLst>
                                            <p:cond delay="0"/>
                                          </p:stCondLst>
                                        </p:cTn>
                                        <p:tgtEl>
                                          <p:spTgt spid="535555"/>
                                        </p:tgtEl>
                                        <p:attrNameLst>
                                          <p:attrName>style.visibility</p:attrName>
                                        </p:attrNameLst>
                                      </p:cBhvr>
                                      <p:to>
                                        <p:strVal val="visible"/>
                                      </p:to>
                                    </p:set>
                                    <p:animEffect transition="in" filter="box(out)">
                                      <p:cBhvr>
                                        <p:cTn id="19" dur="500"/>
                                        <p:tgtEl>
                                          <p:spTgt spid="535555"/>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iterate type="wd">
                                    <p:tmPct val="100000"/>
                                  </p:iterate>
                                  <p:childTnLst>
                                    <p:set>
                                      <p:cBhvr>
                                        <p:cTn id="23" dur="1" fill="hold">
                                          <p:stCondLst>
                                            <p:cond delay="0"/>
                                          </p:stCondLst>
                                        </p:cTn>
                                        <p:tgtEl>
                                          <p:spTgt spid="535556"/>
                                        </p:tgtEl>
                                        <p:attrNameLst>
                                          <p:attrName>style.visibility</p:attrName>
                                        </p:attrNameLst>
                                      </p:cBhvr>
                                      <p:to>
                                        <p:strVal val="visible"/>
                                      </p:to>
                                    </p:set>
                                    <p:animEffect transition="in" filter="wipe(left)">
                                      <p:cBhvr>
                                        <p:cTn id="24" dur="300"/>
                                        <p:tgtEl>
                                          <p:spTgt spid="535556"/>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535557"/>
                                        </p:tgtEl>
                                        <p:attrNameLst>
                                          <p:attrName>style.visibility</p:attrName>
                                        </p:attrNameLst>
                                      </p:cBhvr>
                                      <p:to>
                                        <p:strVal val="visible"/>
                                      </p:to>
                                    </p:set>
                                    <p:animEffect transition="in" filter="wipe(left)">
                                      <p:cBhvr>
                                        <p:cTn id="29" dur="500"/>
                                        <p:tgtEl>
                                          <p:spTgt spid="535557"/>
                                        </p:tgtEl>
                                      </p:cBhvr>
                                    </p:animEffect>
                                  </p:childTnLst>
                                </p:cTn>
                              </p:par>
                            </p:childTnLst>
                          </p:cTn>
                        </p:par>
                      </p:childTnLst>
                    </p:cTn>
                  </p:par>
                  <p:par>
                    <p:cTn id="30" fill="hold">
                      <p:stCondLst>
                        <p:cond delay="indefinite"/>
                      </p:stCondLst>
                      <p:childTnLst>
                        <p:par>
                          <p:cTn id="31" fill="hold">
                            <p:stCondLst>
                              <p:cond delay="0"/>
                            </p:stCondLst>
                            <p:childTnLst>
                              <p:par>
                                <p:cTn id="32" presetID="2" presetClass="entr" presetSubtype="2" fill="hold" grpId="0" nodeType="clickEffect">
                                  <p:stCondLst>
                                    <p:cond delay="0"/>
                                  </p:stCondLst>
                                  <p:childTnLst>
                                    <p:set>
                                      <p:cBhvr>
                                        <p:cTn id="33" dur="1" fill="hold">
                                          <p:stCondLst>
                                            <p:cond delay="0"/>
                                          </p:stCondLst>
                                        </p:cTn>
                                        <p:tgtEl>
                                          <p:spTgt spid="535559"/>
                                        </p:tgtEl>
                                        <p:attrNameLst>
                                          <p:attrName>style.visibility</p:attrName>
                                        </p:attrNameLst>
                                      </p:cBhvr>
                                      <p:to>
                                        <p:strVal val="visible"/>
                                      </p:to>
                                    </p:set>
                                    <p:anim calcmode="lin" valueType="num">
                                      <p:cBhvr additive="base">
                                        <p:cTn id="34" dur="500" fill="hold"/>
                                        <p:tgtEl>
                                          <p:spTgt spid="535559"/>
                                        </p:tgtEl>
                                        <p:attrNameLst>
                                          <p:attrName>ppt_x</p:attrName>
                                        </p:attrNameLst>
                                      </p:cBhvr>
                                      <p:tavLst>
                                        <p:tav tm="0">
                                          <p:val>
                                            <p:strVal val="1+#ppt_w/2"/>
                                          </p:val>
                                        </p:tav>
                                        <p:tav tm="100000">
                                          <p:val>
                                            <p:strVal val="#ppt_x"/>
                                          </p:val>
                                        </p:tav>
                                      </p:tavLst>
                                    </p:anim>
                                    <p:anim calcmode="lin" valueType="num">
                                      <p:cBhvr additive="base">
                                        <p:cTn id="35" dur="500" fill="hold"/>
                                        <p:tgtEl>
                                          <p:spTgt spid="53555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5554" grpId="0"/>
      <p:bldP spid="535555" grpId="0"/>
      <p:bldP spid="535556" grpId="0"/>
      <p:bldP spid="535557" grpId="0"/>
      <p:bldP spid="535558" grpId="0"/>
      <p:bldP spid="53555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endParaRPr lang="zh-CN" altLang="en-US"/>
          </a:p>
        </p:txBody>
      </p:sp>
      <p:pic>
        <p:nvPicPr>
          <p:cNvPr id="14338" name="Picture 2"/>
          <p:cNvPicPr>
            <a:picLocks noChangeAspect="1"/>
          </p:cNvPicPr>
          <p:nvPr/>
        </p:nvPicPr>
        <p:blipFill>
          <a:blip r:embed="rId1"/>
          <a:stretch>
            <a:fillRect/>
          </a:stretch>
        </p:blipFill>
        <p:spPr>
          <a:xfrm>
            <a:off x="0" y="1588"/>
            <a:ext cx="9144000" cy="6856412"/>
          </a:xfrm>
          <a:prstGeom prst="rect">
            <a:avLst/>
          </a:prstGeom>
          <a:noFill/>
          <a:ln w="9525">
            <a:noFill/>
          </a:ln>
        </p:spPr>
      </p:pic>
      <p:sp>
        <p:nvSpPr>
          <p:cNvPr id="4" name="日期占位符 3"/>
          <p:cNvSpPr>
            <a:spLocks noGrp="1"/>
          </p:cNvSpPr>
          <p:nvPr>
            <p:ph type="dt" sz="half" idx="10"/>
          </p:nvPr>
        </p:nvSpPr>
        <p:spPr/>
        <p:txBody>
          <a:bodyPr/>
          <a:lstStyle/>
          <a:p>
            <a:r>
              <a:rPr lang="en-US" altLang="zh-CN"/>
              <a:t>Data Structures and algorithms</a:t>
            </a:r>
            <a:endParaRPr lang="zh-CN" altLang="en-US"/>
          </a:p>
        </p:txBody>
      </p:sp>
      <p:sp>
        <p:nvSpPr>
          <p:cNvPr id="5" name="页脚占位符 4"/>
          <p:cNvSpPr>
            <a:spLocks noGrp="1"/>
          </p:cNvSpPr>
          <p:nvPr>
            <p:ph type="ftr" sz="quarter" idx="11"/>
          </p:nvPr>
        </p:nvSpPr>
        <p:spPr/>
        <p:txBody>
          <a:bodyPr/>
          <a:lstStyle/>
          <a:p>
            <a:r>
              <a:rPr lang="en-US" altLang="zh-CN"/>
              <a:t>Software College Northeastern University</a:t>
            </a:r>
            <a:endParaRPr lang="zh-CN" altLang="en-US"/>
          </a:p>
        </p:txBody>
      </p:sp>
      <p:sp>
        <p:nvSpPr>
          <p:cNvPr id="6" name="灯片编号占位符 5"/>
          <p:cNvSpPr>
            <a:spLocks noGrp="1"/>
          </p:cNvSpPr>
          <p:nvPr>
            <p:ph type="sldNum" sz="quarter" idx="12"/>
          </p:nvPr>
        </p:nvSpPr>
        <p:spPr/>
        <p:txBody>
          <a:bodyPr/>
          <a:lstStyle/>
          <a:p>
            <a:fld id="{6E1C0148-8E4B-4B2F-95CE-20B4709700AE}" type="slidenum">
              <a:rPr lang="zh-CN" altLang="en-US" smtClean="0"/>
            </a:fld>
            <a:endParaRPr lang="zh-CN" altLang="en-US" dirty="0"/>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endParaRPr lang="zh-CN" altLang="en-US"/>
          </a:p>
        </p:txBody>
      </p:sp>
      <p:sp>
        <p:nvSpPr>
          <p:cNvPr id="11266" name="Date Placeholder 3"/>
          <p:cNvSpPr>
            <a:spLocks noGrp="1"/>
          </p:cNvSpPr>
          <p:nvPr>
            <p:ph type="dt" sz="half" idx="10"/>
          </p:nvPr>
        </p:nvSpPr>
        <p:spPr/>
        <p:txBody>
          <a:bodyPr wrap="square" lIns="91440" tIns="45720" rIns="91440" bIns="45720" anchor="t"/>
          <a:lstStyle>
            <a:lvl1pPr marL="0" lvl="0" indent="0" algn="l" defTabSz="914400" rtl="0" eaLnBrk="0" fontAlgn="base" latinLnBrk="0" hangingPunct="0">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indent="0">
              <a:spcBef>
                <a:spcPct val="50000"/>
              </a:spcBef>
            </a:pPr>
            <a:r>
              <a:rPr lang="en-US" altLang="zh-CN" sz="1000" dirty="0"/>
              <a:t>Data Structures and algorithms</a:t>
            </a:r>
            <a:endParaRPr lang="zh-CN" altLang="en-US" sz="1000" dirty="0"/>
          </a:p>
        </p:txBody>
      </p:sp>
      <p:sp>
        <p:nvSpPr>
          <p:cNvPr id="11267" name="Footer Placeholder 4"/>
          <p:cNvSpPr>
            <a:spLocks noGrp="1"/>
          </p:cNvSpPr>
          <p:nvPr>
            <p:ph type="ftr" sz="quarter" idx="11"/>
          </p:nvPr>
        </p:nvSpPr>
        <p:spPr/>
        <p:txBody>
          <a:bodyPr wrap="square" lIns="91440" tIns="45720" rIns="91440" bIns="45720" anchor="t"/>
          <a:lstStyle>
            <a:lvl1pPr marL="0" lvl="0" indent="0" algn="l" defTabSz="914400" rtl="0" eaLnBrk="0" fontAlgn="base" latinLnBrk="0" hangingPunct="0">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indent="0">
              <a:spcBef>
                <a:spcPct val="50000"/>
              </a:spcBef>
            </a:pPr>
            <a:r>
              <a:rPr lang="zh-CN" altLang="en-US" sz="1000" dirty="0"/>
              <a:t>Software College Northeastern University</a:t>
            </a:r>
            <a:endParaRPr lang="zh-CN" altLang="en-US" sz="1000" dirty="0"/>
          </a:p>
        </p:txBody>
      </p:sp>
      <p:sp>
        <p:nvSpPr>
          <p:cNvPr id="34820" name="Slide Number Placeholder 5"/>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spcBef>
                <a:spcPct val="20000"/>
              </a:spcBef>
              <a:buClr>
                <a:schemeClr val="accent2"/>
              </a:buClr>
              <a:buFont typeface="Monotype Sorts" pitchFamily="2" charset="2"/>
              <a:buChar char="z"/>
              <a:defRPr sz="3050">
                <a:solidFill>
                  <a:schemeClr val="tx1"/>
                </a:solidFill>
                <a:latin typeface="Tahoma" panose="020B0604030504040204" pitchFamily="34" charset="0"/>
                <a:ea typeface="宋体" panose="02010600030101010101" pitchFamily="2" charset="-122"/>
              </a:defRPr>
            </a:lvl1pPr>
            <a:lvl2pPr marL="707390" indent="-272415">
              <a:spcBef>
                <a:spcPct val="20000"/>
              </a:spcBef>
              <a:buClr>
                <a:schemeClr val="accent2"/>
              </a:buClr>
              <a:buFont typeface="Monotype Sorts" pitchFamily="2" charset="2"/>
              <a:buChar char="y"/>
              <a:defRPr sz="2665">
                <a:solidFill>
                  <a:schemeClr val="tx1"/>
                </a:solidFill>
                <a:latin typeface="Tahoma" panose="020B0604030504040204" pitchFamily="34" charset="0"/>
                <a:ea typeface="宋体" panose="02010600030101010101" pitchFamily="2" charset="-122"/>
              </a:defRPr>
            </a:lvl2pPr>
            <a:lvl3pPr marL="1088390" indent="-217805">
              <a:spcBef>
                <a:spcPct val="20000"/>
              </a:spcBef>
              <a:buClr>
                <a:schemeClr val="accent2"/>
              </a:buClr>
              <a:buFont typeface="Monotype Sorts" pitchFamily="2" charset="2"/>
              <a:buChar char="x"/>
              <a:defRPr sz="2285">
                <a:solidFill>
                  <a:schemeClr val="tx1"/>
                </a:solidFill>
                <a:latin typeface="Tahoma" panose="020B0604030504040204" pitchFamily="34" charset="0"/>
                <a:ea typeface="宋体" panose="02010600030101010101" pitchFamily="2" charset="-122"/>
              </a:defRPr>
            </a:lvl3pPr>
            <a:lvl4pPr marL="1524000" indent="-217805">
              <a:spcBef>
                <a:spcPct val="20000"/>
              </a:spcBef>
              <a:buClr>
                <a:schemeClr val="accent2"/>
              </a:buClr>
              <a:buChar char="•"/>
              <a:defRPr sz="1905">
                <a:solidFill>
                  <a:schemeClr val="tx1"/>
                </a:solidFill>
                <a:latin typeface="Tahoma" panose="020B0604030504040204" pitchFamily="34" charset="0"/>
                <a:ea typeface="宋体" panose="02010600030101010101" pitchFamily="2" charset="-122"/>
              </a:defRPr>
            </a:lvl4pPr>
            <a:lvl5pPr marL="1959610" indent="-217805">
              <a:spcBef>
                <a:spcPct val="20000"/>
              </a:spcBef>
              <a:buClr>
                <a:schemeClr val="accent2"/>
              </a:buClr>
              <a:buChar char="–"/>
              <a:defRPr sz="1905">
                <a:solidFill>
                  <a:schemeClr val="tx1"/>
                </a:solidFill>
                <a:latin typeface="Tahoma" panose="020B0604030504040204" pitchFamily="34" charset="0"/>
                <a:ea typeface="宋体" panose="02010600030101010101" pitchFamily="2" charset="-122"/>
              </a:defRPr>
            </a:lvl5pPr>
            <a:lvl6pPr marL="2395220" indent="-217805" eaLnBrk="0" fontAlgn="base" hangingPunct="0">
              <a:spcBef>
                <a:spcPct val="20000"/>
              </a:spcBef>
              <a:spcAft>
                <a:spcPct val="0"/>
              </a:spcAft>
              <a:buClr>
                <a:schemeClr val="accent2"/>
              </a:buClr>
              <a:buChar char="–"/>
              <a:defRPr sz="1905">
                <a:solidFill>
                  <a:schemeClr val="tx1"/>
                </a:solidFill>
                <a:latin typeface="Tahoma" panose="020B0604030504040204" pitchFamily="34" charset="0"/>
                <a:ea typeface="宋体" panose="02010600030101010101" pitchFamily="2" charset="-122"/>
              </a:defRPr>
            </a:lvl6pPr>
            <a:lvl7pPr marL="2830195" indent="-217805" eaLnBrk="0" fontAlgn="base" hangingPunct="0">
              <a:spcBef>
                <a:spcPct val="20000"/>
              </a:spcBef>
              <a:spcAft>
                <a:spcPct val="0"/>
              </a:spcAft>
              <a:buClr>
                <a:schemeClr val="accent2"/>
              </a:buClr>
              <a:buChar char="–"/>
              <a:defRPr sz="1905">
                <a:solidFill>
                  <a:schemeClr val="tx1"/>
                </a:solidFill>
                <a:latin typeface="Tahoma" panose="020B0604030504040204" pitchFamily="34" charset="0"/>
                <a:ea typeface="宋体" panose="02010600030101010101" pitchFamily="2" charset="-122"/>
              </a:defRPr>
            </a:lvl7pPr>
            <a:lvl8pPr marL="3265805" indent="-217805" eaLnBrk="0" fontAlgn="base" hangingPunct="0">
              <a:spcBef>
                <a:spcPct val="20000"/>
              </a:spcBef>
              <a:spcAft>
                <a:spcPct val="0"/>
              </a:spcAft>
              <a:buClr>
                <a:schemeClr val="accent2"/>
              </a:buClr>
              <a:buChar char="–"/>
              <a:defRPr sz="1905">
                <a:solidFill>
                  <a:schemeClr val="tx1"/>
                </a:solidFill>
                <a:latin typeface="Tahoma" panose="020B0604030504040204" pitchFamily="34" charset="0"/>
                <a:ea typeface="宋体" panose="02010600030101010101" pitchFamily="2" charset="-122"/>
              </a:defRPr>
            </a:lvl8pPr>
            <a:lvl9pPr marL="3701415" indent="-217805" eaLnBrk="0" fontAlgn="base" hangingPunct="0">
              <a:spcBef>
                <a:spcPct val="20000"/>
              </a:spcBef>
              <a:spcAft>
                <a:spcPct val="0"/>
              </a:spcAft>
              <a:buClr>
                <a:schemeClr val="accent2"/>
              </a:buClr>
              <a:buChar char="–"/>
              <a:defRPr sz="1905">
                <a:solidFill>
                  <a:schemeClr val="tx1"/>
                </a:solidFill>
                <a:latin typeface="Tahoma" panose="020B0604030504040204" pitchFamily="34" charset="0"/>
                <a:ea typeface="宋体" panose="02010600030101010101" pitchFamily="2" charset="-122"/>
              </a:defRPr>
            </a:lvl9pPr>
          </a:lstStyle>
          <a:p>
            <a:pPr fontAlgn="base">
              <a:spcBef>
                <a:spcPct val="50000"/>
              </a:spcBef>
              <a:buClrTx/>
              <a:buFontTx/>
              <a:buNone/>
            </a:pPr>
            <a:fld id="{6DC0C477-4889-4743-8FDB-A95409270352}" type="slidenum">
              <a:rPr lang="zh-CN" altLang="en-US" sz="1000" strike="noStrike" noProof="1">
                <a:latin typeface="Comic Sans MS" panose="030F0702030302020204" pitchFamily="66" charset="0"/>
                <a:ea typeface="宋体" panose="02010600030101010101" pitchFamily="2" charset="-122"/>
                <a:cs typeface="+mn-cs"/>
              </a:rPr>
            </a:fld>
            <a:endParaRPr lang="zh-CN" altLang="en-US" sz="1000" strike="noStrike" noProof="1">
              <a:latin typeface="Comic Sans MS" panose="030F0702030302020204" pitchFamily="66" charset="0"/>
              <a:ea typeface="宋体" panose="02010600030101010101" pitchFamily="2" charset="-122"/>
              <a:cs typeface="+mn-cs"/>
            </a:endParaRPr>
          </a:p>
        </p:txBody>
      </p:sp>
      <p:sp>
        <p:nvSpPr>
          <p:cNvPr id="777218" name="Rectangle 2"/>
          <p:cNvSpPr>
            <a:spLocks noGrp="1" noChangeArrowheads="1"/>
          </p:cNvSpPr>
          <p:nvPr>
            <p:ph type="title"/>
          </p:nvPr>
        </p:nvSpPr>
        <p:spPr/>
        <p:txBody>
          <a:bodyPr/>
          <a:lstStyle/>
          <a:p>
            <a:pPr algn="ctr" eaLnBrk="1" fontAlgn="base" hangingPunct="1">
              <a:defRPr/>
            </a:pPr>
            <a:r>
              <a:rPr lang="zh-CN" altLang="en-US" sz="3600" strike="noStrike" noProof="1">
                <a:effectLst>
                  <a:outerShdw blurRad="38100" dist="38100" dir="2700000" algn="tl">
                    <a:srgbClr val="C0C0C0"/>
                  </a:outerShdw>
                </a:effectLst>
                <a:latin typeface="Arial" panose="020B0604020202020204" pitchFamily="34" charset="0"/>
                <a:cs typeface="Arial" panose="020B0604020202020204" pitchFamily="34" charset="0"/>
              </a:rPr>
              <a:t>例二：网络连通性问题</a:t>
            </a:r>
            <a:endParaRPr lang="zh-CN" altLang="en-US" sz="3600" strike="noStrike" noProof="1">
              <a:effectLst>
                <a:outerShdw blurRad="38100" dist="38100" dir="2700000" algn="tl">
                  <a:srgbClr val="C0C0C0"/>
                </a:outerShdw>
              </a:effectLst>
              <a:latin typeface="Arial" panose="020B0604020202020204" pitchFamily="34" charset="0"/>
              <a:cs typeface="Arial" panose="020B0604020202020204" pitchFamily="34" charset="0"/>
            </a:endParaRPr>
          </a:p>
        </p:txBody>
      </p:sp>
      <p:pic>
        <p:nvPicPr>
          <p:cNvPr id="11270" name="Picture 4" descr="20_000804_rogvtu"/>
          <p:cNvPicPr>
            <a:picLocks noChangeAspect="1"/>
          </p:cNvPicPr>
          <p:nvPr/>
        </p:nvPicPr>
        <p:blipFill>
          <a:blip r:embed="rId1">
            <a:lum bright="-23999" contrast="36000"/>
          </a:blip>
          <a:stretch>
            <a:fillRect/>
          </a:stretch>
        </p:blipFill>
        <p:spPr>
          <a:xfrm>
            <a:off x="1550353" y="1261745"/>
            <a:ext cx="5562600" cy="3170238"/>
          </a:xfrm>
          <a:prstGeom prst="rect">
            <a:avLst/>
          </a:prstGeom>
          <a:noFill/>
          <a:ln w="9525">
            <a:noFill/>
          </a:ln>
        </p:spPr>
      </p:pic>
      <p:sp>
        <p:nvSpPr>
          <p:cNvPr id="535555" name="Text Box 3"/>
          <p:cNvSpPr txBox="1"/>
          <p:nvPr/>
        </p:nvSpPr>
        <p:spPr>
          <a:xfrm>
            <a:off x="623888" y="4386898"/>
            <a:ext cx="2305050" cy="1383665"/>
          </a:xfrm>
          <a:prstGeom prst="rect">
            <a:avLst/>
          </a:prstGeom>
          <a:noFill/>
          <a:ln w="9525">
            <a:noFill/>
          </a:ln>
        </p:spPr>
        <p:txBody>
          <a:bodyPr>
            <a:spAutoFit/>
          </a:bodyPr>
          <a:lstStyle/>
          <a:p>
            <a:r>
              <a:rPr lang="zh-CN" altLang="en-US" sz="2800" dirty="0">
                <a:solidFill>
                  <a:srgbClr val="FF0000"/>
                </a:solidFill>
                <a:latin typeface="楷体_GB2312" panose="02010609030101010101" pitchFamily="49" charset="-122"/>
                <a:ea typeface="楷体_GB2312" panose="02010609030101010101" pitchFamily="49" charset="-122"/>
              </a:rPr>
              <a:t>算法：</a:t>
            </a:r>
            <a:r>
              <a:rPr lang="en-US" altLang="zh-CN" sz="2800" dirty="0">
                <a:latin typeface="楷体_GB2312" panose="02010609030101010101" pitchFamily="49" charset="-122"/>
                <a:ea typeface="楷体_GB2312" panose="02010609030101010101" pitchFamily="49" charset="-122"/>
              </a:rPr>
              <a:t>?</a:t>
            </a:r>
            <a:endParaRPr lang="en-US" altLang="zh-CN" sz="2800" dirty="0">
              <a:latin typeface="楷体_GB2312" panose="02010609030101010101" pitchFamily="49" charset="-122"/>
              <a:ea typeface="楷体_GB2312" panose="02010609030101010101" pitchFamily="49" charset="-122"/>
            </a:endParaRPr>
          </a:p>
          <a:p>
            <a:endParaRPr lang="en-US" altLang="zh-CN" sz="2800" dirty="0">
              <a:latin typeface="楷体_GB2312" panose="02010609030101010101" pitchFamily="49" charset="-122"/>
              <a:ea typeface="楷体_GB2312" panose="02010609030101010101" pitchFamily="49" charset="-122"/>
            </a:endParaRPr>
          </a:p>
          <a:p>
            <a:r>
              <a:rPr lang="zh-CN" altLang="en-US" sz="2800" dirty="0">
                <a:solidFill>
                  <a:srgbClr val="FF0000"/>
                </a:solidFill>
                <a:latin typeface="楷体_GB2312" panose="02010609030101010101" pitchFamily="49" charset="-122"/>
                <a:ea typeface="楷体_GB2312" panose="02010609030101010101" pitchFamily="49" charset="-122"/>
              </a:rPr>
              <a:t>模型：</a:t>
            </a:r>
            <a:r>
              <a:rPr lang="en-US" altLang="zh-CN" sz="2800" dirty="0">
                <a:latin typeface="楷体_GB2312" panose="02010609030101010101" pitchFamily="49" charset="-122"/>
                <a:ea typeface="楷体_GB2312" panose="02010609030101010101" pitchFamily="49" charset="-122"/>
              </a:rPr>
              <a:t>?</a:t>
            </a:r>
            <a:endParaRPr lang="en-US" altLang="zh-CN" sz="2800" dirty="0">
              <a:solidFill>
                <a:srgbClr val="FF0000"/>
              </a:solidFill>
              <a:latin typeface="楷体_GB2312" panose="02010609030101010101" pitchFamily="49" charset="-122"/>
              <a:ea typeface="楷体_GB2312" panose="02010609030101010101" pitchFamily="49" charset="-122"/>
            </a:endParaRPr>
          </a:p>
        </p:txBody>
      </p:sp>
      <p:sp>
        <p:nvSpPr>
          <p:cNvPr id="535556" name="Text Box 4"/>
          <p:cNvSpPr txBox="1"/>
          <p:nvPr/>
        </p:nvSpPr>
        <p:spPr>
          <a:xfrm>
            <a:off x="3361055" y="4386898"/>
            <a:ext cx="5181600" cy="650875"/>
          </a:xfrm>
          <a:prstGeom prst="rect">
            <a:avLst/>
          </a:prstGeom>
          <a:noFill/>
          <a:ln w="9525">
            <a:noFill/>
          </a:ln>
        </p:spPr>
        <p:txBody>
          <a:bodyPr>
            <a:spAutoFit/>
          </a:bodyPr>
          <a:lstStyle/>
          <a:p>
            <a:pPr>
              <a:lnSpc>
                <a:spcPct val="130000"/>
              </a:lnSpc>
            </a:pPr>
            <a:r>
              <a:rPr lang="zh-CN" altLang="en-US" sz="2800" dirty="0">
                <a:latin typeface="楷体_GB2312" panose="02010609030101010101" pitchFamily="49" charset="-122"/>
                <a:ea typeface="楷体_GB2312" panose="02010609030101010101" pitchFamily="49" charset="-122"/>
              </a:rPr>
              <a:t>查找两点间是否有路，最短路等</a:t>
            </a:r>
            <a:endParaRPr lang="zh-CN" altLang="en-US" sz="2800" dirty="0">
              <a:latin typeface="楷体_GB2312" panose="02010609030101010101" pitchFamily="49" charset="-122"/>
              <a:ea typeface="楷体_GB2312" panose="02010609030101010101" pitchFamily="49" charset="-122"/>
            </a:endParaRPr>
          </a:p>
        </p:txBody>
      </p:sp>
      <p:sp>
        <p:nvSpPr>
          <p:cNvPr id="535557" name="Text Box 5"/>
          <p:cNvSpPr txBox="1"/>
          <p:nvPr/>
        </p:nvSpPr>
        <p:spPr>
          <a:xfrm>
            <a:off x="3570605" y="5159058"/>
            <a:ext cx="894080" cy="521970"/>
          </a:xfrm>
          <a:prstGeom prst="rect">
            <a:avLst/>
          </a:prstGeom>
          <a:noFill/>
          <a:ln w="9525">
            <a:noFill/>
          </a:ln>
        </p:spPr>
        <p:txBody>
          <a:bodyPr wrap="none">
            <a:spAutoFit/>
          </a:bodyPr>
          <a:lstStyle/>
          <a:p>
            <a:r>
              <a:rPr lang="zh-CN" altLang="en-US" sz="2800" dirty="0">
                <a:solidFill>
                  <a:srgbClr val="663300"/>
                </a:solidFill>
                <a:latin typeface="Times New Roman" panose="02020603050405020304" pitchFamily="18" charset="0"/>
                <a:ea typeface="楷体_GB2312" panose="02010609030101010101" pitchFamily="49" charset="-122"/>
              </a:rPr>
              <a:t>地图</a:t>
            </a:r>
            <a:endParaRPr lang="zh-CN" altLang="en-US" sz="2800" dirty="0">
              <a:solidFill>
                <a:srgbClr val="663300"/>
              </a:solidFill>
              <a:latin typeface="Times New Roman" panose="02020603050405020304" pitchFamily="18" charset="0"/>
              <a:ea typeface="楷体_GB2312" panose="02010609030101010101" pitchFamily="49"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535555"/>
                                        </p:tgtEl>
                                        <p:attrNameLst>
                                          <p:attrName>style.visibility</p:attrName>
                                        </p:attrNameLst>
                                      </p:cBhvr>
                                      <p:to>
                                        <p:strVal val="visible"/>
                                      </p:to>
                                    </p:set>
                                    <p:animEffect transition="in" filter="box(out)">
                                      <p:cBhvr>
                                        <p:cTn id="7" dur="500"/>
                                        <p:tgtEl>
                                          <p:spTgt spid="53555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535556"/>
                                        </p:tgtEl>
                                        <p:attrNameLst>
                                          <p:attrName>style.visibility</p:attrName>
                                        </p:attrNameLst>
                                      </p:cBhvr>
                                      <p:to>
                                        <p:strVal val="visible"/>
                                      </p:to>
                                    </p:set>
                                    <p:animEffect transition="in" filter="wipe(left)">
                                      <p:cBhvr>
                                        <p:cTn id="12" dur="300"/>
                                        <p:tgtEl>
                                          <p:spTgt spid="53555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35557"/>
                                        </p:tgtEl>
                                        <p:attrNameLst>
                                          <p:attrName>style.visibility</p:attrName>
                                        </p:attrNameLst>
                                      </p:cBhvr>
                                      <p:to>
                                        <p:strVal val="visible"/>
                                      </p:to>
                                    </p:set>
                                    <p:animEffect transition="in" filter="wipe(left)">
                                      <p:cBhvr>
                                        <p:cTn id="17" dur="500"/>
                                        <p:tgtEl>
                                          <p:spTgt spid="5355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5555" grpId="0"/>
      <p:bldP spid="535556" grpId="0"/>
      <p:bldP spid="53555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Date Placeholder 3"/>
          <p:cNvSpPr>
            <a:spLocks noGrp="1"/>
          </p:cNvSpPr>
          <p:nvPr>
            <p:ph type="dt" sz="half" idx="10"/>
          </p:nvPr>
        </p:nvSpPr>
        <p:spPr/>
        <p:txBody>
          <a:bodyPr wrap="square" lIns="91440" tIns="45720" rIns="91440" bIns="45720" anchor="t"/>
          <a:lstStyle>
            <a:lvl1pPr marL="0" lvl="0" indent="0" algn="l" defTabSz="914400" rtl="0" eaLnBrk="0" fontAlgn="base" latinLnBrk="0" hangingPunct="0">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indent="0">
              <a:spcBef>
                <a:spcPct val="50000"/>
              </a:spcBef>
            </a:pPr>
            <a:r>
              <a:rPr lang="en-US" altLang="zh-CN" sz="1000" dirty="0"/>
              <a:t>Data Structures and algorithms</a:t>
            </a:r>
            <a:endParaRPr lang="zh-CN" altLang="en-US" sz="1000" dirty="0"/>
          </a:p>
        </p:txBody>
      </p:sp>
      <p:sp>
        <p:nvSpPr>
          <p:cNvPr id="11267" name="Footer Placeholder 4"/>
          <p:cNvSpPr>
            <a:spLocks noGrp="1"/>
          </p:cNvSpPr>
          <p:nvPr>
            <p:ph type="ftr" sz="quarter" idx="11"/>
          </p:nvPr>
        </p:nvSpPr>
        <p:spPr/>
        <p:txBody>
          <a:bodyPr wrap="square" lIns="91440" tIns="45720" rIns="91440" bIns="45720" anchor="t"/>
          <a:lstStyle>
            <a:lvl1pPr marL="0" lvl="0" indent="0" algn="l" defTabSz="914400" rtl="0" eaLnBrk="0" fontAlgn="base" latinLnBrk="0" hangingPunct="0">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indent="0">
              <a:spcBef>
                <a:spcPct val="50000"/>
              </a:spcBef>
            </a:pPr>
            <a:r>
              <a:rPr lang="zh-CN" altLang="en-US" sz="1000" dirty="0"/>
              <a:t>Software College Northeastern University</a:t>
            </a:r>
            <a:endParaRPr lang="zh-CN" altLang="en-US" sz="1000" dirty="0"/>
          </a:p>
        </p:txBody>
      </p:sp>
      <p:sp>
        <p:nvSpPr>
          <p:cNvPr id="34820" name="Slide Number Placeholder 5"/>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spcBef>
                <a:spcPct val="20000"/>
              </a:spcBef>
              <a:buClr>
                <a:schemeClr val="accent2"/>
              </a:buClr>
              <a:buFont typeface="Monotype Sorts" pitchFamily="2" charset="2"/>
              <a:buChar char="z"/>
              <a:defRPr sz="3050">
                <a:solidFill>
                  <a:schemeClr val="tx1"/>
                </a:solidFill>
                <a:latin typeface="Tahoma" panose="020B0604030504040204" pitchFamily="34" charset="0"/>
                <a:ea typeface="宋体" panose="02010600030101010101" pitchFamily="2" charset="-122"/>
              </a:defRPr>
            </a:lvl1pPr>
            <a:lvl2pPr marL="707390" indent="-272415">
              <a:spcBef>
                <a:spcPct val="20000"/>
              </a:spcBef>
              <a:buClr>
                <a:schemeClr val="accent2"/>
              </a:buClr>
              <a:buFont typeface="Monotype Sorts" pitchFamily="2" charset="2"/>
              <a:buChar char="y"/>
              <a:defRPr sz="2665">
                <a:solidFill>
                  <a:schemeClr val="tx1"/>
                </a:solidFill>
                <a:latin typeface="Tahoma" panose="020B0604030504040204" pitchFamily="34" charset="0"/>
                <a:ea typeface="宋体" panose="02010600030101010101" pitchFamily="2" charset="-122"/>
              </a:defRPr>
            </a:lvl2pPr>
            <a:lvl3pPr marL="1088390" indent="-217805">
              <a:spcBef>
                <a:spcPct val="20000"/>
              </a:spcBef>
              <a:buClr>
                <a:schemeClr val="accent2"/>
              </a:buClr>
              <a:buFont typeface="Monotype Sorts" pitchFamily="2" charset="2"/>
              <a:buChar char="x"/>
              <a:defRPr sz="2285">
                <a:solidFill>
                  <a:schemeClr val="tx1"/>
                </a:solidFill>
                <a:latin typeface="Tahoma" panose="020B0604030504040204" pitchFamily="34" charset="0"/>
                <a:ea typeface="宋体" panose="02010600030101010101" pitchFamily="2" charset="-122"/>
              </a:defRPr>
            </a:lvl3pPr>
            <a:lvl4pPr marL="1524000" indent="-217805">
              <a:spcBef>
                <a:spcPct val="20000"/>
              </a:spcBef>
              <a:buClr>
                <a:schemeClr val="accent2"/>
              </a:buClr>
              <a:buChar char="•"/>
              <a:defRPr sz="1905">
                <a:solidFill>
                  <a:schemeClr val="tx1"/>
                </a:solidFill>
                <a:latin typeface="Tahoma" panose="020B0604030504040204" pitchFamily="34" charset="0"/>
                <a:ea typeface="宋体" panose="02010600030101010101" pitchFamily="2" charset="-122"/>
              </a:defRPr>
            </a:lvl4pPr>
            <a:lvl5pPr marL="1959610" indent="-217805">
              <a:spcBef>
                <a:spcPct val="20000"/>
              </a:spcBef>
              <a:buClr>
                <a:schemeClr val="accent2"/>
              </a:buClr>
              <a:buChar char="–"/>
              <a:defRPr sz="1905">
                <a:solidFill>
                  <a:schemeClr val="tx1"/>
                </a:solidFill>
                <a:latin typeface="Tahoma" panose="020B0604030504040204" pitchFamily="34" charset="0"/>
                <a:ea typeface="宋体" panose="02010600030101010101" pitchFamily="2" charset="-122"/>
              </a:defRPr>
            </a:lvl5pPr>
            <a:lvl6pPr marL="2395220" indent="-217805" eaLnBrk="0" fontAlgn="base" hangingPunct="0">
              <a:spcBef>
                <a:spcPct val="20000"/>
              </a:spcBef>
              <a:spcAft>
                <a:spcPct val="0"/>
              </a:spcAft>
              <a:buClr>
                <a:schemeClr val="accent2"/>
              </a:buClr>
              <a:buChar char="–"/>
              <a:defRPr sz="1905">
                <a:solidFill>
                  <a:schemeClr val="tx1"/>
                </a:solidFill>
                <a:latin typeface="Tahoma" panose="020B0604030504040204" pitchFamily="34" charset="0"/>
                <a:ea typeface="宋体" panose="02010600030101010101" pitchFamily="2" charset="-122"/>
              </a:defRPr>
            </a:lvl6pPr>
            <a:lvl7pPr marL="2830195" indent="-217805" eaLnBrk="0" fontAlgn="base" hangingPunct="0">
              <a:spcBef>
                <a:spcPct val="20000"/>
              </a:spcBef>
              <a:spcAft>
                <a:spcPct val="0"/>
              </a:spcAft>
              <a:buClr>
                <a:schemeClr val="accent2"/>
              </a:buClr>
              <a:buChar char="–"/>
              <a:defRPr sz="1905">
                <a:solidFill>
                  <a:schemeClr val="tx1"/>
                </a:solidFill>
                <a:latin typeface="Tahoma" panose="020B0604030504040204" pitchFamily="34" charset="0"/>
                <a:ea typeface="宋体" panose="02010600030101010101" pitchFamily="2" charset="-122"/>
              </a:defRPr>
            </a:lvl7pPr>
            <a:lvl8pPr marL="3265805" indent="-217805" eaLnBrk="0" fontAlgn="base" hangingPunct="0">
              <a:spcBef>
                <a:spcPct val="20000"/>
              </a:spcBef>
              <a:spcAft>
                <a:spcPct val="0"/>
              </a:spcAft>
              <a:buClr>
                <a:schemeClr val="accent2"/>
              </a:buClr>
              <a:buChar char="–"/>
              <a:defRPr sz="1905">
                <a:solidFill>
                  <a:schemeClr val="tx1"/>
                </a:solidFill>
                <a:latin typeface="Tahoma" panose="020B0604030504040204" pitchFamily="34" charset="0"/>
                <a:ea typeface="宋体" panose="02010600030101010101" pitchFamily="2" charset="-122"/>
              </a:defRPr>
            </a:lvl8pPr>
            <a:lvl9pPr marL="3701415" indent="-217805" eaLnBrk="0" fontAlgn="base" hangingPunct="0">
              <a:spcBef>
                <a:spcPct val="20000"/>
              </a:spcBef>
              <a:spcAft>
                <a:spcPct val="0"/>
              </a:spcAft>
              <a:buClr>
                <a:schemeClr val="accent2"/>
              </a:buClr>
              <a:buChar char="–"/>
              <a:defRPr sz="1905">
                <a:solidFill>
                  <a:schemeClr val="tx1"/>
                </a:solidFill>
                <a:latin typeface="Tahoma" panose="020B0604030504040204" pitchFamily="34" charset="0"/>
                <a:ea typeface="宋体" panose="02010600030101010101" pitchFamily="2" charset="-122"/>
              </a:defRPr>
            </a:lvl9pPr>
          </a:lstStyle>
          <a:p>
            <a:pPr fontAlgn="base">
              <a:spcBef>
                <a:spcPct val="50000"/>
              </a:spcBef>
              <a:buClrTx/>
              <a:buFontTx/>
              <a:buNone/>
            </a:pPr>
            <a:fld id="{6DC0C477-4889-4743-8FDB-A95409270352}" type="slidenum">
              <a:rPr lang="zh-CN" altLang="en-US" sz="1000" strike="noStrike" noProof="1">
                <a:latin typeface="Comic Sans MS" panose="030F0702030302020204" pitchFamily="66" charset="0"/>
                <a:ea typeface="宋体" panose="02010600030101010101" pitchFamily="2" charset="-122"/>
                <a:cs typeface="+mn-cs"/>
              </a:rPr>
            </a:fld>
            <a:endParaRPr lang="zh-CN" altLang="en-US" sz="1000" strike="noStrike" noProof="1">
              <a:latin typeface="Comic Sans MS" panose="030F0702030302020204" pitchFamily="66" charset="0"/>
              <a:ea typeface="宋体" panose="02010600030101010101" pitchFamily="2" charset="-122"/>
              <a:cs typeface="+mn-cs"/>
            </a:endParaRPr>
          </a:p>
        </p:txBody>
      </p:sp>
      <p:sp>
        <p:nvSpPr>
          <p:cNvPr id="17" name="Rectangle 3"/>
          <p:cNvSpPr txBox="1">
            <a:spLocks noChangeArrowheads="1"/>
          </p:cNvSpPr>
          <p:nvPr/>
        </p:nvSpPr>
        <p:spPr bwMode="auto">
          <a:xfrm>
            <a:off x="514076" y="962159"/>
            <a:ext cx="9178925" cy="2105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lr>
                <a:schemeClr val="accent2"/>
              </a:buClr>
              <a:buFont typeface="Monotype Sorts" pitchFamily="2" charset="2"/>
              <a:buChar char="z"/>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Font typeface="Monotype Sorts" pitchFamily="2" charset="2"/>
              <a:buChar char="y"/>
              <a:defRPr sz="2800">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Monotype Sorts" pitchFamily="2" charset="2"/>
              <a:buChar char="x"/>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2"/>
              </a:buClr>
              <a:buChar char="–"/>
              <a:defRPr sz="2000">
                <a:solidFill>
                  <a:schemeClr val="tx1"/>
                </a:solidFill>
                <a:latin typeface="+mn-lt"/>
                <a:ea typeface="+mn-ea"/>
              </a:defRPr>
            </a:lvl5pPr>
            <a:lvl6pPr marL="2514600" indent="-228600" algn="l" rtl="0" fontAlgn="base">
              <a:spcBef>
                <a:spcPct val="20000"/>
              </a:spcBef>
              <a:spcAft>
                <a:spcPct val="0"/>
              </a:spcAft>
              <a:buClr>
                <a:schemeClr val="accent2"/>
              </a:buClr>
              <a:buChar char="–"/>
              <a:defRPr sz="2000">
                <a:solidFill>
                  <a:schemeClr val="tx1"/>
                </a:solidFill>
                <a:latin typeface="+mn-lt"/>
                <a:ea typeface="+mn-ea"/>
              </a:defRPr>
            </a:lvl6pPr>
            <a:lvl7pPr marL="2971800" indent="-228600" algn="l" rtl="0" fontAlgn="base">
              <a:spcBef>
                <a:spcPct val="20000"/>
              </a:spcBef>
              <a:spcAft>
                <a:spcPct val="0"/>
              </a:spcAft>
              <a:buClr>
                <a:schemeClr val="accent2"/>
              </a:buClr>
              <a:buChar char="–"/>
              <a:defRPr sz="2000">
                <a:solidFill>
                  <a:schemeClr val="tx1"/>
                </a:solidFill>
                <a:latin typeface="+mn-lt"/>
                <a:ea typeface="+mn-ea"/>
              </a:defRPr>
            </a:lvl7pPr>
            <a:lvl8pPr marL="3429000" indent="-228600" algn="l" rtl="0" fontAlgn="base">
              <a:spcBef>
                <a:spcPct val="20000"/>
              </a:spcBef>
              <a:spcAft>
                <a:spcPct val="0"/>
              </a:spcAft>
              <a:buClr>
                <a:schemeClr val="accent2"/>
              </a:buClr>
              <a:buChar char="–"/>
              <a:defRPr sz="2000">
                <a:solidFill>
                  <a:schemeClr val="tx1"/>
                </a:solidFill>
                <a:latin typeface="+mn-lt"/>
                <a:ea typeface="+mn-ea"/>
              </a:defRPr>
            </a:lvl8pPr>
            <a:lvl9pPr marL="3886200" indent="-228600" algn="l" rtl="0" fontAlgn="base">
              <a:spcBef>
                <a:spcPct val="20000"/>
              </a:spcBef>
              <a:spcAft>
                <a:spcPct val="0"/>
              </a:spcAft>
              <a:buClr>
                <a:schemeClr val="accent2"/>
              </a:buClr>
              <a:buChar char="–"/>
              <a:defRPr sz="2000">
                <a:solidFill>
                  <a:schemeClr val="tx1"/>
                </a:solidFill>
                <a:latin typeface="+mn-lt"/>
                <a:ea typeface="+mn-ea"/>
              </a:defRPr>
            </a:lvl9pPr>
          </a:lstStyle>
          <a:p>
            <a:pPr marR="0" algn="l" defTabSz="914400" rtl="0" eaLnBrk="1" fontAlgn="base" latinLnBrk="0" hangingPunct="1">
              <a:lnSpc>
                <a:spcPct val="120000"/>
              </a:lnSpc>
              <a:spcBef>
                <a:spcPct val="20000"/>
              </a:spcBef>
              <a:spcAft>
                <a:spcPct val="0"/>
              </a:spcAft>
              <a:buClr>
                <a:schemeClr val="accent2"/>
              </a:buClr>
              <a:buFont typeface="Wingdings" panose="05000000000000000000" charset="0"/>
              <a:buChar char=""/>
              <a:defRPr/>
            </a:pPr>
            <a:r>
              <a:rPr kumimoji="0" lang="zh-CN" altLang="en-US" sz="2855" b="0" i="0" u="none" strike="noStrike" kern="0" cap="none" spc="0" normalizeH="0" baseline="0" noProof="1">
                <a:solidFill>
                  <a:schemeClr val="tx2"/>
                </a:solidFill>
                <a:latin typeface="+mn-lt"/>
                <a:ea typeface="+mn-ea"/>
                <a:cs typeface="+mn-cs"/>
                <a:sym typeface="+mn-ea"/>
              </a:rPr>
              <a:t>如何把一些书放到书架上</a:t>
            </a:r>
            <a:r>
              <a:rPr kumimoji="0" lang="en-US" altLang="zh-CN" sz="2855" b="0" i="0" u="none" strike="noStrike" kern="0" cap="none" spc="0" normalizeH="0" baseline="0" noProof="1">
                <a:solidFill>
                  <a:schemeClr val="tx2"/>
                </a:solidFill>
                <a:latin typeface="+mn-lt"/>
                <a:ea typeface="+mn-ea"/>
                <a:cs typeface="+mn-cs"/>
                <a:sym typeface="+mn-ea"/>
              </a:rPr>
              <a:t>?</a:t>
            </a:r>
            <a:endParaRPr kumimoji="0" lang="en-US" altLang="zh-CN" sz="2475" b="0" i="0" u="none" strike="noStrike" kern="0" cap="none" spc="0" normalizeH="0" baseline="0" noProof="1">
              <a:solidFill>
                <a:schemeClr val="tx2"/>
              </a:solidFill>
              <a:latin typeface="+mn-lt"/>
              <a:ea typeface="+mn-ea"/>
              <a:cs typeface="+mn-cs"/>
              <a:sym typeface="+mn-ea"/>
            </a:endParaRPr>
          </a:p>
          <a:p>
            <a:pPr marR="0" lvl="1" algn="l" defTabSz="914400" rtl="0" eaLnBrk="1" fontAlgn="base" latinLnBrk="0" hangingPunct="1">
              <a:lnSpc>
                <a:spcPct val="120000"/>
              </a:lnSpc>
              <a:spcBef>
                <a:spcPct val="20000"/>
              </a:spcBef>
              <a:spcAft>
                <a:spcPct val="0"/>
              </a:spcAft>
              <a:buClr>
                <a:schemeClr val="accent2"/>
              </a:buClr>
              <a:buFont typeface="Wingdings" panose="05000000000000000000" charset="0"/>
              <a:buChar char=""/>
              <a:defRPr/>
            </a:pPr>
            <a:r>
              <a:rPr kumimoji="0" lang="zh-CN" altLang="en-US" sz="2475" b="0" i="0" u="none" strike="noStrike" kern="0" cap="none" spc="0" normalizeH="0" baseline="0" noProof="1">
                <a:solidFill>
                  <a:schemeClr val="tx2"/>
                </a:solidFill>
                <a:latin typeface="+mn-lt"/>
                <a:ea typeface="+mn-ea"/>
                <a:cs typeface="+mn-cs"/>
                <a:sym typeface="+mn-ea"/>
              </a:rPr>
              <a:t>多少本</a:t>
            </a:r>
            <a:r>
              <a:rPr kumimoji="0" lang="en-US" altLang="zh-CN" sz="2475" b="0" i="0" u="none" strike="noStrike" kern="0" cap="none" spc="0" normalizeH="0" baseline="0" noProof="1">
                <a:solidFill>
                  <a:schemeClr val="tx2"/>
                </a:solidFill>
                <a:latin typeface="+mn-lt"/>
                <a:ea typeface="+mn-ea"/>
                <a:cs typeface="+mn-cs"/>
                <a:sym typeface="+mn-ea"/>
              </a:rPr>
              <a:t>? </a:t>
            </a:r>
            <a:endParaRPr kumimoji="0" lang="en-US" altLang="zh-CN" sz="2475" b="0" i="0" u="none" strike="noStrike" kern="0" cap="none" spc="0" normalizeH="0" baseline="0" noProof="1">
              <a:solidFill>
                <a:schemeClr val="tx2"/>
              </a:solidFill>
              <a:latin typeface="+mn-lt"/>
              <a:ea typeface="+mn-ea"/>
              <a:cs typeface="+mn-cs"/>
              <a:sym typeface="+mn-ea"/>
            </a:endParaRPr>
          </a:p>
          <a:p>
            <a:pPr marL="778510" marR="0" lvl="1" indent="-342900" algn="l" defTabSz="914400" rtl="0" eaLnBrk="1" fontAlgn="base" latinLnBrk="0" hangingPunct="1">
              <a:lnSpc>
                <a:spcPct val="120000"/>
              </a:lnSpc>
              <a:spcBef>
                <a:spcPct val="20000"/>
              </a:spcBef>
              <a:spcAft>
                <a:spcPct val="0"/>
              </a:spcAft>
              <a:buClr>
                <a:schemeClr val="accent2"/>
              </a:buClr>
              <a:buFont typeface="Wingdings" panose="05000000000000000000" charset="0"/>
              <a:buChar char=""/>
              <a:defRPr/>
            </a:pPr>
            <a:r>
              <a:rPr kumimoji="0" lang="en-US" altLang="zh-CN" sz="2475" b="0" i="0" u="none" strike="noStrike" kern="0" cap="none" spc="0" normalizeH="0" baseline="0" noProof="1">
                <a:solidFill>
                  <a:schemeClr val="tx2"/>
                </a:solidFill>
                <a:latin typeface="+mn-lt"/>
                <a:ea typeface="+mn-ea"/>
                <a:cs typeface="+mn-cs"/>
                <a:sym typeface="+mn-ea"/>
              </a:rPr>
              <a:t>10? 100? 1000? 10000?.....</a:t>
            </a:r>
            <a:endParaRPr kumimoji="0" lang="en-US" altLang="zh-CN" sz="2475" b="0" i="0" u="none" strike="noStrike" kern="0" cap="none" spc="0" normalizeH="0" baseline="0" noProof="1">
              <a:solidFill>
                <a:schemeClr val="tx2"/>
              </a:solidFill>
              <a:latin typeface="+mn-lt"/>
              <a:ea typeface="+mn-ea"/>
              <a:cs typeface="+mn-cs"/>
              <a:sym typeface="+mn-ea"/>
            </a:endParaRPr>
          </a:p>
          <a:p>
            <a:pPr marR="0" lvl="1" algn="l" defTabSz="914400" rtl="0" eaLnBrk="1" fontAlgn="base" latinLnBrk="0" hangingPunct="1">
              <a:lnSpc>
                <a:spcPct val="120000"/>
              </a:lnSpc>
              <a:spcBef>
                <a:spcPct val="20000"/>
              </a:spcBef>
              <a:spcAft>
                <a:spcPct val="0"/>
              </a:spcAft>
              <a:buClr>
                <a:schemeClr val="accent2"/>
              </a:buClr>
              <a:buFont typeface="Wingdings" panose="05000000000000000000" charset="0"/>
              <a:buChar char=""/>
              <a:defRPr/>
            </a:pPr>
            <a:r>
              <a:rPr kumimoji="0" lang="zh-CN" altLang="en-US" sz="2475" b="0" i="0" u="none" strike="noStrike" kern="0" cap="none" spc="0" normalizeH="0" baseline="0" noProof="1">
                <a:solidFill>
                  <a:schemeClr val="tx2"/>
                </a:solidFill>
                <a:latin typeface="+mn-lt"/>
                <a:ea typeface="+mn-ea"/>
                <a:cs typeface="+mn-cs"/>
                <a:sym typeface="+mn-ea"/>
              </a:rPr>
              <a:t>什么样的书架</a:t>
            </a:r>
            <a:r>
              <a:rPr kumimoji="0" lang="en-US" altLang="zh-CN" sz="2475" b="0" i="0" u="none" strike="noStrike" kern="0" cap="none" spc="0" normalizeH="0" baseline="0" noProof="1">
                <a:solidFill>
                  <a:schemeClr val="tx2"/>
                </a:solidFill>
                <a:latin typeface="+mn-lt"/>
                <a:ea typeface="+mn-ea"/>
                <a:cs typeface="+mn-cs"/>
                <a:sym typeface="+mn-ea"/>
              </a:rPr>
              <a:t>?</a:t>
            </a:r>
            <a:endParaRPr kumimoji="0" lang="en-US" altLang="zh-CN" sz="2475" b="0" i="0" u="none" strike="noStrike" kern="0" cap="none" spc="0" normalizeH="0" baseline="0" noProof="1">
              <a:solidFill>
                <a:schemeClr val="tx2"/>
              </a:solidFill>
              <a:latin typeface="+mn-lt"/>
              <a:ea typeface="+mn-ea"/>
              <a:cs typeface="+mn-cs"/>
              <a:sym typeface="+mn-ea"/>
            </a:endParaRPr>
          </a:p>
          <a:p>
            <a:pPr eaLnBrk="1" hangingPunct="1">
              <a:lnSpc>
                <a:spcPct val="120000"/>
              </a:lnSpc>
              <a:buFont typeface="Wingdings" panose="05000000000000000000" charset="0"/>
              <a:buChar char=""/>
              <a:defRPr/>
            </a:pPr>
            <a:r>
              <a:rPr lang="zh-CN" altLang="en-US" sz="2855" kern="0" noProof="1">
                <a:solidFill>
                  <a:schemeClr val="tx2"/>
                </a:solidFill>
                <a:sym typeface="+mn-ea"/>
              </a:rPr>
              <a:t>算法： 插入新的书，查找某本书</a:t>
            </a:r>
            <a:endParaRPr lang="en-US" altLang="zh-CN" sz="2855" kern="0" noProof="1">
              <a:solidFill>
                <a:schemeClr val="tx2"/>
              </a:solidFill>
              <a:sym typeface="+mn-ea"/>
            </a:endParaRPr>
          </a:p>
          <a:p>
            <a:pPr marR="0" lvl="1" algn="l" defTabSz="914400" rtl="0" eaLnBrk="1" fontAlgn="base" latinLnBrk="0" hangingPunct="1">
              <a:lnSpc>
                <a:spcPct val="120000"/>
              </a:lnSpc>
              <a:spcBef>
                <a:spcPct val="20000"/>
              </a:spcBef>
              <a:spcAft>
                <a:spcPct val="0"/>
              </a:spcAft>
              <a:buClr>
                <a:schemeClr val="accent2"/>
              </a:buClr>
              <a:buFont typeface="Wingdings" panose="05000000000000000000" charset="0"/>
              <a:buChar char=""/>
              <a:defRPr/>
            </a:pPr>
            <a:endParaRPr kumimoji="0" lang="en-US" altLang="zh-CN" sz="2475" b="0" i="0" u="none" strike="noStrike" kern="0" cap="none" spc="0" normalizeH="0" baseline="0" noProof="1">
              <a:solidFill>
                <a:schemeClr val="tx2"/>
              </a:solidFill>
              <a:latin typeface="+mn-lt"/>
              <a:ea typeface="+mn-ea"/>
              <a:cs typeface="+mn-cs"/>
              <a:sym typeface="+mn-ea"/>
            </a:endParaRPr>
          </a:p>
          <a:p>
            <a:pPr marL="778510" marR="0" lvl="1" indent="-342900" algn="l" defTabSz="914400" rtl="0" eaLnBrk="1" fontAlgn="base" latinLnBrk="0" hangingPunct="1">
              <a:lnSpc>
                <a:spcPct val="120000"/>
              </a:lnSpc>
              <a:spcBef>
                <a:spcPct val="20000"/>
              </a:spcBef>
              <a:spcAft>
                <a:spcPct val="0"/>
              </a:spcAft>
              <a:buClr>
                <a:schemeClr val="accent2"/>
              </a:buClr>
              <a:buFont typeface="Wingdings" panose="05000000000000000000" charset="0"/>
              <a:buChar char=""/>
              <a:defRPr/>
            </a:pPr>
            <a:endParaRPr kumimoji="0" lang="en-US" altLang="zh-CN" sz="2475" b="0" i="0" u="none" strike="noStrike" kern="0" cap="none" spc="0" normalizeH="0" baseline="0" noProof="1">
              <a:solidFill>
                <a:schemeClr val="tx2"/>
              </a:solidFill>
              <a:latin typeface="+mn-lt"/>
              <a:ea typeface="+mn-ea"/>
              <a:cs typeface="+mn-cs"/>
              <a:sym typeface="+mn-ea"/>
            </a:endParaRPr>
          </a:p>
          <a:p>
            <a:pPr marR="0" algn="l" defTabSz="914400" rtl="0" eaLnBrk="1" fontAlgn="base" latinLnBrk="0" hangingPunct="1">
              <a:lnSpc>
                <a:spcPct val="110000"/>
              </a:lnSpc>
              <a:spcBef>
                <a:spcPct val="20000"/>
              </a:spcBef>
              <a:spcAft>
                <a:spcPct val="0"/>
              </a:spcAft>
              <a:buClr>
                <a:schemeClr val="accent2"/>
              </a:buClr>
              <a:buFont typeface="Monotype Sorts" pitchFamily="2" charset="2"/>
              <a:buNone/>
              <a:defRPr/>
            </a:pPr>
            <a:endParaRPr kumimoji="0" lang="en-US" altLang="zh-CN" sz="2855" b="0" i="0" u="none" strike="noStrike" kern="0" cap="none" spc="0" normalizeH="0" baseline="0" noProof="1">
              <a:solidFill>
                <a:schemeClr val="tx2"/>
              </a:solidFill>
              <a:latin typeface="+mn-lt"/>
              <a:ea typeface="+mn-ea"/>
              <a:cs typeface="+mn-cs"/>
              <a:sym typeface="+mn-ea"/>
            </a:endParaRPr>
          </a:p>
        </p:txBody>
      </p:sp>
      <p:sp>
        <p:nvSpPr>
          <p:cNvPr id="18" name="Rectangle 3"/>
          <p:cNvSpPr>
            <a:spLocks noGrp="1" noChangeArrowheads="1"/>
          </p:cNvSpPr>
          <p:nvPr>
            <p:ph idx="1"/>
          </p:nvPr>
        </p:nvSpPr>
        <p:spPr>
          <a:xfrm>
            <a:off x="2823839" y="1539493"/>
            <a:ext cx="3757724" cy="771624"/>
          </a:xfrm>
        </p:spPr>
        <p:txBody>
          <a:bodyPr>
            <a:normAutofit fontScale="95000"/>
          </a:bodyPr>
          <a:lstStyle/>
          <a:p>
            <a:pPr eaLnBrk="1" fontAlgn="base" hangingPunct="1">
              <a:lnSpc>
                <a:spcPct val="120000"/>
              </a:lnSpc>
              <a:defRPr/>
            </a:pPr>
            <a:r>
              <a:rPr lang="zh-CN" altLang="en-US" sz="2855" b="1" strike="noStrike" noProof="1">
                <a:solidFill>
                  <a:schemeClr val="tx2"/>
                </a:solidFill>
              </a:rPr>
              <a:t>和问题大小相关</a:t>
            </a:r>
            <a:endParaRPr lang="en-US" altLang="zh-CN" sz="2475" b="1" strike="noStrike" noProof="1">
              <a:solidFill>
                <a:schemeClr val="tx2"/>
              </a:solidFill>
            </a:endParaRPr>
          </a:p>
          <a:p>
            <a:pPr marL="435610" lvl="1" indent="0" fontAlgn="base">
              <a:lnSpc>
                <a:spcPct val="120000"/>
              </a:lnSpc>
              <a:buNone/>
              <a:defRPr/>
            </a:pPr>
            <a:endParaRPr lang="en-US" altLang="zh-CN" sz="2475" b="1" strike="noStrike" noProof="1">
              <a:solidFill>
                <a:schemeClr val="tx2"/>
              </a:solidFill>
            </a:endParaRPr>
          </a:p>
          <a:p>
            <a:pPr marL="0" indent="0" fontAlgn="base">
              <a:lnSpc>
                <a:spcPct val="110000"/>
              </a:lnSpc>
              <a:buNone/>
              <a:defRPr/>
            </a:pPr>
            <a:endParaRPr lang="en-US" altLang="zh-CN" sz="2855" b="1" strike="noStrike" noProof="1">
              <a:solidFill>
                <a:schemeClr val="tx2"/>
              </a:solidFill>
            </a:endParaRPr>
          </a:p>
        </p:txBody>
      </p:sp>
      <p:sp>
        <p:nvSpPr>
          <p:cNvPr id="21" name="灯片编号占位符 5"/>
          <p:cNvSpPr txBox="1"/>
          <p:nvPr/>
        </p:nvSpPr>
        <p:spPr>
          <a:xfrm>
            <a:off x="8084185" y="6407785"/>
            <a:ext cx="929005" cy="36512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defPPr>
              <a:defRPr lang="zh-CN"/>
            </a:defPPr>
            <a:lvl1pPr marL="0" algn="r" defTabSz="914400" rtl="0" eaLnBrk="1" latinLnBrk="0" hangingPunct="1">
              <a:spcBef>
                <a:spcPct val="20000"/>
              </a:spcBef>
              <a:buClr>
                <a:schemeClr val="accent2"/>
              </a:buClr>
              <a:buFont typeface="Monotype Sorts" pitchFamily="2" charset="2"/>
              <a:buChar char="z"/>
              <a:defRPr kumimoji="0" sz="3050" b="0" kern="1200">
                <a:solidFill>
                  <a:schemeClr val="tx1"/>
                </a:solidFill>
                <a:latin typeface="Tahoma" panose="020B0604030504040204" pitchFamily="34" charset="0"/>
                <a:ea typeface="宋体" panose="02010600030101010101" pitchFamily="2" charset="-122"/>
                <a:cs typeface="+mn-cs"/>
              </a:defRPr>
            </a:lvl1pPr>
            <a:lvl2pPr marL="707390" indent="-272415" algn="l" defTabSz="914400" rtl="0" eaLnBrk="1" latinLnBrk="0" hangingPunct="1">
              <a:spcBef>
                <a:spcPct val="20000"/>
              </a:spcBef>
              <a:buClr>
                <a:schemeClr val="accent2"/>
              </a:buClr>
              <a:buFont typeface="Monotype Sorts" pitchFamily="2" charset="2"/>
              <a:buChar char="y"/>
              <a:defRPr sz="2665" kern="1200">
                <a:solidFill>
                  <a:schemeClr val="tx1"/>
                </a:solidFill>
                <a:latin typeface="Tahoma" panose="020B0604030504040204" pitchFamily="34" charset="0"/>
                <a:ea typeface="宋体" panose="02010600030101010101" pitchFamily="2" charset="-122"/>
                <a:cs typeface="+mn-cs"/>
              </a:defRPr>
            </a:lvl2pPr>
            <a:lvl3pPr marL="1088390" indent="-217805" algn="l" defTabSz="914400" rtl="0" eaLnBrk="1" latinLnBrk="0" hangingPunct="1">
              <a:spcBef>
                <a:spcPct val="20000"/>
              </a:spcBef>
              <a:buClr>
                <a:schemeClr val="accent2"/>
              </a:buClr>
              <a:buFont typeface="Monotype Sorts" pitchFamily="2" charset="2"/>
              <a:buChar char="x"/>
              <a:defRPr sz="2285" kern="1200">
                <a:solidFill>
                  <a:schemeClr val="tx1"/>
                </a:solidFill>
                <a:latin typeface="Tahoma" panose="020B0604030504040204" pitchFamily="34" charset="0"/>
                <a:ea typeface="宋体" panose="02010600030101010101" pitchFamily="2" charset="-122"/>
                <a:cs typeface="+mn-cs"/>
              </a:defRPr>
            </a:lvl3pPr>
            <a:lvl4pPr marL="1524000" indent="-217805" algn="l" defTabSz="914400" rtl="0" eaLnBrk="1" latinLnBrk="0" hangingPunct="1">
              <a:spcBef>
                <a:spcPct val="20000"/>
              </a:spcBef>
              <a:buClr>
                <a:schemeClr val="accent2"/>
              </a:buClr>
              <a:buChar char="•"/>
              <a:defRPr sz="1905" kern="1200">
                <a:solidFill>
                  <a:schemeClr val="tx1"/>
                </a:solidFill>
                <a:latin typeface="Tahoma" panose="020B0604030504040204" pitchFamily="34" charset="0"/>
                <a:ea typeface="宋体" panose="02010600030101010101" pitchFamily="2" charset="-122"/>
                <a:cs typeface="+mn-cs"/>
              </a:defRPr>
            </a:lvl4pPr>
            <a:lvl5pPr marL="1959610" indent="-217805" algn="l" defTabSz="914400" rtl="0" eaLnBrk="1" latinLnBrk="0" hangingPunct="1">
              <a:spcBef>
                <a:spcPct val="20000"/>
              </a:spcBef>
              <a:buClr>
                <a:schemeClr val="accent2"/>
              </a:buClr>
              <a:buChar char="–"/>
              <a:defRPr sz="1905" kern="1200">
                <a:solidFill>
                  <a:schemeClr val="tx1"/>
                </a:solidFill>
                <a:latin typeface="Tahoma" panose="020B0604030504040204" pitchFamily="34" charset="0"/>
                <a:ea typeface="宋体" panose="02010600030101010101" pitchFamily="2" charset="-122"/>
                <a:cs typeface="+mn-cs"/>
              </a:defRPr>
            </a:lvl5pPr>
            <a:lvl6pPr marL="2395220" indent="-217805" algn="l" defTabSz="914400" rtl="0" eaLnBrk="0" fontAlgn="base" latinLnBrk="0" hangingPunct="0">
              <a:spcBef>
                <a:spcPct val="20000"/>
              </a:spcBef>
              <a:spcAft>
                <a:spcPct val="0"/>
              </a:spcAft>
              <a:buClr>
                <a:schemeClr val="accent2"/>
              </a:buClr>
              <a:buChar char="–"/>
              <a:defRPr sz="1905" kern="1200">
                <a:solidFill>
                  <a:schemeClr val="tx1"/>
                </a:solidFill>
                <a:latin typeface="Tahoma" panose="020B0604030504040204" pitchFamily="34" charset="0"/>
                <a:ea typeface="宋体" panose="02010600030101010101" pitchFamily="2" charset="-122"/>
                <a:cs typeface="+mn-cs"/>
              </a:defRPr>
            </a:lvl6pPr>
            <a:lvl7pPr marL="2830195" indent="-217805" algn="l" defTabSz="914400" rtl="0" eaLnBrk="0" fontAlgn="base" latinLnBrk="0" hangingPunct="0">
              <a:spcBef>
                <a:spcPct val="20000"/>
              </a:spcBef>
              <a:spcAft>
                <a:spcPct val="0"/>
              </a:spcAft>
              <a:buClr>
                <a:schemeClr val="accent2"/>
              </a:buClr>
              <a:buChar char="–"/>
              <a:defRPr sz="1905" kern="1200">
                <a:solidFill>
                  <a:schemeClr val="tx1"/>
                </a:solidFill>
                <a:latin typeface="Tahoma" panose="020B0604030504040204" pitchFamily="34" charset="0"/>
                <a:ea typeface="宋体" panose="02010600030101010101" pitchFamily="2" charset="-122"/>
                <a:cs typeface="+mn-cs"/>
              </a:defRPr>
            </a:lvl7pPr>
            <a:lvl8pPr marL="3265805" indent="-217805" algn="l" defTabSz="914400" rtl="0" eaLnBrk="0" fontAlgn="base" latinLnBrk="0" hangingPunct="0">
              <a:spcBef>
                <a:spcPct val="20000"/>
              </a:spcBef>
              <a:spcAft>
                <a:spcPct val="0"/>
              </a:spcAft>
              <a:buClr>
                <a:schemeClr val="accent2"/>
              </a:buClr>
              <a:buChar char="–"/>
              <a:defRPr sz="1905" kern="1200">
                <a:solidFill>
                  <a:schemeClr val="tx1"/>
                </a:solidFill>
                <a:latin typeface="Tahoma" panose="020B0604030504040204" pitchFamily="34" charset="0"/>
                <a:ea typeface="宋体" panose="02010600030101010101" pitchFamily="2" charset="-122"/>
                <a:cs typeface="+mn-cs"/>
              </a:defRPr>
            </a:lvl8pPr>
            <a:lvl9pPr marL="3701415" indent="-217805" algn="l" defTabSz="914400" rtl="0" eaLnBrk="0" fontAlgn="base" latinLnBrk="0" hangingPunct="0">
              <a:spcBef>
                <a:spcPct val="20000"/>
              </a:spcBef>
              <a:spcAft>
                <a:spcPct val="0"/>
              </a:spcAft>
              <a:buClr>
                <a:schemeClr val="accent2"/>
              </a:buClr>
              <a:buChar char="–"/>
              <a:defRPr sz="1905" kern="1200">
                <a:solidFill>
                  <a:schemeClr val="tx1"/>
                </a:solidFill>
                <a:latin typeface="Tahoma" panose="020B0604030504040204" pitchFamily="34" charset="0"/>
                <a:ea typeface="宋体" panose="02010600030101010101" pitchFamily="2" charset="-122"/>
                <a:cs typeface="+mn-cs"/>
              </a:defRPr>
            </a:lvl9pPr>
          </a:lstStyle>
          <a:p>
            <a:pPr fontAlgn="base">
              <a:spcBef>
                <a:spcPct val="50000"/>
              </a:spcBef>
              <a:buClrTx/>
              <a:buFontTx/>
              <a:buNone/>
            </a:pPr>
            <a:fld id="{A3D5724E-4216-4A52-BBAE-A24BB324DA39}" type="slidenum">
              <a:rPr lang="zh-CN" altLang="en-US" sz="1335" noProof="1" smtClean="0">
                <a:solidFill>
                  <a:schemeClr val="bg2"/>
                </a:solidFill>
                <a:latin typeface="Comic Sans MS" panose="030F0702030302020204" pitchFamily="66" charset="0"/>
              </a:rPr>
            </a:fld>
            <a:endParaRPr lang="en-US" altLang="zh-CN" sz="1335" noProof="1">
              <a:solidFill>
                <a:schemeClr val="bg2"/>
              </a:solidFill>
              <a:latin typeface="Comic Sans MS" panose="030F0702030302020204" pitchFamily="66" charset="0"/>
            </a:endParaRPr>
          </a:p>
        </p:txBody>
      </p:sp>
      <p:sp>
        <p:nvSpPr>
          <p:cNvPr id="22" name="Rectangle 2"/>
          <p:cNvSpPr txBox="1">
            <a:spLocks noChangeArrowheads="1"/>
          </p:cNvSpPr>
          <p:nvPr/>
        </p:nvSpPr>
        <p:spPr>
          <a:xfrm>
            <a:off x="457200" y="116632"/>
            <a:ext cx="8229600" cy="1143000"/>
          </a:xfrm>
          <a:prstGeom prst="rect">
            <a:avLst/>
          </a:prstGeom>
        </p:spPr>
        <p:txBody>
          <a:bodyPr vert="horz" rtlCol="0" anchor="ctr">
            <a:normAutofit/>
            <a:scene3d>
              <a:camera prst="orthographicFront"/>
              <a:lightRig rig="soft" dir="t"/>
            </a:scene3d>
            <a:sp3d prstMaterial="softEdge">
              <a:bevelT w="25400" h="25400"/>
            </a:sp3d>
          </a:bodyPr>
          <a:lst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方正楷体_GB2312" panose="02000000000000000000" charset="-122"/>
                <a:ea typeface="方正楷体_GB2312" panose="02000000000000000000" charset="-122"/>
                <a:cs typeface="+mj-cs"/>
              </a:defRPr>
            </a:lvl1pPr>
          </a:lstStyle>
          <a:p>
            <a:pPr algn="ctr" fontAlgn="base">
              <a:defRPr/>
            </a:pPr>
            <a:r>
              <a:rPr lang="zh-CN" altLang="en-US" sz="3810" noProof="1">
                <a:effectLst>
                  <a:outerShdw blurRad="38100" dist="38100" dir="2700000" algn="tl">
                    <a:srgbClr val="C0C0C0"/>
                  </a:outerShdw>
                </a:effectLst>
                <a:latin typeface="Times New Roman" panose="02020603050405020304" pitchFamily="18" charset="0"/>
              </a:rPr>
              <a:t>例三</a:t>
            </a:r>
            <a:r>
              <a:rPr lang="en-US" altLang="zh-CN" noProof="1"/>
              <a:t> </a:t>
            </a:r>
            <a:r>
              <a:rPr lang="zh-CN" altLang="en-US" noProof="1"/>
              <a:t>书的摆放</a:t>
            </a:r>
            <a:endParaRPr lang="zh-CN" altLang="en-US" noProof="1"/>
          </a:p>
        </p:txBody>
      </p:sp>
      <p:pic>
        <p:nvPicPr>
          <p:cNvPr id="23" name="图片 22"/>
          <p:cNvPicPr>
            <a:picLocks noChangeAspect="1"/>
          </p:cNvPicPr>
          <p:nvPr/>
        </p:nvPicPr>
        <p:blipFill>
          <a:blip r:embed="rId1"/>
          <a:stretch>
            <a:fillRect/>
          </a:stretch>
        </p:blipFill>
        <p:spPr>
          <a:xfrm>
            <a:off x="488714" y="4077072"/>
            <a:ext cx="2751138" cy="1952625"/>
          </a:xfrm>
          <a:prstGeom prst="rect">
            <a:avLst/>
          </a:prstGeom>
          <a:noFill/>
          <a:ln w="9525">
            <a:noFill/>
          </a:ln>
        </p:spPr>
      </p:pic>
      <p:pic>
        <p:nvPicPr>
          <p:cNvPr id="24" name="图片 23"/>
          <p:cNvPicPr>
            <a:picLocks noChangeAspect="1"/>
          </p:cNvPicPr>
          <p:nvPr/>
        </p:nvPicPr>
        <p:blipFill>
          <a:blip r:embed="rId2"/>
          <a:stretch>
            <a:fillRect/>
          </a:stretch>
        </p:blipFill>
        <p:spPr>
          <a:xfrm>
            <a:off x="3779912" y="4077072"/>
            <a:ext cx="2935287" cy="2060575"/>
          </a:xfrm>
          <a:prstGeom prst="rect">
            <a:avLst/>
          </a:prstGeom>
          <a:noFill/>
          <a:ln w="9525">
            <a:noFill/>
          </a:ln>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7">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uiExpand="1" build="p"/>
      <p:bldP spid="18"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70" name="Rectangle 3"/>
          <p:cNvSpPr>
            <a:spLocks noGrp="1" noChangeArrowheads="1"/>
          </p:cNvSpPr>
          <p:nvPr>
            <p:ph idx="1"/>
          </p:nvPr>
        </p:nvSpPr>
        <p:spPr/>
        <p:txBody>
          <a:bodyPr>
            <a:normAutofit/>
          </a:bodyPr>
          <a:lstStyle/>
          <a:p>
            <a:pPr eaLnBrk="1" fontAlgn="base" hangingPunct="1">
              <a:lnSpc>
                <a:spcPct val="120000"/>
              </a:lnSpc>
              <a:defRPr/>
            </a:pPr>
            <a:r>
              <a:rPr lang="zh-CN" altLang="en-US" sz="2855" b="1" strike="noStrike" noProof="1">
                <a:solidFill>
                  <a:schemeClr val="tx2"/>
                </a:solidFill>
              </a:rPr>
              <a:t>如果架子上有很多书，我们通常需要做两个动作：</a:t>
            </a:r>
            <a:r>
              <a:rPr lang="zh-CN" altLang="en-US" sz="2855" b="1" strike="noStrike" noProof="1">
                <a:solidFill>
                  <a:srgbClr val="FF0000"/>
                </a:solidFill>
              </a:rPr>
              <a:t>插入</a:t>
            </a:r>
            <a:r>
              <a:rPr lang="zh-CN" altLang="en-US" sz="2855" b="1" strike="noStrike" noProof="1">
                <a:solidFill>
                  <a:schemeClr val="tx2"/>
                </a:solidFill>
              </a:rPr>
              <a:t>新书，</a:t>
            </a:r>
            <a:r>
              <a:rPr lang="zh-CN" altLang="en-US" sz="2855" b="1" strike="noStrike" noProof="1">
                <a:solidFill>
                  <a:srgbClr val="FF0000"/>
                </a:solidFill>
              </a:rPr>
              <a:t>检索</a:t>
            </a:r>
            <a:r>
              <a:rPr lang="zh-CN" altLang="en-US" sz="2855" b="1" strike="noStrike" noProof="1">
                <a:solidFill>
                  <a:schemeClr val="tx2"/>
                </a:solidFill>
              </a:rPr>
              <a:t>某个特定的书</a:t>
            </a:r>
            <a:r>
              <a:rPr lang="en-US" altLang="zh-CN" sz="2855" b="1" strike="noStrike" noProof="1">
                <a:solidFill>
                  <a:schemeClr val="tx2"/>
                </a:solidFill>
              </a:rPr>
              <a:t>. </a:t>
            </a:r>
            <a:endParaRPr lang="en-US" altLang="zh-CN" sz="2855" b="1" strike="noStrike" noProof="1">
              <a:solidFill>
                <a:schemeClr val="tx2"/>
              </a:solidFill>
            </a:endParaRPr>
          </a:p>
          <a:p>
            <a:pPr eaLnBrk="1" fontAlgn="base" hangingPunct="1">
              <a:lnSpc>
                <a:spcPct val="120000"/>
              </a:lnSpc>
              <a:defRPr/>
            </a:pPr>
            <a:r>
              <a:rPr lang="zh-CN" altLang="en-US" sz="2855" b="1" strike="noStrike" noProof="1">
                <a:solidFill>
                  <a:schemeClr val="tx2"/>
                </a:solidFill>
              </a:rPr>
              <a:t>如何安排书</a:t>
            </a:r>
            <a:r>
              <a:rPr lang="zh-CN" altLang="en-US" sz="2855" b="1" noProof="1">
                <a:solidFill>
                  <a:schemeClr val="tx2"/>
                </a:solidFill>
              </a:rPr>
              <a:t>使两种操作速度快</a:t>
            </a:r>
            <a:r>
              <a:rPr lang="en-US" altLang="zh-CN" sz="2855" b="1" strike="noStrike" noProof="1">
                <a:solidFill>
                  <a:schemeClr val="tx2"/>
                </a:solidFill>
              </a:rPr>
              <a:t>?</a:t>
            </a:r>
            <a:endParaRPr lang="en-US" altLang="zh-CN" sz="2855" b="1" strike="noStrike" noProof="1">
              <a:solidFill>
                <a:schemeClr val="tx2"/>
              </a:solidFill>
            </a:endParaRPr>
          </a:p>
          <a:p>
            <a:pPr lvl="1" eaLnBrk="1" fontAlgn="base" hangingPunct="1">
              <a:lnSpc>
                <a:spcPct val="120000"/>
              </a:lnSpc>
              <a:defRPr/>
            </a:pPr>
            <a:r>
              <a:rPr lang="zh-CN" altLang="en-US" sz="2475" b="1" strike="noStrike" noProof="1">
                <a:solidFill>
                  <a:schemeClr val="tx2"/>
                </a:solidFill>
              </a:rPr>
              <a:t>方法</a:t>
            </a:r>
            <a:r>
              <a:rPr lang="en-US" altLang="zh-CN" sz="2475" b="1" strike="noStrike" noProof="1">
                <a:solidFill>
                  <a:schemeClr val="tx2"/>
                </a:solidFill>
              </a:rPr>
              <a:t>1:  </a:t>
            </a:r>
            <a:r>
              <a:rPr lang="zh-CN" altLang="en-US" sz="2475" b="1" strike="noStrike" noProof="1">
                <a:solidFill>
                  <a:schemeClr val="tx2"/>
                </a:solidFill>
              </a:rPr>
              <a:t>随机安排</a:t>
            </a:r>
            <a:endParaRPr lang="zh-CN" altLang="en-US" sz="2475" b="1" strike="noStrike" noProof="1">
              <a:solidFill>
                <a:schemeClr val="tx2"/>
              </a:solidFill>
            </a:endParaRPr>
          </a:p>
          <a:p>
            <a:pPr lvl="1" eaLnBrk="1" fontAlgn="base" hangingPunct="1">
              <a:lnSpc>
                <a:spcPct val="120000"/>
              </a:lnSpc>
              <a:defRPr/>
            </a:pPr>
            <a:r>
              <a:rPr lang="zh-CN" altLang="en-US" sz="2095" b="1" strike="noStrike" noProof="1">
                <a:solidFill>
                  <a:schemeClr val="tx2"/>
                </a:solidFill>
              </a:rPr>
              <a:t>插入</a:t>
            </a:r>
            <a:r>
              <a:rPr lang="en-US" altLang="zh-CN" sz="2095" b="1" strike="noStrike" noProof="1">
                <a:solidFill>
                  <a:schemeClr val="tx2"/>
                </a:solidFill>
              </a:rPr>
              <a:t> ----</a:t>
            </a:r>
            <a:r>
              <a:rPr lang="zh-CN" altLang="en-US" sz="2095" b="1" strike="noStrike" noProof="1">
                <a:solidFill>
                  <a:schemeClr val="tx2"/>
                </a:solidFill>
              </a:rPr>
              <a:t>将书放在尾部</a:t>
            </a:r>
            <a:r>
              <a:rPr lang="en-US" altLang="zh-CN" sz="2095" b="1" strike="noStrike" noProof="1">
                <a:solidFill>
                  <a:schemeClr val="tx2"/>
                </a:solidFill>
              </a:rPr>
              <a:t>.</a:t>
            </a:r>
            <a:endParaRPr lang="en-US" altLang="zh-CN" sz="2095" b="1" strike="noStrike" noProof="1">
              <a:solidFill>
                <a:schemeClr val="tx2"/>
              </a:solidFill>
            </a:endParaRPr>
          </a:p>
          <a:p>
            <a:pPr lvl="2" eaLnBrk="1" fontAlgn="base" hangingPunct="1">
              <a:lnSpc>
                <a:spcPct val="120000"/>
              </a:lnSpc>
              <a:defRPr/>
            </a:pPr>
            <a:r>
              <a:rPr lang="zh-CN" altLang="en-US" sz="2095" b="1" strike="noStrike" noProof="1">
                <a:solidFill>
                  <a:schemeClr val="tx2"/>
                </a:solidFill>
              </a:rPr>
              <a:t>查找</a:t>
            </a:r>
            <a:r>
              <a:rPr lang="en-US" altLang="zh-CN" sz="2095" b="1" strike="noStrike" noProof="1">
                <a:solidFill>
                  <a:schemeClr val="tx2"/>
                </a:solidFill>
              </a:rPr>
              <a:t>----!#%$^</a:t>
            </a:r>
            <a:endParaRPr lang="en-US" altLang="zh-CN" sz="2095" b="1" strike="noStrike" noProof="1">
              <a:solidFill>
                <a:schemeClr val="tx2"/>
              </a:solidFill>
            </a:endParaRPr>
          </a:p>
          <a:p>
            <a:pPr lvl="3" eaLnBrk="1" fontAlgn="base" hangingPunct="1">
              <a:lnSpc>
                <a:spcPct val="120000"/>
              </a:lnSpc>
              <a:defRPr/>
            </a:pPr>
            <a:endParaRPr lang="en-US" altLang="zh-CN" sz="1715" b="1" strike="noStrike" noProof="1">
              <a:solidFill>
                <a:schemeClr val="tx2"/>
              </a:solidFill>
            </a:endParaRPr>
          </a:p>
          <a:p>
            <a:pPr lvl="4" eaLnBrk="1" fontAlgn="base" hangingPunct="1">
              <a:lnSpc>
                <a:spcPct val="120000"/>
              </a:lnSpc>
              <a:defRPr/>
            </a:pPr>
            <a:endParaRPr lang="en-US" altLang="zh-CN" sz="1335" b="1" strike="noStrike" noProof="1">
              <a:solidFill>
                <a:schemeClr val="tx2"/>
              </a:solidFill>
            </a:endParaRPr>
          </a:p>
          <a:p>
            <a:pPr marL="2122805" lvl="5" indent="0" fontAlgn="auto">
              <a:lnSpc>
                <a:spcPct val="120000"/>
              </a:lnSpc>
              <a:buNone/>
              <a:defRPr/>
            </a:pPr>
            <a:endParaRPr lang="en-US" altLang="zh-CN" sz="1715" b="1" strike="noStrike" noProof="1">
              <a:solidFill>
                <a:schemeClr val="tx2"/>
              </a:solidFill>
            </a:endParaRPr>
          </a:p>
          <a:p>
            <a:pPr marL="0" indent="0" fontAlgn="base">
              <a:lnSpc>
                <a:spcPct val="110000"/>
              </a:lnSpc>
              <a:buNone/>
              <a:defRPr/>
            </a:pPr>
            <a:endParaRPr lang="en-US" altLang="zh-CN" sz="2855" b="1" strike="noStrike" noProof="1">
              <a:solidFill>
                <a:schemeClr val="tx2"/>
              </a:solidFill>
            </a:endParaRPr>
          </a:p>
        </p:txBody>
      </p:sp>
      <p:sp>
        <p:nvSpPr>
          <p:cNvPr id="777218" name="Rectangle 2"/>
          <p:cNvSpPr>
            <a:spLocks noGrp="1" noChangeArrowheads="1"/>
          </p:cNvSpPr>
          <p:nvPr>
            <p:ph type="title"/>
          </p:nvPr>
        </p:nvSpPr>
        <p:spPr/>
        <p:txBody>
          <a:bodyPr/>
          <a:lstStyle/>
          <a:p>
            <a:pPr algn="ctr" eaLnBrk="1" fontAlgn="base" hangingPunct="1">
              <a:defRPr/>
            </a:pPr>
            <a:r>
              <a:rPr lang="en-US" altLang="zh-CN" sz="3810" strike="noStrike" noProof="1">
                <a:effectLst>
                  <a:outerShdw blurRad="38100" dist="38100" dir="2700000" algn="tl">
                    <a:srgbClr val="C0C0C0"/>
                  </a:outerShdw>
                </a:effectLst>
                <a:latin typeface="+mn-lt"/>
              </a:rPr>
              <a:t> </a:t>
            </a:r>
            <a:r>
              <a:rPr lang="zh-CN" altLang="en-US" sz="3810" strike="noStrike" noProof="1">
                <a:effectLst>
                  <a:outerShdw blurRad="38100" dist="38100" dir="2700000" algn="tl">
                    <a:srgbClr val="C0C0C0"/>
                  </a:outerShdw>
                </a:effectLst>
                <a:latin typeface="Times New Roman" panose="02020603050405020304" pitchFamily="18" charset="0"/>
                <a:sym typeface="+mn-ea"/>
              </a:rPr>
              <a:t>例三</a:t>
            </a:r>
            <a:r>
              <a:rPr lang="en-US" altLang="zh-CN" sz="3810" strike="noStrike" noProof="1">
                <a:sym typeface="+mn-ea"/>
              </a:rPr>
              <a:t> </a:t>
            </a:r>
            <a:r>
              <a:rPr lang="zh-CN" altLang="en-US" sz="3810" strike="noStrike" noProof="1">
                <a:sym typeface="+mn-ea"/>
              </a:rPr>
              <a:t>书的摆放</a:t>
            </a:r>
            <a:endParaRPr lang="zh-CN" altLang="en-US" sz="3810" strike="noStrike" noProof="1">
              <a:effectLst>
                <a:outerShdw blurRad="38100" dist="38100" dir="2700000" algn="tl">
                  <a:srgbClr val="C0C0C0"/>
                </a:outerShdw>
              </a:effectLst>
              <a:latin typeface="+mn-lt"/>
            </a:endParaRPr>
          </a:p>
        </p:txBody>
      </p:sp>
      <p:sp>
        <p:nvSpPr>
          <p:cNvPr id="8" name="Date Placeholder 3"/>
          <p:cNvSpPr>
            <a:spLocks noGrp="1"/>
          </p:cNvSpPr>
          <p:nvPr>
            <p:ph type="dt" sz="half" idx="10"/>
          </p:nvPr>
        </p:nvSpPr>
        <p:spPr>
          <a:xfrm>
            <a:off x="323528" y="6400482"/>
            <a:ext cx="2520280" cy="365760"/>
          </a:xfrm>
        </p:spPr>
        <p:txBody>
          <a:bodyPr wrap="square" lIns="91440" tIns="45720" rIns="91440" bIns="45720" anchor="t"/>
          <a:lstStyle>
            <a:lvl1pPr marL="0" lvl="0" indent="0" algn="l" defTabSz="914400" rtl="0" eaLnBrk="0" fontAlgn="base" latinLnBrk="0" hangingPunct="0">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indent="0">
              <a:spcBef>
                <a:spcPct val="50000"/>
              </a:spcBef>
            </a:pPr>
            <a:r>
              <a:rPr lang="en-US" altLang="zh-CN" sz="1000" dirty="0"/>
              <a:t>Data Structures and algorithms</a:t>
            </a:r>
            <a:endParaRPr lang="zh-CN" altLang="en-US" sz="1000" dirty="0"/>
          </a:p>
        </p:txBody>
      </p:sp>
      <p:sp>
        <p:nvSpPr>
          <p:cNvPr id="9" name="Footer Placeholder 4"/>
          <p:cNvSpPr>
            <a:spLocks noGrp="1"/>
          </p:cNvSpPr>
          <p:nvPr>
            <p:ph type="ftr" sz="quarter" idx="11"/>
          </p:nvPr>
        </p:nvSpPr>
        <p:spPr>
          <a:xfrm>
            <a:off x="3570447" y="6408579"/>
            <a:ext cx="2801753" cy="365125"/>
          </a:xfrm>
        </p:spPr>
        <p:txBody>
          <a:bodyPr wrap="square" lIns="91440" tIns="45720" rIns="91440" bIns="45720" anchor="t"/>
          <a:lstStyle>
            <a:lvl1pPr marL="0" lvl="0" indent="0" algn="l" defTabSz="914400" rtl="0" eaLnBrk="0" fontAlgn="base" latinLnBrk="0" hangingPunct="0">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indent="0">
              <a:spcBef>
                <a:spcPct val="50000"/>
              </a:spcBef>
            </a:pPr>
            <a:r>
              <a:rPr lang="zh-CN" altLang="en-US" sz="1000" dirty="0"/>
              <a:t>Software College Northeastern University</a:t>
            </a:r>
            <a:endParaRPr lang="zh-CN" altLang="en-US" sz="1000" dirty="0"/>
          </a:p>
        </p:txBody>
      </p:sp>
      <p:sp>
        <p:nvSpPr>
          <p:cNvPr id="10" name="Slide Number Placeholder 5"/>
          <p:cNvSpPr>
            <a:spLocks noGrp="1"/>
          </p:cNvSpPr>
          <p:nvPr>
            <p:ph type="sldNum" sz="quarter" idx="12"/>
          </p:nvPr>
        </p:nvSpPr>
        <p:spPr>
          <a:xfrm>
            <a:off x="8084185" y="6407785"/>
            <a:ext cx="929005"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spcBef>
                <a:spcPct val="20000"/>
              </a:spcBef>
              <a:buClr>
                <a:schemeClr val="accent2"/>
              </a:buClr>
              <a:buFont typeface="Monotype Sorts" pitchFamily="2" charset="2"/>
              <a:buChar char="z"/>
              <a:defRPr sz="3050">
                <a:solidFill>
                  <a:schemeClr val="tx1"/>
                </a:solidFill>
                <a:latin typeface="Tahoma" panose="020B0604030504040204" pitchFamily="34" charset="0"/>
                <a:ea typeface="宋体" panose="02010600030101010101" pitchFamily="2" charset="-122"/>
              </a:defRPr>
            </a:lvl1pPr>
            <a:lvl2pPr marL="707390" indent="-272415">
              <a:spcBef>
                <a:spcPct val="20000"/>
              </a:spcBef>
              <a:buClr>
                <a:schemeClr val="accent2"/>
              </a:buClr>
              <a:buFont typeface="Monotype Sorts" pitchFamily="2" charset="2"/>
              <a:buChar char="y"/>
              <a:defRPr sz="2665">
                <a:solidFill>
                  <a:schemeClr val="tx1"/>
                </a:solidFill>
                <a:latin typeface="Tahoma" panose="020B0604030504040204" pitchFamily="34" charset="0"/>
                <a:ea typeface="宋体" panose="02010600030101010101" pitchFamily="2" charset="-122"/>
              </a:defRPr>
            </a:lvl2pPr>
            <a:lvl3pPr marL="1088390" indent="-217805">
              <a:spcBef>
                <a:spcPct val="20000"/>
              </a:spcBef>
              <a:buClr>
                <a:schemeClr val="accent2"/>
              </a:buClr>
              <a:buFont typeface="Monotype Sorts" pitchFamily="2" charset="2"/>
              <a:buChar char="x"/>
              <a:defRPr sz="2285">
                <a:solidFill>
                  <a:schemeClr val="tx1"/>
                </a:solidFill>
                <a:latin typeface="Tahoma" panose="020B0604030504040204" pitchFamily="34" charset="0"/>
                <a:ea typeface="宋体" panose="02010600030101010101" pitchFamily="2" charset="-122"/>
              </a:defRPr>
            </a:lvl3pPr>
            <a:lvl4pPr marL="1524000" indent="-217805">
              <a:spcBef>
                <a:spcPct val="20000"/>
              </a:spcBef>
              <a:buClr>
                <a:schemeClr val="accent2"/>
              </a:buClr>
              <a:buChar char="•"/>
              <a:defRPr sz="1905">
                <a:solidFill>
                  <a:schemeClr val="tx1"/>
                </a:solidFill>
                <a:latin typeface="Tahoma" panose="020B0604030504040204" pitchFamily="34" charset="0"/>
                <a:ea typeface="宋体" panose="02010600030101010101" pitchFamily="2" charset="-122"/>
              </a:defRPr>
            </a:lvl4pPr>
            <a:lvl5pPr marL="1959610" indent="-217805">
              <a:spcBef>
                <a:spcPct val="20000"/>
              </a:spcBef>
              <a:buClr>
                <a:schemeClr val="accent2"/>
              </a:buClr>
              <a:buChar char="–"/>
              <a:defRPr sz="1905">
                <a:solidFill>
                  <a:schemeClr val="tx1"/>
                </a:solidFill>
                <a:latin typeface="Tahoma" panose="020B0604030504040204" pitchFamily="34" charset="0"/>
                <a:ea typeface="宋体" panose="02010600030101010101" pitchFamily="2" charset="-122"/>
              </a:defRPr>
            </a:lvl5pPr>
            <a:lvl6pPr marL="2395220" indent="-217805" eaLnBrk="0" fontAlgn="base" hangingPunct="0">
              <a:spcBef>
                <a:spcPct val="20000"/>
              </a:spcBef>
              <a:spcAft>
                <a:spcPct val="0"/>
              </a:spcAft>
              <a:buClr>
                <a:schemeClr val="accent2"/>
              </a:buClr>
              <a:buChar char="–"/>
              <a:defRPr sz="1905">
                <a:solidFill>
                  <a:schemeClr val="tx1"/>
                </a:solidFill>
                <a:latin typeface="Tahoma" panose="020B0604030504040204" pitchFamily="34" charset="0"/>
                <a:ea typeface="宋体" panose="02010600030101010101" pitchFamily="2" charset="-122"/>
              </a:defRPr>
            </a:lvl6pPr>
            <a:lvl7pPr marL="2830195" indent="-217805" eaLnBrk="0" fontAlgn="base" hangingPunct="0">
              <a:spcBef>
                <a:spcPct val="20000"/>
              </a:spcBef>
              <a:spcAft>
                <a:spcPct val="0"/>
              </a:spcAft>
              <a:buClr>
                <a:schemeClr val="accent2"/>
              </a:buClr>
              <a:buChar char="–"/>
              <a:defRPr sz="1905">
                <a:solidFill>
                  <a:schemeClr val="tx1"/>
                </a:solidFill>
                <a:latin typeface="Tahoma" panose="020B0604030504040204" pitchFamily="34" charset="0"/>
                <a:ea typeface="宋体" panose="02010600030101010101" pitchFamily="2" charset="-122"/>
              </a:defRPr>
            </a:lvl7pPr>
            <a:lvl8pPr marL="3265805" indent="-217805" eaLnBrk="0" fontAlgn="base" hangingPunct="0">
              <a:spcBef>
                <a:spcPct val="20000"/>
              </a:spcBef>
              <a:spcAft>
                <a:spcPct val="0"/>
              </a:spcAft>
              <a:buClr>
                <a:schemeClr val="accent2"/>
              </a:buClr>
              <a:buChar char="–"/>
              <a:defRPr sz="1905">
                <a:solidFill>
                  <a:schemeClr val="tx1"/>
                </a:solidFill>
                <a:latin typeface="Tahoma" panose="020B0604030504040204" pitchFamily="34" charset="0"/>
                <a:ea typeface="宋体" panose="02010600030101010101" pitchFamily="2" charset="-122"/>
              </a:defRPr>
            </a:lvl8pPr>
            <a:lvl9pPr marL="3701415" indent="-217805" eaLnBrk="0" fontAlgn="base" hangingPunct="0">
              <a:spcBef>
                <a:spcPct val="20000"/>
              </a:spcBef>
              <a:spcAft>
                <a:spcPct val="0"/>
              </a:spcAft>
              <a:buClr>
                <a:schemeClr val="accent2"/>
              </a:buClr>
              <a:buChar char="–"/>
              <a:defRPr sz="1905">
                <a:solidFill>
                  <a:schemeClr val="tx1"/>
                </a:solidFill>
                <a:latin typeface="Tahoma" panose="020B0604030504040204" pitchFamily="34" charset="0"/>
                <a:ea typeface="宋体" panose="02010600030101010101" pitchFamily="2" charset="-122"/>
              </a:defRPr>
            </a:lvl9pPr>
          </a:lstStyle>
          <a:p>
            <a:pPr fontAlgn="base">
              <a:spcBef>
                <a:spcPct val="50000"/>
              </a:spcBef>
              <a:buClrTx/>
              <a:buFontTx/>
              <a:buNone/>
            </a:pPr>
            <a:fld id="{6DC0C477-4889-4743-8FDB-A95409270352}" type="slidenum">
              <a:rPr lang="zh-CN" altLang="en-US" sz="1000" strike="noStrike" noProof="1">
                <a:latin typeface="Comic Sans MS" panose="030F0702030302020204" pitchFamily="66" charset="0"/>
                <a:ea typeface="宋体" panose="02010600030101010101" pitchFamily="2" charset="-122"/>
                <a:cs typeface="+mn-cs"/>
              </a:rPr>
            </a:fld>
            <a:endParaRPr lang="zh-CN" altLang="en-US" sz="1000" strike="noStrike" noProof="1">
              <a:latin typeface="Comic Sans MS" panose="030F0702030302020204" pitchFamily="66" charset="0"/>
              <a:ea typeface="宋体" panose="02010600030101010101" pitchFamily="2" charset="-122"/>
              <a:cs typeface="+mn-cs"/>
            </a:endParaRPr>
          </a:p>
        </p:txBody>
      </p:sp>
      <p:sp>
        <p:nvSpPr>
          <p:cNvPr id="11" name="灯片编号占位符 5"/>
          <p:cNvSpPr txBox="1"/>
          <p:nvPr/>
        </p:nvSpPr>
        <p:spPr>
          <a:xfrm>
            <a:off x="8084185" y="6407785"/>
            <a:ext cx="929005" cy="36512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defPPr>
              <a:defRPr lang="zh-CN"/>
            </a:defPPr>
            <a:lvl1pPr marL="0" algn="r" defTabSz="914400" rtl="0" eaLnBrk="1" latinLnBrk="0" hangingPunct="1">
              <a:spcBef>
                <a:spcPct val="20000"/>
              </a:spcBef>
              <a:buClr>
                <a:schemeClr val="accent2"/>
              </a:buClr>
              <a:buFont typeface="Monotype Sorts" pitchFamily="2" charset="2"/>
              <a:buChar char="z"/>
              <a:defRPr kumimoji="0" sz="3050" b="0" kern="1200">
                <a:solidFill>
                  <a:schemeClr val="tx1"/>
                </a:solidFill>
                <a:latin typeface="Tahoma" panose="020B0604030504040204" pitchFamily="34" charset="0"/>
                <a:ea typeface="宋体" panose="02010600030101010101" pitchFamily="2" charset="-122"/>
                <a:cs typeface="+mn-cs"/>
              </a:defRPr>
            </a:lvl1pPr>
            <a:lvl2pPr marL="707390" indent="-272415" algn="l" defTabSz="914400" rtl="0" eaLnBrk="1" latinLnBrk="0" hangingPunct="1">
              <a:spcBef>
                <a:spcPct val="20000"/>
              </a:spcBef>
              <a:buClr>
                <a:schemeClr val="accent2"/>
              </a:buClr>
              <a:buFont typeface="Monotype Sorts" pitchFamily="2" charset="2"/>
              <a:buChar char="y"/>
              <a:defRPr sz="2665" kern="1200">
                <a:solidFill>
                  <a:schemeClr val="tx1"/>
                </a:solidFill>
                <a:latin typeface="Tahoma" panose="020B0604030504040204" pitchFamily="34" charset="0"/>
                <a:ea typeface="宋体" panose="02010600030101010101" pitchFamily="2" charset="-122"/>
                <a:cs typeface="+mn-cs"/>
              </a:defRPr>
            </a:lvl2pPr>
            <a:lvl3pPr marL="1088390" indent="-217805" algn="l" defTabSz="914400" rtl="0" eaLnBrk="1" latinLnBrk="0" hangingPunct="1">
              <a:spcBef>
                <a:spcPct val="20000"/>
              </a:spcBef>
              <a:buClr>
                <a:schemeClr val="accent2"/>
              </a:buClr>
              <a:buFont typeface="Monotype Sorts" pitchFamily="2" charset="2"/>
              <a:buChar char="x"/>
              <a:defRPr sz="2285" kern="1200">
                <a:solidFill>
                  <a:schemeClr val="tx1"/>
                </a:solidFill>
                <a:latin typeface="Tahoma" panose="020B0604030504040204" pitchFamily="34" charset="0"/>
                <a:ea typeface="宋体" panose="02010600030101010101" pitchFamily="2" charset="-122"/>
                <a:cs typeface="+mn-cs"/>
              </a:defRPr>
            </a:lvl3pPr>
            <a:lvl4pPr marL="1524000" indent="-217805" algn="l" defTabSz="914400" rtl="0" eaLnBrk="1" latinLnBrk="0" hangingPunct="1">
              <a:spcBef>
                <a:spcPct val="20000"/>
              </a:spcBef>
              <a:buClr>
                <a:schemeClr val="accent2"/>
              </a:buClr>
              <a:buChar char="•"/>
              <a:defRPr sz="1905" kern="1200">
                <a:solidFill>
                  <a:schemeClr val="tx1"/>
                </a:solidFill>
                <a:latin typeface="Tahoma" panose="020B0604030504040204" pitchFamily="34" charset="0"/>
                <a:ea typeface="宋体" panose="02010600030101010101" pitchFamily="2" charset="-122"/>
                <a:cs typeface="+mn-cs"/>
              </a:defRPr>
            </a:lvl4pPr>
            <a:lvl5pPr marL="1959610" indent="-217805" algn="l" defTabSz="914400" rtl="0" eaLnBrk="1" latinLnBrk="0" hangingPunct="1">
              <a:spcBef>
                <a:spcPct val="20000"/>
              </a:spcBef>
              <a:buClr>
                <a:schemeClr val="accent2"/>
              </a:buClr>
              <a:buChar char="–"/>
              <a:defRPr sz="1905" kern="1200">
                <a:solidFill>
                  <a:schemeClr val="tx1"/>
                </a:solidFill>
                <a:latin typeface="Tahoma" panose="020B0604030504040204" pitchFamily="34" charset="0"/>
                <a:ea typeface="宋体" panose="02010600030101010101" pitchFamily="2" charset="-122"/>
                <a:cs typeface="+mn-cs"/>
              </a:defRPr>
            </a:lvl5pPr>
            <a:lvl6pPr marL="2395220" indent="-217805" algn="l" defTabSz="914400" rtl="0" eaLnBrk="0" fontAlgn="base" latinLnBrk="0" hangingPunct="0">
              <a:spcBef>
                <a:spcPct val="20000"/>
              </a:spcBef>
              <a:spcAft>
                <a:spcPct val="0"/>
              </a:spcAft>
              <a:buClr>
                <a:schemeClr val="accent2"/>
              </a:buClr>
              <a:buChar char="–"/>
              <a:defRPr sz="1905" kern="1200">
                <a:solidFill>
                  <a:schemeClr val="tx1"/>
                </a:solidFill>
                <a:latin typeface="Tahoma" panose="020B0604030504040204" pitchFamily="34" charset="0"/>
                <a:ea typeface="宋体" panose="02010600030101010101" pitchFamily="2" charset="-122"/>
                <a:cs typeface="+mn-cs"/>
              </a:defRPr>
            </a:lvl6pPr>
            <a:lvl7pPr marL="2830195" indent="-217805" algn="l" defTabSz="914400" rtl="0" eaLnBrk="0" fontAlgn="base" latinLnBrk="0" hangingPunct="0">
              <a:spcBef>
                <a:spcPct val="20000"/>
              </a:spcBef>
              <a:spcAft>
                <a:spcPct val="0"/>
              </a:spcAft>
              <a:buClr>
                <a:schemeClr val="accent2"/>
              </a:buClr>
              <a:buChar char="–"/>
              <a:defRPr sz="1905" kern="1200">
                <a:solidFill>
                  <a:schemeClr val="tx1"/>
                </a:solidFill>
                <a:latin typeface="Tahoma" panose="020B0604030504040204" pitchFamily="34" charset="0"/>
                <a:ea typeface="宋体" panose="02010600030101010101" pitchFamily="2" charset="-122"/>
                <a:cs typeface="+mn-cs"/>
              </a:defRPr>
            </a:lvl7pPr>
            <a:lvl8pPr marL="3265805" indent="-217805" algn="l" defTabSz="914400" rtl="0" eaLnBrk="0" fontAlgn="base" latinLnBrk="0" hangingPunct="0">
              <a:spcBef>
                <a:spcPct val="20000"/>
              </a:spcBef>
              <a:spcAft>
                <a:spcPct val="0"/>
              </a:spcAft>
              <a:buClr>
                <a:schemeClr val="accent2"/>
              </a:buClr>
              <a:buChar char="–"/>
              <a:defRPr sz="1905" kern="1200">
                <a:solidFill>
                  <a:schemeClr val="tx1"/>
                </a:solidFill>
                <a:latin typeface="Tahoma" panose="020B0604030504040204" pitchFamily="34" charset="0"/>
                <a:ea typeface="宋体" panose="02010600030101010101" pitchFamily="2" charset="-122"/>
                <a:cs typeface="+mn-cs"/>
              </a:defRPr>
            </a:lvl8pPr>
            <a:lvl9pPr marL="3701415" indent="-217805" algn="l" defTabSz="914400" rtl="0" eaLnBrk="0" fontAlgn="base" latinLnBrk="0" hangingPunct="0">
              <a:spcBef>
                <a:spcPct val="20000"/>
              </a:spcBef>
              <a:spcAft>
                <a:spcPct val="0"/>
              </a:spcAft>
              <a:buClr>
                <a:schemeClr val="accent2"/>
              </a:buClr>
              <a:buChar char="–"/>
              <a:defRPr sz="1905" kern="1200">
                <a:solidFill>
                  <a:schemeClr val="tx1"/>
                </a:solidFill>
                <a:latin typeface="Tahoma" panose="020B0604030504040204" pitchFamily="34" charset="0"/>
                <a:ea typeface="宋体" panose="02010600030101010101" pitchFamily="2" charset="-122"/>
                <a:cs typeface="+mn-cs"/>
              </a:defRPr>
            </a:lvl9pPr>
          </a:lstStyle>
          <a:p>
            <a:pPr fontAlgn="base">
              <a:spcBef>
                <a:spcPct val="50000"/>
              </a:spcBef>
              <a:buClrTx/>
              <a:buFontTx/>
              <a:buNone/>
            </a:pPr>
            <a:fld id="{A3D5724E-4216-4A52-BBAE-A24BB324DA39}" type="slidenum">
              <a:rPr lang="zh-CN" altLang="en-US" sz="1335" noProof="1" smtClean="0">
                <a:solidFill>
                  <a:schemeClr val="bg2"/>
                </a:solidFill>
                <a:latin typeface="Comic Sans MS" panose="030F0702030302020204" pitchFamily="66" charset="0"/>
              </a:rPr>
            </a:fld>
            <a:endParaRPr lang="en-US" altLang="zh-CN" sz="1335" noProof="1">
              <a:solidFill>
                <a:schemeClr val="bg2"/>
              </a:solidFill>
              <a:latin typeface="Comic Sans MS" panose="030F0702030302020204" pitchFamily="66" charset="0"/>
            </a:endParaRPr>
          </a:p>
        </p:txBody>
      </p:sp>
      <p:grpSp>
        <p:nvGrpSpPr>
          <p:cNvPr id="2" name="组合 1"/>
          <p:cNvGrpSpPr/>
          <p:nvPr/>
        </p:nvGrpSpPr>
        <p:grpSpPr>
          <a:xfrm>
            <a:off x="4743636" y="3595331"/>
            <a:ext cx="1224136" cy="1201821"/>
            <a:chOff x="4743636" y="3595331"/>
            <a:chExt cx="1224136" cy="1201821"/>
          </a:xfrm>
        </p:grpSpPr>
        <p:sp>
          <p:nvSpPr>
            <p:cNvPr id="12" name="矩形 11"/>
            <p:cNvSpPr/>
            <p:nvPr/>
          </p:nvSpPr>
          <p:spPr>
            <a:xfrm>
              <a:off x="4743636" y="3595331"/>
              <a:ext cx="216024" cy="120182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c</a:t>
              </a:r>
              <a:endParaRPr lang="zh-CN" altLang="en-US" dirty="0"/>
            </a:p>
          </p:txBody>
        </p:sp>
        <p:sp>
          <p:nvSpPr>
            <p:cNvPr id="13" name="矩形 12"/>
            <p:cNvSpPr/>
            <p:nvPr/>
          </p:nvSpPr>
          <p:spPr>
            <a:xfrm>
              <a:off x="5004048" y="3595331"/>
              <a:ext cx="216024" cy="1201821"/>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E</a:t>
              </a:r>
              <a:endParaRPr lang="zh-CN" altLang="en-US" dirty="0"/>
            </a:p>
          </p:txBody>
        </p:sp>
        <p:sp>
          <p:nvSpPr>
            <p:cNvPr id="14" name="矩形 13"/>
            <p:cNvSpPr/>
            <p:nvPr/>
          </p:nvSpPr>
          <p:spPr>
            <a:xfrm>
              <a:off x="5247692" y="3595331"/>
              <a:ext cx="216024" cy="1201821"/>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A</a:t>
              </a:r>
              <a:endParaRPr lang="zh-CN" altLang="en-US" dirty="0"/>
            </a:p>
          </p:txBody>
        </p:sp>
        <p:sp>
          <p:nvSpPr>
            <p:cNvPr id="15" name="矩形 14"/>
            <p:cNvSpPr/>
            <p:nvPr/>
          </p:nvSpPr>
          <p:spPr>
            <a:xfrm>
              <a:off x="5508104" y="3595331"/>
              <a:ext cx="216024" cy="1201821"/>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B</a:t>
              </a:r>
              <a:endParaRPr lang="zh-CN" altLang="en-US" dirty="0"/>
            </a:p>
          </p:txBody>
        </p:sp>
        <p:sp>
          <p:nvSpPr>
            <p:cNvPr id="16" name="矩形 15"/>
            <p:cNvSpPr/>
            <p:nvPr/>
          </p:nvSpPr>
          <p:spPr>
            <a:xfrm>
              <a:off x="5751748" y="3595331"/>
              <a:ext cx="216024" cy="1201821"/>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F</a:t>
              </a:r>
              <a:endParaRPr lang="zh-CN" altLang="en-US" dirty="0"/>
            </a:p>
          </p:txBody>
        </p:sp>
      </p:gr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27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27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270">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270">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270">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70"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70" name="Rectangle 3"/>
          <p:cNvSpPr>
            <a:spLocks noGrp="1" noChangeArrowheads="1"/>
          </p:cNvSpPr>
          <p:nvPr>
            <p:ph idx="1"/>
          </p:nvPr>
        </p:nvSpPr>
        <p:spPr/>
        <p:txBody>
          <a:bodyPr>
            <a:normAutofit/>
          </a:bodyPr>
          <a:lstStyle/>
          <a:p>
            <a:pPr eaLnBrk="1" fontAlgn="base" hangingPunct="1">
              <a:lnSpc>
                <a:spcPct val="120000"/>
              </a:lnSpc>
              <a:defRPr/>
            </a:pPr>
            <a:r>
              <a:rPr lang="zh-CN" altLang="en-US" sz="2855" b="1" strike="noStrike" noProof="1">
                <a:solidFill>
                  <a:schemeClr val="tx2"/>
                </a:solidFill>
              </a:rPr>
              <a:t>如果架子上有很多书，我们通常需要做两个动作：</a:t>
            </a:r>
            <a:r>
              <a:rPr lang="zh-CN" altLang="en-US" sz="2855" b="1" strike="noStrike" noProof="1">
                <a:solidFill>
                  <a:srgbClr val="FF0000"/>
                </a:solidFill>
              </a:rPr>
              <a:t>插入</a:t>
            </a:r>
            <a:r>
              <a:rPr lang="zh-CN" altLang="en-US" sz="2855" b="1" strike="noStrike" noProof="1">
                <a:solidFill>
                  <a:schemeClr val="tx2"/>
                </a:solidFill>
              </a:rPr>
              <a:t>新书，</a:t>
            </a:r>
            <a:r>
              <a:rPr lang="zh-CN" altLang="en-US" sz="2855" b="1" strike="noStrike" noProof="1">
                <a:solidFill>
                  <a:srgbClr val="FF0000"/>
                </a:solidFill>
              </a:rPr>
              <a:t>检索</a:t>
            </a:r>
            <a:r>
              <a:rPr lang="zh-CN" altLang="en-US" sz="2855" b="1" strike="noStrike" noProof="1">
                <a:solidFill>
                  <a:schemeClr val="tx2"/>
                </a:solidFill>
              </a:rPr>
              <a:t>某个特定的书</a:t>
            </a:r>
            <a:r>
              <a:rPr lang="en-US" altLang="zh-CN" sz="2855" b="1" strike="noStrike" noProof="1">
                <a:solidFill>
                  <a:schemeClr val="tx2"/>
                </a:solidFill>
              </a:rPr>
              <a:t>. </a:t>
            </a:r>
            <a:endParaRPr lang="en-US" altLang="zh-CN" sz="2855" b="1" strike="noStrike" noProof="1">
              <a:solidFill>
                <a:schemeClr val="tx2"/>
              </a:solidFill>
            </a:endParaRPr>
          </a:p>
          <a:p>
            <a:pPr eaLnBrk="1" fontAlgn="base" hangingPunct="1">
              <a:lnSpc>
                <a:spcPct val="120000"/>
              </a:lnSpc>
              <a:defRPr/>
            </a:pPr>
            <a:r>
              <a:rPr lang="zh-CN" altLang="en-US" sz="2855" b="1" strike="noStrike" noProof="1">
                <a:solidFill>
                  <a:schemeClr val="tx2"/>
                </a:solidFill>
              </a:rPr>
              <a:t>如何安排书</a:t>
            </a:r>
            <a:r>
              <a:rPr lang="zh-CN" altLang="en-US" sz="2855" b="1" noProof="1">
                <a:solidFill>
                  <a:schemeClr val="tx2"/>
                </a:solidFill>
              </a:rPr>
              <a:t>使两种操作速度快</a:t>
            </a:r>
            <a:r>
              <a:rPr lang="en-US" altLang="zh-CN" sz="2855" b="1" strike="noStrike" noProof="1">
                <a:solidFill>
                  <a:schemeClr val="tx2"/>
                </a:solidFill>
              </a:rPr>
              <a:t>?</a:t>
            </a:r>
            <a:endParaRPr lang="en-US" altLang="zh-CN" sz="2855" b="1" strike="noStrike" noProof="1">
              <a:solidFill>
                <a:schemeClr val="tx2"/>
              </a:solidFill>
            </a:endParaRPr>
          </a:p>
          <a:p>
            <a:pPr lvl="1" eaLnBrk="1" fontAlgn="base" hangingPunct="1">
              <a:lnSpc>
                <a:spcPct val="120000"/>
              </a:lnSpc>
              <a:defRPr/>
            </a:pPr>
            <a:r>
              <a:rPr lang="zh-CN" altLang="en-US" sz="2475" b="1" strike="noStrike" noProof="1">
                <a:solidFill>
                  <a:schemeClr val="tx2"/>
                </a:solidFill>
              </a:rPr>
              <a:t>方法</a:t>
            </a:r>
            <a:r>
              <a:rPr lang="en-US" altLang="zh-CN" sz="2475" b="1" strike="noStrike" noProof="1">
                <a:solidFill>
                  <a:schemeClr val="tx2"/>
                </a:solidFill>
              </a:rPr>
              <a:t>1:  </a:t>
            </a:r>
            <a:r>
              <a:rPr lang="zh-CN" altLang="en-US" sz="2475" b="1" strike="noStrike" noProof="1">
                <a:solidFill>
                  <a:schemeClr val="tx2"/>
                </a:solidFill>
              </a:rPr>
              <a:t>随机安排</a:t>
            </a:r>
            <a:endParaRPr lang="zh-CN" altLang="en-US" sz="2475" b="1" strike="noStrike" noProof="1">
              <a:solidFill>
                <a:schemeClr val="tx2"/>
              </a:solidFill>
            </a:endParaRPr>
          </a:p>
          <a:p>
            <a:pPr lvl="1" eaLnBrk="1" fontAlgn="base" hangingPunct="1">
              <a:lnSpc>
                <a:spcPct val="120000"/>
              </a:lnSpc>
              <a:defRPr/>
            </a:pPr>
            <a:r>
              <a:rPr lang="zh-CN" altLang="en-US" sz="2095" b="1" strike="noStrike" noProof="1">
                <a:solidFill>
                  <a:schemeClr val="tx2"/>
                </a:solidFill>
              </a:rPr>
              <a:t>插入</a:t>
            </a:r>
            <a:r>
              <a:rPr lang="en-US" altLang="zh-CN" sz="2095" b="1" strike="noStrike" noProof="1">
                <a:solidFill>
                  <a:schemeClr val="tx2"/>
                </a:solidFill>
              </a:rPr>
              <a:t> ----</a:t>
            </a:r>
            <a:r>
              <a:rPr lang="zh-CN" altLang="en-US" sz="2095" b="1" strike="noStrike" noProof="1">
                <a:solidFill>
                  <a:schemeClr val="tx2"/>
                </a:solidFill>
              </a:rPr>
              <a:t>将书放在尾部</a:t>
            </a:r>
            <a:r>
              <a:rPr lang="en-US" altLang="zh-CN" sz="2095" b="1" strike="noStrike" noProof="1">
                <a:solidFill>
                  <a:schemeClr val="tx2"/>
                </a:solidFill>
              </a:rPr>
              <a:t>.</a:t>
            </a:r>
            <a:endParaRPr lang="en-US" altLang="zh-CN" sz="2095" b="1" strike="noStrike" noProof="1">
              <a:solidFill>
                <a:schemeClr val="tx2"/>
              </a:solidFill>
            </a:endParaRPr>
          </a:p>
          <a:p>
            <a:pPr lvl="2" eaLnBrk="1" fontAlgn="base" hangingPunct="1">
              <a:lnSpc>
                <a:spcPct val="120000"/>
              </a:lnSpc>
              <a:defRPr/>
            </a:pPr>
            <a:r>
              <a:rPr lang="zh-CN" altLang="en-US" sz="2095" b="1" strike="noStrike" noProof="1">
                <a:solidFill>
                  <a:schemeClr val="tx2"/>
                </a:solidFill>
              </a:rPr>
              <a:t>查找</a:t>
            </a:r>
            <a:r>
              <a:rPr lang="en-US" altLang="zh-CN" sz="2095" b="1" strike="noStrike" noProof="1">
                <a:solidFill>
                  <a:schemeClr val="tx2"/>
                </a:solidFill>
              </a:rPr>
              <a:t>----!#%$^</a:t>
            </a:r>
            <a:endParaRPr lang="en-US" altLang="zh-CN" sz="2095" b="1" strike="noStrike" noProof="1">
              <a:solidFill>
                <a:schemeClr val="tx2"/>
              </a:solidFill>
            </a:endParaRPr>
          </a:p>
          <a:p>
            <a:pPr lvl="3" eaLnBrk="1" fontAlgn="base" hangingPunct="1">
              <a:lnSpc>
                <a:spcPct val="120000"/>
              </a:lnSpc>
              <a:defRPr/>
            </a:pPr>
            <a:endParaRPr lang="en-US" altLang="zh-CN" sz="1715" b="1" strike="noStrike" noProof="1">
              <a:solidFill>
                <a:schemeClr val="tx2"/>
              </a:solidFill>
            </a:endParaRPr>
          </a:p>
          <a:p>
            <a:pPr lvl="4" eaLnBrk="1" fontAlgn="base" hangingPunct="1">
              <a:lnSpc>
                <a:spcPct val="120000"/>
              </a:lnSpc>
              <a:defRPr/>
            </a:pPr>
            <a:endParaRPr lang="en-US" altLang="zh-CN" sz="1335" b="1" strike="noStrike" noProof="1">
              <a:solidFill>
                <a:schemeClr val="tx2"/>
              </a:solidFill>
            </a:endParaRPr>
          </a:p>
          <a:p>
            <a:pPr marL="2122805" lvl="5" indent="0" fontAlgn="auto">
              <a:lnSpc>
                <a:spcPct val="120000"/>
              </a:lnSpc>
              <a:buNone/>
              <a:defRPr/>
            </a:pPr>
            <a:endParaRPr lang="en-US" altLang="zh-CN" sz="1715" b="1" strike="noStrike" noProof="1">
              <a:solidFill>
                <a:schemeClr val="tx2"/>
              </a:solidFill>
            </a:endParaRPr>
          </a:p>
          <a:p>
            <a:pPr marL="0" indent="0" fontAlgn="base">
              <a:lnSpc>
                <a:spcPct val="110000"/>
              </a:lnSpc>
              <a:buNone/>
              <a:defRPr/>
            </a:pPr>
            <a:endParaRPr lang="en-US" altLang="zh-CN" sz="2855" b="1" strike="noStrike" noProof="1">
              <a:solidFill>
                <a:schemeClr val="tx2"/>
              </a:solidFill>
            </a:endParaRPr>
          </a:p>
        </p:txBody>
      </p:sp>
      <p:sp>
        <p:nvSpPr>
          <p:cNvPr id="777218" name="Rectangle 2"/>
          <p:cNvSpPr>
            <a:spLocks noGrp="1" noChangeArrowheads="1"/>
          </p:cNvSpPr>
          <p:nvPr>
            <p:ph type="title"/>
          </p:nvPr>
        </p:nvSpPr>
        <p:spPr/>
        <p:txBody>
          <a:bodyPr/>
          <a:lstStyle/>
          <a:p>
            <a:pPr algn="ctr" eaLnBrk="1" fontAlgn="base" hangingPunct="1">
              <a:defRPr/>
            </a:pPr>
            <a:r>
              <a:rPr lang="en-US" altLang="zh-CN" sz="3810" strike="noStrike" noProof="1">
                <a:effectLst>
                  <a:outerShdw blurRad="38100" dist="38100" dir="2700000" algn="tl">
                    <a:srgbClr val="C0C0C0"/>
                  </a:outerShdw>
                </a:effectLst>
                <a:latin typeface="+mn-lt"/>
              </a:rPr>
              <a:t> </a:t>
            </a:r>
            <a:r>
              <a:rPr lang="zh-CN" altLang="en-US" sz="3810" strike="noStrike" noProof="1">
                <a:effectLst>
                  <a:outerShdw blurRad="38100" dist="38100" dir="2700000" algn="tl">
                    <a:srgbClr val="C0C0C0"/>
                  </a:outerShdw>
                </a:effectLst>
                <a:latin typeface="Times New Roman" panose="02020603050405020304" pitchFamily="18" charset="0"/>
                <a:sym typeface="+mn-ea"/>
              </a:rPr>
              <a:t>例三</a:t>
            </a:r>
            <a:r>
              <a:rPr lang="en-US" altLang="zh-CN" sz="3810" strike="noStrike" noProof="1">
                <a:sym typeface="+mn-ea"/>
              </a:rPr>
              <a:t> </a:t>
            </a:r>
            <a:r>
              <a:rPr lang="zh-CN" altLang="en-US" sz="3810" strike="noStrike" noProof="1">
                <a:sym typeface="+mn-ea"/>
              </a:rPr>
              <a:t>书的摆放</a:t>
            </a:r>
            <a:endParaRPr lang="zh-CN" altLang="en-US" sz="3810" strike="noStrike" noProof="1">
              <a:effectLst>
                <a:outerShdw blurRad="38100" dist="38100" dir="2700000" algn="tl">
                  <a:srgbClr val="C0C0C0"/>
                </a:outerShdw>
              </a:effectLst>
              <a:latin typeface="+mn-lt"/>
            </a:endParaRPr>
          </a:p>
        </p:txBody>
      </p:sp>
      <p:sp>
        <p:nvSpPr>
          <p:cNvPr id="8" name="Date Placeholder 3"/>
          <p:cNvSpPr>
            <a:spLocks noGrp="1"/>
          </p:cNvSpPr>
          <p:nvPr>
            <p:ph type="dt" sz="half" idx="10"/>
          </p:nvPr>
        </p:nvSpPr>
        <p:spPr>
          <a:xfrm>
            <a:off x="323528" y="6400482"/>
            <a:ext cx="2520280" cy="365760"/>
          </a:xfrm>
        </p:spPr>
        <p:txBody>
          <a:bodyPr wrap="square" lIns="91440" tIns="45720" rIns="91440" bIns="45720" anchor="t"/>
          <a:lstStyle>
            <a:lvl1pPr marL="0" lvl="0" indent="0" algn="l" defTabSz="914400" rtl="0" eaLnBrk="0" fontAlgn="base" latinLnBrk="0" hangingPunct="0">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indent="0">
              <a:spcBef>
                <a:spcPct val="50000"/>
              </a:spcBef>
            </a:pPr>
            <a:r>
              <a:rPr lang="en-US" altLang="zh-CN" sz="1000" dirty="0"/>
              <a:t>Data Structures and algorithms</a:t>
            </a:r>
            <a:endParaRPr lang="zh-CN" altLang="en-US" sz="1000" dirty="0"/>
          </a:p>
        </p:txBody>
      </p:sp>
      <p:sp>
        <p:nvSpPr>
          <p:cNvPr id="9" name="Footer Placeholder 4"/>
          <p:cNvSpPr>
            <a:spLocks noGrp="1"/>
          </p:cNvSpPr>
          <p:nvPr>
            <p:ph type="ftr" sz="quarter" idx="11"/>
          </p:nvPr>
        </p:nvSpPr>
        <p:spPr>
          <a:xfrm>
            <a:off x="3570447" y="6408579"/>
            <a:ext cx="2801753" cy="365125"/>
          </a:xfrm>
        </p:spPr>
        <p:txBody>
          <a:bodyPr wrap="square" lIns="91440" tIns="45720" rIns="91440" bIns="45720" anchor="t"/>
          <a:lstStyle>
            <a:lvl1pPr marL="0" lvl="0" indent="0" algn="l" defTabSz="914400" rtl="0" eaLnBrk="0" fontAlgn="base" latinLnBrk="0" hangingPunct="0">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indent="0">
              <a:spcBef>
                <a:spcPct val="50000"/>
              </a:spcBef>
            </a:pPr>
            <a:r>
              <a:rPr lang="zh-CN" altLang="en-US" sz="1000" dirty="0"/>
              <a:t>Software College Northeastern University</a:t>
            </a:r>
            <a:endParaRPr lang="zh-CN" altLang="en-US" sz="1000" dirty="0"/>
          </a:p>
        </p:txBody>
      </p:sp>
      <p:sp>
        <p:nvSpPr>
          <p:cNvPr id="10" name="Slide Number Placeholder 5"/>
          <p:cNvSpPr>
            <a:spLocks noGrp="1"/>
          </p:cNvSpPr>
          <p:nvPr>
            <p:ph type="sldNum" sz="quarter" idx="12"/>
          </p:nvPr>
        </p:nvSpPr>
        <p:spPr>
          <a:xfrm>
            <a:off x="8084185" y="6407785"/>
            <a:ext cx="929005"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spcBef>
                <a:spcPct val="20000"/>
              </a:spcBef>
              <a:buClr>
                <a:schemeClr val="accent2"/>
              </a:buClr>
              <a:buFont typeface="Monotype Sorts" pitchFamily="2" charset="2"/>
              <a:buChar char="z"/>
              <a:defRPr sz="3050">
                <a:solidFill>
                  <a:schemeClr val="tx1"/>
                </a:solidFill>
                <a:latin typeface="Tahoma" panose="020B0604030504040204" pitchFamily="34" charset="0"/>
                <a:ea typeface="宋体" panose="02010600030101010101" pitchFamily="2" charset="-122"/>
              </a:defRPr>
            </a:lvl1pPr>
            <a:lvl2pPr marL="707390" indent="-272415">
              <a:spcBef>
                <a:spcPct val="20000"/>
              </a:spcBef>
              <a:buClr>
                <a:schemeClr val="accent2"/>
              </a:buClr>
              <a:buFont typeface="Monotype Sorts" pitchFamily="2" charset="2"/>
              <a:buChar char="y"/>
              <a:defRPr sz="2665">
                <a:solidFill>
                  <a:schemeClr val="tx1"/>
                </a:solidFill>
                <a:latin typeface="Tahoma" panose="020B0604030504040204" pitchFamily="34" charset="0"/>
                <a:ea typeface="宋体" panose="02010600030101010101" pitchFamily="2" charset="-122"/>
              </a:defRPr>
            </a:lvl2pPr>
            <a:lvl3pPr marL="1088390" indent="-217805">
              <a:spcBef>
                <a:spcPct val="20000"/>
              </a:spcBef>
              <a:buClr>
                <a:schemeClr val="accent2"/>
              </a:buClr>
              <a:buFont typeface="Monotype Sorts" pitchFamily="2" charset="2"/>
              <a:buChar char="x"/>
              <a:defRPr sz="2285">
                <a:solidFill>
                  <a:schemeClr val="tx1"/>
                </a:solidFill>
                <a:latin typeface="Tahoma" panose="020B0604030504040204" pitchFamily="34" charset="0"/>
                <a:ea typeface="宋体" panose="02010600030101010101" pitchFamily="2" charset="-122"/>
              </a:defRPr>
            </a:lvl3pPr>
            <a:lvl4pPr marL="1524000" indent="-217805">
              <a:spcBef>
                <a:spcPct val="20000"/>
              </a:spcBef>
              <a:buClr>
                <a:schemeClr val="accent2"/>
              </a:buClr>
              <a:buChar char="•"/>
              <a:defRPr sz="1905">
                <a:solidFill>
                  <a:schemeClr val="tx1"/>
                </a:solidFill>
                <a:latin typeface="Tahoma" panose="020B0604030504040204" pitchFamily="34" charset="0"/>
                <a:ea typeface="宋体" panose="02010600030101010101" pitchFamily="2" charset="-122"/>
              </a:defRPr>
            </a:lvl4pPr>
            <a:lvl5pPr marL="1959610" indent="-217805">
              <a:spcBef>
                <a:spcPct val="20000"/>
              </a:spcBef>
              <a:buClr>
                <a:schemeClr val="accent2"/>
              </a:buClr>
              <a:buChar char="–"/>
              <a:defRPr sz="1905">
                <a:solidFill>
                  <a:schemeClr val="tx1"/>
                </a:solidFill>
                <a:latin typeface="Tahoma" panose="020B0604030504040204" pitchFamily="34" charset="0"/>
                <a:ea typeface="宋体" panose="02010600030101010101" pitchFamily="2" charset="-122"/>
              </a:defRPr>
            </a:lvl5pPr>
            <a:lvl6pPr marL="2395220" indent="-217805" eaLnBrk="0" fontAlgn="base" hangingPunct="0">
              <a:spcBef>
                <a:spcPct val="20000"/>
              </a:spcBef>
              <a:spcAft>
                <a:spcPct val="0"/>
              </a:spcAft>
              <a:buClr>
                <a:schemeClr val="accent2"/>
              </a:buClr>
              <a:buChar char="–"/>
              <a:defRPr sz="1905">
                <a:solidFill>
                  <a:schemeClr val="tx1"/>
                </a:solidFill>
                <a:latin typeface="Tahoma" panose="020B0604030504040204" pitchFamily="34" charset="0"/>
                <a:ea typeface="宋体" panose="02010600030101010101" pitchFamily="2" charset="-122"/>
              </a:defRPr>
            </a:lvl6pPr>
            <a:lvl7pPr marL="2830195" indent="-217805" eaLnBrk="0" fontAlgn="base" hangingPunct="0">
              <a:spcBef>
                <a:spcPct val="20000"/>
              </a:spcBef>
              <a:spcAft>
                <a:spcPct val="0"/>
              </a:spcAft>
              <a:buClr>
                <a:schemeClr val="accent2"/>
              </a:buClr>
              <a:buChar char="–"/>
              <a:defRPr sz="1905">
                <a:solidFill>
                  <a:schemeClr val="tx1"/>
                </a:solidFill>
                <a:latin typeface="Tahoma" panose="020B0604030504040204" pitchFamily="34" charset="0"/>
                <a:ea typeface="宋体" panose="02010600030101010101" pitchFamily="2" charset="-122"/>
              </a:defRPr>
            </a:lvl7pPr>
            <a:lvl8pPr marL="3265805" indent="-217805" eaLnBrk="0" fontAlgn="base" hangingPunct="0">
              <a:spcBef>
                <a:spcPct val="20000"/>
              </a:spcBef>
              <a:spcAft>
                <a:spcPct val="0"/>
              </a:spcAft>
              <a:buClr>
                <a:schemeClr val="accent2"/>
              </a:buClr>
              <a:buChar char="–"/>
              <a:defRPr sz="1905">
                <a:solidFill>
                  <a:schemeClr val="tx1"/>
                </a:solidFill>
                <a:latin typeface="Tahoma" panose="020B0604030504040204" pitchFamily="34" charset="0"/>
                <a:ea typeface="宋体" panose="02010600030101010101" pitchFamily="2" charset="-122"/>
              </a:defRPr>
            </a:lvl8pPr>
            <a:lvl9pPr marL="3701415" indent="-217805" eaLnBrk="0" fontAlgn="base" hangingPunct="0">
              <a:spcBef>
                <a:spcPct val="20000"/>
              </a:spcBef>
              <a:spcAft>
                <a:spcPct val="0"/>
              </a:spcAft>
              <a:buClr>
                <a:schemeClr val="accent2"/>
              </a:buClr>
              <a:buChar char="–"/>
              <a:defRPr sz="1905">
                <a:solidFill>
                  <a:schemeClr val="tx1"/>
                </a:solidFill>
                <a:latin typeface="Tahoma" panose="020B0604030504040204" pitchFamily="34" charset="0"/>
                <a:ea typeface="宋体" panose="02010600030101010101" pitchFamily="2" charset="-122"/>
              </a:defRPr>
            </a:lvl9pPr>
          </a:lstStyle>
          <a:p>
            <a:pPr fontAlgn="base">
              <a:spcBef>
                <a:spcPct val="50000"/>
              </a:spcBef>
              <a:buClrTx/>
              <a:buFontTx/>
              <a:buNone/>
            </a:pPr>
            <a:fld id="{6DC0C477-4889-4743-8FDB-A95409270352}" type="slidenum">
              <a:rPr lang="zh-CN" altLang="en-US" sz="1000" strike="noStrike" noProof="1">
                <a:latin typeface="Comic Sans MS" panose="030F0702030302020204" pitchFamily="66" charset="0"/>
                <a:ea typeface="宋体" panose="02010600030101010101" pitchFamily="2" charset="-122"/>
                <a:cs typeface="+mn-cs"/>
              </a:rPr>
            </a:fld>
            <a:endParaRPr lang="zh-CN" altLang="en-US" sz="1000" strike="noStrike" noProof="1">
              <a:latin typeface="Comic Sans MS" panose="030F0702030302020204" pitchFamily="66" charset="0"/>
              <a:ea typeface="宋体" panose="02010600030101010101" pitchFamily="2" charset="-122"/>
              <a:cs typeface="+mn-cs"/>
            </a:endParaRPr>
          </a:p>
        </p:txBody>
      </p:sp>
      <p:sp>
        <p:nvSpPr>
          <p:cNvPr id="11" name="灯片编号占位符 5"/>
          <p:cNvSpPr txBox="1"/>
          <p:nvPr/>
        </p:nvSpPr>
        <p:spPr>
          <a:xfrm>
            <a:off x="8084185" y="6407785"/>
            <a:ext cx="929005" cy="36512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defPPr>
              <a:defRPr lang="zh-CN"/>
            </a:defPPr>
            <a:lvl1pPr marL="0" algn="r" defTabSz="914400" rtl="0" eaLnBrk="1" latinLnBrk="0" hangingPunct="1">
              <a:spcBef>
                <a:spcPct val="20000"/>
              </a:spcBef>
              <a:buClr>
                <a:schemeClr val="accent2"/>
              </a:buClr>
              <a:buFont typeface="Monotype Sorts" pitchFamily="2" charset="2"/>
              <a:buChar char="z"/>
              <a:defRPr kumimoji="0" sz="3050" b="0" kern="1200">
                <a:solidFill>
                  <a:schemeClr val="tx1"/>
                </a:solidFill>
                <a:latin typeface="Tahoma" panose="020B0604030504040204" pitchFamily="34" charset="0"/>
                <a:ea typeface="宋体" panose="02010600030101010101" pitchFamily="2" charset="-122"/>
                <a:cs typeface="+mn-cs"/>
              </a:defRPr>
            </a:lvl1pPr>
            <a:lvl2pPr marL="707390" indent="-272415" algn="l" defTabSz="914400" rtl="0" eaLnBrk="1" latinLnBrk="0" hangingPunct="1">
              <a:spcBef>
                <a:spcPct val="20000"/>
              </a:spcBef>
              <a:buClr>
                <a:schemeClr val="accent2"/>
              </a:buClr>
              <a:buFont typeface="Monotype Sorts" pitchFamily="2" charset="2"/>
              <a:buChar char="y"/>
              <a:defRPr sz="2665" kern="1200">
                <a:solidFill>
                  <a:schemeClr val="tx1"/>
                </a:solidFill>
                <a:latin typeface="Tahoma" panose="020B0604030504040204" pitchFamily="34" charset="0"/>
                <a:ea typeface="宋体" panose="02010600030101010101" pitchFamily="2" charset="-122"/>
                <a:cs typeface="+mn-cs"/>
              </a:defRPr>
            </a:lvl2pPr>
            <a:lvl3pPr marL="1088390" indent="-217805" algn="l" defTabSz="914400" rtl="0" eaLnBrk="1" latinLnBrk="0" hangingPunct="1">
              <a:spcBef>
                <a:spcPct val="20000"/>
              </a:spcBef>
              <a:buClr>
                <a:schemeClr val="accent2"/>
              </a:buClr>
              <a:buFont typeface="Monotype Sorts" pitchFamily="2" charset="2"/>
              <a:buChar char="x"/>
              <a:defRPr sz="2285" kern="1200">
                <a:solidFill>
                  <a:schemeClr val="tx1"/>
                </a:solidFill>
                <a:latin typeface="Tahoma" panose="020B0604030504040204" pitchFamily="34" charset="0"/>
                <a:ea typeface="宋体" panose="02010600030101010101" pitchFamily="2" charset="-122"/>
                <a:cs typeface="+mn-cs"/>
              </a:defRPr>
            </a:lvl3pPr>
            <a:lvl4pPr marL="1524000" indent="-217805" algn="l" defTabSz="914400" rtl="0" eaLnBrk="1" latinLnBrk="0" hangingPunct="1">
              <a:spcBef>
                <a:spcPct val="20000"/>
              </a:spcBef>
              <a:buClr>
                <a:schemeClr val="accent2"/>
              </a:buClr>
              <a:buChar char="•"/>
              <a:defRPr sz="1905" kern="1200">
                <a:solidFill>
                  <a:schemeClr val="tx1"/>
                </a:solidFill>
                <a:latin typeface="Tahoma" panose="020B0604030504040204" pitchFamily="34" charset="0"/>
                <a:ea typeface="宋体" panose="02010600030101010101" pitchFamily="2" charset="-122"/>
                <a:cs typeface="+mn-cs"/>
              </a:defRPr>
            </a:lvl4pPr>
            <a:lvl5pPr marL="1959610" indent="-217805" algn="l" defTabSz="914400" rtl="0" eaLnBrk="1" latinLnBrk="0" hangingPunct="1">
              <a:spcBef>
                <a:spcPct val="20000"/>
              </a:spcBef>
              <a:buClr>
                <a:schemeClr val="accent2"/>
              </a:buClr>
              <a:buChar char="–"/>
              <a:defRPr sz="1905" kern="1200">
                <a:solidFill>
                  <a:schemeClr val="tx1"/>
                </a:solidFill>
                <a:latin typeface="Tahoma" panose="020B0604030504040204" pitchFamily="34" charset="0"/>
                <a:ea typeface="宋体" panose="02010600030101010101" pitchFamily="2" charset="-122"/>
                <a:cs typeface="+mn-cs"/>
              </a:defRPr>
            </a:lvl5pPr>
            <a:lvl6pPr marL="2395220" indent="-217805" algn="l" defTabSz="914400" rtl="0" eaLnBrk="0" fontAlgn="base" latinLnBrk="0" hangingPunct="0">
              <a:spcBef>
                <a:spcPct val="20000"/>
              </a:spcBef>
              <a:spcAft>
                <a:spcPct val="0"/>
              </a:spcAft>
              <a:buClr>
                <a:schemeClr val="accent2"/>
              </a:buClr>
              <a:buChar char="–"/>
              <a:defRPr sz="1905" kern="1200">
                <a:solidFill>
                  <a:schemeClr val="tx1"/>
                </a:solidFill>
                <a:latin typeface="Tahoma" panose="020B0604030504040204" pitchFamily="34" charset="0"/>
                <a:ea typeface="宋体" panose="02010600030101010101" pitchFamily="2" charset="-122"/>
                <a:cs typeface="+mn-cs"/>
              </a:defRPr>
            </a:lvl6pPr>
            <a:lvl7pPr marL="2830195" indent="-217805" algn="l" defTabSz="914400" rtl="0" eaLnBrk="0" fontAlgn="base" latinLnBrk="0" hangingPunct="0">
              <a:spcBef>
                <a:spcPct val="20000"/>
              </a:spcBef>
              <a:spcAft>
                <a:spcPct val="0"/>
              </a:spcAft>
              <a:buClr>
                <a:schemeClr val="accent2"/>
              </a:buClr>
              <a:buChar char="–"/>
              <a:defRPr sz="1905" kern="1200">
                <a:solidFill>
                  <a:schemeClr val="tx1"/>
                </a:solidFill>
                <a:latin typeface="Tahoma" panose="020B0604030504040204" pitchFamily="34" charset="0"/>
                <a:ea typeface="宋体" panose="02010600030101010101" pitchFamily="2" charset="-122"/>
                <a:cs typeface="+mn-cs"/>
              </a:defRPr>
            </a:lvl7pPr>
            <a:lvl8pPr marL="3265805" indent="-217805" algn="l" defTabSz="914400" rtl="0" eaLnBrk="0" fontAlgn="base" latinLnBrk="0" hangingPunct="0">
              <a:spcBef>
                <a:spcPct val="20000"/>
              </a:spcBef>
              <a:spcAft>
                <a:spcPct val="0"/>
              </a:spcAft>
              <a:buClr>
                <a:schemeClr val="accent2"/>
              </a:buClr>
              <a:buChar char="–"/>
              <a:defRPr sz="1905" kern="1200">
                <a:solidFill>
                  <a:schemeClr val="tx1"/>
                </a:solidFill>
                <a:latin typeface="Tahoma" panose="020B0604030504040204" pitchFamily="34" charset="0"/>
                <a:ea typeface="宋体" panose="02010600030101010101" pitchFamily="2" charset="-122"/>
                <a:cs typeface="+mn-cs"/>
              </a:defRPr>
            </a:lvl8pPr>
            <a:lvl9pPr marL="3701415" indent="-217805" algn="l" defTabSz="914400" rtl="0" eaLnBrk="0" fontAlgn="base" latinLnBrk="0" hangingPunct="0">
              <a:spcBef>
                <a:spcPct val="20000"/>
              </a:spcBef>
              <a:spcAft>
                <a:spcPct val="0"/>
              </a:spcAft>
              <a:buClr>
                <a:schemeClr val="accent2"/>
              </a:buClr>
              <a:buChar char="–"/>
              <a:defRPr sz="1905" kern="1200">
                <a:solidFill>
                  <a:schemeClr val="tx1"/>
                </a:solidFill>
                <a:latin typeface="Tahoma" panose="020B0604030504040204" pitchFamily="34" charset="0"/>
                <a:ea typeface="宋体" panose="02010600030101010101" pitchFamily="2" charset="-122"/>
                <a:cs typeface="+mn-cs"/>
              </a:defRPr>
            </a:lvl9pPr>
          </a:lstStyle>
          <a:p>
            <a:pPr fontAlgn="base">
              <a:spcBef>
                <a:spcPct val="50000"/>
              </a:spcBef>
              <a:buClrTx/>
              <a:buFontTx/>
              <a:buNone/>
            </a:pPr>
            <a:fld id="{A3D5724E-4216-4A52-BBAE-A24BB324DA39}" type="slidenum">
              <a:rPr lang="zh-CN" altLang="en-US" sz="1335" noProof="1" smtClean="0">
                <a:solidFill>
                  <a:schemeClr val="bg2"/>
                </a:solidFill>
                <a:latin typeface="Comic Sans MS" panose="030F0702030302020204" pitchFamily="66" charset="0"/>
              </a:rPr>
            </a:fld>
            <a:endParaRPr lang="en-US" altLang="zh-CN" sz="1335" noProof="1">
              <a:solidFill>
                <a:schemeClr val="bg2"/>
              </a:solidFill>
              <a:latin typeface="Comic Sans MS" panose="030F0702030302020204" pitchFamily="66" charset="0"/>
            </a:endParaRPr>
          </a:p>
        </p:txBody>
      </p:sp>
      <p:grpSp>
        <p:nvGrpSpPr>
          <p:cNvPr id="2" name="组合 1"/>
          <p:cNvGrpSpPr/>
          <p:nvPr/>
        </p:nvGrpSpPr>
        <p:grpSpPr>
          <a:xfrm>
            <a:off x="4743636" y="3595331"/>
            <a:ext cx="1484548" cy="1201821"/>
            <a:chOff x="4743636" y="3595331"/>
            <a:chExt cx="1484548" cy="1201821"/>
          </a:xfrm>
        </p:grpSpPr>
        <p:sp>
          <p:nvSpPr>
            <p:cNvPr id="12" name="矩形 11"/>
            <p:cNvSpPr/>
            <p:nvPr/>
          </p:nvSpPr>
          <p:spPr>
            <a:xfrm>
              <a:off x="4743636" y="3595331"/>
              <a:ext cx="216024" cy="120182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c</a:t>
              </a:r>
              <a:endParaRPr lang="zh-CN" altLang="en-US" dirty="0"/>
            </a:p>
          </p:txBody>
        </p:sp>
        <p:sp>
          <p:nvSpPr>
            <p:cNvPr id="13" name="矩形 12"/>
            <p:cNvSpPr/>
            <p:nvPr/>
          </p:nvSpPr>
          <p:spPr>
            <a:xfrm>
              <a:off x="5004048" y="3595331"/>
              <a:ext cx="216024" cy="1201821"/>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E</a:t>
              </a:r>
              <a:endParaRPr lang="zh-CN" altLang="en-US" dirty="0"/>
            </a:p>
          </p:txBody>
        </p:sp>
        <p:sp>
          <p:nvSpPr>
            <p:cNvPr id="14" name="矩形 13"/>
            <p:cNvSpPr/>
            <p:nvPr/>
          </p:nvSpPr>
          <p:spPr>
            <a:xfrm>
              <a:off x="5247692" y="3595331"/>
              <a:ext cx="216024" cy="1201821"/>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A</a:t>
              </a:r>
              <a:endParaRPr lang="zh-CN" altLang="en-US" dirty="0"/>
            </a:p>
          </p:txBody>
        </p:sp>
        <p:sp>
          <p:nvSpPr>
            <p:cNvPr id="15" name="矩形 14"/>
            <p:cNvSpPr/>
            <p:nvPr/>
          </p:nvSpPr>
          <p:spPr>
            <a:xfrm>
              <a:off x="5508104" y="3595331"/>
              <a:ext cx="216024" cy="1201821"/>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B</a:t>
              </a:r>
              <a:endParaRPr lang="zh-CN" altLang="en-US" dirty="0"/>
            </a:p>
          </p:txBody>
        </p:sp>
        <p:sp>
          <p:nvSpPr>
            <p:cNvPr id="16" name="矩形 15"/>
            <p:cNvSpPr/>
            <p:nvPr/>
          </p:nvSpPr>
          <p:spPr>
            <a:xfrm>
              <a:off x="5751748" y="3595331"/>
              <a:ext cx="216024" cy="1201821"/>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F</a:t>
              </a:r>
              <a:endParaRPr lang="zh-CN" altLang="en-US" dirty="0"/>
            </a:p>
          </p:txBody>
        </p:sp>
        <p:sp>
          <p:nvSpPr>
            <p:cNvPr id="17" name="矩形 16"/>
            <p:cNvSpPr/>
            <p:nvPr/>
          </p:nvSpPr>
          <p:spPr>
            <a:xfrm>
              <a:off x="6012160" y="3595331"/>
              <a:ext cx="216024" cy="1201821"/>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D</a:t>
              </a:r>
              <a:endParaRPr lang="zh-CN" altLang="en-US" dirty="0"/>
            </a:p>
          </p:txBody>
        </p:sp>
      </p:grpSp>
    </p:spTree>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70" name="Rectangle 3"/>
          <p:cNvSpPr>
            <a:spLocks noGrp="1" noChangeArrowheads="1"/>
          </p:cNvSpPr>
          <p:nvPr>
            <p:ph idx="1"/>
          </p:nvPr>
        </p:nvSpPr>
        <p:spPr/>
        <p:txBody>
          <a:bodyPr/>
          <a:lstStyle/>
          <a:p>
            <a:pPr eaLnBrk="1" fontAlgn="base" hangingPunct="1">
              <a:lnSpc>
                <a:spcPct val="120000"/>
              </a:lnSpc>
              <a:defRPr/>
            </a:pPr>
            <a:r>
              <a:rPr lang="zh-CN" altLang="en-US" sz="2855" b="1" strike="noStrike" noProof="1">
                <a:solidFill>
                  <a:schemeClr val="tx2"/>
                </a:solidFill>
              </a:rPr>
              <a:t>方法</a:t>
            </a:r>
            <a:r>
              <a:rPr lang="en-US" altLang="zh-CN" sz="2855" b="1" strike="noStrike" noProof="1">
                <a:solidFill>
                  <a:schemeClr val="tx2"/>
                </a:solidFill>
              </a:rPr>
              <a:t> 2: </a:t>
            </a:r>
            <a:r>
              <a:rPr lang="zh-CN" altLang="en-US" sz="2855" b="1" strike="noStrike" noProof="1">
                <a:solidFill>
                  <a:schemeClr val="tx2"/>
                </a:solidFill>
              </a:rPr>
              <a:t>按</a:t>
            </a:r>
            <a:r>
              <a:rPr lang="en-US" altLang="zh-CN" sz="2855" b="1" strike="noStrike" noProof="1">
                <a:solidFill>
                  <a:schemeClr val="tx2"/>
                </a:solidFill>
              </a:rPr>
              <a:t> </a:t>
            </a:r>
            <a:r>
              <a:rPr lang="zh-CN" altLang="en-US" sz="2855" b="1" strike="noStrike" noProof="1">
                <a:solidFill>
                  <a:schemeClr val="tx2"/>
                </a:solidFill>
              </a:rPr>
              <a:t>字母序</a:t>
            </a:r>
            <a:endParaRPr lang="en-US" altLang="zh-CN" sz="2855" b="1" strike="noStrike" noProof="1">
              <a:solidFill>
                <a:schemeClr val="tx2"/>
              </a:solidFill>
            </a:endParaRPr>
          </a:p>
          <a:p>
            <a:pPr eaLnBrk="1" fontAlgn="base" hangingPunct="1">
              <a:lnSpc>
                <a:spcPct val="120000"/>
              </a:lnSpc>
              <a:defRPr/>
            </a:pPr>
            <a:r>
              <a:rPr lang="zh-CN" altLang="en-US" sz="2855" b="1" strike="noStrike" noProof="1">
                <a:solidFill>
                  <a:schemeClr val="tx2"/>
                </a:solidFill>
              </a:rPr>
              <a:t>插入</a:t>
            </a:r>
            <a:r>
              <a:rPr lang="en-US" altLang="zh-CN" sz="2855" b="1" strike="noStrike" noProof="1">
                <a:solidFill>
                  <a:schemeClr val="tx2"/>
                </a:solidFill>
              </a:rPr>
              <a:t>---</a:t>
            </a:r>
            <a:r>
              <a:rPr lang="zh-CN" altLang="en-US" sz="2855" b="1" strike="noStrike" noProof="1">
                <a:solidFill>
                  <a:schemeClr val="tx2"/>
                </a:solidFill>
              </a:rPr>
              <a:t>移动后面的书</a:t>
            </a:r>
            <a:r>
              <a:rPr lang="en-US" altLang="zh-CN" sz="2855" b="1" strike="noStrike" noProof="1">
                <a:solidFill>
                  <a:schemeClr val="tx2"/>
                </a:solidFill>
              </a:rPr>
              <a:t>.</a:t>
            </a:r>
            <a:endParaRPr lang="en-US" altLang="zh-CN" sz="2855" b="1" strike="noStrike" noProof="1">
              <a:solidFill>
                <a:schemeClr val="tx2"/>
              </a:solidFill>
            </a:endParaRPr>
          </a:p>
          <a:p>
            <a:pPr eaLnBrk="1" fontAlgn="base" hangingPunct="1">
              <a:lnSpc>
                <a:spcPct val="120000"/>
              </a:lnSpc>
              <a:defRPr/>
            </a:pPr>
            <a:r>
              <a:rPr lang="zh-CN" altLang="en-US" sz="2855" b="1" strike="noStrike" noProof="1">
                <a:solidFill>
                  <a:schemeClr val="tx2"/>
                </a:solidFill>
              </a:rPr>
              <a:t>查找</a:t>
            </a:r>
            <a:endParaRPr lang="en-US" altLang="zh-CN" sz="2855" b="1" strike="noStrike" noProof="1">
              <a:solidFill>
                <a:schemeClr val="tx2"/>
              </a:solidFill>
            </a:endParaRPr>
          </a:p>
          <a:p>
            <a:pPr lvl="1" eaLnBrk="1" fontAlgn="base" hangingPunct="1">
              <a:lnSpc>
                <a:spcPct val="120000"/>
              </a:lnSpc>
              <a:defRPr/>
            </a:pPr>
            <a:r>
              <a:rPr lang="en-US" altLang="zh-CN" sz="2400" b="1" strike="noStrike" noProof="1">
                <a:solidFill>
                  <a:schemeClr val="tx2"/>
                </a:solidFill>
              </a:rPr>
              <a:t>Sequential </a:t>
            </a:r>
            <a:endParaRPr lang="en-US" altLang="zh-CN" sz="2400" b="1" strike="noStrike" noProof="1">
              <a:solidFill>
                <a:schemeClr val="tx2"/>
              </a:solidFill>
            </a:endParaRPr>
          </a:p>
          <a:p>
            <a:pPr lvl="1" eaLnBrk="1" fontAlgn="base" hangingPunct="1">
              <a:lnSpc>
                <a:spcPct val="120000"/>
              </a:lnSpc>
              <a:defRPr/>
            </a:pPr>
            <a:r>
              <a:rPr lang="en-US" altLang="zh-CN" sz="2400" b="1" strike="noStrike" noProof="1">
                <a:solidFill>
                  <a:schemeClr val="tx2"/>
                </a:solidFill>
              </a:rPr>
              <a:t>Binary search</a:t>
            </a:r>
            <a:endParaRPr lang="en-US" altLang="zh-CN" sz="2400" b="1" strike="noStrike" noProof="1">
              <a:solidFill>
                <a:schemeClr val="tx2"/>
              </a:solidFill>
            </a:endParaRPr>
          </a:p>
          <a:p>
            <a:pPr lvl="5" fontAlgn="auto">
              <a:lnSpc>
                <a:spcPct val="120000"/>
              </a:lnSpc>
              <a:defRPr/>
            </a:pPr>
            <a:endParaRPr lang="en-US" altLang="zh-CN" sz="2400" b="1" strike="noStrike" noProof="1">
              <a:solidFill>
                <a:schemeClr val="tx2"/>
              </a:solidFill>
            </a:endParaRPr>
          </a:p>
          <a:p>
            <a:pPr marL="2558415" lvl="6" indent="0" fontAlgn="auto">
              <a:lnSpc>
                <a:spcPct val="120000"/>
              </a:lnSpc>
              <a:buNone/>
              <a:defRPr/>
            </a:pPr>
            <a:endParaRPr lang="en-US" altLang="zh-CN" sz="1715" b="1" strike="noStrike" noProof="1">
              <a:solidFill>
                <a:schemeClr val="tx2"/>
              </a:solidFill>
            </a:endParaRPr>
          </a:p>
          <a:p>
            <a:pPr marL="0" indent="0" fontAlgn="base">
              <a:lnSpc>
                <a:spcPct val="110000"/>
              </a:lnSpc>
              <a:buNone/>
              <a:defRPr/>
            </a:pPr>
            <a:endParaRPr lang="en-US" altLang="zh-CN" sz="2855" b="1" strike="noStrike" noProof="1">
              <a:solidFill>
                <a:schemeClr val="tx2"/>
              </a:solidFill>
            </a:endParaRPr>
          </a:p>
        </p:txBody>
      </p:sp>
      <p:sp>
        <p:nvSpPr>
          <p:cNvPr id="777218" name="Rectangle 2"/>
          <p:cNvSpPr>
            <a:spLocks noGrp="1" noChangeArrowheads="1"/>
          </p:cNvSpPr>
          <p:nvPr>
            <p:ph type="title"/>
          </p:nvPr>
        </p:nvSpPr>
        <p:spPr/>
        <p:txBody>
          <a:bodyPr/>
          <a:lstStyle/>
          <a:p>
            <a:pPr algn="ctr" eaLnBrk="1" fontAlgn="base" hangingPunct="1">
              <a:defRPr/>
            </a:pPr>
            <a:r>
              <a:rPr lang="en-US" altLang="zh-CN" sz="3810" strike="noStrike" noProof="1">
                <a:effectLst>
                  <a:outerShdw blurRad="38100" dist="38100" dir="2700000" algn="tl">
                    <a:srgbClr val="C0C0C0"/>
                  </a:outerShdw>
                </a:effectLst>
                <a:latin typeface="+mn-lt"/>
              </a:rPr>
              <a:t> </a:t>
            </a:r>
            <a:r>
              <a:rPr lang="en-US" altLang="zh-CN" sz="3810" strike="noStrike" noProof="1">
                <a:effectLst>
                  <a:outerShdw blurRad="38100" dist="38100" dir="2700000" algn="tl">
                    <a:srgbClr val="C0C0C0"/>
                  </a:outerShdw>
                </a:effectLst>
                <a:latin typeface="+mn-lt"/>
                <a:sym typeface="+mn-ea"/>
              </a:rPr>
              <a:t> </a:t>
            </a:r>
            <a:r>
              <a:rPr lang="zh-CN" altLang="en-US" sz="3810" strike="noStrike" noProof="1">
                <a:effectLst>
                  <a:outerShdw blurRad="38100" dist="38100" dir="2700000" algn="tl">
                    <a:srgbClr val="C0C0C0"/>
                  </a:outerShdw>
                </a:effectLst>
                <a:latin typeface="Times New Roman" panose="02020603050405020304" pitchFamily="18" charset="0"/>
                <a:sym typeface="+mn-ea"/>
              </a:rPr>
              <a:t>例三</a:t>
            </a:r>
            <a:r>
              <a:rPr lang="en-US" altLang="zh-CN" sz="3810" strike="noStrike" noProof="1">
                <a:sym typeface="+mn-ea"/>
              </a:rPr>
              <a:t> </a:t>
            </a:r>
            <a:r>
              <a:rPr lang="zh-CN" altLang="en-US" sz="3810" strike="noStrike" noProof="1">
                <a:sym typeface="+mn-ea"/>
              </a:rPr>
              <a:t>书的摆放</a:t>
            </a:r>
            <a:endParaRPr lang="zh-CN" altLang="en-US" sz="3810" strike="noStrike" noProof="1">
              <a:effectLst>
                <a:outerShdw blurRad="38100" dist="38100" dir="2700000" algn="tl">
                  <a:srgbClr val="C0C0C0"/>
                </a:outerShdw>
              </a:effectLst>
              <a:latin typeface="+mn-lt"/>
            </a:endParaRPr>
          </a:p>
        </p:txBody>
      </p:sp>
      <p:sp>
        <p:nvSpPr>
          <p:cNvPr id="8" name="Date Placeholder 3"/>
          <p:cNvSpPr>
            <a:spLocks noGrp="1"/>
          </p:cNvSpPr>
          <p:nvPr>
            <p:ph type="dt" sz="half" idx="10"/>
          </p:nvPr>
        </p:nvSpPr>
        <p:spPr>
          <a:xfrm>
            <a:off x="323528" y="6400482"/>
            <a:ext cx="2520280" cy="365760"/>
          </a:xfrm>
        </p:spPr>
        <p:txBody>
          <a:bodyPr wrap="square" lIns="91440" tIns="45720" rIns="91440" bIns="45720" anchor="t"/>
          <a:lstStyle>
            <a:lvl1pPr marL="0" lvl="0" indent="0" algn="l" defTabSz="914400" rtl="0" eaLnBrk="0" fontAlgn="base" latinLnBrk="0" hangingPunct="0">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indent="0">
              <a:spcBef>
                <a:spcPct val="50000"/>
              </a:spcBef>
            </a:pPr>
            <a:r>
              <a:rPr lang="en-US" altLang="zh-CN" sz="1000" dirty="0"/>
              <a:t>Data Structures and algorithms</a:t>
            </a:r>
            <a:endParaRPr lang="zh-CN" altLang="en-US" sz="1000" dirty="0"/>
          </a:p>
        </p:txBody>
      </p:sp>
      <p:sp>
        <p:nvSpPr>
          <p:cNvPr id="9" name="Footer Placeholder 4"/>
          <p:cNvSpPr>
            <a:spLocks noGrp="1"/>
          </p:cNvSpPr>
          <p:nvPr>
            <p:ph type="ftr" sz="quarter" idx="11"/>
          </p:nvPr>
        </p:nvSpPr>
        <p:spPr>
          <a:xfrm>
            <a:off x="3570447" y="6408579"/>
            <a:ext cx="2801753" cy="365125"/>
          </a:xfrm>
        </p:spPr>
        <p:txBody>
          <a:bodyPr wrap="square" lIns="91440" tIns="45720" rIns="91440" bIns="45720" anchor="t"/>
          <a:lstStyle>
            <a:lvl1pPr marL="0" lvl="0" indent="0" algn="l" defTabSz="914400" rtl="0" eaLnBrk="0" fontAlgn="base" latinLnBrk="0" hangingPunct="0">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indent="0">
              <a:spcBef>
                <a:spcPct val="50000"/>
              </a:spcBef>
            </a:pPr>
            <a:r>
              <a:rPr lang="zh-CN" altLang="en-US" sz="1000" dirty="0"/>
              <a:t>Software College Northeastern University</a:t>
            </a:r>
            <a:endParaRPr lang="zh-CN" altLang="en-US" sz="1000" dirty="0"/>
          </a:p>
        </p:txBody>
      </p:sp>
      <p:sp>
        <p:nvSpPr>
          <p:cNvPr id="10" name="Slide Number Placeholder 5"/>
          <p:cNvSpPr>
            <a:spLocks noGrp="1"/>
          </p:cNvSpPr>
          <p:nvPr>
            <p:ph type="sldNum" sz="quarter" idx="12"/>
          </p:nvPr>
        </p:nvSpPr>
        <p:spPr>
          <a:xfrm>
            <a:off x="8084185" y="6407785"/>
            <a:ext cx="929005"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spcBef>
                <a:spcPct val="20000"/>
              </a:spcBef>
              <a:buClr>
                <a:schemeClr val="accent2"/>
              </a:buClr>
              <a:buFont typeface="Monotype Sorts" pitchFamily="2" charset="2"/>
              <a:buChar char="z"/>
              <a:defRPr sz="3050">
                <a:solidFill>
                  <a:schemeClr val="tx1"/>
                </a:solidFill>
                <a:latin typeface="Tahoma" panose="020B0604030504040204" pitchFamily="34" charset="0"/>
                <a:ea typeface="宋体" panose="02010600030101010101" pitchFamily="2" charset="-122"/>
              </a:defRPr>
            </a:lvl1pPr>
            <a:lvl2pPr marL="707390" indent="-272415">
              <a:spcBef>
                <a:spcPct val="20000"/>
              </a:spcBef>
              <a:buClr>
                <a:schemeClr val="accent2"/>
              </a:buClr>
              <a:buFont typeface="Monotype Sorts" pitchFamily="2" charset="2"/>
              <a:buChar char="y"/>
              <a:defRPr sz="2665">
                <a:solidFill>
                  <a:schemeClr val="tx1"/>
                </a:solidFill>
                <a:latin typeface="Tahoma" panose="020B0604030504040204" pitchFamily="34" charset="0"/>
                <a:ea typeface="宋体" panose="02010600030101010101" pitchFamily="2" charset="-122"/>
              </a:defRPr>
            </a:lvl2pPr>
            <a:lvl3pPr marL="1088390" indent="-217805">
              <a:spcBef>
                <a:spcPct val="20000"/>
              </a:spcBef>
              <a:buClr>
                <a:schemeClr val="accent2"/>
              </a:buClr>
              <a:buFont typeface="Monotype Sorts" pitchFamily="2" charset="2"/>
              <a:buChar char="x"/>
              <a:defRPr sz="2285">
                <a:solidFill>
                  <a:schemeClr val="tx1"/>
                </a:solidFill>
                <a:latin typeface="Tahoma" panose="020B0604030504040204" pitchFamily="34" charset="0"/>
                <a:ea typeface="宋体" panose="02010600030101010101" pitchFamily="2" charset="-122"/>
              </a:defRPr>
            </a:lvl3pPr>
            <a:lvl4pPr marL="1524000" indent="-217805">
              <a:spcBef>
                <a:spcPct val="20000"/>
              </a:spcBef>
              <a:buClr>
                <a:schemeClr val="accent2"/>
              </a:buClr>
              <a:buChar char="•"/>
              <a:defRPr sz="1905">
                <a:solidFill>
                  <a:schemeClr val="tx1"/>
                </a:solidFill>
                <a:latin typeface="Tahoma" panose="020B0604030504040204" pitchFamily="34" charset="0"/>
                <a:ea typeface="宋体" panose="02010600030101010101" pitchFamily="2" charset="-122"/>
              </a:defRPr>
            </a:lvl4pPr>
            <a:lvl5pPr marL="1959610" indent="-217805">
              <a:spcBef>
                <a:spcPct val="20000"/>
              </a:spcBef>
              <a:buClr>
                <a:schemeClr val="accent2"/>
              </a:buClr>
              <a:buChar char="–"/>
              <a:defRPr sz="1905">
                <a:solidFill>
                  <a:schemeClr val="tx1"/>
                </a:solidFill>
                <a:latin typeface="Tahoma" panose="020B0604030504040204" pitchFamily="34" charset="0"/>
                <a:ea typeface="宋体" panose="02010600030101010101" pitchFamily="2" charset="-122"/>
              </a:defRPr>
            </a:lvl5pPr>
            <a:lvl6pPr marL="2395220" indent="-217805" eaLnBrk="0" fontAlgn="base" hangingPunct="0">
              <a:spcBef>
                <a:spcPct val="20000"/>
              </a:spcBef>
              <a:spcAft>
                <a:spcPct val="0"/>
              </a:spcAft>
              <a:buClr>
                <a:schemeClr val="accent2"/>
              </a:buClr>
              <a:buChar char="–"/>
              <a:defRPr sz="1905">
                <a:solidFill>
                  <a:schemeClr val="tx1"/>
                </a:solidFill>
                <a:latin typeface="Tahoma" panose="020B0604030504040204" pitchFamily="34" charset="0"/>
                <a:ea typeface="宋体" panose="02010600030101010101" pitchFamily="2" charset="-122"/>
              </a:defRPr>
            </a:lvl6pPr>
            <a:lvl7pPr marL="2830195" indent="-217805" eaLnBrk="0" fontAlgn="base" hangingPunct="0">
              <a:spcBef>
                <a:spcPct val="20000"/>
              </a:spcBef>
              <a:spcAft>
                <a:spcPct val="0"/>
              </a:spcAft>
              <a:buClr>
                <a:schemeClr val="accent2"/>
              </a:buClr>
              <a:buChar char="–"/>
              <a:defRPr sz="1905">
                <a:solidFill>
                  <a:schemeClr val="tx1"/>
                </a:solidFill>
                <a:latin typeface="Tahoma" panose="020B0604030504040204" pitchFamily="34" charset="0"/>
                <a:ea typeface="宋体" panose="02010600030101010101" pitchFamily="2" charset="-122"/>
              </a:defRPr>
            </a:lvl7pPr>
            <a:lvl8pPr marL="3265805" indent="-217805" eaLnBrk="0" fontAlgn="base" hangingPunct="0">
              <a:spcBef>
                <a:spcPct val="20000"/>
              </a:spcBef>
              <a:spcAft>
                <a:spcPct val="0"/>
              </a:spcAft>
              <a:buClr>
                <a:schemeClr val="accent2"/>
              </a:buClr>
              <a:buChar char="–"/>
              <a:defRPr sz="1905">
                <a:solidFill>
                  <a:schemeClr val="tx1"/>
                </a:solidFill>
                <a:latin typeface="Tahoma" panose="020B0604030504040204" pitchFamily="34" charset="0"/>
                <a:ea typeface="宋体" panose="02010600030101010101" pitchFamily="2" charset="-122"/>
              </a:defRPr>
            </a:lvl8pPr>
            <a:lvl9pPr marL="3701415" indent="-217805" eaLnBrk="0" fontAlgn="base" hangingPunct="0">
              <a:spcBef>
                <a:spcPct val="20000"/>
              </a:spcBef>
              <a:spcAft>
                <a:spcPct val="0"/>
              </a:spcAft>
              <a:buClr>
                <a:schemeClr val="accent2"/>
              </a:buClr>
              <a:buChar char="–"/>
              <a:defRPr sz="1905">
                <a:solidFill>
                  <a:schemeClr val="tx1"/>
                </a:solidFill>
                <a:latin typeface="Tahoma" panose="020B0604030504040204" pitchFamily="34" charset="0"/>
                <a:ea typeface="宋体" panose="02010600030101010101" pitchFamily="2" charset="-122"/>
              </a:defRPr>
            </a:lvl9pPr>
          </a:lstStyle>
          <a:p>
            <a:pPr fontAlgn="base">
              <a:spcBef>
                <a:spcPct val="50000"/>
              </a:spcBef>
              <a:buClrTx/>
              <a:buFontTx/>
              <a:buNone/>
            </a:pPr>
            <a:fld id="{6DC0C477-4889-4743-8FDB-A95409270352}" type="slidenum">
              <a:rPr lang="zh-CN" altLang="en-US" sz="1000" strike="noStrike" noProof="1">
                <a:latin typeface="Comic Sans MS" panose="030F0702030302020204" pitchFamily="66" charset="0"/>
                <a:ea typeface="宋体" panose="02010600030101010101" pitchFamily="2" charset="-122"/>
                <a:cs typeface="+mn-cs"/>
              </a:rPr>
            </a:fld>
            <a:endParaRPr lang="zh-CN" altLang="en-US" sz="1000" strike="noStrike" noProof="1">
              <a:latin typeface="Comic Sans MS" panose="030F0702030302020204" pitchFamily="66" charset="0"/>
              <a:ea typeface="宋体" panose="02010600030101010101" pitchFamily="2" charset="-122"/>
              <a:cs typeface="+mn-cs"/>
            </a:endParaRPr>
          </a:p>
        </p:txBody>
      </p:sp>
      <p:sp>
        <p:nvSpPr>
          <p:cNvPr id="11" name="灯片编号占位符 5"/>
          <p:cNvSpPr txBox="1"/>
          <p:nvPr/>
        </p:nvSpPr>
        <p:spPr>
          <a:xfrm>
            <a:off x="8084185" y="6407785"/>
            <a:ext cx="929005" cy="36512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defPPr>
              <a:defRPr lang="zh-CN"/>
            </a:defPPr>
            <a:lvl1pPr marL="0" algn="r" defTabSz="914400" rtl="0" eaLnBrk="1" latinLnBrk="0" hangingPunct="1">
              <a:spcBef>
                <a:spcPct val="20000"/>
              </a:spcBef>
              <a:buClr>
                <a:schemeClr val="accent2"/>
              </a:buClr>
              <a:buFont typeface="Monotype Sorts" pitchFamily="2" charset="2"/>
              <a:buChar char="z"/>
              <a:defRPr kumimoji="0" sz="3050" b="0" kern="1200">
                <a:solidFill>
                  <a:schemeClr val="tx1"/>
                </a:solidFill>
                <a:latin typeface="Tahoma" panose="020B0604030504040204" pitchFamily="34" charset="0"/>
                <a:ea typeface="宋体" panose="02010600030101010101" pitchFamily="2" charset="-122"/>
                <a:cs typeface="+mn-cs"/>
              </a:defRPr>
            </a:lvl1pPr>
            <a:lvl2pPr marL="707390" indent="-272415" algn="l" defTabSz="914400" rtl="0" eaLnBrk="1" latinLnBrk="0" hangingPunct="1">
              <a:spcBef>
                <a:spcPct val="20000"/>
              </a:spcBef>
              <a:buClr>
                <a:schemeClr val="accent2"/>
              </a:buClr>
              <a:buFont typeface="Monotype Sorts" pitchFamily="2" charset="2"/>
              <a:buChar char="y"/>
              <a:defRPr sz="2665" kern="1200">
                <a:solidFill>
                  <a:schemeClr val="tx1"/>
                </a:solidFill>
                <a:latin typeface="Tahoma" panose="020B0604030504040204" pitchFamily="34" charset="0"/>
                <a:ea typeface="宋体" panose="02010600030101010101" pitchFamily="2" charset="-122"/>
                <a:cs typeface="+mn-cs"/>
              </a:defRPr>
            </a:lvl2pPr>
            <a:lvl3pPr marL="1088390" indent="-217805" algn="l" defTabSz="914400" rtl="0" eaLnBrk="1" latinLnBrk="0" hangingPunct="1">
              <a:spcBef>
                <a:spcPct val="20000"/>
              </a:spcBef>
              <a:buClr>
                <a:schemeClr val="accent2"/>
              </a:buClr>
              <a:buFont typeface="Monotype Sorts" pitchFamily="2" charset="2"/>
              <a:buChar char="x"/>
              <a:defRPr sz="2285" kern="1200">
                <a:solidFill>
                  <a:schemeClr val="tx1"/>
                </a:solidFill>
                <a:latin typeface="Tahoma" panose="020B0604030504040204" pitchFamily="34" charset="0"/>
                <a:ea typeface="宋体" panose="02010600030101010101" pitchFamily="2" charset="-122"/>
                <a:cs typeface="+mn-cs"/>
              </a:defRPr>
            </a:lvl3pPr>
            <a:lvl4pPr marL="1524000" indent="-217805" algn="l" defTabSz="914400" rtl="0" eaLnBrk="1" latinLnBrk="0" hangingPunct="1">
              <a:spcBef>
                <a:spcPct val="20000"/>
              </a:spcBef>
              <a:buClr>
                <a:schemeClr val="accent2"/>
              </a:buClr>
              <a:buChar char="•"/>
              <a:defRPr sz="1905" kern="1200">
                <a:solidFill>
                  <a:schemeClr val="tx1"/>
                </a:solidFill>
                <a:latin typeface="Tahoma" panose="020B0604030504040204" pitchFamily="34" charset="0"/>
                <a:ea typeface="宋体" panose="02010600030101010101" pitchFamily="2" charset="-122"/>
                <a:cs typeface="+mn-cs"/>
              </a:defRPr>
            </a:lvl4pPr>
            <a:lvl5pPr marL="1959610" indent="-217805" algn="l" defTabSz="914400" rtl="0" eaLnBrk="1" latinLnBrk="0" hangingPunct="1">
              <a:spcBef>
                <a:spcPct val="20000"/>
              </a:spcBef>
              <a:buClr>
                <a:schemeClr val="accent2"/>
              </a:buClr>
              <a:buChar char="–"/>
              <a:defRPr sz="1905" kern="1200">
                <a:solidFill>
                  <a:schemeClr val="tx1"/>
                </a:solidFill>
                <a:latin typeface="Tahoma" panose="020B0604030504040204" pitchFamily="34" charset="0"/>
                <a:ea typeface="宋体" panose="02010600030101010101" pitchFamily="2" charset="-122"/>
                <a:cs typeface="+mn-cs"/>
              </a:defRPr>
            </a:lvl5pPr>
            <a:lvl6pPr marL="2395220" indent="-217805" algn="l" defTabSz="914400" rtl="0" eaLnBrk="0" fontAlgn="base" latinLnBrk="0" hangingPunct="0">
              <a:spcBef>
                <a:spcPct val="20000"/>
              </a:spcBef>
              <a:spcAft>
                <a:spcPct val="0"/>
              </a:spcAft>
              <a:buClr>
                <a:schemeClr val="accent2"/>
              </a:buClr>
              <a:buChar char="–"/>
              <a:defRPr sz="1905" kern="1200">
                <a:solidFill>
                  <a:schemeClr val="tx1"/>
                </a:solidFill>
                <a:latin typeface="Tahoma" panose="020B0604030504040204" pitchFamily="34" charset="0"/>
                <a:ea typeface="宋体" panose="02010600030101010101" pitchFamily="2" charset="-122"/>
                <a:cs typeface="+mn-cs"/>
              </a:defRPr>
            </a:lvl6pPr>
            <a:lvl7pPr marL="2830195" indent="-217805" algn="l" defTabSz="914400" rtl="0" eaLnBrk="0" fontAlgn="base" latinLnBrk="0" hangingPunct="0">
              <a:spcBef>
                <a:spcPct val="20000"/>
              </a:spcBef>
              <a:spcAft>
                <a:spcPct val="0"/>
              </a:spcAft>
              <a:buClr>
                <a:schemeClr val="accent2"/>
              </a:buClr>
              <a:buChar char="–"/>
              <a:defRPr sz="1905" kern="1200">
                <a:solidFill>
                  <a:schemeClr val="tx1"/>
                </a:solidFill>
                <a:latin typeface="Tahoma" panose="020B0604030504040204" pitchFamily="34" charset="0"/>
                <a:ea typeface="宋体" panose="02010600030101010101" pitchFamily="2" charset="-122"/>
                <a:cs typeface="+mn-cs"/>
              </a:defRPr>
            </a:lvl7pPr>
            <a:lvl8pPr marL="3265805" indent="-217805" algn="l" defTabSz="914400" rtl="0" eaLnBrk="0" fontAlgn="base" latinLnBrk="0" hangingPunct="0">
              <a:spcBef>
                <a:spcPct val="20000"/>
              </a:spcBef>
              <a:spcAft>
                <a:spcPct val="0"/>
              </a:spcAft>
              <a:buClr>
                <a:schemeClr val="accent2"/>
              </a:buClr>
              <a:buChar char="–"/>
              <a:defRPr sz="1905" kern="1200">
                <a:solidFill>
                  <a:schemeClr val="tx1"/>
                </a:solidFill>
                <a:latin typeface="Tahoma" panose="020B0604030504040204" pitchFamily="34" charset="0"/>
                <a:ea typeface="宋体" panose="02010600030101010101" pitchFamily="2" charset="-122"/>
                <a:cs typeface="+mn-cs"/>
              </a:defRPr>
            </a:lvl8pPr>
            <a:lvl9pPr marL="3701415" indent="-217805" algn="l" defTabSz="914400" rtl="0" eaLnBrk="0" fontAlgn="base" latinLnBrk="0" hangingPunct="0">
              <a:spcBef>
                <a:spcPct val="20000"/>
              </a:spcBef>
              <a:spcAft>
                <a:spcPct val="0"/>
              </a:spcAft>
              <a:buClr>
                <a:schemeClr val="accent2"/>
              </a:buClr>
              <a:buChar char="–"/>
              <a:defRPr sz="1905" kern="1200">
                <a:solidFill>
                  <a:schemeClr val="tx1"/>
                </a:solidFill>
                <a:latin typeface="Tahoma" panose="020B0604030504040204" pitchFamily="34" charset="0"/>
                <a:ea typeface="宋体" panose="02010600030101010101" pitchFamily="2" charset="-122"/>
                <a:cs typeface="+mn-cs"/>
              </a:defRPr>
            </a:lvl9pPr>
          </a:lstStyle>
          <a:p>
            <a:pPr fontAlgn="base">
              <a:spcBef>
                <a:spcPct val="50000"/>
              </a:spcBef>
              <a:buClrTx/>
              <a:buFontTx/>
              <a:buNone/>
            </a:pPr>
            <a:fld id="{A3D5724E-4216-4A52-BBAE-A24BB324DA39}" type="slidenum">
              <a:rPr lang="zh-CN" altLang="en-US" sz="1335" noProof="1" smtClean="0">
                <a:solidFill>
                  <a:schemeClr val="bg2"/>
                </a:solidFill>
                <a:latin typeface="Comic Sans MS" panose="030F0702030302020204" pitchFamily="66" charset="0"/>
              </a:rPr>
            </a:fld>
            <a:endParaRPr lang="en-US" altLang="zh-CN" sz="1335" noProof="1">
              <a:solidFill>
                <a:schemeClr val="bg2"/>
              </a:solidFill>
              <a:latin typeface="Comic Sans MS" panose="030F0702030302020204" pitchFamily="66" charset="0"/>
            </a:endParaRPr>
          </a:p>
        </p:txBody>
      </p:sp>
      <p:grpSp>
        <p:nvGrpSpPr>
          <p:cNvPr id="3" name="组合 2"/>
          <p:cNvGrpSpPr/>
          <p:nvPr/>
        </p:nvGrpSpPr>
        <p:grpSpPr>
          <a:xfrm>
            <a:off x="4527612" y="3163283"/>
            <a:ext cx="1196516" cy="1201821"/>
            <a:chOff x="4527612" y="3163283"/>
            <a:chExt cx="1196516" cy="1201821"/>
          </a:xfrm>
        </p:grpSpPr>
        <p:sp>
          <p:nvSpPr>
            <p:cNvPr id="2" name="矩形 1"/>
            <p:cNvSpPr/>
            <p:nvPr/>
          </p:nvSpPr>
          <p:spPr>
            <a:xfrm>
              <a:off x="4527612" y="3163283"/>
              <a:ext cx="216024" cy="120182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A</a:t>
              </a:r>
              <a:endParaRPr lang="zh-CN" altLang="en-US" dirty="0"/>
            </a:p>
          </p:txBody>
        </p:sp>
        <p:sp>
          <p:nvSpPr>
            <p:cNvPr id="13" name="矩形 12"/>
            <p:cNvSpPr/>
            <p:nvPr/>
          </p:nvSpPr>
          <p:spPr>
            <a:xfrm>
              <a:off x="4788024" y="3163283"/>
              <a:ext cx="216024" cy="1201821"/>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B</a:t>
              </a:r>
              <a:endParaRPr lang="zh-CN" altLang="en-US" dirty="0"/>
            </a:p>
          </p:txBody>
        </p:sp>
        <p:sp>
          <p:nvSpPr>
            <p:cNvPr id="14" name="矩形 13"/>
            <p:cNvSpPr/>
            <p:nvPr/>
          </p:nvSpPr>
          <p:spPr>
            <a:xfrm>
              <a:off x="5031668" y="3163283"/>
              <a:ext cx="216024" cy="1201821"/>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C</a:t>
              </a:r>
              <a:endParaRPr lang="en-US" altLang="zh-CN" dirty="0"/>
            </a:p>
          </p:txBody>
        </p:sp>
        <p:sp>
          <p:nvSpPr>
            <p:cNvPr id="16" name="矩形 15"/>
            <p:cNvSpPr/>
            <p:nvPr/>
          </p:nvSpPr>
          <p:spPr>
            <a:xfrm>
              <a:off x="5292080" y="3163283"/>
              <a:ext cx="216024" cy="1201821"/>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E</a:t>
              </a:r>
              <a:endParaRPr lang="zh-CN" altLang="en-US" dirty="0"/>
            </a:p>
          </p:txBody>
        </p:sp>
        <p:sp>
          <p:nvSpPr>
            <p:cNvPr id="17" name="矩形 16"/>
            <p:cNvSpPr/>
            <p:nvPr/>
          </p:nvSpPr>
          <p:spPr>
            <a:xfrm>
              <a:off x="5508104" y="3163283"/>
              <a:ext cx="216024" cy="1201821"/>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F</a:t>
              </a:r>
              <a:endParaRPr lang="zh-CN" altLang="en-US" dirty="0"/>
            </a:p>
          </p:txBody>
        </p:sp>
      </p:gr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27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27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270">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270">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270">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70"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70" name="Rectangle 3"/>
          <p:cNvSpPr>
            <a:spLocks noGrp="1" noChangeArrowheads="1"/>
          </p:cNvSpPr>
          <p:nvPr>
            <p:ph idx="1"/>
          </p:nvPr>
        </p:nvSpPr>
        <p:spPr/>
        <p:txBody>
          <a:bodyPr/>
          <a:lstStyle/>
          <a:p>
            <a:pPr eaLnBrk="1" fontAlgn="base" hangingPunct="1">
              <a:lnSpc>
                <a:spcPct val="120000"/>
              </a:lnSpc>
              <a:defRPr/>
            </a:pPr>
            <a:r>
              <a:rPr lang="zh-CN" altLang="en-US" sz="2855" b="1" strike="noStrike" noProof="1">
                <a:solidFill>
                  <a:schemeClr val="tx2"/>
                </a:solidFill>
              </a:rPr>
              <a:t>方法</a:t>
            </a:r>
            <a:r>
              <a:rPr lang="en-US" altLang="zh-CN" sz="2855" b="1" strike="noStrike" noProof="1">
                <a:solidFill>
                  <a:schemeClr val="tx2"/>
                </a:solidFill>
              </a:rPr>
              <a:t> 2: </a:t>
            </a:r>
            <a:r>
              <a:rPr lang="zh-CN" altLang="en-US" sz="2855" b="1" strike="noStrike" noProof="1">
                <a:solidFill>
                  <a:schemeClr val="tx2"/>
                </a:solidFill>
              </a:rPr>
              <a:t>按</a:t>
            </a:r>
            <a:r>
              <a:rPr lang="en-US" altLang="zh-CN" sz="2855" b="1" strike="noStrike" noProof="1">
                <a:solidFill>
                  <a:schemeClr val="tx2"/>
                </a:solidFill>
              </a:rPr>
              <a:t> </a:t>
            </a:r>
            <a:r>
              <a:rPr lang="zh-CN" altLang="en-US" sz="2855" b="1" strike="noStrike" noProof="1">
                <a:solidFill>
                  <a:schemeClr val="tx2"/>
                </a:solidFill>
              </a:rPr>
              <a:t>字母序</a:t>
            </a:r>
            <a:endParaRPr lang="en-US" altLang="zh-CN" sz="2855" b="1" strike="noStrike" noProof="1">
              <a:solidFill>
                <a:schemeClr val="tx2"/>
              </a:solidFill>
            </a:endParaRPr>
          </a:p>
          <a:p>
            <a:pPr eaLnBrk="1" fontAlgn="base" hangingPunct="1">
              <a:lnSpc>
                <a:spcPct val="120000"/>
              </a:lnSpc>
              <a:defRPr/>
            </a:pPr>
            <a:r>
              <a:rPr lang="zh-CN" altLang="en-US" sz="2855" b="1" strike="noStrike" noProof="1">
                <a:solidFill>
                  <a:schemeClr val="tx2"/>
                </a:solidFill>
              </a:rPr>
              <a:t>插入</a:t>
            </a:r>
            <a:r>
              <a:rPr lang="en-US" altLang="zh-CN" sz="2855" b="1" strike="noStrike" noProof="1">
                <a:solidFill>
                  <a:schemeClr val="tx2"/>
                </a:solidFill>
              </a:rPr>
              <a:t>---</a:t>
            </a:r>
            <a:r>
              <a:rPr lang="zh-CN" altLang="en-US" sz="2855" b="1" strike="noStrike" noProof="1">
                <a:solidFill>
                  <a:schemeClr val="tx2"/>
                </a:solidFill>
              </a:rPr>
              <a:t>移动后面的书</a:t>
            </a:r>
            <a:r>
              <a:rPr lang="en-US" altLang="zh-CN" sz="2855" b="1" strike="noStrike" noProof="1">
                <a:solidFill>
                  <a:schemeClr val="tx2"/>
                </a:solidFill>
              </a:rPr>
              <a:t>.</a:t>
            </a:r>
            <a:endParaRPr lang="en-US" altLang="zh-CN" sz="2855" b="1" strike="noStrike" noProof="1">
              <a:solidFill>
                <a:schemeClr val="tx2"/>
              </a:solidFill>
            </a:endParaRPr>
          </a:p>
          <a:p>
            <a:pPr eaLnBrk="1" fontAlgn="base" hangingPunct="1">
              <a:lnSpc>
                <a:spcPct val="120000"/>
              </a:lnSpc>
              <a:defRPr/>
            </a:pPr>
            <a:r>
              <a:rPr lang="zh-CN" altLang="en-US" sz="2855" b="1" strike="noStrike" noProof="1">
                <a:solidFill>
                  <a:schemeClr val="tx2"/>
                </a:solidFill>
              </a:rPr>
              <a:t>查找</a:t>
            </a:r>
            <a:endParaRPr lang="en-US" altLang="zh-CN" sz="2855" b="1" strike="noStrike" noProof="1">
              <a:solidFill>
                <a:schemeClr val="tx2"/>
              </a:solidFill>
            </a:endParaRPr>
          </a:p>
          <a:p>
            <a:pPr lvl="1" eaLnBrk="1" fontAlgn="base" hangingPunct="1">
              <a:lnSpc>
                <a:spcPct val="120000"/>
              </a:lnSpc>
              <a:defRPr/>
            </a:pPr>
            <a:r>
              <a:rPr lang="en-US" altLang="zh-CN" sz="2400" b="1" strike="noStrike" noProof="1">
                <a:solidFill>
                  <a:schemeClr val="tx2"/>
                </a:solidFill>
              </a:rPr>
              <a:t>Sequential </a:t>
            </a:r>
            <a:endParaRPr lang="en-US" altLang="zh-CN" sz="2400" b="1" strike="noStrike" noProof="1">
              <a:solidFill>
                <a:schemeClr val="tx2"/>
              </a:solidFill>
            </a:endParaRPr>
          </a:p>
          <a:p>
            <a:pPr lvl="1" eaLnBrk="1" fontAlgn="base" hangingPunct="1">
              <a:lnSpc>
                <a:spcPct val="120000"/>
              </a:lnSpc>
              <a:defRPr/>
            </a:pPr>
            <a:r>
              <a:rPr lang="en-US" altLang="zh-CN" sz="2400" b="1" strike="noStrike" noProof="1">
                <a:solidFill>
                  <a:schemeClr val="tx2"/>
                </a:solidFill>
              </a:rPr>
              <a:t>Binary search</a:t>
            </a:r>
            <a:endParaRPr lang="en-US" altLang="zh-CN" sz="2400" b="1" strike="noStrike" noProof="1">
              <a:solidFill>
                <a:schemeClr val="tx2"/>
              </a:solidFill>
            </a:endParaRPr>
          </a:p>
          <a:p>
            <a:pPr lvl="5" fontAlgn="auto">
              <a:lnSpc>
                <a:spcPct val="120000"/>
              </a:lnSpc>
              <a:defRPr/>
            </a:pPr>
            <a:endParaRPr lang="en-US" altLang="zh-CN" sz="2400" b="1" strike="noStrike" noProof="1">
              <a:solidFill>
                <a:schemeClr val="tx2"/>
              </a:solidFill>
            </a:endParaRPr>
          </a:p>
          <a:p>
            <a:pPr marL="2558415" lvl="6" indent="0" fontAlgn="auto">
              <a:lnSpc>
                <a:spcPct val="120000"/>
              </a:lnSpc>
              <a:buNone/>
              <a:defRPr/>
            </a:pPr>
            <a:endParaRPr lang="en-US" altLang="zh-CN" sz="1715" b="1" strike="noStrike" noProof="1">
              <a:solidFill>
                <a:schemeClr val="tx2"/>
              </a:solidFill>
            </a:endParaRPr>
          </a:p>
          <a:p>
            <a:pPr marL="0" indent="0" fontAlgn="base">
              <a:lnSpc>
                <a:spcPct val="110000"/>
              </a:lnSpc>
              <a:buNone/>
              <a:defRPr/>
            </a:pPr>
            <a:endParaRPr lang="en-US" altLang="zh-CN" sz="2855" b="1" strike="noStrike" noProof="1">
              <a:solidFill>
                <a:schemeClr val="tx2"/>
              </a:solidFill>
            </a:endParaRPr>
          </a:p>
        </p:txBody>
      </p:sp>
      <p:sp>
        <p:nvSpPr>
          <p:cNvPr id="777218" name="Rectangle 2"/>
          <p:cNvSpPr>
            <a:spLocks noGrp="1" noChangeArrowheads="1"/>
          </p:cNvSpPr>
          <p:nvPr>
            <p:ph type="title"/>
          </p:nvPr>
        </p:nvSpPr>
        <p:spPr/>
        <p:txBody>
          <a:bodyPr/>
          <a:lstStyle/>
          <a:p>
            <a:pPr algn="ctr" eaLnBrk="1" fontAlgn="base" hangingPunct="1">
              <a:defRPr/>
            </a:pPr>
            <a:r>
              <a:rPr lang="en-US" altLang="zh-CN" sz="3810" strike="noStrike" noProof="1">
                <a:effectLst>
                  <a:outerShdw blurRad="38100" dist="38100" dir="2700000" algn="tl">
                    <a:srgbClr val="C0C0C0"/>
                  </a:outerShdw>
                </a:effectLst>
                <a:latin typeface="+mn-lt"/>
              </a:rPr>
              <a:t> </a:t>
            </a:r>
            <a:r>
              <a:rPr lang="en-US" altLang="zh-CN" sz="3810" strike="noStrike" noProof="1">
                <a:effectLst>
                  <a:outerShdw blurRad="38100" dist="38100" dir="2700000" algn="tl">
                    <a:srgbClr val="C0C0C0"/>
                  </a:outerShdw>
                </a:effectLst>
                <a:latin typeface="+mn-lt"/>
                <a:sym typeface="+mn-ea"/>
              </a:rPr>
              <a:t> </a:t>
            </a:r>
            <a:r>
              <a:rPr lang="zh-CN" altLang="en-US" sz="3810" strike="noStrike" noProof="1">
                <a:effectLst>
                  <a:outerShdw blurRad="38100" dist="38100" dir="2700000" algn="tl">
                    <a:srgbClr val="C0C0C0"/>
                  </a:outerShdw>
                </a:effectLst>
                <a:latin typeface="Times New Roman" panose="02020603050405020304" pitchFamily="18" charset="0"/>
                <a:sym typeface="+mn-ea"/>
              </a:rPr>
              <a:t>例三</a:t>
            </a:r>
            <a:r>
              <a:rPr lang="en-US" altLang="zh-CN" sz="3810" strike="noStrike" noProof="1">
                <a:sym typeface="+mn-ea"/>
              </a:rPr>
              <a:t> </a:t>
            </a:r>
            <a:r>
              <a:rPr lang="zh-CN" altLang="en-US" sz="3810" strike="noStrike" noProof="1">
                <a:sym typeface="+mn-ea"/>
              </a:rPr>
              <a:t>书的摆放</a:t>
            </a:r>
            <a:endParaRPr lang="zh-CN" altLang="en-US" sz="3810" strike="noStrike" noProof="1">
              <a:effectLst>
                <a:outerShdw blurRad="38100" dist="38100" dir="2700000" algn="tl">
                  <a:srgbClr val="C0C0C0"/>
                </a:outerShdw>
              </a:effectLst>
              <a:latin typeface="+mn-lt"/>
            </a:endParaRPr>
          </a:p>
        </p:txBody>
      </p:sp>
      <p:sp>
        <p:nvSpPr>
          <p:cNvPr id="8" name="Date Placeholder 3"/>
          <p:cNvSpPr>
            <a:spLocks noGrp="1"/>
          </p:cNvSpPr>
          <p:nvPr>
            <p:ph type="dt" sz="half" idx="10"/>
          </p:nvPr>
        </p:nvSpPr>
        <p:spPr>
          <a:xfrm>
            <a:off x="323528" y="6400482"/>
            <a:ext cx="2520280" cy="365760"/>
          </a:xfrm>
        </p:spPr>
        <p:txBody>
          <a:bodyPr wrap="square" lIns="91440" tIns="45720" rIns="91440" bIns="45720" anchor="t"/>
          <a:lstStyle>
            <a:lvl1pPr marL="0" lvl="0" indent="0" algn="l" defTabSz="914400" rtl="0" eaLnBrk="0" fontAlgn="base" latinLnBrk="0" hangingPunct="0">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indent="0">
              <a:spcBef>
                <a:spcPct val="50000"/>
              </a:spcBef>
            </a:pPr>
            <a:r>
              <a:rPr lang="en-US" altLang="zh-CN" sz="1000" dirty="0"/>
              <a:t>Data Structures and algorithms</a:t>
            </a:r>
            <a:endParaRPr lang="zh-CN" altLang="en-US" sz="1000" dirty="0"/>
          </a:p>
        </p:txBody>
      </p:sp>
      <p:sp>
        <p:nvSpPr>
          <p:cNvPr id="9" name="Footer Placeholder 4"/>
          <p:cNvSpPr>
            <a:spLocks noGrp="1"/>
          </p:cNvSpPr>
          <p:nvPr>
            <p:ph type="ftr" sz="quarter" idx="11"/>
          </p:nvPr>
        </p:nvSpPr>
        <p:spPr>
          <a:xfrm>
            <a:off x="3570447" y="6408579"/>
            <a:ext cx="2801753" cy="365125"/>
          </a:xfrm>
        </p:spPr>
        <p:txBody>
          <a:bodyPr wrap="square" lIns="91440" tIns="45720" rIns="91440" bIns="45720" anchor="t"/>
          <a:lstStyle>
            <a:lvl1pPr marL="0" lvl="0" indent="0" algn="l" defTabSz="914400" rtl="0" eaLnBrk="0" fontAlgn="base" latinLnBrk="0" hangingPunct="0">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indent="0">
              <a:spcBef>
                <a:spcPct val="50000"/>
              </a:spcBef>
            </a:pPr>
            <a:r>
              <a:rPr lang="zh-CN" altLang="en-US" sz="1000" dirty="0"/>
              <a:t>Software College Northeastern University</a:t>
            </a:r>
            <a:endParaRPr lang="zh-CN" altLang="en-US" sz="1000" dirty="0"/>
          </a:p>
        </p:txBody>
      </p:sp>
      <p:sp>
        <p:nvSpPr>
          <p:cNvPr id="10" name="Slide Number Placeholder 5"/>
          <p:cNvSpPr>
            <a:spLocks noGrp="1"/>
          </p:cNvSpPr>
          <p:nvPr>
            <p:ph type="sldNum" sz="quarter" idx="12"/>
          </p:nvPr>
        </p:nvSpPr>
        <p:spPr>
          <a:xfrm>
            <a:off x="8084185" y="6407785"/>
            <a:ext cx="929005"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spcBef>
                <a:spcPct val="20000"/>
              </a:spcBef>
              <a:buClr>
                <a:schemeClr val="accent2"/>
              </a:buClr>
              <a:buFont typeface="Monotype Sorts" pitchFamily="2" charset="2"/>
              <a:buChar char="z"/>
              <a:defRPr sz="3050">
                <a:solidFill>
                  <a:schemeClr val="tx1"/>
                </a:solidFill>
                <a:latin typeface="Tahoma" panose="020B0604030504040204" pitchFamily="34" charset="0"/>
                <a:ea typeface="宋体" panose="02010600030101010101" pitchFamily="2" charset="-122"/>
              </a:defRPr>
            </a:lvl1pPr>
            <a:lvl2pPr marL="707390" indent="-272415">
              <a:spcBef>
                <a:spcPct val="20000"/>
              </a:spcBef>
              <a:buClr>
                <a:schemeClr val="accent2"/>
              </a:buClr>
              <a:buFont typeface="Monotype Sorts" pitchFamily="2" charset="2"/>
              <a:buChar char="y"/>
              <a:defRPr sz="2665">
                <a:solidFill>
                  <a:schemeClr val="tx1"/>
                </a:solidFill>
                <a:latin typeface="Tahoma" panose="020B0604030504040204" pitchFamily="34" charset="0"/>
                <a:ea typeface="宋体" panose="02010600030101010101" pitchFamily="2" charset="-122"/>
              </a:defRPr>
            </a:lvl2pPr>
            <a:lvl3pPr marL="1088390" indent="-217805">
              <a:spcBef>
                <a:spcPct val="20000"/>
              </a:spcBef>
              <a:buClr>
                <a:schemeClr val="accent2"/>
              </a:buClr>
              <a:buFont typeface="Monotype Sorts" pitchFamily="2" charset="2"/>
              <a:buChar char="x"/>
              <a:defRPr sz="2285">
                <a:solidFill>
                  <a:schemeClr val="tx1"/>
                </a:solidFill>
                <a:latin typeface="Tahoma" panose="020B0604030504040204" pitchFamily="34" charset="0"/>
                <a:ea typeface="宋体" panose="02010600030101010101" pitchFamily="2" charset="-122"/>
              </a:defRPr>
            </a:lvl3pPr>
            <a:lvl4pPr marL="1524000" indent="-217805">
              <a:spcBef>
                <a:spcPct val="20000"/>
              </a:spcBef>
              <a:buClr>
                <a:schemeClr val="accent2"/>
              </a:buClr>
              <a:buChar char="•"/>
              <a:defRPr sz="1905">
                <a:solidFill>
                  <a:schemeClr val="tx1"/>
                </a:solidFill>
                <a:latin typeface="Tahoma" panose="020B0604030504040204" pitchFamily="34" charset="0"/>
                <a:ea typeface="宋体" panose="02010600030101010101" pitchFamily="2" charset="-122"/>
              </a:defRPr>
            </a:lvl4pPr>
            <a:lvl5pPr marL="1959610" indent="-217805">
              <a:spcBef>
                <a:spcPct val="20000"/>
              </a:spcBef>
              <a:buClr>
                <a:schemeClr val="accent2"/>
              </a:buClr>
              <a:buChar char="–"/>
              <a:defRPr sz="1905">
                <a:solidFill>
                  <a:schemeClr val="tx1"/>
                </a:solidFill>
                <a:latin typeface="Tahoma" panose="020B0604030504040204" pitchFamily="34" charset="0"/>
                <a:ea typeface="宋体" panose="02010600030101010101" pitchFamily="2" charset="-122"/>
              </a:defRPr>
            </a:lvl5pPr>
            <a:lvl6pPr marL="2395220" indent="-217805" eaLnBrk="0" fontAlgn="base" hangingPunct="0">
              <a:spcBef>
                <a:spcPct val="20000"/>
              </a:spcBef>
              <a:spcAft>
                <a:spcPct val="0"/>
              </a:spcAft>
              <a:buClr>
                <a:schemeClr val="accent2"/>
              </a:buClr>
              <a:buChar char="–"/>
              <a:defRPr sz="1905">
                <a:solidFill>
                  <a:schemeClr val="tx1"/>
                </a:solidFill>
                <a:latin typeface="Tahoma" panose="020B0604030504040204" pitchFamily="34" charset="0"/>
                <a:ea typeface="宋体" panose="02010600030101010101" pitchFamily="2" charset="-122"/>
              </a:defRPr>
            </a:lvl6pPr>
            <a:lvl7pPr marL="2830195" indent="-217805" eaLnBrk="0" fontAlgn="base" hangingPunct="0">
              <a:spcBef>
                <a:spcPct val="20000"/>
              </a:spcBef>
              <a:spcAft>
                <a:spcPct val="0"/>
              </a:spcAft>
              <a:buClr>
                <a:schemeClr val="accent2"/>
              </a:buClr>
              <a:buChar char="–"/>
              <a:defRPr sz="1905">
                <a:solidFill>
                  <a:schemeClr val="tx1"/>
                </a:solidFill>
                <a:latin typeface="Tahoma" panose="020B0604030504040204" pitchFamily="34" charset="0"/>
                <a:ea typeface="宋体" panose="02010600030101010101" pitchFamily="2" charset="-122"/>
              </a:defRPr>
            </a:lvl7pPr>
            <a:lvl8pPr marL="3265805" indent="-217805" eaLnBrk="0" fontAlgn="base" hangingPunct="0">
              <a:spcBef>
                <a:spcPct val="20000"/>
              </a:spcBef>
              <a:spcAft>
                <a:spcPct val="0"/>
              </a:spcAft>
              <a:buClr>
                <a:schemeClr val="accent2"/>
              </a:buClr>
              <a:buChar char="–"/>
              <a:defRPr sz="1905">
                <a:solidFill>
                  <a:schemeClr val="tx1"/>
                </a:solidFill>
                <a:latin typeface="Tahoma" panose="020B0604030504040204" pitchFamily="34" charset="0"/>
                <a:ea typeface="宋体" panose="02010600030101010101" pitchFamily="2" charset="-122"/>
              </a:defRPr>
            </a:lvl8pPr>
            <a:lvl9pPr marL="3701415" indent="-217805" eaLnBrk="0" fontAlgn="base" hangingPunct="0">
              <a:spcBef>
                <a:spcPct val="20000"/>
              </a:spcBef>
              <a:spcAft>
                <a:spcPct val="0"/>
              </a:spcAft>
              <a:buClr>
                <a:schemeClr val="accent2"/>
              </a:buClr>
              <a:buChar char="–"/>
              <a:defRPr sz="1905">
                <a:solidFill>
                  <a:schemeClr val="tx1"/>
                </a:solidFill>
                <a:latin typeface="Tahoma" panose="020B0604030504040204" pitchFamily="34" charset="0"/>
                <a:ea typeface="宋体" panose="02010600030101010101" pitchFamily="2" charset="-122"/>
              </a:defRPr>
            </a:lvl9pPr>
          </a:lstStyle>
          <a:p>
            <a:pPr fontAlgn="base">
              <a:spcBef>
                <a:spcPct val="50000"/>
              </a:spcBef>
              <a:buClrTx/>
              <a:buFontTx/>
              <a:buNone/>
            </a:pPr>
            <a:fld id="{6DC0C477-4889-4743-8FDB-A95409270352}" type="slidenum">
              <a:rPr lang="zh-CN" altLang="en-US" sz="1000" strike="noStrike" noProof="1">
                <a:latin typeface="Comic Sans MS" panose="030F0702030302020204" pitchFamily="66" charset="0"/>
                <a:ea typeface="宋体" panose="02010600030101010101" pitchFamily="2" charset="-122"/>
                <a:cs typeface="+mn-cs"/>
              </a:rPr>
            </a:fld>
            <a:endParaRPr lang="zh-CN" altLang="en-US" sz="1000" strike="noStrike" noProof="1">
              <a:latin typeface="Comic Sans MS" panose="030F0702030302020204" pitchFamily="66" charset="0"/>
              <a:ea typeface="宋体" panose="02010600030101010101" pitchFamily="2" charset="-122"/>
              <a:cs typeface="+mn-cs"/>
            </a:endParaRPr>
          </a:p>
        </p:txBody>
      </p:sp>
      <p:sp>
        <p:nvSpPr>
          <p:cNvPr id="11" name="灯片编号占位符 5"/>
          <p:cNvSpPr txBox="1"/>
          <p:nvPr/>
        </p:nvSpPr>
        <p:spPr>
          <a:xfrm>
            <a:off x="8084185" y="6407785"/>
            <a:ext cx="929005" cy="36512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defPPr>
              <a:defRPr lang="zh-CN"/>
            </a:defPPr>
            <a:lvl1pPr marL="0" algn="r" defTabSz="914400" rtl="0" eaLnBrk="1" latinLnBrk="0" hangingPunct="1">
              <a:spcBef>
                <a:spcPct val="20000"/>
              </a:spcBef>
              <a:buClr>
                <a:schemeClr val="accent2"/>
              </a:buClr>
              <a:buFont typeface="Monotype Sorts" pitchFamily="2" charset="2"/>
              <a:buChar char="z"/>
              <a:defRPr kumimoji="0" sz="3050" b="0" kern="1200">
                <a:solidFill>
                  <a:schemeClr val="tx1"/>
                </a:solidFill>
                <a:latin typeface="Tahoma" panose="020B0604030504040204" pitchFamily="34" charset="0"/>
                <a:ea typeface="宋体" panose="02010600030101010101" pitchFamily="2" charset="-122"/>
                <a:cs typeface="+mn-cs"/>
              </a:defRPr>
            </a:lvl1pPr>
            <a:lvl2pPr marL="707390" indent="-272415" algn="l" defTabSz="914400" rtl="0" eaLnBrk="1" latinLnBrk="0" hangingPunct="1">
              <a:spcBef>
                <a:spcPct val="20000"/>
              </a:spcBef>
              <a:buClr>
                <a:schemeClr val="accent2"/>
              </a:buClr>
              <a:buFont typeface="Monotype Sorts" pitchFamily="2" charset="2"/>
              <a:buChar char="y"/>
              <a:defRPr sz="2665" kern="1200">
                <a:solidFill>
                  <a:schemeClr val="tx1"/>
                </a:solidFill>
                <a:latin typeface="Tahoma" panose="020B0604030504040204" pitchFamily="34" charset="0"/>
                <a:ea typeface="宋体" panose="02010600030101010101" pitchFamily="2" charset="-122"/>
                <a:cs typeface="+mn-cs"/>
              </a:defRPr>
            </a:lvl2pPr>
            <a:lvl3pPr marL="1088390" indent="-217805" algn="l" defTabSz="914400" rtl="0" eaLnBrk="1" latinLnBrk="0" hangingPunct="1">
              <a:spcBef>
                <a:spcPct val="20000"/>
              </a:spcBef>
              <a:buClr>
                <a:schemeClr val="accent2"/>
              </a:buClr>
              <a:buFont typeface="Monotype Sorts" pitchFamily="2" charset="2"/>
              <a:buChar char="x"/>
              <a:defRPr sz="2285" kern="1200">
                <a:solidFill>
                  <a:schemeClr val="tx1"/>
                </a:solidFill>
                <a:latin typeface="Tahoma" panose="020B0604030504040204" pitchFamily="34" charset="0"/>
                <a:ea typeface="宋体" panose="02010600030101010101" pitchFamily="2" charset="-122"/>
                <a:cs typeface="+mn-cs"/>
              </a:defRPr>
            </a:lvl3pPr>
            <a:lvl4pPr marL="1524000" indent="-217805" algn="l" defTabSz="914400" rtl="0" eaLnBrk="1" latinLnBrk="0" hangingPunct="1">
              <a:spcBef>
                <a:spcPct val="20000"/>
              </a:spcBef>
              <a:buClr>
                <a:schemeClr val="accent2"/>
              </a:buClr>
              <a:buChar char="•"/>
              <a:defRPr sz="1905" kern="1200">
                <a:solidFill>
                  <a:schemeClr val="tx1"/>
                </a:solidFill>
                <a:latin typeface="Tahoma" panose="020B0604030504040204" pitchFamily="34" charset="0"/>
                <a:ea typeface="宋体" panose="02010600030101010101" pitchFamily="2" charset="-122"/>
                <a:cs typeface="+mn-cs"/>
              </a:defRPr>
            </a:lvl4pPr>
            <a:lvl5pPr marL="1959610" indent="-217805" algn="l" defTabSz="914400" rtl="0" eaLnBrk="1" latinLnBrk="0" hangingPunct="1">
              <a:spcBef>
                <a:spcPct val="20000"/>
              </a:spcBef>
              <a:buClr>
                <a:schemeClr val="accent2"/>
              </a:buClr>
              <a:buChar char="–"/>
              <a:defRPr sz="1905" kern="1200">
                <a:solidFill>
                  <a:schemeClr val="tx1"/>
                </a:solidFill>
                <a:latin typeface="Tahoma" panose="020B0604030504040204" pitchFamily="34" charset="0"/>
                <a:ea typeface="宋体" panose="02010600030101010101" pitchFamily="2" charset="-122"/>
                <a:cs typeface="+mn-cs"/>
              </a:defRPr>
            </a:lvl5pPr>
            <a:lvl6pPr marL="2395220" indent="-217805" algn="l" defTabSz="914400" rtl="0" eaLnBrk="0" fontAlgn="base" latinLnBrk="0" hangingPunct="0">
              <a:spcBef>
                <a:spcPct val="20000"/>
              </a:spcBef>
              <a:spcAft>
                <a:spcPct val="0"/>
              </a:spcAft>
              <a:buClr>
                <a:schemeClr val="accent2"/>
              </a:buClr>
              <a:buChar char="–"/>
              <a:defRPr sz="1905" kern="1200">
                <a:solidFill>
                  <a:schemeClr val="tx1"/>
                </a:solidFill>
                <a:latin typeface="Tahoma" panose="020B0604030504040204" pitchFamily="34" charset="0"/>
                <a:ea typeface="宋体" panose="02010600030101010101" pitchFamily="2" charset="-122"/>
                <a:cs typeface="+mn-cs"/>
              </a:defRPr>
            </a:lvl6pPr>
            <a:lvl7pPr marL="2830195" indent="-217805" algn="l" defTabSz="914400" rtl="0" eaLnBrk="0" fontAlgn="base" latinLnBrk="0" hangingPunct="0">
              <a:spcBef>
                <a:spcPct val="20000"/>
              </a:spcBef>
              <a:spcAft>
                <a:spcPct val="0"/>
              </a:spcAft>
              <a:buClr>
                <a:schemeClr val="accent2"/>
              </a:buClr>
              <a:buChar char="–"/>
              <a:defRPr sz="1905" kern="1200">
                <a:solidFill>
                  <a:schemeClr val="tx1"/>
                </a:solidFill>
                <a:latin typeface="Tahoma" panose="020B0604030504040204" pitchFamily="34" charset="0"/>
                <a:ea typeface="宋体" panose="02010600030101010101" pitchFamily="2" charset="-122"/>
                <a:cs typeface="+mn-cs"/>
              </a:defRPr>
            </a:lvl7pPr>
            <a:lvl8pPr marL="3265805" indent="-217805" algn="l" defTabSz="914400" rtl="0" eaLnBrk="0" fontAlgn="base" latinLnBrk="0" hangingPunct="0">
              <a:spcBef>
                <a:spcPct val="20000"/>
              </a:spcBef>
              <a:spcAft>
                <a:spcPct val="0"/>
              </a:spcAft>
              <a:buClr>
                <a:schemeClr val="accent2"/>
              </a:buClr>
              <a:buChar char="–"/>
              <a:defRPr sz="1905" kern="1200">
                <a:solidFill>
                  <a:schemeClr val="tx1"/>
                </a:solidFill>
                <a:latin typeface="Tahoma" panose="020B0604030504040204" pitchFamily="34" charset="0"/>
                <a:ea typeface="宋体" panose="02010600030101010101" pitchFamily="2" charset="-122"/>
                <a:cs typeface="+mn-cs"/>
              </a:defRPr>
            </a:lvl8pPr>
            <a:lvl9pPr marL="3701415" indent="-217805" algn="l" defTabSz="914400" rtl="0" eaLnBrk="0" fontAlgn="base" latinLnBrk="0" hangingPunct="0">
              <a:spcBef>
                <a:spcPct val="20000"/>
              </a:spcBef>
              <a:spcAft>
                <a:spcPct val="0"/>
              </a:spcAft>
              <a:buClr>
                <a:schemeClr val="accent2"/>
              </a:buClr>
              <a:buChar char="–"/>
              <a:defRPr sz="1905" kern="1200">
                <a:solidFill>
                  <a:schemeClr val="tx1"/>
                </a:solidFill>
                <a:latin typeface="Tahoma" panose="020B0604030504040204" pitchFamily="34" charset="0"/>
                <a:ea typeface="宋体" panose="02010600030101010101" pitchFamily="2" charset="-122"/>
                <a:cs typeface="+mn-cs"/>
              </a:defRPr>
            </a:lvl9pPr>
          </a:lstStyle>
          <a:p>
            <a:pPr fontAlgn="base">
              <a:spcBef>
                <a:spcPct val="50000"/>
              </a:spcBef>
              <a:buClrTx/>
              <a:buFontTx/>
              <a:buNone/>
            </a:pPr>
            <a:fld id="{A3D5724E-4216-4A52-BBAE-A24BB324DA39}" type="slidenum">
              <a:rPr lang="zh-CN" altLang="en-US" sz="1335" noProof="1" smtClean="0">
                <a:solidFill>
                  <a:schemeClr val="bg2"/>
                </a:solidFill>
                <a:latin typeface="Comic Sans MS" panose="030F0702030302020204" pitchFamily="66" charset="0"/>
              </a:rPr>
            </a:fld>
            <a:endParaRPr lang="en-US" altLang="zh-CN" sz="1335" noProof="1">
              <a:solidFill>
                <a:schemeClr val="bg2"/>
              </a:solidFill>
              <a:latin typeface="Comic Sans MS" panose="030F0702030302020204" pitchFamily="66" charset="0"/>
            </a:endParaRPr>
          </a:p>
        </p:txBody>
      </p:sp>
      <p:grpSp>
        <p:nvGrpSpPr>
          <p:cNvPr id="3" name="组合 2"/>
          <p:cNvGrpSpPr/>
          <p:nvPr/>
        </p:nvGrpSpPr>
        <p:grpSpPr>
          <a:xfrm>
            <a:off x="4527612" y="3163283"/>
            <a:ext cx="1484548" cy="1201821"/>
            <a:chOff x="4527612" y="3163283"/>
            <a:chExt cx="1484548" cy="1201821"/>
          </a:xfrm>
        </p:grpSpPr>
        <p:sp>
          <p:nvSpPr>
            <p:cNvPr id="2" name="矩形 1"/>
            <p:cNvSpPr/>
            <p:nvPr/>
          </p:nvSpPr>
          <p:spPr>
            <a:xfrm>
              <a:off x="4527612" y="3163283"/>
              <a:ext cx="216024" cy="120182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A</a:t>
              </a:r>
              <a:endParaRPr lang="zh-CN" altLang="en-US" dirty="0"/>
            </a:p>
          </p:txBody>
        </p:sp>
        <p:sp>
          <p:nvSpPr>
            <p:cNvPr id="13" name="矩形 12"/>
            <p:cNvSpPr/>
            <p:nvPr/>
          </p:nvSpPr>
          <p:spPr>
            <a:xfrm>
              <a:off x="4788024" y="3163283"/>
              <a:ext cx="216024" cy="1201821"/>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B</a:t>
              </a:r>
              <a:endParaRPr lang="zh-CN" altLang="en-US" dirty="0"/>
            </a:p>
          </p:txBody>
        </p:sp>
        <p:sp>
          <p:nvSpPr>
            <p:cNvPr id="14" name="矩形 13"/>
            <p:cNvSpPr/>
            <p:nvPr/>
          </p:nvSpPr>
          <p:spPr>
            <a:xfrm>
              <a:off x="5031668" y="3163283"/>
              <a:ext cx="216024" cy="1201821"/>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C</a:t>
              </a:r>
              <a:endParaRPr lang="en-US" altLang="zh-CN" dirty="0"/>
            </a:p>
          </p:txBody>
        </p:sp>
        <p:sp>
          <p:nvSpPr>
            <p:cNvPr id="15" name="矩形 14"/>
            <p:cNvSpPr/>
            <p:nvPr/>
          </p:nvSpPr>
          <p:spPr>
            <a:xfrm>
              <a:off x="5292080" y="3163283"/>
              <a:ext cx="216024" cy="1201821"/>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D</a:t>
              </a:r>
              <a:endParaRPr lang="en-US" altLang="zh-CN" dirty="0"/>
            </a:p>
          </p:txBody>
        </p:sp>
        <p:sp>
          <p:nvSpPr>
            <p:cNvPr id="16" name="矩形 15"/>
            <p:cNvSpPr/>
            <p:nvPr/>
          </p:nvSpPr>
          <p:spPr>
            <a:xfrm>
              <a:off x="5535724" y="3163283"/>
              <a:ext cx="216024" cy="1201821"/>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E</a:t>
              </a:r>
              <a:endParaRPr lang="zh-CN" altLang="en-US" dirty="0"/>
            </a:p>
          </p:txBody>
        </p:sp>
        <p:sp>
          <p:nvSpPr>
            <p:cNvPr id="17" name="矩形 16"/>
            <p:cNvSpPr/>
            <p:nvPr/>
          </p:nvSpPr>
          <p:spPr>
            <a:xfrm>
              <a:off x="5796136" y="3163283"/>
              <a:ext cx="216024" cy="1201821"/>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F</a:t>
              </a:r>
              <a:endParaRPr lang="zh-CN" altLang="en-US" dirty="0"/>
            </a:p>
          </p:txBody>
        </p:sp>
      </p:grpSp>
    </p:spTree>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70" name="Rectangle 3"/>
          <p:cNvSpPr>
            <a:spLocks noGrp="1" noChangeArrowheads="1"/>
          </p:cNvSpPr>
          <p:nvPr>
            <p:ph idx="1"/>
          </p:nvPr>
        </p:nvSpPr>
        <p:spPr/>
        <p:txBody>
          <a:bodyPr/>
          <a:lstStyle/>
          <a:p>
            <a:pPr eaLnBrk="1" fontAlgn="base" hangingPunct="1">
              <a:lnSpc>
                <a:spcPct val="120000"/>
              </a:lnSpc>
              <a:defRPr/>
            </a:pPr>
            <a:r>
              <a:rPr lang="zh-CN" altLang="en-US" sz="2855" b="1" strike="noStrike" noProof="1">
                <a:solidFill>
                  <a:schemeClr val="tx2"/>
                </a:solidFill>
              </a:rPr>
              <a:t>方法</a:t>
            </a:r>
            <a:r>
              <a:rPr lang="en-US" altLang="zh-CN" sz="2855" b="1" strike="noStrike" noProof="1">
                <a:solidFill>
                  <a:schemeClr val="tx2"/>
                </a:solidFill>
              </a:rPr>
              <a:t> 3: </a:t>
            </a:r>
            <a:r>
              <a:rPr lang="zh-CN" altLang="en-US" sz="2855" b="1" strike="noStrike" noProof="1">
                <a:solidFill>
                  <a:schemeClr val="tx2"/>
                </a:solidFill>
              </a:rPr>
              <a:t>按类别</a:t>
            </a:r>
            <a:endParaRPr lang="en-US" altLang="zh-CN" sz="2855" b="1" strike="noStrike" noProof="1">
              <a:solidFill>
                <a:schemeClr val="tx2"/>
              </a:solidFill>
            </a:endParaRPr>
          </a:p>
          <a:p>
            <a:pPr eaLnBrk="1" fontAlgn="base" hangingPunct="1">
              <a:lnSpc>
                <a:spcPct val="120000"/>
              </a:lnSpc>
              <a:defRPr/>
            </a:pPr>
            <a:r>
              <a:rPr lang="zh-CN" altLang="en-US" sz="2855" b="1" strike="noStrike" noProof="1">
                <a:solidFill>
                  <a:schemeClr val="tx2"/>
                </a:solidFill>
              </a:rPr>
              <a:t>插入</a:t>
            </a:r>
            <a:r>
              <a:rPr lang="en-US" altLang="zh-CN" sz="2855" b="1" strike="noStrike" noProof="1">
                <a:solidFill>
                  <a:schemeClr val="tx2"/>
                </a:solidFill>
              </a:rPr>
              <a:t>---</a:t>
            </a:r>
            <a:r>
              <a:rPr lang="zh-CN" altLang="en-US" sz="2855" b="1" strike="noStrike" noProof="1">
                <a:solidFill>
                  <a:schemeClr val="tx2"/>
                </a:solidFill>
              </a:rPr>
              <a:t>移动类别里的书</a:t>
            </a:r>
            <a:endParaRPr lang="en-US" altLang="zh-CN" sz="2855" b="1" strike="noStrike" noProof="1">
              <a:solidFill>
                <a:schemeClr val="tx2"/>
              </a:solidFill>
            </a:endParaRPr>
          </a:p>
          <a:p>
            <a:pPr eaLnBrk="1" fontAlgn="base" hangingPunct="1">
              <a:lnSpc>
                <a:spcPct val="120000"/>
              </a:lnSpc>
              <a:defRPr/>
            </a:pPr>
            <a:r>
              <a:rPr lang="zh-CN" altLang="en-US" sz="2855" b="1" strike="noStrike" noProof="1">
                <a:solidFill>
                  <a:schemeClr val="tx2"/>
                </a:solidFill>
              </a:rPr>
              <a:t>查找</a:t>
            </a:r>
            <a:endParaRPr lang="en-US" altLang="zh-CN" sz="2855" b="1" strike="noStrike" noProof="1">
              <a:solidFill>
                <a:schemeClr val="tx2"/>
              </a:solidFill>
            </a:endParaRPr>
          </a:p>
          <a:p>
            <a:pPr lvl="1" eaLnBrk="1" fontAlgn="base" hangingPunct="1">
              <a:lnSpc>
                <a:spcPct val="120000"/>
              </a:lnSpc>
              <a:defRPr/>
            </a:pPr>
            <a:r>
              <a:rPr lang="zh-CN" altLang="en-US" sz="2285" b="1" strike="noStrike" noProof="1">
                <a:solidFill>
                  <a:schemeClr val="tx2"/>
                </a:solidFill>
              </a:rPr>
              <a:t>在类别内二分查找</a:t>
            </a:r>
            <a:endParaRPr lang="en-US" altLang="zh-CN" sz="2285" b="1" strike="noStrike" noProof="1">
              <a:solidFill>
                <a:schemeClr val="tx2"/>
              </a:solidFill>
            </a:endParaRPr>
          </a:p>
          <a:p>
            <a:pPr lvl="5" fontAlgn="auto">
              <a:lnSpc>
                <a:spcPct val="120000"/>
              </a:lnSpc>
              <a:defRPr/>
            </a:pPr>
            <a:endParaRPr lang="en-US" altLang="zh-CN" sz="1335" b="1" strike="noStrike" noProof="1">
              <a:solidFill>
                <a:schemeClr val="tx2"/>
              </a:solidFill>
            </a:endParaRPr>
          </a:p>
          <a:p>
            <a:pPr marL="2558415" lvl="6" indent="0" fontAlgn="auto">
              <a:lnSpc>
                <a:spcPct val="120000"/>
              </a:lnSpc>
              <a:buNone/>
              <a:defRPr/>
            </a:pPr>
            <a:endParaRPr lang="en-US" altLang="zh-CN" sz="1715" b="1" strike="noStrike" noProof="1">
              <a:solidFill>
                <a:schemeClr val="tx2"/>
              </a:solidFill>
            </a:endParaRPr>
          </a:p>
          <a:p>
            <a:pPr marL="0" indent="0" fontAlgn="base">
              <a:lnSpc>
                <a:spcPct val="110000"/>
              </a:lnSpc>
              <a:buNone/>
              <a:defRPr/>
            </a:pPr>
            <a:endParaRPr lang="en-US" altLang="zh-CN" sz="2855" b="1" strike="noStrike" noProof="1">
              <a:solidFill>
                <a:schemeClr val="tx2"/>
              </a:solidFill>
            </a:endParaRPr>
          </a:p>
        </p:txBody>
      </p:sp>
      <p:sp>
        <p:nvSpPr>
          <p:cNvPr id="19458" name="日期占位符 3"/>
          <p:cNvSpPr>
            <a:spLocks noGrp="1"/>
          </p:cNvSpPr>
          <p:nvPr>
            <p:ph type="dt" sz="half" idx="10"/>
          </p:nvPr>
        </p:nvSpPr>
        <p:spPr/>
        <p:txBody>
          <a:bodyPr wrap="square" lIns="91440" tIns="45720" rIns="91440" bIns="45720" anchor="t"/>
          <a:lstStyle>
            <a:lvl1pPr marL="0" lvl="0" indent="0" algn="l" defTabSz="914400" rtl="0" eaLnBrk="0" fontAlgn="base" latinLnBrk="0" hangingPunct="0">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indent="0">
              <a:spcBef>
                <a:spcPct val="50000"/>
              </a:spcBef>
            </a:pPr>
            <a:r>
              <a:rPr lang="en-US" altLang="zh-CN" sz="1400">
                <a:solidFill>
                  <a:schemeClr val="bg2"/>
                </a:solidFill>
              </a:rPr>
              <a:t>Data Structures and algorithms</a:t>
            </a:r>
            <a:endParaRPr lang="en-US" altLang="zh-CN" sz="1400">
              <a:solidFill>
                <a:schemeClr val="bg2"/>
              </a:solidFill>
            </a:endParaRPr>
          </a:p>
        </p:txBody>
      </p:sp>
      <p:sp>
        <p:nvSpPr>
          <p:cNvPr id="19459" name="页脚占位符 4"/>
          <p:cNvSpPr>
            <a:spLocks noGrp="1"/>
          </p:cNvSpPr>
          <p:nvPr>
            <p:ph type="ftr" sz="quarter" idx="11"/>
          </p:nvPr>
        </p:nvSpPr>
        <p:spPr/>
        <p:txBody>
          <a:bodyPr wrap="square" lIns="91440" tIns="45720" rIns="91440" bIns="45720" anchor="t"/>
          <a:lstStyle>
            <a:lvl1pPr marL="0" lvl="0" indent="0" algn="l" defTabSz="914400" rtl="0" eaLnBrk="0" fontAlgn="base" latinLnBrk="0" hangingPunct="0">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indent="0">
              <a:spcBef>
                <a:spcPct val="50000"/>
              </a:spcBef>
            </a:pPr>
            <a:r>
              <a:rPr lang="zh-CN" altLang="en-US" sz="1400">
                <a:solidFill>
                  <a:schemeClr val="bg2"/>
                </a:solidFill>
              </a:rPr>
              <a:t>Software College Northeastern University</a:t>
            </a:r>
            <a:endParaRPr lang="en-US" altLang="zh-CN" sz="1400">
              <a:solidFill>
                <a:schemeClr val="bg2"/>
              </a:solidFill>
            </a:endParaRPr>
          </a:p>
        </p:txBody>
      </p:sp>
      <p:sp>
        <p:nvSpPr>
          <p:cNvPr id="21508" name="灯片编号占位符 5"/>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spcBef>
                <a:spcPct val="20000"/>
              </a:spcBef>
              <a:buClr>
                <a:schemeClr val="accent2"/>
              </a:buClr>
              <a:buFont typeface="Monotype Sorts" pitchFamily="2" charset="2"/>
              <a:buChar char="z"/>
              <a:defRPr sz="3050">
                <a:solidFill>
                  <a:schemeClr val="tx1"/>
                </a:solidFill>
                <a:latin typeface="Tahoma" panose="020B0604030504040204" pitchFamily="34" charset="0"/>
                <a:ea typeface="宋体" panose="02010600030101010101" pitchFamily="2" charset="-122"/>
              </a:defRPr>
            </a:lvl1pPr>
            <a:lvl2pPr marL="707390" indent="-272415">
              <a:spcBef>
                <a:spcPct val="20000"/>
              </a:spcBef>
              <a:buClr>
                <a:schemeClr val="accent2"/>
              </a:buClr>
              <a:buFont typeface="Monotype Sorts" pitchFamily="2" charset="2"/>
              <a:buChar char="y"/>
              <a:defRPr sz="2665">
                <a:solidFill>
                  <a:schemeClr val="tx1"/>
                </a:solidFill>
                <a:latin typeface="Tahoma" panose="020B0604030504040204" pitchFamily="34" charset="0"/>
                <a:ea typeface="宋体" panose="02010600030101010101" pitchFamily="2" charset="-122"/>
              </a:defRPr>
            </a:lvl2pPr>
            <a:lvl3pPr marL="1088390" indent="-217805">
              <a:spcBef>
                <a:spcPct val="20000"/>
              </a:spcBef>
              <a:buClr>
                <a:schemeClr val="accent2"/>
              </a:buClr>
              <a:buFont typeface="Monotype Sorts" pitchFamily="2" charset="2"/>
              <a:buChar char="x"/>
              <a:defRPr sz="2285">
                <a:solidFill>
                  <a:schemeClr val="tx1"/>
                </a:solidFill>
                <a:latin typeface="Tahoma" panose="020B0604030504040204" pitchFamily="34" charset="0"/>
                <a:ea typeface="宋体" panose="02010600030101010101" pitchFamily="2" charset="-122"/>
              </a:defRPr>
            </a:lvl3pPr>
            <a:lvl4pPr marL="1524000" indent="-217805">
              <a:spcBef>
                <a:spcPct val="20000"/>
              </a:spcBef>
              <a:buClr>
                <a:schemeClr val="accent2"/>
              </a:buClr>
              <a:buChar char="•"/>
              <a:defRPr sz="1905">
                <a:solidFill>
                  <a:schemeClr val="tx1"/>
                </a:solidFill>
                <a:latin typeface="Tahoma" panose="020B0604030504040204" pitchFamily="34" charset="0"/>
                <a:ea typeface="宋体" panose="02010600030101010101" pitchFamily="2" charset="-122"/>
              </a:defRPr>
            </a:lvl4pPr>
            <a:lvl5pPr marL="1959610" indent="-217805">
              <a:spcBef>
                <a:spcPct val="20000"/>
              </a:spcBef>
              <a:buClr>
                <a:schemeClr val="accent2"/>
              </a:buClr>
              <a:buChar char="–"/>
              <a:defRPr sz="1905">
                <a:solidFill>
                  <a:schemeClr val="tx1"/>
                </a:solidFill>
                <a:latin typeface="Tahoma" panose="020B0604030504040204" pitchFamily="34" charset="0"/>
                <a:ea typeface="宋体" panose="02010600030101010101" pitchFamily="2" charset="-122"/>
              </a:defRPr>
            </a:lvl5pPr>
            <a:lvl6pPr marL="2395220" indent="-217805" eaLnBrk="0" fontAlgn="base" hangingPunct="0">
              <a:spcBef>
                <a:spcPct val="20000"/>
              </a:spcBef>
              <a:spcAft>
                <a:spcPct val="0"/>
              </a:spcAft>
              <a:buClr>
                <a:schemeClr val="accent2"/>
              </a:buClr>
              <a:buChar char="–"/>
              <a:defRPr sz="1905">
                <a:solidFill>
                  <a:schemeClr val="tx1"/>
                </a:solidFill>
                <a:latin typeface="Tahoma" panose="020B0604030504040204" pitchFamily="34" charset="0"/>
                <a:ea typeface="宋体" panose="02010600030101010101" pitchFamily="2" charset="-122"/>
              </a:defRPr>
            </a:lvl6pPr>
            <a:lvl7pPr marL="2830195" indent="-217805" eaLnBrk="0" fontAlgn="base" hangingPunct="0">
              <a:spcBef>
                <a:spcPct val="20000"/>
              </a:spcBef>
              <a:spcAft>
                <a:spcPct val="0"/>
              </a:spcAft>
              <a:buClr>
                <a:schemeClr val="accent2"/>
              </a:buClr>
              <a:buChar char="–"/>
              <a:defRPr sz="1905">
                <a:solidFill>
                  <a:schemeClr val="tx1"/>
                </a:solidFill>
                <a:latin typeface="Tahoma" panose="020B0604030504040204" pitchFamily="34" charset="0"/>
                <a:ea typeface="宋体" panose="02010600030101010101" pitchFamily="2" charset="-122"/>
              </a:defRPr>
            </a:lvl7pPr>
            <a:lvl8pPr marL="3265805" indent="-217805" eaLnBrk="0" fontAlgn="base" hangingPunct="0">
              <a:spcBef>
                <a:spcPct val="20000"/>
              </a:spcBef>
              <a:spcAft>
                <a:spcPct val="0"/>
              </a:spcAft>
              <a:buClr>
                <a:schemeClr val="accent2"/>
              </a:buClr>
              <a:buChar char="–"/>
              <a:defRPr sz="1905">
                <a:solidFill>
                  <a:schemeClr val="tx1"/>
                </a:solidFill>
                <a:latin typeface="Tahoma" panose="020B0604030504040204" pitchFamily="34" charset="0"/>
                <a:ea typeface="宋体" panose="02010600030101010101" pitchFamily="2" charset="-122"/>
              </a:defRPr>
            </a:lvl8pPr>
            <a:lvl9pPr marL="3701415" indent="-217805" eaLnBrk="0" fontAlgn="base" hangingPunct="0">
              <a:spcBef>
                <a:spcPct val="20000"/>
              </a:spcBef>
              <a:spcAft>
                <a:spcPct val="0"/>
              </a:spcAft>
              <a:buClr>
                <a:schemeClr val="accent2"/>
              </a:buClr>
              <a:buChar char="–"/>
              <a:defRPr sz="1905">
                <a:solidFill>
                  <a:schemeClr val="tx1"/>
                </a:solidFill>
                <a:latin typeface="Tahoma" panose="020B0604030504040204" pitchFamily="34" charset="0"/>
                <a:ea typeface="宋体" panose="02010600030101010101" pitchFamily="2" charset="-122"/>
              </a:defRPr>
            </a:lvl9pPr>
          </a:lstStyle>
          <a:p>
            <a:pPr fontAlgn="base">
              <a:spcBef>
                <a:spcPct val="50000"/>
              </a:spcBef>
              <a:buClrTx/>
              <a:buFontTx/>
              <a:buNone/>
            </a:pPr>
            <a:fld id="{2157D67F-3851-47CD-B3C0-E53CF3A65365}" type="slidenum">
              <a:rPr lang="zh-CN" altLang="en-US" sz="1335" strike="noStrike" noProof="1">
                <a:solidFill>
                  <a:schemeClr val="bg2"/>
                </a:solidFill>
                <a:latin typeface="+mn-lt"/>
                <a:ea typeface="宋体" panose="02010600030101010101" pitchFamily="2" charset="-122"/>
                <a:cs typeface="+mn-cs"/>
              </a:rPr>
            </a:fld>
            <a:endParaRPr lang="en-US" altLang="zh-CN" sz="1335" strike="noStrike" noProof="1">
              <a:solidFill>
                <a:schemeClr val="bg2"/>
              </a:solidFill>
              <a:latin typeface="+mn-lt"/>
            </a:endParaRPr>
          </a:p>
        </p:txBody>
      </p:sp>
      <p:sp>
        <p:nvSpPr>
          <p:cNvPr id="777218" name="Rectangle 2"/>
          <p:cNvSpPr>
            <a:spLocks noGrp="1" noChangeArrowheads="1"/>
          </p:cNvSpPr>
          <p:nvPr>
            <p:ph type="title"/>
          </p:nvPr>
        </p:nvSpPr>
        <p:spPr/>
        <p:txBody>
          <a:bodyPr/>
          <a:lstStyle/>
          <a:p>
            <a:pPr algn="ctr" eaLnBrk="1" fontAlgn="base" hangingPunct="1">
              <a:defRPr/>
            </a:pPr>
            <a:r>
              <a:rPr lang="en-US" altLang="zh-CN" sz="3810" strike="noStrike" noProof="1">
                <a:effectLst>
                  <a:outerShdw blurRad="38100" dist="38100" dir="2700000" algn="tl">
                    <a:srgbClr val="C0C0C0"/>
                  </a:outerShdw>
                </a:effectLst>
                <a:latin typeface="+mn-lt"/>
              </a:rPr>
              <a:t> </a:t>
            </a:r>
            <a:r>
              <a:rPr lang="en-US" altLang="zh-CN" sz="3810" strike="noStrike" noProof="1">
                <a:effectLst>
                  <a:outerShdw blurRad="38100" dist="38100" dir="2700000" algn="tl">
                    <a:srgbClr val="C0C0C0"/>
                  </a:outerShdw>
                </a:effectLst>
                <a:latin typeface="+mn-lt"/>
                <a:sym typeface="+mn-ea"/>
              </a:rPr>
              <a:t>  </a:t>
            </a:r>
            <a:r>
              <a:rPr lang="zh-CN" altLang="en-US" sz="3810" strike="noStrike" noProof="1">
                <a:effectLst>
                  <a:outerShdw blurRad="38100" dist="38100" dir="2700000" algn="tl">
                    <a:srgbClr val="C0C0C0"/>
                  </a:outerShdw>
                </a:effectLst>
                <a:latin typeface="Times New Roman" panose="02020603050405020304" pitchFamily="18" charset="0"/>
                <a:sym typeface="+mn-ea"/>
              </a:rPr>
              <a:t>例三</a:t>
            </a:r>
            <a:r>
              <a:rPr lang="en-US" altLang="zh-CN" sz="3810" strike="noStrike" noProof="1">
                <a:sym typeface="+mn-ea"/>
              </a:rPr>
              <a:t> </a:t>
            </a:r>
            <a:r>
              <a:rPr lang="zh-CN" altLang="en-US" sz="3810" strike="noStrike" noProof="1">
                <a:sym typeface="+mn-ea"/>
              </a:rPr>
              <a:t>书的摆放</a:t>
            </a:r>
            <a:endParaRPr lang="zh-CN" altLang="en-US" sz="3810" strike="noStrike" noProof="1">
              <a:effectLst>
                <a:outerShdw blurRad="38100" dist="38100" dir="2700000" algn="tl">
                  <a:srgbClr val="C0C0C0"/>
                </a:outerShdw>
              </a:effectLst>
              <a:latin typeface="+mn-lt"/>
            </a:endParaRPr>
          </a:p>
        </p:txBody>
      </p:sp>
      <p:pic>
        <p:nvPicPr>
          <p:cNvPr id="19462" name="图片 1"/>
          <p:cNvPicPr>
            <a:picLocks noChangeAspect="1"/>
          </p:cNvPicPr>
          <p:nvPr/>
        </p:nvPicPr>
        <p:blipFill>
          <a:blip r:embed="rId1"/>
          <a:stretch>
            <a:fillRect/>
          </a:stretch>
        </p:blipFill>
        <p:spPr>
          <a:xfrm>
            <a:off x="4943304" y="2741422"/>
            <a:ext cx="3656012" cy="2635250"/>
          </a:xfrm>
          <a:prstGeom prst="rect">
            <a:avLst/>
          </a:prstGeom>
          <a:noFill/>
          <a:ln w="9525">
            <a:noFill/>
          </a:ln>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270">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270">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270">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70"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70" name="Rectangle 3"/>
          <p:cNvSpPr>
            <a:spLocks noGrp="1" noChangeArrowheads="1"/>
          </p:cNvSpPr>
          <p:nvPr>
            <p:ph idx="1"/>
          </p:nvPr>
        </p:nvSpPr>
        <p:spPr>
          <a:xfrm>
            <a:off x="457200" y="1196752"/>
            <a:ext cx="8229600" cy="4525963"/>
          </a:xfrm>
        </p:spPr>
        <p:txBody>
          <a:bodyPr/>
          <a:lstStyle/>
          <a:p>
            <a:pPr eaLnBrk="1" fontAlgn="base" hangingPunct="1">
              <a:lnSpc>
                <a:spcPct val="120000"/>
              </a:lnSpc>
              <a:defRPr/>
            </a:pPr>
            <a:r>
              <a:rPr lang="zh-CN" altLang="en-US" sz="2855" b="1" strike="noStrike" noProof="1">
                <a:solidFill>
                  <a:schemeClr val="tx2"/>
                </a:solidFill>
              </a:rPr>
              <a:t>方法</a:t>
            </a:r>
            <a:r>
              <a:rPr lang="en-US" altLang="zh-CN" sz="2855" b="1" strike="noStrike" noProof="1">
                <a:solidFill>
                  <a:schemeClr val="tx2"/>
                </a:solidFill>
              </a:rPr>
              <a:t> 3: </a:t>
            </a:r>
            <a:r>
              <a:rPr lang="zh-CN" altLang="en-US" sz="2855" b="1" strike="noStrike" noProof="1">
                <a:solidFill>
                  <a:schemeClr val="tx2"/>
                </a:solidFill>
              </a:rPr>
              <a:t>按类别</a:t>
            </a:r>
            <a:endParaRPr lang="en-US" altLang="zh-CN" sz="1335" b="1" strike="noStrike" noProof="1">
              <a:solidFill>
                <a:schemeClr val="tx2"/>
              </a:solidFill>
            </a:endParaRPr>
          </a:p>
          <a:p>
            <a:pPr marL="2558415" lvl="6" indent="0" fontAlgn="auto">
              <a:lnSpc>
                <a:spcPct val="120000"/>
              </a:lnSpc>
              <a:buNone/>
              <a:defRPr/>
            </a:pPr>
            <a:endParaRPr lang="en-US" altLang="zh-CN" sz="1715" b="1" strike="noStrike" noProof="1">
              <a:solidFill>
                <a:schemeClr val="tx2"/>
              </a:solidFill>
            </a:endParaRPr>
          </a:p>
          <a:p>
            <a:pPr marL="0" indent="0" fontAlgn="base">
              <a:lnSpc>
                <a:spcPct val="110000"/>
              </a:lnSpc>
              <a:buNone/>
              <a:defRPr/>
            </a:pPr>
            <a:endParaRPr lang="en-US" altLang="zh-CN" sz="2855" b="1" strike="noStrike" noProof="1">
              <a:solidFill>
                <a:schemeClr val="tx2"/>
              </a:solidFill>
            </a:endParaRPr>
          </a:p>
          <a:p>
            <a:pPr marL="0" indent="0" fontAlgn="base">
              <a:lnSpc>
                <a:spcPct val="110000"/>
              </a:lnSpc>
              <a:buNone/>
              <a:defRPr/>
            </a:pPr>
            <a:endParaRPr lang="en-US" altLang="zh-CN" sz="2855" b="1" strike="noStrike" noProof="1">
              <a:solidFill>
                <a:schemeClr val="tx2"/>
              </a:solidFill>
            </a:endParaRPr>
          </a:p>
          <a:p>
            <a:pPr marL="0" indent="0" fontAlgn="base">
              <a:lnSpc>
                <a:spcPct val="110000"/>
              </a:lnSpc>
              <a:buNone/>
              <a:defRPr/>
            </a:pPr>
            <a:endParaRPr lang="en-US" altLang="zh-CN" sz="2855" b="1" strike="noStrike" noProof="1">
              <a:solidFill>
                <a:schemeClr val="tx2"/>
              </a:solidFill>
            </a:endParaRPr>
          </a:p>
          <a:p>
            <a:pPr marL="0" indent="0" fontAlgn="base">
              <a:lnSpc>
                <a:spcPct val="110000"/>
              </a:lnSpc>
              <a:buNone/>
              <a:defRPr/>
            </a:pPr>
            <a:endParaRPr lang="en-US" altLang="zh-CN" sz="2855" b="1" noProof="1">
              <a:solidFill>
                <a:schemeClr val="tx2"/>
              </a:solidFill>
            </a:endParaRPr>
          </a:p>
          <a:p>
            <a:pPr marL="0" indent="0" fontAlgn="base">
              <a:lnSpc>
                <a:spcPct val="110000"/>
              </a:lnSpc>
              <a:buNone/>
              <a:defRPr/>
            </a:pPr>
            <a:r>
              <a:rPr lang="zh-CN" altLang="en-US" sz="2855" b="1" strike="noStrike" noProof="1">
                <a:solidFill>
                  <a:schemeClr val="tx2"/>
                </a:solidFill>
              </a:rPr>
              <a:t>每类多少个架子</a:t>
            </a:r>
            <a:r>
              <a:rPr lang="en-US" altLang="zh-CN" sz="2855" b="1" strike="noStrike" noProof="1">
                <a:solidFill>
                  <a:schemeClr val="tx2"/>
                </a:solidFill>
              </a:rPr>
              <a:t>?</a:t>
            </a:r>
            <a:endParaRPr lang="en-US" altLang="zh-CN" sz="2855" b="1" strike="noStrike" noProof="1">
              <a:solidFill>
                <a:schemeClr val="tx2"/>
              </a:solidFill>
            </a:endParaRPr>
          </a:p>
          <a:p>
            <a:pPr marL="0" indent="0" fontAlgn="base">
              <a:lnSpc>
                <a:spcPct val="110000"/>
              </a:lnSpc>
              <a:buNone/>
              <a:defRPr/>
            </a:pPr>
            <a:endParaRPr lang="en-US" altLang="zh-CN" sz="2855" b="1" strike="noStrike" noProof="1">
              <a:solidFill>
                <a:schemeClr val="tx2"/>
              </a:solidFill>
            </a:endParaRPr>
          </a:p>
        </p:txBody>
      </p:sp>
      <p:sp>
        <p:nvSpPr>
          <p:cNvPr id="21506" name="日期占位符 3"/>
          <p:cNvSpPr>
            <a:spLocks noGrp="1"/>
          </p:cNvSpPr>
          <p:nvPr>
            <p:ph type="dt" sz="half" idx="10"/>
          </p:nvPr>
        </p:nvSpPr>
        <p:spPr/>
        <p:txBody>
          <a:bodyPr wrap="square" lIns="91440" tIns="45720" rIns="91440" bIns="45720" anchor="t"/>
          <a:lstStyle>
            <a:lvl1pPr marL="0" lvl="0" indent="0" algn="l" defTabSz="914400" rtl="0" eaLnBrk="0" fontAlgn="base" latinLnBrk="0" hangingPunct="0">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indent="0">
              <a:spcBef>
                <a:spcPct val="50000"/>
              </a:spcBef>
            </a:pPr>
            <a:r>
              <a:rPr lang="en-US" altLang="zh-CN" sz="1400">
                <a:solidFill>
                  <a:schemeClr val="bg2"/>
                </a:solidFill>
              </a:rPr>
              <a:t>Data Structures and algorithms</a:t>
            </a:r>
            <a:endParaRPr lang="en-US" altLang="zh-CN" sz="1400">
              <a:solidFill>
                <a:schemeClr val="bg2"/>
              </a:solidFill>
            </a:endParaRPr>
          </a:p>
        </p:txBody>
      </p:sp>
      <p:sp>
        <p:nvSpPr>
          <p:cNvPr id="21507" name="页脚占位符 4"/>
          <p:cNvSpPr>
            <a:spLocks noGrp="1"/>
          </p:cNvSpPr>
          <p:nvPr>
            <p:ph type="ftr" sz="quarter" idx="11"/>
          </p:nvPr>
        </p:nvSpPr>
        <p:spPr/>
        <p:txBody>
          <a:bodyPr wrap="square" lIns="91440" tIns="45720" rIns="91440" bIns="45720" anchor="t"/>
          <a:lstStyle>
            <a:lvl1pPr marL="0" lvl="0" indent="0" algn="l" defTabSz="914400" rtl="0" eaLnBrk="0" fontAlgn="base" latinLnBrk="0" hangingPunct="0">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indent="0">
              <a:spcBef>
                <a:spcPct val="50000"/>
              </a:spcBef>
            </a:pPr>
            <a:r>
              <a:rPr lang="zh-CN" altLang="en-US" sz="1400">
                <a:solidFill>
                  <a:schemeClr val="bg2"/>
                </a:solidFill>
              </a:rPr>
              <a:t>Software College Northeastern University</a:t>
            </a:r>
            <a:endParaRPr lang="en-US" altLang="zh-CN" sz="1400">
              <a:solidFill>
                <a:schemeClr val="bg2"/>
              </a:solidFill>
            </a:endParaRPr>
          </a:p>
        </p:txBody>
      </p:sp>
      <p:sp>
        <p:nvSpPr>
          <p:cNvPr id="23556" name="灯片编号占位符 5"/>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spcBef>
                <a:spcPct val="20000"/>
              </a:spcBef>
              <a:buClr>
                <a:schemeClr val="accent2"/>
              </a:buClr>
              <a:buFont typeface="Monotype Sorts" pitchFamily="2" charset="2"/>
              <a:buChar char="z"/>
              <a:defRPr sz="3050">
                <a:solidFill>
                  <a:schemeClr val="tx1"/>
                </a:solidFill>
                <a:latin typeface="Tahoma" panose="020B0604030504040204" pitchFamily="34" charset="0"/>
                <a:ea typeface="宋体" panose="02010600030101010101" pitchFamily="2" charset="-122"/>
              </a:defRPr>
            </a:lvl1pPr>
            <a:lvl2pPr marL="707390" indent="-272415">
              <a:spcBef>
                <a:spcPct val="20000"/>
              </a:spcBef>
              <a:buClr>
                <a:schemeClr val="accent2"/>
              </a:buClr>
              <a:buFont typeface="Monotype Sorts" pitchFamily="2" charset="2"/>
              <a:buChar char="y"/>
              <a:defRPr sz="2665">
                <a:solidFill>
                  <a:schemeClr val="tx1"/>
                </a:solidFill>
                <a:latin typeface="Tahoma" panose="020B0604030504040204" pitchFamily="34" charset="0"/>
                <a:ea typeface="宋体" panose="02010600030101010101" pitchFamily="2" charset="-122"/>
              </a:defRPr>
            </a:lvl2pPr>
            <a:lvl3pPr marL="1088390" indent="-217805">
              <a:spcBef>
                <a:spcPct val="20000"/>
              </a:spcBef>
              <a:buClr>
                <a:schemeClr val="accent2"/>
              </a:buClr>
              <a:buFont typeface="Monotype Sorts" pitchFamily="2" charset="2"/>
              <a:buChar char="x"/>
              <a:defRPr sz="2285">
                <a:solidFill>
                  <a:schemeClr val="tx1"/>
                </a:solidFill>
                <a:latin typeface="Tahoma" panose="020B0604030504040204" pitchFamily="34" charset="0"/>
                <a:ea typeface="宋体" panose="02010600030101010101" pitchFamily="2" charset="-122"/>
              </a:defRPr>
            </a:lvl3pPr>
            <a:lvl4pPr marL="1524000" indent="-217805">
              <a:spcBef>
                <a:spcPct val="20000"/>
              </a:spcBef>
              <a:buClr>
                <a:schemeClr val="accent2"/>
              </a:buClr>
              <a:buChar char="•"/>
              <a:defRPr sz="1905">
                <a:solidFill>
                  <a:schemeClr val="tx1"/>
                </a:solidFill>
                <a:latin typeface="Tahoma" panose="020B0604030504040204" pitchFamily="34" charset="0"/>
                <a:ea typeface="宋体" panose="02010600030101010101" pitchFamily="2" charset="-122"/>
              </a:defRPr>
            </a:lvl4pPr>
            <a:lvl5pPr marL="1959610" indent="-217805">
              <a:spcBef>
                <a:spcPct val="20000"/>
              </a:spcBef>
              <a:buClr>
                <a:schemeClr val="accent2"/>
              </a:buClr>
              <a:buChar char="–"/>
              <a:defRPr sz="1905">
                <a:solidFill>
                  <a:schemeClr val="tx1"/>
                </a:solidFill>
                <a:latin typeface="Tahoma" panose="020B0604030504040204" pitchFamily="34" charset="0"/>
                <a:ea typeface="宋体" panose="02010600030101010101" pitchFamily="2" charset="-122"/>
              </a:defRPr>
            </a:lvl5pPr>
            <a:lvl6pPr marL="2395220" indent="-217805" eaLnBrk="0" fontAlgn="base" hangingPunct="0">
              <a:spcBef>
                <a:spcPct val="20000"/>
              </a:spcBef>
              <a:spcAft>
                <a:spcPct val="0"/>
              </a:spcAft>
              <a:buClr>
                <a:schemeClr val="accent2"/>
              </a:buClr>
              <a:buChar char="–"/>
              <a:defRPr sz="1905">
                <a:solidFill>
                  <a:schemeClr val="tx1"/>
                </a:solidFill>
                <a:latin typeface="Tahoma" panose="020B0604030504040204" pitchFamily="34" charset="0"/>
                <a:ea typeface="宋体" panose="02010600030101010101" pitchFamily="2" charset="-122"/>
              </a:defRPr>
            </a:lvl6pPr>
            <a:lvl7pPr marL="2830195" indent="-217805" eaLnBrk="0" fontAlgn="base" hangingPunct="0">
              <a:spcBef>
                <a:spcPct val="20000"/>
              </a:spcBef>
              <a:spcAft>
                <a:spcPct val="0"/>
              </a:spcAft>
              <a:buClr>
                <a:schemeClr val="accent2"/>
              </a:buClr>
              <a:buChar char="–"/>
              <a:defRPr sz="1905">
                <a:solidFill>
                  <a:schemeClr val="tx1"/>
                </a:solidFill>
                <a:latin typeface="Tahoma" panose="020B0604030504040204" pitchFamily="34" charset="0"/>
                <a:ea typeface="宋体" panose="02010600030101010101" pitchFamily="2" charset="-122"/>
              </a:defRPr>
            </a:lvl7pPr>
            <a:lvl8pPr marL="3265805" indent="-217805" eaLnBrk="0" fontAlgn="base" hangingPunct="0">
              <a:spcBef>
                <a:spcPct val="20000"/>
              </a:spcBef>
              <a:spcAft>
                <a:spcPct val="0"/>
              </a:spcAft>
              <a:buClr>
                <a:schemeClr val="accent2"/>
              </a:buClr>
              <a:buChar char="–"/>
              <a:defRPr sz="1905">
                <a:solidFill>
                  <a:schemeClr val="tx1"/>
                </a:solidFill>
                <a:latin typeface="Tahoma" panose="020B0604030504040204" pitchFamily="34" charset="0"/>
                <a:ea typeface="宋体" panose="02010600030101010101" pitchFamily="2" charset="-122"/>
              </a:defRPr>
            </a:lvl8pPr>
            <a:lvl9pPr marL="3701415" indent="-217805" eaLnBrk="0" fontAlgn="base" hangingPunct="0">
              <a:spcBef>
                <a:spcPct val="20000"/>
              </a:spcBef>
              <a:spcAft>
                <a:spcPct val="0"/>
              </a:spcAft>
              <a:buClr>
                <a:schemeClr val="accent2"/>
              </a:buClr>
              <a:buChar char="–"/>
              <a:defRPr sz="1905">
                <a:solidFill>
                  <a:schemeClr val="tx1"/>
                </a:solidFill>
                <a:latin typeface="Tahoma" panose="020B0604030504040204" pitchFamily="34" charset="0"/>
                <a:ea typeface="宋体" panose="02010600030101010101" pitchFamily="2" charset="-122"/>
              </a:defRPr>
            </a:lvl9pPr>
          </a:lstStyle>
          <a:p>
            <a:pPr fontAlgn="base">
              <a:spcBef>
                <a:spcPct val="50000"/>
              </a:spcBef>
              <a:buClrTx/>
              <a:buFontTx/>
              <a:buNone/>
            </a:pPr>
            <a:fld id="{95D19A78-0DC6-4D60-8354-D8F2B5B4F766}" type="slidenum">
              <a:rPr lang="zh-CN" altLang="en-US" sz="1335" strike="noStrike" noProof="1">
                <a:solidFill>
                  <a:schemeClr val="bg2"/>
                </a:solidFill>
                <a:latin typeface="+mn-lt"/>
                <a:ea typeface="宋体" panose="02010600030101010101" pitchFamily="2" charset="-122"/>
                <a:cs typeface="+mn-cs"/>
              </a:rPr>
            </a:fld>
            <a:endParaRPr lang="en-US" altLang="zh-CN" sz="1335" strike="noStrike" noProof="1">
              <a:solidFill>
                <a:schemeClr val="bg2"/>
              </a:solidFill>
              <a:latin typeface="+mn-lt"/>
            </a:endParaRPr>
          </a:p>
        </p:txBody>
      </p:sp>
      <p:sp>
        <p:nvSpPr>
          <p:cNvPr id="777218" name="Rectangle 2"/>
          <p:cNvSpPr>
            <a:spLocks noGrp="1" noChangeArrowheads="1"/>
          </p:cNvSpPr>
          <p:nvPr>
            <p:ph type="title"/>
          </p:nvPr>
        </p:nvSpPr>
        <p:spPr/>
        <p:txBody>
          <a:bodyPr/>
          <a:lstStyle/>
          <a:p>
            <a:pPr algn="ctr" eaLnBrk="1" fontAlgn="base" hangingPunct="1">
              <a:defRPr/>
            </a:pPr>
            <a:r>
              <a:rPr lang="en-US" altLang="zh-CN" sz="3810" strike="noStrike" noProof="1">
                <a:effectLst>
                  <a:outerShdw blurRad="38100" dist="38100" dir="2700000" algn="tl">
                    <a:srgbClr val="C0C0C0"/>
                  </a:outerShdw>
                </a:effectLst>
                <a:latin typeface="+mn-lt"/>
                <a:sym typeface="+mn-ea"/>
              </a:rPr>
              <a:t> </a:t>
            </a:r>
            <a:r>
              <a:rPr lang="zh-CN" altLang="en-US" sz="3810" strike="noStrike" noProof="1">
                <a:effectLst>
                  <a:outerShdw blurRad="38100" dist="38100" dir="2700000" algn="tl">
                    <a:srgbClr val="C0C0C0"/>
                  </a:outerShdw>
                </a:effectLst>
                <a:latin typeface="Times New Roman" panose="02020603050405020304" pitchFamily="18" charset="0"/>
                <a:sym typeface="+mn-ea"/>
              </a:rPr>
              <a:t>例三</a:t>
            </a:r>
            <a:r>
              <a:rPr lang="en-US" altLang="zh-CN" sz="3810" strike="noStrike" noProof="1">
                <a:sym typeface="+mn-ea"/>
              </a:rPr>
              <a:t> </a:t>
            </a:r>
            <a:r>
              <a:rPr lang="zh-CN" altLang="en-US" sz="3810" strike="noStrike" noProof="1">
                <a:sym typeface="+mn-ea"/>
              </a:rPr>
              <a:t>书的摆放</a:t>
            </a:r>
            <a:endParaRPr lang="zh-CN" altLang="en-US" sz="3810" strike="noStrike" noProof="1">
              <a:effectLst>
                <a:outerShdw blurRad="38100" dist="38100" dir="2700000" algn="tl">
                  <a:srgbClr val="C0C0C0"/>
                </a:outerShdw>
              </a:effectLst>
              <a:latin typeface="+mn-lt"/>
            </a:endParaRPr>
          </a:p>
        </p:txBody>
      </p:sp>
      <p:grpSp>
        <p:nvGrpSpPr>
          <p:cNvPr id="20" name="组合 19"/>
          <p:cNvGrpSpPr/>
          <p:nvPr/>
        </p:nvGrpSpPr>
        <p:grpSpPr>
          <a:xfrm>
            <a:off x="1691680" y="2276872"/>
            <a:ext cx="4600416" cy="2150877"/>
            <a:chOff x="3335338" y="1772816"/>
            <a:chExt cx="4600416" cy="2150877"/>
          </a:xfrm>
        </p:grpSpPr>
        <p:sp>
          <p:nvSpPr>
            <p:cNvPr id="2" name="矩形 1"/>
            <p:cNvSpPr/>
            <p:nvPr/>
          </p:nvSpPr>
          <p:spPr>
            <a:xfrm>
              <a:off x="4716016" y="1772816"/>
              <a:ext cx="1224136" cy="2460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t>计算机类图书</a:t>
              </a:r>
              <a:endParaRPr lang="zh-CN" altLang="en-US" sz="1200" dirty="0"/>
            </a:p>
          </p:txBody>
        </p:sp>
        <p:sp>
          <p:nvSpPr>
            <p:cNvPr id="25" name="矩形 24"/>
            <p:cNvSpPr/>
            <p:nvPr/>
          </p:nvSpPr>
          <p:spPr>
            <a:xfrm>
              <a:off x="3491880" y="2433637"/>
              <a:ext cx="936104" cy="2460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t>数据库</a:t>
              </a:r>
              <a:endParaRPr lang="zh-CN" altLang="en-US" sz="1200" dirty="0"/>
            </a:p>
          </p:txBody>
        </p:sp>
        <p:sp>
          <p:nvSpPr>
            <p:cNvPr id="26" name="矩形 25"/>
            <p:cNvSpPr/>
            <p:nvPr/>
          </p:nvSpPr>
          <p:spPr>
            <a:xfrm>
              <a:off x="4617678" y="2433637"/>
              <a:ext cx="936104" cy="2460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t>编程语言</a:t>
              </a:r>
              <a:endParaRPr lang="zh-CN" altLang="en-US" sz="1200" dirty="0"/>
            </a:p>
          </p:txBody>
        </p:sp>
        <p:sp>
          <p:nvSpPr>
            <p:cNvPr id="27" name="矩形 26"/>
            <p:cNvSpPr/>
            <p:nvPr/>
          </p:nvSpPr>
          <p:spPr>
            <a:xfrm>
              <a:off x="5808664" y="2426399"/>
              <a:ext cx="936104" cy="2460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t>…….</a:t>
              </a:r>
              <a:endParaRPr lang="zh-CN" altLang="en-US" sz="1200" dirty="0"/>
            </a:p>
          </p:txBody>
        </p:sp>
        <p:sp>
          <p:nvSpPr>
            <p:cNvPr id="28" name="矩形 27"/>
            <p:cNvSpPr/>
            <p:nvPr/>
          </p:nvSpPr>
          <p:spPr>
            <a:xfrm>
              <a:off x="6999650" y="2426398"/>
              <a:ext cx="936104" cy="2460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t>操作系统</a:t>
              </a:r>
              <a:endParaRPr lang="zh-CN" altLang="en-US" sz="1200" dirty="0"/>
            </a:p>
          </p:txBody>
        </p:sp>
        <p:sp>
          <p:nvSpPr>
            <p:cNvPr id="29" name="矩形 28"/>
            <p:cNvSpPr/>
            <p:nvPr/>
          </p:nvSpPr>
          <p:spPr>
            <a:xfrm>
              <a:off x="3837769" y="3094458"/>
              <a:ext cx="936104" cy="2460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t>面向对象</a:t>
              </a:r>
              <a:endParaRPr lang="zh-CN" altLang="en-US" sz="1200" dirty="0"/>
            </a:p>
          </p:txBody>
        </p:sp>
        <p:sp>
          <p:nvSpPr>
            <p:cNvPr id="30" name="矩形 29"/>
            <p:cNvSpPr/>
            <p:nvPr/>
          </p:nvSpPr>
          <p:spPr>
            <a:xfrm>
              <a:off x="5050726" y="3094458"/>
              <a:ext cx="936104" cy="2460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t>移动端</a:t>
              </a:r>
              <a:endParaRPr lang="zh-CN" altLang="en-US" sz="1200" dirty="0"/>
            </a:p>
          </p:txBody>
        </p:sp>
        <p:sp>
          <p:nvSpPr>
            <p:cNvPr id="31" name="矩形 30"/>
            <p:cNvSpPr/>
            <p:nvPr/>
          </p:nvSpPr>
          <p:spPr>
            <a:xfrm>
              <a:off x="3335338" y="3677630"/>
              <a:ext cx="936104" cy="2460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t>C++</a:t>
              </a:r>
              <a:endParaRPr lang="zh-CN" altLang="en-US" sz="1200" dirty="0"/>
            </a:p>
          </p:txBody>
        </p:sp>
        <p:sp>
          <p:nvSpPr>
            <p:cNvPr id="32" name="矩形 31"/>
            <p:cNvSpPr/>
            <p:nvPr/>
          </p:nvSpPr>
          <p:spPr>
            <a:xfrm>
              <a:off x="4503271" y="3677630"/>
              <a:ext cx="936104" cy="2460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t>Java</a:t>
              </a:r>
              <a:endParaRPr lang="zh-CN" altLang="en-US" sz="1200" dirty="0"/>
            </a:p>
          </p:txBody>
        </p:sp>
        <p:cxnSp>
          <p:nvCxnSpPr>
            <p:cNvPr id="4" name="直接连接符 3"/>
            <p:cNvCxnSpPr>
              <a:stCxn id="2" idx="1"/>
              <a:endCxn id="25" idx="0"/>
            </p:cNvCxnSpPr>
            <p:nvPr/>
          </p:nvCxnSpPr>
          <p:spPr>
            <a:xfrm flipH="1">
              <a:off x="3959932" y="1895848"/>
              <a:ext cx="756084" cy="537789"/>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5" name="直接连接符 34"/>
            <p:cNvCxnSpPr>
              <a:stCxn id="2" idx="2"/>
              <a:endCxn id="26" idx="0"/>
            </p:cNvCxnSpPr>
            <p:nvPr/>
          </p:nvCxnSpPr>
          <p:spPr>
            <a:xfrm flipH="1">
              <a:off x="5085730" y="2018879"/>
              <a:ext cx="242354" cy="414758"/>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9" name="直接连接符 38"/>
            <p:cNvCxnSpPr>
              <a:stCxn id="2" idx="2"/>
              <a:endCxn id="27" idx="0"/>
            </p:cNvCxnSpPr>
            <p:nvPr/>
          </p:nvCxnSpPr>
          <p:spPr>
            <a:xfrm>
              <a:off x="5328084" y="2018879"/>
              <a:ext cx="948632" cy="40752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2" name="直接连接符 41"/>
            <p:cNvCxnSpPr>
              <a:stCxn id="2" idx="3"/>
              <a:endCxn id="28" idx="0"/>
            </p:cNvCxnSpPr>
            <p:nvPr/>
          </p:nvCxnSpPr>
          <p:spPr>
            <a:xfrm>
              <a:off x="5940152" y="1895848"/>
              <a:ext cx="1527550" cy="53055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5" name="直接连接符 44"/>
            <p:cNvCxnSpPr>
              <a:stCxn id="26" idx="2"/>
              <a:endCxn id="29" idx="0"/>
            </p:cNvCxnSpPr>
            <p:nvPr/>
          </p:nvCxnSpPr>
          <p:spPr>
            <a:xfrm flipH="1">
              <a:off x="4305821" y="2679700"/>
              <a:ext cx="779909" cy="414758"/>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8" name="直接连接符 47"/>
            <p:cNvCxnSpPr>
              <a:stCxn id="26" idx="2"/>
              <a:endCxn id="30" idx="0"/>
            </p:cNvCxnSpPr>
            <p:nvPr/>
          </p:nvCxnSpPr>
          <p:spPr>
            <a:xfrm>
              <a:off x="5085730" y="2679700"/>
              <a:ext cx="433048" cy="414758"/>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51" name="直接连接符 50"/>
            <p:cNvCxnSpPr>
              <a:stCxn id="29" idx="2"/>
              <a:endCxn id="31" idx="0"/>
            </p:cNvCxnSpPr>
            <p:nvPr/>
          </p:nvCxnSpPr>
          <p:spPr>
            <a:xfrm flipH="1">
              <a:off x="3803390" y="3340521"/>
              <a:ext cx="502431" cy="337109"/>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54" name="直接连接符 53"/>
            <p:cNvCxnSpPr>
              <a:stCxn id="29" idx="2"/>
              <a:endCxn id="32" idx="0"/>
            </p:cNvCxnSpPr>
            <p:nvPr/>
          </p:nvCxnSpPr>
          <p:spPr>
            <a:xfrm>
              <a:off x="4305821" y="3340521"/>
              <a:ext cx="665502" cy="337109"/>
            </a:xfrm>
            <a:prstGeom prst="line">
              <a:avLst/>
            </a:prstGeom>
            <a:ln w="19050"/>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270">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70"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pPr eaLnBrk="1" hangingPunct="1"/>
            <a:r>
              <a:rPr lang="zh-CN" altLang="en-US" b="1" dirty="0">
                <a:solidFill>
                  <a:schemeClr val="tx2"/>
                </a:solidFill>
                <a:latin typeface="楷体_GB2312" panose="02010609030101010101" pitchFamily="49" charset="-122"/>
                <a:ea typeface="楷体_GB2312" panose="02010609030101010101" pitchFamily="49" charset="-122"/>
                <a:sym typeface="+mn-ea"/>
              </a:rPr>
              <a:t>求解非数值计算的问题：主要考虑的是设计出</a:t>
            </a:r>
            <a:r>
              <a:rPr lang="zh-CN" altLang="en-US" b="1" dirty="0">
                <a:solidFill>
                  <a:schemeClr val="accent3">
                    <a:lumMod val="75000"/>
                  </a:schemeClr>
                </a:solidFill>
                <a:latin typeface="楷体_GB2312" panose="02010609030101010101" pitchFamily="49" charset="-122"/>
                <a:ea typeface="楷体_GB2312" panose="02010609030101010101" pitchFamily="49" charset="-122"/>
                <a:sym typeface="+mn-ea"/>
              </a:rPr>
              <a:t>合适的数据结构及相应的算法</a:t>
            </a:r>
            <a:r>
              <a:rPr lang="zh-CN" altLang="en-US" b="1" dirty="0">
                <a:solidFill>
                  <a:schemeClr val="tx2"/>
                </a:solidFill>
                <a:latin typeface="楷体_GB2312" panose="02010609030101010101" pitchFamily="49" charset="-122"/>
                <a:ea typeface="楷体_GB2312" panose="02010609030101010101" pitchFamily="49" charset="-122"/>
                <a:sym typeface="+mn-ea"/>
              </a:rPr>
              <a:t>。即：首先要考虑对相关的各种信息如何</a:t>
            </a:r>
            <a:r>
              <a:rPr lang="zh-CN" altLang="en-US" b="1" dirty="0">
                <a:solidFill>
                  <a:srgbClr val="FF0000"/>
                </a:solidFill>
                <a:latin typeface="楷体_GB2312" panose="02010609030101010101" pitchFamily="49" charset="-122"/>
                <a:ea typeface="楷体_GB2312" panose="02010609030101010101" pitchFamily="49" charset="-122"/>
                <a:sym typeface="+mn-ea"/>
              </a:rPr>
              <a:t>表示、组织和存储</a:t>
            </a:r>
            <a:r>
              <a:rPr lang="zh-CN" altLang="en-US" b="1" dirty="0">
                <a:solidFill>
                  <a:schemeClr val="tx2"/>
                </a:solidFill>
                <a:latin typeface="楷体_GB2312" panose="02010609030101010101" pitchFamily="49" charset="-122"/>
                <a:ea typeface="楷体_GB2312" panose="02010609030101010101" pitchFamily="49" charset="-122"/>
                <a:sym typeface="+mn-ea"/>
              </a:rPr>
              <a:t>？</a:t>
            </a:r>
            <a:endParaRPr lang="zh-CN" altLang="en-US" b="1" dirty="0">
              <a:solidFill>
                <a:schemeClr val="tx2"/>
              </a:solidFill>
              <a:latin typeface="楷体_GB2312" panose="02010609030101010101" pitchFamily="49" charset="-122"/>
              <a:ea typeface="楷体_GB2312" panose="02010609030101010101" pitchFamily="49" charset="-122"/>
            </a:endParaRPr>
          </a:p>
          <a:p>
            <a:pPr eaLnBrk="1" hangingPunct="1"/>
            <a:r>
              <a:rPr lang="zh-CN" altLang="en-US" dirty="0">
                <a:latin typeface="+mn-lt"/>
                <a:sym typeface="+mn-ea"/>
              </a:rPr>
              <a:t>对于一个给定的问题有很多种解决方案</a:t>
            </a:r>
            <a:endParaRPr lang="zh-CN" altLang="en-US" dirty="0">
              <a:latin typeface="+mn-lt"/>
              <a:sym typeface="+mn-ea"/>
            </a:endParaRPr>
          </a:p>
          <a:p>
            <a:pPr eaLnBrk="1" hangingPunct="1"/>
            <a:r>
              <a:rPr lang="zh-CN" altLang="en-US" dirty="0">
                <a:latin typeface="+mn-lt"/>
                <a:sym typeface="+mn-ea"/>
              </a:rPr>
              <a:t>每一种解决方案适用的情况不同，各有优缺点</a:t>
            </a:r>
            <a:endParaRPr lang="zh-CN" altLang="en-US" dirty="0">
              <a:latin typeface="+mn-lt"/>
              <a:sym typeface="+mn-ea"/>
            </a:endParaRPr>
          </a:p>
          <a:p>
            <a:pPr eaLnBrk="1" hangingPunct="1"/>
            <a:r>
              <a:rPr lang="zh-CN" altLang="en-US" b="1" dirty="0">
                <a:solidFill>
                  <a:srgbClr val="0000FF"/>
                </a:solidFill>
                <a:latin typeface="楷体_GB2312" panose="02010609030101010101" pitchFamily="49" charset="-122"/>
                <a:ea typeface="楷体_GB2312" panose="02010609030101010101" pitchFamily="49" charset="-122"/>
                <a:sym typeface="+mn-ea"/>
              </a:rPr>
              <a:t>数据结构是一门讨论</a:t>
            </a:r>
            <a:r>
              <a:rPr lang="zh-CN" altLang="en-US" b="1" dirty="0">
                <a:solidFill>
                  <a:srgbClr val="0000FF"/>
                </a:solidFill>
                <a:latin typeface="Times New Roman" panose="02020603050405020304" pitchFamily="18" charset="0"/>
                <a:ea typeface="楷体_GB2312" panose="02010609030101010101" pitchFamily="49" charset="-122"/>
                <a:sym typeface="+mn-ea"/>
              </a:rPr>
              <a:t>“</a:t>
            </a:r>
            <a:r>
              <a:rPr lang="zh-CN" altLang="en-US" b="1" dirty="0">
                <a:solidFill>
                  <a:srgbClr val="0000FF"/>
                </a:solidFill>
                <a:latin typeface="楷体_GB2312" panose="02010609030101010101" pitchFamily="49" charset="-122"/>
                <a:ea typeface="楷体_GB2312" panose="02010609030101010101" pitchFamily="49" charset="-122"/>
                <a:sym typeface="+mn-ea"/>
              </a:rPr>
              <a:t>描述现实世界实体的数学模型</a:t>
            </a:r>
            <a:r>
              <a:rPr lang="en-US" altLang="zh-CN" b="1" dirty="0">
                <a:solidFill>
                  <a:srgbClr val="0000FF"/>
                </a:solidFill>
                <a:latin typeface="楷体_GB2312" panose="02010609030101010101" pitchFamily="49" charset="-122"/>
                <a:ea typeface="楷体_GB2312" panose="02010609030101010101" pitchFamily="49" charset="-122"/>
                <a:sym typeface="+mn-ea"/>
              </a:rPr>
              <a:t>(</a:t>
            </a:r>
            <a:r>
              <a:rPr lang="zh-CN" altLang="en-US" b="1" dirty="0">
                <a:solidFill>
                  <a:srgbClr val="0000FF"/>
                </a:solidFill>
                <a:latin typeface="楷体_GB2312" panose="02010609030101010101" pitchFamily="49" charset="-122"/>
                <a:ea typeface="楷体_GB2312" panose="02010609030101010101" pitchFamily="49" charset="-122"/>
                <a:sym typeface="+mn-ea"/>
              </a:rPr>
              <a:t>非数值计算</a:t>
            </a:r>
            <a:r>
              <a:rPr lang="en-US" altLang="zh-CN" b="1" dirty="0">
                <a:solidFill>
                  <a:srgbClr val="0000FF"/>
                </a:solidFill>
                <a:latin typeface="楷体_GB2312" panose="02010609030101010101" pitchFamily="49" charset="-122"/>
                <a:ea typeface="楷体_GB2312" panose="02010609030101010101" pitchFamily="49" charset="-122"/>
                <a:sym typeface="+mn-ea"/>
              </a:rPr>
              <a:t>)</a:t>
            </a:r>
            <a:r>
              <a:rPr lang="zh-CN" altLang="en-US" b="1" dirty="0">
                <a:solidFill>
                  <a:srgbClr val="0000FF"/>
                </a:solidFill>
                <a:latin typeface="楷体_GB2312" panose="02010609030101010101" pitchFamily="49" charset="-122"/>
                <a:ea typeface="楷体_GB2312" panose="02010609030101010101" pitchFamily="49" charset="-122"/>
                <a:sym typeface="+mn-ea"/>
              </a:rPr>
              <a:t>及其上的操作在计算机中如何表示和实现</a:t>
            </a:r>
            <a:r>
              <a:rPr lang="zh-CN" altLang="en-US" b="1" dirty="0">
                <a:solidFill>
                  <a:srgbClr val="0000FF"/>
                </a:solidFill>
                <a:latin typeface="Times New Roman" panose="02020603050405020304" pitchFamily="18" charset="0"/>
                <a:ea typeface="楷体_GB2312" panose="02010609030101010101" pitchFamily="49" charset="-122"/>
                <a:sym typeface="+mn-ea"/>
              </a:rPr>
              <a:t>”</a:t>
            </a:r>
            <a:r>
              <a:rPr lang="zh-CN" altLang="en-US" b="1" dirty="0">
                <a:solidFill>
                  <a:srgbClr val="0000FF"/>
                </a:solidFill>
                <a:latin typeface="楷体_GB2312" panose="02010609030101010101" pitchFamily="49" charset="-122"/>
                <a:ea typeface="楷体_GB2312" panose="02010609030101010101" pitchFamily="49" charset="-122"/>
                <a:sym typeface="+mn-ea"/>
              </a:rPr>
              <a:t>的学科。</a:t>
            </a:r>
            <a:endParaRPr lang="zh-CN" altLang="en-US" dirty="0">
              <a:latin typeface="+mn-lt"/>
              <a:sym typeface="+mn-ea"/>
            </a:endParaRPr>
          </a:p>
        </p:txBody>
      </p:sp>
      <p:sp>
        <p:nvSpPr>
          <p:cNvPr id="4" name="标题 3"/>
          <p:cNvSpPr>
            <a:spLocks noGrp="1"/>
          </p:cNvSpPr>
          <p:nvPr>
            <p:ph type="title"/>
          </p:nvPr>
        </p:nvSpPr>
        <p:spPr/>
        <p:txBody>
          <a:bodyPr/>
          <a:lstStyle/>
          <a:p>
            <a:endParaRPr lang="zh-CN" altLang="en-US"/>
          </a:p>
        </p:txBody>
      </p:sp>
      <p:sp>
        <p:nvSpPr>
          <p:cNvPr id="3" name="日期占位符 2"/>
          <p:cNvSpPr>
            <a:spLocks noGrp="1"/>
          </p:cNvSpPr>
          <p:nvPr>
            <p:ph type="dt" sz="half" idx="10"/>
          </p:nvPr>
        </p:nvSpPr>
        <p:spPr/>
        <p:txBody>
          <a:bodyPr/>
          <a:lstStyle/>
          <a:p>
            <a:r>
              <a:rPr lang="en-US" altLang="zh-CN"/>
              <a:t>Data Structures and algorithms</a:t>
            </a:r>
            <a:endParaRPr lang="zh-CN" altLang="en-US"/>
          </a:p>
        </p:txBody>
      </p:sp>
      <p:sp>
        <p:nvSpPr>
          <p:cNvPr id="5" name="页脚占位符 4"/>
          <p:cNvSpPr>
            <a:spLocks noGrp="1"/>
          </p:cNvSpPr>
          <p:nvPr>
            <p:ph type="ftr" sz="quarter" idx="11"/>
          </p:nvPr>
        </p:nvSpPr>
        <p:spPr/>
        <p:txBody>
          <a:bodyPr/>
          <a:lstStyle/>
          <a:p>
            <a:r>
              <a:rPr lang="en-US" altLang="zh-CN"/>
              <a:t>Software College Northeastern University</a:t>
            </a:r>
            <a:endParaRPr lang="zh-CN" altLang="en-US"/>
          </a:p>
        </p:txBody>
      </p:sp>
      <p:sp>
        <p:nvSpPr>
          <p:cNvPr id="6" name="灯片编号占位符 5"/>
          <p:cNvSpPr>
            <a:spLocks noGrp="1"/>
          </p:cNvSpPr>
          <p:nvPr>
            <p:ph type="sldNum" sz="quarter" idx="12"/>
          </p:nvPr>
        </p:nvSpPr>
        <p:spPr/>
        <p:txBody>
          <a:bodyPr/>
          <a:lstStyle/>
          <a:p>
            <a:fld id="{6E1C0148-8E4B-4B2F-95CE-20B4709700AE}" type="slidenum">
              <a:rPr lang="zh-CN" altLang="en-US" smtClean="0"/>
            </a:fld>
            <a:endParaRPr lang="zh-CN" alt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 Box 2"/>
          <p:cNvSpPr txBox="1"/>
          <p:nvPr/>
        </p:nvSpPr>
        <p:spPr>
          <a:xfrm>
            <a:off x="228600" y="1371600"/>
            <a:ext cx="8604250" cy="2245360"/>
          </a:xfrm>
          <a:prstGeom prst="rect">
            <a:avLst/>
          </a:prstGeom>
          <a:noFill/>
          <a:ln w="9525">
            <a:noFill/>
          </a:ln>
        </p:spPr>
        <p:txBody>
          <a:bodyPr>
            <a:spAutoFit/>
          </a:bodyPr>
          <a:lstStyle/>
          <a:p>
            <a:pPr>
              <a:lnSpc>
                <a:spcPct val="125000"/>
              </a:lnSpc>
            </a:pPr>
            <a:r>
              <a:rPr lang="zh-CN" altLang="en-US" sz="2800" dirty="0">
                <a:latin typeface="楷体_GB2312" panose="02010609030101010101" pitchFamily="49" charset="-122"/>
                <a:ea typeface="楷体_GB2312" panose="02010609030101010101" pitchFamily="49" charset="-122"/>
              </a:rPr>
              <a:t>      </a:t>
            </a:r>
            <a:r>
              <a:rPr lang="zh-CN" altLang="en-US" sz="2800" u="sng" dirty="0">
                <a:solidFill>
                  <a:srgbClr val="FF0000"/>
                </a:solidFill>
                <a:latin typeface="楷体_GB2312" panose="02010609030101010101" pitchFamily="49" charset="-122"/>
                <a:ea typeface="楷体_GB2312" panose="02010609030101010101" pitchFamily="49" charset="-122"/>
              </a:rPr>
              <a:t>所有能</a:t>
            </a:r>
            <a:r>
              <a:rPr lang="zh-CN" altLang="en-US" sz="2800" b="1" u="sng" dirty="0">
                <a:solidFill>
                  <a:srgbClr val="FF0000"/>
                </a:solidFill>
                <a:highlight>
                  <a:srgbClr val="FFFF00"/>
                </a:highlight>
                <a:latin typeface="楷体_GB2312" panose="02010609030101010101" pitchFamily="49" charset="-122"/>
                <a:ea typeface="楷体_GB2312" panose="02010609030101010101" pitchFamily="49" charset="-122"/>
              </a:rPr>
              <a:t>被输入</a:t>
            </a:r>
            <a:r>
              <a:rPr lang="zh-CN" altLang="en-US" sz="2800" u="sng" dirty="0">
                <a:solidFill>
                  <a:srgbClr val="FF0000"/>
                </a:solidFill>
                <a:latin typeface="楷体_GB2312" panose="02010609030101010101" pitchFamily="49" charset="-122"/>
                <a:ea typeface="楷体_GB2312" panose="02010609030101010101" pitchFamily="49" charset="-122"/>
              </a:rPr>
              <a:t>到计算机中，且能被计算机</a:t>
            </a:r>
            <a:r>
              <a:rPr lang="zh-CN" altLang="en-US" sz="2800" b="1" u="sng" dirty="0">
                <a:solidFill>
                  <a:srgbClr val="FF0000"/>
                </a:solidFill>
                <a:highlight>
                  <a:srgbClr val="FFFF00"/>
                </a:highlight>
                <a:latin typeface="楷体_GB2312" panose="02010609030101010101" pitchFamily="49" charset="-122"/>
                <a:ea typeface="楷体_GB2312" panose="02010609030101010101" pitchFamily="49" charset="-122"/>
              </a:rPr>
              <a:t>处理的符号</a:t>
            </a:r>
            <a:r>
              <a:rPr lang="zh-CN" altLang="en-US" sz="2800" u="sng" dirty="0">
                <a:solidFill>
                  <a:srgbClr val="FF0000"/>
                </a:solidFill>
                <a:latin typeface="楷体_GB2312" panose="02010609030101010101" pitchFamily="49" charset="-122"/>
                <a:ea typeface="楷体_GB2312" panose="02010609030101010101" pitchFamily="49" charset="-122"/>
              </a:rPr>
              <a:t>的集合。</a:t>
            </a:r>
            <a:r>
              <a:rPr lang="zh-CN" altLang="en-US" sz="2800" b="1" u="sng" dirty="0">
                <a:solidFill>
                  <a:srgbClr val="FF0000"/>
                </a:solidFill>
                <a:highlight>
                  <a:srgbClr val="FFFF00"/>
                </a:highlight>
                <a:latin typeface="楷体_GB2312" panose="02010609030101010101" pitchFamily="49" charset="-122"/>
                <a:ea typeface="楷体_GB2312" panose="02010609030101010101" pitchFamily="49" charset="-122"/>
              </a:rPr>
              <a:t>计算机操作的对象</a:t>
            </a:r>
            <a:r>
              <a:rPr lang="zh-CN" altLang="en-US" sz="2800" u="sng" dirty="0">
                <a:solidFill>
                  <a:srgbClr val="FF0000"/>
                </a:solidFill>
                <a:latin typeface="楷体_GB2312" panose="02010609030101010101" pitchFamily="49" charset="-122"/>
                <a:ea typeface="楷体_GB2312" panose="02010609030101010101" pitchFamily="49" charset="-122"/>
              </a:rPr>
              <a:t>的总称</a:t>
            </a:r>
            <a:r>
              <a:rPr lang="zh-CN" altLang="en-US" sz="2800" dirty="0">
                <a:latin typeface="楷体_GB2312" panose="02010609030101010101" pitchFamily="49" charset="-122"/>
                <a:ea typeface="楷体_GB2312" panose="02010609030101010101" pitchFamily="49" charset="-122"/>
              </a:rPr>
              <a:t>。是计算机处理的</a:t>
            </a:r>
            <a:r>
              <a:rPr lang="zh-CN" altLang="en-US" sz="2800" b="1" dirty="0">
                <a:solidFill>
                  <a:srgbClr val="006600"/>
                </a:solidFill>
                <a:latin typeface="楷体_GB2312" panose="02010609030101010101" pitchFamily="49" charset="-122"/>
                <a:ea typeface="楷体_GB2312" panose="02010609030101010101" pitchFamily="49" charset="-122"/>
              </a:rPr>
              <a:t>信息的</a:t>
            </a:r>
            <a:r>
              <a:rPr lang="zh-CN" altLang="en-US" sz="2800" dirty="0">
                <a:latin typeface="楷体_GB2312" panose="02010609030101010101" pitchFamily="49" charset="-122"/>
                <a:ea typeface="楷体_GB2312" panose="02010609030101010101" pitchFamily="49" charset="-122"/>
              </a:rPr>
              <a:t>某种特定的符号</a:t>
            </a:r>
            <a:r>
              <a:rPr lang="zh-CN" altLang="en-US" sz="2800" b="1" dirty="0">
                <a:solidFill>
                  <a:srgbClr val="006600"/>
                </a:solidFill>
                <a:latin typeface="楷体_GB2312" panose="02010609030101010101" pitchFamily="49" charset="-122"/>
                <a:ea typeface="楷体_GB2312" panose="02010609030101010101" pitchFamily="49" charset="-122"/>
              </a:rPr>
              <a:t>表示形式</a:t>
            </a:r>
            <a:r>
              <a:rPr lang="zh-CN" altLang="en-US" sz="2800" dirty="0">
                <a:latin typeface="楷体_GB2312" panose="02010609030101010101" pitchFamily="49" charset="-122"/>
                <a:ea typeface="楷体_GB2312" panose="02010609030101010101" pitchFamily="49" charset="-122"/>
              </a:rPr>
              <a:t>。它是信息的载体，它能够被计算机识别、存储和加工处理。</a:t>
            </a:r>
            <a:endParaRPr lang="zh-CN" altLang="en-US" sz="2800" dirty="0">
              <a:latin typeface="楷体_GB2312" panose="02010609030101010101" pitchFamily="49" charset="-122"/>
              <a:ea typeface="楷体_GB2312" panose="02010609030101010101" pitchFamily="49" charset="-122"/>
            </a:endParaRPr>
          </a:p>
        </p:txBody>
      </p:sp>
      <p:sp>
        <p:nvSpPr>
          <p:cNvPr id="24579" name="Text Box 3"/>
          <p:cNvSpPr txBox="1"/>
          <p:nvPr/>
        </p:nvSpPr>
        <p:spPr>
          <a:xfrm>
            <a:off x="152400" y="1371600"/>
            <a:ext cx="1327150" cy="645160"/>
          </a:xfrm>
          <a:prstGeom prst="rect">
            <a:avLst/>
          </a:prstGeom>
          <a:noFill/>
          <a:ln w="9525">
            <a:noFill/>
          </a:ln>
        </p:spPr>
        <p:txBody>
          <a:bodyPr wrap="none">
            <a:spAutoFit/>
          </a:bodyPr>
          <a:lstStyle/>
          <a:p>
            <a:r>
              <a:rPr lang="zh-CN" altLang="en-US" sz="3600" b="1" dirty="0">
                <a:solidFill>
                  <a:srgbClr val="FF0000"/>
                </a:solidFill>
                <a:latin typeface="楷体_GB2312" panose="02010609030101010101" pitchFamily="49" charset="-122"/>
                <a:ea typeface="楷体_GB2312" panose="02010609030101010101" pitchFamily="49" charset="-122"/>
              </a:rPr>
              <a:t>数据</a:t>
            </a:r>
            <a:r>
              <a:rPr lang="en-US" altLang="zh-CN" sz="3600" b="1" dirty="0">
                <a:solidFill>
                  <a:srgbClr val="FF0000"/>
                </a:solidFill>
                <a:latin typeface="楷体_GB2312" panose="02010609030101010101" pitchFamily="49" charset="-122"/>
                <a:ea typeface="楷体_GB2312" panose="02010609030101010101" pitchFamily="49" charset="-122"/>
              </a:rPr>
              <a:t>:</a:t>
            </a:r>
            <a:endParaRPr lang="en-US" altLang="zh-CN" sz="3600" b="1" dirty="0">
              <a:solidFill>
                <a:srgbClr val="FF0000"/>
              </a:solidFill>
              <a:latin typeface="楷体_GB2312" panose="02010609030101010101" pitchFamily="49" charset="-122"/>
              <a:ea typeface="楷体_GB2312" panose="02010609030101010101" pitchFamily="49" charset="-122"/>
            </a:endParaRPr>
          </a:p>
        </p:txBody>
      </p:sp>
      <p:sp>
        <p:nvSpPr>
          <p:cNvPr id="24580" name="Text Box 6"/>
          <p:cNvSpPr txBox="1"/>
          <p:nvPr/>
        </p:nvSpPr>
        <p:spPr>
          <a:xfrm>
            <a:off x="1468755" y="102870"/>
            <a:ext cx="5629275" cy="706755"/>
          </a:xfrm>
          <a:prstGeom prst="rect">
            <a:avLst/>
          </a:prstGeom>
          <a:noFill/>
          <a:ln w="9525">
            <a:noFill/>
          </a:ln>
        </p:spPr>
        <p:txBody>
          <a:bodyPr>
            <a:spAutoFit/>
          </a:bodyPr>
          <a:lstStyle/>
          <a:p>
            <a:r>
              <a:rPr lang="en-US" altLang="zh-CN" sz="4000" b="1" dirty="0">
                <a:solidFill>
                  <a:schemeClr val="tx2"/>
                </a:solidFill>
                <a:latin typeface="Times New Roman" panose="02020603050405020304" pitchFamily="18" charset="0"/>
                <a:ea typeface="楷体_GB2312" panose="02010609030101010101" pitchFamily="49" charset="-122"/>
              </a:rPr>
              <a:t>1.2 </a:t>
            </a:r>
            <a:r>
              <a:rPr lang="zh-CN" altLang="en-US" sz="4000" b="1" dirty="0">
                <a:solidFill>
                  <a:schemeClr val="tx2"/>
                </a:solidFill>
                <a:latin typeface="楷体_GB2312" panose="02010609030101010101" pitchFamily="49" charset="-122"/>
                <a:ea typeface="楷体_GB2312" panose="02010609030101010101" pitchFamily="49" charset="-122"/>
              </a:rPr>
              <a:t>基本概念</a:t>
            </a:r>
            <a:endParaRPr lang="zh-CN" altLang="en-US" sz="4000" dirty="0">
              <a:solidFill>
                <a:srgbClr val="0000FF"/>
              </a:solidFill>
              <a:latin typeface="Times New Roman" panose="02020603050405020304" pitchFamily="18" charset="0"/>
            </a:endParaRPr>
          </a:p>
        </p:txBody>
      </p:sp>
      <p:sp>
        <p:nvSpPr>
          <p:cNvPr id="24581" name="Text Box 8"/>
          <p:cNvSpPr txBox="1"/>
          <p:nvPr/>
        </p:nvSpPr>
        <p:spPr>
          <a:xfrm>
            <a:off x="413385" y="4359275"/>
            <a:ext cx="8604250" cy="1552575"/>
          </a:xfrm>
          <a:prstGeom prst="rect">
            <a:avLst/>
          </a:prstGeom>
          <a:noFill/>
          <a:ln w="9525">
            <a:noFill/>
          </a:ln>
        </p:spPr>
        <p:txBody>
          <a:bodyPr>
            <a:spAutoFit/>
          </a:bodyPr>
          <a:lstStyle/>
          <a:p>
            <a:r>
              <a:rPr lang="zh-CN" altLang="en-US" sz="2400" dirty="0">
                <a:latin typeface="楷体_GB2312" panose="02010609030101010101" pitchFamily="49" charset="-122"/>
                <a:ea typeface="楷体_GB2312" panose="02010609030101010101" pitchFamily="49" charset="-122"/>
              </a:rPr>
              <a:t>计算机科学中，所谓数据就是计算机加工处理的对象，它可以是数值数据，也可以是非数值数据。数值数据是一些整数、实数或复数，主要用于工程计算、科学计算和商务处理等；非数值数据包括字符、文字、图形、图像、语音等。</a:t>
            </a:r>
            <a:endParaRPr lang="zh-CN" altLang="en-US" sz="2400" dirty="0">
              <a:latin typeface="楷体_GB2312" panose="02010609030101010101" pitchFamily="49" charset="-122"/>
              <a:ea typeface="楷体_GB2312" panose="02010609030101010101" pitchFamily="49" charset="-122"/>
            </a:endParaRPr>
          </a:p>
        </p:txBody>
      </p:sp>
      <p:sp>
        <p:nvSpPr>
          <p:cNvPr id="2" name="日期占位符 1"/>
          <p:cNvSpPr>
            <a:spLocks noGrp="1"/>
          </p:cNvSpPr>
          <p:nvPr>
            <p:ph type="dt" sz="half" idx="10"/>
          </p:nvPr>
        </p:nvSpPr>
        <p:spPr/>
        <p:txBody>
          <a:bodyPr/>
          <a:lstStyle/>
          <a:p>
            <a:r>
              <a:rPr lang="en-US" altLang="zh-CN"/>
              <a:t>Data Structures and algorithms</a:t>
            </a:r>
            <a:endParaRPr lang="zh-CN" altLang="en-US"/>
          </a:p>
        </p:txBody>
      </p:sp>
      <p:sp>
        <p:nvSpPr>
          <p:cNvPr id="3" name="页脚占位符 2"/>
          <p:cNvSpPr>
            <a:spLocks noGrp="1"/>
          </p:cNvSpPr>
          <p:nvPr>
            <p:ph type="ftr" sz="quarter" idx="11"/>
          </p:nvPr>
        </p:nvSpPr>
        <p:spPr/>
        <p:txBody>
          <a:bodyPr/>
          <a:lstStyle/>
          <a:p>
            <a:r>
              <a:rPr lang="en-US" altLang="zh-CN"/>
              <a:t>Software College Northeastern University</a:t>
            </a:r>
            <a:endParaRPr lang="zh-CN" altLang="en-US"/>
          </a:p>
        </p:txBody>
      </p:sp>
      <p:sp>
        <p:nvSpPr>
          <p:cNvPr id="4" name="灯片编号占位符 3"/>
          <p:cNvSpPr>
            <a:spLocks noGrp="1"/>
          </p:cNvSpPr>
          <p:nvPr>
            <p:ph type="sldNum" sz="quarter" idx="12"/>
          </p:nvPr>
        </p:nvSpPr>
        <p:spPr/>
        <p:txBody>
          <a:bodyPr/>
          <a:lstStyle/>
          <a:p>
            <a:fld id="{6E1C0148-8E4B-4B2F-95CE-20B4709700AE}" type="slidenum">
              <a:rPr lang="zh-CN" altLang="en-US" smtClean="0"/>
            </a:fld>
            <a:endParaRPr lang="zh-CN" altLang="en-US"/>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 Box 2"/>
          <p:cNvSpPr txBox="1"/>
          <p:nvPr/>
        </p:nvSpPr>
        <p:spPr>
          <a:xfrm>
            <a:off x="684213" y="1557338"/>
            <a:ext cx="7924800" cy="701675"/>
          </a:xfrm>
          <a:prstGeom prst="rect">
            <a:avLst/>
          </a:prstGeom>
          <a:noFill/>
          <a:ln w="9525">
            <a:noFill/>
          </a:ln>
        </p:spPr>
        <p:txBody>
          <a:bodyPr>
            <a:spAutoFit/>
          </a:bodyPr>
          <a:lstStyle/>
          <a:p>
            <a:endParaRPr lang="zh-CN" altLang="en-US" sz="4000" dirty="0">
              <a:latin typeface="楷体_GB2312" panose="02010609030101010101" pitchFamily="49" charset="-122"/>
              <a:ea typeface="楷体_GB2312" panose="02010609030101010101" pitchFamily="49" charset="-122"/>
            </a:endParaRPr>
          </a:p>
        </p:txBody>
      </p:sp>
      <p:sp>
        <p:nvSpPr>
          <p:cNvPr id="25603" name="Text Box 3"/>
          <p:cNvSpPr txBox="1"/>
          <p:nvPr/>
        </p:nvSpPr>
        <p:spPr>
          <a:xfrm>
            <a:off x="1447800" y="152400"/>
            <a:ext cx="3505200" cy="823913"/>
          </a:xfrm>
          <a:prstGeom prst="rect">
            <a:avLst/>
          </a:prstGeom>
          <a:noFill/>
          <a:ln w="9525">
            <a:noFill/>
          </a:ln>
        </p:spPr>
        <p:txBody>
          <a:bodyPr>
            <a:spAutoFit/>
          </a:bodyPr>
          <a:lstStyle/>
          <a:p>
            <a:r>
              <a:rPr lang="zh-CN" altLang="en-US" sz="4800" b="1" dirty="0">
                <a:solidFill>
                  <a:srgbClr val="FF0000"/>
                </a:solidFill>
                <a:latin typeface="楷体_GB2312" panose="02010609030101010101" pitchFamily="49" charset="-122"/>
                <a:ea typeface="楷体_GB2312" panose="02010609030101010101" pitchFamily="49" charset="-122"/>
              </a:rPr>
              <a:t>数据元素</a:t>
            </a:r>
            <a:endParaRPr lang="en-US" altLang="zh-CN" sz="5400" b="1" dirty="0">
              <a:latin typeface="楷体_GB2312" panose="02010609030101010101" pitchFamily="49" charset="-122"/>
              <a:ea typeface="楷体_GB2312" panose="02010609030101010101" pitchFamily="49" charset="-122"/>
            </a:endParaRPr>
          </a:p>
        </p:txBody>
      </p:sp>
      <p:sp>
        <p:nvSpPr>
          <p:cNvPr id="25604" name="Text Box 4"/>
          <p:cNvSpPr txBox="1"/>
          <p:nvPr/>
        </p:nvSpPr>
        <p:spPr>
          <a:xfrm>
            <a:off x="467544" y="1347153"/>
            <a:ext cx="8352928" cy="2460625"/>
          </a:xfrm>
          <a:prstGeom prst="rect">
            <a:avLst/>
          </a:prstGeom>
          <a:noFill/>
          <a:ln w="9525">
            <a:noFill/>
          </a:ln>
        </p:spPr>
        <p:txBody>
          <a:bodyPr wrap="square">
            <a:spAutoFit/>
          </a:bodyPr>
          <a:lstStyle/>
          <a:p>
            <a:pPr>
              <a:lnSpc>
                <a:spcPct val="110000"/>
              </a:lnSpc>
            </a:pPr>
            <a:r>
              <a:rPr lang="zh-CN" altLang="en-US" sz="2800" dirty="0">
                <a:latin typeface="楷体_GB2312" panose="02010609030101010101" pitchFamily="49" charset="-122"/>
                <a:ea typeface="楷体_GB2312" panose="02010609030101010101" pitchFamily="49" charset="-122"/>
              </a:rPr>
              <a:t>是数据（集合）中的一个</a:t>
            </a:r>
            <a:r>
              <a:rPr lang="zh-CN" altLang="en-US" sz="2800" dirty="0">
                <a:latin typeface="Times New Roman" panose="02020603050405020304" pitchFamily="18" charset="0"/>
                <a:ea typeface="楷体_GB2312" panose="02010609030101010101" pitchFamily="49" charset="-122"/>
              </a:rPr>
              <a:t>“</a:t>
            </a:r>
            <a:r>
              <a:rPr lang="zh-CN" altLang="en-US" sz="2800" dirty="0">
                <a:latin typeface="楷体_GB2312" panose="02010609030101010101" pitchFamily="49" charset="-122"/>
                <a:ea typeface="楷体_GB2312" panose="02010609030101010101" pitchFamily="49" charset="-122"/>
              </a:rPr>
              <a:t>个体</a:t>
            </a:r>
            <a:r>
              <a:rPr lang="zh-CN" altLang="en-US" sz="2800" dirty="0">
                <a:latin typeface="Times New Roman" panose="02020603050405020304" pitchFamily="18" charset="0"/>
                <a:ea typeface="楷体_GB2312" panose="02010609030101010101" pitchFamily="49" charset="-122"/>
              </a:rPr>
              <a:t>”</a:t>
            </a:r>
            <a:endParaRPr lang="zh-CN" altLang="en-US" sz="2800" dirty="0">
              <a:latin typeface="楷体_GB2312" panose="02010609030101010101" pitchFamily="49" charset="-122"/>
              <a:ea typeface="楷体_GB2312" panose="02010609030101010101" pitchFamily="49" charset="-122"/>
            </a:endParaRPr>
          </a:p>
          <a:p>
            <a:pPr>
              <a:lnSpc>
                <a:spcPct val="110000"/>
              </a:lnSpc>
            </a:pPr>
            <a:r>
              <a:rPr lang="zh-CN" altLang="en-US" sz="2800" dirty="0">
                <a:latin typeface="楷体_GB2312" panose="02010609030101010101" pitchFamily="49" charset="-122"/>
                <a:ea typeface="楷体_GB2312" panose="02010609030101010101" pitchFamily="49" charset="-122"/>
              </a:rPr>
              <a:t>是数据结构中讨论的</a:t>
            </a:r>
            <a:r>
              <a:rPr lang="zh-CN" altLang="en-US" sz="2800" b="1" u="sng" dirty="0">
                <a:solidFill>
                  <a:srgbClr val="FF0000"/>
                </a:solidFill>
                <a:latin typeface="楷体_GB2312" panose="02010609030101010101" pitchFamily="49" charset="-122"/>
                <a:ea typeface="楷体_GB2312" panose="02010609030101010101" pitchFamily="49" charset="-122"/>
              </a:rPr>
              <a:t>基本</a:t>
            </a:r>
            <a:r>
              <a:rPr lang="zh-CN" altLang="en-US" sz="2800" u="sng" dirty="0">
                <a:solidFill>
                  <a:srgbClr val="FF0000"/>
                </a:solidFill>
                <a:latin typeface="楷体_GB2312" panose="02010609030101010101" pitchFamily="49" charset="-122"/>
                <a:ea typeface="楷体_GB2312" panose="02010609030101010101" pitchFamily="49" charset="-122"/>
              </a:rPr>
              <a:t>单位</a:t>
            </a:r>
            <a:r>
              <a:rPr lang="zh-CN" altLang="en-US" sz="2800" dirty="0">
                <a:latin typeface="楷体_GB2312" panose="02010609030101010101" pitchFamily="49" charset="-122"/>
                <a:ea typeface="楷体_GB2312" panose="02010609030101010101" pitchFamily="49" charset="-122"/>
              </a:rPr>
              <a:t>。例如，学生信息检索系统中学生信息表中的一个记录、对弈问题中状态树的一个状态、排课问题中的一个顶点等，都被称为一个数据元素。</a:t>
            </a:r>
            <a:endParaRPr lang="zh-CN" altLang="en-US" sz="2800" dirty="0">
              <a:latin typeface="楷体_GB2312" panose="02010609030101010101" pitchFamily="49" charset="-122"/>
              <a:ea typeface="楷体_GB2312" panose="02010609030101010101" pitchFamily="49" charset="-122"/>
            </a:endParaRPr>
          </a:p>
        </p:txBody>
      </p:sp>
      <p:graphicFrame>
        <p:nvGraphicFramePr>
          <p:cNvPr id="27652" name="Object 4"/>
          <p:cNvGraphicFramePr>
            <a:graphicFrameLocks noChangeAspect="1"/>
          </p:cNvGraphicFramePr>
          <p:nvPr/>
        </p:nvGraphicFramePr>
        <p:xfrm>
          <a:off x="1835150" y="3808095"/>
          <a:ext cx="6045200" cy="3187700"/>
        </p:xfrm>
        <a:graphic>
          <a:graphicData uri="http://schemas.openxmlformats.org/presentationml/2006/ole">
            <mc:AlternateContent xmlns:mc="http://schemas.openxmlformats.org/markup-compatibility/2006">
              <mc:Choice xmlns:v="urn:schemas-microsoft-com:vml" Requires="v">
                <p:oleObj spid="_x0000_s1030" name="" r:id="rId1" imgW="9941560" imgH="3505200" progId="Word.Document.8">
                  <p:embed/>
                </p:oleObj>
              </mc:Choice>
              <mc:Fallback>
                <p:oleObj name="" r:id="rId1" imgW="9941560" imgH="3505200" progId="Word.Document.8">
                  <p:embed/>
                  <p:pic>
                    <p:nvPicPr>
                      <p:cNvPr id="0" name="图片 3078"/>
                      <p:cNvPicPr/>
                      <p:nvPr/>
                    </p:nvPicPr>
                    <p:blipFill>
                      <a:blip r:embed="rId2"/>
                      <a:stretch>
                        <a:fillRect/>
                      </a:stretch>
                    </p:blipFill>
                    <p:spPr>
                      <a:xfrm>
                        <a:off x="1835150" y="3808095"/>
                        <a:ext cx="6045200" cy="3187700"/>
                      </a:xfrm>
                      <a:prstGeom prst="rect">
                        <a:avLst/>
                      </a:prstGeom>
                      <a:noFill/>
                      <a:ln w="38100">
                        <a:noFill/>
                        <a:miter/>
                      </a:ln>
                    </p:spPr>
                  </p:pic>
                </p:oleObj>
              </mc:Fallback>
            </mc:AlternateContent>
          </a:graphicData>
        </a:graphic>
      </p:graphicFrame>
      <p:sp>
        <p:nvSpPr>
          <p:cNvPr id="27653" name="AutoShape 7"/>
          <p:cNvSpPr/>
          <p:nvPr/>
        </p:nvSpPr>
        <p:spPr>
          <a:xfrm flipH="1">
            <a:off x="6757988" y="4857433"/>
            <a:ext cx="2222500" cy="573087"/>
          </a:xfrm>
          <a:prstGeom prst="wedgeRoundRectCallout">
            <a:avLst>
              <a:gd name="adj1" fmla="val 61292"/>
              <a:gd name="adj2" fmla="val -144269"/>
              <a:gd name="adj3" fmla="val 16667"/>
            </a:avLst>
          </a:prstGeom>
          <a:solidFill>
            <a:schemeClr val="accent1"/>
          </a:solidFill>
          <a:ln w="28575" cap="flat" cmpd="sng">
            <a:solidFill>
              <a:srgbClr val="FF0000"/>
            </a:solidFill>
            <a:prstDash val="solid"/>
            <a:miter/>
            <a:headEnd type="none" w="med" len="med"/>
            <a:tailEnd type="none" w="med" len="med"/>
          </a:ln>
        </p:spPr>
        <p:txBody>
          <a:bodyPr anchor="ctr"/>
          <a:lstStyle/>
          <a:p>
            <a:pPr indent="0" algn="ctr" eaLnBrk="0" hangingPunct="0"/>
            <a:r>
              <a:rPr lang="zh-CN" altLang="en-US" sz="2400" dirty="0">
                <a:latin typeface="Times New Roman" panose="02020603050405020304" pitchFamily="18" charset="0"/>
                <a:ea typeface="楷体_GB2312" panose="02010609030101010101" pitchFamily="49" charset="-122"/>
              </a:rPr>
              <a:t>数据元素</a:t>
            </a:r>
            <a:endParaRPr lang="zh-CN" altLang="en-US" sz="2400" dirty="0">
              <a:latin typeface="Times New Roman" panose="02020603050405020304" pitchFamily="18" charset="0"/>
              <a:ea typeface="楷体_GB2312" panose="02010609030101010101" pitchFamily="49" charset="-122"/>
            </a:endParaRPr>
          </a:p>
        </p:txBody>
      </p:sp>
      <p:sp>
        <p:nvSpPr>
          <p:cNvPr id="2" name="日期占位符 1"/>
          <p:cNvSpPr>
            <a:spLocks noGrp="1"/>
          </p:cNvSpPr>
          <p:nvPr>
            <p:ph type="dt" sz="half" idx="10"/>
          </p:nvPr>
        </p:nvSpPr>
        <p:spPr/>
        <p:txBody>
          <a:bodyPr/>
          <a:lstStyle/>
          <a:p>
            <a:r>
              <a:rPr lang="en-US" altLang="zh-CN"/>
              <a:t>Data Structures and algorithms</a:t>
            </a:r>
            <a:endParaRPr lang="zh-CN" altLang="en-US"/>
          </a:p>
        </p:txBody>
      </p:sp>
      <p:sp>
        <p:nvSpPr>
          <p:cNvPr id="3" name="页脚占位符 2"/>
          <p:cNvSpPr>
            <a:spLocks noGrp="1"/>
          </p:cNvSpPr>
          <p:nvPr>
            <p:ph type="ftr" sz="quarter" idx="11"/>
          </p:nvPr>
        </p:nvSpPr>
        <p:spPr/>
        <p:txBody>
          <a:bodyPr/>
          <a:lstStyle/>
          <a:p>
            <a:r>
              <a:rPr lang="en-US" altLang="zh-CN"/>
              <a:t>Software College Northeastern University</a:t>
            </a:r>
            <a:endParaRPr lang="zh-CN" altLang="en-US"/>
          </a:p>
        </p:txBody>
      </p:sp>
      <p:sp>
        <p:nvSpPr>
          <p:cNvPr id="4" name="灯片编号占位符 3"/>
          <p:cNvSpPr>
            <a:spLocks noGrp="1"/>
          </p:cNvSpPr>
          <p:nvPr>
            <p:ph type="sldNum" sz="quarter" idx="12"/>
          </p:nvPr>
        </p:nvSpPr>
        <p:spPr/>
        <p:txBody>
          <a:bodyPr/>
          <a:lstStyle/>
          <a:p>
            <a:fld id="{6E1C0148-8E4B-4B2F-95CE-20B4709700AE}" type="slidenum">
              <a:rPr lang="zh-CN" altLang="en-US" smtClean="0"/>
            </a:fld>
            <a:endParaRPr lang="zh-CN" altLang="en-US"/>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ext Box 2"/>
          <p:cNvSpPr txBox="1"/>
          <p:nvPr/>
        </p:nvSpPr>
        <p:spPr>
          <a:xfrm>
            <a:off x="683568" y="503611"/>
            <a:ext cx="3035300" cy="701675"/>
          </a:xfrm>
          <a:prstGeom prst="rect">
            <a:avLst/>
          </a:prstGeom>
          <a:noFill/>
          <a:ln w="9525">
            <a:noFill/>
          </a:ln>
        </p:spPr>
        <p:txBody>
          <a:bodyPr>
            <a:spAutoFit/>
          </a:bodyPr>
          <a:lstStyle/>
          <a:p>
            <a:r>
              <a:rPr lang="zh-CN" altLang="en-US" sz="4000" dirty="0">
                <a:solidFill>
                  <a:srgbClr val="FF0000"/>
                </a:solidFill>
                <a:latin typeface="楷体_GB2312" panose="02010609030101010101" pitchFamily="49" charset="-122"/>
                <a:ea typeface="楷体_GB2312" panose="02010609030101010101" pitchFamily="49" charset="-122"/>
              </a:rPr>
              <a:t> </a:t>
            </a:r>
            <a:r>
              <a:rPr lang="zh-CN" altLang="en-US" sz="4000" b="1" dirty="0">
                <a:solidFill>
                  <a:srgbClr val="FF0000"/>
                </a:solidFill>
                <a:latin typeface="楷体_GB2312" panose="02010609030101010101" pitchFamily="49" charset="-122"/>
                <a:ea typeface="楷体_GB2312" panose="02010609030101010101" pitchFamily="49" charset="-122"/>
              </a:rPr>
              <a:t>数据项：</a:t>
            </a:r>
            <a:endParaRPr lang="zh-CN" altLang="en-US" sz="4000" b="1" dirty="0">
              <a:latin typeface="楷体_GB2312" panose="02010609030101010101" pitchFamily="49" charset="-122"/>
              <a:ea typeface="楷体_GB2312" panose="02010609030101010101" pitchFamily="49" charset="-122"/>
            </a:endParaRPr>
          </a:p>
        </p:txBody>
      </p:sp>
      <p:sp>
        <p:nvSpPr>
          <p:cNvPr id="26627" name="Text Box 3"/>
          <p:cNvSpPr txBox="1"/>
          <p:nvPr/>
        </p:nvSpPr>
        <p:spPr>
          <a:xfrm>
            <a:off x="990600" y="1327944"/>
            <a:ext cx="6302375" cy="641350"/>
          </a:xfrm>
          <a:prstGeom prst="rect">
            <a:avLst/>
          </a:prstGeom>
          <a:noFill/>
          <a:ln w="9525">
            <a:noFill/>
          </a:ln>
        </p:spPr>
        <p:txBody>
          <a:bodyPr>
            <a:spAutoFit/>
          </a:bodyPr>
          <a:lstStyle/>
          <a:p>
            <a:r>
              <a:rPr lang="zh-CN" altLang="en-US" sz="3600" dirty="0">
                <a:latin typeface="楷体_GB2312" panose="02010609030101010101" pitchFamily="49" charset="-122"/>
                <a:ea typeface="楷体_GB2312" panose="02010609030101010101" pitchFamily="49" charset="-122"/>
              </a:rPr>
              <a:t>是数据结构中讨论的</a:t>
            </a:r>
            <a:r>
              <a:rPr lang="zh-CN" altLang="en-US" sz="3600" b="1" dirty="0">
                <a:solidFill>
                  <a:srgbClr val="006600"/>
                </a:solidFill>
                <a:latin typeface="楷体_GB2312" panose="02010609030101010101" pitchFamily="49" charset="-122"/>
                <a:ea typeface="楷体_GB2312" panose="02010609030101010101" pitchFamily="49" charset="-122"/>
              </a:rPr>
              <a:t>最小</a:t>
            </a:r>
            <a:r>
              <a:rPr lang="zh-CN" altLang="en-US" sz="3600" dirty="0">
                <a:latin typeface="楷体_GB2312" panose="02010609030101010101" pitchFamily="49" charset="-122"/>
                <a:ea typeface="楷体_GB2312" panose="02010609030101010101" pitchFamily="49" charset="-122"/>
              </a:rPr>
              <a:t>单位</a:t>
            </a:r>
            <a:endParaRPr lang="zh-CN" altLang="en-US" sz="2400" dirty="0">
              <a:latin typeface="楷体_GB2312" panose="02010609030101010101" pitchFamily="49" charset="-122"/>
              <a:ea typeface="楷体_GB2312" panose="02010609030101010101" pitchFamily="49" charset="-122"/>
            </a:endParaRPr>
          </a:p>
        </p:txBody>
      </p:sp>
      <p:sp>
        <p:nvSpPr>
          <p:cNvPr id="26628" name="Text Box 4"/>
          <p:cNvSpPr txBox="1"/>
          <p:nvPr/>
        </p:nvSpPr>
        <p:spPr>
          <a:xfrm>
            <a:off x="990600" y="2101850"/>
            <a:ext cx="7613650" cy="641350"/>
          </a:xfrm>
          <a:prstGeom prst="rect">
            <a:avLst/>
          </a:prstGeom>
          <a:noFill/>
          <a:ln w="9525">
            <a:noFill/>
          </a:ln>
        </p:spPr>
        <p:txBody>
          <a:bodyPr>
            <a:spAutoFit/>
          </a:bodyPr>
          <a:lstStyle/>
          <a:p>
            <a:r>
              <a:rPr lang="zh-CN" altLang="en-US" sz="3600" b="1" dirty="0">
                <a:solidFill>
                  <a:srgbClr val="006600"/>
                </a:solidFill>
                <a:latin typeface="楷体_GB2312" panose="02010609030101010101" pitchFamily="49" charset="-122"/>
                <a:ea typeface="楷体_GB2312" panose="02010609030101010101" pitchFamily="49" charset="-122"/>
              </a:rPr>
              <a:t>数据元素可以是数据项的集合</a:t>
            </a:r>
            <a:endParaRPr lang="zh-CN" altLang="en-US" sz="2400" dirty="0">
              <a:latin typeface="楷体_GB2312" panose="02010609030101010101" pitchFamily="49" charset="-122"/>
              <a:ea typeface="楷体_GB2312" panose="02010609030101010101" pitchFamily="49" charset="-122"/>
            </a:endParaRPr>
          </a:p>
        </p:txBody>
      </p:sp>
      <p:sp>
        <p:nvSpPr>
          <p:cNvPr id="26629" name="Text Box 5"/>
          <p:cNvSpPr txBox="1"/>
          <p:nvPr/>
        </p:nvSpPr>
        <p:spPr>
          <a:xfrm>
            <a:off x="517525" y="2819400"/>
            <a:ext cx="1555750" cy="641350"/>
          </a:xfrm>
          <a:prstGeom prst="rect">
            <a:avLst/>
          </a:prstGeom>
          <a:noFill/>
          <a:ln w="9525">
            <a:noFill/>
          </a:ln>
        </p:spPr>
        <p:txBody>
          <a:bodyPr wrap="none">
            <a:spAutoFit/>
          </a:bodyPr>
          <a:lstStyle/>
          <a:p>
            <a:r>
              <a:rPr lang="zh-CN" altLang="en-US" sz="3600" dirty="0">
                <a:solidFill>
                  <a:srgbClr val="FF0000"/>
                </a:solidFill>
                <a:latin typeface="楷体_GB2312" panose="02010609030101010101" pitchFamily="49" charset="-122"/>
                <a:ea typeface="楷体_GB2312" panose="02010609030101010101" pitchFamily="49" charset="-122"/>
              </a:rPr>
              <a:t>例如：</a:t>
            </a:r>
            <a:endParaRPr lang="zh-CN" altLang="en-US" sz="2400" dirty="0">
              <a:latin typeface="楷体_GB2312" panose="02010609030101010101" pitchFamily="49" charset="-122"/>
              <a:ea typeface="楷体_GB2312" panose="02010609030101010101" pitchFamily="49" charset="-122"/>
            </a:endParaRPr>
          </a:p>
        </p:txBody>
      </p:sp>
      <p:sp>
        <p:nvSpPr>
          <p:cNvPr id="26630" name="Text Box 6"/>
          <p:cNvSpPr txBox="1"/>
          <p:nvPr/>
        </p:nvSpPr>
        <p:spPr>
          <a:xfrm>
            <a:off x="1828800" y="2908300"/>
            <a:ext cx="5873750" cy="579438"/>
          </a:xfrm>
          <a:prstGeom prst="rect">
            <a:avLst/>
          </a:prstGeom>
          <a:noFill/>
          <a:ln w="9525">
            <a:noFill/>
          </a:ln>
        </p:spPr>
        <p:txBody>
          <a:bodyPr wrap="none">
            <a:spAutoFit/>
          </a:bodyPr>
          <a:lstStyle/>
          <a:p>
            <a:r>
              <a:rPr lang="zh-CN" altLang="en-US" sz="3200" dirty="0">
                <a:solidFill>
                  <a:schemeClr val="tx2"/>
                </a:solidFill>
                <a:latin typeface="楷体_GB2312" panose="02010609030101010101" pitchFamily="49" charset="-122"/>
                <a:ea typeface="楷体_GB2312" panose="02010609030101010101" pitchFamily="49" charset="-122"/>
              </a:rPr>
              <a:t>描述一个学生的数据元素可以是</a:t>
            </a:r>
            <a:endParaRPr lang="zh-CN" altLang="en-US" sz="2400" dirty="0">
              <a:latin typeface="楷体_GB2312" panose="02010609030101010101" pitchFamily="49" charset="-122"/>
              <a:ea typeface="楷体_GB2312" panose="02010609030101010101" pitchFamily="49" charset="-122"/>
            </a:endParaRPr>
          </a:p>
        </p:txBody>
      </p:sp>
      <p:sp>
        <p:nvSpPr>
          <p:cNvPr id="26631" name="Text Box 9"/>
          <p:cNvSpPr txBox="1"/>
          <p:nvPr/>
        </p:nvSpPr>
        <p:spPr>
          <a:xfrm>
            <a:off x="2819400" y="5334000"/>
            <a:ext cx="4129088" cy="641350"/>
          </a:xfrm>
          <a:prstGeom prst="rect">
            <a:avLst/>
          </a:prstGeom>
          <a:noFill/>
          <a:ln w="9525">
            <a:noFill/>
          </a:ln>
        </p:spPr>
        <p:txBody>
          <a:bodyPr>
            <a:spAutoFit/>
          </a:bodyPr>
          <a:lstStyle/>
          <a:p>
            <a:r>
              <a:rPr lang="zh-CN" altLang="en-US" sz="3600" b="1" dirty="0">
                <a:solidFill>
                  <a:schemeClr val="tx2"/>
                </a:solidFill>
                <a:latin typeface="楷体_GB2312" panose="02010609030101010101" pitchFamily="49" charset="-122"/>
                <a:ea typeface="楷体_GB2312" panose="02010609030101010101" pitchFamily="49" charset="-122"/>
              </a:rPr>
              <a:t>称之为组合项</a:t>
            </a:r>
            <a:endParaRPr lang="zh-CN" altLang="en-US" sz="2400" dirty="0">
              <a:latin typeface="楷体_GB2312" panose="02010609030101010101" pitchFamily="49" charset="-122"/>
              <a:ea typeface="楷体_GB2312" panose="02010609030101010101" pitchFamily="49" charset="-122"/>
            </a:endParaRPr>
          </a:p>
        </p:txBody>
      </p:sp>
      <p:sp>
        <p:nvSpPr>
          <p:cNvPr id="26632" name="AutoShape 10"/>
          <p:cNvSpPr/>
          <p:nvPr/>
        </p:nvSpPr>
        <p:spPr>
          <a:xfrm rot="-5400000">
            <a:off x="4114800" y="4267200"/>
            <a:ext cx="228600" cy="1752600"/>
          </a:xfrm>
          <a:prstGeom prst="leftBrace">
            <a:avLst>
              <a:gd name="adj1" fmla="val 63888"/>
              <a:gd name="adj2" fmla="val 50000"/>
            </a:avLst>
          </a:prstGeom>
          <a:noFill/>
          <a:ln w="38100" cap="flat" cmpd="sng">
            <a:solidFill>
              <a:schemeClr val="tx2"/>
            </a:solidFill>
            <a:prstDash val="solid"/>
            <a:headEnd type="none" w="med" len="med"/>
            <a:tailEnd type="none" w="med" len="med"/>
          </a:ln>
        </p:spPr>
        <p:txBody>
          <a:bodyPr wrap="none" anchor="ctr"/>
          <a:lstStyle/>
          <a:p>
            <a:endParaRPr lang="zh-CN" altLang="en-US" dirty="0">
              <a:latin typeface="Times New Roman" panose="02020603050405020304" pitchFamily="18" charset="0"/>
            </a:endParaRPr>
          </a:p>
        </p:txBody>
      </p:sp>
      <p:pic>
        <p:nvPicPr>
          <p:cNvPr id="26633" name="Picture 119"/>
          <p:cNvPicPr>
            <a:picLocks noChangeAspect="1"/>
          </p:cNvPicPr>
          <p:nvPr/>
        </p:nvPicPr>
        <p:blipFill>
          <a:blip r:embed="rId1"/>
          <a:stretch>
            <a:fillRect/>
          </a:stretch>
        </p:blipFill>
        <p:spPr>
          <a:xfrm>
            <a:off x="152400" y="3752850"/>
            <a:ext cx="8991600" cy="514350"/>
          </a:xfrm>
          <a:prstGeom prst="rect">
            <a:avLst/>
          </a:prstGeom>
          <a:noFill/>
          <a:ln w="9525">
            <a:noFill/>
          </a:ln>
        </p:spPr>
      </p:pic>
      <p:pic>
        <p:nvPicPr>
          <p:cNvPr id="26634" name="Picture 120"/>
          <p:cNvPicPr>
            <a:picLocks noChangeAspect="1"/>
          </p:cNvPicPr>
          <p:nvPr/>
        </p:nvPicPr>
        <p:blipFill>
          <a:blip r:embed="rId2"/>
          <a:stretch>
            <a:fillRect/>
          </a:stretch>
        </p:blipFill>
        <p:spPr>
          <a:xfrm>
            <a:off x="3352800" y="4267200"/>
            <a:ext cx="1838325" cy="581025"/>
          </a:xfrm>
          <a:prstGeom prst="rect">
            <a:avLst/>
          </a:prstGeom>
          <a:noFill/>
          <a:ln w="9525">
            <a:noFill/>
          </a:ln>
        </p:spPr>
      </p:pic>
      <p:sp>
        <p:nvSpPr>
          <p:cNvPr id="2" name="日期占位符 1"/>
          <p:cNvSpPr>
            <a:spLocks noGrp="1"/>
          </p:cNvSpPr>
          <p:nvPr>
            <p:ph type="dt" sz="half" idx="10"/>
          </p:nvPr>
        </p:nvSpPr>
        <p:spPr/>
        <p:txBody>
          <a:bodyPr/>
          <a:lstStyle/>
          <a:p>
            <a:r>
              <a:rPr lang="en-US" altLang="zh-CN"/>
              <a:t>Data Structures and algorithms</a:t>
            </a:r>
            <a:endParaRPr lang="zh-CN" altLang="en-US"/>
          </a:p>
        </p:txBody>
      </p:sp>
      <p:sp>
        <p:nvSpPr>
          <p:cNvPr id="3" name="页脚占位符 2"/>
          <p:cNvSpPr>
            <a:spLocks noGrp="1"/>
          </p:cNvSpPr>
          <p:nvPr>
            <p:ph type="ftr" sz="quarter" idx="11"/>
          </p:nvPr>
        </p:nvSpPr>
        <p:spPr/>
        <p:txBody>
          <a:bodyPr/>
          <a:lstStyle/>
          <a:p>
            <a:r>
              <a:rPr lang="en-US" altLang="zh-CN"/>
              <a:t>Software College Northeastern University</a:t>
            </a:r>
            <a:endParaRPr lang="zh-CN" altLang="en-US"/>
          </a:p>
        </p:txBody>
      </p:sp>
      <p:sp>
        <p:nvSpPr>
          <p:cNvPr id="4" name="灯片编号占位符 3"/>
          <p:cNvSpPr>
            <a:spLocks noGrp="1"/>
          </p:cNvSpPr>
          <p:nvPr>
            <p:ph type="sldNum" sz="quarter" idx="12"/>
          </p:nvPr>
        </p:nvSpPr>
        <p:spPr/>
        <p:txBody>
          <a:bodyPr/>
          <a:lstStyle/>
          <a:p>
            <a:fld id="{6E1C0148-8E4B-4B2F-95CE-20B4709700AE}" type="slidenum">
              <a:rPr lang="zh-CN" altLang="en-US" smtClean="0"/>
            </a:fld>
            <a:endParaRPr lang="zh-CN" altLang="en-US"/>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ext Box 2"/>
          <p:cNvSpPr txBox="1"/>
          <p:nvPr/>
        </p:nvSpPr>
        <p:spPr>
          <a:xfrm>
            <a:off x="1371600" y="152400"/>
            <a:ext cx="2471420" cy="706755"/>
          </a:xfrm>
          <a:prstGeom prst="rect">
            <a:avLst/>
          </a:prstGeom>
          <a:noFill/>
          <a:ln w="9525">
            <a:noFill/>
          </a:ln>
        </p:spPr>
        <p:txBody>
          <a:bodyPr wrap="none">
            <a:spAutoFit/>
          </a:bodyPr>
          <a:lstStyle/>
          <a:p>
            <a:r>
              <a:rPr lang="zh-CN" altLang="en-US" sz="4000" b="1" dirty="0">
                <a:solidFill>
                  <a:srgbClr val="FF0000"/>
                </a:solidFill>
                <a:latin typeface="楷体_GB2312" panose="02010609030101010101" pitchFamily="49" charset="-122"/>
                <a:ea typeface="楷体_GB2312" panose="02010609030101010101" pitchFamily="49" charset="-122"/>
              </a:rPr>
              <a:t>数据对象</a:t>
            </a:r>
            <a:r>
              <a:rPr lang="en-US" altLang="zh-CN" sz="4000" b="1" dirty="0">
                <a:solidFill>
                  <a:srgbClr val="FF0000"/>
                </a:solidFill>
                <a:latin typeface="楷体_GB2312" panose="02010609030101010101" pitchFamily="49" charset="-122"/>
                <a:ea typeface="楷体_GB2312" panose="02010609030101010101" pitchFamily="49" charset="-122"/>
              </a:rPr>
              <a:t>:</a:t>
            </a:r>
            <a:endParaRPr lang="en-US" altLang="zh-CN" sz="4000" b="1" dirty="0">
              <a:latin typeface="楷体_GB2312" panose="02010609030101010101" pitchFamily="49" charset="-122"/>
              <a:ea typeface="楷体_GB2312" panose="02010609030101010101" pitchFamily="49" charset="-122"/>
            </a:endParaRPr>
          </a:p>
        </p:txBody>
      </p:sp>
      <p:sp>
        <p:nvSpPr>
          <p:cNvPr id="27651" name="Text Box 3"/>
          <p:cNvSpPr txBox="1"/>
          <p:nvPr/>
        </p:nvSpPr>
        <p:spPr>
          <a:xfrm>
            <a:off x="474345" y="1524000"/>
            <a:ext cx="7993380" cy="1568450"/>
          </a:xfrm>
          <a:prstGeom prst="rect">
            <a:avLst/>
          </a:prstGeom>
          <a:noFill/>
          <a:ln w="9525">
            <a:noFill/>
          </a:ln>
        </p:spPr>
        <p:txBody>
          <a:bodyPr wrap="square">
            <a:spAutoFit/>
          </a:bodyPr>
          <a:lstStyle/>
          <a:p>
            <a:r>
              <a:rPr lang="zh-CN" altLang="en-US" sz="3200" dirty="0">
                <a:latin typeface="楷体_GB2312" panose="02010609030101010101" pitchFamily="49" charset="-122"/>
                <a:ea typeface="楷体_GB2312" panose="02010609030101010101" pitchFamily="49" charset="-122"/>
              </a:rPr>
              <a:t>是</a:t>
            </a:r>
            <a:r>
              <a:rPr lang="zh-CN" altLang="en-US" sz="3200" dirty="0">
                <a:solidFill>
                  <a:srgbClr val="FF0000"/>
                </a:solidFill>
                <a:latin typeface="楷体_GB2312" panose="02010609030101010101" pitchFamily="49" charset="-122"/>
                <a:ea typeface="楷体_GB2312" panose="02010609030101010101" pitchFamily="49" charset="-122"/>
              </a:rPr>
              <a:t>性质相同</a:t>
            </a:r>
            <a:r>
              <a:rPr lang="zh-CN" altLang="en-US" sz="3200" dirty="0">
                <a:latin typeface="楷体_GB2312" panose="02010609030101010101" pitchFamily="49" charset="-122"/>
                <a:ea typeface="楷体_GB2312" panose="02010609030101010101" pitchFamily="49" charset="-122"/>
              </a:rPr>
              <a:t>的</a:t>
            </a:r>
            <a:r>
              <a:rPr lang="zh-CN" altLang="en-US" sz="3200" dirty="0">
                <a:solidFill>
                  <a:srgbClr val="FF0000"/>
                </a:solidFill>
                <a:latin typeface="楷体_GB2312" panose="02010609030101010101" pitchFamily="49" charset="-122"/>
                <a:ea typeface="楷体_GB2312" panose="02010609030101010101" pitchFamily="49" charset="-122"/>
              </a:rPr>
              <a:t>数据元素的</a:t>
            </a:r>
            <a:r>
              <a:rPr lang="zh-CN" altLang="en-US" sz="3200" dirty="0">
                <a:solidFill>
                  <a:srgbClr val="FF0000"/>
                </a:solidFill>
                <a:highlight>
                  <a:srgbClr val="FFFF00"/>
                </a:highlight>
                <a:latin typeface="楷体_GB2312" panose="02010609030101010101" pitchFamily="49" charset="-122"/>
                <a:ea typeface="楷体_GB2312" panose="02010609030101010101" pitchFamily="49" charset="-122"/>
              </a:rPr>
              <a:t>集合</a:t>
            </a:r>
            <a:r>
              <a:rPr lang="zh-CN" altLang="en-US" sz="3200" dirty="0">
                <a:latin typeface="楷体_GB2312" panose="02010609030101010101" pitchFamily="49" charset="-122"/>
                <a:ea typeface="楷体_GB2312" panose="02010609030101010101" pitchFamily="49" charset="-122"/>
              </a:rPr>
              <a:t>，</a:t>
            </a:r>
            <a:endParaRPr lang="zh-CN" altLang="en-US" sz="3200" dirty="0">
              <a:latin typeface="楷体_GB2312" panose="02010609030101010101" pitchFamily="49" charset="-122"/>
              <a:ea typeface="楷体_GB2312" panose="02010609030101010101" pitchFamily="49" charset="-122"/>
            </a:endParaRPr>
          </a:p>
          <a:p>
            <a:r>
              <a:rPr lang="zh-CN" altLang="en-US" sz="3200" dirty="0">
                <a:latin typeface="楷体_GB2312" panose="02010609030101010101" pitchFamily="49" charset="-122"/>
                <a:ea typeface="楷体_GB2312" panose="02010609030101010101" pitchFamily="49" charset="-122"/>
              </a:rPr>
              <a:t>是</a:t>
            </a:r>
            <a:r>
              <a:rPr lang="zh-CN" altLang="en-US" sz="3200" dirty="0">
                <a:solidFill>
                  <a:srgbClr val="FF0000"/>
                </a:solidFill>
                <a:latin typeface="楷体_GB2312" panose="02010609030101010101" pitchFamily="49" charset="-122"/>
                <a:ea typeface="楷体_GB2312" panose="02010609030101010101" pitchFamily="49" charset="-122"/>
              </a:rPr>
              <a:t>数据的一个子集</a:t>
            </a:r>
            <a:r>
              <a:rPr lang="zh-CN" altLang="en-US" sz="3200" dirty="0">
                <a:latin typeface="楷体_GB2312" panose="02010609030101010101" pitchFamily="49" charset="-122"/>
                <a:ea typeface="楷体_GB2312" panose="02010609030101010101" pitchFamily="49" charset="-122"/>
              </a:rPr>
              <a:t>。 数据元素</a:t>
            </a:r>
            <a:endParaRPr lang="zh-CN" altLang="en-US" sz="3200" dirty="0">
              <a:latin typeface="楷体_GB2312" panose="02010609030101010101" pitchFamily="49" charset="-122"/>
              <a:ea typeface="楷体_GB2312" panose="02010609030101010101" pitchFamily="49" charset="-122"/>
            </a:endParaRPr>
          </a:p>
          <a:p>
            <a:r>
              <a:rPr lang="zh-CN" altLang="en-US" sz="3200" dirty="0">
                <a:latin typeface="楷体_GB2312" panose="02010609030101010101" pitchFamily="49" charset="-122"/>
                <a:ea typeface="楷体_GB2312" panose="02010609030101010101" pitchFamily="49" charset="-122"/>
              </a:rPr>
              <a:t>是数据对象的一个实例。</a:t>
            </a:r>
            <a:endParaRPr lang="zh-CN" altLang="en-US" sz="3200" dirty="0">
              <a:latin typeface="楷体_GB2312" panose="02010609030101010101" pitchFamily="49" charset="-122"/>
              <a:ea typeface="楷体_GB2312" panose="02010609030101010101" pitchFamily="49" charset="-122"/>
            </a:endParaRPr>
          </a:p>
        </p:txBody>
      </p:sp>
      <p:sp>
        <p:nvSpPr>
          <p:cNvPr id="27652" name="Text Box 4"/>
          <p:cNvSpPr txBox="1"/>
          <p:nvPr/>
        </p:nvSpPr>
        <p:spPr>
          <a:xfrm>
            <a:off x="1100949" y="3765551"/>
            <a:ext cx="7345362" cy="457200"/>
          </a:xfrm>
          <a:prstGeom prst="rect">
            <a:avLst/>
          </a:prstGeom>
          <a:noFill/>
          <a:ln w="9525">
            <a:noFill/>
          </a:ln>
        </p:spPr>
        <p:txBody>
          <a:bodyPr>
            <a:spAutoFit/>
          </a:bodyPr>
          <a:lstStyle/>
          <a:p>
            <a:r>
              <a:rPr lang="zh-CN" altLang="en-US" sz="2400" dirty="0">
                <a:latin typeface="Times New Roman" panose="02020603050405020304" pitchFamily="18" charset="0"/>
              </a:rPr>
              <a:t>例如，整数数据对象是集合</a:t>
            </a:r>
            <a:r>
              <a:rPr lang="en-US" altLang="zh-CN" sz="2400" dirty="0">
                <a:latin typeface="Times New Roman" panose="02020603050405020304" pitchFamily="18" charset="0"/>
              </a:rPr>
              <a:t>N={…-2,-1,0,1,2…..}</a:t>
            </a:r>
            <a:endParaRPr lang="en-US" altLang="zh-CN" sz="2400" dirty="0">
              <a:latin typeface="Times New Roman" panose="02020603050405020304" pitchFamily="18" charset="0"/>
            </a:endParaRPr>
          </a:p>
        </p:txBody>
      </p:sp>
      <p:sp>
        <p:nvSpPr>
          <p:cNvPr id="27653" name="Text Box 5"/>
          <p:cNvSpPr txBox="1"/>
          <p:nvPr/>
        </p:nvSpPr>
        <p:spPr>
          <a:xfrm>
            <a:off x="1331967" y="4438652"/>
            <a:ext cx="7345362" cy="457200"/>
          </a:xfrm>
          <a:prstGeom prst="rect">
            <a:avLst/>
          </a:prstGeom>
          <a:noFill/>
          <a:ln w="9525">
            <a:noFill/>
          </a:ln>
        </p:spPr>
        <p:txBody>
          <a:bodyPr>
            <a:spAutoFit/>
          </a:bodyPr>
          <a:lstStyle/>
          <a:p>
            <a:r>
              <a:rPr lang="zh-CN" altLang="en-US" sz="2400" dirty="0">
                <a:latin typeface="Times New Roman" panose="02020603050405020304" pitchFamily="18" charset="0"/>
              </a:rPr>
              <a:t>        字母字符数据对象是集合</a:t>
            </a:r>
            <a:r>
              <a:rPr lang="en-US" altLang="zh-CN" sz="2400" dirty="0">
                <a:latin typeface="Times New Roman" panose="02020603050405020304" pitchFamily="18" charset="0"/>
              </a:rPr>
              <a:t>N={‘A’,’B’…,’Z’}</a:t>
            </a:r>
            <a:endParaRPr lang="en-US" altLang="zh-CN" sz="2400" dirty="0">
              <a:latin typeface="Times New Roman" panose="02020603050405020304" pitchFamily="18" charset="0"/>
            </a:endParaRPr>
          </a:p>
        </p:txBody>
      </p:sp>
      <p:sp>
        <p:nvSpPr>
          <p:cNvPr id="2" name="日期占位符 1"/>
          <p:cNvSpPr>
            <a:spLocks noGrp="1"/>
          </p:cNvSpPr>
          <p:nvPr>
            <p:ph type="dt" sz="half" idx="10"/>
          </p:nvPr>
        </p:nvSpPr>
        <p:spPr/>
        <p:txBody>
          <a:bodyPr/>
          <a:lstStyle/>
          <a:p>
            <a:r>
              <a:rPr lang="en-US" altLang="zh-CN"/>
              <a:t>Data Structures and algorithms</a:t>
            </a:r>
            <a:endParaRPr lang="zh-CN" altLang="en-US"/>
          </a:p>
        </p:txBody>
      </p:sp>
      <p:sp>
        <p:nvSpPr>
          <p:cNvPr id="3" name="页脚占位符 2"/>
          <p:cNvSpPr>
            <a:spLocks noGrp="1"/>
          </p:cNvSpPr>
          <p:nvPr>
            <p:ph type="ftr" sz="quarter" idx="11"/>
          </p:nvPr>
        </p:nvSpPr>
        <p:spPr/>
        <p:txBody>
          <a:bodyPr/>
          <a:lstStyle/>
          <a:p>
            <a:r>
              <a:rPr lang="en-US" altLang="zh-CN"/>
              <a:t>Software College Northeastern University</a:t>
            </a:r>
            <a:endParaRPr lang="zh-CN" altLang="en-US"/>
          </a:p>
        </p:txBody>
      </p:sp>
      <p:sp>
        <p:nvSpPr>
          <p:cNvPr id="4" name="灯片编号占位符 3"/>
          <p:cNvSpPr>
            <a:spLocks noGrp="1"/>
          </p:cNvSpPr>
          <p:nvPr>
            <p:ph type="sldNum" sz="quarter" idx="12"/>
          </p:nvPr>
        </p:nvSpPr>
        <p:spPr/>
        <p:txBody>
          <a:bodyPr/>
          <a:lstStyle/>
          <a:p>
            <a:fld id="{6E1C0148-8E4B-4B2F-95CE-20B4709700AE}" type="slidenum">
              <a:rPr lang="zh-CN" altLang="en-US" smtClean="0"/>
            </a:fld>
            <a:endParaRPr lang="zh-CN" altLang="en-US"/>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7652" name="Object 4"/>
          <p:cNvGraphicFramePr>
            <a:graphicFrameLocks noChangeAspect="1"/>
          </p:cNvGraphicFramePr>
          <p:nvPr/>
        </p:nvGraphicFramePr>
        <p:xfrm>
          <a:off x="1549400" y="2439670"/>
          <a:ext cx="6045200" cy="3187700"/>
        </p:xfrm>
        <a:graphic>
          <a:graphicData uri="http://schemas.openxmlformats.org/presentationml/2006/ole">
            <mc:AlternateContent xmlns:mc="http://schemas.openxmlformats.org/markup-compatibility/2006">
              <mc:Choice xmlns:v="urn:schemas-microsoft-com:vml" Requires="v">
                <p:oleObj spid="_x0000_s2053" name="" r:id="rId1" imgW="9941560" imgH="3505200" progId="Word.Document.8">
                  <p:embed/>
                </p:oleObj>
              </mc:Choice>
              <mc:Fallback>
                <p:oleObj name="" r:id="rId1" imgW="9941560" imgH="3505200" progId="Word.Document.8">
                  <p:embed/>
                  <p:pic>
                    <p:nvPicPr>
                      <p:cNvPr id="0" name="图片 3078"/>
                      <p:cNvPicPr/>
                      <p:nvPr/>
                    </p:nvPicPr>
                    <p:blipFill>
                      <a:blip r:embed="rId2"/>
                      <a:stretch>
                        <a:fillRect/>
                      </a:stretch>
                    </p:blipFill>
                    <p:spPr>
                      <a:xfrm>
                        <a:off x="1549400" y="2439670"/>
                        <a:ext cx="6045200" cy="3187700"/>
                      </a:xfrm>
                      <a:prstGeom prst="rect">
                        <a:avLst/>
                      </a:prstGeom>
                      <a:noFill/>
                      <a:ln w="38100">
                        <a:noFill/>
                        <a:miter/>
                      </a:ln>
                    </p:spPr>
                  </p:pic>
                </p:oleObj>
              </mc:Fallback>
            </mc:AlternateContent>
          </a:graphicData>
        </a:graphic>
      </p:graphicFrame>
      <p:sp>
        <p:nvSpPr>
          <p:cNvPr id="27653" name="AutoShape 7"/>
          <p:cNvSpPr/>
          <p:nvPr/>
        </p:nvSpPr>
        <p:spPr>
          <a:xfrm flipH="1">
            <a:off x="6472238" y="3489008"/>
            <a:ext cx="2222500" cy="573087"/>
          </a:xfrm>
          <a:prstGeom prst="wedgeRoundRectCallout">
            <a:avLst>
              <a:gd name="adj1" fmla="val 61292"/>
              <a:gd name="adj2" fmla="val -144269"/>
              <a:gd name="adj3" fmla="val 16667"/>
            </a:avLst>
          </a:prstGeom>
          <a:solidFill>
            <a:schemeClr val="accent1"/>
          </a:solidFill>
          <a:ln w="28575" cap="flat" cmpd="sng">
            <a:solidFill>
              <a:srgbClr val="FF0000"/>
            </a:solidFill>
            <a:prstDash val="solid"/>
            <a:miter/>
            <a:headEnd type="none" w="med" len="med"/>
            <a:tailEnd type="none" w="med" len="med"/>
          </a:ln>
        </p:spPr>
        <p:txBody>
          <a:bodyPr anchor="ctr"/>
          <a:lstStyle/>
          <a:p>
            <a:pPr indent="0" algn="ctr" eaLnBrk="0" hangingPunct="0"/>
            <a:r>
              <a:rPr lang="zh-CN" altLang="en-US" sz="2400" dirty="0">
                <a:latin typeface="Times New Roman" panose="02020603050405020304" pitchFamily="18" charset="0"/>
                <a:ea typeface="楷体_GB2312" panose="02010609030101010101" pitchFamily="49" charset="-122"/>
              </a:rPr>
              <a:t>数据元素</a:t>
            </a:r>
            <a:endParaRPr lang="zh-CN" altLang="en-US" sz="2400" dirty="0">
              <a:latin typeface="Times New Roman" panose="02020603050405020304" pitchFamily="18" charset="0"/>
              <a:ea typeface="楷体_GB2312" panose="02010609030101010101" pitchFamily="49" charset="-122"/>
            </a:endParaRPr>
          </a:p>
        </p:txBody>
      </p:sp>
      <p:sp>
        <p:nvSpPr>
          <p:cNvPr id="3" name="AutoShape 7"/>
          <p:cNvSpPr/>
          <p:nvPr/>
        </p:nvSpPr>
        <p:spPr>
          <a:xfrm flipH="1">
            <a:off x="3171508" y="1350328"/>
            <a:ext cx="2222500" cy="573087"/>
          </a:xfrm>
          <a:prstGeom prst="wedgeRoundRectCallout">
            <a:avLst>
              <a:gd name="adj1" fmla="val 94900"/>
              <a:gd name="adj2" fmla="val 136648"/>
              <a:gd name="adj3" fmla="val 16667"/>
            </a:avLst>
          </a:prstGeom>
          <a:solidFill>
            <a:schemeClr val="accent1"/>
          </a:solidFill>
          <a:ln w="28575" cap="flat" cmpd="sng">
            <a:solidFill>
              <a:srgbClr val="FF0000"/>
            </a:solidFill>
            <a:prstDash val="solid"/>
            <a:miter/>
            <a:headEnd type="none" w="med" len="med"/>
            <a:tailEnd type="none" w="med" len="med"/>
          </a:ln>
        </p:spPr>
        <p:txBody>
          <a:bodyPr anchor="ctr"/>
          <a:lstStyle/>
          <a:p>
            <a:pPr indent="0" algn="ctr" eaLnBrk="0" hangingPunct="0"/>
            <a:r>
              <a:rPr lang="zh-CN" altLang="en-US" sz="2400" dirty="0">
                <a:latin typeface="Times New Roman" panose="02020603050405020304" pitchFamily="18" charset="0"/>
                <a:ea typeface="楷体_GB2312" panose="02010609030101010101" pitchFamily="49" charset="-122"/>
              </a:rPr>
              <a:t>数据对象</a:t>
            </a:r>
            <a:endParaRPr lang="zh-CN" altLang="en-US" sz="2400" dirty="0">
              <a:latin typeface="Times New Roman" panose="02020603050405020304" pitchFamily="18" charset="0"/>
              <a:ea typeface="楷体_GB2312" panose="02010609030101010101" pitchFamily="49" charset="-122"/>
            </a:endParaRPr>
          </a:p>
        </p:txBody>
      </p:sp>
      <p:sp>
        <p:nvSpPr>
          <p:cNvPr id="4" name="AutoShape 7"/>
          <p:cNvSpPr/>
          <p:nvPr/>
        </p:nvSpPr>
        <p:spPr>
          <a:xfrm flipH="1">
            <a:off x="4344988" y="5627053"/>
            <a:ext cx="2222500" cy="573087"/>
          </a:xfrm>
          <a:prstGeom prst="wedgeRoundRectCallout">
            <a:avLst>
              <a:gd name="adj1" fmla="val 85042"/>
              <a:gd name="adj2" fmla="val -100249"/>
              <a:gd name="adj3" fmla="val 16667"/>
            </a:avLst>
          </a:prstGeom>
          <a:solidFill>
            <a:schemeClr val="accent1"/>
          </a:solidFill>
          <a:ln w="28575" cap="flat" cmpd="sng">
            <a:solidFill>
              <a:srgbClr val="FF0000"/>
            </a:solidFill>
            <a:prstDash val="solid"/>
            <a:miter/>
            <a:headEnd type="none" w="med" len="med"/>
            <a:tailEnd type="none" w="med" len="med"/>
          </a:ln>
        </p:spPr>
        <p:txBody>
          <a:bodyPr anchor="ctr"/>
          <a:lstStyle/>
          <a:p>
            <a:pPr indent="0" algn="ctr" eaLnBrk="0" hangingPunct="0"/>
            <a:r>
              <a:rPr lang="zh-CN" altLang="en-US" sz="2400" dirty="0">
                <a:latin typeface="Times New Roman" panose="02020603050405020304" pitchFamily="18" charset="0"/>
                <a:ea typeface="楷体_GB2312" panose="02010609030101010101" pitchFamily="49" charset="-122"/>
              </a:rPr>
              <a:t>数据项</a:t>
            </a:r>
            <a:endParaRPr lang="zh-CN" altLang="en-US" sz="2400" dirty="0">
              <a:latin typeface="Times New Roman" panose="02020603050405020304" pitchFamily="18" charset="0"/>
              <a:ea typeface="楷体_GB2312" panose="02010609030101010101" pitchFamily="49" charset="-122"/>
            </a:endParaRPr>
          </a:p>
        </p:txBody>
      </p:sp>
      <p:sp>
        <p:nvSpPr>
          <p:cNvPr id="2" name="日期占位符 1"/>
          <p:cNvSpPr>
            <a:spLocks noGrp="1"/>
          </p:cNvSpPr>
          <p:nvPr>
            <p:ph type="dt" sz="half" idx="10"/>
          </p:nvPr>
        </p:nvSpPr>
        <p:spPr/>
        <p:txBody>
          <a:bodyPr/>
          <a:lstStyle/>
          <a:p>
            <a:r>
              <a:rPr lang="en-US" altLang="zh-CN"/>
              <a:t>Data Structures and algorithms</a:t>
            </a:r>
            <a:endParaRPr lang="zh-CN" altLang="en-US"/>
          </a:p>
        </p:txBody>
      </p:sp>
      <p:sp>
        <p:nvSpPr>
          <p:cNvPr id="5" name="页脚占位符 4"/>
          <p:cNvSpPr>
            <a:spLocks noGrp="1"/>
          </p:cNvSpPr>
          <p:nvPr>
            <p:ph type="ftr" sz="quarter" idx="11"/>
          </p:nvPr>
        </p:nvSpPr>
        <p:spPr/>
        <p:txBody>
          <a:bodyPr/>
          <a:lstStyle/>
          <a:p>
            <a:r>
              <a:rPr lang="en-US" altLang="zh-CN"/>
              <a:t>Software College Northeastern University</a:t>
            </a:r>
            <a:endParaRPr lang="zh-CN" altLang="en-US"/>
          </a:p>
        </p:txBody>
      </p:sp>
      <p:sp>
        <p:nvSpPr>
          <p:cNvPr id="6" name="灯片编号占位符 5"/>
          <p:cNvSpPr>
            <a:spLocks noGrp="1"/>
          </p:cNvSpPr>
          <p:nvPr>
            <p:ph type="sldNum" sz="quarter" idx="12"/>
          </p:nvPr>
        </p:nvSpPr>
        <p:spPr/>
        <p:txBody>
          <a:bodyPr/>
          <a:lstStyle/>
          <a:p>
            <a:fld id="{6E1C0148-8E4B-4B2F-95CE-20B4709700AE}" type="slidenum">
              <a:rPr lang="zh-CN" altLang="en-US" smtClean="0"/>
            </a:fld>
            <a:endParaRPr lang="zh-CN"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986" name="Text Box 2"/>
          <p:cNvSpPr txBox="1"/>
          <p:nvPr/>
        </p:nvSpPr>
        <p:spPr>
          <a:xfrm>
            <a:off x="477838" y="288925"/>
            <a:ext cx="3086100" cy="583565"/>
          </a:xfrm>
          <a:prstGeom prst="rect">
            <a:avLst/>
          </a:prstGeom>
          <a:noFill/>
          <a:ln w="9525">
            <a:noFill/>
          </a:ln>
        </p:spPr>
        <p:txBody>
          <a:bodyPr>
            <a:spAutoFit/>
          </a:bodyPr>
          <a:lstStyle/>
          <a:p>
            <a:r>
              <a:rPr lang="zh-CN" altLang="en-US" sz="3200" b="1" dirty="0">
                <a:solidFill>
                  <a:srgbClr val="FF0000"/>
                </a:solidFill>
                <a:latin typeface="楷体_GB2312" panose="02010609030101010101" pitchFamily="49" charset="-122"/>
                <a:ea typeface="楷体_GB2312" panose="02010609030101010101" pitchFamily="49" charset="-122"/>
              </a:rPr>
              <a:t>数据结构：</a:t>
            </a:r>
            <a:endParaRPr lang="zh-CN" altLang="en-US" sz="3200" b="1" dirty="0">
              <a:solidFill>
                <a:srgbClr val="FF0000"/>
              </a:solidFill>
              <a:latin typeface="楷体_GB2312" panose="02010609030101010101" pitchFamily="49" charset="-122"/>
              <a:ea typeface="楷体_GB2312" panose="02010609030101010101" pitchFamily="49" charset="-122"/>
            </a:endParaRPr>
          </a:p>
        </p:txBody>
      </p:sp>
      <p:sp>
        <p:nvSpPr>
          <p:cNvPr id="553987" name="Text Box 3"/>
          <p:cNvSpPr txBox="1"/>
          <p:nvPr/>
        </p:nvSpPr>
        <p:spPr>
          <a:xfrm>
            <a:off x="2452818" y="288924"/>
            <a:ext cx="5988050" cy="583565"/>
          </a:xfrm>
          <a:prstGeom prst="rect">
            <a:avLst/>
          </a:prstGeom>
          <a:noFill/>
          <a:ln w="9525">
            <a:noFill/>
          </a:ln>
        </p:spPr>
        <p:txBody>
          <a:bodyPr>
            <a:spAutoFit/>
          </a:bodyPr>
          <a:lstStyle/>
          <a:p>
            <a:r>
              <a:rPr lang="zh-CN" altLang="en-US" sz="3200" dirty="0">
                <a:latin typeface="隶书" panose="02010509060101010101" pitchFamily="49" charset="-122"/>
                <a:ea typeface="隶书" panose="02010509060101010101" pitchFamily="49" charset="-122"/>
              </a:rPr>
              <a:t>带</a:t>
            </a:r>
            <a:r>
              <a:rPr lang="zh-CN" altLang="en-US" sz="3200" b="1" dirty="0">
                <a:solidFill>
                  <a:srgbClr val="FF0000"/>
                </a:solidFill>
                <a:latin typeface="隶书" panose="02010509060101010101" pitchFamily="49" charset="-122"/>
                <a:ea typeface="隶书" panose="02010509060101010101" pitchFamily="49" charset="-122"/>
              </a:rPr>
              <a:t>结构</a:t>
            </a:r>
            <a:r>
              <a:rPr lang="zh-CN" altLang="en-US" sz="3200" dirty="0">
                <a:latin typeface="隶书" panose="02010509060101010101" pitchFamily="49" charset="-122"/>
                <a:ea typeface="隶书" panose="02010509060101010101" pitchFamily="49" charset="-122"/>
              </a:rPr>
              <a:t>的数据元素的集合</a:t>
            </a:r>
            <a:endParaRPr lang="zh-CN" altLang="en-US" sz="3200" dirty="0">
              <a:latin typeface="Times New Roman" panose="02020603050405020304" pitchFamily="18" charset="0"/>
            </a:endParaRPr>
          </a:p>
        </p:txBody>
      </p:sp>
      <p:sp>
        <p:nvSpPr>
          <p:cNvPr id="553988" name="Text Box 4"/>
          <p:cNvSpPr txBox="1"/>
          <p:nvPr/>
        </p:nvSpPr>
        <p:spPr>
          <a:xfrm>
            <a:off x="457200" y="1143000"/>
            <a:ext cx="8229600" cy="1322070"/>
          </a:xfrm>
          <a:prstGeom prst="rect">
            <a:avLst/>
          </a:prstGeom>
          <a:noFill/>
          <a:ln w="9525">
            <a:noFill/>
          </a:ln>
        </p:spPr>
        <p:txBody>
          <a:bodyPr>
            <a:spAutoFit/>
          </a:bodyPr>
          <a:lstStyle/>
          <a:p>
            <a:pPr>
              <a:lnSpc>
                <a:spcPct val="125000"/>
              </a:lnSpc>
            </a:pPr>
            <a:r>
              <a:rPr lang="zh-CN" altLang="en-US" sz="3200" dirty="0">
                <a:latin typeface="楷体_GB2312" panose="02010609030101010101" pitchFamily="49" charset="-122"/>
                <a:ea typeface="楷体_GB2312" panose="02010609030101010101" pitchFamily="49" charset="-122"/>
              </a:rPr>
              <a:t>假设用</a:t>
            </a:r>
            <a:r>
              <a:rPr lang="zh-CN" altLang="en-US" sz="3200" b="1" dirty="0">
                <a:solidFill>
                  <a:srgbClr val="006600"/>
                </a:solidFill>
                <a:latin typeface="楷体_GB2312" panose="02010609030101010101" pitchFamily="49" charset="-122"/>
                <a:ea typeface="楷体_GB2312" panose="02010609030101010101" pitchFamily="49" charset="-122"/>
              </a:rPr>
              <a:t>三个</a:t>
            </a:r>
            <a:r>
              <a:rPr lang="zh-CN" altLang="en-US" sz="3200" b="1" dirty="0">
                <a:solidFill>
                  <a:srgbClr val="006600"/>
                </a:solidFill>
                <a:latin typeface="Times New Roman" panose="02020603050405020304" pitchFamily="18" charset="0"/>
                <a:ea typeface="楷体_GB2312" panose="02010609030101010101" pitchFamily="49" charset="-122"/>
              </a:rPr>
              <a:t> </a:t>
            </a:r>
            <a:r>
              <a:rPr lang="en-US" altLang="zh-CN" sz="3200" b="1" dirty="0">
                <a:solidFill>
                  <a:srgbClr val="006600"/>
                </a:solidFill>
                <a:latin typeface="Times New Roman" panose="02020603050405020304" pitchFamily="18" charset="0"/>
                <a:ea typeface="楷体_GB2312" panose="02010609030101010101" pitchFamily="49" charset="-122"/>
              </a:rPr>
              <a:t>4 </a:t>
            </a:r>
            <a:r>
              <a:rPr lang="zh-CN" altLang="en-US" sz="3200" b="1" dirty="0">
                <a:solidFill>
                  <a:srgbClr val="006600"/>
                </a:solidFill>
                <a:latin typeface="楷体_GB2312" panose="02010609030101010101" pitchFamily="49" charset="-122"/>
                <a:ea typeface="楷体_GB2312" panose="02010609030101010101" pitchFamily="49" charset="-122"/>
              </a:rPr>
              <a:t>位的十进制数</a:t>
            </a:r>
            <a:r>
              <a:rPr lang="zh-CN" altLang="en-US" sz="3200" dirty="0">
                <a:latin typeface="楷体_GB2312" panose="02010609030101010101" pitchFamily="49" charset="-122"/>
                <a:ea typeface="楷体_GB2312" panose="02010609030101010101" pitchFamily="49" charset="-122"/>
              </a:rPr>
              <a:t>表示一个含</a:t>
            </a:r>
            <a:r>
              <a:rPr lang="zh-CN" altLang="en-US" sz="3200" dirty="0">
                <a:latin typeface="Times New Roman" panose="02020603050405020304" pitchFamily="18" charset="0"/>
                <a:ea typeface="楷体_GB2312" panose="02010609030101010101" pitchFamily="49" charset="-122"/>
              </a:rPr>
              <a:t> </a:t>
            </a:r>
            <a:r>
              <a:rPr lang="en-US" altLang="zh-CN" sz="3200" b="1" dirty="0">
                <a:latin typeface="Times New Roman" panose="02020603050405020304" pitchFamily="18" charset="0"/>
                <a:ea typeface="楷体_GB2312" panose="02010609030101010101" pitchFamily="49" charset="-122"/>
              </a:rPr>
              <a:t>12 </a:t>
            </a:r>
            <a:r>
              <a:rPr lang="zh-CN" altLang="en-US" sz="3200" b="1" dirty="0">
                <a:latin typeface="楷体_GB2312" panose="02010609030101010101" pitchFamily="49" charset="-122"/>
                <a:ea typeface="楷体_GB2312" panose="02010609030101010101" pitchFamily="49" charset="-122"/>
              </a:rPr>
              <a:t>位数的十进制数。</a:t>
            </a:r>
            <a:endParaRPr lang="zh-CN" altLang="en-US" sz="3200" dirty="0">
              <a:latin typeface="楷体_GB2312" panose="02010609030101010101" pitchFamily="49" charset="-122"/>
              <a:ea typeface="楷体_GB2312" panose="02010609030101010101" pitchFamily="49" charset="-122"/>
            </a:endParaRPr>
          </a:p>
        </p:txBody>
      </p:sp>
      <p:sp>
        <p:nvSpPr>
          <p:cNvPr id="553989" name="Text Box 5"/>
          <p:cNvSpPr txBox="1"/>
          <p:nvPr/>
        </p:nvSpPr>
        <p:spPr>
          <a:xfrm>
            <a:off x="450850" y="3154363"/>
            <a:ext cx="8310245" cy="583565"/>
          </a:xfrm>
          <a:prstGeom prst="rect">
            <a:avLst/>
          </a:prstGeom>
          <a:noFill/>
          <a:ln w="9525">
            <a:noFill/>
          </a:ln>
        </p:spPr>
        <p:txBody>
          <a:bodyPr wrap="none">
            <a:spAutoFit/>
          </a:bodyPr>
          <a:lstStyle/>
          <a:p>
            <a:r>
              <a:rPr lang="en-US" altLang="zh-CN" sz="3200" dirty="0">
                <a:latin typeface="Times New Roman" panose="02020603050405020304" pitchFamily="18" charset="0"/>
                <a:ea typeface="楷体_GB2312" panose="02010609030101010101" pitchFamily="49" charset="-122"/>
              </a:rPr>
              <a:t>3214,6587,9345</a:t>
            </a:r>
            <a:r>
              <a:rPr lang="en-US" altLang="zh-CN" sz="3200" dirty="0">
                <a:latin typeface="楷体_GB2312" panose="02010609030101010101" pitchFamily="49" charset="-122"/>
                <a:ea typeface="楷体_GB2312" panose="02010609030101010101" pitchFamily="49" charset="-122"/>
              </a:rPr>
              <a:t> </a:t>
            </a:r>
            <a:r>
              <a:rPr lang="en-US" altLang="zh-CN" sz="3200" b="1" dirty="0">
                <a:latin typeface="楷体_GB2312" panose="02010609030101010101" pitchFamily="49" charset="-122"/>
                <a:ea typeface="楷体_GB2312" panose="02010609030101010101" pitchFamily="49" charset="-122"/>
              </a:rPr>
              <a:t>─</a:t>
            </a:r>
            <a:r>
              <a:rPr lang="en-US" altLang="zh-CN" sz="3200" dirty="0">
                <a:latin typeface="楷体_GB2312" panose="02010609030101010101" pitchFamily="49" charset="-122"/>
                <a:ea typeface="楷体_GB2312" panose="02010609030101010101" pitchFamily="49" charset="-122"/>
              </a:rPr>
              <a:t> </a:t>
            </a:r>
            <a:r>
              <a:rPr lang="en-US" altLang="zh-CN" sz="3200" b="1" dirty="0">
                <a:latin typeface="Times New Roman" panose="02020603050405020304" pitchFamily="18" charset="0"/>
                <a:ea typeface="楷体_GB2312" panose="02010609030101010101" pitchFamily="49" charset="-122"/>
              </a:rPr>
              <a:t>a1</a:t>
            </a:r>
            <a:r>
              <a:rPr lang="en-US" altLang="zh-CN" sz="3200" dirty="0">
                <a:latin typeface="Times New Roman" panose="02020603050405020304" pitchFamily="18" charset="0"/>
                <a:ea typeface="楷体_GB2312" panose="02010609030101010101" pitchFamily="49" charset="-122"/>
              </a:rPr>
              <a:t>(3214),</a:t>
            </a:r>
            <a:r>
              <a:rPr lang="en-US" altLang="zh-CN" sz="3200" b="1" dirty="0">
                <a:latin typeface="Times New Roman" panose="02020603050405020304" pitchFamily="18" charset="0"/>
                <a:ea typeface="楷体_GB2312" panose="02010609030101010101" pitchFamily="49" charset="-122"/>
              </a:rPr>
              <a:t>a2</a:t>
            </a:r>
            <a:r>
              <a:rPr lang="en-US" altLang="zh-CN" sz="3200" dirty="0">
                <a:latin typeface="Times New Roman" panose="02020603050405020304" pitchFamily="18" charset="0"/>
                <a:ea typeface="楷体_GB2312" panose="02010609030101010101" pitchFamily="49" charset="-122"/>
              </a:rPr>
              <a:t>(6587),</a:t>
            </a:r>
            <a:r>
              <a:rPr lang="en-US" altLang="zh-CN" sz="3200" b="1" dirty="0">
                <a:latin typeface="Times New Roman" panose="02020603050405020304" pitchFamily="18" charset="0"/>
                <a:ea typeface="楷体_GB2312" panose="02010609030101010101" pitchFamily="49" charset="-122"/>
              </a:rPr>
              <a:t>a3</a:t>
            </a:r>
            <a:r>
              <a:rPr lang="en-US" altLang="zh-CN" sz="3200" dirty="0">
                <a:latin typeface="Times New Roman" panose="02020603050405020304" pitchFamily="18" charset="0"/>
                <a:ea typeface="楷体_GB2312" panose="02010609030101010101" pitchFamily="49" charset="-122"/>
              </a:rPr>
              <a:t>(9345)</a:t>
            </a:r>
            <a:endParaRPr lang="en-US" altLang="zh-CN" sz="3200" dirty="0">
              <a:latin typeface="Times New Roman" panose="02020603050405020304" pitchFamily="18" charset="0"/>
            </a:endParaRPr>
          </a:p>
        </p:txBody>
      </p:sp>
      <p:sp>
        <p:nvSpPr>
          <p:cNvPr id="553990" name="Text Box 6"/>
          <p:cNvSpPr txBox="1"/>
          <p:nvPr/>
        </p:nvSpPr>
        <p:spPr>
          <a:xfrm>
            <a:off x="381000" y="3886200"/>
            <a:ext cx="8458200" cy="1260730"/>
          </a:xfrm>
          <a:prstGeom prst="rect">
            <a:avLst/>
          </a:prstGeom>
          <a:noFill/>
          <a:ln w="9525">
            <a:noFill/>
          </a:ln>
        </p:spPr>
        <p:txBody>
          <a:bodyPr>
            <a:spAutoFit/>
          </a:bodyPr>
          <a:lstStyle/>
          <a:p>
            <a:pPr>
              <a:lnSpc>
                <a:spcPct val="125000"/>
              </a:lnSpc>
            </a:pPr>
            <a:r>
              <a:rPr lang="zh-CN" altLang="en-US" sz="3200" dirty="0">
                <a:latin typeface="楷体_GB2312" panose="02010609030101010101" pitchFamily="49" charset="-122"/>
                <a:ea typeface="楷体_GB2312" panose="02010609030101010101" pitchFamily="49" charset="-122"/>
              </a:rPr>
              <a:t>则在数据元素</a:t>
            </a:r>
            <a:r>
              <a:rPr lang="en-US" altLang="zh-CN" sz="3200" dirty="0">
                <a:latin typeface="Times New Roman" panose="02020603050405020304" pitchFamily="18" charset="0"/>
                <a:ea typeface="楷体_GB2312" panose="02010609030101010101" pitchFamily="49" charset="-122"/>
              </a:rPr>
              <a:t>a1</a:t>
            </a:r>
            <a:r>
              <a:rPr lang="zh-CN" altLang="en-US" sz="3200" dirty="0">
                <a:latin typeface="Times New Roman" panose="02020603050405020304" pitchFamily="18" charset="0"/>
                <a:ea typeface="楷体_GB2312" panose="02010609030101010101" pitchFamily="49" charset="-122"/>
              </a:rPr>
              <a:t>、</a:t>
            </a:r>
            <a:r>
              <a:rPr lang="en-US" altLang="zh-CN" sz="3200" dirty="0">
                <a:latin typeface="Times New Roman" panose="02020603050405020304" pitchFamily="18" charset="0"/>
                <a:ea typeface="楷体_GB2312" panose="02010609030101010101" pitchFamily="49" charset="-122"/>
              </a:rPr>
              <a:t>a2 </a:t>
            </a:r>
            <a:r>
              <a:rPr lang="zh-CN" altLang="en-US" sz="3200" dirty="0">
                <a:latin typeface="Times New Roman" panose="02020603050405020304" pitchFamily="18" charset="0"/>
                <a:ea typeface="楷体_GB2312" panose="02010609030101010101" pitchFamily="49" charset="-122"/>
              </a:rPr>
              <a:t>和 </a:t>
            </a:r>
            <a:r>
              <a:rPr lang="en-US" altLang="zh-CN" sz="3200" dirty="0">
                <a:latin typeface="Times New Roman" panose="02020603050405020304" pitchFamily="18" charset="0"/>
                <a:ea typeface="楷体_GB2312" panose="02010609030101010101" pitchFamily="49" charset="-122"/>
              </a:rPr>
              <a:t>a3</a:t>
            </a:r>
            <a:r>
              <a:rPr lang="zh-CN" altLang="en-US" sz="3200" dirty="0">
                <a:latin typeface="楷体_GB2312" panose="02010609030101010101" pitchFamily="49" charset="-122"/>
                <a:ea typeface="楷体_GB2312" panose="02010609030101010101" pitchFamily="49" charset="-122"/>
              </a:rPr>
              <a:t>之间存在着</a:t>
            </a:r>
            <a:r>
              <a:rPr lang="zh-CN" altLang="en-US" sz="3200" b="1" dirty="0">
                <a:solidFill>
                  <a:srgbClr val="FF0000"/>
                </a:solidFill>
                <a:latin typeface="Times New Roman" panose="02020603050405020304" pitchFamily="18" charset="0"/>
                <a:ea typeface="楷体_GB2312" panose="02010609030101010101" pitchFamily="49" charset="-122"/>
              </a:rPr>
              <a:t>“</a:t>
            </a:r>
            <a:r>
              <a:rPr lang="zh-CN" altLang="en-US" sz="3200" b="1" dirty="0">
                <a:solidFill>
                  <a:srgbClr val="FF0000"/>
                </a:solidFill>
                <a:latin typeface="楷体_GB2312" panose="02010609030101010101" pitchFamily="49" charset="-122"/>
                <a:ea typeface="楷体_GB2312" panose="02010609030101010101" pitchFamily="49" charset="-122"/>
              </a:rPr>
              <a:t>次序</a:t>
            </a:r>
            <a:r>
              <a:rPr lang="zh-CN" altLang="en-US" sz="3200" b="1" dirty="0">
                <a:solidFill>
                  <a:srgbClr val="FF0000"/>
                </a:solidFill>
                <a:latin typeface="Times New Roman" panose="02020603050405020304" pitchFamily="18" charset="0"/>
                <a:ea typeface="楷体_GB2312" panose="02010609030101010101" pitchFamily="49" charset="-122"/>
              </a:rPr>
              <a:t>”</a:t>
            </a:r>
            <a:r>
              <a:rPr lang="zh-CN" altLang="en-US" sz="3200" b="1" dirty="0">
                <a:solidFill>
                  <a:srgbClr val="FF0000"/>
                </a:solidFill>
                <a:latin typeface="楷体_GB2312" panose="02010609030101010101" pitchFamily="49" charset="-122"/>
                <a:ea typeface="楷体_GB2312" panose="02010609030101010101" pitchFamily="49" charset="-122"/>
              </a:rPr>
              <a:t>关系</a:t>
            </a:r>
            <a:r>
              <a:rPr lang="zh-CN" altLang="en-US" sz="3200" b="1" dirty="0">
                <a:latin typeface="楷体_GB2312" panose="02010609030101010101" pitchFamily="49" charset="-122"/>
                <a:ea typeface="楷体_GB2312" panose="02010609030101010101" pitchFamily="49" charset="-122"/>
              </a:rPr>
              <a:t>  </a:t>
            </a:r>
            <a:r>
              <a:rPr lang="zh-CN" altLang="en-US" sz="3200" b="1" dirty="0">
                <a:latin typeface="Times New Roman" panose="02020603050405020304" pitchFamily="18" charset="0"/>
                <a:ea typeface="楷体_GB2312" panose="02010609030101010101" pitchFamily="49" charset="-122"/>
                <a:sym typeface="Symbol" panose="05050102010706020507" pitchFamily="18" charset="2"/>
              </a:rPr>
              <a:t></a:t>
            </a:r>
            <a:r>
              <a:rPr lang="en-US" altLang="zh-CN" sz="3200" b="1" dirty="0">
                <a:latin typeface="Times New Roman" panose="02020603050405020304" pitchFamily="18" charset="0"/>
                <a:ea typeface="楷体_GB2312" panose="02010609030101010101" pitchFamily="49" charset="-122"/>
              </a:rPr>
              <a:t>a1,a2</a:t>
            </a:r>
            <a:r>
              <a:rPr lang="en-US" altLang="zh-CN" sz="3200" b="1" dirty="0">
                <a:latin typeface="Times New Roman" panose="02020603050405020304" pitchFamily="18" charset="0"/>
                <a:ea typeface="楷体_GB2312" panose="02010609030101010101" pitchFamily="49" charset="-122"/>
                <a:sym typeface="Symbol" panose="05050102010706020507" pitchFamily="18" charset="2"/>
              </a:rPr>
              <a:t></a:t>
            </a:r>
            <a:r>
              <a:rPr lang="zh-CN" altLang="en-US" sz="3200" b="1" dirty="0">
                <a:latin typeface="Times New Roman" panose="02020603050405020304" pitchFamily="18" charset="0"/>
                <a:ea typeface="楷体_GB2312" panose="02010609030101010101" pitchFamily="49" charset="-122"/>
              </a:rPr>
              <a:t>、</a:t>
            </a:r>
            <a:r>
              <a:rPr lang="zh-CN" altLang="en-US" sz="3200" b="1" dirty="0">
                <a:latin typeface="Times New Roman" panose="02020603050405020304" pitchFamily="18" charset="0"/>
                <a:ea typeface="楷体_GB2312" panose="02010609030101010101" pitchFamily="49" charset="-122"/>
                <a:sym typeface="Symbol" panose="05050102010706020507" pitchFamily="18" charset="2"/>
              </a:rPr>
              <a:t></a:t>
            </a:r>
            <a:r>
              <a:rPr lang="en-US" altLang="zh-CN" sz="3200" b="1" dirty="0">
                <a:latin typeface="Times New Roman" panose="02020603050405020304" pitchFamily="18" charset="0"/>
                <a:ea typeface="楷体_GB2312" panose="02010609030101010101" pitchFamily="49" charset="-122"/>
              </a:rPr>
              <a:t>a2,a3</a:t>
            </a:r>
            <a:r>
              <a:rPr lang="en-US" altLang="zh-CN" sz="3200" b="1" dirty="0">
                <a:latin typeface="Times New Roman" panose="02020603050405020304" pitchFamily="18" charset="0"/>
                <a:ea typeface="楷体_GB2312" panose="02010609030101010101" pitchFamily="49" charset="-122"/>
                <a:sym typeface="Symbol" panose="05050102010706020507" pitchFamily="18" charset="2"/>
              </a:rPr>
              <a:t></a:t>
            </a:r>
            <a:endParaRPr lang="en-US" altLang="zh-CN" sz="3200" b="1" dirty="0">
              <a:latin typeface="楷体_GB2312" panose="02010609030101010101" pitchFamily="49" charset="-122"/>
              <a:ea typeface="楷体_GB2312" panose="02010609030101010101" pitchFamily="49" charset="-122"/>
              <a:sym typeface="Symbol" panose="05050102010706020507" pitchFamily="18" charset="2"/>
            </a:endParaRPr>
          </a:p>
        </p:txBody>
      </p:sp>
      <p:sp>
        <p:nvSpPr>
          <p:cNvPr id="553991" name="Text Box 7"/>
          <p:cNvSpPr txBox="1"/>
          <p:nvPr/>
        </p:nvSpPr>
        <p:spPr>
          <a:xfrm>
            <a:off x="457200" y="5514975"/>
            <a:ext cx="3535680" cy="1076325"/>
          </a:xfrm>
          <a:prstGeom prst="rect">
            <a:avLst/>
          </a:prstGeom>
          <a:noFill/>
          <a:ln w="9525">
            <a:noFill/>
          </a:ln>
        </p:spPr>
        <p:txBody>
          <a:bodyPr wrap="none">
            <a:spAutoFit/>
          </a:bodyPr>
          <a:lstStyle/>
          <a:p>
            <a:r>
              <a:rPr lang="en-US" altLang="zh-CN" sz="3200" dirty="0">
                <a:latin typeface="Times New Roman" panose="02020603050405020304" pitchFamily="18" charset="0"/>
                <a:ea typeface="楷体_GB2312" panose="02010609030101010101" pitchFamily="49" charset="-122"/>
              </a:rPr>
              <a:t>3214</a:t>
            </a:r>
            <a:r>
              <a:rPr lang="zh-CN" altLang="en-US" sz="3200" dirty="0">
                <a:latin typeface="Times New Roman" panose="02020603050405020304" pitchFamily="18" charset="0"/>
                <a:ea typeface="楷体_GB2312" panose="02010609030101010101" pitchFamily="49" charset="-122"/>
              </a:rPr>
              <a:t>，</a:t>
            </a:r>
            <a:r>
              <a:rPr lang="en-US" altLang="zh-CN" sz="3200" dirty="0">
                <a:latin typeface="Times New Roman" panose="02020603050405020304" pitchFamily="18" charset="0"/>
                <a:ea typeface="楷体_GB2312" panose="02010609030101010101" pitchFamily="49" charset="-122"/>
              </a:rPr>
              <a:t>6587</a:t>
            </a:r>
            <a:r>
              <a:rPr lang="zh-CN" altLang="en-US" sz="3200" dirty="0">
                <a:latin typeface="Times New Roman" panose="02020603050405020304" pitchFamily="18" charset="0"/>
                <a:ea typeface="楷体_GB2312" panose="02010609030101010101" pitchFamily="49" charset="-122"/>
              </a:rPr>
              <a:t>，</a:t>
            </a:r>
            <a:r>
              <a:rPr lang="en-US" altLang="zh-CN" sz="3200" dirty="0">
                <a:latin typeface="Times New Roman" panose="02020603050405020304" pitchFamily="18" charset="0"/>
                <a:ea typeface="楷体_GB2312" panose="02010609030101010101" pitchFamily="49" charset="-122"/>
              </a:rPr>
              <a:t>9345 </a:t>
            </a:r>
            <a:endParaRPr lang="en-US" altLang="zh-CN" sz="3200" dirty="0">
              <a:latin typeface="Times New Roman" panose="02020603050405020304" pitchFamily="18" charset="0"/>
              <a:ea typeface="楷体_GB2312" panose="02010609030101010101" pitchFamily="49" charset="-122"/>
            </a:endParaRPr>
          </a:p>
          <a:p>
            <a:r>
              <a:rPr lang="en-US" altLang="zh-CN" sz="3200" dirty="0">
                <a:latin typeface="Times New Roman" panose="02020603050405020304" pitchFamily="18" charset="0"/>
                <a:ea typeface="楷体_GB2312" panose="02010609030101010101" pitchFamily="49" charset="-122"/>
              </a:rPr>
              <a:t>  a1         a2        a3 </a:t>
            </a:r>
            <a:endParaRPr lang="en-US" altLang="zh-CN" sz="3200" dirty="0">
              <a:latin typeface="Times New Roman" panose="02020603050405020304" pitchFamily="18" charset="0"/>
              <a:ea typeface="楷体_GB2312" panose="02010609030101010101" pitchFamily="49" charset="-122"/>
            </a:endParaRPr>
          </a:p>
        </p:txBody>
      </p:sp>
      <p:sp>
        <p:nvSpPr>
          <p:cNvPr id="553992" name="Text Box 8"/>
          <p:cNvSpPr txBox="1"/>
          <p:nvPr/>
        </p:nvSpPr>
        <p:spPr>
          <a:xfrm>
            <a:off x="4953000" y="5514975"/>
            <a:ext cx="3434080" cy="1076325"/>
          </a:xfrm>
          <a:prstGeom prst="rect">
            <a:avLst/>
          </a:prstGeom>
          <a:noFill/>
          <a:ln w="9525">
            <a:noFill/>
          </a:ln>
        </p:spPr>
        <p:txBody>
          <a:bodyPr wrap="none">
            <a:spAutoFit/>
          </a:bodyPr>
          <a:lstStyle/>
          <a:p>
            <a:r>
              <a:rPr lang="en-US" altLang="zh-CN" sz="3200" dirty="0">
                <a:latin typeface="Times New Roman" panose="02020603050405020304" pitchFamily="18" charset="0"/>
                <a:ea typeface="楷体_GB2312" panose="02010609030101010101" pitchFamily="49" charset="-122"/>
              </a:rPr>
              <a:t>6587</a:t>
            </a:r>
            <a:r>
              <a:rPr lang="zh-CN" altLang="en-US" sz="3200" dirty="0">
                <a:latin typeface="Times New Roman" panose="02020603050405020304" pitchFamily="18" charset="0"/>
                <a:ea typeface="楷体_GB2312" panose="02010609030101010101" pitchFamily="49" charset="-122"/>
              </a:rPr>
              <a:t>，</a:t>
            </a:r>
            <a:r>
              <a:rPr lang="en-US" altLang="zh-CN" sz="3200" dirty="0">
                <a:latin typeface="Times New Roman" panose="02020603050405020304" pitchFamily="18" charset="0"/>
                <a:ea typeface="楷体_GB2312" panose="02010609030101010101" pitchFamily="49" charset="-122"/>
              </a:rPr>
              <a:t>3214</a:t>
            </a:r>
            <a:r>
              <a:rPr lang="zh-CN" altLang="en-US" sz="3200" dirty="0">
                <a:latin typeface="Times New Roman" panose="02020603050405020304" pitchFamily="18" charset="0"/>
                <a:ea typeface="楷体_GB2312" panose="02010609030101010101" pitchFamily="49" charset="-122"/>
              </a:rPr>
              <a:t>，</a:t>
            </a:r>
            <a:r>
              <a:rPr lang="en-US" altLang="zh-CN" sz="3200" dirty="0">
                <a:latin typeface="Times New Roman" panose="02020603050405020304" pitchFamily="18" charset="0"/>
                <a:ea typeface="楷体_GB2312" panose="02010609030101010101" pitchFamily="49" charset="-122"/>
              </a:rPr>
              <a:t>9345</a:t>
            </a:r>
            <a:endParaRPr lang="en-US" altLang="zh-CN" sz="3200" dirty="0">
              <a:latin typeface="Times New Roman" panose="02020603050405020304" pitchFamily="18" charset="0"/>
              <a:ea typeface="楷体_GB2312" panose="02010609030101010101" pitchFamily="49" charset="-122"/>
            </a:endParaRPr>
          </a:p>
          <a:p>
            <a:r>
              <a:rPr lang="en-US" altLang="zh-CN" sz="3200" dirty="0">
                <a:latin typeface="Times New Roman" panose="02020603050405020304" pitchFamily="18" charset="0"/>
                <a:ea typeface="楷体_GB2312" panose="02010609030101010101" pitchFamily="49" charset="-122"/>
              </a:rPr>
              <a:t>  a2         a1        a3</a:t>
            </a:r>
            <a:endParaRPr lang="en-US" altLang="zh-CN" sz="3200" dirty="0">
              <a:latin typeface="Times New Roman" panose="02020603050405020304" pitchFamily="18" charset="0"/>
              <a:ea typeface="楷体_GB2312" panose="02010609030101010101" pitchFamily="49" charset="-122"/>
            </a:endParaRPr>
          </a:p>
        </p:txBody>
      </p:sp>
      <p:sp>
        <p:nvSpPr>
          <p:cNvPr id="553993" name="Text Box 9"/>
          <p:cNvSpPr txBox="1"/>
          <p:nvPr/>
        </p:nvSpPr>
        <p:spPr>
          <a:xfrm>
            <a:off x="4267200" y="5410200"/>
            <a:ext cx="589915" cy="583565"/>
          </a:xfrm>
          <a:prstGeom prst="rect">
            <a:avLst/>
          </a:prstGeom>
          <a:noFill/>
          <a:ln w="9525">
            <a:noFill/>
          </a:ln>
        </p:spPr>
        <p:txBody>
          <a:bodyPr wrap="none">
            <a:spAutoFit/>
          </a:bodyPr>
          <a:lstStyle/>
          <a:p>
            <a:r>
              <a:rPr lang="zh-CN" altLang="en-US" sz="3200" b="1" dirty="0">
                <a:solidFill>
                  <a:srgbClr val="FF00FF"/>
                </a:solidFill>
                <a:latin typeface="楷体_GB2312" panose="02010609030101010101" pitchFamily="49" charset="-122"/>
                <a:ea typeface="楷体_GB2312" panose="02010609030101010101" pitchFamily="49" charset="-122"/>
              </a:rPr>
              <a:t>≠</a:t>
            </a:r>
            <a:endParaRPr lang="zh-CN" altLang="en-US" sz="3200" b="1" dirty="0">
              <a:solidFill>
                <a:srgbClr val="FF00FF"/>
              </a:solidFill>
              <a:latin typeface="楷体_GB2312" panose="02010609030101010101" pitchFamily="49" charset="-122"/>
              <a:ea typeface="楷体_GB2312" panose="02010609030101010101" pitchFamily="49" charset="-122"/>
            </a:endParaRPr>
          </a:p>
        </p:txBody>
      </p:sp>
      <p:sp>
        <p:nvSpPr>
          <p:cNvPr id="553994" name="Rectangle 10"/>
          <p:cNvSpPr/>
          <p:nvPr/>
        </p:nvSpPr>
        <p:spPr>
          <a:xfrm>
            <a:off x="304800" y="2590800"/>
            <a:ext cx="1200150" cy="583565"/>
          </a:xfrm>
          <a:prstGeom prst="rect">
            <a:avLst/>
          </a:prstGeom>
          <a:noFill/>
          <a:ln w="9525">
            <a:noFill/>
          </a:ln>
        </p:spPr>
        <p:txBody>
          <a:bodyPr wrap="none">
            <a:spAutoFit/>
          </a:bodyPr>
          <a:lstStyle/>
          <a:p>
            <a:r>
              <a:rPr lang="zh-CN" altLang="en-US" sz="3200" b="1" dirty="0">
                <a:solidFill>
                  <a:srgbClr val="0000FF"/>
                </a:solidFill>
                <a:latin typeface="楷体_GB2312" panose="02010609030101010101" pitchFamily="49" charset="-122"/>
                <a:ea typeface="楷体_GB2312" panose="02010609030101010101" pitchFamily="49" charset="-122"/>
              </a:rPr>
              <a:t>例如</a:t>
            </a:r>
            <a:r>
              <a:rPr lang="en-US" altLang="zh-CN" sz="3200" b="1" dirty="0">
                <a:solidFill>
                  <a:srgbClr val="0000FF"/>
                </a:solidFill>
                <a:latin typeface="楷体_GB2312" panose="02010609030101010101" pitchFamily="49" charset="-122"/>
                <a:ea typeface="楷体_GB2312" panose="02010609030101010101" pitchFamily="49" charset="-122"/>
              </a:rPr>
              <a:t>:</a:t>
            </a:r>
            <a:endParaRPr lang="en-US" altLang="zh-CN" sz="3200" dirty="0">
              <a:latin typeface="楷体_GB2312" panose="02010609030101010101" pitchFamily="49" charset="-122"/>
              <a:ea typeface="楷体_GB2312" panose="02010609030101010101" pitchFamily="49" charset="-122"/>
            </a:endParaRPr>
          </a:p>
        </p:txBody>
      </p:sp>
      <p:sp>
        <p:nvSpPr>
          <p:cNvPr id="2" name="日期占位符 1"/>
          <p:cNvSpPr>
            <a:spLocks noGrp="1"/>
          </p:cNvSpPr>
          <p:nvPr>
            <p:ph type="dt" sz="half" idx="10"/>
          </p:nvPr>
        </p:nvSpPr>
        <p:spPr/>
        <p:txBody>
          <a:bodyPr/>
          <a:lstStyle/>
          <a:p>
            <a:r>
              <a:rPr lang="en-US" altLang="zh-CN"/>
              <a:t>Data Structures and algorithms</a:t>
            </a:r>
            <a:endParaRPr lang="zh-CN" altLang="en-US"/>
          </a:p>
        </p:txBody>
      </p:sp>
      <p:sp>
        <p:nvSpPr>
          <p:cNvPr id="3" name="页脚占位符 2"/>
          <p:cNvSpPr>
            <a:spLocks noGrp="1"/>
          </p:cNvSpPr>
          <p:nvPr>
            <p:ph type="ftr" sz="quarter" idx="11"/>
          </p:nvPr>
        </p:nvSpPr>
        <p:spPr/>
        <p:txBody>
          <a:bodyPr/>
          <a:lstStyle/>
          <a:p>
            <a:r>
              <a:rPr lang="en-US" altLang="zh-CN"/>
              <a:t>Software College Northeastern University</a:t>
            </a:r>
            <a:endParaRPr lang="zh-CN" altLang="en-US"/>
          </a:p>
        </p:txBody>
      </p:sp>
      <p:sp>
        <p:nvSpPr>
          <p:cNvPr id="4" name="灯片编号占位符 3"/>
          <p:cNvSpPr>
            <a:spLocks noGrp="1"/>
          </p:cNvSpPr>
          <p:nvPr>
            <p:ph type="sldNum" sz="quarter" idx="12"/>
          </p:nvPr>
        </p:nvSpPr>
        <p:spPr/>
        <p:txBody>
          <a:bodyPr/>
          <a:lstStyle/>
          <a:p>
            <a:fld id="{6E1C0148-8E4B-4B2F-95CE-20B4709700AE}" type="slidenum">
              <a:rPr lang="zh-CN" altLang="en-US" smtClean="0"/>
            </a:fld>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p:stCondLst>
                                    <p:cond delay="0"/>
                                  </p:stCondLst>
                                  <p:childTnLst>
                                    <p:set>
                                      <p:cBhvr>
                                        <p:cTn id="6" dur="1" fill="hold">
                                          <p:stCondLst>
                                            <p:cond delay="0"/>
                                          </p:stCondLst>
                                        </p:cTn>
                                        <p:tgtEl>
                                          <p:spTgt spid="553986"/>
                                        </p:tgtEl>
                                        <p:attrNameLst>
                                          <p:attrName>style.visibility</p:attrName>
                                        </p:attrNameLst>
                                      </p:cBhvr>
                                      <p:to>
                                        <p:strVal val="visible"/>
                                      </p:to>
                                    </p:set>
                                    <p:animEffect transition="in" filter="strips(downRight)">
                                      <p:cBhvr>
                                        <p:cTn id="7" dur="500"/>
                                        <p:tgtEl>
                                          <p:spTgt spid="55398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53987"/>
                                        </p:tgtEl>
                                        <p:attrNameLst>
                                          <p:attrName>style.visibility</p:attrName>
                                        </p:attrNameLst>
                                      </p:cBhvr>
                                      <p:to>
                                        <p:strVal val="visible"/>
                                      </p:to>
                                    </p:set>
                                    <p:animEffect transition="in" filter="wipe(left)">
                                      <p:cBhvr>
                                        <p:cTn id="12" dur="500"/>
                                        <p:tgtEl>
                                          <p:spTgt spid="553987"/>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553988"/>
                                        </p:tgtEl>
                                        <p:attrNameLst>
                                          <p:attrName>style.visibility</p:attrName>
                                        </p:attrNameLst>
                                      </p:cBhvr>
                                      <p:to>
                                        <p:strVal val="visible"/>
                                      </p:to>
                                    </p:set>
                                    <p:anim calcmode="lin" valueType="num">
                                      <p:cBhvr additive="base">
                                        <p:cTn id="17" dur="500" fill="hold"/>
                                        <p:tgtEl>
                                          <p:spTgt spid="553988"/>
                                        </p:tgtEl>
                                        <p:attrNameLst>
                                          <p:attrName>ppt_x</p:attrName>
                                        </p:attrNameLst>
                                      </p:cBhvr>
                                      <p:tavLst>
                                        <p:tav tm="0">
                                          <p:val>
                                            <p:strVal val="1+#ppt_w/2"/>
                                          </p:val>
                                        </p:tav>
                                        <p:tav tm="100000">
                                          <p:val>
                                            <p:strVal val="#ppt_x"/>
                                          </p:val>
                                        </p:tav>
                                      </p:tavLst>
                                    </p:anim>
                                    <p:anim calcmode="lin" valueType="num">
                                      <p:cBhvr additive="base">
                                        <p:cTn id="18" dur="500" fill="hold"/>
                                        <p:tgtEl>
                                          <p:spTgt spid="553988"/>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553994"/>
                                        </p:tgtEl>
                                        <p:attrNameLst>
                                          <p:attrName>style.visibility</p:attrName>
                                        </p:attrNameLst>
                                      </p:cBhvr>
                                      <p:to>
                                        <p:strVal val="visible"/>
                                      </p:to>
                                    </p:set>
                                    <p:anim calcmode="lin" valueType="num">
                                      <p:cBhvr additive="base">
                                        <p:cTn id="23" dur="500" fill="hold"/>
                                        <p:tgtEl>
                                          <p:spTgt spid="553994"/>
                                        </p:tgtEl>
                                        <p:attrNameLst>
                                          <p:attrName>ppt_x</p:attrName>
                                        </p:attrNameLst>
                                      </p:cBhvr>
                                      <p:tavLst>
                                        <p:tav tm="0">
                                          <p:val>
                                            <p:strVal val="0-#ppt_w/2"/>
                                          </p:val>
                                        </p:tav>
                                        <p:tav tm="100000">
                                          <p:val>
                                            <p:strVal val="#ppt_x"/>
                                          </p:val>
                                        </p:tav>
                                      </p:tavLst>
                                    </p:anim>
                                    <p:anim calcmode="lin" valueType="num">
                                      <p:cBhvr additive="base">
                                        <p:cTn id="24" dur="500" fill="hold"/>
                                        <p:tgtEl>
                                          <p:spTgt spid="553994"/>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553989"/>
                                        </p:tgtEl>
                                        <p:attrNameLst>
                                          <p:attrName>style.visibility</p:attrName>
                                        </p:attrNameLst>
                                      </p:cBhvr>
                                      <p:to>
                                        <p:strVal val="visible"/>
                                      </p:to>
                                    </p:set>
                                    <p:animEffect transition="in" filter="wipe(left)">
                                      <p:cBhvr>
                                        <p:cTn id="29" dur="500"/>
                                        <p:tgtEl>
                                          <p:spTgt spid="553989"/>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iterate type="wd">
                                    <p:tmPct val="100000"/>
                                  </p:iterate>
                                  <p:childTnLst>
                                    <p:set>
                                      <p:cBhvr>
                                        <p:cTn id="33" dur="1" fill="hold">
                                          <p:stCondLst>
                                            <p:cond delay="0"/>
                                          </p:stCondLst>
                                        </p:cTn>
                                        <p:tgtEl>
                                          <p:spTgt spid="553990"/>
                                        </p:tgtEl>
                                        <p:attrNameLst>
                                          <p:attrName>style.visibility</p:attrName>
                                        </p:attrNameLst>
                                      </p:cBhvr>
                                      <p:to>
                                        <p:strVal val="visible"/>
                                      </p:to>
                                    </p:set>
                                    <p:animEffect transition="in" filter="wipe(left)">
                                      <p:cBhvr>
                                        <p:cTn id="34" dur="300"/>
                                        <p:tgtEl>
                                          <p:spTgt spid="553990"/>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553991"/>
                                        </p:tgtEl>
                                        <p:attrNameLst>
                                          <p:attrName>style.visibility</p:attrName>
                                        </p:attrNameLst>
                                      </p:cBhvr>
                                      <p:to>
                                        <p:strVal val="visible"/>
                                      </p:to>
                                    </p:set>
                                    <p:animEffect transition="in" filter="wipe(left)">
                                      <p:cBhvr>
                                        <p:cTn id="39" dur="500"/>
                                        <p:tgtEl>
                                          <p:spTgt spid="553991"/>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553992"/>
                                        </p:tgtEl>
                                        <p:attrNameLst>
                                          <p:attrName>style.visibility</p:attrName>
                                        </p:attrNameLst>
                                      </p:cBhvr>
                                      <p:to>
                                        <p:strVal val="visible"/>
                                      </p:to>
                                    </p:set>
                                    <p:animEffect transition="in" filter="wipe(left)">
                                      <p:cBhvr>
                                        <p:cTn id="44" dur="500"/>
                                        <p:tgtEl>
                                          <p:spTgt spid="553992"/>
                                        </p:tgtEl>
                                      </p:cBhvr>
                                    </p:animEffec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499"/>
                                          </p:stCondLst>
                                        </p:cTn>
                                        <p:tgtEl>
                                          <p:spTgt spid="5539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986" grpId="0"/>
      <p:bldP spid="553987" grpId="0"/>
      <p:bldP spid="553988" grpId="0"/>
      <p:bldP spid="553989" grpId="0"/>
      <p:bldP spid="553990" grpId="0"/>
      <p:bldP spid="553991" grpId="0"/>
      <p:bldP spid="553992" grpId="0"/>
      <p:bldP spid="553993" grpId="0"/>
      <p:bldP spid="553994"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5010" name="Text Box 2"/>
          <p:cNvSpPr txBox="1"/>
          <p:nvPr/>
        </p:nvSpPr>
        <p:spPr>
          <a:xfrm>
            <a:off x="304800" y="989013"/>
            <a:ext cx="8766810" cy="1863090"/>
          </a:xfrm>
          <a:prstGeom prst="rect">
            <a:avLst/>
          </a:prstGeom>
          <a:noFill/>
          <a:ln w="9525">
            <a:noFill/>
          </a:ln>
        </p:spPr>
        <p:txBody>
          <a:bodyPr wrap="none">
            <a:spAutoFit/>
          </a:bodyPr>
          <a:lstStyle/>
          <a:p>
            <a:pPr>
              <a:lnSpc>
                <a:spcPct val="120000"/>
              </a:lnSpc>
            </a:pPr>
            <a:r>
              <a:rPr lang="zh-CN" altLang="en-US" sz="3200" dirty="0">
                <a:latin typeface="楷体_GB2312" panose="02010609030101010101" pitchFamily="49" charset="-122"/>
                <a:ea typeface="楷体_GB2312" panose="02010609030101010101" pitchFamily="49" charset="-122"/>
              </a:rPr>
              <a:t>又例，在</a:t>
            </a:r>
            <a:r>
              <a:rPr lang="en-US" altLang="zh-CN" sz="3200" dirty="0">
                <a:latin typeface="Times New Roman" panose="02020603050405020304" pitchFamily="18" charset="0"/>
                <a:ea typeface="楷体_GB2312" panose="02010609030101010101" pitchFamily="49" charset="-122"/>
              </a:rPr>
              <a:t>2</a:t>
            </a:r>
            <a:r>
              <a:rPr lang="zh-CN" altLang="en-US" sz="3200" dirty="0">
                <a:latin typeface="楷体_GB2312" panose="02010609030101010101" pitchFamily="49" charset="-122"/>
                <a:ea typeface="楷体_GB2312" panose="02010609030101010101" pitchFamily="49" charset="-122"/>
              </a:rPr>
              <a:t>行</a:t>
            </a:r>
            <a:r>
              <a:rPr lang="en-US" altLang="zh-CN" sz="3200" dirty="0">
                <a:latin typeface="Times New Roman" panose="02020603050405020304" pitchFamily="18" charset="0"/>
                <a:ea typeface="楷体_GB2312" panose="02010609030101010101" pitchFamily="49" charset="-122"/>
              </a:rPr>
              <a:t>3</a:t>
            </a:r>
            <a:r>
              <a:rPr lang="zh-CN" altLang="en-US" sz="3200" dirty="0">
                <a:latin typeface="楷体_GB2312" panose="02010609030101010101" pitchFamily="49" charset="-122"/>
                <a:ea typeface="楷体_GB2312" panose="02010609030101010101" pitchFamily="49" charset="-122"/>
              </a:rPr>
              <a:t>列的二维数组</a:t>
            </a:r>
            <a:r>
              <a:rPr lang="en-US" altLang="zh-CN" sz="3200" dirty="0">
                <a:latin typeface="Times New Roman" panose="02020603050405020304" pitchFamily="18" charset="0"/>
                <a:ea typeface="楷体_GB2312" panose="02010609030101010101" pitchFamily="49" charset="-122"/>
              </a:rPr>
              <a:t>{a1, a2, a3, a4, a5, a6}</a:t>
            </a:r>
            <a:endParaRPr lang="en-US" altLang="zh-CN" sz="3200" dirty="0">
              <a:latin typeface="Times New Roman" panose="02020603050405020304" pitchFamily="18" charset="0"/>
              <a:ea typeface="楷体_GB2312" panose="02010609030101010101" pitchFamily="49" charset="-122"/>
            </a:endParaRPr>
          </a:p>
          <a:p>
            <a:pPr>
              <a:lnSpc>
                <a:spcPct val="120000"/>
              </a:lnSpc>
            </a:pPr>
            <a:r>
              <a:rPr lang="zh-CN" altLang="en-US" sz="3200" dirty="0">
                <a:latin typeface="Times New Roman" panose="02020603050405020304" pitchFamily="18" charset="0"/>
                <a:ea typeface="楷体_GB2312" panose="02010609030101010101" pitchFamily="49" charset="-122"/>
              </a:rPr>
              <a:t>中六个元素之间</a:t>
            </a:r>
            <a:endParaRPr lang="zh-CN" altLang="en-US" sz="3200" dirty="0">
              <a:latin typeface="Times New Roman" panose="02020603050405020304" pitchFamily="18" charset="0"/>
              <a:ea typeface="楷体_GB2312" panose="02010609030101010101" pitchFamily="49" charset="-122"/>
            </a:endParaRPr>
          </a:p>
          <a:p>
            <a:pPr>
              <a:lnSpc>
                <a:spcPct val="120000"/>
              </a:lnSpc>
            </a:pPr>
            <a:r>
              <a:rPr lang="zh-CN" altLang="en-US" sz="3200" dirty="0">
                <a:latin typeface="Times New Roman" panose="02020603050405020304" pitchFamily="18" charset="0"/>
                <a:ea typeface="楷体_GB2312" panose="02010609030101010101" pitchFamily="49" charset="-122"/>
              </a:rPr>
              <a:t>存在两个关系</a:t>
            </a:r>
            <a:r>
              <a:rPr lang="en-US" altLang="zh-CN" sz="3200" dirty="0">
                <a:latin typeface="Times New Roman" panose="02020603050405020304" pitchFamily="18" charset="0"/>
                <a:ea typeface="楷体_GB2312" panose="02010609030101010101" pitchFamily="49" charset="-122"/>
              </a:rPr>
              <a:t>:</a:t>
            </a:r>
            <a:endParaRPr lang="en-US" altLang="zh-CN" sz="2400" dirty="0">
              <a:latin typeface="Times New Roman" panose="02020603050405020304" pitchFamily="18" charset="0"/>
            </a:endParaRPr>
          </a:p>
        </p:txBody>
      </p:sp>
      <p:graphicFrame>
        <p:nvGraphicFramePr>
          <p:cNvPr id="555011" name="Object 3"/>
          <p:cNvGraphicFramePr>
            <a:graphicFrameLocks noChangeAspect="1"/>
          </p:cNvGraphicFramePr>
          <p:nvPr/>
        </p:nvGraphicFramePr>
        <p:xfrm>
          <a:off x="4572000" y="1828800"/>
          <a:ext cx="4648200" cy="3028950"/>
        </p:xfrm>
        <a:graphic>
          <a:graphicData uri="http://schemas.openxmlformats.org/presentationml/2006/ole">
            <mc:AlternateContent xmlns:mc="http://schemas.openxmlformats.org/markup-compatibility/2006">
              <mc:Choice xmlns:v="urn:schemas-microsoft-com:vml" Requires="v">
                <p:oleObj spid="_x0000_s3077" name="" r:id="rId1" imgW="6233160" imgH="4064000" progId="Word.Document.8">
                  <p:embed/>
                </p:oleObj>
              </mc:Choice>
              <mc:Fallback>
                <p:oleObj name="" r:id="rId1" imgW="6233160" imgH="4064000" progId="Word.Document.8">
                  <p:embed/>
                  <p:pic>
                    <p:nvPicPr>
                      <p:cNvPr id="0" name="图片 3076"/>
                      <p:cNvPicPr/>
                      <p:nvPr/>
                    </p:nvPicPr>
                    <p:blipFill>
                      <a:blip r:embed="rId2"/>
                      <a:stretch>
                        <a:fillRect/>
                      </a:stretch>
                    </p:blipFill>
                    <p:spPr>
                      <a:xfrm>
                        <a:off x="4572000" y="1828800"/>
                        <a:ext cx="4648200" cy="3028950"/>
                      </a:xfrm>
                      <a:prstGeom prst="rect">
                        <a:avLst/>
                      </a:prstGeom>
                      <a:noFill/>
                      <a:ln w="38100">
                        <a:noFill/>
                        <a:miter/>
                      </a:ln>
                    </p:spPr>
                  </p:pic>
                </p:oleObj>
              </mc:Fallback>
            </mc:AlternateContent>
          </a:graphicData>
        </a:graphic>
      </p:graphicFrame>
      <p:sp>
        <p:nvSpPr>
          <p:cNvPr id="555012" name="Text Box 4"/>
          <p:cNvSpPr txBox="1"/>
          <p:nvPr/>
        </p:nvSpPr>
        <p:spPr>
          <a:xfrm>
            <a:off x="479425" y="2819400"/>
            <a:ext cx="2828290" cy="1568450"/>
          </a:xfrm>
          <a:prstGeom prst="rect">
            <a:avLst/>
          </a:prstGeom>
          <a:noFill/>
          <a:ln w="9525">
            <a:noFill/>
          </a:ln>
        </p:spPr>
        <p:txBody>
          <a:bodyPr wrap="none">
            <a:spAutoFit/>
          </a:bodyPr>
          <a:lstStyle/>
          <a:p>
            <a:r>
              <a:rPr lang="zh-CN" altLang="en-US" sz="3200" b="1" dirty="0">
                <a:solidFill>
                  <a:schemeClr val="tx2"/>
                </a:solidFill>
                <a:latin typeface="隶书" panose="02010509060101010101" pitchFamily="49" charset="-122"/>
                <a:ea typeface="隶书" panose="02010509060101010101" pitchFamily="49" charset="-122"/>
              </a:rPr>
              <a:t>行的次序关系</a:t>
            </a:r>
            <a:r>
              <a:rPr lang="en-US" altLang="zh-CN" sz="3200" dirty="0">
                <a:solidFill>
                  <a:schemeClr val="tx2"/>
                </a:solidFill>
                <a:latin typeface="楷体_GB2312" panose="02010609030101010101" pitchFamily="49" charset="-122"/>
                <a:ea typeface="楷体_GB2312" panose="02010609030101010101" pitchFamily="49" charset="-122"/>
              </a:rPr>
              <a:t>:</a:t>
            </a:r>
            <a:endParaRPr lang="en-US" altLang="zh-CN" sz="3200" dirty="0">
              <a:solidFill>
                <a:schemeClr val="tx2"/>
              </a:solidFill>
              <a:latin typeface="楷体_GB2312" panose="02010609030101010101" pitchFamily="49" charset="-122"/>
              <a:ea typeface="楷体_GB2312" panose="02010609030101010101" pitchFamily="49" charset="-122"/>
            </a:endParaRPr>
          </a:p>
          <a:p>
            <a:endParaRPr lang="en-US" altLang="zh-CN" sz="3200" dirty="0">
              <a:solidFill>
                <a:schemeClr val="tx2"/>
              </a:solidFill>
              <a:latin typeface="楷体_GB2312" panose="02010609030101010101" pitchFamily="49" charset="-122"/>
              <a:ea typeface="楷体_GB2312" panose="02010609030101010101" pitchFamily="49" charset="-122"/>
            </a:endParaRPr>
          </a:p>
          <a:p>
            <a:r>
              <a:rPr lang="zh-CN" altLang="en-US" sz="3200" b="1" dirty="0">
                <a:solidFill>
                  <a:schemeClr val="tx2"/>
                </a:solidFill>
                <a:latin typeface="隶书" panose="02010509060101010101" pitchFamily="49" charset="-122"/>
                <a:ea typeface="隶书" panose="02010509060101010101" pitchFamily="49" charset="-122"/>
              </a:rPr>
              <a:t>列的次序关系</a:t>
            </a:r>
            <a:r>
              <a:rPr lang="en-US" altLang="zh-CN" sz="3200" b="1" dirty="0">
                <a:solidFill>
                  <a:schemeClr val="tx2"/>
                </a:solidFill>
                <a:latin typeface="楷体_GB2312" panose="02010609030101010101" pitchFamily="49" charset="-122"/>
                <a:ea typeface="楷体_GB2312" panose="02010609030101010101" pitchFamily="49" charset="-122"/>
              </a:rPr>
              <a:t>:</a:t>
            </a:r>
            <a:endParaRPr lang="en-US" altLang="zh-CN" sz="3200" b="1" dirty="0">
              <a:latin typeface="楷体_GB2312" panose="02010609030101010101" pitchFamily="49" charset="-122"/>
              <a:ea typeface="楷体_GB2312" panose="02010609030101010101" pitchFamily="49" charset="-122"/>
            </a:endParaRPr>
          </a:p>
        </p:txBody>
      </p:sp>
      <p:sp>
        <p:nvSpPr>
          <p:cNvPr id="555013" name="Text Box 5"/>
          <p:cNvSpPr txBox="1"/>
          <p:nvPr/>
        </p:nvSpPr>
        <p:spPr>
          <a:xfrm>
            <a:off x="1905000" y="3352800"/>
            <a:ext cx="7772400" cy="583565"/>
          </a:xfrm>
          <a:prstGeom prst="rect">
            <a:avLst/>
          </a:prstGeom>
          <a:noFill/>
          <a:ln w="9525">
            <a:noFill/>
          </a:ln>
        </p:spPr>
        <p:txBody>
          <a:bodyPr>
            <a:spAutoFit/>
          </a:bodyPr>
          <a:lstStyle/>
          <a:p>
            <a:r>
              <a:rPr lang="en-US" altLang="zh-CN" sz="3200" dirty="0">
                <a:latin typeface="Times New Roman" panose="02020603050405020304" pitchFamily="18" charset="0"/>
                <a:ea typeface="楷体_GB2312" panose="02010609030101010101" pitchFamily="49" charset="-122"/>
              </a:rPr>
              <a:t>row = {&lt;a1,a2&gt;,&lt;a2,a3&gt;,&lt;a4,a5&gt;,&lt;a5,a6&gt;}</a:t>
            </a:r>
            <a:endParaRPr lang="en-US" altLang="zh-CN" sz="3200" dirty="0">
              <a:latin typeface="Times New Roman" panose="02020603050405020304" pitchFamily="18" charset="0"/>
              <a:ea typeface="楷体_GB2312" panose="02010609030101010101" pitchFamily="49" charset="-122"/>
            </a:endParaRPr>
          </a:p>
        </p:txBody>
      </p:sp>
      <p:sp>
        <p:nvSpPr>
          <p:cNvPr id="555014" name="Text Box 6"/>
          <p:cNvSpPr txBox="1"/>
          <p:nvPr/>
        </p:nvSpPr>
        <p:spPr>
          <a:xfrm>
            <a:off x="1981200" y="4419600"/>
            <a:ext cx="5686425" cy="583565"/>
          </a:xfrm>
          <a:prstGeom prst="rect">
            <a:avLst/>
          </a:prstGeom>
          <a:noFill/>
          <a:ln w="9525">
            <a:noFill/>
          </a:ln>
        </p:spPr>
        <p:txBody>
          <a:bodyPr wrap="none">
            <a:spAutoFit/>
          </a:bodyPr>
          <a:lstStyle/>
          <a:p>
            <a:r>
              <a:rPr lang="en-US" altLang="zh-CN" sz="3200" dirty="0">
                <a:latin typeface="Times New Roman" panose="02020603050405020304" pitchFamily="18" charset="0"/>
                <a:ea typeface="楷体_GB2312" panose="02010609030101010101" pitchFamily="49" charset="-122"/>
              </a:rPr>
              <a:t>col = {&lt;a1,a4&gt;,&lt;a2,a5&gt;,&lt;a3,a6&gt;}</a:t>
            </a:r>
            <a:endParaRPr lang="en-US" altLang="zh-CN" sz="3200" dirty="0">
              <a:latin typeface="Times New Roman" panose="02020603050405020304" pitchFamily="18" charset="0"/>
              <a:ea typeface="楷体_GB2312" panose="02010609030101010101" pitchFamily="49" charset="-122"/>
            </a:endParaRPr>
          </a:p>
        </p:txBody>
      </p:sp>
      <p:sp>
        <p:nvSpPr>
          <p:cNvPr id="555015" name="Text Box 7"/>
          <p:cNvSpPr txBox="1"/>
          <p:nvPr/>
        </p:nvSpPr>
        <p:spPr>
          <a:xfrm>
            <a:off x="838200" y="5029200"/>
            <a:ext cx="2044700" cy="1076325"/>
          </a:xfrm>
          <a:prstGeom prst="rect">
            <a:avLst/>
          </a:prstGeom>
          <a:noFill/>
          <a:ln w="9525">
            <a:noFill/>
          </a:ln>
        </p:spPr>
        <p:txBody>
          <a:bodyPr wrap="none">
            <a:spAutoFit/>
          </a:bodyPr>
          <a:lstStyle/>
          <a:p>
            <a:r>
              <a:rPr lang="zh-CN" altLang="en-US" sz="3200" dirty="0">
                <a:latin typeface="楷体_GB2312" panose="02010609030101010101" pitchFamily="49" charset="-122"/>
                <a:ea typeface="楷体_GB2312" panose="02010609030101010101" pitchFamily="49" charset="-122"/>
              </a:rPr>
              <a:t> </a:t>
            </a:r>
            <a:r>
              <a:rPr lang="en-US" altLang="zh-CN" sz="3200" dirty="0">
                <a:latin typeface="Times New Roman" panose="02020603050405020304" pitchFamily="18" charset="0"/>
                <a:ea typeface="楷体_GB2312" panose="02010609030101010101" pitchFamily="49" charset="-122"/>
              </a:rPr>
              <a:t>a1  a3  a5</a:t>
            </a:r>
            <a:endParaRPr lang="en-US" altLang="zh-CN" sz="3200" dirty="0">
              <a:latin typeface="Times New Roman" panose="02020603050405020304" pitchFamily="18" charset="0"/>
              <a:ea typeface="楷体_GB2312" panose="02010609030101010101" pitchFamily="49" charset="-122"/>
            </a:endParaRPr>
          </a:p>
          <a:p>
            <a:r>
              <a:rPr lang="en-US" altLang="zh-CN" sz="3200" dirty="0">
                <a:latin typeface="楷体_GB2312" panose="02010609030101010101" pitchFamily="49" charset="-122"/>
                <a:ea typeface="楷体_GB2312" panose="02010609030101010101" pitchFamily="49" charset="-122"/>
              </a:rPr>
              <a:t> </a:t>
            </a:r>
            <a:r>
              <a:rPr lang="en-US" altLang="zh-CN" sz="3200" dirty="0">
                <a:latin typeface="Times New Roman" panose="02020603050405020304" pitchFamily="18" charset="0"/>
                <a:ea typeface="楷体_GB2312" panose="02010609030101010101" pitchFamily="49" charset="-122"/>
              </a:rPr>
              <a:t>a2  a4  a6 </a:t>
            </a:r>
            <a:endParaRPr lang="en-US" altLang="zh-CN" sz="3200" dirty="0">
              <a:latin typeface="Times New Roman" panose="02020603050405020304" pitchFamily="18" charset="0"/>
              <a:ea typeface="楷体_GB2312" panose="02010609030101010101" pitchFamily="49" charset="-122"/>
            </a:endParaRPr>
          </a:p>
        </p:txBody>
      </p:sp>
      <p:sp>
        <p:nvSpPr>
          <p:cNvPr id="555016" name="Text Box 8"/>
          <p:cNvSpPr txBox="1"/>
          <p:nvPr/>
        </p:nvSpPr>
        <p:spPr>
          <a:xfrm>
            <a:off x="4419600" y="5029200"/>
            <a:ext cx="2011680" cy="1076325"/>
          </a:xfrm>
          <a:prstGeom prst="rect">
            <a:avLst/>
          </a:prstGeom>
          <a:noFill/>
          <a:ln w="9525">
            <a:noFill/>
          </a:ln>
        </p:spPr>
        <p:txBody>
          <a:bodyPr wrap="none">
            <a:spAutoFit/>
          </a:bodyPr>
          <a:lstStyle/>
          <a:p>
            <a:r>
              <a:rPr lang="en-US" altLang="zh-CN" sz="3200" dirty="0">
                <a:latin typeface="Times New Roman" panose="02020603050405020304" pitchFamily="18" charset="0"/>
                <a:ea typeface="楷体_GB2312" panose="02010609030101010101" pitchFamily="49" charset="-122"/>
              </a:rPr>
              <a:t>a1  a2  a3</a:t>
            </a:r>
            <a:endParaRPr lang="en-US" altLang="zh-CN" sz="3200" dirty="0">
              <a:latin typeface="Times New Roman" panose="02020603050405020304" pitchFamily="18" charset="0"/>
              <a:ea typeface="楷体_GB2312" panose="02010609030101010101" pitchFamily="49" charset="-122"/>
            </a:endParaRPr>
          </a:p>
          <a:p>
            <a:r>
              <a:rPr lang="en-US" altLang="zh-CN" sz="3200" dirty="0">
                <a:latin typeface="Times New Roman" panose="02020603050405020304" pitchFamily="18" charset="0"/>
                <a:ea typeface="楷体_GB2312" panose="02010609030101010101" pitchFamily="49" charset="-122"/>
              </a:rPr>
              <a:t>a4  a5  a6</a:t>
            </a:r>
            <a:r>
              <a:rPr lang="en-US" altLang="zh-CN" sz="3200" dirty="0">
                <a:latin typeface="Times New Roman" panose="02020603050405020304" pitchFamily="18" charset="0"/>
              </a:rPr>
              <a:t>	</a:t>
            </a:r>
            <a:endParaRPr lang="en-US" altLang="zh-CN" sz="3200" dirty="0">
              <a:latin typeface="Times New Roman" panose="02020603050405020304" pitchFamily="18" charset="0"/>
            </a:endParaRPr>
          </a:p>
        </p:txBody>
      </p:sp>
      <p:sp>
        <p:nvSpPr>
          <p:cNvPr id="555017" name="Line 9"/>
          <p:cNvSpPr/>
          <p:nvPr/>
        </p:nvSpPr>
        <p:spPr>
          <a:xfrm>
            <a:off x="3438525" y="5661025"/>
            <a:ext cx="333375" cy="0"/>
          </a:xfrm>
          <a:prstGeom prst="line">
            <a:avLst/>
          </a:prstGeom>
          <a:ln w="28575" cap="flat" cmpd="sng">
            <a:solidFill>
              <a:srgbClr val="800000"/>
            </a:solidFill>
            <a:prstDash val="solid"/>
            <a:headEnd type="none" w="med" len="med"/>
            <a:tailEnd type="none" w="med" len="med"/>
          </a:ln>
        </p:spPr>
      </p:sp>
      <p:sp>
        <p:nvSpPr>
          <p:cNvPr id="555018" name="Line 10"/>
          <p:cNvSpPr/>
          <p:nvPr/>
        </p:nvSpPr>
        <p:spPr>
          <a:xfrm>
            <a:off x="3438525" y="5759450"/>
            <a:ext cx="333375" cy="0"/>
          </a:xfrm>
          <a:prstGeom prst="line">
            <a:avLst/>
          </a:prstGeom>
          <a:ln w="28575" cap="flat" cmpd="sng">
            <a:solidFill>
              <a:srgbClr val="800000"/>
            </a:solidFill>
            <a:prstDash val="solid"/>
            <a:headEnd type="none" w="med" len="med"/>
            <a:tailEnd type="none" w="med" len="med"/>
          </a:ln>
        </p:spPr>
      </p:sp>
      <p:sp>
        <p:nvSpPr>
          <p:cNvPr id="555019" name="Line 11"/>
          <p:cNvSpPr/>
          <p:nvPr/>
        </p:nvSpPr>
        <p:spPr>
          <a:xfrm flipH="1">
            <a:off x="3505200" y="5562600"/>
            <a:ext cx="200025" cy="296863"/>
          </a:xfrm>
          <a:prstGeom prst="line">
            <a:avLst/>
          </a:prstGeom>
          <a:ln w="28575" cap="flat" cmpd="sng">
            <a:solidFill>
              <a:srgbClr val="800000"/>
            </a:solidFill>
            <a:prstDash val="solid"/>
            <a:headEnd type="none" w="med" len="med"/>
            <a:tailEnd type="none" w="med" len="med"/>
          </a:ln>
        </p:spPr>
      </p:sp>
      <p:grpSp>
        <p:nvGrpSpPr>
          <p:cNvPr id="29708" name="Group 12"/>
          <p:cNvGrpSpPr/>
          <p:nvPr/>
        </p:nvGrpSpPr>
        <p:grpSpPr>
          <a:xfrm>
            <a:off x="544513" y="228600"/>
            <a:ext cx="9209087" cy="593725"/>
            <a:chOff x="301" y="176"/>
            <a:chExt cx="5167" cy="374"/>
          </a:xfrm>
        </p:grpSpPr>
        <p:sp>
          <p:nvSpPr>
            <p:cNvPr id="29709" name="Text Box 13"/>
            <p:cNvSpPr txBox="1"/>
            <p:nvPr/>
          </p:nvSpPr>
          <p:spPr>
            <a:xfrm>
              <a:off x="301" y="182"/>
              <a:ext cx="1676" cy="368"/>
            </a:xfrm>
            <a:prstGeom prst="rect">
              <a:avLst/>
            </a:prstGeom>
            <a:noFill/>
            <a:ln w="9525">
              <a:noFill/>
            </a:ln>
          </p:spPr>
          <p:txBody>
            <a:bodyPr>
              <a:spAutoFit/>
            </a:bodyPr>
            <a:lstStyle/>
            <a:p>
              <a:r>
                <a:rPr lang="zh-CN" altLang="en-US" sz="3200" b="1" dirty="0">
                  <a:solidFill>
                    <a:srgbClr val="FF0000"/>
                  </a:solidFill>
                  <a:latin typeface="楷体_GB2312" panose="02010609030101010101" pitchFamily="49" charset="-122"/>
                  <a:ea typeface="楷体_GB2312" panose="02010609030101010101" pitchFamily="49" charset="-122"/>
                </a:rPr>
                <a:t>数据结构：</a:t>
              </a:r>
              <a:endParaRPr lang="zh-CN" altLang="en-US" sz="3200" b="1" dirty="0">
                <a:solidFill>
                  <a:srgbClr val="FF0000"/>
                </a:solidFill>
                <a:latin typeface="楷体_GB2312" panose="02010609030101010101" pitchFamily="49" charset="-122"/>
                <a:ea typeface="楷体_GB2312" panose="02010609030101010101" pitchFamily="49" charset="-122"/>
              </a:endParaRPr>
            </a:p>
          </p:txBody>
        </p:sp>
        <p:sp>
          <p:nvSpPr>
            <p:cNvPr id="29710" name="Text Box 14"/>
            <p:cNvSpPr txBox="1"/>
            <p:nvPr/>
          </p:nvSpPr>
          <p:spPr>
            <a:xfrm>
              <a:off x="1830" y="176"/>
              <a:ext cx="3638" cy="368"/>
            </a:xfrm>
            <a:prstGeom prst="rect">
              <a:avLst/>
            </a:prstGeom>
            <a:noFill/>
            <a:ln w="9525">
              <a:noFill/>
            </a:ln>
          </p:spPr>
          <p:txBody>
            <a:bodyPr>
              <a:spAutoFit/>
            </a:bodyPr>
            <a:lstStyle/>
            <a:p>
              <a:r>
                <a:rPr lang="zh-CN" altLang="en-US" sz="3200" dirty="0">
                  <a:latin typeface="隶书" panose="02010509060101010101" pitchFamily="49" charset="-122"/>
                  <a:ea typeface="隶书" panose="02010509060101010101" pitchFamily="49" charset="-122"/>
                </a:rPr>
                <a:t>带</a:t>
              </a:r>
              <a:r>
                <a:rPr lang="zh-CN" altLang="en-US" sz="3200" b="1" dirty="0">
                  <a:solidFill>
                    <a:srgbClr val="FF0000"/>
                  </a:solidFill>
                  <a:latin typeface="隶书" panose="02010509060101010101" pitchFamily="49" charset="-122"/>
                  <a:ea typeface="隶书" panose="02010509060101010101" pitchFamily="49" charset="-122"/>
                </a:rPr>
                <a:t>结构</a:t>
              </a:r>
              <a:r>
                <a:rPr lang="zh-CN" altLang="en-US" sz="3200" dirty="0">
                  <a:latin typeface="隶书" panose="02010509060101010101" pitchFamily="49" charset="-122"/>
                  <a:ea typeface="隶书" panose="02010509060101010101" pitchFamily="49" charset="-122"/>
                </a:rPr>
                <a:t>的数据元素的集合</a:t>
              </a:r>
              <a:endParaRPr lang="zh-CN" altLang="en-US" sz="3200" dirty="0">
                <a:latin typeface="Times New Roman" panose="02020603050405020304" pitchFamily="18" charset="0"/>
              </a:endParaRPr>
            </a:p>
          </p:txBody>
        </p:sp>
      </p:grpSp>
      <p:sp>
        <p:nvSpPr>
          <p:cNvPr id="2" name="日期占位符 1"/>
          <p:cNvSpPr>
            <a:spLocks noGrp="1"/>
          </p:cNvSpPr>
          <p:nvPr>
            <p:ph type="dt" sz="half" idx="10"/>
          </p:nvPr>
        </p:nvSpPr>
        <p:spPr/>
        <p:txBody>
          <a:bodyPr/>
          <a:lstStyle/>
          <a:p>
            <a:r>
              <a:rPr lang="en-US" altLang="zh-CN"/>
              <a:t>Data Structures and algorithms</a:t>
            </a:r>
            <a:endParaRPr lang="zh-CN" altLang="en-US"/>
          </a:p>
        </p:txBody>
      </p:sp>
      <p:sp>
        <p:nvSpPr>
          <p:cNvPr id="3" name="页脚占位符 2"/>
          <p:cNvSpPr>
            <a:spLocks noGrp="1"/>
          </p:cNvSpPr>
          <p:nvPr>
            <p:ph type="ftr" sz="quarter" idx="11"/>
          </p:nvPr>
        </p:nvSpPr>
        <p:spPr/>
        <p:txBody>
          <a:bodyPr/>
          <a:lstStyle/>
          <a:p>
            <a:r>
              <a:rPr lang="en-US" altLang="zh-CN"/>
              <a:t>Software College Northeastern University</a:t>
            </a:r>
            <a:endParaRPr lang="zh-CN" altLang="en-US"/>
          </a:p>
        </p:txBody>
      </p:sp>
      <p:sp>
        <p:nvSpPr>
          <p:cNvPr id="4" name="灯片编号占位符 3"/>
          <p:cNvSpPr>
            <a:spLocks noGrp="1"/>
          </p:cNvSpPr>
          <p:nvPr>
            <p:ph type="sldNum" sz="quarter" idx="12"/>
          </p:nvPr>
        </p:nvSpPr>
        <p:spPr/>
        <p:txBody>
          <a:bodyPr/>
          <a:lstStyle/>
          <a:p>
            <a:fld id="{6E1C0148-8E4B-4B2F-95CE-20B4709700AE}" type="slidenum">
              <a:rPr lang="zh-CN" altLang="en-US" smtClean="0"/>
            </a:fld>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wd">
                                    <p:tmPct val="100000"/>
                                  </p:iterate>
                                  <p:childTnLst>
                                    <p:set>
                                      <p:cBhvr>
                                        <p:cTn id="6" dur="1" fill="hold">
                                          <p:stCondLst>
                                            <p:cond delay="0"/>
                                          </p:stCondLst>
                                        </p:cTn>
                                        <p:tgtEl>
                                          <p:spTgt spid="555010"/>
                                        </p:tgtEl>
                                        <p:attrNameLst>
                                          <p:attrName>style.visibility</p:attrName>
                                        </p:attrNameLst>
                                      </p:cBhvr>
                                      <p:to>
                                        <p:strVal val="visible"/>
                                      </p:to>
                                    </p:set>
                                    <p:animEffect transition="in" filter="wipe(left)">
                                      <p:cBhvr>
                                        <p:cTn id="7" dur="300"/>
                                        <p:tgtEl>
                                          <p:spTgt spid="555010"/>
                                        </p:tgtEl>
                                      </p:cBhvr>
                                    </p:animEffect>
                                  </p:childTnLst>
                                </p:cTn>
                              </p:par>
                            </p:childTnLst>
                          </p:cTn>
                        </p:par>
                        <p:par>
                          <p:cTn id="8" fill="hold">
                            <p:stCondLst>
                              <p:cond delay="15300"/>
                            </p:stCondLst>
                            <p:childTnLst>
                              <p:par>
                                <p:cTn id="9" presetID="22" presetClass="entr" presetSubtype="8" fill="hold" nodeType="afterEffect">
                                  <p:stCondLst>
                                    <p:cond delay="0"/>
                                  </p:stCondLst>
                                  <p:childTnLst>
                                    <p:set>
                                      <p:cBhvr>
                                        <p:cTn id="10" dur="1" fill="hold">
                                          <p:stCondLst>
                                            <p:cond delay="0"/>
                                          </p:stCondLst>
                                        </p:cTn>
                                        <p:tgtEl>
                                          <p:spTgt spid="555011"/>
                                        </p:tgtEl>
                                        <p:attrNameLst>
                                          <p:attrName>style.visibility</p:attrName>
                                        </p:attrNameLst>
                                      </p:cBhvr>
                                      <p:to>
                                        <p:strVal val="visible"/>
                                      </p:to>
                                    </p:set>
                                    <p:animEffect transition="in" filter="wipe(left)">
                                      <p:cBhvr>
                                        <p:cTn id="11" dur="500"/>
                                        <p:tgtEl>
                                          <p:spTgt spid="555011"/>
                                        </p:tgtEl>
                                      </p:cBhvr>
                                    </p:animEffect>
                                  </p:childTnLst>
                                </p:cTn>
                              </p:par>
                            </p:childTnLst>
                          </p:cTn>
                        </p:par>
                      </p:childTnLst>
                    </p:cTn>
                  </p:par>
                  <p:par>
                    <p:cTn id="12" fill="hold">
                      <p:stCondLst>
                        <p:cond delay="indefinite"/>
                      </p:stCondLst>
                      <p:childTnLst>
                        <p:par>
                          <p:cTn id="13" fill="hold">
                            <p:stCondLst>
                              <p:cond delay="0"/>
                            </p:stCondLst>
                            <p:childTnLst>
                              <p:par>
                                <p:cTn id="14" presetID="18" presetClass="entr" presetSubtype="6" fill="hold" grpId="0" nodeType="clickEffect">
                                  <p:stCondLst>
                                    <p:cond delay="0"/>
                                  </p:stCondLst>
                                  <p:iterate type="wd">
                                    <p:tmPct val="100000"/>
                                  </p:iterate>
                                  <p:childTnLst>
                                    <p:set>
                                      <p:cBhvr>
                                        <p:cTn id="15" dur="1" fill="hold">
                                          <p:stCondLst>
                                            <p:cond delay="0"/>
                                          </p:stCondLst>
                                        </p:cTn>
                                        <p:tgtEl>
                                          <p:spTgt spid="555012"/>
                                        </p:tgtEl>
                                        <p:attrNameLst>
                                          <p:attrName>style.visibility</p:attrName>
                                        </p:attrNameLst>
                                      </p:cBhvr>
                                      <p:to>
                                        <p:strVal val="visible"/>
                                      </p:to>
                                    </p:set>
                                    <p:animEffect transition="in" filter="strips(downRight)">
                                      <p:cBhvr>
                                        <p:cTn id="16" dur="300"/>
                                        <p:tgtEl>
                                          <p:spTgt spid="555012"/>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555013"/>
                                        </p:tgtEl>
                                        <p:attrNameLst>
                                          <p:attrName>style.visibility</p:attrName>
                                        </p:attrNameLst>
                                      </p:cBhvr>
                                      <p:to>
                                        <p:strVal val="visible"/>
                                      </p:to>
                                    </p:set>
                                    <p:animEffect transition="in" filter="wipe(left)">
                                      <p:cBhvr>
                                        <p:cTn id="21" dur="500"/>
                                        <p:tgtEl>
                                          <p:spTgt spid="555013"/>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555014"/>
                                        </p:tgtEl>
                                        <p:attrNameLst>
                                          <p:attrName>style.visibility</p:attrName>
                                        </p:attrNameLst>
                                      </p:cBhvr>
                                      <p:to>
                                        <p:strVal val="visible"/>
                                      </p:to>
                                    </p:set>
                                    <p:animEffect transition="in" filter="wipe(left)">
                                      <p:cBhvr>
                                        <p:cTn id="26" dur="500"/>
                                        <p:tgtEl>
                                          <p:spTgt spid="555014"/>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555015"/>
                                        </p:tgtEl>
                                        <p:attrNameLst>
                                          <p:attrName>style.visibility</p:attrName>
                                        </p:attrNameLst>
                                      </p:cBhvr>
                                      <p:to>
                                        <p:strVal val="visible"/>
                                      </p:to>
                                    </p:set>
                                    <p:animEffect transition="in" filter="wipe(left)">
                                      <p:cBhvr>
                                        <p:cTn id="31" dur="500"/>
                                        <p:tgtEl>
                                          <p:spTgt spid="555015"/>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555016"/>
                                        </p:tgtEl>
                                        <p:attrNameLst>
                                          <p:attrName>style.visibility</p:attrName>
                                        </p:attrNameLst>
                                      </p:cBhvr>
                                      <p:to>
                                        <p:strVal val="visible"/>
                                      </p:to>
                                    </p:set>
                                    <p:animEffect transition="in" filter="wipe(left)">
                                      <p:cBhvr>
                                        <p:cTn id="36" dur="500"/>
                                        <p:tgtEl>
                                          <p:spTgt spid="555016"/>
                                        </p:tgtEl>
                                      </p:cBhvr>
                                    </p:animEffect>
                                  </p:childTnLst>
                                </p:cTn>
                              </p:par>
                            </p:childTnLst>
                          </p:cTn>
                        </p:par>
                        <p:par>
                          <p:cTn id="37" fill="hold">
                            <p:stCondLst>
                              <p:cond delay="500"/>
                            </p:stCondLst>
                            <p:childTnLst>
                              <p:par>
                                <p:cTn id="38" presetID="1" presetClass="entr" presetSubtype="0" fill="hold" nodeType="afterEffect">
                                  <p:stCondLst>
                                    <p:cond delay="0"/>
                                  </p:stCondLst>
                                  <p:childTnLst>
                                    <p:set>
                                      <p:cBhvr>
                                        <p:cTn id="39" dur="1" fill="hold">
                                          <p:stCondLst>
                                            <p:cond delay="499"/>
                                          </p:stCondLst>
                                        </p:cTn>
                                        <p:tgtEl>
                                          <p:spTgt spid="555017"/>
                                        </p:tgtEl>
                                        <p:attrNameLst>
                                          <p:attrName>style.visibility</p:attrName>
                                        </p:attrNameLst>
                                      </p:cBhvr>
                                      <p:to>
                                        <p:strVal val="visible"/>
                                      </p:to>
                                    </p:set>
                                  </p:childTnLst>
                                </p:cTn>
                              </p:par>
                            </p:childTnLst>
                          </p:cTn>
                        </p:par>
                        <p:par>
                          <p:cTn id="40" fill="hold">
                            <p:stCondLst>
                              <p:cond delay="1000"/>
                            </p:stCondLst>
                            <p:childTnLst>
                              <p:par>
                                <p:cTn id="41" presetID="1" presetClass="entr" presetSubtype="0" fill="hold" nodeType="afterEffect">
                                  <p:stCondLst>
                                    <p:cond delay="0"/>
                                  </p:stCondLst>
                                  <p:childTnLst>
                                    <p:set>
                                      <p:cBhvr>
                                        <p:cTn id="42" dur="1" fill="hold">
                                          <p:stCondLst>
                                            <p:cond delay="499"/>
                                          </p:stCondLst>
                                        </p:cTn>
                                        <p:tgtEl>
                                          <p:spTgt spid="555018"/>
                                        </p:tgtEl>
                                        <p:attrNameLst>
                                          <p:attrName>style.visibility</p:attrName>
                                        </p:attrNameLst>
                                      </p:cBhvr>
                                      <p:to>
                                        <p:strVal val="visible"/>
                                      </p:to>
                                    </p:set>
                                  </p:childTnLst>
                                </p:cTn>
                              </p:par>
                            </p:childTnLst>
                          </p:cTn>
                        </p:par>
                        <p:par>
                          <p:cTn id="43" fill="hold">
                            <p:stCondLst>
                              <p:cond delay="1500"/>
                            </p:stCondLst>
                            <p:childTnLst>
                              <p:par>
                                <p:cTn id="44" presetID="1" presetClass="entr" presetSubtype="0" fill="hold" nodeType="afterEffect">
                                  <p:stCondLst>
                                    <p:cond delay="0"/>
                                  </p:stCondLst>
                                  <p:childTnLst>
                                    <p:set>
                                      <p:cBhvr>
                                        <p:cTn id="45" dur="1" fill="hold">
                                          <p:stCondLst>
                                            <p:cond delay="499"/>
                                          </p:stCondLst>
                                        </p:cTn>
                                        <p:tgtEl>
                                          <p:spTgt spid="5550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5010" grpId="0"/>
      <p:bldP spid="555012" grpId="0"/>
      <p:bldP spid="555013" grpId="0"/>
      <p:bldP spid="555014" grpId="0"/>
      <p:bldP spid="555015" grpId="0"/>
      <p:bldP spid="555016"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6034" name="Text Box 2"/>
          <p:cNvSpPr txBox="1"/>
          <p:nvPr/>
        </p:nvSpPr>
        <p:spPr>
          <a:xfrm>
            <a:off x="304800" y="1143000"/>
            <a:ext cx="8610600" cy="1419860"/>
          </a:xfrm>
          <a:prstGeom prst="rect">
            <a:avLst/>
          </a:prstGeom>
          <a:noFill/>
          <a:ln w="9525">
            <a:noFill/>
          </a:ln>
        </p:spPr>
        <p:txBody>
          <a:bodyPr>
            <a:spAutoFit/>
          </a:bodyPr>
          <a:lstStyle/>
          <a:p>
            <a:pPr>
              <a:lnSpc>
                <a:spcPct val="135000"/>
              </a:lnSpc>
            </a:pPr>
            <a:r>
              <a:rPr lang="zh-CN" altLang="en-US" sz="3200" dirty="0">
                <a:solidFill>
                  <a:schemeClr val="tx2"/>
                </a:solidFill>
                <a:latin typeface="楷体_GB2312" panose="02010609030101010101" pitchFamily="49" charset="-122"/>
                <a:ea typeface="楷体_GB2312" panose="02010609030101010101" pitchFamily="49" charset="-122"/>
              </a:rPr>
              <a:t>再例，在一维数组 </a:t>
            </a:r>
            <a:r>
              <a:rPr lang="en-US" altLang="zh-CN" sz="3200" dirty="0">
                <a:solidFill>
                  <a:schemeClr val="tx2"/>
                </a:solidFill>
                <a:latin typeface="Times New Roman" panose="02020603050405020304" pitchFamily="18" charset="0"/>
                <a:ea typeface="楷体_GB2312" panose="02010609030101010101" pitchFamily="49" charset="-122"/>
              </a:rPr>
              <a:t>{a1, a2, a3, a4, a5, a6} </a:t>
            </a:r>
            <a:r>
              <a:rPr lang="zh-CN" altLang="en-US" sz="3200" dirty="0">
                <a:solidFill>
                  <a:schemeClr val="tx2"/>
                </a:solidFill>
                <a:latin typeface="Times New Roman" panose="02020603050405020304" pitchFamily="18" charset="0"/>
                <a:ea typeface="楷体_GB2312" panose="02010609030101010101" pitchFamily="49" charset="-122"/>
              </a:rPr>
              <a:t>的数据元素之间存在如下的</a:t>
            </a:r>
            <a:r>
              <a:rPr lang="zh-CN" altLang="en-US" sz="3200" b="1" dirty="0">
                <a:solidFill>
                  <a:schemeClr val="tx2"/>
                </a:solidFill>
                <a:latin typeface="Times New Roman" panose="02020603050405020304" pitchFamily="18" charset="0"/>
                <a:ea typeface="隶书" panose="02010509060101010101" pitchFamily="49" charset="-122"/>
              </a:rPr>
              <a:t>次序关系</a:t>
            </a:r>
            <a:r>
              <a:rPr lang="en-US" altLang="zh-CN" sz="3200" dirty="0">
                <a:solidFill>
                  <a:schemeClr val="tx2"/>
                </a:solidFill>
                <a:latin typeface="Times New Roman" panose="02020603050405020304" pitchFamily="18" charset="0"/>
                <a:ea typeface="楷体_GB2312" panose="02010609030101010101" pitchFamily="49" charset="-122"/>
              </a:rPr>
              <a:t>:</a:t>
            </a:r>
            <a:endParaRPr lang="en-US" altLang="zh-CN" sz="3200" dirty="0">
              <a:solidFill>
                <a:schemeClr val="tx2"/>
              </a:solidFill>
              <a:latin typeface="Times New Roman" panose="02020603050405020304" pitchFamily="18" charset="0"/>
              <a:ea typeface="楷体_GB2312" panose="02010609030101010101" pitchFamily="49" charset="-122"/>
            </a:endParaRPr>
          </a:p>
        </p:txBody>
      </p:sp>
      <p:sp>
        <p:nvSpPr>
          <p:cNvPr id="556035" name="Text Box 3"/>
          <p:cNvSpPr txBox="1"/>
          <p:nvPr/>
        </p:nvSpPr>
        <p:spPr>
          <a:xfrm>
            <a:off x="1355725" y="2819400"/>
            <a:ext cx="4377690" cy="583565"/>
          </a:xfrm>
          <a:prstGeom prst="rect">
            <a:avLst/>
          </a:prstGeom>
          <a:noFill/>
          <a:ln w="9525">
            <a:noFill/>
          </a:ln>
        </p:spPr>
        <p:txBody>
          <a:bodyPr wrap="none">
            <a:spAutoFit/>
          </a:bodyPr>
          <a:lstStyle/>
          <a:p>
            <a:r>
              <a:rPr lang="en-US" altLang="zh-CN" sz="3200" dirty="0">
                <a:solidFill>
                  <a:schemeClr val="tx2"/>
                </a:solidFill>
                <a:latin typeface="Times New Roman" panose="02020603050405020304" pitchFamily="18" charset="0"/>
                <a:ea typeface="楷体_GB2312" panose="02010609030101010101" pitchFamily="49" charset="-122"/>
              </a:rPr>
              <a:t>{&lt;a</a:t>
            </a:r>
            <a:r>
              <a:rPr lang="en-US" altLang="zh-CN" sz="3200" baseline="-25000" dirty="0">
                <a:solidFill>
                  <a:schemeClr val="tx2"/>
                </a:solidFill>
                <a:latin typeface="Times New Roman" panose="02020603050405020304" pitchFamily="18" charset="0"/>
                <a:ea typeface="楷体_GB2312" panose="02010609030101010101" pitchFamily="49" charset="-122"/>
              </a:rPr>
              <a:t>i</a:t>
            </a:r>
            <a:r>
              <a:rPr lang="en-US" altLang="zh-CN" sz="3200" dirty="0">
                <a:solidFill>
                  <a:schemeClr val="tx2"/>
                </a:solidFill>
                <a:latin typeface="Times New Roman" panose="02020603050405020304" pitchFamily="18" charset="0"/>
                <a:ea typeface="楷体_GB2312" panose="02010609030101010101" pitchFamily="49" charset="-122"/>
              </a:rPr>
              <a:t>, a</a:t>
            </a:r>
            <a:r>
              <a:rPr lang="en-US" altLang="zh-CN" sz="3200" baseline="-25000" dirty="0">
                <a:solidFill>
                  <a:schemeClr val="tx2"/>
                </a:solidFill>
                <a:latin typeface="Times New Roman" panose="02020603050405020304" pitchFamily="18" charset="0"/>
                <a:ea typeface="楷体_GB2312" panose="02010609030101010101" pitchFamily="49" charset="-122"/>
              </a:rPr>
              <a:t>i+1</a:t>
            </a:r>
            <a:r>
              <a:rPr lang="en-US" altLang="zh-CN" sz="3200" dirty="0">
                <a:solidFill>
                  <a:schemeClr val="tx2"/>
                </a:solidFill>
                <a:latin typeface="Times New Roman" panose="02020603050405020304" pitchFamily="18" charset="0"/>
                <a:ea typeface="楷体_GB2312" panose="02010609030101010101" pitchFamily="49" charset="-122"/>
              </a:rPr>
              <a:t>&gt;| i=1, 2, 3, 4, 5}</a:t>
            </a:r>
            <a:endParaRPr lang="en-US" altLang="zh-CN" sz="3200" dirty="0">
              <a:latin typeface="Times New Roman" panose="02020603050405020304" pitchFamily="18" charset="0"/>
              <a:ea typeface="楷体_GB2312" panose="02010609030101010101" pitchFamily="49" charset="-122"/>
            </a:endParaRPr>
          </a:p>
        </p:txBody>
      </p:sp>
      <p:sp>
        <p:nvSpPr>
          <p:cNvPr id="556036" name="Text Box 4"/>
          <p:cNvSpPr txBox="1"/>
          <p:nvPr/>
        </p:nvSpPr>
        <p:spPr>
          <a:xfrm>
            <a:off x="288925" y="4800600"/>
            <a:ext cx="8626475" cy="1419860"/>
          </a:xfrm>
          <a:prstGeom prst="rect">
            <a:avLst/>
          </a:prstGeom>
          <a:noFill/>
          <a:ln w="9525">
            <a:noFill/>
          </a:ln>
        </p:spPr>
        <p:txBody>
          <a:bodyPr>
            <a:spAutoFit/>
          </a:bodyPr>
          <a:lstStyle/>
          <a:p>
            <a:pPr>
              <a:lnSpc>
                <a:spcPct val="135000"/>
              </a:lnSpc>
            </a:pPr>
            <a:r>
              <a:rPr lang="zh-CN" altLang="en-US" sz="3200" dirty="0">
                <a:solidFill>
                  <a:srgbClr val="9900CC"/>
                </a:solidFill>
                <a:latin typeface="楷体_GB2312" panose="02010609030101010101" pitchFamily="49" charset="-122"/>
                <a:ea typeface="楷体_GB2312" panose="02010609030101010101" pitchFamily="49" charset="-122"/>
              </a:rPr>
              <a:t>  </a:t>
            </a:r>
            <a:r>
              <a:rPr lang="zh-CN" altLang="en-US" sz="3200" dirty="0">
                <a:solidFill>
                  <a:srgbClr val="6600CC"/>
                </a:solidFill>
                <a:latin typeface="楷体_GB2312" panose="02010609030101010101" pitchFamily="49" charset="-122"/>
                <a:ea typeface="楷体_GB2312" panose="02010609030101010101" pitchFamily="49" charset="-122"/>
              </a:rPr>
              <a:t>或者说，</a:t>
            </a:r>
            <a:r>
              <a:rPr lang="zh-CN" altLang="en-US" sz="3200" b="1" dirty="0">
                <a:solidFill>
                  <a:srgbClr val="6600CC"/>
                </a:solidFill>
                <a:latin typeface="楷体_GB2312" panose="02010609030101010101" pitchFamily="49" charset="-122"/>
                <a:ea typeface="楷体_GB2312" panose="02010609030101010101" pitchFamily="49" charset="-122"/>
              </a:rPr>
              <a:t>数据结构</a:t>
            </a:r>
            <a:r>
              <a:rPr lang="zh-CN" altLang="en-US" sz="3200" dirty="0">
                <a:solidFill>
                  <a:srgbClr val="6600CC"/>
                </a:solidFill>
                <a:latin typeface="楷体_GB2312" panose="02010609030101010101" pitchFamily="49" charset="-122"/>
                <a:ea typeface="楷体_GB2312" panose="02010609030101010101" pitchFamily="49" charset="-122"/>
              </a:rPr>
              <a:t>是</a:t>
            </a:r>
            <a:r>
              <a:rPr lang="zh-CN" altLang="en-US" sz="3200" b="1" dirty="0">
                <a:solidFill>
                  <a:srgbClr val="333399"/>
                </a:solidFill>
                <a:latin typeface="楷体_GB2312" panose="02010609030101010101" pitchFamily="49" charset="-122"/>
                <a:ea typeface="楷体_GB2312" panose="02010609030101010101" pitchFamily="49" charset="-122"/>
              </a:rPr>
              <a:t>相互之间存在着某种逻辑关系的数据元素的集合</a:t>
            </a:r>
            <a:r>
              <a:rPr lang="zh-CN" altLang="en-US" sz="3200" dirty="0">
                <a:solidFill>
                  <a:srgbClr val="9900CC"/>
                </a:solidFill>
                <a:latin typeface="楷体_GB2312" panose="02010609030101010101" pitchFamily="49" charset="-122"/>
                <a:ea typeface="楷体_GB2312" panose="02010609030101010101" pitchFamily="49" charset="-122"/>
              </a:rPr>
              <a:t>。</a:t>
            </a:r>
            <a:endParaRPr lang="zh-CN" altLang="en-US" sz="3200" dirty="0">
              <a:latin typeface="楷体_GB2312" panose="02010609030101010101" pitchFamily="49" charset="-122"/>
              <a:ea typeface="楷体_GB2312" panose="02010609030101010101" pitchFamily="49" charset="-122"/>
            </a:endParaRPr>
          </a:p>
        </p:txBody>
      </p:sp>
      <p:grpSp>
        <p:nvGrpSpPr>
          <p:cNvPr id="30725" name="Group 5"/>
          <p:cNvGrpSpPr/>
          <p:nvPr/>
        </p:nvGrpSpPr>
        <p:grpSpPr>
          <a:xfrm>
            <a:off x="468313" y="260350"/>
            <a:ext cx="8415337" cy="593725"/>
            <a:chOff x="301" y="176"/>
            <a:chExt cx="5171" cy="374"/>
          </a:xfrm>
        </p:grpSpPr>
        <p:sp>
          <p:nvSpPr>
            <p:cNvPr id="30727" name="Text Box 6"/>
            <p:cNvSpPr txBox="1"/>
            <p:nvPr/>
          </p:nvSpPr>
          <p:spPr>
            <a:xfrm>
              <a:off x="301" y="182"/>
              <a:ext cx="1679" cy="368"/>
            </a:xfrm>
            <a:prstGeom prst="rect">
              <a:avLst/>
            </a:prstGeom>
            <a:noFill/>
            <a:ln w="9525">
              <a:noFill/>
            </a:ln>
          </p:spPr>
          <p:txBody>
            <a:bodyPr>
              <a:spAutoFit/>
            </a:bodyPr>
            <a:lstStyle/>
            <a:p>
              <a:r>
                <a:rPr lang="zh-CN" altLang="en-US" sz="3200" b="1" dirty="0">
                  <a:solidFill>
                    <a:srgbClr val="FF0000"/>
                  </a:solidFill>
                  <a:latin typeface="楷体_GB2312" panose="02010609030101010101" pitchFamily="49" charset="-122"/>
                  <a:ea typeface="楷体_GB2312" panose="02010609030101010101" pitchFamily="49" charset="-122"/>
                </a:rPr>
                <a:t>数据结构：</a:t>
              </a:r>
              <a:endParaRPr lang="zh-CN" altLang="en-US" sz="3200" b="1" dirty="0">
                <a:solidFill>
                  <a:srgbClr val="FF0000"/>
                </a:solidFill>
                <a:latin typeface="楷体_GB2312" panose="02010609030101010101" pitchFamily="49" charset="-122"/>
                <a:ea typeface="楷体_GB2312" panose="02010609030101010101" pitchFamily="49" charset="-122"/>
              </a:endParaRPr>
            </a:p>
          </p:txBody>
        </p:sp>
        <p:sp>
          <p:nvSpPr>
            <p:cNvPr id="30728" name="Text Box 7"/>
            <p:cNvSpPr txBox="1"/>
            <p:nvPr/>
          </p:nvSpPr>
          <p:spPr>
            <a:xfrm>
              <a:off x="1830" y="176"/>
              <a:ext cx="3642" cy="368"/>
            </a:xfrm>
            <a:prstGeom prst="rect">
              <a:avLst/>
            </a:prstGeom>
            <a:noFill/>
            <a:ln w="9525">
              <a:noFill/>
            </a:ln>
          </p:spPr>
          <p:txBody>
            <a:bodyPr>
              <a:spAutoFit/>
            </a:bodyPr>
            <a:lstStyle/>
            <a:p>
              <a:r>
                <a:rPr lang="zh-CN" altLang="en-US" sz="3200" dirty="0">
                  <a:latin typeface="隶书" panose="02010509060101010101" pitchFamily="49" charset="-122"/>
                  <a:ea typeface="隶书" panose="02010509060101010101" pitchFamily="49" charset="-122"/>
                </a:rPr>
                <a:t>带</a:t>
              </a:r>
              <a:r>
                <a:rPr lang="zh-CN" altLang="en-US" sz="3200" b="1" dirty="0">
                  <a:solidFill>
                    <a:srgbClr val="FF0000"/>
                  </a:solidFill>
                  <a:latin typeface="隶书" panose="02010509060101010101" pitchFamily="49" charset="-122"/>
                  <a:ea typeface="隶书" panose="02010509060101010101" pitchFamily="49" charset="-122"/>
                </a:rPr>
                <a:t>结构</a:t>
              </a:r>
              <a:r>
                <a:rPr lang="zh-CN" altLang="en-US" sz="3200" dirty="0">
                  <a:latin typeface="隶书" panose="02010509060101010101" pitchFamily="49" charset="-122"/>
                  <a:ea typeface="隶书" panose="02010509060101010101" pitchFamily="49" charset="-122"/>
                </a:rPr>
                <a:t>的数据元素的集合</a:t>
              </a:r>
              <a:endParaRPr lang="zh-CN" altLang="en-US" sz="3200" dirty="0">
                <a:latin typeface="Times New Roman" panose="02020603050405020304" pitchFamily="18" charset="0"/>
              </a:endParaRPr>
            </a:p>
          </p:txBody>
        </p:sp>
      </p:grpSp>
      <p:sp>
        <p:nvSpPr>
          <p:cNvPr id="556040" name="Text Box 8"/>
          <p:cNvSpPr txBox="1"/>
          <p:nvPr/>
        </p:nvSpPr>
        <p:spPr>
          <a:xfrm>
            <a:off x="228600" y="3854450"/>
            <a:ext cx="8915400" cy="583565"/>
          </a:xfrm>
          <a:prstGeom prst="rect">
            <a:avLst/>
          </a:prstGeom>
          <a:noFill/>
          <a:ln w="9525">
            <a:noFill/>
          </a:ln>
        </p:spPr>
        <p:txBody>
          <a:bodyPr>
            <a:spAutoFit/>
          </a:bodyPr>
          <a:lstStyle/>
          <a:p>
            <a:r>
              <a:rPr lang="zh-CN" altLang="en-US" sz="3200" dirty="0">
                <a:solidFill>
                  <a:schemeClr val="tx2"/>
                </a:solidFill>
                <a:latin typeface="Times New Roman" panose="02020603050405020304" pitchFamily="18" charset="0"/>
                <a:ea typeface="楷体_GB2312" panose="02010609030101010101" pitchFamily="49" charset="-122"/>
              </a:rPr>
              <a:t>可见，不同的“</a:t>
            </a:r>
            <a:r>
              <a:rPr lang="zh-CN" altLang="en-US" sz="3200" b="1" dirty="0">
                <a:solidFill>
                  <a:schemeClr val="tx2"/>
                </a:solidFill>
                <a:latin typeface="Times New Roman" panose="02020603050405020304" pitchFamily="18" charset="0"/>
                <a:ea typeface="楷体_GB2312" panose="02010609030101010101" pitchFamily="49" charset="-122"/>
              </a:rPr>
              <a:t>关系</a:t>
            </a:r>
            <a:r>
              <a:rPr lang="zh-CN" altLang="en-US" sz="3200" dirty="0">
                <a:solidFill>
                  <a:schemeClr val="tx2"/>
                </a:solidFill>
                <a:latin typeface="Times New Roman" panose="02020603050405020304" pitchFamily="18" charset="0"/>
                <a:ea typeface="楷体_GB2312" panose="02010609030101010101" pitchFamily="49" charset="-122"/>
              </a:rPr>
              <a:t>”构成不同的“</a:t>
            </a:r>
            <a:r>
              <a:rPr lang="zh-CN" altLang="en-US" sz="3200" b="1" dirty="0">
                <a:solidFill>
                  <a:schemeClr val="tx2"/>
                </a:solidFill>
                <a:latin typeface="Times New Roman" panose="02020603050405020304" pitchFamily="18" charset="0"/>
                <a:ea typeface="楷体_GB2312" panose="02010609030101010101" pitchFamily="49" charset="-122"/>
              </a:rPr>
              <a:t>结构</a:t>
            </a:r>
            <a:r>
              <a:rPr lang="zh-CN" altLang="en-US" sz="3200" dirty="0">
                <a:solidFill>
                  <a:schemeClr val="tx2"/>
                </a:solidFill>
                <a:latin typeface="Times New Roman" panose="02020603050405020304" pitchFamily="18" charset="0"/>
                <a:ea typeface="楷体_GB2312" panose="02010609030101010101" pitchFamily="49" charset="-122"/>
              </a:rPr>
              <a:t>”</a:t>
            </a:r>
            <a:endParaRPr lang="zh-CN" altLang="en-US" sz="3200" dirty="0">
              <a:latin typeface="Times New Roman" panose="02020603050405020304" pitchFamily="18" charset="0"/>
              <a:ea typeface="楷体_GB2312" panose="02010609030101010101" pitchFamily="49" charset="-122"/>
            </a:endParaRPr>
          </a:p>
        </p:txBody>
      </p:sp>
      <p:sp>
        <p:nvSpPr>
          <p:cNvPr id="2" name="日期占位符 1"/>
          <p:cNvSpPr>
            <a:spLocks noGrp="1"/>
          </p:cNvSpPr>
          <p:nvPr>
            <p:ph type="dt" sz="half" idx="10"/>
          </p:nvPr>
        </p:nvSpPr>
        <p:spPr/>
        <p:txBody>
          <a:bodyPr/>
          <a:lstStyle/>
          <a:p>
            <a:r>
              <a:rPr lang="en-US" altLang="zh-CN"/>
              <a:t>Data Structures and algorithms</a:t>
            </a:r>
            <a:endParaRPr lang="zh-CN" altLang="en-US"/>
          </a:p>
        </p:txBody>
      </p:sp>
      <p:sp>
        <p:nvSpPr>
          <p:cNvPr id="3" name="页脚占位符 2"/>
          <p:cNvSpPr>
            <a:spLocks noGrp="1"/>
          </p:cNvSpPr>
          <p:nvPr>
            <p:ph type="ftr" sz="quarter" idx="11"/>
          </p:nvPr>
        </p:nvSpPr>
        <p:spPr/>
        <p:txBody>
          <a:bodyPr/>
          <a:lstStyle/>
          <a:p>
            <a:r>
              <a:rPr lang="en-US" altLang="zh-CN"/>
              <a:t>Software College Northeastern University</a:t>
            </a:r>
            <a:endParaRPr lang="zh-CN" altLang="en-US"/>
          </a:p>
        </p:txBody>
      </p:sp>
      <p:sp>
        <p:nvSpPr>
          <p:cNvPr id="4" name="灯片编号占位符 3"/>
          <p:cNvSpPr>
            <a:spLocks noGrp="1"/>
          </p:cNvSpPr>
          <p:nvPr>
            <p:ph type="sldNum" sz="quarter" idx="12"/>
          </p:nvPr>
        </p:nvSpPr>
        <p:spPr/>
        <p:txBody>
          <a:bodyPr/>
          <a:lstStyle/>
          <a:p>
            <a:fld id="{6E1C0148-8E4B-4B2F-95CE-20B4709700AE}" type="slidenum">
              <a:rPr lang="zh-CN" altLang="en-US" smtClean="0"/>
            </a:fld>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wd">
                                    <p:tmPct val="100000"/>
                                  </p:iterate>
                                  <p:childTnLst>
                                    <p:set>
                                      <p:cBhvr>
                                        <p:cTn id="6" dur="1" fill="hold">
                                          <p:stCondLst>
                                            <p:cond delay="0"/>
                                          </p:stCondLst>
                                        </p:cTn>
                                        <p:tgtEl>
                                          <p:spTgt spid="556034"/>
                                        </p:tgtEl>
                                        <p:attrNameLst>
                                          <p:attrName>style.visibility</p:attrName>
                                        </p:attrNameLst>
                                      </p:cBhvr>
                                      <p:to>
                                        <p:strVal val="visible"/>
                                      </p:to>
                                    </p:set>
                                    <p:animEffect transition="in" filter="wipe(left)">
                                      <p:cBhvr>
                                        <p:cTn id="7" dur="300"/>
                                        <p:tgtEl>
                                          <p:spTgt spid="55603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556035"/>
                                        </p:tgtEl>
                                        <p:attrNameLst>
                                          <p:attrName>style.visibility</p:attrName>
                                        </p:attrNameLst>
                                      </p:cBhvr>
                                      <p:to>
                                        <p:strVal val="visible"/>
                                      </p:to>
                                    </p:set>
                                    <p:animEffect transition="in" filter="wipe(left)">
                                      <p:cBhvr>
                                        <p:cTn id="12" dur="300"/>
                                        <p:tgtEl>
                                          <p:spTgt spid="55603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56040"/>
                                        </p:tgtEl>
                                        <p:attrNameLst>
                                          <p:attrName>style.visibility</p:attrName>
                                        </p:attrNameLst>
                                      </p:cBhvr>
                                      <p:to>
                                        <p:strVal val="visible"/>
                                      </p:to>
                                    </p:set>
                                    <p:animEffect transition="in" filter="wipe(left)">
                                      <p:cBhvr>
                                        <p:cTn id="17" dur="500"/>
                                        <p:tgtEl>
                                          <p:spTgt spid="55604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iterate type="wd">
                                    <p:tmPct val="100000"/>
                                  </p:iterate>
                                  <p:childTnLst>
                                    <p:set>
                                      <p:cBhvr>
                                        <p:cTn id="21" dur="1" fill="hold">
                                          <p:stCondLst>
                                            <p:cond delay="0"/>
                                          </p:stCondLst>
                                        </p:cTn>
                                        <p:tgtEl>
                                          <p:spTgt spid="556036"/>
                                        </p:tgtEl>
                                        <p:attrNameLst>
                                          <p:attrName>style.visibility</p:attrName>
                                        </p:attrNameLst>
                                      </p:cBhvr>
                                      <p:to>
                                        <p:strVal val="visible"/>
                                      </p:to>
                                    </p:set>
                                    <p:animEffect transition="in" filter="wipe(left)">
                                      <p:cBhvr>
                                        <p:cTn id="22" dur="300"/>
                                        <p:tgtEl>
                                          <p:spTgt spid="5560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6034" grpId="0"/>
      <p:bldP spid="556035" grpId="0"/>
      <p:bldP spid="556036" grpId="0"/>
      <p:bldP spid="556040" grpId="0"/>
    </p:bldLst>
  </p:timing>
</p:sld>
</file>

<file path=ppt/slides/slide3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内容占位符 1"/>
          <p:cNvSpPr>
            <a:spLocks noGrp="1"/>
          </p:cNvSpPr>
          <p:nvPr>
            <p:ph sz="half" idx="1"/>
          </p:nvPr>
        </p:nvSpPr>
        <p:spPr/>
        <p:txBody>
          <a:bodyPr/>
          <a:lstStyle/>
          <a:p>
            <a:endParaRPr lang="zh-CN" altLang="en-US"/>
          </a:p>
        </p:txBody>
      </p:sp>
      <p:sp>
        <p:nvSpPr>
          <p:cNvPr id="3" name="内容占位符 2"/>
          <p:cNvSpPr>
            <a:spLocks noGrp="1"/>
          </p:cNvSpPr>
          <p:nvPr>
            <p:ph sz="half" idx="2"/>
          </p:nvPr>
        </p:nvSpPr>
        <p:spPr/>
        <p:txBody>
          <a:bodyPr/>
          <a:lstStyle/>
          <a:p>
            <a:endParaRPr lang="zh-CN" altLang="en-US"/>
          </a:p>
        </p:txBody>
      </p:sp>
      <p:sp>
        <p:nvSpPr>
          <p:cNvPr id="31755" name="Rectangle 47"/>
          <p:cNvSpPr>
            <a:spLocks noGrp="1"/>
          </p:cNvSpPr>
          <p:nvPr>
            <p:ph type="title"/>
          </p:nvPr>
        </p:nvSpPr>
        <p:spPr/>
        <p:txBody>
          <a:bodyPr vert="horz" wrap="square" lIns="91436" tIns="45718" rIns="91436" bIns="45718" anchor="ctr">
            <a:scene3d>
              <a:camera prst="orthographicFront"/>
              <a:lightRig rig="soft" dir="t"/>
            </a:scene3d>
            <a:sp3d prstMaterial="softEdge">
              <a:bevelT w="25400" h="25400"/>
            </a:sp3d>
          </a:bodyPr>
          <a:lstStyle/>
          <a:p>
            <a:r>
              <a:rPr lang="zh-CN" altLang="en-US" sz="3200" dirty="0">
                <a:gradFill>
                  <a:gsLst>
                    <a:gs pos="21000">
                      <a:srgbClr val="53575C"/>
                    </a:gs>
                    <a:gs pos="88000">
                      <a:srgbClr val="C5C7CA"/>
                    </a:gs>
                  </a:gsLst>
                  <a:lin ang="5400000"/>
                </a:gradFill>
                <a:effectLst/>
              </a:rPr>
              <a:t>数据的逻辑结构</a:t>
            </a:r>
            <a:endParaRPr lang="zh-CN" altLang="en-US" sz="3200" dirty="0">
              <a:gradFill>
                <a:gsLst>
                  <a:gs pos="21000">
                    <a:srgbClr val="53575C"/>
                  </a:gs>
                  <a:gs pos="88000">
                    <a:srgbClr val="C5C7CA"/>
                  </a:gs>
                </a:gsLst>
                <a:lin ang="5400000"/>
              </a:gradFill>
              <a:effectLst/>
            </a:endParaRPr>
          </a:p>
        </p:txBody>
      </p:sp>
      <p:sp>
        <p:nvSpPr>
          <p:cNvPr id="557058" name="Text Box 2"/>
          <p:cNvSpPr txBox="1"/>
          <p:nvPr/>
        </p:nvSpPr>
        <p:spPr>
          <a:xfrm>
            <a:off x="519113" y="1193800"/>
            <a:ext cx="6485890" cy="583565"/>
          </a:xfrm>
          <a:prstGeom prst="rect">
            <a:avLst/>
          </a:prstGeom>
          <a:noFill/>
          <a:ln w="9525">
            <a:noFill/>
          </a:ln>
        </p:spPr>
        <p:txBody>
          <a:bodyPr wrap="none">
            <a:spAutoFit/>
          </a:bodyPr>
          <a:lstStyle/>
          <a:p>
            <a:r>
              <a:rPr lang="zh-CN" altLang="en-US" sz="3200" dirty="0">
                <a:latin typeface="楷体_GB2312" panose="02010609030101010101" pitchFamily="49" charset="-122"/>
                <a:ea typeface="楷体_GB2312" panose="02010609030101010101" pitchFamily="49" charset="-122"/>
              </a:rPr>
              <a:t>数据的</a:t>
            </a:r>
            <a:r>
              <a:rPr lang="zh-CN" altLang="en-US" sz="3200" b="1" dirty="0">
                <a:solidFill>
                  <a:srgbClr val="FF0000"/>
                </a:solidFill>
                <a:latin typeface="楷体_GB2312" panose="02010609030101010101" pitchFamily="49" charset="-122"/>
                <a:ea typeface="楷体_GB2312" panose="02010609030101010101" pitchFamily="49" charset="-122"/>
              </a:rPr>
              <a:t>逻辑结构</a:t>
            </a:r>
            <a:r>
              <a:rPr lang="zh-CN" altLang="en-US" sz="3200" dirty="0">
                <a:latin typeface="楷体_GB2312" panose="02010609030101010101" pitchFamily="49" charset="-122"/>
                <a:ea typeface="楷体_GB2312" panose="02010609030101010101" pitchFamily="49" charset="-122"/>
              </a:rPr>
              <a:t>可归结为以下</a:t>
            </a:r>
            <a:r>
              <a:rPr lang="zh-CN" altLang="en-US" sz="3200" b="1" dirty="0">
                <a:solidFill>
                  <a:srgbClr val="FF0000"/>
                </a:solidFill>
                <a:latin typeface="楷体_GB2312" panose="02010609030101010101" pitchFamily="49" charset="-122"/>
                <a:ea typeface="楷体_GB2312" panose="02010609030101010101" pitchFamily="49" charset="-122"/>
              </a:rPr>
              <a:t>四类</a:t>
            </a:r>
            <a:r>
              <a:rPr lang="en-US" altLang="zh-CN" sz="3200" b="1" dirty="0">
                <a:solidFill>
                  <a:srgbClr val="FF0000"/>
                </a:solidFill>
                <a:latin typeface="楷体_GB2312" panose="02010609030101010101" pitchFamily="49" charset="-122"/>
                <a:ea typeface="楷体_GB2312" panose="02010609030101010101" pitchFamily="49" charset="-122"/>
              </a:rPr>
              <a:t>:</a:t>
            </a:r>
            <a:endParaRPr lang="en-US" altLang="zh-CN" sz="3200" b="1" dirty="0">
              <a:latin typeface="楷体_GB2312" panose="02010609030101010101" pitchFamily="49" charset="-122"/>
              <a:ea typeface="楷体_GB2312" panose="02010609030101010101" pitchFamily="49" charset="-122"/>
            </a:endParaRPr>
          </a:p>
        </p:txBody>
      </p:sp>
      <p:sp>
        <p:nvSpPr>
          <p:cNvPr id="557059" name="Text Box 3"/>
          <p:cNvSpPr txBox="1"/>
          <p:nvPr/>
        </p:nvSpPr>
        <p:spPr>
          <a:xfrm>
            <a:off x="1676400" y="2287588"/>
            <a:ext cx="3040063" cy="583565"/>
          </a:xfrm>
          <a:prstGeom prst="rect">
            <a:avLst/>
          </a:prstGeom>
          <a:noFill/>
          <a:ln w="9525">
            <a:noFill/>
          </a:ln>
        </p:spPr>
        <p:txBody>
          <a:bodyPr>
            <a:spAutoFit/>
          </a:bodyPr>
          <a:lstStyle/>
          <a:p>
            <a:r>
              <a:rPr lang="zh-CN" altLang="en-US" sz="3200" b="1" dirty="0">
                <a:solidFill>
                  <a:schemeClr val="bg1">
                    <a:lumMod val="65000"/>
                    <a:lumOff val="35000"/>
                  </a:schemeClr>
                </a:solidFill>
                <a:latin typeface="隶书" panose="02010509060101010101" pitchFamily="49" charset="-122"/>
                <a:ea typeface="隶书" panose="02010509060101010101" pitchFamily="49" charset="-122"/>
              </a:rPr>
              <a:t>线性</a:t>
            </a:r>
            <a:r>
              <a:rPr lang="zh-CN" altLang="en-US" sz="3200" dirty="0">
                <a:solidFill>
                  <a:schemeClr val="bg1">
                    <a:lumMod val="65000"/>
                    <a:lumOff val="35000"/>
                  </a:schemeClr>
                </a:solidFill>
                <a:latin typeface="楷体_GB2312" panose="02010609030101010101" pitchFamily="49" charset="-122"/>
                <a:ea typeface="楷体_GB2312" panose="02010609030101010101" pitchFamily="49" charset="-122"/>
              </a:rPr>
              <a:t>结构</a:t>
            </a:r>
            <a:endParaRPr lang="zh-CN" altLang="en-US" sz="3200" dirty="0">
              <a:solidFill>
                <a:schemeClr val="bg1">
                  <a:lumMod val="65000"/>
                  <a:lumOff val="35000"/>
                </a:schemeClr>
              </a:solidFill>
              <a:latin typeface="楷体_GB2312" panose="02010609030101010101" pitchFamily="49" charset="-122"/>
              <a:ea typeface="楷体_GB2312" panose="02010609030101010101" pitchFamily="49" charset="-122"/>
            </a:endParaRPr>
          </a:p>
        </p:txBody>
      </p:sp>
      <p:sp>
        <p:nvSpPr>
          <p:cNvPr id="557060" name="Text Box 4"/>
          <p:cNvSpPr txBox="1"/>
          <p:nvPr/>
        </p:nvSpPr>
        <p:spPr>
          <a:xfrm>
            <a:off x="1720850" y="3278188"/>
            <a:ext cx="2851150" cy="583565"/>
          </a:xfrm>
          <a:prstGeom prst="rect">
            <a:avLst/>
          </a:prstGeom>
          <a:noFill/>
          <a:ln w="9525">
            <a:noFill/>
          </a:ln>
        </p:spPr>
        <p:txBody>
          <a:bodyPr>
            <a:spAutoFit/>
          </a:bodyPr>
          <a:lstStyle/>
          <a:p>
            <a:r>
              <a:rPr lang="zh-CN" altLang="en-US" sz="3200" b="1" dirty="0">
                <a:solidFill>
                  <a:schemeClr val="bg1">
                    <a:lumMod val="65000"/>
                    <a:lumOff val="35000"/>
                  </a:schemeClr>
                </a:solidFill>
                <a:latin typeface="隶书" panose="02010509060101010101" pitchFamily="49" charset="-122"/>
                <a:ea typeface="隶书" panose="02010509060101010101" pitchFamily="49" charset="-122"/>
              </a:rPr>
              <a:t>树形</a:t>
            </a:r>
            <a:r>
              <a:rPr lang="zh-CN" altLang="en-US" sz="3200" dirty="0">
                <a:solidFill>
                  <a:schemeClr val="bg1">
                    <a:lumMod val="65000"/>
                    <a:lumOff val="35000"/>
                  </a:schemeClr>
                </a:solidFill>
                <a:latin typeface="楷体_GB2312" panose="02010609030101010101" pitchFamily="49" charset="-122"/>
                <a:ea typeface="楷体_GB2312" panose="02010609030101010101" pitchFamily="49" charset="-122"/>
              </a:rPr>
              <a:t>结构</a:t>
            </a:r>
            <a:endParaRPr lang="zh-CN" altLang="en-US" sz="3200" dirty="0">
              <a:solidFill>
                <a:schemeClr val="bg1">
                  <a:lumMod val="65000"/>
                  <a:lumOff val="35000"/>
                </a:schemeClr>
              </a:solidFill>
              <a:latin typeface="楷体_GB2312" panose="02010609030101010101" pitchFamily="49" charset="-122"/>
              <a:ea typeface="楷体_GB2312" panose="02010609030101010101" pitchFamily="49" charset="-122"/>
            </a:endParaRPr>
          </a:p>
        </p:txBody>
      </p:sp>
      <p:sp>
        <p:nvSpPr>
          <p:cNvPr id="557061" name="Text Box 5"/>
          <p:cNvSpPr txBox="1"/>
          <p:nvPr/>
        </p:nvSpPr>
        <p:spPr>
          <a:xfrm>
            <a:off x="1752600" y="4268788"/>
            <a:ext cx="2963863" cy="583565"/>
          </a:xfrm>
          <a:prstGeom prst="rect">
            <a:avLst/>
          </a:prstGeom>
          <a:noFill/>
          <a:ln w="9525">
            <a:noFill/>
          </a:ln>
        </p:spPr>
        <p:txBody>
          <a:bodyPr>
            <a:spAutoFit/>
          </a:bodyPr>
          <a:lstStyle/>
          <a:p>
            <a:r>
              <a:rPr lang="zh-CN" altLang="en-US" sz="3200" b="1" dirty="0">
                <a:solidFill>
                  <a:schemeClr val="bg1">
                    <a:lumMod val="65000"/>
                    <a:lumOff val="35000"/>
                  </a:schemeClr>
                </a:solidFill>
                <a:latin typeface="隶书" panose="02010509060101010101" pitchFamily="49" charset="-122"/>
                <a:ea typeface="隶书" panose="02010509060101010101" pitchFamily="49" charset="-122"/>
              </a:rPr>
              <a:t>图状</a:t>
            </a:r>
            <a:r>
              <a:rPr lang="zh-CN" altLang="en-US" sz="3200" dirty="0">
                <a:solidFill>
                  <a:schemeClr val="bg1">
                    <a:lumMod val="65000"/>
                    <a:lumOff val="35000"/>
                  </a:schemeClr>
                </a:solidFill>
                <a:latin typeface="楷体_GB2312" panose="02010609030101010101" pitchFamily="49" charset="-122"/>
                <a:ea typeface="楷体_GB2312" panose="02010609030101010101" pitchFamily="49" charset="-122"/>
              </a:rPr>
              <a:t>结构</a:t>
            </a:r>
            <a:endParaRPr lang="zh-CN" altLang="en-US" sz="3200" dirty="0">
              <a:solidFill>
                <a:schemeClr val="bg1">
                  <a:lumMod val="65000"/>
                  <a:lumOff val="35000"/>
                </a:schemeClr>
              </a:solidFill>
              <a:latin typeface="楷体_GB2312" panose="02010609030101010101" pitchFamily="49" charset="-122"/>
              <a:ea typeface="楷体_GB2312" panose="02010609030101010101" pitchFamily="49" charset="-122"/>
            </a:endParaRPr>
          </a:p>
        </p:txBody>
      </p:sp>
      <p:sp>
        <p:nvSpPr>
          <p:cNvPr id="557062" name="Text Box 6"/>
          <p:cNvSpPr txBox="1"/>
          <p:nvPr/>
        </p:nvSpPr>
        <p:spPr>
          <a:xfrm>
            <a:off x="1752600" y="5335588"/>
            <a:ext cx="2963863" cy="583565"/>
          </a:xfrm>
          <a:prstGeom prst="rect">
            <a:avLst/>
          </a:prstGeom>
          <a:noFill/>
          <a:ln w="9525">
            <a:noFill/>
          </a:ln>
        </p:spPr>
        <p:txBody>
          <a:bodyPr>
            <a:spAutoFit/>
          </a:bodyPr>
          <a:lstStyle/>
          <a:p>
            <a:r>
              <a:rPr lang="zh-CN" altLang="en-US" sz="3200" b="1" dirty="0">
                <a:solidFill>
                  <a:schemeClr val="bg1">
                    <a:lumMod val="65000"/>
                    <a:lumOff val="35000"/>
                  </a:schemeClr>
                </a:solidFill>
                <a:latin typeface="隶书" panose="02010509060101010101" pitchFamily="49" charset="-122"/>
                <a:ea typeface="隶书" panose="02010509060101010101" pitchFamily="49" charset="-122"/>
              </a:rPr>
              <a:t>集合</a:t>
            </a:r>
            <a:r>
              <a:rPr lang="zh-CN" altLang="en-US" sz="3200" dirty="0">
                <a:solidFill>
                  <a:schemeClr val="bg1">
                    <a:lumMod val="65000"/>
                    <a:lumOff val="35000"/>
                  </a:schemeClr>
                </a:solidFill>
                <a:latin typeface="楷体_GB2312" panose="02010609030101010101" pitchFamily="49" charset="-122"/>
                <a:ea typeface="楷体_GB2312" panose="02010609030101010101" pitchFamily="49" charset="-122"/>
              </a:rPr>
              <a:t>结构</a:t>
            </a:r>
            <a:endParaRPr lang="zh-CN" altLang="en-US" sz="3200" dirty="0">
              <a:solidFill>
                <a:schemeClr val="bg1">
                  <a:lumMod val="65000"/>
                  <a:lumOff val="35000"/>
                </a:schemeClr>
              </a:solidFill>
              <a:latin typeface="楷体_GB2312" panose="02010609030101010101" pitchFamily="49" charset="-122"/>
              <a:ea typeface="楷体_GB2312" panose="02010609030101010101" pitchFamily="49" charset="-122"/>
            </a:endParaRPr>
          </a:p>
        </p:txBody>
      </p:sp>
      <p:grpSp>
        <p:nvGrpSpPr>
          <p:cNvPr id="557063" name="Group 7"/>
          <p:cNvGrpSpPr/>
          <p:nvPr/>
        </p:nvGrpSpPr>
        <p:grpSpPr>
          <a:xfrm>
            <a:off x="5105400" y="2620963"/>
            <a:ext cx="1600200" cy="198437"/>
            <a:chOff x="3216" y="1411"/>
            <a:chExt cx="1008" cy="125"/>
          </a:xfrm>
        </p:grpSpPr>
        <p:sp>
          <p:nvSpPr>
            <p:cNvPr id="31787" name="Oval 8"/>
            <p:cNvSpPr/>
            <p:nvPr/>
          </p:nvSpPr>
          <p:spPr>
            <a:xfrm>
              <a:off x="3216" y="1411"/>
              <a:ext cx="144" cy="125"/>
            </a:xfrm>
            <a:prstGeom prst="ellipse">
              <a:avLst/>
            </a:prstGeom>
            <a:solidFill>
              <a:srgbClr val="FFFFFF"/>
            </a:solidFill>
            <a:ln w="9525" cap="flat" cmpd="sng">
              <a:solidFill>
                <a:srgbClr val="000000"/>
              </a:solidFill>
              <a:prstDash val="solid"/>
              <a:headEnd type="none" w="med" len="med"/>
              <a:tailEnd type="none" w="med" len="med"/>
            </a:ln>
          </p:spPr>
          <p:txBody>
            <a:bodyPr/>
            <a:lstStyle/>
            <a:p>
              <a:endParaRPr lang="zh-CN" altLang="en-US" sz="3200" dirty="0">
                <a:latin typeface="Times New Roman" panose="02020603050405020304" pitchFamily="18" charset="0"/>
              </a:endParaRPr>
            </a:p>
          </p:txBody>
        </p:sp>
        <p:sp>
          <p:nvSpPr>
            <p:cNvPr id="31788" name="Oval 9"/>
            <p:cNvSpPr/>
            <p:nvPr/>
          </p:nvSpPr>
          <p:spPr>
            <a:xfrm>
              <a:off x="3504" y="1411"/>
              <a:ext cx="144" cy="125"/>
            </a:xfrm>
            <a:prstGeom prst="ellipse">
              <a:avLst/>
            </a:prstGeom>
            <a:solidFill>
              <a:srgbClr val="FFFFFF"/>
            </a:solidFill>
            <a:ln w="9525" cap="flat" cmpd="sng">
              <a:solidFill>
                <a:srgbClr val="000000"/>
              </a:solidFill>
              <a:prstDash val="solid"/>
              <a:headEnd type="none" w="med" len="med"/>
              <a:tailEnd type="none" w="med" len="med"/>
            </a:ln>
          </p:spPr>
          <p:txBody>
            <a:bodyPr/>
            <a:lstStyle/>
            <a:p>
              <a:endParaRPr lang="zh-CN" altLang="en-US" sz="3200" dirty="0">
                <a:latin typeface="Times New Roman" panose="02020603050405020304" pitchFamily="18" charset="0"/>
              </a:endParaRPr>
            </a:p>
          </p:txBody>
        </p:sp>
        <p:sp>
          <p:nvSpPr>
            <p:cNvPr id="31789" name="Oval 10"/>
            <p:cNvSpPr/>
            <p:nvPr/>
          </p:nvSpPr>
          <p:spPr>
            <a:xfrm>
              <a:off x="3792" y="1411"/>
              <a:ext cx="144" cy="125"/>
            </a:xfrm>
            <a:prstGeom prst="ellipse">
              <a:avLst/>
            </a:prstGeom>
            <a:solidFill>
              <a:srgbClr val="FFFFFF"/>
            </a:solidFill>
            <a:ln w="9525" cap="flat" cmpd="sng">
              <a:solidFill>
                <a:srgbClr val="000000"/>
              </a:solidFill>
              <a:prstDash val="solid"/>
              <a:headEnd type="none" w="med" len="med"/>
              <a:tailEnd type="none" w="med" len="med"/>
            </a:ln>
          </p:spPr>
          <p:txBody>
            <a:bodyPr/>
            <a:lstStyle/>
            <a:p>
              <a:endParaRPr lang="zh-CN" altLang="en-US" sz="3200" dirty="0">
                <a:latin typeface="Times New Roman" panose="02020603050405020304" pitchFamily="18" charset="0"/>
              </a:endParaRPr>
            </a:p>
          </p:txBody>
        </p:sp>
        <p:sp>
          <p:nvSpPr>
            <p:cNvPr id="31790" name="Oval 11"/>
            <p:cNvSpPr/>
            <p:nvPr/>
          </p:nvSpPr>
          <p:spPr>
            <a:xfrm>
              <a:off x="4080" y="1411"/>
              <a:ext cx="144" cy="125"/>
            </a:xfrm>
            <a:prstGeom prst="ellipse">
              <a:avLst/>
            </a:prstGeom>
            <a:solidFill>
              <a:srgbClr val="FFFFFF"/>
            </a:solidFill>
            <a:ln w="9525" cap="flat" cmpd="sng">
              <a:solidFill>
                <a:srgbClr val="000000"/>
              </a:solidFill>
              <a:prstDash val="solid"/>
              <a:headEnd type="none" w="med" len="med"/>
              <a:tailEnd type="none" w="med" len="med"/>
            </a:ln>
          </p:spPr>
          <p:txBody>
            <a:bodyPr/>
            <a:lstStyle/>
            <a:p>
              <a:endParaRPr lang="zh-CN" altLang="en-US" sz="3200" dirty="0">
                <a:latin typeface="Times New Roman" panose="02020603050405020304" pitchFamily="18" charset="0"/>
              </a:endParaRPr>
            </a:p>
          </p:txBody>
        </p:sp>
        <p:sp>
          <p:nvSpPr>
            <p:cNvPr id="31791" name="Line 12"/>
            <p:cNvSpPr/>
            <p:nvPr/>
          </p:nvSpPr>
          <p:spPr>
            <a:xfrm>
              <a:off x="3360" y="1474"/>
              <a:ext cx="146" cy="0"/>
            </a:xfrm>
            <a:prstGeom prst="line">
              <a:avLst/>
            </a:prstGeom>
            <a:ln w="9525" cap="flat" cmpd="sng">
              <a:solidFill>
                <a:srgbClr val="000000"/>
              </a:solidFill>
              <a:prstDash val="solid"/>
              <a:headEnd type="none" w="med" len="med"/>
              <a:tailEnd type="arrow" w="med" len="med"/>
            </a:ln>
          </p:spPr>
        </p:sp>
        <p:sp>
          <p:nvSpPr>
            <p:cNvPr id="31792" name="Line 13"/>
            <p:cNvSpPr/>
            <p:nvPr/>
          </p:nvSpPr>
          <p:spPr>
            <a:xfrm>
              <a:off x="3648" y="1474"/>
              <a:ext cx="144" cy="0"/>
            </a:xfrm>
            <a:prstGeom prst="line">
              <a:avLst/>
            </a:prstGeom>
            <a:ln w="9525" cap="flat" cmpd="sng">
              <a:solidFill>
                <a:srgbClr val="000000"/>
              </a:solidFill>
              <a:prstDash val="solid"/>
              <a:headEnd type="none" w="med" len="med"/>
              <a:tailEnd type="arrow" w="med" len="med"/>
            </a:ln>
          </p:spPr>
        </p:sp>
        <p:sp>
          <p:nvSpPr>
            <p:cNvPr id="31793" name="Line 14"/>
            <p:cNvSpPr/>
            <p:nvPr/>
          </p:nvSpPr>
          <p:spPr>
            <a:xfrm>
              <a:off x="3936" y="1474"/>
              <a:ext cx="144" cy="0"/>
            </a:xfrm>
            <a:prstGeom prst="line">
              <a:avLst/>
            </a:prstGeom>
            <a:ln w="9525" cap="flat" cmpd="sng">
              <a:solidFill>
                <a:srgbClr val="000000"/>
              </a:solidFill>
              <a:prstDash val="solid"/>
              <a:headEnd type="none" w="med" len="med"/>
              <a:tailEnd type="arrow" w="med" len="med"/>
            </a:ln>
          </p:spPr>
        </p:sp>
      </p:grpSp>
      <p:grpSp>
        <p:nvGrpSpPr>
          <p:cNvPr id="557071" name="Group 15"/>
          <p:cNvGrpSpPr/>
          <p:nvPr/>
        </p:nvGrpSpPr>
        <p:grpSpPr>
          <a:xfrm>
            <a:off x="4886325" y="3190875"/>
            <a:ext cx="1819275" cy="990600"/>
            <a:chOff x="3078" y="1770"/>
            <a:chExt cx="1146" cy="624"/>
          </a:xfrm>
        </p:grpSpPr>
        <p:sp>
          <p:nvSpPr>
            <p:cNvPr id="31774" name="Oval 16"/>
            <p:cNvSpPr/>
            <p:nvPr/>
          </p:nvSpPr>
          <p:spPr>
            <a:xfrm>
              <a:off x="3078" y="2020"/>
              <a:ext cx="144" cy="125"/>
            </a:xfrm>
            <a:prstGeom prst="ellipse">
              <a:avLst/>
            </a:prstGeom>
            <a:solidFill>
              <a:srgbClr val="FFFFFF"/>
            </a:solidFill>
            <a:ln w="9525" cap="flat" cmpd="sng">
              <a:solidFill>
                <a:srgbClr val="000000"/>
              </a:solidFill>
              <a:prstDash val="solid"/>
              <a:headEnd type="none" w="med" len="med"/>
              <a:tailEnd type="none" w="med" len="med"/>
            </a:ln>
          </p:spPr>
          <p:txBody>
            <a:bodyPr/>
            <a:lstStyle/>
            <a:p>
              <a:endParaRPr lang="zh-CN" altLang="en-US" sz="3200" dirty="0">
                <a:latin typeface="Times New Roman" panose="02020603050405020304" pitchFamily="18" charset="0"/>
              </a:endParaRPr>
            </a:p>
          </p:txBody>
        </p:sp>
        <p:sp>
          <p:nvSpPr>
            <p:cNvPr id="31775" name="Oval 17"/>
            <p:cNvSpPr/>
            <p:nvPr/>
          </p:nvSpPr>
          <p:spPr>
            <a:xfrm>
              <a:off x="3372" y="1770"/>
              <a:ext cx="144" cy="125"/>
            </a:xfrm>
            <a:prstGeom prst="ellipse">
              <a:avLst/>
            </a:prstGeom>
            <a:solidFill>
              <a:srgbClr val="FFFFFF"/>
            </a:solidFill>
            <a:ln w="9525" cap="flat" cmpd="sng">
              <a:solidFill>
                <a:srgbClr val="000000"/>
              </a:solidFill>
              <a:prstDash val="solid"/>
              <a:headEnd type="none" w="med" len="med"/>
              <a:tailEnd type="none" w="med" len="med"/>
            </a:ln>
          </p:spPr>
          <p:txBody>
            <a:bodyPr/>
            <a:lstStyle/>
            <a:p>
              <a:endParaRPr lang="zh-CN" altLang="en-US" sz="3200" dirty="0">
                <a:latin typeface="Times New Roman" panose="02020603050405020304" pitchFamily="18" charset="0"/>
              </a:endParaRPr>
            </a:p>
          </p:txBody>
        </p:sp>
        <p:sp>
          <p:nvSpPr>
            <p:cNvPr id="31776" name="Oval 18"/>
            <p:cNvSpPr/>
            <p:nvPr/>
          </p:nvSpPr>
          <p:spPr>
            <a:xfrm>
              <a:off x="3456" y="2020"/>
              <a:ext cx="144" cy="125"/>
            </a:xfrm>
            <a:prstGeom prst="ellipse">
              <a:avLst/>
            </a:prstGeom>
            <a:solidFill>
              <a:srgbClr val="FFFFFF"/>
            </a:solidFill>
            <a:ln w="9525" cap="flat" cmpd="sng">
              <a:solidFill>
                <a:srgbClr val="000000"/>
              </a:solidFill>
              <a:prstDash val="solid"/>
              <a:headEnd type="none" w="med" len="med"/>
              <a:tailEnd type="none" w="med" len="med"/>
            </a:ln>
          </p:spPr>
          <p:txBody>
            <a:bodyPr/>
            <a:lstStyle/>
            <a:p>
              <a:endParaRPr lang="zh-CN" altLang="en-US" sz="3200" dirty="0">
                <a:latin typeface="Times New Roman" panose="02020603050405020304" pitchFamily="18" charset="0"/>
              </a:endParaRPr>
            </a:p>
          </p:txBody>
        </p:sp>
        <p:sp>
          <p:nvSpPr>
            <p:cNvPr id="31777" name="Oval 19"/>
            <p:cNvSpPr/>
            <p:nvPr/>
          </p:nvSpPr>
          <p:spPr>
            <a:xfrm>
              <a:off x="3414" y="2269"/>
              <a:ext cx="144" cy="125"/>
            </a:xfrm>
            <a:prstGeom prst="ellipse">
              <a:avLst/>
            </a:prstGeom>
            <a:solidFill>
              <a:srgbClr val="FFFFFF"/>
            </a:solidFill>
            <a:ln w="9525" cap="flat" cmpd="sng">
              <a:solidFill>
                <a:srgbClr val="000000"/>
              </a:solidFill>
              <a:prstDash val="solid"/>
              <a:headEnd type="none" w="med" len="med"/>
              <a:tailEnd type="none" w="med" len="med"/>
            </a:ln>
          </p:spPr>
          <p:txBody>
            <a:bodyPr/>
            <a:lstStyle/>
            <a:p>
              <a:endParaRPr lang="zh-CN" altLang="en-US" sz="3200" dirty="0">
                <a:latin typeface="Times New Roman" panose="02020603050405020304" pitchFamily="18" charset="0"/>
              </a:endParaRPr>
            </a:p>
          </p:txBody>
        </p:sp>
        <p:sp>
          <p:nvSpPr>
            <p:cNvPr id="31778" name="Oval 20"/>
            <p:cNvSpPr/>
            <p:nvPr/>
          </p:nvSpPr>
          <p:spPr>
            <a:xfrm>
              <a:off x="3792" y="1895"/>
              <a:ext cx="144" cy="125"/>
            </a:xfrm>
            <a:prstGeom prst="ellipse">
              <a:avLst/>
            </a:prstGeom>
            <a:solidFill>
              <a:srgbClr val="FFFFFF"/>
            </a:solidFill>
            <a:ln w="9525" cap="flat" cmpd="sng">
              <a:solidFill>
                <a:srgbClr val="000000"/>
              </a:solidFill>
              <a:prstDash val="solid"/>
              <a:headEnd type="none" w="med" len="med"/>
              <a:tailEnd type="none" w="med" len="med"/>
            </a:ln>
          </p:spPr>
          <p:txBody>
            <a:bodyPr/>
            <a:lstStyle/>
            <a:p>
              <a:endParaRPr lang="zh-CN" altLang="en-US" sz="3200" dirty="0">
                <a:latin typeface="Times New Roman" panose="02020603050405020304" pitchFamily="18" charset="0"/>
              </a:endParaRPr>
            </a:p>
          </p:txBody>
        </p:sp>
        <p:sp>
          <p:nvSpPr>
            <p:cNvPr id="31779" name="Oval 21"/>
            <p:cNvSpPr/>
            <p:nvPr/>
          </p:nvSpPr>
          <p:spPr>
            <a:xfrm>
              <a:off x="3732" y="2181"/>
              <a:ext cx="144" cy="125"/>
            </a:xfrm>
            <a:prstGeom prst="ellipse">
              <a:avLst/>
            </a:prstGeom>
            <a:solidFill>
              <a:srgbClr val="FFFFFF"/>
            </a:solidFill>
            <a:ln w="9525" cap="flat" cmpd="sng">
              <a:solidFill>
                <a:srgbClr val="000000"/>
              </a:solidFill>
              <a:prstDash val="solid"/>
              <a:headEnd type="none" w="med" len="med"/>
              <a:tailEnd type="none" w="med" len="med"/>
            </a:ln>
          </p:spPr>
          <p:txBody>
            <a:bodyPr/>
            <a:lstStyle/>
            <a:p>
              <a:endParaRPr lang="zh-CN" altLang="en-US" sz="3200" dirty="0">
                <a:latin typeface="Times New Roman" panose="02020603050405020304" pitchFamily="18" charset="0"/>
              </a:endParaRPr>
            </a:p>
          </p:txBody>
        </p:sp>
        <p:sp>
          <p:nvSpPr>
            <p:cNvPr id="31780" name="Oval 22"/>
            <p:cNvSpPr/>
            <p:nvPr/>
          </p:nvSpPr>
          <p:spPr>
            <a:xfrm>
              <a:off x="4080" y="1891"/>
              <a:ext cx="144" cy="125"/>
            </a:xfrm>
            <a:prstGeom prst="ellipse">
              <a:avLst/>
            </a:prstGeom>
            <a:solidFill>
              <a:srgbClr val="FFFFFF"/>
            </a:solidFill>
            <a:ln w="9525" cap="flat" cmpd="sng">
              <a:solidFill>
                <a:srgbClr val="000000"/>
              </a:solidFill>
              <a:prstDash val="solid"/>
              <a:headEnd type="none" w="med" len="med"/>
              <a:tailEnd type="none" w="med" len="med"/>
            </a:ln>
          </p:spPr>
          <p:txBody>
            <a:bodyPr/>
            <a:lstStyle/>
            <a:p>
              <a:endParaRPr lang="zh-CN" altLang="en-US" sz="3200" dirty="0">
                <a:latin typeface="Times New Roman" panose="02020603050405020304" pitchFamily="18" charset="0"/>
              </a:endParaRPr>
            </a:p>
          </p:txBody>
        </p:sp>
        <p:sp>
          <p:nvSpPr>
            <p:cNvPr id="31781" name="Line 23"/>
            <p:cNvSpPr/>
            <p:nvPr/>
          </p:nvSpPr>
          <p:spPr>
            <a:xfrm>
              <a:off x="3246" y="2082"/>
              <a:ext cx="216" cy="0"/>
            </a:xfrm>
            <a:prstGeom prst="line">
              <a:avLst/>
            </a:prstGeom>
            <a:ln w="9525" cap="flat" cmpd="sng">
              <a:solidFill>
                <a:srgbClr val="000000"/>
              </a:solidFill>
              <a:prstDash val="solid"/>
              <a:headEnd type="none" w="med" len="med"/>
              <a:tailEnd type="arrow" w="med" len="med"/>
            </a:ln>
          </p:spPr>
        </p:sp>
        <p:sp>
          <p:nvSpPr>
            <p:cNvPr id="31782" name="Line 24"/>
            <p:cNvSpPr/>
            <p:nvPr/>
          </p:nvSpPr>
          <p:spPr>
            <a:xfrm flipV="1">
              <a:off x="3162" y="1833"/>
              <a:ext cx="216" cy="187"/>
            </a:xfrm>
            <a:prstGeom prst="line">
              <a:avLst/>
            </a:prstGeom>
            <a:ln w="9525" cap="flat" cmpd="sng">
              <a:solidFill>
                <a:srgbClr val="000000"/>
              </a:solidFill>
              <a:prstDash val="solid"/>
              <a:headEnd type="none" w="med" len="med"/>
              <a:tailEnd type="arrow" w="med" len="med"/>
            </a:ln>
          </p:spPr>
        </p:sp>
        <p:sp>
          <p:nvSpPr>
            <p:cNvPr id="31783" name="Line 25"/>
            <p:cNvSpPr/>
            <p:nvPr/>
          </p:nvSpPr>
          <p:spPr>
            <a:xfrm>
              <a:off x="3216" y="2132"/>
              <a:ext cx="204" cy="177"/>
            </a:xfrm>
            <a:prstGeom prst="line">
              <a:avLst/>
            </a:prstGeom>
            <a:ln w="9525" cap="flat" cmpd="sng">
              <a:solidFill>
                <a:srgbClr val="000000"/>
              </a:solidFill>
              <a:prstDash val="solid"/>
              <a:headEnd type="none" w="med" len="med"/>
              <a:tailEnd type="arrow" w="med" len="med"/>
            </a:ln>
          </p:spPr>
        </p:sp>
        <p:sp>
          <p:nvSpPr>
            <p:cNvPr id="31784" name="Line 26"/>
            <p:cNvSpPr/>
            <p:nvPr/>
          </p:nvSpPr>
          <p:spPr>
            <a:xfrm flipV="1">
              <a:off x="3582" y="1957"/>
              <a:ext cx="210" cy="63"/>
            </a:xfrm>
            <a:prstGeom prst="line">
              <a:avLst/>
            </a:prstGeom>
            <a:ln w="9525" cap="flat" cmpd="sng">
              <a:solidFill>
                <a:srgbClr val="000000"/>
              </a:solidFill>
              <a:prstDash val="solid"/>
              <a:headEnd type="none" w="med" len="med"/>
              <a:tailEnd type="arrow" w="med" len="med"/>
            </a:ln>
          </p:spPr>
        </p:sp>
        <p:sp>
          <p:nvSpPr>
            <p:cNvPr id="31785" name="Line 27"/>
            <p:cNvSpPr/>
            <p:nvPr/>
          </p:nvSpPr>
          <p:spPr>
            <a:xfrm>
              <a:off x="3564" y="2145"/>
              <a:ext cx="186" cy="62"/>
            </a:xfrm>
            <a:prstGeom prst="line">
              <a:avLst/>
            </a:prstGeom>
            <a:ln w="9525" cap="flat" cmpd="sng">
              <a:solidFill>
                <a:srgbClr val="000000"/>
              </a:solidFill>
              <a:prstDash val="solid"/>
              <a:headEnd type="none" w="med" len="med"/>
              <a:tailEnd type="arrow" w="med" len="med"/>
            </a:ln>
          </p:spPr>
        </p:sp>
        <p:sp>
          <p:nvSpPr>
            <p:cNvPr id="31786" name="Line 28"/>
            <p:cNvSpPr/>
            <p:nvPr/>
          </p:nvSpPr>
          <p:spPr>
            <a:xfrm>
              <a:off x="3936" y="1957"/>
              <a:ext cx="144" cy="0"/>
            </a:xfrm>
            <a:prstGeom prst="line">
              <a:avLst/>
            </a:prstGeom>
            <a:ln w="9525" cap="flat" cmpd="sng">
              <a:solidFill>
                <a:srgbClr val="000000"/>
              </a:solidFill>
              <a:prstDash val="solid"/>
              <a:headEnd type="none" w="med" len="med"/>
              <a:tailEnd type="arrow" w="med" len="med"/>
            </a:ln>
          </p:spPr>
        </p:sp>
      </p:grpSp>
      <p:grpSp>
        <p:nvGrpSpPr>
          <p:cNvPr id="557085" name="Group 29"/>
          <p:cNvGrpSpPr/>
          <p:nvPr/>
        </p:nvGrpSpPr>
        <p:grpSpPr>
          <a:xfrm>
            <a:off x="5029200" y="4411663"/>
            <a:ext cx="1295400" cy="693737"/>
            <a:chOff x="3168" y="2539"/>
            <a:chExt cx="816" cy="437"/>
          </a:xfrm>
        </p:grpSpPr>
        <p:sp>
          <p:nvSpPr>
            <p:cNvPr id="31764" name="Oval 30"/>
            <p:cNvSpPr/>
            <p:nvPr/>
          </p:nvSpPr>
          <p:spPr>
            <a:xfrm>
              <a:off x="3168" y="2851"/>
              <a:ext cx="144" cy="125"/>
            </a:xfrm>
            <a:prstGeom prst="ellipse">
              <a:avLst/>
            </a:prstGeom>
            <a:solidFill>
              <a:srgbClr val="FFFFFF"/>
            </a:solidFill>
            <a:ln w="9525" cap="flat" cmpd="sng">
              <a:solidFill>
                <a:srgbClr val="000000"/>
              </a:solidFill>
              <a:prstDash val="solid"/>
              <a:headEnd type="none" w="med" len="med"/>
              <a:tailEnd type="none" w="med" len="med"/>
            </a:ln>
          </p:spPr>
          <p:txBody>
            <a:bodyPr/>
            <a:lstStyle/>
            <a:p>
              <a:endParaRPr lang="zh-CN" altLang="en-US" sz="3200" dirty="0">
                <a:latin typeface="Times New Roman" panose="02020603050405020304" pitchFamily="18" charset="0"/>
              </a:endParaRPr>
            </a:p>
          </p:txBody>
        </p:sp>
        <p:sp>
          <p:nvSpPr>
            <p:cNvPr id="31765" name="Oval 31"/>
            <p:cNvSpPr/>
            <p:nvPr/>
          </p:nvSpPr>
          <p:spPr>
            <a:xfrm>
              <a:off x="3180" y="2539"/>
              <a:ext cx="144" cy="125"/>
            </a:xfrm>
            <a:prstGeom prst="ellipse">
              <a:avLst/>
            </a:prstGeom>
            <a:solidFill>
              <a:srgbClr val="FFFFFF"/>
            </a:solidFill>
            <a:ln w="9525" cap="flat" cmpd="sng">
              <a:solidFill>
                <a:srgbClr val="000000"/>
              </a:solidFill>
              <a:prstDash val="solid"/>
              <a:headEnd type="none" w="med" len="med"/>
              <a:tailEnd type="none" w="med" len="med"/>
            </a:ln>
          </p:spPr>
          <p:txBody>
            <a:bodyPr/>
            <a:lstStyle/>
            <a:p>
              <a:endParaRPr lang="zh-CN" altLang="en-US" sz="3200" dirty="0">
                <a:latin typeface="Times New Roman" panose="02020603050405020304" pitchFamily="18" charset="0"/>
              </a:endParaRPr>
            </a:p>
          </p:txBody>
        </p:sp>
        <p:sp>
          <p:nvSpPr>
            <p:cNvPr id="31766" name="Oval 32"/>
            <p:cNvSpPr/>
            <p:nvPr/>
          </p:nvSpPr>
          <p:spPr>
            <a:xfrm>
              <a:off x="3546" y="2851"/>
              <a:ext cx="144" cy="125"/>
            </a:xfrm>
            <a:prstGeom prst="ellipse">
              <a:avLst/>
            </a:prstGeom>
            <a:solidFill>
              <a:srgbClr val="FFFFFF"/>
            </a:solidFill>
            <a:ln w="9525" cap="flat" cmpd="sng">
              <a:solidFill>
                <a:srgbClr val="000000"/>
              </a:solidFill>
              <a:prstDash val="solid"/>
              <a:headEnd type="none" w="med" len="med"/>
              <a:tailEnd type="none" w="med" len="med"/>
            </a:ln>
          </p:spPr>
          <p:txBody>
            <a:bodyPr/>
            <a:lstStyle/>
            <a:p>
              <a:endParaRPr lang="zh-CN" altLang="en-US" sz="3200" dirty="0">
                <a:latin typeface="Times New Roman" panose="02020603050405020304" pitchFamily="18" charset="0"/>
              </a:endParaRPr>
            </a:p>
          </p:txBody>
        </p:sp>
        <p:sp>
          <p:nvSpPr>
            <p:cNvPr id="31767" name="Oval 33"/>
            <p:cNvSpPr/>
            <p:nvPr/>
          </p:nvSpPr>
          <p:spPr>
            <a:xfrm>
              <a:off x="3540" y="2539"/>
              <a:ext cx="144" cy="125"/>
            </a:xfrm>
            <a:prstGeom prst="ellipse">
              <a:avLst/>
            </a:prstGeom>
            <a:solidFill>
              <a:srgbClr val="FFFFFF"/>
            </a:solidFill>
            <a:ln w="9525" cap="flat" cmpd="sng">
              <a:solidFill>
                <a:srgbClr val="000000"/>
              </a:solidFill>
              <a:prstDash val="solid"/>
              <a:headEnd type="none" w="med" len="med"/>
              <a:tailEnd type="none" w="med" len="med"/>
            </a:ln>
          </p:spPr>
          <p:txBody>
            <a:bodyPr/>
            <a:lstStyle/>
            <a:p>
              <a:endParaRPr lang="zh-CN" altLang="en-US" sz="3200" dirty="0">
                <a:latin typeface="Times New Roman" panose="02020603050405020304" pitchFamily="18" charset="0"/>
              </a:endParaRPr>
            </a:p>
          </p:txBody>
        </p:sp>
        <p:sp>
          <p:nvSpPr>
            <p:cNvPr id="31768" name="Oval 34"/>
            <p:cNvSpPr/>
            <p:nvPr/>
          </p:nvSpPr>
          <p:spPr>
            <a:xfrm>
              <a:off x="3840" y="2726"/>
              <a:ext cx="144" cy="125"/>
            </a:xfrm>
            <a:prstGeom prst="ellipse">
              <a:avLst/>
            </a:prstGeom>
            <a:solidFill>
              <a:srgbClr val="FFFFFF"/>
            </a:solidFill>
            <a:ln w="9525" cap="flat" cmpd="sng">
              <a:solidFill>
                <a:srgbClr val="000000"/>
              </a:solidFill>
              <a:prstDash val="solid"/>
              <a:headEnd type="none" w="med" len="med"/>
              <a:tailEnd type="none" w="med" len="med"/>
            </a:ln>
          </p:spPr>
          <p:txBody>
            <a:bodyPr/>
            <a:lstStyle/>
            <a:p>
              <a:endParaRPr lang="zh-CN" altLang="en-US" sz="3200" dirty="0">
                <a:latin typeface="Times New Roman" panose="02020603050405020304" pitchFamily="18" charset="0"/>
              </a:endParaRPr>
            </a:p>
          </p:txBody>
        </p:sp>
        <p:sp>
          <p:nvSpPr>
            <p:cNvPr id="31769" name="Line 35"/>
            <p:cNvSpPr/>
            <p:nvPr/>
          </p:nvSpPr>
          <p:spPr>
            <a:xfrm>
              <a:off x="3336" y="2913"/>
              <a:ext cx="216" cy="0"/>
            </a:xfrm>
            <a:prstGeom prst="line">
              <a:avLst/>
            </a:prstGeom>
            <a:ln w="9525" cap="flat" cmpd="sng">
              <a:solidFill>
                <a:srgbClr val="000000"/>
              </a:solidFill>
              <a:prstDash val="solid"/>
              <a:headEnd type="none" w="med" len="med"/>
              <a:tailEnd type="arrow" w="med" len="med"/>
            </a:ln>
          </p:spPr>
        </p:sp>
        <p:sp>
          <p:nvSpPr>
            <p:cNvPr id="31770" name="Line 36"/>
            <p:cNvSpPr/>
            <p:nvPr/>
          </p:nvSpPr>
          <p:spPr>
            <a:xfrm>
              <a:off x="3324" y="2601"/>
              <a:ext cx="216" cy="0"/>
            </a:xfrm>
            <a:prstGeom prst="line">
              <a:avLst/>
            </a:prstGeom>
            <a:ln w="9525" cap="flat" cmpd="sng">
              <a:solidFill>
                <a:srgbClr val="000000"/>
              </a:solidFill>
              <a:prstDash val="solid"/>
              <a:headEnd type="none" w="med" len="med"/>
              <a:tailEnd type="arrow" w="med" len="med"/>
            </a:ln>
          </p:spPr>
        </p:sp>
        <p:sp>
          <p:nvSpPr>
            <p:cNvPr id="31771" name="Line 37"/>
            <p:cNvSpPr/>
            <p:nvPr/>
          </p:nvSpPr>
          <p:spPr>
            <a:xfrm>
              <a:off x="3252" y="2664"/>
              <a:ext cx="0" cy="187"/>
            </a:xfrm>
            <a:prstGeom prst="line">
              <a:avLst/>
            </a:prstGeom>
            <a:ln w="9525" cap="flat" cmpd="sng">
              <a:solidFill>
                <a:srgbClr val="000000"/>
              </a:solidFill>
              <a:prstDash val="solid"/>
              <a:headEnd type="none" w="med" len="med"/>
              <a:tailEnd type="arrow" w="med" len="med"/>
            </a:ln>
          </p:spPr>
        </p:sp>
        <p:sp>
          <p:nvSpPr>
            <p:cNvPr id="31772" name="Line 38"/>
            <p:cNvSpPr/>
            <p:nvPr/>
          </p:nvSpPr>
          <p:spPr>
            <a:xfrm>
              <a:off x="3630" y="2664"/>
              <a:ext cx="0" cy="187"/>
            </a:xfrm>
            <a:prstGeom prst="line">
              <a:avLst/>
            </a:prstGeom>
            <a:ln w="9525" cap="flat" cmpd="sng">
              <a:solidFill>
                <a:srgbClr val="000000"/>
              </a:solidFill>
              <a:prstDash val="solid"/>
              <a:headEnd type="arrow" w="med" len="med"/>
              <a:tailEnd type="none" w="med" len="med"/>
            </a:ln>
          </p:spPr>
        </p:sp>
        <p:sp>
          <p:nvSpPr>
            <p:cNvPr id="31773" name="Line 39"/>
            <p:cNvSpPr/>
            <p:nvPr/>
          </p:nvSpPr>
          <p:spPr>
            <a:xfrm flipH="1" flipV="1">
              <a:off x="3684" y="2601"/>
              <a:ext cx="216" cy="125"/>
            </a:xfrm>
            <a:prstGeom prst="line">
              <a:avLst/>
            </a:prstGeom>
            <a:ln w="9525" cap="flat" cmpd="sng">
              <a:solidFill>
                <a:srgbClr val="000000"/>
              </a:solidFill>
              <a:prstDash val="solid"/>
              <a:headEnd type="none" w="med" len="med"/>
              <a:tailEnd type="arrow" w="med" len="med"/>
            </a:ln>
          </p:spPr>
        </p:sp>
      </p:grpSp>
      <p:grpSp>
        <p:nvGrpSpPr>
          <p:cNvPr id="557096" name="Group 40"/>
          <p:cNvGrpSpPr/>
          <p:nvPr/>
        </p:nvGrpSpPr>
        <p:grpSpPr>
          <a:xfrm>
            <a:off x="5114925" y="5478463"/>
            <a:ext cx="981075" cy="693737"/>
            <a:chOff x="3222" y="3115"/>
            <a:chExt cx="618" cy="437"/>
          </a:xfrm>
        </p:grpSpPr>
        <p:sp>
          <p:nvSpPr>
            <p:cNvPr id="31758" name="Oval 41"/>
            <p:cNvSpPr/>
            <p:nvPr/>
          </p:nvSpPr>
          <p:spPr>
            <a:xfrm>
              <a:off x="3504" y="3302"/>
              <a:ext cx="144" cy="125"/>
            </a:xfrm>
            <a:prstGeom prst="ellipse">
              <a:avLst/>
            </a:prstGeom>
            <a:solidFill>
              <a:srgbClr val="FFFFFF"/>
            </a:solidFill>
            <a:ln w="9525" cap="flat" cmpd="sng">
              <a:solidFill>
                <a:srgbClr val="000000"/>
              </a:solidFill>
              <a:prstDash val="solid"/>
              <a:headEnd type="none" w="med" len="med"/>
              <a:tailEnd type="none" w="med" len="med"/>
            </a:ln>
          </p:spPr>
          <p:txBody>
            <a:bodyPr/>
            <a:lstStyle/>
            <a:p>
              <a:endParaRPr lang="zh-CN" altLang="en-US" sz="3200" dirty="0">
                <a:latin typeface="Times New Roman" panose="02020603050405020304" pitchFamily="18" charset="0"/>
              </a:endParaRPr>
            </a:p>
          </p:txBody>
        </p:sp>
        <p:sp>
          <p:nvSpPr>
            <p:cNvPr id="31759" name="Oval 42"/>
            <p:cNvSpPr/>
            <p:nvPr/>
          </p:nvSpPr>
          <p:spPr>
            <a:xfrm>
              <a:off x="3378" y="3427"/>
              <a:ext cx="144" cy="125"/>
            </a:xfrm>
            <a:prstGeom prst="ellipse">
              <a:avLst/>
            </a:prstGeom>
            <a:solidFill>
              <a:srgbClr val="FFFFFF"/>
            </a:solidFill>
            <a:ln w="9525" cap="flat" cmpd="sng">
              <a:solidFill>
                <a:srgbClr val="000000"/>
              </a:solidFill>
              <a:prstDash val="solid"/>
              <a:headEnd type="none" w="med" len="med"/>
              <a:tailEnd type="none" w="med" len="med"/>
            </a:ln>
          </p:spPr>
          <p:txBody>
            <a:bodyPr/>
            <a:lstStyle/>
            <a:p>
              <a:endParaRPr lang="zh-CN" altLang="en-US" sz="3200" dirty="0">
                <a:latin typeface="Times New Roman" panose="02020603050405020304" pitchFamily="18" charset="0"/>
              </a:endParaRPr>
            </a:p>
          </p:txBody>
        </p:sp>
        <p:sp>
          <p:nvSpPr>
            <p:cNvPr id="31760" name="Oval 43"/>
            <p:cNvSpPr/>
            <p:nvPr/>
          </p:nvSpPr>
          <p:spPr>
            <a:xfrm>
              <a:off x="3222" y="3311"/>
              <a:ext cx="144" cy="125"/>
            </a:xfrm>
            <a:prstGeom prst="ellipse">
              <a:avLst/>
            </a:prstGeom>
            <a:solidFill>
              <a:srgbClr val="FFFFFF"/>
            </a:solidFill>
            <a:ln w="9525" cap="flat" cmpd="sng">
              <a:solidFill>
                <a:srgbClr val="000000"/>
              </a:solidFill>
              <a:prstDash val="solid"/>
              <a:headEnd type="none" w="med" len="med"/>
              <a:tailEnd type="none" w="med" len="med"/>
            </a:ln>
          </p:spPr>
          <p:txBody>
            <a:bodyPr/>
            <a:lstStyle/>
            <a:p>
              <a:endParaRPr lang="zh-CN" altLang="en-US" sz="3200" dirty="0">
                <a:latin typeface="Times New Roman" panose="02020603050405020304" pitchFamily="18" charset="0"/>
              </a:endParaRPr>
            </a:p>
          </p:txBody>
        </p:sp>
        <p:sp>
          <p:nvSpPr>
            <p:cNvPr id="31761" name="Oval 44"/>
            <p:cNvSpPr/>
            <p:nvPr/>
          </p:nvSpPr>
          <p:spPr>
            <a:xfrm>
              <a:off x="3714" y="3427"/>
              <a:ext cx="126" cy="125"/>
            </a:xfrm>
            <a:prstGeom prst="ellipse">
              <a:avLst/>
            </a:prstGeom>
            <a:solidFill>
              <a:srgbClr val="FFFFFF"/>
            </a:solidFill>
            <a:ln w="9525" cap="flat" cmpd="sng">
              <a:solidFill>
                <a:srgbClr val="000000"/>
              </a:solidFill>
              <a:prstDash val="solid"/>
              <a:headEnd type="none" w="med" len="med"/>
              <a:tailEnd type="none" w="med" len="med"/>
            </a:ln>
          </p:spPr>
          <p:txBody>
            <a:bodyPr/>
            <a:lstStyle/>
            <a:p>
              <a:endParaRPr lang="zh-CN" altLang="en-US" sz="3200" dirty="0">
                <a:latin typeface="Times New Roman" panose="02020603050405020304" pitchFamily="18" charset="0"/>
              </a:endParaRPr>
            </a:p>
          </p:txBody>
        </p:sp>
        <p:sp>
          <p:nvSpPr>
            <p:cNvPr id="31762" name="Oval 45"/>
            <p:cNvSpPr/>
            <p:nvPr/>
          </p:nvSpPr>
          <p:spPr>
            <a:xfrm>
              <a:off x="3714" y="3240"/>
              <a:ext cx="126" cy="124"/>
            </a:xfrm>
            <a:prstGeom prst="ellipse">
              <a:avLst/>
            </a:prstGeom>
            <a:solidFill>
              <a:srgbClr val="FFFFFF"/>
            </a:solidFill>
            <a:ln w="9525" cap="flat" cmpd="sng">
              <a:solidFill>
                <a:srgbClr val="000000"/>
              </a:solidFill>
              <a:prstDash val="solid"/>
              <a:headEnd type="none" w="med" len="med"/>
              <a:tailEnd type="none" w="med" len="med"/>
            </a:ln>
          </p:spPr>
          <p:txBody>
            <a:bodyPr/>
            <a:lstStyle/>
            <a:p>
              <a:endParaRPr lang="zh-CN" altLang="en-US" sz="3200" dirty="0">
                <a:latin typeface="Times New Roman" panose="02020603050405020304" pitchFamily="18" charset="0"/>
              </a:endParaRPr>
            </a:p>
          </p:txBody>
        </p:sp>
        <p:sp>
          <p:nvSpPr>
            <p:cNvPr id="31763" name="Oval 46"/>
            <p:cNvSpPr/>
            <p:nvPr/>
          </p:nvSpPr>
          <p:spPr>
            <a:xfrm>
              <a:off x="3462" y="3115"/>
              <a:ext cx="126" cy="125"/>
            </a:xfrm>
            <a:prstGeom prst="ellipse">
              <a:avLst/>
            </a:prstGeom>
            <a:solidFill>
              <a:srgbClr val="FFFFFF"/>
            </a:solidFill>
            <a:ln w="9525" cap="flat" cmpd="sng">
              <a:solidFill>
                <a:srgbClr val="000000"/>
              </a:solidFill>
              <a:prstDash val="solid"/>
              <a:headEnd type="none" w="med" len="med"/>
              <a:tailEnd type="none" w="med" len="med"/>
            </a:ln>
          </p:spPr>
          <p:txBody>
            <a:bodyPr/>
            <a:lstStyle/>
            <a:p>
              <a:endParaRPr lang="zh-CN" altLang="en-US" sz="3200" dirty="0">
                <a:latin typeface="Times New Roman" panose="02020603050405020304" pitchFamily="18" charset="0"/>
              </a:endParaRPr>
            </a:p>
          </p:txBody>
        </p:sp>
      </p:grpSp>
      <p:sp>
        <p:nvSpPr>
          <p:cNvPr id="4" name="日期占位符 3"/>
          <p:cNvSpPr>
            <a:spLocks noGrp="1"/>
          </p:cNvSpPr>
          <p:nvPr>
            <p:ph type="dt" sz="half" idx="10"/>
          </p:nvPr>
        </p:nvSpPr>
        <p:spPr/>
        <p:txBody>
          <a:bodyPr/>
          <a:lstStyle/>
          <a:p>
            <a:r>
              <a:rPr lang="en-US" altLang="zh-CN"/>
              <a:t>Data Structures and algorithms</a:t>
            </a:r>
            <a:endParaRPr lang="zh-CN" altLang="en-US"/>
          </a:p>
        </p:txBody>
      </p:sp>
      <p:sp>
        <p:nvSpPr>
          <p:cNvPr id="5" name="页脚占位符 4"/>
          <p:cNvSpPr>
            <a:spLocks noGrp="1"/>
          </p:cNvSpPr>
          <p:nvPr>
            <p:ph type="ftr" sz="quarter" idx="11"/>
          </p:nvPr>
        </p:nvSpPr>
        <p:spPr/>
        <p:txBody>
          <a:bodyPr/>
          <a:lstStyle/>
          <a:p>
            <a:r>
              <a:rPr lang="en-US" altLang="zh-CN"/>
              <a:t>Software College Northeastern University</a:t>
            </a:r>
            <a:endParaRPr lang="zh-CN" altLang="en-US"/>
          </a:p>
        </p:txBody>
      </p:sp>
      <p:sp>
        <p:nvSpPr>
          <p:cNvPr id="6" name="灯片编号占位符 5"/>
          <p:cNvSpPr>
            <a:spLocks noGrp="1"/>
          </p:cNvSpPr>
          <p:nvPr>
            <p:ph type="sldNum" sz="quarter" idx="12"/>
          </p:nvPr>
        </p:nvSpPr>
        <p:spPr/>
        <p:txBody>
          <a:bodyPr/>
          <a:lstStyle/>
          <a:p>
            <a:fld id="{6E1C0148-8E4B-4B2F-95CE-20B4709700AE}" type="slidenum">
              <a:rPr lang="zh-CN" altLang="en-US" smtClean="0"/>
            </a:fld>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55705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5" fill="hold" grpId="0" nodeType="clickEffect">
                                  <p:stCondLst>
                                    <p:cond delay="0"/>
                                  </p:stCondLst>
                                  <p:childTnLst>
                                    <p:set>
                                      <p:cBhvr>
                                        <p:cTn id="10" dur="1" fill="hold">
                                          <p:stCondLst>
                                            <p:cond delay="0"/>
                                          </p:stCondLst>
                                        </p:cTn>
                                        <p:tgtEl>
                                          <p:spTgt spid="557059"/>
                                        </p:tgtEl>
                                        <p:attrNameLst>
                                          <p:attrName>style.visibility</p:attrName>
                                        </p:attrNameLst>
                                      </p:cBhvr>
                                      <p:to>
                                        <p:strVal val="visible"/>
                                      </p:to>
                                    </p:set>
                                    <p:animEffect transition="in" filter="blinds(vertical)">
                                      <p:cBhvr>
                                        <p:cTn id="11" dur="500"/>
                                        <p:tgtEl>
                                          <p:spTgt spid="557059"/>
                                        </p:tgtEl>
                                      </p:cBhvr>
                                    </p:animEffect>
                                  </p:childTnLst>
                                </p:cTn>
                              </p:par>
                            </p:childTnLst>
                          </p:cTn>
                        </p:par>
                        <p:par>
                          <p:cTn id="12" fill="hold">
                            <p:stCondLst>
                              <p:cond delay="500"/>
                            </p:stCondLst>
                            <p:childTnLst>
                              <p:par>
                                <p:cTn id="13" presetID="22" presetClass="entr" presetSubtype="8" fill="hold" nodeType="afterEffect">
                                  <p:stCondLst>
                                    <p:cond delay="0"/>
                                  </p:stCondLst>
                                  <p:childTnLst>
                                    <p:set>
                                      <p:cBhvr>
                                        <p:cTn id="14" dur="1" fill="hold">
                                          <p:stCondLst>
                                            <p:cond delay="0"/>
                                          </p:stCondLst>
                                        </p:cTn>
                                        <p:tgtEl>
                                          <p:spTgt spid="557063"/>
                                        </p:tgtEl>
                                        <p:attrNameLst>
                                          <p:attrName>style.visibility</p:attrName>
                                        </p:attrNameLst>
                                      </p:cBhvr>
                                      <p:to>
                                        <p:strVal val="visible"/>
                                      </p:to>
                                    </p:set>
                                    <p:animEffect transition="in" filter="wipe(left)">
                                      <p:cBhvr>
                                        <p:cTn id="15" dur="500"/>
                                        <p:tgtEl>
                                          <p:spTgt spid="557063"/>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5" fill="hold" grpId="0" nodeType="clickEffect">
                                  <p:stCondLst>
                                    <p:cond delay="0"/>
                                  </p:stCondLst>
                                  <p:childTnLst>
                                    <p:set>
                                      <p:cBhvr>
                                        <p:cTn id="19" dur="1" fill="hold">
                                          <p:stCondLst>
                                            <p:cond delay="0"/>
                                          </p:stCondLst>
                                        </p:cTn>
                                        <p:tgtEl>
                                          <p:spTgt spid="557060"/>
                                        </p:tgtEl>
                                        <p:attrNameLst>
                                          <p:attrName>style.visibility</p:attrName>
                                        </p:attrNameLst>
                                      </p:cBhvr>
                                      <p:to>
                                        <p:strVal val="visible"/>
                                      </p:to>
                                    </p:set>
                                    <p:animEffect transition="in" filter="blinds(vertical)">
                                      <p:cBhvr>
                                        <p:cTn id="20" dur="500"/>
                                        <p:tgtEl>
                                          <p:spTgt spid="557060"/>
                                        </p:tgtEl>
                                      </p:cBhvr>
                                    </p:animEffect>
                                  </p:childTnLst>
                                </p:cTn>
                              </p:par>
                            </p:childTnLst>
                          </p:cTn>
                        </p:par>
                        <p:par>
                          <p:cTn id="21" fill="hold">
                            <p:stCondLst>
                              <p:cond delay="500"/>
                            </p:stCondLst>
                            <p:childTnLst>
                              <p:par>
                                <p:cTn id="22" presetID="22" presetClass="entr" presetSubtype="8" fill="hold" nodeType="afterEffect">
                                  <p:stCondLst>
                                    <p:cond delay="0"/>
                                  </p:stCondLst>
                                  <p:childTnLst>
                                    <p:set>
                                      <p:cBhvr>
                                        <p:cTn id="23" dur="1" fill="hold">
                                          <p:stCondLst>
                                            <p:cond delay="0"/>
                                          </p:stCondLst>
                                        </p:cTn>
                                        <p:tgtEl>
                                          <p:spTgt spid="557071"/>
                                        </p:tgtEl>
                                        <p:attrNameLst>
                                          <p:attrName>style.visibility</p:attrName>
                                        </p:attrNameLst>
                                      </p:cBhvr>
                                      <p:to>
                                        <p:strVal val="visible"/>
                                      </p:to>
                                    </p:set>
                                    <p:animEffect transition="in" filter="wipe(left)">
                                      <p:cBhvr>
                                        <p:cTn id="24" dur="500"/>
                                        <p:tgtEl>
                                          <p:spTgt spid="557071"/>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5" fill="hold" grpId="0" nodeType="clickEffect">
                                  <p:stCondLst>
                                    <p:cond delay="0"/>
                                  </p:stCondLst>
                                  <p:childTnLst>
                                    <p:set>
                                      <p:cBhvr>
                                        <p:cTn id="28" dur="1" fill="hold">
                                          <p:stCondLst>
                                            <p:cond delay="0"/>
                                          </p:stCondLst>
                                        </p:cTn>
                                        <p:tgtEl>
                                          <p:spTgt spid="557061"/>
                                        </p:tgtEl>
                                        <p:attrNameLst>
                                          <p:attrName>style.visibility</p:attrName>
                                        </p:attrNameLst>
                                      </p:cBhvr>
                                      <p:to>
                                        <p:strVal val="visible"/>
                                      </p:to>
                                    </p:set>
                                    <p:animEffect transition="in" filter="blinds(vertical)">
                                      <p:cBhvr>
                                        <p:cTn id="29" dur="500"/>
                                        <p:tgtEl>
                                          <p:spTgt spid="557061"/>
                                        </p:tgtEl>
                                      </p:cBhvr>
                                    </p:animEffect>
                                  </p:childTnLst>
                                </p:cTn>
                              </p:par>
                            </p:childTnLst>
                          </p:cTn>
                        </p:par>
                        <p:par>
                          <p:cTn id="30" fill="hold">
                            <p:stCondLst>
                              <p:cond delay="500"/>
                            </p:stCondLst>
                            <p:childTnLst>
                              <p:par>
                                <p:cTn id="31" presetID="22" presetClass="entr" presetSubtype="8" fill="hold" nodeType="afterEffect">
                                  <p:stCondLst>
                                    <p:cond delay="0"/>
                                  </p:stCondLst>
                                  <p:childTnLst>
                                    <p:set>
                                      <p:cBhvr>
                                        <p:cTn id="32" dur="1" fill="hold">
                                          <p:stCondLst>
                                            <p:cond delay="0"/>
                                          </p:stCondLst>
                                        </p:cTn>
                                        <p:tgtEl>
                                          <p:spTgt spid="557085"/>
                                        </p:tgtEl>
                                        <p:attrNameLst>
                                          <p:attrName>style.visibility</p:attrName>
                                        </p:attrNameLst>
                                      </p:cBhvr>
                                      <p:to>
                                        <p:strVal val="visible"/>
                                      </p:to>
                                    </p:set>
                                    <p:animEffect transition="in" filter="wipe(left)">
                                      <p:cBhvr>
                                        <p:cTn id="33" dur="500"/>
                                        <p:tgtEl>
                                          <p:spTgt spid="557085"/>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5" fill="hold" grpId="0" nodeType="clickEffect">
                                  <p:stCondLst>
                                    <p:cond delay="0"/>
                                  </p:stCondLst>
                                  <p:childTnLst>
                                    <p:set>
                                      <p:cBhvr>
                                        <p:cTn id="37" dur="1" fill="hold">
                                          <p:stCondLst>
                                            <p:cond delay="0"/>
                                          </p:stCondLst>
                                        </p:cTn>
                                        <p:tgtEl>
                                          <p:spTgt spid="557062"/>
                                        </p:tgtEl>
                                        <p:attrNameLst>
                                          <p:attrName>style.visibility</p:attrName>
                                        </p:attrNameLst>
                                      </p:cBhvr>
                                      <p:to>
                                        <p:strVal val="visible"/>
                                      </p:to>
                                    </p:set>
                                    <p:animEffect transition="in" filter="blinds(vertical)">
                                      <p:cBhvr>
                                        <p:cTn id="38" dur="500"/>
                                        <p:tgtEl>
                                          <p:spTgt spid="557062"/>
                                        </p:tgtEl>
                                      </p:cBhvr>
                                    </p:animEffect>
                                  </p:childTnLst>
                                </p:cTn>
                              </p:par>
                            </p:childTnLst>
                          </p:cTn>
                        </p:par>
                        <p:par>
                          <p:cTn id="39" fill="hold">
                            <p:stCondLst>
                              <p:cond delay="500"/>
                            </p:stCondLst>
                            <p:childTnLst>
                              <p:par>
                                <p:cTn id="40" presetID="22" presetClass="entr" presetSubtype="8" fill="hold" nodeType="afterEffect">
                                  <p:stCondLst>
                                    <p:cond delay="0"/>
                                  </p:stCondLst>
                                  <p:childTnLst>
                                    <p:set>
                                      <p:cBhvr>
                                        <p:cTn id="41" dur="1" fill="hold">
                                          <p:stCondLst>
                                            <p:cond delay="0"/>
                                          </p:stCondLst>
                                        </p:cTn>
                                        <p:tgtEl>
                                          <p:spTgt spid="557096"/>
                                        </p:tgtEl>
                                        <p:attrNameLst>
                                          <p:attrName>style.visibility</p:attrName>
                                        </p:attrNameLst>
                                      </p:cBhvr>
                                      <p:to>
                                        <p:strVal val="visible"/>
                                      </p:to>
                                    </p:set>
                                    <p:animEffect transition="in" filter="wipe(left)">
                                      <p:cBhvr>
                                        <p:cTn id="42" dur="500"/>
                                        <p:tgtEl>
                                          <p:spTgt spid="5570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7058" grpId="0"/>
      <p:bldP spid="557059" grpId="0"/>
      <p:bldP spid="557060" grpId="0"/>
      <p:bldP spid="557061" grpId="0"/>
      <p:bldP spid="557062"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8082" name="Text Box 2"/>
          <p:cNvSpPr txBox="1"/>
          <p:nvPr/>
        </p:nvSpPr>
        <p:spPr>
          <a:xfrm>
            <a:off x="1371600" y="152400"/>
            <a:ext cx="4988560" cy="645160"/>
          </a:xfrm>
          <a:prstGeom prst="rect">
            <a:avLst/>
          </a:prstGeom>
          <a:noFill/>
          <a:ln w="9525">
            <a:noFill/>
          </a:ln>
        </p:spPr>
        <p:txBody>
          <a:bodyPr wrap="none">
            <a:spAutoFit/>
          </a:bodyPr>
          <a:lstStyle/>
          <a:p>
            <a:r>
              <a:rPr lang="zh-CN" altLang="en-US" sz="3600" b="1" dirty="0">
                <a:solidFill>
                  <a:srgbClr val="FF0000"/>
                </a:solidFill>
                <a:latin typeface="楷体_GB2312" panose="02010609030101010101" pitchFamily="49" charset="-122"/>
                <a:ea typeface="楷体_GB2312" panose="02010609030101010101" pitchFamily="49" charset="-122"/>
              </a:rPr>
              <a:t>数据结构的形式定义</a:t>
            </a:r>
            <a:r>
              <a:rPr lang="zh-CN" altLang="en-US" sz="3600" dirty="0">
                <a:solidFill>
                  <a:srgbClr val="FF0000"/>
                </a:solidFill>
                <a:latin typeface="楷体_GB2312" panose="02010609030101010101" pitchFamily="49" charset="-122"/>
                <a:ea typeface="楷体_GB2312" panose="02010609030101010101" pitchFamily="49" charset="-122"/>
              </a:rPr>
              <a:t>为</a:t>
            </a:r>
            <a:r>
              <a:rPr lang="en-US" altLang="zh-CN" sz="3600" dirty="0">
                <a:solidFill>
                  <a:srgbClr val="FF0000"/>
                </a:solidFill>
                <a:latin typeface="楷体_GB2312" panose="02010609030101010101" pitchFamily="49" charset="-122"/>
                <a:ea typeface="楷体_GB2312" panose="02010609030101010101" pitchFamily="49" charset="-122"/>
              </a:rPr>
              <a:t>:</a:t>
            </a:r>
            <a:endParaRPr lang="en-US" altLang="zh-CN" sz="3600" dirty="0">
              <a:solidFill>
                <a:srgbClr val="FF0000"/>
              </a:solidFill>
              <a:latin typeface="楷体_GB2312" panose="02010609030101010101" pitchFamily="49" charset="-122"/>
              <a:ea typeface="楷体_GB2312" panose="02010609030101010101" pitchFamily="49" charset="-122"/>
            </a:endParaRPr>
          </a:p>
        </p:txBody>
      </p:sp>
      <p:sp>
        <p:nvSpPr>
          <p:cNvPr id="558083" name="Text Box 3"/>
          <p:cNvSpPr txBox="1"/>
          <p:nvPr/>
        </p:nvSpPr>
        <p:spPr>
          <a:xfrm>
            <a:off x="609600" y="1600200"/>
            <a:ext cx="4986020" cy="645160"/>
          </a:xfrm>
          <a:prstGeom prst="rect">
            <a:avLst/>
          </a:prstGeom>
          <a:noFill/>
          <a:ln w="9525">
            <a:noFill/>
          </a:ln>
        </p:spPr>
        <p:txBody>
          <a:bodyPr wrap="none">
            <a:spAutoFit/>
          </a:bodyPr>
          <a:lstStyle/>
          <a:p>
            <a:r>
              <a:rPr lang="zh-CN" altLang="en-US" sz="3600" b="1" dirty="0">
                <a:latin typeface="隶书" panose="02010509060101010101" pitchFamily="49" charset="-122"/>
                <a:ea typeface="隶书" panose="02010509060101010101" pitchFamily="49" charset="-122"/>
              </a:rPr>
              <a:t>数据结构</a:t>
            </a:r>
            <a:r>
              <a:rPr lang="zh-CN" altLang="en-US" sz="3600" dirty="0">
                <a:latin typeface="楷体_GB2312" panose="02010609030101010101" pitchFamily="49" charset="-122"/>
                <a:ea typeface="楷体_GB2312" panose="02010609030101010101" pitchFamily="49" charset="-122"/>
              </a:rPr>
              <a:t>是一个二元组 </a:t>
            </a:r>
            <a:endParaRPr lang="zh-CN" altLang="en-US" sz="3600" dirty="0">
              <a:latin typeface="楷体_GB2312" panose="02010609030101010101" pitchFamily="49" charset="-122"/>
              <a:ea typeface="楷体_GB2312" panose="02010609030101010101" pitchFamily="49" charset="-122"/>
            </a:endParaRPr>
          </a:p>
        </p:txBody>
      </p:sp>
      <p:sp>
        <p:nvSpPr>
          <p:cNvPr id="558084" name="Text Box 4"/>
          <p:cNvSpPr txBox="1"/>
          <p:nvPr/>
        </p:nvSpPr>
        <p:spPr>
          <a:xfrm>
            <a:off x="1447800" y="2820988"/>
            <a:ext cx="4733290" cy="645160"/>
          </a:xfrm>
          <a:prstGeom prst="rect">
            <a:avLst/>
          </a:prstGeom>
          <a:noFill/>
          <a:ln w="9525">
            <a:noFill/>
          </a:ln>
        </p:spPr>
        <p:txBody>
          <a:bodyPr wrap="none">
            <a:spAutoFit/>
          </a:bodyPr>
          <a:lstStyle/>
          <a:p>
            <a:r>
              <a:rPr lang="en-US" altLang="zh-CN" sz="3600" dirty="0">
                <a:latin typeface="Times New Roman" panose="02020603050405020304" pitchFamily="18" charset="0"/>
                <a:ea typeface="楷体_GB2312" panose="02010609030101010101" pitchFamily="49" charset="-122"/>
              </a:rPr>
              <a:t>Data_Structures = (D, S)</a:t>
            </a:r>
            <a:endParaRPr lang="en-US" altLang="zh-CN" sz="3600" dirty="0">
              <a:latin typeface="Times New Roman" panose="02020603050405020304" pitchFamily="18" charset="0"/>
              <a:ea typeface="楷体_GB2312" panose="02010609030101010101" pitchFamily="49" charset="-122"/>
            </a:endParaRPr>
          </a:p>
        </p:txBody>
      </p:sp>
      <p:sp>
        <p:nvSpPr>
          <p:cNvPr id="558085" name="Text Box 5"/>
          <p:cNvSpPr txBox="1"/>
          <p:nvPr/>
        </p:nvSpPr>
        <p:spPr>
          <a:xfrm>
            <a:off x="381000" y="4040188"/>
            <a:ext cx="7848600" cy="1641475"/>
          </a:xfrm>
          <a:prstGeom prst="rect">
            <a:avLst/>
          </a:prstGeom>
          <a:noFill/>
          <a:ln w="9525">
            <a:noFill/>
          </a:ln>
        </p:spPr>
        <p:txBody>
          <a:bodyPr>
            <a:spAutoFit/>
          </a:bodyPr>
          <a:lstStyle/>
          <a:p>
            <a:pPr>
              <a:lnSpc>
                <a:spcPct val="140000"/>
              </a:lnSpc>
            </a:pPr>
            <a:r>
              <a:rPr lang="zh-CN" altLang="en-US" sz="3600" dirty="0">
                <a:latin typeface="楷体_GB2312" panose="02010609030101010101" pitchFamily="49" charset="-122"/>
                <a:ea typeface="楷体_GB2312" panose="02010609030101010101" pitchFamily="49" charset="-122"/>
              </a:rPr>
              <a:t>其中</a:t>
            </a:r>
            <a:r>
              <a:rPr lang="en-US" altLang="zh-CN" sz="3600" dirty="0">
                <a:latin typeface="楷体_GB2312" panose="02010609030101010101" pitchFamily="49" charset="-122"/>
                <a:ea typeface="楷体_GB2312" panose="02010609030101010101" pitchFamily="49" charset="-122"/>
              </a:rPr>
              <a:t>:</a:t>
            </a:r>
            <a:r>
              <a:rPr lang="en-US" altLang="zh-CN" sz="3600" dirty="0">
                <a:latin typeface="Times New Roman" panose="02020603050405020304" pitchFamily="18" charset="0"/>
                <a:ea typeface="楷体_GB2312" panose="02010609030101010101" pitchFamily="49" charset="-122"/>
              </a:rPr>
              <a:t>D </a:t>
            </a:r>
            <a:r>
              <a:rPr lang="zh-CN" altLang="en-US" sz="3600" dirty="0">
                <a:latin typeface="楷体_GB2312" panose="02010609030101010101" pitchFamily="49" charset="-122"/>
                <a:ea typeface="楷体_GB2312" panose="02010609030101010101" pitchFamily="49" charset="-122"/>
              </a:rPr>
              <a:t>是</a:t>
            </a:r>
            <a:r>
              <a:rPr lang="zh-CN" altLang="en-US" sz="3600" b="1" dirty="0">
                <a:solidFill>
                  <a:srgbClr val="800000"/>
                </a:solidFill>
                <a:highlight>
                  <a:srgbClr val="FFFF00"/>
                </a:highlight>
                <a:latin typeface="楷体_GB2312" panose="02010609030101010101" pitchFamily="49" charset="-122"/>
                <a:ea typeface="楷体_GB2312" panose="02010609030101010101" pitchFamily="49" charset="-122"/>
              </a:rPr>
              <a:t>数据元素</a:t>
            </a:r>
            <a:r>
              <a:rPr lang="zh-CN" altLang="en-US" sz="3600" b="1" dirty="0">
                <a:solidFill>
                  <a:srgbClr val="800000"/>
                </a:solidFill>
                <a:latin typeface="楷体_GB2312" panose="02010609030101010101" pitchFamily="49" charset="-122"/>
                <a:ea typeface="楷体_GB2312" panose="02010609030101010101" pitchFamily="49" charset="-122"/>
              </a:rPr>
              <a:t>的有限集</a:t>
            </a:r>
            <a:r>
              <a:rPr lang="zh-CN" altLang="en-US" sz="3600" dirty="0">
                <a:latin typeface="楷体_GB2312" panose="02010609030101010101" pitchFamily="49" charset="-122"/>
                <a:ea typeface="楷体_GB2312" panose="02010609030101010101" pitchFamily="49" charset="-122"/>
              </a:rPr>
              <a:t>，</a:t>
            </a:r>
            <a:endParaRPr lang="zh-CN" altLang="en-US" sz="3600" dirty="0">
              <a:latin typeface="楷体_GB2312" panose="02010609030101010101" pitchFamily="49" charset="-122"/>
              <a:ea typeface="楷体_GB2312" panose="02010609030101010101" pitchFamily="49" charset="-122"/>
            </a:endParaRPr>
          </a:p>
          <a:p>
            <a:pPr>
              <a:lnSpc>
                <a:spcPct val="140000"/>
              </a:lnSpc>
            </a:pPr>
            <a:r>
              <a:rPr lang="zh-CN" altLang="en-US" sz="3600" dirty="0">
                <a:latin typeface="楷体_GB2312" panose="02010609030101010101" pitchFamily="49" charset="-122"/>
                <a:ea typeface="楷体_GB2312" panose="02010609030101010101" pitchFamily="49" charset="-122"/>
              </a:rPr>
              <a:t>     </a:t>
            </a:r>
            <a:r>
              <a:rPr lang="en-US" altLang="zh-CN" sz="3600" dirty="0">
                <a:latin typeface="Times New Roman" panose="02020603050405020304" pitchFamily="18" charset="0"/>
                <a:ea typeface="楷体_GB2312" panose="02010609030101010101" pitchFamily="49" charset="-122"/>
              </a:rPr>
              <a:t>S </a:t>
            </a:r>
            <a:r>
              <a:rPr lang="zh-CN" altLang="en-US" sz="3600" dirty="0">
                <a:latin typeface="Times New Roman" panose="02020603050405020304" pitchFamily="18" charset="0"/>
                <a:ea typeface="楷体_GB2312" panose="02010609030101010101" pitchFamily="49" charset="-122"/>
              </a:rPr>
              <a:t>是 </a:t>
            </a:r>
            <a:r>
              <a:rPr lang="en-US" altLang="zh-CN" sz="3600" dirty="0">
                <a:latin typeface="Times New Roman" panose="02020603050405020304" pitchFamily="18" charset="0"/>
                <a:ea typeface="楷体_GB2312" panose="02010609030101010101" pitchFamily="49" charset="-122"/>
              </a:rPr>
              <a:t>D</a:t>
            </a:r>
            <a:r>
              <a:rPr lang="zh-CN" altLang="en-US" sz="3600" dirty="0">
                <a:latin typeface="楷体_GB2312" panose="02010609030101010101" pitchFamily="49" charset="-122"/>
                <a:ea typeface="楷体_GB2312" panose="02010609030101010101" pitchFamily="49" charset="-122"/>
              </a:rPr>
              <a:t>上</a:t>
            </a:r>
            <a:r>
              <a:rPr lang="zh-CN" altLang="en-US" sz="3600" b="1" dirty="0">
                <a:solidFill>
                  <a:srgbClr val="800000"/>
                </a:solidFill>
                <a:highlight>
                  <a:srgbClr val="FFFF00"/>
                </a:highlight>
                <a:latin typeface="楷体_GB2312" panose="02010609030101010101" pitchFamily="49" charset="-122"/>
                <a:ea typeface="楷体_GB2312" panose="02010609030101010101" pitchFamily="49" charset="-122"/>
              </a:rPr>
              <a:t>关系</a:t>
            </a:r>
            <a:r>
              <a:rPr lang="zh-CN" altLang="en-US" sz="3600" b="1" dirty="0">
                <a:solidFill>
                  <a:srgbClr val="800000"/>
                </a:solidFill>
                <a:latin typeface="楷体_GB2312" panose="02010609030101010101" pitchFamily="49" charset="-122"/>
                <a:ea typeface="楷体_GB2312" panose="02010609030101010101" pitchFamily="49" charset="-122"/>
              </a:rPr>
              <a:t>的有限集</a:t>
            </a:r>
            <a:r>
              <a:rPr lang="zh-CN" altLang="en-US" sz="3600" dirty="0">
                <a:latin typeface="楷体_GB2312" panose="02010609030101010101" pitchFamily="49" charset="-122"/>
                <a:ea typeface="楷体_GB2312" panose="02010609030101010101" pitchFamily="49" charset="-122"/>
              </a:rPr>
              <a:t>。</a:t>
            </a:r>
            <a:endParaRPr lang="zh-CN" altLang="en-US" sz="3600" dirty="0">
              <a:latin typeface="楷体_GB2312" panose="02010609030101010101" pitchFamily="49" charset="-122"/>
              <a:ea typeface="楷体_GB2312" panose="02010609030101010101" pitchFamily="49" charset="-122"/>
            </a:endParaRPr>
          </a:p>
        </p:txBody>
      </p:sp>
      <p:sp>
        <p:nvSpPr>
          <p:cNvPr id="2" name="日期占位符 1"/>
          <p:cNvSpPr>
            <a:spLocks noGrp="1"/>
          </p:cNvSpPr>
          <p:nvPr>
            <p:ph type="dt" sz="half" idx="10"/>
          </p:nvPr>
        </p:nvSpPr>
        <p:spPr/>
        <p:txBody>
          <a:bodyPr/>
          <a:lstStyle/>
          <a:p>
            <a:r>
              <a:rPr lang="en-US" altLang="zh-CN"/>
              <a:t>Data Structures and algorithms</a:t>
            </a:r>
            <a:endParaRPr lang="zh-CN" altLang="en-US"/>
          </a:p>
        </p:txBody>
      </p:sp>
      <p:sp>
        <p:nvSpPr>
          <p:cNvPr id="3" name="页脚占位符 2"/>
          <p:cNvSpPr>
            <a:spLocks noGrp="1"/>
          </p:cNvSpPr>
          <p:nvPr>
            <p:ph type="ftr" sz="quarter" idx="11"/>
          </p:nvPr>
        </p:nvSpPr>
        <p:spPr/>
        <p:txBody>
          <a:bodyPr/>
          <a:lstStyle/>
          <a:p>
            <a:r>
              <a:rPr lang="en-US" altLang="zh-CN"/>
              <a:t>Software College Northeastern University</a:t>
            </a:r>
            <a:endParaRPr lang="zh-CN" altLang="en-US"/>
          </a:p>
        </p:txBody>
      </p:sp>
      <p:sp>
        <p:nvSpPr>
          <p:cNvPr id="4" name="灯片编号占位符 3"/>
          <p:cNvSpPr>
            <a:spLocks noGrp="1"/>
          </p:cNvSpPr>
          <p:nvPr>
            <p:ph type="sldNum" sz="quarter" idx="12"/>
          </p:nvPr>
        </p:nvSpPr>
        <p:spPr/>
        <p:txBody>
          <a:bodyPr/>
          <a:lstStyle/>
          <a:p>
            <a:fld id="{6E1C0148-8E4B-4B2F-95CE-20B4709700AE}" type="slidenum">
              <a:rPr lang="zh-CN" altLang="en-US" smtClean="0"/>
            </a:fld>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55808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558083"/>
                                        </p:tgtEl>
                                        <p:attrNameLst>
                                          <p:attrName>style.visibility</p:attrName>
                                        </p:attrNameLst>
                                      </p:cBhvr>
                                      <p:to>
                                        <p:strVal val="visible"/>
                                      </p:to>
                                    </p:set>
                                    <p:anim calcmode="lin" valueType="num">
                                      <p:cBhvr additive="base">
                                        <p:cTn id="11" dur="500" fill="hold"/>
                                        <p:tgtEl>
                                          <p:spTgt spid="558083"/>
                                        </p:tgtEl>
                                        <p:attrNameLst>
                                          <p:attrName>ppt_x</p:attrName>
                                        </p:attrNameLst>
                                      </p:cBhvr>
                                      <p:tavLst>
                                        <p:tav tm="0">
                                          <p:val>
                                            <p:strVal val="#ppt_x"/>
                                          </p:val>
                                        </p:tav>
                                        <p:tav tm="100000">
                                          <p:val>
                                            <p:strVal val="#ppt_x"/>
                                          </p:val>
                                        </p:tav>
                                      </p:tavLst>
                                    </p:anim>
                                    <p:anim calcmode="lin" valueType="num">
                                      <p:cBhvr additive="base">
                                        <p:cTn id="12" dur="500" fill="hold"/>
                                        <p:tgtEl>
                                          <p:spTgt spid="558083"/>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558084"/>
                                        </p:tgtEl>
                                        <p:attrNameLst>
                                          <p:attrName>style.visibility</p:attrName>
                                        </p:attrNameLst>
                                      </p:cBhvr>
                                      <p:to>
                                        <p:strVal val="visible"/>
                                      </p:to>
                                    </p:set>
                                    <p:anim calcmode="lin" valueType="num">
                                      <p:cBhvr additive="base">
                                        <p:cTn id="17" dur="500" fill="hold"/>
                                        <p:tgtEl>
                                          <p:spTgt spid="558084"/>
                                        </p:tgtEl>
                                        <p:attrNameLst>
                                          <p:attrName>ppt_x</p:attrName>
                                        </p:attrNameLst>
                                      </p:cBhvr>
                                      <p:tavLst>
                                        <p:tav tm="0">
                                          <p:val>
                                            <p:strVal val="#ppt_x"/>
                                          </p:val>
                                        </p:tav>
                                        <p:tav tm="100000">
                                          <p:val>
                                            <p:strVal val="#ppt_x"/>
                                          </p:val>
                                        </p:tav>
                                      </p:tavLst>
                                    </p:anim>
                                    <p:anim calcmode="lin" valueType="num">
                                      <p:cBhvr additive="base">
                                        <p:cTn id="18" dur="500" fill="hold"/>
                                        <p:tgtEl>
                                          <p:spTgt spid="558084"/>
                                        </p:tgtEl>
                                        <p:attrNameLst>
                                          <p:attrName>ppt_y</p:attrName>
                                        </p:attrNameLst>
                                      </p:cBhvr>
                                      <p:tavLst>
                                        <p:tav tm="0">
                                          <p:val>
                                            <p:strVal val="1+#ppt_h/2"/>
                                          </p:val>
                                        </p:tav>
                                        <p:tav tm="100000">
                                          <p:val>
                                            <p:strVal val="#ppt_y"/>
                                          </p:val>
                                        </p:tav>
                                      </p:tavLst>
                                    </p:anim>
                                  </p:childTnLst>
                                </p:cTn>
                              </p:par>
                            </p:childTnLst>
                          </p:cTn>
                        </p:par>
                        <p:par>
                          <p:cTn id="19" fill="hold">
                            <p:stCondLst>
                              <p:cond delay="500"/>
                            </p:stCondLst>
                            <p:childTnLst>
                              <p:par>
                                <p:cTn id="20" presetID="22" presetClass="entr" presetSubtype="8" fill="hold" grpId="0" nodeType="afterEffect">
                                  <p:stCondLst>
                                    <p:cond delay="0"/>
                                  </p:stCondLst>
                                  <p:iterate type="wd">
                                    <p:tmPct val="100000"/>
                                  </p:iterate>
                                  <p:childTnLst>
                                    <p:set>
                                      <p:cBhvr>
                                        <p:cTn id="21" dur="1" fill="hold">
                                          <p:stCondLst>
                                            <p:cond delay="0"/>
                                          </p:stCondLst>
                                        </p:cTn>
                                        <p:tgtEl>
                                          <p:spTgt spid="558085"/>
                                        </p:tgtEl>
                                        <p:attrNameLst>
                                          <p:attrName>style.visibility</p:attrName>
                                        </p:attrNameLst>
                                      </p:cBhvr>
                                      <p:to>
                                        <p:strVal val="visible"/>
                                      </p:to>
                                    </p:set>
                                    <p:animEffect transition="in" filter="wipe(left)">
                                      <p:cBhvr>
                                        <p:cTn id="22" dur="300"/>
                                        <p:tgtEl>
                                          <p:spTgt spid="5580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8082" grpId="0"/>
      <p:bldP spid="558083" grpId="0"/>
      <p:bldP spid="558084" grpId="0"/>
      <p:bldP spid="558085"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1"/>
          <p:cNvSpPr txBox="1">
            <a:spLocks noGrp="1"/>
          </p:cNvSpPr>
          <p:nvPr>
            <p:ph type="dt" sz="half" idx="10"/>
          </p:nvPr>
        </p:nvSpPr>
        <p:spPr bwMode="auto">
          <a:prstGeom prst="rect">
            <a:avLst/>
          </a:prstGeom>
          <a:noFill/>
          <a:ln>
            <a:noFill/>
            <a:miter lim="800000"/>
          </a:ln>
        </p:spPr>
        <p:txBody>
          <a:bodyPr lIns="91436" tIns="45718" rIns="91436" bIns="45718"/>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300" b="0" i="0" u="none" strike="noStrike" kern="1200" cap="none" spc="0" normalizeH="0" baseline="0" noProof="0">
                <a:ln>
                  <a:noFill/>
                </a:ln>
                <a:solidFill>
                  <a:schemeClr val="tx1"/>
                </a:solidFill>
                <a:effectLst/>
                <a:uLnTx/>
                <a:uFillTx/>
                <a:latin typeface="+mn-lt"/>
                <a:ea typeface="宋体" panose="02010600030101010101" pitchFamily="2" charset="-122"/>
                <a:cs typeface="+mn-cs"/>
              </a:rPr>
              <a:t>Data Structures and algorithms</a:t>
            </a:r>
            <a:endParaRPr kumimoji="0" lang="en-US" altLang="zh-CN" sz="13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3795" name="Rectangle 4"/>
          <p:cNvSpPr/>
          <p:nvPr/>
        </p:nvSpPr>
        <p:spPr>
          <a:xfrm>
            <a:off x="304800" y="2057400"/>
            <a:ext cx="8534400" cy="2678113"/>
          </a:xfrm>
          <a:prstGeom prst="rect">
            <a:avLst/>
          </a:prstGeom>
          <a:noFill/>
          <a:ln w="9525">
            <a:noFill/>
          </a:ln>
        </p:spPr>
        <p:txBody>
          <a:bodyPr>
            <a:spAutoFit/>
          </a:bodyPr>
          <a:lstStyle/>
          <a:p>
            <a:pPr lvl="1" eaLnBrk="1" latinLnBrk="1" hangingPunct="1">
              <a:spcBef>
                <a:spcPct val="50000"/>
              </a:spcBef>
              <a:buSzPct val="60000"/>
              <a:buFont typeface="Wingdings" panose="05000000000000000000" pitchFamily="2" charset="2"/>
              <a:buNone/>
            </a:pPr>
            <a:r>
              <a:rPr lang="zh-CN" altLang="en-US" sz="2400" b="1" dirty="0">
                <a:solidFill>
                  <a:srgbClr val="000000"/>
                </a:solidFill>
                <a:latin typeface="Courier New" panose="02070309020205020404" pitchFamily="49" charset="0"/>
                <a:ea typeface="楷体_GB2312" panose="02010609030101010101" pitchFamily="49" charset="-122"/>
              </a:rPr>
              <a:t>例如：</a:t>
            </a:r>
            <a:r>
              <a:rPr lang="en-US" altLang="zh-CN" sz="2400" b="1" dirty="0">
                <a:solidFill>
                  <a:srgbClr val="000000"/>
                </a:solidFill>
                <a:latin typeface="Courier New" panose="02070309020205020404" pitchFamily="49" charset="0"/>
                <a:ea typeface="楷体_GB2312" panose="02010609030101010101" pitchFamily="49" charset="-122"/>
              </a:rPr>
              <a:t>S={D,R},D={a,b,c,d,e,f,g}</a:t>
            </a:r>
            <a:endParaRPr lang="en-US" altLang="zh-CN" sz="2400" b="1" dirty="0">
              <a:solidFill>
                <a:srgbClr val="000000"/>
              </a:solidFill>
              <a:latin typeface="Courier New" panose="02070309020205020404" pitchFamily="49" charset="0"/>
              <a:ea typeface="楷体_GB2312" panose="02010609030101010101" pitchFamily="49" charset="-122"/>
            </a:endParaRPr>
          </a:p>
          <a:p>
            <a:pPr lvl="1" eaLnBrk="1" latinLnBrk="1" hangingPunct="1">
              <a:spcBef>
                <a:spcPct val="50000"/>
              </a:spcBef>
              <a:buSzPct val="60000"/>
              <a:buFont typeface="Wingdings" panose="05000000000000000000" pitchFamily="2" charset="2"/>
              <a:buNone/>
            </a:pPr>
            <a:r>
              <a:rPr lang="en-US" altLang="zh-CN" sz="2400" b="1" dirty="0">
                <a:solidFill>
                  <a:srgbClr val="000000"/>
                </a:solidFill>
                <a:latin typeface="Courier New" panose="02070309020205020404" pitchFamily="49" charset="0"/>
                <a:ea typeface="楷体_GB2312" panose="02010609030101010101" pitchFamily="49" charset="-122"/>
              </a:rPr>
              <a:t>	R1={φ}</a:t>
            </a:r>
            <a:endParaRPr lang="en-US" altLang="zh-CN" sz="2400" b="1" dirty="0">
              <a:solidFill>
                <a:srgbClr val="000000"/>
              </a:solidFill>
              <a:latin typeface="Courier New" panose="02070309020205020404" pitchFamily="49" charset="0"/>
              <a:ea typeface="楷体_GB2312" panose="02010609030101010101" pitchFamily="49" charset="-122"/>
            </a:endParaRPr>
          </a:p>
          <a:p>
            <a:pPr lvl="1" eaLnBrk="1" latinLnBrk="1" hangingPunct="1">
              <a:spcBef>
                <a:spcPct val="50000"/>
              </a:spcBef>
              <a:buSzPct val="60000"/>
              <a:buFont typeface="Wingdings" panose="05000000000000000000" pitchFamily="2" charset="2"/>
              <a:buNone/>
            </a:pPr>
            <a:r>
              <a:rPr lang="en-US" altLang="zh-CN" sz="2400" b="1" dirty="0">
                <a:solidFill>
                  <a:srgbClr val="000000"/>
                </a:solidFill>
                <a:latin typeface="Courier New" panose="02070309020205020404" pitchFamily="49" charset="0"/>
                <a:ea typeface="楷体_GB2312" panose="02010609030101010101" pitchFamily="49" charset="-122"/>
              </a:rPr>
              <a:t>	R2={&lt;a,b&gt;,&lt;b,c&gt;,&lt;c,d&gt;,&lt;d,e&gt;,&lt;e,f&gt;,&lt;f,g&gt;}</a:t>
            </a:r>
            <a:endParaRPr lang="en-US" altLang="zh-CN" sz="2400" b="1" dirty="0">
              <a:solidFill>
                <a:srgbClr val="000000"/>
              </a:solidFill>
              <a:latin typeface="Courier New" panose="02070309020205020404" pitchFamily="49" charset="0"/>
              <a:ea typeface="楷体_GB2312" panose="02010609030101010101" pitchFamily="49" charset="-122"/>
            </a:endParaRPr>
          </a:p>
          <a:p>
            <a:pPr lvl="1" eaLnBrk="1" latinLnBrk="1" hangingPunct="1">
              <a:spcBef>
                <a:spcPct val="50000"/>
              </a:spcBef>
              <a:buSzPct val="60000"/>
              <a:buFont typeface="Wingdings" panose="05000000000000000000" pitchFamily="2" charset="2"/>
              <a:buNone/>
            </a:pPr>
            <a:r>
              <a:rPr lang="en-US" altLang="zh-CN" sz="2400" b="1" dirty="0">
                <a:solidFill>
                  <a:srgbClr val="000000"/>
                </a:solidFill>
                <a:latin typeface="Courier New" panose="02070309020205020404" pitchFamily="49" charset="0"/>
                <a:ea typeface="楷体_GB2312" panose="02010609030101010101" pitchFamily="49" charset="-122"/>
              </a:rPr>
              <a:t>	R3={&lt;a,b&gt;,&lt;a,c&gt;,&lt;a,d&gt;,&lt;b,e&gt;,&lt;b,f&gt;,&lt;c,g&gt;}</a:t>
            </a:r>
            <a:endParaRPr lang="en-US" altLang="zh-CN" sz="2400" b="1" dirty="0">
              <a:solidFill>
                <a:srgbClr val="000000"/>
              </a:solidFill>
              <a:latin typeface="Courier New" panose="02070309020205020404" pitchFamily="49" charset="0"/>
              <a:ea typeface="楷体_GB2312" panose="02010609030101010101" pitchFamily="49" charset="-122"/>
            </a:endParaRPr>
          </a:p>
          <a:p>
            <a:pPr lvl="1" eaLnBrk="1" latinLnBrk="1" hangingPunct="1">
              <a:spcBef>
                <a:spcPct val="50000"/>
              </a:spcBef>
              <a:buSzPct val="60000"/>
              <a:buFont typeface="Wingdings" panose="05000000000000000000" pitchFamily="2" charset="2"/>
              <a:buNone/>
            </a:pPr>
            <a:r>
              <a:rPr lang="en-US" altLang="zh-CN" sz="2400" b="1" dirty="0">
                <a:solidFill>
                  <a:srgbClr val="000000"/>
                </a:solidFill>
                <a:latin typeface="Courier New" panose="02070309020205020404" pitchFamily="49" charset="0"/>
                <a:ea typeface="楷体_GB2312" panose="02010609030101010101" pitchFamily="49" charset="-122"/>
              </a:rPr>
              <a:t>	R4={&lt;a,e&gt;,&lt;b,c&gt;,&lt;c,a&gt;,&lt;e,f&gt;,&lt;f,g&gt;,&lt;c,f&gt;}</a:t>
            </a:r>
            <a:endParaRPr lang="en-US" altLang="zh-CN" sz="2400" b="1" dirty="0">
              <a:solidFill>
                <a:srgbClr val="000000"/>
              </a:solidFill>
              <a:latin typeface="Courier New" panose="02070309020205020404" pitchFamily="49" charset="0"/>
              <a:ea typeface="楷体_GB2312" panose="02010609030101010101" pitchFamily="49" charset="-122"/>
            </a:endParaRPr>
          </a:p>
        </p:txBody>
      </p:sp>
      <p:sp>
        <p:nvSpPr>
          <p:cNvPr id="33796" name="Text Box 5"/>
          <p:cNvSpPr txBox="1"/>
          <p:nvPr/>
        </p:nvSpPr>
        <p:spPr>
          <a:xfrm>
            <a:off x="1114425" y="260350"/>
            <a:ext cx="4105275" cy="519113"/>
          </a:xfrm>
          <a:prstGeom prst="rect">
            <a:avLst/>
          </a:prstGeom>
          <a:noFill/>
          <a:ln w="9525">
            <a:noFill/>
          </a:ln>
        </p:spPr>
        <p:txBody>
          <a:bodyPr>
            <a:spAutoFit/>
          </a:bodyPr>
          <a:lstStyle/>
          <a:p>
            <a:pPr latinLnBrk="1">
              <a:spcBef>
                <a:spcPct val="50000"/>
              </a:spcBef>
            </a:pPr>
            <a:r>
              <a:rPr lang="en-US" altLang="zh-CN" sz="2800" b="1" dirty="0">
                <a:solidFill>
                  <a:schemeClr val="bg1"/>
                </a:solidFill>
                <a:latin typeface="黑体" panose="02010609060101010101" pitchFamily="2" charset="-122"/>
                <a:ea typeface="黑体" panose="02010609060101010101" pitchFamily="2" charset="-122"/>
              </a:rPr>
              <a:t>1.2 </a:t>
            </a:r>
            <a:r>
              <a:rPr lang="zh-CN" altLang="en-US" sz="2800" b="1" dirty="0">
                <a:solidFill>
                  <a:schemeClr val="bg1"/>
                </a:solidFill>
                <a:latin typeface="黑体" panose="02010609060101010101" pitchFamily="2" charset="-122"/>
                <a:ea typeface="黑体" panose="02010609060101010101" pitchFamily="2" charset="-122"/>
              </a:rPr>
              <a:t>基本概念与术语</a:t>
            </a:r>
            <a:endParaRPr lang="zh-CN" altLang="en-US" sz="2800" b="1" dirty="0">
              <a:solidFill>
                <a:schemeClr val="bg1"/>
              </a:solidFill>
              <a:latin typeface="黑体" panose="02010609060101010101" pitchFamily="2" charset="-122"/>
              <a:ea typeface="黑体" panose="02010609060101010101" pitchFamily="2" charset="-122"/>
            </a:endParaRPr>
          </a:p>
        </p:txBody>
      </p:sp>
      <p:sp>
        <p:nvSpPr>
          <p:cNvPr id="2" name="页脚占位符 1"/>
          <p:cNvSpPr>
            <a:spLocks noGrp="1"/>
          </p:cNvSpPr>
          <p:nvPr>
            <p:ph type="ftr" sz="quarter" idx="11"/>
          </p:nvPr>
        </p:nvSpPr>
        <p:spPr/>
        <p:txBody>
          <a:bodyPr/>
          <a:lstStyle/>
          <a:p>
            <a:r>
              <a:rPr lang="en-US" altLang="zh-CN"/>
              <a:t>Software College Northeastern University</a:t>
            </a:r>
            <a:endParaRPr lang="zh-CN" altLang="en-US"/>
          </a:p>
        </p:txBody>
      </p:sp>
      <p:sp>
        <p:nvSpPr>
          <p:cNvPr id="3" name="灯片编号占位符 2"/>
          <p:cNvSpPr>
            <a:spLocks noGrp="1"/>
          </p:cNvSpPr>
          <p:nvPr>
            <p:ph type="sldNum" sz="quarter" idx="12"/>
          </p:nvPr>
        </p:nvSpPr>
        <p:spPr/>
        <p:txBody>
          <a:bodyPr/>
          <a:lstStyle/>
          <a:p>
            <a:fld id="{6E1C0148-8E4B-4B2F-95CE-20B4709700AE}" type="slidenum">
              <a:rPr lang="zh-CN" altLang="en-US" smtClean="0"/>
            </a:fld>
            <a:endParaRPr lang="zh-CN"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818" name="Group 76"/>
          <p:cNvGrpSpPr/>
          <p:nvPr/>
        </p:nvGrpSpPr>
        <p:grpSpPr>
          <a:xfrm>
            <a:off x="990600" y="1157288"/>
            <a:ext cx="2514600" cy="1752600"/>
            <a:chOff x="624" y="729"/>
            <a:chExt cx="1584" cy="1104"/>
          </a:xfrm>
        </p:grpSpPr>
        <p:sp>
          <p:nvSpPr>
            <p:cNvPr id="34886" name="Oval 2"/>
            <p:cNvSpPr/>
            <p:nvPr/>
          </p:nvSpPr>
          <p:spPr>
            <a:xfrm>
              <a:off x="624" y="729"/>
              <a:ext cx="1584" cy="1104"/>
            </a:xfrm>
            <a:prstGeom prst="ellipse">
              <a:avLst/>
            </a:prstGeom>
            <a:noFill/>
            <a:ln w="28575" cap="flat" cmpd="sng">
              <a:solidFill>
                <a:srgbClr val="008000"/>
              </a:solidFill>
              <a:prstDash val="solid"/>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34887" name="Text Box 4"/>
            <p:cNvSpPr txBox="1"/>
            <p:nvPr/>
          </p:nvSpPr>
          <p:spPr>
            <a:xfrm>
              <a:off x="960" y="1017"/>
              <a:ext cx="192" cy="288"/>
            </a:xfrm>
            <a:prstGeom prst="rect">
              <a:avLst/>
            </a:prstGeom>
            <a:noFill/>
            <a:ln w="9525">
              <a:noFill/>
            </a:ln>
          </p:spPr>
          <p:txBody>
            <a:bodyPr>
              <a:spAutoFit/>
            </a:bodyPr>
            <a:lstStyle/>
            <a:p>
              <a:pPr latinLnBrk="1"/>
              <a:r>
                <a:rPr lang="en-US" altLang="zh-CN" sz="2400" b="1" dirty="0">
                  <a:solidFill>
                    <a:srgbClr val="FF0000"/>
                  </a:solidFill>
                  <a:latin typeface="Courier New" panose="02070309020205020404" pitchFamily="49" charset="0"/>
                  <a:ea typeface="굴림" panose="020B0600000101010101" pitchFamily="34" charset="-127"/>
                </a:rPr>
                <a:t>a</a:t>
              </a:r>
              <a:endParaRPr lang="en-US" altLang="zh-CN" sz="2400" b="1" dirty="0">
                <a:solidFill>
                  <a:srgbClr val="FF0000"/>
                </a:solidFill>
                <a:latin typeface="Courier New" panose="02070309020205020404" pitchFamily="49" charset="0"/>
                <a:ea typeface="굴림" panose="020B0600000101010101" pitchFamily="34" charset="-127"/>
              </a:endParaRPr>
            </a:p>
          </p:txBody>
        </p:sp>
        <p:sp>
          <p:nvSpPr>
            <p:cNvPr id="34888" name="Text Box 5"/>
            <p:cNvSpPr txBox="1"/>
            <p:nvPr/>
          </p:nvSpPr>
          <p:spPr>
            <a:xfrm>
              <a:off x="1248" y="921"/>
              <a:ext cx="288" cy="288"/>
            </a:xfrm>
            <a:prstGeom prst="rect">
              <a:avLst/>
            </a:prstGeom>
            <a:noFill/>
            <a:ln w="9525">
              <a:noFill/>
            </a:ln>
          </p:spPr>
          <p:txBody>
            <a:bodyPr>
              <a:spAutoFit/>
            </a:bodyPr>
            <a:lstStyle/>
            <a:p>
              <a:pPr latinLnBrk="1"/>
              <a:r>
                <a:rPr lang="en-US" altLang="zh-CN" sz="2400" b="1" dirty="0">
                  <a:solidFill>
                    <a:srgbClr val="FF0000"/>
                  </a:solidFill>
                  <a:latin typeface="Courier New" panose="02070309020205020404" pitchFamily="49" charset="0"/>
                  <a:ea typeface="굴림" panose="020B0600000101010101" pitchFamily="34" charset="-127"/>
                </a:rPr>
                <a:t>b</a:t>
              </a:r>
              <a:endParaRPr lang="en-US" altLang="zh-CN" sz="2400" b="1" dirty="0">
                <a:solidFill>
                  <a:srgbClr val="FF0000"/>
                </a:solidFill>
                <a:latin typeface="Courier New" panose="02070309020205020404" pitchFamily="49" charset="0"/>
                <a:ea typeface="굴림" panose="020B0600000101010101" pitchFamily="34" charset="-127"/>
              </a:endParaRPr>
            </a:p>
          </p:txBody>
        </p:sp>
        <p:sp>
          <p:nvSpPr>
            <p:cNvPr id="34889" name="Text Box 6"/>
            <p:cNvSpPr txBox="1"/>
            <p:nvPr/>
          </p:nvSpPr>
          <p:spPr>
            <a:xfrm>
              <a:off x="1008" y="1257"/>
              <a:ext cx="192" cy="288"/>
            </a:xfrm>
            <a:prstGeom prst="rect">
              <a:avLst/>
            </a:prstGeom>
            <a:noFill/>
            <a:ln w="9525">
              <a:noFill/>
            </a:ln>
          </p:spPr>
          <p:txBody>
            <a:bodyPr>
              <a:spAutoFit/>
            </a:bodyPr>
            <a:lstStyle/>
            <a:p>
              <a:pPr latinLnBrk="1"/>
              <a:r>
                <a:rPr lang="en-US" altLang="zh-CN" sz="2400" b="1" dirty="0">
                  <a:solidFill>
                    <a:srgbClr val="FF0000"/>
                  </a:solidFill>
                  <a:latin typeface="Courier New" panose="02070309020205020404" pitchFamily="49" charset="0"/>
                  <a:ea typeface="굴림" panose="020B0600000101010101" pitchFamily="34" charset="-127"/>
                </a:rPr>
                <a:t>c</a:t>
              </a:r>
              <a:endParaRPr lang="en-US" altLang="zh-CN" sz="2400" b="1" dirty="0">
                <a:solidFill>
                  <a:srgbClr val="FF0000"/>
                </a:solidFill>
                <a:latin typeface="Courier New" panose="02070309020205020404" pitchFamily="49" charset="0"/>
                <a:ea typeface="굴림" panose="020B0600000101010101" pitchFamily="34" charset="-127"/>
              </a:endParaRPr>
            </a:p>
          </p:txBody>
        </p:sp>
        <p:sp>
          <p:nvSpPr>
            <p:cNvPr id="34890" name="Text Box 7"/>
            <p:cNvSpPr txBox="1"/>
            <p:nvPr/>
          </p:nvSpPr>
          <p:spPr>
            <a:xfrm>
              <a:off x="1536" y="1257"/>
              <a:ext cx="192" cy="288"/>
            </a:xfrm>
            <a:prstGeom prst="rect">
              <a:avLst/>
            </a:prstGeom>
            <a:noFill/>
            <a:ln w="9525">
              <a:noFill/>
            </a:ln>
          </p:spPr>
          <p:txBody>
            <a:bodyPr>
              <a:spAutoFit/>
            </a:bodyPr>
            <a:lstStyle/>
            <a:p>
              <a:pPr latinLnBrk="1"/>
              <a:r>
                <a:rPr lang="en-US" altLang="zh-CN" sz="2400" b="1" dirty="0">
                  <a:solidFill>
                    <a:srgbClr val="FF0000"/>
                  </a:solidFill>
                  <a:latin typeface="Courier New" panose="02070309020205020404" pitchFamily="49" charset="0"/>
                  <a:ea typeface="굴림" panose="020B0600000101010101" pitchFamily="34" charset="-127"/>
                </a:rPr>
                <a:t>e</a:t>
              </a:r>
              <a:endParaRPr lang="en-US" altLang="zh-CN" sz="2400" b="1" dirty="0">
                <a:solidFill>
                  <a:srgbClr val="FF0000"/>
                </a:solidFill>
                <a:latin typeface="Courier New" panose="02070309020205020404" pitchFamily="49" charset="0"/>
                <a:ea typeface="굴림" panose="020B0600000101010101" pitchFamily="34" charset="-127"/>
              </a:endParaRPr>
            </a:p>
          </p:txBody>
        </p:sp>
        <p:sp>
          <p:nvSpPr>
            <p:cNvPr id="34891" name="Text Box 8"/>
            <p:cNvSpPr txBox="1"/>
            <p:nvPr/>
          </p:nvSpPr>
          <p:spPr>
            <a:xfrm>
              <a:off x="1344" y="1497"/>
              <a:ext cx="192" cy="288"/>
            </a:xfrm>
            <a:prstGeom prst="rect">
              <a:avLst/>
            </a:prstGeom>
            <a:noFill/>
            <a:ln w="9525">
              <a:noFill/>
            </a:ln>
          </p:spPr>
          <p:txBody>
            <a:bodyPr>
              <a:spAutoFit/>
            </a:bodyPr>
            <a:lstStyle/>
            <a:p>
              <a:pPr latinLnBrk="1"/>
              <a:r>
                <a:rPr lang="en-US" altLang="zh-CN" sz="2400" b="1" dirty="0">
                  <a:solidFill>
                    <a:srgbClr val="FF0000"/>
                  </a:solidFill>
                  <a:latin typeface="Courier New" panose="02070309020205020404" pitchFamily="49" charset="0"/>
                  <a:ea typeface="굴림" panose="020B0600000101010101" pitchFamily="34" charset="-127"/>
                </a:rPr>
                <a:t>f</a:t>
              </a:r>
              <a:endParaRPr lang="en-US" altLang="zh-CN" sz="2400" b="1" dirty="0">
                <a:solidFill>
                  <a:srgbClr val="FF0000"/>
                </a:solidFill>
                <a:latin typeface="Courier New" panose="02070309020205020404" pitchFamily="49" charset="0"/>
                <a:ea typeface="굴림" panose="020B0600000101010101" pitchFamily="34" charset="-127"/>
              </a:endParaRPr>
            </a:p>
          </p:txBody>
        </p:sp>
        <p:sp>
          <p:nvSpPr>
            <p:cNvPr id="34892" name="Text Box 9"/>
            <p:cNvSpPr txBox="1"/>
            <p:nvPr/>
          </p:nvSpPr>
          <p:spPr>
            <a:xfrm>
              <a:off x="1632" y="969"/>
              <a:ext cx="288" cy="288"/>
            </a:xfrm>
            <a:prstGeom prst="rect">
              <a:avLst/>
            </a:prstGeom>
            <a:noFill/>
            <a:ln w="9525">
              <a:noFill/>
            </a:ln>
          </p:spPr>
          <p:txBody>
            <a:bodyPr>
              <a:spAutoFit/>
            </a:bodyPr>
            <a:lstStyle/>
            <a:p>
              <a:pPr latinLnBrk="1"/>
              <a:r>
                <a:rPr lang="en-US" altLang="zh-CN" sz="2400" b="1" dirty="0">
                  <a:solidFill>
                    <a:srgbClr val="FF0000"/>
                  </a:solidFill>
                  <a:latin typeface="Courier New" panose="02070309020205020404" pitchFamily="49" charset="0"/>
                  <a:ea typeface="굴림" panose="020B0600000101010101" pitchFamily="34" charset="-127"/>
                </a:rPr>
                <a:t>g</a:t>
              </a:r>
              <a:endParaRPr lang="en-US" altLang="zh-CN" sz="2400" b="1" dirty="0">
                <a:solidFill>
                  <a:srgbClr val="FF0000"/>
                </a:solidFill>
                <a:latin typeface="Courier New" panose="02070309020205020404" pitchFamily="49" charset="0"/>
                <a:ea typeface="굴림" panose="020B0600000101010101" pitchFamily="34" charset="-127"/>
              </a:endParaRPr>
            </a:p>
          </p:txBody>
        </p:sp>
      </p:grpSp>
      <p:sp>
        <p:nvSpPr>
          <p:cNvPr id="34819" name="Text Box 10"/>
          <p:cNvSpPr txBox="1"/>
          <p:nvPr/>
        </p:nvSpPr>
        <p:spPr>
          <a:xfrm>
            <a:off x="1619250" y="3068638"/>
            <a:ext cx="2089150" cy="457200"/>
          </a:xfrm>
          <a:prstGeom prst="rect">
            <a:avLst/>
          </a:prstGeom>
          <a:noFill/>
          <a:ln w="9525">
            <a:noFill/>
          </a:ln>
        </p:spPr>
        <p:txBody>
          <a:bodyPr>
            <a:spAutoFit/>
          </a:bodyPr>
          <a:lstStyle/>
          <a:p>
            <a:pPr latinLnBrk="1"/>
            <a:r>
              <a:rPr lang="en-US" altLang="zh-CN" sz="2400" b="1" dirty="0">
                <a:solidFill>
                  <a:srgbClr val="003399"/>
                </a:solidFill>
                <a:latin typeface="Courier New" panose="02070309020205020404" pitchFamily="49" charset="0"/>
                <a:ea typeface="楷体_GB2312" panose="02010609030101010101" pitchFamily="49" charset="-122"/>
              </a:rPr>
              <a:t>S1-</a:t>
            </a:r>
            <a:r>
              <a:rPr lang="zh-CN" altLang="en-US" sz="2400" b="1" dirty="0">
                <a:solidFill>
                  <a:srgbClr val="003399"/>
                </a:solidFill>
                <a:latin typeface="Courier New" panose="02070309020205020404" pitchFamily="49" charset="0"/>
                <a:ea typeface="楷体_GB2312" panose="02010609030101010101" pitchFamily="49" charset="-122"/>
              </a:rPr>
              <a:t>集合</a:t>
            </a:r>
            <a:endParaRPr lang="zh-CN" altLang="en-US" sz="2400" b="1" dirty="0">
              <a:solidFill>
                <a:srgbClr val="003399"/>
              </a:solidFill>
              <a:latin typeface="Courier New" panose="02070309020205020404" pitchFamily="49" charset="0"/>
              <a:ea typeface="楷体_GB2312" panose="02010609030101010101" pitchFamily="49" charset="-122"/>
            </a:endParaRPr>
          </a:p>
        </p:txBody>
      </p:sp>
      <p:sp>
        <p:nvSpPr>
          <p:cNvPr id="34820" name="Text Box 25"/>
          <p:cNvSpPr txBox="1"/>
          <p:nvPr/>
        </p:nvSpPr>
        <p:spPr>
          <a:xfrm>
            <a:off x="5724525" y="3068638"/>
            <a:ext cx="2081213" cy="457200"/>
          </a:xfrm>
          <a:prstGeom prst="rect">
            <a:avLst/>
          </a:prstGeom>
          <a:noFill/>
          <a:ln w="9525">
            <a:noFill/>
          </a:ln>
        </p:spPr>
        <p:txBody>
          <a:bodyPr wrap="none">
            <a:spAutoFit/>
          </a:bodyPr>
          <a:lstStyle/>
          <a:p>
            <a:pPr latinLnBrk="1"/>
            <a:r>
              <a:rPr lang="en-US" altLang="zh-CN" sz="2400" b="1" dirty="0">
                <a:solidFill>
                  <a:srgbClr val="003399"/>
                </a:solidFill>
                <a:latin typeface="Courier New" panose="02070309020205020404" pitchFamily="49" charset="0"/>
                <a:ea typeface="楷体_GB2312" panose="02010609030101010101" pitchFamily="49" charset="-122"/>
              </a:rPr>
              <a:t>S2</a:t>
            </a:r>
            <a:r>
              <a:rPr lang="zh-CN" altLang="en-US" sz="2400" b="1" dirty="0">
                <a:solidFill>
                  <a:srgbClr val="003399"/>
                </a:solidFill>
                <a:latin typeface="Courier New" panose="02070309020205020404" pitchFamily="49" charset="0"/>
                <a:ea typeface="楷体_GB2312" panose="02010609030101010101" pitchFamily="49" charset="-122"/>
              </a:rPr>
              <a:t>－线性结构</a:t>
            </a:r>
            <a:endParaRPr lang="zh-CN" altLang="en-US" sz="2400" b="1" dirty="0">
              <a:solidFill>
                <a:srgbClr val="003399"/>
              </a:solidFill>
              <a:latin typeface="Courier New" panose="02070309020205020404" pitchFamily="49" charset="0"/>
              <a:ea typeface="楷体_GB2312" panose="02010609030101010101" pitchFamily="49" charset="-122"/>
            </a:endParaRPr>
          </a:p>
        </p:txBody>
      </p:sp>
      <p:grpSp>
        <p:nvGrpSpPr>
          <p:cNvPr id="34821" name="Group 78"/>
          <p:cNvGrpSpPr/>
          <p:nvPr/>
        </p:nvGrpSpPr>
        <p:grpSpPr>
          <a:xfrm>
            <a:off x="4572000" y="1462088"/>
            <a:ext cx="3836988" cy="533400"/>
            <a:chOff x="2880" y="921"/>
            <a:chExt cx="2417" cy="336"/>
          </a:xfrm>
        </p:grpSpPr>
        <p:sp>
          <p:nvSpPr>
            <p:cNvPr id="34866" name="Text Box 11"/>
            <p:cNvSpPr txBox="1"/>
            <p:nvPr/>
          </p:nvSpPr>
          <p:spPr>
            <a:xfrm>
              <a:off x="2880" y="969"/>
              <a:ext cx="192" cy="288"/>
            </a:xfrm>
            <a:prstGeom prst="rect">
              <a:avLst/>
            </a:prstGeom>
            <a:noFill/>
            <a:ln w="9525">
              <a:noFill/>
            </a:ln>
          </p:spPr>
          <p:txBody>
            <a:bodyPr>
              <a:spAutoFit/>
            </a:bodyPr>
            <a:lstStyle/>
            <a:p>
              <a:pPr latinLnBrk="1"/>
              <a:r>
                <a:rPr lang="en-US" altLang="zh-CN" sz="2400" b="1" dirty="0">
                  <a:solidFill>
                    <a:srgbClr val="FF0000"/>
                  </a:solidFill>
                  <a:latin typeface="Courier New" panose="02070309020205020404" pitchFamily="49" charset="0"/>
                  <a:ea typeface="굴림" panose="020B0600000101010101" pitchFamily="34" charset="-127"/>
                </a:rPr>
                <a:t>a</a:t>
              </a:r>
              <a:endParaRPr lang="en-US" altLang="zh-CN" sz="2400" b="1" dirty="0">
                <a:solidFill>
                  <a:srgbClr val="FF0000"/>
                </a:solidFill>
                <a:latin typeface="Courier New" panose="02070309020205020404" pitchFamily="49" charset="0"/>
                <a:ea typeface="굴림" panose="020B0600000101010101" pitchFamily="34" charset="-127"/>
              </a:endParaRPr>
            </a:p>
          </p:txBody>
        </p:sp>
        <p:sp>
          <p:nvSpPr>
            <p:cNvPr id="34867" name="Text Box 12"/>
            <p:cNvSpPr txBox="1"/>
            <p:nvPr/>
          </p:nvSpPr>
          <p:spPr>
            <a:xfrm>
              <a:off x="3264" y="969"/>
              <a:ext cx="288" cy="288"/>
            </a:xfrm>
            <a:prstGeom prst="rect">
              <a:avLst/>
            </a:prstGeom>
            <a:noFill/>
            <a:ln w="9525">
              <a:noFill/>
            </a:ln>
          </p:spPr>
          <p:txBody>
            <a:bodyPr>
              <a:spAutoFit/>
            </a:bodyPr>
            <a:lstStyle/>
            <a:p>
              <a:pPr latinLnBrk="1"/>
              <a:r>
                <a:rPr lang="en-US" altLang="zh-CN" sz="2400" b="1" dirty="0">
                  <a:solidFill>
                    <a:srgbClr val="FF0000"/>
                  </a:solidFill>
                  <a:latin typeface="Courier New" panose="02070309020205020404" pitchFamily="49" charset="0"/>
                </a:rPr>
                <a:t>b</a:t>
              </a:r>
              <a:endParaRPr lang="en-US" altLang="zh-CN" sz="2400" b="1" dirty="0">
                <a:solidFill>
                  <a:srgbClr val="FF0000"/>
                </a:solidFill>
                <a:latin typeface="Courier New" panose="02070309020205020404" pitchFamily="49" charset="0"/>
              </a:endParaRPr>
            </a:p>
          </p:txBody>
        </p:sp>
        <p:sp>
          <p:nvSpPr>
            <p:cNvPr id="34868" name="Text Box 13"/>
            <p:cNvSpPr txBox="1"/>
            <p:nvPr/>
          </p:nvSpPr>
          <p:spPr>
            <a:xfrm>
              <a:off x="3696" y="969"/>
              <a:ext cx="288" cy="288"/>
            </a:xfrm>
            <a:prstGeom prst="rect">
              <a:avLst/>
            </a:prstGeom>
            <a:noFill/>
            <a:ln w="9525">
              <a:noFill/>
            </a:ln>
          </p:spPr>
          <p:txBody>
            <a:bodyPr>
              <a:spAutoFit/>
            </a:bodyPr>
            <a:lstStyle/>
            <a:p>
              <a:pPr latinLnBrk="1"/>
              <a:r>
                <a:rPr lang="en-US" altLang="zh-CN" sz="2400" b="1" dirty="0">
                  <a:solidFill>
                    <a:srgbClr val="FF0000"/>
                  </a:solidFill>
                  <a:latin typeface="Courier New" panose="02070309020205020404" pitchFamily="49" charset="0"/>
                  <a:ea typeface="굴림" panose="020B0600000101010101" pitchFamily="34" charset="-127"/>
                </a:rPr>
                <a:t>c</a:t>
              </a:r>
              <a:endParaRPr lang="en-US" altLang="zh-CN" sz="2400" b="1" dirty="0">
                <a:solidFill>
                  <a:srgbClr val="FF0000"/>
                </a:solidFill>
                <a:latin typeface="Courier New" panose="02070309020205020404" pitchFamily="49" charset="0"/>
                <a:ea typeface="굴림" panose="020B0600000101010101" pitchFamily="34" charset="-127"/>
              </a:endParaRPr>
            </a:p>
          </p:txBody>
        </p:sp>
        <p:sp>
          <p:nvSpPr>
            <p:cNvPr id="34869" name="Text Box 14"/>
            <p:cNvSpPr txBox="1"/>
            <p:nvPr/>
          </p:nvSpPr>
          <p:spPr>
            <a:xfrm>
              <a:off x="4014" y="969"/>
              <a:ext cx="288" cy="288"/>
            </a:xfrm>
            <a:prstGeom prst="rect">
              <a:avLst/>
            </a:prstGeom>
            <a:noFill/>
            <a:ln w="9525">
              <a:noFill/>
            </a:ln>
          </p:spPr>
          <p:txBody>
            <a:bodyPr>
              <a:spAutoFit/>
            </a:bodyPr>
            <a:lstStyle/>
            <a:p>
              <a:pPr latinLnBrk="1"/>
              <a:r>
                <a:rPr lang="en-US" altLang="zh-CN" sz="2400" b="1" dirty="0">
                  <a:solidFill>
                    <a:srgbClr val="FF0000"/>
                  </a:solidFill>
                  <a:latin typeface="Courier New" panose="02070309020205020404" pitchFamily="49" charset="0"/>
                  <a:ea typeface="굴림" panose="020B0600000101010101" pitchFamily="34" charset="-127"/>
                </a:rPr>
                <a:t>d</a:t>
              </a:r>
              <a:endParaRPr lang="en-US" altLang="zh-CN" sz="2400" b="1" dirty="0">
                <a:solidFill>
                  <a:srgbClr val="FF0000"/>
                </a:solidFill>
                <a:latin typeface="Courier New" panose="02070309020205020404" pitchFamily="49" charset="0"/>
                <a:ea typeface="굴림" panose="020B0600000101010101" pitchFamily="34" charset="-127"/>
              </a:endParaRPr>
            </a:p>
          </p:txBody>
        </p:sp>
        <p:sp>
          <p:nvSpPr>
            <p:cNvPr id="34870" name="Text Box 15"/>
            <p:cNvSpPr txBox="1"/>
            <p:nvPr/>
          </p:nvSpPr>
          <p:spPr>
            <a:xfrm>
              <a:off x="4377" y="969"/>
              <a:ext cx="240" cy="288"/>
            </a:xfrm>
            <a:prstGeom prst="rect">
              <a:avLst/>
            </a:prstGeom>
            <a:noFill/>
            <a:ln w="9525">
              <a:noFill/>
            </a:ln>
          </p:spPr>
          <p:txBody>
            <a:bodyPr>
              <a:spAutoFit/>
            </a:bodyPr>
            <a:lstStyle/>
            <a:p>
              <a:pPr latinLnBrk="1"/>
              <a:r>
                <a:rPr lang="en-US" altLang="zh-CN" sz="2400" b="1" dirty="0">
                  <a:solidFill>
                    <a:srgbClr val="FF0000"/>
                  </a:solidFill>
                  <a:latin typeface="Courier New" panose="02070309020205020404" pitchFamily="49" charset="0"/>
                  <a:ea typeface="굴림" panose="020B0600000101010101" pitchFamily="34" charset="-127"/>
                </a:rPr>
                <a:t>e</a:t>
              </a:r>
              <a:endParaRPr lang="en-US" altLang="zh-CN" sz="2400" b="1" dirty="0">
                <a:solidFill>
                  <a:srgbClr val="FF0000"/>
                </a:solidFill>
                <a:latin typeface="Courier New" panose="02070309020205020404" pitchFamily="49" charset="0"/>
                <a:ea typeface="굴림" panose="020B0600000101010101" pitchFamily="34" charset="-127"/>
              </a:endParaRPr>
            </a:p>
          </p:txBody>
        </p:sp>
        <p:sp>
          <p:nvSpPr>
            <p:cNvPr id="34871" name="Text Box 16"/>
            <p:cNvSpPr txBox="1"/>
            <p:nvPr/>
          </p:nvSpPr>
          <p:spPr>
            <a:xfrm>
              <a:off x="4740" y="969"/>
              <a:ext cx="288" cy="288"/>
            </a:xfrm>
            <a:prstGeom prst="rect">
              <a:avLst/>
            </a:prstGeom>
            <a:noFill/>
            <a:ln w="9525">
              <a:noFill/>
            </a:ln>
          </p:spPr>
          <p:txBody>
            <a:bodyPr>
              <a:spAutoFit/>
            </a:bodyPr>
            <a:lstStyle/>
            <a:p>
              <a:pPr latinLnBrk="1"/>
              <a:r>
                <a:rPr lang="en-US" altLang="zh-CN" sz="2400" b="1" dirty="0">
                  <a:solidFill>
                    <a:srgbClr val="FF0000"/>
                  </a:solidFill>
                  <a:latin typeface="Courier New" panose="02070309020205020404" pitchFamily="49" charset="0"/>
                  <a:ea typeface="굴림" panose="020B0600000101010101" pitchFamily="34" charset="-127"/>
                </a:rPr>
                <a:t>f</a:t>
              </a:r>
              <a:endParaRPr lang="en-US" altLang="zh-CN" sz="2400" b="1" dirty="0">
                <a:solidFill>
                  <a:srgbClr val="FF0000"/>
                </a:solidFill>
                <a:latin typeface="Courier New" panose="02070309020205020404" pitchFamily="49" charset="0"/>
                <a:ea typeface="굴림" panose="020B0600000101010101" pitchFamily="34" charset="-127"/>
              </a:endParaRPr>
            </a:p>
          </p:txBody>
        </p:sp>
        <p:sp>
          <p:nvSpPr>
            <p:cNvPr id="34872" name="Text Box 17"/>
            <p:cNvSpPr txBox="1"/>
            <p:nvPr/>
          </p:nvSpPr>
          <p:spPr>
            <a:xfrm>
              <a:off x="5057" y="921"/>
              <a:ext cx="240" cy="288"/>
            </a:xfrm>
            <a:prstGeom prst="rect">
              <a:avLst/>
            </a:prstGeom>
            <a:noFill/>
            <a:ln w="9525">
              <a:noFill/>
            </a:ln>
          </p:spPr>
          <p:txBody>
            <a:bodyPr>
              <a:spAutoFit/>
            </a:bodyPr>
            <a:lstStyle/>
            <a:p>
              <a:pPr latinLnBrk="1"/>
              <a:r>
                <a:rPr lang="en-US" altLang="zh-CN" sz="2400" b="1" dirty="0">
                  <a:solidFill>
                    <a:srgbClr val="FF0000"/>
                  </a:solidFill>
                  <a:latin typeface="Courier New" panose="02070309020205020404" pitchFamily="49" charset="0"/>
                  <a:ea typeface="굴림" panose="020B0600000101010101" pitchFamily="34" charset="-127"/>
                </a:rPr>
                <a:t>g</a:t>
              </a:r>
              <a:endParaRPr lang="en-US" altLang="zh-CN" sz="2400" b="1" dirty="0">
                <a:solidFill>
                  <a:srgbClr val="FF0000"/>
                </a:solidFill>
                <a:latin typeface="Courier New" panose="02070309020205020404" pitchFamily="49" charset="0"/>
                <a:ea typeface="굴림" panose="020B0600000101010101" pitchFamily="34" charset="-127"/>
              </a:endParaRPr>
            </a:p>
          </p:txBody>
        </p:sp>
        <p:sp>
          <p:nvSpPr>
            <p:cNvPr id="34873" name="Line 18"/>
            <p:cNvSpPr/>
            <p:nvPr/>
          </p:nvSpPr>
          <p:spPr>
            <a:xfrm>
              <a:off x="3072" y="1113"/>
              <a:ext cx="240" cy="0"/>
            </a:xfrm>
            <a:prstGeom prst="line">
              <a:avLst/>
            </a:prstGeom>
            <a:ln w="9525" cap="flat" cmpd="sng">
              <a:solidFill>
                <a:schemeClr val="tx1"/>
              </a:solidFill>
              <a:prstDash val="solid"/>
              <a:headEnd type="none" w="med" len="med"/>
              <a:tailEnd type="none" w="med" len="med"/>
            </a:ln>
          </p:spPr>
        </p:sp>
        <p:sp>
          <p:nvSpPr>
            <p:cNvPr id="34874" name="Line 20"/>
            <p:cNvSpPr/>
            <p:nvPr/>
          </p:nvSpPr>
          <p:spPr>
            <a:xfrm>
              <a:off x="3456" y="1113"/>
              <a:ext cx="240" cy="0"/>
            </a:xfrm>
            <a:prstGeom prst="line">
              <a:avLst/>
            </a:prstGeom>
            <a:ln w="9525" cap="flat" cmpd="sng">
              <a:solidFill>
                <a:schemeClr val="tx1"/>
              </a:solidFill>
              <a:prstDash val="solid"/>
              <a:headEnd type="none" w="med" len="med"/>
              <a:tailEnd type="none" w="med" len="med"/>
            </a:ln>
          </p:spPr>
        </p:sp>
        <p:sp>
          <p:nvSpPr>
            <p:cNvPr id="34875" name="Line 21"/>
            <p:cNvSpPr/>
            <p:nvPr/>
          </p:nvSpPr>
          <p:spPr>
            <a:xfrm>
              <a:off x="3840" y="1113"/>
              <a:ext cx="240" cy="0"/>
            </a:xfrm>
            <a:prstGeom prst="line">
              <a:avLst/>
            </a:prstGeom>
            <a:ln w="9525" cap="flat" cmpd="sng">
              <a:solidFill>
                <a:schemeClr val="tx1"/>
              </a:solidFill>
              <a:prstDash val="solid"/>
              <a:headEnd type="none" w="med" len="med"/>
              <a:tailEnd type="none" w="med" len="med"/>
            </a:ln>
          </p:spPr>
        </p:sp>
        <p:sp>
          <p:nvSpPr>
            <p:cNvPr id="34876" name="Line 22"/>
            <p:cNvSpPr/>
            <p:nvPr/>
          </p:nvSpPr>
          <p:spPr>
            <a:xfrm>
              <a:off x="4224" y="1113"/>
              <a:ext cx="240" cy="0"/>
            </a:xfrm>
            <a:prstGeom prst="line">
              <a:avLst/>
            </a:prstGeom>
            <a:ln w="9525" cap="flat" cmpd="sng">
              <a:solidFill>
                <a:schemeClr val="tx1"/>
              </a:solidFill>
              <a:prstDash val="solid"/>
              <a:headEnd type="none" w="med" len="med"/>
              <a:tailEnd type="none" w="med" len="med"/>
            </a:ln>
          </p:spPr>
        </p:sp>
        <p:sp>
          <p:nvSpPr>
            <p:cNvPr id="34877" name="Line 23"/>
            <p:cNvSpPr/>
            <p:nvPr/>
          </p:nvSpPr>
          <p:spPr>
            <a:xfrm>
              <a:off x="4560" y="1113"/>
              <a:ext cx="240" cy="0"/>
            </a:xfrm>
            <a:prstGeom prst="line">
              <a:avLst/>
            </a:prstGeom>
            <a:ln w="9525" cap="flat" cmpd="sng">
              <a:solidFill>
                <a:schemeClr val="tx1"/>
              </a:solidFill>
              <a:prstDash val="solid"/>
              <a:headEnd type="none" w="med" len="med"/>
              <a:tailEnd type="none" w="med" len="med"/>
            </a:ln>
          </p:spPr>
        </p:sp>
        <p:sp>
          <p:nvSpPr>
            <p:cNvPr id="34878" name="Line 24"/>
            <p:cNvSpPr/>
            <p:nvPr/>
          </p:nvSpPr>
          <p:spPr>
            <a:xfrm>
              <a:off x="4896" y="1113"/>
              <a:ext cx="240" cy="0"/>
            </a:xfrm>
            <a:prstGeom prst="line">
              <a:avLst/>
            </a:prstGeom>
            <a:ln w="9525" cap="flat" cmpd="sng">
              <a:solidFill>
                <a:schemeClr val="tx1"/>
              </a:solidFill>
              <a:prstDash val="solid"/>
              <a:headEnd type="none" w="med" len="med"/>
              <a:tailEnd type="none" w="med" len="med"/>
            </a:ln>
          </p:spPr>
        </p:sp>
        <p:sp>
          <p:nvSpPr>
            <p:cNvPr id="34879" name="Oval 28"/>
            <p:cNvSpPr/>
            <p:nvPr/>
          </p:nvSpPr>
          <p:spPr>
            <a:xfrm>
              <a:off x="2880" y="1017"/>
              <a:ext cx="192" cy="192"/>
            </a:xfrm>
            <a:prstGeom prst="ellipse">
              <a:avLst/>
            </a:prstGeom>
            <a:noFill/>
            <a:ln w="9525" cap="flat" cmpd="sng">
              <a:solidFill>
                <a:schemeClr val="tx1"/>
              </a:solidFill>
              <a:prstDash val="solid"/>
              <a:headEnd type="none" w="med" len="med"/>
              <a:tailEnd type="none" w="med" len="med"/>
            </a:ln>
          </p:spPr>
          <p:txBody>
            <a:bodyPr wrap="none" anchor="ctr"/>
            <a:lstStyle/>
            <a:p>
              <a:pPr algn="ctr"/>
              <a:endParaRPr lang="zh-CN" altLang="zh-CN" b="1" dirty="0">
                <a:latin typeface="Times New Roman" panose="02020603050405020304" pitchFamily="18" charset="0"/>
              </a:endParaRPr>
            </a:p>
          </p:txBody>
        </p:sp>
        <p:sp>
          <p:nvSpPr>
            <p:cNvPr id="34880" name="Oval 29"/>
            <p:cNvSpPr/>
            <p:nvPr/>
          </p:nvSpPr>
          <p:spPr>
            <a:xfrm>
              <a:off x="3264" y="1017"/>
              <a:ext cx="192" cy="192"/>
            </a:xfrm>
            <a:prstGeom prst="ellipse">
              <a:avLst/>
            </a:prstGeom>
            <a:noFill/>
            <a:ln w="9525" cap="flat" cmpd="sng">
              <a:solidFill>
                <a:schemeClr val="tx1"/>
              </a:solidFill>
              <a:prstDash val="solid"/>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34881" name="Oval 30"/>
            <p:cNvSpPr/>
            <p:nvPr/>
          </p:nvSpPr>
          <p:spPr>
            <a:xfrm>
              <a:off x="3696" y="1017"/>
              <a:ext cx="192" cy="192"/>
            </a:xfrm>
            <a:prstGeom prst="ellipse">
              <a:avLst/>
            </a:prstGeom>
            <a:noFill/>
            <a:ln w="9525" cap="flat" cmpd="sng">
              <a:solidFill>
                <a:schemeClr val="tx1"/>
              </a:solidFill>
              <a:prstDash val="solid"/>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34882" name="Oval 31"/>
            <p:cNvSpPr/>
            <p:nvPr/>
          </p:nvSpPr>
          <p:spPr>
            <a:xfrm>
              <a:off x="4032" y="1017"/>
              <a:ext cx="192" cy="192"/>
            </a:xfrm>
            <a:prstGeom prst="ellipse">
              <a:avLst/>
            </a:prstGeom>
            <a:noFill/>
            <a:ln w="9525" cap="flat" cmpd="sng">
              <a:solidFill>
                <a:schemeClr val="tx1"/>
              </a:solidFill>
              <a:prstDash val="solid"/>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34883" name="Oval 32"/>
            <p:cNvSpPr/>
            <p:nvPr/>
          </p:nvSpPr>
          <p:spPr>
            <a:xfrm>
              <a:off x="4416" y="1017"/>
              <a:ext cx="192" cy="192"/>
            </a:xfrm>
            <a:prstGeom prst="ellipse">
              <a:avLst/>
            </a:prstGeom>
            <a:noFill/>
            <a:ln w="9525" cap="flat" cmpd="sng">
              <a:solidFill>
                <a:schemeClr val="tx1"/>
              </a:solidFill>
              <a:prstDash val="solid"/>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34884" name="Oval 33"/>
            <p:cNvSpPr/>
            <p:nvPr/>
          </p:nvSpPr>
          <p:spPr>
            <a:xfrm>
              <a:off x="4752" y="1017"/>
              <a:ext cx="192" cy="192"/>
            </a:xfrm>
            <a:prstGeom prst="ellipse">
              <a:avLst/>
            </a:prstGeom>
            <a:noFill/>
            <a:ln w="9525" cap="flat" cmpd="sng">
              <a:solidFill>
                <a:schemeClr val="tx1"/>
              </a:solidFill>
              <a:prstDash val="solid"/>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34885" name="Oval 34"/>
            <p:cNvSpPr/>
            <p:nvPr/>
          </p:nvSpPr>
          <p:spPr>
            <a:xfrm>
              <a:off x="5088" y="1017"/>
              <a:ext cx="192" cy="192"/>
            </a:xfrm>
            <a:prstGeom prst="ellipse">
              <a:avLst/>
            </a:prstGeom>
            <a:noFill/>
            <a:ln w="9525" cap="flat" cmpd="sng">
              <a:solidFill>
                <a:schemeClr val="tx1"/>
              </a:solidFill>
              <a:prstDash val="solid"/>
              <a:headEnd type="none" w="med" len="med"/>
              <a:tailEnd type="none" w="med" len="med"/>
            </a:ln>
          </p:spPr>
          <p:txBody>
            <a:bodyPr wrap="none" anchor="ctr"/>
            <a:lstStyle/>
            <a:p>
              <a:endParaRPr lang="zh-CN" altLang="en-US" dirty="0">
                <a:latin typeface="Times New Roman" panose="02020603050405020304" pitchFamily="18" charset="0"/>
              </a:endParaRPr>
            </a:p>
          </p:txBody>
        </p:sp>
      </p:grpSp>
      <p:grpSp>
        <p:nvGrpSpPr>
          <p:cNvPr id="34822" name="Group 79"/>
          <p:cNvGrpSpPr/>
          <p:nvPr/>
        </p:nvGrpSpPr>
        <p:grpSpPr>
          <a:xfrm>
            <a:off x="914400" y="3716338"/>
            <a:ext cx="2590800" cy="1828800"/>
            <a:chOff x="576" y="2697"/>
            <a:chExt cx="1632" cy="1152"/>
          </a:xfrm>
        </p:grpSpPr>
        <p:sp>
          <p:nvSpPr>
            <p:cNvPr id="20506" name="Text Box 26"/>
            <p:cNvSpPr txBox="1">
              <a:spLocks noChangeArrowheads="1"/>
            </p:cNvSpPr>
            <p:nvPr/>
          </p:nvSpPr>
          <p:spPr bwMode="ltGray">
            <a:xfrm>
              <a:off x="1344" y="2697"/>
              <a:ext cx="19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R="0" defTabSz="914400" latinLnBrk="1">
                <a:buClrTx/>
                <a:buSzTx/>
                <a:buFontTx/>
                <a:buNone/>
                <a:defRPr/>
              </a:pPr>
              <a:r>
                <a:rPr kumimoji="1" lang="en-US" altLang="zh-CN" sz="2400" b="1" kern="1200" cap="none" spc="0" normalizeH="0" baseline="0" noProof="0">
                  <a:solidFill>
                    <a:srgbClr val="FF0000"/>
                  </a:solidFill>
                  <a:effectLst>
                    <a:outerShdw blurRad="38100" dist="38100" dir="2700000" algn="tl">
                      <a:srgbClr val="C0C0C0"/>
                    </a:outerShdw>
                  </a:effectLst>
                  <a:latin typeface="Courier New" panose="02070309020205020404" pitchFamily="49" charset="0"/>
                  <a:ea typeface="굴림" panose="020B0600000101010101" pitchFamily="34" charset="-127"/>
                  <a:cs typeface="+mn-cs"/>
                </a:rPr>
                <a:t>a</a:t>
              </a:r>
              <a:endParaRPr kumimoji="1" lang="en-US" altLang="zh-CN" sz="2400" b="1" kern="1200" cap="none" spc="0" normalizeH="0" baseline="0" noProof="0">
                <a:solidFill>
                  <a:srgbClr val="FF0000"/>
                </a:solidFill>
                <a:effectLst>
                  <a:outerShdw blurRad="38100" dist="38100" dir="2700000" algn="tl">
                    <a:srgbClr val="C0C0C0"/>
                  </a:outerShdw>
                </a:effectLst>
                <a:latin typeface="Courier New" panose="02070309020205020404" pitchFamily="49" charset="0"/>
                <a:ea typeface="굴림" panose="020B0600000101010101" pitchFamily="34" charset="-127"/>
                <a:cs typeface="+mn-cs"/>
              </a:endParaRPr>
            </a:p>
          </p:txBody>
        </p:sp>
        <p:sp>
          <p:nvSpPr>
            <p:cNvPr id="20507" name="Text Box 27"/>
            <p:cNvSpPr txBox="1">
              <a:spLocks noChangeArrowheads="1"/>
            </p:cNvSpPr>
            <p:nvPr/>
          </p:nvSpPr>
          <p:spPr bwMode="ltGray">
            <a:xfrm>
              <a:off x="864" y="3129"/>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R="0" defTabSz="914400" latinLnBrk="1">
                <a:buClrTx/>
                <a:buSzTx/>
                <a:buFontTx/>
                <a:buNone/>
                <a:defRPr/>
              </a:pPr>
              <a:r>
                <a:rPr kumimoji="1" lang="en-US" altLang="zh-CN" sz="2400" b="1" kern="1200" cap="none" spc="0" normalizeH="0" baseline="0" noProof="0">
                  <a:solidFill>
                    <a:srgbClr val="FF0000"/>
                  </a:solidFill>
                  <a:effectLst>
                    <a:outerShdw blurRad="38100" dist="38100" dir="2700000" algn="tl">
                      <a:srgbClr val="C0C0C0"/>
                    </a:outerShdw>
                  </a:effectLst>
                  <a:latin typeface="Courier New" panose="02070309020205020404" pitchFamily="49" charset="0"/>
                  <a:ea typeface="굴림" panose="020B0600000101010101" pitchFamily="34" charset="-127"/>
                  <a:cs typeface="+mn-cs"/>
                </a:rPr>
                <a:t>b</a:t>
              </a:r>
              <a:endParaRPr kumimoji="1" lang="en-US" altLang="zh-CN" sz="2400" b="1" kern="1200" cap="none" spc="0" normalizeH="0" baseline="0" noProof="0">
                <a:solidFill>
                  <a:srgbClr val="FF0000"/>
                </a:solidFill>
                <a:effectLst>
                  <a:outerShdw blurRad="38100" dist="38100" dir="2700000" algn="tl">
                    <a:srgbClr val="C0C0C0"/>
                  </a:outerShdw>
                </a:effectLst>
                <a:latin typeface="Courier New" panose="02070309020205020404" pitchFamily="49" charset="0"/>
                <a:ea typeface="굴림" panose="020B0600000101010101" pitchFamily="34" charset="-127"/>
                <a:cs typeface="+mn-cs"/>
              </a:endParaRPr>
            </a:p>
          </p:txBody>
        </p:sp>
        <p:sp>
          <p:nvSpPr>
            <p:cNvPr id="34848" name="Oval 35"/>
            <p:cNvSpPr/>
            <p:nvPr/>
          </p:nvSpPr>
          <p:spPr>
            <a:xfrm>
              <a:off x="1344" y="2745"/>
              <a:ext cx="192" cy="192"/>
            </a:xfrm>
            <a:prstGeom prst="ellipse">
              <a:avLst/>
            </a:prstGeom>
            <a:noFill/>
            <a:ln w="9525" cap="flat" cmpd="sng">
              <a:solidFill>
                <a:schemeClr val="tx1"/>
              </a:solidFill>
              <a:prstDash val="solid"/>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20516" name="Text Box 36"/>
            <p:cNvSpPr txBox="1">
              <a:spLocks noChangeArrowheads="1"/>
            </p:cNvSpPr>
            <p:nvPr/>
          </p:nvSpPr>
          <p:spPr bwMode="ltGray">
            <a:xfrm>
              <a:off x="1392" y="3129"/>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R="0" defTabSz="914400" latinLnBrk="1">
                <a:buClrTx/>
                <a:buSzTx/>
                <a:buFontTx/>
                <a:buNone/>
                <a:defRPr/>
              </a:pPr>
              <a:r>
                <a:rPr kumimoji="1" lang="en-US" altLang="zh-CN" sz="2400" b="1" kern="1200" cap="none" spc="0" normalizeH="0" baseline="0" noProof="0">
                  <a:solidFill>
                    <a:srgbClr val="FF0000"/>
                  </a:solidFill>
                  <a:effectLst>
                    <a:outerShdw blurRad="38100" dist="38100" dir="2700000" algn="tl">
                      <a:srgbClr val="C0C0C0"/>
                    </a:outerShdw>
                  </a:effectLst>
                  <a:latin typeface="Courier New" panose="02070309020205020404" pitchFamily="49" charset="0"/>
                  <a:ea typeface="굴림" panose="020B0600000101010101" pitchFamily="34" charset="-127"/>
                  <a:cs typeface="+mn-cs"/>
                </a:rPr>
                <a:t>c</a:t>
              </a:r>
              <a:endParaRPr kumimoji="1" lang="en-US" altLang="zh-CN" sz="2400" b="1" kern="1200" cap="none" spc="0" normalizeH="0" baseline="0" noProof="0">
                <a:solidFill>
                  <a:srgbClr val="FF0000"/>
                </a:solidFill>
                <a:effectLst>
                  <a:outerShdw blurRad="38100" dist="38100" dir="2700000" algn="tl">
                    <a:srgbClr val="C0C0C0"/>
                  </a:outerShdw>
                </a:effectLst>
                <a:latin typeface="Courier New" panose="02070309020205020404" pitchFamily="49" charset="0"/>
                <a:ea typeface="굴림" panose="020B0600000101010101" pitchFamily="34" charset="-127"/>
                <a:cs typeface="+mn-cs"/>
              </a:endParaRPr>
            </a:p>
          </p:txBody>
        </p:sp>
        <p:sp>
          <p:nvSpPr>
            <p:cNvPr id="20517" name="Text Box 37"/>
            <p:cNvSpPr txBox="1">
              <a:spLocks noChangeArrowheads="1"/>
            </p:cNvSpPr>
            <p:nvPr/>
          </p:nvSpPr>
          <p:spPr bwMode="ltGray">
            <a:xfrm>
              <a:off x="1920" y="3129"/>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R="0" defTabSz="914400" latinLnBrk="1">
                <a:buClrTx/>
                <a:buSzTx/>
                <a:buFontTx/>
                <a:buNone/>
                <a:defRPr/>
              </a:pPr>
              <a:r>
                <a:rPr kumimoji="1" lang="en-US" altLang="zh-CN" sz="2400" b="1" kern="1200" cap="none" spc="0" normalizeH="0" baseline="0" noProof="0">
                  <a:solidFill>
                    <a:srgbClr val="FF0000"/>
                  </a:solidFill>
                  <a:effectLst>
                    <a:outerShdw blurRad="38100" dist="38100" dir="2700000" algn="tl">
                      <a:srgbClr val="C0C0C0"/>
                    </a:outerShdw>
                  </a:effectLst>
                  <a:latin typeface="Courier New" panose="02070309020205020404" pitchFamily="49" charset="0"/>
                  <a:ea typeface="굴림" panose="020B0600000101010101" pitchFamily="34" charset="-127"/>
                  <a:cs typeface="+mn-cs"/>
                </a:rPr>
                <a:t>d</a:t>
              </a:r>
              <a:endParaRPr kumimoji="1" lang="en-US" altLang="zh-CN" sz="2400" b="1" kern="1200" cap="none" spc="0" normalizeH="0" baseline="0" noProof="0">
                <a:solidFill>
                  <a:srgbClr val="FF0000"/>
                </a:solidFill>
                <a:effectLst>
                  <a:outerShdw blurRad="38100" dist="38100" dir="2700000" algn="tl">
                    <a:srgbClr val="C0C0C0"/>
                  </a:outerShdw>
                </a:effectLst>
                <a:latin typeface="Courier New" panose="02070309020205020404" pitchFamily="49" charset="0"/>
                <a:ea typeface="굴림" panose="020B0600000101010101" pitchFamily="34" charset="-127"/>
                <a:cs typeface="+mn-cs"/>
              </a:endParaRPr>
            </a:p>
          </p:txBody>
        </p:sp>
        <p:sp>
          <p:nvSpPr>
            <p:cNvPr id="20518" name="Text Box 38"/>
            <p:cNvSpPr txBox="1">
              <a:spLocks noChangeArrowheads="1"/>
            </p:cNvSpPr>
            <p:nvPr/>
          </p:nvSpPr>
          <p:spPr bwMode="ltGray">
            <a:xfrm>
              <a:off x="576" y="3561"/>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R="0" defTabSz="914400" latinLnBrk="1">
                <a:buClrTx/>
                <a:buSzTx/>
                <a:buFontTx/>
                <a:buNone/>
                <a:defRPr/>
              </a:pPr>
              <a:r>
                <a:rPr kumimoji="1" lang="en-US" altLang="zh-CN" sz="2400" b="1" kern="1200" cap="none" spc="0" normalizeH="0" baseline="0" noProof="0">
                  <a:solidFill>
                    <a:srgbClr val="FF0000"/>
                  </a:solidFill>
                  <a:effectLst>
                    <a:outerShdw blurRad="38100" dist="38100" dir="2700000" algn="tl">
                      <a:srgbClr val="C0C0C0"/>
                    </a:outerShdw>
                  </a:effectLst>
                  <a:latin typeface="Courier New" panose="02070309020205020404" pitchFamily="49" charset="0"/>
                  <a:ea typeface="굴림" panose="020B0600000101010101" pitchFamily="34" charset="-127"/>
                  <a:cs typeface="+mn-cs"/>
                </a:rPr>
                <a:t>e</a:t>
              </a:r>
              <a:endParaRPr kumimoji="1" lang="en-US" altLang="zh-CN" sz="2400" b="1" kern="1200" cap="none" spc="0" normalizeH="0" baseline="0" noProof="0">
                <a:solidFill>
                  <a:srgbClr val="FF0000"/>
                </a:solidFill>
                <a:effectLst>
                  <a:outerShdw blurRad="38100" dist="38100" dir="2700000" algn="tl">
                    <a:srgbClr val="C0C0C0"/>
                  </a:outerShdw>
                </a:effectLst>
                <a:latin typeface="Courier New" panose="02070309020205020404" pitchFamily="49" charset="0"/>
                <a:ea typeface="굴림" panose="020B0600000101010101" pitchFamily="34" charset="-127"/>
                <a:cs typeface="+mn-cs"/>
              </a:endParaRPr>
            </a:p>
          </p:txBody>
        </p:sp>
        <p:sp>
          <p:nvSpPr>
            <p:cNvPr id="20519" name="Text Box 39"/>
            <p:cNvSpPr txBox="1">
              <a:spLocks noChangeArrowheads="1"/>
            </p:cNvSpPr>
            <p:nvPr/>
          </p:nvSpPr>
          <p:spPr bwMode="ltGray">
            <a:xfrm>
              <a:off x="1056" y="3561"/>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R="0" defTabSz="914400" latinLnBrk="1">
                <a:buClrTx/>
                <a:buSzTx/>
                <a:buFontTx/>
                <a:buNone/>
                <a:defRPr/>
              </a:pPr>
              <a:r>
                <a:rPr kumimoji="1" lang="en-US" altLang="zh-CN" sz="2400" b="1" kern="1200" cap="none" spc="0" normalizeH="0" baseline="0" noProof="0">
                  <a:solidFill>
                    <a:srgbClr val="FF0000"/>
                  </a:solidFill>
                  <a:effectLst>
                    <a:outerShdw blurRad="38100" dist="38100" dir="2700000" algn="tl">
                      <a:srgbClr val="C0C0C0"/>
                    </a:outerShdw>
                  </a:effectLst>
                  <a:latin typeface="Courier New" panose="02070309020205020404" pitchFamily="49" charset="0"/>
                  <a:ea typeface="굴림" panose="020B0600000101010101" pitchFamily="34" charset="-127"/>
                  <a:cs typeface="+mn-cs"/>
                </a:rPr>
                <a:t>f</a:t>
              </a:r>
              <a:endParaRPr kumimoji="1" lang="en-US" altLang="zh-CN" sz="2400" b="1" kern="1200" cap="none" spc="0" normalizeH="0" baseline="0" noProof="0">
                <a:solidFill>
                  <a:srgbClr val="FF0000"/>
                </a:solidFill>
                <a:effectLst>
                  <a:outerShdw blurRad="38100" dist="38100" dir="2700000" algn="tl">
                    <a:srgbClr val="C0C0C0"/>
                  </a:outerShdw>
                </a:effectLst>
                <a:latin typeface="Courier New" panose="02070309020205020404" pitchFamily="49" charset="0"/>
                <a:ea typeface="굴림" panose="020B0600000101010101" pitchFamily="34" charset="-127"/>
                <a:cs typeface="+mn-cs"/>
              </a:endParaRPr>
            </a:p>
          </p:txBody>
        </p:sp>
        <p:sp>
          <p:nvSpPr>
            <p:cNvPr id="20520" name="Text Box 40"/>
            <p:cNvSpPr txBox="1">
              <a:spLocks noChangeArrowheads="1"/>
            </p:cNvSpPr>
            <p:nvPr/>
          </p:nvSpPr>
          <p:spPr bwMode="ltGray">
            <a:xfrm>
              <a:off x="1440" y="3561"/>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R="0" defTabSz="914400" latinLnBrk="1">
                <a:buClrTx/>
                <a:buSzTx/>
                <a:buFontTx/>
                <a:buNone/>
                <a:defRPr/>
              </a:pPr>
              <a:r>
                <a:rPr kumimoji="1" lang="en-US" altLang="zh-CN" sz="2400" b="1" kern="1200" cap="none" spc="0" normalizeH="0" baseline="0" noProof="0">
                  <a:solidFill>
                    <a:srgbClr val="FF0000"/>
                  </a:solidFill>
                  <a:effectLst>
                    <a:outerShdw blurRad="38100" dist="38100" dir="2700000" algn="tl">
                      <a:srgbClr val="C0C0C0"/>
                    </a:outerShdw>
                  </a:effectLst>
                  <a:latin typeface="Courier New" panose="02070309020205020404" pitchFamily="49" charset="0"/>
                  <a:ea typeface="굴림" panose="020B0600000101010101" pitchFamily="34" charset="-127"/>
                  <a:cs typeface="+mn-cs"/>
                </a:rPr>
                <a:t>g</a:t>
              </a:r>
              <a:endParaRPr kumimoji="1" lang="en-US" altLang="zh-CN" sz="2400" b="1" kern="1200" cap="none" spc="0" normalizeH="0" baseline="0" noProof="0">
                <a:solidFill>
                  <a:srgbClr val="FF0000"/>
                </a:solidFill>
                <a:effectLst>
                  <a:outerShdw blurRad="38100" dist="38100" dir="2700000" algn="tl">
                    <a:srgbClr val="C0C0C0"/>
                  </a:outerShdw>
                </a:effectLst>
                <a:latin typeface="Courier New" panose="02070309020205020404" pitchFamily="49" charset="0"/>
                <a:ea typeface="굴림" panose="020B0600000101010101" pitchFamily="34" charset="-127"/>
                <a:cs typeface="+mn-cs"/>
              </a:endParaRPr>
            </a:p>
          </p:txBody>
        </p:sp>
        <p:sp>
          <p:nvSpPr>
            <p:cNvPr id="34854" name="Oval 41"/>
            <p:cNvSpPr/>
            <p:nvPr/>
          </p:nvSpPr>
          <p:spPr>
            <a:xfrm>
              <a:off x="864" y="3177"/>
              <a:ext cx="192" cy="192"/>
            </a:xfrm>
            <a:prstGeom prst="ellipse">
              <a:avLst/>
            </a:prstGeom>
            <a:noFill/>
            <a:ln w="9525" cap="flat" cmpd="sng">
              <a:solidFill>
                <a:schemeClr val="tx1"/>
              </a:solidFill>
              <a:prstDash val="solid"/>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34855" name="Oval 42"/>
            <p:cNvSpPr/>
            <p:nvPr/>
          </p:nvSpPr>
          <p:spPr>
            <a:xfrm>
              <a:off x="1392" y="3177"/>
              <a:ext cx="192" cy="192"/>
            </a:xfrm>
            <a:prstGeom prst="ellipse">
              <a:avLst/>
            </a:prstGeom>
            <a:noFill/>
            <a:ln w="9525" cap="flat" cmpd="sng">
              <a:solidFill>
                <a:schemeClr val="tx1"/>
              </a:solidFill>
              <a:prstDash val="solid"/>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34856" name="Oval 43"/>
            <p:cNvSpPr/>
            <p:nvPr/>
          </p:nvSpPr>
          <p:spPr>
            <a:xfrm>
              <a:off x="1920" y="3177"/>
              <a:ext cx="192" cy="192"/>
            </a:xfrm>
            <a:prstGeom prst="ellipse">
              <a:avLst/>
            </a:prstGeom>
            <a:noFill/>
            <a:ln w="9525" cap="flat" cmpd="sng">
              <a:solidFill>
                <a:schemeClr val="tx1"/>
              </a:solidFill>
              <a:prstDash val="solid"/>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34857" name="Oval 44"/>
            <p:cNvSpPr/>
            <p:nvPr/>
          </p:nvSpPr>
          <p:spPr>
            <a:xfrm>
              <a:off x="576" y="3609"/>
              <a:ext cx="192" cy="192"/>
            </a:xfrm>
            <a:prstGeom prst="ellipse">
              <a:avLst/>
            </a:prstGeom>
            <a:noFill/>
            <a:ln w="9525" cap="flat" cmpd="sng">
              <a:solidFill>
                <a:schemeClr val="tx1"/>
              </a:solidFill>
              <a:prstDash val="solid"/>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34858" name="Oval 45"/>
            <p:cNvSpPr/>
            <p:nvPr/>
          </p:nvSpPr>
          <p:spPr>
            <a:xfrm>
              <a:off x="1440" y="3657"/>
              <a:ext cx="192" cy="192"/>
            </a:xfrm>
            <a:prstGeom prst="ellipse">
              <a:avLst/>
            </a:prstGeom>
            <a:noFill/>
            <a:ln w="9525" cap="flat" cmpd="sng">
              <a:solidFill>
                <a:schemeClr val="tx1"/>
              </a:solidFill>
              <a:prstDash val="solid"/>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34859" name="Oval 46"/>
            <p:cNvSpPr/>
            <p:nvPr/>
          </p:nvSpPr>
          <p:spPr>
            <a:xfrm>
              <a:off x="1056" y="3609"/>
              <a:ext cx="192" cy="192"/>
            </a:xfrm>
            <a:prstGeom prst="ellipse">
              <a:avLst/>
            </a:prstGeom>
            <a:noFill/>
            <a:ln w="9525" cap="flat" cmpd="sng">
              <a:solidFill>
                <a:schemeClr val="tx1"/>
              </a:solidFill>
              <a:prstDash val="solid"/>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34860" name="Line 47"/>
            <p:cNvSpPr/>
            <p:nvPr/>
          </p:nvSpPr>
          <p:spPr>
            <a:xfrm flipH="1">
              <a:off x="1008" y="2889"/>
              <a:ext cx="336" cy="288"/>
            </a:xfrm>
            <a:prstGeom prst="line">
              <a:avLst/>
            </a:prstGeom>
            <a:ln w="9525" cap="flat" cmpd="sng">
              <a:solidFill>
                <a:schemeClr val="tx1"/>
              </a:solidFill>
              <a:prstDash val="solid"/>
              <a:headEnd type="none" w="med" len="med"/>
              <a:tailEnd type="none" w="med" len="med"/>
            </a:ln>
          </p:spPr>
        </p:sp>
        <p:sp>
          <p:nvSpPr>
            <p:cNvPr id="34861" name="Line 48"/>
            <p:cNvSpPr/>
            <p:nvPr/>
          </p:nvSpPr>
          <p:spPr>
            <a:xfrm>
              <a:off x="1440" y="2937"/>
              <a:ext cx="48" cy="240"/>
            </a:xfrm>
            <a:prstGeom prst="line">
              <a:avLst/>
            </a:prstGeom>
            <a:ln w="9525" cap="flat" cmpd="sng">
              <a:solidFill>
                <a:schemeClr val="tx1"/>
              </a:solidFill>
              <a:prstDash val="solid"/>
              <a:headEnd type="none" w="med" len="med"/>
              <a:tailEnd type="none" w="med" len="med"/>
            </a:ln>
          </p:spPr>
        </p:sp>
        <p:sp>
          <p:nvSpPr>
            <p:cNvPr id="34862" name="Line 49"/>
            <p:cNvSpPr/>
            <p:nvPr/>
          </p:nvSpPr>
          <p:spPr>
            <a:xfrm>
              <a:off x="1536" y="2889"/>
              <a:ext cx="432" cy="288"/>
            </a:xfrm>
            <a:prstGeom prst="line">
              <a:avLst/>
            </a:prstGeom>
            <a:ln w="9525" cap="flat" cmpd="sng">
              <a:solidFill>
                <a:schemeClr val="tx1"/>
              </a:solidFill>
              <a:prstDash val="solid"/>
              <a:headEnd type="none" w="med" len="med"/>
              <a:tailEnd type="none" w="med" len="med"/>
            </a:ln>
          </p:spPr>
        </p:sp>
        <p:sp>
          <p:nvSpPr>
            <p:cNvPr id="34863" name="Line 50"/>
            <p:cNvSpPr/>
            <p:nvPr/>
          </p:nvSpPr>
          <p:spPr>
            <a:xfrm flipH="1">
              <a:off x="720" y="3369"/>
              <a:ext cx="144" cy="240"/>
            </a:xfrm>
            <a:prstGeom prst="line">
              <a:avLst/>
            </a:prstGeom>
            <a:ln w="9525" cap="flat" cmpd="sng">
              <a:solidFill>
                <a:schemeClr val="tx1"/>
              </a:solidFill>
              <a:prstDash val="solid"/>
              <a:headEnd type="none" w="med" len="med"/>
              <a:tailEnd type="none" w="med" len="med"/>
            </a:ln>
          </p:spPr>
        </p:sp>
        <p:sp>
          <p:nvSpPr>
            <p:cNvPr id="34864" name="Line 51"/>
            <p:cNvSpPr/>
            <p:nvPr/>
          </p:nvSpPr>
          <p:spPr>
            <a:xfrm>
              <a:off x="1008" y="3369"/>
              <a:ext cx="96" cy="240"/>
            </a:xfrm>
            <a:prstGeom prst="line">
              <a:avLst/>
            </a:prstGeom>
            <a:ln w="9525" cap="flat" cmpd="sng">
              <a:solidFill>
                <a:schemeClr val="tx1"/>
              </a:solidFill>
              <a:prstDash val="solid"/>
              <a:headEnd type="none" w="med" len="med"/>
              <a:tailEnd type="none" w="med" len="med"/>
            </a:ln>
          </p:spPr>
        </p:sp>
        <p:sp>
          <p:nvSpPr>
            <p:cNvPr id="34865" name="Line 52"/>
            <p:cNvSpPr/>
            <p:nvPr/>
          </p:nvSpPr>
          <p:spPr>
            <a:xfrm>
              <a:off x="1488" y="3369"/>
              <a:ext cx="48" cy="288"/>
            </a:xfrm>
            <a:prstGeom prst="line">
              <a:avLst/>
            </a:prstGeom>
            <a:ln w="9525" cap="flat" cmpd="sng">
              <a:solidFill>
                <a:schemeClr val="tx1"/>
              </a:solidFill>
              <a:prstDash val="solid"/>
              <a:headEnd type="none" w="med" len="med"/>
              <a:tailEnd type="none" w="med" len="med"/>
            </a:ln>
          </p:spPr>
        </p:sp>
      </p:grpSp>
      <p:sp>
        <p:nvSpPr>
          <p:cNvPr id="34823" name="Text Box 53"/>
          <p:cNvSpPr txBox="1"/>
          <p:nvPr/>
        </p:nvSpPr>
        <p:spPr>
          <a:xfrm>
            <a:off x="1574800" y="5876925"/>
            <a:ext cx="2081213" cy="457200"/>
          </a:xfrm>
          <a:prstGeom prst="rect">
            <a:avLst/>
          </a:prstGeom>
          <a:noFill/>
          <a:ln w="9525">
            <a:noFill/>
          </a:ln>
        </p:spPr>
        <p:txBody>
          <a:bodyPr wrap="none">
            <a:spAutoFit/>
          </a:bodyPr>
          <a:lstStyle/>
          <a:p>
            <a:pPr latinLnBrk="1"/>
            <a:r>
              <a:rPr lang="en-US" altLang="zh-CN" sz="2400" b="1" dirty="0">
                <a:solidFill>
                  <a:srgbClr val="003399"/>
                </a:solidFill>
                <a:latin typeface="Courier New" panose="02070309020205020404" pitchFamily="49" charset="0"/>
                <a:ea typeface="楷体_GB2312" panose="02010609030101010101" pitchFamily="49" charset="-122"/>
              </a:rPr>
              <a:t>S3</a:t>
            </a:r>
            <a:r>
              <a:rPr lang="zh-CN" altLang="en-US" sz="2400" b="1" dirty="0">
                <a:solidFill>
                  <a:srgbClr val="003399"/>
                </a:solidFill>
                <a:latin typeface="Courier New" panose="02070309020205020404" pitchFamily="49" charset="0"/>
                <a:ea typeface="楷体_GB2312" panose="02010609030101010101" pitchFamily="49" charset="-122"/>
              </a:rPr>
              <a:t>－树型结构</a:t>
            </a:r>
            <a:endParaRPr lang="zh-CN" altLang="en-US" sz="2400" b="1" dirty="0">
              <a:solidFill>
                <a:srgbClr val="003399"/>
              </a:solidFill>
              <a:latin typeface="Courier New" panose="02070309020205020404" pitchFamily="49" charset="0"/>
              <a:ea typeface="楷体_GB2312" panose="02010609030101010101" pitchFamily="49" charset="-122"/>
            </a:endParaRPr>
          </a:p>
        </p:txBody>
      </p:sp>
      <p:sp>
        <p:nvSpPr>
          <p:cNvPr id="34824" name="Text Box 71"/>
          <p:cNvSpPr txBox="1"/>
          <p:nvPr/>
        </p:nvSpPr>
        <p:spPr>
          <a:xfrm>
            <a:off x="5722938" y="5851525"/>
            <a:ext cx="2081212" cy="457200"/>
          </a:xfrm>
          <a:prstGeom prst="rect">
            <a:avLst/>
          </a:prstGeom>
          <a:noFill/>
          <a:ln w="9525">
            <a:noFill/>
          </a:ln>
        </p:spPr>
        <p:txBody>
          <a:bodyPr wrap="none">
            <a:spAutoFit/>
          </a:bodyPr>
          <a:lstStyle/>
          <a:p>
            <a:pPr latinLnBrk="1"/>
            <a:r>
              <a:rPr lang="en-US" altLang="zh-CN" sz="2400" b="1" dirty="0">
                <a:solidFill>
                  <a:srgbClr val="003399"/>
                </a:solidFill>
                <a:latin typeface="Courier New" panose="02070309020205020404" pitchFamily="49" charset="0"/>
                <a:ea typeface="楷体_GB2312" panose="02010609030101010101" pitchFamily="49" charset="-122"/>
              </a:rPr>
              <a:t>S4</a:t>
            </a:r>
            <a:r>
              <a:rPr lang="zh-CN" altLang="en-US" sz="2400" b="1" dirty="0">
                <a:solidFill>
                  <a:srgbClr val="003399"/>
                </a:solidFill>
                <a:latin typeface="Courier New" panose="02070309020205020404" pitchFamily="49" charset="0"/>
                <a:ea typeface="楷体_GB2312" panose="02010609030101010101" pitchFamily="49" charset="-122"/>
              </a:rPr>
              <a:t>－图形结构</a:t>
            </a:r>
            <a:endParaRPr lang="zh-CN" altLang="en-US" sz="2400" b="1" dirty="0">
              <a:solidFill>
                <a:srgbClr val="003399"/>
              </a:solidFill>
              <a:latin typeface="Courier New" panose="02070309020205020404" pitchFamily="49" charset="0"/>
              <a:ea typeface="楷体_GB2312" panose="02010609030101010101" pitchFamily="49" charset="-122"/>
            </a:endParaRPr>
          </a:p>
        </p:txBody>
      </p:sp>
      <p:sp>
        <p:nvSpPr>
          <p:cNvPr id="34825" name="Text Box 81"/>
          <p:cNvSpPr txBox="1"/>
          <p:nvPr/>
        </p:nvSpPr>
        <p:spPr>
          <a:xfrm>
            <a:off x="1114425" y="260350"/>
            <a:ext cx="3817938" cy="519113"/>
          </a:xfrm>
          <a:prstGeom prst="rect">
            <a:avLst/>
          </a:prstGeom>
          <a:noFill/>
          <a:ln w="9525">
            <a:noFill/>
          </a:ln>
        </p:spPr>
        <p:txBody>
          <a:bodyPr>
            <a:spAutoFit/>
          </a:bodyPr>
          <a:lstStyle/>
          <a:p>
            <a:pPr latinLnBrk="1">
              <a:spcBef>
                <a:spcPct val="50000"/>
              </a:spcBef>
            </a:pPr>
            <a:r>
              <a:rPr lang="en-US" altLang="zh-CN" sz="2800" b="1" dirty="0">
                <a:solidFill>
                  <a:schemeClr val="bg1"/>
                </a:solidFill>
                <a:latin typeface="黑体" panose="02010609060101010101" pitchFamily="2" charset="-122"/>
                <a:ea typeface="黑体" panose="02010609060101010101" pitchFamily="2" charset="-122"/>
              </a:rPr>
              <a:t>1.2 </a:t>
            </a:r>
            <a:r>
              <a:rPr lang="zh-CN" altLang="en-US" sz="2800" b="1" dirty="0">
                <a:solidFill>
                  <a:schemeClr val="bg1"/>
                </a:solidFill>
                <a:latin typeface="黑体" panose="02010609060101010101" pitchFamily="2" charset="-122"/>
                <a:ea typeface="黑体" panose="02010609060101010101" pitchFamily="2" charset="-122"/>
              </a:rPr>
              <a:t>基本概念与术语</a:t>
            </a:r>
            <a:endParaRPr lang="zh-CN" altLang="en-US" sz="2800" b="1" dirty="0">
              <a:solidFill>
                <a:schemeClr val="bg1"/>
              </a:solidFill>
              <a:latin typeface="黑体" panose="02010609060101010101" pitchFamily="2" charset="-122"/>
              <a:ea typeface="黑体" panose="02010609060101010101" pitchFamily="2" charset="-122"/>
            </a:endParaRPr>
          </a:p>
        </p:txBody>
      </p:sp>
      <p:grpSp>
        <p:nvGrpSpPr>
          <p:cNvPr id="34826" name="Group 83"/>
          <p:cNvGrpSpPr/>
          <p:nvPr/>
        </p:nvGrpSpPr>
        <p:grpSpPr>
          <a:xfrm>
            <a:off x="5105400" y="3644900"/>
            <a:ext cx="1981200" cy="1905000"/>
            <a:chOff x="3216" y="2296"/>
            <a:chExt cx="1248" cy="1200"/>
          </a:xfrm>
        </p:grpSpPr>
        <p:grpSp>
          <p:nvGrpSpPr>
            <p:cNvPr id="34827" name="Group 80"/>
            <p:cNvGrpSpPr/>
            <p:nvPr/>
          </p:nvGrpSpPr>
          <p:grpSpPr>
            <a:xfrm>
              <a:off x="3216" y="2296"/>
              <a:ext cx="1248" cy="1200"/>
              <a:chOff x="3216" y="2296"/>
              <a:chExt cx="1248" cy="1200"/>
            </a:xfrm>
          </p:grpSpPr>
          <p:sp>
            <p:nvSpPr>
              <p:cNvPr id="20534" name="Text Box 54"/>
              <p:cNvSpPr txBox="1">
                <a:spLocks noChangeArrowheads="1"/>
              </p:cNvSpPr>
              <p:nvPr/>
            </p:nvSpPr>
            <p:spPr bwMode="ltGray">
              <a:xfrm>
                <a:off x="3360" y="2296"/>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R="0" defTabSz="914400" latinLnBrk="1">
                  <a:buClrTx/>
                  <a:buSzTx/>
                  <a:buFontTx/>
                  <a:buNone/>
                  <a:defRPr/>
                </a:pPr>
                <a:r>
                  <a:rPr kumimoji="1" lang="en-US" altLang="zh-CN" sz="2400" b="1" kern="1200" cap="none" spc="0" normalizeH="0" baseline="0" noProof="0">
                    <a:solidFill>
                      <a:srgbClr val="FF0000"/>
                    </a:solidFill>
                    <a:effectLst>
                      <a:outerShdw blurRad="38100" dist="38100" dir="2700000" algn="tl">
                        <a:srgbClr val="C0C0C0"/>
                      </a:outerShdw>
                    </a:effectLst>
                    <a:latin typeface="Times New Roman" panose="02020603050405020304" pitchFamily="18" charset="0"/>
                    <a:ea typeface="굴림" panose="020B0600000101010101" pitchFamily="34" charset="-127"/>
                    <a:cs typeface="+mn-cs"/>
                  </a:rPr>
                  <a:t>a</a:t>
                </a:r>
                <a:endParaRPr kumimoji="1" lang="en-US" altLang="zh-CN" sz="2400" b="1" kern="1200" cap="none" spc="0" normalizeH="0" baseline="0" noProof="0">
                  <a:solidFill>
                    <a:srgbClr val="FF0000"/>
                  </a:solidFill>
                  <a:effectLst>
                    <a:outerShdw blurRad="38100" dist="38100" dir="2700000" algn="tl">
                      <a:srgbClr val="C0C0C0"/>
                    </a:outerShdw>
                  </a:effectLst>
                  <a:latin typeface="Times New Roman" panose="02020603050405020304" pitchFamily="18" charset="0"/>
                  <a:ea typeface="굴림" panose="020B0600000101010101" pitchFamily="34" charset="-127"/>
                  <a:cs typeface="+mn-cs"/>
                </a:endParaRPr>
              </a:p>
            </p:txBody>
          </p:sp>
          <p:sp>
            <p:nvSpPr>
              <p:cNvPr id="20535" name="Text Box 55"/>
              <p:cNvSpPr txBox="1">
                <a:spLocks noChangeArrowheads="1"/>
              </p:cNvSpPr>
              <p:nvPr/>
            </p:nvSpPr>
            <p:spPr bwMode="ltGray">
              <a:xfrm>
                <a:off x="4080" y="2344"/>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R="0" defTabSz="914400" latinLnBrk="1">
                  <a:buClrTx/>
                  <a:buSzTx/>
                  <a:buFontTx/>
                  <a:buNone/>
                  <a:defRPr/>
                </a:pPr>
                <a:r>
                  <a:rPr kumimoji="1" lang="en-US" altLang="zh-CN" sz="2400" b="1" kern="1200" cap="none" spc="0" normalizeH="0" baseline="0" noProof="0">
                    <a:solidFill>
                      <a:srgbClr val="FF0000"/>
                    </a:solidFill>
                    <a:effectLst>
                      <a:outerShdw blurRad="38100" dist="38100" dir="2700000" algn="tl">
                        <a:srgbClr val="C0C0C0"/>
                      </a:outerShdw>
                    </a:effectLst>
                    <a:latin typeface="Times New Roman" panose="02020603050405020304" pitchFamily="18" charset="0"/>
                    <a:ea typeface="굴림" panose="020B0600000101010101" pitchFamily="34" charset="-127"/>
                    <a:cs typeface="+mn-cs"/>
                  </a:rPr>
                  <a:t>b</a:t>
                </a:r>
                <a:endParaRPr kumimoji="1" lang="en-US" altLang="zh-CN" sz="2400" b="1" kern="1200" cap="none" spc="0" normalizeH="0" baseline="0" noProof="0">
                  <a:solidFill>
                    <a:srgbClr val="FF0000"/>
                  </a:solidFill>
                  <a:effectLst>
                    <a:outerShdw blurRad="38100" dist="38100" dir="2700000" algn="tl">
                      <a:srgbClr val="C0C0C0"/>
                    </a:outerShdw>
                  </a:effectLst>
                  <a:latin typeface="Times New Roman" panose="02020603050405020304" pitchFamily="18" charset="0"/>
                  <a:ea typeface="굴림" panose="020B0600000101010101" pitchFamily="34" charset="-127"/>
                  <a:cs typeface="+mn-cs"/>
                </a:endParaRPr>
              </a:p>
            </p:txBody>
          </p:sp>
          <p:sp>
            <p:nvSpPr>
              <p:cNvPr id="20536" name="Text Box 56"/>
              <p:cNvSpPr txBox="1">
                <a:spLocks noChangeArrowheads="1"/>
              </p:cNvSpPr>
              <p:nvPr/>
            </p:nvSpPr>
            <p:spPr bwMode="ltGray">
              <a:xfrm>
                <a:off x="3888" y="2776"/>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R="0" defTabSz="914400" latinLnBrk="1">
                  <a:buClrTx/>
                  <a:buSzTx/>
                  <a:buFontTx/>
                  <a:buNone/>
                  <a:defRPr/>
                </a:pPr>
                <a:r>
                  <a:rPr kumimoji="1" lang="en-US" altLang="zh-CN" sz="2400" b="1" kern="1200" cap="none" spc="0" normalizeH="0" baseline="0" noProof="0">
                    <a:solidFill>
                      <a:srgbClr val="FF0000"/>
                    </a:solidFill>
                    <a:effectLst>
                      <a:outerShdw blurRad="38100" dist="38100" dir="2700000" algn="tl">
                        <a:srgbClr val="C0C0C0"/>
                      </a:outerShdw>
                    </a:effectLst>
                    <a:latin typeface="Times New Roman" panose="02020603050405020304" pitchFamily="18" charset="0"/>
                    <a:ea typeface="굴림" panose="020B0600000101010101" pitchFamily="34" charset="-127"/>
                    <a:cs typeface="+mn-cs"/>
                  </a:rPr>
                  <a:t>c</a:t>
                </a:r>
                <a:endParaRPr kumimoji="1" lang="en-US" altLang="zh-CN" sz="2400" b="1" kern="1200" cap="none" spc="0" normalizeH="0" baseline="0" noProof="0">
                  <a:solidFill>
                    <a:srgbClr val="FF0000"/>
                  </a:solidFill>
                  <a:effectLst>
                    <a:outerShdw blurRad="38100" dist="38100" dir="2700000" algn="tl">
                      <a:srgbClr val="C0C0C0"/>
                    </a:outerShdw>
                  </a:effectLst>
                  <a:latin typeface="Times New Roman" panose="02020603050405020304" pitchFamily="18" charset="0"/>
                  <a:ea typeface="굴림" panose="020B0600000101010101" pitchFamily="34" charset="-127"/>
                  <a:cs typeface="+mn-cs"/>
                </a:endParaRPr>
              </a:p>
            </p:txBody>
          </p:sp>
          <p:sp>
            <p:nvSpPr>
              <p:cNvPr id="20537" name="Text Box 57"/>
              <p:cNvSpPr txBox="1">
                <a:spLocks noChangeArrowheads="1"/>
              </p:cNvSpPr>
              <p:nvPr/>
            </p:nvSpPr>
            <p:spPr bwMode="ltGray">
              <a:xfrm>
                <a:off x="3216" y="2776"/>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R="0" defTabSz="914400" latinLnBrk="1">
                  <a:buClrTx/>
                  <a:buSzTx/>
                  <a:buFontTx/>
                  <a:buNone/>
                  <a:defRPr/>
                </a:pPr>
                <a:r>
                  <a:rPr kumimoji="1" lang="en-US" altLang="zh-CN" sz="2400" b="1" kern="1200" cap="none" spc="0" normalizeH="0" baseline="0" noProof="0">
                    <a:solidFill>
                      <a:srgbClr val="FF0000"/>
                    </a:solidFill>
                    <a:effectLst>
                      <a:outerShdw blurRad="38100" dist="38100" dir="2700000" algn="tl">
                        <a:srgbClr val="C0C0C0"/>
                      </a:outerShdw>
                    </a:effectLst>
                    <a:latin typeface="Times New Roman" panose="02020603050405020304" pitchFamily="18" charset="0"/>
                    <a:ea typeface="굴림" panose="020B0600000101010101" pitchFamily="34" charset="-127"/>
                    <a:cs typeface="+mn-cs"/>
                  </a:rPr>
                  <a:t>e</a:t>
                </a:r>
                <a:endParaRPr kumimoji="1" lang="en-US" altLang="zh-CN" sz="2400" b="1" kern="1200" cap="none" spc="0" normalizeH="0" baseline="0" noProof="0">
                  <a:solidFill>
                    <a:srgbClr val="FF0000"/>
                  </a:solidFill>
                  <a:effectLst>
                    <a:outerShdw blurRad="38100" dist="38100" dir="2700000" algn="tl">
                      <a:srgbClr val="C0C0C0"/>
                    </a:outerShdw>
                  </a:effectLst>
                  <a:latin typeface="Times New Roman" panose="02020603050405020304" pitchFamily="18" charset="0"/>
                  <a:ea typeface="굴림" panose="020B0600000101010101" pitchFamily="34" charset="-127"/>
                  <a:cs typeface="+mn-cs"/>
                </a:endParaRPr>
              </a:p>
            </p:txBody>
          </p:sp>
          <p:sp>
            <p:nvSpPr>
              <p:cNvPr id="20538" name="Text Box 58"/>
              <p:cNvSpPr txBox="1">
                <a:spLocks noChangeArrowheads="1"/>
              </p:cNvSpPr>
              <p:nvPr/>
            </p:nvSpPr>
            <p:spPr bwMode="ltGray">
              <a:xfrm>
                <a:off x="3600" y="3208"/>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R="0" defTabSz="914400" latinLnBrk="1">
                  <a:buClrTx/>
                  <a:buSzTx/>
                  <a:buFontTx/>
                  <a:buNone/>
                  <a:defRPr/>
                </a:pPr>
                <a:r>
                  <a:rPr kumimoji="1" lang="en-US" altLang="zh-CN" sz="2400" b="1" kern="1200" cap="none" spc="0" normalizeH="0" baseline="0" noProof="0">
                    <a:solidFill>
                      <a:srgbClr val="FF0000"/>
                    </a:solidFill>
                    <a:effectLst>
                      <a:outerShdw blurRad="38100" dist="38100" dir="2700000" algn="tl">
                        <a:srgbClr val="C0C0C0"/>
                      </a:outerShdw>
                    </a:effectLst>
                    <a:latin typeface="Times New Roman" panose="02020603050405020304" pitchFamily="18" charset="0"/>
                    <a:ea typeface="굴림" panose="020B0600000101010101" pitchFamily="34" charset="-127"/>
                    <a:cs typeface="+mn-cs"/>
                  </a:rPr>
                  <a:t>f</a:t>
                </a:r>
                <a:endParaRPr kumimoji="1" lang="en-US" altLang="zh-CN" sz="2400" b="1" kern="1200" cap="none" spc="0" normalizeH="0" baseline="0" noProof="0">
                  <a:solidFill>
                    <a:srgbClr val="FF0000"/>
                  </a:solidFill>
                  <a:effectLst>
                    <a:outerShdw blurRad="38100" dist="38100" dir="2700000" algn="tl">
                      <a:srgbClr val="C0C0C0"/>
                    </a:outerShdw>
                  </a:effectLst>
                  <a:latin typeface="Times New Roman" panose="02020603050405020304" pitchFamily="18" charset="0"/>
                  <a:ea typeface="굴림" panose="020B0600000101010101" pitchFamily="34" charset="-127"/>
                  <a:cs typeface="+mn-cs"/>
                </a:endParaRPr>
              </a:p>
            </p:txBody>
          </p:sp>
          <p:sp>
            <p:nvSpPr>
              <p:cNvPr id="20539" name="Text Box 59"/>
              <p:cNvSpPr txBox="1">
                <a:spLocks noChangeArrowheads="1"/>
              </p:cNvSpPr>
              <p:nvPr/>
            </p:nvSpPr>
            <p:spPr bwMode="ltGray">
              <a:xfrm>
                <a:off x="4128" y="3160"/>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R="0" defTabSz="914400" latinLnBrk="1">
                  <a:buClrTx/>
                  <a:buSzTx/>
                  <a:buFontTx/>
                  <a:buNone/>
                  <a:defRPr/>
                </a:pPr>
                <a:r>
                  <a:rPr kumimoji="1" lang="en-US" altLang="zh-CN" sz="2400" b="1" kern="1200" cap="none" spc="0" normalizeH="0" baseline="0" noProof="0">
                    <a:solidFill>
                      <a:srgbClr val="FF0000"/>
                    </a:solidFill>
                    <a:effectLst>
                      <a:outerShdw blurRad="38100" dist="38100" dir="2700000" algn="tl">
                        <a:srgbClr val="C0C0C0"/>
                      </a:outerShdw>
                    </a:effectLst>
                    <a:latin typeface="Times New Roman" panose="02020603050405020304" pitchFamily="18" charset="0"/>
                    <a:ea typeface="굴림" panose="020B0600000101010101" pitchFamily="34" charset="-127"/>
                    <a:cs typeface="+mn-cs"/>
                  </a:rPr>
                  <a:t>g</a:t>
                </a:r>
                <a:endParaRPr kumimoji="1" lang="en-US" altLang="zh-CN" sz="2400" b="1" kern="1200" cap="none" spc="0" normalizeH="0" baseline="0" noProof="0">
                  <a:solidFill>
                    <a:srgbClr val="FF0000"/>
                  </a:solidFill>
                  <a:effectLst>
                    <a:outerShdw blurRad="38100" dist="38100" dir="2700000" algn="tl">
                      <a:srgbClr val="C0C0C0"/>
                    </a:outerShdw>
                  </a:effectLst>
                  <a:latin typeface="Times New Roman" panose="02020603050405020304" pitchFamily="18" charset="0"/>
                  <a:ea typeface="굴림" panose="020B0600000101010101" pitchFamily="34" charset="-127"/>
                  <a:cs typeface="+mn-cs"/>
                </a:endParaRPr>
              </a:p>
            </p:txBody>
          </p:sp>
          <p:sp>
            <p:nvSpPr>
              <p:cNvPr id="34835" name="Oval 60"/>
              <p:cNvSpPr/>
              <p:nvPr/>
            </p:nvSpPr>
            <p:spPr>
              <a:xfrm>
                <a:off x="3360" y="2344"/>
                <a:ext cx="192" cy="192"/>
              </a:xfrm>
              <a:prstGeom prst="ellipse">
                <a:avLst/>
              </a:prstGeom>
              <a:noFill/>
              <a:ln w="9525" cap="flat" cmpd="sng">
                <a:solidFill>
                  <a:schemeClr val="tx1"/>
                </a:solidFill>
                <a:prstDash val="solid"/>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34836" name="Oval 61"/>
              <p:cNvSpPr/>
              <p:nvPr/>
            </p:nvSpPr>
            <p:spPr>
              <a:xfrm>
                <a:off x="4080" y="2392"/>
                <a:ext cx="192" cy="192"/>
              </a:xfrm>
              <a:prstGeom prst="ellipse">
                <a:avLst/>
              </a:prstGeom>
              <a:noFill/>
              <a:ln w="9525" cap="flat" cmpd="sng">
                <a:solidFill>
                  <a:schemeClr val="tx1"/>
                </a:solidFill>
                <a:prstDash val="solid"/>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34837" name="Oval 62"/>
              <p:cNvSpPr/>
              <p:nvPr/>
            </p:nvSpPr>
            <p:spPr>
              <a:xfrm>
                <a:off x="3216" y="2824"/>
                <a:ext cx="192" cy="192"/>
              </a:xfrm>
              <a:prstGeom prst="ellipse">
                <a:avLst/>
              </a:prstGeom>
              <a:noFill/>
              <a:ln w="9525" cap="flat" cmpd="sng">
                <a:solidFill>
                  <a:schemeClr val="tx1"/>
                </a:solidFill>
                <a:prstDash val="solid"/>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34838" name="Oval 63"/>
              <p:cNvSpPr/>
              <p:nvPr/>
            </p:nvSpPr>
            <p:spPr>
              <a:xfrm>
                <a:off x="3888" y="2824"/>
                <a:ext cx="192" cy="192"/>
              </a:xfrm>
              <a:prstGeom prst="ellipse">
                <a:avLst/>
              </a:prstGeom>
              <a:noFill/>
              <a:ln w="9525" cap="flat" cmpd="sng">
                <a:solidFill>
                  <a:schemeClr val="tx1"/>
                </a:solidFill>
                <a:prstDash val="solid"/>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34839" name="Oval 64"/>
              <p:cNvSpPr/>
              <p:nvPr/>
            </p:nvSpPr>
            <p:spPr>
              <a:xfrm>
                <a:off x="3600" y="3256"/>
                <a:ext cx="192" cy="192"/>
              </a:xfrm>
              <a:prstGeom prst="ellipse">
                <a:avLst/>
              </a:prstGeom>
              <a:noFill/>
              <a:ln w="9525" cap="flat" cmpd="sng">
                <a:solidFill>
                  <a:schemeClr val="tx1"/>
                </a:solidFill>
                <a:prstDash val="solid"/>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34840" name="Oval 65"/>
              <p:cNvSpPr/>
              <p:nvPr/>
            </p:nvSpPr>
            <p:spPr>
              <a:xfrm>
                <a:off x="4128" y="3256"/>
                <a:ext cx="192" cy="192"/>
              </a:xfrm>
              <a:prstGeom prst="ellipse">
                <a:avLst/>
              </a:prstGeom>
              <a:noFill/>
              <a:ln w="9525" cap="flat" cmpd="sng">
                <a:solidFill>
                  <a:schemeClr val="tx1"/>
                </a:solidFill>
                <a:prstDash val="solid"/>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34841" name="Line 66"/>
              <p:cNvSpPr/>
              <p:nvPr/>
            </p:nvSpPr>
            <p:spPr>
              <a:xfrm flipH="1">
                <a:off x="3360" y="2536"/>
                <a:ext cx="48" cy="288"/>
              </a:xfrm>
              <a:prstGeom prst="line">
                <a:avLst/>
              </a:prstGeom>
              <a:ln w="9525" cap="flat" cmpd="sng">
                <a:solidFill>
                  <a:schemeClr val="tx1"/>
                </a:solidFill>
                <a:prstDash val="solid"/>
                <a:headEnd type="none" w="med" len="med"/>
                <a:tailEnd type="none" w="med" len="med"/>
              </a:ln>
            </p:spPr>
          </p:sp>
          <p:sp>
            <p:nvSpPr>
              <p:cNvPr id="34842" name="Line 67"/>
              <p:cNvSpPr/>
              <p:nvPr/>
            </p:nvSpPr>
            <p:spPr>
              <a:xfrm>
                <a:off x="3552" y="2440"/>
                <a:ext cx="384" cy="384"/>
              </a:xfrm>
              <a:prstGeom prst="line">
                <a:avLst/>
              </a:prstGeom>
              <a:ln w="9525" cap="flat" cmpd="sng">
                <a:solidFill>
                  <a:schemeClr val="tx1"/>
                </a:solidFill>
                <a:prstDash val="solid"/>
                <a:headEnd type="none" w="med" len="med"/>
                <a:tailEnd type="none" w="med" len="med"/>
              </a:ln>
            </p:spPr>
          </p:sp>
          <p:sp>
            <p:nvSpPr>
              <p:cNvPr id="34843" name="Line 68"/>
              <p:cNvSpPr/>
              <p:nvPr/>
            </p:nvSpPr>
            <p:spPr>
              <a:xfrm flipH="1">
                <a:off x="4032" y="2584"/>
                <a:ext cx="96" cy="240"/>
              </a:xfrm>
              <a:prstGeom prst="line">
                <a:avLst/>
              </a:prstGeom>
              <a:ln w="9525" cap="flat" cmpd="sng">
                <a:solidFill>
                  <a:schemeClr val="tx1"/>
                </a:solidFill>
                <a:prstDash val="solid"/>
                <a:headEnd type="none" w="med" len="med"/>
                <a:tailEnd type="none" w="med" len="med"/>
              </a:ln>
            </p:spPr>
          </p:sp>
          <p:sp>
            <p:nvSpPr>
              <p:cNvPr id="34844" name="Line 69"/>
              <p:cNvSpPr/>
              <p:nvPr/>
            </p:nvSpPr>
            <p:spPr>
              <a:xfrm>
                <a:off x="3360" y="3016"/>
                <a:ext cx="240" cy="288"/>
              </a:xfrm>
              <a:prstGeom prst="line">
                <a:avLst/>
              </a:prstGeom>
              <a:ln w="9525" cap="flat" cmpd="sng">
                <a:solidFill>
                  <a:schemeClr val="tx1"/>
                </a:solidFill>
                <a:prstDash val="solid"/>
                <a:headEnd type="none" w="med" len="med"/>
                <a:tailEnd type="none" w="med" len="med"/>
              </a:ln>
            </p:spPr>
          </p:sp>
          <p:sp>
            <p:nvSpPr>
              <p:cNvPr id="34845" name="Line 70"/>
              <p:cNvSpPr/>
              <p:nvPr/>
            </p:nvSpPr>
            <p:spPr>
              <a:xfrm>
                <a:off x="3792" y="3352"/>
                <a:ext cx="336" cy="48"/>
              </a:xfrm>
              <a:prstGeom prst="line">
                <a:avLst/>
              </a:prstGeom>
              <a:ln w="9525" cap="flat" cmpd="sng">
                <a:solidFill>
                  <a:schemeClr val="tx1"/>
                </a:solidFill>
                <a:prstDash val="solid"/>
                <a:headEnd type="none" w="med" len="med"/>
                <a:tailEnd type="none" w="med" len="med"/>
              </a:ln>
            </p:spPr>
          </p:sp>
        </p:grpSp>
        <p:sp>
          <p:nvSpPr>
            <p:cNvPr id="34828" name="Line 82"/>
            <p:cNvSpPr/>
            <p:nvPr/>
          </p:nvSpPr>
          <p:spPr>
            <a:xfrm flipH="1">
              <a:off x="3742" y="3022"/>
              <a:ext cx="181" cy="227"/>
            </a:xfrm>
            <a:prstGeom prst="line">
              <a:avLst/>
            </a:prstGeom>
            <a:ln w="9525" cap="flat" cmpd="sng">
              <a:solidFill>
                <a:schemeClr val="tx1"/>
              </a:solidFill>
              <a:prstDash val="solid"/>
              <a:headEnd type="none" w="med" len="med"/>
              <a:tailEnd type="none" w="med" len="med"/>
            </a:ln>
          </p:spPr>
        </p:sp>
      </p:grpSp>
      <p:sp>
        <p:nvSpPr>
          <p:cNvPr id="2" name="日期占位符 1"/>
          <p:cNvSpPr>
            <a:spLocks noGrp="1"/>
          </p:cNvSpPr>
          <p:nvPr>
            <p:ph type="dt" sz="half" idx="10"/>
          </p:nvPr>
        </p:nvSpPr>
        <p:spPr/>
        <p:txBody>
          <a:bodyPr/>
          <a:lstStyle/>
          <a:p>
            <a:r>
              <a:rPr lang="en-US" altLang="zh-CN"/>
              <a:t>Data Structures and algorithms</a:t>
            </a:r>
            <a:endParaRPr lang="zh-CN" altLang="en-US"/>
          </a:p>
        </p:txBody>
      </p:sp>
      <p:sp>
        <p:nvSpPr>
          <p:cNvPr id="3" name="页脚占位符 2"/>
          <p:cNvSpPr>
            <a:spLocks noGrp="1"/>
          </p:cNvSpPr>
          <p:nvPr>
            <p:ph type="ftr" sz="quarter" idx="11"/>
          </p:nvPr>
        </p:nvSpPr>
        <p:spPr/>
        <p:txBody>
          <a:bodyPr/>
          <a:lstStyle/>
          <a:p>
            <a:r>
              <a:rPr lang="en-US" altLang="zh-CN"/>
              <a:t>Software College Northeastern University</a:t>
            </a:r>
            <a:endParaRPr lang="zh-CN" altLang="en-US"/>
          </a:p>
        </p:txBody>
      </p:sp>
      <p:sp>
        <p:nvSpPr>
          <p:cNvPr id="4" name="灯片编号占位符 3"/>
          <p:cNvSpPr>
            <a:spLocks noGrp="1"/>
          </p:cNvSpPr>
          <p:nvPr>
            <p:ph type="sldNum" sz="quarter" idx="12"/>
          </p:nvPr>
        </p:nvSpPr>
        <p:spPr/>
        <p:txBody>
          <a:bodyPr/>
          <a:lstStyle/>
          <a:p>
            <a:fld id="{6E1C0148-8E4B-4B2F-95CE-20B4709700AE}" type="slidenum">
              <a:rPr lang="zh-CN" altLang="en-US" smtClean="0"/>
            </a:fld>
            <a:endParaRPr lang="zh-CN" alt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p:cNvSpPr>
          <p:nvPr>
            <p:ph idx="1"/>
          </p:nvPr>
        </p:nvSpPr>
        <p:spPr/>
        <p:txBody>
          <a:bodyPr vert="horz" wrap="square" lIns="91436" tIns="45718" rIns="91436" bIns="45718" anchor="t">
            <a:normAutofit lnSpcReduction="10000"/>
          </a:bodyPr>
          <a:lstStyle/>
          <a:p>
            <a:pPr>
              <a:lnSpc>
                <a:spcPct val="80000"/>
              </a:lnSpc>
            </a:pPr>
            <a:r>
              <a:rPr lang="zh-CN" altLang="en-US" sz="3200" dirty="0">
                <a:ea typeface="楷体_GB2312" panose="02010609030101010101" pitchFamily="49" charset="-122"/>
              </a:rPr>
              <a:t>数据结构包括</a:t>
            </a:r>
            <a:r>
              <a:rPr lang="zh-CN" altLang="en-US" sz="3200" b="1" dirty="0">
                <a:solidFill>
                  <a:srgbClr val="FF0000"/>
                </a:solidFill>
                <a:latin typeface="隶书" panose="02010509060101010101" pitchFamily="49" charset="-122"/>
                <a:ea typeface="楷体_GB2312" panose="02010609030101010101" pitchFamily="49" charset="-122"/>
              </a:rPr>
              <a:t>逻辑结构</a:t>
            </a:r>
            <a:r>
              <a:rPr lang="zh-CN" altLang="en-US" sz="3200" dirty="0">
                <a:ea typeface="楷体_GB2312" panose="02010609030101010101" pitchFamily="49" charset="-122"/>
              </a:rPr>
              <a:t>和</a:t>
            </a:r>
            <a:r>
              <a:rPr lang="zh-CN" altLang="en-US" sz="3200" b="1" dirty="0">
                <a:solidFill>
                  <a:srgbClr val="FF0000"/>
                </a:solidFill>
                <a:latin typeface="隶书" panose="02010509060101010101" pitchFamily="49" charset="-122"/>
                <a:ea typeface="楷体_GB2312" panose="02010609030101010101" pitchFamily="49" charset="-122"/>
              </a:rPr>
              <a:t>物理结构</a:t>
            </a:r>
            <a:r>
              <a:rPr lang="zh-CN" altLang="en-US" sz="3200" dirty="0">
                <a:ea typeface="楷体_GB2312" panose="02010609030101010101" pitchFamily="49" charset="-122"/>
              </a:rPr>
              <a:t>。</a:t>
            </a:r>
            <a:endParaRPr lang="zh-CN" altLang="en-US" sz="3200" dirty="0">
              <a:ea typeface="楷体_GB2312" panose="02010609030101010101" pitchFamily="49" charset="-122"/>
            </a:endParaRPr>
          </a:p>
          <a:p>
            <a:pPr>
              <a:lnSpc>
                <a:spcPct val="80000"/>
              </a:lnSpc>
            </a:pPr>
            <a:endParaRPr lang="zh-CN" altLang="en-US" sz="3200" dirty="0">
              <a:ea typeface="楷体_GB2312" panose="02010609030101010101" pitchFamily="49" charset="-122"/>
            </a:endParaRPr>
          </a:p>
          <a:p>
            <a:pPr>
              <a:lnSpc>
                <a:spcPct val="80000"/>
              </a:lnSpc>
            </a:pPr>
            <a:r>
              <a:rPr lang="zh-CN" altLang="en-US" sz="3200" dirty="0">
                <a:ea typeface="楷体_GB2312" panose="02010609030101010101" pitchFamily="49" charset="-122"/>
              </a:rPr>
              <a:t>数据的</a:t>
            </a:r>
            <a:r>
              <a:rPr lang="zh-CN" altLang="en-US" sz="3200" b="1" dirty="0">
                <a:solidFill>
                  <a:srgbClr val="FF0000"/>
                </a:solidFill>
                <a:latin typeface="隶书" panose="02010509060101010101" pitchFamily="49" charset="-122"/>
                <a:ea typeface="楷体_GB2312" panose="02010609030101010101" pitchFamily="49" charset="-122"/>
              </a:rPr>
              <a:t>逻辑结构</a:t>
            </a:r>
            <a:r>
              <a:rPr lang="zh-CN" altLang="en-US" sz="3200" dirty="0">
                <a:ea typeface="楷体_GB2312" panose="02010609030101010101" pitchFamily="49" charset="-122"/>
              </a:rPr>
              <a:t>可以看作是从具体问题抽象出来的数学模型，它与数据的存储无关。</a:t>
            </a:r>
            <a:endParaRPr lang="zh-CN" altLang="en-US" sz="3200" dirty="0">
              <a:ea typeface="楷体_GB2312" panose="02010609030101010101" pitchFamily="49" charset="-122"/>
            </a:endParaRPr>
          </a:p>
          <a:p>
            <a:pPr>
              <a:lnSpc>
                <a:spcPct val="80000"/>
              </a:lnSpc>
            </a:pPr>
            <a:endParaRPr lang="zh-CN" altLang="en-US" sz="3200" dirty="0">
              <a:ea typeface="楷体_GB2312" panose="02010609030101010101" pitchFamily="49" charset="-122"/>
            </a:endParaRPr>
          </a:p>
          <a:p>
            <a:pPr>
              <a:lnSpc>
                <a:spcPct val="80000"/>
              </a:lnSpc>
            </a:pPr>
            <a:r>
              <a:rPr lang="zh-CN" altLang="en-US" sz="3200" dirty="0">
                <a:ea typeface="楷体_GB2312" panose="02010609030101010101" pitchFamily="49" charset="-122"/>
              </a:rPr>
              <a:t>数据结构在计算机中的标识</a:t>
            </a:r>
            <a:r>
              <a:rPr lang="en-US" altLang="zh-CN" sz="3200" dirty="0">
                <a:ea typeface="楷体_GB2312" panose="02010609030101010101" pitchFamily="49" charset="-122"/>
              </a:rPr>
              <a:t>(</a:t>
            </a:r>
            <a:r>
              <a:rPr lang="zh-CN" altLang="en-US" sz="3200" dirty="0">
                <a:ea typeface="楷体_GB2312" panose="02010609030101010101" pitchFamily="49" charset="-122"/>
              </a:rPr>
              <a:t>又称映像</a:t>
            </a:r>
            <a:r>
              <a:rPr lang="en-US" altLang="zh-CN" sz="3200" dirty="0">
                <a:ea typeface="楷体_GB2312" panose="02010609030101010101" pitchFamily="49" charset="-122"/>
              </a:rPr>
              <a:t>)</a:t>
            </a:r>
            <a:r>
              <a:rPr lang="zh-CN" altLang="en-US" sz="3200" dirty="0">
                <a:ea typeface="楷体_GB2312" panose="02010609030101010101" pitchFamily="49" charset="-122"/>
              </a:rPr>
              <a:t>称为数据的</a:t>
            </a:r>
            <a:r>
              <a:rPr lang="zh-CN" altLang="en-US" sz="3200" b="1" dirty="0">
                <a:solidFill>
                  <a:srgbClr val="FF0000"/>
                </a:solidFill>
                <a:latin typeface="隶书" panose="02010509060101010101" pitchFamily="49" charset="-122"/>
                <a:ea typeface="楷体_GB2312" panose="02010609030101010101" pitchFamily="49" charset="-122"/>
              </a:rPr>
              <a:t>物理结构</a:t>
            </a:r>
            <a:r>
              <a:rPr lang="zh-CN" altLang="en-US" sz="3200" dirty="0">
                <a:ea typeface="楷体_GB2312" panose="02010609030101010101" pitchFamily="49" charset="-122"/>
              </a:rPr>
              <a:t>，或称</a:t>
            </a:r>
            <a:r>
              <a:rPr lang="zh-CN" altLang="en-US" sz="3200" b="1" dirty="0">
                <a:solidFill>
                  <a:srgbClr val="FF0000"/>
                </a:solidFill>
                <a:latin typeface="隶书" panose="02010509060101010101" pitchFamily="49" charset="-122"/>
                <a:ea typeface="楷体_GB2312" panose="02010609030101010101" pitchFamily="49" charset="-122"/>
              </a:rPr>
              <a:t>存储结构</a:t>
            </a:r>
            <a:r>
              <a:rPr lang="zh-CN" altLang="en-US" sz="3200" dirty="0">
                <a:ea typeface="楷体_GB2312" panose="02010609030101010101" pitchFamily="49" charset="-122"/>
              </a:rPr>
              <a:t>。它所研究的是数据结构在计算机中的实现方法，包括数据结构中</a:t>
            </a:r>
            <a:r>
              <a:rPr lang="zh-CN" altLang="en-US" sz="3200" dirty="0">
                <a:solidFill>
                  <a:srgbClr val="FF0000"/>
                </a:solidFill>
                <a:ea typeface="楷体_GB2312" panose="02010609030101010101" pitchFamily="49" charset="-122"/>
              </a:rPr>
              <a:t>元素的表示及元素间关系的表示。</a:t>
            </a:r>
            <a:endParaRPr lang="zh-CN" altLang="en-US" sz="3200" dirty="0">
              <a:solidFill>
                <a:srgbClr val="FF0000"/>
              </a:solidFill>
              <a:ea typeface="楷体_GB2312" panose="02010609030101010101" pitchFamily="49" charset="-122"/>
            </a:endParaRPr>
          </a:p>
        </p:txBody>
      </p:sp>
      <p:sp>
        <p:nvSpPr>
          <p:cNvPr id="2" name="标题 1"/>
          <p:cNvSpPr>
            <a:spLocks noGrp="1"/>
          </p:cNvSpPr>
          <p:nvPr>
            <p:ph type="title"/>
          </p:nvPr>
        </p:nvSpPr>
        <p:spPr/>
        <p:txBody>
          <a:bodyPr/>
          <a:lstStyle/>
          <a:p>
            <a:endParaRPr lang="zh-CN" altLang="en-US"/>
          </a:p>
        </p:txBody>
      </p:sp>
      <p:sp>
        <p:nvSpPr>
          <p:cNvPr id="3" name="日期占位符 2"/>
          <p:cNvSpPr>
            <a:spLocks noGrp="1"/>
          </p:cNvSpPr>
          <p:nvPr>
            <p:ph type="dt" sz="half" idx="10"/>
          </p:nvPr>
        </p:nvSpPr>
        <p:spPr/>
        <p:txBody>
          <a:bodyPr/>
          <a:lstStyle/>
          <a:p>
            <a:r>
              <a:rPr lang="en-US" altLang="zh-CN"/>
              <a:t>Data Structures and algorithms</a:t>
            </a:r>
            <a:endParaRPr lang="zh-CN" altLang="en-US"/>
          </a:p>
        </p:txBody>
      </p:sp>
      <p:sp>
        <p:nvSpPr>
          <p:cNvPr id="4" name="页脚占位符 3"/>
          <p:cNvSpPr>
            <a:spLocks noGrp="1"/>
          </p:cNvSpPr>
          <p:nvPr>
            <p:ph type="ftr" sz="quarter" idx="11"/>
          </p:nvPr>
        </p:nvSpPr>
        <p:spPr/>
        <p:txBody>
          <a:bodyPr/>
          <a:lstStyle/>
          <a:p>
            <a:r>
              <a:rPr lang="en-US" altLang="zh-CN"/>
              <a:t>Software College Northeastern University</a:t>
            </a:r>
            <a:endParaRPr lang="zh-CN" altLang="en-US"/>
          </a:p>
        </p:txBody>
      </p:sp>
      <p:sp>
        <p:nvSpPr>
          <p:cNvPr id="5" name="灯片编号占位符 4"/>
          <p:cNvSpPr>
            <a:spLocks noGrp="1"/>
          </p:cNvSpPr>
          <p:nvPr>
            <p:ph type="sldNum" sz="quarter" idx="12"/>
          </p:nvPr>
        </p:nvSpPr>
        <p:spPr/>
        <p:txBody>
          <a:bodyPr/>
          <a:lstStyle/>
          <a:p>
            <a:fld id="{6E1C0148-8E4B-4B2F-95CE-20B4709700AE}" type="slidenum">
              <a:rPr lang="zh-CN" altLang="en-US" smtClean="0"/>
            </a:fld>
            <a:endParaRPr lang="zh-CN" altLang="en-US" dirty="0"/>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1154" name="Text Box 2"/>
          <p:cNvSpPr txBox="1"/>
          <p:nvPr/>
        </p:nvSpPr>
        <p:spPr>
          <a:xfrm>
            <a:off x="1524000" y="152400"/>
            <a:ext cx="4478338" cy="777875"/>
          </a:xfrm>
          <a:prstGeom prst="rect">
            <a:avLst/>
          </a:prstGeom>
          <a:noFill/>
          <a:ln w="9525">
            <a:noFill/>
          </a:ln>
        </p:spPr>
        <p:txBody>
          <a:bodyPr wrap="none">
            <a:spAutoFit/>
          </a:bodyPr>
          <a:lstStyle/>
          <a:p>
            <a:r>
              <a:rPr lang="zh-CN" altLang="en-US" sz="4500" dirty="0">
                <a:latin typeface="楷体_GB2312" panose="02010609030101010101" pitchFamily="49" charset="-122"/>
                <a:ea typeface="楷体_GB2312" panose="02010609030101010101" pitchFamily="49" charset="-122"/>
              </a:rPr>
              <a:t>数据的</a:t>
            </a:r>
            <a:r>
              <a:rPr lang="zh-CN" altLang="en-US" sz="4500" b="1" dirty="0">
                <a:solidFill>
                  <a:schemeClr val="tx2"/>
                </a:solidFill>
                <a:latin typeface="隶书" panose="02010509060101010101" pitchFamily="49" charset="-122"/>
                <a:ea typeface="隶书" panose="02010509060101010101" pitchFamily="49" charset="-122"/>
              </a:rPr>
              <a:t>存储结构</a:t>
            </a:r>
            <a:r>
              <a:rPr lang="zh-CN" altLang="en-US" sz="4500" b="1" dirty="0">
                <a:latin typeface="楷体_GB2312" panose="02010609030101010101" pitchFamily="49" charset="-122"/>
                <a:ea typeface="楷体_GB2312" panose="02010609030101010101" pitchFamily="49" charset="-122"/>
              </a:rPr>
              <a:t> </a:t>
            </a:r>
            <a:endParaRPr lang="zh-CN" altLang="en-US" sz="4500" b="1" dirty="0">
              <a:latin typeface="楷体_GB2312" panose="02010609030101010101" pitchFamily="49" charset="-122"/>
              <a:ea typeface="楷体_GB2312" panose="02010609030101010101" pitchFamily="49" charset="-122"/>
            </a:endParaRPr>
          </a:p>
        </p:txBody>
      </p:sp>
      <p:sp>
        <p:nvSpPr>
          <p:cNvPr id="561155" name="Text Box 3"/>
          <p:cNvSpPr txBox="1"/>
          <p:nvPr/>
        </p:nvSpPr>
        <p:spPr>
          <a:xfrm>
            <a:off x="990600" y="1066800"/>
            <a:ext cx="7924800" cy="1555750"/>
          </a:xfrm>
          <a:prstGeom prst="rect">
            <a:avLst/>
          </a:prstGeom>
          <a:noFill/>
          <a:ln w="9525">
            <a:noFill/>
          </a:ln>
        </p:spPr>
        <p:txBody>
          <a:bodyPr>
            <a:spAutoFit/>
          </a:bodyPr>
          <a:lstStyle/>
          <a:p>
            <a:pPr>
              <a:lnSpc>
                <a:spcPct val="120000"/>
              </a:lnSpc>
            </a:pPr>
            <a:r>
              <a:rPr lang="en-US" altLang="zh-CN" sz="4000" b="1" dirty="0">
                <a:latin typeface="Times New Roman" panose="02020603050405020304" pitchFamily="18" charset="0"/>
                <a:ea typeface="楷体_GB2312" panose="02010609030101010101" pitchFamily="49" charset="-122"/>
              </a:rPr>
              <a:t>——</a:t>
            </a:r>
            <a:r>
              <a:rPr lang="en-US" altLang="zh-CN" sz="4000" b="1" dirty="0">
                <a:latin typeface="楷体_GB2312" panose="02010609030101010101" pitchFamily="49" charset="-122"/>
                <a:ea typeface="楷体_GB2312" panose="02010609030101010101" pitchFamily="49" charset="-122"/>
              </a:rPr>
              <a:t> </a:t>
            </a:r>
            <a:r>
              <a:rPr lang="zh-CN" altLang="en-US" sz="4000" dirty="0">
                <a:solidFill>
                  <a:srgbClr val="333399"/>
                </a:solidFill>
                <a:latin typeface="楷体_GB2312" panose="02010609030101010101" pitchFamily="49" charset="-122"/>
                <a:ea typeface="楷体_GB2312" panose="02010609030101010101" pitchFamily="49" charset="-122"/>
              </a:rPr>
              <a:t>逻辑结构在存储器中的</a:t>
            </a:r>
            <a:r>
              <a:rPr lang="zh-CN" altLang="en-US" sz="4000" b="1" dirty="0">
                <a:solidFill>
                  <a:srgbClr val="333399"/>
                </a:solidFill>
                <a:latin typeface="楷体_GB2312" panose="02010609030101010101" pitchFamily="49" charset="-122"/>
                <a:ea typeface="楷体_GB2312" panose="02010609030101010101" pitchFamily="49" charset="-122"/>
              </a:rPr>
              <a:t>映象</a:t>
            </a:r>
            <a:endParaRPr lang="zh-CN" altLang="en-US" sz="4000" b="1" dirty="0">
              <a:solidFill>
                <a:srgbClr val="333399"/>
              </a:solidFill>
              <a:latin typeface="楷体_GB2312" panose="02010609030101010101" pitchFamily="49" charset="-122"/>
              <a:ea typeface="楷体_GB2312" panose="02010609030101010101" pitchFamily="49" charset="-122"/>
            </a:endParaRPr>
          </a:p>
          <a:p>
            <a:pPr>
              <a:lnSpc>
                <a:spcPct val="120000"/>
              </a:lnSpc>
            </a:pPr>
            <a:r>
              <a:rPr lang="zh-CN" altLang="en-US" sz="4000" b="1" dirty="0">
                <a:latin typeface="楷体_GB2312" panose="02010609030101010101" pitchFamily="49" charset="-122"/>
                <a:ea typeface="楷体_GB2312" panose="02010609030101010101" pitchFamily="49" charset="-122"/>
              </a:rPr>
              <a:t>存储结构两方面的内容</a:t>
            </a:r>
            <a:endParaRPr lang="zh-CN" altLang="en-US" sz="4000" b="1" dirty="0">
              <a:latin typeface="楷体_GB2312" panose="02010609030101010101" pitchFamily="49" charset="-122"/>
              <a:ea typeface="楷体_GB2312" panose="02010609030101010101" pitchFamily="49" charset="-122"/>
            </a:endParaRPr>
          </a:p>
        </p:txBody>
      </p:sp>
      <p:sp>
        <p:nvSpPr>
          <p:cNvPr id="561156" name="Text Box 4"/>
          <p:cNvSpPr txBox="1"/>
          <p:nvPr/>
        </p:nvSpPr>
        <p:spPr>
          <a:xfrm>
            <a:off x="2209800" y="2743200"/>
            <a:ext cx="6127750" cy="1190625"/>
          </a:xfrm>
          <a:prstGeom prst="rect">
            <a:avLst/>
          </a:prstGeom>
          <a:noFill/>
          <a:ln w="9525">
            <a:noFill/>
          </a:ln>
        </p:spPr>
        <p:txBody>
          <a:bodyPr wrap="none">
            <a:spAutoFit/>
          </a:bodyPr>
          <a:lstStyle/>
          <a:p>
            <a:r>
              <a:rPr lang="en-US" altLang="zh-CN" sz="3600" dirty="0">
                <a:latin typeface="Times New Roman" panose="02020603050405020304" pitchFamily="18" charset="0"/>
                <a:ea typeface="楷体_GB2312" panose="02010609030101010101" pitchFamily="49" charset="-122"/>
              </a:rPr>
              <a:t>（1）</a:t>
            </a:r>
            <a:r>
              <a:rPr lang="zh-CN" altLang="en-US" sz="3600" dirty="0">
                <a:latin typeface="Times New Roman" panose="02020603050405020304" pitchFamily="18" charset="0"/>
                <a:ea typeface="楷体_GB2312" panose="02010609030101010101" pitchFamily="49" charset="-122"/>
              </a:rPr>
              <a:t>“数据元素”的映象  ？</a:t>
            </a:r>
            <a:endParaRPr lang="zh-CN" altLang="en-US" sz="3600" dirty="0">
              <a:latin typeface="Times New Roman" panose="02020603050405020304" pitchFamily="18" charset="0"/>
              <a:ea typeface="楷体_GB2312" panose="02010609030101010101" pitchFamily="49" charset="-122"/>
            </a:endParaRPr>
          </a:p>
          <a:p>
            <a:endParaRPr lang="zh-CN" altLang="en-US" sz="3600" dirty="0">
              <a:latin typeface="Times New Roman" panose="02020603050405020304" pitchFamily="18" charset="0"/>
              <a:ea typeface="楷体_GB2312" panose="02010609030101010101" pitchFamily="49" charset="-122"/>
            </a:endParaRPr>
          </a:p>
        </p:txBody>
      </p:sp>
      <p:sp>
        <p:nvSpPr>
          <p:cNvPr id="561157" name="Text Box 5"/>
          <p:cNvSpPr txBox="1"/>
          <p:nvPr/>
        </p:nvSpPr>
        <p:spPr>
          <a:xfrm>
            <a:off x="2286000" y="3429000"/>
            <a:ext cx="5213350" cy="641350"/>
          </a:xfrm>
          <a:prstGeom prst="rect">
            <a:avLst/>
          </a:prstGeom>
          <a:noFill/>
          <a:ln w="9525">
            <a:noFill/>
          </a:ln>
        </p:spPr>
        <p:txBody>
          <a:bodyPr wrap="none">
            <a:spAutoFit/>
          </a:bodyPr>
          <a:lstStyle/>
          <a:p>
            <a:r>
              <a:rPr lang="en-US" altLang="zh-CN" sz="3600" dirty="0">
                <a:latin typeface="Times New Roman" panose="02020603050405020304" pitchFamily="18" charset="0"/>
                <a:ea typeface="楷体_GB2312" panose="02010609030101010101" pitchFamily="49" charset="-122"/>
              </a:rPr>
              <a:t>（2）</a:t>
            </a:r>
            <a:r>
              <a:rPr lang="zh-CN" altLang="en-US" sz="3600" dirty="0">
                <a:latin typeface="Times New Roman" panose="02020603050405020304" pitchFamily="18" charset="0"/>
                <a:ea typeface="楷体_GB2312" panose="02010609030101010101" pitchFamily="49" charset="-122"/>
              </a:rPr>
              <a:t>“关系”的映象  ？</a:t>
            </a:r>
            <a:endParaRPr lang="zh-CN" altLang="en-US" sz="3600" dirty="0">
              <a:latin typeface="Times New Roman" panose="02020603050405020304" pitchFamily="18" charset="0"/>
              <a:ea typeface="楷体_GB2312" panose="02010609030101010101" pitchFamily="49" charset="-122"/>
            </a:endParaRPr>
          </a:p>
        </p:txBody>
      </p:sp>
      <p:sp>
        <p:nvSpPr>
          <p:cNvPr id="2" name="日期占位符 1"/>
          <p:cNvSpPr>
            <a:spLocks noGrp="1"/>
          </p:cNvSpPr>
          <p:nvPr>
            <p:ph type="dt" sz="half" idx="10"/>
          </p:nvPr>
        </p:nvSpPr>
        <p:spPr/>
        <p:txBody>
          <a:bodyPr/>
          <a:lstStyle/>
          <a:p>
            <a:r>
              <a:rPr lang="en-US" altLang="zh-CN"/>
              <a:t>Data Structures and algorithms</a:t>
            </a:r>
            <a:endParaRPr lang="zh-CN" altLang="en-US"/>
          </a:p>
        </p:txBody>
      </p:sp>
      <p:sp>
        <p:nvSpPr>
          <p:cNvPr id="3" name="页脚占位符 2"/>
          <p:cNvSpPr>
            <a:spLocks noGrp="1"/>
          </p:cNvSpPr>
          <p:nvPr>
            <p:ph type="ftr" sz="quarter" idx="11"/>
          </p:nvPr>
        </p:nvSpPr>
        <p:spPr/>
        <p:txBody>
          <a:bodyPr/>
          <a:lstStyle/>
          <a:p>
            <a:r>
              <a:rPr lang="en-US" altLang="zh-CN"/>
              <a:t>Software College Northeastern University</a:t>
            </a:r>
            <a:endParaRPr lang="zh-CN" altLang="en-US"/>
          </a:p>
        </p:txBody>
      </p:sp>
      <p:sp>
        <p:nvSpPr>
          <p:cNvPr id="4" name="灯片编号占位符 3"/>
          <p:cNvSpPr>
            <a:spLocks noGrp="1"/>
          </p:cNvSpPr>
          <p:nvPr>
            <p:ph type="sldNum" sz="quarter" idx="12"/>
          </p:nvPr>
        </p:nvSpPr>
        <p:spPr/>
        <p:txBody>
          <a:bodyPr/>
          <a:lstStyle/>
          <a:p>
            <a:fld id="{6E1C0148-8E4B-4B2F-95CE-20B4709700AE}" type="slidenum">
              <a:rPr lang="zh-CN" altLang="en-US" smtClean="0"/>
            </a:fld>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grpId="0" nodeType="afterEffect">
                                  <p:stCondLst>
                                    <p:cond delay="0"/>
                                  </p:stCondLst>
                                  <p:childTnLst>
                                    <p:set>
                                      <p:cBhvr>
                                        <p:cTn id="6" dur="1" fill="hold">
                                          <p:stCondLst>
                                            <p:cond delay="0"/>
                                          </p:stCondLst>
                                        </p:cTn>
                                        <p:tgtEl>
                                          <p:spTgt spid="561154"/>
                                        </p:tgtEl>
                                        <p:attrNameLst>
                                          <p:attrName>style.visibility</p:attrName>
                                        </p:attrNameLst>
                                      </p:cBhvr>
                                      <p:to>
                                        <p:strVal val="visible"/>
                                      </p:to>
                                    </p:set>
                                    <p:animEffect transition="in" filter="slide(fromRight)">
                                      <p:cBhvr>
                                        <p:cTn id="7" dur="500"/>
                                        <p:tgtEl>
                                          <p:spTgt spid="56115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61155"/>
                                        </p:tgtEl>
                                        <p:attrNameLst>
                                          <p:attrName>style.visibility</p:attrName>
                                        </p:attrNameLst>
                                      </p:cBhvr>
                                      <p:to>
                                        <p:strVal val="visible"/>
                                      </p:to>
                                    </p:set>
                                    <p:animEffect transition="in" filter="wipe(left)">
                                      <p:cBhvr>
                                        <p:cTn id="12" dur="500"/>
                                        <p:tgtEl>
                                          <p:spTgt spid="56115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61156"/>
                                        </p:tgtEl>
                                        <p:attrNameLst>
                                          <p:attrName>style.visibility</p:attrName>
                                        </p:attrNameLst>
                                      </p:cBhvr>
                                      <p:to>
                                        <p:strVal val="visible"/>
                                      </p:to>
                                    </p:set>
                                    <p:animEffect transition="in" filter="wipe(left)">
                                      <p:cBhvr>
                                        <p:cTn id="17" dur="500"/>
                                        <p:tgtEl>
                                          <p:spTgt spid="56115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61157"/>
                                        </p:tgtEl>
                                        <p:attrNameLst>
                                          <p:attrName>style.visibility</p:attrName>
                                        </p:attrNameLst>
                                      </p:cBhvr>
                                      <p:to>
                                        <p:strVal val="visible"/>
                                      </p:to>
                                    </p:set>
                                    <p:animEffect transition="in" filter="wipe(left)">
                                      <p:cBhvr>
                                        <p:cTn id="22" dur="500"/>
                                        <p:tgtEl>
                                          <p:spTgt spid="5611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1154" grpId="0"/>
      <p:bldP spid="561155" grpId="0"/>
      <p:bldP spid="561156" grpId="0"/>
      <p:bldP spid="561157"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9764" name="Text Box 4"/>
          <p:cNvSpPr>
            <a:spLocks noGrp="1"/>
          </p:cNvSpPr>
          <p:nvPr>
            <p:ph idx="1"/>
          </p:nvPr>
        </p:nvSpPr>
        <p:spPr/>
        <p:txBody>
          <a:bodyPr vert="horz" wrap="square" lIns="91436" tIns="45718" rIns="91436" bIns="45718" anchor="t">
            <a:noAutofit/>
          </a:bodyPr>
          <a:lstStyle/>
          <a:p>
            <a:pPr>
              <a:lnSpc>
                <a:spcPct val="90000"/>
              </a:lnSpc>
            </a:pPr>
            <a:r>
              <a:rPr lang="en-US" altLang="zh-CN" sz="3600" dirty="0">
                <a:latin typeface="Times New Roman" panose="02020603050405020304" pitchFamily="18" charset="0"/>
                <a:ea typeface="楷体_GB2312" panose="02010609030101010101" pitchFamily="49" charset="-122"/>
              </a:rPr>
              <a:t>四种基本的存储方法：</a:t>
            </a:r>
            <a:endParaRPr lang="en-US" altLang="zh-CN" sz="3600" dirty="0">
              <a:latin typeface="Times New Roman" panose="02020603050405020304" pitchFamily="18" charset="0"/>
              <a:ea typeface="楷体_GB2312" panose="02010609030101010101" pitchFamily="49" charset="-122"/>
            </a:endParaRPr>
          </a:p>
          <a:p>
            <a:pPr lvl="1">
              <a:lnSpc>
                <a:spcPct val="90000"/>
              </a:lnSpc>
              <a:buNone/>
            </a:pPr>
            <a:r>
              <a:rPr lang="en-US" altLang="zh-CN" sz="3600" dirty="0">
                <a:solidFill>
                  <a:srgbClr val="FF0000"/>
                </a:solidFill>
                <a:latin typeface="Times New Roman" panose="02020603050405020304" pitchFamily="18" charset="0"/>
                <a:ea typeface="楷体_GB2312" panose="02010609030101010101" pitchFamily="49" charset="-122"/>
              </a:rPr>
              <a:t>（1）顺序存储方法</a:t>
            </a:r>
            <a:endParaRPr lang="en-US" altLang="zh-CN" sz="3600" dirty="0">
              <a:solidFill>
                <a:srgbClr val="FF0000"/>
              </a:solidFill>
              <a:latin typeface="Times New Roman" panose="02020603050405020304" pitchFamily="18" charset="0"/>
              <a:ea typeface="楷体_GB2312" panose="02010609030101010101" pitchFamily="49" charset="-122"/>
            </a:endParaRPr>
          </a:p>
          <a:p>
            <a:pPr lvl="1">
              <a:lnSpc>
                <a:spcPct val="90000"/>
              </a:lnSpc>
              <a:buNone/>
            </a:pPr>
            <a:r>
              <a:rPr lang="en-US" altLang="zh-CN" sz="3600" dirty="0">
                <a:solidFill>
                  <a:srgbClr val="FF0000"/>
                </a:solidFill>
                <a:latin typeface="Times New Roman" panose="02020603050405020304" pitchFamily="18" charset="0"/>
                <a:ea typeface="楷体_GB2312" panose="02010609030101010101" pitchFamily="49" charset="-122"/>
              </a:rPr>
              <a:t>（2）链接存储方法</a:t>
            </a:r>
            <a:endParaRPr lang="en-US" altLang="zh-CN" sz="3600" dirty="0">
              <a:solidFill>
                <a:srgbClr val="FF0000"/>
              </a:solidFill>
              <a:latin typeface="Times New Roman" panose="02020603050405020304" pitchFamily="18" charset="0"/>
              <a:ea typeface="楷体_GB2312" panose="02010609030101010101" pitchFamily="49" charset="-122"/>
            </a:endParaRPr>
          </a:p>
          <a:p>
            <a:pPr lvl="1">
              <a:lnSpc>
                <a:spcPct val="90000"/>
              </a:lnSpc>
              <a:buNone/>
            </a:pPr>
            <a:r>
              <a:rPr lang="en-US" altLang="zh-CN" sz="3600" dirty="0">
                <a:solidFill>
                  <a:srgbClr val="FF0000"/>
                </a:solidFill>
                <a:latin typeface="Times New Roman" panose="02020603050405020304" pitchFamily="18" charset="0"/>
                <a:ea typeface="楷体_GB2312" panose="02010609030101010101" pitchFamily="49" charset="-122"/>
              </a:rPr>
              <a:t>（3）索引存储方法</a:t>
            </a:r>
            <a:endParaRPr lang="en-US" altLang="zh-CN" sz="3600" dirty="0">
              <a:solidFill>
                <a:srgbClr val="FF0000"/>
              </a:solidFill>
              <a:latin typeface="Times New Roman" panose="02020603050405020304" pitchFamily="18" charset="0"/>
              <a:ea typeface="楷体_GB2312" panose="02010609030101010101" pitchFamily="49" charset="-122"/>
            </a:endParaRPr>
          </a:p>
          <a:p>
            <a:pPr lvl="1">
              <a:lnSpc>
                <a:spcPct val="90000"/>
              </a:lnSpc>
              <a:buNone/>
            </a:pPr>
            <a:r>
              <a:rPr lang="en-US" altLang="zh-CN" sz="3600" dirty="0">
                <a:solidFill>
                  <a:srgbClr val="FF0000"/>
                </a:solidFill>
                <a:latin typeface="Times New Roman" panose="02020603050405020304" pitchFamily="18" charset="0"/>
                <a:ea typeface="楷体_GB2312" panose="02010609030101010101" pitchFamily="49" charset="-122"/>
              </a:rPr>
              <a:t>（4）散列存储方法</a:t>
            </a:r>
            <a:endParaRPr lang="en-US" altLang="zh-CN" sz="3600" dirty="0">
              <a:solidFill>
                <a:srgbClr val="FF0000"/>
              </a:solidFill>
              <a:latin typeface="Times New Roman" panose="02020603050405020304" pitchFamily="18" charset="0"/>
              <a:ea typeface="楷体_GB2312" panose="02010609030101010101" pitchFamily="49" charset="-122"/>
            </a:endParaRPr>
          </a:p>
          <a:p>
            <a:pPr>
              <a:lnSpc>
                <a:spcPct val="90000"/>
              </a:lnSpc>
              <a:buNone/>
            </a:pPr>
            <a:r>
              <a:rPr lang="en-US" altLang="zh-CN" sz="3600" dirty="0">
                <a:latin typeface="Times New Roman" panose="02020603050405020304" pitchFamily="18" charset="0"/>
                <a:ea typeface="楷体_GB2312" panose="02010609030101010101" pitchFamily="49" charset="-122"/>
              </a:rPr>
              <a:t>    同一种逻辑结构可采用不同的存储方法（以上四种之一或组合），这主要考虑的是运算方便及算法的时空要求。</a:t>
            </a:r>
            <a:endParaRPr lang="en-US" altLang="zh-CN" sz="3600" dirty="0">
              <a:latin typeface="Times New Roman" panose="02020603050405020304" pitchFamily="18" charset="0"/>
              <a:ea typeface="楷体_GB2312" panose="02010609030101010101" pitchFamily="49" charset="-122"/>
            </a:endParaRPr>
          </a:p>
        </p:txBody>
      </p:sp>
      <p:sp>
        <p:nvSpPr>
          <p:cNvPr id="37890" name="Rectangle 2"/>
          <p:cNvSpPr>
            <a:spLocks noGrp="1"/>
          </p:cNvSpPr>
          <p:nvPr>
            <p:ph type="title"/>
          </p:nvPr>
        </p:nvSpPr>
        <p:spPr/>
        <p:txBody>
          <a:bodyPr vert="horz" wrap="square" lIns="91436" tIns="45718" rIns="91436" bIns="45718" anchor="ctr"/>
          <a:lstStyle/>
          <a:p>
            <a:r>
              <a:rPr lang="en-US" altLang="zh-CN" sz="3600" dirty="0"/>
              <a:t>基本的存储方法</a:t>
            </a:r>
            <a:endParaRPr lang="en-US" altLang="zh-CN" sz="3600" dirty="0"/>
          </a:p>
        </p:txBody>
      </p:sp>
      <p:sp>
        <p:nvSpPr>
          <p:cNvPr id="2" name="日期占位符 1"/>
          <p:cNvSpPr>
            <a:spLocks noGrp="1"/>
          </p:cNvSpPr>
          <p:nvPr>
            <p:ph type="dt" sz="half" idx="10"/>
          </p:nvPr>
        </p:nvSpPr>
        <p:spPr/>
        <p:txBody>
          <a:bodyPr/>
          <a:lstStyle/>
          <a:p>
            <a:r>
              <a:rPr lang="en-US" altLang="zh-CN"/>
              <a:t>Data Structures and algorithms</a:t>
            </a:r>
            <a:endParaRPr lang="zh-CN" altLang="en-US"/>
          </a:p>
        </p:txBody>
      </p:sp>
      <p:sp>
        <p:nvSpPr>
          <p:cNvPr id="3" name="页脚占位符 2"/>
          <p:cNvSpPr>
            <a:spLocks noGrp="1"/>
          </p:cNvSpPr>
          <p:nvPr>
            <p:ph type="ftr" sz="quarter" idx="11"/>
          </p:nvPr>
        </p:nvSpPr>
        <p:spPr/>
        <p:txBody>
          <a:bodyPr/>
          <a:lstStyle/>
          <a:p>
            <a:r>
              <a:rPr lang="en-US" altLang="zh-CN"/>
              <a:t>Software College Northeastern University</a:t>
            </a:r>
            <a:endParaRPr lang="zh-CN" altLang="en-US"/>
          </a:p>
        </p:txBody>
      </p:sp>
      <p:sp>
        <p:nvSpPr>
          <p:cNvPr id="4" name="灯片编号占位符 3"/>
          <p:cNvSpPr>
            <a:spLocks noGrp="1"/>
          </p:cNvSpPr>
          <p:nvPr>
            <p:ph type="sldNum" sz="quarter" idx="12"/>
          </p:nvPr>
        </p:nvSpPr>
        <p:spPr/>
        <p:txBody>
          <a:bodyPr/>
          <a:lstStyle/>
          <a:p>
            <a:fld id="{6E1C0148-8E4B-4B2F-95CE-20B4709700AE}" type="slidenum">
              <a:rPr lang="zh-CN" altLang="en-US" smtClean="0"/>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29764"/>
                                        </p:tgtEl>
                                        <p:attrNameLst>
                                          <p:attrName>style.visibility</p:attrName>
                                        </p:attrNameLst>
                                      </p:cBhvr>
                                      <p:to>
                                        <p:strVal val="visible"/>
                                      </p:to>
                                    </p:set>
                                    <p:animEffect transition="in" filter="wipe(left)">
                                      <p:cBhvr>
                                        <p:cTn id="7" dur="500"/>
                                        <p:tgtEl>
                                          <p:spTgt spid="6297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9764"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8914" name="Group 75"/>
          <p:cNvGrpSpPr/>
          <p:nvPr/>
        </p:nvGrpSpPr>
        <p:grpSpPr>
          <a:xfrm>
            <a:off x="179388" y="241300"/>
            <a:ext cx="8726487" cy="6354763"/>
            <a:chOff x="113" y="152"/>
            <a:chExt cx="5497" cy="4003"/>
          </a:xfrm>
        </p:grpSpPr>
        <p:grpSp>
          <p:nvGrpSpPr>
            <p:cNvPr id="38915" name="Group 55"/>
            <p:cNvGrpSpPr/>
            <p:nvPr/>
          </p:nvGrpSpPr>
          <p:grpSpPr>
            <a:xfrm>
              <a:off x="113" y="2251"/>
              <a:ext cx="5497" cy="1904"/>
              <a:chOff x="119" y="40"/>
              <a:chExt cx="5497" cy="1904"/>
            </a:xfrm>
          </p:grpSpPr>
          <p:grpSp>
            <p:nvGrpSpPr>
              <p:cNvPr id="38932" name="Group 53"/>
              <p:cNvGrpSpPr/>
              <p:nvPr/>
            </p:nvGrpSpPr>
            <p:grpSpPr>
              <a:xfrm>
                <a:off x="119" y="40"/>
                <a:ext cx="5497" cy="1539"/>
                <a:chOff x="119" y="232"/>
                <a:chExt cx="5497" cy="1539"/>
              </a:xfrm>
            </p:grpSpPr>
            <p:sp>
              <p:nvSpPr>
                <p:cNvPr id="38934" name="Rectangle 4"/>
                <p:cNvSpPr/>
                <p:nvPr/>
              </p:nvSpPr>
              <p:spPr>
                <a:xfrm>
                  <a:off x="1824" y="232"/>
                  <a:ext cx="1020" cy="227"/>
                </a:xfrm>
                <a:prstGeom prst="rect">
                  <a:avLst/>
                </a:prstGeom>
                <a:noFill/>
                <a:ln w="9525" cap="flat" cmpd="sng">
                  <a:solidFill>
                    <a:schemeClr val="tx1"/>
                  </a:solidFill>
                  <a:prstDash val="solid"/>
                  <a:miter/>
                  <a:headEnd type="none" w="med" len="med"/>
                  <a:tailEnd type="none" w="med" len="med"/>
                </a:ln>
              </p:spPr>
              <p:txBody>
                <a:bodyPr wrap="none" anchor="ctr"/>
                <a:lstStyle/>
                <a:p>
                  <a:pPr algn="ctr"/>
                  <a:r>
                    <a:rPr lang="zh-CN" altLang="en-US" sz="1800" b="1" dirty="0">
                      <a:latin typeface="Times New Roman" panose="02020603050405020304" pitchFamily="18" charset="0"/>
                    </a:rPr>
                    <a:t>数据的逻辑结构</a:t>
                  </a:r>
                  <a:endParaRPr lang="zh-CN" altLang="en-US" sz="1800" b="1" dirty="0">
                    <a:latin typeface="Times New Roman" panose="02020603050405020304" pitchFamily="18" charset="0"/>
                  </a:endParaRPr>
                </a:p>
              </p:txBody>
            </p:sp>
            <p:grpSp>
              <p:nvGrpSpPr>
                <p:cNvPr id="38935" name="Group 34"/>
                <p:cNvGrpSpPr/>
                <p:nvPr/>
              </p:nvGrpSpPr>
              <p:grpSpPr>
                <a:xfrm>
                  <a:off x="2635" y="637"/>
                  <a:ext cx="2981" cy="1134"/>
                  <a:chOff x="2604" y="637"/>
                  <a:chExt cx="2981" cy="1134"/>
                </a:xfrm>
              </p:grpSpPr>
              <p:sp>
                <p:nvSpPr>
                  <p:cNvPr id="38959" name="Rectangle 6"/>
                  <p:cNvSpPr/>
                  <p:nvPr/>
                </p:nvSpPr>
                <p:spPr>
                  <a:xfrm>
                    <a:off x="3312" y="637"/>
                    <a:ext cx="816" cy="227"/>
                  </a:xfrm>
                  <a:prstGeom prst="rect">
                    <a:avLst/>
                  </a:prstGeom>
                  <a:noFill/>
                  <a:ln w="9525" cap="flat" cmpd="sng">
                    <a:solidFill>
                      <a:schemeClr val="tx1"/>
                    </a:solidFill>
                    <a:prstDash val="solid"/>
                    <a:miter/>
                    <a:headEnd type="none" w="med" len="med"/>
                    <a:tailEnd type="none" w="med" len="med"/>
                  </a:ln>
                </p:spPr>
                <p:txBody>
                  <a:bodyPr wrap="none" anchor="ctr"/>
                  <a:lstStyle/>
                  <a:p>
                    <a:pPr algn="ctr"/>
                    <a:r>
                      <a:rPr lang="zh-CN" altLang="en-US" sz="1800" b="1" dirty="0">
                        <a:latin typeface="Times New Roman" panose="02020603050405020304" pitchFamily="18" charset="0"/>
                      </a:rPr>
                      <a:t>非线性结构</a:t>
                    </a:r>
                    <a:endParaRPr lang="zh-CN" altLang="en-US" sz="1800" b="1" dirty="0">
                      <a:latin typeface="Times New Roman" panose="02020603050405020304" pitchFamily="18" charset="0"/>
                    </a:endParaRPr>
                  </a:p>
                </p:txBody>
              </p:sp>
              <p:sp>
                <p:nvSpPr>
                  <p:cNvPr id="38960" name="Rectangle 10"/>
                  <p:cNvSpPr/>
                  <p:nvPr/>
                </p:nvSpPr>
                <p:spPr>
                  <a:xfrm>
                    <a:off x="2604" y="1109"/>
                    <a:ext cx="340" cy="227"/>
                  </a:xfrm>
                  <a:prstGeom prst="rect">
                    <a:avLst/>
                  </a:prstGeom>
                  <a:noFill/>
                  <a:ln w="9525" cap="flat" cmpd="sng">
                    <a:solidFill>
                      <a:schemeClr val="tx1"/>
                    </a:solidFill>
                    <a:prstDash val="solid"/>
                    <a:miter/>
                    <a:headEnd type="none" w="med" len="med"/>
                    <a:tailEnd type="none" w="med" len="med"/>
                  </a:ln>
                </p:spPr>
                <p:txBody>
                  <a:bodyPr wrap="none" anchor="ctr"/>
                  <a:lstStyle/>
                  <a:p>
                    <a:pPr algn="ctr"/>
                    <a:r>
                      <a:rPr lang="zh-CN" altLang="en-US" sz="1800" dirty="0">
                        <a:latin typeface="Times New Roman" panose="02020603050405020304" pitchFamily="18" charset="0"/>
                      </a:rPr>
                      <a:t>集合</a:t>
                    </a:r>
                    <a:endParaRPr lang="zh-CN" altLang="en-US" sz="1800" dirty="0">
                      <a:latin typeface="Times New Roman" panose="02020603050405020304" pitchFamily="18" charset="0"/>
                    </a:endParaRPr>
                  </a:p>
                </p:txBody>
              </p:sp>
              <p:grpSp>
                <p:nvGrpSpPr>
                  <p:cNvPr id="38961" name="Group 22"/>
                  <p:cNvGrpSpPr/>
                  <p:nvPr/>
                </p:nvGrpSpPr>
                <p:grpSpPr>
                  <a:xfrm>
                    <a:off x="4472" y="1112"/>
                    <a:ext cx="1113" cy="659"/>
                    <a:chOff x="4472" y="1112"/>
                    <a:chExt cx="1113" cy="659"/>
                  </a:xfrm>
                </p:grpSpPr>
                <p:sp>
                  <p:nvSpPr>
                    <p:cNvPr id="38974" name="Rectangle 9"/>
                    <p:cNvSpPr/>
                    <p:nvPr/>
                  </p:nvSpPr>
                  <p:spPr>
                    <a:xfrm>
                      <a:off x="4696" y="1112"/>
                      <a:ext cx="680" cy="227"/>
                    </a:xfrm>
                    <a:prstGeom prst="rect">
                      <a:avLst/>
                    </a:prstGeom>
                    <a:noFill/>
                    <a:ln w="9525" cap="flat" cmpd="sng">
                      <a:solidFill>
                        <a:schemeClr val="tx1"/>
                      </a:solidFill>
                      <a:prstDash val="solid"/>
                      <a:miter/>
                      <a:headEnd type="none" w="med" len="med"/>
                      <a:tailEnd type="none" w="med" len="med"/>
                    </a:ln>
                  </p:spPr>
                  <p:txBody>
                    <a:bodyPr wrap="none" anchor="ctr"/>
                    <a:lstStyle/>
                    <a:p>
                      <a:pPr algn="ctr"/>
                      <a:r>
                        <a:rPr lang="zh-CN" altLang="en-US" sz="1800" dirty="0">
                          <a:latin typeface="Times New Roman" panose="02020603050405020304" pitchFamily="18" charset="0"/>
                        </a:rPr>
                        <a:t>图状结构</a:t>
                      </a:r>
                      <a:endParaRPr lang="zh-CN" altLang="en-US" sz="1800" dirty="0">
                        <a:latin typeface="Times New Roman" panose="02020603050405020304" pitchFamily="18" charset="0"/>
                      </a:endParaRPr>
                    </a:p>
                  </p:txBody>
                </p:sp>
                <p:sp>
                  <p:nvSpPr>
                    <p:cNvPr id="38975" name="Rectangle 14"/>
                    <p:cNvSpPr/>
                    <p:nvPr/>
                  </p:nvSpPr>
                  <p:spPr>
                    <a:xfrm>
                      <a:off x="4472" y="1544"/>
                      <a:ext cx="521" cy="227"/>
                    </a:xfrm>
                    <a:prstGeom prst="rect">
                      <a:avLst/>
                    </a:prstGeom>
                    <a:noFill/>
                    <a:ln w="9525" cap="flat" cmpd="sng">
                      <a:solidFill>
                        <a:schemeClr val="tx1"/>
                      </a:solidFill>
                      <a:prstDash val="solid"/>
                      <a:miter/>
                      <a:headEnd type="none" w="med" len="med"/>
                      <a:tailEnd type="none" w="med" len="med"/>
                    </a:ln>
                  </p:spPr>
                  <p:txBody>
                    <a:bodyPr wrap="none" anchor="ctr"/>
                    <a:lstStyle/>
                    <a:p>
                      <a:pPr algn="ctr"/>
                      <a:r>
                        <a:rPr lang="zh-CN" altLang="en-US" sz="1800" dirty="0">
                          <a:latin typeface="Times New Roman" panose="02020603050405020304" pitchFamily="18" charset="0"/>
                        </a:rPr>
                        <a:t>有向图</a:t>
                      </a:r>
                      <a:endParaRPr lang="zh-CN" altLang="en-US" sz="1800" dirty="0">
                        <a:latin typeface="Times New Roman" panose="02020603050405020304" pitchFamily="18" charset="0"/>
                      </a:endParaRPr>
                    </a:p>
                  </p:txBody>
                </p:sp>
                <p:sp>
                  <p:nvSpPr>
                    <p:cNvPr id="38976" name="Rectangle 17"/>
                    <p:cNvSpPr/>
                    <p:nvPr/>
                  </p:nvSpPr>
                  <p:spPr>
                    <a:xfrm>
                      <a:off x="5064" y="1544"/>
                      <a:ext cx="521" cy="227"/>
                    </a:xfrm>
                    <a:prstGeom prst="rect">
                      <a:avLst/>
                    </a:prstGeom>
                    <a:noFill/>
                    <a:ln w="9525" cap="flat" cmpd="sng">
                      <a:solidFill>
                        <a:schemeClr val="tx1"/>
                      </a:solidFill>
                      <a:prstDash val="solid"/>
                      <a:miter/>
                      <a:headEnd type="none" w="med" len="med"/>
                      <a:tailEnd type="none" w="med" len="med"/>
                    </a:ln>
                  </p:spPr>
                  <p:txBody>
                    <a:bodyPr wrap="none" anchor="ctr"/>
                    <a:lstStyle/>
                    <a:p>
                      <a:pPr algn="ctr"/>
                      <a:r>
                        <a:rPr lang="zh-CN" altLang="en-US" sz="1800" dirty="0">
                          <a:latin typeface="Times New Roman" panose="02020603050405020304" pitchFamily="18" charset="0"/>
                        </a:rPr>
                        <a:t>无向图</a:t>
                      </a:r>
                      <a:endParaRPr lang="zh-CN" altLang="en-US" sz="1800" dirty="0">
                        <a:latin typeface="Times New Roman" panose="02020603050405020304" pitchFamily="18" charset="0"/>
                      </a:endParaRPr>
                    </a:p>
                  </p:txBody>
                </p:sp>
                <p:sp>
                  <p:nvSpPr>
                    <p:cNvPr id="38977" name="Line 18"/>
                    <p:cNvSpPr/>
                    <p:nvPr/>
                  </p:nvSpPr>
                  <p:spPr>
                    <a:xfrm>
                      <a:off x="4752" y="1440"/>
                      <a:ext cx="576" cy="0"/>
                    </a:xfrm>
                    <a:prstGeom prst="line">
                      <a:avLst/>
                    </a:prstGeom>
                    <a:ln w="9525" cap="flat" cmpd="sng">
                      <a:solidFill>
                        <a:schemeClr val="tx1"/>
                      </a:solidFill>
                      <a:prstDash val="solid"/>
                      <a:miter/>
                      <a:headEnd type="none" w="med" len="med"/>
                      <a:tailEnd type="none" w="med" len="med"/>
                    </a:ln>
                  </p:spPr>
                </p:sp>
                <p:sp>
                  <p:nvSpPr>
                    <p:cNvPr id="38978" name="Line 19"/>
                    <p:cNvSpPr/>
                    <p:nvPr/>
                  </p:nvSpPr>
                  <p:spPr>
                    <a:xfrm>
                      <a:off x="4752" y="1440"/>
                      <a:ext cx="0" cy="96"/>
                    </a:xfrm>
                    <a:prstGeom prst="line">
                      <a:avLst/>
                    </a:prstGeom>
                    <a:ln w="9525" cap="flat" cmpd="sng">
                      <a:solidFill>
                        <a:schemeClr val="tx1"/>
                      </a:solidFill>
                      <a:prstDash val="solid"/>
                      <a:miter/>
                      <a:headEnd type="none" w="med" len="med"/>
                      <a:tailEnd type="none" w="med" len="med"/>
                    </a:ln>
                  </p:spPr>
                </p:sp>
                <p:sp>
                  <p:nvSpPr>
                    <p:cNvPr id="38979" name="Line 20"/>
                    <p:cNvSpPr/>
                    <p:nvPr/>
                  </p:nvSpPr>
                  <p:spPr>
                    <a:xfrm>
                      <a:off x="5328" y="1440"/>
                      <a:ext cx="0" cy="96"/>
                    </a:xfrm>
                    <a:prstGeom prst="line">
                      <a:avLst/>
                    </a:prstGeom>
                    <a:ln w="9525" cap="flat" cmpd="sng">
                      <a:solidFill>
                        <a:schemeClr val="tx1"/>
                      </a:solidFill>
                      <a:prstDash val="solid"/>
                      <a:miter/>
                      <a:headEnd type="none" w="med" len="med"/>
                      <a:tailEnd type="none" w="med" len="med"/>
                    </a:ln>
                  </p:spPr>
                </p:sp>
                <p:sp>
                  <p:nvSpPr>
                    <p:cNvPr id="38980" name="Line 21"/>
                    <p:cNvSpPr/>
                    <p:nvPr/>
                  </p:nvSpPr>
                  <p:spPr>
                    <a:xfrm>
                      <a:off x="5040" y="1344"/>
                      <a:ext cx="0" cy="96"/>
                    </a:xfrm>
                    <a:prstGeom prst="line">
                      <a:avLst/>
                    </a:prstGeom>
                    <a:ln w="9525" cap="flat" cmpd="sng">
                      <a:solidFill>
                        <a:schemeClr val="tx1"/>
                      </a:solidFill>
                      <a:prstDash val="solid"/>
                      <a:miter/>
                      <a:headEnd type="none" w="med" len="med"/>
                      <a:tailEnd type="none" w="med" len="med"/>
                    </a:ln>
                  </p:spPr>
                </p:sp>
              </p:grpSp>
              <p:grpSp>
                <p:nvGrpSpPr>
                  <p:cNvPr id="38962" name="Group 27"/>
                  <p:cNvGrpSpPr/>
                  <p:nvPr/>
                </p:nvGrpSpPr>
                <p:grpSpPr>
                  <a:xfrm>
                    <a:off x="3144" y="1104"/>
                    <a:ext cx="1185" cy="659"/>
                    <a:chOff x="3144" y="1104"/>
                    <a:chExt cx="1185" cy="659"/>
                  </a:xfrm>
                </p:grpSpPr>
                <p:sp>
                  <p:nvSpPr>
                    <p:cNvPr id="38967" name="Rectangle 8"/>
                    <p:cNvSpPr/>
                    <p:nvPr/>
                  </p:nvSpPr>
                  <p:spPr>
                    <a:xfrm>
                      <a:off x="3400" y="1104"/>
                      <a:ext cx="680" cy="227"/>
                    </a:xfrm>
                    <a:prstGeom prst="rect">
                      <a:avLst/>
                    </a:prstGeom>
                    <a:noFill/>
                    <a:ln w="9525" cap="flat" cmpd="sng">
                      <a:solidFill>
                        <a:schemeClr val="tx1"/>
                      </a:solidFill>
                      <a:prstDash val="solid"/>
                      <a:miter/>
                      <a:headEnd type="none" w="med" len="med"/>
                      <a:tailEnd type="none" w="med" len="med"/>
                    </a:ln>
                  </p:spPr>
                  <p:txBody>
                    <a:bodyPr wrap="none" anchor="ctr"/>
                    <a:lstStyle/>
                    <a:p>
                      <a:pPr algn="ctr"/>
                      <a:r>
                        <a:rPr lang="zh-CN" altLang="en-US" sz="1800" dirty="0">
                          <a:latin typeface="Times New Roman" panose="02020603050405020304" pitchFamily="18" charset="0"/>
                        </a:rPr>
                        <a:t>树形结构</a:t>
                      </a:r>
                      <a:endParaRPr lang="zh-CN" altLang="en-US" sz="1800" dirty="0">
                        <a:latin typeface="Times New Roman" panose="02020603050405020304" pitchFamily="18" charset="0"/>
                      </a:endParaRPr>
                    </a:p>
                  </p:txBody>
                </p:sp>
                <p:sp>
                  <p:nvSpPr>
                    <p:cNvPr id="38968" name="Rectangle 15"/>
                    <p:cNvSpPr/>
                    <p:nvPr/>
                  </p:nvSpPr>
                  <p:spPr>
                    <a:xfrm>
                      <a:off x="3144" y="1536"/>
                      <a:ext cx="521" cy="227"/>
                    </a:xfrm>
                    <a:prstGeom prst="rect">
                      <a:avLst/>
                    </a:prstGeom>
                    <a:noFill/>
                    <a:ln w="9525" cap="flat" cmpd="sng">
                      <a:solidFill>
                        <a:schemeClr val="tx1"/>
                      </a:solidFill>
                      <a:prstDash val="solid"/>
                      <a:miter/>
                      <a:headEnd type="none" w="med" len="med"/>
                      <a:tailEnd type="none" w="med" len="med"/>
                    </a:ln>
                  </p:spPr>
                  <p:txBody>
                    <a:bodyPr wrap="none" anchor="ctr"/>
                    <a:lstStyle/>
                    <a:p>
                      <a:pPr algn="ctr"/>
                      <a:r>
                        <a:rPr lang="zh-CN" altLang="en-US" sz="1800" dirty="0">
                          <a:latin typeface="Times New Roman" panose="02020603050405020304" pitchFamily="18" charset="0"/>
                        </a:rPr>
                        <a:t>一般树</a:t>
                      </a:r>
                      <a:endParaRPr lang="zh-CN" altLang="en-US" sz="1800" dirty="0">
                        <a:latin typeface="Times New Roman" panose="02020603050405020304" pitchFamily="18" charset="0"/>
                      </a:endParaRPr>
                    </a:p>
                  </p:txBody>
                </p:sp>
                <p:sp>
                  <p:nvSpPr>
                    <p:cNvPr id="38969" name="Rectangle 16"/>
                    <p:cNvSpPr/>
                    <p:nvPr/>
                  </p:nvSpPr>
                  <p:spPr>
                    <a:xfrm>
                      <a:off x="3808" y="1536"/>
                      <a:ext cx="521" cy="227"/>
                    </a:xfrm>
                    <a:prstGeom prst="rect">
                      <a:avLst/>
                    </a:prstGeom>
                    <a:noFill/>
                    <a:ln w="9525" cap="flat" cmpd="sng">
                      <a:solidFill>
                        <a:schemeClr val="tx1"/>
                      </a:solidFill>
                      <a:prstDash val="solid"/>
                      <a:miter/>
                      <a:headEnd type="none" w="med" len="med"/>
                      <a:tailEnd type="none" w="med" len="med"/>
                    </a:ln>
                  </p:spPr>
                  <p:txBody>
                    <a:bodyPr wrap="none" anchor="ctr"/>
                    <a:lstStyle/>
                    <a:p>
                      <a:pPr algn="ctr"/>
                      <a:r>
                        <a:rPr lang="zh-CN" altLang="en-US" sz="1800" dirty="0">
                          <a:latin typeface="Times New Roman" panose="02020603050405020304" pitchFamily="18" charset="0"/>
                        </a:rPr>
                        <a:t>二叉树</a:t>
                      </a:r>
                      <a:endParaRPr lang="zh-CN" altLang="en-US" sz="1800" dirty="0">
                        <a:latin typeface="Times New Roman" panose="02020603050405020304" pitchFamily="18" charset="0"/>
                      </a:endParaRPr>
                    </a:p>
                  </p:txBody>
                </p:sp>
                <p:sp>
                  <p:nvSpPr>
                    <p:cNvPr id="38970" name="Line 23"/>
                    <p:cNvSpPr/>
                    <p:nvPr/>
                  </p:nvSpPr>
                  <p:spPr>
                    <a:xfrm>
                      <a:off x="3408" y="1440"/>
                      <a:ext cx="0" cy="96"/>
                    </a:xfrm>
                    <a:prstGeom prst="line">
                      <a:avLst/>
                    </a:prstGeom>
                    <a:ln w="9525" cap="flat" cmpd="sng">
                      <a:solidFill>
                        <a:schemeClr val="tx1"/>
                      </a:solidFill>
                      <a:prstDash val="solid"/>
                      <a:miter/>
                      <a:headEnd type="none" w="med" len="med"/>
                      <a:tailEnd type="none" w="med" len="med"/>
                    </a:ln>
                  </p:spPr>
                </p:sp>
                <p:sp>
                  <p:nvSpPr>
                    <p:cNvPr id="38971" name="Line 24"/>
                    <p:cNvSpPr/>
                    <p:nvPr/>
                  </p:nvSpPr>
                  <p:spPr>
                    <a:xfrm>
                      <a:off x="4072" y="1440"/>
                      <a:ext cx="0" cy="96"/>
                    </a:xfrm>
                    <a:prstGeom prst="line">
                      <a:avLst/>
                    </a:prstGeom>
                    <a:ln w="9525" cap="flat" cmpd="sng">
                      <a:solidFill>
                        <a:schemeClr val="tx1"/>
                      </a:solidFill>
                      <a:prstDash val="solid"/>
                      <a:miter/>
                      <a:headEnd type="none" w="med" len="med"/>
                      <a:tailEnd type="none" w="med" len="med"/>
                    </a:ln>
                  </p:spPr>
                </p:sp>
                <p:sp>
                  <p:nvSpPr>
                    <p:cNvPr id="38972" name="Line 25"/>
                    <p:cNvSpPr/>
                    <p:nvPr/>
                  </p:nvSpPr>
                  <p:spPr>
                    <a:xfrm>
                      <a:off x="3744" y="1336"/>
                      <a:ext cx="0" cy="96"/>
                    </a:xfrm>
                    <a:prstGeom prst="line">
                      <a:avLst/>
                    </a:prstGeom>
                    <a:ln w="9525" cap="flat" cmpd="sng">
                      <a:solidFill>
                        <a:schemeClr val="tx1"/>
                      </a:solidFill>
                      <a:prstDash val="solid"/>
                      <a:miter/>
                      <a:headEnd type="none" w="med" len="med"/>
                      <a:tailEnd type="none" w="med" len="med"/>
                    </a:ln>
                  </p:spPr>
                </p:sp>
                <p:sp>
                  <p:nvSpPr>
                    <p:cNvPr id="38973" name="Line 26"/>
                    <p:cNvSpPr/>
                    <p:nvPr/>
                  </p:nvSpPr>
                  <p:spPr>
                    <a:xfrm>
                      <a:off x="3408" y="1440"/>
                      <a:ext cx="657" cy="0"/>
                    </a:xfrm>
                    <a:prstGeom prst="line">
                      <a:avLst/>
                    </a:prstGeom>
                    <a:ln w="9525" cap="flat" cmpd="sng">
                      <a:solidFill>
                        <a:schemeClr val="tx1"/>
                      </a:solidFill>
                      <a:prstDash val="solid"/>
                      <a:miter/>
                      <a:headEnd type="none" w="med" len="med"/>
                      <a:tailEnd type="none" w="med" len="med"/>
                    </a:ln>
                  </p:spPr>
                </p:sp>
              </p:grpSp>
              <p:sp>
                <p:nvSpPr>
                  <p:cNvPr id="38963" name="Line 28"/>
                  <p:cNvSpPr/>
                  <p:nvPr/>
                </p:nvSpPr>
                <p:spPr>
                  <a:xfrm>
                    <a:off x="2776" y="1016"/>
                    <a:ext cx="0" cy="96"/>
                  </a:xfrm>
                  <a:prstGeom prst="line">
                    <a:avLst/>
                  </a:prstGeom>
                  <a:ln w="9525" cap="flat" cmpd="sng">
                    <a:solidFill>
                      <a:schemeClr val="tx1"/>
                    </a:solidFill>
                    <a:prstDash val="solid"/>
                    <a:miter/>
                    <a:headEnd type="none" w="med" len="med"/>
                    <a:tailEnd type="none" w="med" len="med"/>
                  </a:ln>
                </p:spPr>
              </p:sp>
              <p:sp>
                <p:nvSpPr>
                  <p:cNvPr id="38964" name="Line 30"/>
                  <p:cNvSpPr/>
                  <p:nvPr/>
                </p:nvSpPr>
                <p:spPr>
                  <a:xfrm>
                    <a:off x="5032" y="1016"/>
                    <a:ext cx="0" cy="96"/>
                  </a:xfrm>
                  <a:prstGeom prst="line">
                    <a:avLst/>
                  </a:prstGeom>
                  <a:ln w="9525" cap="flat" cmpd="sng">
                    <a:solidFill>
                      <a:schemeClr val="tx1"/>
                    </a:solidFill>
                    <a:prstDash val="solid"/>
                    <a:miter/>
                    <a:headEnd type="none" w="med" len="med"/>
                    <a:tailEnd type="none" w="med" len="med"/>
                  </a:ln>
                </p:spPr>
              </p:sp>
              <p:sp>
                <p:nvSpPr>
                  <p:cNvPr id="38965" name="Line 32"/>
                  <p:cNvSpPr/>
                  <p:nvPr/>
                </p:nvSpPr>
                <p:spPr>
                  <a:xfrm>
                    <a:off x="2776" y="1008"/>
                    <a:ext cx="2256" cy="0"/>
                  </a:xfrm>
                  <a:prstGeom prst="line">
                    <a:avLst/>
                  </a:prstGeom>
                  <a:ln w="9525" cap="flat" cmpd="sng">
                    <a:solidFill>
                      <a:schemeClr val="tx1"/>
                    </a:solidFill>
                    <a:prstDash val="solid"/>
                    <a:miter/>
                    <a:headEnd type="none" w="med" len="med"/>
                    <a:tailEnd type="none" w="med" len="med"/>
                  </a:ln>
                </p:spPr>
              </p:sp>
              <p:sp>
                <p:nvSpPr>
                  <p:cNvPr id="38966" name="Line 33"/>
                  <p:cNvSpPr/>
                  <p:nvPr/>
                </p:nvSpPr>
                <p:spPr>
                  <a:xfrm>
                    <a:off x="3744" y="864"/>
                    <a:ext cx="0" cy="240"/>
                  </a:xfrm>
                  <a:prstGeom prst="line">
                    <a:avLst/>
                  </a:prstGeom>
                  <a:ln w="9525" cap="flat" cmpd="sng">
                    <a:solidFill>
                      <a:schemeClr val="tx1"/>
                    </a:solidFill>
                    <a:prstDash val="solid"/>
                    <a:miter/>
                    <a:headEnd type="none" w="med" len="med"/>
                    <a:tailEnd type="none" w="med" len="med"/>
                  </a:ln>
                </p:spPr>
              </p:sp>
            </p:grpSp>
            <p:grpSp>
              <p:nvGrpSpPr>
                <p:cNvPr id="38936" name="Group 48"/>
                <p:cNvGrpSpPr/>
                <p:nvPr/>
              </p:nvGrpSpPr>
              <p:grpSpPr>
                <a:xfrm>
                  <a:off x="119" y="637"/>
                  <a:ext cx="2841" cy="1123"/>
                  <a:chOff x="119" y="637"/>
                  <a:chExt cx="2841" cy="1123"/>
                </a:xfrm>
              </p:grpSpPr>
              <p:sp>
                <p:nvSpPr>
                  <p:cNvPr id="38941" name="Rectangle 5"/>
                  <p:cNvSpPr/>
                  <p:nvPr/>
                </p:nvSpPr>
                <p:spPr>
                  <a:xfrm>
                    <a:off x="816" y="637"/>
                    <a:ext cx="680" cy="227"/>
                  </a:xfrm>
                  <a:prstGeom prst="rect">
                    <a:avLst/>
                  </a:prstGeom>
                  <a:noFill/>
                  <a:ln w="9525" cap="flat" cmpd="sng">
                    <a:solidFill>
                      <a:schemeClr val="tx1"/>
                    </a:solidFill>
                    <a:prstDash val="solid"/>
                    <a:miter/>
                    <a:headEnd type="none" w="med" len="med"/>
                    <a:tailEnd type="none" w="med" len="med"/>
                  </a:ln>
                </p:spPr>
                <p:txBody>
                  <a:bodyPr wrap="none" anchor="ctr"/>
                  <a:lstStyle/>
                  <a:p>
                    <a:pPr algn="ctr"/>
                    <a:r>
                      <a:rPr lang="zh-CN" altLang="en-US" sz="1800" b="1" dirty="0">
                        <a:latin typeface="Times New Roman" panose="02020603050405020304" pitchFamily="18" charset="0"/>
                      </a:rPr>
                      <a:t>线性结构</a:t>
                    </a:r>
                    <a:endParaRPr lang="zh-CN" altLang="en-US" sz="1800" b="1" dirty="0">
                      <a:latin typeface="Times New Roman" panose="02020603050405020304" pitchFamily="18" charset="0"/>
                    </a:endParaRPr>
                  </a:p>
                </p:txBody>
              </p:sp>
              <p:sp>
                <p:nvSpPr>
                  <p:cNvPr id="38942" name="Rectangle 11"/>
                  <p:cNvSpPr/>
                  <p:nvPr/>
                </p:nvSpPr>
                <p:spPr>
                  <a:xfrm>
                    <a:off x="119" y="1533"/>
                    <a:ext cx="793" cy="227"/>
                  </a:xfrm>
                  <a:prstGeom prst="rect">
                    <a:avLst/>
                  </a:prstGeom>
                  <a:noFill/>
                  <a:ln w="9525" cap="flat" cmpd="sng">
                    <a:solidFill>
                      <a:schemeClr val="tx1"/>
                    </a:solidFill>
                    <a:prstDash val="solid"/>
                    <a:miter/>
                    <a:headEnd type="none" w="med" len="med"/>
                    <a:tailEnd type="none" w="med" len="med"/>
                  </a:ln>
                </p:spPr>
                <p:txBody>
                  <a:bodyPr wrap="none" anchor="ctr"/>
                  <a:lstStyle/>
                  <a:p>
                    <a:pPr algn="ctr"/>
                    <a:r>
                      <a:rPr lang="zh-CN" altLang="en-US" sz="1800" dirty="0">
                        <a:latin typeface="Times New Roman" panose="02020603050405020304" pitchFamily="18" charset="0"/>
                      </a:rPr>
                      <a:t>一般线性表</a:t>
                    </a:r>
                    <a:endParaRPr lang="zh-CN" altLang="en-US" sz="1800" dirty="0">
                      <a:latin typeface="Times New Roman" panose="02020603050405020304" pitchFamily="18" charset="0"/>
                    </a:endParaRPr>
                  </a:p>
                </p:txBody>
              </p:sp>
              <p:grpSp>
                <p:nvGrpSpPr>
                  <p:cNvPr id="38943" name="Group 40"/>
                  <p:cNvGrpSpPr/>
                  <p:nvPr/>
                </p:nvGrpSpPr>
                <p:grpSpPr>
                  <a:xfrm>
                    <a:off x="1725" y="1104"/>
                    <a:ext cx="1235" cy="651"/>
                    <a:chOff x="1725" y="1104"/>
                    <a:chExt cx="1235" cy="651"/>
                  </a:xfrm>
                </p:grpSpPr>
                <p:sp>
                  <p:nvSpPr>
                    <p:cNvPr id="38954" name="Rectangle 13"/>
                    <p:cNvSpPr/>
                    <p:nvPr/>
                  </p:nvSpPr>
                  <p:spPr>
                    <a:xfrm>
                      <a:off x="1725" y="1104"/>
                      <a:ext cx="771" cy="227"/>
                    </a:xfrm>
                    <a:prstGeom prst="rect">
                      <a:avLst/>
                    </a:prstGeom>
                    <a:noFill/>
                    <a:ln w="9525" cap="flat" cmpd="sng">
                      <a:solidFill>
                        <a:schemeClr val="tx1"/>
                      </a:solidFill>
                      <a:prstDash val="solid"/>
                      <a:miter/>
                      <a:headEnd type="none" w="med" len="med"/>
                      <a:tailEnd type="none" w="med" len="med"/>
                    </a:ln>
                  </p:spPr>
                  <p:txBody>
                    <a:bodyPr wrap="none" anchor="ctr"/>
                    <a:lstStyle/>
                    <a:p>
                      <a:pPr algn="ctr"/>
                      <a:r>
                        <a:rPr lang="zh-CN" altLang="en-US" sz="1800" dirty="0">
                          <a:latin typeface="Times New Roman" panose="02020603050405020304" pitchFamily="18" charset="0"/>
                        </a:rPr>
                        <a:t>线性表推广</a:t>
                      </a:r>
                      <a:endParaRPr lang="zh-CN" altLang="en-US" sz="1800" dirty="0">
                        <a:latin typeface="Times New Roman" panose="02020603050405020304" pitchFamily="18" charset="0"/>
                      </a:endParaRPr>
                    </a:p>
                  </p:txBody>
                </p:sp>
                <p:sp>
                  <p:nvSpPr>
                    <p:cNvPr id="38955" name="Rectangle 35"/>
                    <p:cNvSpPr/>
                    <p:nvPr/>
                  </p:nvSpPr>
                  <p:spPr>
                    <a:xfrm>
                      <a:off x="2461" y="1528"/>
                      <a:ext cx="499" cy="227"/>
                    </a:xfrm>
                    <a:prstGeom prst="rect">
                      <a:avLst/>
                    </a:prstGeom>
                    <a:noFill/>
                    <a:ln w="9525" cap="flat" cmpd="sng">
                      <a:solidFill>
                        <a:schemeClr val="tx1"/>
                      </a:solidFill>
                      <a:prstDash val="solid"/>
                      <a:miter/>
                      <a:headEnd type="none" w="med" len="med"/>
                      <a:tailEnd type="none" w="med" len="med"/>
                    </a:ln>
                  </p:spPr>
                  <p:txBody>
                    <a:bodyPr wrap="none" anchor="ctr"/>
                    <a:lstStyle/>
                    <a:p>
                      <a:pPr algn="ctr"/>
                      <a:r>
                        <a:rPr lang="zh-CN" altLang="en-US" sz="1800" dirty="0">
                          <a:latin typeface="Times New Roman" panose="02020603050405020304" pitchFamily="18" charset="0"/>
                        </a:rPr>
                        <a:t>广义表</a:t>
                      </a:r>
                      <a:endParaRPr lang="zh-CN" altLang="en-US" sz="1800" dirty="0">
                        <a:latin typeface="Times New Roman" panose="02020603050405020304" pitchFamily="18" charset="0"/>
                      </a:endParaRPr>
                    </a:p>
                  </p:txBody>
                </p:sp>
                <p:sp>
                  <p:nvSpPr>
                    <p:cNvPr id="38956" name="Rectangle 36"/>
                    <p:cNvSpPr/>
                    <p:nvPr/>
                  </p:nvSpPr>
                  <p:spPr>
                    <a:xfrm>
                      <a:off x="1981" y="1528"/>
                      <a:ext cx="363" cy="227"/>
                    </a:xfrm>
                    <a:prstGeom prst="rect">
                      <a:avLst/>
                    </a:prstGeom>
                    <a:noFill/>
                    <a:ln w="9525" cap="flat" cmpd="sng">
                      <a:solidFill>
                        <a:schemeClr val="tx1"/>
                      </a:solidFill>
                      <a:prstDash val="solid"/>
                      <a:miter/>
                      <a:headEnd type="none" w="med" len="med"/>
                      <a:tailEnd type="none" w="med" len="med"/>
                    </a:ln>
                  </p:spPr>
                  <p:txBody>
                    <a:bodyPr wrap="none" anchor="ctr"/>
                    <a:lstStyle/>
                    <a:p>
                      <a:pPr algn="ctr"/>
                      <a:r>
                        <a:rPr lang="zh-CN" altLang="en-US" sz="1800" dirty="0">
                          <a:latin typeface="Times New Roman" panose="02020603050405020304" pitchFamily="18" charset="0"/>
                        </a:rPr>
                        <a:t>数组</a:t>
                      </a:r>
                      <a:endParaRPr lang="zh-CN" altLang="en-US" sz="1800" dirty="0">
                        <a:latin typeface="Times New Roman" panose="02020603050405020304" pitchFamily="18" charset="0"/>
                      </a:endParaRPr>
                    </a:p>
                  </p:txBody>
                </p:sp>
                <p:sp>
                  <p:nvSpPr>
                    <p:cNvPr id="38957" name="Line 37"/>
                    <p:cNvSpPr/>
                    <p:nvPr/>
                  </p:nvSpPr>
                  <p:spPr>
                    <a:xfrm>
                      <a:off x="2152" y="1328"/>
                      <a:ext cx="0" cy="192"/>
                    </a:xfrm>
                    <a:prstGeom prst="line">
                      <a:avLst/>
                    </a:prstGeom>
                    <a:ln w="9525" cap="flat" cmpd="sng">
                      <a:solidFill>
                        <a:schemeClr val="tx1"/>
                      </a:solidFill>
                      <a:prstDash val="solid"/>
                      <a:miter/>
                      <a:headEnd type="none" w="med" len="med"/>
                      <a:tailEnd type="none" w="med" len="med"/>
                    </a:ln>
                  </p:spPr>
                </p:sp>
                <p:sp>
                  <p:nvSpPr>
                    <p:cNvPr id="38958" name="Line 38"/>
                    <p:cNvSpPr/>
                    <p:nvPr/>
                  </p:nvSpPr>
                  <p:spPr>
                    <a:xfrm>
                      <a:off x="2344" y="1328"/>
                      <a:ext cx="384" cy="192"/>
                    </a:xfrm>
                    <a:prstGeom prst="line">
                      <a:avLst/>
                    </a:prstGeom>
                    <a:ln w="9525" cap="flat" cmpd="sng">
                      <a:solidFill>
                        <a:schemeClr val="tx1"/>
                      </a:solidFill>
                      <a:prstDash val="solid"/>
                      <a:miter/>
                      <a:headEnd type="none" w="med" len="med"/>
                      <a:tailEnd type="none" w="med" len="med"/>
                    </a:ln>
                  </p:spPr>
                </p:sp>
              </p:grpSp>
              <p:grpSp>
                <p:nvGrpSpPr>
                  <p:cNvPr id="38944" name="Group 43"/>
                  <p:cNvGrpSpPr/>
                  <p:nvPr/>
                </p:nvGrpSpPr>
                <p:grpSpPr>
                  <a:xfrm>
                    <a:off x="756" y="1104"/>
                    <a:ext cx="1137" cy="651"/>
                    <a:chOff x="756" y="1104"/>
                    <a:chExt cx="1137" cy="651"/>
                  </a:xfrm>
                </p:grpSpPr>
                <p:sp>
                  <p:nvSpPr>
                    <p:cNvPr id="38949" name="Rectangle 7"/>
                    <p:cNvSpPr/>
                    <p:nvPr/>
                  </p:nvSpPr>
                  <p:spPr>
                    <a:xfrm>
                      <a:off x="1712" y="1528"/>
                      <a:ext cx="181" cy="227"/>
                    </a:xfrm>
                    <a:prstGeom prst="rect">
                      <a:avLst/>
                    </a:prstGeom>
                    <a:noFill/>
                    <a:ln w="9525" cap="flat" cmpd="sng">
                      <a:solidFill>
                        <a:schemeClr val="tx1"/>
                      </a:solidFill>
                      <a:prstDash val="solid"/>
                      <a:miter/>
                      <a:headEnd type="none" w="med" len="med"/>
                      <a:tailEnd type="none" w="med" len="med"/>
                    </a:ln>
                  </p:spPr>
                  <p:txBody>
                    <a:bodyPr wrap="none" anchor="ctr"/>
                    <a:lstStyle/>
                    <a:p>
                      <a:pPr algn="ctr"/>
                      <a:r>
                        <a:rPr lang="zh-CN" altLang="en-US" sz="1800" dirty="0">
                          <a:latin typeface="Times New Roman" panose="02020603050405020304" pitchFamily="18" charset="0"/>
                        </a:rPr>
                        <a:t>串</a:t>
                      </a:r>
                      <a:endParaRPr lang="zh-CN" altLang="en-US" sz="1800" dirty="0">
                        <a:latin typeface="Times New Roman" panose="02020603050405020304" pitchFamily="18" charset="0"/>
                      </a:endParaRPr>
                    </a:p>
                  </p:txBody>
                </p:sp>
                <p:sp>
                  <p:nvSpPr>
                    <p:cNvPr id="38950" name="Rectangle 12"/>
                    <p:cNvSpPr/>
                    <p:nvPr/>
                  </p:nvSpPr>
                  <p:spPr>
                    <a:xfrm>
                      <a:off x="756" y="1104"/>
                      <a:ext cx="793" cy="227"/>
                    </a:xfrm>
                    <a:prstGeom prst="rect">
                      <a:avLst/>
                    </a:prstGeom>
                    <a:noFill/>
                    <a:ln w="9525" cap="flat" cmpd="sng">
                      <a:solidFill>
                        <a:schemeClr val="tx1"/>
                      </a:solidFill>
                      <a:prstDash val="solid"/>
                      <a:miter/>
                      <a:headEnd type="none" w="med" len="med"/>
                      <a:tailEnd type="none" w="med" len="med"/>
                    </a:ln>
                  </p:spPr>
                  <p:txBody>
                    <a:bodyPr wrap="none" anchor="ctr"/>
                    <a:lstStyle/>
                    <a:p>
                      <a:pPr algn="ctr"/>
                      <a:r>
                        <a:rPr lang="zh-CN" altLang="en-US" sz="1800" dirty="0">
                          <a:latin typeface="Times New Roman" panose="02020603050405020304" pitchFamily="18" charset="0"/>
                        </a:rPr>
                        <a:t>受限线性表</a:t>
                      </a:r>
                      <a:endParaRPr lang="zh-CN" altLang="en-US" sz="1800" dirty="0">
                        <a:latin typeface="Times New Roman" panose="02020603050405020304" pitchFamily="18" charset="0"/>
                      </a:endParaRPr>
                    </a:p>
                  </p:txBody>
                </p:sp>
                <p:sp>
                  <p:nvSpPr>
                    <p:cNvPr id="38951" name="Rectangle 39"/>
                    <p:cNvSpPr/>
                    <p:nvPr/>
                  </p:nvSpPr>
                  <p:spPr>
                    <a:xfrm>
                      <a:off x="1008" y="1528"/>
                      <a:ext cx="612" cy="227"/>
                    </a:xfrm>
                    <a:prstGeom prst="rect">
                      <a:avLst/>
                    </a:prstGeom>
                    <a:noFill/>
                    <a:ln w="9525" cap="flat" cmpd="sng">
                      <a:solidFill>
                        <a:schemeClr val="tx1"/>
                      </a:solidFill>
                      <a:prstDash val="solid"/>
                      <a:miter/>
                      <a:headEnd type="none" w="med" len="med"/>
                      <a:tailEnd type="none" w="med" len="med"/>
                    </a:ln>
                  </p:spPr>
                  <p:txBody>
                    <a:bodyPr wrap="none" anchor="ctr"/>
                    <a:lstStyle/>
                    <a:p>
                      <a:pPr algn="ctr"/>
                      <a:r>
                        <a:rPr lang="zh-CN" altLang="en-US" sz="1800" dirty="0">
                          <a:latin typeface="Times New Roman" panose="02020603050405020304" pitchFamily="18" charset="0"/>
                        </a:rPr>
                        <a:t>栈和队列</a:t>
                      </a:r>
                      <a:endParaRPr lang="zh-CN" altLang="en-US" sz="1800" dirty="0">
                        <a:latin typeface="Times New Roman" panose="02020603050405020304" pitchFamily="18" charset="0"/>
                      </a:endParaRPr>
                    </a:p>
                  </p:txBody>
                </p:sp>
                <p:sp>
                  <p:nvSpPr>
                    <p:cNvPr id="38952" name="Line 41"/>
                    <p:cNvSpPr/>
                    <p:nvPr/>
                  </p:nvSpPr>
                  <p:spPr>
                    <a:xfrm>
                      <a:off x="1208" y="1336"/>
                      <a:ext cx="0" cy="192"/>
                    </a:xfrm>
                    <a:prstGeom prst="line">
                      <a:avLst/>
                    </a:prstGeom>
                    <a:ln w="9525" cap="flat" cmpd="sng">
                      <a:solidFill>
                        <a:schemeClr val="tx1"/>
                      </a:solidFill>
                      <a:prstDash val="solid"/>
                      <a:miter/>
                      <a:headEnd type="none" w="med" len="med"/>
                      <a:tailEnd type="none" w="med" len="med"/>
                    </a:ln>
                  </p:spPr>
                </p:sp>
                <p:sp>
                  <p:nvSpPr>
                    <p:cNvPr id="38953" name="Line 42"/>
                    <p:cNvSpPr/>
                    <p:nvPr/>
                  </p:nvSpPr>
                  <p:spPr>
                    <a:xfrm>
                      <a:off x="1384" y="1336"/>
                      <a:ext cx="432" cy="192"/>
                    </a:xfrm>
                    <a:prstGeom prst="line">
                      <a:avLst/>
                    </a:prstGeom>
                    <a:ln w="9525" cap="flat" cmpd="sng">
                      <a:solidFill>
                        <a:schemeClr val="tx1"/>
                      </a:solidFill>
                      <a:prstDash val="solid"/>
                      <a:miter/>
                      <a:headEnd type="none" w="med" len="med"/>
                      <a:tailEnd type="none" w="med" len="med"/>
                    </a:ln>
                  </p:spPr>
                </p:sp>
              </p:grpSp>
              <p:sp>
                <p:nvSpPr>
                  <p:cNvPr id="38945" name="Line 44"/>
                  <p:cNvSpPr/>
                  <p:nvPr/>
                </p:nvSpPr>
                <p:spPr>
                  <a:xfrm>
                    <a:off x="520" y="1008"/>
                    <a:ext cx="0" cy="528"/>
                  </a:xfrm>
                  <a:prstGeom prst="line">
                    <a:avLst/>
                  </a:prstGeom>
                  <a:ln w="9525" cap="flat" cmpd="sng">
                    <a:solidFill>
                      <a:schemeClr val="tx1"/>
                    </a:solidFill>
                    <a:prstDash val="solid"/>
                    <a:miter/>
                    <a:headEnd type="none" w="med" len="med"/>
                    <a:tailEnd type="none" w="med" len="med"/>
                  </a:ln>
                </p:spPr>
              </p:sp>
              <p:sp>
                <p:nvSpPr>
                  <p:cNvPr id="38946" name="Line 45"/>
                  <p:cNvSpPr/>
                  <p:nvPr/>
                </p:nvSpPr>
                <p:spPr>
                  <a:xfrm>
                    <a:off x="2112" y="1008"/>
                    <a:ext cx="0" cy="96"/>
                  </a:xfrm>
                  <a:prstGeom prst="line">
                    <a:avLst/>
                  </a:prstGeom>
                  <a:ln w="9525" cap="flat" cmpd="sng">
                    <a:solidFill>
                      <a:schemeClr val="tx1"/>
                    </a:solidFill>
                    <a:prstDash val="solid"/>
                    <a:miter/>
                    <a:headEnd type="none" w="med" len="med"/>
                    <a:tailEnd type="none" w="med" len="med"/>
                  </a:ln>
                </p:spPr>
              </p:sp>
              <p:sp>
                <p:nvSpPr>
                  <p:cNvPr id="38947" name="Line 46"/>
                  <p:cNvSpPr/>
                  <p:nvPr/>
                </p:nvSpPr>
                <p:spPr>
                  <a:xfrm>
                    <a:off x="528" y="1008"/>
                    <a:ext cx="1584" cy="0"/>
                  </a:xfrm>
                  <a:prstGeom prst="line">
                    <a:avLst/>
                  </a:prstGeom>
                  <a:ln w="9525" cap="flat" cmpd="sng">
                    <a:solidFill>
                      <a:schemeClr val="tx1"/>
                    </a:solidFill>
                    <a:prstDash val="solid"/>
                    <a:miter/>
                    <a:headEnd type="none" w="med" len="med"/>
                    <a:tailEnd type="none" w="med" len="med"/>
                  </a:ln>
                </p:spPr>
              </p:sp>
              <p:sp>
                <p:nvSpPr>
                  <p:cNvPr id="38948" name="Line 47"/>
                  <p:cNvSpPr/>
                  <p:nvPr/>
                </p:nvSpPr>
                <p:spPr>
                  <a:xfrm>
                    <a:off x="1160" y="864"/>
                    <a:ext cx="0" cy="240"/>
                  </a:xfrm>
                  <a:prstGeom prst="line">
                    <a:avLst/>
                  </a:prstGeom>
                  <a:ln w="9525" cap="flat" cmpd="sng">
                    <a:solidFill>
                      <a:schemeClr val="tx1"/>
                    </a:solidFill>
                    <a:prstDash val="solid"/>
                    <a:miter/>
                    <a:headEnd type="none" w="med" len="med"/>
                    <a:tailEnd type="none" w="med" len="med"/>
                  </a:ln>
                </p:spPr>
              </p:sp>
            </p:grpSp>
            <p:sp>
              <p:nvSpPr>
                <p:cNvPr id="38937" name="Line 49"/>
                <p:cNvSpPr/>
                <p:nvPr/>
              </p:nvSpPr>
              <p:spPr>
                <a:xfrm>
                  <a:off x="1136" y="552"/>
                  <a:ext cx="0" cy="91"/>
                </a:xfrm>
                <a:prstGeom prst="line">
                  <a:avLst/>
                </a:prstGeom>
                <a:ln w="9525" cap="flat" cmpd="sng">
                  <a:solidFill>
                    <a:schemeClr val="tx1"/>
                  </a:solidFill>
                  <a:prstDash val="solid"/>
                  <a:miter/>
                  <a:headEnd type="none" w="med" len="med"/>
                  <a:tailEnd type="none" w="med" len="med"/>
                </a:ln>
              </p:spPr>
            </p:sp>
            <p:sp>
              <p:nvSpPr>
                <p:cNvPr id="38938" name="Line 50"/>
                <p:cNvSpPr/>
                <p:nvPr/>
              </p:nvSpPr>
              <p:spPr>
                <a:xfrm>
                  <a:off x="3768" y="552"/>
                  <a:ext cx="0" cy="91"/>
                </a:xfrm>
                <a:prstGeom prst="line">
                  <a:avLst/>
                </a:prstGeom>
                <a:ln w="9525" cap="flat" cmpd="sng">
                  <a:solidFill>
                    <a:schemeClr val="tx1"/>
                  </a:solidFill>
                  <a:prstDash val="solid"/>
                  <a:miter/>
                  <a:headEnd type="none" w="med" len="med"/>
                  <a:tailEnd type="none" w="med" len="med"/>
                </a:ln>
              </p:spPr>
            </p:sp>
            <p:sp>
              <p:nvSpPr>
                <p:cNvPr id="38939" name="Line 51"/>
                <p:cNvSpPr/>
                <p:nvPr/>
              </p:nvSpPr>
              <p:spPr>
                <a:xfrm>
                  <a:off x="1136" y="552"/>
                  <a:ext cx="2630" cy="0"/>
                </a:xfrm>
                <a:prstGeom prst="line">
                  <a:avLst/>
                </a:prstGeom>
                <a:ln w="9525" cap="flat" cmpd="sng">
                  <a:solidFill>
                    <a:schemeClr val="tx1"/>
                  </a:solidFill>
                  <a:prstDash val="solid"/>
                  <a:miter/>
                  <a:headEnd type="none" w="med" len="med"/>
                  <a:tailEnd type="none" w="med" len="med"/>
                </a:ln>
              </p:spPr>
            </p:sp>
            <p:sp>
              <p:nvSpPr>
                <p:cNvPr id="38940" name="Line 52"/>
                <p:cNvSpPr/>
                <p:nvPr/>
              </p:nvSpPr>
              <p:spPr>
                <a:xfrm>
                  <a:off x="2336" y="464"/>
                  <a:ext cx="0" cy="91"/>
                </a:xfrm>
                <a:prstGeom prst="line">
                  <a:avLst/>
                </a:prstGeom>
                <a:ln w="9525" cap="flat" cmpd="sng">
                  <a:solidFill>
                    <a:schemeClr val="tx1"/>
                  </a:solidFill>
                  <a:prstDash val="solid"/>
                  <a:miter/>
                  <a:headEnd type="none" w="med" len="med"/>
                  <a:tailEnd type="none" w="med" len="med"/>
                </a:ln>
              </p:spPr>
            </p:sp>
          </p:grpSp>
          <p:sp>
            <p:nvSpPr>
              <p:cNvPr id="39990" name="Rectangle 54"/>
              <p:cNvSpPr>
                <a:spLocks noChangeArrowheads="1"/>
              </p:cNvSpPr>
              <p:nvPr/>
            </p:nvSpPr>
            <p:spPr bwMode="auto">
              <a:xfrm>
                <a:off x="1328" y="1656"/>
                <a:ext cx="2656" cy="288"/>
              </a:xfrm>
              <a:prstGeom prst="rect">
                <a:avLst/>
              </a:prstGeom>
              <a:noFill/>
              <a:ln w="9525">
                <a:noFill/>
                <a:miter lim="800000"/>
              </a:ln>
              <a:effectLst/>
            </p:spPr>
            <p:txBody>
              <a:bodyPr lIns="92075" tIns="46038" rIns="92075" bIns="46038"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000" b="0" i="0" u="none" strike="noStrike" kern="1200" cap="none" spc="0" normalizeH="0" baseline="0" noProof="0">
                    <a:ln>
                      <a:noFill/>
                    </a:ln>
                    <a:solidFill>
                      <a:schemeClr val="tx1"/>
                    </a:solidFill>
                    <a:effectLst/>
                    <a:uLnTx/>
                    <a:uFillTx/>
                    <a:latin typeface="楷体_GB2312" panose="02010609030101010101" pitchFamily="49" charset="-122"/>
                    <a:ea typeface="楷体_GB2312" panose="02010609030101010101" pitchFamily="49" charset="-122"/>
                    <a:cs typeface="+mn-cs"/>
                  </a:rPr>
                  <a:t>图</a:t>
                </a:r>
                <a:r>
                  <a:rPr kumimoji="1" lang="en-US" altLang="zh-CN" sz="2000" b="0" i="0" u="none" strike="noStrike" kern="1200" cap="none" spc="0" normalizeH="0" baseline="0" noProof="0">
                    <a:ln>
                      <a:noFill/>
                    </a:ln>
                    <a:solidFill>
                      <a:schemeClr val="tx1"/>
                    </a:solidFill>
                    <a:effectLst/>
                    <a:uLnTx/>
                    <a:uFillTx/>
                    <a:latin typeface="Times New Roman" panose="02020603050405020304" pitchFamily="18" charset="0"/>
                    <a:ea typeface="楷体_GB2312" panose="02010609030101010101" pitchFamily="49" charset="-122"/>
                    <a:cs typeface="+mn-cs"/>
                  </a:rPr>
                  <a:t>1-5</a:t>
                </a:r>
                <a:r>
                  <a:rPr kumimoji="1" lang="en-US" altLang="zh-CN" sz="2000" b="0" i="0" u="none" strike="noStrike" kern="1200" cap="none" spc="0" normalizeH="0" baseline="0" noProof="0">
                    <a:ln>
                      <a:noFill/>
                    </a:ln>
                    <a:solidFill>
                      <a:schemeClr val="tx1"/>
                    </a:solidFill>
                    <a:effectLst>
                      <a:outerShdw blurRad="38100" dist="38100" dir="2700000" algn="tl">
                        <a:srgbClr val="000000"/>
                      </a:outerShdw>
                    </a:effectLst>
                    <a:uLnTx/>
                    <a:uFillTx/>
                    <a:latin typeface="楷体_GB2312" panose="02010609030101010101" pitchFamily="49" charset="-122"/>
                    <a:ea typeface="楷体_GB2312" panose="02010609030101010101" pitchFamily="49" charset="-122"/>
                    <a:cs typeface="+mn-cs"/>
                  </a:rPr>
                  <a:t>    </a:t>
                </a:r>
                <a:r>
                  <a:rPr kumimoji="1" lang="zh-CN" altLang="en-US" sz="2000" b="1" i="0" u="none" strike="noStrike" kern="1200" cap="none" spc="0" normalizeH="0" baseline="0" noProof="0">
                    <a:ln>
                      <a:noFill/>
                    </a:ln>
                    <a:solidFill>
                      <a:schemeClr val="tx1"/>
                    </a:solidFill>
                    <a:effectLst/>
                    <a:uLnTx/>
                    <a:uFillTx/>
                    <a:latin typeface="楷体_GB2312" panose="02010609030101010101" pitchFamily="49" charset="-122"/>
                    <a:ea typeface="楷体_GB2312" panose="02010609030101010101" pitchFamily="49" charset="-122"/>
                    <a:cs typeface="+mn-cs"/>
                  </a:rPr>
                  <a:t>数据逻辑结构层次关系图</a:t>
                </a:r>
                <a:endParaRPr kumimoji="1" lang="zh-CN" altLang="en-US" sz="2000" b="1" i="0" u="none" strike="noStrike" kern="1200" cap="none" spc="0" normalizeH="0" baseline="0" noProof="0">
                  <a:ln>
                    <a:noFill/>
                  </a:ln>
                  <a:solidFill>
                    <a:schemeClr val="tx1"/>
                  </a:solidFill>
                  <a:effectLst/>
                  <a:uLnTx/>
                  <a:uFillTx/>
                  <a:latin typeface="楷体_GB2312" panose="02010609030101010101" pitchFamily="49" charset="-122"/>
                  <a:ea typeface="楷体_GB2312" panose="02010609030101010101" pitchFamily="49" charset="-122"/>
                  <a:cs typeface="+mn-cs"/>
                </a:endParaRPr>
              </a:p>
            </p:txBody>
          </p:sp>
        </p:grpSp>
        <p:grpSp>
          <p:nvGrpSpPr>
            <p:cNvPr id="38916" name="Group 74"/>
            <p:cNvGrpSpPr/>
            <p:nvPr/>
          </p:nvGrpSpPr>
          <p:grpSpPr>
            <a:xfrm>
              <a:off x="912" y="152"/>
              <a:ext cx="3436" cy="1872"/>
              <a:chOff x="912" y="152"/>
              <a:chExt cx="3436" cy="1872"/>
            </a:xfrm>
          </p:grpSpPr>
          <p:sp>
            <p:nvSpPr>
              <p:cNvPr id="38917" name="Rectangle 58"/>
              <p:cNvSpPr/>
              <p:nvPr/>
            </p:nvSpPr>
            <p:spPr>
              <a:xfrm>
                <a:off x="1328" y="1784"/>
                <a:ext cx="2880" cy="240"/>
              </a:xfrm>
              <a:prstGeom prst="rect">
                <a:avLst/>
              </a:prstGeom>
              <a:noFill/>
              <a:ln w="9525">
                <a:noFill/>
              </a:ln>
            </p:spPr>
            <p:txBody>
              <a:bodyPr lIns="92075" tIns="46038" rIns="92075" bIns="46038" anchor="ctr"/>
              <a:lstStyle/>
              <a:p>
                <a:pPr algn="ctr"/>
                <a:r>
                  <a:rPr lang="zh-CN" altLang="en-US" b="1" dirty="0">
                    <a:latin typeface="楷体_GB2312" panose="02010609030101010101" pitchFamily="49" charset="-122"/>
                    <a:ea typeface="楷体_GB2312" panose="02010609030101010101" pitchFamily="49" charset="-122"/>
                  </a:rPr>
                  <a:t>图</a:t>
                </a:r>
                <a:r>
                  <a:rPr lang="en-US" altLang="zh-CN" b="1" dirty="0">
                    <a:latin typeface="Times New Roman" panose="02020603050405020304" pitchFamily="18" charset="0"/>
                    <a:ea typeface="楷体_GB2312" panose="02010609030101010101" pitchFamily="49" charset="-122"/>
                  </a:rPr>
                  <a:t>1-4</a:t>
                </a:r>
                <a:r>
                  <a:rPr lang="en-US" altLang="zh-CN" b="1" dirty="0">
                    <a:latin typeface="楷体_GB2312" panose="02010609030101010101" pitchFamily="49" charset="-122"/>
                    <a:ea typeface="楷体_GB2312" panose="02010609030101010101" pitchFamily="49" charset="-122"/>
                  </a:rPr>
                  <a:t>   </a:t>
                </a:r>
                <a:r>
                  <a:rPr lang="zh-CN" altLang="en-US" b="1" dirty="0">
                    <a:latin typeface="楷体_GB2312" panose="02010609030101010101" pitchFamily="49" charset="-122"/>
                    <a:ea typeface="楷体_GB2312" panose="02010609030101010101" pitchFamily="49" charset="-122"/>
                  </a:rPr>
                  <a:t>逻辑结构与所采用的存储结构</a:t>
                </a:r>
                <a:endParaRPr lang="zh-CN" altLang="en-US" b="1" dirty="0">
                  <a:latin typeface="楷体_GB2312" panose="02010609030101010101" pitchFamily="49" charset="-122"/>
                  <a:ea typeface="楷体_GB2312" panose="02010609030101010101" pitchFamily="49" charset="-122"/>
                </a:endParaRPr>
              </a:p>
            </p:txBody>
          </p:sp>
          <p:grpSp>
            <p:nvGrpSpPr>
              <p:cNvPr id="38918" name="Group 73"/>
              <p:cNvGrpSpPr/>
              <p:nvPr/>
            </p:nvGrpSpPr>
            <p:grpSpPr>
              <a:xfrm>
                <a:off x="912" y="152"/>
                <a:ext cx="3436" cy="1509"/>
                <a:chOff x="912" y="152"/>
                <a:chExt cx="3436" cy="1509"/>
              </a:xfrm>
            </p:grpSpPr>
            <p:sp>
              <p:nvSpPr>
                <p:cNvPr id="38919" name="Rectangle 60"/>
                <p:cNvSpPr/>
                <p:nvPr/>
              </p:nvSpPr>
              <p:spPr>
                <a:xfrm>
                  <a:off x="988" y="552"/>
                  <a:ext cx="768" cy="240"/>
                </a:xfrm>
                <a:prstGeom prst="rect">
                  <a:avLst/>
                </a:prstGeom>
                <a:noFill/>
                <a:ln w="9525">
                  <a:noFill/>
                </a:ln>
              </p:spPr>
              <p:txBody>
                <a:bodyPr wrap="none" anchor="ctr"/>
                <a:lstStyle/>
                <a:p>
                  <a:pPr algn="ctr"/>
                  <a:r>
                    <a:rPr lang="zh-CN" altLang="en-US" sz="2400" b="1" dirty="0">
                      <a:latin typeface="Times New Roman" panose="02020603050405020304" pitchFamily="18" charset="0"/>
                    </a:rPr>
                    <a:t>线性表</a:t>
                  </a:r>
                  <a:endParaRPr lang="zh-CN" altLang="en-US" sz="2400" b="1" dirty="0">
                    <a:latin typeface="Times New Roman" panose="02020603050405020304" pitchFamily="18" charset="0"/>
                  </a:endParaRPr>
                </a:p>
              </p:txBody>
            </p:sp>
            <p:sp>
              <p:nvSpPr>
                <p:cNvPr id="38920" name="Rectangle 61"/>
                <p:cNvSpPr/>
                <p:nvPr/>
              </p:nvSpPr>
              <p:spPr>
                <a:xfrm>
                  <a:off x="1084" y="1013"/>
                  <a:ext cx="480" cy="240"/>
                </a:xfrm>
                <a:prstGeom prst="rect">
                  <a:avLst/>
                </a:prstGeom>
                <a:noFill/>
                <a:ln w="9525">
                  <a:noFill/>
                </a:ln>
              </p:spPr>
              <p:txBody>
                <a:bodyPr wrap="none" anchor="ctr"/>
                <a:lstStyle/>
                <a:p>
                  <a:pPr algn="ctr"/>
                  <a:r>
                    <a:rPr lang="zh-CN" altLang="en-US" sz="2400" b="1" dirty="0">
                      <a:latin typeface="Times New Roman" panose="02020603050405020304" pitchFamily="18" charset="0"/>
                    </a:rPr>
                    <a:t>树</a:t>
                  </a:r>
                  <a:endParaRPr lang="zh-CN" altLang="en-US" sz="2400" b="1" dirty="0">
                    <a:latin typeface="Times New Roman" panose="02020603050405020304" pitchFamily="18" charset="0"/>
                  </a:endParaRPr>
                </a:p>
              </p:txBody>
            </p:sp>
            <p:sp>
              <p:nvSpPr>
                <p:cNvPr id="38921" name="Rectangle 62"/>
                <p:cNvSpPr/>
                <p:nvPr/>
              </p:nvSpPr>
              <p:spPr>
                <a:xfrm>
                  <a:off x="1132" y="1373"/>
                  <a:ext cx="432" cy="240"/>
                </a:xfrm>
                <a:prstGeom prst="rect">
                  <a:avLst/>
                </a:prstGeom>
                <a:noFill/>
                <a:ln w="9525">
                  <a:noFill/>
                </a:ln>
              </p:spPr>
              <p:txBody>
                <a:bodyPr wrap="none" anchor="ctr"/>
                <a:lstStyle/>
                <a:p>
                  <a:pPr algn="ctr"/>
                  <a:r>
                    <a:rPr lang="zh-CN" altLang="en-US" sz="2400" b="1" dirty="0">
                      <a:latin typeface="Times New Roman" panose="02020603050405020304" pitchFamily="18" charset="0"/>
                    </a:rPr>
                    <a:t>图</a:t>
                  </a:r>
                  <a:endParaRPr lang="zh-CN" altLang="en-US" sz="2400" b="1" dirty="0">
                    <a:latin typeface="Times New Roman" panose="02020603050405020304" pitchFamily="18" charset="0"/>
                  </a:endParaRPr>
                </a:p>
              </p:txBody>
            </p:sp>
            <p:sp>
              <p:nvSpPr>
                <p:cNvPr id="38922" name="Rectangle 63"/>
                <p:cNvSpPr/>
                <p:nvPr/>
              </p:nvSpPr>
              <p:spPr>
                <a:xfrm>
                  <a:off x="3168" y="576"/>
                  <a:ext cx="1152" cy="288"/>
                </a:xfrm>
                <a:prstGeom prst="rect">
                  <a:avLst/>
                </a:prstGeom>
                <a:noFill/>
                <a:ln w="9525">
                  <a:noFill/>
                </a:ln>
              </p:spPr>
              <p:txBody>
                <a:bodyPr wrap="none" anchor="ctr"/>
                <a:lstStyle/>
                <a:p>
                  <a:pPr algn="ctr"/>
                  <a:r>
                    <a:rPr lang="zh-CN" altLang="en-US" sz="2400" b="1" dirty="0">
                      <a:latin typeface="Times New Roman" panose="02020603050405020304" pitchFamily="18" charset="0"/>
                    </a:rPr>
                    <a:t>顺序存储结构</a:t>
                  </a:r>
                  <a:endParaRPr lang="zh-CN" altLang="en-US" sz="2400" b="1" dirty="0">
                    <a:latin typeface="Times New Roman" panose="02020603050405020304" pitchFamily="18" charset="0"/>
                  </a:endParaRPr>
                </a:p>
              </p:txBody>
            </p:sp>
            <p:sp>
              <p:nvSpPr>
                <p:cNvPr id="38923" name="Rectangle 64"/>
                <p:cNvSpPr/>
                <p:nvPr/>
              </p:nvSpPr>
              <p:spPr>
                <a:xfrm>
                  <a:off x="3168" y="994"/>
                  <a:ext cx="1152" cy="288"/>
                </a:xfrm>
                <a:prstGeom prst="rect">
                  <a:avLst/>
                </a:prstGeom>
                <a:noFill/>
                <a:ln w="9525">
                  <a:noFill/>
                </a:ln>
              </p:spPr>
              <p:txBody>
                <a:bodyPr wrap="none" anchor="ctr"/>
                <a:lstStyle/>
                <a:p>
                  <a:pPr algn="ctr"/>
                  <a:r>
                    <a:rPr lang="zh-CN" altLang="en-US" sz="2400" b="1" dirty="0">
                      <a:latin typeface="Times New Roman" panose="02020603050405020304" pitchFamily="18" charset="0"/>
                    </a:rPr>
                    <a:t>链式存储结构</a:t>
                  </a:r>
                  <a:endParaRPr lang="zh-CN" altLang="en-US" sz="2400" b="1" dirty="0">
                    <a:latin typeface="Times New Roman" panose="02020603050405020304" pitchFamily="18" charset="0"/>
                  </a:endParaRPr>
                </a:p>
              </p:txBody>
            </p:sp>
            <p:sp>
              <p:nvSpPr>
                <p:cNvPr id="38924" name="Rectangle 65"/>
                <p:cNvSpPr/>
                <p:nvPr/>
              </p:nvSpPr>
              <p:spPr>
                <a:xfrm>
                  <a:off x="3196" y="1373"/>
                  <a:ext cx="1152" cy="288"/>
                </a:xfrm>
                <a:prstGeom prst="rect">
                  <a:avLst/>
                </a:prstGeom>
                <a:noFill/>
                <a:ln w="9525">
                  <a:noFill/>
                </a:ln>
              </p:spPr>
              <p:txBody>
                <a:bodyPr wrap="none" anchor="ctr"/>
                <a:lstStyle/>
                <a:p>
                  <a:pPr algn="ctr"/>
                  <a:r>
                    <a:rPr lang="zh-CN" altLang="en-US" sz="2400" b="1" dirty="0">
                      <a:latin typeface="Times New Roman" panose="02020603050405020304" pitchFamily="18" charset="0"/>
                    </a:rPr>
                    <a:t>复合存储结构</a:t>
                  </a:r>
                  <a:endParaRPr lang="zh-CN" altLang="en-US" sz="2400" b="1" dirty="0">
                    <a:latin typeface="Times New Roman" panose="02020603050405020304" pitchFamily="18" charset="0"/>
                  </a:endParaRPr>
                </a:p>
              </p:txBody>
            </p:sp>
            <p:sp>
              <p:nvSpPr>
                <p:cNvPr id="38925" name="Rectangle 66"/>
                <p:cNvSpPr/>
                <p:nvPr/>
              </p:nvSpPr>
              <p:spPr>
                <a:xfrm>
                  <a:off x="912" y="152"/>
                  <a:ext cx="960" cy="288"/>
                </a:xfrm>
                <a:prstGeom prst="rect">
                  <a:avLst/>
                </a:prstGeom>
                <a:noFill/>
                <a:ln w="9525">
                  <a:noFill/>
                </a:ln>
              </p:spPr>
              <p:txBody>
                <a:bodyPr wrap="none" anchor="ctr"/>
                <a:lstStyle/>
                <a:p>
                  <a:pPr algn="ctr"/>
                  <a:r>
                    <a:rPr lang="zh-CN" altLang="en-US" sz="2800" b="1" dirty="0">
                      <a:latin typeface="Times New Roman" panose="02020603050405020304" pitchFamily="18" charset="0"/>
                    </a:rPr>
                    <a:t>逻辑结构</a:t>
                  </a:r>
                  <a:endParaRPr lang="zh-CN" altLang="en-US" sz="2800" b="1" dirty="0">
                    <a:latin typeface="Times New Roman" panose="02020603050405020304" pitchFamily="18" charset="0"/>
                  </a:endParaRPr>
                </a:p>
              </p:txBody>
            </p:sp>
            <p:sp>
              <p:nvSpPr>
                <p:cNvPr id="38926" name="Rectangle 67"/>
                <p:cNvSpPr/>
                <p:nvPr/>
              </p:nvSpPr>
              <p:spPr>
                <a:xfrm>
                  <a:off x="3264" y="164"/>
                  <a:ext cx="912" cy="288"/>
                </a:xfrm>
                <a:prstGeom prst="rect">
                  <a:avLst/>
                </a:prstGeom>
                <a:noFill/>
                <a:ln w="9525">
                  <a:noFill/>
                </a:ln>
              </p:spPr>
              <p:txBody>
                <a:bodyPr wrap="none" anchor="ctr"/>
                <a:lstStyle/>
                <a:p>
                  <a:pPr algn="ctr"/>
                  <a:r>
                    <a:rPr lang="zh-CN" altLang="en-US" sz="2800" b="1" dirty="0">
                      <a:latin typeface="Times New Roman" panose="02020603050405020304" pitchFamily="18" charset="0"/>
                    </a:rPr>
                    <a:t>物理结构</a:t>
                  </a:r>
                  <a:endParaRPr lang="zh-CN" altLang="en-US" sz="2800" b="1" dirty="0">
                    <a:latin typeface="Times New Roman" panose="02020603050405020304" pitchFamily="18" charset="0"/>
                  </a:endParaRPr>
                </a:p>
              </p:txBody>
            </p:sp>
            <p:sp>
              <p:nvSpPr>
                <p:cNvPr id="38927" name="Line 68"/>
                <p:cNvSpPr/>
                <p:nvPr/>
              </p:nvSpPr>
              <p:spPr>
                <a:xfrm>
                  <a:off x="1708" y="696"/>
                  <a:ext cx="1440" cy="0"/>
                </a:xfrm>
                <a:prstGeom prst="line">
                  <a:avLst/>
                </a:prstGeom>
                <a:ln w="28575" cap="flat" cmpd="sng">
                  <a:solidFill>
                    <a:schemeClr val="accent1"/>
                  </a:solidFill>
                  <a:prstDash val="solid"/>
                  <a:miter/>
                  <a:headEnd type="none" w="med" len="med"/>
                  <a:tailEnd type="arrow" w="med" len="med"/>
                </a:ln>
              </p:spPr>
            </p:sp>
            <p:sp>
              <p:nvSpPr>
                <p:cNvPr id="38928" name="Line 69"/>
                <p:cNvSpPr/>
                <p:nvPr/>
              </p:nvSpPr>
              <p:spPr>
                <a:xfrm>
                  <a:off x="1683" y="755"/>
                  <a:ext cx="1465" cy="341"/>
                </a:xfrm>
                <a:prstGeom prst="line">
                  <a:avLst/>
                </a:prstGeom>
                <a:ln w="28575" cap="flat" cmpd="sng">
                  <a:solidFill>
                    <a:schemeClr val="accent1"/>
                  </a:solidFill>
                  <a:prstDash val="solid"/>
                  <a:miter/>
                  <a:headEnd type="none" w="med" len="med"/>
                  <a:tailEnd type="arrow" w="med" len="med"/>
                </a:ln>
              </p:spPr>
            </p:sp>
            <p:sp>
              <p:nvSpPr>
                <p:cNvPr id="38929" name="Line 70"/>
                <p:cNvSpPr/>
                <p:nvPr/>
              </p:nvSpPr>
              <p:spPr>
                <a:xfrm flipV="1">
                  <a:off x="1564" y="776"/>
                  <a:ext cx="1584" cy="288"/>
                </a:xfrm>
                <a:prstGeom prst="line">
                  <a:avLst/>
                </a:prstGeom>
                <a:ln w="28575" cap="flat" cmpd="sng">
                  <a:solidFill>
                    <a:schemeClr val="folHlink"/>
                  </a:solidFill>
                  <a:prstDash val="solid"/>
                  <a:miter/>
                  <a:headEnd type="none" w="med" len="med"/>
                  <a:tailEnd type="arrow" w="med" len="med"/>
                </a:ln>
              </p:spPr>
            </p:sp>
            <p:sp>
              <p:nvSpPr>
                <p:cNvPr id="38930" name="Line 71"/>
                <p:cNvSpPr/>
                <p:nvPr/>
              </p:nvSpPr>
              <p:spPr>
                <a:xfrm>
                  <a:off x="1468" y="1517"/>
                  <a:ext cx="1680" cy="0"/>
                </a:xfrm>
                <a:prstGeom prst="line">
                  <a:avLst/>
                </a:prstGeom>
                <a:ln w="28575" cap="flat" cmpd="sng">
                  <a:solidFill>
                    <a:schemeClr val="tx1"/>
                  </a:solidFill>
                  <a:prstDash val="solid"/>
                  <a:miter/>
                  <a:headEnd type="none" w="med" len="med"/>
                  <a:tailEnd type="arrow" w="med" len="med"/>
                </a:ln>
              </p:spPr>
            </p:sp>
            <p:sp>
              <p:nvSpPr>
                <p:cNvPr id="38931" name="Line 72"/>
                <p:cNvSpPr/>
                <p:nvPr/>
              </p:nvSpPr>
              <p:spPr>
                <a:xfrm>
                  <a:off x="1475" y="1165"/>
                  <a:ext cx="1680" cy="0"/>
                </a:xfrm>
                <a:prstGeom prst="line">
                  <a:avLst/>
                </a:prstGeom>
                <a:ln w="28575" cap="flat" cmpd="sng">
                  <a:solidFill>
                    <a:schemeClr val="folHlink"/>
                  </a:solidFill>
                  <a:prstDash val="solid"/>
                  <a:miter/>
                  <a:headEnd type="none" w="med" len="med"/>
                  <a:tailEnd type="arrow" w="med" len="med"/>
                </a:ln>
              </p:spPr>
            </p:sp>
          </p:grpSp>
        </p:grpSp>
      </p:grpSp>
      <p:sp>
        <p:nvSpPr>
          <p:cNvPr id="2" name="日期占位符 1"/>
          <p:cNvSpPr>
            <a:spLocks noGrp="1"/>
          </p:cNvSpPr>
          <p:nvPr>
            <p:ph type="dt" sz="half" idx="10"/>
          </p:nvPr>
        </p:nvSpPr>
        <p:spPr/>
        <p:txBody>
          <a:bodyPr/>
          <a:lstStyle/>
          <a:p>
            <a:r>
              <a:rPr lang="en-US" altLang="zh-CN"/>
              <a:t>Data Structures and algorithms</a:t>
            </a:r>
            <a:endParaRPr lang="zh-CN" altLang="en-US"/>
          </a:p>
        </p:txBody>
      </p:sp>
      <p:sp>
        <p:nvSpPr>
          <p:cNvPr id="3" name="页脚占位符 2"/>
          <p:cNvSpPr>
            <a:spLocks noGrp="1"/>
          </p:cNvSpPr>
          <p:nvPr>
            <p:ph type="ftr" sz="quarter" idx="11"/>
          </p:nvPr>
        </p:nvSpPr>
        <p:spPr/>
        <p:txBody>
          <a:bodyPr/>
          <a:lstStyle/>
          <a:p>
            <a:r>
              <a:rPr lang="en-US" altLang="zh-CN"/>
              <a:t>Software College Northeastern University</a:t>
            </a:r>
            <a:endParaRPr lang="zh-CN" altLang="en-US"/>
          </a:p>
        </p:txBody>
      </p:sp>
      <p:sp>
        <p:nvSpPr>
          <p:cNvPr id="4" name="灯片编号占位符 3"/>
          <p:cNvSpPr>
            <a:spLocks noGrp="1"/>
          </p:cNvSpPr>
          <p:nvPr>
            <p:ph type="sldNum" sz="quarter" idx="12"/>
          </p:nvPr>
        </p:nvSpPr>
        <p:spPr/>
        <p:txBody>
          <a:bodyPr/>
          <a:lstStyle/>
          <a:p>
            <a:fld id="{6E1C0148-8E4B-4B2F-95CE-20B4709700AE}" type="slidenum">
              <a:rPr lang="zh-CN" altLang="en-US" smtClean="0"/>
            </a:fld>
            <a:endParaRPr lang="zh-CN" altLang="en-US"/>
          </a:p>
        </p:txBody>
      </p:sp>
    </p:spTree>
  </p:cSld>
  <p:clrMapOvr>
    <a:masterClrMapping/>
  </p:clrMapOvr>
  <p:transition spd="slow">
    <p:blinds/>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2178" name="Text Box 2"/>
          <p:cNvSpPr txBox="1"/>
          <p:nvPr/>
        </p:nvSpPr>
        <p:spPr>
          <a:xfrm>
            <a:off x="304800" y="1219200"/>
            <a:ext cx="7924800" cy="645160"/>
          </a:xfrm>
          <a:prstGeom prst="rect">
            <a:avLst/>
          </a:prstGeom>
          <a:noFill/>
          <a:ln w="9525">
            <a:noFill/>
          </a:ln>
        </p:spPr>
        <p:txBody>
          <a:bodyPr>
            <a:spAutoFit/>
          </a:bodyPr>
          <a:lstStyle/>
          <a:p>
            <a:r>
              <a:rPr lang="zh-CN" altLang="en-US" sz="3600" b="1" dirty="0">
                <a:solidFill>
                  <a:srgbClr val="FF0000"/>
                </a:solidFill>
                <a:latin typeface="楷体_GB2312" panose="02010609030101010101" pitchFamily="49" charset="-122"/>
                <a:ea typeface="楷体_GB2312" panose="02010609030101010101" pitchFamily="49" charset="-122"/>
              </a:rPr>
              <a:t>数据元素的映象方法：</a:t>
            </a:r>
            <a:endParaRPr lang="zh-CN" altLang="en-US" sz="3600" b="1" dirty="0">
              <a:solidFill>
                <a:srgbClr val="FF0000"/>
              </a:solidFill>
              <a:latin typeface="楷体_GB2312" panose="02010609030101010101" pitchFamily="49" charset="-122"/>
              <a:ea typeface="楷体_GB2312" panose="02010609030101010101" pitchFamily="49" charset="-122"/>
            </a:endParaRPr>
          </a:p>
        </p:txBody>
      </p:sp>
      <p:sp>
        <p:nvSpPr>
          <p:cNvPr id="562179" name="Text Box 3"/>
          <p:cNvSpPr txBox="1"/>
          <p:nvPr/>
        </p:nvSpPr>
        <p:spPr>
          <a:xfrm>
            <a:off x="304800" y="2574925"/>
            <a:ext cx="8566150" cy="645160"/>
          </a:xfrm>
          <a:prstGeom prst="rect">
            <a:avLst/>
          </a:prstGeom>
          <a:noFill/>
          <a:ln w="9525">
            <a:noFill/>
          </a:ln>
        </p:spPr>
        <p:txBody>
          <a:bodyPr>
            <a:spAutoFit/>
          </a:bodyPr>
          <a:lstStyle/>
          <a:p>
            <a:r>
              <a:rPr lang="zh-CN" altLang="en-US" sz="3600" dirty="0">
                <a:latin typeface="楷体_GB2312" panose="02010609030101010101" pitchFamily="49" charset="-122"/>
                <a:ea typeface="楷体_GB2312" panose="02010609030101010101" pitchFamily="49" charset="-122"/>
              </a:rPr>
              <a:t>用二进制位</a:t>
            </a:r>
            <a:r>
              <a:rPr lang="en-US" altLang="zh-CN" sz="3600" dirty="0">
                <a:latin typeface="楷体_GB2312" panose="02010609030101010101" pitchFamily="49" charset="-122"/>
                <a:ea typeface="楷体_GB2312" panose="02010609030101010101" pitchFamily="49" charset="-122"/>
              </a:rPr>
              <a:t>(bit)</a:t>
            </a:r>
            <a:r>
              <a:rPr lang="zh-CN" altLang="en-US" sz="3600" dirty="0">
                <a:latin typeface="楷体_GB2312" panose="02010609030101010101" pitchFamily="49" charset="-122"/>
                <a:ea typeface="楷体_GB2312" panose="02010609030101010101" pitchFamily="49" charset="-122"/>
              </a:rPr>
              <a:t>的位串表示数据元素</a:t>
            </a:r>
            <a:endParaRPr lang="zh-CN" altLang="en-US" sz="3600" dirty="0">
              <a:latin typeface="楷体_GB2312" panose="02010609030101010101" pitchFamily="49" charset="-122"/>
              <a:ea typeface="楷体_GB2312" panose="02010609030101010101" pitchFamily="49" charset="-122"/>
            </a:endParaRPr>
          </a:p>
        </p:txBody>
      </p:sp>
      <p:sp>
        <p:nvSpPr>
          <p:cNvPr id="562180" name="Text Box 4"/>
          <p:cNvSpPr txBox="1"/>
          <p:nvPr/>
        </p:nvSpPr>
        <p:spPr>
          <a:xfrm>
            <a:off x="638175" y="3549650"/>
            <a:ext cx="6550660" cy="645160"/>
          </a:xfrm>
          <a:prstGeom prst="rect">
            <a:avLst/>
          </a:prstGeom>
          <a:noFill/>
          <a:ln w="9525">
            <a:noFill/>
          </a:ln>
        </p:spPr>
        <p:txBody>
          <a:bodyPr wrap="none">
            <a:spAutoFit/>
          </a:bodyPr>
          <a:lstStyle/>
          <a:p>
            <a:r>
              <a:rPr lang="en-US" altLang="zh-CN" sz="3600" dirty="0">
                <a:latin typeface="Times New Roman" panose="02020603050405020304" pitchFamily="18" charset="0"/>
                <a:ea typeface="楷体_GB2312" panose="02010609030101010101" pitchFamily="49" charset="-122"/>
              </a:rPr>
              <a:t>(321)</a:t>
            </a:r>
            <a:r>
              <a:rPr lang="en-US" altLang="zh-CN" sz="3600" baseline="-25000" dirty="0">
                <a:latin typeface="Times New Roman" panose="02020603050405020304" pitchFamily="18" charset="0"/>
                <a:ea typeface="楷体_GB2312" panose="02010609030101010101" pitchFamily="49" charset="-122"/>
              </a:rPr>
              <a:t>10</a:t>
            </a:r>
            <a:r>
              <a:rPr lang="en-US" altLang="zh-CN" sz="3600" dirty="0">
                <a:latin typeface="Times New Roman" panose="02020603050405020304" pitchFamily="18" charset="0"/>
                <a:ea typeface="楷体_GB2312" panose="02010609030101010101" pitchFamily="49" charset="-122"/>
              </a:rPr>
              <a:t>  =  (501)</a:t>
            </a:r>
            <a:r>
              <a:rPr lang="en-US" altLang="zh-CN" sz="3600" baseline="-25000" dirty="0">
                <a:latin typeface="Times New Roman" panose="02020603050405020304" pitchFamily="18" charset="0"/>
                <a:ea typeface="楷体_GB2312" panose="02010609030101010101" pitchFamily="49" charset="-122"/>
              </a:rPr>
              <a:t>8</a:t>
            </a:r>
            <a:r>
              <a:rPr lang="en-US" altLang="zh-CN" sz="3600" dirty="0">
                <a:latin typeface="Times New Roman" panose="02020603050405020304" pitchFamily="18" charset="0"/>
                <a:ea typeface="楷体_GB2312" panose="02010609030101010101" pitchFamily="49" charset="-122"/>
              </a:rPr>
              <a:t>  =  (101000001)</a:t>
            </a:r>
            <a:r>
              <a:rPr lang="en-US" altLang="zh-CN" sz="3600" baseline="-25000" dirty="0">
                <a:latin typeface="Times New Roman" panose="02020603050405020304" pitchFamily="18" charset="0"/>
                <a:ea typeface="楷体_GB2312" panose="02010609030101010101" pitchFamily="49" charset="-122"/>
              </a:rPr>
              <a:t>2</a:t>
            </a:r>
            <a:endParaRPr lang="en-US" altLang="zh-CN" sz="3600" dirty="0">
              <a:latin typeface="Times New Roman" panose="02020603050405020304" pitchFamily="18" charset="0"/>
            </a:endParaRPr>
          </a:p>
        </p:txBody>
      </p:sp>
      <p:sp>
        <p:nvSpPr>
          <p:cNvPr id="562181" name="Text Box 5"/>
          <p:cNvSpPr txBox="1"/>
          <p:nvPr/>
        </p:nvSpPr>
        <p:spPr>
          <a:xfrm>
            <a:off x="1335088" y="4479925"/>
            <a:ext cx="5935980" cy="645160"/>
          </a:xfrm>
          <a:prstGeom prst="rect">
            <a:avLst/>
          </a:prstGeom>
          <a:noFill/>
          <a:ln w="9525">
            <a:noFill/>
          </a:ln>
        </p:spPr>
        <p:txBody>
          <a:bodyPr wrap="none">
            <a:spAutoFit/>
          </a:bodyPr>
          <a:lstStyle/>
          <a:p>
            <a:r>
              <a:rPr lang="zh-CN" altLang="en-US" sz="3600" dirty="0">
                <a:latin typeface="Times New Roman" panose="02020603050405020304" pitchFamily="18" charset="0"/>
                <a:ea typeface="楷体_GB2312" panose="02010609030101010101" pitchFamily="49" charset="-122"/>
              </a:rPr>
              <a:t> </a:t>
            </a:r>
            <a:r>
              <a:rPr lang="en-US" altLang="zh-CN" sz="3600" dirty="0">
                <a:latin typeface="Times New Roman" panose="02020603050405020304" pitchFamily="18" charset="0"/>
                <a:ea typeface="楷体_GB2312" panose="02010609030101010101" pitchFamily="49" charset="-122"/>
              </a:rPr>
              <a:t>A    =  (101)</a:t>
            </a:r>
            <a:r>
              <a:rPr lang="en-US" altLang="zh-CN" sz="3600" baseline="-25000" dirty="0">
                <a:latin typeface="Times New Roman" panose="02020603050405020304" pitchFamily="18" charset="0"/>
                <a:ea typeface="楷体_GB2312" panose="02010609030101010101" pitchFamily="49" charset="-122"/>
              </a:rPr>
              <a:t>8</a:t>
            </a:r>
            <a:r>
              <a:rPr lang="en-US" altLang="zh-CN" sz="3600" dirty="0">
                <a:latin typeface="Times New Roman" panose="02020603050405020304" pitchFamily="18" charset="0"/>
                <a:ea typeface="楷体_GB2312" panose="02010609030101010101" pitchFamily="49" charset="-122"/>
              </a:rPr>
              <a:t>  =  (001000001)</a:t>
            </a:r>
            <a:r>
              <a:rPr lang="en-US" altLang="zh-CN" sz="3600" baseline="-25000" dirty="0">
                <a:latin typeface="Times New Roman" panose="02020603050405020304" pitchFamily="18" charset="0"/>
                <a:ea typeface="楷体_GB2312" panose="02010609030101010101" pitchFamily="49" charset="-122"/>
              </a:rPr>
              <a:t>2</a:t>
            </a:r>
            <a:endParaRPr lang="en-US" altLang="zh-CN" sz="3600" baseline="-25000" dirty="0">
              <a:latin typeface="Times New Roman" panose="02020603050405020304" pitchFamily="18" charset="0"/>
              <a:ea typeface="楷体_GB2312" panose="02010609030101010101" pitchFamily="49" charset="-122"/>
            </a:endParaRPr>
          </a:p>
        </p:txBody>
      </p:sp>
      <p:sp>
        <p:nvSpPr>
          <p:cNvPr id="2" name="日期占位符 1"/>
          <p:cNvSpPr>
            <a:spLocks noGrp="1"/>
          </p:cNvSpPr>
          <p:nvPr>
            <p:ph type="dt" sz="half" idx="10"/>
          </p:nvPr>
        </p:nvSpPr>
        <p:spPr/>
        <p:txBody>
          <a:bodyPr/>
          <a:lstStyle/>
          <a:p>
            <a:r>
              <a:rPr lang="en-US" altLang="zh-CN"/>
              <a:t>Data Structures and algorithms</a:t>
            </a:r>
            <a:endParaRPr lang="zh-CN" altLang="en-US"/>
          </a:p>
        </p:txBody>
      </p:sp>
      <p:sp>
        <p:nvSpPr>
          <p:cNvPr id="3" name="页脚占位符 2"/>
          <p:cNvSpPr>
            <a:spLocks noGrp="1"/>
          </p:cNvSpPr>
          <p:nvPr>
            <p:ph type="ftr" sz="quarter" idx="11"/>
          </p:nvPr>
        </p:nvSpPr>
        <p:spPr/>
        <p:txBody>
          <a:bodyPr/>
          <a:lstStyle/>
          <a:p>
            <a:r>
              <a:rPr lang="en-US" altLang="zh-CN"/>
              <a:t>Software College Northeastern University</a:t>
            </a:r>
            <a:endParaRPr lang="zh-CN" altLang="en-US"/>
          </a:p>
        </p:txBody>
      </p:sp>
      <p:sp>
        <p:nvSpPr>
          <p:cNvPr id="4" name="灯片编号占位符 3"/>
          <p:cNvSpPr>
            <a:spLocks noGrp="1"/>
          </p:cNvSpPr>
          <p:nvPr>
            <p:ph type="sldNum" sz="quarter" idx="12"/>
          </p:nvPr>
        </p:nvSpPr>
        <p:spPr/>
        <p:txBody>
          <a:bodyPr/>
          <a:lstStyle/>
          <a:p>
            <a:fld id="{6E1C0148-8E4B-4B2F-95CE-20B4709700AE}" type="slidenum">
              <a:rPr lang="zh-CN" altLang="en-US" smtClean="0"/>
            </a:fld>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56217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562179"/>
                                        </p:tgtEl>
                                        <p:attrNameLst>
                                          <p:attrName>style.visibility</p:attrName>
                                        </p:attrNameLst>
                                      </p:cBhvr>
                                      <p:to>
                                        <p:strVal val="visible"/>
                                      </p:to>
                                    </p:set>
                                    <p:anim calcmode="lin" valueType="num">
                                      <p:cBhvr additive="base">
                                        <p:cTn id="11" dur="500" fill="hold"/>
                                        <p:tgtEl>
                                          <p:spTgt spid="562179"/>
                                        </p:tgtEl>
                                        <p:attrNameLst>
                                          <p:attrName>ppt_x</p:attrName>
                                        </p:attrNameLst>
                                      </p:cBhvr>
                                      <p:tavLst>
                                        <p:tav tm="0">
                                          <p:val>
                                            <p:strVal val="#ppt_x"/>
                                          </p:val>
                                        </p:tav>
                                        <p:tav tm="100000">
                                          <p:val>
                                            <p:strVal val="#ppt_x"/>
                                          </p:val>
                                        </p:tav>
                                      </p:tavLst>
                                    </p:anim>
                                    <p:anim calcmode="lin" valueType="num">
                                      <p:cBhvr additive="base">
                                        <p:cTn id="12" dur="500" fill="hold"/>
                                        <p:tgtEl>
                                          <p:spTgt spid="562179"/>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62180"/>
                                        </p:tgtEl>
                                        <p:attrNameLst>
                                          <p:attrName>style.visibility</p:attrName>
                                        </p:attrNameLst>
                                      </p:cBhvr>
                                      <p:to>
                                        <p:strVal val="visible"/>
                                      </p:to>
                                    </p:set>
                                    <p:animEffect transition="in" filter="wipe(left)">
                                      <p:cBhvr>
                                        <p:cTn id="17" dur="500"/>
                                        <p:tgtEl>
                                          <p:spTgt spid="56218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62181"/>
                                        </p:tgtEl>
                                        <p:attrNameLst>
                                          <p:attrName>style.visibility</p:attrName>
                                        </p:attrNameLst>
                                      </p:cBhvr>
                                      <p:to>
                                        <p:strVal val="visible"/>
                                      </p:to>
                                    </p:set>
                                    <p:animEffect transition="in" filter="wipe(left)">
                                      <p:cBhvr>
                                        <p:cTn id="22" dur="500"/>
                                        <p:tgtEl>
                                          <p:spTgt spid="5621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2178" grpId="0"/>
      <p:bldP spid="562179" grpId="0"/>
      <p:bldP spid="562180" grpId="0"/>
      <p:bldP spid="562181"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02" name="Text Box 2"/>
          <p:cNvSpPr txBox="1"/>
          <p:nvPr/>
        </p:nvSpPr>
        <p:spPr>
          <a:xfrm>
            <a:off x="1447800" y="228600"/>
            <a:ext cx="4921250" cy="583565"/>
          </a:xfrm>
          <a:prstGeom prst="rect">
            <a:avLst/>
          </a:prstGeom>
          <a:noFill/>
          <a:ln w="9525">
            <a:noFill/>
          </a:ln>
        </p:spPr>
        <p:txBody>
          <a:bodyPr>
            <a:spAutoFit/>
          </a:bodyPr>
          <a:lstStyle/>
          <a:p>
            <a:r>
              <a:rPr lang="zh-CN" altLang="en-US" sz="3200" b="1" dirty="0">
                <a:solidFill>
                  <a:srgbClr val="FF0000"/>
                </a:solidFill>
                <a:latin typeface="楷体_GB2312" panose="02010609030101010101" pitchFamily="49" charset="-122"/>
                <a:ea typeface="楷体_GB2312" panose="02010609030101010101" pitchFamily="49" charset="-122"/>
              </a:rPr>
              <a:t>关系的映象方法：</a:t>
            </a:r>
            <a:endParaRPr lang="zh-CN" altLang="en-US" sz="3200" b="1" dirty="0">
              <a:solidFill>
                <a:srgbClr val="FF0000"/>
              </a:solidFill>
              <a:latin typeface="楷体_GB2312" panose="02010609030101010101" pitchFamily="49" charset="-122"/>
              <a:ea typeface="楷体_GB2312" panose="02010609030101010101" pitchFamily="49" charset="-122"/>
            </a:endParaRPr>
          </a:p>
        </p:txBody>
      </p:sp>
      <p:sp>
        <p:nvSpPr>
          <p:cNvPr id="563203" name="Text Box 3"/>
          <p:cNvSpPr txBox="1"/>
          <p:nvPr/>
        </p:nvSpPr>
        <p:spPr>
          <a:xfrm>
            <a:off x="1220787" y="780583"/>
            <a:ext cx="5375275" cy="583565"/>
          </a:xfrm>
          <a:prstGeom prst="rect">
            <a:avLst/>
          </a:prstGeom>
          <a:noFill/>
          <a:ln w="9525">
            <a:noFill/>
          </a:ln>
        </p:spPr>
        <p:txBody>
          <a:bodyPr>
            <a:spAutoFit/>
          </a:bodyPr>
          <a:lstStyle/>
          <a:p>
            <a:r>
              <a:rPr lang="zh-CN" altLang="en-US" sz="3200" b="1" dirty="0">
                <a:latin typeface="楷体_GB2312" panose="02010609030101010101" pitchFamily="49" charset="-122"/>
                <a:ea typeface="楷体_GB2312" panose="02010609030101010101" pitchFamily="49" charset="-122"/>
              </a:rPr>
              <a:t>（</a:t>
            </a:r>
            <a:r>
              <a:rPr lang="zh-CN" altLang="en-US" sz="3200" dirty="0">
                <a:latin typeface="楷体_GB2312" panose="02010609030101010101" pitchFamily="49" charset="-122"/>
                <a:ea typeface="楷体_GB2312" panose="02010609030101010101" pitchFamily="49" charset="-122"/>
              </a:rPr>
              <a:t>表示</a:t>
            </a:r>
            <a:r>
              <a:rPr lang="zh-CN" altLang="en-US" sz="3200" dirty="0">
                <a:latin typeface="Times New Roman" panose="02020603050405020304" pitchFamily="18" charset="0"/>
                <a:ea typeface="楷体_GB2312" panose="02010609030101010101" pitchFamily="49" charset="-122"/>
                <a:sym typeface="Symbol" panose="05050102010706020507" pitchFamily="18" charset="2"/>
              </a:rPr>
              <a:t></a:t>
            </a:r>
            <a:r>
              <a:rPr lang="en-US" altLang="zh-CN" sz="3200" dirty="0">
                <a:latin typeface="Times New Roman" panose="02020603050405020304" pitchFamily="18" charset="0"/>
                <a:ea typeface="楷体_GB2312" panose="02010609030101010101" pitchFamily="49" charset="-122"/>
              </a:rPr>
              <a:t>x, y</a:t>
            </a:r>
            <a:r>
              <a:rPr lang="en-US" altLang="zh-CN" sz="3200" dirty="0">
                <a:latin typeface="Times New Roman" panose="02020603050405020304" pitchFamily="18" charset="0"/>
                <a:ea typeface="楷体_GB2312" panose="02010609030101010101" pitchFamily="49" charset="-122"/>
                <a:sym typeface="Symbol" panose="05050102010706020507" pitchFamily="18" charset="2"/>
              </a:rPr>
              <a:t></a:t>
            </a:r>
            <a:r>
              <a:rPr lang="zh-CN" altLang="en-US" sz="3200" dirty="0">
                <a:latin typeface="Times New Roman" panose="02020603050405020304" pitchFamily="18" charset="0"/>
                <a:ea typeface="楷体_GB2312" panose="02010609030101010101" pitchFamily="49" charset="-122"/>
              </a:rPr>
              <a:t>的方法</a:t>
            </a:r>
            <a:r>
              <a:rPr lang="zh-CN" altLang="en-US" sz="3200" b="1" dirty="0">
                <a:latin typeface="楷体_GB2312" panose="02010609030101010101" pitchFamily="49" charset="-122"/>
                <a:ea typeface="楷体_GB2312" panose="02010609030101010101" pitchFamily="49" charset="-122"/>
              </a:rPr>
              <a:t>）</a:t>
            </a:r>
            <a:endParaRPr lang="zh-CN" altLang="en-US" sz="3200" b="1" dirty="0">
              <a:latin typeface="楷体_GB2312" panose="02010609030101010101" pitchFamily="49" charset="-122"/>
              <a:ea typeface="楷体_GB2312" panose="02010609030101010101" pitchFamily="49" charset="-122"/>
            </a:endParaRPr>
          </a:p>
        </p:txBody>
      </p:sp>
      <p:sp>
        <p:nvSpPr>
          <p:cNvPr id="563204" name="Text Box 4"/>
          <p:cNvSpPr txBox="1"/>
          <p:nvPr/>
        </p:nvSpPr>
        <p:spPr>
          <a:xfrm>
            <a:off x="228600" y="1295400"/>
            <a:ext cx="2798763" cy="583565"/>
          </a:xfrm>
          <a:prstGeom prst="rect">
            <a:avLst/>
          </a:prstGeom>
          <a:noFill/>
          <a:ln w="9525">
            <a:noFill/>
          </a:ln>
        </p:spPr>
        <p:txBody>
          <a:bodyPr>
            <a:spAutoFit/>
          </a:bodyPr>
          <a:lstStyle/>
          <a:p>
            <a:r>
              <a:rPr lang="zh-CN" altLang="en-US" sz="3200" b="1" dirty="0">
                <a:solidFill>
                  <a:srgbClr val="800000"/>
                </a:solidFill>
                <a:latin typeface="楷体_GB2312" panose="02010609030101010101" pitchFamily="49" charset="-122"/>
                <a:ea typeface="楷体_GB2312" panose="02010609030101010101" pitchFamily="49" charset="-122"/>
              </a:rPr>
              <a:t>顺序映象</a:t>
            </a:r>
            <a:endParaRPr lang="zh-CN" altLang="en-US" sz="3200" b="1" dirty="0">
              <a:solidFill>
                <a:srgbClr val="800000"/>
              </a:solidFill>
              <a:latin typeface="楷体_GB2312" panose="02010609030101010101" pitchFamily="49" charset="-122"/>
              <a:ea typeface="楷体_GB2312" panose="02010609030101010101" pitchFamily="49" charset="-122"/>
            </a:endParaRPr>
          </a:p>
        </p:txBody>
      </p:sp>
      <p:sp>
        <p:nvSpPr>
          <p:cNvPr id="563205" name="Text Box 5"/>
          <p:cNvSpPr txBox="1"/>
          <p:nvPr/>
        </p:nvSpPr>
        <p:spPr>
          <a:xfrm>
            <a:off x="1104900" y="1916785"/>
            <a:ext cx="7086600" cy="583565"/>
          </a:xfrm>
          <a:prstGeom prst="rect">
            <a:avLst/>
          </a:prstGeom>
          <a:noFill/>
          <a:ln w="9525">
            <a:noFill/>
          </a:ln>
        </p:spPr>
        <p:txBody>
          <a:bodyPr>
            <a:spAutoFit/>
          </a:bodyPr>
          <a:lstStyle/>
          <a:p>
            <a:r>
              <a:rPr lang="zh-CN" altLang="en-US" sz="3200" b="1" dirty="0">
                <a:solidFill>
                  <a:srgbClr val="FF0000"/>
                </a:solidFill>
                <a:latin typeface="楷体_GB2312" panose="02010609030101010101" pitchFamily="49" charset="-122"/>
                <a:ea typeface="楷体_GB2312" panose="02010609030101010101" pitchFamily="49" charset="-122"/>
              </a:rPr>
              <a:t>以相对的存储位置表示后继关系</a:t>
            </a:r>
            <a:endParaRPr lang="zh-CN" altLang="en-US" sz="3200" b="1" dirty="0">
              <a:solidFill>
                <a:srgbClr val="FF0000"/>
              </a:solidFill>
              <a:latin typeface="楷体_GB2312" panose="02010609030101010101" pitchFamily="49" charset="-122"/>
              <a:ea typeface="楷体_GB2312" panose="02010609030101010101" pitchFamily="49" charset="-122"/>
            </a:endParaRPr>
          </a:p>
        </p:txBody>
      </p:sp>
      <p:sp>
        <p:nvSpPr>
          <p:cNvPr id="563206" name="Text Box 6"/>
          <p:cNvSpPr txBox="1"/>
          <p:nvPr/>
        </p:nvSpPr>
        <p:spPr>
          <a:xfrm>
            <a:off x="1010344" y="2573141"/>
            <a:ext cx="8458200" cy="1272540"/>
          </a:xfrm>
          <a:prstGeom prst="rect">
            <a:avLst/>
          </a:prstGeom>
          <a:noFill/>
          <a:ln w="9525">
            <a:noFill/>
          </a:ln>
        </p:spPr>
        <p:txBody>
          <a:bodyPr>
            <a:spAutoFit/>
          </a:bodyPr>
          <a:lstStyle/>
          <a:p>
            <a:pPr>
              <a:lnSpc>
                <a:spcPct val="120000"/>
              </a:lnSpc>
            </a:pPr>
            <a:r>
              <a:rPr lang="zh-CN" altLang="en-US" sz="3200" b="1" dirty="0">
                <a:latin typeface="楷体_GB2312" panose="02010609030101010101" pitchFamily="49" charset="-122"/>
                <a:ea typeface="楷体_GB2312" panose="02010609030101010101" pitchFamily="49" charset="-122"/>
              </a:rPr>
              <a:t>例如</a:t>
            </a:r>
            <a:r>
              <a:rPr lang="en-US" altLang="zh-CN" sz="3200" b="1" dirty="0">
                <a:latin typeface="楷体_GB2312" panose="02010609030101010101" pitchFamily="49" charset="-122"/>
                <a:ea typeface="楷体_GB2312" panose="02010609030101010101" pitchFamily="49" charset="-122"/>
              </a:rPr>
              <a:t>:</a:t>
            </a:r>
            <a:r>
              <a:rPr lang="zh-CN" altLang="en-US" sz="3200" dirty="0">
                <a:latin typeface="楷体_GB2312" panose="02010609030101010101" pitchFamily="49" charset="-122"/>
                <a:ea typeface="楷体_GB2312" panose="02010609030101010101" pitchFamily="49" charset="-122"/>
              </a:rPr>
              <a:t>令 </a:t>
            </a:r>
            <a:r>
              <a:rPr lang="en-US" altLang="zh-CN" sz="3200" dirty="0">
                <a:latin typeface="楷体_GB2312" panose="02010609030101010101" pitchFamily="49" charset="-122"/>
                <a:ea typeface="楷体_GB2312" panose="02010609030101010101" pitchFamily="49" charset="-122"/>
              </a:rPr>
              <a:t>y </a:t>
            </a:r>
            <a:r>
              <a:rPr lang="zh-CN" altLang="en-US" sz="3200" dirty="0">
                <a:latin typeface="楷体_GB2312" panose="02010609030101010101" pitchFamily="49" charset="-122"/>
                <a:ea typeface="楷体_GB2312" panose="02010609030101010101" pitchFamily="49" charset="-122"/>
              </a:rPr>
              <a:t>的存储位置和 </a:t>
            </a:r>
            <a:r>
              <a:rPr lang="en-US" altLang="zh-CN" sz="3200" dirty="0">
                <a:latin typeface="楷体_GB2312" panose="02010609030101010101" pitchFamily="49" charset="-122"/>
                <a:ea typeface="楷体_GB2312" panose="02010609030101010101" pitchFamily="49" charset="-122"/>
              </a:rPr>
              <a:t>x </a:t>
            </a:r>
            <a:r>
              <a:rPr lang="zh-CN" altLang="en-US" sz="3200" dirty="0">
                <a:latin typeface="楷体_GB2312" panose="02010609030101010101" pitchFamily="49" charset="-122"/>
                <a:ea typeface="楷体_GB2312" panose="02010609030101010101" pitchFamily="49" charset="-122"/>
              </a:rPr>
              <a:t>的存储位置之间差一个常量 </a:t>
            </a:r>
            <a:r>
              <a:rPr lang="en-US" altLang="zh-CN" sz="3200" dirty="0">
                <a:latin typeface="楷体_GB2312" panose="02010609030101010101" pitchFamily="49" charset="-122"/>
                <a:ea typeface="楷体_GB2312" panose="02010609030101010101" pitchFamily="49" charset="-122"/>
              </a:rPr>
              <a:t>C</a:t>
            </a:r>
            <a:endParaRPr lang="en-US" altLang="zh-CN" sz="3200" dirty="0">
              <a:latin typeface="楷体_GB2312" panose="02010609030101010101" pitchFamily="49" charset="-122"/>
              <a:ea typeface="楷体_GB2312" panose="02010609030101010101" pitchFamily="49" charset="-122"/>
            </a:endParaRPr>
          </a:p>
        </p:txBody>
      </p:sp>
      <p:sp>
        <p:nvSpPr>
          <p:cNvPr id="563207" name="Text Box 7"/>
          <p:cNvSpPr txBox="1"/>
          <p:nvPr/>
        </p:nvSpPr>
        <p:spPr>
          <a:xfrm>
            <a:off x="1040507" y="3871918"/>
            <a:ext cx="8397875" cy="1272540"/>
          </a:xfrm>
          <a:prstGeom prst="rect">
            <a:avLst/>
          </a:prstGeom>
          <a:noFill/>
          <a:ln w="9525">
            <a:noFill/>
          </a:ln>
        </p:spPr>
        <p:txBody>
          <a:bodyPr>
            <a:spAutoFit/>
          </a:bodyPr>
          <a:lstStyle/>
          <a:p>
            <a:pPr>
              <a:lnSpc>
                <a:spcPct val="120000"/>
              </a:lnSpc>
            </a:pPr>
            <a:r>
              <a:rPr lang="zh-CN" altLang="en-US" sz="3200" dirty="0">
                <a:latin typeface="楷体_GB2312" panose="02010609030101010101" pitchFamily="49" charset="-122"/>
                <a:ea typeface="楷体_GB2312" panose="02010609030101010101" pitchFamily="49" charset="-122"/>
              </a:rPr>
              <a:t>而 </a:t>
            </a:r>
            <a:r>
              <a:rPr lang="en-US" altLang="zh-CN" sz="3200" dirty="0">
                <a:latin typeface="楷体_GB2312" panose="02010609030101010101" pitchFamily="49" charset="-122"/>
                <a:ea typeface="楷体_GB2312" panose="02010609030101010101" pitchFamily="49" charset="-122"/>
              </a:rPr>
              <a:t>C </a:t>
            </a:r>
            <a:r>
              <a:rPr lang="zh-CN" altLang="en-US" sz="3200" dirty="0">
                <a:latin typeface="楷体_GB2312" panose="02010609030101010101" pitchFamily="49" charset="-122"/>
                <a:ea typeface="楷体_GB2312" panose="02010609030101010101" pitchFamily="49" charset="-122"/>
              </a:rPr>
              <a:t>是一个隐含值，</a:t>
            </a:r>
            <a:r>
              <a:rPr lang="zh-CN" altLang="en-US" sz="3200" b="1" dirty="0">
                <a:solidFill>
                  <a:srgbClr val="800000"/>
                </a:solidFill>
                <a:latin typeface="楷体_GB2312" panose="02010609030101010101" pitchFamily="49" charset="-122"/>
                <a:ea typeface="楷体_GB2312" panose="02010609030101010101" pitchFamily="49" charset="-122"/>
              </a:rPr>
              <a:t>整个存储结构中只含数据元素本身的信息</a:t>
            </a:r>
            <a:endParaRPr lang="zh-CN" altLang="en-US" sz="3200" b="1" dirty="0">
              <a:solidFill>
                <a:srgbClr val="800000"/>
              </a:solidFill>
              <a:latin typeface="楷体_GB2312" panose="02010609030101010101" pitchFamily="49" charset="-122"/>
              <a:ea typeface="楷体_GB2312" panose="02010609030101010101" pitchFamily="49" charset="-122"/>
            </a:endParaRPr>
          </a:p>
        </p:txBody>
      </p:sp>
      <p:sp>
        <p:nvSpPr>
          <p:cNvPr id="563208" name="Text Box 8"/>
          <p:cNvSpPr txBox="1"/>
          <p:nvPr/>
        </p:nvSpPr>
        <p:spPr>
          <a:xfrm>
            <a:off x="2940050" y="5653088"/>
            <a:ext cx="1588770" cy="583565"/>
          </a:xfrm>
          <a:prstGeom prst="rect">
            <a:avLst/>
          </a:prstGeom>
          <a:noFill/>
          <a:ln w="9525">
            <a:noFill/>
          </a:ln>
        </p:spPr>
        <p:txBody>
          <a:bodyPr wrap="none">
            <a:spAutoFit/>
          </a:bodyPr>
          <a:lstStyle/>
          <a:p>
            <a:r>
              <a:rPr lang="zh-CN" altLang="en-US" sz="3200" dirty="0">
                <a:latin typeface="楷体_GB2312" panose="02010609030101010101" pitchFamily="49" charset="-122"/>
                <a:ea typeface="楷体_GB2312" panose="02010609030101010101" pitchFamily="49" charset="-122"/>
              </a:rPr>
              <a:t> </a:t>
            </a:r>
            <a:r>
              <a:rPr lang="en-US" altLang="zh-CN" sz="3200" dirty="0">
                <a:latin typeface="楷体_GB2312" panose="02010609030101010101" pitchFamily="49" charset="-122"/>
                <a:ea typeface="楷体_GB2312" panose="02010609030101010101" pitchFamily="49" charset="-122"/>
              </a:rPr>
              <a:t>x    y</a:t>
            </a:r>
            <a:endParaRPr lang="en-US" altLang="zh-CN" sz="3200" dirty="0">
              <a:latin typeface="楷体_GB2312" panose="02010609030101010101" pitchFamily="49" charset="-122"/>
              <a:ea typeface="楷体_GB2312" panose="02010609030101010101" pitchFamily="49" charset="-122"/>
            </a:endParaRPr>
          </a:p>
        </p:txBody>
      </p:sp>
      <p:sp>
        <p:nvSpPr>
          <p:cNvPr id="563209" name="Line 9"/>
          <p:cNvSpPr/>
          <p:nvPr/>
        </p:nvSpPr>
        <p:spPr>
          <a:xfrm flipV="1">
            <a:off x="2819400" y="5791200"/>
            <a:ext cx="2971800" cy="7938"/>
          </a:xfrm>
          <a:prstGeom prst="line">
            <a:avLst/>
          </a:prstGeom>
          <a:ln w="9525" cap="flat" cmpd="sng">
            <a:solidFill>
              <a:srgbClr val="000000"/>
            </a:solidFill>
            <a:prstDash val="solid"/>
            <a:headEnd type="none" w="med" len="med"/>
            <a:tailEnd type="none" w="med" len="med"/>
          </a:ln>
        </p:spPr>
      </p:sp>
      <p:sp>
        <p:nvSpPr>
          <p:cNvPr id="563210" name="Line 10"/>
          <p:cNvSpPr/>
          <p:nvPr/>
        </p:nvSpPr>
        <p:spPr>
          <a:xfrm>
            <a:off x="2895600" y="6477000"/>
            <a:ext cx="2819400" cy="0"/>
          </a:xfrm>
          <a:prstGeom prst="line">
            <a:avLst/>
          </a:prstGeom>
          <a:ln w="9525" cap="flat" cmpd="sng">
            <a:solidFill>
              <a:srgbClr val="000000"/>
            </a:solidFill>
            <a:prstDash val="solid"/>
            <a:headEnd type="none" w="med" len="med"/>
            <a:tailEnd type="none" w="med" len="med"/>
          </a:ln>
        </p:spPr>
      </p:sp>
      <p:sp>
        <p:nvSpPr>
          <p:cNvPr id="563211" name="Line 11"/>
          <p:cNvSpPr/>
          <p:nvPr/>
        </p:nvSpPr>
        <p:spPr>
          <a:xfrm>
            <a:off x="3124200" y="5799138"/>
            <a:ext cx="0" cy="677862"/>
          </a:xfrm>
          <a:prstGeom prst="line">
            <a:avLst/>
          </a:prstGeom>
          <a:ln w="9525" cap="flat" cmpd="sng">
            <a:solidFill>
              <a:srgbClr val="000000"/>
            </a:solidFill>
            <a:prstDash val="solid"/>
            <a:headEnd type="none" w="med" len="med"/>
            <a:tailEnd type="none" w="med" len="med"/>
          </a:ln>
        </p:spPr>
      </p:sp>
      <p:sp>
        <p:nvSpPr>
          <p:cNvPr id="563212" name="Line 12"/>
          <p:cNvSpPr/>
          <p:nvPr/>
        </p:nvSpPr>
        <p:spPr>
          <a:xfrm>
            <a:off x="4648200" y="5799138"/>
            <a:ext cx="0" cy="677862"/>
          </a:xfrm>
          <a:prstGeom prst="line">
            <a:avLst/>
          </a:prstGeom>
          <a:ln w="9525" cap="flat" cmpd="sng">
            <a:solidFill>
              <a:srgbClr val="000000"/>
            </a:solidFill>
            <a:prstDash val="solid"/>
            <a:headEnd type="none" w="med" len="med"/>
            <a:tailEnd type="none" w="med" len="med"/>
          </a:ln>
        </p:spPr>
      </p:sp>
      <p:sp>
        <p:nvSpPr>
          <p:cNvPr id="563213" name="Line 13"/>
          <p:cNvSpPr/>
          <p:nvPr/>
        </p:nvSpPr>
        <p:spPr>
          <a:xfrm>
            <a:off x="5334000" y="5799138"/>
            <a:ext cx="0" cy="677862"/>
          </a:xfrm>
          <a:prstGeom prst="line">
            <a:avLst/>
          </a:prstGeom>
          <a:ln w="9525" cap="flat" cmpd="sng">
            <a:solidFill>
              <a:srgbClr val="000000"/>
            </a:solidFill>
            <a:prstDash val="solid"/>
            <a:headEnd type="none" w="med" len="med"/>
            <a:tailEnd type="none" w="med" len="med"/>
          </a:ln>
        </p:spPr>
      </p:sp>
      <p:sp>
        <p:nvSpPr>
          <p:cNvPr id="563214" name="Line 14"/>
          <p:cNvSpPr/>
          <p:nvPr/>
        </p:nvSpPr>
        <p:spPr>
          <a:xfrm>
            <a:off x="3810000" y="5791200"/>
            <a:ext cx="0" cy="677863"/>
          </a:xfrm>
          <a:prstGeom prst="line">
            <a:avLst/>
          </a:prstGeom>
          <a:ln w="9525" cap="flat" cmpd="sng">
            <a:solidFill>
              <a:srgbClr val="000000"/>
            </a:solidFill>
            <a:prstDash val="solid"/>
            <a:headEnd type="none" w="med" len="med"/>
            <a:tailEnd type="none" w="med" len="med"/>
          </a:ln>
        </p:spPr>
      </p:sp>
      <p:sp>
        <p:nvSpPr>
          <p:cNvPr id="2" name="日期占位符 1"/>
          <p:cNvSpPr>
            <a:spLocks noGrp="1"/>
          </p:cNvSpPr>
          <p:nvPr>
            <p:ph type="dt" sz="half" idx="10"/>
          </p:nvPr>
        </p:nvSpPr>
        <p:spPr/>
        <p:txBody>
          <a:bodyPr/>
          <a:lstStyle/>
          <a:p>
            <a:r>
              <a:rPr lang="en-US" altLang="zh-CN"/>
              <a:t>Data Structures and algorithms</a:t>
            </a:r>
            <a:endParaRPr lang="zh-CN" altLang="en-US"/>
          </a:p>
        </p:txBody>
      </p:sp>
      <p:sp>
        <p:nvSpPr>
          <p:cNvPr id="3" name="页脚占位符 2"/>
          <p:cNvSpPr>
            <a:spLocks noGrp="1"/>
          </p:cNvSpPr>
          <p:nvPr>
            <p:ph type="ftr" sz="quarter" idx="11"/>
          </p:nvPr>
        </p:nvSpPr>
        <p:spPr/>
        <p:txBody>
          <a:bodyPr/>
          <a:lstStyle/>
          <a:p>
            <a:r>
              <a:rPr lang="en-US" altLang="zh-CN"/>
              <a:t>Software College Northeastern University</a:t>
            </a:r>
            <a:endParaRPr lang="zh-CN" altLang="en-US"/>
          </a:p>
        </p:txBody>
      </p:sp>
      <p:sp>
        <p:nvSpPr>
          <p:cNvPr id="4" name="灯片编号占位符 3"/>
          <p:cNvSpPr>
            <a:spLocks noGrp="1"/>
          </p:cNvSpPr>
          <p:nvPr>
            <p:ph type="sldNum" sz="quarter" idx="12"/>
          </p:nvPr>
        </p:nvSpPr>
        <p:spPr/>
        <p:txBody>
          <a:bodyPr/>
          <a:lstStyle/>
          <a:p>
            <a:fld id="{6E1C0148-8E4B-4B2F-95CE-20B4709700AE}" type="slidenum">
              <a:rPr lang="zh-CN" altLang="en-US" smtClean="0"/>
            </a:fld>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56320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8" presetClass="entr" presetSubtype="6" fill="hold" grpId="0" nodeType="clickEffect">
                                  <p:stCondLst>
                                    <p:cond delay="0"/>
                                  </p:stCondLst>
                                  <p:childTnLst>
                                    <p:set>
                                      <p:cBhvr>
                                        <p:cTn id="10" dur="1" fill="hold">
                                          <p:stCondLst>
                                            <p:cond delay="0"/>
                                          </p:stCondLst>
                                        </p:cTn>
                                        <p:tgtEl>
                                          <p:spTgt spid="563203"/>
                                        </p:tgtEl>
                                        <p:attrNameLst>
                                          <p:attrName>style.visibility</p:attrName>
                                        </p:attrNameLst>
                                      </p:cBhvr>
                                      <p:to>
                                        <p:strVal val="visible"/>
                                      </p:to>
                                    </p:set>
                                    <p:animEffect transition="in" filter="strips(downRight)">
                                      <p:cBhvr>
                                        <p:cTn id="11" dur="500"/>
                                        <p:tgtEl>
                                          <p:spTgt spid="563203"/>
                                        </p:tgtEl>
                                      </p:cBhvr>
                                    </p:animEffect>
                                  </p:childTnLst>
                                </p:cTn>
                              </p:par>
                            </p:childTnLst>
                          </p:cTn>
                        </p:par>
                      </p:childTnLst>
                    </p:cTn>
                  </p:par>
                  <p:par>
                    <p:cTn id="12" fill="hold">
                      <p:stCondLst>
                        <p:cond delay="indefinite"/>
                      </p:stCondLst>
                      <p:childTnLst>
                        <p:par>
                          <p:cTn id="13" fill="hold">
                            <p:stCondLst>
                              <p:cond delay="0"/>
                            </p:stCondLst>
                            <p:childTnLst>
                              <p:par>
                                <p:cTn id="14" presetID="12" presetClass="entr" presetSubtype="1" fill="hold" grpId="0" nodeType="clickEffect">
                                  <p:stCondLst>
                                    <p:cond delay="0"/>
                                  </p:stCondLst>
                                  <p:childTnLst>
                                    <p:set>
                                      <p:cBhvr>
                                        <p:cTn id="15" dur="1" fill="hold">
                                          <p:stCondLst>
                                            <p:cond delay="0"/>
                                          </p:stCondLst>
                                        </p:cTn>
                                        <p:tgtEl>
                                          <p:spTgt spid="563204"/>
                                        </p:tgtEl>
                                        <p:attrNameLst>
                                          <p:attrName>style.visibility</p:attrName>
                                        </p:attrNameLst>
                                      </p:cBhvr>
                                      <p:to>
                                        <p:strVal val="visible"/>
                                      </p:to>
                                    </p:set>
                                    <p:animEffect transition="in" filter="slide(fromTop)">
                                      <p:cBhvr>
                                        <p:cTn id="16" dur="500"/>
                                        <p:tgtEl>
                                          <p:spTgt spid="563204"/>
                                        </p:tgtEl>
                                      </p:cBhvr>
                                    </p:animEffect>
                                  </p:childTnLst>
                                </p:cTn>
                              </p:par>
                            </p:childTnLst>
                          </p:cTn>
                        </p:par>
                      </p:childTnLst>
                    </p:cTn>
                  </p:par>
                  <p:par>
                    <p:cTn id="17" fill="hold">
                      <p:stCondLst>
                        <p:cond delay="indefinite"/>
                      </p:stCondLst>
                      <p:childTnLst>
                        <p:par>
                          <p:cTn id="18" fill="hold">
                            <p:stCondLst>
                              <p:cond delay="0"/>
                            </p:stCondLst>
                            <p:childTnLst>
                              <p:par>
                                <p:cTn id="19" presetID="16" presetClass="entr" presetSubtype="42" fill="hold" grpId="0" nodeType="clickEffect">
                                  <p:stCondLst>
                                    <p:cond delay="0"/>
                                  </p:stCondLst>
                                  <p:childTnLst>
                                    <p:set>
                                      <p:cBhvr>
                                        <p:cTn id="20" dur="1" fill="hold">
                                          <p:stCondLst>
                                            <p:cond delay="0"/>
                                          </p:stCondLst>
                                        </p:cTn>
                                        <p:tgtEl>
                                          <p:spTgt spid="563205"/>
                                        </p:tgtEl>
                                        <p:attrNameLst>
                                          <p:attrName>style.visibility</p:attrName>
                                        </p:attrNameLst>
                                      </p:cBhvr>
                                      <p:to>
                                        <p:strVal val="visible"/>
                                      </p:to>
                                    </p:set>
                                    <p:animEffect transition="in" filter="barn(outHorizontal)">
                                      <p:cBhvr>
                                        <p:cTn id="21" dur="500"/>
                                        <p:tgtEl>
                                          <p:spTgt spid="563205"/>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5" fill="hold" grpId="0" nodeType="clickEffect">
                                  <p:stCondLst>
                                    <p:cond delay="0"/>
                                  </p:stCondLst>
                                  <p:childTnLst>
                                    <p:set>
                                      <p:cBhvr>
                                        <p:cTn id="25" dur="1" fill="hold">
                                          <p:stCondLst>
                                            <p:cond delay="0"/>
                                          </p:stCondLst>
                                        </p:cTn>
                                        <p:tgtEl>
                                          <p:spTgt spid="563206"/>
                                        </p:tgtEl>
                                        <p:attrNameLst>
                                          <p:attrName>style.visibility</p:attrName>
                                        </p:attrNameLst>
                                      </p:cBhvr>
                                      <p:to>
                                        <p:strVal val="visible"/>
                                      </p:to>
                                    </p:set>
                                    <p:animEffect transition="in" filter="blinds(vertical)">
                                      <p:cBhvr>
                                        <p:cTn id="26" dur="500"/>
                                        <p:tgtEl>
                                          <p:spTgt spid="563206"/>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iterate type="wd">
                                    <p:tmPct val="100000"/>
                                  </p:iterate>
                                  <p:childTnLst>
                                    <p:set>
                                      <p:cBhvr>
                                        <p:cTn id="30" dur="1" fill="hold">
                                          <p:stCondLst>
                                            <p:cond delay="0"/>
                                          </p:stCondLst>
                                        </p:cTn>
                                        <p:tgtEl>
                                          <p:spTgt spid="563207"/>
                                        </p:tgtEl>
                                        <p:attrNameLst>
                                          <p:attrName>style.visibility</p:attrName>
                                        </p:attrNameLst>
                                      </p:cBhvr>
                                      <p:to>
                                        <p:strVal val="visible"/>
                                      </p:to>
                                    </p:set>
                                    <p:animEffect transition="in" filter="wipe(left)">
                                      <p:cBhvr>
                                        <p:cTn id="31" dur="300"/>
                                        <p:tgtEl>
                                          <p:spTgt spid="563207"/>
                                        </p:tgtEl>
                                      </p:cBhvr>
                                    </p:animEffect>
                                  </p:childTnLst>
                                </p:cTn>
                              </p:par>
                            </p:childTnLst>
                          </p:cTn>
                        </p:par>
                        <p:par>
                          <p:cTn id="32" fill="hold">
                            <p:stCondLst>
                              <p:cond delay="8700"/>
                            </p:stCondLst>
                            <p:childTnLst>
                              <p:par>
                                <p:cTn id="33" presetID="1" presetClass="entr" presetSubtype="0" fill="hold" nodeType="afterEffect">
                                  <p:stCondLst>
                                    <p:cond delay="0"/>
                                  </p:stCondLst>
                                  <p:childTnLst>
                                    <p:set>
                                      <p:cBhvr>
                                        <p:cTn id="34" dur="1" fill="hold">
                                          <p:stCondLst>
                                            <p:cond delay="499"/>
                                          </p:stCondLst>
                                        </p:cTn>
                                        <p:tgtEl>
                                          <p:spTgt spid="563209"/>
                                        </p:tgtEl>
                                        <p:attrNameLst>
                                          <p:attrName>style.visibility</p:attrName>
                                        </p:attrNameLst>
                                      </p:cBhvr>
                                      <p:to>
                                        <p:strVal val="visible"/>
                                      </p:to>
                                    </p:set>
                                  </p:childTnLst>
                                </p:cTn>
                              </p:par>
                            </p:childTnLst>
                          </p:cTn>
                        </p:par>
                        <p:par>
                          <p:cTn id="35" fill="hold">
                            <p:stCondLst>
                              <p:cond delay="9200"/>
                            </p:stCondLst>
                            <p:childTnLst>
                              <p:par>
                                <p:cTn id="36" presetID="1" presetClass="entr" presetSubtype="0" fill="hold" nodeType="afterEffect">
                                  <p:stCondLst>
                                    <p:cond delay="0"/>
                                  </p:stCondLst>
                                  <p:childTnLst>
                                    <p:set>
                                      <p:cBhvr>
                                        <p:cTn id="37" dur="1" fill="hold">
                                          <p:stCondLst>
                                            <p:cond delay="499"/>
                                          </p:stCondLst>
                                        </p:cTn>
                                        <p:tgtEl>
                                          <p:spTgt spid="563210"/>
                                        </p:tgtEl>
                                        <p:attrNameLst>
                                          <p:attrName>style.visibility</p:attrName>
                                        </p:attrNameLst>
                                      </p:cBhvr>
                                      <p:to>
                                        <p:strVal val="visible"/>
                                      </p:to>
                                    </p:set>
                                  </p:childTnLst>
                                </p:cTn>
                              </p:par>
                            </p:childTnLst>
                          </p:cTn>
                        </p:par>
                        <p:par>
                          <p:cTn id="38" fill="hold">
                            <p:stCondLst>
                              <p:cond delay="9700"/>
                            </p:stCondLst>
                            <p:childTnLst>
                              <p:par>
                                <p:cTn id="39" presetID="1" presetClass="entr" presetSubtype="0" fill="hold" nodeType="afterEffect">
                                  <p:stCondLst>
                                    <p:cond delay="0"/>
                                  </p:stCondLst>
                                  <p:childTnLst>
                                    <p:set>
                                      <p:cBhvr>
                                        <p:cTn id="40" dur="1" fill="hold">
                                          <p:stCondLst>
                                            <p:cond delay="499"/>
                                          </p:stCondLst>
                                        </p:cTn>
                                        <p:tgtEl>
                                          <p:spTgt spid="563211"/>
                                        </p:tgtEl>
                                        <p:attrNameLst>
                                          <p:attrName>style.visibility</p:attrName>
                                        </p:attrNameLst>
                                      </p:cBhvr>
                                      <p:to>
                                        <p:strVal val="visible"/>
                                      </p:to>
                                    </p:set>
                                  </p:childTnLst>
                                </p:cTn>
                              </p:par>
                            </p:childTnLst>
                          </p:cTn>
                        </p:par>
                        <p:par>
                          <p:cTn id="41" fill="hold">
                            <p:stCondLst>
                              <p:cond delay="10200"/>
                            </p:stCondLst>
                            <p:childTnLst>
                              <p:par>
                                <p:cTn id="42" presetID="1" presetClass="entr" presetSubtype="0" fill="hold" nodeType="afterEffect">
                                  <p:stCondLst>
                                    <p:cond delay="0"/>
                                  </p:stCondLst>
                                  <p:childTnLst>
                                    <p:set>
                                      <p:cBhvr>
                                        <p:cTn id="43" dur="1" fill="hold">
                                          <p:stCondLst>
                                            <p:cond delay="499"/>
                                          </p:stCondLst>
                                        </p:cTn>
                                        <p:tgtEl>
                                          <p:spTgt spid="563212"/>
                                        </p:tgtEl>
                                        <p:attrNameLst>
                                          <p:attrName>style.visibility</p:attrName>
                                        </p:attrNameLst>
                                      </p:cBhvr>
                                      <p:to>
                                        <p:strVal val="visible"/>
                                      </p:to>
                                    </p:set>
                                  </p:childTnLst>
                                </p:cTn>
                              </p:par>
                            </p:childTnLst>
                          </p:cTn>
                        </p:par>
                        <p:par>
                          <p:cTn id="44" fill="hold">
                            <p:stCondLst>
                              <p:cond delay="10700"/>
                            </p:stCondLst>
                            <p:childTnLst>
                              <p:par>
                                <p:cTn id="45" presetID="1" presetClass="entr" presetSubtype="0" fill="hold" nodeType="afterEffect">
                                  <p:stCondLst>
                                    <p:cond delay="0"/>
                                  </p:stCondLst>
                                  <p:childTnLst>
                                    <p:set>
                                      <p:cBhvr>
                                        <p:cTn id="46" dur="1" fill="hold">
                                          <p:stCondLst>
                                            <p:cond delay="499"/>
                                          </p:stCondLst>
                                        </p:cTn>
                                        <p:tgtEl>
                                          <p:spTgt spid="563214"/>
                                        </p:tgtEl>
                                        <p:attrNameLst>
                                          <p:attrName>style.visibility</p:attrName>
                                        </p:attrNameLst>
                                      </p:cBhvr>
                                      <p:to>
                                        <p:strVal val="visible"/>
                                      </p:to>
                                    </p:set>
                                  </p:childTnLst>
                                </p:cTn>
                              </p:par>
                            </p:childTnLst>
                          </p:cTn>
                        </p:par>
                        <p:par>
                          <p:cTn id="47" fill="hold">
                            <p:stCondLst>
                              <p:cond delay="11200"/>
                            </p:stCondLst>
                            <p:childTnLst>
                              <p:par>
                                <p:cTn id="48" presetID="1" presetClass="entr" presetSubtype="0" fill="hold" nodeType="afterEffect">
                                  <p:stCondLst>
                                    <p:cond delay="0"/>
                                  </p:stCondLst>
                                  <p:childTnLst>
                                    <p:set>
                                      <p:cBhvr>
                                        <p:cTn id="49" dur="1" fill="hold">
                                          <p:stCondLst>
                                            <p:cond delay="499"/>
                                          </p:stCondLst>
                                        </p:cTn>
                                        <p:tgtEl>
                                          <p:spTgt spid="563213"/>
                                        </p:tgtEl>
                                        <p:attrNameLst>
                                          <p:attrName>style.visibility</p:attrName>
                                        </p:attrNameLst>
                                      </p:cBhvr>
                                      <p:to>
                                        <p:strVal val="visible"/>
                                      </p:to>
                                    </p:set>
                                  </p:childTnLst>
                                </p:cTn>
                              </p:par>
                            </p:childTnLst>
                          </p:cTn>
                        </p:par>
                        <p:par>
                          <p:cTn id="50" fill="hold">
                            <p:stCondLst>
                              <p:cond delay="11700"/>
                            </p:stCondLst>
                            <p:childTnLst>
                              <p:par>
                                <p:cTn id="51" presetID="22" presetClass="entr" presetSubtype="8" fill="hold" grpId="0" nodeType="afterEffect">
                                  <p:stCondLst>
                                    <p:cond delay="0"/>
                                  </p:stCondLst>
                                  <p:childTnLst>
                                    <p:set>
                                      <p:cBhvr>
                                        <p:cTn id="52" dur="1" fill="hold">
                                          <p:stCondLst>
                                            <p:cond delay="0"/>
                                          </p:stCondLst>
                                        </p:cTn>
                                        <p:tgtEl>
                                          <p:spTgt spid="563208"/>
                                        </p:tgtEl>
                                        <p:attrNameLst>
                                          <p:attrName>style.visibility</p:attrName>
                                        </p:attrNameLst>
                                      </p:cBhvr>
                                      <p:to>
                                        <p:strVal val="visible"/>
                                      </p:to>
                                    </p:set>
                                    <p:animEffect transition="in" filter="wipe(left)">
                                      <p:cBhvr>
                                        <p:cTn id="53" dur="500"/>
                                        <p:tgtEl>
                                          <p:spTgt spid="5632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02" grpId="0"/>
      <p:bldP spid="563203" grpId="0"/>
      <p:bldP spid="563204" grpId="0"/>
      <p:bldP spid="563205" grpId="0"/>
      <p:bldP spid="563206" grpId="0"/>
      <p:bldP spid="563207" grpId="0"/>
      <p:bldP spid="563208"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4226" name="Text Box 2"/>
          <p:cNvSpPr txBox="1"/>
          <p:nvPr/>
        </p:nvSpPr>
        <p:spPr>
          <a:xfrm>
            <a:off x="1600200" y="152400"/>
            <a:ext cx="3111500" cy="706755"/>
          </a:xfrm>
          <a:prstGeom prst="rect">
            <a:avLst/>
          </a:prstGeom>
          <a:noFill/>
          <a:ln w="9525">
            <a:noFill/>
          </a:ln>
        </p:spPr>
        <p:txBody>
          <a:bodyPr>
            <a:spAutoFit/>
          </a:bodyPr>
          <a:lstStyle/>
          <a:p>
            <a:r>
              <a:rPr lang="zh-CN" altLang="en-US" sz="4000" b="1" dirty="0">
                <a:solidFill>
                  <a:srgbClr val="FF0000"/>
                </a:solidFill>
                <a:latin typeface="楷体_GB2312" panose="02010609030101010101" pitchFamily="49" charset="-122"/>
                <a:ea typeface="楷体_GB2312" panose="02010609030101010101" pitchFamily="49" charset="-122"/>
              </a:rPr>
              <a:t>链式映象</a:t>
            </a:r>
            <a:endParaRPr lang="zh-CN" altLang="en-US" sz="4000" b="1" dirty="0">
              <a:solidFill>
                <a:srgbClr val="FF0000"/>
              </a:solidFill>
              <a:latin typeface="楷体_GB2312" panose="02010609030101010101" pitchFamily="49" charset="-122"/>
              <a:ea typeface="楷体_GB2312" panose="02010609030101010101" pitchFamily="49" charset="-122"/>
            </a:endParaRPr>
          </a:p>
        </p:txBody>
      </p:sp>
      <p:sp>
        <p:nvSpPr>
          <p:cNvPr id="564227" name="Text Box 3"/>
          <p:cNvSpPr txBox="1"/>
          <p:nvPr/>
        </p:nvSpPr>
        <p:spPr>
          <a:xfrm>
            <a:off x="1600200" y="1263650"/>
            <a:ext cx="6396355" cy="645160"/>
          </a:xfrm>
          <a:prstGeom prst="rect">
            <a:avLst/>
          </a:prstGeom>
          <a:noFill/>
          <a:ln w="9525">
            <a:noFill/>
          </a:ln>
        </p:spPr>
        <p:txBody>
          <a:bodyPr wrap="none">
            <a:spAutoFit/>
          </a:bodyPr>
          <a:lstStyle/>
          <a:p>
            <a:r>
              <a:rPr lang="zh-CN" altLang="en-US" sz="3600" b="1" dirty="0">
                <a:solidFill>
                  <a:srgbClr val="FF0000"/>
                </a:solidFill>
                <a:latin typeface="楷体_GB2312" panose="02010609030101010101" pitchFamily="49" charset="-122"/>
                <a:ea typeface="楷体_GB2312" panose="02010609030101010101" pitchFamily="49" charset="-122"/>
              </a:rPr>
              <a:t>以附加信息</a:t>
            </a:r>
            <a:r>
              <a:rPr lang="en-US" altLang="zh-CN" sz="3600" b="1" dirty="0">
                <a:solidFill>
                  <a:srgbClr val="FF0000"/>
                </a:solidFill>
                <a:latin typeface="楷体_GB2312" panose="02010609030101010101" pitchFamily="49" charset="-122"/>
                <a:ea typeface="楷体_GB2312" panose="02010609030101010101" pitchFamily="49" charset="-122"/>
              </a:rPr>
              <a:t>(</a:t>
            </a:r>
            <a:r>
              <a:rPr lang="zh-CN" altLang="en-US" sz="3600" b="1" dirty="0">
                <a:solidFill>
                  <a:srgbClr val="FF0000"/>
                </a:solidFill>
                <a:latin typeface="楷体_GB2312" panose="02010609030101010101" pitchFamily="49" charset="-122"/>
                <a:ea typeface="楷体_GB2312" panose="02010609030101010101" pitchFamily="49" charset="-122"/>
              </a:rPr>
              <a:t>指针</a:t>
            </a:r>
            <a:r>
              <a:rPr lang="en-US" altLang="zh-CN" sz="3600" b="1" dirty="0">
                <a:solidFill>
                  <a:srgbClr val="FF0000"/>
                </a:solidFill>
                <a:latin typeface="楷体_GB2312" panose="02010609030101010101" pitchFamily="49" charset="-122"/>
                <a:ea typeface="楷体_GB2312" panose="02010609030101010101" pitchFamily="49" charset="-122"/>
              </a:rPr>
              <a:t>)</a:t>
            </a:r>
            <a:r>
              <a:rPr lang="zh-CN" altLang="en-US" sz="3600" b="1" dirty="0">
                <a:solidFill>
                  <a:srgbClr val="FF0000"/>
                </a:solidFill>
                <a:latin typeface="楷体_GB2312" panose="02010609030101010101" pitchFamily="49" charset="-122"/>
                <a:ea typeface="楷体_GB2312" panose="02010609030101010101" pitchFamily="49" charset="-122"/>
              </a:rPr>
              <a:t>表示后继关系</a:t>
            </a:r>
            <a:endParaRPr lang="zh-CN" altLang="en-US" sz="3600" b="1" dirty="0">
              <a:solidFill>
                <a:srgbClr val="FF0000"/>
              </a:solidFill>
              <a:latin typeface="楷体_GB2312" panose="02010609030101010101" pitchFamily="49" charset="-122"/>
              <a:ea typeface="楷体_GB2312" panose="02010609030101010101" pitchFamily="49" charset="-122"/>
            </a:endParaRPr>
          </a:p>
        </p:txBody>
      </p:sp>
      <p:sp>
        <p:nvSpPr>
          <p:cNvPr id="564228" name="Text Box 4"/>
          <p:cNvSpPr txBox="1"/>
          <p:nvPr/>
        </p:nvSpPr>
        <p:spPr>
          <a:xfrm>
            <a:off x="457200" y="2133600"/>
            <a:ext cx="8305800" cy="1419860"/>
          </a:xfrm>
          <a:prstGeom prst="rect">
            <a:avLst/>
          </a:prstGeom>
          <a:noFill/>
          <a:ln w="9525">
            <a:noFill/>
          </a:ln>
        </p:spPr>
        <p:txBody>
          <a:bodyPr>
            <a:spAutoFit/>
          </a:bodyPr>
          <a:lstStyle/>
          <a:p>
            <a:pPr>
              <a:lnSpc>
                <a:spcPct val="120000"/>
              </a:lnSpc>
            </a:pPr>
            <a:r>
              <a:rPr lang="zh-CN" altLang="en-US" sz="3600" dirty="0">
                <a:latin typeface="楷体_GB2312" panose="02010609030101010101" pitchFamily="49" charset="-122"/>
                <a:ea typeface="楷体_GB2312" panose="02010609030101010101" pitchFamily="49" charset="-122"/>
              </a:rPr>
              <a:t>需要用一个和 </a:t>
            </a:r>
            <a:r>
              <a:rPr lang="en-US" altLang="zh-CN" sz="3600" dirty="0">
                <a:latin typeface="楷体_GB2312" panose="02010609030101010101" pitchFamily="49" charset="-122"/>
                <a:ea typeface="楷体_GB2312" panose="02010609030101010101" pitchFamily="49" charset="-122"/>
              </a:rPr>
              <a:t>x </a:t>
            </a:r>
            <a:r>
              <a:rPr lang="zh-CN" altLang="en-US" sz="3600" dirty="0">
                <a:latin typeface="楷体_GB2312" panose="02010609030101010101" pitchFamily="49" charset="-122"/>
                <a:ea typeface="楷体_GB2312" panose="02010609030101010101" pitchFamily="49" charset="-122"/>
              </a:rPr>
              <a:t>在一起的</a:t>
            </a:r>
            <a:r>
              <a:rPr lang="zh-CN" altLang="en-US" sz="3600" b="1" dirty="0">
                <a:solidFill>
                  <a:srgbClr val="FF0000"/>
                </a:solidFill>
                <a:latin typeface="楷体_GB2312" panose="02010609030101010101" pitchFamily="49" charset="-122"/>
                <a:ea typeface="楷体_GB2312" panose="02010609030101010101" pitchFamily="49" charset="-122"/>
              </a:rPr>
              <a:t>附加信息</a:t>
            </a:r>
            <a:r>
              <a:rPr lang="zh-CN" altLang="en-US" sz="3600" dirty="0">
                <a:latin typeface="楷体_GB2312" panose="02010609030101010101" pitchFamily="49" charset="-122"/>
                <a:ea typeface="楷体_GB2312" panose="02010609030101010101" pitchFamily="49" charset="-122"/>
              </a:rPr>
              <a:t>指示 </a:t>
            </a:r>
            <a:r>
              <a:rPr lang="en-US" altLang="zh-CN" sz="3600" dirty="0">
                <a:latin typeface="楷体_GB2312" panose="02010609030101010101" pitchFamily="49" charset="-122"/>
                <a:ea typeface="楷体_GB2312" panose="02010609030101010101" pitchFamily="49" charset="-122"/>
              </a:rPr>
              <a:t>y </a:t>
            </a:r>
            <a:r>
              <a:rPr lang="zh-CN" altLang="en-US" sz="3600" dirty="0">
                <a:latin typeface="楷体_GB2312" panose="02010609030101010101" pitchFamily="49" charset="-122"/>
                <a:ea typeface="楷体_GB2312" panose="02010609030101010101" pitchFamily="49" charset="-122"/>
              </a:rPr>
              <a:t>的存储位置</a:t>
            </a:r>
            <a:endParaRPr lang="zh-CN" altLang="en-US" sz="3600" dirty="0">
              <a:latin typeface="楷体_GB2312" panose="02010609030101010101" pitchFamily="49" charset="-122"/>
              <a:ea typeface="楷体_GB2312" panose="02010609030101010101" pitchFamily="49" charset="-122"/>
            </a:endParaRPr>
          </a:p>
        </p:txBody>
      </p:sp>
      <p:sp>
        <p:nvSpPr>
          <p:cNvPr id="564229" name="Text Box 5"/>
          <p:cNvSpPr txBox="1"/>
          <p:nvPr/>
        </p:nvSpPr>
        <p:spPr>
          <a:xfrm>
            <a:off x="3068638" y="4191000"/>
            <a:ext cx="2584450" cy="914400"/>
          </a:xfrm>
          <a:prstGeom prst="rect">
            <a:avLst/>
          </a:prstGeom>
          <a:noFill/>
          <a:ln w="9525">
            <a:noFill/>
          </a:ln>
        </p:spPr>
        <p:txBody>
          <a:bodyPr wrap="none">
            <a:spAutoFit/>
          </a:bodyPr>
          <a:lstStyle/>
          <a:p>
            <a:r>
              <a:rPr lang="en-US" altLang="zh-CN" sz="5400" dirty="0">
                <a:latin typeface="楷体_GB2312" panose="02010609030101010101" pitchFamily="49" charset="-122"/>
                <a:ea typeface="楷体_GB2312" panose="02010609030101010101" pitchFamily="49" charset="-122"/>
              </a:rPr>
              <a:t>y     x</a:t>
            </a:r>
            <a:endParaRPr lang="en-US" altLang="zh-CN" sz="2400" dirty="0">
              <a:latin typeface="楷体_GB2312" panose="02010609030101010101" pitchFamily="49" charset="-122"/>
              <a:ea typeface="楷体_GB2312" panose="02010609030101010101" pitchFamily="49" charset="-122"/>
            </a:endParaRPr>
          </a:p>
        </p:txBody>
      </p:sp>
      <p:sp>
        <p:nvSpPr>
          <p:cNvPr id="564230" name="Line 6"/>
          <p:cNvSpPr/>
          <p:nvPr/>
        </p:nvSpPr>
        <p:spPr>
          <a:xfrm>
            <a:off x="2667000" y="4343400"/>
            <a:ext cx="4038600" cy="0"/>
          </a:xfrm>
          <a:prstGeom prst="line">
            <a:avLst/>
          </a:prstGeom>
          <a:ln w="9525" cap="flat" cmpd="sng">
            <a:solidFill>
              <a:srgbClr val="000000"/>
            </a:solidFill>
            <a:prstDash val="solid"/>
            <a:headEnd type="none" w="med" len="med"/>
            <a:tailEnd type="none" w="med" len="med"/>
          </a:ln>
        </p:spPr>
      </p:sp>
      <p:sp>
        <p:nvSpPr>
          <p:cNvPr id="564231" name="Line 7"/>
          <p:cNvSpPr/>
          <p:nvPr/>
        </p:nvSpPr>
        <p:spPr>
          <a:xfrm>
            <a:off x="2590800" y="5181600"/>
            <a:ext cx="3962400" cy="0"/>
          </a:xfrm>
          <a:prstGeom prst="line">
            <a:avLst/>
          </a:prstGeom>
          <a:ln w="9525" cap="flat" cmpd="sng">
            <a:solidFill>
              <a:srgbClr val="000000"/>
            </a:solidFill>
            <a:prstDash val="solid"/>
            <a:headEnd type="none" w="med" len="med"/>
            <a:tailEnd type="none" w="med" len="med"/>
          </a:ln>
        </p:spPr>
      </p:sp>
      <p:sp>
        <p:nvSpPr>
          <p:cNvPr id="564232" name="Line 8"/>
          <p:cNvSpPr/>
          <p:nvPr/>
        </p:nvSpPr>
        <p:spPr>
          <a:xfrm>
            <a:off x="2971800" y="4343400"/>
            <a:ext cx="0" cy="830263"/>
          </a:xfrm>
          <a:prstGeom prst="line">
            <a:avLst/>
          </a:prstGeom>
          <a:ln w="9525" cap="flat" cmpd="sng">
            <a:solidFill>
              <a:srgbClr val="000000"/>
            </a:solidFill>
            <a:prstDash val="solid"/>
            <a:headEnd type="none" w="med" len="med"/>
            <a:tailEnd type="none" w="med" len="med"/>
          </a:ln>
        </p:spPr>
      </p:sp>
      <p:sp>
        <p:nvSpPr>
          <p:cNvPr id="564233" name="Line 9"/>
          <p:cNvSpPr/>
          <p:nvPr/>
        </p:nvSpPr>
        <p:spPr>
          <a:xfrm>
            <a:off x="4038600" y="4351338"/>
            <a:ext cx="0" cy="830262"/>
          </a:xfrm>
          <a:prstGeom prst="line">
            <a:avLst/>
          </a:prstGeom>
          <a:ln w="9525" cap="flat" cmpd="sng">
            <a:solidFill>
              <a:srgbClr val="000000"/>
            </a:solidFill>
            <a:prstDash val="solid"/>
            <a:headEnd type="none" w="med" len="med"/>
            <a:tailEnd type="none" w="med" len="med"/>
          </a:ln>
        </p:spPr>
      </p:sp>
      <p:sp>
        <p:nvSpPr>
          <p:cNvPr id="564234" name="Line 10"/>
          <p:cNvSpPr/>
          <p:nvPr/>
        </p:nvSpPr>
        <p:spPr>
          <a:xfrm>
            <a:off x="5029200" y="4343400"/>
            <a:ext cx="0" cy="830263"/>
          </a:xfrm>
          <a:prstGeom prst="line">
            <a:avLst/>
          </a:prstGeom>
          <a:ln w="9525" cap="flat" cmpd="sng">
            <a:solidFill>
              <a:srgbClr val="000000"/>
            </a:solidFill>
            <a:prstDash val="solid"/>
            <a:headEnd type="none" w="med" len="med"/>
            <a:tailEnd type="none" w="med" len="med"/>
          </a:ln>
        </p:spPr>
      </p:sp>
      <p:sp>
        <p:nvSpPr>
          <p:cNvPr id="564235" name="Line 11"/>
          <p:cNvSpPr/>
          <p:nvPr/>
        </p:nvSpPr>
        <p:spPr>
          <a:xfrm>
            <a:off x="5791200" y="4800600"/>
            <a:ext cx="0" cy="685800"/>
          </a:xfrm>
          <a:prstGeom prst="line">
            <a:avLst/>
          </a:prstGeom>
          <a:ln w="38100" cap="flat" cmpd="sng">
            <a:solidFill>
              <a:srgbClr val="800000"/>
            </a:solidFill>
            <a:prstDash val="solid"/>
            <a:headEnd type="none" w="med" len="med"/>
            <a:tailEnd type="none" w="med" len="med"/>
          </a:ln>
        </p:spPr>
      </p:sp>
      <p:sp>
        <p:nvSpPr>
          <p:cNvPr id="564236" name="Line 12"/>
          <p:cNvSpPr/>
          <p:nvPr/>
        </p:nvSpPr>
        <p:spPr>
          <a:xfrm>
            <a:off x="3295650" y="5486400"/>
            <a:ext cx="2495550" cy="0"/>
          </a:xfrm>
          <a:prstGeom prst="line">
            <a:avLst/>
          </a:prstGeom>
          <a:ln w="38100" cap="flat" cmpd="sng">
            <a:solidFill>
              <a:srgbClr val="800000"/>
            </a:solidFill>
            <a:prstDash val="solid"/>
            <a:headEnd type="none" w="med" len="med"/>
            <a:tailEnd type="none" w="med" len="med"/>
          </a:ln>
        </p:spPr>
      </p:sp>
      <p:sp>
        <p:nvSpPr>
          <p:cNvPr id="564237" name="Line 13"/>
          <p:cNvSpPr/>
          <p:nvPr/>
        </p:nvSpPr>
        <p:spPr>
          <a:xfrm>
            <a:off x="3295650" y="5189538"/>
            <a:ext cx="0" cy="296862"/>
          </a:xfrm>
          <a:prstGeom prst="line">
            <a:avLst/>
          </a:prstGeom>
          <a:ln w="38100" cap="flat" cmpd="sng">
            <a:solidFill>
              <a:srgbClr val="800000"/>
            </a:solidFill>
            <a:prstDash val="solid"/>
            <a:headEnd type="arrow" w="med" len="med"/>
            <a:tailEnd type="none" w="med" len="med"/>
          </a:ln>
        </p:spPr>
      </p:sp>
      <p:sp>
        <p:nvSpPr>
          <p:cNvPr id="564238" name="Line 14"/>
          <p:cNvSpPr/>
          <p:nvPr/>
        </p:nvSpPr>
        <p:spPr>
          <a:xfrm>
            <a:off x="6096000" y="4351338"/>
            <a:ext cx="0" cy="830262"/>
          </a:xfrm>
          <a:prstGeom prst="line">
            <a:avLst/>
          </a:prstGeom>
          <a:ln w="9525" cap="flat" cmpd="sng">
            <a:solidFill>
              <a:srgbClr val="000000"/>
            </a:solidFill>
            <a:prstDash val="solid"/>
            <a:headEnd type="none" w="med" len="med"/>
            <a:tailEnd type="none" w="med" len="med"/>
          </a:ln>
        </p:spPr>
      </p:sp>
      <p:sp>
        <p:nvSpPr>
          <p:cNvPr id="2" name="日期占位符 1"/>
          <p:cNvSpPr>
            <a:spLocks noGrp="1"/>
          </p:cNvSpPr>
          <p:nvPr>
            <p:ph type="dt" sz="half" idx="10"/>
          </p:nvPr>
        </p:nvSpPr>
        <p:spPr/>
        <p:txBody>
          <a:bodyPr/>
          <a:lstStyle/>
          <a:p>
            <a:r>
              <a:rPr lang="en-US" altLang="zh-CN"/>
              <a:t>Data Structures and algorithms</a:t>
            </a:r>
            <a:endParaRPr lang="zh-CN" altLang="en-US"/>
          </a:p>
        </p:txBody>
      </p:sp>
      <p:sp>
        <p:nvSpPr>
          <p:cNvPr id="3" name="页脚占位符 2"/>
          <p:cNvSpPr>
            <a:spLocks noGrp="1"/>
          </p:cNvSpPr>
          <p:nvPr>
            <p:ph type="ftr" sz="quarter" idx="11"/>
          </p:nvPr>
        </p:nvSpPr>
        <p:spPr/>
        <p:txBody>
          <a:bodyPr/>
          <a:lstStyle/>
          <a:p>
            <a:r>
              <a:rPr lang="en-US" altLang="zh-CN"/>
              <a:t>Software College Northeastern University</a:t>
            </a:r>
            <a:endParaRPr lang="zh-CN" altLang="en-US"/>
          </a:p>
        </p:txBody>
      </p:sp>
      <p:sp>
        <p:nvSpPr>
          <p:cNvPr id="4" name="灯片编号占位符 3"/>
          <p:cNvSpPr>
            <a:spLocks noGrp="1"/>
          </p:cNvSpPr>
          <p:nvPr>
            <p:ph type="sldNum" sz="quarter" idx="12"/>
          </p:nvPr>
        </p:nvSpPr>
        <p:spPr/>
        <p:txBody>
          <a:bodyPr/>
          <a:lstStyle/>
          <a:p>
            <a:fld id="{6E1C0148-8E4B-4B2F-95CE-20B4709700AE}" type="slidenum">
              <a:rPr lang="zh-CN" altLang="en-US" smtClean="0"/>
            </a:fld>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564226"/>
                                        </p:tgtEl>
                                        <p:attrNameLst>
                                          <p:attrName>style.visibility</p:attrName>
                                        </p:attrNameLst>
                                      </p:cBhvr>
                                      <p:to>
                                        <p:strVal val="visible"/>
                                      </p:to>
                                    </p:set>
                                    <p:animEffect transition="in" filter="slide(fromLeft)">
                                      <p:cBhvr>
                                        <p:cTn id="7" dur="500"/>
                                        <p:tgtEl>
                                          <p:spTgt spid="564226"/>
                                        </p:tgtEl>
                                      </p:cBhvr>
                                    </p:animEffect>
                                  </p:childTnLst>
                                </p:cTn>
                              </p:par>
                            </p:childTnLst>
                          </p:cTn>
                        </p:par>
                      </p:childTnLst>
                    </p:cTn>
                  </p:par>
                  <p:par>
                    <p:cTn id="8" fill="hold">
                      <p:stCondLst>
                        <p:cond delay="indefinite"/>
                      </p:stCondLst>
                      <p:childTnLst>
                        <p:par>
                          <p:cTn id="9" fill="hold">
                            <p:stCondLst>
                              <p:cond delay="0"/>
                            </p:stCondLst>
                            <p:childTnLst>
                              <p:par>
                                <p:cTn id="10" presetID="17" presetClass="entr" presetSubtype="8" fill="hold" grpId="0" nodeType="clickEffect">
                                  <p:stCondLst>
                                    <p:cond delay="0"/>
                                  </p:stCondLst>
                                  <p:childTnLst>
                                    <p:set>
                                      <p:cBhvr>
                                        <p:cTn id="11" dur="1" fill="hold">
                                          <p:stCondLst>
                                            <p:cond delay="0"/>
                                          </p:stCondLst>
                                        </p:cTn>
                                        <p:tgtEl>
                                          <p:spTgt spid="564227"/>
                                        </p:tgtEl>
                                        <p:attrNameLst>
                                          <p:attrName>style.visibility</p:attrName>
                                        </p:attrNameLst>
                                      </p:cBhvr>
                                      <p:to>
                                        <p:strVal val="visible"/>
                                      </p:to>
                                    </p:set>
                                    <p:anim calcmode="lin" valueType="num">
                                      <p:cBhvr>
                                        <p:cTn id="12" dur="500" fill="hold"/>
                                        <p:tgtEl>
                                          <p:spTgt spid="564227"/>
                                        </p:tgtEl>
                                        <p:attrNameLst>
                                          <p:attrName>ppt_x</p:attrName>
                                        </p:attrNameLst>
                                      </p:cBhvr>
                                      <p:tavLst>
                                        <p:tav tm="0">
                                          <p:val>
                                            <p:strVal val="#ppt_x-#ppt_w/2"/>
                                          </p:val>
                                        </p:tav>
                                        <p:tav tm="100000">
                                          <p:val>
                                            <p:strVal val="#ppt_x"/>
                                          </p:val>
                                        </p:tav>
                                      </p:tavLst>
                                    </p:anim>
                                    <p:anim calcmode="lin" valueType="num">
                                      <p:cBhvr>
                                        <p:cTn id="13" dur="500" fill="hold"/>
                                        <p:tgtEl>
                                          <p:spTgt spid="564227"/>
                                        </p:tgtEl>
                                        <p:attrNameLst>
                                          <p:attrName>ppt_y</p:attrName>
                                        </p:attrNameLst>
                                      </p:cBhvr>
                                      <p:tavLst>
                                        <p:tav tm="0">
                                          <p:val>
                                            <p:strVal val="#ppt_y"/>
                                          </p:val>
                                        </p:tav>
                                        <p:tav tm="100000">
                                          <p:val>
                                            <p:strVal val="#ppt_y"/>
                                          </p:val>
                                        </p:tav>
                                      </p:tavLst>
                                    </p:anim>
                                    <p:anim calcmode="lin" valueType="num">
                                      <p:cBhvr>
                                        <p:cTn id="14" dur="500" fill="hold"/>
                                        <p:tgtEl>
                                          <p:spTgt spid="564227"/>
                                        </p:tgtEl>
                                        <p:attrNameLst>
                                          <p:attrName>ppt_w</p:attrName>
                                        </p:attrNameLst>
                                      </p:cBhvr>
                                      <p:tavLst>
                                        <p:tav tm="0">
                                          <p:val>
                                            <p:fltVal val="0"/>
                                          </p:val>
                                        </p:tav>
                                        <p:tav tm="100000">
                                          <p:val>
                                            <p:strVal val="#ppt_w"/>
                                          </p:val>
                                        </p:tav>
                                      </p:tavLst>
                                    </p:anim>
                                    <p:anim calcmode="lin" valueType="num">
                                      <p:cBhvr>
                                        <p:cTn id="15" dur="500" fill="hold"/>
                                        <p:tgtEl>
                                          <p:spTgt spid="564227"/>
                                        </p:tgtEl>
                                        <p:attrNameLst>
                                          <p:attrName>ppt_h</p:attrName>
                                        </p:attrNameLst>
                                      </p:cBhvr>
                                      <p:tavLst>
                                        <p:tav tm="0">
                                          <p:val>
                                            <p:strVal val="#ppt_h"/>
                                          </p:val>
                                        </p:tav>
                                        <p:tav tm="100000">
                                          <p:val>
                                            <p:strVal val="#ppt_h"/>
                                          </p:val>
                                        </p:tav>
                                      </p:tavLst>
                                    </p:anim>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iterate type="wd">
                                    <p:tmPct val="100000"/>
                                  </p:iterate>
                                  <p:childTnLst>
                                    <p:set>
                                      <p:cBhvr>
                                        <p:cTn id="19" dur="1" fill="hold">
                                          <p:stCondLst>
                                            <p:cond delay="0"/>
                                          </p:stCondLst>
                                        </p:cTn>
                                        <p:tgtEl>
                                          <p:spTgt spid="564228"/>
                                        </p:tgtEl>
                                        <p:attrNameLst>
                                          <p:attrName>style.visibility</p:attrName>
                                        </p:attrNameLst>
                                      </p:cBhvr>
                                      <p:to>
                                        <p:strVal val="visible"/>
                                      </p:to>
                                    </p:set>
                                    <p:animEffect transition="in" filter="wipe(left)">
                                      <p:cBhvr>
                                        <p:cTn id="20" dur="300"/>
                                        <p:tgtEl>
                                          <p:spTgt spid="564228"/>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564229"/>
                                        </p:tgtEl>
                                        <p:attrNameLst>
                                          <p:attrName>style.visibility</p:attrName>
                                        </p:attrNameLst>
                                      </p:cBhvr>
                                      <p:to>
                                        <p:strVal val="visible"/>
                                      </p:to>
                                    </p:set>
                                    <p:animEffect transition="in" filter="wipe(left)">
                                      <p:cBhvr>
                                        <p:cTn id="25" dur="500"/>
                                        <p:tgtEl>
                                          <p:spTgt spid="564229"/>
                                        </p:tgtEl>
                                      </p:cBhvr>
                                    </p:animEffect>
                                  </p:childTnLst>
                                </p:cTn>
                              </p:par>
                            </p:childTnLst>
                          </p:cTn>
                        </p:par>
                        <p:par>
                          <p:cTn id="26" fill="hold">
                            <p:stCondLst>
                              <p:cond delay="500"/>
                            </p:stCondLst>
                            <p:childTnLst>
                              <p:par>
                                <p:cTn id="27" presetID="1" presetClass="entr" presetSubtype="0" fill="hold" nodeType="afterEffect">
                                  <p:stCondLst>
                                    <p:cond delay="0"/>
                                  </p:stCondLst>
                                  <p:childTnLst>
                                    <p:set>
                                      <p:cBhvr>
                                        <p:cTn id="28" dur="1" fill="hold">
                                          <p:stCondLst>
                                            <p:cond delay="499"/>
                                          </p:stCondLst>
                                        </p:cTn>
                                        <p:tgtEl>
                                          <p:spTgt spid="564230"/>
                                        </p:tgtEl>
                                        <p:attrNameLst>
                                          <p:attrName>style.visibility</p:attrName>
                                        </p:attrNameLst>
                                      </p:cBhvr>
                                      <p:to>
                                        <p:strVal val="visible"/>
                                      </p:to>
                                    </p:set>
                                  </p:childTnLst>
                                </p:cTn>
                              </p:par>
                            </p:childTnLst>
                          </p:cTn>
                        </p:par>
                        <p:par>
                          <p:cTn id="29" fill="hold">
                            <p:stCondLst>
                              <p:cond delay="1000"/>
                            </p:stCondLst>
                            <p:childTnLst>
                              <p:par>
                                <p:cTn id="30" presetID="1" presetClass="entr" presetSubtype="0" fill="hold" nodeType="afterEffect">
                                  <p:stCondLst>
                                    <p:cond delay="0"/>
                                  </p:stCondLst>
                                  <p:childTnLst>
                                    <p:set>
                                      <p:cBhvr>
                                        <p:cTn id="31" dur="1" fill="hold">
                                          <p:stCondLst>
                                            <p:cond delay="499"/>
                                          </p:stCondLst>
                                        </p:cTn>
                                        <p:tgtEl>
                                          <p:spTgt spid="564231"/>
                                        </p:tgtEl>
                                        <p:attrNameLst>
                                          <p:attrName>style.visibility</p:attrName>
                                        </p:attrNameLst>
                                      </p:cBhvr>
                                      <p:to>
                                        <p:strVal val="visible"/>
                                      </p:to>
                                    </p:set>
                                  </p:childTnLst>
                                </p:cTn>
                              </p:par>
                            </p:childTnLst>
                          </p:cTn>
                        </p:par>
                        <p:par>
                          <p:cTn id="32" fill="hold">
                            <p:stCondLst>
                              <p:cond delay="1500"/>
                            </p:stCondLst>
                            <p:childTnLst>
                              <p:par>
                                <p:cTn id="33" presetID="1" presetClass="entr" presetSubtype="0" fill="hold" nodeType="afterEffect">
                                  <p:stCondLst>
                                    <p:cond delay="0"/>
                                  </p:stCondLst>
                                  <p:childTnLst>
                                    <p:set>
                                      <p:cBhvr>
                                        <p:cTn id="34" dur="1" fill="hold">
                                          <p:stCondLst>
                                            <p:cond delay="499"/>
                                          </p:stCondLst>
                                        </p:cTn>
                                        <p:tgtEl>
                                          <p:spTgt spid="564232"/>
                                        </p:tgtEl>
                                        <p:attrNameLst>
                                          <p:attrName>style.visibility</p:attrName>
                                        </p:attrNameLst>
                                      </p:cBhvr>
                                      <p:to>
                                        <p:strVal val="visible"/>
                                      </p:to>
                                    </p:set>
                                  </p:childTnLst>
                                </p:cTn>
                              </p:par>
                            </p:childTnLst>
                          </p:cTn>
                        </p:par>
                        <p:par>
                          <p:cTn id="35" fill="hold">
                            <p:stCondLst>
                              <p:cond delay="2000"/>
                            </p:stCondLst>
                            <p:childTnLst>
                              <p:par>
                                <p:cTn id="36" presetID="1" presetClass="entr" presetSubtype="0" fill="hold" nodeType="afterEffect">
                                  <p:stCondLst>
                                    <p:cond delay="0"/>
                                  </p:stCondLst>
                                  <p:childTnLst>
                                    <p:set>
                                      <p:cBhvr>
                                        <p:cTn id="37" dur="1" fill="hold">
                                          <p:stCondLst>
                                            <p:cond delay="499"/>
                                          </p:stCondLst>
                                        </p:cTn>
                                        <p:tgtEl>
                                          <p:spTgt spid="564233"/>
                                        </p:tgtEl>
                                        <p:attrNameLst>
                                          <p:attrName>style.visibility</p:attrName>
                                        </p:attrNameLst>
                                      </p:cBhvr>
                                      <p:to>
                                        <p:strVal val="visible"/>
                                      </p:to>
                                    </p:set>
                                  </p:childTnLst>
                                </p:cTn>
                              </p:par>
                            </p:childTnLst>
                          </p:cTn>
                        </p:par>
                        <p:par>
                          <p:cTn id="38" fill="hold">
                            <p:stCondLst>
                              <p:cond delay="2500"/>
                            </p:stCondLst>
                            <p:childTnLst>
                              <p:par>
                                <p:cTn id="39" presetID="1" presetClass="entr" presetSubtype="0" fill="hold" nodeType="afterEffect">
                                  <p:stCondLst>
                                    <p:cond delay="0"/>
                                  </p:stCondLst>
                                  <p:childTnLst>
                                    <p:set>
                                      <p:cBhvr>
                                        <p:cTn id="40" dur="1" fill="hold">
                                          <p:stCondLst>
                                            <p:cond delay="499"/>
                                          </p:stCondLst>
                                        </p:cTn>
                                        <p:tgtEl>
                                          <p:spTgt spid="564234"/>
                                        </p:tgtEl>
                                        <p:attrNameLst>
                                          <p:attrName>style.visibility</p:attrName>
                                        </p:attrNameLst>
                                      </p:cBhvr>
                                      <p:to>
                                        <p:strVal val="visible"/>
                                      </p:to>
                                    </p:set>
                                  </p:childTnLst>
                                </p:cTn>
                              </p:par>
                            </p:childTnLst>
                          </p:cTn>
                        </p:par>
                        <p:par>
                          <p:cTn id="41" fill="hold">
                            <p:stCondLst>
                              <p:cond delay="3000"/>
                            </p:stCondLst>
                            <p:childTnLst>
                              <p:par>
                                <p:cTn id="42" presetID="1" presetClass="entr" presetSubtype="0" fill="hold" nodeType="afterEffect">
                                  <p:stCondLst>
                                    <p:cond delay="0"/>
                                  </p:stCondLst>
                                  <p:childTnLst>
                                    <p:set>
                                      <p:cBhvr>
                                        <p:cTn id="43" dur="1" fill="hold">
                                          <p:stCondLst>
                                            <p:cond delay="499"/>
                                          </p:stCondLst>
                                        </p:cTn>
                                        <p:tgtEl>
                                          <p:spTgt spid="564238"/>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22" presetClass="entr" presetSubtype="1" fill="hold" nodeType="clickEffect">
                                  <p:stCondLst>
                                    <p:cond delay="0"/>
                                  </p:stCondLst>
                                  <p:childTnLst>
                                    <p:set>
                                      <p:cBhvr>
                                        <p:cTn id="47" dur="1" fill="hold">
                                          <p:stCondLst>
                                            <p:cond delay="0"/>
                                          </p:stCondLst>
                                        </p:cTn>
                                        <p:tgtEl>
                                          <p:spTgt spid="564235"/>
                                        </p:tgtEl>
                                        <p:attrNameLst>
                                          <p:attrName>style.visibility</p:attrName>
                                        </p:attrNameLst>
                                      </p:cBhvr>
                                      <p:to>
                                        <p:strVal val="visible"/>
                                      </p:to>
                                    </p:set>
                                    <p:animEffect transition="in" filter="wipe(up)">
                                      <p:cBhvr>
                                        <p:cTn id="48" dur="500"/>
                                        <p:tgtEl>
                                          <p:spTgt spid="564235"/>
                                        </p:tgtEl>
                                      </p:cBhvr>
                                    </p:animEffect>
                                  </p:childTnLst>
                                </p:cTn>
                              </p:par>
                            </p:childTnLst>
                          </p:cTn>
                        </p:par>
                        <p:par>
                          <p:cTn id="49" fill="hold">
                            <p:stCondLst>
                              <p:cond delay="500"/>
                            </p:stCondLst>
                            <p:childTnLst>
                              <p:par>
                                <p:cTn id="50" presetID="22" presetClass="entr" presetSubtype="2" fill="hold" nodeType="afterEffect">
                                  <p:stCondLst>
                                    <p:cond delay="0"/>
                                  </p:stCondLst>
                                  <p:childTnLst>
                                    <p:set>
                                      <p:cBhvr>
                                        <p:cTn id="51" dur="1" fill="hold">
                                          <p:stCondLst>
                                            <p:cond delay="0"/>
                                          </p:stCondLst>
                                        </p:cTn>
                                        <p:tgtEl>
                                          <p:spTgt spid="564236"/>
                                        </p:tgtEl>
                                        <p:attrNameLst>
                                          <p:attrName>style.visibility</p:attrName>
                                        </p:attrNameLst>
                                      </p:cBhvr>
                                      <p:to>
                                        <p:strVal val="visible"/>
                                      </p:to>
                                    </p:set>
                                    <p:animEffect transition="in" filter="wipe(right)">
                                      <p:cBhvr>
                                        <p:cTn id="52" dur="500"/>
                                        <p:tgtEl>
                                          <p:spTgt spid="564236"/>
                                        </p:tgtEl>
                                      </p:cBhvr>
                                    </p:animEffect>
                                  </p:childTnLst>
                                </p:cTn>
                              </p:par>
                            </p:childTnLst>
                          </p:cTn>
                        </p:par>
                        <p:par>
                          <p:cTn id="53" fill="hold">
                            <p:stCondLst>
                              <p:cond delay="1000"/>
                            </p:stCondLst>
                            <p:childTnLst>
                              <p:par>
                                <p:cTn id="54" presetID="22" presetClass="entr" presetSubtype="4" fill="hold" nodeType="afterEffect">
                                  <p:stCondLst>
                                    <p:cond delay="0"/>
                                  </p:stCondLst>
                                  <p:childTnLst>
                                    <p:set>
                                      <p:cBhvr>
                                        <p:cTn id="55" dur="1" fill="hold">
                                          <p:stCondLst>
                                            <p:cond delay="0"/>
                                          </p:stCondLst>
                                        </p:cTn>
                                        <p:tgtEl>
                                          <p:spTgt spid="564237"/>
                                        </p:tgtEl>
                                        <p:attrNameLst>
                                          <p:attrName>style.visibility</p:attrName>
                                        </p:attrNameLst>
                                      </p:cBhvr>
                                      <p:to>
                                        <p:strVal val="visible"/>
                                      </p:to>
                                    </p:set>
                                    <p:animEffect transition="in" filter="wipe(down)">
                                      <p:cBhvr>
                                        <p:cTn id="56" dur="500"/>
                                        <p:tgtEl>
                                          <p:spTgt spid="5642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4226" grpId="0"/>
      <p:bldP spid="564227" grpId="0"/>
      <p:bldP spid="564228" grpId="0"/>
      <p:bldP spid="564229"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5250" name="Text Box 2"/>
          <p:cNvSpPr txBox="1"/>
          <p:nvPr/>
        </p:nvSpPr>
        <p:spPr>
          <a:xfrm>
            <a:off x="457200" y="1295400"/>
            <a:ext cx="4754880" cy="645160"/>
          </a:xfrm>
          <a:prstGeom prst="rect">
            <a:avLst/>
          </a:prstGeom>
          <a:noFill/>
          <a:ln w="9525">
            <a:noFill/>
          </a:ln>
        </p:spPr>
        <p:txBody>
          <a:bodyPr wrap="none">
            <a:spAutoFit/>
          </a:bodyPr>
          <a:lstStyle/>
          <a:p>
            <a:r>
              <a:rPr lang="zh-CN" altLang="en-US" sz="3600" dirty="0">
                <a:latin typeface="楷体_GB2312" panose="02010609030101010101" pitchFamily="49" charset="-122"/>
                <a:ea typeface="楷体_GB2312" panose="02010609030101010101" pitchFamily="49" charset="-122"/>
              </a:rPr>
              <a:t>在不同的编程环境中，</a:t>
            </a:r>
            <a:endParaRPr lang="zh-CN" altLang="en-US" sz="3600" dirty="0">
              <a:latin typeface="楷体_GB2312" panose="02010609030101010101" pitchFamily="49" charset="-122"/>
              <a:ea typeface="楷体_GB2312" panose="02010609030101010101" pitchFamily="49" charset="-122"/>
            </a:endParaRPr>
          </a:p>
        </p:txBody>
      </p:sp>
      <p:sp>
        <p:nvSpPr>
          <p:cNvPr id="565251" name="Text Box 3"/>
          <p:cNvSpPr txBox="1"/>
          <p:nvPr/>
        </p:nvSpPr>
        <p:spPr>
          <a:xfrm>
            <a:off x="1066800" y="2225675"/>
            <a:ext cx="6583680" cy="645160"/>
          </a:xfrm>
          <a:prstGeom prst="rect">
            <a:avLst/>
          </a:prstGeom>
          <a:noFill/>
          <a:ln w="9525">
            <a:noFill/>
          </a:ln>
        </p:spPr>
        <p:txBody>
          <a:bodyPr wrap="none">
            <a:spAutoFit/>
          </a:bodyPr>
          <a:lstStyle/>
          <a:p>
            <a:r>
              <a:rPr lang="zh-CN" altLang="en-US" sz="3600" dirty="0">
                <a:latin typeface="楷体_GB2312" panose="02010609030101010101" pitchFamily="49" charset="-122"/>
                <a:ea typeface="楷体_GB2312" panose="02010609030101010101" pitchFamily="49" charset="-122"/>
              </a:rPr>
              <a:t>存储结构可有不同的描述方法。</a:t>
            </a:r>
            <a:endParaRPr lang="zh-CN" altLang="en-US" sz="3600" dirty="0">
              <a:latin typeface="楷体_GB2312" panose="02010609030101010101" pitchFamily="49" charset="-122"/>
              <a:ea typeface="楷体_GB2312" panose="02010609030101010101" pitchFamily="49" charset="-122"/>
            </a:endParaRPr>
          </a:p>
        </p:txBody>
      </p:sp>
      <p:sp>
        <p:nvSpPr>
          <p:cNvPr id="565252" name="Text Box 4"/>
          <p:cNvSpPr txBox="1"/>
          <p:nvPr/>
        </p:nvSpPr>
        <p:spPr>
          <a:xfrm>
            <a:off x="457200" y="3108325"/>
            <a:ext cx="8686800" cy="2416810"/>
          </a:xfrm>
          <a:prstGeom prst="rect">
            <a:avLst/>
          </a:prstGeom>
          <a:noFill/>
          <a:ln w="9525">
            <a:noFill/>
          </a:ln>
        </p:spPr>
        <p:txBody>
          <a:bodyPr>
            <a:spAutoFit/>
          </a:bodyPr>
          <a:lstStyle/>
          <a:p>
            <a:pPr>
              <a:lnSpc>
                <a:spcPct val="140000"/>
              </a:lnSpc>
            </a:pPr>
            <a:r>
              <a:rPr lang="zh-CN" altLang="en-US" sz="3600" dirty="0">
                <a:solidFill>
                  <a:srgbClr val="006600"/>
                </a:solidFill>
                <a:latin typeface="Times New Roman" panose="02020603050405020304" pitchFamily="18" charset="0"/>
              </a:rPr>
              <a:t>当用高级程序设计语言进行编程时，通常可用高级编程语言中提供的数据类型描述之</a:t>
            </a:r>
            <a:r>
              <a:rPr lang="zh-CN" altLang="en-US" sz="3600" dirty="0">
                <a:latin typeface="Times New Roman" panose="02020603050405020304" pitchFamily="18" charset="0"/>
              </a:rPr>
              <a:t>。</a:t>
            </a:r>
            <a:endParaRPr lang="zh-CN" altLang="en-US" sz="3600" dirty="0">
              <a:latin typeface="Times New Roman" panose="02020603050405020304" pitchFamily="18" charset="0"/>
            </a:endParaRPr>
          </a:p>
        </p:txBody>
      </p:sp>
      <p:sp>
        <p:nvSpPr>
          <p:cNvPr id="2" name="日期占位符 1"/>
          <p:cNvSpPr>
            <a:spLocks noGrp="1"/>
          </p:cNvSpPr>
          <p:nvPr>
            <p:ph type="dt" sz="half" idx="10"/>
          </p:nvPr>
        </p:nvSpPr>
        <p:spPr/>
        <p:txBody>
          <a:bodyPr/>
          <a:lstStyle/>
          <a:p>
            <a:r>
              <a:rPr lang="en-US" altLang="zh-CN"/>
              <a:t>Data Structures and algorithms</a:t>
            </a:r>
            <a:endParaRPr lang="zh-CN" altLang="en-US"/>
          </a:p>
        </p:txBody>
      </p:sp>
      <p:sp>
        <p:nvSpPr>
          <p:cNvPr id="3" name="页脚占位符 2"/>
          <p:cNvSpPr>
            <a:spLocks noGrp="1"/>
          </p:cNvSpPr>
          <p:nvPr>
            <p:ph type="ftr" sz="quarter" idx="11"/>
          </p:nvPr>
        </p:nvSpPr>
        <p:spPr/>
        <p:txBody>
          <a:bodyPr/>
          <a:lstStyle/>
          <a:p>
            <a:r>
              <a:rPr lang="en-US" altLang="zh-CN"/>
              <a:t>Software College Northeastern University</a:t>
            </a:r>
            <a:endParaRPr lang="zh-CN" altLang="en-US"/>
          </a:p>
        </p:txBody>
      </p:sp>
      <p:sp>
        <p:nvSpPr>
          <p:cNvPr id="4" name="灯片编号占位符 3"/>
          <p:cNvSpPr>
            <a:spLocks noGrp="1"/>
          </p:cNvSpPr>
          <p:nvPr>
            <p:ph type="sldNum" sz="quarter" idx="12"/>
          </p:nvPr>
        </p:nvSpPr>
        <p:spPr/>
        <p:txBody>
          <a:bodyPr/>
          <a:lstStyle/>
          <a:p>
            <a:fld id="{6E1C0148-8E4B-4B2F-95CE-20B4709700AE}" type="slidenum">
              <a:rPr lang="zh-CN" altLang="en-US" smtClean="0"/>
            </a:fld>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65250"/>
                                        </p:tgtEl>
                                        <p:attrNameLst>
                                          <p:attrName>style.visibility</p:attrName>
                                        </p:attrNameLst>
                                      </p:cBhvr>
                                      <p:to>
                                        <p:strVal val="visible"/>
                                      </p:to>
                                    </p:set>
                                    <p:animEffect transition="in" filter="wipe(left)">
                                      <p:cBhvr>
                                        <p:cTn id="7" dur="500"/>
                                        <p:tgtEl>
                                          <p:spTgt spid="56525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65251"/>
                                        </p:tgtEl>
                                        <p:attrNameLst>
                                          <p:attrName>style.visibility</p:attrName>
                                        </p:attrNameLst>
                                      </p:cBhvr>
                                      <p:to>
                                        <p:strVal val="visible"/>
                                      </p:to>
                                    </p:set>
                                    <p:animEffect transition="in" filter="wipe(left)">
                                      <p:cBhvr>
                                        <p:cTn id="12" dur="500"/>
                                        <p:tgtEl>
                                          <p:spTgt spid="56525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lt">
                                    <p:tmPct val="100000"/>
                                  </p:iterate>
                                  <p:childTnLst>
                                    <p:set>
                                      <p:cBhvr>
                                        <p:cTn id="16" dur="1" fill="hold">
                                          <p:stCondLst>
                                            <p:cond delay="0"/>
                                          </p:stCondLst>
                                        </p:cTn>
                                        <p:tgtEl>
                                          <p:spTgt spid="565252"/>
                                        </p:tgtEl>
                                        <p:attrNameLst>
                                          <p:attrName>style.visibility</p:attrName>
                                        </p:attrNameLst>
                                      </p:cBhvr>
                                      <p:to>
                                        <p:strVal val="visible"/>
                                      </p:to>
                                    </p:set>
                                    <p:animEffect transition="in" filter="wipe(left)">
                                      <p:cBhvr>
                                        <p:cTn id="17" dur="75"/>
                                        <p:tgtEl>
                                          <p:spTgt spid="5652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5250" grpId="0"/>
      <p:bldP spid="565251" grpId="0"/>
      <p:bldP spid="565252"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6274" name="Text Box 2"/>
          <p:cNvSpPr txBox="1"/>
          <p:nvPr/>
        </p:nvSpPr>
        <p:spPr>
          <a:xfrm>
            <a:off x="1314450" y="441960"/>
            <a:ext cx="4902200" cy="645160"/>
          </a:xfrm>
          <a:prstGeom prst="rect">
            <a:avLst/>
          </a:prstGeom>
          <a:noFill/>
          <a:ln w="9525">
            <a:noFill/>
          </a:ln>
        </p:spPr>
        <p:txBody>
          <a:bodyPr>
            <a:spAutoFit/>
          </a:bodyPr>
          <a:lstStyle/>
          <a:p>
            <a:r>
              <a:rPr lang="zh-CN" altLang="en-US" sz="3600" b="1" dirty="0">
                <a:solidFill>
                  <a:srgbClr val="660066"/>
                </a:solidFill>
                <a:latin typeface="楷体_GB2312" panose="02010609030101010101" pitchFamily="49" charset="-122"/>
                <a:ea typeface="楷体_GB2312" panose="02010609030101010101" pitchFamily="49" charset="-122"/>
              </a:rPr>
              <a:t>数据类型</a:t>
            </a:r>
            <a:endParaRPr lang="zh-CN" altLang="en-US" sz="3600" b="1" dirty="0">
              <a:solidFill>
                <a:srgbClr val="660066"/>
              </a:solidFill>
              <a:latin typeface="楷体_GB2312" panose="02010609030101010101" pitchFamily="49" charset="-122"/>
              <a:ea typeface="楷体_GB2312" panose="02010609030101010101" pitchFamily="49" charset="-122"/>
            </a:endParaRPr>
          </a:p>
        </p:txBody>
      </p:sp>
      <p:sp>
        <p:nvSpPr>
          <p:cNvPr id="566275" name="Text Box 3"/>
          <p:cNvSpPr txBox="1"/>
          <p:nvPr/>
        </p:nvSpPr>
        <p:spPr>
          <a:xfrm>
            <a:off x="107504" y="1540510"/>
            <a:ext cx="8922831" cy="3192145"/>
          </a:xfrm>
          <a:prstGeom prst="rect">
            <a:avLst/>
          </a:prstGeom>
          <a:noFill/>
          <a:ln w="9525">
            <a:noFill/>
          </a:ln>
        </p:spPr>
        <p:txBody>
          <a:bodyPr wrap="square">
            <a:spAutoFit/>
          </a:bodyPr>
          <a:lstStyle/>
          <a:p>
            <a:pPr lvl="2" eaLnBrk="1" hangingPunct="1">
              <a:lnSpc>
                <a:spcPct val="140000"/>
              </a:lnSpc>
            </a:pPr>
            <a:r>
              <a:rPr lang="zh-CN" altLang="en-US" sz="3600" dirty="0">
                <a:latin typeface="楷体_GB2312" panose="02010609030101010101" pitchFamily="49" charset="-122"/>
                <a:ea typeface="楷体_GB2312" panose="02010609030101010101" pitchFamily="49" charset="-122"/>
              </a:rPr>
              <a:t>数据类型是</a:t>
            </a:r>
            <a:r>
              <a:rPr lang="zh-CN" altLang="en-US" sz="3600" dirty="0">
                <a:solidFill>
                  <a:srgbClr val="FF0000"/>
                </a:solidFill>
                <a:latin typeface="楷体_GB2312" panose="02010609030101010101" pitchFamily="49" charset="-122"/>
                <a:ea typeface="楷体_GB2312" panose="02010609030101010101" pitchFamily="49" charset="-122"/>
              </a:rPr>
              <a:t>用以刻划程序中操作</a:t>
            </a:r>
            <a:endParaRPr lang="zh-CN" altLang="en-US" sz="3600" dirty="0">
              <a:solidFill>
                <a:srgbClr val="FF0000"/>
              </a:solidFill>
              <a:latin typeface="楷体_GB2312" panose="02010609030101010101" pitchFamily="49" charset="-122"/>
              <a:ea typeface="楷体_GB2312" panose="02010609030101010101" pitchFamily="49" charset="-122"/>
            </a:endParaRPr>
          </a:p>
          <a:p>
            <a:pPr lvl="2" eaLnBrk="1" hangingPunct="1">
              <a:lnSpc>
                <a:spcPct val="140000"/>
              </a:lnSpc>
            </a:pPr>
            <a:r>
              <a:rPr lang="zh-CN" altLang="en-US" sz="3600" dirty="0">
                <a:solidFill>
                  <a:srgbClr val="FF0000"/>
                </a:solidFill>
                <a:latin typeface="楷体_GB2312" panose="02010609030101010101" pitchFamily="49" charset="-122"/>
                <a:ea typeface="楷体_GB2312" panose="02010609030101010101" pitchFamily="49" charset="-122"/>
              </a:rPr>
              <a:t>对象的特性</a:t>
            </a:r>
            <a:r>
              <a:rPr lang="zh-CN" altLang="en-US" sz="3600" dirty="0">
                <a:latin typeface="楷体_GB2312" panose="02010609030101010101" pitchFamily="49" charset="-122"/>
                <a:ea typeface="楷体_GB2312" panose="02010609030101010101" pitchFamily="49" charset="-122"/>
              </a:rPr>
              <a:t>。在用高级语言编写的</a:t>
            </a:r>
            <a:endParaRPr lang="zh-CN" altLang="en-US" sz="3600" dirty="0">
              <a:latin typeface="楷体_GB2312" panose="02010609030101010101" pitchFamily="49" charset="-122"/>
              <a:ea typeface="楷体_GB2312" panose="02010609030101010101" pitchFamily="49" charset="-122"/>
            </a:endParaRPr>
          </a:p>
          <a:p>
            <a:pPr lvl="2" eaLnBrk="1" hangingPunct="1">
              <a:lnSpc>
                <a:spcPct val="140000"/>
              </a:lnSpc>
            </a:pPr>
            <a:r>
              <a:rPr lang="zh-CN" altLang="en-US" sz="3600" dirty="0">
                <a:latin typeface="楷体_GB2312" panose="02010609030101010101" pitchFamily="49" charset="-122"/>
                <a:ea typeface="楷体_GB2312" panose="02010609030101010101" pitchFamily="49" charset="-122"/>
              </a:rPr>
              <a:t>程序中，每个变量、常量或表达式</a:t>
            </a:r>
            <a:endParaRPr lang="zh-CN" altLang="en-US" sz="3600" dirty="0">
              <a:latin typeface="楷体_GB2312" panose="02010609030101010101" pitchFamily="49" charset="-122"/>
              <a:ea typeface="楷体_GB2312" panose="02010609030101010101" pitchFamily="49" charset="-122"/>
            </a:endParaRPr>
          </a:p>
          <a:p>
            <a:pPr lvl="2" eaLnBrk="1" hangingPunct="1">
              <a:lnSpc>
                <a:spcPct val="140000"/>
              </a:lnSpc>
            </a:pPr>
            <a:r>
              <a:rPr lang="zh-CN" altLang="en-US" sz="3600" dirty="0">
                <a:latin typeface="楷体_GB2312" panose="02010609030101010101" pitchFamily="49" charset="-122"/>
                <a:ea typeface="楷体_GB2312" panose="02010609030101010101" pitchFamily="49" charset="-122"/>
              </a:rPr>
              <a:t>都有一个它所属的确定的数据类型。</a:t>
            </a:r>
            <a:endParaRPr lang="zh-CN" altLang="en-US" sz="3600" dirty="0">
              <a:latin typeface="楷体_GB2312" panose="02010609030101010101" pitchFamily="49" charset="-122"/>
              <a:ea typeface="楷体_GB2312" panose="02010609030101010101" pitchFamily="49" charset="-122"/>
            </a:endParaRPr>
          </a:p>
        </p:txBody>
      </p:sp>
      <p:sp>
        <p:nvSpPr>
          <p:cNvPr id="2" name="日期占位符 1"/>
          <p:cNvSpPr>
            <a:spLocks noGrp="1"/>
          </p:cNvSpPr>
          <p:nvPr>
            <p:ph type="dt" sz="half" idx="10"/>
          </p:nvPr>
        </p:nvSpPr>
        <p:spPr/>
        <p:txBody>
          <a:bodyPr/>
          <a:lstStyle/>
          <a:p>
            <a:r>
              <a:rPr lang="en-US" altLang="zh-CN"/>
              <a:t>Data Structures and algorithms</a:t>
            </a:r>
            <a:endParaRPr lang="zh-CN" altLang="en-US"/>
          </a:p>
        </p:txBody>
      </p:sp>
      <p:sp>
        <p:nvSpPr>
          <p:cNvPr id="3" name="页脚占位符 2"/>
          <p:cNvSpPr>
            <a:spLocks noGrp="1"/>
          </p:cNvSpPr>
          <p:nvPr>
            <p:ph type="ftr" sz="quarter" idx="11"/>
          </p:nvPr>
        </p:nvSpPr>
        <p:spPr/>
        <p:txBody>
          <a:bodyPr/>
          <a:lstStyle/>
          <a:p>
            <a:r>
              <a:rPr lang="en-US" altLang="zh-CN"/>
              <a:t>Software College Northeastern University</a:t>
            </a:r>
            <a:endParaRPr lang="zh-CN" altLang="en-US"/>
          </a:p>
        </p:txBody>
      </p:sp>
      <p:sp>
        <p:nvSpPr>
          <p:cNvPr id="4" name="灯片编号占位符 3"/>
          <p:cNvSpPr>
            <a:spLocks noGrp="1"/>
          </p:cNvSpPr>
          <p:nvPr>
            <p:ph type="sldNum" sz="quarter" idx="12"/>
          </p:nvPr>
        </p:nvSpPr>
        <p:spPr/>
        <p:txBody>
          <a:bodyPr/>
          <a:lstStyle/>
          <a:p>
            <a:fld id="{6E1C0148-8E4B-4B2F-95CE-20B4709700AE}" type="slidenum">
              <a:rPr lang="zh-CN" altLang="en-US" smtClean="0"/>
            </a:fld>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56627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8" presetClass="entr" presetSubtype="6" fill="hold" grpId="0" nodeType="clickEffect">
                                  <p:stCondLst>
                                    <p:cond delay="0"/>
                                  </p:stCondLst>
                                  <p:iterate type="lt">
                                    <p:tmPct val="100000"/>
                                  </p:iterate>
                                  <p:childTnLst>
                                    <p:set>
                                      <p:cBhvr>
                                        <p:cTn id="10" dur="1" fill="hold">
                                          <p:stCondLst>
                                            <p:cond delay="0"/>
                                          </p:stCondLst>
                                        </p:cTn>
                                        <p:tgtEl>
                                          <p:spTgt spid="566275"/>
                                        </p:tgtEl>
                                        <p:attrNameLst>
                                          <p:attrName>style.visibility</p:attrName>
                                        </p:attrNameLst>
                                      </p:cBhvr>
                                      <p:to>
                                        <p:strVal val="visible"/>
                                      </p:to>
                                    </p:set>
                                    <p:animEffect transition="in" filter="strips(downRight)">
                                      <p:cBhvr>
                                        <p:cTn id="11" dur="75"/>
                                        <p:tgtEl>
                                          <p:spTgt spid="5662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6274" grpId="0"/>
      <p:bldP spid="566275"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ext Box 2"/>
          <p:cNvSpPr txBox="1"/>
          <p:nvPr/>
        </p:nvSpPr>
        <p:spPr>
          <a:xfrm>
            <a:off x="1295400" y="304800"/>
            <a:ext cx="6757035" cy="583565"/>
          </a:xfrm>
          <a:prstGeom prst="rect">
            <a:avLst/>
          </a:prstGeom>
          <a:noFill/>
          <a:ln w="9525">
            <a:noFill/>
          </a:ln>
        </p:spPr>
        <p:txBody>
          <a:bodyPr wrap="none">
            <a:spAutoFit/>
          </a:bodyPr>
          <a:lstStyle/>
          <a:p>
            <a:r>
              <a:rPr lang="zh-CN" altLang="en-US" sz="3200" dirty="0">
                <a:solidFill>
                  <a:schemeClr val="tx2"/>
                </a:solidFill>
                <a:latin typeface="楷体_GB2312" panose="02010609030101010101" pitchFamily="49" charset="-122"/>
                <a:ea typeface="楷体_GB2312" panose="02010609030101010101" pitchFamily="49" charset="-122"/>
              </a:rPr>
              <a:t>例如，</a:t>
            </a:r>
            <a:r>
              <a:rPr lang="en-US" altLang="zh-CN" sz="3200" dirty="0">
                <a:solidFill>
                  <a:schemeClr val="tx2"/>
                </a:solidFill>
                <a:latin typeface="Times New Roman" panose="02020603050405020304" pitchFamily="18" charset="0"/>
                <a:ea typeface="楷体_GB2312" panose="02010609030101010101" pitchFamily="49" charset="-122"/>
              </a:rPr>
              <a:t>C</a:t>
            </a:r>
            <a:r>
              <a:rPr lang="en-US" altLang="zh-CN" sz="3200" dirty="0">
                <a:solidFill>
                  <a:schemeClr val="tx2"/>
                </a:solidFill>
                <a:latin typeface="楷体_GB2312" panose="02010609030101010101" pitchFamily="49" charset="-122"/>
                <a:ea typeface="楷体_GB2312" panose="02010609030101010101" pitchFamily="49" charset="-122"/>
              </a:rPr>
              <a:t> </a:t>
            </a:r>
            <a:r>
              <a:rPr lang="zh-CN" altLang="en-US" sz="3200" dirty="0">
                <a:solidFill>
                  <a:schemeClr val="tx2"/>
                </a:solidFill>
                <a:latin typeface="楷体_GB2312" panose="02010609030101010101" pitchFamily="49" charset="-122"/>
                <a:ea typeface="楷体_GB2312" panose="02010609030101010101" pitchFamily="49" charset="-122"/>
              </a:rPr>
              <a:t>语言中提供的</a:t>
            </a:r>
            <a:r>
              <a:rPr lang="zh-CN" altLang="en-US" sz="3200" b="1" dirty="0">
                <a:solidFill>
                  <a:schemeClr val="tx2"/>
                </a:solidFill>
                <a:latin typeface="楷体_GB2312" panose="02010609030101010101" pitchFamily="49" charset="-122"/>
                <a:ea typeface="楷体_GB2312" panose="02010609030101010101" pitchFamily="49" charset="-122"/>
              </a:rPr>
              <a:t>基本数据类型</a:t>
            </a:r>
            <a:endParaRPr lang="en-US" altLang="zh-CN" sz="3200" dirty="0">
              <a:solidFill>
                <a:schemeClr val="tx2"/>
              </a:solidFill>
              <a:latin typeface="Times New Roman" panose="02020603050405020304" pitchFamily="18" charset="0"/>
            </a:endParaRPr>
          </a:p>
        </p:txBody>
      </p:sp>
      <p:sp>
        <p:nvSpPr>
          <p:cNvPr id="567299" name="Text Box 3"/>
          <p:cNvSpPr txBox="1"/>
          <p:nvPr/>
        </p:nvSpPr>
        <p:spPr>
          <a:xfrm>
            <a:off x="777875" y="1263650"/>
            <a:ext cx="1776095" cy="583565"/>
          </a:xfrm>
          <a:prstGeom prst="rect">
            <a:avLst/>
          </a:prstGeom>
          <a:noFill/>
          <a:ln w="9525">
            <a:noFill/>
          </a:ln>
        </p:spPr>
        <p:txBody>
          <a:bodyPr wrap="none">
            <a:spAutoFit/>
          </a:bodyPr>
          <a:lstStyle/>
          <a:p>
            <a:r>
              <a:rPr lang="zh-CN" altLang="en-US" sz="3200" b="1" dirty="0">
                <a:solidFill>
                  <a:srgbClr val="006699"/>
                </a:solidFill>
                <a:latin typeface="Times New Roman" panose="02020603050405020304" pitchFamily="18" charset="0"/>
              </a:rPr>
              <a:t>整型   </a:t>
            </a:r>
            <a:r>
              <a:rPr lang="en-US" altLang="zh-CN" sz="3200" b="1" dirty="0">
                <a:solidFill>
                  <a:srgbClr val="006699"/>
                </a:solidFill>
                <a:latin typeface="Times New Roman" panose="02020603050405020304" pitchFamily="18" charset="0"/>
              </a:rPr>
              <a:t>int</a:t>
            </a:r>
            <a:endParaRPr lang="en-US" altLang="zh-CN" sz="3200" dirty="0">
              <a:latin typeface="Times New Roman" panose="02020603050405020304" pitchFamily="18" charset="0"/>
            </a:endParaRPr>
          </a:p>
        </p:txBody>
      </p:sp>
      <p:sp>
        <p:nvSpPr>
          <p:cNvPr id="567300" name="Text Box 4"/>
          <p:cNvSpPr txBox="1"/>
          <p:nvPr/>
        </p:nvSpPr>
        <p:spPr>
          <a:xfrm>
            <a:off x="781050" y="2286000"/>
            <a:ext cx="2498725" cy="583565"/>
          </a:xfrm>
          <a:prstGeom prst="rect">
            <a:avLst/>
          </a:prstGeom>
          <a:noFill/>
          <a:ln w="9525">
            <a:noFill/>
          </a:ln>
        </p:spPr>
        <p:txBody>
          <a:bodyPr wrap="none">
            <a:spAutoFit/>
          </a:bodyPr>
          <a:lstStyle/>
          <a:p>
            <a:r>
              <a:rPr lang="zh-CN" altLang="en-US" sz="3200" b="1" dirty="0">
                <a:solidFill>
                  <a:srgbClr val="006699"/>
                </a:solidFill>
                <a:latin typeface="Times New Roman" panose="02020603050405020304" pitchFamily="18" charset="0"/>
              </a:rPr>
              <a:t>浮点型   </a:t>
            </a:r>
            <a:r>
              <a:rPr lang="en-US" altLang="zh-CN" sz="3200" b="1" dirty="0">
                <a:solidFill>
                  <a:srgbClr val="006699"/>
                </a:solidFill>
                <a:latin typeface="Times New Roman" panose="02020603050405020304" pitchFamily="18" charset="0"/>
              </a:rPr>
              <a:t>float</a:t>
            </a:r>
            <a:endParaRPr lang="en-US" altLang="zh-CN" sz="3200" dirty="0">
              <a:latin typeface="Times New Roman" panose="02020603050405020304" pitchFamily="18" charset="0"/>
            </a:endParaRPr>
          </a:p>
        </p:txBody>
      </p:sp>
      <p:sp>
        <p:nvSpPr>
          <p:cNvPr id="567301" name="Text Box 5"/>
          <p:cNvSpPr txBox="1"/>
          <p:nvPr/>
        </p:nvSpPr>
        <p:spPr>
          <a:xfrm>
            <a:off x="762000" y="4464050"/>
            <a:ext cx="2498725" cy="583565"/>
          </a:xfrm>
          <a:prstGeom prst="rect">
            <a:avLst/>
          </a:prstGeom>
          <a:noFill/>
          <a:ln w="9525">
            <a:noFill/>
          </a:ln>
        </p:spPr>
        <p:txBody>
          <a:bodyPr wrap="none">
            <a:spAutoFit/>
          </a:bodyPr>
          <a:lstStyle/>
          <a:p>
            <a:r>
              <a:rPr lang="zh-CN" altLang="en-US" sz="3200" b="1" dirty="0">
                <a:solidFill>
                  <a:srgbClr val="006699"/>
                </a:solidFill>
                <a:latin typeface="Times New Roman" panose="02020603050405020304" pitchFamily="18" charset="0"/>
              </a:rPr>
              <a:t>字符型   </a:t>
            </a:r>
            <a:r>
              <a:rPr lang="en-US" altLang="zh-CN" sz="3200" b="1" dirty="0">
                <a:solidFill>
                  <a:srgbClr val="006699"/>
                </a:solidFill>
                <a:latin typeface="Times New Roman" panose="02020603050405020304" pitchFamily="18" charset="0"/>
              </a:rPr>
              <a:t>char</a:t>
            </a:r>
            <a:endParaRPr lang="en-US" altLang="zh-CN" sz="3200" dirty="0">
              <a:latin typeface="Times New Roman" panose="02020603050405020304" pitchFamily="18" charset="0"/>
            </a:endParaRPr>
          </a:p>
        </p:txBody>
      </p:sp>
      <p:sp>
        <p:nvSpPr>
          <p:cNvPr id="567302" name="Text Box 6"/>
          <p:cNvSpPr txBox="1"/>
          <p:nvPr/>
        </p:nvSpPr>
        <p:spPr>
          <a:xfrm>
            <a:off x="762000" y="5486400"/>
            <a:ext cx="6248400" cy="583565"/>
          </a:xfrm>
          <a:prstGeom prst="rect">
            <a:avLst/>
          </a:prstGeom>
          <a:noFill/>
          <a:ln w="9525">
            <a:noFill/>
          </a:ln>
        </p:spPr>
        <p:txBody>
          <a:bodyPr>
            <a:spAutoFit/>
          </a:bodyPr>
          <a:lstStyle/>
          <a:p>
            <a:r>
              <a:rPr lang="zh-CN" altLang="en-US" sz="3200" b="1" dirty="0">
                <a:solidFill>
                  <a:srgbClr val="006699"/>
                </a:solidFill>
                <a:latin typeface="Times New Roman" panose="02020603050405020304" pitchFamily="18" charset="0"/>
              </a:rPr>
              <a:t>逻辑型   </a:t>
            </a:r>
            <a:r>
              <a:rPr lang="en-US" altLang="zh-CN" sz="3200" b="1" dirty="0">
                <a:solidFill>
                  <a:srgbClr val="006699"/>
                </a:solidFill>
                <a:latin typeface="Times New Roman" panose="02020603050405020304" pitchFamily="18" charset="0"/>
              </a:rPr>
              <a:t>bool  </a:t>
            </a:r>
            <a:r>
              <a:rPr lang="zh-CN" altLang="en-US" sz="3200" b="1" dirty="0">
                <a:solidFill>
                  <a:srgbClr val="006699"/>
                </a:solidFill>
                <a:latin typeface="Times New Roman" panose="02020603050405020304" pitchFamily="18" charset="0"/>
              </a:rPr>
              <a:t>（ </a:t>
            </a:r>
            <a:r>
              <a:rPr lang="en-US" altLang="zh-CN" sz="3200" b="1" dirty="0">
                <a:solidFill>
                  <a:srgbClr val="006699"/>
                </a:solidFill>
                <a:latin typeface="Times New Roman" panose="02020603050405020304" pitchFamily="18" charset="0"/>
              </a:rPr>
              <a:t>C++</a:t>
            </a:r>
            <a:r>
              <a:rPr lang="zh-CN" altLang="en-US" sz="3200" b="1" dirty="0">
                <a:solidFill>
                  <a:srgbClr val="006699"/>
                </a:solidFill>
                <a:latin typeface="Times New Roman" panose="02020603050405020304" pitchFamily="18" charset="0"/>
              </a:rPr>
              <a:t>语言）</a:t>
            </a:r>
            <a:endParaRPr lang="zh-CN" altLang="en-US" sz="3200" dirty="0">
              <a:latin typeface="Times New Roman" panose="02020603050405020304" pitchFamily="18" charset="0"/>
            </a:endParaRPr>
          </a:p>
        </p:txBody>
      </p:sp>
      <p:sp>
        <p:nvSpPr>
          <p:cNvPr id="567303" name="Rectangle 7"/>
          <p:cNvSpPr/>
          <p:nvPr/>
        </p:nvSpPr>
        <p:spPr>
          <a:xfrm>
            <a:off x="762000" y="3352800"/>
            <a:ext cx="3188970" cy="583565"/>
          </a:xfrm>
          <a:prstGeom prst="rect">
            <a:avLst/>
          </a:prstGeom>
          <a:noFill/>
          <a:ln w="9525">
            <a:noFill/>
          </a:ln>
        </p:spPr>
        <p:txBody>
          <a:bodyPr wrap="none">
            <a:spAutoFit/>
          </a:bodyPr>
          <a:lstStyle/>
          <a:p>
            <a:r>
              <a:rPr lang="zh-CN" altLang="en-US" sz="3200" b="1" dirty="0">
                <a:solidFill>
                  <a:srgbClr val="006699"/>
                </a:solidFill>
                <a:latin typeface="Times New Roman" panose="02020603050405020304" pitchFamily="18" charset="0"/>
              </a:rPr>
              <a:t>双精度型  </a:t>
            </a:r>
            <a:r>
              <a:rPr lang="en-US" altLang="zh-CN" sz="3200" b="1" dirty="0">
                <a:solidFill>
                  <a:srgbClr val="006699"/>
                </a:solidFill>
                <a:latin typeface="Times New Roman" panose="02020603050405020304" pitchFamily="18" charset="0"/>
              </a:rPr>
              <a:t>double</a:t>
            </a:r>
            <a:endParaRPr lang="en-US" altLang="zh-CN" sz="3200" b="1" dirty="0">
              <a:solidFill>
                <a:srgbClr val="006699"/>
              </a:solidFill>
              <a:latin typeface="Times New Roman" panose="02020603050405020304" pitchFamily="18" charset="0"/>
            </a:endParaRPr>
          </a:p>
        </p:txBody>
      </p:sp>
      <p:sp>
        <p:nvSpPr>
          <p:cNvPr id="567304" name="AutoShape 8"/>
          <p:cNvSpPr/>
          <p:nvPr/>
        </p:nvSpPr>
        <p:spPr>
          <a:xfrm>
            <a:off x="4419600" y="2590800"/>
            <a:ext cx="304800" cy="1143000"/>
          </a:xfrm>
          <a:prstGeom prst="rightBrace">
            <a:avLst>
              <a:gd name="adj1" fmla="val 31250"/>
              <a:gd name="adj2" fmla="val 50000"/>
            </a:avLst>
          </a:prstGeom>
          <a:noFill/>
          <a:ln w="38100" cap="flat" cmpd="sng">
            <a:solidFill>
              <a:srgbClr val="006699"/>
            </a:solidFill>
            <a:prstDash val="solid"/>
            <a:headEnd type="none" w="med" len="med"/>
            <a:tailEnd type="none" w="med" len="med"/>
          </a:ln>
        </p:spPr>
        <p:txBody>
          <a:bodyPr wrap="none" anchor="ctr"/>
          <a:lstStyle/>
          <a:p>
            <a:pPr algn="ctr"/>
            <a:endParaRPr lang="zh-CN" altLang="en-US" sz="3200" dirty="0">
              <a:latin typeface="Times New Roman" panose="02020603050405020304" pitchFamily="18" charset="0"/>
            </a:endParaRPr>
          </a:p>
        </p:txBody>
      </p:sp>
      <p:sp>
        <p:nvSpPr>
          <p:cNvPr id="567305" name="Text Box 9"/>
          <p:cNvSpPr txBox="1"/>
          <p:nvPr/>
        </p:nvSpPr>
        <p:spPr>
          <a:xfrm>
            <a:off x="4876800" y="2819400"/>
            <a:ext cx="4267200" cy="583565"/>
          </a:xfrm>
          <a:prstGeom prst="rect">
            <a:avLst/>
          </a:prstGeom>
          <a:noFill/>
          <a:ln w="9525">
            <a:noFill/>
          </a:ln>
        </p:spPr>
        <p:txBody>
          <a:bodyPr>
            <a:spAutoFit/>
          </a:bodyPr>
          <a:lstStyle/>
          <a:p>
            <a:r>
              <a:rPr lang="zh-CN" altLang="en-US" sz="3200" b="1" dirty="0">
                <a:solidFill>
                  <a:srgbClr val="006699"/>
                </a:solidFill>
                <a:latin typeface="Times New Roman" panose="02020603050405020304" pitchFamily="18" charset="0"/>
              </a:rPr>
              <a:t>实型（ </a:t>
            </a:r>
            <a:r>
              <a:rPr lang="en-US" altLang="zh-CN" sz="3200" b="1" dirty="0">
                <a:solidFill>
                  <a:srgbClr val="006699"/>
                </a:solidFill>
                <a:latin typeface="Times New Roman" panose="02020603050405020304" pitchFamily="18" charset="0"/>
              </a:rPr>
              <a:t>C++</a:t>
            </a:r>
            <a:r>
              <a:rPr lang="zh-CN" altLang="en-US" sz="3200" b="1" dirty="0">
                <a:solidFill>
                  <a:srgbClr val="006699"/>
                </a:solidFill>
                <a:latin typeface="Times New Roman" panose="02020603050405020304" pitchFamily="18" charset="0"/>
              </a:rPr>
              <a:t>语言）</a:t>
            </a:r>
            <a:endParaRPr lang="zh-CN" altLang="en-US" sz="3200" b="1" dirty="0">
              <a:solidFill>
                <a:srgbClr val="006699"/>
              </a:solidFill>
              <a:latin typeface="Times New Roman" panose="02020603050405020304" pitchFamily="18" charset="0"/>
            </a:endParaRPr>
          </a:p>
        </p:txBody>
      </p:sp>
      <p:sp>
        <p:nvSpPr>
          <p:cNvPr id="2" name="日期占位符 1"/>
          <p:cNvSpPr>
            <a:spLocks noGrp="1"/>
          </p:cNvSpPr>
          <p:nvPr>
            <p:ph type="dt" sz="half" idx="10"/>
          </p:nvPr>
        </p:nvSpPr>
        <p:spPr/>
        <p:txBody>
          <a:bodyPr/>
          <a:lstStyle/>
          <a:p>
            <a:r>
              <a:rPr lang="en-US" altLang="zh-CN"/>
              <a:t>Data Structures and algorithms</a:t>
            </a:r>
            <a:endParaRPr lang="zh-CN" altLang="en-US"/>
          </a:p>
        </p:txBody>
      </p:sp>
      <p:sp>
        <p:nvSpPr>
          <p:cNvPr id="3" name="页脚占位符 2"/>
          <p:cNvSpPr>
            <a:spLocks noGrp="1"/>
          </p:cNvSpPr>
          <p:nvPr>
            <p:ph type="ftr" sz="quarter" idx="11"/>
          </p:nvPr>
        </p:nvSpPr>
        <p:spPr/>
        <p:txBody>
          <a:bodyPr/>
          <a:lstStyle/>
          <a:p>
            <a:r>
              <a:rPr lang="en-US" altLang="zh-CN"/>
              <a:t>Software College Northeastern University</a:t>
            </a:r>
            <a:endParaRPr lang="zh-CN" altLang="en-US"/>
          </a:p>
        </p:txBody>
      </p:sp>
      <p:sp>
        <p:nvSpPr>
          <p:cNvPr id="4" name="灯片编号占位符 3"/>
          <p:cNvSpPr>
            <a:spLocks noGrp="1"/>
          </p:cNvSpPr>
          <p:nvPr>
            <p:ph type="sldNum" sz="quarter" idx="12"/>
          </p:nvPr>
        </p:nvSpPr>
        <p:spPr/>
        <p:txBody>
          <a:bodyPr/>
          <a:lstStyle/>
          <a:p>
            <a:fld id="{6E1C0148-8E4B-4B2F-95CE-20B4709700AE}" type="slidenum">
              <a:rPr lang="zh-CN" altLang="en-US" smtClean="0"/>
            </a:fld>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67299"/>
                                        </p:tgtEl>
                                        <p:attrNameLst>
                                          <p:attrName>style.visibility</p:attrName>
                                        </p:attrNameLst>
                                      </p:cBhvr>
                                      <p:to>
                                        <p:strVal val="visible"/>
                                      </p:to>
                                    </p:set>
                                    <p:animEffect transition="in" filter="wipe(left)">
                                      <p:cBhvr>
                                        <p:cTn id="7" dur="500"/>
                                        <p:tgtEl>
                                          <p:spTgt spid="56729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67300"/>
                                        </p:tgtEl>
                                        <p:attrNameLst>
                                          <p:attrName>style.visibility</p:attrName>
                                        </p:attrNameLst>
                                      </p:cBhvr>
                                      <p:to>
                                        <p:strVal val="visible"/>
                                      </p:to>
                                    </p:set>
                                    <p:animEffect transition="in" filter="wipe(left)">
                                      <p:cBhvr>
                                        <p:cTn id="12" dur="500"/>
                                        <p:tgtEl>
                                          <p:spTgt spid="56730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67303"/>
                                        </p:tgtEl>
                                        <p:attrNameLst>
                                          <p:attrName>style.visibility</p:attrName>
                                        </p:attrNameLst>
                                      </p:cBhvr>
                                      <p:to>
                                        <p:strVal val="visible"/>
                                      </p:to>
                                    </p:set>
                                    <p:animEffect transition="in" filter="wipe(left)">
                                      <p:cBhvr>
                                        <p:cTn id="17" dur="500"/>
                                        <p:tgtEl>
                                          <p:spTgt spid="56730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67301"/>
                                        </p:tgtEl>
                                        <p:attrNameLst>
                                          <p:attrName>style.visibility</p:attrName>
                                        </p:attrNameLst>
                                      </p:cBhvr>
                                      <p:to>
                                        <p:strVal val="visible"/>
                                      </p:to>
                                    </p:set>
                                    <p:animEffect transition="in" filter="wipe(left)">
                                      <p:cBhvr>
                                        <p:cTn id="22" dur="500"/>
                                        <p:tgtEl>
                                          <p:spTgt spid="56730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567304"/>
                                        </p:tgtEl>
                                        <p:attrNameLst>
                                          <p:attrName>style.visibility</p:attrName>
                                        </p:attrNameLst>
                                      </p:cBhvr>
                                      <p:to>
                                        <p:strVal val="visible"/>
                                      </p:to>
                                    </p:set>
                                    <p:animEffect transition="in" filter="wipe(up)">
                                      <p:cBhvr>
                                        <p:cTn id="27" dur="500"/>
                                        <p:tgtEl>
                                          <p:spTgt spid="567304"/>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567305"/>
                                        </p:tgtEl>
                                        <p:attrNameLst>
                                          <p:attrName>style.visibility</p:attrName>
                                        </p:attrNameLst>
                                      </p:cBhvr>
                                      <p:to>
                                        <p:strVal val="visible"/>
                                      </p:to>
                                    </p:set>
                                    <p:animEffect transition="in" filter="box(out)">
                                      <p:cBhvr>
                                        <p:cTn id="32" dur="500"/>
                                        <p:tgtEl>
                                          <p:spTgt spid="567305"/>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32" fill="hold" grpId="0" nodeType="clickEffect">
                                  <p:stCondLst>
                                    <p:cond delay="0"/>
                                  </p:stCondLst>
                                  <p:childTnLst>
                                    <p:set>
                                      <p:cBhvr>
                                        <p:cTn id="36" dur="1" fill="hold">
                                          <p:stCondLst>
                                            <p:cond delay="0"/>
                                          </p:stCondLst>
                                        </p:cTn>
                                        <p:tgtEl>
                                          <p:spTgt spid="567302"/>
                                        </p:tgtEl>
                                        <p:attrNameLst>
                                          <p:attrName>style.visibility</p:attrName>
                                        </p:attrNameLst>
                                      </p:cBhvr>
                                      <p:to>
                                        <p:strVal val="visible"/>
                                      </p:to>
                                    </p:set>
                                    <p:animEffect transition="in" filter="box(out)">
                                      <p:cBhvr>
                                        <p:cTn id="37" dur="500"/>
                                        <p:tgtEl>
                                          <p:spTgt spid="5673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7299" grpId="0"/>
      <p:bldP spid="567300" grpId="0"/>
      <p:bldP spid="567301" grpId="0"/>
      <p:bldP spid="567302" grpId="0"/>
      <p:bldP spid="567303" grpId="0"/>
      <p:bldP spid="567304" grpId="0" bldLvl="0" animBg="1"/>
      <p:bldP spid="567305"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8322" name="Text Box 2"/>
          <p:cNvSpPr txBox="1"/>
          <p:nvPr/>
        </p:nvSpPr>
        <p:spPr>
          <a:xfrm>
            <a:off x="827088" y="3878263"/>
            <a:ext cx="6985272" cy="1552220"/>
          </a:xfrm>
          <a:prstGeom prst="rect">
            <a:avLst/>
          </a:prstGeom>
          <a:noFill/>
          <a:ln w="9525">
            <a:noFill/>
          </a:ln>
        </p:spPr>
        <p:txBody>
          <a:bodyPr wrap="square">
            <a:spAutoFit/>
          </a:bodyPr>
          <a:lstStyle/>
          <a:p>
            <a:pPr>
              <a:lnSpc>
                <a:spcPct val="140000"/>
              </a:lnSpc>
            </a:pPr>
            <a:r>
              <a:rPr lang="zh-CN" altLang="en-US" sz="3600" b="1" dirty="0">
                <a:solidFill>
                  <a:srgbClr val="6600CC"/>
                </a:solidFill>
                <a:latin typeface="楷体_GB2312" panose="02010609030101010101" pitchFamily="49" charset="-122"/>
                <a:ea typeface="楷体_GB2312" panose="02010609030101010101" pitchFamily="49" charset="-122"/>
              </a:rPr>
              <a:t> 数据类型 </a:t>
            </a:r>
            <a:r>
              <a:rPr lang="zh-CN" altLang="en-US" sz="3600" dirty="0">
                <a:solidFill>
                  <a:srgbClr val="6600CC"/>
                </a:solidFill>
                <a:latin typeface="楷体_GB2312" panose="02010609030101010101" pitchFamily="49" charset="-122"/>
                <a:ea typeface="楷体_GB2312" panose="02010609030101010101" pitchFamily="49" charset="-122"/>
              </a:rPr>
              <a:t>是一个 </a:t>
            </a:r>
            <a:r>
              <a:rPr lang="zh-CN" altLang="en-US" sz="3600" b="1" dirty="0">
                <a:solidFill>
                  <a:srgbClr val="C00000"/>
                </a:solidFill>
                <a:highlight>
                  <a:srgbClr val="FFFF00"/>
                </a:highlight>
                <a:latin typeface="楷体_GB2312" panose="02010609030101010101" pitchFamily="49" charset="-122"/>
                <a:ea typeface="楷体_GB2312" panose="02010609030101010101" pitchFamily="49" charset="-122"/>
              </a:rPr>
              <a:t>值的集合</a:t>
            </a:r>
            <a:r>
              <a:rPr lang="zh-CN" altLang="en-US" sz="3600" dirty="0">
                <a:solidFill>
                  <a:srgbClr val="6600CC"/>
                </a:solidFill>
                <a:latin typeface="楷体_GB2312" panose="02010609030101010101" pitchFamily="49" charset="-122"/>
                <a:ea typeface="楷体_GB2312" panose="02010609030101010101" pitchFamily="49" charset="-122"/>
              </a:rPr>
              <a:t>和定义在此集合上的</a:t>
            </a:r>
            <a:r>
              <a:rPr lang="zh-CN" altLang="en-US" sz="3600" b="1" dirty="0">
                <a:solidFill>
                  <a:srgbClr val="C00000"/>
                </a:solidFill>
                <a:highlight>
                  <a:srgbClr val="FFFF00"/>
                </a:highlight>
                <a:latin typeface="楷体_GB2312" panose="02010609030101010101" pitchFamily="49" charset="-122"/>
                <a:ea typeface="楷体_GB2312" panose="02010609030101010101" pitchFamily="49" charset="-122"/>
              </a:rPr>
              <a:t>一组操作</a:t>
            </a:r>
            <a:r>
              <a:rPr lang="zh-CN" altLang="en-US" sz="3600" dirty="0">
                <a:solidFill>
                  <a:srgbClr val="6600CC"/>
                </a:solidFill>
                <a:latin typeface="楷体_GB2312" panose="02010609030101010101" pitchFamily="49" charset="-122"/>
                <a:ea typeface="楷体_GB2312" panose="02010609030101010101" pitchFamily="49" charset="-122"/>
              </a:rPr>
              <a:t>的总称。</a:t>
            </a:r>
            <a:endParaRPr lang="zh-CN" altLang="en-US" sz="3600" dirty="0">
              <a:latin typeface="Times New Roman" panose="02020603050405020304" pitchFamily="18" charset="0"/>
            </a:endParaRPr>
          </a:p>
        </p:txBody>
      </p:sp>
      <p:sp>
        <p:nvSpPr>
          <p:cNvPr id="568323" name="Text Box 3"/>
          <p:cNvSpPr txBox="1"/>
          <p:nvPr/>
        </p:nvSpPr>
        <p:spPr>
          <a:xfrm>
            <a:off x="755650" y="854075"/>
            <a:ext cx="7559675" cy="3192145"/>
          </a:xfrm>
          <a:prstGeom prst="rect">
            <a:avLst/>
          </a:prstGeom>
          <a:noFill/>
          <a:ln w="9525">
            <a:noFill/>
          </a:ln>
        </p:spPr>
        <p:txBody>
          <a:bodyPr>
            <a:spAutoFit/>
          </a:bodyPr>
          <a:lstStyle/>
          <a:p>
            <a:pPr>
              <a:lnSpc>
                <a:spcPct val="140000"/>
              </a:lnSpc>
            </a:pPr>
            <a:r>
              <a:rPr lang="zh-CN" altLang="en-US" sz="3600" dirty="0">
                <a:solidFill>
                  <a:schemeClr val="tx2"/>
                </a:solidFill>
                <a:latin typeface="Times New Roman" panose="02020603050405020304" pitchFamily="18" charset="0"/>
                <a:ea typeface="楷体_GB2312" panose="02010609030101010101" pitchFamily="49" charset="-122"/>
              </a:rPr>
              <a:t>       类型显式地或隐含地规定了在程序执行期间变量或表达式所有可能的取值范围，以及在这些值上允许进行的操作。</a:t>
            </a:r>
            <a:endParaRPr lang="zh-CN" altLang="en-US" sz="3600" dirty="0">
              <a:solidFill>
                <a:schemeClr val="tx2"/>
              </a:solidFill>
              <a:latin typeface="Times New Roman" panose="02020603050405020304" pitchFamily="18" charset="0"/>
              <a:ea typeface="楷体_GB2312" panose="02010609030101010101" pitchFamily="49" charset="-122"/>
            </a:endParaRPr>
          </a:p>
        </p:txBody>
      </p:sp>
      <p:sp>
        <p:nvSpPr>
          <p:cNvPr id="2" name="日期占位符 1"/>
          <p:cNvSpPr>
            <a:spLocks noGrp="1"/>
          </p:cNvSpPr>
          <p:nvPr>
            <p:ph type="dt" sz="half" idx="10"/>
          </p:nvPr>
        </p:nvSpPr>
        <p:spPr/>
        <p:txBody>
          <a:bodyPr/>
          <a:lstStyle/>
          <a:p>
            <a:r>
              <a:rPr lang="en-US" altLang="zh-CN"/>
              <a:t>Data Structures and algorithms</a:t>
            </a:r>
            <a:endParaRPr lang="zh-CN" altLang="en-US"/>
          </a:p>
        </p:txBody>
      </p:sp>
      <p:sp>
        <p:nvSpPr>
          <p:cNvPr id="3" name="页脚占位符 2"/>
          <p:cNvSpPr>
            <a:spLocks noGrp="1"/>
          </p:cNvSpPr>
          <p:nvPr>
            <p:ph type="ftr" sz="quarter" idx="11"/>
          </p:nvPr>
        </p:nvSpPr>
        <p:spPr/>
        <p:txBody>
          <a:bodyPr/>
          <a:lstStyle/>
          <a:p>
            <a:r>
              <a:rPr lang="en-US" altLang="zh-CN"/>
              <a:t>Software College Northeastern University</a:t>
            </a:r>
            <a:endParaRPr lang="zh-CN" altLang="en-US"/>
          </a:p>
        </p:txBody>
      </p:sp>
      <p:sp>
        <p:nvSpPr>
          <p:cNvPr id="4" name="灯片编号占位符 3"/>
          <p:cNvSpPr>
            <a:spLocks noGrp="1"/>
          </p:cNvSpPr>
          <p:nvPr>
            <p:ph type="sldNum" sz="quarter" idx="12"/>
          </p:nvPr>
        </p:nvSpPr>
        <p:spPr/>
        <p:txBody>
          <a:bodyPr/>
          <a:lstStyle/>
          <a:p>
            <a:fld id="{6E1C0148-8E4B-4B2F-95CE-20B4709700AE}" type="slidenum">
              <a:rPr lang="zh-CN" altLang="en-US" smtClean="0"/>
            </a:fld>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568323"/>
                                        </p:tgtEl>
                                        <p:attrNameLst>
                                          <p:attrName>style.visibility</p:attrName>
                                        </p:attrNameLst>
                                      </p:cBhvr>
                                      <p:to>
                                        <p:strVal val="visible"/>
                                      </p:to>
                                    </p:set>
                                    <p:animEffect transition="in" filter="wipe(left)">
                                      <p:cBhvr>
                                        <p:cTn id="7" dur="300"/>
                                        <p:tgtEl>
                                          <p:spTgt spid="568323"/>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iterate type="lt">
                                    <p:tmPct val="100000"/>
                                  </p:iterate>
                                  <p:childTnLst>
                                    <p:set>
                                      <p:cBhvr>
                                        <p:cTn id="11" dur="1" fill="hold">
                                          <p:stCondLst>
                                            <p:cond delay="0"/>
                                          </p:stCondLst>
                                        </p:cTn>
                                        <p:tgtEl>
                                          <p:spTgt spid="568322"/>
                                        </p:tgtEl>
                                        <p:attrNameLst>
                                          <p:attrName>style.visibility</p:attrName>
                                        </p:attrNameLst>
                                      </p:cBhvr>
                                      <p:to>
                                        <p:strVal val="visible"/>
                                      </p:to>
                                    </p:set>
                                    <p:animEffect transition="in" filter="strips(downRight)">
                                      <p:cBhvr>
                                        <p:cTn id="12" dur="75"/>
                                        <p:tgtEl>
                                          <p:spTgt spid="5683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8322" grpId="0"/>
      <p:bldP spid="568323"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p:cNvSpPr>
          <p:nvPr>
            <p:ph idx="1"/>
          </p:nvPr>
        </p:nvSpPr>
        <p:spPr>
          <a:xfrm>
            <a:off x="457200" y="908720"/>
            <a:ext cx="8229600" cy="5098571"/>
          </a:xfrm>
        </p:spPr>
        <p:txBody>
          <a:bodyPr vert="horz" wrap="square" lIns="91436" tIns="45718" rIns="91436" bIns="45718" anchor="t">
            <a:noAutofit/>
          </a:bodyPr>
          <a:lstStyle/>
          <a:p>
            <a:pPr>
              <a:lnSpc>
                <a:spcPct val="80000"/>
              </a:lnSpc>
            </a:pPr>
            <a:r>
              <a:rPr lang="zh-CN" altLang="en-US" sz="2800" dirty="0">
                <a:latin typeface="楷体_GB2312" panose="02010609030101010101" pitchFamily="49" charset="-122"/>
                <a:ea typeface="楷体_GB2312" panose="02010609030101010101" pitchFamily="49" charset="-122"/>
              </a:rPr>
              <a:t>在高级程序设计语言中，数据类型可分为两类：</a:t>
            </a:r>
            <a:endParaRPr lang="zh-CN" altLang="en-US" sz="2800" dirty="0">
              <a:latin typeface="楷体_GB2312" panose="02010609030101010101" pitchFamily="49" charset="-122"/>
              <a:ea typeface="楷体_GB2312" panose="02010609030101010101" pitchFamily="49" charset="-122"/>
            </a:endParaRPr>
          </a:p>
          <a:p>
            <a:pPr>
              <a:lnSpc>
                <a:spcPct val="80000"/>
              </a:lnSpc>
            </a:pPr>
            <a:r>
              <a:rPr lang="zh-CN" altLang="en-US" sz="2800" b="1" dirty="0">
                <a:solidFill>
                  <a:srgbClr val="FF0000"/>
                </a:solidFill>
                <a:latin typeface="楷体_GB2312" panose="02010609030101010101" pitchFamily="49" charset="-122"/>
                <a:ea typeface="楷体_GB2312" panose="02010609030101010101" pitchFamily="49" charset="-122"/>
              </a:rPr>
              <a:t>原子类型</a:t>
            </a:r>
            <a:endParaRPr lang="zh-CN" altLang="en-US" sz="2800" b="1" dirty="0">
              <a:solidFill>
                <a:srgbClr val="FF0000"/>
              </a:solidFill>
              <a:latin typeface="楷体_GB2312" panose="02010609030101010101" pitchFamily="49" charset="-122"/>
              <a:ea typeface="楷体_GB2312" panose="02010609030101010101" pitchFamily="49" charset="-122"/>
            </a:endParaRPr>
          </a:p>
          <a:p>
            <a:pPr lvl="1">
              <a:lnSpc>
                <a:spcPct val="80000"/>
              </a:lnSpc>
            </a:pPr>
            <a:r>
              <a:rPr lang="zh-CN" altLang="en-US" sz="2800" dirty="0">
                <a:solidFill>
                  <a:srgbClr val="FF0000"/>
                </a:solidFill>
                <a:latin typeface="楷体_GB2312" panose="02010609030101010101" pitchFamily="49" charset="-122"/>
                <a:ea typeface="楷体_GB2312" panose="02010609030101010101" pitchFamily="49" charset="-122"/>
              </a:rPr>
              <a:t>值是不可分解的</a:t>
            </a:r>
            <a:r>
              <a:rPr lang="zh-CN" altLang="en-US" sz="2800" dirty="0">
                <a:latin typeface="楷体_GB2312" panose="02010609030101010101" pitchFamily="49" charset="-122"/>
                <a:ea typeface="楷体_GB2312" panose="02010609030101010101" pitchFamily="49" charset="-122"/>
              </a:rPr>
              <a:t>。</a:t>
            </a:r>
            <a:endParaRPr lang="zh-CN" altLang="en-US" sz="2800" dirty="0">
              <a:latin typeface="楷体_GB2312" panose="02010609030101010101" pitchFamily="49" charset="-122"/>
              <a:ea typeface="楷体_GB2312" panose="02010609030101010101" pitchFamily="49" charset="-122"/>
            </a:endParaRPr>
          </a:p>
          <a:p>
            <a:pPr lvl="1">
              <a:lnSpc>
                <a:spcPct val="80000"/>
              </a:lnSpc>
            </a:pPr>
            <a:r>
              <a:rPr lang="zh-CN" altLang="en-US" sz="2800" dirty="0">
                <a:latin typeface="楷体_GB2312" panose="02010609030101010101" pitchFamily="49" charset="-122"/>
                <a:ea typeface="楷体_GB2312" panose="02010609030101010101" pitchFamily="49" charset="-122"/>
              </a:rPr>
              <a:t>如</a:t>
            </a:r>
            <a:r>
              <a:rPr lang="en-US" altLang="zh-CN" sz="2800" dirty="0">
                <a:latin typeface="楷体_GB2312" panose="02010609030101010101" pitchFamily="49" charset="-122"/>
                <a:ea typeface="楷体_GB2312" panose="02010609030101010101" pitchFamily="49" charset="-122"/>
              </a:rPr>
              <a:t>C</a:t>
            </a:r>
            <a:r>
              <a:rPr lang="zh-CN" altLang="en-US" sz="2800" dirty="0">
                <a:latin typeface="楷体_GB2312" panose="02010609030101010101" pitchFamily="49" charset="-122"/>
                <a:ea typeface="楷体_GB2312" panose="02010609030101010101" pitchFamily="49" charset="-122"/>
              </a:rPr>
              <a:t>语言中整型、字符型、浮点型、双精度型等基本类型，分别用保留字</a:t>
            </a:r>
            <a:r>
              <a:rPr lang="en-US" altLang="zh-CN" sz="2800" dirty="0">
                <a:latin typeface="楷体_GB2312" panose="02010609030101010101" pitchFamily="49" charset="-122"/>
                <a:ea typeface="楷体_GB2312" panose="02010609030101010101" pitchFamily="49" charset="-122"/>
              </a:rPr>
              <a:t>int</a:t>
            </a:r>
            <a:r>
              <a:rPr lang="zh-CN" altLang="en-US" sz="2800" dirty="0">
                <a:latin typeface="楷体_GB2312" panose="02010609030101010101" pitchFamily="49" charset="-122"/>
                <a:ea typeface="楷体_GB2312" panose="02010609030101010101" pitchFamily="49" charset="-122"/>
              </a:rPr>
              <a:t>、</a:t>
            </a:r>
            <a:r>
              <a:rPr lang="en-US" altLang="zh-CN" sz="2800" dirty="0">
                <a:latin typeface="楷体_GB2312" panose="02010609030101010101" pitchFamily="49" charset="-122"/>
                <a:ea typeface="楷体_GB2312" panose="02010609030101010101" pitchFamily="49" charset="-122"/>
              </a:rPr>
              <a:t>char</a:t>
            </a:r>
            <a:r>
              <a:rPr lang="zh-CN" altLang="en-US" sz="2800" dirty="0">
                <a:latin typeface="楷体_GB2312" panose="02010609030101010101" pitchFamily="49" charset="-122"/>
                <a:ea typeface="楷体_GB2312" panose="02010609030101010101" pitchFamily="49" charset="-122"/>
              </a:rPr>
              <a:t>、</a:t>
            </a:r>
            <a:r>
              <a:rPr lang="en-US" altLang="zh-CN" sz="2800" dirty="0">
                <a:latin typeface="楷体_GB2312" panose="02010609030101010101" pitchFamily="49" charset="-122"/>
                <a:ea typeface="楷体_GB2312" panose="02010609030101010101" pitchFamily="49" charset="-122"/>
              </a:rPr>
              <a:t>float</a:t>
            </a:r>
            <a:r>
              <a:rPr lang="zh-CN" altLang="en-US" sz="2800" dirty="0">
                <a:latin typeface="楷体_GB2312" panose="02010609030101010101" pitchFamily="49" charset="-122"/>
                <a:ea typeface="楷体_GB2312" panose="02010609030101010101" pitchFamily="49" charset="-122"/>
              </a:rPr>
              <a:t>、</a:t>
            </a:r>
            <a:r>
              <a:rPr lang="en-US" altLang="zh-CN" sz="2800" dirty="0">
                <a:latin typeface="楷体_GB2312" panose="02010609030101010101" pitchFamily="49" charset="-122"/>
                <a:ea typeface="楷体_GB2312" panose="02010609030101010101" pitchFamily="49" charset="-122"/>
              </a:rPr>
              <a:t>double</a:t>
            </a:r>
            <a:r>
              <a:rPr lang="zh-CN" altLang="en-US" sz="2800" dirty="0">
                <a:latin typeface="楷体_GB2312" panose="02010609030101010101" pitchFamily="49" charset="-122"/>
                <a:ea typeface="楷体_GB2312" panose="02010609030101010101" pitchFamily="49" charset="-122"/>
              </a:rPr>
              <a:t>标识。</a:t>
            </a:r>
            <a:endParaRPr lang="zh-CN" altLang="en-US" sz="2800" dirty="0">
              <a:latin typeface="楷体_GB2312" panose="02010609030101010101" pitchFamily="49" charset="-122"/>
              <a:ea typeface="楷体_GB2312" panose="02010609030101010101" pitchFamily="49" charset="-122"/>
            </a:endParaRPr>
          </a:p>
          <a:p>
            <a:pPr>
              <a:lnSpc>
                <a:spcPct val="80000"/>
              </a:lnSpc>
            </a:pPr>
            <a:r>
              <a:rPr lang="zh-CN" altLang="en-US" sz="2800" b="1" dirty="0">
                <a:solidFill>
                  <a:srgbClr val="FF0000"/>
                </a:solidFill>
                <a:latin typeface="楷体_GB2312" panose="02010609030101010101" pitchFamily="49" charset="-122"/>
                <a:ea typeface="楷体_GB2312" panose="02010609030101010101" pitchFamily="49" charset="-122"/>
              </a:rPr>
              <a:t>结构类型</a:t>
            </a:r>
            <a:endParaRPr lang="zh-CN" altLang="en-US" sz="2800" b="1" dirty="0">
              <a:solidFill>
                <a:srgbClr val="FF0000"/>
              </a:solidFill>
              <a:latin typeface="楷体_GB2312" panose="02010609030101010101" pitchFamily="49" charset="-122"/>
              <a:ea typeface="楷体_GB2312" panose="02010609030101010101" pitchFamily="49" charset="-122"/>
            </a:endParaRPr>
          </a:p>
          <a:p>
            <a:pPr lvl="1">
              <a:lnSpc>
                <a:spcPct val="80000"/>
              </a:lnSpc>
            </a:pPr>
            <a:r>
              <a:rPr lang="zh-CN" altLang="en-US" sz="2800" dirty="0">
                <a:latin typeface="楷体_GB2312" panose="02010609030101010101" pitchFamily="49" charset="-122"/>
                <a:ea typeface="楷体_GB2312" panose="02010609030101010101" pitchFamily="49" charset="-122"/>
              </a:rPr>
              <a:t>值是由若干成分按某种结构组成的，因此是</a:t>
            </a:r>
            <a:r>
              <a:rPr lang="zh-CN" altLang="en-US" sz="2800" dirty="0">
                <a:solidFill>
                  <a:srgbClr val="FF0000"/>
                </a:solidFill>
                <a:latin typeface="楷体_GB2312" panose="02010609030101010101" pitchFamily="49" charset="-122"/>
                <a:ea typeface="楷体_GB2312" panose="02010609030101010101" pitchFamily="49" charset="-122"/>
              </a:rPr>
              <a:t>可分解的</a:t>
            </a:r>
            <a:r>
              <a:rPr lang="zh-CN" altLang="en-US" sz="2800" dirty="0">
                <a:latin typeface="楷体_GB2312" panose="02010609030101010101" pitchFamily="49" charset="-122"/>
                <a:ea typeface="楷体_GB2312" panose="02010609030101010101" pitchFamily="49" charset="-122"/>
              </a:rPr>
              <a:t>，并且它的</a:t>
            </a:r>
            <a:r>
              <a:rPr lang="zh-CN" altLang="en-US" sz="2800" dirty="0">
                <a:solidFill>
                  <a:srgbClr val="FF0000"/>
                </a:solidFill>
                <a:latin typeface="楷体_GB2312" panose="02010609030101010101" pitchFamily="49" charset="-122"/>
                <a:ea typeface="楷体_GB2312" panose="02010609030101010101" pitchFamily="49" charset="-122"/>
              </a:rPr>
              <a:t>成分可以是非结构的，也可以是结构的</a:t>
            </a:r>
            <a:r>
              <a:rPr lang="zh-CN" altLang="en-US" sz="2800" dirty="0">
                <a:latin typeface="楷体_GB2312" panose="02010609030101010101" pitchFamily="49" charset="-122"/>
                <a:ea typeface="楷体_GB2312" panose="02010609030101010101" pitchFamily="49" charset="-122"/>
              </a:rPr>
              <a:t>。</a:t>
            </a:r>
            <a:endParaRPr lang="zh-CN" altLang="en-US" sz="2800" dirty="0">
              <a:latin typeface="楷体_GB2312" panose="02010609030101010101" pitchFamily="49" charset="-122"/>
              <a:ea typeface="楷体_GB2312" panose="02010609030101010101" pitchFamily="49" charset="-122"/>
            </a:endParaRPr>
          </a:p>
          <a:p>
            <a:pPr lvl="1">
              <a:lnSpc>
                <a:spcPct val="80000"/>
              </a:lnSpc>
            </a:pPr>
            <a:r>
              <a:rPr lang="zh-CN" altLang="en-US" sz="2800" dirty="0">
                <a:latin typeface="楷体_GB2312" panose="02010609030101010101" pitchFamily="49" charset="-122"/>
                <a:ea typeface="楷体_GB2312" panose="02010609030101010101" pitchFamily="49" charset="-122"/>
              </a:rPr>
              <a:t>例如，数组的值由若干分量组成，每个分量可以是整数，也可以是数组等。 </a:t>
            </a:r>
            <a:endParaRPr lang="zh-CN" altLang="en-US" sz="2800" dirty="0">
              <a:latin typeface="楷体_GB2312" panose="02010609030101010101" pitchFamily="49" charset="-122"/>
              <a:ea typeface="楷体_GB2312" panose="02010609030101010101" pitchFamily="49" charset="-122"/>
            </a:endParaRPr>
          </a:p>
        </p:txBody>
      </p:sp>
      <p:sp>
        <p:nvSpPr>
          <p:cNvPr id="3" name="日期占位符 2"/>
          <p:cNvSpPr>
            <a:spLocks noGrp="1"/>
          </p:cNvSpPr>
          <p:nvPr>
            <p:ph type="dt" sz="half" idx="10"/>
          </p:nvPr>
        </p:nvSpPr>
        <p:spPr/>
        <p:txBody>
          <a:bodyPr/>
          <a:lstStyle/>
          <a:p>
            <a:r>
              <a:rPr lang="en-US" altLang="zh-CN"/>
              <a:t>Data Structures and algorithms</a:t>
            </a:r>
            <a:endParaRPr lang="zh-CN" altLang="en-US"/>
          </a:p>
        </p:txBody>
      </p:sp>
      <p:sp>
        <p:nvSpPr>
          <p:cNvPr id="4" name="页脚占位符 3"/>
          <p:cNvSpPr>
            <a:spLocks noGrp="1"/>
          </p:cNvSpPr>
          <p:nvPr>
            <p:ph type="ftr" sz="quarter" idx="11"/>
          </p:nvPr>
        </p:nvSpPr>
        <p:spPr/>
        <p:txBody>
          <a:bodyPr/>
          <a:lstStyle/>
          <a:p>
            <a:r>
              <a:rPr lang="en-US" altLang="zh-CN"/>
              <a:t>Software College Northeastern University</a:t>
            </a:r>
            <a:endParaRPr lang="zh-CN" altLang="en-US"/>
          </a:p>
        </p:txBody>
      </p:sp>
      <p:sp>
        <p:nvSpPr>
          <p:cNvPr id="5" name="灯片编号占位符 4"/>
          <p:cNvSpPr>
            <a:spLocks noGrp="1"/>
          </p:cNvSpPr>
          <p:nvPr>
            <p:ph type="sldNum" sz="quarter" idx="12"/>
          </p:nvPr>
        </p:nvSpPr>
        <p:spPr/>
        <p:txBody>
          <a:bodyPr/>
          <a:lstStyle/>
          <a:p>
            <a:fld id="{6E1C0148-8E4B-4B2F-95CE-20B4709700AE}" type="slidenum">
              <a:rPr lang="zh-CN" altLang="en-US" smtClean="0"/>
            </a:fld>
            <a:endParaRPr lang="zh-CN" altLang="en-US" dirty="0"/>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p:cNvSpPr>
          <p:nvPr>
            <p:ph idx="1"/>
          </p:nvPr>
        </p:nvSpPr>
        <p:spPr/>
        <p:txBody>
          <a:bodyPr vert="horz" wrap="square" lIns="91436" tIns="45718" rIns="91436" bIns="45718" anchor="t"/>
          <a:lstStyle/>
          <a:p>
            <a:pPr>
              <a:lnSpc>
                <a:spcPct val="115000"/>
              </a:lnSpc>
            </a:pPr>
            <a:r>
              <a:rPr lang="zh-CN" altLang="en-US" sz="4000" dirty="0">
                <a:ea typeface="楷体_GB2312" panose="02010609030101010101" pitchFamily="49" charset="-122"/>
              </a:rPr>
              <a:t>在某种意义上，</a:t>
            </a:r>
            <a:r>
              <a:rPr lang="zh-CN" altLang="en-US" sz="4000" dirty="0">
                <a:solidFill>
                  <a:srgbClr val="FF0000"/>
                </a:solidFill>
                <a:highlight>
                  <a:srgbClr val="FFFF00"/>
                </a:highlight>
                <a:ea typeface="楷体_GB2312" panose="02010609030101010101" pitchFamily="49" charset="-122"/>
              </a:rPr>
              <a:t>数据结构</a:t>
            </a:r>
            <a:r>
              <a:rPr lang="zh-CN" altLang="en-US" sz="4000" dirty="0">
                <a:solidFill>
                  <a:srgbClr val="FF0000"/>
                </a:solidFill>
                <a:ea typeface="楷体_GB2312" panose="02010609030101010101" pitchFamily="49" charset="-122"/>
              </a:rPr>
              <a:t>可以看成是“一组具有相同结构的值”，而</a:t>
            </a:r>
            <a:r>
              <a:rPr lang="zh-CN" altLang="en-US" sz="4000" dirty="0">
                <a:solidFill>
                  <a:srgbClr val="FF0000"/>
                </a:solidFill>
                <a:highlight>
                  <a:srgbClr val="FFFF00"/>
                </a:highlight>
                <a:ea typeface="楷体_GB2312" panose="02010609030101010101" pitchFamily="49" charset="-122"/>
              </a:rPr>
              <a:t>数据类型</a:t>
            </a:r>
            <a:r>
              <a:rPr lang="zh-CN" altLang="en-US" sz="4000" dirty="0">
                <a:solidFill>
                  <a:srgbClr val="FF0000"/>
                </a:solidFill>
                <a:ea typeface="楷体_GB2312" panose="02010609030101010101" pitchFamily="49" charset="-122"/>
              </a:rPr>
              <a:t>则可被看成是由一种数据结构和定义在其上的一组操作所组成的。</a:t>
            </a:r>
            <a:endParaRPr lang="zh-CN" altLang="en-US" sz="4000" dirty="0">
              <a:solidFill>
                <a:srgbClr val="FF0000"/>
              </a:solidFill>
              <a:ea typeface="楷体_GB2312" panose="02010609030101010101" pitchFamily="49" charset="-122"/>
            </a:endParaRPr>
          </a:p>
        </p:txBody>
      </p:sp>
      <p:sp>
        <p:nvSpPr>
          <p:cNvPr id="2" name="标题 1"/>
          <p:cNvSpPr>
            <a:spLocks noGrp="1"/>
          </p:cNvSpPr>
          <p:nvPr>
            <p:ph type="title"/>
          </p:nvPr>
        </p:nvSpPr>
        <p:spPr/>
        <p:txBody>
          <a:bodyPr/>
          <a:lstStyle/>
          <a:p>
            <a:endParaRPr lang="zh-CN" altLang="en-US"/>
          </a:p>
        </p:txBody>
      </p:sp>
      <p:sp>
        <p:nvSpPr>
          <p:cNvPr id="3" name="日期占位符 2"/>
          <p:cNvSpPr>
            <a:spLocks noGrp="1"/>
          </p:cNvSpPr>
          <p:nvPr>
            <p:ph type="dt" sz="half" idx="10"/>
          </p:nvPr>
        </p:nvSpPr>
        <p:spPr/>
        <p:txBody>
          <a:bodyPr/>
          <a:lstStyle/>
          <a:p>
            <a:r>
              <a:rPr lang="en-US" altLang="zh-CN"/>
              <a:t>Data Structures and algorithms</a:t>
            </a:r>
            <a:endParaRPr lang="zh-CN" altLang="en-US"/>
          </a:p>
        </p:txBody>
      </p:sp>
      <p:sp>
        <p:nvSpPr>
          <p:cNvPr id="4" name="页脚占位符 3"/>
          <p:cNvSpPr>
            <a:spLocks noGrp="1"/>
          </p:cNvSpPr>
          <p:nvPr>
            <p:ph type="ftr" sz="quarter" idx="11"/>
          </p:nvPr>
        </p:nvSpPr>
        <p:spPr/>
        <p:txBody>
          <a:bodyPr/>
          <a:lstStyle/>
          <a:p>
            <a:r>
              <a:rPr lang="en-US" altLang="zh-CN"/>
              <a:t>Software College Northeastern University</a:t>
            </a:r>
            <a:endParaRPr lang="zh-CN" altLang="en-US"/>
          </a:p>
        </p:txBody>
      </p:sp>
      <p:sp>
        <p:nvSpPr>
          <p:cNvPr id="5" name="灯片编号占位符 4"/>
          <p:cNvSpPr>
            <a:spLocks noGrp="1"/>
          </p:cNvSpPr>
          <p:nvPr>
            <p:ph type="sldNum" sz="quarter" idx="12"/>
          </p:nvPr>
        </p:nvSpPr>
        <p:spPr/>
        <p:txBody>
          <a:bodyPr/>
          <a:lstStyle/>
          <a:p>
            <a:fld id="{6E1C0148-8E4B-4B2F-95CE-20B4709700AE}" type="slidenum">
              <a:rPr lang="zh-CN" altLang="en-US" smtClean="0"/>
            </a:fld>
            <a:endParaRPr lang="zh-CN" altLang="en-US" dirty="0"/>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ext Box 2"/>
          <p:cNvSpPr txBox="1"/>
          <p:nvPr/>
        </p:nvSpPr>
        <p:spPr>
          <a:xfrm>
            <a:off x="533400" y="1524000"/>
            <a:ext cx="8382000" cy="4870450"/>
          </a:xfrm>
          <a:prstGeom prst="rect">
            <a:avLst/>
          </a:prstGeom>
          <a:noFill/>
          <a:ln w="9525">
            <a:noFill/>
          </a:ln>
        </p:spPr>
        <p:txBody>
          <a:bodyPr>
            <a:spAutoFit/>
          </a:bodyPr>
          <a:lstStyle/>
          <a:p>
            <a:pPr marL="381000" indent="-381000">
              <a:lnSpc>
                <a:spcPct val="140000"/>
              </a:lnSpc>
            </a:pPr>
            <a:r>
              <a:rPr lang="zh-CN" altLang="en-US" sz="3200" b="1" dirty="0">
                <a:solidFill>
                  <a:srgbClr val="660066"/>
                </a:solidFill>
                <a:latin typeface="楷体_GB2312" panose="02010609030101010101" pitchFamily="49" charset="-122"/>
                <a:ea typeface="楷体_GB2312" panose="02010609030101010101" pitchFamily="49" charset="-122"/>
              </a:rPr>
              <a:t>抽象数据类型</a:t>
            </a:r>
            <a:r>
              <a:rPr lang="en-US" altLang="zh-CN" sz="3200" b="1" dirty="0">
                <a:solidFill>
                  <a:srgbClr val="395B3B"/>
                </a:solidFill>
                <a:latin typeface="Times New Roman" panose="02020603050405020304" pitchFamily="18" charset="0"/>
                <a:ea typeface="楷体_GB2312" panose="02010609030101010101" pitchFamily="49" charset="-122"/>
              </a:rPr>
              <a:t>(A</a:t>
            </a:r>
            <a:r>
              <a:rPr lang="en-US" altLang="zh-CN" sz="3200" dirty="0">
                <a:solidFill>
                  <a:srgbClr val="395B3B"/>
                </a:solidFill>
                <a:latin typeface="Times New Roman" panose="02020603050405020304" pitchFamily="18" charset="0"/>
                <a:ea typeface="楷体_GB2312" panose="02010609030101010101" pitchFamily="49" charset="-122"/>
              </a:rPr>
              <a:t>bstract</a:t>
            </a:r>
            <a:r>
              <a:rPr lang="en-US" altLang="zh-CN" sz="3200" b="1" dirty="0">
                <a:solidFill>
                  <a:srgbClr val="395B3B"/>
                </a:solidFill>
                <a:latin typeface="Times New Roman" panose="02020603050405020304" pitchFamily="18" charset="0"/>
                <a:ea typeface="楷体_GB2312" panose="02010609030101010101" pitchFamily="49" charset="-122"/>
              </a:rPr>
              <a:t> D</a:t>
            </a:r>
            <a:r>
              <a:rPr lang="en-US" altLang="zh-CN" sz="3200" dirty="0">
                <a:solidFill>
                  <a:srgbClr val="395B3B"/>
                </a:solidFill>
                <a:latin typeface="Times New Roman" panose="02020603050405020304" pitchFamily="18" charset="0"/>
                <a:ea typeface="楷体_GB2312" panose="02010609030101010101" pitchFamily="49" charset="-122"/>
              </a:rPr>
              <a:t>ata</a:t>
            </a:r>
            <a:r>
              <a:rPr lang="en-US" altLang="zh-CN" sz="3200" b="1" dirty="0">
                <a:solidFill>
                  <a:srgbClr val="395B3B"/>
                </a:solidFill>
                <a:latin typeface="Times New Roman" panose="02020603050405020304" pitchFamily="18" charset="0"/>
                <a:ea typeface="楷体_GB2312" panose="02010609030101010101" pitchFamily="49" charset="-122"/>
              </a:rPr>
              <a:t> T</a:t>
            </a:r>
            <a:r>
              <a:rPr lang="en-US" altLang="zh-CN" sz="3200" dirty="0">
                <a:solidFill>
                  <a:srgbClr val="395B3B"/>
                </a:solidFill>
                <a:latin typeface="Times New Roman" panose="02020603050405020304" pitchFamily="18" charset="0"/>
                <a:ea typeface="楷体_GB2312" panose="02010609030101010101" pitchFamily="49" charset="-122"/>
              </a:rPr>
              <a:t>ype</a:t>
            </a:r>
            <a:r>
              <a:rPr lang="en-US" altLang="zh-CN" sz="3200" b="1" dirty="0">
                <a:solidFill>
                  <a:srgbClr val="395B3B"/>
                </a:solidFill>
                <a:latin typeface="Times New Roman" panose="02020603050405020304" pitchFamily="18" charset="0"/>
                <a:ea typeface="楷体_GB2312" panose="02010609030101010101" pitchFamily="49" charset="-122"/>
              </a:rPr>
              <a:t> </a:t>
            </a:r>
            <a:r>
              <a:rPr lang="zh-CN" altLang="en-US" sz="3200" b="1" dirty="0">
                <a:solidFill>
                  <a:srgbClr val="395B3B"/>
                </a:solidFill>
                <a:latin typeface="Times New Roman" panose="02020603050405020304" pitchFamily="18" charset="0"/>
                <a:ea typeface="楷体_GB2312" panose="02010609030101010101" pitchFamily="49" charset="-122"/>
              </a:rPr>
              <a:t>简称</a:t>
            </a:r>
            <a:r>
              <a:rPr lang="en-US" altLang="zh-CN" sz="3200" b="1" dirty="0">
                <a:solidFill>
                  <a:srgbClr val="395B3B"/>
                </a:solidFill>
                <a:latin typeface="Times New Roman" panose="02020603050405020304" pitchFamily="18" charset="0"/>
                <a:ea typeface="楷体_GB2312" panose="02010609030101010101" pitchFamily="49" charset="-122"/>
              </a:rPr>
              <a:t>ADT)</a:t>
            </a:r>
            <a:r>
              <a:rPr lang="en-US" altLang="zh-CN" sz="3200" dirty="0">
                <a:solidFill>
                  <a:srgbClr val="395B3B"/>
                </a:solidFill>
                <a:latin typeface="楷体_GB2312" panose="02010609030101010101" pitchFamily="49" charset="-122"/>
                <a:ea typeface="楷体_GB2312" panose="02010609030101010101" pitchFamily="49" charset="-122"/>
              </a:rPr>
              <a:t>:</a:t>
            </a:r>
            <a:endParaRPr lang="en-US" altLang="zh-CN" sz="3200" dirty="0">
              <a:solidFill>
                <a:srgbClr val="395B3B"/>
              </a:solidFill>
              <a:latin typeface="楷体_GB2312" panose="02010609030101010101" pitchFamily="49" charset="-122"/>
              <a:ea typeface="楷体_GB2312" panose="02010609030101010101" pitchFamily="49" charset="-122"/>
            </a:endParaRPr>
          </a:p>
          <a:p>
            <a:pPr marL="381000" indent="-381000">
              <a:lnSpc>
                <a:spcPct val="140000"/>
              </a:lnSpc>
              <a:buChar char="•"/>
            </a:pPr>
            <a:r>
              <a:rPr lang="zh-CN" altLang="en-US" sz="3200" dirty="0">
                <a:latin typeface="楷体_GB2312" panose="02010609030101010101" pitchFamily="49" charset="-122"/>
                <a:ea typeface="楷体_GB2312" panose="02010609030101010101" pitchFamily="49" charset="-122"/>
              </a:rPr>
              <a:t>由用户定义，用以表示应用问题的数据模型</a:t>
            </a:r>
            <a:endParaRPr lang="zh-CN" altLang="en-US" sz="3200" dirty="0">
              <a:latin typeface="楷体_GB2312" panose="02010609030101010101" pitchFamily="49" charset="-122"/>
              <a:ea typeface="楷体_GB2312" panose="02010609030101010101" pitchFamily="49" charset="-122"/>
            </a:endParaRPr>
          </a:p>
          <a:p>
            <a:pPr marL="381000" indent="-381000">
              <a:lnSpc>
                <a:spcPct val="140000"/>
              </a:lnSpc>
              <a:buChar char="•"/>
            </a:pPr>
            <a:r>
              <a:rPr lang="zh-CN" altLang="en-US" sz="3200" dirty="0">
                <a:latin typeface="楷体_GB2312" panose="02010609030101010101" pitchFamily="49" charset="-122"/>
                <a:ea typeface="楷体_GB2312" panose="02010609030101010101" pitchFamily="49" charset="-122"/>
              </a:rPr>
              <a:t>由基本的</a:t>
            </a:r>
            <a:r>
              <a:rPr lang="zh-CN" altLang="en-US" sz="3200" dirty="0">
                <a:solidFill>
                  <a:srgbClr val="FF0000"/>
                </a:solidFill>
                <a:latin typeface="楷体_GB2312" panose="02010609030101010101" pitchFamily="49" charset="-122"/>
                <a:ea typeface="楷体_GB2312" panose="02010609030101010101" pitchFamily="49" charset="-122"/>
              </a:rPr>
              <a:t>数据类型</a:t>
            </a:r>
            <a:r>
              <a:rPr lang="zh-CN" altLang="en-US" sz="3200" dirty="0">
                <a:latin typeface="楷体_GB2312" panose="02010609030101010101" pitchFamily="49" charset="-122"/>
                <a:ea typeface="楷体_GB2312" panose="02010609030101010101" pitchFamily="49" charset="-122"/>
              </a:rPr>
              <a:t>组成</a:t>
            </a:r>
            <a:r>
              <a:rPr lang="en-US" altLang="zh-CN" sz="3200" dirty="0">
                <a:latin typeface="楷体_GB2312" panose="02010609030101010101" pitchFamily="49" charset="-122"/>
                <a:ea typeface="楷体_GB2312" panose="02010609030101010101" pitchFamily="49" charset="-122"/>
              </a:rPr>
              <a:t>, </a:t>
            </a:r>
            <a:r>
              <a:rPr lang="zh-CN" altLang="en-US" sz="3200" dirty="0">
                <a:latin typeface="楷体_GB2312" panose="02010609030101010101" pitchFamily="49" charset="-122"/>
                <a:ea typeface="楷体_GB2312" panose="02010609030101010101" pitchFamily="49" charset="-122"/>
              </a:rPr>
              <a:t>并包括一组相关的服务（或称</a:t>
            </a:r>
            <a:r>
              <a:rPr lang="zh-CN" altLang="en-US" sz="3200" dirty="0">
                <a:solidFill>
                  <a:srgbClr val="FF0000"/>
                </a:solidFill>
                <a:latin typeface="楷体_GB2312" panose="02010609030101010101" pitchFamily="49" charset="-122"/>
                <a:ea typeface="楷体_GB2312" panose="02010609030101010101" pitchFamily="49" charset="-122"/>
              </a:rPr>
              <a:t>操作</a:t>
            </a:r>
            <a:r>
              <a:rPr lang="zh-CN" altLang="en-US" sz="3200" dirty="0">
                <a:latin typeface="楷体_GB2312" panose="02010609030101010101" pitchFamily="49" charset="-122"/>
                <a:ea typeface="楷体_GB2312" panose="02010609030101010101" pitchFamily="49" charset="-122"/>
              </a:rPr>
              <a:t>）</a:t>
            </a:r>
            <a:endParaRPr lang="zh-CN" altLang="en-US" sz="3200" dirty="0">
              <a:latin typeface="楷体_GB2312" panose="02010609030101010101" pitchFamily="49" charset="-122"/>
              <a:ea typeface="楷体_GB2312" panose="02010609030101010101" pitchFamily="49" charset="-122"/>
            </a:endParaRPr>
          </a:p>
          <a:p>
            <a:pPr marL="381000" indent="-381000">
              <a:lnSpc>
                <a:spcPct val="140000"/>
              </a:lnSpc>
              <a:buChar char="•"/>
            </a:pPr>
            <a:r>
              <a:rPr lang="zh-CN" altLang="en-US" sz="3200" dirty="0">
                <a:latin typeface="楷体_GB2312" panose="02010609030101010101" pitchFamily="49" charset="-122"/>
                <a:ea typeface="楷体_GB2312" panose="02010609030101010101" pitchFamily="49" charset="-122"/>
              </a:rPr>
              <a:t>数据封装和信息隐蔽，使用与实现相分离</a:t>
            </a:r>
            <a:endParaRPr lang="zh-CN" altLang="en-US" sz="3200" dirty="0">
              <a:latin typeface="楷体_GB2312" panose="02010609030101010101" pitchFamily="49" charset="-122"/>
              <a:ea typeface="楷体_GB2312" panose="02010609030101010101" pitchFamily="49" charset="-122"/>
            </a:endParaRPr>
          </a:p>
          <a:p>
            <a:pPr marL="381000" indent="-381000">
              <a:lnSpc>
                <a:spcPct val="140000"/>
              </a:lnSpc>
            </a:pPr>
            <a:endParaRPr lang="zh-CN" altLang="en-US" sz="3200" dirty="0">
              <a:latin typeface="楷体_GB2312" panose="02010609030101010101" pitchFamily="49" charset="-122"/>
              <a:ea typeface="楷体_GB2312" panose="02010609030101010101" pitchFamily="49" charset="-122"/>
            </a:endParaRPr>
          </a:p>
          <a:p>
            <a:pPr marL="381000" indent="-381000">
              <a:lnSpc>
                <a:spcPct val="140000"/>
              </a:lnSpc>
            </a:pPr>
            <a:endParaRPr lang="en-US" altLang="zh-CN" sz="3200" dirty="0">
              <a:latin typeface="楷体_GB2312" panose="02010609030101010101" pitchFamily="49" charset="-122"/>
              <a:ea typeface="楷体_GB2312" panose="02010609030101010101" pitchFamily="49" charset="-122"/>
            </a:endParaRPr>
          </a:p>
        </p:txBody>
      </p:sp>
      <p:sp>
        <p:nvSpPr>
          <p:cNvPr id="49155" name="Text Box 3"/>
          <p:cNvSpPr txBox="1"/>
          <p:nvPr/>
        </p:nvSpPr>
        <p:spPr>
          <a:xfrm>
            <a:off x="1066800" y="3048000"/>
            <a:ext cx="7254875" cy="603250"/>
          </a:xfrm>
          <a:prstGeom prst="rect">
            <a:avLst/>
          </a:prstGeom>
          <a:noFill/>
          <a:ln w="9525">
            <a:noFill/>
          </a:ln>
        </p:spPr>
        <p:txBody>
          <a:bodyPr>
            <a:spAutoFit/>
          </a:bodyPr>
          <a:lstStyle/>
          <a:p>
            <a:pPr>
              <a:lnSpc>
                <a:spcPct val="140000"/>
              </a:lnSpc>
            </a:pPr>
            <a:r>
              <a:rPr lang="zh-CN" altLang="en-US" sz="2400" dirty="0">
                <a:latin typeface="Times New Roman" panose="02020603050405020304" pitchFamily="18" charset="0"/>
              </a:rPr>
              <a:t>  </a:t>
            </a:r>
            <a:endParaRPr lang="zh-CN" altLang="en-US" sz="2400" dirty="0">
              <a:latin typeface="Times New Roman" panose="02020603050405020304" pitchFamily="18" charset="0"/>
            </a:endParaRPr>
          </a:p>
        </p:txBody>
      </p:sp>
      <p:sp>
        <p:nvSpPr>
          <p:cNvPr id="49156" name="Rectangle 4"/>
          <p:cNvSpPr/>
          <p:nvPr/>
        </p:nvSpPr>
        <p:spPr>
          <a:xfrm>
            <a:off x="1524000" y="152400"/>
            <a:ext cx="4724400" cy="762000"/>
          </a:xfrm>
          <a:prstGeom prst="rect">
            <a:avLst/>
          </a:prstGeom>
          <a:noFill/>
          <a:ln w="9525">
            <a:noFill/>
          </a:ln>
        </p:spPr>
        <p:txBody>
          <a:bodyPr>
            <a:spAutoFit/>
          </a:bodyPr>
          <a:lstStyle/>
          <a:p>
            <a:r>
              <a:rPr lang="zh-CN" altLang="en-US" sz="4400" b="1" dirty="0">
                <a:solidFill>
                  <a:srgbClr val="660066"/>
                </a:solidFill>
                <a:latin typeface="Times New Roman" panose="02020603050405020304" pitchFamily="18" charset="0"/>
              </a:rPr>
              <a:t>抽象数据类型</a:t>
            </a:r>
            <a:endParaRPr lang="zh-CN" altLang="en-US" sz="4400" b="1" dirty="0">
              <a:solidFill>
                <a:srgbClr val="660066"/>
              </a:solidFill>
              <a:latin typeface="Times New Roman" panose="02020603050405020304" pitchFamily="18" charset="0"/>
            </a:endParaRPr>
          </a:p>
        </p:txBody>
      </p:sp>
      <p:sp>
        <p:nvSpPr>
          <p:cNvPr id="2" name="日期占位符 1"/>
          <p:cNvSpPr>
            <a:spLocks noGrp="1"/>
          </p:cNvSpPr>
          <p:nvPr>
            <p:ph type="dt" sz="half" idx="10"/>
          </p:nvPr>
        </p:nvSpPr>
        <p:spPr/>
        <p:txBody>
          <a:bodyPr/>
          <a:lstStyle/>
          <a:p>
            <a:r>
              <a:rPr lang="en-US" altLang="zh-CN"/>
              <a:t>Data Structures and algorithms</a:t>
            </a:r>
            <a:endParaRPr lang="zh-CN" altLang="en-US"/>
          </a:p>
        </p:txBody>
      </p:sp>
      <p:sp>
        <p:nvSpPr>
          <p:cNvPr id="3" name="页脚占位符 2"/>
          <p:cNvSpPr>
            <a:spLocks noGrp="1"/>
          </p:cNvSpPr>
          <p:nvPr>
            <p:ph type="ftr" sz="quarter" idx="11"/>
          </p:nvPr>
        </p:nvSpPr>
        <p:spPr/>
        <p:txBody>
          <a:bodyPr/>
          <a:lstStyle/>
          <a:p>
            <a:r>
              <a:rPr lang="en-US" altLang="zh-CN"/>
              <a:t>Software College Northeastern University</a:t>
            </a:r>
            <a:endParaRPr lang="zh-CN" altLang="en-US"/>
          </a:p>
        </p:txBody>
      </p:sp>
      <p:sp>
        <p:nvSpPr>
          <p:cNvPr id="4" name="灯片编号占位符 3"/>
          <p:cNvSpPr>
            <a:spLocks noGrp="1"/>
          </p:cNvSpPr>
          <p:nvPr>
            <p:ph type="sldNum" sz="quarter" idx="12"/>
          </p:nvPr>
        </p:nvSpPr>
        <p:spPr/>
        <p:txBody>
          <a:bodyPr/>
          <a:lstStyle/>
          <a:p>
            <a:fld id="{6E1C0148-8E4B-4B2F-95CE-20B4709700AE}" type="slidenum">
              <a:rPr lang="zh-CN" altLang="en-US" smtClean="0"/>
            </a:fld>
            <a:endParaRPr lang="zh-CN" altLang="en-US"/>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p:cNvSpPr>
          <p:nvPr>
            <p:ph idx="1"/>
          </p:nvPr>
        </p:nvSpPr>
        <p:spPr/>
        <p:txBody>
          <a:bodyPr vert="horz" wrap="square" lIns="91436" tIns="45718" rIns="91436" bIns="45718" anchor="t">
            <a:normAutofit/>
          </a:bodyPr>
          <a:lstStyle/>
          <a:p>
            <a:pPr>
              <a:lnSpc>
                <a:spcPct val="105000"/>
              </a:lnSpc>
            </a:pPr>
            <a:r>
              <a:rPr lang="zh-CN" altLang="en-US" sz="3600" b="1" dirty="0">
                <a:solidFill>
                  <a:srgbClr val="30552B"/>
                </a:solidFill>
                <a:latin typeface="楷体_GB2312" panose="02010609030101010101" pitchFamily="49" charset="-122"/>
                <a:ea typeface="楷体_GB2312" panose="02010609030101010101" pitchFamily="49" charset="-122"/>
              </a:rPr>
              <a:t>抽象数据类型的定义取决于它的一组</a:t>
            </a:r>
            <a:r>
              <a:rPr lang="zh-CN" altLang="en-US" sz="3600" b="1" dirty="0">
                <a:solidFill>
                  <a:srgbClr val="FF0000"/>
                </a:solidFill>
                <a:latin typeface="楷体_GB2312" panose="02010609030101010101" pitchFamily="49" charset="-122"/>
                <a:ea typeface="楷体_GB2312" panose="02010609030101010101" pitchFamily="49" charset="-122"/>
              </a:rPr>
              <a:t>逻辑特性</a:t>
            </a:r>
            <a:r>
              <a:rPr lang="zh-CN" altLang="en-US" sz="3600" b="1" dirty="0">
                <a:solidFill>
                  <a:srgbClr val="30552B"/>
                </a:solidFill>
                <a:latin typeface="楷体_GB2312" panose="02010609030101010101" pitchFamily="49" charset="-122"/>
                <a:ea typeface="楷体_GB2312" panose="02010609030101010101" pitchFamily="49" charset="-122"/>
              </a:rPr>
              <a:t>，而与其在计算机内部如何表示和实现无关。即不论其内部结构如何变化，</a:t>
            </a:r>
            <a:r>
              <a:rPr lang="zh-CN" altLang="en-US" sz="3600" b="1" dirty="0">
                <a:solidFill>
                  <a:srgbClr val="FF0000"/>
                </a:solidFill>
                <a:latin typeface="楷体_GB2312" panose="02010609030101010101" pitchFamily="49" charset="-122"/>
                <a:ea typeface="楷体_GB2312" panose="02010609030101010101" pitchFamily="49" charset="-122"/>
              </a:rPr>
              <a:t>只要它的数学特性不变，都不影响其外部的使用</a:t>
            </a:r>
            <a:r>
              <a:rPr lang="zh-CN" altLang="en-US" sz="3600" b="1" dirty="0">
                <a:solidFill>
                  <a:srgbClr val="30552B"/>
                </a:solidFill>
                <a:latin typeface="楷体_GB2312" panose="02010609030101010101" pitchFamily="49" charset="-122"/>
                <a:ea typeface="楷体_GB2312" panose="02010609030101010101" pitchFamily="49" charset="-122"/>
              </a:rPr>
              <a:t>。</a:t>
            </a:r>
            <a:endParaRPr lang="zh-CN" altLang="en-US" sz="3600" b="1" dirty="0">
              <a:solidFill>
                <a:srgbClr val="30552B"/>
              </a:solidFill>
              <a:latin typeface="楷体_GB2312" panose="02010609030101010101" pitchFamily="49" charset="-122"/>
              <a:ea typeface="楷体_GB2312" panose="02010609030101010101" pitchFamily="49" charset="-122"/>
            </a:endParaRPr>
          </a:p>
        </p:txBody>
      </p:sp>
      <p:sp>
        <p:nvSpPr>
          <p:cNvPr id="2" name="标题 1"/>
          <p:cNvSpPr>
            <a:spLocks noGrp="1"/>
          </p:cNvSpPr>
          <p:nvPr>
            <p:ph type="title"/>
          </p:nvPr>
        </p:nvSpPr>
        <p:spPr/>
        <p:txBody>
          <a:bodyPr/>
          <a:lstStyle/>
          <a:p>
            <a:endParaRPr lang="zh-CN" altLang="en-US" dirty="0"/>
          </a:p>
        </p:txBody>
      </p:sp>
      <p:sp>
        <p:nvSpPr>
          <p:cNvPr id="3" name="日期占位符 2"/>
          <p:cNvSpPr>
            <a:spLocks noGrp="1"/>
          </p:cNvSpPr>
          <p:nvPr>
            <p:ph type="dt" sz="half" idx="10"/>
          </p:nvPr>
        </p:nvSpPr>
        <p:spPr/>
        <p:txBody>
          <a:bodyPr/>
          <a:lstStyle/>
          <a:p>
            <a:r>
              <a:rPr lang="en-US" altLang="zh-CN"/>
              <a:t>Data Structures and algorithms</a:t>
            </a:r>
            <a:endParaRPr lang="zh-CN" altLang="en-US"/>
          </a:p>
        </p:txBody>
      </p:sp>
      <p:sp>
        <p:nvSpPr>
          <p:cNvPr id="4" name="页脚占位符 3"/>
          <p:cNvSpPr>
            <a:spLocks noGrp="1"/>
          </p:cNvSpPr>
          <p:nvPr>
            <p:ph type="ftr" sz="quarter" idx="11"/>
          </p:nvPr>
        </p:nvSpPr>
        <p:spPr/>
        <p:txBody>
          <a:bodyPr/>
          <a:lstStyle/>
          <a:p>
            <a:r>
              <a:rPr lang="en-US" altLang="zh-CN"/>
              <a:t>Software College Northeastern University</a:t>
            </a:r>
            <a:endParaRPr lang="zh-CN" altLang="en-US"/>
          </a:p>
        </p:txBody>
      </p:sp>
      <p:sp>
        <p:nvSpPr>
          <p:cNvPr id="5" name="灯片编号占位符 4"/>
          <p:cNvSpPr>
            <a:spLocks noGrp="1"/>
          </p:cNvSpPr>
          <p:nvPr>
            <p:ph type="sldNum" sz="quarter" idx="12"/>
          </p:nvPr>
        </p:nvSpPr>
        <p:spPr/>
        <p:txBody>
          <a:bodyPr/>
          <a:lstStyle/>
          <a:p>
            <a:fld id="{6E1C0148-8E4B-4B2F-95CE-20B4709700AE}" type="slidenum">
              <a:rPr lang="zh-CN" altLang="en-US" smtClean="0"/>
            </a:fld>
            <a:endParaRPr lang="zh-CN" altLang="en-US" dirty="0"/>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ext Box 2"/>
          <p:cNvSpPr txBox="1"/>
          <p:nvPr/>
        </p:nvSpPr>
        <p:spPr>
          <a:xfrm>
            <a:off x="1676400" y="228600"/>
            <a:ext cx="6059488" cy="762000"/>
          </a:xfrm>
          <a:prstGeom prst="rect">
            <a:avLst/>
          </a:prstGeom>
          <a:noFill/>
          <a:ln w="9525">
            <a:noFill/>
          </a:ln>
        </p:spPr>
        <p:txBody>
          <a:bodyPr wrap="none">
            <a:spAutoFit/>
          </a:bodyPr>
          <a:lstStyle/>
          <a:p>
            <a:r>
              <a:rPr lang="zh-CN" altLang="en-US" sz="4400" b="1" dirty="0">
                <a:solidFill>
                  <a:schemeClr val="tx2"/>
                </a:solidFill>
                <a:latin typeface="楷体_GB2312" panose="02010609030101010101" pitchFamily="49" charset="-122"/>
                <a:ea typeface="楷体_GB2312" panose="02010609030101010101" pitchFamily="49" charset="-122"/>
              </a:rPr>
              <a:t>例如，</a:t>
            </a:r>
            <a:r>
              <a:rPr lang="en-US" altLang="zh-CN" sz="4400" dirty="0">
                <a:solidFill>
                  <a:schemeClr val="tx2"/>
                </a:solidFill>
                <a:latin typeface="楷体_GB2312" panose="02010609030101010101" pitchFamily="49" charset="-122"/>
                <a:ea typeface="楷体_GB2312" panose="02010609030101010101" pitchFamily="49" charset="-122"/>
              </a:rPr>
              <a:t>ADT</a:t>
            </a:r>
            <a:r>
              <a:rPr lang="zh-CN" altLang="en-US" sz="4400" b="1" dirty="0">
                <a:solidFill>
                  <a:schemeClr val="tx2"/>
                </a:solidFill>
                <a:latin typeface="楷体_GB2312" panose="02010609030101010101" pitchFamily="49" charset="-122"/>
                <a:ea typeface="楷体_GB2312" panose="02010609030101010101" pitchFamily="49" charset="-122"/>
              </a:rPr>
              <a:t>复数</a:t>
            </a:r>
            <a:r>
              <a:rPr lang="zh-CN" altLang="en-US" sz="4400" dirty="0">
                <a:solidFill>
                  <a:schemeClr val="tx2"/>
                </a:solidFill>
                <a:latin typeface="楷体_GB2312" panose="02010609030101010101" pitchFamily="49" charset="-122"/>
                <a:ea typeface="楷体_GB2312" panose="02010609030101010101" pitchFamily="49" charset="-122"/>
              </a:rPr>
              <a:t>的定义：</a:t>
            </a:r>
            <a:endParaRPr lang="zh-CN" altLang="en-US" sz="2400" dirty="0">
              <a:latin typeface="Times New Roman" panose="02020603050405020304" pitchFamily="18" charset="0"/>
            </a:endParaRPr>
          </a:p>
        </p:txBody>
      </p:sp>
      <p:sp>
        <p:nvSpPr>
          <p:cNvPr id="51203" name="Text Box 3"/>
          <p:cNvSpPr txBox="1"/>
          <p:nvPr/>
        </p:nvSpPr>
        <p:spPr>
          <a:xfrm>
            <a:off x="-441325" y="2209800"/>
            <a:ext cx="9966325" cy="3445943"/>
          </a:xfrm>
          <a:prstGeom prst="rect">
            <a:avLst/>
          </a:prstGeom>
          <a:noFill/>
          <a:ln w="9525">
            <a:noFill/>
          </a:ln>
        </p:spPr>
        <p:txBody>
          <a:bodyPr>
            <a:spAutoFit/>
          </a:bodyPr>
          <a:lstStyle/>
          <a:p>
            <a:r>
              <a:rPr lang="zh-CN" altLang="en-US" sz="3200" b="1" dirty="0">
                <a:latin typeface="Times New Roman" panose="02020603050405020304" pitchFamily="18" charset="0"/>
                <a:ea typeface="楷体_GB2312" panose="02010609030101010101" pitchFamily="49" charset="-122"/>
              </a:rPr>
              <a:t>      </a:t>
            </a:r>
            <a:r>
              <a:rPr lang="zh-CN" altLang="en-US" sz="3200" b="1" dirty="0">
                <a:solidFill>
                  <a:srgbClr val="006699"/>
                </a:solidFill>
                <a:latin typeface="楷体_GB2312" panose="02010609030101010101" pitchFamily="49" charset="-122"/>
                <a:ea typeface="楷体_GB2312" panose="02010609030101010101" pitchFamily="49" charset="-122"/>
              </a:rPr>
              <a:t>数据对象：</a:t>
            </a:r>
            <a:endParaRPr lang="zh-CN" altLang="en-US" sz="3200" b="1" dirty="0">
              <a:latin typeface="楷体_GB2312" panose="02010609030101010101" pitchFamily="49" charset="-122"/>
              <a:ea typeface="楷体_GB2312" panose="02010609030101010101" pitchFamily="49" charset="-122"/>
            </a:endParaRPr>
          </a:p>
          <a:p>
            <a:pPr>
              <a:lnSpc>
                <a:spcPct val="150000"/>
              </a:lnSpc>
            </a:pPr>
            <a:r>
              <a:rPr lang="zh-CN" altLang="en-US" sz="3200" b="1" dirty="0">
                <a:latin typeface="楷体_GB2312" panose="02010609030101010101" pitchFamily="49" charset="-122"/>
                <a:ea typeface="楷体_GB2312" panose="02010609030101010101" pitchFamily="49" charset="-122"/>
              </a:rPr>
              <a:t>       </a:t>
            </a:r>
            <a:r>
              <a:rPr lang="en-US" altLang="zh-CN" sz="3200" dirty="0">
                <a:latin typeface="Times New Roman" panose="02020603050405020304" pitchFamily="18" charset="0"/>
                <a:ea typeface="楷体_GB2312" panose="02010609030101010101" pitchFamily="49" charset="-122"/>
              </a:rPr>
              <a:t>D</a:t>
            </a:r>
            <a:r>
              <a:rPr lang="zh-CN" altLang="en-US" sz="3200" dirty="0">
                <a:latin typeface="Times New Roman" panose="02020603050405020304" pitchFamily="18" charset="0"/>
                <a:ea typeface="楷体_GB2312" panose="02010609030101010101" pitchFamily="49" charset="-122"/>
              </a:rPr>
              <a:t>＝</a:t>
            </a:r>
            <a:r>
              <a:rPr lang="en-US" altLang="zh-CN" sz="3200" dirty="0">
                <a:latin typeface="Times New Roman" panose="02020603050405020304" pitchFamily="18" charset="0"/>
                <a:ea typeface="楷体_GB2312" panose="02010609030101010101" pitchFamily="49" charset="-122"/>
              </a:rPr>
              <a:t>{e1,e2</a:t>
            </a:r>
            <a:r>
              <a:rPr lang="zh-CN" altLang="en-US" sz="3200" dirty="0">
                <a:latin typeface="Times New Roman" panose="02020603050405020304" pitchFamily="18" charset="0"/>
                <a:ea typeface="楷体_GB2312" panose="02010609030101010101" pitchFamily="49" charset="-122"/>
              </a:rPr>
              <a:t>｜</a:t>
            </a:r>
            <a:r>
              <a:rPr lang="en-US" altLang="zh-CN" sz="3200" dirty="0">
                <a:latin typeface="Times New Roman" panose="02020603050405020304" pitchFamily="18" charset="0"/>
                <a:ea typeface="楷体_GB2312" panose="02010609030101010101" pitchFamily="49" charset="-122"/>
              </a:rPr>
              <a:t>e1,e2∈RealSet  }</a:t>
            </a:r>
            <a:endParaRPr lang="en-US" altLang="zh-CN" sz="3200" dirty="0">
              <a:latin typeface="楷体_GB2312" panose="02010609030101010101" pitchFamily="49" charset="-122"/>
              <a:ea typeface="楷体_GB2312" panose="02010609030101010101" pitchFamily="49" charset="-122"/>
            </a:endParaRPr>
          </a:p>
          <a:p>
            <a:pPr>
              <a:lnSpc>
                <a:spcPct val="150000"/>
              </a:lnSpc>
            </a:pPr>
            <a:r>
              <a:rPr lang="en-US" altLang="zh-CN" sz="3200" dirty="0">
                <a:latin typeface="楷体_GB2312" panose="02010609030101010101" pitchFamily="49" charset="-122"/>
                <a:ea typeface="楷体_GB2312" panose="02010609030101010101" pitchFamily="49" charset="-122"/>
              </a:rPr>
              <a:t>   </a:t>
            </a:r>
            <a:r>
              <a:rPr lang="zh-CN" altLang="en-US" sz="3200" b="1" dirty="0">
                <a:solidFill>
                  <a:srgbClr val="006699"/>
                </a:solidFill>
                <a:latin typeface="楷体_GB2312" panose="02010609030101010101" pitchFamily="49" charset="-122"/>
                <a:ea typeface="楷体_GB2312" panose="02010609030101010101" pitchFamily="49" charset="-122"/>
              </a:rPr>
              <a:t>数据关系：</a:t>
            </a:r>
            <a:endParaRPr lang="zh-CN" altLang="en-US" sz="3200" b="1" dirty="0">
              <a:latin typeface="楷体_GB2312" panose="02010609030101010101" pitchFamily="49" charset="-122"/>
              <a:ea typeface="楷体_GB2312" panose="02010609030101010101" pitchFamily="49" charset="-122"/>
            </a:endParaRPr>
          </a:p>
          <a:p>
            <a:pPr>
              <a:lnSpc>
                <a:spcPct val="150000"/>
              </a:lnSpc>
            </a:pPr>
            <a:r>
              <a:rPr lang="zh-CN" altLang="en-US" sz="3200" b="1" dirty="0">
                <a:latin typeface="楷体_GB2312" panose="02010609030101010101" pitchFamily="49" charset="-122"/>
                <a:ea typeface="楷体_GB2312" panose="02010609030101010101" pitchFamily="49" charset="-122"/>
              </a:rPr>
              <a:t>       </a:t>
            </a:r>
            <a:r>
              <a:rPr lang="en-US" altLang="zh-CN" sz="3200" dirty="0">
                <a:latin typeface="Times New Roman" panose="02020603050405020304" pitchFamily="18" charset="0"/>
                <a:ea typeface="楷体_GB2312" panose="02010609030101010101" pitchFamily="49" charset="-122"/>
              </a:rPr>
              <a:t>R1</a:t>
            </a:r>
            <a:r>
              <a:rPr lang="zh-CN" altLang="en-US" sz="3200" dirty="0">
                <a:latin typeface="Times New Roman" panose="02020603050405020304" pitchFamily="18" charset="0"/>
                <a:ea typeface="楷体_GB2312" panose="02010609030101010101" pitchFamily="49" charset="-122"/>
              </a:rPr>
              <a:t>＝</a:t>
            </a:r>
            <a:r>
              <a:rPr lang="en-US" altLang="zh-CN" sz="3200" dirty="0">
                <a:latin typeface="Times New Roman" panose="02020603050405020304" pitchFamily="18" charset="0"/>
                <a:ea typeface="楷体_GB2312" panose="02010609030101010101" pitchFamily="49" charset="-122"/>
              </a:rPr>
              <a:t>{&lt;e1,e2&gt; | e1</a:t>
            </a:r>
            <a:r>
              <a:rPr lang="zh-CN" altLang="en-US" sz="3200" dirty="0">
                <a:latin typeface="楷体_GB2312" panose="02010609030101010101" pitchFamily="49" charset="-122"/>
                <a:ea typeface="楷体_GB2312" panose="02010609030101010101" pitchFamily="49" charset="-122"/>
              </a:rPr>
              <a:t>是复数的实数部分</a:t>
            </a:r>
            <a:endParaRPr lang="zh-CN" altLang="en-US" sz="3200" dirty="0">
              <a:latin typeface="楷体_GB2312" panose="02010609030101010101" pitchFamily="49" charset="-122"/>
              <a:ea typeface="楷体_GB2312" panose="02010609030101010101" pitchFamily="49" charset="-122"/>
            </a:endParaRPr>
          </a:p>
          <a:p>
            <a:pPr>
              <a:lnSpc>
                <a:spcPct val="150000"/>
              </a:lnSpc>
            </a:pPr>
            <a:r>
              <a:rPr lang="zh-CN" altLang="en-US" sz="3200" dirty="0">
                <a:latin typeface="楷体_GB2312" panose="02010609030101010101" pitchFamily="49" charset="-122"/>
                <a:ea typeface="楷体_GB2312" panose="02010609030101010101" pitchFamily="49" charset="-122"/>
              </a:rPr>
              <a:t>               </a:t>
            </a:r>
            <a:r>
              <a:rPr lang="zh-CN" altLang="en-US" sz="3200" dirty="0">
                <a:latin typeface="Times New Roman" panose="02020603050405020304" pitchFamily="18" charset="0"/>
                <a:ea typeface="楷体_GB2312" panose="02010609030101010101" pitchFamily="49" charset="-122"/>
              </a:rPr>
              <a:t>        </a:t>
            </a:r>
            <a:r>
              <a:rPr lang="en-US" altLang="zh-CN" sz="3200" dirty="0">
                <a:latin typeface="Times New Roman" panose="02020603050405020304" pitchFamily="18" charset="0"/>
                <a:ea typeface="楷体_GB2312" panose="02010609030101010101" pitchFamily="49" charset="-122"/>
              </a:rPr>
              <a:t>| e2</a:t>
            </a:r>
            <a:r>
              <a:rPr lang="en-US" altLang="zh-CN" sz="3200" dirty="0">
                <a:latin typeface="楷体_GB2312" panose="02010609030101010101" pitchFamily="49" charset="-122"/>
                <a:ea typeface="楷体_GB2312" panose="02010609030101010101" pitchFamily="49" charset="-122"/>
              </a:rPr>
              <a:t> </a:t>
            </a:r>
            <a:r>
              <a:rPr lang="zh-CN" altLang="en-US" sz="3200" dirty="0">
                <a:latin typeface="楷体_GB2312" panose="02010609030101010101" pitchFamily="49" charset="-122"/>
                <a:ea typeface="楷体_GB2312" panose="02010609030101010101" pitchFamily="49" charset="-122"/>
              </a:rPr>
              <a:t>是复数的虚数部分 </a:t>
            </a:r>
            <a:r>
              <a:rPr lang="en-US" altLang="zh-CN" sz="3200" dirty="0">
                <a:latin typeface="楷体_GB2312" panose="02010609030101010101" pitchFamily="49" charset="-122"/>
                <a:ea typeface="楷体_GB2312" panose="02010609030101010101" pitchFamily="49" charset="-122"/>
              </a:rPr>
              <a:t>}</a:t>
            </a:r>
            <a:endParaRPr lang="en-US" altLang="zh-CN" sz="3200" dirty="0">
              <a:latin typeface="Times New Roman" panose="02020603050405020304" pitchFamily="18" charset="0"/>
            </a:endParaRPr>
          </a:p>
        </p:txBody>
      </p:sp>
      <p:sp>
        <p:nvSpPr>
          <p:cNvPr id="51204" name="Text Box 4"/>
          <p:cNvSpPr txBox="1"/>
          <p:nvPr/>
        </p:nvSpPr>
        <p:spPr>
          <a:xfrm>
            <a:off x="558800" y="1355725"/>
            <a:ext cx="3064044" cy="584775"/>
          </a:xfrm>
          <a:prstGeom prst="rect">
            <a:avLst/>
          </a:prstGeom>
          <a:noFill/>
          <a:ln w="9525">
            <a:noFill/>
          </a:ln>
        </p:spPr>
        <p:txBody>
          <a:bodyPr wrap="none">
            <a:spAutoFit/>
          </a:bodyPr>
          <a:lstStyle/>
          <a:p>
            <a:r>
              <a:rPr lang="zh-CN" altLang="en-US" sz="3200" b="1" dirty="0">
                <a:solidFill>
                  <a:srgbClr val="FF0000"/>
                </a:solidFill>
                <a:latin typeface="Times New Roman" panose="02020603050405020304" pitchFamily="18" charset="0"/>
                <a:ea typeface="楷体_GB2312" panose="02010609030101010101" pitchFamily="49" charset="-122"/>
              </a:rPr>
              <a:t> </a:t>
            </a:r>
            <a:r>
              <a:rPr lang="en-US" altLang="zh-CN" sz="3200" b="1" dirty="0">
                <a:solidFill>
                  <a:srgbClr val="FF0000"/>
                </a:solidFill>
                <a:latin typeface="Times New Roman" panose="02020603050405020304" pitchFamily="18" charset="0"/>
                <a:ea typeface="楷体_GB2312" panose="02010609030101010101" pitchFamily="49" charset="-122"/>
              </a:rPr>
              <a:t>ADT Complex {</a:t>
            </a:r>
            <a:endParaRPr lang="en-US" altLang="zh-CN" sz="3200" b="1" dirty="0">
              <a:latin typeface="Times New Roman" panose="02020603050405020304" pitchFamily="18" charset="0"/>
              <a:ea typeface="楷体_GB2312" panose="02010609030101010101" pitchFamily="49" charset="-122"/>
            </a:endParaRPr>
          </a:p>
        </p:txBody>
      </p:sp>
      <p:sp>
        <p:nvSpPr>
          <p:cNvPr id="2" name="日期占位符 1"/>
          <p:cNvSpPr>
            <a:spLocks noGrp="1"/>
          </p:cNvSpPr>
          <p:nvPr>
            <p:ph type="dt" sz="half" idx="10"/>
          </p:nvPr>
        </p:nvSpPr>
        <p:spPr/>
        <p:txBody>
          <a:bodyPr/>
          <a:lstStyle/>
          <a:p>
            <a:r>
              <a:rPr lang="en-US" altLang="zh-CN"/>
              <a:t>Data Structures and algorithms</a:t>
            </a:r>
            <a:endParaRPr lang="zh-CN" altLang="en-US"/>
          </a:p>
        </p:txBody>
      </p:sp>
      <p:sp>
        <p:nvSpPr>
          <p:cNvPr id="3" name="页脚占位符 2"/>
          <p:cNvSpPr>
            <a:spLocks noGrp="1"/>
          </p:cNvSpPr>
          <p:nvPr>
            <p:ph type="ftr" sz="quarter" idx="11"/>
          </p:nvPr>
        </p:nvSpPr>
        <p:spPr/>
        <p:txBody>
          <a:bodyPr/>
          <a:lstStyle/>
          <a:p>
            <a:r>
              <a:rPr lang="en-US" altLang="zh-CN"/>
              <a:t>Software College Northeastern University</a:t>
            </a:r>
            <a:endParaRPr lang="zh-CN" altLang="en-US"/>
          </a:p>
        </p:txBody>
      </p:sp>
      <p:sp>
        <p:nvSpPr>
          <p:cNvPr id="4" name="灯片编号占位符 3"/>
          <p:cNvSpPr>
            <a:spLocks noGrp="1"/>
          </p:cNvSpPr>
          <p:nvPr>
            <p:ph type="sldNum" sz="quarter" idx="12"/>
          </p:nvPr>
        </p:nvSpPr>
        <p:spPr/>
        <p:txBody>
          <a:bodyPr/>
          <a:lstStyle/>
          <a:p>
            <a:fld id="{6E1C0148-8E4B-4B2F-95CE-20B4709700AE}" type="slidenum">
              <a:rPr lang="zh-CN" altLang="en-US" smtClean="0"/>
            </a:fld>
            <a:endParaRPr lang="zh-CN" altLang="en-US"/>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ext Box 2"/>
          <p:cNvSpPr txBox="1"/>
          <p:nvPr/>
        </p:nvSpPr>
        <p:spPr>
          <a:xfrm>
            <a:off x="1371600" y="152400"/>
            <a:ext cx="2244525" cy="584775"/>
          </a:xfrm>
          <a:prstGeom prst="rect">
            <a:avLst/>
          </a:prstGeom>
          <a:noFill/>
          <a:ln w="9525">
            <a:noFill/>
          </a:ln>
        </p:spPr>
        <p:txBody>
          <a:bodyPr wrap="none">
            <a:spAutoFit/>
          </a:bodyPr>
          <a:lstStyle/>
          <a:p>
            <a:r>
              <a:rPr lang="zh-CN" altLang="en-US" sz="3200" b="1" dirty="0">
                <a:solidFill>
                  <a:srgbClr val="006699"/>
                </a:solidFill>
                <a:latin typeface="楷体_GB2312" panose="02010609030101010101" pitchFamily="49" charset="-122"/>
                <a:ea typeface="楷体_GB2312" panose="02010609030101010101" pitchFamily="49" charset="-122"/>
              </a:rPr>
              <a:t>基本操作：</a:t>
            </a:r>
            <a:endParaRPr lang="zh-CN" altLang="en-US" sz="3200" dirty="0">
              <a:latin typeface="Times New Roman" panose="02020603050405020304" pitchFamily="18" charset="0"/>
            </a:endParaRPr>
          </a:p>
        </p:txBody>
      </p:sp>
      <p:sp>
        <p:nvSpPr>
          <p:cNvPr id="574467" name="Text Box 3"/>
          <p:cNvSpPr txBox="1"/>
          <p:nvPr/>
        </p:nvSpPr>
        <p:spPr>
          <a:xfrm>
            <a:off x="425450" y="838200"/>
            <a:ext cx="7007046" cy="1653273"/>
          </a:xfrm>
          <a:prstGeom prst="rect">
            <a:avLst/>
          </a:prstGeom>
          <a:noFill/>
          <a:ln w="9525">
            <a:noFill/>
          </a:ln>
        </p:spPr>
        <p:txBody>
          <a:bodyPr wrap="none">
            <a:spAutoFit/>
          </a:bodyPr>
          <a:lstStyle/>
          <a:p>
            <a:pPr>
              <a:lnSpc>
                <a:spcPct val="125000"/>
              </a:lnSpc>
            </a:pPr>
            <a:r>
              <a:rPr lang="zh-CN" altLang="en-US" sz="2800" dirty="0">
                <a:latin typeface="Times New Roman" panose="02020603050405020304" pitchFamily="18" charset="0"/>
                <a:ea typeface="楷体_GB2312" panose="02010609030101010101" pitchFamily="49" charset="-122"/>
              </a:rPr>
              <a:t>    </a:t>
            </a:r>
            <a:r>
              <a:rPr lang="en-US" altLang="zh-CN" sz="2800" b="1" dirty="0">
                <a:solidFill>
                  <a:schemeClr val="tx2"/>
                </a:solidFill>
                <a:latin typeface="Times New Roman" panose="02020603050405020304" pitchFamily="18" charset="0"/>
                <a:ea typeface="楷体_GB2312" panose="02010609030101010101" pitchFamily="49" charset="-122"/>
              </a:rPr>
              <a:t>AssignComplex( &amp;Z, v1, v2 )</a:t>
            </a:r>
            <a:endParaRPr lang="en-US" altLang="zh-CN" sz="2800" b="1" dirty="0">
              <a:latin typeface="Times New Roman" panose="02020603050405020304" pitchFamily="18" charset="0"/>
              <a:ea typeface="楷体_GB2312" panose="02010609030101010101" pitchFamily="49" charset="-122"/>
            </a:endParaRPr>
          </a:p>
          <a:p>
            <a:pPr>
              <a:lnSpc>
                <a:spcPct val="125000"/>
              </a:lnSpc>
            </a:pPr>
            <a:r>
              <a:rPr lang="zh-CN" altLang="en-US" sz="2800" dirty="0">
                <a:latin typeface="楷体_GB2312" panose="02010609030101010101" pitchFamily="49" charset="-122"/>
                <a:ea typeface="楷体_GB2312" panose="02010609030101010101" pitchFamily="49" charset="-122"/>
              </a:rPr>
              <a:t>  操作结果：构造复数 </a:t>
            </a:r>
            <a:r>
              <a:rPr lang="en-US" altLang="zh-CN" sz="2800" dirty="0">
                <a:latin typeface="楷体_GB2312" panose="02010609030101010101" pitchFamily="49" charset="-122"/>
                <a:ea typeface="楷体_GB2312" panose="02010609030101010101" pitchFamily="49" charset="-122"/>
              </a:rPr>
              <a:t>Z,</a:t>
            </a:r>
            <a:r>
              <a:rPr lang="zh-CN" altLang="en-US" sz="2800" dirty="0">
                <a:latin typeface="楷体_GB2312" panose="02010609030101010101" pitchFamily="49" charset="-122"/>
                <a:ea typeface="楷体_GB2312" panose="02010609030101010101" pitchFamily="49" charset="-122"/>
              </a:rPr>
              <a:t>其实部和虚部</a:t>
            </a:r>
            <a:endParaRPr lang="zh-CN" altLang="en-US" sz="2800" dirty="0">
              <a:latin typeface="楷体_GB2312" panose="02010609030101010101" pitchFamily="49" charset="-122"/>
              <a:ea typeface="楷体_GB2312" panose="02010609030101010101" pitchFamily="49" charset="-122"/>
            </a:endParaRPr>
          </a:p>
          <a:p>
            <a:pPr>
              <a:lnSpc>
                <a:spcPct val="125000"/>
              </a:lnSpc>
            </a:pPr>
            <a:r>
              <a:rPr lang="zh-CN" altLang="en-US" sz="2800" dirty="0">
                <a:latin typeface="楷体_GB2312" panose="02010609030101010101" pitchFamily="49" charset="-122"/>
                <a:ea typeface="楷体_GB2312" panose="02010609030101010101" pitchFamily="49" charset="-122"/>
              </a:rPr>
              <a:t>        分别被赋以参数 </a:t>
            </a:r>
            <a:r>
              <a:rPr lang="en-US" altLang="zh-CN" sz="2800" dirty="0">
                <a:latin typeface="楷体_GB2312" panose="02010609030101010101" pitchFamily="49" charset="-122"/>
                <a:ea typeface="楷体_GB2312" panose="02010609030101010101" pitchFamily="49" charset="-122"/>
              </a:rPr>
              <a:t>v1 </a:t>
            </a:r>
            <a:r>
              <a:rPr lang="zh-CN" altLang="en-US" sz="2800" dirty="0">
                <a:latin typeface="楷体_GB2312" panose="02010609030101010101" pitchFamily="49" charset="-122"/>
                <a:ea typeface="楷体_GB2312" panose="02010609030101010101" pitchFamily="49" charset="-122"/>
              </a:rPr>
              <a:t>和 </a:t>
            </a:r>
            <a:r>
              <a:rPr lang="en-US" altLang="zh-CN" sz="2800" dirty="0">
                <a:latin typeface="楷体_GB2312" panose="02010609030101010101" pitchFamily="49" charset="-122"/>
                <a:ea typeface="楷体_GB2312" panose="02010609030101010101" pitchFamily="49" charset="-122"/>
              </a:rPr>
              <a:t>v2 </a:t>
            </a:r>
            <a:r>
              <a:rPr lang="zh-CN" altLang="en-US" sz="2800" dirty="0">
                <a:latin typeface="楷体_GB2312" panose="02010609030101010101" pitchFamily="49" charset="-122"/>
                <a:ea typeface="楷体_GB2312" panose="02010609030101010101" pitchFamily="49" charset="-122"/>
              </a:rPr>
              <a:t>的值。</a:t>
            </a:r>
            <a:endParaRPr lang="zh-CN" altLang="en-US" sz="2800" dirty="0">
              <a:latin typeface="Times New Roman" panose="02020603050405020304" pitchFamily="18" charset="0"/>
            </a:endParaRPr>
          </a:p>
        </p:txBody>
      </p:sp>
      <p:sp>
        <p:nvSpPr>
          <p:cNvPr id="574468" name="Text Box 4"/>
          <p:cNvSpPr txBox="1"/>
          <p:nvPr/>
        </p:nvSpPr>
        <p:spPr>
          <a:xfrm>
            <a:off x="453023" y="2737988"/>
            <a:ext cx="4852610" cy="1057790"/>
          </a:xfrm>
          <a:prstGeom prst="rect">
            <a:avLst/>
          </a:prstGeom>
          <a:noFill/>
          <a:ln w="9525">
            <a:noFill/>
          </a:ln>
        </p:spPr>
        <p:txBody>
          <a:bodyPr wrap="none">
            <a:spAutoFit/>
          </a:bodyPr>
          <a:lstStyle/>
          <a:p>
            <a:pPr>
              <a:lnSpc>
                <a:spcPct val="120000"/>
              </a:lnSpc>
            </a:pPr>
            <a:r>
              <a:rPr lang="zh-CN" altLang="en-US" sz="2800" dirty="0">
                <a:latin typeface="Times New Roman" panose="02020603050405020304" pitchFamily="18" charset="0"/>
                <a:ea typeface="楷体_GB2312" panose="02010609030101010101" pitchFamily="49" charset="-122"/>
              </a:rPr>
              <a:t>    </a:t>
            </a:r>
            <a:r>
              <a:rPr lang="en-US" altLang="zh-CN" sz="2800" b="1" dirty="0">
                <a:solidFill>
                  <a:schemeClr val="tx2"/>
                </a:solidFill>
                <a:latin typeface="Times New Roman" panose="02020603050405020304" pitchFamily="18" charset="0"/>
                <a:ea typeface="楷体_GB2312" panose="02010609030101010101" pitchFamily="49" charset="-122"/>
              </a:rPr>
              <a:t>DestroyComplex( &amp;Z)</a:t>
            </a:r>
            <a:endParaRPr lang="en-US" altLang="zh-CN" sz="2800" b="1" dirty="0">
              <a:solidFill>
                <a:schemeClr val="tx2"/>
              </a:solidFill>
              <a:latin typeface="Times New Roman" panose="02020603050405020304" pitchFamily="18" charset="0"/>
              <a:ea typeface="楷体_GB2312" panose="02010609030101010101" pitchFamily="49" charset="-122"/>
            </a:endParaRPr>
          </a:p>
          <a:p>
            <a:pPr>
              <a:lnSpc>
                <a:spcPct val="120000"/>
              </a:lnSpc>
            </a:pPr>
            <a:r>
              <a:rPr lang="zh-CN" altLang="en-US" sz="2800" dirty="0">
                <a:latin typeface="楷体_GB2312" panose="02010609030101010101" pitchFamily="49" charset="-122"/>
                <a:ea typeface="楷体_GB2312" panose="02010609030101010101" pitchFamily="49" charset="-122"/>
              </a:rPr>
              <a:t>  操作结果：复数</a:t>
            </a:r>
            <a:r>
              <a:rPr lang="en-US" altLang="zh-CN" sz="2800" dirty="0">
                <a:latin typeface="楷体_GB2312" panose="02010609030101010101" pitchFamily="49" charset="-122"/>
                <a:ea typeface="楷体_GB2312" panose="02010609030101010101" pitchFamily="49" charset="-122"/>
              </a:rPr>
              <a:t>Z</a:t>
            </a:r>
            <a:r>
              <a:rPr lang="zh-CN" altLang="en-US" sz="2800" dirty="0">
                <a:latin typeface="楷体_GB2312" panose="02010609030101010101" pitchFamily="49" charset="-122"/>
                <a:ea typeface="楷体_GB2312" panose="02010609030101010101" pitchFamily="49" charset="-122"/>
              </a:rPr>
              <a:t>被销毁。 </a:t>
            </a:r>
            <a:endParaRPr lang="zh-CN" altLang="en-US" sz="2800" dirty="0">
              <a:latin typeface="楷体_GB2312" panose="02010609030101010101" pitchFamily="49" charset="-122"/>
              <a:ea typeface="楷体_GB2312" panose="02010609030101010101" pitchFamily="49" charset="-122"/>
            </a:endParaRPr>
          </a:p>
        </p:txBody>
      </p:sp>
      <p:sp>
        <p:nvSpPr>
          <p:cNvPr id="574469" name="Text Box 5"/>
          <p:cNvSpPr txBox="1"/>
          <p:nvPr/>
        </p:nvSpPr>
        <p:spPr>
          <a:xfrm>
            <a:off x="453023" y="4139230"/>
            <a:ext cx="7225055" cy="1594026"/>
          </a:xfrm>
          <a:prstGeom prst="rect">
            <a:avLst/>
          </a:prstGeom>
          <a:noFill/>
          <a:ln w="9525">
            <a:noFill/>
          </a:ln>
        </p:spPr>
        <p:txBody>
          <a:bodyPr wrap="none">
            <a:spAutoFit/>
          </a:bodyPr>
          <a:lstStyle/>
          <a:p>
            <a:pPr>
              <a:lnSpc>
                <a:spcPct val="120000"/>
              </a:lnSpc>
            </a:pPr>
            <a:r>
              <a:rPr lang="zh-CN" altLang="en-US" sz="2800" dirty="0">
                <a:latin typeface="Times New Roman" panose="02020603050405020304" pitchFamily="18" charset="0"/>
                <a:ea typeface="楷体_GB2312" panose="02010609030101010101" pitchFamily="49" charset="-122"/>
              </a:rPr>
              <a:t>    </a:t>
            </a:r>
            <a:r>
              <a:rPr lang="en-US" altLang="zh-CN" sz="2800" b="1" dirty="0">
                <a:solidFill>
                  <a:schemeClr val="tx2"/>
                </a:solidFill>
                <a:latin typeface="Times New Roman" panose="02020603050405020304" pitchFamily="18" charset="0"/>
                <a:ea typeface="楷体_GB2312" panose="02010609030101010101" pitchFamily="49" charset="-122"/>
              </a:rPr>
              <a:t>GetReal( Z, &amp;realPart )</a:t>
            </a:r>
            <a:endParaRPr lang="en-US" altLang="zh-CN" sz="2800" dirty="0">
              <a:latin typeface="Times New Roman" panose="02020603050405020304" pitchFamily="18" charset="0"/>
              <a:ea typeface="楷体_GB2312" panose="02010609030101010101" pitchFamily="49" charset="-122"/>
            </a:endParaRPr>
          </a:p>
          <a:p>
            <a:pPr>
              <a:lnSpc>
                <a:spcPct val="120000"/>
              </a:lnSpc>
            </a:pPr>
            <a:r>
              <a:rPr lang="zh-CN" altLang="en-US" sz="2800" dirty="0">
                <a:latin typeface="楷体_GB2312" panose="02010609030101010101" pitchFamily="49" charset="-122"/>
                <a:ea typeface="楷体_GB2312" panose="02010609030101010101" pitchFamily="49" charset="-122"/>
              </a:rPr>
              <a:t>  初始条件：复数已存在。</a:t>
            </a:r>
            <a:endParaRPr lang="zh-CN" altLang="en-US" sz="2800" dirty="0">
              <a:latin typeface="楷体_GB2312" panose="02010609030101010101" pitchFamily="49" charset="-122"/>
              <a:ea typeface="楷体_GB2312" panose="02010609030101010101" pitchFamily="49" charset="-122"/>
            </a:endParaRPr>
          </a:p>
          <a:p>
            <a:pPr>
              <a:lnSpc>
                <a:spcPct val="120000"/>
              </a:lnSpc>
            </a:pPr>
            <a:r>
              <a:rPr lang="zh-CN" altLang="en-US" sz="2800" dirty="0">
                <a:latin typeface="楷体_GB2312" panose="02010609030101010101" pitchFamily="49" charset="-122"/>
                <a:ea typeface="楷体_GB2312" panose="02010609030101010101" pitchFamily="49" charset="-122"/>
              </a:rPr>
              <a:t>  操作结果：用</a:t>
            </a:r>
            <a:r>
              <a:rPr lang="en-US" altLang="zh-CN" sz="2800" dirty="0">
                <a:latin typeface="Times New Roman" panose="02020603050405020304" pitchFamily="18" charset="0"/>
                <a:ea typeface="楷体_GB2312" panose="02010609030101010101" pitchFamily="49" charset="-122"/>
              </a:rPr>
              <a:t>realPart</a:t>
            </a:r>
            <a:r>
              <a:rPr lang="zh-CN" altLang="en-US" sz="2800" dirty="0">
                <a:latin typeface="楷体_GB2312" panose="02010609030101010101" pitchFamily="49" charset="-122"/>
                <a:ea typeface="楷体_GB2312" panose="02010609030101010101" pitchFamily="49" charset="-122"/>
              </a:rPr>
              <a:t>返回复数</a:t>
            </a:r>
            <a:r>
              <a:rPr lang="en-US" altLang="zh-CN" sz="2800" dirty="0">
                <a:latin typeface="楷体_GB2312" panose="02010609030101010101" pitchFamily="49" charset="-122"/>
                <a:ea typeface="楷体_GB2312" panose="02010609030101010101" pitchFamily="49" charset="-122"/>
              </a:rPr>
              <a:t>Z</a:t>
            </a:r>
            <a:r>
              <a:rPr lang="zh-CN" altLang="en-US" sz="2800" dirty="0">
                <a:latin typeface="楷体_GB2312" panose="02010609030101010101" pitchFamily="49" charset="-122"/>
                <a:ea typeface="楷体_GB2312" panose="02010609030101010101" pitchFamily="49" charset="-122"/>
              </a:rPr>
              <a:t>的实部值。</a:t>
            </a:r>
            <a:endParaRPr lang="zh-CN" altLang="en-US" sz="2800" dirty="0">
              <a:latin typeface="楷体_GB2312" panose="02010609030101010101" pitchFamily="49" charset="-122"/>
              <a:ea typeface="楷体_GB2312" panose="02010609030101010101" pitchFamily="49" charset="-122"/>
            </a:endParaRPr>
          </a:p>
        </p:txBody>
      </p:sp>
      <p:sp>
        <p:nvSpPr>
          <p:cNvPr id="2" name="日期占位符 1"/>
          <p:cNvSpPr>
            <a:spLocks noGrp="1"/>
          </p:cNvSpPr>
          <p:nvPr>
            <p:ph type="dt" sz="half" idx="10"/>
          </p:nvPr>
        </p:nvSpPr>
        <p:spPr/>
        <p:txBody>
          <a:bodyPr/>
          <a:lstStyle/>
          <a:p>
            <a:r>
              <a:rPr lang="en-US" altLang="zh-CN" dirty="0"/>
              <a:t>D  </a:t>
            </a:r>
            <a:r>
              <a:rPr lang="en-US" altLang="zh-CN" dirty="0" err="1"/>
              <a:t>ata</a:t>
            </a:r>
            <a:r>
              <a:rPr lang="en-US" altLang="zh-CN" dirty="0"/>
              <a:t> Structures and algorithms</a:t>
            </a:r>
            <a:endParaRPr lang="zh-CN" altLang="en-US" dirty="0"/>
          </a:p>
        </p:txBody>
      </p:sp>
      <p:sp>
        <p:nvSpPr>
          <p:cNvPr id="3" name="页脚占位符 2"/>
          <p:cNvSpPr>
            <a:spLocks noGrp="1"/>
          </p:cNvSpPr>
          <p:nvPr>
            <p:ph type="ftr" sz="quarter" idx="11"/>
          </p:nvPr>
        </p:nvSpPr>
        <p:spPr/>
        <p:txBody>
          <a:bodyPr/>
          <a:lstStyle/>
          <a:p>
            <a:r>
              <a:rPr lang="en-US" altLang="zh-CN" dirty="0"/>
              <a:t>Software College Northeastern University</a:t>
            </a:r>
            <a:endParaRPr lang="zh-CN" altLang="en-US" dirty="0"/>
          </a:p>
        </p:txBody>
      </p:sp>
      <p:sp>
        <p:nvSpPr>
          <p:cNvPr id="4" name="灯片编号占位符 3"/>
          <p:cNvSpPr>
            <a:spLocks noGrp="1"/>
          </p:cNvSpPr>
          <p:nvPr>
            <p:ph type="sldNum" sz="quarter" idx="12"/>
          </p:nvPr>
        </p:nvSpPr>
        <p:spPr/>
        <p:txBody>
          <a:bodyPr/>
          <a:lstStyle/>
          <a:p>
            <a:fld id="{6E1C0148-8E4B-4B2F-95CE-20B4709700AE}" type="slidenum">
              <a:rPr lang="zh-CN" altLang="en-US" smtClean="0"/>
            </a:fld>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574467"/>
                                        </p:tgtEl>
                                        <p:attrNameLst>
                                          <p:attrName>style.visibility</p:attrName>
                                        </p:attrNameLst>
                                      </p:cBhvr>
                                      <p:to>
                                        <p:strVal val="visible"/>
                                      </p:to>
                                    </p:set>
                                    <p:animEffect transition="in" filter="strips(downRight)">
                                      <p:cBhvr>
                                        <p:cTn id="7" dur="500"/>
                                        <p:tgtEl>
                                          <p:spTgt spid="574467"/>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574468"/>
                                        </p:tgtEl>
                                        <p:attrNameLst>
                                          <p:attrName>style.visibility</p:attrName>
                                        </p:attrNameLst>
                                      </p:cBhvr>
                                      <p:to>
                                        <p:strVal val="visible"/>
                                      </p:to>
                                    </p:set>
                                    <p:animEffect transition="in" filter="strips(downRight)">
                                      <p:cBhvr>
                                        <p:cTn id="12" dur="500"/>
                                        <p:tgtEl>
                                          <p:spTgt spid="574468"/>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574469"/>
                                        </p:tgtEl>
                                        <p:attrNameLst>
                                          <p:attrName>style.visibility</p:attrName>
                                        </p:attrNameLst>
                                      </p:cBhvr>
                                      <p:to>
                                        <p:strVal val="visible"/>
                                      </p:to>
                                    </p:set>
                                    <p:animEffect transition="in" filter="strips(downRight)">
                                      <p:cBhvr>
                                        <p:cTn id="17" dur="500"/>
                                        <p:tgtEl>
                                          <p:spTgt spid="5744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4467" grpId="0"/>
      <p:bldP spid="574468" grpId="0"/>
      <p:bldP spid="574469"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5490" name="Text Box 2"/>
          <p:cNvSpPr txBox="1"/>
          <p:nvPr/>
        </p:nvSpPr>
        <p:spPr>
          <a:xfrm>
            <a:off x="827584" y="548680"/>
            <a:ext cx="7066358" cy="1594026"/>
          </a:xfrm>
          <a:prstGeom prst="rect">
            <a:avLst/>
          </a:prstGeom>
          <a:noFill/>
          <a:ln w="9525">
            <a:noFill/>
          </a:ln>
        </p:spPr>
        <p:txBody>
          <a:bodyPr wrap="none">
            <a:spAutoFit/>
          </a:bodyPr>
          <a:lstStyle/>
          <a:p>
            <a:pPr>
              <a:lnSpc>
                <a:spcPct val="120000"/>
              </a:lnSpc>
            </a:pPr>
            <a:r>
              <a:rPr lang="zh-CN" altLang="en-US" sz="2800" dirty="0">
                <a:latin typeface="楷体_GB2312" panose="02010609030101010101" pitchFamily="49" charset="-122"/>
                <a:ea typeface="楷体_GB2312" panose="02010609030101010101" pitchFamily="49" charset="-122"/>
              </a:rPr>
              <a:t> </a:t>
            </a:r>
            <a:r>
              <a:rPr lang="en-US" altLang="zh-CN" sz="2800" b="1" dirty="0">
                <a:solidFill>
                  <a:schemeClr val="tx2"/>
                </a:solidFill>
                <a:latin typeface="Times New Roman" panose="02020603050405020304" pitchFamily="18" charset="0"/>
                <a:ea typeface="楷体_GB2312" panose="02010609030101010101" pitchFamily="49" charset="-122"/>
              </a:rPr>
              <a:t>GetImag( Z, &amp;ImagPart )</a:t>
            </a:r>
            <a:endParaRPr lang="en-US" altLang="zh-CN" sz="2800" b="1" dirty="0">
              <a:solidFill>
                <a:schemeClr val="tx2"/>
              </a:solidFill>
              <a:latin typeface="Times New Roman" panose="02020603050405020304" pitchFamily="18" charset="0"/>
              <a:ea typeface="楷体_GB2312" panose="02010609030101010101" pitchFamily="49" charset="-122"/>
            </a:endParaRPr>
          </a:p>
          <a:p>
            <a:pPr>
              <a:lnSpc>
                <a:spcPct val="120000"/>
              </a:lnSpc>
            </a:pPr>
            <a:r>
              <a:rPr lang="zh-CN" altLang="en-US" sz="2800" dirty="0">
                <a:latin typeface="楷体_GB2312" panose="02010609030101010101" pitchFamily="49" charset="-122"/>
                <a:ea typeface="楷体_GB2312" panose="02010609030101010101" pitchFamily="49" charset="-122"/>
              </a:rPr>
              <a:t>初始条件：复数已存在。</a:t>
            </a:r>
            <a:endParaRPr lang="zh-CN" altLang="en-US" sz="2800" dirty="0">
              <a:latin typeface="楷体_GB2312" panose="02010609030101010101" pitchFamily="49" charset="-122"/>
              <a:ea typeface="楷体_GB2312" panose="02010609030101010101" pitchFamily="49" charset="-122"/>
            </a:endParaRPr>
          </a:p>
          <a:p>
            <a:pPr>
              <a:lnSpc>
                <a:spcPct val="120000"/>
              </a:lnSpc>
            </a:pPr>
            <a:r>
              <a:rPr lang="zh-CN" altLang="en-US" sz="2800" dirty="0">
                <a:latin typeface="楷体_GB2312" panose="02010609030101010101" pitchFamily="49" charset="-122"/>
                <a:ea typeface="楷体_GB2312" panose="02010609030101010101" pitchFamily="49" charset="-122"/>
              </a:rPr>
              <a:t>操作结果：用</a:t>
            </a:r>
            <a:r>
              <a:rPr lang="en-US" altLang="zh-CN" sz="2800" dirty="0">
                <a:latin typeface="Times New Roman" panose="02020603050405020304" pitchFamily="18" charset="0"/>
                <a:ea typeface="楷体_GB2312" panose="02010609030101010101" pitchFamily="49" charset="-122"/>
              </a:rPr>
              <a:t>ImagPart</a:t>
            </a:r>
            <a:r>
              <a:rPr lang="zh-CN" altLang="en-US" sz="2800" dirty="0">
                <a:latin typeface="楷体_GB2312" panose="02010609030101010101" pitchFamily="49" charset="-122"/>
                <a:ea typeface="楷体_GB2312" panose="02010609030101010101" pitchFamily="49" charset="-122"/>
              </a:rPr>
              <a:t>返回复数</a:t>
            </a:r>
            <a:r>
              <a:rPr lang="en-US" altLang="zh-CN" sz="2800" dirty="0">
                <a:latin typeface="楷体_GB2312" panose="02010609030101010101" pitchFamily="49" charset="-122"/>
                <a:ea typeface="楷体_GB2312" panose="02010609030101010101" pitchFamily="49" charset="-122"/>
              </a:rPr>
              <a:t>Z</a:t>
            </a:r>
            <a:r>
              <a:rPr lang="zh-CN" altLang="en-US" sz="2800" dirty="0">
                <a:latin typeface="楷体_GB2312" panose="02010609030101010101" pitchFamily="49" charset="-122"/>
                <a:ea typeface="楷体_GB2312" panose="02010609030101010101" pitchFamily="49" charset="-122"/>
              </a:rPr>
              <a:t>的虚部值。</a:t>
            </a:r>
            <a:endParaRPr lang="zh-CN" altLang="en-US" sz="2800" dirty="0">
              <a:latin typeface="Times New Roman" panose="02020603050405020304" pitchFamily="18" charset="0"/>
            </a:endParaRPr>
          </a:p>
        </p:txBody>
      </p:sp>
      <p:sp>
        <p:nvSpPr>
          <p:cNvPr id="575491" name="Text Box 3"/>
          <p:cNvSpPr txBox="1"/>
          <p:nvPr/>
        </p:nvSpPr>
        <p:spPr>
          <a:xfrm>
            <a:off x="859334" y="2907705"/>
            <a:ext cx="8534400" cy="2091919"/>
          </a:xfrm>
          <a:prstGeom prst="rect">
            <a:avLst/>
          </a:prstGeom>
          <a:noFill/>
          <a:ln w="9525">
            <a:noFill/>
          </a:ln>
        </p:spPr>
        <p:txBody>
          <a:bodyPr>
            <a:spAutoFit/>
          </a:bodyPr>
          <a:lstStyle/>
          <a:p>
            <a:pPr>
              <a:lnSpc>
                <a:spcPct val="120000"/>
              </a:lnSpc>
            </a:pPr>
            <a:r>
              <a:rPr lang="zh-CN" altLang="en-US" sz="2800" dirty="0">
                <a:latin typeface="Times New Roman" panose="02020603050405020304" pitchFamily="18" charset="0"/>
                <a:ea typeface="楷体_GB2312" panose="02010609030101010101" pitchFamily="49" charset="-122"/>
              </a:rPr>
              <a:t>   </a:t>
            </a:r>
            <a:r>
              <a:rPr lang="en-US" altLang="zh-CN" sz="2800" b="1" dirty="0">
                <a:solidFill>
                  <a:schemeClr val="tx2"/>
                </a:solidFill>
                <a:latin typeface="Times New Roman" panose="02020603050405020304" pitchFamily="18" charset="0"/>
                <a:ea typeface="楷体_GB2312" panose="02010609030101010101" pitchFamily="49" charset="-122"/>
              </a:rPr>
              <a:t>Add( z1,z2, &amp;sum )</a:t>
            </a:r>
            <a:endParaRPr lang="en-US" altLang="zh-CN" sz="2800" b="1" dirty="0">
              <a:solidFill>
                <a:schemeClr val="tx2"/>
              </a:solidFill>
              <a:latin typeface="Times New Roman" panose="02020603050405020304" pitchFamily="18" charset="0"/>
              <a:ea typeface="楷体_GB2312" panose="02010609030101010101" pitchFamily="49" charset="-122"/>
            </a:endParaRPr>
          </a:p>
          <a:p>
            <a:pPr>
              <a:lnSpc>
                <a:spcPct val="120000"/>
              </a:lnSpc>
            </a:pPr>
            <a:r>
              <a:rPr lang="zh-CN" altLang="en-US" sz="2800" dirty="0">
                <a:latin typeface="楷体_GB2312" panose="02010609030101010101" pitchFamily="49" charset="-122"/>
                <a:ea typeface="楷体_GB2312" panose="02010609030101010101" pitchFamily="49" charset="-122"/>
              </a:rPr>
              <a:t>初始条件：</a:t>
            </a:r>
            <a:r>
              <a:rPr lang="en-US" altLang="zh-CN" sz="2800" dirty="0">
                <a:latin typeface="Times New Roman" panose="02020603050405020304" pitchFamily="18" charset="0"/>
                <a:ea typeface="楷体_GB2312" panose="02010609030101010101" pitchFamily="49" charset="-122"/>
              </a:rPr>
              <a:t>z1, z2</a:t>
            </a:r>
            <a:r>
              <a:rPr lang="zh-CN" altLang="en-US" sz="2800" dirty="0">
                <a:latin typeface="楷体_GB2312" panose="02010609030101010101" pitchFamily="49" charset="-122"/>
                <a:ea typeface="楷体_GB2312" panose="02010609030101010101" pitchFamily="49" charset="-122"/>
              </a:rPr>
              <a:t>是复数。</a:t>
            </a:r>
            <a:endParaRPr lang="zh-CN" altLang="en-US" sz="2800" dirty="0">
              <a:latin typeface="楷体_GB2312" panose="02010609030101010101" pitchFamily="49" charset="-122"/>
              <a:ea typeface="楷体_GB2312" panose="02010609030101010101" pitchFamily="49" charset="-122"/>
            </a:endParaRPr>
          </a:p>
          <a:p>
            <a:pPr>
              <a:lnSpc>
                <a:spcPct val="120000"/>
              </a:lnSpc>
            </a:pPr>
            <a:r>
              <a:rPr lang="zh-CN" altLang="en-US" sz="2800" dirty="0">
                <a:latin typeface="楷体_GB2312" panose="02010609030101010101" pitchFamily="49" charset="-122"/>
                <a:ea typeface="楷体_GB2312" panose="02010609030101010101" pitchFamily="49" charset="-122"/>
              </a:rPr>
              <a:t>操作结果：用</a:t>
            </a:r>
            <a:r>
              <a:rPr lang="en-US" altLang="zh-CN" sz="2800" dirty="0">
                <a:latin typeface="Times New Roman" panose="02020603050405020304" pitchFamily="18" charset="0"/>
                <a:ea typeface="楷体_GB2312" panose="02010609030101010101" pitchFamily="49" charset="-122"/>
              </a:rPr>
              <a:t>sum</a:t>
            </a:r>
            <a:r>
              <a:rPr lang="zh-CN" altLang="en-US" sz="2800" dirty="0">
                <a:latin typeface="楷体_GB2312" panose="02010609030101010101" pitchFamily="49" charset="-122"/>
                <a:ea typeface="楷体_GB2312" panose="02010609030101010101" pitchFamily="49" charset="-122"/>
              </a:rPr>
              <a:t>返回两个复数</a:t>
            </a:r>
            <a:r>
              <a:rPr lang="en-US" altLang="zh-CN" sz="2800" dirty="0">
                <a:latin typeface="Times New Roman" panose="02020603050405020304" pitchFamily="18" charset="0"/>
                <a:ea typeface="楷体_GB2312" panose="02010609030101010101" pitchFamily="49" charset="-122"/>
              </a:rPr>
              <a:t>z1, z2 </a:t>
            </a:r>
            <a:r>
              <a:rPr lang="zh-CN" altLang="en-US" sz="2800" dirty="0">
                <a:latin typeface="楷体_GB2312" panose="02010609030101010101" pitchFamily="49" charset="-122"/>
                <a:ea typeface="楷体_GB2312" panose="02010609030101010101" pitchFamily="49" charset="-122"/>
              </a:rPr>
              <a:t>的</a:t>
            </a:r>
            <a:endParaRPr lang="zh-CN" altLang="en-US" sz="2800" dirty="0">
              <a:latin typeface="楷体_GB2312" panose="02010609030101010101" pitchFamily="49" charset="-122"/>
              <a:ea typeface="楷体_GB2312" panose="02010609030101010101" pitchFamily="49" charset="-122"/>
            </a:endParaRPr>
          </a:p>
          <a:p>
            <a:pPr>
              <a:lnSpc>
                <a:spcPct val="120000"/>
              </a:lnSpc>
            </a:pPr>
            <a:r>
              <a:rPr lang="zh-CN" altLang="en-US" sz="2800" dirty="0">
                <a:latin typeface="楷体_GB2312" panose="02010609030101010101" pitchFamily="49" charset="-122"/>
                <a:ea typeface="楷体_GB2312" panose="02010609030101010101" pitchFamily="49" charset="-122"/>
              </a:rPr>
              <a:t>         和值。         </a:t>
            </a:r>
            <a:endParaRPr lang="zh-CN" altLang="en-US" sz="2800" dirty="0">
              <a:latin typeface="楷体_GB2312" panose="02010609030101010101" pitchFamily="49" charset="-122"/>
              <a:ea typeface="楷体_GB2312" panose="02010609030101010101" pitchFamily="49" charset="-122"/>
            </a:endParaRPr>
          </a:p>
        </p:txBody>
      </p:sp>
      <p:sp>
        <p:nvSpPr>
          <p:cNvPr id="575492" name="Text Box 4"/>
          <p:cNvSpPr txBox="1"/>
          <p:nvPr/>
        </p:nvSpPr>
        <p:spPr>
          <a:xfrm>
            <a:off x="859334" y="5542955"/>
            <a:ext cx="2614177" cy="523220"/>
          </a:xfrm>
          <a:prstGeom prst="rect">
            <a:avLst/>
          </a:prstGeom>
          <a:noFill/>
          <a:ln w="9525">
            <a:noFill/>
          </a:ln>
        </p:spPr>
        <p:txBody>
          <a:bodyPr wrap="none">
            <a:spAutoFit/>
          </a:bodyPr>
          <a:lstStyle/>
          <a:p>
            <a:r>
              <a:rPr lang="en-US" altLang="zh-CN" sz="2800" b="1" dirty="0">
                <a:solidFill>
                  <a:srgbClr val="FF0000"/>
                </a:solidFill>
                <a:latin typeface="Times New Roman" panose="02020603050405020304" pitchFamily="18" charset="0"/>
                <a:ea typeface="楷体_GB2312" panose="02010609030101010101" pitchFamily="49" charset="-122"/>
              </a:rPr>
              <a:t>} ADT Complex</a:t>
            </a:r>
            <a:endParaRPr lang="en-US" altLang="zh-CN" sz="2800" b="1" dirty="0">
              <a:latin typeface="Times New Roman" panose="02020603050405020304" pitchFamily="18" charset="0"/>
              <a:ea typeface="楷体_GB2312" panose="02010609030101010101" pitchFamily="49" charset="-122"/>
            </a:endParaRPr>
          </a:p>
        </p:txBody>
      </p:sp>
      <p:sp>
        <p:nvSpPr>
          <p:cNvPr id="2" name="日期占位符 1"/>
          <p:cNvSpPr>
            <a:spLocks noGrp="1"/>
          </p:cNvSpPr>
          <p:nvPr>
            <p:ph type="dt" sz="half" idx="10"/>
          </p:nvPr>
        </p:nvSpPr>
        <p:spPr>
          <a:xfrm>
            <a:off x="344662" y="6198861"/>
            <a:ext cx="2376264" cy="365760"/>
          </a:xfrm>
        </p:spPr>
        <p:txBody>
          <a:bodyPr/>
          <a:lstStyle/>
          <a:p>
            <a:r>
              <a:rPr lang="en-US" altLang="zh-CN" dirty="0"/>
              <a:t>Data Structures and algorithms</a:t>
            </a:r>
            <a:endParaRPr lang="zh-CN" altLang="en-US" dirty="0"/>
          </a:p>
        </p:txBody>
      </p:sp>
      <p:sp>
        <p:nvSpPr>
          <p:cNvPr id="3" name="页脚占位符 2"/>
          <p:cNvSpPr>
            <a:spLocks noGrp="1"/>
          </p:cNvSpPr>
          <p:nvPr>
            <p:ph type="ftr" sz="quarter" idx="11"/>
          </p:nvPr>
        </p:nvSpPr>
        <p:spPr>
          <a:xfrm>
            <a:off x="3657030" y="6175574"/>
            <a:ext cx="3094857" cy="365125"/>
          </a:xfrm>
        </p:spPr>
        <p:txBody>
          <a:bodyPr/>
          <a:lstStyle/>
          <a:p>
            <a:r>
              <a:rPr lang="en-US" altLang="zh-CN"/>
              <a:t>Software College Northeastern University</a:t>
            </a:r>
            <a:endParaRPr lang="zh-CN" altLang="en-US"/>
          </a:p>
        </p:txBody>
      </p:sp>
      <p:sp>
        <p:nvSpPr>
          <p:cNvPr id="4" name="灯片编号占位符 3"/>
          <p:cNvSpPr>
            <a:spLocks noGrp="1"/>
          </p:cNvSpPr>
          <p:nvPr>
            <p:ph type="sldNum" sz="quarter" idx="12"/>
          </p:nvPr>
        </p:nvSpPr>
        <p:spPr>
          <a:xfrm>
            <a:off x="7833494" y="6189862"/>
            <a:ext cx="365760" cy="365125"/>
          </a:xfrm>
        </p:spPr>
        <p:txBody>
          <a:bodyPr/>
          <a:lstStyle/>
          <a:p>
            <a:fld id="{6E1C0148-8E4B-4B2F-95CE-20B4709700AE}" type="slidenum">
              <a:rPr lang="zh-CN" altLang="en-US" smtClean="0"/>
            </a:fld>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575490"/>
                                        </p:tgtEl>
                                        <p:attrNameLst>
                                          <p:attrName>style.visibility</p:attrName>
                                        </p:attrNameLst>
                                      </p:cBhvr>
                                      <p:to>
                                        <p:strVal val="visible"/>
                                      </p:to>
                                    </p:set>
                                    <p:animEffect transition="in" filter="strips(downRight)">
                                      <p:cBhvr>
                                        <p:cTn id="7" dur="500"/>
                                        <p:tgtEl>
                                          <p:spTgt spid="575490"/>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575491"/>
                                        </p:tgtEl>
                                        <p:attrNameLst>
                                          <p:attrName>style.visibility</p:attrName>
                                        </p:attrNameLst>
                                      </p:cBhvr>
                                      <p:to>
                                        <p:strVal val="visible"/>
                                      </p:to>
                                    </p:set>
                                    <p:animEffect transition="in" filter="strips(downRight)">
                                      <p:cBhvr>
                                        <p:cTn id="12" dur="500"/>
                                        <p:tgtEl>
                                          <p:spTgt spid="575491"/>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575492"/>
                                        </p:tgtEl>
                                        <p:attrNameLst>
                                          <p:attrName>style.visibility</p:attrName>
                                        </p:attrNameLst>
                                      </p:cBhvr>
                                      <p:to>
                                        <p:strVal val="visible"/>
                                      </p:to>
                                    </p:set>
                                    <p:animEffect transition="in" filter="strips(downRight)">
                                      <p:cBhvr>
                                        <p:cTn id="17" dur="500"/>
                                        <p:tgtEl>
                                          <p:spTgt spid="5754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5490" grpId="0"/>
      <p:bldP spid="575491" grpId="0"/>
      <p:bldP spid="575492"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6514" name="Text Box 2"/>
          <p:cNvSpPr txBox="1"/>
          <p:nvPr/>
        </p:nvSpPr>
        <p:spPr>
          <a:xfrm>
            <a:off x="1339850" y="1195388"/>
            <a:ext cx="6356350" cy="641350"/>
          </a:xfrm>
          <a:prstGeom prst="rect">
            <a:avLst/>
          </a:prstGeom>
          <a:noFill/>
          <a:ln w="9525">
            <a:noFill/>
          </a:ln>
        </p:spPr>
        <p:txBody>
          <a:bodyPr wrap="none">
            <a:spAutoFit/>
          </a:bodyPr>
          <a:lstStyle/>
          <a:p>
            <a:r>
              <a:rPr lang="zh-CN" altLang="en-US" sz="3600" dirty="0">
                <a:solidFill>
                  <a:schemeClr val="tx2"/>
                </a:solidFill>
                <a:latin typeface="楷体_GB2312" panose="02010609030101010101" pitchFamily="49" charset="-122"/>
                <a:ea typeface="楷体_GB2312" panose="02010609030101010101" pitchFamily="49" charset="-122"/>
              </a:rPr>
              <a:t>假设</a:t>
            </a:r>
            <a:r>
              <a:rPr lang="en-US" altLang="zh-CN" sz="3600" dirty="0">
                <a:solidFill>
                  <a:schemeClr val="tx2"/>
                </a:solidFill>
                <a:latin typeface="楷体_GB2312" panose="02010609030101010101" pitchFamily="49" charset="-122"/>
                <a:ea typeface="楷体_GB2312" panose="02010609030101010101" pitchFamily="49" charset="-122"/>
              </a:rPr>
              <a:t>:z1</a:t>
            </a:r>
            <a:r>
              <a:rPr lang="zh-CN" altLang="en-US" sz="3600" dirty="0">
                <a:solidFill>
                  <a:schemeClr val="tx2"/>
                </a:solidFill>
                <a:latin typeface="楷体_GB2312" panose="02010609030101010101" pitchFamily="49" charset="-122"/>
                <a:ea typeface="楷体_GB2312" panose="02010609030101010101" pitchFamily="49" charset="-122"/>
              </a:rPr>
              <a:t>和</a:t>
            </a:r>
            <a:r>
              <a:rPr lang="en-US" altLang="zh-CN" sz="3600" dirty="0">
                <a:solidFill>
                  <a:schemeClr val="tx2"/>
                </a:solidFill>
                <a:latin typeface="楷体_GB2312" panose="02010609030101010101" pitchFamily="49" charset="-122"/>
                <a:ea typeface="楷体_GB2312" panose="02010609030101010101" pitchFamily="49" charset="-122"/>
              </a:rPr>
              <a:t>z2</a:t>
            </a:r>
            <a:r>
              <a:rPr lang="zh-CN" altLang="en-US" sz="3600" dirty="0">
                <a:solidFill>
                  <a:schemeClr val="tx2"/>
                </a:solidFill>
                <a:latin typeface="楷体_GB2312" panose="02010609030101010101" pitchFamily="49" charset="-122"/>
                <a:ea typeface="楷体_GB2312" panose="02010609030101010101" pitchFamily="49" charset="-122"/>
              </a:rPr>
              <a:t>是上述定义的复数</a:t>
            </a:r>
            <a:endParaRPr lang="zh-CN" altLang="en-US" sz="3600" dirty="0">
              <a:latin typeface="楷体_GB2312" panose="02010609030101010101" pitchFamily="49" charset="-122"/>
              <a:ea typeface="楷体_GB2312" panose="02010609030101010101" pitchFamily="49" charset="-122"/>
            </a:endParaRPr>
          </a:p>
        </p:txBody>
      </p:sp>
      <p:sp>
        <p:nvSpPr>
          <p:cNvPr id="576515" name="Rectangle 3"/>
          <p:cNvSpPr/>
          <p:nvPr/>
        </p:nvSpPr>
        <p:spPr>
          <a:xfrm>
            <a:off x="1416050" y="2209800"/>
            <a:ext cx="6115050" cy="641350"/>
          </a:xfrm>
          <a:prstGeom prst="rect">
            <a:avLst/>
          </a:prstGeom>
          <a:noFill/>
          <a:ln w="9525">
            <a:noFill/>
          </a:ln>
        </p:spPr>
        <p:txBody>
          <a:bodyPr wrap="none">
            <a:spAutoFit/>
          </a:bodyPr>
          <a:lstStyle/>
          <a:p>
            <a:r>
              <a:rPr lang="zh-CN" altLang="en-US" sz="3600" dirty="0">
                <a:solidFill>
                  <a:schemeClr val="tx2"/>
                </a:solidFill>
                <a:latin typeface="楷体_GB2312" panose="02010609030101010101" pitchFamily="49" charset="-122"/>
                <a:ea typeface="楷体_GB2312" panose="02010609030101010101" pitchFamily="49" charset="-122"/>
              </a:rPr>
              <a:t>则 </a:t>
            </a:r>
            <a:r>
              <a:rPr lang="en-US" altLang="zh-CN" sz="3600" dirty="0">
                <a:solidFill>
                  <a:schemeClr val="tx2"/>
                </a:solidFill>
                <a:latin typeface="Times New Roman" panose="02020603050405020304" pitchFamily="18" charset="0"/>
                <a:ea typeface="楷体_GB2312" panose="02010609030101010101" pitchFamily="49" charset="-122"/>
              </a:rPr>
              <a:t>Add(z1, z2, z3) </a:t>
            </a:r>
            <a:r>
              <a:rPr lang="zh-CN" altLang="en-US" sz="3600" dirty="0">
                <a:solidFill>
                  <a:schemeClr val="tx2"/>
                </a:solidFill>
                <a:latin typeface="楷体_GB2312" panose="02010609030101010101" pitchFamily="49" charset="-122"/>
                <a:ea typeface="楷体_GB2312" panose="02010609030101010101" pitchFamily="49" charset="-122"/>
              </a:rPr>
              <a:t>操作的结果</a:t>
            </a:r>
            <a:endParaRPr lang="zh-CN" altLang="en-US" sz="3600" dirty="0">
              <a:solidFill>
                <a:schemeClr val="tx2"/>
              </a:solidFill>
              <a:latin typeface="楷体_GB2312" panose="02010609030101010101" pitchFamily="49" charset="-122"/>
              <a:ea typeface="楷体_GB2312" panose="02010609030101010101" pitchFamily="49" charset="-122"/>
            </a:endParaRPr>
          </a:p>
        </p:txBody>
      </p:sp>
      <p:sp>
        <p:nvSpPr>
          <p:cNvPr id="576516" name="Rectangle 4"/>
          <p:cNvSpPr/>
          <p:nvPr/>
        </p:nvSpPr>
        <p:spPr>
          <a:xfrm>
            <a:off x="3155950" y="4235450"/>
            <a:ext cx="2451100" cy="641350"/>
          </a:xfrm>
          <a:prstGeom prst="rect">
            <a:avLst/>
          </a:prstGeom>
          <a:noFill/>
          <a:ln w="9525">
            <a:noFill/>
          </a:ln>
        </p:spPr>
        <p:txBody>
          <a:bodyPr wrap="none">
            <a:spAutoFit/>
          </a:bodyPr>
          <a:lstStyle/>
          <a:p>
            <a:r>
              <a:rPr lang="en-US" altLang="zh-CN" sz="3600" dirty="0">
                <a:solidFill>
                  <a:schemeClr val="tx2"/>
                </a:solidFill>
                <a:latin typeface="Times New Roman" panose="02020603050405020304" pitchFamily="18" charset="0"/>
                <a:ea typeface="楷体_GB2312" panose="02010609030101010101" pitchFamily="49" charset="-122"/>
              </a:rPr>
              <a:t>z3 = z1 + z2</a:t>
            </a:r>
            <a:endParaRPr lang="en-US" altLang="zh-CN" sz="3600" dirty="0">
              <a:latin typeface="Times New Roman" panose="02020603050405020304" pitchFamily="18" charset="0"/>
              <a:ea typeface="楷体_GB2312" panose="02010609030101010101" pitchFamily="49" charset="-122"/>
            </a:endParaRPr>
          </a:p>
        </p:txBody>
      </p:sp>
      <p:sp>
        <p:nvSpPr>
          <p:cNvPr id="576517" name="Text Box 5"/>
          <p:cNvSpPr txBox="1"/>
          <p:nvPr/>
        </p:nvSpPr>
        <p:spPr>
          <a:xfrm>
            <a:off x="2009775" y="3244850"/>
            <a:ext cx="4298950" cy="641350"/>
          </a:xfrm>
          <a:prstGeom prst="rect">
            <a:avLst/>
          </a:prstGeom>
          <a:noFill/>
          <a:ln w="9525">
            <a:noFill/>
          </a:ln>
        </p:spPr>
        <p:txBody>
          <a:bodyPr wrap="none">
            <a:spAutoFit/>
          </a:bodyPr>
          <a:lstStyle/>
          <a:p>
            <a:r>
              <a:rPr lang="zh-CN" altLang="en-US" sz="3600" dirty="0">
                <a:solidFill>
                  <a:schemeClr val="tx2"/>
                </a:solidFill>
                <a:latin typeface="楷体_GB2312" panose="02010609030101010101" pitchFamily="49" charset="-122"/>
                <a:ea typeface="楷体_GB2312" panose="02010609030101010101" pitchFamily="49" charset="-122"/>
              </a:rPr>
              <a:t>即为用户企求的结果</a:t>
            </a:r>
            <a:endParaRPr lang="zh-CN" altLang="en-US" sz="3600" dirty="0">
              <a:solidFill>
                <a:schemeClr val="tx2"/>
              </a:solidFill>
              <a:latin typeface="楷体_GB2312" panose="02010609030101010101" pitchFamily="49" charset="-122"/>
              <a:ea typeface="楷体_GB2312" panose="02010609030101010101" pitchFamily="49" charset="-122"/>
            </a:endParaRPr>
          </a:p>
        </p:txBody>
      </p:sp>
      <p:sp>
        <p:nvSpPr>
          <p:cNvPr id="2" name="日期占位符 1"/>
          <p:cNvSpPr>
            <a:spLocks noGrp="1"/>
          </p:cNvSpPr>
          <p:nvPr>
            <p:ph type="dt" sz="half" idx="10"/>
          </p:nvPr>
        </p:nvSpPr>
        <p:spPr/>
        <p:txBody>
          <a:bodyPr/>
          <a:lstStyle/>
          <a:p>
            <a:r>
              <a:rPr lang="en-US" altLang="zh-CN"/>
              <a:t>Data Structures and algorithms</a:t>
            </a:r>
            <a:endParaRPr lang="zh-CN" altLang="en-US"/>
          </a:p>
        </p:txBody>
      </p:sp>
      <p:sp>
        <p:nvSpPr>
          <p:cNvPr id="3" name="页脚占位符 2"/>
          <p:cNvSpPr>
            <a:spLocks noGrp="1"/>
          </p:cNvSpPr>
          <p:nvPr>
            <p:ph type="ftr" sz="quarter" idx="11"/>
          </p:nvPr>
        </p:nvSpPr>
        <p:spPr/>
        <p:txBody>
          <a:bodyPr/>
          <a:lstStyle/>
          <a:p>
            <a:r>
              <a:rPr lang="en-US" altLang="zh-CN"/>
              <a:t>Software College Northeastern University</a:t>
            </a:r>
            <a:endParaRPr lang="zh-CN" altLang="en-US"/>
          </a:p>
        </p:txBody>
      </p:sp>
      <p:sp>
        <p:nvSpPr>
          <p:cNvPr id="4" name="灯片编号占位符 3"/>
          <p:cNvSpPr>
            <a:spLocks noGrp="1"/>
          </p:cNvSpPr>
          <p:nvPr>
            <p:ph type="sldNum" sz="quarter" idx="12"/>
          </p:nvPr>
        </p:nvSpPr>
        <p:spPr/>
        <p:txBody>
          <a:bodyPr/>
          <a:lstStyle/>
          <a:p>
            <a:fld id="{6E1C0148-8E4B-4B2F-95CE-20B4709700AE}" type="slidenum">
              <a:rPr lang="zh-CN" altLang="en-US" smtClean="0"/>
            </a:fld>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76514"/>
                                        </p:tgtEl>
                                        <p:attrNameLst>
                                          <p:attrName>style.visibility</p:attrName>
                                        </p:attrNameLst>
                                      </p:cBhvr>
                                      <p:to>
                                        <p:strVal val="visible"/>
                                      </p:to>
                                    </p:set>
                                    <p:animEffect transition="in" filter="wipe(left)">
                                      <p:cBhvr>
                                        <p:cTn id="7" dur="500"/>
                                        <p:tgtEl>
                                          <p:spTgt spid="57651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76515"/>
                                        </p:tgtEl>
                                        <p:attrNameLst>
                                          <p:attrName>style.visibility</p:attrName>
                                        </p:attrNameLst>
                                      </p:cBhvr>
                                      <p:to>
                                        <p:strVal val="visible"/>
                                      </p:to>
                                    </p:set>
                                    <p:animEffect transition="in" filter="wipe(left)">
                                      <p:cBhvr>
                                        <p:cTn id="12" dur="500"/>
                                        <p:tgtEl>
                                          <p:spTgt spid="57651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76517"/>
                                        </p:tgtEl>
                                        <p:attrNameLst>
                                          <p:attrName>style.visibility</p:attrName>
                                        </p:attrNameLst>
                                      </p:cBhvr>
                                      <p:to>
                                        <p:strVal val="visible"/>
                                      </p:to>
                                    </p:set>
                                    <p:animEffect transition="in" filter="wipe(left)">
                                      <p:cBhvr>
                                        <p:cTn id="17" dur="500"/>
                                        <p:tgtEl>
                                          <p:spTgt spid="57651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76516"/>
                                        </p:tgtEl>
                                        <p:attrNameLst>
                                          <p:attrName>style.visibility</p:attrName>
                                        </p:attrNameLst>
                                      </p:cBhvr>
                                      <p:to>
                                        <p:strVal val="visible"/>
                                      </p:to>
                                    </p:set>
                                    <p:animEffect transition="in" filter="wipe(left)">
                                      <p:cBhvr>
                                        <p:cTn id="22" dur="500"/>
                                        <p:tgtEl>
                                          <p:spTgt spid="5765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6514" grpId="0"/>
      <p:bldP spid="576515" grpId="0"/>
      <p:bldP spid="576516" grpId="0"/>
      <p:bldP spid="576517"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7538" name="Text Box 2"/>
          <p:cNvSpPr txBox="1"/>
          <p:nvPr/>
        </p:nvSpPr>
        <p:spPr>
          <a:xfrm>
            <a:off x="1524000" y="228600"/>
            <a:ext cx="5200650" cy="762000"/>
          </a:xfrm>
          <a:prstGeom prst="rect">
            <a:avLst/>
          </a:prstGeom>
          <a:noFill/>
          <a:ln w="9525">
            <a:noFill/>
          </a:ln>
        </p:spPr>
        <p:txBody>
          <a:bodyPr wrap="none">
            <a:spAutoFit/>
          </a:bodyPr>
          <a:lstStyle/>
          <a:p>
            <a:r>
              <a:rPr lang="en-US" altLang="zh-CN" sz="4400" b="1" dirty="0">
                <a:solidFill>
                  <a:srgbClr val="FF0000"/>
                </a:solidFill>
                <a:latin typeface="Times New Roman" panose="02020603050405020304" pitchFamily="18" charset="0"/>
                <a:ea typeface="楷体_GB2312" panose="02010609030101010101" pitchFamily="49" charset="-122"/>
              </a:rPr>
              <a:t>ADT </a:t>
            </a:r>
            <a:r>
              <a:rPr lang="zh-CN" altLang="en-US" sz="4000" dirty="0">
                <a:latin typeface="Times New Roman" panose="02020603050405020304" pitchFamily="18" charset="0"/>
                <a:ea typeface="楷体_GB2312" panose="02010609030101010101" pitchFamily="49" charset="-122"/>
              </a:rPr>
              <a:t>有</a:t>
            </a:r>
            <a:r>
              <a:rPr lang="zh-CN" altLang="en-US" sz="4000" dirty="0">
                <a:highlight>
                  <a:srgbClr val="FFFF00"/>
                </a:highlight>
                <a:latin typeface="Times New Roman" panose="02020603050405020304" pitchFamily="18" charset="0"/>
                <a:ea typeface="楷体_GB2312" panose="02010609030101010101" pitchFamily="49" charset="-122"/>
              </a:rPr>
              <a:t>两个重要特征</a:t>
            </a:r>
            <a:r>
              <a:rPr lang="en-US" altLang="zh-CN" sz="4000" dirty="0">
                <a:highlight>
                  <a:srgbClr val="FFFF00"/>
                </a:highlight>
                <a:latin typeface="Times New Roman" panose="02020603050405020304" pitchFamily="18" charset="0"/>
                <a:ea typeface="楷体_GB2312" panose="02010609030101010101" pitchFamily="49" charset="-122"/>
              </a:rPr>
              <a:t>:</a:t>
            </a:r>
            <a:endParaRPr lang="en-US" altLang="zh-CN" sz="4000" dirty="0">
              <a:highlight>
                <a:srgbClr val="FFFF00"/>
              </a:highlight>
              <a:latin typeface="Times New Roman" panose="02020603050405020304" pitchFamily="18" charset="0"/>
              <a:ea typeface="楷体_GB2312" panose="02010609030101010101" pitchFamily="49" charset="-122"/>
            </a:endParaRPr>
          </a:p>
        </p:txBody>
      </p:sp>
      <p:sp>
        <p:nvSpPr>
          <p:cNvPr id="577539" name="Text Box 3"/>
          <p:cNvSpPr txBox="1"/>
          <p:nvPr/>
        </p:nvSpPr>
        <p:spPr>
          <a:xfrm>
            <a:off x="508000" y="1203325"/>
            <a:ext cx="2695575" cy="584775"/>
          </a:xfrm>
          <a:prstGeom prst="rect">
            <a:avLst/>
          </a:prstGeom>
          <a:noFill/>
          <a:ln w="9525">
            <a:noFill/>
          </a:ln>
        </p:spPr>
        <p:txBody>
          <a:bodyPr>
            <a:spAutoFit/>
          </a:bodyPr>
          <a:lstStyle/>
          <a:p>
            <a:r>
              <a:rPr lang="zh-CN" altLang="en-US" sz="3200" b="1" dirty="0">
                <a:solidFill>
                  <a:srgbClr val="000080"/>
                </a:solidFill>
                <a:latin typeface="楷体_GB2312" panose="02010609030101010101" pitchFamily="49" charset="-122"/>
                <a:ea typeface="楷体_GB2312" panose="02010609030101010101" pitchFamily="49" charset="-122"/>
              </a:rPr>
              <a:t>数据抽象</a:t>
            </a:r>
            <a:endParaRPr lang="zh-CN" altLang="en-US" sz="3200" b="1" dirty="0">
              <a:solidFill>
                <a:srgbClr val="000080"/>
              </a:solidFill>
              <a:latin typeface="楷体_GB2312" panose="02010609030101010101" pitchFamily="49" charset="-122"/>
              <a:ea typeface="楷体_GB2312" panose="02010609030101010101" pitchFamily="49" charset="-122"/>
            </a:endParaRPr>
          </a:p>
        </p:txBody>
      </p:sp>
      <p:sp>
        <p:nvSpPr>
          <p:cNvPr id="577540" name="Text Box 4"/>
          <p:cNvSpPr txBox="1"/>
          <p:nvPr/>
        </p:nvSpPr>
        <p:spPr>
          <a:xfrm>
            <a:off x="898525" y="1158875"/>
            <a:ext cx="8016875" cy="2377574"/>
          </a:xfrm>
          <a:prstGeom prst="rect">
            <a:avLst/>
          </a:prstGeom>
          <a:noFill/>
          <a:ln w="9525">
            <a:noFill/>
          </a:ln>
        </p:spPr>
        <p:txBody>
          <a:bodyPr>
            <a:spAutoFit/>
          </a:bodyPr>
          <a:lstStyle/>
          <a:p>
            <a:pPr>
              <a:lnSpc>
                <a:spcPct val="120000"/>
              </a:lnSpc>
            </a:pPr>
            <a:r>
              <a:rPr lang="zh-CN" altLang="en-US" sz="3200" dirty="0">
                <a:latin typeface="楷体_GB2312" panose="02010609030101010101" pitchFamily="49" charset="-122"/>
                <a:ea typeface="楷体_GB2312" panose="02010609030101010101" pitchFamily="49" charset="-122"/>
              </a:rPr>
              <a:t>        </a:t>
            </a:r>
            <a:r>
              <a:rPr lang="zh-CN" altLang="en-US" sz="3200" dirty="0">
                <a:solidFill>
                  <a:schemeClr val="tx2"/>
                </a:solidFill>
                <a:latin typeface="楷体_GB2312" panose="02010609030101010101" pitchFamily="49" charset="-122"/>
                <a:ea typeface="楷体_GB2312" panose="02010609030101010101" pitchFamily="49" charset="-122"/>
              </a:rPr>
              <a:t>用</a:t>
            </a:r>
            <a:r>
              <a:rPr lang="en-US" altLang="zh-CN" sz="3200" b="1" dirty="0">
                <a:solidFill>
                  <a:schemeClr val="tx2"/>
                </a:solidFill>
                <a:latin typeface="Times New Roman" panose="02020603050405020304" pitchFamily="18" charset="0"/>
                <a:ea typeface="楷体_GB2312" panose="02010609030101010101" pitchFamily="49" charset="-122"/>
              </a:rPr>
              <a:t>ADT</a:t>
            </a:r>
            <a:r>
              <a:rPr lang="zh-CN" altLang="en-US" sz="3200" dirty="0">
                <a:solidFill>
                  <a:schemeClr val="tx2"/>
                </a:solidFill>
                <a:latin typeface="楷体_GB2312" panose="02010609030101010101" pitchFamily="49" charset="-122"/>
                <a:ea typeface="楷体_GB2312" panose="02010609030101010101" pitchFamily="49" charset="-122"/>
              </a:rPr>
              <a:t>描述程序处理的实体时，强调的是其</a:t>
            </a:r>
            <a:r>
              <a:rPr lang="zh-CN" altLang="en-US" sz="3200" b="1" dirty="0">
                <a:solidFill>
                  <a:schemeClr val="tx2"/>
                </a:solidFill>
                <a:latin typeface="楷体_GB2312" panose="02010609030101010101" pitchFamily="49" charset="-122"/>
                <a:ea typeface="楷体_GB2312" panose="02010609030101010101" pitchFamily="49" charset="-122"/>
              </a:rPr>
              <a:t>本质的特征</a:t>
            </a:r>
            <a:r>
              <a:rPr lang="zh-CN" altLang="en-US" sz="3200" dirty="0">
                <a:solidFill>
                  <a:schemeClr val="tx2"/>
                </a:solidFill>
                <a:latin typeface="楷体_GB2312" panose="02010609030101010101" pitchFamily="49" charset="-122"/>
                <a:ea typeface="楷体_GB2312" panose="02010609030101010101" pitchFamily="49" charset="-122"/>
              </a:rPr>
              <a:t>、</a:t>
            </a:r>
            <a:r>
              <a:rPr lang="zh-CN" altLang="en-US" sz="3200" b="1" dirty="0">
                <a:solidFill>
                  <a:schemeClr val="tx2"/>
                </a:solidFill>
                <a:latin typeface="楷体_GB2312" panose="02010609030101010101" pitchFamily="49" charset="-122"/>
                <a:ea typeface="楷体_GB2312" panose="02010609030101010101" pitchFamily="49" charset="-122"/>
              </a:rPr>
              <a:t>其所能完成的功能</a:t>
            </a:r>
            <a:r>
              <a:rPr lang="zh-CN" altLang="en-US" sz="3200" dirty="0">
                <a:solidFill>
                  <a:schemeClr val="tx2"/>
                </a:solidFill>
                <a:latin typeface="楷体_GB2312" panose="02010609030101010101" pitchFamily="49" charset="-122"/>
                <a:ea typeface="楷体_GB2312" panose="02010609030101010101" pitchFamily="49" charset="-122"/>
              </a:rPr>
              <a:t>以及它和</a:t>
            </a:r>
            <a:r>
              <a:rPr lang="zh-CN" altLang="en-US" sz="3200" b="1" dirty="0">
                <a:solidFill>
                  <a:schemeClr val="tx2"/>
                </a:solidFill>
                <a:latin typeface="楷体_GB2312" panose="02010609030101010101" pitchFamily="49" charset="-122"/>
                <a:ea typeface="楷体_GB2312" panose="02010609030101010101" pitchFamily="49" charset="-122"/>
              </a:rPr>
              <a:t>外部用户的接口</a:t>
            </a:r>
            <a:r>
              <a:rPr lang="zh-CN" altLang="en-US" sz="3200" dirty="0">
                <a:solidFill>
                  <a:schemeClr val="tx2"/>
                </a:solidFill>
                <a:latin typeface="楷体_GB2312" panose="02010609030101010101" pitchFamily="49" charset="-122"/>
                <a:ea typeface="楷体_GB2312" panose="02010609030101010101" pitchFamily="49" charset="-122"/>
              </a:rPr>
              <a:t>（即</a:t>
            </a:r>
            <a:r>
              <a:rPr lang="zh-CN" altLang="en-US" sz="3200" b="1" dirty="0">
                <a:solidFill>
                  <a:schemeClr val="tx2"/>
                </a:solidFill>
                <a:latin typeface="楷体_GB2312" panose="02010609030101010101" pitchFamily="49" charset="-122"/>
                <a:ea typeface="楷体_GB2312" panose="02010609030101010101" pitchFamily="49" charset="-122"/>
              </a:rPr>
              <a:t>外界使用它的方法</a:t>
            </a:r>
            <a:r>
              <a:rPr lang="zh-CN" altLang="en-US" sz="3200" dirty="0">
                <a:solidFill>
                  <a:schemeClr val="tx2"/>
                </a:solidFill>
                <a:latin typeface="楷体_GB2312" panose="02010609030101010101" pitchFamily="49" charset="-122"/>
                <a:ea typeface="楷体_GB2312" panose="02010609030101010101" pitchFamily="49" charset="-122"/>
              </a:rPr>
              <a:t>）。</a:t>
            </a:r>
            <a:endParaRPr lang="zh-CN" altLang="en-US" sz="3200" dirty="0">
              <a:solidFill>
                <a:schemeClr val="tx2"/>
              </a:solidFill>
              <a:latin typeface="楷体_GB2312" panose="02010609030101010101" pitchFamily="49" charset="-122"/>
              <a:ea typeface="楷体_GB2312" panose="02010609030101010101" pitchFamily="49" charset="-122"/>
            </a:endParaRPr>
          </a:p>
        </p:txBody>
      </p:sp>
      <p:sp>
        <p:nvSpPr>
          <p:cNvPr id="577541" name="Text Box 5"/>
          <p:cNvSpPr txBox="1"/>
          <p:nvPr/>
        </p:nvSpPr>
        <p:spPr>
          <a:xfrm>
            <a:off x="533400" y="4175125"/>
            <a:ext cx="2670175" cy="584775"/>
          </a:xfrm>
          <a:prstGeom prst="rect">
            <a:avLst/>
          </a:prstGeom>
          <a:noFill/>
          <a:ln w="9525">
            <a:noFill/>
          </a:ln>
        </p:spPr>
        <p:txBody>
          <a:bodyPr>
            <a:spAutoFit/>
          </a:bodyPr>
          <a:lstStyle/>
          <a:p>
            <a:r>
              <a:rPr lang="zh-CN" altLang="en-US" sz="3200" b="1" dirty="0">
                <a:solidFill>
                  <a:srgbClr val="000080"/>
                </a:solidFill>
                <a:latin typeface="楷体_GB2312" panose="02010609030101010101" pitchFamily="49" charset="-122"/>
                <a:ea typeface="楷体_GB2312" panose="02010609030101010101" pitchFamily="49" charset="-122"/>
              </a:rPr>
              <a:t>数据封装</a:t>
            </a:r>
            <a:endParaRPr lang="zh-CN" altLang="en-US" sz="3200" b="1" dirty="0">
              <a:solidFill>
                <a:srgbClr val="000080"/>
              </a:solidFill>
              <a:latin typeface="楷体_GB2312" panose="02010609030101010101" pitchFamily="49" charset="-122"/>
              <a:ea typeface="楷体_GB2312" panose="02010609030101010101" pitchFamily="49" charset="-122"/>
            </a:endParaRPr>
          </a:p>
        </p:txBody>
      </p:sp>
      <p:sp>
        <p:nvSpPr>
          <p:cNvPr id="577542" name="Text Box 6"/>
          <p:cNvSpPr txBox="1"/>
          <p:nvPr/>
        </p:nvSpPr>
        <p:spPr>
          <a:xfrm>
            <a:off x="914400" y="4038600"/>
            <a:ext cx="7848600" cy="2011705"/>
          </a:xfrm>
          <a:prstGeom prst="rect">
            <a:avLst/>
          </a:prstGeom>
          <a:noFill/>
          <a:ln w="9525">
            <a:noFill/>
          </a:ln>
        </p:spPr>
        <p:txBody>
          <a:bodyPr>
            <a:spAutoFit/>
          </a:bodyPr>
          <a:lstStyle/>
          <a:p>
            <a:pPr>
              <a:lnSpc>
                <a:spcPct val="135000"/>
              </a:lnSpc>
            </a:pPr>
            <a:r>
              <a:rPr lang="zh-CN" altLang="en-US" sz="3200" dirty="0">
                <a:latin typeface="楷体_GB2312" panose="02010609030101010101" pitchFamily="49" charset="-122"/>
                <a:ea typeface="楷体_GB2312" panose="02010609030101010101" pitchFamily="49" charset="-122"/>
              </a:rPr>
              <a:t>        </a:t>
            </a:r>
            <a:r>
              <a:rPr lang="zh-CN" altLang="en-US" sz="3200" dirty="0">
                <a:solidFill>
                  <a:schemeClr val="tx2"/>
                </a:solidFill>
                <a:latin typeface="楷体_GB2312" panose="02010609030101010101" pitchFamily="49" charset="-122"/>
                <a:ea typeface="楷体_GB2312" panose="02010609030101010101" pitchFamily="49" charset="-122"/>
              </a:rPr>
              <a:t>将实体的</a:t>
            </a:r>
            <a:r>
              <a:rPr lang="zh-CN" altLang="en-US" sz="3200" b="1" dirty="0">
                <a:solidFill>
                  <a:schemeClr val="tx2"/>
                </a:solidFill>
                <a:latin typeface="楷体_GB2312" panose="02010609030101010101" pitchFamily="49" charset="-122"/>
                <a:ea typeface="楷体_GB2312" panose="02010609030101010101" pitchFamily="49" charset="-122"/>
              </a:rPr>
              <a:t>外部特性和其内部实现细节分离</a:t>
            </a:r>
            <a:r>
              <a:rPr lang="zh-CN" altLang="en-US" sz="3200" dirty="0">
                <a:solidFill>
                  <a:schemeClr val="tx2"/>
                </a:solidFill>
                <a:latin typeface="楷体_GB2312" panose="02010609030101010101" pitchFamily="49" charset="-122"/>
                <a:ea typeface="楷体_GB2312" panose="02010609030101010101" pitchFamily="49" charset="-122"/>
              </a:rPr>
              <a:t>，并且</a:t>
            </a:r>
            <a:r>
              <a:rPr lang="zh-CN" altLang="en-US" sz="3200" b="1" dirty="0">
                <a:solidFill>
                  <a:schemeClr val="tx2"/>
                </a:solidFill>
                <a:latin typeface="楷体_GB2312" panose="02010609030101010101" pitchFamily="49" charset="-122"/>
                <a:ea typeface="楷体_GB2312" panose="02010609030101010101" pitchFamily="49" charset="-122"/>
              </a:rPr>
              <a:t>对外部用户隐藏</a:t>
            </a:r>
            <a:r>
              <a:rPr lang="zh-CN" altLang="en-US" sz="3200" b="1" dirty="0">
                <a:solidFill>
                  <a:schemeClr val="tx2"/>
                </a:solidFill>
                <a:latin typeface="Times New Roman" panose="02020603050405020304" pitchFamily="18" charset="0"/>
                <a:ea typeface="楷体_GB2312" panose="02010609030101010101" pitchFamily="49" charset="-122"/>
              </a:rPr>
              <a:t>其内部实现细节。</a:t>
            </a:r>
            <a:endParaRPr lang="zh-CN" altLang="en-US" sz="3200" b="1" dirty="0">
              <a:solidFill>
                <a:schemeClr val="tx2"/>
              </a:solidFill>
              <a:latin typeface="Times New Roman" panose="02020603050405020304" pitchFamily="18" charset="0"/>
            </a:endParaRPr>
          </a:p>
        </p:txBody>
      </p:sp>
      <p:sp>
        <p:nvSpPr>
          <p:cNvPr id="2" name="日期占位符 1"/>
          <p:cNvSpPr>
            <a:spLocks noGrp="1"/>
          </p:cNvSpPr>
          <p:nvPr>
            <p:ph type="dt" sz="half" idx="10"/>
          </p:nvPr>
        </p:nvSpPr>
        <p:spPr/>
        <p:txBody>
          <a:bodyPr/>
          <a:lstStyle/>
          <a:p>
            <a:r>
              <a:rPr lang="en-US" altLang="zh-CN"/>
              <a:t>Data Structures and algorithms</a:t>
            </a:r>
            <a:endParaRPr lang="zh-CN" altLang="en-US"/>
          </a:p>
        </p:txBody>
      </p:sp>
      <p:sp>
        <p:nvSpPr>
          <p:cNvPr id="3" name="页脚占位符 2"/>
          <p:cNvSpPr>
            <a:spLocks noGrp="1"/>
          </p:cNvSpPr>
          <p:nvPr>
            <p:ph type="ftr" sz="quarter" idx="11"/>
          </p:nvPr>
        </p:nvSpPr>
        <p:spPr/>
        <p:txBody>
          <a:bodyPr/>
          <a:lstStyle/>
          <a:p>
            <a:r>
              <a:rPr lang="en-US" altLang="zh-CN"/>
              <a:t>Software College Northeastern University</a:t>
            </a:r>
            <a:endParaRPr lang="zh-CN" altLang="en-US"/>
          </a:p>
        </p:txBody>
      </p:sp>
      <p:sp>
        <p:nvSpPr>
          <p:cNvPr id="4" name="灯片编号占位符 3"/>
          <p:cNvSpPr>
            <a:spLocks noGrp="1"/>
          </p:cNvSpPr>
          <p:nvPr>
            <p:ph type="sldNum" sz="quarter" idx="12"/>
          </p:nvPr>
        </p:nvSpPr>
        <p:spPr/>
        <p:txBody>
          <a:bodyPr/>
          <a:lstStyle/>
          <a:p>
            <a:fld id="{6E1C0148-8E4B-4B2F-95CE-20B4709700AE}" type="slidenum">
              <a:rPr lang="zh-CN" altLang="en-US" smtClean="0"/>
            </a:fld>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577538"/>
                                        </p:tgtEl>
                                        <p:attrNameLst>
                                          <p:attrName>style.visibility</p:attrName>
                                        </p:attrNameLst>
                                      </p:cBhvr>
                                      <p:to>
                                        <p:strVal val="visible"/>
                                      </p:to>
                                    </p:set>
                                    <p:animEffect transition="in" filter="slide(fromTop)">
                                      <p:cBhvr>
                                        <p:cTn id="7" dur="500"/>
                                        <p:tgtEl>
                                          <p:spTgt spid="57753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77539"/>
                                        </p:tgtEl>
                                        <p:attrNameLst>
                                          <p:attrName>style.visibility</p:attrName>
                                        </p:attrNameLst>
                                      </p:cBhvr>
                                      <p:to>
                                        <p:strVal val="visible"/>
                                      </p:to>
                                    </p:set>
                                    <p:animEffect transition="in" filter="wipe(left)">
                                      <p:cBhvr>
                                        <p:cTn id="12" dur="500"/>
                                        <p:tgtEl>
                                          <p:spTgt spid="57753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77541"/>
                                        </p:tgtEl>
                                        <p:attrNameLst>
                                          <p:attrName>style.visibility</p:attrName>
                                        </p:attrNameLst>
                                      </p:cBhvr>
                                      <p:to>
                                        <p:strVal val="visible"/>
                                      </p:to>
                                    </p:set>
                                    <p:animEffect transition="in" filter="wipe(left)">
                                      <p:cBhvr>
                                        <p:cTn id="17" dur="500"/>
                                        <p:tgtEl>
                                          <p:spTgt spid="577541"/>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577540"/>
                                        </p:tgtEl>
                                        <p:attrNameLst>
                                          <p:attrName>style.visibility</p:attrName>
                                        </p:attrNameLst>
                                      </p:cBhvr>
                                      <p:to>
                                        <p:strVal val="visible"/>
                                      </p:to>
                                    </p:set>
                                    <p:animEffect transition="in" filter="strips(downRight)">
                                      <p:cBhvr>
                                        <p:cTn id="22" dur="500"/>
                                        <p:tgtEl>
                                          <p:spTgt spid="577540"/>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6" fill="hold" grpId="0" nodeType="clickEffect">
                                  <p:stCondLst>
                                    <p:cond delay="0"/>
                                  </p:stCondLst>
                                  <p:childTnLst>
                                    <p:set>
                                      <p:cBhvr>
                                        <p:cTn id="26" dur="1" fill="hold">
                                          <p:stCondLst>
                                            <p:cond delay="0"/>
                                          </p:stCondLst>
                                        </p:cTn>
                                        <p:tgtEl>
                                          <p:spTgt spid="577542"/>
                                        </p:tgtEl>
                                        <p:attrNameLst>
                                          <p:attrName>style.visibility</p:attrName>
                                        </p:attrNameLst>
                                      </p:cBhvr>
                                      <p:to>
                                        <p:strVal val="visible"/>
                                      </p:to>
                                    </p:set>
                                    <p:animEffect transition="in" filter="strips(downRight)">
                                      <p:cBhvr>
                                        <p:cTn id="27" dur="500"/>
                                        <p:tgtEl>
                                          <p:spTgt spid="5775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7538" grpId="0"/>
      <p:bldP spid="577539" grpId="0"/>
      <p:bldP spid="577540" grpId="0"/>
      <p:bldP spid="577541" grpId="0"/>
      <p:bldP spid="577542"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p:cNvSpPr>
          <p:nvPr>
            <p:ph idx="1"/>
          </p:nvPr>
        </p:nvSpPr>
        <p:spPr/>
        <p:txBody>
          <a:bodyPr vert="horz" wrap="square" lIns="91436" tIns="45718" rIns="91436" bIns="45718" anchor="t"/>
          <a:lstStyle/>
          <a:p>
            <a:r>
              <a:rPr lang="zh-CN" altLang="en-US" dirty="0">
                <a:latin typeface="楷体_GB2312" panose="02010609030101010101" pitchFamily="49" charset="-122"/>
                <a:ea typeface="楷体_GB2312" panose="02010609030101010101" pitchFamily="49" charset="-122"/>
              </a:rPr>
              <a:t>抽象数据类型和数据类型实质上是一个概念。</a:t>
            </a:r>
            <a:r>
              <a:rPr lang="zh-CN" altLang="en-US" dirty="0">
                <a:ea typeface="楷体_GB2312" panose="02010609030101010101" pitchFamily="49" charset="-122"/>
              </a:rPr>
              <a:t>“</a:t>
            </a:r>
            <a:r>
              <a:rPr lang="zh-CN" altLang="en-US" dirty="0">
                <a:latin typeface="楷体_GB2312" panose="02010609030101010101" pitchFamily="49" charset="-122"/>
                <a:ea typeface="楷体_GB2312" panose="02010609030101010101" pitchFamily="49" charset="-122"/>
              </a:rPr>
              <a:t>抽象</a:t>
            </a:r>
            <a:r>
              <a:rPr lang="zh-CN" altLang="en-US" dirty="0">
                <a:ea typeface="楷体_GB2312" panose="02010609030101010101" pitchFamily="49" charset="-122"/>
              </a:rPr>
              <a:t>”</a:t>
            </a:r>
            <a:r>
              <a:rPr lang="zh-CN" altLang="en-US" dirty="0">
                <a:latin typeface="楷体_GB2312" panose="02010609030101010101" pitchFamily="49" charset="-122"/>
                <a:ea typeface="楷体_GB2312" panose="02010609030101010101" pitchFamily="49" charset="-122"/>
              </a:rPr>
              <a:t>的意义在于数据类型的数学抽象特性。 </a:t>
            </a:r>
            <a:endParaRPr lang="zh-CN" altLang="en-US" dirty="0">
              <a:latin typeface="楷体_GB2312" panose="02010609030101010101" pitchFamily="49" charset="-122"/>
              <a:ea typeface="楷体_GB2312" panose="02010609030101010101" pitchFamily="49" charset="-122"/>
            </a:endParaRPr>
          </a:p>
          <a:p>
            <a:r>
              <a:rPr lang="zh-CN" altLang="en-US" dirty="0">
                <a:latin typeface="楷体_GB2312" panose="02010609030101010101" pitchFamily="49" charset="-122"/>
                <a:ea typeface="楷体_GB2312" panose="02010609030101010101" pitchFamily="49" charset="-122"/>
              </a:rPr>
              <a:t>另一方面，抽象数据类型的范畴更广，它不再局限于各处理器中已定义并实现的数据类型，还包括用户在设计软件系统时自己定义的数据类型。</a:t>
            </a:r>
            <a:endParaRPr lang="zh-CN" altLang="en-US" dirty="0">
              <a:latin typeface="楷体_GB2312" panose="02010609030101010101" pitchFamily="49" charset="-122"/>
              <a:ea typeface="楷体_GB2312" panose="02010609030101010101" pitchFamily="49" charset="-122"/>
            </a:endParaRPr>
          </a:p>
        </p:txBody>
      </p:sp>
      <p:sp>
        <p:nvSpPr>
          <p:cNvPr id="578563" name="Text Box 3"/>
          <p:cNvSpPr>
            <a:spLocks noGrp="1"/>
          </p:cNvSpPr>
          <p:nvPr>
            <p:ph type="title"/>
          </p:nvPr>
        </p:nvSpPr>
        <p:spPr/>
        <p:txBody>
          <a:bodyPr vert="horz" wrap="square" lIns="91440" tIns="45720" rIns="91440" bIns="45720" anchor="b"/>
          <a:lstStyle/>
          <a:p>
            <a:r>
              <a:rPr lang="en-US" altLang="zh-CN" b="0" dirty="0">
                <a:latin typeface="楷体_GB2312" panose="02010609030101010101" pitchFamily="49" charset="-122"/>
                <a:ea typeface="楷体_GB2312" panose="02010609030101010101" pitchFamily="49" charset="-122"/>
              </a:rPr>
              <a:t>ADT </a:t>
            </a:r>
            <a:r>
              <a:rPr lang="zh-CN" altLang="en-US" dirty="0">
                <a:latin typeface="楷体_GB2312" panose="02010609030101010101" pitchFamily="49" charset="-122"/>
                <a:ea typeface="楷体_GB2312" panose="02010609030101010101" pitchFamily="49" charset="-122"/>
              </a:rPr>
              <a:t>与数据类型的关系 </a:t>
            </a:r>
            <a:endParaRPr lang="zh-CN" altLang="en-US" dirty="0">
              <a:latin typeface="楷体_GB2312" panose="02010609030101010101" pitchFamily="49" charset="-122"/>
              <a:ea typeface="楷体_GB2312" panose="02010609030101010101" pitchFamily="49" charset="-122"/>
            </a:endParaRPr>
          </a:p>
        </p:txBody>
      </p:sp>
      <p:sp>
        <p:nvSpPr>
          <p:cNvPr id="2" name="日期占位符 1"/>
          <p:cNvSpPr>
            <a:spLocks noGrp="1"/>
          </p:cNvSpPr>
          <p:nvPr>
            <p:ph type="dt" sz="half" idx="10"/>
          </p:nvPr>
        </p:nvSpPr>
        <p:spPr/>
        <p:txBody>
          <a:bodyPr/>
          <a:lstStyle/>
          <a:p>
            <a:r>
              <a:rPr lang="en-US" altLang="zh-CN"/>
              <a:t>Data Structures and algorithms</a:t>
            </a:r>
            <a:endParaRPr lang="zh-CN" altLang="en-US"/>
          </a:p>
        </p:txBody>
      </p:sp>
      <p:sp>
        <p:nvSpPr>
          <p:cNvPr id="3" name="页脚占位符 2"/>
          <p:cNvSpPr>
            <a:spLocks noGrp="1"/>
          </p:cNvSpPr>
          <p:nvPr>
            <p:ph type="ftr" sz="quarter" idx="11"/>
          </p:nvPr>
        </p:nvSpPr>
        <p:spPr/>
        <p:txBody>
          <a:bodyPr/>
          <a:lstStyle/>
          <a:p>
            <a:r>
              <a:rPr lang="en-US" altLang="zh-CN"/>
              <a:t>Software College Northeastern University</a:t>
            </a:r>
            <a:endParaRPr lang="zh-CN" altLang="en-US"/>
          </a:p>
        </p:txBody>
      </p:sp>
      <p:sp>
        <p:nvSpPr>
          <p:cNvPr id="4" name="灯片编号占位符 3"/>
          <p:cNvSpPr>
            <a:spLocks noGrp="1"/>
          </p:cNvSpPr>
          <p:nvPr>
            <p:ph type="sldNum" sz="quarter" idx="12"/>
          </p:nvPr>
        </p:nvSpPr>
        <p:spPr/>
        <p:txBody>
          <a:bodyPr/>
          <a:lstStyle/>
          <a:p>
            <a:fld id="{6E1C0148-8E4B-4B2F-95CE-20B4709700AE}" type="slidenum">
              <a:rPr lang="zh-CN" altLang="en-US" smtClean="0"/>
            </a:fld>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578563"/>
                                        </p:tgtEl>
                                        <p:attrNameLst>
                                          <p:attrName>style.visibility</p:attrName>
                                        </p:attrNameLst>
                                      </p:cBhvr>
                                      <p:to>
                                        <p:strVal val="visible"/>
                                      </p:to>
                                    </p:set>
                                    <p:animEffect transition="in" filter="slide(fromTop)">
                                      <p:cBhvr>
                                        <p:cTn id="7" dur="500"/>
                                        <p:tgtEl>
                                          <p:spTgt spid="5785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8563"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9586" name="Text Box 2"/>
          <p:cNvSpPr txBox="1"/>
          <p:nvPr/>
        </p:nvSpPr>
        <p:spPr>
          <a:xfrm>
            <a:off x="1447800" y="228600"/>
            <a:ext cx="6913563" cy="762000"/>
          </a:xfrm>
          <a:prstGeom prst="rect">
            <a:avLst/>
          </a:prstGeom>
          <a:noFill/>
          <a:ln w="9525">
            <a:noFill/>
          </a:ln>
        </p:spPr>
        <p:txBody>
          <a:bodyPr>
            <a:spAutoFit/>
          </a:bodyPr>
          <a:lstStyle/>
          <a:p>
            <a:r>
              <a:rPr lang="zh-CN" altLang="en-US" sz="4400" b="1" dirty="0">
                <a:solidFill>
                  <a:srgbClr val="FF0000"/>
                </a:solidFill>
                <a:latin typeface="楷体_GB2312" panose="02010609030101010101" pitchFamily="49" charset="-122"/>
                <a:ea typeface="楷体_GB2312" panose="02010609030101010101" pitchFamily="49" charset="-122"/>
              </a:rPr>
              <a:t>抽象数据类型的描述方法</a:t>
            </a:r>
            <a:endParaRPr lang="zh-CN" altLang="en-US" sz="2400" b="1" dirty="0">
              <a:latin typeface="楷体_GB2312" panose="02010609030101010101" pitchFamily="49" charset="-122"/>
              <a:ea typeface="楷体_GB2312" panose="02010609030101010101" pitchFamily="49" charset="-122"/>
            </a:endParaRPr>
          </a:p>
        </p:txBody>
      </p:sp>
      <p:sp>
        <p:nvSpPr>
          <p:cNvPr id="579587" name="Text Box 3"/>
          <p:cNvSpPr txBox="1"/>
          <p:nvPr/>
        </p:nvSpPr>
        <p:spPr>
          <a:xfrm>
            <a:off x="0" y="1676400"/>
            <a:ext cx="9601200" cy="3064300"/>
          </a:xfrm>
          <a:prstGeom prst="rect">
            <a:avLst/>
          </a:prstGeom>
          <a:noFill/>
          <a:ln w="9525">
            <a:noFill/>
          </a:ln>
        </p:spPr>
        <p:txBody>
          <a:bodyPr>
            <a:spAutoFit/>
          </a:bodyPr>
          <a:lstStyle/>
          <a:p>
            <a:r>
              <a:rPr lang="zh-CN" altLang="en-US" sz="3200" dirty="0">
                <a:solidFill>
                  <a:schemeClr val="tx2"/>
                </a:solidFill>
                <a:latin typeface="楷体_GB2312" panose="02010609030101010101" pitchFamily="49" charset="-122"/>
                <a:ea typeface="楷体_GB2312" panose="02010609030101010101" pitchFamily="49" charset="-122"/>
              </a:rPr>
              <a:t>抽象数据类型可用</a:t>
            </a:r>
            <a:r>
              <a:rPr lang="zh-CN" altLang="en-US" sz="3200" b="1" dirty="0">
                <a:solidFill>
                  <a:schemeClr val="tx2"/>
                </a:solidFill>
                <a:highlight>
                  <a:srgbClr val="FFFF00"/>
                </a:highlight>
                <a:latin typeface="Times New Roman" panose="02020603050405020304" pitchFamily="18" charset="0"/>
                <a:ea typeface="楷体_GB2312" panose="02010609030101010101" pitchFamily="49" charset="-122"/>
              </a:rPr>
              <a:t>（</a:t>
            </a:r>
            <a:r>
              <a:rPr lang="en-US" altLang="zh-CN" sz="3200" b="1" dirty="0">
                <a:solidFill>
                  <a:schemeClr val="tx2"/>
                </a:solidFill>
                <a:highlight>
                  <a:srgbClr val="FFFF00"/>
                </a:highlight>
                <a:latin typeface="Times New Roman" panose="02020603050405020304" pitchFamily="18" charset="0"/>
                <a:ea typeface="楷体_GB2312" panose="02010609030101010101" pitchFamily="49" charset="-122"/>
              </a:rPr>
              <a:t>D</a:t>
            </a:r>
            <a:r>
              <a:rPr lang="zh-CN" altLang="en-US" sz="3200" b="1" dirty="0">
                <a:solidFill>
                  <a:schemeClr val="tx2"/>
                </a:solidFill>
                <a:highlight>
                  <a:srgbClr val="FFFF00"/>
                </a:highlight>
                <a:latin typeface="Times New Roman" panose="02020603050405020304" pitchFamily="18" charset="0"/>
                <a:ea typeface="楷体_GB2312" panose="02010609030101010101" pitchFamily="49" charset="-122"/>
              </a:rPr>
              <a:t>，</a:t>
            </a:r>
            <a:r>
              <a:rPr lang="en-US" altLang="zh-CN" sz="3200" b="1" dirty="0">
                <a:solidFill>
                  <a:schemeClr val="tx2"/>
                </a:solidFill>
                <a:highlight>
                  <a:srgbClr val="FFFF00"/>
                </a:highlight>
                <a:latin typeface="Times New Roman" panose="02020603050405020304" pitchFamily="18" charset="0"/>
                <a:ea typeface="楷体_GB2312" panose="02010609030101010101" pitchFamily="49" charset="-122"/>
              </a:rPr>
              <a:t>S</a:t>
            </a:r>
            <a:r>
              <a:rPr lang="zh-CN" altLang="en-US" sz="3200" b="1" dirty="0">
                <a:solidFill>
                  <a:schemeClr val="tx2"/>
                </a:solidFill>
                <a:highlight>
                  <a:srgbClr val="FFFF00"/>
                </a:highlight>
                <a:latin typeface="Times New Roman" panose="02020603050405020304" pitchFamily="18" charset="0"/>
                <a:ea typeface="楷体_GB2312" panose="02010609030101010101" pitchFamily="49" charset="-122"/>
              </a:rPr>
              <a:t>，</a:t>
            </a:r>
            <a:r>
              <a:rPr lang="en-US" altLang="zh-CN" sz="3200" b="1" dirty="0">
                <a:solidFill>
                  <a:schemeClr val="tx2"/>
                </a:solidFill>
                <a:highlight>
                  <a:srgbClr val="FFFF00"/>
                </a:highlight>
                <a:latin typeface="Times New Roman" panose="02020603050405020304" pitchFamily="18" charset="0"/>
                <a:ea typeface="楷体_GB2312" panose="02010609030101010101" pitchFamily="49" charset="-122"/>
              </a:rPr>
              <a:t>P</a:t>
            </a:r>
            <a:r>
              <a:rPr lang="zh-CN" altLang="en-US" sz="3200" b="1" dirty="0">
                <a:solidFill>
                  <a:schemeClr val="tx2"/>
                </a:solidFill>
                <a:highlight>
                  <a:srgbClr val="FFFF00"/>
                </a:highlight>
                <a:latin typeface="Times New Roman" panose="02020603050405020304" pitchFamily="18" charset="0"/>
                <a:ea typeface="楷体_GB2312" panose="02010609030101010101" pitchFamily="49" charset="-122"/>
              </a:rPr>
              <a:t>）</a:t>
            </a:r>
            <a:r>
              <a:rPr lang="zh-CN" altLang="en-US" sz="3200" dirty="0">
                <a:solidFill>
                  <a:schemeClr val="tx2"/>
                </a:solidFill>
                <a:highlight>
                  <a:srgbClr val="FFFF00"/>
                </a:highlight>
                <a:latin typeface="楷体_GB2312" panose="02010609030101010101" pitchFamily="49" charset="-122"/>
                <a:ea typeface="楷体_GB2312" panose="02010609030101010101" pitchFamily="49" charset="-122"/>
              </a:rPr>
              <a:t>三元组</a:t>
            </a:r>
            <a:r>
              <a:rPr lang="zh-CN" altLang="en-US" sz="3200" dirty="0">
                <a:solidFill>
                  <a:schemeClr val="tx2"/>
                </a:solidFill>
                <a:latin typeface="楷体_GB2312" panose="02010609030101010101" pitchFamily="49" charset="-122"/>
                <a:ea typeface="楷体_GB2312" panose="02010609030101010101" pitchFamily="49" charset="-122"/>
              </a:rPr>
              <a:t>表示。</a:t>
            </a:r>
            <a:endParaRPr lang="zh-CN" altLang="en-US" sz="3200" dirty="0">
              <a:solidFill>
                <a:schemeClr val="tx2"/>
              </a:solidFill>
              <a:latin typeface="楷体_GB2312" panose="02010609030101010101" pitchFamily="49" charset="-122"/>
              <a:ea typeface="楷体_GB2312" panose="02010609030101010101" pitchFamily="49" charset="-122"/>
            </a:endParaRPr>
          </a:p>
          <a:p>
            <a:endParaRPr lang="zh-CN" altLang="en-US" sz="3200" dirty="0">
              <a:solidFill>
                <a:schemeClr val="tx2"/>
              </a:solidFill>
              <a:latin typeface="楷体_GB2312" panose="02010609030101010101" pitchFamily="49" charset="-122"/>
              <a:ea typeface="楷体_GB2312" panose="02010609030101010101" pitchFamily="49" charset="-122"/>
            </a:endParaRPr>
          </a:p>
          <a:p>
            <a:pPr>
              <a:lnSpc>
                <a:spcPct val="140000"/>
              </a:lnSpc>
            </a:pPr>
            <a:r>
              <a:rPr lang="zh-CN" altLang="en-US" sz="3200" dirty="0">
                <a:solidFill>
                  <a:schemeClr val="tx2"/>
                </a:solidFill>
                <a:latin typeface="楷体_GB2312" panose="02010609030101010101" pitchFamily="49" charset="-122"/>
                <a:ea typeface="楷体_GB2312" panose="02010609030101010101" pitchFamily="49" charset="-122"/>
              </a:rPr>
              <a:t>其中：</a:t>
            </a:r>
            <a:r>
              <a:rPr lang="en-US" altLang="zh-CN" sz="3200" dirty="0">
                <a:solidFill>
                  <a:srgbClr val="FF0000"/>
                </a:solidFill>
                <a:latin typeface="Times New Roman" panose="02020603050405020304" pitchFamily="18" charset="0"/>
                <a:ea typeface="楷体_GB2312" panose="02010609030101010101" pitchFamily="49" charset="-122"/>
              </a:rPr>
              <a:t>D </a:t>
            </a:r>
            <a:r>
              <a:rPr lang="zh-CN" altLang="en-US" sz="3200" dirty="0">
                <a:solidFill>
                  <a:srgbClr val="FF0000"/>
                </a:solidFill>
                <a:latin typeface="楷体_GB2312" panose="02010609030101010101" pitchFamily="49" charset="-122"/>
                <a:ea typeface="楷体_GB2312" panose="02010609030101010101" pitchFamily="49" charset="-122"/>
              </a:rPr>
              <a:t>是数据对象；</a:t>
            </a:r>
            <a:endParaRPr lang="zh-CN" altLang="en-US" sz="3200" dirty="0">
              <a:solidFill>
                <a:srgbClr val="FF0000"/>
              </a:solidFill>
              <a:latin typeface="楷体_GB2312" panose="02010609030101010101" pitchFamily="49" charset="-122"/>
              <a:ea typeface="楷体_GB2312" panose="02010609030101010101" pitchFamily="49" charset="-122"/>
            </a:endParaRPr>
          </a:p>
          <a:p>
            <a:pPr>
              <a:lnSpc>
                <a:spcPct val="140000"/>
              </a:lnSpc>
            </a:pPr>
            <a:r>
              <a:rPr lang="zh-CN" altLang="en-US" sz="3200" dirty="0">
                <a:solidFill>
                  <a:srgbClr val="FF0000"/>
                </a:solidFill>
                <a:latin typeface="楷体_GB2312" panose="02010609030101010101" pitchFamily="49" charset="-122"/>
                <a:ea typeface="楷体_GB2312" panose="02010609030101010101" pitchFamily="49" charset="-122"/>
              </a:rPr>
              <a:t>      </a:t>
            </a:r>
            <a:r>
              <a:rPr lang="en-US" altLang="zh-CN" sz="3200" dirty="0">
                <a:solidFill>
                  <a:srgbClr val="FF0000"/>
                </a:solidFill>
                <a:latin typeface="Times New Roman" panose="02020603050405020304" pitchFamily="18" charset="0"/>
                <a:ea typeface="楷体_GB2312" panose="02010609030101010101" pitchFamily="49" charset="-122"/>
              </a:rPr>
              <a:t>S </a:t>
            </a:r>
            <a:r>
              <a:rPr lang="zh-CN" altLang="en-US" sz="3200" dirty="0">
                <a:solidFill>
                  <a:srgbClr val="FF0000"/>
                </a:solidFill>
                <a:latin typeface="楷体_GB2312" panose="02010609030101010101" pitchFamily="49" charset="-122"/>
                <a:ea typeface="楷体_GB2312" panose="02010609030101010101" pitchFamily="49" charset="-122"/>
              </a:rPr>
              <a:t>是 </a:t>
            </a:r>
            <a:r>
              <a:rPr lang="en-US" altLang="zh-CN" sz="3200" dirty="0">
                <a:solidFill>
                  <a:srgbClr val="FF0000"/>
                </a:solidFill>
                <a:latin typeface="Times New Roman" panose="02020603050405020304" pitchFamily="18" charset="0"/>
                <a:ea typeface="楷体_GB2312" panose="02010609030101010101" pitchFamily="49" charset="-122"/>
              </a:rPr>
              <a:t>D </a:t>
            </a:r>
            <a:r>
              <a:rPr lang="zh-CN" altLang="en-US" sz="3200" dirty="0">
                <a:solidFill>
                  <a:srgbClr val="FF0000"/>
                </a:solidFill>
                <a:latin typeface="楷体_GB2312" panose="02010609030101010101" pitchFamily="49" charset="-122"/>
                <a:ea typeface="楷体_GB2312" panose="02010609030101010101" pitchFamily="49" charset="-122"/>
              </a:rPr>
              <a:t>上的关系集；</a:t>
            </a:r>
            <a:endParaRPr lang="zh-CN" altLang="en-US" sz="3200" dirty="0">
              <a:solidFill>
                <a:srgbClr val="FF0000"/>
              </a:solidFill>
              <a:latin typeface="楷体_GB2312" panose="02010609030101010101" pitchFamily="49" charset="-122"/>
              <a:ea typeface="楷体_GB2312" panose="02010609030101010101" pitchFamily="49" charset="-122"/>
            </a:endParaRPr>
          </a:p>
          <a:p>
            <a:pPr>
              <a:lnSpc>
                <a:spcPct val="140000"/>
              </a:lnSpc>
            </a:pPr>
            <a:r>
              <a:rPr lang="zh-CN" altLang="en-US" sz="3200" dirty="0">
                <a:solidFill>
                  <a:srgbClr val="FF0000"/>
                </a:solidFill>
                <a:latin typeface="Times New Roman" panose="02020603050405020304" pitchFamily="18" charset="0"/>
                <a:ea typeface="楷体_GB2312" panose="02010609030101010101" pitchFamily="49" charset="-122"/>
              </a:rPr>
              <a:t>            </a:t>
            </a:r>
            <a:r>
              <a:rPr lang="en-US" altLang="zh-CN" sz="3200" dirty="0">
                <a:solidFill>
                  <a:srgbClr val="FF0000"/>
                </a:solidFill>
                <a:latin typeface="Times New Roman" panose="02020603050405020304" pitchFamily="18" charset="0"/>
                <a:ea typeface="楷体_GB2312" panose="02010609030101010101" pitchFamily="49" charset="-122"/>
              </a:rPr>
              <a:t>P </a:t>
            </a:r>
            <a:r>
              <a:rPr lang="zh-CN" altLang="en-US" sz="3200" dirty="0">
                <a:solidFill>
                  <a:srgbClr val="FF0000"/>
                </a:solidFill>
                <a:latin typeface="楷体_GB2312" panose="02010609030101010101" pitchFamily="49" charset="-122"/>
                <a:ea typeface="楷体_GB2312" panose="02010609030101010101" pitchFamily="49" charset="-122"/>
              </a:rPr>
              <a:t>是对 </a:t>
            </a:r>
            <a:r>
              <a:rPr lang="en-US" altLang="zh-CN" sz="3200" dirty="0">
                <a:solidFill>
                  <a:srgbClr val="FF0000"/>
                </a:solidFill>
                <a:latin typeface="Times New Roman" panose="02020603050405020304" pitchFamily="18" charset="0"/>
                <a:ea typeface="楷体_GB2312" panose="02010609030101010101" pitchFamily="49" charset="-122"/>
              </a:rPr>
              <a:t>D </a:t>
            </a:r>
            <a:r>
              <a:rPr lang="zh-CN" altLang="en-US" sz="3200" dirty="0">
                <a:solidFill>
                  <a:srgbClr val="FF0000"/>
                </a:solidFill>
                <a:latin typeface="楷体_GB2312" panose="02010609030101010101" pitchFamily="49" charset="-122"/>
                <a:ea typeface="楷体_GB2312" panose="02010609030101010101" pitchFamily="49" charset="-122"/>
              </a:rPr>
              <a:t>的基本操作集</a:t>
            </a:r>
            <a:r>
              <a:rPr lang="zh-CN" altLang="en-US" sz="3200" dirty="0">
                <a:solidFill>
                  <a:schemeClr val="tx2"/>
                </a:solidFill>
                <a:latin typeface="楷体_GB2312" panose="02010609030101010101" pitchFamily="49" charset="-122"/>
                <a:ea typeface="楷体_GB2312" panose="02010609030101010101" pitchFamily="49" charset="-122"/>
              </a:rPr>
              <a:t>。 </a:t>
            </a:r>
            <a:endParaRPr lang="zh-CN" altLang="en-US" sz="3200" dirty="0">
              <a:solidFill>
                <a:schemeClr val="tx2"/>
              </a:solidFill>
              <a:latin typeface="楷体_GB2312" panose="02010609030101010101" pitchFamily="49" charset="-122"/>
              <a:ea typeface="楷体_GB2312" panose="02010609030101010101" pitchFamily="49" charset="-122"/>
            </a:endParaRPr>
          </a:p>
        </p:txBody>
      </p:sp>
      <p:sp>
        <p:nvSpPr>
          <p:cNvPr id="2" name="日期占位符 1"/>
          <p:cNvSpPr>
            <a:spLocks noGrp="1"/>
          </p:cNvSpPr>
          <p:nvPr>
            <p:ph type="dt" sz="half" idx="10"/>
          </p:nvPr>
        </p:nvSpPr>
        <p:spPr/>
        <p:txBody>
          <a:bodyPr/>
          <a:lstStyle/>
          <a:p>
            <a:r>
              <a:rPr lang="en-US" altLang="zh-CN"/>
              <a:t>Data Structures and algorithms</a:t>
            </a:r>
            <a:endParaRPr lang="zh-CN" altLang="en-US"/>
          </a:p>
        </p:txBody>
      </p:sp>
      <p:sp>
        <p:nvSpPr>
          <p:cNvPr id="3" name="页脚占位符 2"/>
          <p:cNvSpPr>
            <a:spLocks noGrp="1"/>
          </p:cNvSpPr>
          <p:nvPr>
            <p:ph type="ftr" sz="quarter" idx="11"/>
          </p:nvPr>
        </p:nvSpPr>
        <p:spPr/>
        <p:txBody>
          <a:bodyPr/>
          <a:lstStyle/>
          <a:p>
            <a:r>
              <a:rPr lang="en-US" altLang="zh-CN"/>
              <a:t>Software College Northeastern University</a:t>
            </a:r>
            <a:endParaRPr lang="zh-CN" altLang="en-US"/>
          </a:p>
        </p:txBody>
      </p:sp>
      <p:sp>
        <p:nvSpPr>
          <p:cNvPr id="4" name="灯片编号占位符 3"/>
          <p:cNvSpPr>
            <a:spLocks noGrp="1"/>
          </p:cNvSpPr>
          <p:nvPr>
            <p:ph type="sldNum" sz="quarter" idx="12"/>
          </p:nvPr>
        </p:nvSpPr>
        <p:spPr/>
        <p:txBody>
          <a:bodyPr/>
          <a:lstStyle/>
          <a:p>
            <a:fld id="{6E1C0148-8E4B-4B2F-95CE-20B4709700AE}" type="slidenum">
              <a:rPr lang="zh-CN" altLang="en-US" smtClean="0"/>
            </a:fld>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7958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8" presetClass="entr" presetSubtype="3" fill="hold" grpId="0" nodeType="clickEffect">
                                  <p:stCondLst>
                                    <p:cond delay="0"/>
                                  </p:stCondLst>
                                  <p:childTnLst>
                                    <p:set>
                                      <p:cBhvr>
                                        <p:cTn id="10" dur="1" fill="hold">
                                          <p:stCondLst>
                                            <p:cond delay="0"/>
                                          </p:stCondLst>
                                        </p:cTn>
                                        <p:tgtEl>
                                          <p:spTgt spid="579587"/>
                                        </p:tgtEl>
                                        <p:attrNameLst>
                                          <p:attrName>style.visibility</p:attrName>
                                        </p:attrNameLst>
                                      </p:cBhvr>
                                      <p:to>
                                        <p:strVal val="visible"/>
                                      </p:to>
                                    </p:set>
                                    <p:animEffect transition="in" filter="strips(upRight)">
                                      <p:cBhvr>
                                        <p:cTn id="11" dur="500"/>
                                        <p:tgtEl>
                                          <p:spTgt spid="5795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9586" grpId="0"/>
      <p:bldP spid="579587"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ext Box 2"/>
          <p:cNvSpPr txBox="1"/>
          <p:nvPr/>
        </p:nvSpPr>
        <p:spPr>
          <a:xfrm>
            <a:off x="967637" y="787345"/>
            <a:ext cx="6558206" cy="2990434"/>
          </a:xfrm>
          <a:prstGeom prst="rect">
            <a:avLst/>
          </a:prstGeom>
          <a:noFill/>
          <a:ln w="9525">
            <a:noFill/>
          </a:ln>
        </p:spPr>
        <p:txBody>
          <a:bodyPr wrap="none">
            <a:spAutoFit/>
          </a:bodyPr>
          <a:lstStyle/>
          <a:p>
            <a:pPr>
              <a:lnSpc>
                <a:spcPct val="120000"/>
              </a:lnSpc>
            </a:pPr>
            <a:r>
              <a:rPr lang="en-US" altLang="zh-CN" sz="3200" b="1" dirty="0">
                <a:solidFill>
                  <a:srgbClr val="FF0000"/>
                </a:solidFill>
                <a:latin typeface="Times New Roman" panose="02020603050405020304" pitchFamily="18" charset="0"/>
                <a:ea typeface="楷体_GB2312" panose="02010609030101010101" pitchFamily="49" charset="-122"/>
              </a:rPr>
              <a:t>ADT</a:t>
            </a:r>
            <a:r>
              <a:rPr lang="en-US" altLang="zh-CN" sz="3200" dirty="0">
                <a:solidFill>
                  <a:srgbClr val="FF0000"/>
                </a:solidFill>
                <a:latin typeface="Times New Roman" panose="02020603050405020304" pitchFamily="18" charset="0"/>
                <a:ea typeface="楷体_GB2312" panose="02010609030101010101" pitchFamily="49" charset="-122"/>
              </a:rPr>
              <a:t> </a:t>
            </a:r>
            <a:r>
              <a:rPr lang="zh-CN" altLang="en-US" sz="3200" b="1" dirty="0">
                <a:solidFill>
                  <a:srgbClr val="FF0000"/>
                </a:solidFill>
                <a:latin typeface="Times New Roman" panose="02020603050405020304" pitchFamily="18" charset="0"/>
                <a:ea typeface="楷体_GB2312" panose="02010609030101010101" pitchFamily="49" charset="-122"/>
              </a:rPr>
              <a:t>抽象数据类型名 </a:t>
            </a:r>
            <a:r>
              <a:rPr lang="en-US" altLang="zh-CN" sz="3200" b="1" dirty="0">
                <a:solidFill>
                  <a:srgbClr val="FF0000"/>
                </a:solidFill>
                <a:latin typeface="Times New Roman" panose="02020603050405020304" pitchFamily="18" charset="0"/>
                <a:ea typeface="楷体_GB2312" panose="02010609030101010101" pitchFamily="49" charset="-122"/>
              </a:rPr>
              <a:t>{</a:t>
            </a:r>
            <a:endParaRPr lang="en-US" altLang="zh-CN" sz="3200" dirty="0">
              <a:solidFill>
                <a:srgbClr val="FF0000"/>
              </a:solidFill>
              <a:latin typeface="Times New Roman" panose="02020603050405020304" pitchFamily="18" charset="0"/>
              <a:ea typeface="楷体_GB2312" panose="02010609030101010101" pitchFamily="49" charset="-122"/>
            </a:endParaRPr>
          </a:p>
          <a:p>
            <a:pPr>
              <a:lnSpc>
                <a:spcPct val="120000"/>
              </a:lnSpc>
            </a:pPr>
            <a:r>
              <a:rPr lang="en-US" altLang="zh-CN" sz="3200" b="1" dirty="0">
                <a:solidFill>
                  <a:srgbClr val="FF0000"/>
                </a:solidFill>
                <a:latin typeface="楷体_GB2312" panose="02010609030101010101" pitchFamily="49" charset="-122"/>
                <a:ea typeface="楷体_GB2312" panose="02010609030101010101" pitchFamily="49" charset="-122"/>
              </a:rPr>
              <a:t>   </a:t>
            </a:r>
            <a:r>
              <a:rPr lang="zh-CN" altLang="en-US" sz="3200" b="1" dirty="0">
                <a:solidFill>
                  <a:srgbClr val="FF0000"/>
                </a:solidFill>
                <a:latin typeface="楷体_GB2312" panose="02010609030101010101" pitchFamily="49" charset="-122"/>
                <a:ea typeface="楷体_GB2312" panose="02010609030101010101" pitchFamily="49" charset="-122"/>
              </a:rPr>
              <a:t>数据对象：</a:t>
            </a:r>
            <a:r>
              <a:rPr lang="en-US" altLang="zh-CN" sz="3200" dirty="0">
                <a:solidFill>
                  <a:srgbClr val="FF0000"/>
                </a:solidFill>
                <a:latin typeface="楷体_GB2312" panose="02010609030101010101" pitchFamily="49" charset="-122"/>
                <a:ea typeface="楷体_GB2312" panose="02010609030101010101" pitchFamily="49" charset="-122"/>
              </a:rPr>
              <a:t>〈</a:t>
            </a:r>
            <a:r>
              <a:rPr lang="zh-CN" altLang="en-US" sz="3200" dirty="0">
                <a:solidFill>
                  <a:srgbClr val="FF0000"/>
                </a:solidFill>
                <a:latin typeface="楷体_GB2312" panose="02010609030101010101" pitchFamily="49" charset="-122"/>
                <a:ea typeface="楷体_GB2312" panose="02010609030101010101" pitchFamily="49" charset="-122"/>
              </a:rPr>
              <a:t>数据对象的定义</a:t>
            </a:r>
            <a:r>
              <a:rPr lang="en-US" altLang="zh-CN" sz="3200" dirty="0">
                <a:solidFill>
                  <a:srgbClr val="FF0000"/>
                </a:solidFill>
                <a:latin typeface="楷体_GB2312" panose="02010609030101010101" pitchFamily="49" charset="-122"/>
                <a:ea typeface="楷体_GB2312" panose="02010609030101010101" pitchFamily="49" charset="-122"/>
              </a:rPr>
              <a:t>〉</a:t>
            </a:r>
            <a:endParaRPr lang="en-US" altLang="zh-CN" sz="3200" dirty="0">
              <a:solidFill>
                <a:srgbClr val="FF0000"/>
              </a:solidFill>
              <a:latin typeface="楷体_GB2312" panose="02010609030101010101" pitchFamily="49" charset="-122"/>
              <a:ea typeface="楷体_GB2312" panose="02010609030101010101" pitchFamily="49" charset="-122"/>
            </a:endParaRPr>
          </a:p>
          <a:p>
            <a:pPr>
              <a:lnSpc>
                <a:spcPct val="120000"/>
              </a:lnSpc>
            </a:pPr>
            <a:r>
              <a:rPr lang="en-US" altLang="zh-CN" sz="3200" dirty="0">
                <a:solidFill>
                  <a:srgbClr val="FF0000"/>
                </a:solidFill>
                <a:latin typeface="楷体_GB2312" panose="02010609030101010101" pitchFamily="49" charset="-122"/>
                <a:ea typeface="楷体_GB2312" panose="02010609030101010101" pitchFamily="49" charset="-122"/>
              </a:rPr>
              <a:t>  </a:t>
            </a:r>
            <a:r>
              <a:rPr lang="en-US" altLang="zh-CN" sz="3200" b="1" dirty="0">
                <a:solidFill>
                  <a:srgbClr val="FF0000"/>
                </a:solidFill>
                <a:latin typeface="楷体_GB2312" panose="02010609030101010101" pitchFamily="49" charset="-122"/>
                <a:ea typeface="楷体_GB2312" panose="02010609030101010101" pitchFamily="49" charset="-122"/>
              </a:rPr>
              <a:t> </a:t>
            </a:r>
            <a:r>
              <a:rPr lang="zh-CN" altLang="en-US" sz="3200" b="1" dirty="0">
                <a:solidFill>
                  <a:srgbClr val="FF0000"/>
                </a:solidFill>
                <a:latin typeface="楷体_GB2312" panose="02010609030101010101" pitchFamily="49" charset="-122"/>
                <a:ea typeface="楷体_GB2312" panose="02010609030101010101" pitchFamily="49" charset="-122"/>
              </a:rPr>
              <a:t>数据关系：</a:t>
            </a:r>
            <a:r>
              <a:rPr lang="en-US" altLang="zh-CN" sz="3200" dirty="0">
                <a:solidFill>
                  <a:srgbClr val="FF0000"/>
                </a:solidFill>
                <a:latin typeface="楷体_GB2312" panose="02010609030101010101" pitchFamily="49" charset="-122"/>
                <a:ea typeface="楷体_GB2312" panose="02010609030101010101" pitchFamily="49" charset="-122"/>
              </a:rPr>
              <a:t>〈</a:t>
            </a:r>
            <a:r>
              <a:rPr lang="zh-CN" altLang="en-US" sz="3200" dirty="0">
                <a:solidFill>
                  <a:srgbClr val="FF0000"/>
                </a:solidFill>
                <a:latin typeface="楷体_GB2312" panose="02010609030101010101" pitchFamily="49" charset="-122"/>
                <a:ea typeface="楷体_GB2312" panose="02010609030101010101" pitchFamily="49" charset="-122"/>
              </a:rPr>
              <a:t>数据关系的定义</a:t>
            </a:r>
            <a:r>
              <a:rPr lang="en-US" altLang="zh-CN" sz="3200" dirty="0">
                <a:solidFill>
                  <a:srgbClr val="FF0000"/>
                </a:solidFill>
                <a:latin typeface="楷体_GB2312" panose="02010609030101010101" pitchFamily="49" charset="-122"/>
                <a:ea typeface="楷体_GB2312" panose="02010609030101010101" pitchFamily="49" charset="-122"/>
              </a:rPr>
              <a:t>〉</a:t>
            </a:r>
            <a:endParaRPr lang="en-US" altLang="zh-CN" sz="3200" dirty="0">
              <a:solidFill>
                <a:srgbClr val="FF0000"/>
              </a:solidFill>
              <a:latin typeface="楷体_GB2312" panose="02010609030101010101" pitchFamily="49" charset="-122"/>
              <a:ea typeface="楷体_GB2312" panose="02010609030101010101" pitchFamily="49" charset="-122"/>
            </a:endParaRPr>
          </a:p>
          <a:p>
            <a:pPr>
              <a:lnSpc>
                <a:spcPct val="120000"/>
              </a:lnSpc>
            </a:pPr>
            <a:r>
              <a:rPr lang="en-US" altLang="zh-CN" sz="3200" dirty="0">
                <a:solidFill>
                  <a:srgbClr val="FF0000"/>
                </a:solidFill>
                <a:latin typeface="楷体_GB2312" panose="02010609030101010101" pitchFamily="49" charset="-122"/>
                <a:ea typeface="楷体_GB2312" panose="02010609030101010101" pitchFamily="49" charset="-122"/>
              </a:rPr>
              <a:t> </a:t>
            </a:r>
            <a:r>
              <a:rPr lang="en-US" altLang="zh-CN" sz="3200" b="1" dirty="0">
                <a:solidFill>
                  <a:srgbClr val="FF0000"/>
                </a:solidFill>
                <a:latin typeface="楷体_GB2312" panose="02010609030101010101" pitchFamily="49" charset="-122"/>
                <a:ea typeface="楷体_GB2312" panose="02010609030101010101" pitchFamily="49" charset="-122"/>
              </a:rPr>
              <a:t>  </a:t>
            </a:r>
            <a:r>
              <a:rPr lang="zh-CN" altLang="en-US" sz="3200" b="1" dirty="0">
                <a:solidFill>
                  <a:srgbClr val="FF0000"/>
                </a:solidFill>
                <a:latin typeface="楷体_GB2312" panose="02010609030101010101" pitchFamily="49" charset="-122"/>
                <a:ea typeface="楷体_GB2312" panose="02010609030101010101" pitchFamily="49" charset="-122"/>
              </a:rPr>
              <a:t>基本操作：</a:t>
            </a:r>
            <a:r>
              <a:rPr lang="en-US" altLang="zh-CN" sz="3200" dirty="0">
                <a:solidFill>
                  <a:srgbClr val="FF0000"/>
                </a:solidFill>
                <a:latin typeface="楷体_GB2312" panose="02010609030101010101" pitchFamily="49" charset="-122"/>
                <a:ea typeface="楷体_GB2312" panose="02010609030101010101" pitchFamily="49" charset="-122"/>
              </a:rPr>
              <a:t>〈</a:t>
            </a:r>
            <a:r>
              <a:rPr lang="zh-CN" altLang="en-US" sz="3200" dirty="0">
                <a:solidFill>
                  <a:srgbClr val="FF0000"/>
                </a:solidFill>
                <a:latin typeface="楷体_GB2312" panose="02010609030101010101" pitchFamily="49" charset="-122"/>
                <a:ea typeface="楷体_GB2312" panose="02010609030101010101" pitchFamily="49" charset="-122"/>
              </a:rPr>
              <a:t>基本操作的定义</a:t>
            </a:r>
            <a:r>
              <a:rPr lang="en-US" altLang="zh-CN" sz="3200" dirty="0">
                <a:solidFill>
                  <a:srgbClr val="FF0000"/>
                </a:solidFill>
                <a:latin typeface="楷体_GB2312" panose="02010609030101010101" pitchFamily="49" charset="-122"/>
                <a:ea typeface="楷体_GB2312" panose="02010609030101010101" pitchFamily="49" charset="-122"/>
              </a:rPr>
              <a:t>〉</a:t>
            </a:r>
            <a:endParaRPr lang="en-US" altLang="zh-CN" sz="3200" dirty="0">
              <a:solidFill>
                <a:srgbClr val="FF0000"/>
              </a:solidFill>
              <a:latin typeface="楷体_GB2312" panose="02010609030101010101" pitchFamily="49" charset="-122"/>
              <a:ea typeface="楷体_GB2312" panose="02010609030101010101" pitchFamily="49" charset="-122"/>
            </a:endParaRPr>
          </a:p>
          <a:p>
            <a:pPr>
              <a:lnSpc>
                <a:spcPct val="120000"/>
              </a:lnSpc>
            </a:pPr>
            <a:r>
              <a:rPr lang="en-US" altLang="zh-CN" sz="3200" b="1" dirty="0">
                <a:solidFill>
                  <a:srgbClr val="FF0000"/>
                </a:solidFill>
                <a:latin typeface="Times New Roman" panose="02020603050405020304" pitchFamily="18" charset="0"/>
                <a:ea typeface="楷体_GB2312" panose="02010609030101010101" pitchFamily="49" charset="-122"/>
              </a:rPr>
              <a:t>} ADT</a:t>
            </a:r>
            <a:r>
              <a:rPr lang="en-US" altLang="zh-CN" sz="3200" dirty="0">
                <a:solidFill>
                  <a:srgbClr val="FF0000"/>
                </a:solidFill>
                <a:latin typeface="楷体_GB2312" panose="02010609030101010101" pitchFamily="49" charset="-122"/>
                <a:ea typeface="楷体_GB2312" panose="02010609030101010101" pitchFamily="49" charset="-122"/>
              </a:rPr>
              <a:t> </a:t>
            </a:r>
            <a:r>
              <a:rPr lang="zh-CN" altLang="en-US" sz="3200" dirty="0">
                <a:solidFill>
                  <a:srgbClr val="FF0000"/>
                </a:solidFill>
                <a:latin typeface="楷体_GB2312" panose="02010609030101010101" pitchFamily="49" charset="-122"/>
                <a:ea typeface="楷体_GB2312" panose="02010609030101010101" pitchFamily="49" charset="-122"/>
              </a:rPr>
              <a:t>抽象数据类型名</a:t>
            </a:r>
            <a:endParaRPr lang="zh-CN" altLang="en-US" sz="3200" dirty="0">
              <a:solidFill>
                <a:srgbClr val="FF0000"/>
              </a:solidFill>
              <a:latin typeface="楷体_GB2312" panose="02010609030101010101" pitchFamily="49" charset="-122"/>
              <a:ea typeface="楷体_GB2312" panose="02010609030101010101" pitchFamily="49" charset="-122"/>
            </a:endParaRPr>
          </a:p>
        </p:txBody>
      </p:sp>
      <p:sp>
        <p:nvSpPr>
          <p:cNvPr id="58371" name="Text Box 3"/>
          <p:cNvSpPr txBox="1"/>
          <p:nvPr/>
        </p:nvSpPr>
        <p:spPr>
          <a:xfrm>
            <a:off x="914400" y="3778250"/>
            <a:ext cx="5314275" cy="584775"/>
          </a:xfrm>
          <a:prstGeom prst="rect">
            <a:avLst/>
          </a:prstGeom>
          <a:noFill/>
          <a:ln w="9525">
            <a:noFill/>
          </a:ln>
        </p:spPr>
        <p:txBody>
          <a:bodyPr wrap="none">
            <a:spAutoFit/>
          </a:bodyPr>
          <a:lstStyle/>
          <a:p>
            <a:r>
              <a:rPr lang="zh-CN" altLang="en-US" sz="3200" dirty="0">
                <a:solidFill>
                  <a:schemeClr val="tx2"/>
                </a:solidFill>
                <a:latin typeface="楷体_GB2312" panose="02010609030101010101" pitchFamily="49" charset="-122"/>
                <a:ea typeface="楷体_GB2312" panose="02010609030101010101" pitchFamily="49" charset="-122"/>
              </a:rPr>
              <a:t>其中基本操作的定义格式为</a:t>
            </a:r>
            <a:r>
              <a:rPr lang="en-US" altLang="zh-CN" sz="3200" dirty="0">
                <a:solidFill>
                  <a:schemeClr val="tx2"/>
                </a:solidFill>
                <a:latin typeface="楷体_GB2312" panose="02010609030101010101" pitchFamily="49" charset="-122"/>
                <a:ea typeface="楷体_GB2312" panose="02010609030101010101" pitchFamily="49" charset="-122"/>
              </a:rPr>
              <a:t>:</a:t>
            </a:r>
            <a:endParaRPr lang="en-US" altLang="zh-CN" sz="3200" dirty="0">
              <a:solidFill>
                <a:schemeClr val="tx2"/>
              </a:solidFill>
              <a:latin typeface="楷体_GB2312" panose="02010609030101010101" pitchFamily="49" charset="-122"/>
              <a:ea typeface="楷体_GB2312" panose="02010609030101010101" pitchFamily="49" charset="-122"/>
            </a:endParaRPr>
          </a:p>
        </p:txBody>
      </p:sp>
      <p:sp>
        <p:nvSpPr>
          <p:cNvPr id="58372" name="Text Box 4"/>
          <p:cNvSpPr txBox="1"/>
          <p:nvPr/>
        </p:nvSpPr>
        <p:spPr>
          <a:xfrm>
            <a:off x="850900" y="4495800"/>
            <a:ext cx="6551794" cy="1786643"/>
          </a:xfrm>
          <a:prstGeom prst="rect">
            <a:avLst/>
          </a:prstGeom>
          <a:noFill/>
          <a:ln w="9525">
            <a:noFill/>
          </a:ln>
        </p:spPr>
        <p:txBody>
          <a:bodyPr wrap="none">
            <a:spAutoFit/>
          </a:bodyPr>
          <a:lstStyle/>
          <a:p>
            <a:pPr>
              <a:lnSpc>
                <a:spcPct val="120000"/>
              </a:lnSpc>
            </a:pPr>
            <a:r>
              <a:rPr lang="en-US" altLang="zh-CN" sz="3200" b="1" dirty="0">
                <a:solidFill>
                  <a:srgbClr val="006699"/>
                </a:solidFill>
                <a:latin typeface="楷体_GB2312" panose="02010609030101010101" pitchFamily="49" charset="-122"/>
                <a:ea typeface="楷体_GB2312" panose="02010609030101010101" pitchFamily="49" charset="-122"/>
              </a:rPr>
              <a:t>   </a:t>
            </a:r>
            <a:r>
              <a:rPr lang="zh-CN" altLang="en-US" sz="3200" b="1" dirty="0">
                <a:solidFill>
                  <a:srgbClr val="006699"/>
                </a:solidFill>
                <a:latin typeface="楷体_GB2312" panose="02010609030101010101" pitchFamily="49" charset="-122"/>
                <a:ea typeface="楷体_GB2312" panose="02010609030101010101" pitchFamily="49" charset="-122"/>
              </a:rPr>
              <a:t>基本操作名</a:t>
            </a:r>
            <a:r>
              <a:rPr lang="zh-CN" altLang="en-US" sz="3200" dirty="0">
                <a:solidFill>
                  <a:srgbClr val="006699"/>
                </a:solidFill>
                <a:latin typeface="楷体_GB2312" panose="02010609030101010101" pitchFamily="49" charset="-122"/>
                <a:ea typeface="楷体_GB2312" panose="02010609030101010101" pitchFamily="49" charset="-122"/>
              </a:rPr>
              <a:t>（参数表）</a:t>
            </a:r>
            <a:endParaRPr lang="zh-CN" altLang="en-US" sz="3200" dirty="0">
              <a:solidFill>
                <a:srgbClr val="006699"/>
              </a:solidFill>
              <a:latin typeface="楷体_GB2312" panose="02010609030101010101" pitchFamily="49" charset="-122"/>
              <a:ea typeface="楷体_GB2312" panose="02010609030101010101" pitchFamily="49" charset="-122"/>
            </a:endParaRPr>
          </a:p>
          <a:p>
            <a:pPr>
              <a:lnSpc>
                <a:spcPct val="120000"/>
              </a:lnSpc>
            </a:pPr>
            <a:r>
              <a:rPr lang="zh-CN" altLang="en-US" sz="3200" dirty="0">
                <a:solidFill>
                  <a:srgbClr val="006699"/>
                </a:solidFill>
                <a:latin typeface="楷体_GB2312" panose="02010609030101010101" pitchFamily="49" charset="-122"/>
                <a:ea typeface="楷体_GB2312" panose="02010609030101010101" pitchFamily="49" charset="-122"/>
              </a:rPr>
              <a:t>   </a:t>
            </a:r>
            <a:r>
              <a:rPr lang="zh-CN" altLang="en-US" sz="3200" b="1" dirty="0">
                <a:solidFill>
                  <a:srgbClr val="006699"/>
                </a:solidFill>
                <a:latin typeface="楷体_GB2312" panose="02010609030101010101" pitchFamily="49" charset="-122"/>
                <a:ea typeface="楷体_GB2312" panose="02010609030101010101" pitchFamily="49" charset="-122"/>
              </a:rPr>
              <a:t> 初始条件：</a:t>
            </a:r>
            <a:r>
              <a:rPr lang="en-US" altLang="zh-CN" sz="3200" dirty="0">
                <a:solidFill>
                  <a:srgbClr val="006699"/>
                </a:solidFill>
                <a:latin typeface="楷体_GB2312" panose="02010609030101010101" pitchFamily="49" charset="-122"/>
                <a:ea typeface="楷体_GB2312" panose="02010609030101010101" pitchFamily="49" charset="-122"/>
              </a:rPr>
              <a:t>〈</a:t>
            </a:r>
            <a:r>
              <a:rPr lang="zh-CN" altLang="en-US" sz="3200" dirty="0">
                <a:solidFill>
                  <a:srgbClr val="006699"/>
                </a:solidFill>
                <a:latin typeface="楷体_GB2312" panose="02010609030101010101" pitchFamily="49" charset="-122"/>
                <a:ea typeface="楷体_GB2312" panose="02010609030101010101" pitchFamily="49" charset="-122"/>
              </a:rPr>
              <a:t>初始条件描述</a:t>
            </a:r>
            <a:r>
              <a:rPr lang="en-US" altLang="zh-CN" sz="3200" dirty="0">
                <a:solidFill>
                  <a:srgbClr val="006699"/>
                </a:solidFill>
                <a:latin typeface="楷体_GB2312" panose="02010609030101010101" pitchFamily="49" charset="-122"/>
                <a:ea typeface="楷体_GB2312" panose="02010609030101010101" pitchFamily="49" charset="-122"/>
              </a:rPr>
              <a:t>〉</a:t>
            </a:r>
            <a:endParaRPr lang="en-US" altLang="zh-CN" sz="3200" dirty="0">
              <a:solidFill>
                <a:srgbClr val="006699"/>
              </a:solidFill>
              <a:latin typeface="楷体_GB2312" panose="02010609030101010101" pitchFamily="49" charset="-122"/>
              <a:ea typeface="楷体_GB2312" panose="02010609030101010101" pitchFamily="49" charset="-122"/>
            </a:endParaRPr>
          </a:p>
          <a:p>
            <a:pPr>
              <a:lnSpc>
                <a:spcPct val="120000"/>
              </a:lnSpc>
            </a:pPr>
            <a:r>
              <a:rPr lang="en-US" altLang="zh-CN" sz="3200" dirty="0">
                <a:solidFill>
                  <a:srgbClr val="006699"/>
                </a:solidFill>
                <a:latin typeface="楷体_GB2312" panose="02010609030101010101" pitchFamily="49" charset="-122"/>
                <a:ea typeface="楷体_GB2312" panose="02010609030101010101" pitchFamily="49" charset="-122"/>
              </a:rPr>
              <a:t>    </a:t>
            </a:r>
            <a:r>
              <a:rPr lang="zh-CN" altLang="en-US" sz="3200" b="1" dirty="0">
                <a:solidFill>
                  <a:srgbClr val="006699"/>
                </a:solidFill>
                <a:latin typeface="楷体_GB2312" panose="02010609030101010101" pitchFamily="49" charset="-122"/>
                <a:ea typeface="楷体_GB2312" panose="02010609030101010101" pitchFamily="49" charset="-122"/>
              </a:rPr>
              <a:t>操作结果</a:t>
            </a:r>
            <a:r>
              <a:rPr lang="zh-CN" altLang="en-US" sz="3200" dirty="0">
                <a:solidFill>
                  <a:srgbClr val="006699"/>
                </a:solidFill>
                <a:latin typeface="楷体_GB2312" panose="02010609030101010101" pitchFamily="49" charset="-122"/>
                <a:ea typeface="楷体_GB2312" panose="02010609030101010101" pitchFamily="49" charset="-122"/>
              </a:rPr>
              <a:t>：</a:t>
            </a:r>
            <a:r>
              <a:rPr lang="en-US" altLang="zh-CN" sz="3200" dirty="0">
                <a:solidFill>
                  <a:srgbClr val="006699"/>
                </a:solidFill>
                <a:latin typeface="楷体_GB2312" panose="02010609030101010101" pitchFamily="49" charset="-122"/>
                <a:ea typeface="楷体_GB2312" panose="02010609030101010101" pitchFamily="49" charset="-122"/>
              </a:rPr>
              <a:t>〈</a:t>
            </a:r>
            <a:r>
              <a:rPr lang="zh-CN" altLang="en-US" sz="3200" dirty="0">
                <a:solidFill>
                  <a:srgbClr val="006699"/>
                </a:solidFill>
                <a:latin typeface="楷体_GB2312" panose="02010609030101010101" pitchFamily="49" charset="-122"/>
                <a:ea typeface="楷体_GB2312" panose="02010609030101010101" pitchFamily="49" charset="-122"/>
              </a:rPr>
              <a:t>操作结果描述</a:t>
            </a:r>
            <a:r>
              <a:rPr lang="en-US" altLang="zh-CN" sz="3200" dirty="0">
                <a:solidFill>
                  <a:srgbClr val="006699"/>
                </a:solidFill>
                <a:latin typeface="楷体_GB2312" panose="02010609030101010101" pitchFamily="49" charset="-122"/>
                <a:ea typeface="楷体_GB2312" panose="02010609030101010101" pitchFamily="49" charset="-122"/>
              </a:rPr>
              <a:t>〉</a:t>
            </a:r>
            <a:r>
              <a:rPr lang="en-US" altLang="zh-CN" sz="3200" dirty="0">
                <a:latin typeface="楷体_GB2312" panose="02010609030101010101" pitchFamily="49" charset="-122"/>
                <a:ea typeface="楷体_GB2312" panose="02010609030101010101" pitchFamily="49" charset="-122"/>
              </a:rPr>
              <a:t> </a:t>
            </a:r>
            <a:endParaRPr lang="en-US" altLang="zh-CN" sz="3200" dirty="0">
              <a:latin typeface="楷体_GB2312" panose="02010609030101010101" pitchFamily="49" charset="-122"/>
              <a:ea typeface="楷体_GB2312" panose="02010609030101010101" pitchFamily="49" charset="-122"/>
            </a:endParaRPr>
          </a:p>
        </p:txBody>
      </p:sp>
      <p:sp>
        <p:nvSpPr>
          <p:cNvPr id="2" name="日期占位符 1"/>
          <p:cNvSpPr>
            <a:spLocks noGrp="1"/>
          </p:cNvSpPr>
          <p:nvPr>
            <p:ph type="dt" sz="half" idx="10"/>
          </p:nvPr>
        </p:nvSpPr>
        <p:spPr/>
        <p:txBody>
          <a:bodyPr/>
          <a:lstStyle/>
          <a:p>
            <a:r>
              <a:rPr lang="en-US" altLang="zh-CN"/>
              <a:t>Data Structures and algorithms</a:t>
            </a:r>
            <a:endParaRPr lang="zh-CN" altLang="en-US"/>
          </a:p>
        </p:txBody>
      </p:sp>
      <p:sp>
        <p:nvSpPr>
          <p:cNvPr id="3" name="页脚占位符 2"/>
          <p:cNvSpPr>
            <a:spLocks noGrp="1"/>
          </p:cNvSpPr>
          <p:nvPr>
            <p:ph type="ftr" sz="quarter" idx="11"/>
          </p:nvPr>
        </p:nvSpPr>
        <p:spPr/>
        <p:txBody>
          <a:bodyPr/>
          <a:lstStyle/>
          <a:p>
            <a:r>
              <a:rPr lang="en-US" altLang="zh-CN"/>
              <a:t>Software College Northeastern University</a:t>
            </a:r>
            <a:endParaRPr lang="zh-CN" altLang="en-US"/>
          </a:p>
        </p:txBody>
      </p:sp>
      <p:sp>
        <p:nvSpPr>
          <p:cNvPr id="4" name="灯片编号占位符 3"/>
          <p:cNvSpPr>
            <a:spLocks noGrp="1"/>
          </p:cNvSpPr>
          <p:nvPr>
            <p:ph type="sldNum" sz="quarter" idx="12"/>
          </p:nvPr>
        </p:nvSpPr>
        <p:spPr/>
        <p:txBody>
          <a:bodyPr/>
          <a:lstStyle/>
          <a:p>
            <a:fld id="{6E1C0148-8E4B-4B2F-95CE-20B4709700AE}" type="slidenum">
              <a:rPr lang="zh-CN" altLang="en-US" smtClean="0"/>
            </a:fld>
            <a:endParaRPr lang="zh-CN" altLang="en-US"/>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ext Box 2"/>
          <p:cNvSpPr txBox="1"/>
          <p:nvPr/>
        </p:nvSpPr>
        <p:spPr>
          <a:xfrm>
            <a:off x="646113" y="1076325"/>
            <a:ext cx="7715574" cy="1786643"/>
          </a:xfrm>
          <a:prstGeom prst="rect">
            <a:avLst/>
          </a:prstGeom>
          <a:noFill/>
          <a:ln w="9525">
            <a:noFill/>
          </a:ln>
        </p:spPr>
        <p:txBody>
          <a:bodyPr wrap="none">
            <a:spAutoFit/>
          </a:bodyPr>
          <a:lstStyle/>
          <a:p>
            <a:pPr>
              <a:lnSpc>
                <a:spcPct val="120000"/>
              </a:lnSpc>
            </a:pPr>
            <a:r>
              <a:rPr lang="zh-CN" altLang="en-US" sz="3200" b="1" dirty="0">
                <a:solidFill>
                  <a:srgbClr val="006699"/>
                </a:solidFill>
                <a:latin typeface="楷体_GB2312" panose="02010609030101010101" pitchFamily="49" charset="-122"/>
                <a:ea typeface="楷体_GB2312" panose="02010609030101010101" pitchFamily="49" charset="-122"/>
              </a:rPr>
              <a:t>赋值参数 </a:t>
            </a:r>
            <a:r>
              <a:rPr lang="zh-CN" altLang="en-US" sz="3200" dirty="0">
                <a:solidFill>
                  <a:srgbClr val="FF0000"/>
                </a:solidFill>
                <a:latin typeface="楷体_GB2312" panose="02010609030101010101" pitchFamily="49" charset="-122"/>
                <a:ea typeface="楷体_GB2312" panose="02010609030101010101" pitchFamily="49" charset="-122"/>
              </a:rPr>
              <a:t>只为操作提供输入值</a:t>
            </a:r>
            <a:r>
              <a:rPr lang="zh-CN" altLang="en-US" sz="3200" dirty="0">
                <a:solidFill>
                  <a:schemeClr val="tx2"/>
                </a:solidFill>
                <a:latin typeface="楷体_GB2312" panose="02010609030101010101" pitchFamily="49" charset="-122"/>
                <a:ea typeface="楷体_GB2312" panose="02010609030101010101" pitchFamily="49" charset="-122"/>
              </a:rPr>
              <a:t>。</a:t>
            </a:r>
            <a:endParaRPr lang="zh-CN" altLang="en-US" sz="3200" dirty="0">
              <a:latin typeface="楷体_GB2312" panose="02010609030101010101" pitchFamily="49" charset="-122"/>
              <a:ea typeface="楷体_GB2312" panose="02010609030101010101" pitchFamily="49" charset="-122"/>
            </a:endParaRPr>
          </a:p>
          <a:p>
            <a:pPr>
              <a:lnSpc>
                <a:spcPct val="120000"/>
              </a:lnSpc>
            </a:pPr>
            <a:r>
              <a:rPr lang="zh-CN" altLang="en-US" sz="3200" b="1" dirty="0">
                <a:solidFill>
                  <a:srgbClr val="006699"/>
                </a:solidFill>
                <a:latin typeface="楷体_GB2312" panose="02010609030101010101" pitchFamily="49" charset="-122"/>
                <a:ea typeface="楷体_GB2312" panose="02010609030101010101" pitchFamily="49" charset="-122"/>
              </a:rPr>
              <a:t>引用参数 </a:t>
            </a:r>
            <a:r>
              <a:rPr lang="zh-CN" altLang="en-US" sz="3200" dirty="0">
                <a:solidFill>
                  <a:schemeClr val="tx2"/>
                </a:solidFill>
                <a:latin typeface="楷体_GB2312" panose="02010609030101010101" pitchFamily="49" charset="-122"/>
                <a:ea typeface="楷体_GB2312" panose="02010609030101010101" pitchFamily="49" charset="-122"/>
              </a:rPr>
              <a:t>以</a:t>
            </a:r>
            <a:r>
              <a:rPr lang="en-US" altLang="zh-CN" sz="3200" b="1" dirty="0">
                <a:solidFill>
                  <a:schemeClr val="tx2"/>
                </a:solidFill>
                <a:latin typeface="Times New Roman" panose="02020603050405020304" pitchFamily="18" charset="0"/>
                <a:ea typeface="楷体_GB2312" panose="02010609030101010101" pitchFamily="49" charset="-122"/>
              </a:rPr>
              <a:t>&amp;</a:t>
            </a:r>
            <a:r>
              <a:rPr lang="zh-CN" altLang="en-US" sz="3200" dirty="0">
                <a:solidFill>
                  <a:schemeClr val="tx2"/>
                </a:solidFill>
                <a:latin typeface="楷体_GB2312" panose="02010609030101010101" pitchFamily="49" charset="-122"/>
                <a:ea typeface="楷体_GB2312" panose="02010609030101010101" pitchFamily="49" charset="-122"/>
              </a:rPr>
              <a:t>打头，除可</a:t>
            </a:r>
            <a:r>
              <a:rPr lang="zh-CN" altLang="en-US" sz="3200" dirty="0">
                <a:solidFill>
                  <a:srgbClr val="FF0000"/>
                </a:solidFill>
                <a:latin typeface="楷体_GB2312" panose="02010609030101010101" pitchFamily="49" charset="-122"/>
                <a:ea typeface="楷体_GB2312" panose="02010609030101010101" pitchFamily="49" charset="-122"/>
              </a:rPr>
              <a:t>提供输入值</a:t>
            </a:r>
            <a:r>
              <a:rPr lang="zh-CN" altLang="en-US" sz="3200" dirty="0">
                <a:solidFill>
                  <a:schemeClr val="tx2"/>
                </a:solidFill>
                <a:latin typeface="楷体_GB2312" panose="02010609030101010101" pitchFamily="49" charset="-122"/>
                <a:ea typeface="楷体_GB2312" panose="02010609030101010101" pitchFamily="49" charset="-122"/>
              </a:rPr>
              <a:t>外，</a:t>
            </a:r>
            <a:endParaRPr lang="zh-CN" altLang="en-US" sz="3200" dirty="0">
              <a:solidFill>
                <a:schemeClr val="tx2"/>
              </a:solidFill>
              <a:latin typeface="楷体_GB2312" panose="02010609030101010101" pitchFamily="49" charset="-122"/>
              <a:ea typeface="楷体_GB2312" panose="02010609030101010101" pitchFamily="49" charset="-122"/>
            </a:endParaRPr>
          </a:p>
          <a:p>
            <a:pPr>
              <a:lnSpc>
                <a:spcPct val="120000"/>
              </a:lnSpc>
            </a:pPr>
            <a:r>
              <a:rPr lang="zh-CN" altLang="en-US" sz="3200" dirty="0">
                <a:solidFill>
                  <a:schemeClr val="tx2"/>
                </a:solidFill>
                <a:latin typeface="楷体_GB2312" panose="02010609030101010101" pitchFamily="49" charset="-122"/>
                <a:ea typeface="楷体_GB2312" panose="02010609030101010101" pitchFamily="49" charset="-122"/>
              </a:rPr>
              <a:t>还将</a:t>
            </a:r>
            <a:r>
              <a:rPr lang="zh-CN" altLang="en-US" sz="3200" dirty="0">
                <a:solidFill>
                  <a:srgbClr val="FF0000"/>
                </a:solidFill>
                <a:latin typeface="楷体_GB2312" panose="02010609030101010101" pitchFamily="49" charset="-122"/>
                <a:ea typeface="楷体_GB2312" panose="02010609030101010101" pitchFamily="49" charset="-122"/>
              </a:rPr>
              <a:t>返回操作结果</a:t>
            </a:r>
            <a:r>
              <a:rPr lang="zh-CN" altLang="en-US" sz="3200" dirty="0">
                <a:solidFill>
                  <a:schemeClr val="tx2"/>
                </a:solidFill>
                <a:latin typeface="楷体_GB2312" panose="02010609030101010101" pitchFamily="49" charset="-122"/>
                <a:ea typeface="楷体_GB2312" panose="02010609030101010101" pitchFamily="49" charset="-122"/>
              </a:rPr>
              <a:t>。</a:t>
            </a:r>
            <a:endParaRPr lang="zh-CN" altLang="en-US" sz="3200" dirty="0">
              <a:latin typeface="楷体_GB2312" panose="02010609030101010101" pitchFamily="49" charset="-122"/>
              <a:ea typeface="楷体_GB2312" panose="02010609030101010101" pitchFamily="49" charset="-122"/>
            </a:endParaRPr>
          </a:p>
        </p:txBody>
      </p:sp>
      <p:sp>
        <p:nvSpPr>
          <p:cNvPr id="59395" name="Text Box 3"/>
          <p:cNvSpPr txBox="1"/>
          <p:nvPr/>
        </p:nvSpPr>
        <p:spPr>
          <a:xfrm>
            <a:off x="633413" y="2862968"/>
            <a:ext cx="8362950" cy="1786643"/>
          </a:xfrm>
          <a:prstGeom prst="rect">
            <a:avLst/>
          </a:prstGeom>
          <a:noFill/>
          <a:ln w="9525">
            <a:noFill/>
          </a:ln>
        </p:spPr>
        <p:txBody>
          <a:bodyPr>
            <a:spAutoFit/>
          </a:bodyPr>
          <a:lstStyle/>
          <a:p>
            <a:pPr>
              <a:lnSpc>
                <a:spcPct val="120000"/>
              </a:lnSpc>
            </a:pPr>
            <a:r>
              <a:rPr lang="zh-CN" altLang="en-US" sz="3200" b="1" dirty="0">
                <a:solidFill>
                  <a:srgbClr val="006699"/>
                </a:solidFill>
                <a:latin typeface="楷体_GB2312" panose="02010609030101010101" pitchFamily="49" charset="-122"/>
                <a:ea typeface="楷体_GB2312" panose="02010609030101010101" pitchFamily="49" charset="-122"/>
              </a:rPr>
              <a:t>初始条件 </a:t>
            </a:r>
            <a:r>
              <a:rPr lang="zh-CN" altLang="en-US" sz="3200" dirty="0">
                <a:solidFill>
                  <a:srgbClr val="FF0000"/>
                </a:solidFill>
                <a:latin typeface="楷体_GB2312" panose="02010609030101010101" pitchFamily="49" charset="-122"/>
                <a:ea typeface="楷体_GB2312" panose="02010609030101010101" pitchFamily="49" charset="-122"/>
              </a:rPr>
              <a:t>描述了操作执行之前数据结构和参数应满足的条件</a:t>
            </a:r>
            <a:r>
              <a:rPr lang="zh-CN" altLang="en-US" sz="3200" dirty="0">
                <a:solidFill>
                  <a:schemeClr val="tx2"/>
                </a:solidFill>
                <a:latin typeface="楷体_GB2312" panose="02010609030101010101" pitchFamily="49" charset="-122"/>
                <a:ea typeface="楷体_GB2312" panose="02010609030101010101" pitchFamily="49" charset="-122"/>
              </a:rPr>
              <a:t>，若不满足，则操作失败，并返回相应出错信息。</a:t>
            </a:r>
            <a:endParaRPr lang="zh-CN" altLang="en-US" sz="3200" dirty="0">
              <a:solidFill>
                <a:schemeClr val="tx2"/>
              </a:solidFill>
              <a:latin typeface="楷体_GB2312" panose="02010609030101010101" pitchFamily="49" charset="-122"/>
              <a:ea typeface="楷体_GB2312" panose="02010609030101010101" pitchFamily="49" charset="-122"/>
            </a:endParaRPr>
          </a:p>
        </p:txBody>
      </p:sp>
      <p:sp>
        <p:nvSpPr>
          <p:cNvPr id="59396" name="Text Box 4"/>
          <p:cNvSpPr txBox="1"/>
          <p:nvPr/>
        </p:nvSpPr>
        <p:spPr>
          <a:xfrm>
            <a:off x="611092" y="4725144"/>
            <a:ext cx="8235950" cy="1217641"/>
          </a:xfrm>
          <a:prstGeom prst="rect">
            <a:avLst/>
          </a:prstGeom>
          <a:noFill/>
          <a:ln w="9525">
            <a:noFill/>
          </a:ln>
        </p:spPr>
        <p:txBody>
          <a:bodyPr>
            <a:spAutoFit/>
          </a:bodyPr>
          <a:lstStyle/>
          <a:p>
            <a:pPr>
              <a:lnSpc>
                <a:spcPct val="120000"/>
              </a:lnSpc>
            </a:pPr>
            <a:r>
              <a:rPr lang="zh-CN" altLang="en-US" sz="3200" b="1" dirty="0">
                <a:solidFill>
                  <a:srgbClr val="006699"/>
                </a:solidFill>
                <a:latin typeface="楷体_GB2312" panose="02010609030101010101" pitchFamily="49" charset="-122"/>
                <a:ea typeface="楷体_GB2312" panose="02010609030101010101" pitchFamily="49" charset="-122"/>
              </a:rPr>
              <a:t>操作结果 </a:t>
            </a:r>
            <a:r>
              <a:rPr lang="zh-CN" altLang="en-US" sz="3200" dirty="0">
                <a:solidFill>
                  <a:schemeClr val="tx2"/>
                </a:solidFill>
                <a:latin typeface="楷体_GB2312" panose="02010609030101010101" pitchFamily="49" charset="-122"/>
                <a:ea typeface="楷体_GB2312" panose="02010609030101010101" pitchFamily="49" charset="-122"/>
              </a:rPr>
              <a:t>说明了操作正常</a:t>
            </a:r>
            <a:r>
              <a:rPr lang="zh-CN" altLang="en-US" sz="3200" dirty="0">
                <a:solidFill>
                  <a:srgbClr val="FF0000"/>
                </a:solidFill>
                <a:latin typeface="楷体_GB2312" panose="02010609030101010101" pitchFamily="49" charset="-122"/>
                <a:ea typeface="楷体_GB2312" panose="02010609030101010101" pitchFamily="49" charset="-122"/>
              </a:rPr>
              <a:t>完成之后</a:t>
            </a:r>
            <a:r>
              <a:rPr lang="zh-CN" altLang="en-US" sz="3200" dirty="0">
                <a:solidFill>
                  <a:schemeClr val="tx2"/>
                </a:solidFill>
                <a:latin typeface="楷体_GB2312" panose="02010609030101010101" pitchFamily="49" charset="-122"/>
                <a:ea typeface="楷体_GB2312" panose="02010609030101010101" pitchFamily="49" charset="-122"/>
              </a:rPr>
              <a:t>，</a:t>
            </a:r>
            <a:r>
              <a:rPr lang="zh-CN" altLang="en-US" sz="3200" dirty="0">
                <a:solidFill>
                  <a:srgbClr val="FF0000"/>
                </a:solidFill>
                <a:latin typeface="楷体_GB2312" panose="02010609030101010101" pitchFamily="49" charset="-122"/>
                <a:ea typeface="楷体_GB2312" panose="02010609030101010101" pitchFamily="49" charset="-122"/>
              </a:rPr>
              <a:t>数据结构的变化状况和应返回的结果</a:t>
            </a:r>
            <a:r>
              <a:rPr lang="zh-CN" altLang="en-US" sz="3200" dirty="0">
                <a:solidFill>
                  <a:schemeClr val="tx2"/>
                </a:solidFill>
                <a:latin typeface="楷体_GB2312" panose="02010609030101010101" pitchFamily="49" charset="-122"/>
                <a:ea typeface="楷体_GB2312" panose="02010609030101010101" pitchFamily="49" charset="-122"/>
              </a:rPr>
              <a:t>。</a:t>
            </a:r>
            <a:endParaRPr lang="zh-CN" altLang="en-US" sz="3200" dirty="0">
              <a:solidFill>
                <a:schemeClr val="tx2"/>
              </a:solidFill>
              <a:latin typeface="Times New Roman" panose="02020603050405020304" pitchFamily="18" charset="0"/>
            </a:endParaRPr>
          </a:p>
        </p:txBody>
      </p:sp>
      <p:sp>
        <p:nvSpPr>
          <p:cNvPr id="2" name="日期占位符 1"/>
          <p:cNvSpPr>
            <a:spLocks noGrp="1"/>
          </p:cNvSpPr>
          <p:nvPr>
            <p:ph type="dt" sz="half" idx="10"/>
          </p:nvPr>
        </p:nvSpPr>
        <p:spPr/>
        <p:txBody>
          <a:bodyPr/>
          <a:lstStyle/>
          <a:p>
            <a:r>
              <a:rPr lang="en-US" altLang="zh-CN"/>
              <a:t>Data Structures and algorithms</a:t>
            </a:r>
            <a:endParaRPr lang="zh-CN" altLang="en-US"/>
          </a:p>
        </p:txBody>
      </p:sp>
      <p:sp>
        <p:nvSpPr>
          <p:cNvPr id="3" name="页脚占位符 2"/>
          <p:cNvSpPr>
            <a:spLocks noGrp="1"/>
          </p:cNvSpPr>
          <p:nvPr>
            <p:ph type="ftr" sz="quarter" idx="11"/>
          </p:nvPr>
        </p:nvSpPr>
        <p:spPr/>
        <p:txBody>
          <a:bodyPr/>
          <a:lstStyle/>
          <a:p>
            <a:r>
              <a:rPr lang="en-US" altLang="zh-CN"/>
              <a:t>Software College Northeastern University</a:t>
            </a:r>
            <a:endParaRPr lang="zh-CN" altLang="en-US"/>
          </a:p>
        </p:txBody>
      </p:sp>
      <p:sp>
        <p:nvSpPr>
          <p:cNvPr id="4" name="灯片编号占位符 3"/>
          <p:cNvSpPr>
            <a:spLocks noGrp="1"/>
          </p:cNvSpPr>
          <p:nvPr>
            <p:ph type="sldNum" sz="quarter" idx="12"/>
          </p:nvPr>
        </p:nvSpPr>
        <p:spPr/>
        <p:txBody>
          <a:bodyPr/>
          <a:lstStyle/>
          <a:p>
            <a:fld id="{6E1C0148-8E4B-4B2F-95CE-20B4709700AE}" type="slidenum">
              <a:rPr lang="zh-CN" altLang="en-US" smtClean="0"/>
            </a:fld>
            <a:endParaRPr lang="zh-CN" altLang="en-US"/>
          </a:p>
        </p:txBody>
      </p: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日期占位符 1"/>
          <p:cNvSpPr>
            <a:spLocks noGrp="1"/>
          </p:cNvSpPr>
          <p:nvPr>
            <p:ph type="dt" sz="half" idx="10"/>
          </p:nvPr>
        </p:nvSpPr>
        <p:spPr/>
        <p:txBody>
          <a:bodyPr wrap="square" lIns="91440" tIns="45720" rIns="91440" bIns="45720" anchor="t"/>
          <a:lstStyle>
            <a:lvl1pPr marL="0" lvl="0" indent="0" algn="l" defTabSz="914400" rtl="0" eaLnBrk="0" fontAlgn="base" latinLnBrk="0" hangingPunct="0">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indent="0">
              <a:spcBef>
                <a:spcPct val="50000"/>
              </a:spcBef>
            </a:pPr>
            <a:r>
              <a:rPr lang="en-US" altLang="zh-CN" sz="1400">
                <a:solidFill>
                  <a:schemeClr val="bg2"/>
                </a:solidFill>
              </a:rPr>
              <a:t>Data Structures and algorithms</a:t>
            </a:r>
            <a:endParaRPr lang="en-US" altLang="zh-CN" sz="1400">
              <a:solidFill>
                <a:schemeClr val="bg2"/>
              </a:solidFill>
            </a:endParaRPr>
          </a:p>
        </p:txBody>
      </p:sp>
      <p:sp>
        <p:nvSpPr>
          <p:cNvPr id="45058" name="页脚占位符 2"/>
          <p:cNvSpPr>
            <a:spLocks noGrp="1"/>
          </p:cNvSpPr>
          <p:nvPr>
            <p:ph type="ftr" sz="quarter" idx="11"/>
          </p:nvPr>
        </p:nvSpPr>
        <p:spPr/>
        <p:txBody>
          <a:bodyPr wrap="square" lIns="91440" tIns="45720" rIns="91440" bIns="45720" anchor="t"/>
          <a:lstStyle>
            <a:lvl1pPr marL="0" lvl="0" indent="0" algn="l" defTabSz="914400" rtl="0" eaLnBrk="0" fontAlgn="base" latinLnBrk="0" hangingPunct="0">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indent="0">
              <a:spcBef>
                <a:spcPct val="50000"/>
              </a:spcBef>
            </a:pPr>
            <a:r>
              <a:rPr lang="zh-CN" altLang="en-US" sz="1400">
                <a:solidFill>
                  <a:schemeClr val="bg2"/>
                </a:solidFill>
              </a:rPr>
              <a:t>Software College Northeastern University</a:t>
            </a:r>
            <a:endParaRPr lang="en-US" altLang="zh-CN" sz="1400">
              <a:solidFill>
                <a:schemeClr val="bg2"/>
              </a:solidFill>
            </a:endParaRPr>
          </a:p>
        </p:txBody>
      </p:sp>
      <p:sp>
        <p:nvSpPr>
          <p:cNvPr id="45059" name="灯片编号占位符 3"/>
          <p:cNvSpPr>
            <a:spLocks noGrp="1"/>
          </p:cNvSpPr>
          <p:nvPr>
            <p:ph type="sldNum" sz="quarter" idx="12"/>
          </p:nvPr>
        </p:nvSpPr>
        <p:spPr/>
        <p:txBody>
          <a:bodyPr wrap="square" lIns="91440" tIns="45720" rIns="91440" bIns="45720" anchor="t"/>
          <a:lstStyle>
            <a:lvl1pPr marL="0" lvl="0" indent="0" algn="l" defTabSz="914400" rtl="0" eaLnBrk="0" fontAlgn="base" latinLnBrk="0" hangingPunct="0">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indent="0" algn="r">
              <a:spcBef>
                <a:spcPct val="50000"/>
              </a:spcBef>
            </a:pPr>
            <a:r>
              <a:rPr lang="zh-CN" altLang="en-US" sz="1400">
                <a:solidFill>
                  <a:schemeClr val="bg2"/>
                </a:solidFill>
                <a:latin typeface="Comic Sans MS" panose="030F0702030302020204" pitchFamily="66" charset="0"/>
              </a:rPr>
              <a:t>*</a:t>
            </a:r>
            <a:endParaRPr lang="en-US" altLang="zh-CN" sz="1400">
              <a:solidFill>
                <a:schemeClr val="bg2"/>
              </a:solidFill>
              <a:latin typeface="Comic Sans MS" panose="030F0702030302020204" pitchFamily="66" charset="0"/>
            </a:endParaRPr>
          </a:p>
        </p:txBody>
      </p:sp>
      <p:sp>
        <p:nvSpPr>
          <p:cNvPr id="45060" name="Text Box 2"/>
          <p:cNvSpPr txBox="1"/>
          <p:nvPr/>
        </p:nvSpPr>
        <p:spPr>
          <a:xfrm>
            <a:off x="7620000" y="3962400"/>
            <a:ext cx="1524000" cy="1077913"/>
          </a:xfrm>
          <a:prstGeom prst="rect">
            <a:avLst/>
          </a:prstGeom>
          <a:noFill/>
          <a:ln w="9525">
            <a:noFill/>
          </a:ln>
        </p:spPr>
        <p:txBody>
          <a:bodyPr wrap="square" anchor="t">
            <a:spAutoFit/>
          </a:bodyPr>
          <a:lstStyle/>
          <a:p>
            <a:pPr indent="0"/>
            <a:r>
              <a:rPr lang="en-US" altLang="zh-CN" sz="3200" dirty="0">
                <a:solidFill>
                  <a:srgbClr val="0000CC"/>
                </a:solidFill>
                <a:latin typeface="Times New Roman" panose="02020603050405020304" pitchFamily="18" charset="0"/>
                <a:ea typeface="隶书" panose="02010509060101010101" pitchFamily="49" charset="-122"/>
              </a:rPr>
              <a:t>ADT </a:t>
            </a:r>
            <a:r>
              <a:rPr lang="en-US" altLang="zh-CN" sz="3200">
                <a:solidFill>
                  <a:srgbClr val="0000CC"/>
                </a:solidFill>
                <a:latin typeface="Times New Roman" panose="02020603050405020304" pitchFamily="18" charset="0"/>
                <a:ea typeface="隶书" panose="02010509060101010101" pitchFamily="49" charset="-122"/>
              </a:rPr>
              <a:t>of students</a:t>
            </a:r>
            <a:endParaRPr lang="en-US" altLang="zh-CN" sz="3200">
              <a:latin typeface="Times New Roman" panose="02020603050405020304" pitchFamily="18" charset="0"/>
              <a:ea typeface="隶书" panose="02010509060101010101" pitchFamily="49" charset="-122"/>
            </a:endParaRPr>
          </a:p>
        </p:txBody>
      </p:sp>
      <p:sp>
        <p:nvSpPr>
          <p:cNvPr id="45061" name="Oval 3"/>
          <p:cNvSpPr/>
          <p:nvPr/>
        </p:nvSpPr>
        <p:spPr>
          <a:xfrm>
            <a:off x="1447800" y="1219200"/>
            <a:ext cx="762000" cy="381000"/>
          </a:xfrm>
          <a:prstGeom prst="ellipse">
            <a:avLst/>
          </a:prstGeom>
          <a:solidFill>
            <a:srgbClr val="FFCC99"/>
          </a:solidFill>
          <a:ln w="9525" cap="flat" cmpd="sng">
            <a:solidFill>
              <a:schemeClr val="tx1"/>
            </a:solidFill>
            <a:prstDash val="solid"/>
            <a:round/>
            <a:headEnd type="none" w="med" len="med"/>
            <a:tailEnd type="none" w="med" len="med"/>
          </a:ln>
          <a:effectLst>
            <a:outerShdw dist="107763" dir="2699999" algn="ctr" rotWithShape="0">
              <a:schemeClr val="bg2"/>
            </a:outerShdw>
          </a:effectLst>
        </p:spPr>
        <p:txBody>
          <a:bodyPr wrap="none" anchor="ctr"/>
          <a:lstStyle/>
          <a:p>
            <a:pPr indent="0" eaLnBrk="0" hangingPunct="0"/>
            <a:endParaRPr lang="zh-CN" altLang="en-US">
              <a:latin typeface="Times New Roman" panose="02020603050405020304" pitchFamily="18" charset="0"/>
              <a:ea typeface="宋体" panose="02010600030101010101" pitchFamily="2" charset="-122"/>
            </a:endParaRPr>
          </a:p>
        </p:txBody>
      </p:sp>
      <p:sp>
        <p:nvSpPr>
          <p:cNvPr id="45062" name="Oval 4"/>
          <p:cNvSpPr/>
          <p:nvPr/>
        </p:nvSpPr>
        <p:spPr>
          <a:xfrm>
            <a:off x="2895600" y="838200"/>
            <a:ext cx="838200" cy="381000"/>
          </a:xfrm>
          <a:prstGeom prst="ellipse">
            <a:avLst/>
          </a:prstGeom>
          <a:solidFill>
            <a:srgbClr val="FFCC99"/>
          </a:solidFill>
          <a:ln w="9525" cap="flat" cmpd="sng">
            <a:solidFill>
              <a:schemeClr val="tx1"/>
            </a:solidFill>
            <a:prstDash val="solid"/>
            <a:round/>
            <a:headEnd type="none" w="med" len="med"/>
            <a:tailEnd type="none" w="med" len="med"/>
          </a:ln>
          <a:effectLst>
            <a:outerShdw dist="107763" dir="2699999" algn="ctr" rotWithShape="0">
              <a:schemeClr val="bg2"/>
            </a:outerShdw>
          </a:effectLst>
        </p:spPr>
        <p:txBody>
          <a:bodyPr wrap="none" anchor="ctr"/>
          <a:lstStyle/>
          <a:p>
            <a:pPr indent="0" eaLnBrk="0" hangingPunct="0"/>
            <a:endParaRPr lang="zh-CN" altLang="en-US">
              <a:latin typeface="Times New Roman" panose="02020603050405020304" pitchFamily="18" charset="0"/>
              <a:ea typeface="宋体" panose="02010600030101010101" pitchFamily="2" charset="-122"/>
            </a:endParaRPr>
          </a:p>
        </p:txBody>
      </p:sp>
      <p:sp>
        <p:nvSpPr>
          <p:cNvPr id="45063" name="Oval 5"/>
          <p:cNvSpPr/>
          <p:nvPr/>
        </p:nvSpPr>
        <p:spPr>
          <a:xfrm>
            <a:off x="4038600" y="2057400"/>
            <a:ext cx="762000" cy="381000"/>
          </a:xfrm>
          <a:prstGeom prst="ellipse">
            <a:avLst/>
          </a:prstGeom>
          <a:solidFill>
            <a:srgbClr val="FFCC99"/>
          </a:solidFill>
          <a:ln w="9525" cap="flat" cmpd="sng">
            <a:solidFill>
              <a:schemeClr val="tx1"/>
            </a:solidFill>
            <a:prstDash val="solid"/>
            <a:round/>
            <a:headEnd type="none" w="med" len="med"/>
            <a:tailEnd type="none" w="med" len="med"/>
          </a:ln>
          <a:effectLst>
            <a:outerShdw dist="107763" dir="2699999" algn="ctr" rotWithShape="0">
              <a:schemeClr val="bg2"/>
            </a:outerShdw>
          </a:effectLst>
        </p:spPr>
        <p:txBody>
          <a:bodyPr wrap="none" anchor="ctr"/>
          <a:lstStyle/>
          <a:p>
            <a:pPr indent="0" eaLnBrk="0" hangingPunct="0"/>
            <a:endParaRPr lang="zh-CN" altLang="en-US">
              <a:latin typeface="Times New Roman" panose="02020603050405020304" pitchFamily="18" charset="0"/>
              <a:ea typeface="宋体" panose="02010600030101010101" pitchFamily="2" charset="-122"/>
            </a:endParaRPr>
          </a:p>
        </p:txBody>
      </p:sp>
      <p:sp>
        <p:nvSpPr>
          <p:cNvPr id="45064" name="Oval 6"/>
          <p:cNvSpPr/>
          <p:nvPr/>
        </p:nvSpPr>
        <p:spPr>
          <a:xfrm>
            <a:off x="5334000" y="685800"/>
            <a:ext cx="762000" cy="381000"/>
          </a:xfrm>
          <a:prstGeom prst="ellipse">
            <a:avLst/>
          </a:prstGeom>
          <a:solidFill>
            <a:srgbClr val="FFCC99"/>
          </a:solidFill>
          <a:ln w="9525" cap="flat" cmpd="sng">
            <a:solidFill>
              <a:schemeClr val="tx1"/>
            </a:solidFill>
            <a:prstDash val="solid"/>
            <a:round/>
            <a:headEnd type="none" w="med" len="med"/>
            <a:tailEnd type="none" w="med" len="med"/>
          </a:ln>
          <a:effectLst>
            <a:outerShdw dist="107763" dir="2699999" algn="ctr" rotWithShape="0">
              <a:schemeClr val="bg2"/>
            </a:outerShdw>
          </a:effectLst>
        </p:spPr>
        <p:txBody>
          <a:bodyPr wrap="none" anchor="ctr"/>
          <a:lstStyle/>
          <a:p>
            <a:pPr indent="0" eaLnBrk="0" hangingPunct="0"/>
            <a:endParaRPr lang="zh-CN" altLang="en-US">
              <a:latin typeface="Times New Roman" panose="02020603050405020304" pitchFamily="18" charset="0"/>
              <a:ea typeface="宋体" panose="02010600030101010101" pitchFamily="2" charset="-122"/>
            </a:endParaRPr>
          </a:p>
        </p:txBody>
      </p:sp>
      <p:sp>
        <p:nvSpPr>
          <p:cNvPr id="45065" name="Oval 7"/>
          <p:cNvSpPr/>
          <p:nvPr/>
        </p:nvSpPr>
        <p:spPr>
          <a:xfrm>
            <a:off x="6934200" y="2286000"/>
            <a:ext cx="838200" cy="381000"/>
          </a:xfrm>
          <a:prstGeom prst="ellipse">
            <a:avLst/>
          </a:prstGeom>
          <a:solidFill>
            <a:srgbClr val="FFCC99"/>
          </a:solidFill>
          <a:ln w="9525" cap="flat" cmpd="sng">
            <a:solidFill>
              <a:schemeClr val="tx1"/>
            </a:solidFill>
            <a:prstDash val="solid"/>
            <a:round/>
            <a:headEnd type="none" w="med" len="med"/>
            <a:tailEnd type="none" w="med" len="med"/>
          </a:ln>
          <a:effectLst>
            <a:outerShdw dist="107763" dir="2699999" algn="ctr" rotWithShape="0">
              <a:schemeClr val="bg2"/>
            </a:outerShdw>
          </a:effectLst>
        </p:spPr>
        <p:txBody>
          <a:bodyPr wrap="none" anchor="ctr"/>
          <a:lstStyle/>
          <a:p>
            <a:pPr indent="0" eaLnBrk="0" hangingPunct="0"/>
            <a:endParaRPr lang="zh-CN" altLang="en-US">
              <a:latin typeface="Times New Roman" panose="02020603050405020304" pitchFamily="18" charset="0"/>
              <a:ea typeface="宋体" panose="02010600030101010101" pitchFamily="2" charset="-122"/>
            </a:endParaRPr>
          </a:p>
        </p:txBody>
      </p:sp>
      <p:sp>
        <p:nvSpPr>
          <p:cNvPr id="45066" name="Oval 8"/>
          <p:cNvSpPr/>
          <p:nvPr/>
        </p:nvSpPr>
        <p:spPr>
          <a:xfrm>
            <a:off x="6858000" y="381000"/>
            <a:ext cx="762000" cy="381000"/>
          </a:xfrm>
          <a:prstGeom prst="ellipse">
            <a:avLst/>
          </a:prstGeom>
          <a:solidFill>
            <a:srgbClr val="FFCC99"/>
          </a:solidFill>
          <a:ln w="9525" cap="flat" cmpd="sng">
            <a:solidFill>
              <a:schemeClr val="tx1"/>
            </a:solidFill>
            <a:prstDash val="solid"/>
            <a:round/>
            <a:headEnd type="none" w="med" len="med"/>
            <a:tailEnd type="none" w="med" len="med"/>
          </a:ln>
          <a:effectLst>
            <a:outerShdw dist="107763" dir="2699999" algn="ctr" rotWithShape="0">
              <a:schemeClr val="bg2"/>
            </a:outerShdw>
          </a:effectLst>
        </p:spPr>
        <p:txBody>
          <a:bodyPr wrap="none" anchor="ctr"/>
          <a:lstStyle/>
          <a:p>
            <a:pPr indent="0" eaLnBrk="0" hangingPunct="0"/>
            <a:endParaRPr lang="zh-CN" altLang="en-US">
              <a:latin typeface="Times New Roman" panose="02020603050405020304" pitchFamily="18" charset="0"/>
              <a:ea typeface="宋体" panose="02010600030101010101" pitchFamily="2" charset="-122"/>
            </a:endParaRPr>
          </a:p>
        </p:txBody>
      </p:sp>
      <p:sp>
        <p:nvSpPr>
          <p:cNvPr id="45067" name="Oval 9"/>
          <p:cNvSpPr/>
          <p:nvPr/>
        </p:nvSpPr>
        <p:spPr>
          <a:xfrm>
            <a:off x="7924800" y="1295400"/>
            <a:ext cx="762000" cy="304800"/>
          </a:xfrm>
          <a:prstGeom prst="ellipse">
            <a:avLst/>
          </a:prstGeom>
          <a:solidFill>
            <a:srgbClr val="FFCC99"/>
          </a:solidFill>
          <a:ln w="9525" cap="flat" cmpd="sng">
            <a:solidFill>
              <a:schemeClr val="tx1"/>
            </a:solidFill>
            <a:prstDash val="solid"/>
            <a:round/>
            <a:headEnd type="none" w="med" len="med"/>
            <a:tailEnd type="none" w="med" len="med"/>
          </a:ln>
          <a:effectLst>
            <a:outerShdw dist="107763" dir="2699999" algn="ctr" rotWithShape="0">
              <a:schemeClr val="bg2"/>
            </a:outerShdw>
          </a:effectLst>
        </p:spPr>
        <p:txBody>
          <a:bodyPr wrap="none" anchor="ctr"/>
          <a:lstStyle/>
          <a:p>
            <a:pPr indent="0" eaLnBrk="0" hangingPunct="0"/>
            <a:endParaRPr lang="zh-CN" altLang="en-US">
              <a:latin typeface="Times New Roman" panose="02020603050405020304" pitchFamily="18" charset="0"/>
              <a:ea typeface="宋体" panose="02010600030101010101" pitchFamily="2" charset="-122"/>
            </a:endParaRPr>
          </a:p>
        </p:txBody>
      </p:sp>
      <p:sp>
        <p:nvSpPr>
          <p:cNvPr id="45068" name="Rectangle 10"/>
          <p:cNvSpPr/>
          <p:nvPr/>
        </p:nvSpPr>
        <p:spPr>
          <a:xfrm>
            <a:off x="1676400" y="3124200"/>
            <a:ext cx="5638800" cy="2819400"/>
          </a:xfrm>
          <a:prstGeom prst="rect">
            <a:avLst/>
          </a:prstGeom>
          <a:solidFill>
            <a:srgbClr val="CCFFCC"/>
          </a:solidFill>
          <a:ln w="9525"/>
          <a:scene3d>
            <a:camera prst="legacyObliqueTopRight">
              <a:rot lat="0" lon="0" rev="0"/>
            </a:camera>
            <a:lightRig rig="legacyFlat3" dir="t"/>
          </a:scene3d>
          <a:sp3d extrusionH="430200" prstMaterial="legacyMatte">
            <a:bevelT w="13500" h="13500" prst="angle"/>
            <a:bevelB w="13500" h="13500" prst="angle"/>
            <a:extrusionClr>
              <a:srgbClr val="CCFFCC"/>
            </a:extrusionClr>
          </a:sp3d>
        </p:spPr>
        <p:txBody>
          <a:bodyPr wrap="none" anchor="ctr">
            <a:flatTx/>
          </a:bodyPr>
          <a:lstStyle/>
          <a:p>
            <a:pPr indent="0" eaLnBrk="0" hangingPunct="0"/>
            <a:endParaRPr lang="zh-CN" altLang="en-US">
              <a:latin typeface="Times New Roman" panose="02020603050405020304" pitchFamily="18" charset="0"/>
              <a:ea typeface="宋体" panose="02010600030101010101" pitchFamily="2" charset="-122"/>
            </a:endParaRPr>
          </a:p>
        </p:txBody>
      </p:sp>
      <p:sp>
        <p:nvSpPr>
          <p:cNvPr id="45069" name="Rectangle 11"/>
          <p:cNvSpPr/>
          <p:nvPr/>
        </p:nvSpPr>
        <p:spPr>
          <a:xfrm>
            <a:off x="2057400" y="3124200"/>
            <a:ext cx="838200" cy="457200"/>
          </a:xfrm>
          <a:prstGeom prst="rect">
            <a:avLst/>
          </a:prstGeom>
          <a:solidFill>
            <a:schemeClr val="accent1"/>
          </a:solidFill>
          <a:ln w="9525">
            <a:noFill/>
          </a:ln>
          <a:effectLst>
            <a:prstShdw prst="shdw17" dist="17961" dir="2699999">
              <a:srgbClr val="876E6E"/>
            </a:prstShdw>
          </a:effectLst>
        </p:spPr>
        <p:txBody>
          <a:bodyPr wrap="none" anchor="ctr"/>
          <a:lstStyle/>
          <a:p>
            <a:pPr indent="0" eaLnBrk="0" hangingPunct="0"/>
            <a:endParaRPr lang="zh-CN" altLang="en-US">
              <a:latin typeface="Times New Roman" panose="02020603050405020304" pitchFamily="18" charset="0"/>
              <a:ea typeface="宋体" panose="02010600030101010101" pitchFamily="2" charset="-122"/>
            </a:endParaRPr>
          </a:p>
        </p:txBody>
      </p:sp>
      <p:sp>
        <p:nvSpPr>
          <p:cNvPr id="45070" name="Rectangle 12"/>
          <p:cNvSpPr/>
          <p:nvPr/>
        </p:nvSpPr>
        <p:spPr>
          <a:xfrm>
            <a:off x="3352800" y="3124200"/>
            <a:ext cx="838200" cy="457200"/>
          </a:xfrm>
          <a:prstGeom prst="rect">
            <a:avLst/>
          </a:prstGeom>
          <a:solidFill>
            <a:schemeClr val="accent1"/>
          </a:solidFill>
          <a:ln w="38100">
            <a:noFill/>
          </a:ln>
          <a:effectLst>
            <a:prstShdw prst="shdw17" dist="17961" dir="2699999">
              <a:srgbClr val="876E6E"/>
            </a:prstShdw>
          </a:effectLst>
        </p:spPr>
        <p:txBody>
          <a:bodyPr wrap="none" anchor="ctr"/>
          <a:lstStyle/>
          <a:p>
            <a:pPr indent="0" eaLnBrk="0" hangingPunct="0"/>
            <a:endParaRPr lang="zh-CN" altLang="en-US">
              <a:latin typeface="Times New Roman" panose="02020603050405020304" pitchFamily="18" charset="0"/>
              <a:ea typeface="宋体" panose="02010600030101010101" pitchFamily="2" charset="-122"/>
            </a:endParaRPr>
          </a:p>
        </p:txBody>
      </p:sp>
      <p:sp>
        <p:nvSpPr>
          <p:cNvPr id="45071" name="Rectangle 13"/>
          <p:cNvSpPr/>
          <p:nvPr/>
        </p:nvSpPr>
        <p:spPr>
          <a:xfrm>
            <a:off x="4800600" y="3124200"/>
            <a:ext cx="838200" cy="457200"/>
          </a:xfrm>
          <a:prstGeom prst="rect">
            <a:avLst/>
          </a:prstGeom>
          <a:solidFill>
            <a:schemeClr val="accent1"/>
          </a:solidFill>
          <a:ln w="9525">
            <a:noFill/>
          </a:ln>
          <a:effectLst>
            <a:prstShdw prst="shdw17" dist="17961" dir="2699999">
              <a:srgbClr val="876E6E"/>
            </a:prstShdw>
          </a:effectLst>
        </p:spPr>
        <p:txBody>
          <a:bodyPr wrap="none" anchor="ctr"/>
          <a:lstStyle/>
          <a:p>
            <a:pPr indent="0" eaLnBrk="0" hangingPunct="0"/>
            <a:endParaRPr lang="zh-CN" altLang="en-US">
              <a:latin typeface="Times New Roman" panose="02020603050405020304" pitchFamily="18" charset="0"/>
              <a:ea typeface="宋体" panose="02010600030101010101" pitchFamily="2" charset="-122"/>
            </a:endParaRPr>
          </a:p>
        </p:txBody>
      </p:sp>
      <p:sp>
        <p:nvSpPr>
          <p:cNvPr id="45072" name="Rectangle 14"/>
          <p:cNvSpPr/>
          <p:nvPr/>
        </p:nvSpPr>
        <p:spPr>
          <a:xfrm>
            <a:off x="6019800" y="3124200"/>
            <a:ext cx="838200" cy="457200"/>
          </a:xfrm>
          <a:prstGeom prst="rect">
            <a:avLst/>
          </a:prstGeom>
          <a:solidFill>
            <a:schemeClr val="accent1"/>
          </a:solidFill>
          <a:ln w="9525">
            <a:noFill/>
          </a:ln>
          <a:effectLst>
            <a:prstShdw prst="shdw17" dist="17961" dir="2699999">
              <a:srgbClr val="876E6E"/>
            </a:prstShdw>
          </a:effectLst>
        </p:spPr>
        <p:txBody>
          <a:bodyPr wrap="none" anchor="ctr"/>
          <a:lstStyle/>
          <a:p>
            <a:pPr indent="0" eaLnBrk="0" hangingPunct="0"/>
            <a:endParaRPr lang="zh-CN" altLang="en-US">
              <a:latin typeface="Times New Roman" panose="02020603050405020304" pitchFamily="18" charset="0"/>
              <a:ea typeface="宋体" panose="02010600030101010101" pitchFamily="2" charset="-122"/>
            </a:endParaRPr>
          </a:p>
        </p:txBody>
      </p:sp>
      <p:sp>
        <p:nvSpPr>
          <p:cNvPr id="45073" name="Text Box 15"/>
          <p:cNvSpPr txBox="1"/>
          <p:nvPr/>
        </p:nvSpPr>
        <p:spPr>
          <a:xfrm>
            <a:off x="1981200" y="3151188"/>
            <a:ext cx="5057775" cy="461962"/>
          </a:xfrm>
          <a:prstGeom prst="rect">
            <a:avLst/>
          </a:prstGeom>
          <a:noFill/>
          <a:ln w="9525">
            <a:noFill/>
          </a:ln>
        </p:spPr>
        <p:txBody>
          <a:bodyPr anchor="t">
            <a:spAutoFit/>
          </a:bodyPr>
          <a:lstStyle/>
          <a:p>
            <a:pPr indent="0"/>
            <a:r>
              <a:rPr lang="en-US" altLang="zh-CN" sz="2400" dirty="0">
                <a:solidFill>
                  <a:srgbClr val="0000FF"/>
                </a:solidFill>
                <a:latin typeface="Times New Roman" panose="02020603050405020304" pitchFamily="18" charset="0"/>
                <a:ea typeface="隶书" panose="02010509060101010101" pitchFamily="49" charset="-122"/>
              </a:rPr>
              <a:t>select          insert</a:t>
            </a:r>
            <a:r>
              <a:rPr lang="zh-CN" altLang="en-US" sz="2400" dirty="0">
                <a:solidFill>
                  <a:srgbClr val="0000FF"/>
                </a:solidFill>
                <a:latin typeface="Times New Roman" panose="02020603050405020304" pitchFamily="18" charset="0"/>
                <a:ea typeface="隶书" panose="02010509060101010101" pitchFamily="49" charset="-122"/>
              </a:rPr>
              <a:t>          </a:t>
            </a:r>
            <a:r>
              <a:rPr lang="en-US" altLang="zh-CN" sz="2400" dirty="0">
                <a:solidFill>
                  <a:srgbClr val="0000FF"/>
                </a:solidFill>
                <a:latin typeface="Times New Roman" panose="02020603050405020304" pitchFamily="18" charset="0"/>
                <a:ea typeface="隶书" panose="02010509060101010101" pitchFamily="49" charset="-122"/>
              </a:rPr>
              <a:t>delete     update</a:t>
            </a:r>
            <a:r>
              <a:rPr lang="zh-CN" altLang="en-US" sz="2400" dirty="0">
                <a:solidFill>
                  <a:srgbClr val="0000FF"/>
                </a:solidFill>
                <a:latin typeface="Times New Roman" panose="02020603050405020304" pitchFamily="18" charset="0"/>
                <a:ea typeface="隶书" panose="02010509060101010101" pitchFamily="49" charset="-122"/>
              </a:rPr>
              <a:t> </a:t>
            </a:r>
            <a:endParaRPr lang="zh-CN" altLang="en-US" sz="2400" dirty="0">
              <a:solidFill>
                <a:srgbClr val="0000FF"/>
              </a:solidFill>
              <a:latin typeface="Times New Roman" panose="02020603050405020304" pitchFamily="18" charset="0"/>
              <a:ea typeface="隶书" panose="02010509060101010101" pitchFamily="49" charset="-122"/>
            </a:endParaRPr>
          </a:p>
        </p:txBody>
      </p:sp>
      <p:cxnSp>
        <p:nvCxnSpPr>
          <p:cNvPr id="45074" name="AutoShape 16"/>
          <p:cNvCxnSpPr/>
          <p:nvPr/>
        </p:nvCxnSpPr>
        <p:spPr>
          <a:xfrm rot="5400000">
            <a:off x="6557963" y="1695450"/>
            <a:ext cx="1470025" cy="1233488"/>
          </a:xfrm>
          <a:prstGeom prst="curvedConnector3">
            <a:avLst>
              <a:gd name="adj1" fmla="val 77102"/>
            </a:avLst>
          </a:prstGeom>
          <a:ln w="31750" cap="flat" cmpd="sng">
            <a:solidFill>
              <a:schemeClr val="tx1"/>
            </a:solidFill>
            <a:prstDash val="solid"/>
            <a:round/>
            <a:headEnd type="triangle" w="med" len="med"/>
            <a:tailEnd type="triangle" w="med" len="med"/>
          </a:ln>
        </p:spPr>
      </p:cxnSp>
      <p:sp>
        <p:nvSpPr>
          <p:cNvPr id="45075" name="Line 17"/>
          <p:cNvSpPr/>
          <p:nvPr/>
        </p:nvSpPr>
        <p:spPr>
          <a:xfrm>
            <a:off x="1828800" y="1600200"/>
            <a:ext cx="381000" cy="1447800"/>
          </a:xfrm>
          <a:prstGeom prst="line">
            <a:avLst/>
          </a:prstGeom>
          <a:ln w="31750" cap="flat" cmpd="sng">
            <a:solidFill>
              <a:srgbClr val="333399"/>
            </a:solidFill>
            <a:prstDash val="solid"/>
            <a:round/>
            <a:headEnd type="triangle" w="med" len="med"/>
            <a:tailEnd type="triangle" w="med" len="med"/>
          </a:ln>
        </p:spPr>
        <p:txBody>
          <a:bodyPr wrap="none" anchor="ctr"/>
          <a:lstStyle/>
          <a:p>
            <a:pPr indent="0" eaLnBrk="0" hangingPunct="0"/>
            <a:endParaRPr lang="zh-CN" altLang="en-US">
              <a:latin typeface="Times New Roman" panose="02020603050405020304" pitchFamily="18" charset="0"/>
              <a:ea typeface="宋体" panose="02010600030101010101" pitchFamily="2" charset="-122"/>
            </a:endParaRPr>
          </a:p>
        </p:txBody>
      </p:sp>
      <p:sp>
        <p:nvSpPr>
          <p:cNvPr id="45076" name="Line 18"/>
          <p:cNvSpPr/>
          <p:nvPr/>
        </p:nvSpPr>
        <p:spPr>
          <a:xfrm flipH="1">
            <a:off x="2362200" y="1219200"/>
            <a:ext cx="838200" cy="1828800"/>
          </a:xfrm>
          <a:prstGeom prst="line">
            <a:avLst/>
          </a:prstGeom>
          <a:ln w="31750" cap="flat" cmpd="sng">
            <a:solidFill>
              <a:srgbClr val="333399"/>
            </a:solidFill>
            <a:prstDash val="solid"/>
            <a:round/>
            <a:headEnd type="triangle" w="med" len="med"/>
            <a:tailEnd type="triangle" w="med" len="med"/>
          </a:ln>
        </p:spPr>
        <p:txBody>
          <a:bodyPr wrap="none" anchor="ctr"/>
          <a:lstStyle/>
          <a:p>
            <a:pPr indent="0" eaLnBrk="0" hangingPunct="0"/>
            <a:endParaRPr lang="zh-CN" altLang="en-US">
              <a:latin typeface="Times New Roman" panose="02020603050405020304" pitchFamily="18" charset="0"/>
              <a:ea typeface="宋体" panose="02010600030101010101" pitchFamily="2" charset="-122"/>
            </a:endParaRPr>
          </a:p>
        </p:txBody>
      </p:sp>
      <p:sp>
        <p:nvSpPr>
          <p:cNvPr id="45077" name="Line 19"/>
          <p:cNvSpPr/>
          <p:nvPr/>
        </p:nvSpPr>
        <p:spPr>
          <a:xfrm flipH="1">
            <a:off x="2438400" y="1066800"/>
            <a:ext cx="2971800" cy="1981200"/>
          </a:xfrm>
          <a:prstGeom prst="line">
            <a:avLst/>
          </a:prstGeom>
          <a:ln w="31750" cap="flat" cmpd="sng">
            <a:solidFill>
              <a:srgbClr val="003300"/>
            </a:solidFill>
            <a:prstDash val="solid"/>
            <a:round/>
            <a:headEnd type="triangle" w="med" len="med"/>
            <a:tailEnd type="triangle" w="med" len="med"/>
          </a:ln>
        </p:spPr>
        <p:txBody>
          <a:bodyPr wrap="none" anchor="ctr"/>
          <a:lstStyle/>
          <a:p>
            <a:pPr indent="0" eaLnBrk="0" hangingPunct="0"/>
            <a:endParaRPr lang="zh-CN" altLang="en-US">
              <a:latin typeface="Times New Roman" panose="02020603050405020304" pitchFamily="18" charset="0"/>
              <a:ea typeface="宋体" panose="02010600030101010101" pitchFamily="2" charset="-122"/>
            </a:endParaRPr>
          </a:p>
        </p:txBody>
      </p:sp>
      <p:sp>
        <p:nvSpPr>
          <p:cNvPr id="45078" name="Line 20"/>
          <p:cNvSpPr/>
          <p:nvPr/>
        </p:nvSpPr>
        <p:spPr>
          <a:xfrm flipH="1">
            <a:off x="2743200" y="2286000"/>
            <a:ext cx="1295400" cy="762000"/>
          </a:xfrm>
          <a:prstGeom prst="line">
            <a:avLst/>
          </a:prstGeom>
          <a:ln w="31750" cap="flat" cmpd="sng">
            <a:solidFill>
              <a:srgbClr val="FF0000"/>
            </a:solidFill>
            <a:prstDash val="solid"/>
            <a:round/>
            <a:headEnd type="none" w="med" len="med"/>
            <a:tailEnd type="stealth" w="med" len="med"/>
          </a:ln>
        </p:spPr>
        <p:txBody>
          <a:bodyPr wrap="none" anchor="ctr"/>
          <a:lstStyle/>
          <a:p>
            <a:pPr indent="0" eaLnBrk="0" hangingPunct="0"/>
            <a:endParaRPr lang="zh-CN" altLang="en-US">
              <a:latin typeface="Times New Roman" panose="02020603050405020304" pitchFamily="18" charset="0"/>
              <a:ea typeface="宋体" panose="02010600030101010101" pitchFamily="2" charset="-122"/>
            </a:endParaRPr>
          </a:p>
        </p:txBody>
      </p:sp>
      <p:sp>
        <p:nvSpPr>
          <p:cNvPr id="45079" name="Line 21"/>
          <p:cNvSpPr/>
          <p:nvPr/>
        </p:nvSpPr>
        <p:spPr>
          <a:xfrm flipH="1">
            <a:off x="2971800" y="1524000"/>
            <a:ext cx="4953000" cy="1524000"/>
          </a:xfrm>
          <a:prstGeom prst="line">
            <a:avLst/>
          </a:prstGeom>
          <a:ln w="31750" cap="flat" cmpd="sng">
            <a:solidFill>
              <a:schemeClr val="tx1"/>
            </a:solidFill>
            <a:prstDash val="solid"/>
            <a:round/>
            <a:headEnd type="triangle" w="med" len="med"/>
            <a:tailEnd type="triangle" w="med" len="med"/>
          </a:ln>
        </p:spPr>
        <p:txBody>
          <a:bodyPr wrap="none" anchor="ctr"/>
          <a:lstStyle/>
          <a:p>
            <a:pPr indent="0" eaLnBrk="0" hangingPunct="0"/>
            <a:endParaRPr lang="zh-CN" altLang="en-US">
              <a:latin typeface="Times New Roman" panose="02020603050405020304" pitchFamily="18" charset="0"/>
              <a:ea typeface="宋体" panose="02010600030101010101" pitchFamily="2" charset="-122"/>
            </a:endParaRPr>
          </a:p>
        </p:txBody>
      </p:sp>
      <p:sp>
        <p:nvSpPr>
          <p:cNvPr id="45080" name="Line 22"/>
          <p:cNvSpPr/>
          <p:nvPr/>
        </p:nvSpPr>
        <p:spPr>
          <a:xfrm>
            <a:off x="3429000" y="1219200"/>
            <a:ext cx="228600" cy="1828800"/>
          </a:xfrm>
          <a:prstGeom prst="line">
            <a:avLst/>
          </a:prstGeom>
          <a:ln w="31750" cap="flat" cmpd="sng">
            <a:solidFill>
              <a:srgbClr val="333399"/>
            </a:solidFill>
            <a:prstDash val="solid"/>
            <a:round/>
            <a:headEnd type="none" w="med" len="med"/>
            <a:tailEnd type="stealth" w="med" len="med"/>
          </a:ln>
        </p:spPr>
        <p:txBody>
          <a:bodyPr wrap="none" anchor="ctr"/>
          <a:lstStyle/>
          <a:p>
            <a:pPr indent="0" eaLnBrk="0" hangingPunct="0"/>
            <a:endParaRPr lang="zh-CN" altLang="en-US">
              <a:latin typeface="Times New Roman" panose="02020603050405020304" pitchFamily="18" charset="0"/>
              <a:ea typeface="宋体" panose="02010600030101010101" pitchFamily="2" charset="-122"/>
            </a:endParaRPr>
          </a:p>
        </p:txBody>
      </p:sp>
      <p:sp>
        <p:nvSpPr>
          <p:cNvPr id="45081" name="Line 23"/>
          <p:cNvSpPr/>
          <p:nvPr/>
        </p:nvSpPr>
        <p:spPr>
          <a:xfrm flipH="1">
            <a:off x="3810000" y="1600200"/>
            <a:ext cx="4343400" cy="1371600"/>
          </a:xfrm>
          <a:prstGeom prst="line">
            <a:avLst/>
          </a:prstGeom>
          <a:ln w="31750" cap="flat" cmpd="sng">
            <a:solidFill>
              <a:schemeClr val="tx1"/>
            </a:solidFill>
            <a:prstDash val="solid"/>
            <a:round/>
            <a:headEnd type="none" w="med" len="med"/>
            <a:tailEnd type="triangle" w="med" len="med"/>
          </a:ln>
        </p:spPr>
        <p:txBody>
          <a:bodyPr wrap="none" anchor="ctr"/>
          <a:lstStyle/>
          <a:p>
            <a:pPr indent="0" eaLnBrk="0" hangingPunct="0"/>
            <a:endParaRPr lang="zh-CN" altLang="en-US">
              <a:latin typeface="Times New Roman" panose="02020603050405020304" pitchFamily="18" charset="0"/>
              <a:ea typeface="宋体" panose="02010600030101010101" pitchFamily="2" charset="-122"/>
            </a:endParaRPr>
          </a:p>
        </p:txBody>
      </p:sp>
      <p:sp>
        <p:nvSpPr>
          <p:cNvPr id="45082" name="Line 24"/>
          <p:cNvSpPr/>
          <p:nvPr/>
        </p:nvSpPr>
        <p:spPr>
          <a:xfrm>
            <a:off x="4495800" y="2438400"/>
            <a:ext cx="457200" cy="609600"/>
          </a:xfrm>
          <a:prstGeom prst="line">
            <a:avLst/>
          </a:prstGeom>
          <a:ln w="31750" cap="flat" cmpd="sng">
            <a:solidFill>
              <a:srgbClr val="FF0000"/>
            </a:solidFill>
            <a:prstDash val="solid"/>
            <a:round/>
            <a:headEnd type="none" w="med" len="med"/>
            <a:tailEnd type="stealth" w="med" len="med"/>
          </a:ln>
        </p:spPr>
        <p:txBody>
          <a:bodyPr wrap="none" anchor="ctr"/>
          <a:lstStyle/>
          <a:p>
            <a:pPr indent="0" eaLnBrk="0" hangingPunct="0"/>
            <a:endParaRPr lang="zh-CN" altLang="en-US">
              <a:latin typeface="Times New Roman" panose="02020603050405020304" pitchFamily="18" charset="0"/>
              <a:ea typeface="宋体" panose="02010600030101010101" pitchFamily="2" charset="-122"/>
            </a:endParaRPr>
          </a:p>
        </p:txBody>
      </p:sp>
      <p:sp>
        <p:nvSpPr>
          <p:cNvPr id="45083" name="Line 25"/>
          <p:cNvSpPr/>
          <p:nvPr/>
        </p:nvSpPr>
        <p:spPr>
          <a:xfrm>
            <a:off x="5791200" y="1066800"/>
            <a:ext cx="381000" cy="1981200"/>
          </a:xfrm>
          <a:prstGeom prst="line">
            <a:avLst/>
          </a:prstGeom>
          <a:ln w="31750" cap="flat" cmpd="sng">
            <a:solidFill>
              <a:srgbClr val="003300"/>
            </a:solidFill>
            <a:prstDash val="solid"/>
            <a:round/>
            <a:headEnd type="none" w="med" len="med"/>
            <a:tailEnd type="stealth" w="med" len="med"/>
          </a:ln>
        </p:spPr>
        <p:txBody>
          <a:bodyPr wrap="none" anchor="ctr"/>
          <a:lstStyle/>
          <a:p>
            <a:pPr indent="0" eaLnBrk="0" hangingPunct="0"/>
            <a:endParaRPr lang="zh-CN" altLang="en-US">
              <a:latin typeface="Times New Roman" panose="02020603050405020304" pitchFamily="18" charset="0"/>
              <a:ea typeface="宋体" panose="02010600030101010101" pitchFamily="2" charset="-122"/>
            </a:endParaRPr>
          </a:p>
        </p:txBody>
      </p:sp>
      <p:sp>
        <p:nvSpPr>
          <p:cNvPr id="45084" name="Line 26"/>
          <p:cNvSpPr/>
          <p:nvPr/>
        </p:nvSpPr>
        <p:spPr>
          <a:xfrm flipH="1">
            <a:off x="6324600" y="762000"/>
            <a:ext cx="762000" cy="2286000"/>
          </a:xfrm>
          <a:prstGeom prst="line">
            <a:avLst/>
          </a:prstGeom>
          <a:ln w="31750" cap="flat" cmpd="sng">
            <a:solidFill>
              <a:srgbClr val="800080"/>
            </a:solidFill>
            <a:prstDash val="solid"/>
            <a:round/>
            <a:headEnd type="none" w="med" len="med"/>
            <a:tailEnd type="stealth" w="med" len="med"/>
          </a:ln>
        </p:spPr>
        <p:txBody>
          <a:bodyPr wrap="none" anchor="ctr"/>
          <a:lstStyle/>
          <a:p>
            <a:pPr indent="0" eaLnBrk="0" hangingPunct="0"/>
            <a:endParaRPr lang="zh-CN" altLang="en-US">
              <a:latin typeface="Times New Roman" panose="02020603050405020304" pitchFamily="18" charset="0"/>
              <a:ea typeface="宋体" panose="02010600030101010101" pitchFamily="2" charset="-122"/>
            </a:endParaRPr>
          </a:p>
        </p:txBody>
      </p:sp>
      <p:sp>
        <p:nvSpPr>
          <p:cNvPr id="45085" name="Line 27"/>
          <p:cNvSpPr/>
          <p:nvPr/>
        </p:nvSpPr>
        <p:spPr>
          <a:xfrm flipH="1">
            <a:off x="6705600" y="2667000"/>
            <a:ext cx="381000" cy="381000"/>
          </a:xfrm>
          <a:prstGeom prst="line">
            <a:avLst/>
          </a:prstGeom>
          <a:ln w="31750" cap="flat" cmpd="sng">
            <a:solidFill>
              <a:srgbClr val="808000"/>
            </a:solidFill>
            <a:prstDash val="solid"/>
            <a:round/>
            <a:headEnd type="none" w="med" len="med"/>
            <a:tailEnd type="triangle" w="med" len="med"/>
          </a:ln>
        </p:spPr>
        <p:txBody>
          <a:bodyPr wrap="none" anchor="ctr"/>
          <a:lstStyle/>
          <a:p>
            <a:pPr indent="0" eaLnBrk="0" hangingPunct="0"/>
            <a:endParaRPr lang="zh-CN" altLang="en-US">
              <a:latin typeface="Times New Roman" panose="02020603050405020304" pitchFamily="18" charset="0"/>
              <a:ea typeface="宋体" panose="02010600030101010101" pitchFamily="2" charset="-122"/>
            </a:endParaRPr>
          </a:p>
        </p:txBody>
      </p:sp>
      <p:sp>
        <p:nvSpPr>
          <p:cNvPr id="45086" name="Rectangle 28"/>
          <p:cNvSpPr/>
          <p:nvPr/>
        </p:nvSpPr>
        <p:spPr>
          <a:xfrm>
            <a:off x="2743200" y="4800600"/>
            <a:ext cx="4114800" cy="533400"/>
          </a:xfrm>
          <a:prstGeom prst="rect">
            <a:avLst/>
          </a:prstGeom>
          <a:gradFill rotWithShape="0">
            <a:gsLst>
              <a:gs pos="0">
                <a:srgbClr val="FFFF99"/>
              </a:gs>
              <a:gs pos="100000">
                <a:srgbClr val="767647"/>
              </a:gs>
            </a:gsLst>
            <a:lin ang="5400000" scaled="1"/>
            <a:tileRect/>
          </a:gradFill>
          <a:ln w="9525" cap="rnd" cmpd="sng">
            <a:solidFill>
              <a:schemeClr val="tx1"/>
            </a:solidFill>
            <a:prstDash val="sysDot"/>
            <a:miter/>
            <a:headEnd type="none" w="med" len="med"/>
            <a:tailEnd type="none" w="med" len="med"/>
          </a:ln>
        </p:spPr>
        <p:txBody>
          <a:bodyPr wrap="none" anchor="ctr"/>
          <a:lstStyle/>
          <a:p>
            <a:pPr indent="0" eaLnBrk="0" hangingPunct="0"/>
            <a:endParaRPr lang="zh-CN" altLang="en-US">
              <a:latin typeface="Times New Roman" panose="02020603050405020304" pitchFamily="18" charset="0"/>
              <a:ea typeface="宋体" panose="02010600030101010101" pitchFamily="2" charset="-122"/>
            </a:endParaRPr>
          </a:p>
        </p:txBody>
      </p:sp>
      <p:sp>
        <p:nvSpPr>
          <p:cNvPr id="45087" name="Rectangle 29"/>
          <p:cNvSpPr/>
          <p:nvPr/>
        </p:nvSpPr>
        <p:spPr>
          <a:xfrm>
            <a:off x="2590800" y="4648200"/>
            <a:ext cx="4114800" cy="533400"/>
          </a:xfrm>
          <a:prstGeom prst="rect">
            <a:avLst/>
          </a:prstGeom>
          <a:gradFill rotWithShape="0">
            <a:gsLst>
              <a:gs pos="0">
                <a:schemeClr val="accent1"/>
              </a:gs>
              <a:gs pos="100000">
                <a:srgbClr val="685555"/>
              </a:gs>
            </a:gsLst>
            <a:lin ang="5400000" scaled="1"/>
            <a:tileRect/>
          </a:gradFill>
          <a:ln w="9525" cap="rnd" cmpd="sng">
            <a:solidFill>
              <a:schemeClr val="tx1"/>
            </a:solidFill>
            <a:prstDash val="sysDot"/>
            <a:miter/>
            <a:headEnd type="none" w="med" len="med"/>
            <a:tailEnd type="none" w="med" len="med"/>
          </a:ln>
        </p:spPr>
        <p:txBody>
          <a:bodyPr wrap="none" anchor="ctr"/>
          <a:lstStyle/>
          <a:p>
            <a:pPr indent="0" eaLnBrk="0" hangingPunct="0"/>
            <a:endParaRPr lang="zh-CN" altLang="en-US">
              <a:latin typeface="Times New Roman" panose="02020603050405020304" pitchFamily="18" charset="0"/>
              <a:ea typeface="宋体" panose="02010600030101010101" pitchFamily="2" charset="-122"/>
            </a:endParaRPr>
          </a:p>
        </p:txBody>
      </p:sp>
      <p:sp>
        <p:nvSpPr>
          <p:cNvPr id="45088" name="Rectangle 30"/>
          <p:cNvSpPr/>
          <p:nvPr/>
        </p:nvSpPr>
        <p:spPr>
          <a:xfrm>
            <a:off x="2438400" y="4495800"/>
            <a:ext cx="4114800" cy="533400"/>
          </a:xfrm>
          <a:prstGeom prst="rect">
            <a:avLst/>
          </a:prstGeom>
          <a:gradFill rotWithShape="0">
            <a:gsLst>
              <a:gs pos="0">
                <a:srgbClr val="00CC00"/>
              </a:gs>
              <a:gs pos="100000">
                <a:srgbClr val="005E00"/>
              </a:gs>
            </a:gsLst>
            <a:lin ang="5400000" scaled="1"/>
            <a:tileRect/>
          </a:gradFill>
          <a:ln w="9525" cap="rnd" cmpd="sng">
            <a:solidFill>
              <a:schemeClr val="tx1"/>
            </a:solidFill>
            <a:prstDash val="sysDot"/>
            <a:miter/>
            <a:headEnd type="none" w="med" len="med"/>
            <a:tailEnd type="none" w="med" len="med"/>
          </a:ln>
        </p:spPr>
        <p:txBody>
          <a:bodyPr wrap="none" anchor="ctr"/>
          <a:lstStyle/>
          <a:p>
            <a:pPr indent="0" eaLnBrk="0" hangingPunct="0"/>
            <a:endParaRPr lang="zh-CN" altLang="en-US">
              <a:latin typeface="Times New Roman" panose="02020603050405020304" pitchFamily="18" charset="0"/>
              <a:ea typeface="宋体" panose="02010600030101010101" pitchFamily="2" charset="-122"/>
            </a:endParaRPr>
          </a:p>
        </p:txBody>
      </p:sp>
      <p:sp>
        <p:nvSpPr>
          <p:cNvPr id="45089" name="Rectangle 31"/>
          <p:cNvSpPr/>
          <p:nvPr/>
        </p:nvSpPr>
        <p:spPr>
          <a:xfrm>
            <a:off x="2286000" y="4343400"/>
            <a:ext cx="4114800" cy="533400"/>
          </a:xfrm>
          <a:prstGeom prst="rect">
            <a:avLst/>
          </a:prstGeom>
          <a:gradFill rotWithShape="0">
            <a:gsLst>
              <a:gs pos="0">
                <a:schemeClr val="hlink"/>
              </a:gs>
              <a:gs pos="100000">
                <a:srgbClr val="57636A"/>
              </a:gs>
            </a:gsLst>
            <a:lin ang="5400000" scaled="1"/>
            <a:tileRect/>
          </a:gradFill>
          <a:ln w="9525" cap="rnd" cmpd="sng">
            <a:solidFill>
              <a:schemeClr val="tx1"/>
            </a:solidFill>
            <a:prstDash val="sysDot"/>
            <a:miter/>
            <a:headEnd type="none" w="med" len="med"/>
            <a:tailEnd type="none" w="med" len="med"/>
          </a:ln>
        </p:spPr>
        <p:txBody>
          <a:bodyPr wrap="none" anchor="ctr"/>
          <a:lstStyle/>
          <a:p>
            <a:pPr indent="0" algn="ctr"/>
            <a:r>
              <a:rPr lang="en-US" altLang="zh-CN" sz="2800" b="1">
                <a:solidFill>
                  <a:srgbClr val="0000CC"/>
                </a:solidFill>
                <a:latin typeface="Times New Roman" panose="02020603050405020304" pitchFamily="18" charset="0"/>
                <a:ea typeface="长城新魏碑体" pitchFamily="49" charset="-122"/>
              </a:rPr>
              <a:t>Records of student</a:t>
            </a:r>
            <a:endParaRPr lang="en-US" altLang="zh-CN" sz="3200">
              <a:latin typeface="Times New Roman" panose="02020603050405020304" pitchFamily="18" charset="0"/>
              <a:ea typeface="隶书" panose="02010509060101010101" pitchFamily="49" charset="-122"/>
            </a:endParaRPr>
          </a:p>
        </p:txBody>
      </p:sp>
      <p:sp>
        <p:nvSpPr>
          <p:cNvPr id="45090" name="Line 32"/>
          <p:cNvSpPr/>
          <p:nvPr/>
        </p:nvSpPr>
        <p:spPr>
          <a:xfrm flipH="1" flipV="1">
            <a:off x="2514600" y="3581400"/>
            <a:ext cx="304800" cy="762000"/>
          </a:xfrm>
          <a:prstGeom prst="line">
            <a:avLst/>
          </a:prstGeom>
          <a:ln w="28575" cap="flat" cmpd="sng">
            <a:solidFill>
              <a:schemeClr val="bg2"/>
            </a:solidFill>
            <a:prstDash val="solid"/>
            <a:round/>
            <a:headEnd type="none" w="med" len="med"/>
            <a:tailEnd type="triangle" w="med" len="med"/>
          </a:ln>
        </p:spPr>
        <p:txBody>
          <a:bodyPr wrap="none" anchor="ctr"/>
          <a:lstStyle/>
          <a:p>
            <a:pPr indent="0" eaLnBrk="0" hangingPunct="0"/>
            <a:endParaRPr lang="zh-CN" altLang="en-US">
              <a:latin typeface="Times New Roman" panose="02020603050405020304" pitchFamily="18" charset="0"/>
              <a:ea typeface="宋体" panose="02010600030101010101" pitchFamily="2" charset="-122"/>
            </a:endParaRPr>
          </a:p>
        </p:txBody>
      </p:sp>
      <p:sp>
        <p:nvSpPr>
          <p:cNvPr id="45091" name="Line 33"/>
          <p:cNvSpPr/>
          <p:nvPr/>
        </p:nvSpPr>
        <p:spPr>
          <a:xfrm>
            <a:off x="3810000" y="3581400"/>
            <a:ext cx="304800" cy="762000"/>
          </a:xfrm>
          <a:prstGeom prst="line">
            <a:avLst/>
          </a:prstGeom>
          <a:ln w="28575" cap="flat" cmpd="sng">
            <a:solidFill>
              <a:schemeClr val="bg2"/>
            </a:solidFill>
            <a:prstDash val="solid"/>
            <a:round/>
            <a:headEnd type="none" w="med" len="med"/>
            <a:tailEnd type="triangle" w="med" len="med"/>
          </a:ln>
        </p:spPr>
        <p:txBody>
          <a:bodyPr wrap="none" anchor="ctr"/>
          <a:lstStyle/>
          <a:p>
            <a:pPr indent="0" eaLnBrk="0" hangingPunct="0"/>
            <a:endParaRPr lang="zh-CN" altLang="en-US">
              <a:latin typeface="Times New Roman" panose="02020603050405020304" pitchFamily="18" charset="0"/>
              <a:ea typeface="宋体" panose="02010600030101010101" pitchFamily="2" charset="-122"/>
            </a:endParaRPr>
          </a:p>
        </p:txBody>
      </p:sp>
      <p:sp>
        <p:nvSpPr>
          <p:cNvPr id="45092" name="Line 34"/>
          <p:cNvSpPr/>
          <p:nvPr/>
        </p:nvSpPr>
        <p:spPr>
          <a:xfrm flipH="1">
            <a:off x="4876800" y="3581400"/>
            <a:ext cx="304800" cy="762000"/>
          </a:xfrm>
          <a:prstGeom prst="line">
            <a:avLst/>
          </a:prstGeom>
          <a:ln w="28575" cap="flat" cmpd="sng">
            <a:solidFill>
              <a:schemeClr val="bg2"/>
            </a:solidFill>
            <a:prstDash val="solid"/>
            <a:round/>
            <a:headEnd type="none" w="med" len="med"/>
            <a:tailEnd type="triangle" w="med" len="med"/>
          </a:ln>
        </p:spPr>
        <p:txBody>
          <a:bodyPr wrap="none" anchor="ctr"/>
          <a:lstStyle/>
          <a:p>
            <a:pPr indent="0" eaLnBrk="0" hangingPunct="0"/>
            <a:endParaRPr lang="zh-CN" altLang="en-US">
              <a:latin typeface="Times New Roman" panose="02020603050405020304" pitchFamily="18" charset="0"/>
              <a:ea typeface="宋体" panose="02010600030101010101" pitchFamily="2" charset="-122"/>
            </a:endParaRPr>
          </a:p>
        </p:txBody>
      </p:sp>
      <p:sp>
        <p:nvSpPr>
          <p:cNvPr id="45093" name="Line 35"/>
          <p:cNvSpPr/>
          <p:nvPr/>
        </p:nvSpPr>
        <p:spPr>
          <a:xfrm flipH="1">
            <a:off x="5791200" y="3581400"/>
            <a:ext cx="609600" cy="762000"/>
          </a:xfrm>
          <a:prstGeom prst="line">
            <a:avLst/>
          </a:prstGeom>
          <a:ln w="28575" cap="flat" cmpd="sng">
            <a:solidFill>
              <a:schemeClr val="bg2"/>
            </a:solidFill>
            <a:prstDash val="solid"/>
            <a:round/>
            <a:headEnd type="none" w="med" len="med"/>
            <a:tailEnd type="triangle" w="med" len="med"/>
          </a:ln>
        </p:spPr>
        <p:txBody>
          <a:bodyPr wrap="none" anchor="ctr"/>
          <a:lstStyle/>
          <a:p>
            <a:pPr indent="0" eaLnBrk="0" hangingPunct="0"/>
            <a:endParaRPr lang="zh-CN" altLang="en-US">
              <a:latin typeface="Times New Roman" panose="02020603050405020304" pitchFamily="18" charset="0"/>
              <a:ea typeface="宋体" panose="02010600030101010101" pitchFamily="2" charset="-122"/>
            </a:endParaRPr>
          </a:p>
        </p:txBody>
      </p:sp>
    </p:spTree>
  </p:cSld>
  <p:clrMapOvr>
    <a:masterClrMapping/>
  </p:clrMapOvr>
  <p:transition>
    <p:cover dir="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ext Box 2"/>
          <p:cNvSpPr txBox="1"/>
          <p:nvPr/>
        </p:nvSpPr>
        <p:spPr>
          <a:xfrm>
            <a:off x="1371600" y="152400"/>
            <a:ext cx="7910513" cy="823913"/>
          </a:xfrm>
          <a:prstGeom prst="rect">
            <a:avLst/>
          </a:prstGeom>
          <a:noFill/>
          <a:ln w="9525">
            <a:noFill/>
          </a:ln>
        </p:spPr>
        <p:txBody>
          <a:bodyPr>
            <a:spAutoFit/>
          </a:bodyPr>
          <a:lstStyle/>
          <a:p>
            <a:r>
              <a:rPr lang="zh-CN" altLang="en-US" sz="4800" b="1" dirty="0">
                <a:solidFill>
                  <a:srgbClr val="FF0000"/>
                </a:solidFill>
                <a:latin typeface="楷体_GB2312" panose="02010609030101010101" pitchFamily="49" charset="-122"/>
                <a:ea typeface="楷体_GB2312" panose="02010609030101010101" pitchFamily="49" charset="-122"/>
              </a:rPr>
              <a:t>抽象数据类型的表示和实现</a:t>
            </a:r>
            <a:endParaRPr lang="zh-CN" altLang="en-US" sz="2400" dirty="0">
              <a:latin typeface="Times New Roman" panose="02020603050405020304" pitchFamily="18" charset="0"/>
            </a:endParaRPr>
          </a:p>
        </p:txBody>
      </p:sp>
      <p:sp>
        <p:nvSpPr>
          <p:cNvPr id="60419" name="Text Box 3"/>
          <p:cNvSpPr txBox="1"/>
          <p:nvPr/>
        </p:nvSpPr>
        <p:spPr>
          <a:xfrm>
            <a:off x="381000" y="1447800"/>
            <a:ext cx="8340725" cy="1368067"/>
          </a:xfrm>
          <a:prstGeom prst="rect">
            <a:avLst/>
          </a:prstGeom>
          <a:noFill/>
          <a:ln w="9525">
            <a:noFill/>
          </a:ln>
        </p:spPr>
        <p:txBody>
          <a:bodyPr>
            <a:spAutoFit/>
          </a:bodyPr>
          <a:lstStyle/>
          <a:p>
            <a:pPr>
              <a:lnSpc>
                <a:spcPct val="140000"/>
              </a:lnSpc>
            </a:pPr>
            <a:r>
              <a:rPr lang="zh-CN" altLang="en-US" sz="3200" dirty="0">
                <a:solidFill>
                  <a:srgbClr val="000080"/>
                </a:solidFill>
                <a:latin typeface="楷体_GB2312" panose="02010609030101010101" pitchFamily="49" charset="-122"/>
                <a:ea typeface="楷体_GB2312" panose="02010609030101010101" pitchFamily="49" charset="-122"/>
              </a:rPr>
              <a:t>    抽象数据类型需要通过</a:t>
            </a:r>
            <a:r>
              <a:rPr lang="zh-CN" altLang="en-US" sz="3200" b="1" dirty="0">
                <a:solidFill>
                  <a:srgbClr val="000080"/>
                </a:solidFill>
                <a:latin typeface="楷体_GB2312" panose="02010609030101010101" pitchFamily="49" charset="-122"/>
                <a:ea typeface="楷体_GB2312" panose="02010609030101010101" pitchFamily="49" charset="-122"/>
              </a:rPr>
              <a:t>固有数据类型</a:t>
            </a:r>
            <a:r>
              <a:rPr lang="en-US" altLang="zh-CN" sz="3200" dirty="0">
                <a:solidFill>
                  <a:srgbClr val="000080"/>
                </a:solidFill>
                <a:latin typeface="楷体_GB2312" panose="02010609030101010101" pitchFamily="49" charset="-122"/>
                <a:ea typeface="楷体_GB2312" panose="02010609030101010101" pitchFamily="49" charset="-122"/>
              </a:rPr>
              <a:t>(</a:t>
            </a:r>
            <a:r>
              <a:rPr lang="zh-CN" altLang="en-US" sz="3200" dirty="0">
                <a:solidFill>
                  <a:srgbClr val="000080"/>
                </a:solidFill>
                <a:latin typeface="楷体_GB2312" panose="02010609030101010101" pitchFamily="49" charset="-122"/>
                <a:ea typeface="楷体_GB2312" panose="02010609030101010101" pitchFamily="49" charset="-122"/>
              </a:rPr>
              <a:t>高级编程语言中已实现的数据类型</a:t>
            </a:r>
            <a:r>
              <a:rPr lang="en-US" altLang="zh-CN" sz="3200" dirty="0">
                <a:solidFill>
                  <a:srgbClr val="000080"/>
                </a:solidFill>
                <a:latin typeface="楷体_GB2312" panose="02010609030101010101" pitchFamily="49" charset="-122"/>
                <a:ea typeface="楷体_GB2312" panose="02010609030101010101" pitchFamily="49" charset="-122"/>
              </a:rPr>
              <a:t>)</a:t>
            </a:r>
            <a:r>
              <a:rPr lang="zh-CN" altLang="en-US" sz="3200" dirty="0">
                <a:solidFill>
                  <a:srgbClr val="000080"/>
                </a:solidFill>
                <a:latin typeface="楷体_GB2312" panose="02010609030101010101" pitchFamily="49" charset="-122"/>
                <a:ea typeface="楷体_GB2312" panose="02010609030101010101" pitchFamily="49" charset="-122"/>
              </a:rPr>
              <a:t>来实现。</a:t>
            </a:r>
            <a:endParaRPr lang="zh-CN" altLang="en-US" sz="3200" dirty="0">
              <a:solidFill>
                <a:srgbClr val="000080"/>
              </a:solidFill>
              <a:latin typeface="楷体_GB2312" panose="02010609030101010101" pitchFamily="49" charset="-122"/>
              <a:ea typeface="楷体_GB2312" panose="02010609030101010101" pitchFamily="49" charset="-122"/>
            </a:endParaRPr>
          </a:p>
        </p:txBody>
      </p:sp>
      <p:sp>
        <p:nvSpPr>
          <p:cNvPr id="60420" name="Text Box 4"/>
          <p:cNvSpPr txBox="1"/>
          <p:nvPr/>
        </p:nvSpPr>
        <p:spPr>
          <a:xfrm>
            <a:off x="1081350" y="2994966"/>
            <a:ext cx="5109091" cy="584775"/>
          </a:xfrm>
          <a:prstGeom prst="rect">
            <a:avLst/>
          </a:prstGeom>
          <a:noFill/>
          <a:ln w="9525">
            <a:noFill/>
          </a:ln>
        </p:spPr>
        <p:txBody>
          <a:bodyPr wrap="none">
            <a:spAutoFit/>
          </a:bodyPr>
          <a:lstStyle/>
          <a:p>
            <a:r>
              <a:rPr lang="zh-CN" altLang="en-US" sz="3200" dirty="0">
                <a:solidFill>
                  <a:schemeClr val="tx2"/>
                </a:solidFill>
                <a:latin typeface="Times New Roman" panose="02020603050405020304" pitchFamily="18" charset="0"/>
              </a:rPr>
              <a:t>例如，对以上定义的复数。</a:t>
            </a:r>
            <a:endParaRPr lang="zh-CN" altLang="en-US" sz="3200" dirty="0">
              <a:latin typeface="Times New Roman" panose="02020603050405020304" pitchFamily="18" charset="0"/>
            </a:endParaRPr>
          </a:p>
        </p:txBody>
      </p:sp>
      <p:sp>
        <p:nvSpPr>
          <p:cNvPr id="2" name="日期占位符 1"/>
          <p:cNvSpPr>
            <a:spLocks noGrp="1"/>
          </p:cNvSpPr>
          <p:nvPr>
            <p:ph type="dt" sz="half" idx="10"/>
          </p:nvPr>
        </p:nvSpPr>
        <p:spPr/>
        <p:txBody>
          <a:bodyPr/>
          <a:lstStyle/>
          <a:p>
            <a:r>
              <a:rPr lang="en-US" altLang="zh-CN"/>
              <a:t>Data Structures and algorithms</a:t>
            </a:r>
            <a:endParaRPr lang="zh-CN" altLang="en-US"/>
          </a:p>
        </p:txBody>
      </p:sp>
      <p:sp>
        <p:nvSpPr>
          <p:cNvPr id="3" name="页脚占位符 2"/>
          <p:cNvSpPr>
            <a:spLocks noGrp="1"/>
          </p:cNvSpPr>
          <p:nvPr>
            <p:ph type="ftr" sz="quarter" idx="11"/>
          </p:nvPr>
        </p:nvSpPr>
        <p:spPr/>
        <p:txBody>
          <a:bodyPr/>
          <a:lstStyle/>
          <a:p>
            <a:r>
              <a:rPr lang="en-US" altLang="zh-CN"/>
              <a:t>Software College Northeastern University</a:t>
            </a:r>
            <a:endParaRPr lang="zh-CN" altLang="en-US"/>
          </a:p>
        </p:txBody>
      </p:sp>
      <p:sp>
        <p:nvSpPr>
          <p:cNvPr id="4" name="灯片编号占位符 3"/>
          <p:cNvSpPr>
            <a:spLocks noGrp="1"/>
          </p:cNvSpPr>
          <p:nvPr>
            <p:ph type="sldNum" sz="quarter" idx="12"/>
          </p:nvPr>
        </p:nvSpPr>
        <p:spPr/>
        <p:txBody>
          <a:bodyPr/>
          <a:lstStyle/>
          <a:p>
            <a:fld id="{6E1C0148-8E4B-4B2F-95CE-20B4709700AE}" type="slidenum">
              <a:rPr lang="zh-CN" altLang="en-US" smtClean="0"/>
            </a:fld>
            <a:endParaRPr lang="zh-CN" altLang="en-US"/>
          </a:p>
        </p:txBody>
      </p:sp>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ext Box 2"/>
          <p:cNvSpPr txBox="1"/>
          <p:nvPr/>
        </p:nvSpPr>
        <p:spPr>
          <a:xfrm>
            <a:off x="1225311" y="849581"/>
            <a:ext cx="3363421" cy="2062103"/>
          </a:xfrm>
          <a:prstGeom prst="rect">
            <a:avLst/>
          </a:prstGeom>
          <a:noFill/>
          <a:ln w="9525">
            <a:noFill/>
          </a:ln>
        </p:spPr>
        <p:txBody>
          <a:bodyPr wrap="none">
            <a:spAutoFit/>
          </a:bodyPr>
          <a:lstStyle/>
          <a:p>
            <a:r>
              <a:rPr lang="en-US" altLang="zh-CN" sz="3200" b="1" dirty="0">
                <a:latin typeface="Times New Roman" panose="02020603050405020304" pitchFamily="18" charset="0"/>
              </a:rPr>
              <a:t>typedef  struct {</a:t>
            </a:r>
            <a:endParaRPr lang="en-US" altLang="zh-CN" sz="3200" dirty="0">
              <a:latin typeface="Times New Roman" panose="02020603050405020304" pitchFamily="18" charset="0"/>
            </a:endParaRPr>
          </a:p>
          <a:p>
            <a:r>
              <a:rPr lang="en-US" altLang="zh-CN" sz="3200" dirty="0">
                <a:latin typeface="Times New Roman" panose="02020603050405020304" pitchFamily="18" charset="0"/>
              </a:rPr>
              <a:t>    </a:t>
            </a:r>
            <a:r>
              <a:rPr lang="en-US" altLang="zh-CN" sz="3200" b="1" dirty="0">
                <a:latin typeface="Times New Roman" panose="02020603050405020304" pitchFamily="18" charset="0"/>
              </a:rPr>
              <a:t>float</a:t>
            </a:r>
            <a:r>
              <a:rPr lang="en-US" altLang="zh-CN" sz="3200" dirty="0">
                <a:latin typeface="Times New Roman" panose="02020603050405020304" pitchFamily="18" charset="0"/>
              </a:rPr>
              <a:t> realpart</a:t>
            </a:r>
            <a:r>
              <a:rPr lang="zh-CN" altLang="en-US" sz="3200" dirty="0">
                <a:latin typeface="Times New Roman" panose="02020603050405020304" pitchFamily="18" charset="0"/>
              </a:rPr>
              <a:t>；</a:t>
            </a:r>
            <a:endParaRPr lang="zh-CN" altLang="en-US" sz="3200" dirty="0">
              <a:latin typeface="Times New Roman" panose="02020603050405020304" pitchFamily="18" charset="0"/>
            </a:endParaRPr>
          </a:p>
          <a:p>
            <a:r>
              <a:rPr lang="zh-CN" altLang="en-US" sz="3200" dirty="0">
                <a:latin typeface="Times New Roman" panose="02020603050405020304" pitchFamily="18" charset="0"/>
              </a:rPr>
              <a:t>    </a:t>
            </a:r>
            <a:r>
              <a:rPr lang="en-US" altLang="zh-CN" sz="3200" b="1" dirty="0">
                <a:latin typeface="Times New Roman" panose="02020603050405020304" pitchFamily="18" charset="0"/>
              </a:rPr>
              <a:t>float</a:t>
            </a:r>
            <a:r>
              <a:rPr lang="en-US" altLang="zh-CN" sz="3200" dirty="0">
                <a:latin typeface="Times New Roman" panose="02020603050405020304" pitchFamily="18" charset="0"/>
              </a:rPr>
              <a:t> imagpart</a:t>
            </a:r>
            <a:r>
              <a:rPr lang="zh-CN" altLang="en-US" sz="3200" dirty="0">
                <a:latin typeface="Times New Roman" panose="02020603050405020304" pitchFamily="18" charset="0"/>
              </a:rPr>
              <a:t>；</a:t>
            </a:r>
            <a:endParaRPr lang="zh-CN" altLang="en-US" sz="3200" dirty="0">
              <a:latin typeface="Times New Roman" panose="02020603050405020304" pitchFamily="18" charset="0"/>
            </a:endParaRPr>
          </a:p>
          <a:p>
            <a:r>
              <a:rPr lang="en-US" altLang="zh-CN" sz="3200" b="1" dirty="0">
                <a:latin typeface="Times New Roman" panose="02020603050405020304" pitchFamily="18" charset="0"/>
              </a:rPr>
              <a:t>}</a:t>
            </a:r>
            <a:r>
              <a:rPr lang="en-US" altLang="zh-CN" sz="3200" dirty="0">
                <a:latin typeface="Times New Roman" panose="02020603050405020304" pitchFamily="18" charset="0"/>
              </a:rPr>
              <a:t>complex</a:t>
            </a:r>
            <a:r>
              <a:rPr lang="zh-CN" altLang="en-US" sz="3200" dirty="0">
                <a:latin typeface="Times New Roman" panose="02020603050405020304" pitchFamily="18" charset="0"/>
              </a:rPr>
              <a:t>；</a:t>
            </a:r>
            <a:endParaRPr lang="zh-CN" altLang="en-US" sz="3200" dirty="0">
              <a:latin typeface="Times New Roman" panose="02020603050405020304" pitchFamily="18" charset="0"/>
            </a:endParaRPr>
          </a:p>
        </p:txBody>
      </p:sp>
      <p:sp>
        <p:nvSpPr>
          <p:cNvPr id="61443" name="Text Box 3"/>
          <p:cNvSpPr txBox="1"/>
          <p:nvPr/>
        </p:nvSpPr>
        <p:spPr>
          <a:xfrm>
            <a:off x="852252" y="258762"/>
            <a:ext cx="4041775" cy="579438"/>
          </a:xfrm>
          <a:prstGeom prst="rect">
            <a:avLst/>
          </a:prstGeom>
          <a:noFill/>
          <a:ln w="9525">
            <a:noFill/>
          </a:ln>
        </p:spPr>
        <p:txBody>
          <a:bodyPr wrap="none">
            <a:spAutoFit/>
          </a:bodyPr>
          <a:lstStyle/>
          <a:p>
            <a:r>
              <a:rPr lang="en-US" altLang="zh-CN" sz="3200" b="1" dirty="0">
                <a:solidFill>
                  <a:schemeClr val="tx2"/>
                </a:solidFill>
                <a:latin typeface="Times New Roman" panose="02020603050405020304" pitchFamily="18" charset="0"/>
              </a:rPr>
              <a:t>// -----</a:t>
            </a:r>
            <a:r>
              <a:rPr lang="zh-CN" altLang="en-US" sz="3200" b="1" dirty="0">
                <a:solidFill>
                  <a:schemeClr val="tx2"/>
                </a:solidFill>
                <a:latin typeface="Times New Roman" panose="02020603050405020304" pitchFamily="18" charset="0"/>
              </a:rPr>
              <a:t>存储结构的定义</a:t>
            </a:r>
            <a:endParaRPr lang="zh-CN" altLang="en-US" sz="3200" dirty="0">
              <a:latin typeface="Times New Roman" panose="02020603050405020304" pitchFamily="18" charset="0"/>
            </a:endParaRPr>
          </a:p>
        </p:txBody>
      </p:sp>
      <p:sp>
        <p:nvSpPr>
          <p:cNvPr id="61444" name="Text Box 4"/>
          <p:cNvSpPr txBox="1"/>
          <p:nvPr/>
        </p:nvSpPr>
        <p:spPr>
          <a:xfrm>
            <a:off x="914400" y="3327400"/>
            <a:ext cx="5673725" cy="579438"/>
          </a:xfrm>
          <a:prstGeom prst="rect">
            <a:avLst/>
          </a:prstGeom>
          <a:noFill/>
          <a:ln w="9525">
            <a:noFill/>
          </a:ln>
        </p:spPr>
        <p:txBody>
          <a:bodyPr wrap="none">
            <a:spAutoFit/>
          </a:bodyPr>
          <a:lstStyle/>
          <a:p>
            <a:r>
              <a:rPr lang="en-US" altLang="zh-CN" sz="3200" b="1" dirty="0">
                <a:solidFill>
                  <a:schemeClr val="tx2"/>
                </a:solidFill>
                <a:latin typeface="Times New Roman" panose="02020603050405020304" pitchFamily="18" charset="0"/>
              </a:rPr>
              <a:t>// -----</a:t>
            </a:r>
            <a:r>
              <a:rPr lang="zh-CN" altLang="en-US" sz="3200" b="1" dirty="0">
                <a:solidFill>
                  <a:schemeClr val="tx2"/>
                </a:solidFill>
                <a:latin typeface="Times New Roman" panose="02020603050405020304" pitchFamily="18" charset="0"/>
              </a:rPr>
              <a:t>基本操作的函数原型说明</a:t>
            </a:r>
            <a:endParaRPr lang="zh-CN" altLang="en-US" sz="3200" dirty="0">
              <a:latin typeface="Times New Roman" panose="02020603050405020304" pitchFamily="18" charset="0"/>
            </a:endParaRPr>
          </a:p>
        </p:txBody>
      </p:sp>
      <p:sp>
        <p:nvSpPr>
          <p:cNvPr id="61445" name="Text Box 5"/>
          <p:cNvSpPr txBox="1"/>
          <p:nvPr/>
        </p:nvSpPr>
        <p:spPr>
          <a:xfrm>
            <a:off x="990600" y="4133850"/>
            <a:ext cx="8245475" cy="2286000"/>
          </a:xfrm>
          <a:prstGeom prst="rect">
            <a:avLst/>
          </a:prstGeom>
          <a:noFill/>
          <a:ln w="9525">
            <a:noFill/>
          </a:ln>
        </p:spPr>
        <p:txBody>
          <a:bodyPr>
            <a:spAutoFit/>
          </a:bodyPr>
          <a:lstStyle/>
          <a:p>
            <a:r>
              <a:rPr lang="en-US" altLang="zh-CN" sz="3200" b="1" dirty="0">
                <a:solidFill>
                  <a:schemeClr val="tx2"/>
                </a:solidFill>
                <a:latin typeface="Times New Roman" panose="02020603050405020304" pitchFamily="18" charset="0"/>
              </a:rPr>
              <a:t>void</a:t>
            </a:r>
            <a:r>
              <a:rPr lang="en-US" altLang="zh-CN" sz="3200" dirty="0">
                <a:latin typeface="Times New Roman" panose="02020603050405020304" pitchFamily="18" charset="0"/>
              </a:rPr>
              <a:t> </a:t>
            </a:r>
            <a:r>
              <a:rPr lang="en-US" altLang="zh-CN" sz="3200" dirty="0">
                <a:solidFill>
                  <a:schemeClr val="tx2"/>
                </a:solidFill>
                <a:latin typeface="Times New Roman" panose="02020603050405020304" pitchFamily="18" charset="0"/>
                <a:ea typeface="楷体_GB2312" panose="02010609030101010101" pitchFamily="49" charset="-122"/>
              </a:rPr>
              <a:t>Assign( complex </a:t>
            </a:r>
            <a:r>
              <a:rPr lang="en-US" altLang="zh-CN" sz="3200" b="1" dirty="0">
                <a:solidFill>
                  <a:schemeClr val="tx2"/>
                </a:solidFill>
                <a:latin typeface="Times New Roman" panose="02020603050405020304" pitchFamily="18" charset="0"/>
                <a:ea typeface="楷体_GB2312" panose="02010609030101010101" pitchFamily="49" charset="-122"/>
              </a:rPr>
              <a:t>&amp;</a:t>
            </a:r>
            <a:r>
              <a:rPr lang="en-US" altLang="zh-CN" sz="3200" dirty="0">
                <a:solidFill>
                  <a:schemeClr val="tx2"/>
                </a:solidFill>
                <a:latin typeface="Times New Roman" panose="02020603050405020304" pitchFamily="18" charset="0"/>
                <a:ea typeface="楷体_GB2312" panose="02010609030101010101" pitchFamily="49" charset="-122"/>
              </a:rPr>
              <a:t>Z, </a:t>
            </a:r>
            <a:endParaRPr lang="en-US" altLang="zh-CN" sz="3200" dirty="0">
              <a:solidFill>
                <a:schemeClr val="tx2"/>
              </a:solidFill>
              <a:latin typeface="Times New Roman" panose="02020603050405020304" pitchFamily="18" charset="0"/>
              <a:ea typeface="楷体_GB2312" panose="02010609030101010101" pitchFamily="49" charset="-122"/>
            </a:endParaRPr>
          </a:p>
          <a:p>
            <a:r>
              <a:rPr lang="en-US" altLang="zh-CN" sz="3200" dirty="0">
                <a:solidFill>
                  <a:schemeClr val="tx2"/>
                </a:solidFill>
                <a:latin typeface="Times New Roman" panose="02020603050405020304" pitchFamily="18" charset="0"/>
                <a:ea typeface="楷体_GB2312" panose="02010609030101010101" pitchFamily="49" charset="-122"/>
              </a:rPr>
              <a:t>                             </a:t>
            </a:r>
            <a:r>
              <a:rPr lang="en-US" altLang="zh-CN" sz="3200" b="1" dirty="0">
                <a:solidFill>
                  <a:schemeClr val="tx2"/>
                </a:solidFill>
                <a:latin typeface="Times New Roman" panose="02020603050405020304" pitchFamily="18" charset="0"/>
                <a:ea typeface="楷体_GB2312" panose="02010609030101010101" pitchFamily="49" charset="-122"/>
              </a:rPr>
              <a:t>float</a:t>
            </a:r>
            <a:r>
              <a:rPr lang="en-US" altLang="zh-CN" sz="3200" dirty="0">
                <a:solidFill>
                  <a:schemeClr val="tx2"/>
                </a:solidFill>
                <a:latin typeface="Times New Roman" panose="02020603050405020304" pitchFamily="18" charset="0"/>
                <a:ea typeface="楷体_GB2312" panose="02010609030101010101" pitchFamily="49" charset="-122"/>
              </a:rPr>
              <a:t> realval, </a:t>
            </a:r>
            <a:r>
              <a:rPr lang="en-US" altLang="zh-CN" sz="3200" b="1" dirty="0">
                <a:solidFill>
                  <a:schemeClr val="tx2"/>
                </a:solidFill>
                <a:latin typeface="Times New Roman" panose="02020603050405020304" pitchFamily="18" charset="0"/>
                <a:ea typeface="楷体_GB2312" panose="02010609030101010101" pitchFamily="49" charset="-122"/>
              </a:rPr>
              <a:t>float</a:t>
            </a:r>
            <a:r>
              <a:rPr lang="en-US" altLang="zh-CN" sz="3200" dirty="0">
                <a:solidFill>
                  <a:schemeClr val="tx2"/>
                </a:solidFill>
                <a:latin typeface="Times New Roman" panose="02020603050405020304" pitchFamily="18" charset="0"/>
                <a:ea typeface="楷体_GB2312" panose="02010609030101010101" pitchFamily="49" charset="-122"/>
              </a:rPr>
              <a:t> imagval )</a:t>
            </a:r>
            <a:r>
              <a:rPr lang="zh-CN" altLang="en-US" sz="3200" dirty="0">
                <a:solidFill>
                  <a:schemeClr val="tx2"/>
                </a:solidFill>
                <a:latin typeface="Times New Roman" panose="02020603050405020304" pitchFamily="18" charset="0"/>
                <a:ea typeface="楷体_GB2312" panose="02010609030101010101" pitchFamily="49" charset="-122"/>
              </a:rPr>
              <a:t>；</a:t>
            </a:r>
            <a:endParaRPr lang="zh-CN" altLang="en-US" sz="3200" b="1" dirty="0">
              <a:latin typeface="Times New Roman" panose="02020603050405020304" pitchFamily="18" charset="0"/>
              <a:ea typeface="楷体_GB2312" panose="02010609030101010101" pitchFamily="49" charset="-122"/>
            </a:endParaRPr>
          </a:p>
          <a:p>
            <a:pPr>
              <a:lnSpc>
                <a:spcPct val="125000"/>
              </a:lnSpc>
            </a:pPr>
            <a:r>
              <a:rPr lang="en-US" altLang="zh-CN" sz="3200" dirty="0">
                <a:latin typeface="Times New Roman" panose="02020603050405020304" pitchFamily="18" charset="0"/>
                <a:ea typeface="楷体_GB2312" panose="02010609030101010101" pitchFamily="49" charset="-122"/>
              </a:rPr>
              <a:t>//</a:t>
            </a:r>
            <a:r>
              <a:rPr lang="en-US" altLang="zh-CN" sz="3200" dirty="0">
                <a:latin typeface="楷体_GB2312" panose="02010609030101010101" pitchFamily="49" charset="-122"/>
                <a:ea typeface="楷体_GB2312" panose="02010609030101010101" pitchFamily="49" charset="-122"/>
              </a:rPr>
              <a:t> </a:t>
            </a:r>
            <a:r>
              <a:rPr lang="zh-CN" altLang="en-US" sz="3200" dirty="0">
                <a:latin typeface="楷体_GB2312" panose="02010609030101010101" pitchFamily="49" charset="-122"/>
                <a:ea typeface="楷体_GB2312" panose="02010609030101010101" pitchFamily="49" charset="-122"/>
              </a:rPr>
              <a:t>构造复数 </a:t>
            </a:r>
            <a:r>
              <a:rPr lang="en-US" altLang="zh-CN" sz="3200" dirty="0">
                <a:latin typeface="楷体_GB2312" panose="02010609030101010101" pitchFamily="49" charset="-122"/>
                <a:ea typeface="楷体_GB2312" panose="02010609030101010101" pitchFamily="49" charset="-122"/>
              </a:rPr>
              <a:t>Z,</a:t>
            </a:r>
            <a:r>
              <a:rPr lang="zh-CN" altLang="en-US" sz="3200" dirty="0">
                <a:latin typeface="楷体_GB2312" panose="02010609030101010101" pitchFamily="49" charset="-122"/>
                <a:ea typeface="楷体_GB2312" panose="02010609030101010101" pitchFamily="49" charset="-122"/>
              </a:rPr>
              <a:t>其实部和虚部分别被赋以参数 </a:t>
            </a:r>
            <a:r>
              <a:rPr lang="en-US" altLang="zh-CN" sz="3200" dirty="0">
                <a:latin typeface="Times New Roman" panose="02020603050405020304" pitchFamily="18" charset="0"/>
                <a:ea typeface="楷体_GB2312" panose="02010609030101010101" pitchFamily="49" charset="-122"/>
              </a:rPr>
              <a:t>// realval</a:t>
            </a:r>
            <a:r>
              <a:rPr lang="en-US" altLang="zh-CN" sz="3200" dirty="0">
                <a:latin typeface="楷体_GB2312" panose="02010609030101010101" pitchFamily="49" charset="-122"/>
                <a:ea typeface="楷体_GB2312" panose="02010609030101010101" pitchFamily="49" charset="-122"/>
              </a:rPr>
              <a:t> </a:t>
            </a:r>
            <a:r>
              <a:rPr lang="zh-CN" altLang="en-US" sz="3200" dirty="0">
                <a:latin typeface="楷体_GB2312" panose="02010609030101010101" pitchFamily="49" charset="-122"/>
                <a:ea typeface="楷体_GB2312" panose="02010609030101010101" pitchFamily="49" charset="-122"/>
              </a:rPr>
              <a:t>和 </a:t>
            </a:r>
            <a:r>
              <a:rPr lang="en-US" altLang="zh-CN" sz="3200" dirty="0">
                <a:latin typeface="Times New Roman" panose="02020603050405020304" pitchFamily="18" charset="0"/>
                <a:ea typeface="楷体_GB2312" panose="02010609030101010101" pitchFamily="49" charset="-122"/>
              </a:rPr>
              <a:t>imagval</a:t>
            </a:r>
            <a:r>
              <a:rPr lang="en-US" altLang="zh-CN" sz="3200" dirty="0">
                <a:latin typeface="楷体_GB2312" panose="02010609030101010101" pitchFamily="49" charset="-122"/>
                <a:ea typeface="楷体_GB2312" panose="02010609030101010101" pitchFamily="49" charset="-122"/>
              </a:rPr>
              <a:t> </a:t>
            </a:r>
            <a:r>
              <a:rPr lang="zh-CN" altLang="en-US" sz="3200" dirty="0">
                <a:latin typeface="楷体_GB2312" panose="02010609030101010101" pitchFamily="49" charset="-122"/>
                <a:ea typeface="楷体_GB2312" panose="02010609030101010101" pitchFamily="49" charset="-122"/>
              </a:rPr>
              <a:t>的值</a:t>
            </a:r>
            <a:endParaRPr lang="zh-CN" altLang="en-US" sz="3200" dirty="0">
              <a:latin typeface="楷体_GB2312" panose="02010609030101010101" pitchFamily="49" charset="-122"/>
              <a:ea typeface="楷体_GB2312" panose="02010609030101010101" pitchFamily="49" charset="-122"/>
            </a:endParaRPr>
          </a:p>
        </p:txBody>
      </p:sp>
      <p:sp>
        <p:nvSpPr>
          <p:cNvPr id="2" name="日期占位符 1"/>
          <p:cNvSpPr>
            <a:spLocks noGrp="1"/>
          </p:cNvSpPr>
          <p:nvPr>
            <p:ph type="dt" sz="half" idx="10"/>
          </p:nvPr>
        </p:nvSpPr>
        <p:spPr/>
        <p:txBody>
          <a:bodyPr/>
          <a:lstStyle/>
          <a:p>
            <a:r>
              <a:rPr lang="en-US" altLang="zh-CN"/>
              <a:t>Data Structures and algorithms</a:t>
            </a:r>
            <a:endParaRPr lang="zh-CN" altLang="en-US"/>
          </a:p>
        </p:txBody>
      </p:sp>
      <p:sp>
        <p:nvSpPr>
          <p:cNvPr id="3" name="页脚占位符 2"/>
          <p:cNvSpPr>
            <a:spLocks noGrp="1"/>
          </p:cNvSpPr>
          <p:nvPr>
            <p:ph type="ftr" sz="quarter" idx="11"/>
          </p:nvPr>
        </p:nvSpPr>
        <p:spPr/>
        <p:txBody>
          <a:bodyPr/>
          <a:lstStyle/>
          <a:p>
            <a:r>
              <a:rPr lang="en-US" altLang="zh-CN"/>
              <a:t>Software College Northeastern University</a:t>
            </a:r>
            <a:endParaRPr lang="zh-CN" altLang="en-US"/>
          </a:p>
        </p:txBody>
      </p:sp>
      <p:sp>
        <p:nvSpPr>
          <p:cNvPr id="4" name="灯片编号占位符 3"/>
          <p:cNvSpPr>
            <a:spLocks noGrp="1"/>
          </p:cNvSpPr>
          <p:nvPr>
            <p:ph type="sldNum" sz="quarter" idx="12"/>
          </p:nvPr>
        </p:nvSpPr>
        <p:spPr/>
        <p:txBody>
          <a:bodyPr/>
          <a:lstStyle/>
          <a:p>
            <a:fld id="{6E1C0148-8E4B-4B2F-95CE-20B4709700AE}" type="slidenum">
              <a:rPr lang="zh-CN" altLang="en-US" smtClean="0"/>
            </a:fld>
            <a:endParaRPr lang="zh-CN" altLang="en-US"/>
          </a:p>
        </p:txBody>
      </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ext Box 2"/>
          <p:cNvSpPr txBox="1"/>
          <p:nvPr/>
        </p:nvSpPr>
        <p:spPr>
          <a:xfrm>
            <a:off x="708025" y="1371600"/>
            <a:ext cx="5149850" cy="1335088"/>
          </a:xfrm>
          <a:prstGeom prst="rect">
            <a:avLst/>
          </a:prstGeom>
          <a:noFill/>
          <a:ln w="9525">
            <a:noFill/>
          </a:ln>
        </p:spPr>
        <p:txBody>
          <a:bodyPr wrap="none">
            <a:spAutoFit/>
          </a:bodyPr>
          <a:lstStyle/>
          <a:p>
            <a:pPr>
              <a:lnSpc>
                <a:spcPct val="120000"/>
              </a:lnSpc>
            </a:pPr>
            <a:r>
              <a:rPr lang="en-US" altLang="zh-CN" sz="3600" b="1" dirty="0">
                <a:latin typeface="Times New Roman" panose="02020603050405020304" pitchFamily="18" charset="0"/>
                <a:ea typeface="楷体_GB2312" panose="02010609030101010101" pitchFamily="49" charset="-122"/>
              </a:rPr>
              <a:t>float</a:t>
            </a:r>
            <a:r>
              <a:rPr lang="en-US" altLang="zh-CN" sz="3600" dirty="0">
                <a:latin typeface="Times New Roman" panose="02020603050405020304" pitchFamily="18" charset="0"/>
                <a:ea typeface="楷体_GB2312" panose="02010609030101010101" pitchFamily="49" charset="-122"/>
              </a:rPr>
              <a:t> </a:t>
            </a:r>
            <a:r>
              <a:rPr lang="en-US" altLang="zh-CN" sz="3200" dirty="0">
                <a:solidFill>
                  <a:schemeClr val="tx2"/>
                </a:solidFill>
                <a:latin typeface="Times New Roman" panose="02020603050405020304" pitchFamily="18" charset="0"/>
                <a:ea typeface="楷体_GB2312" panose="02010609030101010101" pitchFamily="49" charset="-122"/>
              </a:rPr>
              <a:t>GetReal( cpmplex Z )</a:t>
            </a:r>
            <a:r>
              <a:rPr lang="zh-CN" altLang="en-US" sz="3200" dirty="0">
                <a:solidFill>
                  <a:schemeClr val="tx2"/>
                </a:solidFill>
                <a:latin typeface="Times New Roman" panose="02020603050405020304" pitchFamily="18" charset="0"/>
                <a:ea typeface="楷体_GB2312" panose="02010609030101010101" pitchFamily="49" charset="-122"/>
              </a:rPr>
              <a:t>；</a:t>
            </a:r>
            <a:endParaRPr lang="zh-CN" altLang="en-US" sz="3200" dirty="0">
              <a:latin typeface="Times New Roman" panose="02020603050405020304" pitchFamily="18" charset="0"/>
              <a:ea typeface="楷体_GB2312" panose="02010609030101010101" pitchFamily="49" charset="-122"/>
            </a:endParaRPr>
          </a:p>
          <a:p>
            <a:pPr>
              <a:lnSpc>
                <a:spcPct val="120000"/>
              </a:lnSpc>
            </a:pPr>
            <a:r>
              <a:rPr lang="zh-CN" altLang="en-US" sz="3200" dirty="0">
                <a:latin typeface="Times New Roman" panose="02020603050405020304" pitchFamily="18" charset="0"/>
                <a:ea typeface="楷体_GB2312" panose="02010609030101010101" pitchFamily="49" charset="-122"/>
              </a:rPr>
              <a:t>  </a:t>
            </a:r>
            <a:r>
              <a:rPr lang="en-US" altLang="zh-CN" sz="3200" dirty="0">
                <a:latin typeface="Times New Roman" panose="02020603050405020304" pitchFamily="18" charset="0"/>
                <a:ea typeface="楷体_GB2312" panose="02010609030101010101" pitchFamily="49" charset="-122"/>
              </a:rPr>
              <a:t>// </a:t>
            </a:r>
            <a:r>
              <a:rPr lang="zh-CN" altLang="en-US" sz="3200" dirty="0">
                <a:latin typeface="楷体_GB2312" panose="02010609030101010101" pitchFamily="49" charset="-122"/>
                <a:ea typeface="楷体_GB2312" panose="02010609030101010101" pitchFamily="49" charset="-122"/>
              </a:rPr>
              <a:t>返回复数 </a:t>
            </a:r>
            <a:r>
              <a:rPr lang="en-US" altLang="zh-CN" sz="3200" dirty="0">
                <a:latin typeface="楷体_GB2312" panose="02010609030101010101" pitchFamily="49" charset="-122"/>
                <a:ea typeface="楷体_GB2312" panose="02010609030101010101" pitchFamily="49" charset="-122"/>
              </a:rPr>
              <a:t>Z </a:t>
            </a:r>
            <a:r>
              <a:rPr lang="zh-CN" altLang="en-US" sz="3200" dirty="0">
                <a:latin typeface="楷体_GB2312" panose="02010609030101010101" pitchFamily="49" charset="-122"/>
                <a:ea typeface="楷体_GB2312" panose="02010609030101010101" pitchFamily="49" charset="-122"/>
              </a:rPr>
              <a:t>的实部值</a:t>
            </a:r>
            <a:endParaRPr lang="zh-CN" altLang="en-US" sz="2400" dirty="0">
              <a:latin typeface="楷体_GB2312" panose="02010609030101010101" pitchFamily="49" charset="-122"/>
              <a:ea typeface="楷体_GB2312" panose="02010609030101010101" pitchFamily="49" charset="-122"/>
            </a:endParaRPr>
          </a:p>
        </p:txBody>
      </p:sp>
      <p:sp>
        <p:nvSpPr>
          <p:cNvPr id="62467" name="Text Box 3"/>
          <p:cNvSpPr txBox="1"/>
          <p:nvPr/>
        </p:nvSpPr>
        <p:spPr>
          <a:xfrm>
            <a:off x="708025" y="2855913"/>
            <a:ext cx="5116513" cy="1335087"/>
          </a:xfrm>
          <a:prstGeom prst="rect">
            <a:avLst/>
          </a:prstGeom>
          <a:noFill/>
          <a:ln w="9525">
            <a:noFill/>
          </a:ln>
        </p:spPr>
        <p:txBody>
          <a:bodyPr wrap="none">
            <a:spAutoFit/>
          </a:bodyPr>
          <a:lstStyle/>
          <a:p>
            <a:pPr>
              <a:lnSpc>
                <a:spcPct val="120000"/>
              </a:lnSpc>
            </a:pPr>
            <a:r>
              <a:rPr lang="en-US" altLang="zh-CN" sz="3200" b="1" dirty="0">
                <a:solidFill>
                  <a:schemeClr val="tx2"/>
                </a:solidFill>
                <a:latin typeface="Times New Roman" panose="02020603050405020304" pitchFamily="18" charset="0"/>
                <a:ea typeface="楷体_GB2312" panose="02010609030101010101" pitchFamily="49" charset="-122"/>
              </a:rPr>
              <a:t>float</a:t>
            </a:r>
            <a:r>
              <a:rPr lang="en-US" altLang="zh-CN" sz="3600" dirty="0">
                <a:latin typeface="Times New Roman" panose="02020603050405020304" pitchFamily="18" charset="0"/>
                <a:ea typeface="楷体_GB2312" panose="02010609030101010101" pitchFamily="49" charset="-122"/>
              </a:rPr>
              <a:t> </a:t>
            </a:r>
            <a:r>
              <a:rPr lang="en-US" altLang="zh-CN" sz="3200" dirty="0">
                <a:solidFill>
                  <a:schemeClr val="tx2"/>
                </a:solidFill>
                <a:latin typeface="Times New Roman" panose="02020603050405020304" pitchFamily="18" charset="0"/>
                <a:ea typeface="楷体_GB2312" panose="02010609030101010101" pitchFamily="49" charset="-122"/>
              </a:rPr>
              <a:t>Getimag( cpmplex Z )</a:t>
            </a:r>
            <a:r>
              <a:rPr lang="zh-CN" altLang="en-US" sz="3200" dirty="0">
                <a:solidFill>
                  <a:schemeClr val="tx2"/>
                </a:solidFill>
                <a:latin typeface="Times New Roman" panose="02020603050405020304" pitchFamily="18" charset="0"/>
                <a:ea typeface="楷体_GB2312" panose="02010609030101010101" pitchFamily="49" charset="-122"/>
              </a:rPr>
              <a:t>；</a:t>
            </a:r>
            <a:endParaRPr lang="zh-CN" altLang="en-US" sz="3200" dirty="0">
              <a:latin typeface="Times New Roman" panose="02020603050405020304" pitchFamily="18" charset="0"/>
              <a:ea typeface="楷体_GB2312" panose="02010609030101010101" pitchFamily="49" charset="-122"/>
            </a:endParaRPr>
          </a:p>
          <a:p>
            <a:pPr>
              <a:lnSpc>
                <a:spcPct val="120000"/>
              </a:lnSpc>
            </a:pPr>
            <a:r>
              <a:rPr lang="zh-CN" altLang="en-US" sz="3200" dirty="0">
                <a:latin typeface="Times New Roman" panose="02020603050405020304" pitchFamily="18" charset="0"/>
                <a:ea typeface="楷体_GB2312" panose="02010609030101010101" pitchFamily="49" charset="-122"/>
              </a:rPr>
              <a:t>  </a:t>
            </a:r>
            <a:r>
              <a:rPr lang="en-US" altLang="zh-CN" sz="3200" dirty="0">
                <a:latin typeface="Times New Roman" panose="02020603050405020304" pitchFamily="18" charset="0"/>
                <a:ea typeface="楷体_GB2312" panose="02010609030101010101" pitchFamily="49" charset="-122"/>
              </a:rPr>
              <a:t>// </a:t>
            </a:r>
            <a:r>
              <a:rPr lang="zh-CN" altLang="en-US" sz="3200" dirty="0">
                <a:latin typeface="楷体_GB2312" panose="02010609030101010101" pitchFamily="49" charset="-122"/>
                <a:ea typeface="楷体_GB2312" panose="02010609030101010101" pitchFamily="49" charset="-122"/>
              </a:rPr>
              <a:t>返回复数 </a:t>
            </a:r>
            <a:r>
              <a:rPr lang="en-US" altLang="zh-CN" sz="3200" dirty="0">
                <a:latin typeface="楷体_GB2312" panose="02010609030101010101" pitchFamily="49" charset="-122"/>
                <a:ea typeface="楷体_GB2312" panose="02010609030101010101" pitchFamily="49" charset="-122"/>
              </a:rPr>
              <a:t>Z </a:t>
            </a:r>
            <a:r>
              <a:rPr lang="zh-CN" altLang="en-US" sz="3200" dirty="0">
                <a:latin typeface="楷体_GB2312" panose="02010609030101010101" pitchFamily="49" charset="-122"/>
                <a:ea typeface="楷体_GB2312" panose="02010609030101010101" pitchFamily="49" charset="-122"/>
              </a:rPr>
              <a:t>的虚部值</a:t>
            </a:r>
            <a:endParaRPr lang="zh-CN" altLang="en-US" sz="2400" dirty="0">
              <a:latin typeface="楷体_GB2312" panose="02010609030101010101" pitchFamily="49" charset="-122"/>
              <a:ea typeface="楷体_GB2312" panose="02010609030101010101" pitchFamily="49" charset="-122"/>
            </a:endParaRPr>
          </a:p>
        </p:txBody>
      </p:sp>
      <p:sp>
        <p:nvSpPr>
          <p:cNvPr id="62468" name="Text Box 4"/>
          <p:cNvSpPr txBox="1"/>
          <p:nvPr/>
        </p:nvSpPr>
        <p:spPr>
          <a:xfrm>
            <a:off x="685800" y="4327525"/>
            <a:ext cx="8458200" cy="1844675"/>
          </a:xfrm>
          <a:prstGeom prst="rect">
            <a:avLst/>
          </a:prstGeom>
          <a:noFill/>
          <a:ln w="9525">
            <a:noFill/>
          </a:ln>
        </p:spPr>
        <p:txBody>
          <a:bodyPr>
            <a:spAutoFit/>
          </a:bodyPr>
          <a:lstStyle/>
          <a:p>
            <a:pPr>
              <a:lnSpc>
                <a:spcPct val="120000"/>
              </a:lnSpc>
            </a:pPr>
            <a:r>
              <a:rPr lang="en-US" altLang="zh-CN" sz="3200" b="1" dirty="0">
                <a:solidFill>
                  <a:schemeClr val="tx2"/>
                </a:solidFill>
                <a:latin typeface="Times New Roman" panose="02020603050405020304" pitchFamily="18" charset="0"/>
                <a:ea typeface="楷体_GB2312" panose="02010609030101010101" pitchFamily="49" charset="-122"/>
              </a:rPr>
              <a:t>void </a:t>
            </a:r>
            <a:r>
              <a:rPr lang="en-US" altLang="zh-CN" sz="3200" dirty="0">
                <a:solidFill>
                  <a:schemeClr val="tx2"/>
                </a:solidFill>
                <a:latin typeface="Times New Roman" panose="02020603050405020304" pitchFamily="18" charset="0"/>
                <a:ea typeface="楷体_GB2312" panose="02010609030101010101" pitchFamily="49" charset="-122"/>
              </a:rPr>
              <a:t>add( complex z1, complex z2, </a:t>
            </a:r>
            <a:endParaRPr lang="en-US" altLang="zh-CN" sz="3200" dirty="0">
              <a:solidFill>
                <a:schemeClr val="tx2"/>
              </a:solidFill>
              <a:latin typeface="Times New Roman" panose="02020603050405020304" pitchFamily="18" charset="0"/>
              <a:ea typeface="楷体_GB2312" panose="02010609030101010101" pitchFamily="49" charset="-122"/>
            </a:endParaRPr>
          </a:p>
          <a:p>
            <a:pPr>
              <a:lnSpc>
                <a:spcPct val="120000"/>
              </a:lnSpc>
            </a:pPr>
            <a:r>
              <a:rPr lang="en-US" altLang="zh-CN" sz="3200" dirty="0">
                <a:solidFill>
                  <a:schemeClr val="tx2"/>
                </a:solidFill>
                <a:latin typeface="Times New Roman" panose="02020603050405020304" pitchFamily="18" charset="0"/>
                <a:ea typeface="楷体_GB2312" panose="02010609030101010101" pitchFamily="49" charset="-122"/>
              </a:rPr>
              <a:t>                                        complex  &amp;sum )</a:t>
            </a:r>
            <a:r>
              <a:rPr lang="zh-CN" altLang="en-US" sz="3200" dirty="0">
                <a:solidFill>
                  <a:schemeClr val="tx2"/>
                </a:solidFill>
                <a:latin typeface="Times New Roman" panose="02020603050405020304" pitchFamily="18" charset="0"/>
                <a:ea typeface="楷体_GB2312" panose="02010609030101010101" pitchFamily="49" charset="-122"/>
              </a:rPr>
              <a:t>；</a:t>
            </a:r>
            <a:endParaRPr lang="zh-CN" altLang="en-US" sz="3200" b="1" dirty="0">
              <a:solidFill>
                <a:schemeClr val="tx2"/>
              </a:solidFill>
              <a:latin typeface="Times New Roman" panose="02020603050405020304" pitchFamily="18" charset="0"/>
              <a:ea typeface="楷体_GB2312" panose="02010609030101010101" pitchFamily="49" charset="-122"/>
            </a:endParaRPr>
          </a:p>
          <a:p>
            <a:pPr>
              <a:lnSpc>
                <a:spcPct val="120000"/>
              </a:lnSpc>
            </a:pPr>
            <a:r>
              <a:rPr lang="zh-CN" altLang="en-US" sz="3200" dirty="0">
                <a:latin typeface="楷体_GB2312" panose="02010609030101010101" pitchFamily="49" charset="-122"/>
                <a:ea typeface="楷体_GB2312" panose="02010609030101010101" pitchFamily="49" charset="-122"/>
              </a:rPr>
              <a:t> </a:t>
            </a:r>
            <a:r>
              <a:rPr lang="en-US" altLang="zh-CN" sz="3200" dirty="0">
                <a:latin typeface="Times New Roman" panose="02020603050405020304" pitchFamily="18" charset="0"/>
                <a:ea typeface="楷体_GB2312" panose="02010609030101010101" pitchFamily="49" charset="-122"/>
              </a:rPr>
              <a:t>// </a:t>
            </a:r>
            <a:r>
              <a:rPr lang="zh-CN" altLang="en-US" sz="3200" dirty="0">
                <a:latin typeface="Times New Roman" panose="02020603050405020304" pitchFamily="18" charset="0"/>
                <a:ea typeface="楷体_GB2312" panose="02010609030101010101" pitchFamily="49" charset="-122"/>
              </a:rPr>
              <a:t>以 </a:t>
            </a:r>
            <a:r>
              <a:rPr lang="en-US" altLang="zh-CN" sz="3200" dirty="0">
                <a:latin typeface="Times New Roman" panose="02020603050405020304" pitchFamily="18" charset="0"/>
                <a:ea typeface="楷体_GB2312" panose="02010609030101010101" pitchFamily="49" charset="-122"/>
              </a:rPr>
              <a:t>sum </a:t>
            </a:r>
            <a:r>
              <a:rPr lang="zh-CN" altLang="en-US" sz="3200" dirty="0">
                <a:latin typeface="楷体_GB2312" panose="02010609030101010101" pitchFamily="49" charset="-122"/>
                <a:ea typeface="楷体_GB2312" panose="02010609030101010101" pitchFamily="49" charset="-122"/>
              </a:rPr>
              <a:t>返回两个复数 </a:t>
            </a:r>
            <a:r>
              <a:rPr lang="en-US" altLang="zh-CN" sz="3200" dirty="0">
                <a:latin typeface="Times New Roman" panose="02020603050405020304" pitchFamily="18" charset="0"/>
                <a:ea typeface="楷体_GB2312" panose="02010609030101010101" pitchFamily="49" charset="-122"/>
              </a:rPr>
              <a:t>z1, z2 </a:t>
            </a:r>
            <a:r>
              <a:rPr lang="zh-CN" altLang="en-US" sz="3200" dirty="0">
                <a:latin typeface="楷体_GB2312" panose="02010609030101010101" pitchFamily="49" charset="-122"/>
                <a:ea typeface="楷体_GB2312" panose="02010609030101010101" pitchFamily="49" charset="-122"/>
              </a:rPr>
              <a:t>的和        </a:t>
            </a:r>
            <a:endParaRPr lang="zh-CN" altLang="en-US" sz="3200" dirty="0">
              <a:latin typeface="楷体_GB2312" panose="02010609030101010101" pitchFamily="49" charset="-122"/>
              <a:ea typeface="楷体_GB2312" panose="02010609030101010101" pitchFamily="49" charset="-122"/>
            </a:endParaRPr>
          </a:p>
        </p:txBody>
      </p:sp>
      <p:sp>
        <p:nvSpPr>
          <p:cNvPr id="2" name="日期占位符 1"/>
          <p:cNvSpPr>
            <a:spLocks noGrp="1"/>
          </p:cNvSpPr>
          <p:nvPr>
            <p:ph type="dt" sz="half" idx="10"/>
          </p:nvPr>
        </p:nvSpPr>
        <p:spPr/>
        <p:txBody>
          <a:bodyPr/>
          <a:lstStyle/>
          <a:p>
            <a:r>
              <a:rPr lang="en-US" altLang="zh-CN"/>
              <a:t>Data Structures and algorithms</a:t>
            </a:r>
            <a:endParaRPr lang="zh-CN" altLang="en-US"/>
          </a:p>
        </p:txBody>
      </p:sp>
      <p:sp>
        <p:nvSpPr>
          <p:cNvPr id="3" name="页脚占位符 2"/>
          <p:cNvSpPr>
            <a:spLocks noGrp="1"/>
          </p:cNvSpPr>
          <p:nvPr>
            <p:ph type="ftr" sz="quarter" idx="11"/>
          </p:nvPr>
        </p:nvSpPr>
        <p:spPr/>
        <p:txBody>
          <a:bodyPr/>
          <a:lstStyle/>
          <a:p>
            <a:r>
              <a:rPr lang="en-US" altLang="zh-CN"/>
              <a:t>Software College Northeastern University</a:t>
            </a:r>
            <a:endParaRPr lang="zh-CN" altLang="en-US"/>
          </a:p>
        </p:txBody>
      </p:sp>
      <p:sp>
        <p:nvSpPr>
          <p:cNvPr id="4" name="灯片编号占位符 3"/>
          <p:cNvSpPr>
            <a:spLocks noGrp="1"/>
          </p:cNvSpPr>
          <p:nvPr>
            <p:ph type="sldNum" sz="quarter" idx="12"/>
          </p:nvPr>
        </p:nvSpPr>
        <p:spPr/>
        <p:txBody>
          <a:bodyPr/>
          <a:lstStyle/>
          <a:p>
            <a:fld id="{6E1C0148-8E4B-4B2F-95CE-20B4709700AE}" type="slidenum">
              <a:rPr lang="zh-CN" altLang="en-US" smtClean="0"/>
            </a:fld>
            <a:endParaRPr lang="zh-CN" altLang="en-US"/>
          </a:p>
        </p:txBody>
      </p:sp>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ext Box 2"/>
          <p:cNvSpPr txBox="1"/>
          <p:nvPr/>
        </p:nvSpPr>
        <p:spPr>
          <a:xfrm>
            <a:off x="1673225" y="228600"/>
            <a:ext cx="4041775" cy="579438"/>
          </a:xfrm>
          <a:prstGeom prst="rect">
            <a:avLst/>
          </a:prstGeom>
          <a:noFill/>
          <a:ln w="9525">
            <a:noFill/>
          </a:ln>
        </p:spPr>
        <p:txBody>
          <a:bodyPr wrap="none">
            <a:spAutoFit/>
          </a:bodyPr>
          <a:lstStyle/>
          <a:p>
            <a:r>
              <a:rPr lang="en-US" altLang="zh-CN" sz="3200" b="1" dirty="0">
                <a:solidFill>
                  <a:schemeClr val="tx2"/>
                </a:solidFill>
                <a:latin typeface="Times New Roman" panose="02020603050405020304" pitchFamily="18" charset="0"/>
              </a:rPr>
              <a:t>// -----</a:t>
            </a:r>
            <a:r>
              <a:rPr lang="zh-CN" altLang="en-US" sz="3200" b="1" dirty="0">
                <a:solidFill>
                  <a:schemeClr val="tx2"/>
                </a:solidFill>
                <a:latin typeface="Times New Roman" panose="02020603050405020304" pitchFamily="18" charset="0"/>
              </a:rPr>
              <a:t>基本操作的实现</a:t>
            </a:r>
            <a:endParaRPr lang="zh-CN" altLang="en-US" sz="3200" dirty="0">
              <a:latin typeface="Times New Roman" panose="02020603050405020304" pitchFamily="18" charset="0"/>
            </a:endParaRPr>
          </a:p>
        </p:txBody>
      </p:sp>
      <p:sp>
        <p:nvSpPr>
          <p:cNvPr id="63491" name="Text Box 3"/>
          <p:cNvSpPr txBox="1"/>
          <p:nvPr/>
        </p:nvSpPr>
        <p:spPr>
          <a:xfrm>
            <a:off x="381000" y="1508125"/>
            <a:ext cx="8534400" cy="3749675"/>
          </a:xfrm>
          <a:prstGeom prst="rect">
            <a:avLst/>
          </a:prstGeom>
          <a:noFill/>
          <a:ln w="9525">
            <a:noFill/>
          </a:ln>
        </p:spPr>
        <p:txBody>
          <a:bodyPr>
            <a:spAutoFit/>
          </a:bodyPr>
          <a:lstStyle/>
          <a:p>
            <a:pPr>
              <a:lnSpc>
                <a:spcPct val="125000"/>
              </a:lnSpc>
            </a:pPr>
            <a:r>
              <a:rPr lang="en-US" altLang="zh-CN" sz="3200" b="1" dirty="0">
                <a:solidFill>
                  <a:schemeClr val="tx2"/>
                </a:solidFill>
                <a:latin typeface="Times New Roman" panose="02020603050405020304" pitchFamily="18" charset="0"/>
                <a:ea typeface="楷体_GB2312" panose="02010609030101010101" pitchFamily="49" charset="-122"/>
              </a:rPr>
              <a:t>void </a:t>
            </a:r>
            <a:r>
              <a:rPr lang="en-US" altLang="zh-CN" sz="3200" dirty="0">
                <a:solidFill>
                  <a:schemeClr val="tx2"/>
                </a:solidFill>
                <a:latin typeface="Times New Roman" panose="02020603050405020304" pitchFamily="18" charset="0"/>
                <a:ea typeface="楷体_GB2312" panose="02010609030101010101" pitchFamily="49" charset="-122"/>
              </a:rPr>
              <a:t>add( complex z1, complex z2, </a:t>
            </a:r>
            <a:endParaRPr lang="en-US" altLang="zh-CN" sz="3200" dirty="0">
              <a:solidFill>
                <a:schemeClr val="tx2"/>
              </a:solidFill>
              <a:latin typeface="Times New Roman" panose="02020603050405020304" pitchFamily="18" charset="0"/>
              <a:ea typeface="楷体_GB2312" panose="02010609030101010101" pitchFamily="49" charset="-122"/>
            </a:endParaRPr>
          </a:p>
          <a:p>
            <a:pPr>
              <a:lnSpc>
                <a:spcPct val="125000"/>
              </a:lnSpc>
            </a:pPr>
            <a:r>
              <a:rPr lang="en-US" altLang="zh-CN" sz="3200" dirty="0">
                <a:solidFill>
                  <a:schemeClr val="tx2"/>
                </a:solidFill>
                <a:latin typeface="Times New Roman" panose="02020603050405020304" pitchFamily="18" charset="0"/>
                <a:ea typeface="楷体_GB2312" panose="02010609030101010101" pitchFamily="49" charset="-122"/>
              </a:rPr>
              <a:t>                                        complex  &amp;sum ) </a:t>
            </a:r>
            <a:r>
              <a:rPr lang="en-US" altLang="zh-CN" sz="3200" b="1" dirty="0">
                <a:solidFill>
                  <a:schemeClr val="tx2"/>
                </a:solidFill>
                <a:latin typeface="Times New Roman" panose="02020603050405020304" pitchFamily="18" charset="0"/>
                <a:ea typeface="楷体_GB2312" panose="02010609030101010101" pitchFamily="49" charset="-122"/>
              </a:rPr>
              <a:t>{</a:t>
            </a:r>
            <a:endParaRPr lang="en-US" altLang="zh-CN" sz="3200" b="1" dirty="0">
              <a:solidFill>
                <a:schemeClr val="tx2"/>
              </a:solidFill>
              <a:latin typeface="Times New Roman" panose="02020603050405020304" pitchFamily="18" charset="0"/>
              <a:ea typeface="楷体_GB2312" panose="02010609030101010101" pitchFamily="49" charset="-122"/>
            </a:endParaRPr>
          </a:p>
          <a:p>
            <a:pPr>
              <a:lnSpc>
                <a:spcPct val="125000"/>
              </a:lnSpc>
            </a:pPr>
            <a:r>
              <a:rPr lang="en-US" altLang="zh-CN" sz="3200" dirty="0">
                <a:latin typeface="楷体_GB2312" panose="02010609030101010101" pitchFamily="49" charset="-122"/>
                <a:ea typeface="楷体_GB2312" panose="02010609030101010101" pitchFamily="49" charset="-122"/>
              </a:rPr>
              <a:t> </a:t>
            </a:r>
            <a:r>
              <a:rPr lang="en-US" altLang="zh-CN" sz="3200" dirty="0">
                <a:latin typeface="Times New Roman" panose="02020603050405020304" pitchFamily="18" charset="0"/>
                <a:ea typeface="楷体_GB2312" panose="02010609030101010101" pitchFamily="49" charset="-122"/>
              </a:rPr>
              <a:t>// </a:t>
            </a:r>
            <a:r>
              <a:rPr lang="zh-CN" altLang="en-US" sz="3200" dirty="0">
                <a:latin typeface="Times New Roman" panose="02020603050405020304" pitchFamily="18" charset="0"/>
                <a:ea typeface="楷体_GB2312" panose="02010609030101010101" pitchFamily="49" charset="-122"/>
              </a:rPr>
              <a:t>以 </a:t>
            </a:r>
            <a:r>
              <a:rPr lang="en-US" altLang="zh-CN" sz="3200" dirty="0">
                <a:latin typeface="Times New Roman" panose="02020603050405020304" pitchFamily="18" charset="0"/>
                <a:ea typeface="楷体_GB2312" panose="02010609030101010101" pitchFamily="49" charset="-122"/>
              </a:rPr>
              <a:t>sum </a:t>
            </a:r>
            <a:r>
              <a:rPr lang="zh-CN" altLang="en-US" sz="3200" dirty="0">
                <a:latin typeface="楷体_GB2312" panose="02010609030101010101" pitchFamily="49" charset="-122"/>
                <a:ea typeface="楷体_GB2312" panose="02010609030101010101" pitchFamily="49" charset="-122"/>
              </a:rPr>
              <a:t>返回两个复数 </a:t>
            </a:r>
            <a:r>
              <a:rPr lang="en-US" altLang="zh-CN" sz="3200" dirty="0">
                <a:latin typeface="Times New Roman" panose="02020603050405020304" pitchFamily="18" charset="0"/>
                <a:ea typeface="楷体_GB2312" panose="02010609030101010101" pitchFamily="49" charset="-122"/>
              </a:rPr>
              <a:t>z1, z2 </a:t>
            </a:r>
            <a:r>
              <a:rPr lang="zh-CN" altLang="en-US" sz="3200" dirty="0">
                <a:latin typeface="楷体_GB2312" panose="02010609030101010101" pitchFamily="49" charset="-122"/>
                <a:ea typeface="楷体_GB2312" panose="02010609030101010101" pitchFamily="49" charset="-122"/>
              </a:rPr>
              <a:t>的和</a:t>
            </a:r>
            <a:endParaRPr lang="zh-CN" altLang="en-US" sz="3200" dirty="0">
              <a:latin typeface="楷体_GB2312" panose="02010609030101010101" pitchFamily="49" charset="-122"/>
              <a:ea typeface="楷体_GB2312" panose="02010609030101010101" pitchFamily="49" charset="-122"/>
            </a:endParaRPr>
          </a:p>
          <a:p>
            <a:pPr>
              <a:lnSpc>
                <a:spcPct val="125000"/>
              </a:lnSpc>
            </a:pPr>
            <a:r>
              <a:rPr lang="zh-CN" altLang="en-US" sz="3200" dirty="0">
                <a:latin typeface="楷体_GB2312" panose="02010609030101010101" pitchFamily="49" charset="-122"/>
                <a:ea typeface="楷体_GB2312" panose="02010609030101010101" pitchFamily="49" charset="-122"/>
              </a:rPr>
              <a:t>  </a:t>
            </a:r>
            <a:r>
              <a:rPr lang="en-US" altLang="zh-CN" sz="3200" dirty="0">
                <a:latin typeface="Times New Roman" panose="02020603050405020304" pitchFamily="18" charset="0"/>
                <a:ea typeface="楷体_GB2312" panose="02010609030101010101" pitchFamily="49" charset="-122"/>
              </a:rPr>
              <a:t>sum.realpart = z1.realpart + z2.realpart;</a:t>
            </a:r>
            <a:endParaRPr lang="en-US" altLang="zh-CN" sz="3200" dirty="0">
              <a:latin typeface="Times New Roman" panose="02020603050405020304" pitchFamily="18" charset="0"/>
              <a:ea typeface="楷体_GB2312" panose="02010609030101010101" pitchFamily="49" charset="-122"/>
            </a:endParaRPr>
          </a:p>
          <a:p>
            <a:pPr>
              <a:lnSpc>
                <a:spcPct val="125000"/>
              </a:lnSpc>
            </a:pPr>
            <a:r>
              <a:rPr lang="en-US" altLang="zh-CN" sz="3200" dirty="0">
                <a:latin typeface="Times New Roman" panose="02020603050405020304" pitchFamily="18" charset="0"/>
                <a:ea typeface="楷体_GB2312" panose="02010609030101010101" pitchFamily="49" charset="-122"/>
              </a:rPr>
              <a:t>    sum.imagpart = z1.imagpart + z2.imagpart;</a:t>
            </a:r>
            <a:endParaRPr lang="en-US" altLang="zh-CN" sz="3200" dirty="0">
              <a:latin typeface="Times New Roman" panose="02020603050405020304" pitchFamily="18" charset="0"/>
              <a:ea typeface="楷体_GB2312" panose="02010609030101010101" pitchFamily="49" charset="-122"/>
            </a:endParaRPr>
          </a:p>
          <a:p>
            <a:pPr>
              <a:lnSpc>
                <a:spcPct val="125000"/>
              </a:lnSpc>
            </a:pPr>
            <a:r>
              <a:rPr lang="en-US" altLang="zh-CN" sz="3200" dirty="0">
                <a:latin typeface="Times New Roman" panose="02020603050405020304" pitchFamily="18" charset="0"/>
                <a:ea typeface="楷体_GB2312" panose="02010609030101010101" pitchFamily="49" charset="-122"/>
              </a:rPr>
              <a:t>}</a:t>
            </a:r>
            <a:r>
              <a:rPr lang="en-US" altLang="zh-CN" sz="3200" dirty="0">
                <a:latin typeface="楷体_GB2312" panose="02010609030101010101" pitchFamily="49" charset="-122"/>
                <a:ea typeface="楷体_GB2312" panose="02010609030101010101" pitchFamily="49" charset="-122"/>
              </a:rPr>
              <a:t>         </a:t>
            </a:r>
            <a:endParaRPr lang="en-US" altLang="zh-CN" sz="3200" dirty="0">
              <a:latin typeface="楷体_GB2312" panose="02010609030101010101" pitchFamily="49" charset="-122"/>
              <a:ea typeface="楷体_GB2312" panose="02010609030101010101" pitchFamily="49" charset="-122"/>
            </a:endParaRPr>
          </a:p>
        </p:txBody>
      </p:sp>
      <p:sp>
        <p:nvSpPr>
          <p:cNvPr id="63492" name="Text Box 4"/>
          <p:cNvSpPr txBox="1"/>
          <p:nvPr/>
        </p:nvSpPr>
        <p:spPr>
          <a:xfrm>
            <a:off x="368300" y="5410200"/>
            <a:ext cx="2679700" cy="641350"/>
          </a:xfrm>
          <a:prstGeom prst="rect">
            <a:avLst/>
          </a:prstGeom>
          <a:noFill/>
          <a:ln w="9525">
            <a:noFill/>
          </a:ln>
        </p:spPr>
        <p:txBody>
          <a:bodyPr wrap="none">
            <a:spAutoFit/>
          </a:bodyPr>
          <a:lstStyle/>
          <a:p>
            <a:r>
              <a:rPr lang="en-US" altLang="zh-CN" sz="3600" dirty="0">
                <a:solidFill>
                  <a:schemeClr val="tx2"/>
                </a:solidFill>
                <a:latin typeface="Times New Roman" panose="02020603050405020304" pitchFamily="18" charset="0"/>
              </a:rPr>
              <a:t>{ </a:t>
            </a:r>
            <a:r>
              <a:rPr lang="zh-CN" altLang="en-US" sz="3600" dirty="0">
                <a:solidFill>
                  <a:schemeClr val="tx2"/>
                </a:solidFill>
                <a:latin typeface="Times New Roman" panose="02020603050405020304" pitchFamily="18" charset="0"/>
              </a:rPr>
              <a:t>其它省略 </a:t>
            </a:r>
            <a:r>
              <a:rPr lang="en-US" altLang="zh-CN" sz="3600" dirty="0">
                <a:solidFill>
                  <a:schemeClr val="tx2"/>
                </a:solidFill>
                <a:latin typeface="Times New Roman" panose="02020603050405020304" pitchFamily="18" charset="0"/>
              </a:rPr>
              <a:t>}</a:t>
            </a:r>
            <a:endParaRPr lang="en-US" altLang="zh-CN" sz="3600" dirty="0">
              <a:latin typeface="Times New Roman" panose="02020603050405020304" pitchFamily="18" charset="0"/>
            </a:endParaRPr>
          </a:p>
        </p:txBody>
      </p:sp>
      <p:sp>
        <p:nvSpPr>
          <p:cNvPr id="63493" name="AutoShape 5">
            <a:hlinkClick r:id="" action="ppaction://noaction"/>
          </p:cNvPr>
          <p:cNvSpPr/>
          <p:nvPr/>
        </p:nvSpPr>
        <p:spPr>
          <a:xfrm>
            <a:off x="8534400" y="6019800"/>
            <a:ext cx="381000" cy="381000"/>
          </a:xfrm>
          <a:prstGeom prst="actionButtonBackPrevious">
            <a:avLst/>
          </a:prstGeom>
          <a:solidFill>
            <a:schemeClr val="bg2"/>
          </a:solidFill>
          <a:ln w="9525" cap="flat" cmpd="sng">
            <a:solidFill>
              <a:schemeClr val="tx1"/>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2" name="日期占位符 1"/>
          <p:cNvSpPr>
            <a:spLocks noGrp="1"/>
          </p:cNvSpPr>
          <p:nvPr>
            <p:ph type="dt" sz="half" idx="10"/>
          </p:nvPr>
        </p:nvSpPr>
        <p:spPr/>
        <p:txBody>
          <a:bodyPr/>
          <a:lstStyle/>
          <a:p>
            <a:r>
              <a:rPr lang="en-US" altLang="zh-CN"/>
              <a:t>Data Structures and algorithms</a:t>
            </a:r>
            <a:endParaRPr lang="zh-CN" altLang="en-US"/>
          </a:p>
        </p:txBody>
      </p:sp>
      <p:sp>
        <p:nvSpPr>
          <p:cNvPr id="3" name="页脚占位符 2"/>
          <p:cNvSpPr>
            <a:spLocks noGrp="1"/>
          </p:cNvSpPr>
          <p:nvPr>
            <p:ph type="ftr" sz="quarter" idx="11"/>
          </p:nvPr>
        </p:nvSpPr>
        <p:spPr/>
        <p:txBody>
          <a:bodyPr/>
          <a:lstStyle/>
          <a:p>
            <a:r>
              <a:rPr lang="en-US" altLang="zh-CN"/>
              <a:t>Software College Northeastern University</a:t>
            </a:r>
            <a:endParaRPr lang="zh-CN" altLang="en-US"/>
          </a:p>
        </p:txBody>
      </p:sp>
      <p:sp>
        <p:nvSpPr>
          <p:cNvPr id="4" name="灯片编号占位符 3"/>
          <p:cNvSpPr>
            <a:spLocks noGrp="1"/>
          </p:cNvSpPr>
          <p:nvPr>
            <p:ph type="sldNum" sz="quarter" idx="12"/>
          </p:nvPr>
        </p:nvSpPr>
        <p:spPr/>
        <p:txBody>
          <a:bodyPr/>
          <a:lstStyle/>
          <a:p>
            <a:fld id="{6E1C0148-8E4B-4B2F-95CE-20B4709700AE}" type="slidenum">
              <a:rPr lang="zh-CN" altLang="en-US" smtClean="0"/>
            </a:fld>
            <a:endParaRPr lang="zh-CN" altLang="en-US"/>
          </a:p>
        </p:txBody>
      </p:sp>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ext Box 2"/>
          <p:cNvSpPr txBox="1"/>
          <p:nvPr/>
        </p:nvSpPr>
        <p:spPr>
          <a:xfrm>
            <a:off x="1430338" y="0"/>
            <a:ext cx="7713662" cy="914400"/>
          </a:xfrm>
          <a:prstGeom prst="rect">
            <a:avLst/>
          </a:prstGeom>
          <a:noFill/>
          <a:ln w="9525">
            <a:noFill/>
          </a:ln>
        </p:spPr>
        <p:txBody>
          <a:bodyPr>
            <a:spAutoFit/>
          </a:bodyPr>
          <a:lstStyle/>
          <a:p>
            <a:r>
              <a:rPr lang="en-US" altLang="zh-CN" sz="5400" b="1" dirty="0">
                <a:solidFill>
                  <a:schemeClr val="tx2"/>
                </a:solidFill>
                <a:latin typeface="楷体_GB2312" panose="02010609030101010101" pitchFamily="49" charset="-122"/>
                <a:ea typeface="楷体_GB2312" panose="02010609030101010101" pitchFamily="49" charset="-122"/>
              </a:rPr>
              <a:t>1.3 </a:t>
            </a:r>
            <a:r>
              <a:rPr lang="zh-CN" altLang="en-US" sz="5400" b="1" dirty="0">
                <a:solidFill>
                  <a:schemeClr val="tx2"/>
                </a:solidFill>
                <a:latin typeface="楷体_GB2312" panose="02010609030101010101" pitchFamily="49" charset="-122"/>
                <a:ea typeface="楷体_GB2312" panose="02010609030101010101" pitchFamily="49" charset="-122"/>
              </a:rPr>
              <a:t>算法和算法的衡量</a:t>
            </a:r>
            <a:endParaRPr lang="zh-CN" altLang="en-US" sz="5400" b="1" dirty="0">
              <a:solidFill>
                <a:srgbClr val="0000FF"/>
              </a:solidFill>
              <a:latin typeface="楷体_GB2312" panose="02010609030101010101" pitchFamily="49" charset="-122"/>
              <a:ea typeface="楷体_GB2312" panose="02010609030101010101" pitchFamily="49" charset="-122"/>
            </a:endParaRPr>
          </a:p>
        </p:txBody>
      </p:sp>
      <p:sp>
        <p:nvSpPr>
          <p:cNvPr id="64515" name="Text Box 3">
            <a:hlinkClick r:id="" action="ppaction://hlinkshowjump?jump=nextslide"/>
          </p:cNvPr>
          <p:cNvSpPr txBox="1"/>
          <p:nvPr/>
        </p:nvSpPr>
        <p:spPr>
          <a:xfrm>
            <a:off x="1368425" y="1447800"/>
            <a:ext cx="4030663" cy="701675"/>
          </a:xfrm>
          <a:prstGeom prst="rect">
            <a:avLst/>
          </a:prstGeom>
          <a:noFill/>
          <a:ln w="9525">
            <a:noFill/>
          </a:ln>
        </p:spPr>
        <p:txBody>
          <a:bodyPr>
            <a:spAutoFit/>
          </a:bodyPr>
          <a:lstStyle/>
          <a:p>
            <a:r>
              <a:rPr lang="zh-CN" altLang="en-US" sz="4000" b="1" dirty="0">
                <a:solidFill>
                  <a:srgbClr val="660066"/>
                </a:solidFill>
                <a:latin typeface="楷体_GB2312" panose="02010609030101010101" pitchFamily="49" charset="-122"/>
                <a:ea typeface="楷体_GB2312" panose="02010609030101010101" pitchFamily="49" charset="-122"/>
              </a:rPr>
              <a:t>一、算法特性</a:t>
            </a:r>
            <a:endParaRPr lang="zh-CN" altLang="en-US" sz="2400" dirty="0">
              <a:latin typeface="Times New Roman" panose="02020603050405020304" pitchFamily="18" charset="0"/>
            </a:endParaRPr>
          </a:p>
        </p:txBody>
      </p:sp>
      <p:sp>
        <p:nvSpPr>
          <p:cNvPr id="64516" name="Text Box 4">
            <a:hlinkClick r:id="rId1" action="ppaction://hlinksldjump"/>
          </p:cNvPr>
          <p:cNvSpPr txBox="1"/>
          <p:nvPr/>
        </p:nvSpPr>
        <p:spPr>
          <a:xfrm>
            <a:off x="1368425" y="2590800"/>
            <a:ext cx="5757863" cy="701675"/>
          </a:xfrm>
          <a:prstGeom prst="rect">
            <a:avLst/>
          </a:prstGeom>
          <a:noFill/>
          <a:ln w="9525">
            <a:noFill/>
          </a:ln>
        </p:spPr>
        <p:txBody>
          <a:bodyPr>
            <a:spAutoFit/>
          </a:bodyPr>
          <a:lstStyle/>
          <a:p>
            <a:r>
              <a:rPr lang="zh-CN" altLang="en-US" sz="4000" b="1" dirty="0">
                <a:solidFill>
                  <a:srgbClr val="660066"/>
                </a:solidFill>
                <a:latin typeface="楷体_GB2312" panose="02010609030101010101" pitchFamily="49" charset="-122"/>
                <a:ea typeface="楷体_GB2312" panose="02010609030101010101" pitchFamily="49" charset="-122"/>
              </a:rPr>
              <a:t>二、算法设计的原则</a:t>
            </a:r>
            <a:endParaRPr lang="zh-CN" altLang="en-US" sz="2400" b="1" dirty="0">
              <a:latin typeface="楷体_GB2312" panose="02010609030101010101" pitchFamily="49" charset="-122"/>
              <a:ea typeface="楷体_GB2312" panose="02010609030101010101" pitchFamily="49" charset="-122"/>
            </a:endParaRPr>
          </a:p>
        </p:txBody>
      </p:sp>
      <p:sp>
        <p:nvSpPr>
          <p:cNvPr id="64517" name="Text Box 5">
            <a:hlinkClick r:id="rId2" action="ppaction://hlinksldjump"/>
          </p:cNvPr>
          <p:cNvSpPr txBox="1"/>
          <p:nvPr/>
        </p:nvSpPr>
        <p:spPr>
          <a:xfrm>
            <a:off x="1368425" y="3733800"/>
            <a:ext cx="7318375" cy="701675"/>
          </a:xfrm>
          <a:prstGeom prst="rect">
            <a:avLst/>
          </a:prstGeom>
          <a:noFill/>
          <a:ln w="9525">
            <a:noFill/>
          </a:ln>
        </p:spPr>
        <p:txBody>
          <a:bodyPr wrap="none">
            <a:spAutoFit/>
          </a:bodyPr>
          <a:lstStyle/>
          <a:p>
            <a:r>
              <a:rPr lang="zh-CN" altLang="en-US" sz="4000" b="1" dirty="0">
                <a:solidFill>
                  <a:srgbClr val="660066"/>
                </a:solidFill>
                <a:latin typeface="楷体_GB2312" panose="02010609030101010101" pitchFamily="49" charset="-122"/>
                <a:ea typeface="楷体_GB2312" panose="02010609030101010101" pitchFamily="49" charset="-122"/>
              </a:rPr>
              <a:t>三、算法效率的衡量方法和准则</a:t>
            </a:r>
            <a:endParaRPr lang="zh-CN" altLang="en-US" sz="5400" b="1" dirty="0">
              <a:latin typeface="楷体_GB2312" panose="02010609030101010101" pitchFamily="49" charset="-122"/>
              <a:ea typeface="楷体_GB2312" panose="02010609030101010101" pitchFamily="49" charset="-122"/>
            </a:endParaRPr>
          </a:p>
        </p:txBody>
      </p:sp>
      <p:sp>
        <p:nvSpPr>
          <p:cNvPr id="64518" name="Text Box 6">
            <a:hlinkClick r:id="rId3" action="ppaction://hlinksldjump"/>
          </p:cNvPr>
          <p:cNvSpPr txBox="1"/>
          <p:nvPr/>
        </p:nvSpPr>
        <p:spPr>
          <a:xfrm>
            <a:off x="1368425" y="4876800"/>
            <a:ext cx="7054850" cy="701675"/>
          </a:xfrm>
          <a:prstGeom prst="rect">
            <a:avLst/>
          </a:prstGeom>
          <a:noFill/>
          <a:ln w="9525">
            <a:noFill/>
          </a:ln>
        </p:spPr>
        <p:txBody>
          <a:bodyPr>
            <a:spAutoFit/>
          </a:bodyPr>
          <a:lstStyle/>
          <a:p>
            <a:r>
              <a:rPr lang="zh-CN" altLang="en-US" sz="4000" b="1" dirty="0">
                <a:solidFill>
                  <a:srgbClr val="660066"/>
                </a:solidFill>
                <a:latin typeface="楷体_GB2312" panose="02010609030101010101" pitchFamily="49" charset="-122"/>
                <a:ea typeface="楷体_GB2312" panose="02010609030101010101" pitchFamily="49" charset="-122"/>
              </a:rPr>
              <a:t>四、算法的存储空间需求</a:t>
            </a:r>
            <a:endParaRPr lang="zh-CN" altLang="en-US" sz="2400" b="1" dirty="0">
              <a:latin typeface="楷体_GB2312" panose="02010609030101010101" pitchFamily="49" charset="-122"/>
              <a:ea typeface="楷体_GB2312" panose="02010609030101010101" pitchFamily="49" charset="-122"/>
            </a:endParaRPr>
          </a:p>
        </p:txBody>
      </p:sp>
      <p:sp>
        <p:nvSpPr>
          <p:cNvPr id="2" name="日期占位符 1"/>
          <p:cNvSpPr>
            <a:spLocks noGrp="1"/>
          </p:cNvSpPr>
          <p:nvPr>
            <p:ph type="dt" sz="half" idx="10"/>
          </p:nvPr>
        </p:nvSpPr>
        <p:spPr/>
        <p:txBody>
          <a:bodyPr/>
          <a:lstStyle/>
          <a:p>
            <a:r>
              <a:rPr lang="en-US" altLang="zh-CN"/>
              <a:t>Data Structures and algorithms</a:t>
            </a:r>
            <a:endParaRPr lang="zh-CN" altLang="en-US"/>
          </a:p>
        </p:txBody>
      </p:sp>
      <p:sp>
        <p:nvSpPr>
          <p:cNvPr id="3" name="页脚占位符 2"/>
          <p:cNvSpPr>
            <a:spLocks noGrp="1"/>
          </p:cNvSpPr>
          <p:nvPr>
            <p:ph type="ftr" sz="quarter" idx="11"/>
          </p:nvPr>
        </p:nvSpPr>
        <p:spPr/>
        <p:txBody>
          <a:bodyPr/>
          <a:lstStyle/>
          <a:p>
            <a:r>
              <a:rPr lang="en-US" altLang="zh-CN"/>
              <a:t>Software College Northeastern University</a:t>
            </a:r>
            <a:endParaRPr lang="zh-CN" altLang="en-US"/>
          </a:p>
        </p:txBody>
      </p:sp>
      <p:sp>
        <p:nvSpPr>
          <p:cNvPr id="4" name="灯片编号占位符 3"/>
          <p:cNvSpPr>
            <a:spLocks noGrp="1"/>
          </p:cNvSpPr>
          <p:nvPr>
            <p:ph type="sldNum" sz="quarter" idx="12"/>
          </p:nvPr>
        </p:nvSpPr>
        <p:spPr/>
        <p:txBody>
          <a:bodyPr/>
          <a:lstStyle/>
          <a:p>
            <a:fld id="{6E1C0148-8E4B-4B2F-95CE-20B4709700AE}" type="slidenum">
              <a:rPr lang="zh-CN" altLang="en-US" smtClean="0"/>
            </a:fld>
            <a:endParaRPr lang="zh-CN" altLang="en-US"/>
          </a:p>
        </p:txBody>
      </p:sp>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ext Box 2"/>
          <p:cNvSpPr txBox="1"/>
          <p:nvPr/>
        </p:nvSpPr>
        <p:spPr>
          <a:xfrm>
            <a:off x="457200" y="1098550"/>
            <a:ext cx="8204200" cy="3165475"/>
          </a:xfrm>
          <a:prstGeom prst="rect">
            <a:avLst/>
          </a:prstGeom>
          <a:noFill/>
          <a:ln w="9525">
            <a:noFill/>
          </a:ln>
        </p:spPr>
        <p:txBody>
          <a:bodyPr>
            <a:spAutoFit/>
          </a:bodyPr>
          <a:lstStyle/>
          <a:p>
            <a:pPr>
              <a:lnSpc>
                <a:spcPct val="140000"/>
              </a:lnSpc>
            </a:pPr>
            <a:r>
              <a:rPr lang="zh-CN" altLang="en-US" sz="3600" dirty="0">
                <a:latin typeface="楷体_GB2312" panose="02010609030101010101" pitchFamily="49" charset="-122"/>
                <a:ea typeface="楷体_GB2312" panose="02010609030101010101" pitchFamily="49" charset="-122"/>
              </a:rPr>
              <a:t>    算法是对特定问题求解步骤的一种描述，是指令的有限序列。其中每一条指令表示一个或多个操作。。一个算法必须满足以下</a:t>
            </a:r>
            <a:r>
              <a:rPr lang="zh-CN" altLang="en-US" sz="3600" b="1" dirty="0">
                <a:solidFill>
                  <a:srgbClr val="9900CC"/>
                </a:solidFill>
                <a:latin typeface="宋体" panose="02010600030101010101" pitchFamily="2" charset="-122"/>
              </a:rPr>
              <a:t>五</a:t>
            </a:r>
            <a:r>
              <a:rPr lang="zh-CN" altLang="en-US" sz="3600" dirty="0">
                <a:solidFill>
                  <a:srgbClr val="9900CC"/>
                </a:solidFill>
                <a:latin typeface="楷体_GB2312" panose="02010609030101010101" pitchFamily="49" charset="-122"/>
                <a:ea typeface="楷体_GB2312" panose="02010609030101010101" pitchFamily="49" charset="-122"/>
              </a:rPr>
              <a:t>个重要</a:t>
            </a:r>
            <a:r>
              <a:rPr lang="zh-CN" altLang="en-US" sz="3600" b="1" dirty="0">
                <a:solidFill>
                  <a:srgbClr val="9900CC"/>
                </a:solidFill>
                <a:latin typeface="楷体_GB2312" panose="02010609030101010101" pitchFamily="49" charset="-122"/>
                <a:ea typeface="楷体_GB2312" panose="02010609030101010101" pitchFamily="49" charset="-122"/>
              </a:rPr>
              <a:t>特性</a:t>
            </a:r>
            <a:r>
              <a:rPr lang="zh-CN" altLang="en-US" sz="3600" dirty="0">
                <a:latin typeface="楷体_GB2312" panose="02010609030101010101" pitchFamily="49" charset="-122"/>
                <a:ea typeface="楷体_GB2312" panose="02010609030101010101" pitchFamily="49" charset="-122"/>
              </a:rPr>
              <a:t>：</a:t>
            </a:r>
            <a:endParaRPr lang="zh-CN" altLang="en-US" sz="3600" dirty="0">
              <a:latin typeface="楷体_GB2312" panose="02010609030101010101" pitchFamily="49" charset="-122"/>
              <a:ea typeface="楷体_GB2312" panose="02010609030101010101" pitchFamily="49" charset="-122"/>
            </a:endParaRPr>
          </a:p>
        </p:txBody>
      </p:sp>
      <p:sp>
        <p:nvSpPr>
          <p:cNvPr id="65539" name="Text Box 3"/>
          <p:cNvSpPr txBox="1"/>
          <p:nvPr/>
        </p:nvSpPr>
        <p:spPr>
          <a:xfrm>
            <a:off x="1592263" y="228600"/>
            <a:ext cx="3665537" cy="701675"/>
          </a:xfrm>
          <a:prstGeom prst="rect">
            <a:avLst/>
          </a:prstGeom>
          <a:noFill/>
          <a:ln w="9525">
            <a:noFill/>
          </a:ln>
        </p:spPr>
        <p:txBody>
          <a:bodyPr>
            <a:spAutoFit/>
          </a:bodyPr>
          <a:lstStyle/>
          <a:p>
            <a:r>
              <a:rPr lang="zh-CN" altLang="en-US" sz="4000" b="1" dirty="0">
                <a:solidFill>
                  <a:srgbClr val="660066"/>
                </a:solidFill>
                <a:latin typeface="楷体_GB2312" panose="02010609030101010101" pitchFamily="49" charset="-122"/>
                <a:ea typeface="楷体_GB2312" panose="02010609030101010101" pitchFamily="49" charset="-122"/>
              </a:rPr>
              <a:t>一、算法特性</a:t>
            </a:r>
            <a:endParaRPr lang="zh-CN" altLang="en-US" sz="2400" dirty="0">
              <a:latin typeface="Times New Roman" panose="02020603050405020304" pitchFamily="18" charset="0"/>
            </a:endParaRPr>
          </a:p>
        </p:txBody>
      </p:sp>
      <p:sp>
        <p:nvSpPr>
          <p:cNvPr id="2" name="日期占位符 1"/>
          <p:cNvSpPr>
            <a:spLocks noGrp="1"/>
          </p:cNvSpPr>
          <p:nvPr>
            <p:ph type="dt" sz="half" idx="10"/>
          </p:nvPr>
        </p:nvSpPr>
        <p:spPr/>
        <p:txBody>
          <a:bodyPr/>
          <a:lstStyle/>
          <a:p>
            <a:r>
              <a:rPr lang="en-US" altLang="zh-CN"/>
              <a:t>Data Structures and algorithms</a:t>
            </a:r>
            <a:endParaRPr lang="zh-CN" altLang="en-US"/>
          </a:p>
        </p:txBody>
      </p:sp>
      <p:sp>
        <p:nvSpPr>
          <p:cNvPr id="3" name="页脚占位符 2"/>
          <p:cNvSpPr>
            <a:spLocks noGrp="1"/>
          </p:cNvSpPr>
          <p:nvPr>
            <p:ph type="ftr" sz="quarter" idx="11"/>
          </p:nvPr>
        </p:nvSpPr>
        <p:spPr/>
        <p:txBody>
          <a:bodyPr/>
          <a:lstStyle/>
          <a:p>
            <a:r>
              <a:rPr lang="en-US" altLang="zh-CN"/>
              <a:t>Software College Northeastern University</a:t>
            </a:r>
            <a:endParaRPr lang="zh-CN" altLang="en-US"/>
          </a:p>
        </p:txBody>
      </p:sp>
      <p:sp>
        <p:nvSpPr>
          <p:cNvPr id="4" name="灯片编号占位符 3"/>
          <p:cNvSpPr>
            <a:spLocks noGrp="1"/>
          </p:cNvSpPr>
          <p:nvPr>
            <p:ph type="sldNum" sz="quarter" idx="12"/>
          </p:nvPr>
        </p:nvSpPr>
        <p:spPr/>
        <p:txBody>
          <a:bodyPr/>
          <a:lstStyle/>
          <a:p>
            <a:fld id="{6E1C0148-8E4B-4B2F-95CE-20B4709700AE}" type="slidenum">
              <a:rPr lang="zh-CN" altLang="en-US" smtClean="0"/>
            </a:fld>
            <a:endParaRPr lang="zh-CN" altLang="en-US"/>
          </a:p>
        </p:txBody>
      </p:sp>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ext Box 2"/>
          <p:cNvSpPr txBox="1"/>
          <p:nvPr/>
        </p:nvSpPr>
        <p:spPr>
          <a:xfrm>
            <a:off x="304800" y="1101725"/>
            <a:ext cx="8578850" cy="1786643"/>
          </a:xfrm>
          <a:prstGeom prst="rect">
            <a:avLst/>
          </a:prstGeom>
          <a:noFill/>
          <a:ln w="9525">
            <a:noFill/>
          </a:ln>
        </p:spPr>
        <p:txBody>
          <a:bodyPr>
            <a:spAutoFit/>
          </a:bodyPr>
          <a:lstStyle/>
          <a:p>
            <a:pPr>
              <a:lnSpc>
                <a:spcPct val="120000"/>
              </a:lnSpc>
            </a:pPr>
            <a:r>
              <a:rPr lang="en-US" altLang="zh-CN" sz="3200" b="1" dirty="0">
                <a:latin typeface="楷体_GB2312" panose="02010609030101010101" pitchFamily="49" charset="-122"/>
                <a:ea typeface="楷体_GB2312" panose="02010609030101010101" pitchFamily="49" charset="-122"/>
              </a:rPr>
              <a:t>1</a:t>
            </a:r>
            <a:r>
              <a:rPr lang="zh-CN" altLang="en-US" sz="3200" b="1" dirty="0">
                <a:latin typeface="楷体_GB2312" panose="02010609030101010101" pitchFamily="49" charset="-122"/>
                <a:ea typeface="楷体_GB2312" panose="02010609030101010101" pitchFamily="49" charset="-122"/>
              </a:rPr>
              <a:t>．</a:t>
            </a:r>
            <a:r>
              <a:rPr lang="zh-CN" altLang="en-US" sz="3200" b="1" dirty="0">
                <a:solidFill>
                  <a:srgbClr val="FF0000"/>
                </a:solidFill>
                <a:latin typeface="楷体_GB2312" panose="02010609030101010101" pitchFamily="49" charset="-122"/>
                <a:ea typeface="楷体_GB2312" panose="02010609030101010101" pitchFamily="49" charset="-122"/>
              </a:rPr>
              <a:t>有穷性</a:t>
            </a:r>
            <a:r>
              <a:rPr lang="zh-CN" altLang="en-US" sz="3200" dirty="0">
                <a:latin typeface="楷体_GB2312" panose="02010609030101010101" pitchFamily="49" charset="-122"/>
                <a:ea typeface="楷体_GB2312" panose="02010609030101010101" pitchFamily="49" charset="-122"/>
              </a:rPr>
              <a:t>  对于任意一组合法输入值，在执行</a:t>
            </a:r>
            <a:r>
              <a:rPr lang="zh-CN" altLang="en-US" sz="3200" b="1" dirty="0">
                <a:solidFill>
                  <a:srgbClr val="FF0000"/>
                </a:solidFill>
                <a:latin typeface="楷体_GB2312" panose="02010609030101010101" pitchFamily="49" charset="-122"/>
                <a:ea typeface="楷体_GB2312" panose="02010609030101010101" pitchFamily="49" charset="-122"/>
              </a:rPr>
              <a:t>有穷步骤</a:t>
            </a:r>
            <a:r>
              <a:rPr lang="zh-CN" altLang="en-US" sz="3200" dirty="0">
                <a:latin typeface="楷体_GB2312" panose="02010609030101010101" pitchFamily="49" charset="-122"/>
                <a:ea typeface="楷体_GB2312" panose="02010609030101010101" pitchFamily="49" charset="-122"/>
              </a:rPr>
              <a:t>之后一定能结束，即：</a:t>
            </a:r>
            <a:endParaRPr lang="zh-CN" altLang="en-US" sz="3200" dirty="0">
              <a:latin typeface="楷体_GB2312" panose="02010609030101010101" pitchFamily="49" charset="-122"/>
              <a:ea typeface="楷体_GB2312" panose="02010609030101010101" pitchFamily="49" charset="-122"/>
            </a:endParaRPr>
          </a:p>
          <a:p>
            <a:pPr>
              <a:lnSpc>
                <a:spcPct val="120000"/>
              </a:lnSpc>
            </a:pPr>
            <a:r>
              <a:rPr lang="zh-CN" altLang="en-US" sz="3200" dirty="0">
                <a:latin typeface="楷体_GB2312" panose="02010609030101010101" pitchFamily="49" charset="-122"/>
                <a:ea typeface="楷体_GB2312" panose="02010609030101010101" pitchFamily="49" charset="-122"/>
              </a:rPr>
              <a:t>算法中的每个步骤都能在</a:t>
            </a:r>
            <a:r>
              <a:rPr lang="zh-CN" altLang="en-US" sz="3200" b="1" dirty="0">
                <a:solidFill>
                  <a:srgbClr val="FF0000"/>
                </a:solidFill>
                <a:latin typeface="楷体_GB2312" panose="02010609030101010101" pitchFamily="49" charset="-122"/>
                <a:ea typeface="楷体_GB2312" panose="02010609030101010101" pitchFamily="49" charset="-122"/>
              </a:rPr>
              <a:t>有限时间</a:t>
            </a:r>
            <a:r>
              <a:rPr lang="zh-CN" altLang="en-US" sz="3200" dirty="0">
                <a:latin typeface="楷体_GB2312" panose="02010609030101010101" pitchFamily="49" charset="-122"/>
                <a:ea typeface="楷体_GB2312" panose="02010609030101010101" pitchFamily="49" charset="-122"/>
              </a:rPr>
              <a:t>内完成。</a:t>
            </a:r>
            <a:endParaRPr lang="zh-CN" altLang="en-US" sz="3200" dirty="0">
              <a:latin typeface="楷体_GB2312" panose="02010609030101010101" pitchFamily="49" charset="-122"/>
              <a:ea typeface="楷体_GB2312" panose="02010609030101010101" pitchFamily="49" charset="-122"/>
            </a:endParaRPr>
          </a:p>
        </p:txBody>
      </p:sp>
      <p:sp>
        <p:nvSpPr>
          <p:cNvPr id="66563" name="Text Box 3"/>
          <p:cNvSpPr txBox="1"/>
          <p:nvPr/>
        </p:nvSpPr>
        <p:spPr>
          <a:xfrm>
            <a:off x="118291" y="3140968"/>
            <a:ext cx="8763000" cy="3044190"/>
          </a:xfrm>
          <a:prstGeom prst="rect">
            <a:avLst/>
          </a:prstGeom>
          <a:noFill/>
          <a:ln w="9525">
            <a:noFill/>
          </a:ln>
        </p:spPr>
        <p:txBody>
          <a:bodyPr>
            <a:spAutoFit/>
          </a:bodyPr>
          <a:lstStyle/>
          <a:p>
            <a:pPr>
              <a:lnSpc>
                <a:spcPct val="120000"/>
              </a:lnSpc>
            </a:pPr>
            <a:r>
              <a:rPr lang="zh-CN" altLang="en-US" sz="3200" b="1" dirty="0">
                <a:latin typeface="楷体_GB2312" panose="02010609030101010101" pitchFamily="49" charset="-122"/>
                <a:ea typeface="楷体_GB2312" panose="02010609030101010101" pitchFamily="49" charset="-122"/>
              </a:rPr>
              <a:t> </a:t>
            </a:r>
            <a:r>
              <a:rPr lang="en-US" altLang="zh-CN" sz="3200" b="1" dirty="0">
                <a:latin typeface="楷体_GB2312" panose="02010609030101010101" pitchFamily="49" charset="-122"/>
                <a:ea typeface="楷体_GB2312" panose="02010609030101010101" pitchFamily="49" charset="-122"/>
              </a:rPr>
              <a:t>2</a:t>
            </a:r>
            <a:r>
              <a:rPr lang="zh-CN" altLang="en-US" sz="3200" b="1" dirty="0">
                <a:latin typeface="楷体_GB2312" panose="02010609030101010101" pitchFamily="49" charset="-122"/>
                <a:ea typeface="楷体_GB2312" panose="02010609030101010101" pitchFamily="49" charset="-122"/>
              </a:rPr>
              <a:t>．</a:t>
            </a:r>
            <a:r>
              <a:rPr lang="zh-CN" altLang="en-US" sz="3200" b="1" dirty="0">
                <a:solidFill>
                  <a:srgbClr val="FF0000"/>
                </a:solidFill>
                <a:latin typeface="楷体_GB2312" panose="02010609030101010101" pitchFamily="49" charset="-122"/>
                <a:ea typeface="楷体_GB2312" panose="02010609030101010101" pitchFamily="49" charset="-122"/>
              </a:rPr>
              <a:t>确定性</a:t>
            </a:r>
            <a:r>
              <a:rPr lang="zh-CN" altLang="en-US" sz="3200" b="1" dirty="0">
                <a:latin typeface="楷体_GB2312" panose="02010609030101010101" pitchFamily="49" charset="-122"/>
                <a:ea typeface="楷体_GB2312" panose="02010609030101010101" pitchFamily="49" charset="-122"/>
              </a:rPr>
              <a:t> </a:t>
            </a:r>
            <a:r>
              <a:rPr lang="zh-CN" altLang="en-US" sz="3200" dirty="0">
                <a:latin typeface="楷体_GB2312" panose="02010609030101010101" pitchFamily="49" charset="-122"/>
                <a:ea typeface="楷体_GB2312" panose="02010609030101010101" pitchFamily="49" charset="-122"/>
              </a:rPr>
              <a:t> 对于</a:t>
            </a:r>
            <a:r>
              <a:rPr lang="zh-CN" altLang="en-US" sz="3200" b="1" dirty="0">
                <a:solidFill>
                  <a:srgbClr val="FF0000"/>
                </a:solidFill>
                <a:latin typeface="楷体_GB2312" panose="02010609030101010101" pitchFamily="49" charset="-122"/>
                <a:ea typeface="楷体_GB2312" panose="02010609030101010101" pitchFamily="49" charset="-122"/>
              </a:rPr>
              <a:t>每种情况</a:t>
            </a:r>
            <a:r>
              <a:rPr lang="zh-CN" altLang="en-US" sz="3200" dirty="0">
                <a:latin typeface="楷体_GB2312" panose="02010609030101010101" pitchFamily="49" charset="-122"/>
                <a:ea typeface="楷体_GB2312" panose="02010609030101010101" pitchFamily="49" charset="-122"/>
              </a:rPr>
              <a:t>下所应执行的操作，在算法中都有</a:t>
            </a:r>
            <a:r>
              <a:rPr lang="zh-CN" altLang="en-US" sz="3200" b="1" dirty="0">
                <a:solidFill>
                  <a:srgbClr val="FF0000"/>
                </a:solidFill>
                <a:latin typeface="楷体_GB2312" panose="02010609030101010101" pitchFamily="49" charset="-122"/>
                <a:ea typeface="楷体_GB2312" panose="02010609030101010101" pitchFamily="49" charset="-122"/>
              </a:rPr>
              <a:t>确切</a:t>
            </a:r>
            <a:r>
              <a:rPr lang="zh-CN" altLang="en-US" sz="3200" dirty="0">
                <a:latin typeface="楷体_GB2312" panose="02010609030101010101" pitchFamily="49" charset="-122"/>
                <a:ea typeface="楷体_GB2312" panose="02010609030101010101" pitchFamily="49" charset="-122"/>
              </a:rPr>
              <a:t>的规定，使算法的执行者或阅读者都能明确其含义及如何执行。</a:t>
            </a:r>
            <a:r>
              <a:rPr lang="zh-CN" altLang="en-US" sz="3200" b="1" dirty="0">
                <a:latin typeface="楷体_GB2312" panose="02010609030101010101" pitchFamily="49" charset="-122"/>
                <a:ea typeface="楷体_GB2312" panose="02010609030101010101" pitchFamily="49" charset="-122"/>
              </a:rPr>
              <a:t>并且</a:t>
            </a:r>
            <a:r>
              <a:rPr lang="zh-CN" altLang="en-US" sz="3200" b="1" dirty="0">
                <a:solidFill>
                  <a:srgbClr val="0000FF"/>
                </a:solidFill>
                <a:latin typeface="楷体_GB2312" panose="02010609030101010101" pitchFamily="49" charset="-122"/>
                <a:ea typeface="楷体_GB2312" panose="02010609030101010101" pitchFamily="49" charset="-122"/>
              </a:rPr>
              <a:t>在任何条件下，算法都只有一条执行路径。</a:t>
            </a:r>
            <a:r>
              <a:rPr lang="zh-CN" altLang="en-US" sz="3200" b="1" dirty="0">
                <a:solidFill>
                  <a:srgbClr val="FF0000"/>
                </a:solidFill>
                <a:latin typeface="楷体_GB2312" panose="02010609030101010101" pitchFamily="49" charset="-122"/>
                <a:ea typeface="楷体_GB2312" panose="02010609030101010101" pitchFamily="49" charset="-122"/>
              </a:rPr>
              <a:t>对于相同的输入只能得出相同的输出</a:t>
            </a:r>
            <a:endParaRPr lang="zh-CN" altLang="en-US" sz="3200" b="1" dirty="0">
              <a:solidFill>
                <a:srgbClr val="FF0000"/>
              </a:solidFill>
              <a:latin typeface="楷体_GB2312" panose="02010609030101010101" pitchFamily="49" charset="-122"/>
              <a:ea typeface="楷体_GB2312" panose="02010609030101010101" pitchFamily="49" charset="-122"/>
            </a:endParaRPr>
          </a:p>
        </p:txBody>
      </p:sp>
      <p:sp>
        <p:nvSpPr>
          <p:cNvPr id="2" name="日期占位符 1"/>
          <p:cNvSpPr>
            <a:spLocks noGrp="1"/>
          </p:cNvSpPr>
          <p:nvPr>
            <p:ph type="dt" sz="half" idx="10"/>
          </p:nvPr>
        </p:nvSpPr>
        <p:spPr/>
        <p:txBody>
          <a:bodyPr/>
          <a:lstStyle/>
          <a:p>
            <a:r>
              <a:rPr lang="en-US" altLang="zh-CN"/>
              <a:t>Data Structures and algorithms</a:t>
            </a:r>
            <a:endParaRPr lang="zh-CN" altLang="en-US"/>
          </a:p>
        </p:txBody>
      </p:sp>
      <p:sp>
        <p:nvSpPr>
          <p:cNvPr id="3" name="页脚占位符 2"/>
          <p:cNvSpPr>
            <a:spLocks noGrp="1"/>
          </p:cNvSpPr>
          <p:nvPr>
            <p:ph type="ftr" sz="quarter" idx="11"/>
          </p:nvPr>
        </p:nvSpPr>
        <p:spPr/>
        <p:txBody>
          <a:bodyPr/>
          <a:lstStyle/>
          <a:p>
            <a:r>
              <a:rPr lang="en-US" altLang="zh-CN"/>
              <a:t>Software College Northeastern University</a:t>
            </a:r>
            <a:endParaRPr lang="zh-CN" altLang="en-US"/>
          </a:p>
        </p:txBody>
      </p:sp>
      <p:sp>
        <p:nvSpPr>
          <p:cNvPr id="4" name="灯片编号占位符 3"/>
          <p:cNvSpPr>
            <a:spLocks noGrp="1"/>
          </p:cNvSpPr>
          <p:nvPr>
            <p:ph type="sldNum" sz="quarter" idx="12"/>
          </p:nvPr>
        </p:nvSpPr>
        <p:spPr/>
        <p:txBody>
          <a:bodyPr/>
          <a:lstStyle/>
          <a:p>
            <a:fld id="{6E1C0148-8E4B-4B2F-95CE-20B4709700AE}" type="slidenum">
              <a:rPr lang="zh-CN" altLang="en-US" smtClean="0"/>
            </a:fld>
            <a:endParaRPr lang="zh-CN" altLang="en-US"/>
          </a:p>
        </p:txBody>
      </p:sp>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ext Box 2"/>
          <p:cNvSpPr txBox="1"/>
          <p:nvPr/>
        </p:nvSpPr>
        <p:spPr>
          <a:xfrm>
            <a:off x="323528" y="692696"/>
            <a:ext cx="8515350" cy="1786643"/>
          </a:xfrm>
          <a:prstGeom prst="rect">
            <a:avLst/>
          </a:prstGeom>
          <a:noFill/>
          <a:ln w="9525">
            <a:noFill/>
          </a:ln>
        </p:spPr>
        <p:txBody>
          <a:bodyPr>
            <a:spAutoFit/>
          </a:bodyPr>
          <a:lstStyle/>
          <a:p>
            <a:pPr>
              <a:lnSpc>
                <a:spcPct val="120000"/>
              </a:lnSpc>
            </a:pPr>
            <a:r>
              <a:rPr lang="en-US" altLang="zh-CN" sz="3200" b="1" dirty="0">
                <a:latin typeface="楷体_GB2312" panose="02010609030101010101" pitchFamily="49" charset="-122"/>
                <a:ea typeface="楷体_GB2312" panose="02010609030101010101" pitchFamily="49" charset="-122"/>
              </a:rPr>
              <a:t>3</a:t>
            </a:r>
            <a:r>
              <a:rPr lang="zh-CN" altLang="en-US" sz="3200" b="1" dirty="0">
                <a:latin typeface="楷体_GB2312" panose="02010609030101010101" pitchFamily="49" charset="-122"/>
                <a:ea typeface="楷体_GB2312" panose="02010609030101010101" pitchFamily="49" charset="-122"/>
              </a:rPr>
              <a:t>．</a:t>
            </a:r>
            <a:r>
              <a:rPr lang="zh-CN" altLang="en-US" sz="3200" b="1" dirty="0">
                <a:solidFill>
                  <a:srgbClr val="FF0000"/>
                </a:solidFill>
                <a:latin typeface="楷体_GB2312" panose="02010609030101010101" pitchFamily="49" charset="-122"/>
                <a:ea typeface="楷体_GB2312" panose="02010609030101010101" pitchFamily="49" charset="-122"/>
              </a:rPr>
              <a:t>可行性</a:t>
            </a:r>
            <a:r>
              <a:rPr lang="zh-CN" altLang="en-US" sz="3200" dirty="0">
                <a:latin typeface="楷体_GB2312" panose="02010609030101010101" pitchFamily="49" charset="-122"/>
                <a:ea typeface="楷体_GB2312" panose="02010609030101010101" pitchFamily="49" charset="-122"/>
              </a:rPr>
              <a:t>  算法中的所有操作都必须</a:t>
            </a:r>
            <a:r>
              <a:rPr lang="zh-CN" altLang="en-US" sz="3200" dirty="0">
                <a:solidFill>
                  <a:srgbClr val="FF0000"/>
                </a:solidFill>
                <a:latin typeface="楷体_GB2312" panose="02010609030101010101" pitchFamily="49" charset="-122"/>
                <a:ea typeface="楷体_GB2312" panose="02010609030101010101" pitchFamily="49" charset="-122"/>
              </a:rPr>
              <a:t>足够基本</a:t>
            </a:r>
            <a:r>
              <a:rPr lang="zh-CN" altLang="en-US" sz="3200" dirty="0">
                <a:latin typeface="楷体_GB2312" panose="02010609030101010101" pitchFamily="49" charset="-122"/>
                <a:ea typeface="楷体_GB2312" panose="02010609030101010101" pitchFamily="49" charset="-122"/>
              </a:rPr>
              <a:t>，都可以通过已经实现的基本操作运算有限次实现之。</a:t>
            </a:r>
            <a:endParaRPr lang="zh-CN" altLang="en-US" sz="3200" dirty="0">
              <a:latin typeface="楷体_GB2312" panose="02010609030101010101" pitchFamily="49" charset="-122"/>
              <a:ea typeface="楷体_GB2312" panose="02010609030101010101" pitchFamily="49" charset="-122"/>
            </a:endParaRPr>
          </a:p>
        </p:txBody>
      </p:sp>
      <p:sp>
        <p:nvSpPr>
          <p:cNvPr id="67587" name="Text Box 3"/>
          <p:cNvSpPr txBox="1"/>
          <p:nvPr/>
        </p:nvSpPr>
        <p:spPr>
          <a:xfrm>
            <a:off x="323528" y="2738929"/>
            <a:ext cx="8582025" cy="2377574"/>
          </a:xfrm>
          <a:prstGeom prst="rect">
            <a:avLst/>
          </a:prstGeom>
          <a:noFill/>
          <a:ln w="9525">
            <a:noFill/>
          </a:ln>
        </p:spPr>
        <p:txBody>
          <a:bodyPr>
            <a:spAutoFit/>
          </a:bodyPr>
          <a:lstStyle/>
          <a:p>
            <a:pPr>
              <a:lnSpc>
                <a:spcPct val="120000"/>
              </a:lnSpc>
            </a:pPr>
            <a:r>
              <a:rPr lang="en-US" altLang="zh-CN" sz="3200" b="1" dirty="0">
                <a:latin typeface="楷体_GB2312" panose="02010609030101010101" pitchFamily="49" charset="-122"/>
                <a:ea typeface="楷体_GB2312" panose="02010609030101010101" pitchFamily="49" charset="-122"/>
              </a:rPr>
              <a:t>4</a:t>
            </a:r>
            <a:r>
              <a:rPr lang="zh-CN" altLang="en-US" sz="3200" b="1" dirty="0">
                <a:latin typeface="楷体_GB2312" panose="02010609030101010101" pitchFamily="49" charset="-122"/>
                <a:ea typeface="楷体_GB2312" panose="02010609030101010101" pitchFamily="49" charset="-122"/>
              </a:rPr>
              <a:t>．</a:t>
            </a:r>
            <a:r>
              <a:rPr lang="zh-CN" altLang="en-US" sz="3200" b="1" dirty="0">
                <a:solidFill>
                  <a:srgbClr val="FF0000"/>
                </a:solidFill>
                <a:latin typeface="楷体_GB2312" panose="02010609030101010101" pitchFamily="49" charset="-122"/>
                <a:ea typeface="楷体_GB2312" panose="02010609030101010101" pitchFamily="49" charset="-122"/>
              </a:rPr>
              <a:t>有输入</a:t>
            </a:r>
            <a:r>
              <a:rPr lang="zh-CN" altLang="en-US" sz="3200" dirty="0">
                <a:latin typeface="楷体_GB2312" panose="02010609030101010101" pitchFamily="49" charset="-122"/>
                <a:ea typeface="楷体_GB2312" panose="02010609030101010101" pitchFamily="49" charset="-122"/>
              </a:rPr>
              <a:t>  作为算法加工对象的量值，通常体现为算法中的一组变量。有些输入量需要在算法执行过程中输入，而有的算法表面上可以没有输入，实际上已被嵌入算法之中。</a:t>
            </a:r>
            <a:endParaRPr lang="zh-CN" altLang="en-US" sz="3200" dirty="0">
              <a:latin typeface="楷体_GB2312" panose="02010609030101010101" pitchFamily="49" charset="-122"/>
              <a:ea typeface="楷体_GB2312" panose="02010609030101010101" pitchFamily="49" charset="-122"/>
            </a:endParaRPr>
          </a:p>
        </p:txBody>
      </p:sp>
      <p:sp>
        <p:nvSpPr>
          <p:cNvPr id="2" name="日期占位符 1"/>
          <p:cNvSpPr>
            <a:spLocks noGrp="1"/>
          </p:cNvSpPr>
          <p:nvPr>
            <p:ph type="dt" sz="half" idx="10"/>
          </p:nvPr>
        </p:nvSpPr>
        <p:spPr/>
        <p:txBody>
          <a:bodyPr/>
          <a:lstStyle/>
          <a:p>
            <a:r>
              <a:rPr lang="en-US" altLang="zh-CN"/>
              <a:t>Data Structures and algorithms</a:t>
            </a:r>
            <a:endParaRPr lang="zh-CN" altLang="en-US"/>
          </a:p>
        </p:txBody>
      </p:sp>
      <p:sp>
        <p:nvSpPr>
          <p:cNvPr id="3" name="页脚占位符 2"/>
          <p:cNvSpPr>
            <a:spLocks noGrp="1"/>
          </p:cNvSpPr>
          <p:nvPr>
            <p:ph type="ftr" sz="quarter" idx="11"/>
          </p:nvPr>
        </p:nvSpPr>
        <p:spPr/>
        <p:txBody>
          <a:bodyPr/>
          <a:lstStyle/>
          <a:p>
            <a:r>
              <a:rPr lang="en-US" altLang="zh-CN"/>
              <a:t>Software College Northeastern University</a:t>
            </a:r>
            <a:endParaRPr lang="zh-CN" altLang="en-US"/>
          </a:p>
        </p:txBody>
      </p:sp>
      <p:sp>
        <p:nvSpPr>
          <p:cNvPr id="4" name="灯片编号占位符 3"/>
          <p:cNvSpPr>
            <a:spLocks noGrp="1"/>
          </p:cNvSpPr>
          <p:nvPr>
            <p:ph type="sldNum" sz="quarter" idx="12"/>
          </p:nvPr>
        </p:nvSpPr>
        <p:spPr/>
        <p:txBody>
          <a:bodyPr/>
          <a:lstStyle/>
          <a:p>
            <a:fld id="{6E1C0148-8E4B-4B2F-95CE-20B4709700AE}" type="slidenum">
              <a:rPr lang="zh-CN" altLang="en-US" smtClean="0"/>
            </a:fld>
            <a:endParaRPr lang="zh-CN" altLang="en-US"/>
          </a:p>
        </p:txBody>
      </p:sp>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ext Box 2"/>
          <p:cNvSpPr txBox="1"/>
          <p:nvPr/>
        </p:nvSpPr>
        <p:spPr>
          <a:xfrm>
            <a:off x="533400" y="1203325"/>
            <a:ext cx="8229600" cy="1854354"/>
          </a:xfrm>
          <a:prstGeom prst="rect">
            <a:avLst/>
          </a:prstGeom>
          <a:noFill/>
          <a:ln w="9525">
            <a:noFill/>
          </a:ln>
        </p:spPr>
        <p:txBody>
          <a:bodyPr>
            <a:spAutoFit/>
          </a:bodyPr>
          <a:lstStyle/>
          <a:p>
            <a:pPr>
              <a:lnSpc>
                <a:spcPct val="125000"/>
              </a:lnSpc>
            </a:pPr>
            <a:r>
              <a:rPr lang="zh-CN" altLang="en-US" sz="3200" dirty="0">
                <a:latin typeface="楷体_GB2312" panose="02010609030101010101" pitchFamily="49" charset="-122"/>
                <a:ea typeface="楷体_GB2312" panose="02010609030101010101" pitchFamily="49" charset="-122"/>
              </a:rPr>
              <a:t> </a:t>
            </a:r>
            <a:r>
              <a:rPr lang="en-US" altLang="zh-CN" sz="3200" b="1" dirty="0">
                <a:latin typeface="楷体_GB2312" panose="02010609030101010101" pitchFamily="49" charset="-122"/>
                <a:ea typeface="楷体_GB2312" panose="02010609030101010101" pitchFamily="49" charset="-122"/>
              </a:rPr>
              <a:t>5</a:t>
            </a:r>
            <a:r>
              <a:rPr lang="zh-CN" altLang="en-US" sz="3200" b="1" dirty="0">
                <a:latin typeface="楷体_GB2312" panose="02010609030101010101" pitchFamily="49" charset="-122"/>
                <a:ea typeface="楷体_GB2312" panose="02010609030101010101" pitchFamily="49" charset="-122"/>
              </a:rPr>
              <a:t>．</a:t>
            </a:r>
            <a:r>
              <a:rPr lang="zh-CN" altLang="en-US" sz="3200" b="1" dirty="0">
                <a:solidFill>
                  <a:srgbClr val="FF0000"/>
                </a:solidFill>
                <a:latin typeface="楷体_GB2312" panose="02010609030101010101" pitchFamily="49" charset="-122"/>
                <a:ea typeface="楷体_GB2312" panose="02010609030101010101" pitchFamily="49" charset="-122"/>
              </a:rPr>
              <a:t>有输出</a:t>
            </a:r>
            <a:r>
              <a:rPr lang="zh-CN" altLang="en-US" sz="3200" dirty="0">
                <a:latin typeface="楷体_GB2312" panose="02010609030101010101" pitchFamily="49" charset="-122"/>
                <a:ea typeface="楷体_GB2312" panose="02010609030101010101" pitchFamily="49" charset="-122"/>
              </a:rPr>
              <a:t> 它是一组与</a:t>
            </a:r>
            <a:r>
              <a:rPr lang="zh-CN" altLang="en-US" sz="3200" dirty="0">
                <a:latin typeface="Times New Roman" panose="02020603050405020304" pitchFamily="18" charset="0"/>
                <a:ea typeface="楷体_GB2312" panose="02010609030101010101" pitchFamily="49" charset="-122"/>
              </a:rPr>
              <a:t>“</a:t>
            </a:r>
            <a:r>
              <a:rPr lang="zh-CN" altLang="en-US" sz="3200" dirty="0">
                <a:latin typeface="楷体_GB2312" panose="02010609030101010101" pitchFamily="49" charset="-122"/>
                <a:ea typeface="楷体_GB2312" panose="02010609030101010101" pitchFamily="49" charset="-122"/>
              </a:rPr>
              <a:t>输入</a:t>
            </a:r>
            <a:r>
              <a:rPr lang="zh-CN" altLang="en-US" sz="3200" dirty="0">
                <a:latin typeface="Times New Roman" panose="02020603050405020304" pitchFamily="18" charset="0"/>
                <a:ea typeface="楷体_GB2312" panose="02010609030101010101" pitchFamily="49" charset="-122"/>
              </a:rPr>
              <a:t>”</a:t>
            </a:r>
            <a:r>
              <a:rPr lang="zh-CN" altLang="en-US" sz="3200" dirty="0">
                <a:latin typeface="楷体_GB2312" panose="02010609030101010101" pitchFamily="49" charset="-122"/>
                <a:ea typeface="楷体_GB2312" panose="02010609030101010101" pitchFamily="49" charset="-122"/>
              </a:rPr>
              <a:t>有确</a:t>
            </a:r>
            <a:endParaRPr lang="zh-CN" altLang="en-US" sz="3200" dirty="0">
              <a:latin typeface="楷体_GB2312" panose="02010609030101010101" pitchFamily="49" charset="-122"/>
              <a:ea typeface="楷体_GB2312" panose="02010609030101010101" pitchFamily="49" charset="-122"/>
            </a:endParaRPr>
          </a:p>
          <a:p>
            <a:pPr>
              <a:lnSpc>
                <a:spcPct val="125000"/>
              </a:lnSpc>
            </a:pPr>
            <a:r>
              <a:rPr lang="zh-CN" altLang="en-US" sz="3200" dirty="0">
                <a:latin typeface="楷体_GB2312" panose="02010609030101010101" pitchFamily="49" charset="-122"/>
                <a:ea typeface="楷体_GB2312" panose="02010609030101010101" pitchFamily="49" charset="-122"/>
              </a:rPr>
              <a:t>定关系的量值，是算法进行信息加工后得到的结果，这种</a:t>
            </a:r>
            <a:r>
              <a:rPr lang="zh-CN" altLang="en-US" sz="3200" dirty="0">
                <a:solidFill>
                  <a:srgbClr val="FF0000"/>
                </a:solidFill>
                <a:latin typeface="楷体_GB2312" panose="02010609030101010101" pitchFamily="49" charset="-122"/>
                <a:ea typeface="楷体_GB2312" panose="02010609030101010101" pitchFamily="49" charset="-122"/>
              </a:rPr>
              <a:t>确定关系</a:t>
            </a:r>
            <a:r>
              <a:rPr lang="zh-CN" altLang="en-US" sz="3200" dirty="0">
                <a:latin typeface="楷体_GB2312" panose="02010609030101010101" pitchFamily="49" charset="-122"/>
                <a:ea typeface="楷体_GB2312" panose="02010609030101010101" pitchFamily="49" charset="-122"/>
              </a:rPr>
              <a:t>即为算法的功能。</a:t>
            </a:r>
            <a:endParaRPr lang="zh-CN" altLang="en-US" sz="3200" dirty="0">
              <a:latin typeface="楷体_GB2312" panose="02010609030101010101" pitchFamily="49" charset="-122"/>
              <a:ea typeface="楷体_GB2312" panose="02010609030101010101" pitchFamily="49" charset="-122"/>
            </a:endParaRPr>
          </a:p>
        </p:txBody>
      </p:sp>
      <p:sp>
        <p:nvSpPr>
          <p:cNvPr id="68611" name="AutoShape 3">
            <a:hlinkClick r:id="rId1" action="ppaction://hlinksldjump"/>
          </p:cNvPr>
          <p:cNvSpPr/>
          <p:nvPr/>
        </p:nvSpPr>
        <p:spPr>
          <a:xfrm>
            <a:off x="8534400" y="6248400"/>
            <a:ext cx="381000" cy="381000"/>
          </a:xfrm>
          <a:prstGeom prst="actionButtonBackPrevious">
            <a:avLst/>
          </a:prstGeom>
          <a:solidFill>
            <a:schemeClr val="bg2"/>
          </a:solidFill>
          <a:ln w="9525" cap="flat" cmpd="sng">
            <a:solidFill>
              <a:schemeClr val="tx1"/>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2" name="日期占位符 1"/>
          <p:cNvSpPr>
            <a:spLocks noGrp="1"/>
          </p:cNvSpPr>
          <p:nvPr>
            <p:ph type="dt" sz="half" idx="10"/>
          </p:nvPr>
        </p:nvSpPr>
        <p:spPr/>
        <p:txBody>
          <a:bodyPr/>
          <a:lstStyle/>
          <a:p>
            <a:r>
              <a:rPr lang="en-US" altLang="zh-CN"/>
              <a:t>Data Structures and algorithms</a:t>
            </a:r>
            <a:endParaRPr lang="zh-CN" altLang="en-US"/>
          </a:p>
        </p:txBody>
      </p:sp>
      <p:sp>
        <p:nvSpPr>
          <p:cNvPr id="3" name="页脚占位符 2"/>
          <p:cNvSpPr>
            <a:spLocks noGrp="1"/>
          </p:cNvSpPr>
          <p:nvPr>
            <p:ph type="ftr" sz="quarter" idx="11"/>
          </p:nvPr>
        </p:nvSpPr>
        <p:spPr/>
        <p:txBody>
          <a:bodyPr/>
          <a:lstStyle/>
          <a:p>
            <a:r>
              <a:rPr lang="en-US" altLang="zh-CN"/>
              <a:t>Software College Northeastern University</a:t>
            </a:r>
            <a:endParaRPr lang="zh-CN" altLang="en-US"/>
          </a:p>
        </p:txBody>
      </p:sp>
      <p:sp>
        <p:nvSpPr>
          <p:cNvPr id="4" name="灯片编号占位符 3"/>
          <p:cNvSpPr>
            <a:spLocks noGrp="1"/>
          </p:cNvSpPr>
          <p:nvPr>
            <p:ph type="sldNum" sz="quarter" idx="12"/>
          </p:nvPr>
        </p:nvSpPr>
        <p:spPr/>
        <p:txBody>
          <a:bodyPr/>
          <a:lstStyle/>
          <a:p>
            <a:fld id="{6E1C0148-8E4B-4B2F-95CE-20B4709700AE}" type="slidenum">
              <a:rPr lang="zh-CN" altLang="en-US" smtClean="0"/>
            </a:fld>
            <a:endParaRPr lang="zh-CN" altLang="en-US"/>
          </a:p>
        </p:txBody>
      </p:sp>
    </p:spTree>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5" name="Rectangle 3"/>
          <p:cNvSpPr>
            <a:spLocks noGrp="1"/>
          </p:cNvSpPr>
          <p:nvPr>
            <p:ph idx="1"/>
          </p:nvPr>
        </p:nvSpPr>
        <p:spPr/>
        <p:txBody>
          <a:bodyPr vert="horz" wrap="square" lIns="91436" tIns="45718" rIns="91436" bIns="45718" anchor="t">
            <a:noAutofit/>
          </a:bodyPr>
          <a:lstStyle/>
          <a:p>
            <a:pPr>
              <a:buNone/>
            </a:pPr>
            <a:r>
              <a:rPr lang="zh-CN" altLang="en-US" sz="3200" dirty="0">
                <a:latin typeface="楷体_GB2312" panose="02010609030101010101" pitchFamily="49" charset="-122"/>
                <a:ea typeface="楷体_GB2312" panose="02010609030101010101" pitchFamily="49" charset="-122"/>
              </a:rPr>
              <a:t>  算法可以使用各种不同的方法来描述。</a:t>
            </a:r>
            <a:endParaRPr lang="zh-CN" altLang="en-US" sz="3200" dirty="0">
              <a:latin typeface="楷体_GB2312" panose="02010609030101010101" pitchFamily="49" charset="-122"/>
              <a:ea typeface="楷体_GB2312" panose="02010609030101010101" pitchFamily="49" charset="-122"/>
            </a:endParaRPr>
          </a:p>
          <a:p>
            <a:r>
              <a:rPr lang="zh-CN" altLang="en-US" sz="3200" b="1" dirty="0">
                <a:solidFill>
                  <a:srgbClr val="FF0000"/>
                </a:solidFill>
                <a:latin typeface="楷体_GB2312" panose="02010609030101010101" pitchFamily="49" charset="-122"/>
                <a:ea typeface="楷体_GB2312" panose="02010609030101010101" pitchFamily="49" charset="-122"/>
              </a:rPr>
              <a:t>自然语言</a:t>
            </a:r>
            <a:r>
              <a:rPr lang="zh-CN" altLang="en-US" sz="3200" dirty="0">
                <a:latin typeface="楷体_GB2312" panose="02010609030101010101" pitchFamily="49" charset="-122"/>
                <a:ea typeface="楷体_GB2312" panose="02010609030101010101" pitchFamily="49" charset="-122"/>
              </a:rPr>
              <a:t>。优点是简单且便于人们对算法的阅读。缺点是不够严谨。</a:t>
            </a:r>
            <a:endParaRPr lang="zh-CN" altLang="en-US" sz="3200" dirty="0">
              <a:latin typeface="楷体_GB2312" panose="02010609030101010101" pitchFamily="49" charset="-122"/>
              <a:ea typeface="楷体_GB2312" panose="02010609030101010101" pitchFamily="49" charset="-122"/>
            </a:endParaRPr>
          </a:p>
          <a:p>
            <a:r>
              <a:rPr lang="zh-CN" altLang="en-US" sz="3200" b="1" dirty="0">
                <a:solidFill>
                  <a:srgbClr val="FF0000"/>
                </a:solidFill>
                <a:latin typeface="楷体_GB2312" panose="02010609030101010101" pitchFamily="49" charset="-122"/>
                <a:ea typeface="楷体_GB2312" panose="02010609030101010101" pitchFamily="49" charset="-122"/>
              </a:rPr>
              <a:t>程序流程图</a:t>
            </a:r>
            <a:r>
              <a:rPr lang="zh-CN" altLang="en-US" sz="3200" dirty="0">
                <a:latin typeface="楷体_GB2312" panose="02010609030101010101" pitchFamily="49" charset="-122"/>
                <a:ea typeface="楷体_GB2312" panose="02010609030101010101" pitchFamily="49" charset="-122"/>
              </a:rPr>
              <a:t>、</a:t>
            </a:r>
            <a:r>
              <a:rPr lang="en-US" altLang="zh-CN" sz="3200" dirty="0">
                <a:latin typeface="楷体_GB2312" panose="02010609030101010101" pitchFamily="49" charset="-122"/>
                <a:ea typeface="楷体_GB2312" panose="02010609030101010101" pitchFamily="49" charset="-122"/>
              </a:rPr>
              <a:t>N-S</a:t>
            </a:r>
            <a:r>
              <a:rPr lang="zh-CN" altLang="en-US" sz="3200" dirty="0">
                <a:latin typeface="楷体_GB2312" panose="02010609030101010101" pitchFamily="49" charset="-122"/>
                <a:ea typeface="楷体_GB2312" panose="02010609030101010101" pitchFamily="49" charset="-122"/>
              </a:rPr>
              <a:t>图等算法描述工具。其特点是描述过程简洁、明了。</a:t>
            </a:r>
            <a:endParaRPr lang="zh-CN" altLang="en-US" sz="3200" dirty="0">
              <a:latin typeface="楷体_GB2312" panose="02010609030101010101" pitchFamily="49" charset="-122"/>
              <a:ea typeface="楷体_GB2312" panose="02010609030101010101" pitchFamily="49" charset="-122"/>
            </a:endParaRPr>
          </a:p>
          <a:p>
            <a:pPr>
              <a:buNone/>
            </a:pPr>
            <a:r>
              <a:rPr lang="zh-CN" altLang="en-US" sz="3200" dirty="0">
                <a:latin typeface="楷体_GB2312" panose="02010609030101010101" pitchFamily="49" charset="-122"/>
                <a:ea typeface="楷体_GB2312" panose="02010609030101010101" pitchFamily="49" charset="-122"/>
              </a:rPr>
              <a:t>      用以上两种方法描述的算法不能够直接在计算机上执行，若要将它转换成可执行的程序还有一个编程的问题。</a:t>
            </a:r>
            <a:endParaRPr lang="zh-CN" altLang="en-US" sz="3200" dirty="0">
              <a:latin typeface="楷体_GB2312" panose="02010609030101010101" pitchFamily="49" charset="-122"/>
              <a:ea typeface="楷体_GB2312" panose="02010609030101010101" pitchFamily="49" charset="-122"/>
            </a:endParaRPr>
          </a:p>
        </p:txBody>
      </p:sp>
      <p:sp>
        <p:nvSpPr>
          <p:cNvPr id="69634" name="Rectangle 2"/>
          <p:cNvSpPr>
            <a:spLocks noGrp="1"/>
          </p:cNvSpPr>
          <p:nvPr>
            <p:ph type="title"/>
          </p:nvPr>
        </p:nvSpPr>
        <p:spPr/>
        <p:txBody>
          <a:bodyPr vert="horz" wrap="square" lIns="91436" tIns="45718" rIns="91436" bIns="45718" anchor="ctr"/>
          <a:lstStyle/>
          <a:p>
            <a:r>
              <a:rPr lang="zh-CN" altLang="en-US" b="0" dirty="0">
                <a:solidFill>
                  <a:srgbClr val="660066"/>
                </a:solidFill>
                <a:latin typeface="楷体_GB2312" panose="02010609030101010101" pitchFamily="49" charset="-122"/>
                <a:ea typeface="楷体_GB2312" panose="02010609030101010101" pitchFamily="49" charset="-122"/>
              </a:rPr>
              <a:t>算法的描述</a:t>
            </a:r>
            <a:endParaRPr lang="zh-CN" altLang="en-US" b="0" dirty="0">
              <a:solidFill>
                <a:srgbClr val="660066"/>
              </a:solidFill>
              <a:latin typeface="楷体_GB2312" panose="02010609030101010101" pitchFamily="49" charset="-122"/>
              <a:ea typeface="楷体_GB2312" panose="02010609030101010101" pitchFamily="49" charset="-122"/>
            </a:endParaRPr>
          </a:p>
        </p:txBody>
      </p:sp>
      <p:sp>
        <p:nvSpPr>
          <p:cNvPr id="2" name="日期占位符 1"/>
          <p:cNvSpPr>
            <a:spLocks noGrp="1"/>
          </p:cNvSpPr>
          <p:nvPr>
            <p:ph type="dt" sz="half" idx="10"/>
          </p:nvPr>
        </p:nvSpPr>
        <p:spPr/>
        <p:txBody>
          <a:bodyPr/>
          <a:lstStyle/>
          <a:p>
            <a:r>
              <a:rPr lang="en-US" altLang="zh-CN"/>
              <a:t>Data Structures and algorithms</a:t>
            </a:r>
            <a:endParaRPr lang="zh-CN" altLang="en-US"/>
          </a:p>
        </p:txBody>
      </p:sp>
      <p:sp>
        <p:nvSpPr>
          <p:cNvPr id="3" name="页脚占位符 2"/>
          <p:cNvSpPr>
            <a:spLocks noGrp="1"/>
          </p:cNvSpPr>
          <p:nvPr>
            <p:ph type="ftr" sz="quarter" idx="11"/>
          </p:nvPr>
        </p:nvSpPr>
        <p:spPr/>
        <p:txBody>
          <a:bodyPr/>
          <a:lstStyle/>
          <a:p>
            <a:r>
              <a:rPr lang="en-US" altLang="zh-CN"/>
              <a:t>Software College Northeastern University</a:t>
            </a:r>
            <a:endParaRPr lang="zh-CN" altLang="en-US"/>
          </a:p>
        </p:txBody>
      </p:sp>
      <p:sp>
        <p:nvSpPr>
          <p:cNvPr id="4" name="灯片编号占位符 3"/>
          <p:cNvSpPr>
            <a:spLocks noGrp="1"/>
          </p:cNvSpPr>
          <p:nvPr>
            <p:ph type="sldNum" sz="quarter" idx="12"/>
          </p:nvPr>
        </p:nvSpPr>
        <p:spPr/>
        <p:txBody>
          <a:bodyPr/>
          <a:lstStyle/>
          <a:p>
            <a:fld id="{6E1C0148-8E4B-4B2F-95CE-20B4709700AE}" type="slidenum">
              <a:rPr lang="zh-CN" altLang="en-US" smtClean="0"/>
            </a:fld>
            <a:endParaRPr lang="zh-CN" altLang="en-US" dirty="0"/>
          </a:p>
        </p:txBody>
      </p:sp>
    </p:spTree>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p:cNvSpPr>
          <p:nvPr>
            <p:ph idx="1"/>
          </p:nvPr>
        </p:nvSpPr>
        <p:spPr/>
        <p:txBody>
          <a:bodyPr vert="horz" wrap="square" lIns="91436" tIns="45718" rIns="91436" bIns="45718" anchor="t">
            <a:normAutofit lnSpcReduction="10000"/>
          </a:bodyPr>
          <a:lstStyle/>
          <a:p>
            <a:pPr>
              <a:lnSpc>
                <a:spcPct val="105000"/>
              </a:lnSpc>
            </a:pPr>
            <a:r>
              <a:rPr lang="zh-CN" altLang="en-US" b="1" dirty="0">
                <a:solidFill>
                  <a:srgbClr val="FF0000"/>
                </a:solidFill>
                <a:latin typeface="楷体_GB2312" panose="02010609030101010101" pitchFamily="49" charset="-122"/>
                <a:ea typeface="楷体_GB2312" panose="02010609030101010101" pitchFamily="49" charset="-122"/>
              </a:rPr>
              <a:t>某种程序设计语言</a:t>
            </a:r>
            <a:r>
              <a:rPr lang="zh-CN" altLang="en-US" sz="2800" dirty="0">
                <a:ea typeface="楷体_GB2312" panose="02010609030101010101" pitchFamily="49" charset="-122"/>
              </a:rPr>
              <a:t>来描述算法，不过直接使用程序设计语言并不容易，而且不太直观，常常需要借助于注释才能使人看明白。</a:t>
            </a:r>
            <a:endParaRPr lang="zh-CN" altLang="en-US" sz="2800" dirty="0">
              <a:ea typeface="楷体_GB2312" panose="02010609030101010101" pitchFamily="49" charset="-122"/>
            </a:endParaRPr>
          </a:p>
          <a:p>
            <a:pPr>
              <a:lnSpc>
                <a:spcPct val="105000"/>
              </a:lnSpc>
            </a:pPr>
            <a:r>
              <a:rPr lang="zh-CN" altLang="en-US" sz="2800" dirty="0">
                <a:ea typeface="楷体_GB2312" panose="02010609030101010101" pitchFamily="49" charset="-122"/>
              </a:rPr>
              <a:t>为了解决理解与执行这两者之间的矛盾，使用</a:t>
            </a:r>
            <a:r>
              <a:rPr lang="zh-CN" altLang="en-US" b="1" dirty="0">
                <a:solidFill>
                  <a:srgbClr val="FF0000"/>
                </a:solidFill>
                <a:latin typeface="楷体_GB2312" panose="02010609030101010101" pitchFamily="49" charset="-122"/>
                <a:ea typeface="楷体_GB2312" panose="02010609030101010101" pitchFamily="49" charset="-122"/>
              </a:rPr>
              <a:t>伪码语言</a:t>
            </a:r>
            <a:r>
              <a:rPr lang="zh-CN" altLang="en-US" sz="2800" dirty="0">
                <a:ea typeface="楷体_GB2312" panose="02010609030101010101" pitchFamily="49" charset="-122"/>
              </a:rPr>
              <a:t>。伪码语言介于高级程序设计语言和自然语言之间，它忽略高级程序设计语言中一些严格的语法规则与描述细节，因此它比程序设计语言更容易描述和被人理解，而比自然语言更接近程序设计语言。它虽然不能直接执行但很容易被转换成高级语言</a:t>
            </a:r>
            <a:endParaRPr lang="zh-CN" altLang="en-US" sz="2800" dirty="0">
              <a:ea typeface="楷体_GB2312" panose="02010609030101010101" pitchFamily="49" charset="-122"/>
            </a:endParaRPr>
          </a:p>
        </p:txBody>
      </p:sp>
      <p:sp>
        <p:nvSpPr>
          <p:cNvPr id="2" name="标题 1"/>
          <p:cNvSpPr>
            <a:spLocks noGrp="1"/>
          </p:cNvSpPr>
          <p:nvPr>
            <p:ph type="title"/>
          </p:nvPr>
        </p:nvSpPr>
        <p:spPr/>
        <p:txBody>
          <a:bodyPr/>
          <a:lstStyle/>
          <a:p>
            <a:endParaRPr lang="zh-CN" altLang="en-US"/>
          </a:p>
        </p:txBody>
      </p:sp>
      <p:sp>
        <p:nvSpPr>
          <p:cNvPr id="3" name="日期占位符 2"/>
          <p:cNvSpPr>
            <a:spLocks noGrp="1"/>
          </p:cNvSpPr>
          <p:nvPr>
            <p:ph type="dt" sz="half" idx="10"/>
          </p:nvPr>
        </p:nvSpPr>
        <p:spPr/>
        <p:txBody>
          <a:bodyPr/>
          <a:lstStyle/>
          <a:p>
            <a:r>
              <a:rPr lang="en-US" altLang="zh-CN"/>
              <a:t>Data Structures and algorithms</a:t>
            </a:r>
            <a:endParaRPr lang="zh-CN" altLang="en-US"/>
          </a:p>
        </p:txBody>
      </p:sp>
      <p:sp>
        <p:nvSpPr>
          <p:cNvPr id="4" name="页脚占位符 3"/>
          <p:cNvSpPr>
            <a:spLocks noGrp="1"/>
          </p:cNvSpPr>
          <p:nvPr>
            <p:ph type="ftr" sz="quarter" idx="11"/>
          </p:nvPr>
        </p:nvSpPr>
        <p:spPr/>
        <p:txBody>
          <a:bodyPr/>
          <a:lstStyle/>
          <a:p>
            <a:r>
              <a:rPr lang="en-US" altLang="zh-CN"/>
              <a:t>Software College Northeastern University</a:t>
            </a:r>
            <a:endParaRPr lang="zh-CN" altLang="en-US"/>
          </a:p>
        </p:txBody>
      </p:sp>
      <p:sp>
        <p:nvSpPr>
          <p:cNvPr id="5" name="灯片编号占位符 4"/>
          <p:cNvSpPr>
            <a:spLocks noGrp="1"/>
          </p:cNvSpPr>
          <p:nvPr>
            <p:ph type="sldNum" sz="quarter" idx="12"/>
          </p:nvPr>
        </p:nvSpPr>
        <p:spPr/>
        <p:txBody>
          <a:bodyPr/>
          <a:lstStyle/>
          <a:p>
            <a:fld id="{6E1C0148-8E4B-4B2F-95CE-20B4709700AE}" type="slidenum">
              <a:rPr lang="zh-CN" altLang="en-US" smtClean="0"/>
            </a:fld>
            <a:endParaRPr lang="zh-CN" altLang="en-US" dirty="0"/>
          </a:p>
        </p:txBody>
      </p:sp>
    </p:spTree>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ext Box 2"/>
          <p:cNvSpPr txBox="1"/>
          <p:nvPr/>
        </p:nvSpPr>
        <p:spPr>
          <a:xfrm>
            <a:off x="1447800" y="228600"/>
            <a:ext cx="6305550" cy="823913"/>
          </a:xfrm>
          <a:prstGeom prst="rect">
            <a:avLst/>
          </a:prstGeom>
          <a:noFill/>
          <a:ln w="9525">
            <a:noFill/>
          </a:ln>
        </p:spPr>
        <p:txBody>
          <a:bodyPr>
            <a:spAutoFit/>
          </a:bodyPr>
          <a:lstStyle/>
          <a:p>
            <a:r>
              <a:rPr lang="zh-CN" altLang="en-US" sz="4800" b="1" dirty="0">
                <a:solidFill>
                  <a:srgbClr val="660066"/>
                </a:solidFill>
                <a:latin typeface="楷体_GB2312" panose="02010609030101010101" pitchFamily="49" charset="-122"/>
                <a:ea typeface="楷体_GB2312" panose="02010609030101010101" pitchFamily="49" charset="-122"/>
              </a:rPr>
              <a:t>二、算法设计的原则</a:t>
            </a:r>
            <a:endParaRPr lang="zh-CN" altLang="en-US" sz="2400" b="1" dirty="0">
              <a:latin typeface="楷体_GB2312" panose="02010609030101010101" pitchFamily="49" charset="-122"/>
              <a:ea typeface="楷体_GB2312" panose="02010609030101010101" pitchFamily="49" charset="-122"/>
            </a:endParaRPr>
          </a:p>
        </p:txBody>
      </p:sp>
      <p:sp>
        <p:nvSpPr>
          <p:cNvPr id="71683" name="Text Box 3"/>
          <p:cNvSpPr txBox="1"/>
          <p:nvPr/>
        </p:nvSpPr>
        <p:spPr>
          <a:xfrm>
            <a:off x="152400" y="1295400"/>
            <a:ext cx="7571303" cy="584775"/>
          </a:xfrm>
          <a:prstGeom prst="rect">
            <a:avLst/>
          </a:prstGeom>
          <a:noFill/>
          <a:ln w="9525">
            <a:noFill/>
          </a:ln>
        </p:spPr>
        <p:txBody>
          <a:bodyPr wrap="none">
            <a:spAutoFit/>
          </a:bodyPr>
          <a:lstStyle/>
          <a:p>
            <a:r>
              <a:rPr lang="zh-CN" altLang="en-US" sz="3200" dirty="0">
                <a:latin typeface="楷体_GB2312" panose="02010609030101010101" pitchFamily="49" charset="-122"/>
                <a:ea typeface="楷体_GB2312" panose="02010609030101010101" pitchFamily="49" charset="-122"/>
              </a:rPr>
              <a:t>设计算法时，通常应考虑达到以下目标：</a:t>
            </a:r>
            <a:endParaRPr lang="zh-CN" altLang="en-US" sz="3200" dirty="0">
              <a:latin typeface="楷体_GB2312" panose="02010609030101010101" pitchFamily="49" charset="-122"/>
              <a:ea typeface="楷体_GB2312" panose="02010609030101010101" pitchFamily="49" charset="-122"/>
            </a:endParaRPr>
          </a:p>
        </p:txBody>
      </p:sp>
      <p:sp>
        <p:nvSpPr>
          <p:cNvPr id="71684" name="Text Box 4">
            <a:hlinkClick r:id="" action="ppaction://hlinkshowjump?jump=nextslide"/>
          </p:cNvPr>
          <p:cNvSpPr txBox="1"/>
          <p:nvPr/>
        </p:nvSpPr>
        <p:spPr>
          <a:xfrm>
            <a:off x="1600200" y="2227263"/>
            <a:ext cx="2037737" cy="584775"/>
          </a:xfrm>
          <a:prstGeom prst="rect">
            <a:avLst/>
          </a:prstGeom>
          <a:noFill/>
          <a:ln w="9525">
            <a:noFill/>
          </a:ln>
        </p:spPr>
        <p:txBody>
          <a:bodyPr wrap="none">
            <a:spAutoFit/>
          </a:bodyPr>
          <a:lstStyle/>
          <a:p>
            <a:r>
              <a:rPr lang="en-US" altLang="zh-CN" sz="3200" b="1" dirty="0">
                <a:latin typeface="Times New Roman" panose="02020603050405020304" pitchFamily="18" charset="0"/>
                <a:ea typeface="楷体_GB2312" panose="02010609030101010101" pitchFamily="49" charset="-122"/>
              </a:rPr>
              <a:t>1</a:t>
            </a:r>
            <a:r>
              <a:rPr lang="zh-CN" altLang="en-US" sz="3200" b="1" dirty="0">
                <a:latin typeface="楷体_GB2312" panose="02010609030101010101" pitchFamily="49" charset="-122"/>
                <a:ea typeface="楷体_GB2312" panose="02010609030101010101" pitchFamily="49" charset="-122"/>
              </a:rPr>
              <a:t>．</a:t>
            </a:r>
            <a:r>
              <a:rPr lang="zh-CN" altLang="en-US" sz="3200" b="1" dirty="0">
                <a:solidFill>
                  <a:srgbClr val="FF0000"/>
                </a:solidFill>
                <a:latin typeface="楷体_GB2312" panose="02010609030101010101" pitchFamily="49" charset="-122"/>
                <a:ea typeface="楷体_GB2312" panose="02010609030101010101" pitchFamily="49" charset="-122"/>
              </a:rPr>
              <a:t>正确性</a:t>
            </a:r>
            <a:endParaRPr lang="zh-CN" altLang="en-US" sz="3200" b="1" dirty="0">
              <a:solidFill>
                <a:srgbClr val="FF0000"/>
              </a:solidFill>
              <a:latin typeface="楷体_GB2312" panose="02010609030101010101" pitchFamily="49" charset="-122"/>
              <a:ea typeface="楷体_GB2312" panose="02010609030101010101" pitchFamily="49" charset="-122"/>
            </a:endParaRPr>
          </a:p>
        </p:txBody>
      </p:sp>
      <p:sp>
        <p:nvSpPr>
          <p:cNvPr id="71685" name="Text Box 5">
            <a:hlinkClick r:id="rId1" action="ppaction://hlinksldjump"/>
          </p:cNvPr>
          <p:cNvSpPr txBox="1"/>
          <p:nvPr/>
        </p:nvSpPr>
        <p:spPr>
          <a:xfrm>
            <a:off x="1600200" y="3217863"/>
            <a:ext cx="2039341" cy="584775"/>
          </a:xfrm>
          <a:prstGeom prst="rect">
            <a:avLst/>
          </a:prstGeom>
          <a:noFill/>
          <a:ln w="9525">
            <a:noFill/>
          </a:ln>
        </p:spPr>
        <p:txBody>
          <a:bodyPr wrap="none">
            <a:spAutoFit/>
          </a:bodyPr>
          <a:lstStyle/>
          <a:p>
            <a:r>
              <a:rPr lang="en-US" altLang="zh-CN" sz="3200" b="1" dirty="0">
                <a:latin typeface="Times New Roman" panose="02020603050405020304" pitchFamily="18" charset="0"/>
                <a:ea typeface="楷体_GB2312" panose="02010609030101010101" pitchFamily="49" charset="-122"/>
              </a:rPr>
              <a:t>2</a:t>
            </a:r>
            <a:r>
              <a:rPr lang="en-US" altLang="zh-CN" sz="3200" b="1" dirty="0">
                <a:latin typeface="楷体_GB2312" panose="02010609030101010101" pitchFamily="49" charset="-122"/>
                <a:ea typeface="楷体_GB2312" panose="02010609030101010101" pitchFamily="49" charset="-122"/>
              </a:rPr>
              <a:t>. </a:t>
            </a:r>
            <a:r>
              <a:rPr lang="zh-CN" altLang="en-US" sz="3200" b="1" dirty="0">
                <a:solidFill>
                  <a:srgbClr val="FF0000"/>
                </a:solidFill>
                <a:latin typeface="楷体_GB2312" panose="02010609030101010101" pitchFamily="49" charset="-122"/>
                <a:ea typeface="楷体_GB2312" panose="02010609030101010101" pitchFamily="49" charset="-122"/>
              </a:rPr>
              <a:t>可读性</a:t>
            </a:r>
            <a:endParaRPr lang="zh-CN" altLang="en-US" sz="3200" dirty="0">
              <a:latin typeface="Times New Roman" panose="02020603050405020304" pitchFamily="18" charset="0"/>
            </a:endParaRPr>
          </a:p>
        </p:txBody>
      </p:sp>
      <p:sp>
        <p:nvSpPr>
          <p:cNvPr id="71686" name="Text Box 6">
            <a:hlinkClick r:id="rId2" action="ppaction://hlinksldjump"/>
          </p:cNvPr>
          <p:cNvSpPr txBox="1"/>
          <p:nvPr/>
        </p:nvSpPr>
        <p:spPr>
          <a:xfrm>
            <a:off x="1620838" y="4208463"/>
            <a:ext cx="2037737" cy="584775"/>
          </a:xfrm>
          <a:prstGeom prst="rect">
            <a:avLst/>
          </a:prstGeom>
          <a:noFill/>
          <a:ln w="9525">
            <a:noFill/>
          </a:ln>
        </p:spPr>
        <p:txBody>
          <a:bodyPr wrap="none">
            <a:spAutoFit/>
          </a:bodyPr>
          <a:lstStyle/>
          <a:p>
            <a:r>
              <a:rPr lang="en-US" altLang="zh-CN" sz="3200" b="1" dirty="0">
                <a:latin typeface="Times New Roman" panose="02020603050405020304" pitchFamily="18" charset="0"/>
                <a:ea typeface="楷体_GB2312" panose="02010609030101010101" pitchFamily="49" charset="-122"/>
              </a:rPr>
              <a:t>3</a:t>
            </a:r>
            <a:r>
              <a:rPr lang="zh-CN" altLang="en-US" sz="3200" b="1" dirty="0">
                <a:latin typeface="楷体_GB2312" panose="02010609030101010101" pitchFamily="49" charset="-122"/>
                <a:ea typeface="楷体_GB2312" panose="02010609030101010101" pitchFamily="49" charset="-122"/>
              </a:rPr>
              <a:t>．</a:t>
            </a:r>
            <a:r>
              <a:rPr lang="zh-CN" altLang="en-US" sz="3200" b="1" dirty="0">
                <a:solidFill>
                  <a:srgbClr val="FF0000"/>
                </a:solidFill>
                <a:latin typeface="楷体_GB2312" panose="02010609030101010101" pitchFamily="49" charset="-122"/>
                <a:ea typeface="楷体_GB2312" panose="02010609030101010101" pitchFamily="49" charset="-122"/>
              </a:rPr>
              <a:t>健壮性</a:t>
            </a:r>
            <a:endParaRPr lang="zh-CN" altLang="en-US" sz="3200" b="1" dirty="0">
              <a:solidFill>
                <a:srgbClr val="FF0000"/>
              </a:solidFill>
              <a:latin typeface="楷体_GB2312" panose="02010609030101010101" pitchFamily="49" charset="-122"/>
              <a:ea typeface="楷体_GB2312" panose="02010609030101010101" pitchFamily="49" charset="-122"/>
            </a:endParaRPr>
          </a:p>
        </p:txBody>
      </p:sp>
      <p:sp>
        <p:nvSpPr>
          <p:cNvPr id="71687" name="Text Box 7">
            <a:hlinkClick r:id="rId3" action="ppaction://hlinksldjump"/>
          </p:cNvPr>
          <p:cNvSpPr txBox="1"/>
          <p:nvPr/>
        </p:nvSpPr>
        <p:spPr>
          <a:xfrm>
            <a:off x="1600200" y="5199063"/>
            <a:ext cx="4921540" cy="584775"/>
          </a:xfrm>
          <a:prstGeom prst="rect">
            <a:avLst/>
          </a:prstGeom>
          <a:noFill/>
          <a:ln w="9525">
            <a:noFill/>
          </a:ln>
        </p:spPr>
        <p:txBody>
          <a:bodyPr wrap="none">
            <a:spAutoFit/>
          </a:bodyPr>
          <a:lstStyle/>
          <a:p>
            <a:r>
              <a:rPr lang="en-US" altLang="zh-CN" sz="3200" b="1" dirty="0">
                <a:latin typeface="Times New Roman" panose="02020603050405020304" pitchFamily="18" charset="0"/>
                <a:ea typeface="楷体_GB2312" panose="02010609030101010101" pitchFamily="49" charset="-122"/>
              </a:rPr>
              <a:t>4</a:t>
            </a:r>
            <a:r>
              <a:rPr lang="zh-CN" altLang="en-US" sz="3200" b="1" dirty="0">
                <a:latin typeface="楷体_GB2312" panose="02010609030101010101" pitchFamily="49" charset="-122"/>
                <a:ea typeface="楷体_GB2312" panose="02010609030101010101" pitchFamily="49" charset="-122"/>
              </a:rPr>
              <a:t>．</a:t>
            </a:r>
            <a:r>
              <a:rPr lang="zh-CN" altLang="en-US" sz="3200" b="1" dirty="0">
                <a:solidFill>
                  <a:srgbClr val="FF0000"/>
                </a:solidFill>
                <a:latin typeface="楷体_GB2312" panose="02010609030101010101" pitchFamily="49" charset="-122"/>
                <a:ea typeface="楷体_GB2312" panose="02010609030101010101" pitchFamily="49" charset="-122"/>
              </a:rPr>
              <a:t>高效率与低存储量需求</a:t>
            </a:r>
            <a:endParaRPr lang="zh-CN" altLang="en-US" sz="3200" dirty="0">
              <a:latin typeface="Times New Roman" panose="02020603050405020304" pitchFamily="18" charset="0"/>
            </a:endParaRPr>
          </a:p>
        </p:txBody>
      </p:sp>
      <p:sp>
        <p:nvSpPr>
          <p:cNvPr id="2" name="日期占位符 1"/>
          <p:cNvSpPr>
            <a:spLocks noGrp="1"/>
          </p:cNvSpPr>
          <p:nvPr>
            <p:ph type="dt" sz="half" idx="10"/>
          </p:nvPr>
        </p:nvSpPr>
        <p:spPr/>
        <p:txBody>
          <a:bodyPr/>
          <a:lstStyle/>
          <a:p>
            <a:r>
              <a:rPr lang="en-US" altLang="zh-CN"/>
              <a:t>Data Structures and algorithms</a:t>
            </a:r>
            <a:endParaRPr lang="zh-CN" altLang="en-US"/>
          </a:p>
        </p:txBody>
      </p:sp>
      <p:sp>
        <p:nvSpPr>
          <p:cNvPr id="3" name="页脚占位符 2"/>
          <p:cNvSpPr>
            <a:spLocks noGrp="1"/>
          </p:cNvSpPr>
          <p:nvPr>
            <p:ph type="ftr" sz="quarter" idx="11"/>
          </p:nvPr>
        </p:nvSpPr>
        <p:spPr/>
        <p:txBody>
          <a:bodyPr/>
          <a:lstStyle/>
          <a:p>
            <a:r>
              <a:rPr lang="en-US" altLang="zh-CN"/>
              <a:t>Software College Northeastern University</a:t>
            </a:r>
            <a:endParaRPr lang="zh-CN" altLang="en-US"/>
          </a:p>
        </p:txBody>
      </p:sp>
      <p:sp>
        <p:nvSpPr>
          <p:cNvPr id="4" name="灯片编号占位符 3"/>
          <p:cNvSpPr>
            <a:spLocks noGrp="1"/>
          </p:cNvSpPr>
          <p:nvPr>
            <p:ph type="sldNum" sz="quarter" idx="12"/>
          </p:nvPr>
        </p:nvSpPr>
        <p:spPr/>
        <p:txBody>
          <a:bodyPr/>
          <a:lstStyle/>
          <a:p>
            <a:fld id="{6E1C0148-8E4B-4B2F-95CE-20B4709700AE}" type="slidenum">
              <a:rPr lang="zh-CN" altLang="en-US" smtClean="0"/>
            </a:fld>
            <a:endParaRPr lang="zh-CN" altLang="en-US"/>
          </a:p>
        </p:txBody>
      </p:sp>
    </p:spTree>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ext Box 2"/>
          <p:cNvSpPr txBox="1"/>
          <p:nvPr/>
        </p:nvSpPr>
        <p:spPr>
          <a:xfrm>
            <a:off x="1219200" y="228600"/>
            <a:ext cx="3200400" cy="762000"/>
          </a:xfrm>
          <a:prstGeom prst="rect">
            <a:avLst/>
          </a:prstGeom>
          <a:noFill/>
          <a:ln w="9525">
            <a:noFill/>
          </a:ln>
        </p:spPr>
        <p:txBody>
          <a:bodyPr>
            <a:spAutoFit/>
          </a:bodyPr>
          <a:lstStyle/>
          <a:p>
            <a:r>
              <a:rPr lang="en-US" altLang="zh-CN" sz="4400" b="1" dirty="0">
                <a:latin typeface="楷体_GB2312" panose="02010609030101010101" pitchFamily="49" charset="-122"/>
                <a:ea typeface="楷体_GB2312" panose="02010609030101010101" pitchFamily="49" charset="-122"/>
              </a:rPr>
              <a:t>1</a:t>
            </a:r>
            <a:r>
              <a:rPr lang="zh-CN" altLang="en-US" sz="4400" b="1" dirty="0">
                <a:latin typeface="楷体_GB2312" panose="02010609030101010101" pitchFamily="49" charset="-122"/>
                <a:ea typeface="楷体_GB2312" panose="02010609030101010101" pitchFamily="49" charset="-122"/>
              </a:rPr>
              <a:t>．</a:t>
            </a:r>
            <a:r>
              <a:rPr lang="zh-CN" altLang="en-US" sz="4400" b="1" dirty="0">
                <a:solidFill>
                  <a:srgbClr val="FF0000"/>
                </a:solidFill>
                <a:latin typeface="楷体_GB2312" panose="02010609030101010101" pitchFamily="49" charset="-122"/>
                <a:ea typeface="楷体_GB2312" panose="02010609030101010101" pitchFamily="49" charset="-122"/>
              </a:rPr>
              <a:t>正确性</a:t>
            </a:r>
            <a:endParaRPr lang="zh-CN" altLang="en-US" sz="2400" b="1" dirty="0">
              <a:solidFill>
                <a:srgbClr val="FF0000"/>
              </a:solidFill>
              <a:latin typeface="楷体_GB2312" panose="02010609030101010101" pitchFamily="49" charset="-122"/>
              <a:ea typeface="楷体_GB2312" panose="02010609030101010101" pitchFamily="49" charset="-122"/>
            </a:endParaRPr>
          </a:p>
        </p:txBody>
      </p:sp>
      <p:sp>
        <p:nvSpPr>
          <p:cNvPr id="72707" name="Text Box 3"/>
          <p:cNvSpPr txBox="1"/>
          <p:nvPr/>
        </p:nvSpPr>
        <p:spPr>
          <a:xfrm>
            <a:off x="228600" y="1304925"/>
            <a:ext cx="8534400" cy="1195712"/>
          </a:xfrm>
          <a:prstGeom prst="rect">
            <a:avLst/>
          </a:prstGeom>
          <a:noFill/>
          <a:ln w="9525">
            <a:noFill/>
          </a:ln>
        </p:spPr>
        <p:txBody>
          <a:bodyPr>
            <a:spAutoFit/>
          </a:bodyPr>
          <a:lstStyle/>
          <a:p>
            <a:pPr>
              <a:lnSpc>
                <a:spcPct val="120000"/>
              </a:lnSpc>
            </a:pPr>
            <a:r>
              <a:rPr lang="zh-CN" altLang="en-US" sz="3200" dirty="0">
                <a:latin typeface="楷体_GB2312" panose="02010609030101010101" pitchFamily="49" charset="-122"/>
                <a:ea typeface="楷体_GB2312" panose="02010609030101010101" pitchFamily="49" charset="-122"/>
              </a:rPr>
              <a:t>    </a:t>
            </a:r>
            <a:r>
              <a:rPr lang="zh-CN" altLang="en-US" sz="3200" b="1" dirty="0">
                <a:solidFill>
                  <a:srgbClr val="0000FF"/>
                </a:solidFill>
                <a:latin typeface="楷体_GB2312" panose="02010609030101010101" pitchFamily="49" charset="-122"/>
                <a:ea typeface="楷体_GB2312" panose="02010609030101010101" pitchFamily="49" charset="-122"/>
              </a:rPr>
              <a:t>首先，</a:t>
            </a:r>
            <a:r>
              <a:rPr lang="zh-CN" altLang="en-US" sz="3200" dirty="0">
                <a:latin typeface="楷体_GB2312" panose="02010609030101010101" pitchFamily="49" charset="-122"/>
                <a:ea typeface="楷体_GB2312" panose="02010609030101010101" pitchFamily="49" charset="-122"/>
              </a:rPr>
              <a:t>算法应当</a:t>
            </a:r>
            <a:r>
              <a:rPr lang="zh-CN" altLang="en-US" sz="3200" b="1" dirty="0">
                <a:latin typeface="楷体_GB2312" panose="02010609030101010101" pitchFamily="49" charset="-122"/>
                <a:ea typeface="楷体_GB2312" panose="02010609030101010101" pitchFamily="49" charset="-122"/>
              </a:rPr>
              <a:t>满足</a:t>
            </a:r>
            <a:r>
              <a:rPr lang="zh-CN" altLang="en-US" sz="3200" dirty="0">
                <a:latin typeface="楷体_GB2312" panose="02010609030101010101" pitchFamily="49" charset="-122"/>
                <a:ea typeface="楷体_GB2312" panose="02010609030101010101" pitchFamily="49" charset="-122"/>
              </a:rPr>
              <a:t>以特定的</a:t>
            </a:r>
            <a:r>
              <a:rPr lang="zh-CN" altLang="en-US" sz="3200" b="1" dirty="0">
                <a:latin typeface="Times New Roman" panose="02020603050405020304" pitchFamily="18" charset="0"/>
                <a:ea typeface="楷体_GB2312" panose="02010609030101010101" pitchFamily="49" charset="-122"/>
              </a:rPr>
              <a:t>“</a:t>
            </a:r>
            <a:r>
              <a:rPr lang="zh-CN" altLang="en-US" sz="3200" b="1" dirty="0">
                <a:latin typeface="楷体_GB2312" panose="02010609030101010101" pitchFamily="49" charset="-122"/>
                <a:ea typeface="楷体_GB2312" panose="02010609030101010101" pitchFamily="49" charset="-122"/>
              </a:rPr>
              <a:t>规格说明</a:t>
            </a:r>
            <a:r>
              <a:rPr lang="zh-CN" altLang="en-US" sz="3200" b="1" dirty="0">
                <a:latin typeface="Times New Roman" panose="02020603050405020304" pitchFamily="18" charset="0"/>
                <a:ea typeface="楷体_GB2312" panose="02010609030101010101" pitchFamily="49" charset="-122"/>
              </a:rPr>
              <a:t>”</a:t>
            </a:r>
            <a:r>
              <a:rPr lang="zh-CN" altLang="en-US" sz="3200" dirty="0">
                <a:latin typeface="楷体_GB2312" panose="02010609030101010101" pitchFamily="49" charset="-122"/>
                <a:ea typeface="楷体_GB2312" panose="02010609030101010101" pitchFamily="49" charset="-122"/>
              </a:rPr>
              <a:t>方式给出的</a:t>
            </a:r>
            <a:r>
              <a:rPr lang="zh-CN" altLang="en-US" sz="3200" b="1" dirty="0">
                <a:latin typeface="楷体_GB2312" panose="02010609030101010101" pitchFamily="49" charset="-122"/>
                <a:ea typeface="楷体_GB2312" panose="02010609030101010101" pitchFamily="49" charset="-122"/>
              </a:rPr>
              <a:t>需求</a:t>
            </a:r>
            <a:r>
              <a:rPr lang="zh-CN" altLang="en-US" sz="3200" dirty="0">
                <a:latin typeface="楷体_GB2312" panose="02010609030101010101" pitchFamily="49" charset="-122"/>
                <a:ea typeface="楷体_GB2312" panose="02010609030101010101" pitchFamily="49" charset="-122"/>
              </a:rPr>
              <a:t>。</a:t>
            </a:r>
            <a:endParaRPr lang="zh-CN" altLang="en-US" sz="3200" dirty="0">
              <a:latin typeface="楷体_GB2312" panose="02010609030101010101" pitchFamily="49" charset="-122"/>
              <a:ea typeface="楷体_GB2312" panose="02010609030101010101" pitchFamily="49" charset="-122"/>
            </a:endParaRPr>
          </a:p>
        </p:txBody>
      </p:sp>
      <p:sp>
        <p:nvSpPr>
          <p:cNvPr id="72708" name="Text Box 4"/>
          <p:cNvSpPr txBox="1"/>
          <p:nvPr/>
        </p:nvSpPr>
        <p:spPr>
          <a:xfrm>
            <a:off x="212725" y="2676525"/>
            <a:ext cx="8550275" cy="1195712"/>
          </a:xfrm>
          <a:prstGeom prst="rect">
            <a:avLst/>
          </a:prstGeom>
          <a:noFill/>
          <a:ln w="9525">
            <a:noFill/>
          </a:ln>
        </p:spPr>
        <p:txBody>
          <a:bodyPr>
            <a:spAutoFit/>
          </a:bodyPr>
          <a:lstStyle/>
          <a:p>
            <a:pPr>
              <a:lnSpc>
                <a:spcPct val="120000"/>
              </a:lnSpc>
            </a:pPr>
            <a:r>
              <a:rPr lang="zh-CN" altLang="en-US" sz="3200" dirty="0">
                <a:latin typeface="楷体_GB2312" panose="02010609030101010101" pitchFamily="49" charset="-122"/>
                <a:ea typeface="楷体_GB2312" panose="02010609030101010101" pitchFamily="49" charset="-122"/>
              </a:rPr>
              <a:t>    </a:t>
            </a:r>
            <a:r>
              <a:rPr lang="zh-CN" altLang="en-US" sz="3200" b="1" dirty="0">
                <a:solidFill>
                  <a:srgbClr val="0000FF"/>
                </a:solidFill>
                <a:latin typeface="楷体_GB2312" panose="02010609030101010101" pitchFamily="49" charset="-122"/>
                <a:ea typeface="楷体_GB2312" panose="02010609030101010101" pitchFamily="49" charset="-122"/>
              </a:rPr>
              <a:t>其次，</a:t>
            </a:r>
            <a:r>
              <a:rPr lang="zh-CN" altLang="en-US" sz="3200" dirty="0">
                <a:latin typeface="楷体_GB2312" panose="02010609030101010101" pitchFamily="49" charset="-122"/>
                <a:ea typeface="楷体_GB2312" panose="02010609030101010101" pitchFamily="49" charset="-122"/>
              </a:rPr>
              <a:t>对算法是否</a:t>
            </a:r>
            <a:r>
              <a:rPr lang="zh-CN" altLang="en-US" sz="3200" b="1" dirty="0">
                <a:latin typeface="Times New Roman" panose="02020603050405020304" pitchFamily="18" charset="0"/>
                <a:ea typeface="楷体_GB2312" panose="02010609030101010101" pitchFamily="49" charset="-122"/>
              </a:rPr>
              <a:t>“</a:t>
            </a:r>
            <a:r>
              <a:rPr lang="zh-CN" altLang="en-US" sz="3200" b="1" dirty="0">
                <a:solidFill>
                  <a:srgbClr val="FF0000"/>
                </a:solidFill>
                <a:latin typeface="楷体_GB2312" panose="02010609030101010101" pitchFamily="49" charset="-122"/>
                <a:ea typeface="楷体_GB2312" panose="02010609030101010101" pitchFamily="49" charset="-122"/>
              </a:rPr>
              <a:t>正确</a:t>
            </a:r>
            <a:r>
              <a:rPr lang="zh-CN" altLang="en-US" sz="3200" b="1" dirty="0">
                <a:latin typeface="Times New Roman" panose="02020603050405020304" pitchFamily="18" charset="0"/>
                <a:ea typeface="楷体_GB2312" panose="02010609030101010101" pitchFamily="49" charset="-122"/>
              </a:rPr>
              <a:t>”</a:t>
            </a:r>
            <a:r>
              <a:rPr lang="zh-CN" altLang="en-US" sz="3200" b="1" dirty="0">
                <a:latin typeface="楷体_GB2312" panose="02010609030101010101" pitchFamily="49" charset="-122"/>
                <a:ea typeface="楷体_GB2312" panose="02010609030101010101" pitchFamily="49" charset="-122"/>
              </a:rPr>
              <a:t>的</a:t>
            </a:r>
            <a:r>
              <a:rPr lang="zh-CN" altLang="en-US" sz="3200" dirty="0">
                <a:latin typeface="楷体_GB2312" panose="02010609030101010101" pitchFamily="49" charset="-122"/>
                <a:ea typeface="楷体_GB2312" panose="02010609030101010101" pitchFamily="49" charset="-122"/>
              </a:rPr>
              <a:t>理解可以有以下</a:t>
            </a:r>
            <a:r>
              <a:rPr lang="zh-CN" altLang="en-US" sz="3200" b="1" dirty="0">
                <a:latin typeface="楷体_GB2312" panose="02010609030101010101" pitchFamily="49" charset="-122"/>
                <a:ea typeface="楷体_GB2312" panose="02010609030101010101" pitchFamily="49" charset="-122"/>
              </a:rPr>
              <a:t>四个层次</a:t>
            </a:r>
            <a:r>
              <a:rPr lang="zh-CN" altLang="en-US" sz="3200" dirty="0">
                <a:latin typeface="楷体_GB2312" panose="02010609030101010101" pitchFamily="49" charset="-122"/>
                <a:ea typeface="楷体_GB2312" panose="02010609030101010101" pitchFamily="49" charset="-122"/>
              </a:rPr>
              <a:t>：</a:t>
            </a:r>
            <a:endParaRPr lang="zh-CN" altLang="en-US" sz="3200" dirty="0">
              <a:latin typeface="楷体_GB2312" panose="02010609030101010101" pitchFamily="49" charset="-122"/>
              <a:ea typeface="楷体_GB2312" panose="02010609030101010101" pitchFamily="49" charset="-122"/>
            </a:endParaRPr>
          </a:p>
        </p:txBody>
      </p:sp>
      <p:sp>
        <p:nvSpPr>
          <p:cNvPr id="72709" name="Text Box 5"/>
          <p:cNvSpPr txBox="1"/>
          <p:nvPr/>
        </p:nvSpPr>
        <p:spPr>
          <a:xfrm>
            <a:off x="990600" y="4168775"/>
            <a:ext cx="6981825" cy="584775"/>
          </a:xfrm>
          <a:prstGeom prst="rect">
            <a:avLst/>
          </a:prstGeom>
          <a:noFill/>
          <a:ln w="9525">
            <a:noFill/>
          </a:ln>
        </p:spPr>
        <p:txBody>
          <a:bodyPr>
            <a:spAutoFit/>
          </a:bodyPr>
          <a:lstStyle/>
          <a:p>
            <a:r>
              <a:rPr lang="en-US" altLang="zh-CN" sz="3200" b="1" dirty="0">
                <a:latin typeface="楷体_GB2312" panose="02010609030101010101" pitchFamily="49" charset="-122"/>
                <a:ea typeface="楷体_GB2312" panose="02010609030101010101" pitchFamily="49" charset="-122"/>
              </a:rPr>
              <a:t>a</a:t>
            </a:r>
            <a:r>
              <a:rPr lang="zh-CN" altLang="en-US" sz="3200" b="1" dirty="0">
                <a:latin typeface="楷体_GB2312" panose="02010609030101010101" pitchFamily="49" charset="-122"/>
                <a:ea typeface="楷体_GB2312" panose="02010609030101010101" pitchFamily="49" charset="-122"/>
              </a:rPr>
              <a:t>．</a:t>
            </a:r>
            <a:r>
              <a:rPr lang="zh-CN" altLang="en-US" sz="3200" dirty="0">
                <a:latin typeface="楷体_GB2312" panose="02010609030101010101" pitchFamily="49" charset="-122"/>
                <a:ea typeface="楷体_GB2312" panose="02010609030101010101" pitchFamily="49" charset="-122"/>
              </a:rPr>
              <a:t>程序中不含语法错误；</a:t>
            </a:r>
            <a:endParaRPr lang="zh-CN" altLang="en-US" sz="3200" dirty="0">
              <a:latin typeface="Times New Roman" panose="02020603050405020304" pitchFamily="18" charset="0"/>
            </a:endParaRPr>
          </a:p>
        </p:txBody>
      </p:sp>
      <p:sp>
        <p:nvSpPr>
          <p:cNvPr id="72710" name="Text Box 6"/>
          <p:cNvSpPr txBox="1"/>
          <p:nvPr/>
        </p:nvSpPr>
        <p:spPr>
          <a:xfrm>
            <a:off x="974725" y="5067300"/>
            <a:ext cx="7635875" cy="1195712"/>
          </a:xfrm>
          <a:prstGeom prst="rect">
            <a:avLst/>
          </a:prstGeom>
          <a:noFill/>
          <a:ln w="9525">
            <a:noFill/>
          </a:ln>
        </p:spPr>
        <p:txBody>
          <a:bodyPr>
            <a:spAutoFit/>
          </a:bodyPr>
          <a:lstStyle/>
          <a:p>
            <a:pPr>
              <a:lnSpc>
                <a:spcPct val="120000"/>
              </a:lnSpc>
            </a:pPr>
            <a:r>
              <a:rPr lang="en-US" altLang="zh-CN" sz="3200" b="1" dirty="0">
                <a:latin typeface="楷体_GB2312" panose="02010609030101010101" pitchFamily="49" charset="-122"/>
                <a:ea typeface="楷体_GB2312" panose="02010609030101010101" pitchFamily="49" charset="-122"/>
              </a:rPr>
              <a:t>b</a:t>
            </a:r>
            <a:r>
              <a:rPr lang="zh-CN" altLang="en-US" sz="3200" b="1" dirty="0">
                <a:latin typeface="楷体_GB2312" panose="02010609030101010101" pitchFamily="49" charset="-122"/>
                <a:ea typeface="楷体_GB2312" panose="02010609030101010101" pitchFamily="49" charset="-122"/>
              </a:rPr>
              <a:t>．</a:t>
            </a:r>
            <a:r>
              <a:rPr lang="zh-CN" altLang="en-US" sz="3200" dirty="0">
                <a:latin typeface="楷体_GB2312" panose="02010609030101010101" pitchFamily="49" charset="-122"/>
                <a:ea typeface="楷体_GB2312" panose="02010609030101010101" pitchFamily="49" charset="-122"/>
              </a:rPr>
              <a:t>程序对于几组输入数据能够得出满足要求的结果；</a:t>
            </a:r>
            <a:endParaRPr lang="zh-CN" altLang="en-US" sz="3200" dirty="0">
              <a:latin typeface="楷体_GB2312" panose="02010609030101010101" pitchFamily="49" charset="-122"/>
              <a:ea typeface="楷体_GB2312" panose="02010609030101010101" pitchFamily="49" charset="-122"/>
            </a:endParaRPr>
          </a:p>
        </p:txBody>
      </p:sp>
      <p:sp>
        <p:nvSpPr>
          <p:cNvPr id="2" name="日期占位符 1"/>
          <p:cNvSpPr>
            <a:spLocks noGrp="1"/>
          </p:cNvSpPr>
          <p:nvPr>
            <p:ph type="dt" sz="half" idx="10"/>
          </p:nvPr>
        </p:nvSpPr>
        <p:spPr/>
        <p:txBody>
          <a:bodyPr/>
          <a:lstStyle/>
          <a:p>
            <a:r>
              <a:rPr lang="en-US" altLang="zh-CN"/>
              <a:t>Data Structures and algorithms</a:t>
            </a:r>
            <a:endParaRPr lang="zh-CN" altLang="en-US"/>
          </a:p>
        </p:txBody>
      </p:sp>
      <p:sp>
        <p:nvSpPr>
          <p:cNvPr id="3" name="页脚占位符 2"/>
          <p:cNvSpPr>
            <a:spLocks noGrp="1"/>
          </p:cNvSpPr>
          <p:nvPr>
            <p:ph type="ftr" sz="quarter" idx="11"/>
          </p:nvPr>
        </p:nvSpPr>
        <p:spPr/>
        <p:txBody>
          <a:bodyPr/>
          <a:lstStyle/>
          <a:p>
            <a:r>
              <a:rPr lang="en-US" altLang="zh-CN"/>
              <a:t>Software College Northeastern University</a:t>
            </a:r>
            <a:endParaRPr lang="zh-CN" altLang="en-US"/>
          </a:p>
        </p:txBody>
      </p:sp>
      <p:sp>
        <p:nvSpPr>
          <p:cNvPr id="4" name="灯片编号占位符 3"/>
          <p:cNvSpPr>
            <a:spLocks noGrp="1"/>
          </p:cNvSpPr>
          <p:nvPr>
            <p:ph type="sldNum" sz="quarter" idx="12"/>
          </p:nvPr>
        </p:nvSpPr>
        <p:spPr/>
        <p:txBody>
          <a:bodyPr/>
          <a:lstStyle/>
          <a:p>
            <a:fld id="{6E1C0148-8E4B-4B2F-95CE-20B4709700AE}" type="slidenum">
              <a:rPr lang="zh-CN" altLang="en-US" smtClean="0"/>
            </a:fld>
            <a:endParaRPr lang="zh-CN" altLang="en-US"/>
          </a:p>
        </p:txBody>
      </p:sp>
    </p:spTree>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Text Box 2"/>
          <p:cNvSpPr txBox="1"/>
          <p:nvPr/>
        </p:nvSpPr>
        <p:spPr>
          <a:xfrm>
            <a:off x="304800" y="1208088"/>
            <a:ext cx="8686800" cy="1808572"/>
          </a:xfrm>
          <a:prstGeom prst="rect">
            <a:avLst/>
          </a:prstGeom>
          <a:noFill/>
          <a:ln w="9525">
            <a:noFill/>
          </a:ln>
        </p:spPr>
        <p:txBody>
          <a:bodyPr>
            <a:spAutoFit/>
          </a:bodyPr>
          <a:lstStyle/>
          <a:p>
            <a:pPr>
              <a:lnSpc>
                <a:spcPct val="120000"/>
              </a:lnSpc>
            </a:pPr>
            <a:r>
              <a:rPr lang="zh-CN" altLang="en-US" sz="3200" b="1" dirty="0">
                <a:solidFill>
                  <a:srgbClr val="FF0000"/>
                </a:solidFill>
                <a:latin typeface="楷体_GB2312" panose="02010609030101010101" pitchFamily="49" charset="-122"/>
                <a:ea typeface="楷体_GB2312" panose="02010609030101010101" pitchFamily="49" charset="-122"/>
              </a:rPr>
              <a:t> </a:t>
            </a:r>
            <a:r>
              <a:rPr lang="en-US" altLang="zh-CN" sz="3200" b="1" dirty="0">
                <a:solidFill>
                  <a:srgbClr val="FF0000"/>
                </a:solidFill>
                <a:latin typeface="楷体_GB2312" panose="02010609030101010101" pitchFamily="49" charset="-122"/>
                <a:ea typeface="楷体_GB2312" panose="02010609030101010101" pitchFamily="49" charset="-122"/>
              </a:rPr>
              <a:t>c</a:t>
            </a:r>
            <a:r>
              <a:rPr lang="zh-CN" altLang="en-US" sz="3200" b="1" dirty="0">
                <a:solidFill>
                  <a:srgbClr val="FF0000"/>
                </a:solidFill>
                <a:latin typeface="楷体_GB2312" panose="02010609030101010101" pitchFamily="49" charset="-122"/>
                <a:ea typeface="楷体_GB2312" panose="02010609030101010101" pitchFamily="49" charset="-122"/>
              </a:rPr>
              <a:t>．程序对于精心选择的、典型、苛刻且带有刁难性的几组输入数据能够得出满足要求的结果；</a:t>
            </a:r>
            <a:endParaRPr lang="zh-CN" altLang="en-US" sz="3200" dirty="0">
              <a:latin typeface="Times New Roman" panose="02020603050405020304" pitchFamily="18" charset="0"/>
            </a:endParaRPr>
          </a:p>
        </p:txBody>
      </p:sp>
      <p:sp>
        <p:nvSpPr>
          <p:cNvPr id="73731" name="Text Box 3"/>
          <p:cNvSpPr txBox="1"/>
          <p:nvPr/>
        </p:nvSpPr>
        <p:spPr>
          <a:xfrm>
            <a:off x="457200" y="4784725"/>
            <a:ext cx="8270875" cy="1238801"/>
          </a:xfrm>
          <a:prstGeom prst="rect">
            <a:avLst/>
          </a:prstGeom>
          <a:noFill/>
          <a:ln w="9525">
            <a:noFill/>
          </a:ln>
        </p:spPr>
        <p:txBody>
          <a:bodyPr>
            <a:spAutoFit/>
          </a:bodyPr>
          <a:lstStyle/>
          <a:p>
            <a:pPr>
              <a:lnSpc>
                <a:spcPct val="125000"/>
              </a:lnSpc>
            </a:pPr>
            <a:r>
              <a:rPr lang="zh-CN" altLang="en-US" sz="3200" dirty="0">
                <a:latin typeface="楷体_GB2312" panose="02010609030101010101" pitchFamily="49" charset="-122"/>
                <a:ea typeface="楷体_GB2312" panose="02010609030101010101" pitchFamily="49" charset="-122"/>
              </a:rPr>
              <a:t>通常以</a:t>
            </a:r>
            <a:r>
              <a:rPr lang="zh-CN" altLang="en-US" sz="3200" dirty="0">
                <a:solidFill>
                  <a:srgbClr val="9900CC"/>
                </a:solidFill>
                <a:latin typeface="楷体_GB2312" panose="02010609030101010101" pitchFamily="49" charset="-122"/>
                <a:ea typeface="楷体_GB2312" panose="02010609030101010101" pitchFamily="49" charset="-122"/>
              </a:rPr>
              <a:t>第</a:t>
            </a:r>
            <a:r>
              <a:rPr lang="zh-CN" altLang="en-US" sz="3200" b="1" dirty="0">
                <a:solidFill>
                  <a:srgbClr val="9900CC"/>
                </a:solidFill>
                <a:latin typeface="楷体_GB2312" panose="02010609030101010101" pitchFamily="49" charset="-122"/>
                <a:ea typeface="楷体_GB2312" panose="02010609030101010101" pitchFamily="49" charset="-122"/>
              </a:rPr>
              <a:t> </a:t>
            </a:r>
            <a:r>
              <a:rPr lang="en-US" altLang="zh-CN" sz="3200" b="1" dirty="0">
                <a:solidFill>
                  <a:srgbClr val="9900CC"/>
                </a:solidFill>
                <a:latin typeface="楷体_GB2312" panose="02010609030101010101" pitchFamily="49" charset="-122"/>
                <a:ea typeface="楷体_GB2312" panose="02010609030101010101" pitchFamily="49" charset="-122"/>
              </a:rPr>
              <a:t>c </a:t>
            </a:r>
            <a:r>
              <a:rPr lang="zh-CN" altLang="en-US" sz="3200" dirty="0">
                <a:solidFill>
                  <a:srgbClr val="9900CC"/>
                </a:solidFill>
                <a:latin typeface="楷体_GB2312" panose="02010609030101010101" pitchFamily="49" charset="-122"/>
                <a:ea typeface="楷体_GB2312" panose="02010609030101010101" pitchFamily="49" charset="-122"/>
              </a:rPr>
              <a:t>层</a:t>
            </a:r>
            <a:r>
              <a:rPr lang="zh-CN" altLang="en-US" sz="3200" dirty="0">
                <a:latin typeface="楷体_GB2312" panose="02010609030101010101" pitchFamily="49" charset="-122"/>
                <a:ea typeface="楷体_GB2312" panose="02010609030101010101" pitchFamily="49" charset="-122"/>
              </a:rPr>
              <a:t>意义的正确性作为衡量一个算法是否合格的标准。</a:t>
            </a:r>
            <a:endParaRPr lang="zh-CN" altLang="en-US" sz="3200" dirty="0">
              <a:latin typeface="楷体_GB2312" panose="02010609030101010101" pitchFamily="49" charset="-122"/>
              <a:ea typeface="楷体_GB2312" panose="02010609030101010101" pitchFamily="49" charset="-122"/>
            </a:endParaRPr>
          </a:p>
        </p:txBody>
      </p:sp>
      <p:sp>
        <p:nvSpPr>
          <p:cNvPr id="73732" name="Text Box 4"/>
          <p:cNvSpPr txBox="1"/>
          <p:nvPr/>
        </p:nvSpPr>
        <p:spPr>
          <a:xfrm>
            <a:off x="228600" y="3314700"/>
            <a:ext cx="8778875" cy="1217641"/>
          </a:xfrm>
          <a:prstGeom prst="rect">
            <a:avLst/>
          </a:prstGeom>
          <a:noFill/>
          <a:ln w="9525">
            <a:noFill/>
          </a:ln>
        </p:spPr>
        <p:txBody>
          <a:bodyPr>
            <a:spAutoFit/>
          </a:bodyPr>
          <a:lstStyle/>
          <a:p>
            <a:pPr>
              <a:lnSpc>
                <a:spcPct val="120000"/>
              </a:lnSpc>
            </a:pPr>
            <a:r>
              <a:rPr lang="zh-CN" altLang="en-US" sz="3200" dirty="0">
                <a:latin typeface="楷体_GB2312" panose="02010609030101010101" pitchFamily="49" charset="-122"/>
                <a:ea typeface="楷体_GB2312" panose="02010609030101010101" pitchFamily="49" charset="-122"/>
              </a:rPr>
              <a:t> </a:t>
            </a:r>
            <a:r>
              <a:rPr lang="en-US" altLang="zh-CN" sz="3200" b="1" dirty="0">
                <a:latin typeface="楷体_GB2312" panose="02010609030101010101" pitchFamily="49" charset="-122"/>
                <a:ea typeface="楷体_GB2312" panose="02010609030101010101" pitchFamily="49" charset="-122"/>
              </a:rPr>
              <a:t>d</a:t>
            </a:r>
            <a:r>
              <a:rPr lang="zh-CN" altLang="en-US" sz="3200" b="1" dirty="0">
                <a:latin typeface="楷体_GB2312" panose="02010609030101010101" pitchFamily="49" charset="-122"/>
                <a:ea typeface="楷体_GB2312" panose="02010609030101010101" pitchFamily="49" charset="-122"/>
              </a:rPr>
              <a:t>．</a:t>
            </a:r>
            <a:r>
              <a:rPr lang="zh-CN" altLang="en-US" sz="3200" dirty="0">
                <a:latin typeface="楷体_GB2312" panose="02010609030101010101" pitchFamily="49" charset="-122"/>
                <a:ea typeface="楷体_GB2312" panose="02010609030101010101" pitchFamily="49" charset="-122"/>
              </a:rPr>
              <a:t>程序对于一切合法的输入数据都能得出满足要求的结果；</a:t>
            </a:r>
            <a:endParaRPr lang="zh-CN" altLang="en-US" sz="3200" dirty="0">
              <a:latin typeface="Times New Roman" panose="02020603050405020304" pitchFamily="18" charset="0"/>
            </a:endParaRPr>
          </a:p>
        </p:txBody>
      </p:sp>
      <p:sp>
        <p:nvSpPr>
          <p:cNvPr id="2" name="日期占位符 1"/>
          <p:cNvSpPr>
            <a:spLocks noGrp="1"/>
          </p:cNvSpPr>
          <p:nvPr>
            <p:ph type="dt" sz="half" idx="10"/>
          </p:nvPr>
        </p:nvSpPr>
        <p:spPr/>
        <p:txBody>
          <a:bodyPr/>
          <a:lstStyle/>
          <a:p>
            <a:r>
              <a:rPr lang="en-US" altLang="zh-CN"/>
              <a:t>Data Structures and algorithms</a:t>
            </a:r>
            <a:endParaRPr lang="zh-CN" altLang="en-US"/>
          </a:p>
        </p:txBody>
      </p:sp>
      <p:sp>
        <p:nvSpPr>
          <p:cNvPr id="3" name="页脚占位符 2"/>
          <p:cNvSpPr>
            <a:spLocks noGrp="1"/>
          </p:cNvSpPr>
          <p:nvPr>
            <p:ph type="ftr" sz="quarter" idx="11"/>
          </p:nvPr>
        </p:nvSpPr>
        <p:spPr/>
        <p:txBody>
          <a:bodyPr/>
          <a:lstStyle/>
          <a:p>
            <a:r>
              <a:rPr lang="en-US" altLang="zh-CN"/>
              <a:t>Software College Northeastern University</a:t>
            </a:r>
            <a:endParaRPr lang="zh-CN" altLang="en-US"/>
          </a:p>
        </p:txBody>
      </p:sp>
      <p:sp>
        <p:nvSpPr>
          <p:cNvPr id="4" name="灯片编号占位符 3"/>
          <p:cNvSpPr>
            <a:spLocks noGrp="1"/>
          </p:cNvSpPr>
          <p:nvPr>
            <p:ph type="sldNum" sz="quarter" idx="12"/>
          </p:nvPr>
        </p:nvSpPr>
        <p:spPr/>
        <p:txBody>
          <a:bodyPr/>
          <a:lstStyle/>
          <a:p>
            <a:fld id="{6E1C0148-8E4B-4B2F-95CE-20B4709700AE}" type="slidenum">
              <a:rPr lang="zh-CN" altLang="en-US" smtClean="0"/>
            </a:fld>
            <a:endParaRPr lang="zh-CN" altLang="en-US"/>
          </a:p>
        </p:txBody>
      </p:sp>
    </p:spTree>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ext Box 2"/>
          <p:cNvSpPr txBox="1"/>
          <p:nvPr/>
        </p:nvSpPr>
        <p:spPr>
          <a:xfrm>
            <a:off x="1447800" y="152400"/>
            <a:ext cx="6796088" cy="914400"/>
          </a:xfrm>
          <a:prstGeom prst="rect">
            <a:avLst/>
          </a:prstGeom>
          <a:noFill/>
          <a:ln w="9525">
            <a:noFill/>
          </a:ln>
        </p:spPr>
        <p:txBody>
          <a:bodyPr>
            <a:spAutoFit/>
          </a:bodyPr>
          <a:lstStyle/>
          <a:p>
            <a:r>
              <a:rPr lang="en-US" altLang="zh-CN" sz="5400" b="1" dirty="0">
                <a:latin typeface="Times New Roman" panose="02020603050405020304" pitchFamily="18" charset="0"/>
                <a:ea typeface="楷体_GB2312" panose="02010609030101010101" pitchFamily="49" charset="-122"/>
              </a:rPr>
              <a:t>2</a:t>
            </a:r>
            <a:r>
              <a:rPr lang="en-US" altLang="zh-CN" sz="5400" b="1" dirty="0">
                <a:latin typeface="楷体_GB2312" panose="02010609030101010101" pitchFamily="49" charset="-122"/>
                <a:ea typeface="楷体_GB2312" panose="02010609030101010101" pitchFamily="49" charset="-122"/>
              </a:rPr>
              <a:t>. </a:t>
            </a:r>
            <a:r>
              <a:rPr lang="zh-CN" altLang="en-US" sz="5400" b="1" dirty="0">
                <a:solidFill>
                  <a:srgbClr val="FF0000"/>
                </a:solidFill>
                <a:latin typeface="楷体_GB2312" panose="02010609030101010101" pitchFamily="49" charset="-122"/>
                <a:ea typeface="楷体_GB2312" panose="02010609030101010101" pitchFamily="49" charset="-122"/>
              </a:rPr>
              <a:t>可读性</a:t>
            </a:r>
            <a:endParaRPr lang="zh-CN" altLang="en-US" sz="2400" b="1" dirty="0">
              <a:solidFill>
                <a:srgbClr val="FF0000"/>
              </a:solidFill>
              <a:latin typeface="楷体_GB2312" panose="02010609030101010101" pitchFamily="49" charset="-122"/>
              <a:ea typeface="楷体_GB2312" panose="02010609030101010101" pitchFamily="49" charset="-122"/>
            </a:endParaRPr>
          </a:p>
        </p:txBody>
      </p:sp>
      <p:sp>
        <p:nvSpPr>
          <p:cNvPr id="74755" name="Text Box 3"/>
          <p:cNvSpPr txBox="1"/>
          <p:nvPr/>
        </p:nvSpPr>
        <p:spPr>
          <a:xfrm>
            <a:off x="304800" y="1447800"/>
            <a:ext cx="8610600" cy="3843338"/>
          </a:xfrm>
          <a:prstGeom prst="rect">
            <a:avLst/>
          </a:prstGeom>
          <a:noFill/>
          <a:ln w="9525">
            <a:noFill/>
          </a:ln>
        </p:spPr>
        <p:txBody>
          <a:bodyPr>
            <a:spAutoFit/>
          </a:bodyPr>
          <a:lstStyle/>
          <a:p>
            <a:pPr>
              <a:lnSpc>
                <a:spcPct val="150000"/>
              </a:lnSpc>
            </a:pPr>
            <a:r>
              <a:rPr lang="zh-CN" altLang="en-US" sz="4000" dirty="0">
                <a:latin typeface="楷体_GB2312" panose="02010609030101010101" pitchFamily="49" charset="-122"/>
                <a:ea typeface="楷体_GB2312" panose="02010609030101010101" pitchFamily="49" charset="-122"/>
              </a:rPr>
              <a:t>    </a:t>
            </a:r>
            <a:r>
              <a:rPr lang="zh-CN" altLang="en-US" sz="3600" dirty="0">
                <a:latin typeface="楷体_GB2312" panose="02010609030101010101" pitchFamily="49" charset="-122"/>
                <a:ea typeface="楷体_GB2312" panose="02010609030101010101" pitchFamily="49" charset="-122"/>
              </a:rPr>
              <a:t>算法主要是为了人的</a:t>
            </a:r>
            <a:r>
              <a:rPr lang="zh-CN" altLang="en-US" sz="3600" b="1" dirty="0">
                <a:latin typeface="楷体_GB2312" panose="02010609030101010101" pitchFamily="49" charset="-122"/>
                <a:ea typeface="楷体_GB2312" panose="02010609030101010101" pitchFamily="49" charset="-122"/>
              </a:rPr>
              <a:t>阅读与交流</a:t>
            </a:r>
            <a:r>
              <a:rPr lang="zh-CN" altLang="en-US" sz="3600" dirty="0">
                <a:latin typeface="楷体_GB2312" panose="02010609030101010101" pitchFamily="49" charset="-122"/>
                <a:ea typeface="楷体_GB2312" panose="02010609030101010101" pitchFamily="49" charset="-122"/>
              </a:rPr>
              <a:t>，</a:t>
            </a:r>
            <a:endParaRPr lang="zh-CN" altLang="en-US" sz="3600" dirty="0">
              <a:latin typeface="楷体_GB2312" panose="02010609030101010101" pitchFamily="49" charset="-122"/>
              <a:ea typeface="楷体_GB2312" panose="02010609030101010101" pitchFamily="49" charset="-122"/>
            </a:endParaRPr>
          </a:p>
          <a:p>
            <a:pPr>
              <a:lnSpc>
                <a:spcPct val="150000"/>
              </a:lnSpc>
            </a:pPr>
            <a:r>
              <a:rPr lang="zh-CN" altLang="en-US" sz="3600" dirty="0">
                <a:latin typeface="楷体_GB2312" panose="02010609030101010101" pitchFamily="49" charset="-122"/>
                <a:ea typeface="楷体_GB2312" panose="02010609030101010101" pitchFamily="49" charset="-122"/>
              </a:rPr>
              <a:t>其次才是为计算机执行，因此算法应该</a:t>
            </a:r>
            <a:r>
              <a:rPr lang="zh-CN" altLang="en-US" sz="3600" b="1" dirty="0">
                <a:solidFill>
                  <a:srgbClr val="0000FF"/>
                </a:solidFill>
                <a:latin typeface="楷体_GB2312" panose="02010609030101010101" pitchFamily="49" charset="-122"/>
                <a:ea typeface="楷体_GB2312" panose="02010609030101010101" pitchFamily="49" charset="-122"/>
              </a:rPr>
              <a:t>易于</a:t>
            </a:r>
            <a:r>
              <a:rPr lang="zh-CN" altLang="en-US" sz="3600" dirty="0">
                <a:solidFill>
                  <a:srgbClr val="0000FF"/>
                </a:solidFill>
                <a:latin typeface="楷体_GB2312" panose="02010609030101010101" pitchFamily="49" charset="-122"/>
                <a:ea typeface="楷体_GB2312" panose="02010609030101010101" pitchFamily="49" charset="-122"/>
              </a:rPr>
              <a:t>人的</a:t>
            </a:r>
            <a:r>
              <a:rPr lang="zh-CN" altLang="en-US" sz="3600" b="1" dirty="0">
                <a:solidFill>
                  <a:srgbClr val="0000FF"/>
                </a:solidFill>
                <a:latin typeface="楷体_GB2312" panose="02010609030101010101" pitchFamily="49" charset="-122"/>
                <a:ea typeface="楷体_GB2312" panose="02010609030101010101" pitchFamily="49" charset="-122"/>
              </a:rPr>
              <a:t>理解</a:t>
            </a:r>
            <a:r>
              <a:rPr lang="zh-CN" altLang="en-US" sz="3600" dirty="0">
                <a:latin typeface="楷体_GB2312" panose="02010609030101010101" pitchFamily="49" charset="-122"/>
                <a:ea typeface="楷体_GB2312" panose="02010609030101010101" pitchFamily="49" charset="-122"/>
              </a:rPr>
              <a:t>；另一方面，晦涩难读的程序易于隐藏较多错误而难以调试。</a:t>
            </a:r>
            <a:endParaRPr lang="zh-CN" altLang="en-US" sz="3600" dirty="0">
              <a:latin typeface="楷体_GB2312" panose="02010609030101010101" pitchFamily="49" charset="-122"/>
              <a:ea typeface="楷体_GB2312" panose="02010609030101010101" pitchFamily="49" charset="-122"/>
            </a:endParaRPr>
          </a:p>
          <a:p>
            <a:endParaRPr lang="zh-CN" altLang="en-US" sz="2400" dirty="0">
              <a:latin typeface="Times New Roman" panose="02020603050405020304" pitchFamily="18" charset="0"/>
            </a:endParaRPr>
          </a:p>
        </p:txBody>
      </p:sp>
      <p:sp>
        <p:nvSpPr>
          <p:cNvPr id="596996" name="AutoShape 4">
            <a:hlinkClick r:id="" action="ppaction://hlinkshowjump?jump=lastslideviewed" highlightClick="1"/>
          </p:cNvPr>
          <p:cNvSpPr>
            <a:spLocks noChangeArrowheads="1"/>
          </p:cNvSpPr>
          <p:nvPr/>
        </p:nvSpPr>
        <p:spPr bwMode="auto">
          <a:xfrm>
            <a:off x="8305800" y="6248400"/>
            <a:ext cx="457200" cy="304800"/>
          </a:xfrm>
          <a:prstGeom prst="actionButtonReturn">
            <a:avLst/>
          </a:prstGeom>
          <a:solidFill>
            <a:schemeClr val="bg2"/>
          </a:solidFill>
          <a:ln w="9525">
            <a:solidFill>
              <a:schemeClr val="bg2"/>
            </a:solidFill>
            <a:miter lim="800000"/>
          </a:ln>
          <a:effectLst>
            <a:prstShdw prst="shdw17" dist="17961" dir="2700000">
              <a:schemeClr val="bg2">
                <a:gamma/>
                <a:shade val="60000"/>
                <a:invGamma/>
              </a:schemeClr>
            </a:prstShdw>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3600" b="0" i="0" u="none" strike="noStrike" kern="1200" cap="none" spc="0" normalizeH="0" baseline="0" noProof="0">
              <a:ln>
                <a:noFill/>
              </a:ln>
              <a:solidFill>
                <a:srgbClr val="6600CC"/>
              </a:solidFill>
              <a:effectLst/>
              <a:uLnTx/>
              <a:uFillTx/>
              <a:latin typeface="Times New Roman" panose="02020603050405020304" pitchFamily="18" charset="0"/>
              <a:ea typeface="宋体" panose="02010600030101010101" pitchFamily="2" charset="-122"/>
              <a:cs typeface="+mn-cs"/>
            </a:endParaRPr>
          </a:p>
        </p:txBody>
      </p:sp>
      <p:sp>
        <p:nvSpPr>
          <p:cNvPr id="2" name="日期占位符 1"/>
          <p:cNvSpPr>
            <a:spLocks noGrp="1"/>
          </p:cNvSpPr>
          <p:nvPr>
            <p:ph type="dt" sz="half" idx="10"/>
          </p:nvPr>
        </p:nvSpPr>
        <p:spPr/>
        <p:txBody>
          <a:bodyPr/>
          <a:lstStyle/>
          <a:p>
            <a:r>
              <a:rPr lang="en-US" altLang="zh-CN"/>
              <a:t>Data Structures and algorithms</a:t>
            </a:r>
            <a:endParaRPr lang="zh-CN" altLang="en-US"/>
          </a:p>
        </p:txBody>
      </p:sp>
      <p:sp>
        <p:nvSpPr>
          <p:cNvPr id="3" name="页脚占位符 2"/>
          <p:cNvSpPr>
            <a:spLocks noGrp="1"/>
          </p:cNvSpPr>
          <p:nvPr>
            <p:ph type="ftr" sz="quarter" idx="11"/>
          </p:nvPr>
        </p:nvSpPr>
        <p:spPr/>
        <p:txBody>
          <a:bodyPr/>
          <a:lstStyle/>
          <a:p>
            <a:r>
              <a:rPr lang="en-US" altLang="zh-CN"/>
              <a:t>Software College Northeastern University</a:t>
            </a:r>
            <a:endParaRPr lang="zh-CN" altLang="en-US"/>
          </a:p>
        </p:txBody>
      </p:sp>
      <p:sp>
        <p:nvSpPr>
          <p:cNvPr id="4" name="灯片编号占位符 3"/>
          <p:cNvSpPr>
            <a:spLocks noGrp="1"/>
          </p:cNvSpPr>
          <p:nvPr>
            <p:ph type="sldNum" sz="quarter" idx="12"/>
          </p:nvPr>
        </p:nvSpPr>
        <p:spPr/>
        <p:txBody>
          <a:bodyPr/>
          <a:lstStyle/>
          <a:p>
            <a:fld id="{6E1C0148-8E4B-4B2F-95CE-20B4709700AE}" type="slidenum">
              <a:rPr lang="zh-CN" altLang="en-US" smtClean="0"/>
            </a:fld>
            <a:endParaRPr lang="zh-CN" altLang="en-US"/>
          </a:p>
        </p:txBody>
      </p:sp>
    </p:spTree>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Text Box 2"/>
          <p:cNvSpPr txBox="1"/>
          <p:nvPr/>
        </p:nvSpPr>
        <p:spPr>
          <a:xfrm>
            <a:off x="1600200" y="0"/>
            <a:ext cx="5499100" cy="914400"/>
          </a:xfrm>
          <a:prstGeom prst="rect">
            <a:avLst/>
          </a:prstGeom>
          <a:noFill/>
          <a:ln w="9525">
            <a:noFill/>
          </a:ln>
        </p:spPr>
        <p:txBody>
          <a:bodyPr>
            <a:spAutoFit/>
          </a:bodyPr>
          <a:lstStyle/>
          <a:p>
            <a:r>
              <a:rPr lang="en-US" altLang="zh-CN" sz="5400" b="1" dirty="0">
                <a:latin typeface="Times New Roman" panose="02020603050405020304" pitchFamily="18" charset="0"/>
                <a:ea typeface="楷体_GB2312" panose="02010609030101010101" pitchFamily="49" charset="-122"/>
              </a:rPr>
              <a:t>3</a:t>
            </a:r>
            <a:r>
              <a:rPr lang="zh-CN" altLang="en-US" sz="5400" b="1" dirty="0">
                <a:latin typeface="楷体_GB2312" panose="02010609030101010101" pitchFamily="49" charset="-122"/>
                <a:ea typeface="楷体_GB2312" panose="02010609030101010101" pitchFamily="49" charset="-122"/>
              </a:rPr>
              <a:t>．</a:t>
            </a:r>
            <a:r>
              <a:rPr lang="zh-CN" altLang="en-US" sz="5400" b="1" dirty="0">
                <a:solidFill>
                  <a:srgbClr val="FF0000"/>
                </a:solidFill>
                <a:latin typeface="楷体_GB2312" panose="02010609030101010101" pitchFamily="49" charset="-122"/>
                <a:ea typeface="楷体_GB2312" panose="02010609030101010101" pitchFamily="49" charset="-122"/>
              </a:rPr>
              <a:t>健壮性</a:t>
            </a:r>
            <a:endParaRPr lang="zh-CN" altLang="en-US" sz="2400" b="1" dirty="0">
              <a:solidFill>
                <a:srgbClr val="FF0000"/>
              </a:solidFill>
              <a:latin typeface="楷体_GB2312" panose="02010609030101010101" pitchFamily="49" charset="-122"/>
              <a:ea typeface="楷体_GB2312" panose="02010609030101010101" pitchFamily="49" charset="-122"/>
            </a:endParaRPr>
          </a:p>
        </p:txBody>
      </p:sp>
      <p:sp>
        <p:nvSpPr>
          <p:cNvPr id="75779" name="Text Box 3"/>
          <p:cNvSpPr txBox="1"/>
          <p:nvPr/>
        </p:nvSpPr>
        <p:spPr>
          <a:xfrm>
            <a:off x="457200" y="1219200"/>
            <a:ext cx="8305800" cy="4125745"/>
          </a:xfrm>
          <a:prstGeom prst="rect">
            <a:avLst/>
          </a:prstGeom>
          <a:noFill/>
          <a:ln w="9525">
            <a:noFill/>
          </a:ln>
        </p:spPr>
        <p:txBody>
          <a:bodyPr>
            <a:spAutoFit/>
          </a:bodyPr>
          <a:lstStyle/>
          <a:p>
            <a:pPr>
              <a:lnSpc>
                <a:spcPct val="140000"/>
              </a:lnSpc>
            </a:pPr>
            <a:r>
              <a:rPr lang="zh-CN" altLang="en-US" sz="3200" dirty="0">
                <a:latin typeface="楷体_GB2312" panose="02010609030101010101" pitchFamily="49" charset="-122"/>
                <a:ea typeface="楷体_GB2312" panose="02010609030101010101" pitchFamily="49" charset="-122"/>
              </a:rPr>
              <a:t>   当</a:t>
            </a:r>
            <a:r>
              <a:rPr lang="zh-CN" altLang="en-US" sz="3200" dirty="0">
                <a:solidFill>
                  <a:srgbClr val="FF0000"/>
                </a:solidFill>
                <a:latin typeface="楷体_GB2312" panose="02010609030101010101" pitchFamily="49" charset="-122"/>
                <a:ea typeface="楷体_GB2312" panose="02010609030101010101" pitchFamily="49" charset="-122"/>
              </a:rPr>
              <a:t>输入的数据</a:t>
            </a:r>
            <a:r>
              <a:rPr lang="zh-CN" altLang="en-US" sz="3200" b="1" dirty="0">
                <a:solidFill>
                  <a:srgbClr val="FF0000"/>
                </a:solidFill>
                <a:latin typeface="楷体_GB2312" panose="02010609030101010101" pitchFamily="49" charset="-122"/>
                <a:ea typeface="楷体_GB2312" panose="02010609030101010101" pitchFamily="49" charset="-122"/>
              </a:rPr>
              <a:t>非法</a:t>
            </a:r>
            <a:r>
              <a:rPr lang="zh-CN" altLang="en-US" sz="3200" dirty="0">
                <a:latin typeface="楷体_GB2312" panose="02010609030101010101" pitchFamily="49" charset="-122"/>
                <a:ea typeface="楷体_GB2312" panose="02010609030101010101" pitchFamily="49" charset="-122"/>
              </a:rPr>
              <a:t>时，算法应当恰当地作出反映或</a:t>
            </a:r>
            <a:r>
              <a:rPr lang="zh-CN" altLang="en-US" sz="3200" b="1" dirty="0">
                <a:solidFill>
                  <a:srgbClr val="FF0000"/>
                </a:solidFill>
                <a:latin typeface="楷体_GB2312" panose="02010609030101010101" pitchFamily="49" charset="-122"/>
                <a:ea typeface="楷体_GB2312" panose="02010609030101010101" pitchFamily="49" charset="-122"/>
              </a:rPr>
              <a:t>进行相应处理</a:t>
            </a:r>
            <a:r>
              <a:rPr lang="zh-CN" altLang="en-US" sz="3200" dirty="0">
                <a:latin typeface="楷体_GB2312" panose="02010609030101010101" pitchFamily="49" charset="-122"/>
                <a:ea typeface="楷体_GB2312" panose="02010609030101010101" pitchFamily="49" charset="-122"/>
              </a:rPr>
              <a:t>，而不是产生莫名奇妙的输出结果。并且，</a:t>
            </a:r>
            <a:r>
              <a:rPr lang="zh-CN" altLang="en-US" sz="3200" b="1" dirty="0">
                <a:latin typeface="楷体_GB2312" panose="02010609030101010101" pitchFamily="49" charset="-122"/>
                <a:ea typeface="楷体_GB2312" panose="02010609030101010101" pitchFamily="49" charset="-122"/>
              </a:rPr>
              <a:t>处理出错的方法</a:t>
            </a:r>
            <a:r>
              <a:rPr lang="zh-CN" altLang="en-US" sz="3200" dirty="0">
                <a:latin typeface="楷体_GB2312" panose="02010609030101010101" pitchFamily="49" charset="-122"/>
                <a:ea typeface="楷体_GB2312" panose="02010609030101010101" pitchFamily="49" charset="-122"/>
              </a:rPr>
              <a:t>不应是中断程序的执行，而应是</a:t>
            </a:r>
            <a:r>
              <a:rPr lang="zh-CN" altLang="en-US" sz="3200" b="1" dirty="0">
                <a:latin typeface="楷体_GB2312" panose="02010609030101010101" pitchFamily="49" charset="-122"/>
                <a:ea typeface="楷体_GB2312" panose="02010609030101010101" pitchFamily="49" charset="-122"/>
              </a:rPr>
              <a:t>返回</a:t>
            </a:r>
            <a:r>
              <a:rPr lang="zh-CN" altLang="en-US" sz="3200" dirty="0">
                <a:latin typeface="楷体_GB2312" panose="02010609030101010101" pitchFamily="49" charset="-122"/>
                <a:ea typeface="楷体_GB2312" panose="02010609030101010101" pitchFamily="49" charset="-122"/>
              </a:rPr>
              <a:t>一个</a:t>
            </a:r>
            <a:r>
              <a:rPr lang="zh-CN" altLang="en-US" sz="3200" b="1" dirty="0">
                <a:latin typeface="楷体_GB2312" panose="02010609030101010101" pitchFamily="49" charset="-122"/>
                <a:ea typeface="楷体_GB2312" panose="02010609030101010101" pitchFamily="49" charset="-122"/>
              </a:rPr>
              <a:t>表示错误或错误性质的值</a:t>
            </a:r>
            <a:r>
              <a:rPr lang="zh-CN" altLang="en-US" sz="3200" dirty="0">
                <a:latin typeface="楷体_GB2312" panose="02010609030101010101" pitchFamily="49" charset="-122"/>
                <a:ea typeface="楷体_GB2312" panose="02010609030101010101" pitchFamily="49" charset="-122"/>
              </a:rPr>
              <a:t>，以便在更高的抽象层次上进行处理。</a:t>
            </a:r>
            <a:endParaRPr lang="zh-CN" altLang="en-US" sz="3200" dirty="0">
              <a:latin typeface="楷体_GB2312" panose="02010609030101010101" pitchFamily="49" charset="-122"/>
              <a:ea typeface="楷体_GB2312" panose="02010609030101010101" pitchFamily="49" charset="-122"/>
            </a:endParaRPr>
          </a:p>
        </p:txBody>
      </p:sp>
      <p:sp>
        <p:nvSpPr>
          <p:cNvPr id="2" name="日期占位符 1"/>
          <p:cNvSpPr>
            <a:spLocks noGrp="1"/>
          </p:cNvSpPr>
          <p:nvPr>
            <p:ph type="dt" sz="half" idx="10"/>
          </p:nvPr>
        </p:nvSpPr>
        <p:spPr/>
        <p:txBody>
          <a:bodyPr/>
          <a:lstStyle/>
          <a:p>
            <a:r>
              <a:rPr lang="en-US" altLang="zh-CN"/>
              <a:t>Data Structures and algorithms</a:t>
            </a:r>
            <a:endParaRPr lang="zh-CN" altLang="en-US"/>
          </a:p>
        </p:txBody>
      </p:sp>
      <p:sp>
        <p:nvSpPr>
          <p:cNvPr id="3" name="页脚占位符 2"/>
          <p:cNvSpPr>
            <a:spLocks noGrp="1"/>
          </p:cNvSpPr>
          <p:nvPr>
            <p:ph type="ftr" sz="quarter" idx="11"/>
          </p:nvPr>
        </p:nvSpPr>
        <p:spPr/>
        <p:txBody>
          <a:bodyPr/>
          <a:lstStyle/>
          <a:p>
            <a:r>
              <a:rPr lang="en-US" altLang="zh-CN"/>
              <a:t>Software College Northeastern University</a:t>
            </a:r>
            <a:endParaRPr lang="zh-CN" altLang="en-US"/>
          </a:p>
        </p:txBody>
      </p:sp>
      <p:sp>
        <p:nvSpPr>
          <p:cNvPr id="4" name="灯片编号占位符 3"/>
          <p:cNvSpPr>
            <a:spLocks noGrp="1"/>
          </p:cNvSpPr>
          <p:nvPr>
            <p:ph type="sldNum" sz="quarter" idx="12"/>
          </p:nvPr>
        </p:nvSpPr>
        <p:spPr/>
        <p:txBody>
          <a:bodyPr/>
          <a:lstStyle/>
          <a:p>
            <a:fld id="{6E1C0148-8E4B-4B2F-95CE-20B4709700AE}" type="slidenum">
              <a:rPr lang="zh-CN" altLang="en-US" smtClean="0"/>
            </a:fld>
            <a:endParaRPr lang="zh-CN" altLang="en-US"/>
          </a:p>
        </p:txBody>
      </p:sp>
    </p:spTree>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Text Box 2"/>
          <p:cNvSpPr txBox="1"/>
          <p:nvPr/>
        </p:nvSpPr>
        <p:spPr>
          <a:xfrm>
            <a:off x="1371600" y="228600"/>
            <a:ext cx="7229475" cy="823913"/>
          </a:xfrm>
          <a:prstGeom prst="rect">
            <a:avLst/>
          </a:prstGeom>
          <a:noFill/>
          <a:ln w="9525">
            <a:noFill/>
          </a:ln>
        </p:spPr>
        <p:txBody>
          <a:bodyPr wrap="none">
            <a:spAutoFit/>
          </a:bodyPr>
          <a:lstStyle/>
          <a:p>
            <a:r>
              <a:rPr lang="en-US" altLang="zh-CN" sz="4800" b="1" dirty="0">
                <a:latin typeface="Times New Roman" panose="02020603050405020304" pitchFamily="18" charset="0"/>
                <a:ea typeface="楷体_GB2312" panose="02010609030101010101" pitchFamily="49" charset="-122"/>
              </a:rPr>
              <a:t>4</a:t>
            </a:r>
            <a:r>
              <a:rPr lang="zh-CN" altLang="en-US" sz="4800" b="1" dirty="0">
                <a:latin typeface="楷体_GB2312" panose="02010609030101010101" pitchFamily="49" charset="-122"/>
                <a:ea typeface="楷体_GB2312" panose="02010609030101010101" pitchFamily="49" charset="-122"/>
              </a:rPr>
              <a:t>．</a:t>
            </a:r>
            <a:r>
              <a:rPr lang="zh-CN" altLang="en-US" sz="4800" b="1" dirty="0">
                <a:solidFill>
                  <a:srgbClr val="FF0000"/>
                </a:solidFill>
                <a:latin typeface="楷体_GB2312" panose="02010609030101010101" pitchFamily="49" charset="-122"/>
                <a:ea typeface="楷体_GB2312" panose="02010609030101010101" pitchFamily="49" charset="-122"/>
              </a:rPr>
              <a:t>高效率与低存储量需求</a:t>
            </a:r>
            <a:endParaRPr lang="zh-CN" altLang="en-US" b="1" dirty="0">
              <a:solidFill>
                <a:srgbClr val="FF0000"/>
              </a:solidFill>
              <a:latin typeface="楷体_GB2312" panose="02010609030101010101" pitchFamily="49" charset="-122"/>
              <a:ea typeface="楷体_GB2312" panose="02010609030101010101" pitchFamily="49" charset="-122"/>
            </a:endParaRPr>
          </a:p>
        </p:txBody>
      </p:sp>
      <p:sp>
        <p:nvSpPr>
          <p:cNvPr id="76803" name="Text Box 3"/>
          <p:cNvSpPr txBox="1"/>
          <p:nvPr/>
        </p:nvSpPr>
        <p:spPr>
          <a:xfrm>
            <a:off x="838200" y="1524000"/>
            <a:ext cx="7956550" cy="3251200"/>
          </a:xfrm>
          <a:prstGeom prst="rect">
            <a:avLst/>
          </a:prstGeom>
          <a:noFill/>
          <a:ln w="9525">
            <a:noFill/>
          </a:ln>
        </p:spPr>
        <p:txBody>
          <a:bodyPr wrap="none">
            <a:spAutoFit/>
          </a:bodyPr>
          <a:lstStyle/>
          <a:p>
            <a:pPr>
              <a:lnSpc>
                <a:spcPct val="140000"/>
              </a:lnSpc>
            </a:pPr>
            <a:r>
              <a:rPr lang="zh-CN" altLang="en-US" sz="4000" dirty="0">
                <a:latin typeface="楷体_GB2312" panose="02010609030101010101" pitchFamily="49" charset="-122"/>
                <a:ea typeface="楷体_GB2312" panose="02010609030101010101" pitchFamily="49" charset="-122"/>
              </a:rPr>
              <a:t>	</a:t>
            </a:r>
            <a:r>
              <a:rPr lang="zh-CN" altLang="en-US" sz="3600" dirty="0">
                <a:latin typeface="楷体_GB2312" panose="02010609030101010101" pitchFamily="49" charset="-122"/>
                <a:ea typeface="楷体_GB2312" panose="02010609030101010101" pitchFamily="49" charset="-122"/>
              </a:rPr>
              <a:t>通常，效率指的是</a:t>
            </a:r>
            <a:r>
              <a:rPr lang="zh-CN" altLang="en-US" sz="3600" dirty="0">
                <a:solidFill>
                  <a:srgbClr val="FF0000"/>
                </a:solidFill>
                <a:latin typeface="楷体_GB2312" panose="02010609030101010101" pitchFamily="49" charset="-122"/>
                <a:ea typeface="楷体_GB2312" panose="02010609030101010101" pitchFamily="49" charset="-122"/>
              </a:rPr>
              <a:t>算法执行时间</a:t>
            </a:r>
            <a:r>
              <a:rPr lang="zh-CN" altLang="en-US" sz="3600" dirty="0">
                <a:latin typeface="楷体_GB2312" panose="02010609030101010101" pitchFamily="49" charset="-122"/>
                <a:ea typeface="楷体_GB2312" panose="02010609030101010101" pitchFamily="49" charset="-122"/>
              </a:rPr>
              <a:t>；</a:t>
            </a:r>
            <a:endParaRPr lang="zh-CN" altLang="en-US" sz="3600" dirty="0">
              <a:latin typeface="楷体_GB2312" panose="02010609030101010101" pitchFamily="49" charset="-122"/>
              <a:ea typeface="楷体_GB2312" panose="02010609030101010101" pitchFamily="49" charset="-122"/>
            </a:endParaRPr>
          </a:p>
          <a:p>
            <a:pPr>
              <a:lnSpc>
                <a:spcPct val="140000"/>
              </a:lnSpc>
            </a:pPr>
            <a:r>
              <a:rPr lang="zh-CN" altLang="en-US" sz="3600" dirty="0">
                <a:latin typeface="楷体_GB2312" panose="02010609030101010101" pitchFamily="49" charset="-122"/>
                <a:ea typeface="楷体_GB2312" panose="02010609030101010101" pitchFamily="49" charset="-122"/>
              </a:rPr>
              <a:t>存储量指的是算法执行过程中</a:t>
            </a:r>
            <a:r>
              <a:rPr lang="zh-CN" altLang="en-US" sz="3600" dirty="0">
                <a:solidFill>
                  <a:srgbClr val="FF0000"/>
                </a:solidFill>
                <a:latin typeface="楷体_GB2312" panose="02010609030101010101" pitchFamily="49" charset="-122"/>
                <a:ea typeface="楷体_GB2312" panose="02010609030101010101" pitchFamily="49" charset="-122"/>
              </a:rPr>
              <a:t>所需的</a:t>
            </a:r>
            <a:endParaRPr lang="zh-CN" altLang="en-US" sz="3600" dirty="0">
              <a:solidFill>
                <a:srgbClr val="FF0000"/>
              </a:solidFill>
              <a:latin typeface="楷体_GB2312" panose="02010609030101010101" pitchFamily="49" charset="-122"/>
              <a:ea typeface="楷体_GB2312" panose="02010609030101010101" pitchFamily="49" charset="-122"/>
            </a:endParaRPr>
          </a:p>
          <a:p>
            <a:pPr>
              <a:lnSpc>
                <a:spcPct val="140000"/>
              </a:lnSpc>
            </a:pPr>
            <a:r>
              <a:rPr lang="zh-CN" altLang="en-US" sz="3600" dirty="0">
                <a:solidFill>
                  <a:srgbClr val="FF0000"/>
                </a:solidFill>
                <a:latin typeface="楷体_GB2312" panose="02010609030101010101" pitchFamily="49" charset="-122"/>
                <a:ea typeface="楷体_GB2312" panose="02010609030101010101" pitchFamily="49" charset="-122"/>
              </a:rPr>
              <a:t>最大存储空间</a:t>
            </a:r>
            <a:r>
              <a:rPr lang="zh-CN" altLang="en-US" sz="3600" dirty="0">
                <a:latin typeface="楷体_GB2312" panose="02010609030101010101" pitchFamily="49" charset="-122"/>
                <a:ea typeface="楷体_GB2312" panose="02010609030101010101" pitchFamily="49" charset="-122"/>
              </a:rPr>
              <a:t>，两者都与问题的规模</a:t>
            </a:r>
            <a:endParaRPr lang="zh-CN" altLang="en-US" sz="3600" dirty="0">
              <a:latin typeface="楷体_GB2312" panose="02010609030101010101" pitchFamily="49" charset="-122"/>
              <a:ea typeface="楷体_GB2312" panose="02010609030101010101" pitchFamily="49" charset="-122"/>
            </a:endParaRPr>
          </a:p>
          <a:p>
            <a:pPr>
              <a:lnSpc>
                <a:spcPct val="140000"/>
              </a:lnSpc>
            </a:pPr>
            <a:r>
              <a:rPr lang="zh-CN" altLang="en-US" sz="3600" dirty="0">
                <a:latin typeface="楷体_GB2312" panose="02010609030101010101" pitchFamily="49" charset="-122"/>
                <a:ea typeface="楷体_GB2312" panose="02010609030101010101" pitchFamily="49" charset="-122"/>
              </a:rPr>
              <a:t>有关。</a:t>
            </a:r>
            <a:endParaRPr lang="zh-CN" altLang="en-US" sz="3600" dirty="0">
              <a:latin typeface="楷体_GB2312" panose="02010609030101010101" pitchFamily="49" charset="-122"/>
              <a:ea typeface="楷体_GB2312" panose="02010609030101010101" pitchFamily="49" charset="-122"/>
            </a:endParaRPr>
          </a:p>
        </p:txBody>
      </p:sp>
      <p:sp>
        <p:nvSpPr>
          <p:cNvPr id="599044" name="AutoShape 4">
            <a:hlinkClick r:id="" action="ppaction://hlinkshowjump?jump=lastslideviewed" highlightClick="1"/>
          </p:cNvPr>
          <p:cNvSpPr>
            <a:spLocks noChangeArrowheads="1"/>
          </p:cNvSpPr>
          <p:nvPr/>
        </p:nvSpPr>
        <p:spPr bwMode="auto">
          <a:xfrm>
            <a:off x="8305800" y="6248400"/>
            <a:ext cx="457200" cy="304800"/>
          </a:xfrm>
          <a:prstGeom prst="actionButtonReturn">
            <a:avLst/>
          </a:prstGeom>
          <a:solidFill>
            <a:schemeClr val="bg2"/>
          </a:solidFill>
          <a:ln w="9525">
            <a:solidFill>
              <a:schemeClr val="bg2"/>
            </a:solidFill>
            <a:miter lim="800000"/>
          </a:ln>
          <a:effectLst>
            <a:prstShdw prst="shdw17" dist="17961" dir="2700000">
              <a:schemeClr val="bg2">
                <a:gamma/>
                <a:shade val="60000"/>
                <a:invGamma/>
              </a:schemeClr>
            </a:prstShdw>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3600" b="0" i="0" u="none" strike="noStrike" kern="1200" cap="none" spc="0" normalizeH="0" baseline="0" noProof="0">
              <a:ln>
                <a:noFill/>
              </a:ln>
              <a:solidFill>
                <a:srgbClr val="6600CC"/>
              </a:solidFill>
              <a:effectLst/>
              <a:uLnTx/>
              <a:uFillTx/>
              <a:latin typeface="Times New Roman" panose="02020603050405020304" pitchFamily="18" charset="0"/>
              <a:ea typeface="宋体" panose="02010600030101010101" pitchFamily="2" charset="-122"/>
              <a:cs typeface="+mn-cs"/>
            </a:endParaRPr>
          </a:p>
        </p:txBody>
      </p:sp>
      <p:sp>
        <p:nvSpPr>
          <p:cNvPr id="2" name="日期占位符 1"/>
          <p:cNvSpPr>
            <a:spLocks noGrp="1"/>
          </p:cNvSpPr>
          <p:nvPr>
            <p:ph type="dt" sz="half" idx="10"/>
          </p:nvPr>
        </p:nvSpPr>
        <p:spPr/>
        <p:txBody>
          <a:bodyPr/>
          <a:lstStyle/>
          <a:p>
            <a:r>
              <a:rPr lang="en-US" altLang="zh-CN"/>
              <a:t>Data Structures and algorithms</a:t>
            </a:r>
            <a:endParaRPr lang="zh-CN" altLang="en-US"/>
          </a:p>
        </p:txBody>
      </p:sp>
      <p:sp>
        <p:nvSpPr>
          <p:cNvPr id="3" name="页脚占位符 2"/>
          <p:cNvSpPr>
            <a:spLocks noGrp="1"/>
          </p:cNvSpPr>
          <p:nvPr>
            <p:ph type="ftr" sz="quarter" idx="11"/>
          </p:nvPr>
        </p:nvSpPr>
        <p:spPr/>
        <p:txBody>
          <a:bodyPr/>
          <a:lstStyle/>
          <a:p>
            <a:r>
              <a:rPr lang="en-US" altLang="zh-CN"/>
              <a:t>Software College Northeastern University</a:t>
            </a:r>
            <a:endParaRPr lang="zh-CN" altLang="en-US"/>
          </a:p>
        </p:txBody>
      </p:sp>
      <p:sp>
        <p:nvSpPr>
          <p:cNvPr id="4" name="灯片编号占位符 3"/>
          <p:cNvSpPr>
            <a:spLocks noGrp="1"/>
          </p:cNvSpPr>
          <p:nvPr>
            <p:ph type="sldNum" sz="quarter" idx="12"/>
          </p:nvPr>
        </p:nvSpPr>
        <p:spPr/>
        <p:txBody>
          <a:bodyPr/>
          <a:lstStyle/>
          <a:p>
            <a:fld id="{6E1C0148-8E4B-4B2F-95CE-20B4709700AE}" type="slidenum">
              <a:rPr lang="zh-CN" altLang="en-US" smtClean="0"/>
            </a:fld>
            <a:endParaRPr lang="zh-CN" altLang="en-US"/>
          </a:p>
        </p:txBody>
      </p:sp>
    </p:spTree>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7" name="Rectangle 3"/>
          <p:cNvSpPr>
            <a:spLocks noGrp="1"/>
          </p:cNvSpPr>
          <p:nvPr>
            <p:ph idx="1"/>
          </p:nvPr>
        </p:nvSpPr>
        <p:spPr/>
        <p:txBody>
          <a:bodyPr vert="horz" wrap="square" lIns="91436" tIns="45718" rIns="91436" bIns="45718" anchor="t">
            <a:noAutofit/>
          </a:bodyPr>
          <a:lstStyle/>
          <a:p>
            <a:pPr>
              <a:lnSpc>
                <a:spcPct val="80000"/>
              </a:lnSpc>
            </a:pPr>
            <a:r>
              <a:rPr lang="zh-CN" altLang="en-US" sz="3200" dirty="0">
                <a:latin typeface="楷体_GB2312" panose="02010609030101010101" pitchFamily="49" charset="-122"/>
                <a:ea typeface="楷体_GB2312" panose="02010609030101010101" pitchFamily="49" charset="-122"/>
              </a:rPr>
              <a:t>一个算法如果能够在所要求的资源限制内</a:t>
            </a:r>
            <a:r>
              <a:rPr lang="en-US" altLang="zh-CN" sz="3200" dirty="0">
                <a:latin typeface="楷体_GB2312" panose="02010609030101010101" pitchFamily="49" charset="-122"/>
                <a:ea typeface="楷体_GB2312" panose="02010609030101010101" pitchFamily="49" charset="-122"/>
              </a:rPr>
              <a:t>(</a:t>
            </a:r>
            <a:r>
              <a:rPr lang="zh-CN" altLang="en-US" sz="3200" dirty="0">
                <a:latin typeface="楷体_GB2312" panose="02010609030101010101" pitchFamily="49" charset="-122"/>
                <a:ea typeface="楷体_GB2312" panose="02010609030101010101" pitchFamily="49" charset="-122"/>
              </a:rPr>
              <a:t>空间和时间</a:t>
            </a:r>
            <a:r>
              <a:rPr lang="en-US" altLang="zh-CN" sz="3200" dirty="0">
                <a:latin typeface="楷体_GB2312" panose="02010609030101010101" pitchFamily="49" charset="-122"/>
                <a:ea typeface="楷体_GB2312" panose="02010609030101010101" pitchFamily="49" charset="-122"/>
              </a:rPr>
              <a:t>)</a:t>
            </a:r>
            <a:r>
              <a:rPr lang="zh-CN" altLang="en-US" sz="3200" dirty="0">
                <a:latin typeface="楷体_GB2312" panose="02010609030101010101" pitchFamily="49" charset="-122"/>
                <a:ea typeface="楷体_GB2312" panose="02010609030101010101" pitchFamily="49" charset="-122"/>
              </a:rPr>
              <a:t>将问题解决好，称这个算法是有效的。一个算法的代价是算法消耗的资源量。</a:t>
            </a:r>
            <a:endParaRPr lang="zh-CN" altLang="en-US" sz="3200" dirty="0">
              <a:latin typeface="楷体_GB2312" panose="02010609030101010101" pitchFamily="49" charset="-122"/>
              <a:ea typeface="楷体_GB2312" panose="02010609030101010101" pitchFamily="49" charset="-122"/>
            </a:endParaRPr>
          </a:p>
          <a:p>
            <a:pPr>
              <a:lnSpc>
                <a:spcPct val="80000"/>
              </a:lnSpc>
            </a:pPr>
            <a:r>
              <a:rPr lang="zh-CN" altLang="en-US" sz="3200" dirty="0">
                <a:latin typeface="楷体_GB2312" panose="02010609030101010101" pitchFamily="49" charset="-122"/>
                <a:ea typeface="楷体_GB2312" panose="02010609030101010101" pitchFamily="49" charset="-122"/>
              </a:rPr>
              <a:t>权衡的概念： 每个数据结构都有相关的代价和效率的衡量。</a:t>
            </a:r>
            <a:endParaRPr lang="zh-CN" altLang="en-US" sz="3200" dirty="0">
              <a:latin typeface="楷体_GB2312" panose="02010609030101010101" pitchFamily="49" charset="-122"/>
              <a:ea typeface="楷体_GB2312" panose="02010609030101010101" pitchFamily="49" charset="-122"/>
            </a:endParaRPr>
          </a:p>
          <a:p>
            <a:pPr>
              <a:lnSpc>
                <a:spcPct val="80000"/>
              </a:lnSpc>
            </a:pPr>
            <a:r>
              <a:rPr lang="zh-CN" altLang="en-US" sz="3200" dirty="0">
                <a:latin typeface="楷体_GB2312" panose="02010609030101010101" pitchFamily="49" charset="-122"/>
                <a:ea typeface="楷体_GB2312" panose="02010609030101010101" pitchFamily="49" charset="-122"/>
              </a:rPr>
              <a:t>代价和效率：一个数据结构都将代价和效益联系在一起。一个数据结构需要一定的空间来存储它的每个数据项，一定的时间来执行单个基本操作和一定的程序设计工作。</a:t>
            </a:r>
            <a:endParaRPr lang="zh-CN" altLang="en-US" sz="3200" dirty="0">
              <a:latin typeface="楷体_GB2312" panose="02010609030101010101" pitchFamily="49" charset="-122"/>
              <a:ea typeface="楷体_GB2312" panose="02010609030101010101" pitchFamily="49" charset="-122"/>
            </a:endParaRPr>
          </a:p>
        </p:txBody>
      </p:sp>
      <p:sp>
        <p:nvSpPr>
          <p:cNvPr id="77826" name="Rectangle 2"/>
          <p:cNvSpPr>
            <a:spLocks noGrp="1"/>
          </p:cNvSpPr>
          <p:nvPr>
            <p:ph type="title"/>
          </p:nvPr>
        </p:nvSpPr>
        <p:spPr/>
        <p:txBody>
          <a:bodyPr vert="horz" wrap="square" lIns="91436" tIns="45718" rIns="91436" bIns="45718" anchor="ctr"/>
          <a:lstStyle/>
          <a:p>
            <a:r>
              <a:rPr lang="zh-CN" altLang="en-US" dirty="0">
                <a:solidFill>
                  <a:srgbClr val="3333CC"/>
                </a:solidFill>
                <a:ea typeface="楷体_GB2312" panose="02010609030101010101" pitchFamily="49" charset="-122"/>
              </a:rPr>
              <a:t>有效的算法</a:t>
            </a:r>
            <a:endParaRPr lang="zh-CN" altLang="en-US" dirty="0">
              <a:solidFill>
                <a:srgbClr val="3333CC"/>
              </a:solidFill>
              <a:ea typeface="楷体_GB2312" panose="02010609030101010101" pitchFamily="49" charset="-122"/>
            </a:endParaRPr>
          </a:p>
        </p:txBody>
      </p:sp>
      <p:sp>
        <p:nvSpPr>
          <p:cNvPr id="2" name="日期占位符 1"/>
          <p:cNvSpPr>
            <a:spLocks noGrp="1"/>
          </p:cNvSpPr>
          <p:nvPr>
            <p:ph type="dt" sz="half" idx="10"/>
          </p:nvPr>
        </p:nvSpPr>
        <p:spPr/>
        <p:txBody>
          <a:bodyPr/>
          <a:lstStyle/>
          <a:p>
            <a:r>
              <a:rPr lang="en-US" altLang="zh-CN"/>
              <a:t>Data Structures and algorithms</a:t>
            </a:r>
            <a:endParaRPr lang="zh-CN" altLang="en-US"/>
          </a:p>
        </p:txBody>
      </p:sp>
      <p:sp>
        <p:nvSpPr>
          <p:cNvPr id="3" name="页脚占位符 2"/>
          <p:cNvSpPr>
            <a:spLocks noGrp="1"/>
          </p:cNvSpPr>
          <p:nvPr>
            <p:ph type="ftr" sz="quarter" idx="11"/>
          </p:nvPr>
        </p:nvSpPr>
        <p:spPr/>
        <p:txBody>
          <a:bodyPr/>
          <a:lstStyle/>
          <a:p>
            <a:r>
              <a:rPr lang="en-US" altLang="zh-CN"/>
              <a:t>Software College Northeastern University</a:t>
            </a:r>
            <a:endParaRPr lang="zh-CN" altLang="en-US"/>
          </a:p>
        </p:txBody>
      </p:sp>
      <p:sp>
        <p:nvSpPr>
          <p:cNvPr id="4" name="灯片编号占位符 3"/>
          <p:cNvSpPr>
            <a:spLocks noGrp="1"/>
          </p:cNvSpPr>
          <p:nvPr>
            <p:ph type="sldNum" sz="quarter" idx="12"/>
          </p:nvPr>
        </p:nvSpPr>
        <p:spPr/>
        <p:txBody>
          <a:bodyPr/>
          <a:lstStyle/>
          <a:p>
            <a:fld id="{6E1C0148-8E4B-4B2F-95CE-20B4709700AE}" type="slidenum">
              <a:rPr lang="zh-CN" altLang="en-US" smtClean="0"/>
            </a:fld>
            <a:endParaRPr lang="zh-CN" altLang="en-US" dirty="0"/>
          </a:p>
        </p:txBody>
      </p:sp>
    </p:spTree>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Text Box 2"/>
          <p:cNvSpPr txBox="1"/>
          <p:nvPr/>
        </p:nvSpPr>
        <p:spPr>
          <a:xfrm>
            <a:off x="1371600" y="0"/>
            <a:ext cx="8280400" cy="895350"/>
          </a:xfrm>
          <a:prstGeom prst="rect">
            <a:avLst/>
          </a:prstGeom>
          <a:noFill/>
          <a:ln w="9525">
            <a:noFill/>
          </a:ln>
        </p:spPr>
        <p:txBody>
          <a:bodyPr>
            <a:spAutoFit/>
          </a:bodyPr>
          <a:lstStyle/>
          <a:p>
            <a:pPr>
              <a:lnSpc>
                <a:spcPct val="120000"/>
              </a:lnSpc>
            </a:pPr>
            <a:r>
              <a:rPr lang="zh-CN" altLang="en-US" sz="4400" b="1" dirty="0">
                <a:solidFill>
                  <a:srgbClr val="660066"/>
                </a:solidFill>
                <a:latin typeface="楷体_GB2312" panose="02010609030101010101" pitchFamily="49" charset="-122"/>
                <a:ea typeface="楷体_GB2312" panose="02010609030101010101" pitchFamily="49" charset="-122"/>
              </a:rPr>
              <a:t>三</a:t>
            </a:r>
            <a:r>
              <a:rPr lang="zh-CN" altLang="en-US" sz="4000" b="1" dirty="0">
                <a:solidFill>
                  <a:srgbClr val="660066"/>
                </a:solidFill>
                <a:latin typeface="楷体_GB2312" panose="02010609030101010101" pitchFamily="49" charset="-122"/>
                <a:ea typeface="楷体_GB2312" panose="02010609030101010101" pitchFamily="49" charset="-122"/>
              </a:rPr>
              <a:t>、算法效率的衡量方法和准则</a:t>
            </a:r>
            <a:endParaRPr lang="zh-CN" altLang="en-US" sz="4000" b="1" dirty="0">
              <a:latin typeface="楷体_GB2312" panose="02010609030101010101" pitchFamily="49" charset="-122"/>
              <a:ea typeface="楷体_GB2312" panose="02010609030101010101" pitchFamily="49" charset="-122"/>
            </a:endParaRPr>
          </a:p>
        </p:txBody>
      </p:sp>
      <p:sp>
        <p:nvSpPr>
          <p:cNvPr id="78851" name="Text Box 3"/>
          <p:cNvSpPr txBox="1"/>
          <p:nvPr/>
        </p:nvSpPr>
        <p:spPr>
          <a:xfrm>
            <a:off x="650875" y="1736725"/>
            <a:ext cx="6138219" cy="584775"/>
          </a:xfrm>
          <a:prstGeom prst="rect">
            <a:avLst/>
          </a:prstGeom>
          <a:noFill/>
          <a:ln w="9525">
            <a:noFill/>
          </a:ln>
        </p:spPr>
        <p:txBody>
          <a:bodyPr wrap="none">
            <a:spAutoFit/>
          </a:bodyPr>
          <a:lstStyle/>
          <a:p>
            <a:r>
              <a:rPr lang="zh-CN" altLang="en-US" sz="3200" dirty="0">
                <a:solidFill>
                  <a:schemeClr val="tx2"/>
                </a:solidFill>
                <a:latin typeface="楷体_GB2312" panose="02010609030101010101" pitchFamily="49" charset="-122"/>
                <a:ea typeface="楷体_GB2312" panose="02010609030101010101" pitchFamily="49" charset="-122"/>
              </a:rPr>
              <a:t>通常有</a:t>
            </a:r>
            <a:r>
              <a:rPr lang="zh-CN" altLang="en-US" sz="3200" b="1" dirty="0">
                <a:solidFill>
                  <a:schemeClr val="tx2"/>
                </a:solidFill>
                <a:latin typeface="楷体_GB2312" panose="02010609030101010101" pitchFamily="49" charset="-122"/>
                <a:ea typeface="楷体_GB2312" panose="02010609030101010101" pitchFamily="49" charset="-122"/>
              </a:rPr>
              <a:t>两种</a:t>
            </a:r>
            <a:r>
              <a:rPr lang="zh-CN" altLang="en-US" sz="3200" dirty="0">
                <a:solidFill>
                  <a:schemeClr val="tx2"/>
                </a:solidFill>
                <a:latin typeface="楷体_GB2312" panose="02010609030101010101" pitchFamily="49" charset="-122"/>
                <a:ea typeface="楷体_GB2312" panose="02010609030101010101" pitchFamily="49" charset="-122"/>
              </a:rPr>
              <a:t>衡量算法效率的方法</a:t>
            </a:r>
            <a:r>
              <a:rPr lang="en-US" altLang="zh-CN" sz="3200" dirty="0">
                <a:solidFill>
                  <a:schemeClr val="tx2"/>
                </a:solidFill>
                <a:latin typeface="楷体_GB2312" panose="02010609030101010101" pitchFamily="49" charset="-122"/>
                <a:ea typeface="楷体_GB2312" panose="02010609030101010101" pitchFamily="49" charset="-122"/>
              </a:rPr>
              <a:t>:</a:t>
            </a:r>
            <a:endParaRPr lang="en-US" altLang="zh-CN" sz="3200" dirty="0">
              <a:latin typeface="楷体_GB2312" panose="02010609030101010101" pitchFamily="49" charset="-122"/>
              <a:ea typeface="楷体_GB2312" panose="02010609030101010101" pitchFamily="49" charset="-122"/>
            </a:endParaRPr>
          </a:p>
        </p:txBody>
      </p:sp>
      <p:sp>
        <p:nvSpPr>
          <p:cNvPr id="78852" name="Text Box 4"/>
          <p:cNvSpPr txBox="1"/>
          <p:nvPr/>
        </p:nvSpPr>
        <p:spPr>
          <a:xfrm>
            <a:off x="0" y="2513734"/>
            <a:ext cx="7570788" cy="646331"/>
          </a:xfrm>
          <a:prstGeom prst="rect">
            <a:avLst/>
          </a:prstGeom>
          <a:noFill/>
          <a:ln w="9525">
            <a:noFill/>
          </a:ln>
        </p:spPr>
        <p:txBody>
          <a:bodyPr>
            <a:spAutoFit/>
          </a:bodyPr>
          <a:lstStyle/>
          <a:p>
            <a:r>
              <a:rPr lang="zh-CN" altLang="en-US" sz="3600" b="1" dirty="0">
                <a:latin typeface="楷体_GB2312" panose="02010609030101010101" pitchFamily="49" charset="-122"/>
                <a:ea typeface="楷体_GB2312" panose="02010609030101010101" pitchFamily="49" charset="-122"/>
              </a:rPr>
              <a:t>   </a:t>
            </a:r>
            <a:r>
              <a:rPr lang="zh-CN" altLang="en-US" sz="3600" b="1" dirty="0">
                <a:solidFill>
                  <a:srgbClr val="FF0000"/>
                </a:solidFill>
                <a:latin typeface="隶书" panose="02010509060101010101" pitchFamily="49" charset="-122"/>
                <a:ea typeface="隶书" panose="02010509060101010101" pitchFamily="49" charset="-122"/>
              </a:rPr>
              <a:t>事后统计法</a:t>
            </a:r>
            <a:endParaRPr lang="zh-CN" altLang="en-US" sz="3600" b="1" dirty="0">
              <a:solidFill>
                <a:srgbClr val="FF0000"/>
              </a:solidFill>
              <a:latin typeface="隶书" panose="02010509060101010101" pitchFamily="49" charset="-122"/>
              <a:ea typeface="隶书" panose="02010509060101010101" pitchFamily="49" charset="-122"/>
            </a:endParaRPr>
          </a:p>
        </p:txBody>
      </p:sp>
      <p:sp>
        <p:nvSpPr>
          <p:cNvPr id="78853" name="Text Box 5"/>
          <p:cNvSpPr txBox="1"/>
          <p:nvPr/>
        </p:nvSpPr>
        <p:spPr>
          <a:xfrm>
            <a:off x="827584" y="4575599"/>
            <a:ext cx="6648450" cy="646331"/>
          </a:xfrm>
          <a:prstGeom prst="rect">
            <a:avLst/>
          </a:prstGeom>
          <a:noFill/>
          <a:ln w="9525">
            <a:noFill/>
          </a:ln>
        </p:spPr>
        <p:txBody>
          <a:bodyPr>
            <a:spAutoFit/>
          </a:bodyPr>
          <a:lstStyle/>
          <a:p>
            <a:r>
              <a:rPr lang="zh-CN" altLang="en-US" sz="3600" b="1" dirty="0">
                <a:solidFill>
                  <a:srgbClr val="FF0000"/>
                </a:solidFill>
                <a:latin typeface="隶书" panose="02010509060101010101" pitchFamily="49" charset="-122"/>
                <a:ea typeface="隶书" panose="02010509060101010101" pitchFamily="49" charset="-122"/>
              </a:rPr>
              <a:t>事前分析估算法</a:t>
            </a:r>
            <a:endParaRPr lang="zh-CN" altLang="en-US" sz="3600" b="1" dirty="0">
              <a:solidFill>
                <a:srgbClr val="FF0000"/>
              </a:solidFill>
              <a:latin typeface="隶书" panose="02010509060101010101" pitchFamily="49" charset="-122"/>
              <a:ea typeface="隶书" panose="02010509060101010101" pitchFamily="49" charset="-122"/>
            </a:endParaRPr>
          </a:p>
        </p:txBody>
      </p:sp>
      <p:sp>
        <p:nvSpPr>
          <p:cNvPr id="78854" name="Text Box 6"/>
          <p:cNvSpPr txBox="1"/>
          <p:nvPr/>
        </p:nvSpPr>
        <p:spPr>
          <a:xfrm>
            <a:off x="666750" y="3244850"/>
            <a:ext cx="6135013" cy="1195712"/>
          </a:xfrm>
          <a:prstGeom prst="rect">
            <a:avLst/>
          </a:prstGeom>
          <a:noFill/>
          <a:ln w="9525">
            <a:noFill/>
          </a:ln>
        </p:spPr>
        <p:txBody>
          <a:bodyPr wrap="none">
            <a:spAutoFit/>
          </a:bodyPr>
          <a:lstStyle/>
          <a:p>
            <a:pPr>
              <a:lnSpc>
                <a:spcPct val="120000"/>
              </a:lnSpc>
            </a:pPr>
            <a:r>
              <a:rPr lang="zh-CN" altLang="en-US" sz="3200" b="1" dirty="0">
                <a:latin typeface="楷体_GB2312" panose="02010609030101010101" pitchFamily="49" charset="-122"/>
                <a:ea typeface="楷体_GB2312" panose="02010609030101010101" pitchFamily="49" charset="-122"/>
              </a:rPr>
              <a:t>缺点：</a:t>
            </a:r>
            <a:r>
              <a:rPr lang="en-US" altLang="zh-CN" sz="3200" dirty="0">
                <a:latin typeface="楷体_GB2312" panose="02010609030101010101" pitchFamily="49" charset="-122"/>
                <a:ea typeface="楷体_GB2312" panose="02010609030101010101" pitchFamily="49" charset="-122"/>
              </a:rPr>
              <a:t>1</a:t>
            </a:r>
            <a:r>
              <a:rPr lang="zh-CN" altLang="en-US" sz="3200" dirty="0">
                <a:latin typeface="楷体_GB2312" panose="02010609030101010101" pitchFamily="49" charset="-122"/>
                <a:ea typeface="楷体_GB2312" panose="02010609030101010101" pitchFamily="49" charset="-122"/>
              </a:rPr>
              <a:t>．必须执行程序</a:t>
            </a:r>
            <a:endParaRPr lang="zh-CN" altLang="en-US" sz="3200" dirty="0">
              <a:latin typeface="楷体_GB2312" panose="02010609030101010101" pitchFamily="49" charset="-122"/>
              <a:ea typeface="楷体_GB2312" panose="02010609030101010101" pitchFamily="49" charset="-122"/>
            </a:endParaRPr>
          </a:p>
          <a:p>
            <a:pPr>
              <a:lnSpc>
                <a:spcPct val="120000"/>
              </a:lnSpc>
            </a:pPr>
            <a:r>
              <a:rPr lang="zh-CN" altLang="en-US" sz="3200" dirty="0">
                <a:latin typeface="楷体_GB2312" panose="02010609030101010101" pitchFamily="49" charset="-122"/>
                <a:ea typeface="楷体_GB2312" panose="02010609030101010101" pitchFamily="49" charset="-122"/>
              </a:rPr>
              <a:t>      </a:t>
            </a:r>
            <a:r>
              <a:rPr lang="en-US" altLang="zh-CN" sz="3200" dirty="0">
                <a:latin typeface="楷体_GB2312" panose="02010609030101010101" pitchFamily="49" charset="-122"/>
                <a:ea typeface="楷体_GB2312" panose="02010609030101010101" pitchFamily="49" charset="-122"/>
              </a:rPr>
              <a:t>2</a:t>
            </a:r>
            <a:r>
              <a:rPr lang="zh-CN" altLang="en-US" sz="3200" dirty="0">
                <a:latin typeface="楷体_GB2312" panose="02010609030101010101" pitchFamily="49" charset="-122"/>
                <a:ea typeface="楷体_GB2312" panose="02010609030101010101" pitchFamily="49" charset="-122"/>
              </a:rPr>
              <a:t>．其它因素掩盖算法本质</a:t>
            </a:r>
            <a:endParaRPr lang="zh-CN" altLang="en-US" sz="3200" dirty="0">
              <a:latin typeface="楷体_GB2312" panose="02010609030101010101" pitchFamily="49" charset="-122"/>
              <a:ea typeface="楷体_GB2312" panose="02010609030101010101" pitchFamily="49" charset="-122"/>
            </a:endParaRPr>
          </a:p>
        </p:txBody>
      </p:sp>
      <p:sp>
        <p:nvSpPr>
          <p:cNvPr id="2" name="日期占位符 1"/>
          <p:cNvSpPr>
            <a:spLocks noGrp="1"/>
          </p:cNvSpPr>
          <p:nvPr>
            <p:ph type="dt" sz="half" idx="10"/>
          </p:nvPr>
        </p:nvSpPr>
        <p:spPr/>
        <p:txBody>
          <a:bodyPr/>
          <a:lstStyle/>
          <a:p>
            <a:r>
              <a:rPr lang="en-US" altLang="zh-CN"/>
              <a:t>Data Structures and algorithms</a:t>
            </a:r>
            <a:endParaRPr lang="zh-CN" altLang="en-US"/>
          </a:p>
        </p:txBody>
      </p:sp>
      <p:sp>
        <p:nvSpPr>
          <p:cNvPr id="3" name="页脚占位符 2"/>
          <p:cNvSpPr>
            <a:spLocks noGrp="1"/>
          </p:cNvSpPr>
          <p:nvPr>
            <p:ph type="ftr" sz="quarter" idx="11"/>
          </p:nvPr>
        </p:nvSpPr>
        <p:spPr/>
        <p:txBody>
          <a:bodyPr/>
          <a:lstStyle/>
          <a:p>
            <a:r>
              <a:rPr lang="en-US" altLang="zh-CN"/>
              <a:t>Software College Northeastern University</a:t>
            </a:r>
            <a:endParaRPr lang="zh-CN" altLang="en-US"/>
          </a:p>
        </p:txBody>
      </p:sp>
      <p:sp>
        <p:nvSpPr>
          <p:cNvPr id="4" name="灯片编号占位符 3"/>
          <p:cNvSpPr>
            <a:spLocks noGrp="1"/>
          </p:cNvSpPr>
          <p:nvPr>
            <p:ph type="sldNum" sz="quarter" idx="12"/>
          </p:nvPr>
        </p:nvSpPr>
        <p:spPr/>
        <p:txBody>
          <a:bodyPr/>
          <a:lstStyle/>
          <a:p>
            <a:fld id="{6E1C0148-8E4B-4B2F-95CE-20B4709700AE}" type="slidenum">
              <a:rPr lang="zh-CN" altLang="en-US" smtClean="0"/>
            </a:fld>
            <a:endParaRPr lang="zh-CN" altLang="en-US"/>
          </a:p>
        </p:txBody>
      </p:sp>
    </p:spTree>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内容占位符 2"/>
          <p:cNvSpPr>
            <a:spLocks noGrp="1"/>
          </p:cNvSpPr>
          <p:nvPr>
            <p:ph idx="1"/>
          </p:nvPr>
        </p:nvSpPr>
        <p:spPr/>
        <p:txBody>
          <a:bodyPr anchor="t"/>
          <a:lstStyle/>
          <a:p>
            <a:r>
              <a:rPr lang="zh-CN" altLang="en-US" dirty="0"/>
              <a:t>对同一个问题运行四种不同算法，所用时间依赖于：</a:t>
            </a:r>
            <a:r>
              <a:rPr lang="zh-CN" altLang="en-US" dirty="0">
                <a:solidFill>
                  <a:srgbClr val="C00000"/>
                </a:solidFill>
              </a:rPr>
              <a:t>算法，问题规模，语言，编译器和计算机</a:t>
            </a:r>
            <a:endParaRPr lang="zh-CN" altLang="en-US" dirty="0">
              <a:solidFill>
                <a:srgbClr val="C00000"/>
              </a:solidFill>
            </a:endParaRPr>
          </a:p>
        </p:txBody>
      </p:sp>
      <p:sp>
        <p:nvSpPr>
          <p:cNvPr id="71682" name="日期占位符 3"/>
          <p:cNvSpPr>
            <a:spLocks noGrp="1"/>
          </p:cNvSpPr>
          <p:nvPr>
            <p:ph type="dt" sz="half" idx="10"/>
          </p:nvPr>
        </p:nvSpPr>
        <p:spPr/>
        <p:txBody>
          <a:bodyPr wrap="square" lIns="91440" tIns="45720" rIns="91440" bIns="45720" anchor="t"/>
          <a:lstStyle>
            <a:lvl1pPr marL="0" lvl="0" indent="0" algn="l" defTabSz="914400" rtl="0" eaLnBrk="0" fontAlgn="base" latinLnBrk="0" hangingPunct="0">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indent="0">
              <a:spcBef>
                <a:spcPct val="50000"/>
              </a:spcBef>
            </a:pPr>
            <a:r>
              <a:rPr lang="en-US" altLang="zh-CN" sz="1400">
                <a:solidFill>
                  <a:schemeClr val="bg2"/>
                </a:solidFill>
              </a:rPr>
              <a:t>Data Structures and algorithms</a:t>
            </a:r>
            <a:endParaRPr lang="en-US" altLang="zh-CN" sz="1400">
              <a:solidFill>
                <a:schemeClr val="bg2"/>
              </a:solidFill>
            </a:endParaRPr>
          </a:p>
        </p:txBody>
      </p:sp>
      <p:sp>
        <p:nvSpPr>
          <p:cNvPr id="71683" name="页脚占位符 4"/>
          <p:cNvSpPr>
            <a:spLocks noGrp="1"/>
          </p:cNvSpPr>
          <p:nvPr>
            <p:ph type="ftr" sz="quarter" idx="11"/>
          </p:nvPr>
        </p:nvSpPr>
        <p:spPr/>
        <p:txBody>
          <a:bodyPr wrap="square" lIns="91440" tIns="45720" rIns="91440" bIns="45720" anchor="t"/>
          <a:lstStyle>
            <a:lvl1pPr marL="0" lvl="0" indent="0" algn="l" defTabSz="914400" rtl="0" eaLnBrk="0" fontAlgn="base" latinLnBrk="0" hangingPunct="0">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indent="0">
              <a:spcBef>
                <a:spcPct val="50000"/>
              </a:spcBef>
            </a:pPr>
            <a:r>
              <a:rPr lang="zh-CN" altLang="en-US" sz="1400">
                <a:solidFill>
                  <a:schemeClr val="bg2"/>
                </a:solidFill>
              </a:rPr>
              <a:t>Software College Northeastern University</a:t>
            </a:r>
            <a:endParaRPr lang="en-US" altLang="zh-CN" sz="1400">
              <a:solidFill>
                <a:schemeClr val="bg2"/>
              </a:solidFill>
            </a:endParaRPr>
          </a:p>
        </p:txBody>
      </p:sp>
      <p:sp>
        <p:nvSpPr>
          <p:cNvPr id="101382" name="幻灯片编号占位符 5"/>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spcBef>
                <a:spcPct val="20000"/>
              </a:spcBef>
              <a:buClr>
                <a:schemeClr val="accent2"/>
              </a:buClr>
              <a:buFont typeface="Monotype Sorts" pitchFamily="2" charset="2"/>
              <a:buChar char="z"/>
              <a:defRPr sz="3050">
                <a:solidFill>
                  <a:schemeClr val="tx1"/>
                </a:solidFill>
                <a:latin typeface="Tahoma" panose="020B0604030504040204" pitchFamily="34" charset="0"/>
                <a:ea typeface="宋体" panose="02010600030101010101" pitchFamily="2" charset="-122"/>
              </a:defRPr>
            </a:lvl1pPr>
            <a:lvl2pPr marL="707390" indent="-272415">
              <a:spcBef>
                <a:spcPct val="20000"/>
              </a:spcBef>
              <a:buClr>
                <a:schemeClr val="accent2"/>
              </a:buClr>
              <a:buFont typeface="Monotype Sorts" pitchFamily="2" charset="2"/>
              <a:buChar char="y"/>
              <a:defRPr sz="2665">
                <a:solidFill>
                  <a:schemeClr val="tx1"/>
                </a:solidFill>
                <a:latin typeface="Tahoma" panose="020B0604030504040204" pitchFamily="34" charset="0"/>
                <a:ea typeface="宋体" panose="02010600030101010101" pitchFamily="2" charset="-122"/>
              </a:defRPr>
            </a:lvl2pPr>
            <a:lvl3pPr marL="1088390" indent="-217805">
              <a:spcBef>
                <a:spcPct val="20000"/>
              </a:spcBef>
              <a:buClr>
                <a:schemeClr val="accent2"/>
              </a:buClr>
              <a:buFont typeface="Monotype Sorts" pitchFamily="2" charset="2"/>
              <a:buChar char="x"/>
              <a:defRPr sz="2285">
                <a:solidFill>
                  <a:schemeClr val="tx1"/>
                </a:solidFill>
                <a:latin typeface="Tahoma" panose="020B0604030504040204" pitchFamily="34" charset="0"/>
                <a:ea typeface="宋体" panose="02010600030101010101" pitchFamily="2" charset="-122"/>
              </a:defRPr>
            </a:lvl3pPr>
            <a:lvl4pPr marL="1524000" indent="-217805">
              <a:spcBef>
                <a:spcPct val="20000"/>
              </a:spcBef>
              <a:buClr>
                <a:schemeClr val="accent2"/>
              </a:buClr>
              <a:buChar char="•"/>
              <a:defRPr sz="1905">
                <a:solidFill>
                  <a:schemeClr val="tx1"/>
                </a:solidFill>
                <a:latin typeface="Tahoma" panose="020B0604030504040204" pitchFamily="34" charset="0"/>
                <a:ea typeface="宋体" panose="02010600030101010101" pitchFamily="2" charset="-122"/>
              </a:defRPr>
            </a:lvl4pPr>
            <a:lvl5pPr marL="1959610" indent="-217805">
              <a:spcBef>
                <a:spcPct val="20000"/>
              </a:spcBef>
              <a:buClr>
                <a:schemeClr val="accent2"/>
              </a:buClr>
              <a:buChar char="–"/>
              <a:defRPr sz="1905">
                <a:solidFill>
                  <a:schemeClr val="tx1"/>
                </a:solidFill>
                <a:latin typeface="Tahoma" panose="020B0604030504040204" pitchFamily="34" charset="0"/>
                <a:ea typeface="宋体" panose="02010600030101010101" pitchFamily="2" charset="-122"/>
              </a:defRPr>
            </a:lvl5pPr>
            <a:lvl6pPr marL="2395220" indent="-217805" eaLnBrk="0" fontAlgn="base" hangingPunct="0">
              <a:spcBef>
                <a:spcPct val="20000"/>
              </a:spcBef>
              <a:spcAft>
                <a:spcPct val="0"/>
              </a:spcAft>
              <a:buClr>
                <a:schemeClr val="accent2"/>
              </a:buClr>
              <a:buChar char="–"/>
              <a:defRPr sz="1905">
                <a:solidFill>
                  <a:schemeClr val="tx1"/>
                </a:solidFill>
                <a:latin typeface="Tahoma" panose="020B0604030504040204" pitchFamily="34" charset="0"/>
                <a:ea typeface="宋体" panose="02010600030101010101" pitchFamily="2" charset="-122"/>
              </a:defRPr>
            </a:lvl6pPr>
            <a:lvl7pPr marL="2830195" indent="-217805" eaLnBrk="0" fontAlgn="base" hangingPunct="0">
              <a:spcBef>
                <a:spcPct val="20000"/>
              </a:spcBef>
              <a:spcAft>
                <a:spcPct val="0"/>
              </a:spcAft>
              <a:buClr>
                <a:schemeClr val="accent2"/>
              </a:buClr>
              <a:buChar char="–"/>
              <a:defRPr sz="1905">
                <a:solidFill>
                  <a:schemeClr val="tx1"/>
                </a:solidFill>
                <a:latin typeface="Tahoma" panose="020B0604030504040204" pitchFamily="34" charset="0"/>
                <a:ea typeface="宋体" panose="02010600030101010101" pitchFamily="2" charset="-122"/>
              </a:defRPr>
            </a:lvl7pPr>
            <a:lvl8pPr marL="3265805" indent="-217805" eaLnBrk="0" fontAlgn="base" hangingPunct="0">
              <a:spcBef>
                <a:spcPct val="20000"/>
              </a:spcBef>
              <a:spcAft>
                <a:spcPct val="0"/>
              </a:spcAft>
              <a:buClr>
                <a:schemeClr val="accent2"/>
              </a:buClr>
              <a:buChar char="–"/>
              <a:defRPr sz="1905">
                <a:solidFill>
                  <a:schemeClr val="tx1"/>
                </a:solidFill>
                <a:latin typeface="Tahoma" panose="020B0604030504040204" pitchFamily="34" charset="0"/>
                <a:ea typeface="宋体" panose="02010600030101010101" pitchFamily="2" charset="-122"/>
              </a:defRPr>
            </a:lvl8pPr>
            <a:lvl9pPr marL="3701415" indent="-217805" eaLnBrk="0" fontAlgn="base" hangingPunct="0">
              <a:spcBef>
                <a:spcPct val="20000"/>
              </a:spcBef>
              <a:spcAft>
                <a:spcPct val="0"/>
              </a:spcAft>
              <a:buClr>
                <a:schemeClr val="accent2"/>
              </a:buClr>
              <a:buChar char="–"/>
              <a:defRPr sz="1905">
                <a:solidFill>
                  <a:schemeClr val="tx1"/>
                </a:solidFill>
                <a:latin typeface="Tahoma" panose="020B0604030504040204" pitchFamily="34" charset="0"/>
                <a:ea typeface="宋体" panose="02010600030101010101" pitchFamily="2" charset="-122"/>
              </a:defRPr>
            </a:lvl9pPr>
          </a:lstStyle>
          <a:p>
            <a:pPr fontAlgn="base">
              <a:spcBef>
                <a:spcPct val="50000"/>
              </a:spcBef>
              <a:buClrTx/>
              <a:buFontTx/>
              <a:buNone/>
            </a:pPr>
            <a:fld id="{11D47D73-64CF-4EB0-8DA2-FCDB4D23C7A4}" type="slidenum">
              <a:rPr lang="zh-CN" altLang="en-US" sz="1335" strike="noStrike" noProof="1">
                <a:solidFill>
                  <a:schemeClr val="bg2"/>
                </a:solidFill>
                <a:latin typeface="Comic Sans MS" panose="030F0702030302020204" pitchFamily="66" charset="0"/>
                <a:ea typeface="宋体" panose="02010600030101010101" pitchFamily="2" charset="-122"/>
                <a:cs typeface="+mn-cs"/>
              </a:rPr>
            </a:fld>
            <a:endParaRPr lang="en-US" altLang="zh-CN" sz="1335" strike="noStrike" noProof="1">
              <a:solidFill>
                <a:schemeClr val="bg2"/>
              </a:solidFill>
              <a:latin typeface="Comic Sans MS" panose="030F0702030302020204" pitchFamily="66" charset="0"/>
            </a:endParaRPr>
          </a:p>
        </p:txBody>
      </p:sp>
      <p:sp>
        <p:nvSpPr>
          <p:cNvPr id="2" name="标题 1"/>
          <p:cNvSpPr>
            <a:spLocks noGrp="1"/>
          </p:cNvSpPr>
          <p:nvPr>
            <p:ph type="title"/>
          </p:nvPr>
        </p:nvSpPr>
        <p:spPr/>
        <p:txBody>
          <a:bodyPr/>
          <a:lstStyle/>
          <a:p>
            <a:endParaRPr lang="zh-CN" altLang="en-US"/>
          </a:p>
        </p:txBody>
      </p:sp>
      <p:graphicFrame>
        <p:nvGraphicFramePr>
          <p:cNvPr id="7" name="表格 6"/>
          <p:cNvGraphicFramePr>
            <a:graphicFrameLocks noGrp="1"/>
          </p:cNvGraphicFramePr>
          <p:nvPr/>
        </p:nvGraphicFramePr>
        <p:xfrm>
          <a:off x="857250" y="2381250"/>
          <a:ext cx="7595870" cy="3413125"/>
        </p:xfrm>
        <a:graphic>
          <a:graphicData uri="http://schemas.openxmlformats.org/drawingml/2006/table">
            <a:tbl>
              <a:tblPr firstRow="1" bandRow="1">
                <a:tableStyleId>{5C22544A-7EE6-4342-B048-85BDC9FD1C3A}</a:tableStyleId>
              </a:tblPr>
              <a:tblGrid>
                <a:gridCol w="1383030"/>
                <a:gridCol w="1532255"/>
                <a:gridCol w="1440180"/>
                <a:gridCol w="1512570"/>
                <a:gridCol w="1727835"/>
              </a:tblGrid>
              <a:tr h="354330">
                <a:tc>
                  <a:txBody>
                    <a:bodyPr/>
                    <a:lstStyle/>
                    <a:p>
                      <a:r>
                        <a:rPr lang="en-US" altLang="zh-CN" sz="1700" dirty="0"/>
                        <a:t>second</a:t>
                      </a:r>
                      <a:endParaRPr lang="zh-CN" altLang="en-US" sz="1700" dirty="0"/>
                    </a:p>
                  </a:txBody>
                  <a:tcPr marL="87086" marR="87086" marT="43555" marB="43555"/>
                </a:tc>
                <a:tc>
                  <a:txBody>
                    <a:bodyPr/>
                    <a:lstStyle/>
                    <a:p>
                      <a:pPr algn="ctr"/>
                      <a:r>
                        <a:rPr lang="en-US" altLang="zh-CN" sz="1700" dirty="0"/>
                        <a:t>Algorithm1</a:t>
                      </a:r>
                      <a:endParaRPr lang="zh-CN" altLang="en-US" sz="1700" dirty="0"/>
                    </a:p>
                  </a:txBody>
                  <a:tcPr marL="87086" marR="87086" marT="43555" marB="43555"/>
                </a:tc>
                <a:tc>
                  <a:txBody>
                    <a:bodyPr/>
                    <a:lstStyle/>
                    <a:p>
                      <a:pPr algn="ctr"/>
                      <a:r>
                        <a:rPr lang="en-US" altLang="zh-CN" sz="1700" dirty="0"/>
                        <a:t>Algorithm2</a:t>
                      </a:r>
                      <a:endParaRPr lang="zh-CN" altLang="en-US" sz="1700" dirty="0"/>
                    </a:p>
                  </a:txBody>
                  <a:tcPr marL="87086" marR="87086" marT="43555" marB="43555"/>
                </a:tc>
                <a:tc>
                  <a:txBody>
                    <a:bodyPr/>
                    <a:lstStyle/>
                    <a:p>
                      <a:pPr algn="ctr"/>
                      <a:r>
                        <a:rPr lang="en-US" altLang="zh-CN" sz="1700" dirty="0"/>
                        <a:t>Algorithm3</a:t>
                      </a:r>
                      <a:endParaRPr lang="zh-CN" altLang="en-US" sz="1700" dirty="0"/>
                    </a:p>
                  </a:txBody>
                  <a:tcPr marL="87086" marR="87086" marT="43555" marB="43555"/>
                </a:tc>
                <a:tc>
                  <a:txBody>
                    <a:bodyPr/>
                    <a:lstStyle/>
                    <a:p>
                      <a:pPr algn="ctr"/>
                      <a:r>
                        <a:rPr lang="en-US" altLang="zh-CN" sz="1700" dirty="0"/>
                        <a:t>Algorithm4</a:t>
                      </a:r>
                      <a:endParaRPr lang="zh-CN" altLang="en-US" sz="1700" dirty="0"/>
                    </a:p>
                  </a:txBody>
                  <a:tcPr marL="87086" marR="87086" marT="43555" marB="43555"/>
                </a:tc>
              </a:tr>
              <a:tr h="611505">
                <a:tc>
                  <a:txBody>
                    <a:bodyPr/>
                    <a:lstStyle/>
                    <a:p>
                      <a:r>
                        <a:rPr lang="en-US" altLang="zh-CN" sz="1700" dirty="0"/>
                        <a:t>N=100</a:t>
                      </a:r>
                      <a:endParaRPr lang="zh-CN" altLang="en-US" sz="1700" dirty="0"/>
                    </a:p>
                  </a:txBody>
                  <a:tcPr marL="87086" marR="87086" marT="43555" marB="43555"/>
                </a:tc>
                <a:tc>
                  <a:txBody>
                    <a:bodyPr/>
                    <a:lstStyle/>
                    <a:p>
                      <a:r>
                        <a:rPr lang="en-US" altLang="zh-CN" sz="1700" dirty="0"/>
                        <a:t>0.000 159</a:t>
                      </a:r>
                      <a:endParaRPr lang="zh-CN" altLang="en-US" sz="1700" dirty="0"/>
                    </a:p>
                  </a:txBody>
                  <a:tcPr marL="87086" marR="87086" marT="43555" marB="43555"/>
                </a:tc>
                <a:tc>
                  <a:txBody>
                    <a:bodyPr/>
                    <a:lstStyle/>
                    <a:p>
                      <a:r>
                        <a:rPr lang="en-US" altLang="zh-CN" sz="1700" dirty="0"/>
                        <a:t>0.000 006</a:t>
                      </a:r>
                      <a:endParaRPr lang="zh-CN" altLang="en-US" sz="1700" dirty="0"/>
                    </a:p>
                  </a:txBody>
                  <a:tcPr marL="87086" marR="87086" marT="43555" marB="43555"/>
                </a:tc>
                <a:tc>
                  <a:txBody>
                    <a:bodyPr/>
                    <a:lstStyle/>
                    <a:p>
                      <a:r>
                        <a:rPr lang="en-US" altLang="zh-CN" sz="1700" dirty="0"/>
                        <a:t>0.000 005</a:t>
                      </a:r>
                      <a:endParaRPr lang="zh-CN" altLang="en-US" sz="1700" dirty="0"/>
                    </a:p>
                  </a:txBody>
                  <a:tcPr marL="87086" marR="87086" marT="43555" marB="43555"/>
                </a:tc>
                <a:tc>
                  <a:txBody>
                    <a:bodyPr/>
                    <a:lstStyle/>
                    <a:p>
                      <a:r>
                        <a:rPr lang="en-US" altLang="zh-CN" sz="1700" dirty="0"/>
                        <a:t>0.000 002</a:t>
                      </a:r>
                      <a:endParaRPr lang="zh-CN" altLang="en-US" sz="1700" dirty="0"/>
                    </a:p>
                  </a:txBody>
                  <a:tcPr marL="87086" marR="87086" marT="43555" marB="43555"/>
                </a:tc>
              </a:tr>
              <a:tr h="612140">
                <a:tc>
                  <a:txBody>
                    <a:bodyPr/>
                    <a:lstStyle/>
                    <a:p>
                      <a:r>
                        <a:rPr lang="en-US" altLang="zh-CN" sz="1700" dirty="0"/>
                        <a:t>N=1000</a:t>
                      </a:r>
                      <a:endParaRPr lang="zh-CN" altLang="en-US" sz="1700" dirty="0"/>
                    </a:p>
                  </a:txBody>
                  <a:tcPr marL="87086" marR="87086" marT="43555" marB="43555"/>
                </a:tc>
                <a:tc>
                  <a:txBody>
                    <a:bodyPr/>
                    <a:lstStyle/>
                    <a:p>
                      <a:r>
                        <a:rPr lang="en-US" altLang="zh-CN" sz="1700" dirty="0"/>
                        <a:t>0.095857</a:t>
                      </a:r>
                      <a:endParaRPr lang="zh-CN" altLang="en-US" sz="1700" dirty="0"/>
                    </a:p>
                  </a:txBody>
                  <a:tcPr marL="87086" marR="87086" marT="43555" marB="43555"/>
                </a:tc>
                <a:tc>
                  <a:txBody>
                    <a:bodyPr/>
                    <a:lstStyle/>
                    <a:p>
                      <a:r>
                        <a:rPr lang="en-US" altLang="zh-CN" sz="1700" dirty="0"/>
                        <a:t>0.000 371</a:t>
                      </a:r>
                      <a:endParaRPr lang="zh-CN" altLang="en-US" sz="1700" dirty="0"/>
                    </a:p>
                  </a:txBody>
                  <a:tcPr marL="87086" marR="87086" marT="43555" marB="43555"/>
                </a:tc>
                <a:tc>
                  <a:txBody>
                    <a:bodyPr/>
                    <a:lstStyle/>
                    <a:p>
                      <a:r>
                        <a:rPr lang="en-US" altLang="zh-CN" sz="1700" dirty="0"/>
                        <a:t>0.000 060</a:t>
                      </a:r>
                      <a:endParaRPr lang="zh-CN" altLang="en-US" sz="1700" dirty="0"/>
                    </a:p>
                  </a:txBody>
                  <a:tcPr marL="87086" marR="87086" marT="43555" marB="43555"/>
                </a:tc>
                <a:tc>
                  <a:txBody>
                    <a:bodyPr/>
                    <a:lstStyle/>
                    <a:p>
                      <a:r>
                        <a:rPr lang="en-US" altLang="zh-CN" sz="1700" dirty="0"/>
                        <a:t>0.000 022</a:t>
                      </a:r>
                      <a:endParaRPr lang="zh-CN" altLang="en-US" sz="1700" dirty="0"/>
                    </a:p>
                  </a:txBody>
                  <a:tcPr marL="87086" marR="87086" marT="43555" marB="43555"/>
                </a:tc>
              </a:tr>
              <a:tr h="611505">
                <a:tc>
                  <a:txBody>
                    <a:bodyPr/>
                    <a:lstStyle/>
                    <a:p>
                      <a:r>
                        <a:rPr lang="en-US" altLang="zh-CN" sz="1700" dirty="0"/>
                        <a:t>N=10000</a:t>
                      </a:r>
                      <a:endParaRPr lang="zh-CN" altLang="en-US" sz="1700" dirty="0"/>
                    </a:p>
                  </a:txBody>
                  <a:tcPr marL="87086" marR="87086" marT="43555" marB="43555"/>
                </a:tc>
                <a:tc>
                  <a:txBody>
                    <a:bodyPr/>
                    <a:lstStyle/>
                    <a:p>
                      <a:r>
                        <a:rPr lang="en-US" altLang="zh-CN" sz="1700" dirty="0"/>
                        <a:t>86.67</a:t>
                      </a:r>
                      <a:endParaRPr lang="zh-CN" altLang="en-US" sz="1700" dirty="0"/>
                    </a:p>
                  </a:txBody>
                  <a:tcPr marL="87086" marR="87086" marT="43555" marB="43555"/>
                </a:tc>
                <a:tc>
                  <a:txBody>
                    <a:bodyPr/>
                    <a:lstStyle/>
                    <a:p>
                      <a:r>
                        <a:rPr lang="en-US" altLang="zh-CN" sz="1700" dirty="0"/>
                        <a:t>0.033 322</a:t>
                      </a:r>
                      <a:endParaRPr lang="zh-CN" altLang="en-US" sz="1700" dirty="0"/>
                    </a:p>
                  </a:txBody>
                  <a:tcPr marL="87086" marR="87086" marT="43555" marB="43555"/>
                </a:tc>
                <a:tc>
                  <a:txBody>
                    <a:bodyPr/>
                    <a:lstStyle/>
                    <a:p>
                      <a:r>
                        <a:rPr lang="en-US" altLang="zh-CN" sz="1700" dirty="0"/>
                        <a:t>0.000 619</a:t>
                      </a:r>
                      <a:endParaRPr lang="zh-CN" altLang="en-US" sz="1700" dirty="0"/>
                    </a:p>
                  </a:txBody>
                  <a:tcPr marL="87086" marR="87086" marT="43555" marB="43555"/>
                </a:tc>
                <a:tc>
                  <a:txBody>
                    <a:bodyPr/>
                    <a:lstStyle/>
                    <a:p>
                      <a:r>
                        <a:rPr lang="en-US" altLang="zh-CN" sz="1700" dirty="0"/>
                        <a:t>0.000 222</a:t>
                      </a:r>
                      <a:endParaRPr lang="zh-CN" altLang="en-US" sz="1700" dirty="0"/>
                    </a:p>
                  </a:txBody>
                  <a:tcPr marL="87086" marR="87086" marT="43555" marB="43555"/>
                </a:tc>
              </a:tr>
              <a:tr h="612140">
                <a:tc>
                  <a:txBody>
                    <a:bodyPr/>
                    <a:lstStyle/>
                    <a:p>
                      <a:r>
                        <a:rPr lang="en-US" altLang="zh-CN" sz="1700" dirty="0"/>
                        <a:t>N=100000</a:t>
                      </a:r>
                      <a:endParaRPr lang="zh-CN" altLang="en-US" sz="1700" dirty="0"/>
                    </a:p>
                  </a:txBody>
                  <a:tcPr marL="87086" marR="87086" marT="43555" marB="43555"/>
                </a:tc>
                <a:tc>
                  <a:txBody>
                    <a:bodyPr/>
                    <a:lstStyle/>
                    <a:p>
                      <a:r>
                        <a:rPr lang="en-US" altLang="zh-CN" sz="1700" dirty="0"/>
                        <a:t>NA</a:t>
                      </a:r>
                      <a:endParaRPr lang="zh-CN" altLang="en-US" sz="1700" dirty="0"/>
                    </a:p>
                  </a:txBody>
                  <a:tcPr marL="87086" marR="87086" marT="43555" marB="43555"/>
                </a:tc>
                <a:tc>
                  <a:txBody>
                    <a:bodyPr/>
                    <a:lstStyle/>
                    <a:p>
                      <a:r>
                        <a:rPr lang="en-US" altLang="zh-CN" sz="1700" dirty="0"/>
                        <a:t>3.33</a:t>
                      </a:r>
                      <a:endParaRPr lang="zh-CN" altLang="en-US" sz="1700" dirty="0"/>
                    </a:p>
                  </a:txBody>
                  <a:tcPr marL="87086" marR="87086" marT="43555" marB="43555"/>
                </a:tc>
                <a:tc>
                  <a:txBody>
                    <a:bodyPr/>
                    <a:lstStyle/>
                    <a:p>
                      <a:r>
                        <a:rPr lang="en-US" altLang="zh-CN" sz="1700" dirty="0"/>
                        <a:t>0.006 700</a:t>
                      </a:r>
                      <a:endParaRPr lang="zh-CN" altLang="en-US" sz="1700" dirty="0"/>
                    </a:p>
                  </a:txBody>
                  <a:tcPr marL="87086" marR="87086" marT="43555" marB="43555"/>
                </a:tc>
                <a:tc>
                  <a:txBody>
                    <a:bodyPr/>
                    <a:lstStyle/>
                    <a:p>
                      <a:r>
                        <a:rPr lang="en-US" altLang="zh-CN" sz="1700" dirty="0"/>
                        <a:t>0.002 205</a:t>
                      </a:r>
                      <a:endParaRPr lang="zh-CN" altLang="en-US" sz="1700" dirty="0"/>
                    </a:p>
                  </a:txBody>
                  <a:tcPr marL="87086" marR="87086" marT="43555" marB="43555"/>
                </a:tc>
              </a:tr>
              <a:tr h="611505">
                <a:tc>
                  <a:txBody>
                    <a:bodyPr/>
                    <a:lstStyle/>
                    <a:p>
                      <a:r>
                        <a:rPr lang="en-US" altLang="zh-CN" sz="1700" dirty="0"/>
                        <a:t>N=1000000</a:t>
                      </a:r>
                      <a:endParaRPr lang="zh-CN" altLang="en-US" sz="1700" dirty="0"/>
                    </a:p>
                  </a:txBody>
                  <a:tcPr marL="87086" marR="87086" marT="43555" marB="43555"/>
                </a:tc>
                <a:tc>
                  <a:txBody>
                    <a:bodyPr/>
                    <a:lstStyle/>
                    <a:p>
                      <a:r>
                        <a:rPr lang="en-US" altLang="zh-CN" sz="1700" dirty="0"/>
                        <a:t>NA</a:t>
                      </a:r>
                      <a:endParaRPr lang="zh-CN" altLang="en-US" sz="1700" dirty="0"/>
                    </a:p>
                  </a:txBody>
                  <a:tcPr marL="87086" marR="87086" marT="43555" marB="43555"/>
                </a:tc>
                <a:tc>
                  <a:txBody>
                    <a:bodyPr/>
                    <a:lstStyle/>
                    <a:p>
                      <a:r>
                        <a:rPr lang="en-US" altLang="zh-CN" sz="1700" dirty="0"/>
                        <a:t>NA</a:t>
                      </a:r>
                      <a:endParaRPr lang="zh-CN" altLang="en-US" sz="1700" dirty="0"/>
                    </a:p>
                  </a:txBody>
                  <a:tcPr marL="87086" marR="87086" marT="43555" marB="43555"/>
                </a:tc>
                <a:tc>
                  <a:txBody>
                    <a:bodyPr/>
                    <a:lstStyle/>
                    <a:p>
                      <a:r>
                        <a:rPr lang="en-US" altLang="zh-CN" sz="1700" dirty="0"/>
                        <a:t>0.074 870</a:t>
                      </a:r>
                      <a:endParaRPr lang="zh-CN" altLang="en-US" sz="1700" dirty="0"/>
                    </a:p>
                  </a:txBody>
                  <a:tcPr marL="87086" marR="87086" marT="43555" marB="43555"/>
                </a:tc>
                <a:tc>
                  <a:txBody>
                    <a:bodyPr/>
                    <a:lstStyle/>
                    <a:p>
                      <a:r>
                        <a:rPr lang="en-US" altLang="zh-CN" sz="1700" dirty="0"/>
                        <a:t>0.022 711</a:t>
                      </a:r>
                      <a:endParaRPr lang="zh-CN" altLang="en-US" sz="1700" dirty="0"/>
                    </a:p>
                  </a:txBody>
                  <a:tcPr marL="87086" marR="87086" marT="43555" marB="43555"/>
                </a:tc>
              </a:tr>
            </a:tbl>
          </a:graphicData>
        </a:graphic>
      </p:graphicFrame>
    </p:spTree>
  </p:cSld>
  <p:clrMapOvr>
    <a:masterClrMapping/>
  </p:clrMapOvr>
  <p:transition spd="slow"/>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Text Box 2"/>
          <p:cNvSpPr txBox="1"/>
          <p:nvPr/>
        </p:nvSpPr>
        <p:spPr>
          <a:xfrm>
            <a:off x="1600200" y="0"/>
            <a:ext cx="6902450" cy="823913"/>
          </a:xfrm>
          <a:prstGeom prst="rect">
            <a:avLst/>
          </a:prstGeom>
          <a:noFill/>
          <a:ln w="9525">
            <a:noFill/>
          </a:ln>
        </p:spPr>
        <p:txBody>
          <a:bodyPr wrap="none">
            <a:spAutoFit/>
          </a:bodyPr>
          <a:lstStyle/>
          <a:p>
            <a:r>
              <a:rPr lang="zh-CN" altLang="en-US" sz="4800" dirty="0">
                <a:latin typeface="楷体_GB2312" panose="02010609030101010101" pitchFamily="49" charset="-122"/>
                <a:ea typeface="楷体_GB2312" panose="02010609030101010101" pitchFamily="49" charset="-122"/>
              </a:rPr>
              <a:t>算法执行</a:t>
            </a:r>
            <a:r>
              <a:rPr lang="zh-CN" altLang="en-US" sz="4800" b="1" dirty="0">
                <a:latin typeface="楷体_GB2312" panose="02010609030101010101" pitchFamily="49" charset="-122"/>
                <a:ea typeface="楷体_GB2312" panose="02010609030101010101" pitchFamily="49" charset="-122"/>
              </a:rPr>
              <a:t>时间</a:t>
            </a:r>
            <a:r>
              <a:rPr lang="zh-CN" altLang="en-US" sz="4800" dirty="0">
                <a:latin typeface="楷体_GB2312" panose="02010609030101010101" pitchFamily="49" charset="-122"/>
                <a:ea typeface="楷体_GB2312" panose="02010609030101010101" pitchFamily="49" charset="-122"/>
              </a:rPr>
              <a:t>相关的</a:t>
            </a:r>
            <a:r>
              <a:rPr lang="zh-CN" altLang="en-US" sz="4800" b="1" dirty="0">
                <a:latin typeface="楷体_GB2312" panose="02010609030101010101" pitchFamily="49" charset="-122"/>
                <a:ea typeface="楷体_GB2312" panose="02010609030101010101" pitchFamily="49" charset="-122"/>
              </a:rPr>
              <a:t>因素</a:t>
            </a:r>
            <a:endParaRPr lang="zh-CN" altLang="en-US" sz="2400" dirty="0">
              <a:latin typeface="楷体_GB2312" panose="02010609030101010101" pitchFamily="49" charset="-122"/>
              <a:ea typeface="楷体_GB2312" panose="02010609030101010101" pitchFamily="49" charset="-122"/>
            </a:endParaRPr>
          </a:p>
        </p:txBody>
      </p:sp>
      <p:sp>
        <p:nvSpPr>
          <p:cNvPr id="79875" name="Text Box 3"/>
          <p:cNvSpPr txBox="1"/>
          <p:nvPr/>
        </p:nvSpPr>
        <p:spPr>
          <a:xfrm>
            <a:off x="600075" y="1676400"/>
            <a:ext cx="7072313" cy="584775"/>
          </a:xfrm>
          <a:prstGeom prst="rect">
            <a:avLst/>
          </a:prstGeom>
          <a:noFill/>
          <a:ln w="9525">
            <a:noFill/>
          </a:ln>
        </p:spPr>
        <p:txBody>
          <a:bodyPr>
            <a:spAutoFit/>
          </a:bodyPr>
          <a:lstStyle/>
          <a:p>
            <a:r>
              <a:rPr lang="en-US" altLang="zh-CN" sz="3200" b="1" dirty="0">
                <a:latin typeface="楷体_GB2312" panose="02010609030101010101" pitchFamily="49" charset="-122"/>
                <a:ea typeface="楷体_GB2312" panose="02010609030101010101" pitchFamily="49" charset="-122"/>
              </a:rPr>
              <a:t>1</a:t>
            </a:r>
            <a:r>
              <a:rPr lang="zh-CN" altLang="en-US" sz="3200" b="1" dirty="0">
                <a:latin typeface="楷体_GB2312" panose="02010609030101010101" pitchFamily="49" charset="-122"/>
                <a:ea typeface="楷体_GB2312" panose="02010609030101010101" pitchFamily="49" charset="-122"/>
              </a:rPr>
              <a:t>．</a:t>
            </a:r>
            <a:r>
              <a:rPr lang="zh-CN" altLang="en-US" sz="3200" b="1" dirty="0">
                <a:solidFill>
                  <a:srgbClr val="FF0000"/>
                </a:solidFill>
                <a:latin typeface="楷体_GB2312" panose="02010609030101010101" pitchFamily="49" charset="-122"/>
                <a:ea typeface="楷体_GB2312" panose="02010609030101010101" pitchFamily="49" charset="-122"/>
              </a:rPr>
              <a:t>算法</a:t>
            </a:r>
            <a:r>
              <a:rPr lang="zh-CN" altLang="en-US" sz="3200" dirty="0">
                <a:solidFill>
                  <a:srgbClr val="FF0000"/>
                </a:solidFill>
                <a:latin typeface="楷体_GB2312" panose="02010609030101010101" pitchFamily="49" charset="-122"/>
                <a:ea typeface="楷体_GB2312" panose="02010609030101010101" pitchFamily="49" charset="-122"/>
              </a:rPr>
              <a:t>选用</a:t>
            </a:r>
            <a:r>
              <a:rPr lang="zh-CN" altLang="en-US" sz="3200" b="1" dirty="0">
                <a:solidFill>
                  <a:srgbClr val="FF0000"/>
                </a:solidFill>
                <a:latin typeface="楷体_GB2312" panose="02010609030101010101" pitchFamily="49" charset="-122"/>
                <a:ea typeface="楷体_GB2312" panose="02010609030101010101" pitchFamily="49" charset="-122"/>
              </a:rPr>
              <a:t>的策略</a:t>
            </a:r>
            <a:endParaRPr lang="zh-CN" altLang="en-US" sz="3200" b="1" dirty="0">
              <a:latin typeface="楷体_GB2312" panose="02010609030101010101" pitchFamily="49" charset="-122"/>
              <a:ea typeface="楷体_GB2312" panose="02010609030101010101" pitchFamily="49" charset="-122"/>
            </a:endParaRPr>
          </a:p>
        </p:txBody>
      </p:sp>
      <p:sp>
        <p:nvSpPr>
          <p:cNvPr id="79876" name="Text Box 4"/>
          <p:cNvSpPr txBox="1"/>
          <p:nvPr/>
        </p:nvSpPr>
        <p:spPr>
          <a:xfrm>
            <a:off x="595313" y="2514600"/>
            <a:ext cx="7508875" cy="584775"/>
          </a:xfrm>
          <a:prstGeom prst="rect">
            <a:avLst/>
          </a:prstGeom>
          <a:noFill/>
          <a:ln w="9525">
            <a:noFill/>
          </a:ln>
        </p:spPr>
        <p:txBody>
          <a:bodyPr>
            <a:spAutoFit/>
          </a:bodyPr>
          <a:lstStyle/>
          <a:p>
            <a:r>
              <a:rPr lang="en-US" altLang="zh-CN" sz="3200" b="1" dirty="0">
                <a:latin typeface="楷体_GB2312" panose="02010609030101010101" pitchFamily="49" charset="-122"/>
                <a:ea typeface="楷体_GB2312" panose="02010609030101010101" pitchFamily="49" charset="-122"/>
              </a:rPr>
              <a:t>2</a:t>
            </a:r>
            <a:r>
              <a:rPr lang="zh-CN" altLang="en-US" sz="3200" b="1" dirty="0">
                <a:latin typeface="楷体_GB2312" panose="02010609030101010101" pitchFamily="49" charset="-122"/>
                <a:ea typeface="楷体_GB2312" panose="02010609030101010101" pitchFamily="49" charset="-122"/>
              </a:rPr>
              <a:t>．</a:t>
            </a:r>
            <a:r>
              <a:rPr lang="zh-CN" altLang="en-US" sz="3200" b="1" dirty="0">
                <a:solidFill>
                  <a:srgbClr val="FF0000"/>
                </a:solidFill>
                <a:latin typeface="楷体_GB2312" panose="02010609030101010101" pitchFamily="49" charset="-122"/>
                <a:ea typeface="楷体_GB2312" panose="02010609030101010101" pitchFamily="49" charset="-122"/>
              </a:rPr>
              <a:t>问题的规模</a:t>
            </a:r>
            <a:endParaRPr lang="zh-CN" altLang="en-US" sz="3200" b="1" dirty="0">
              <a:latin typeface="楷体_GB2312" panose="02010609030101010101" pitchFamily="49" charset="-122"/>
              <a:ea typeface="楷体_GB2312" panose="02010609030101010101" pitchFamily="49" charset="-122"/>
            </a:endParaRPr>
          </a:p>
        </p:txBody>
      </p:sp>
      <p:sp>
        <p:nvSpPr>
          <p:cNvPr id="79877" name="Text Box 5"/>
          <p:cNvSpPr txBox="1"/>
          <p:nvPr/>
        </p:nvSpPr>
        <p:spPr>
          <a:xfrm>
            <a:off x="609600" y="3352800"/>
            <a:ext cx="8142288" cy="584775"/>
          </a:xfrm>
          <a:prstGeom prst="rect">
            <a:avLst/>
          </a:prstGeom>
          <a:noFill/>
          <a:ln w="9525">
            <a:noFill/>
          </a:ln>
        </p:spPr>
        <p:txBody>
          <a:bodyPr>
            <a:spAutoFit/>
          </a:bodyPr>
          <a:lstStyle/>
          <a:p>
            <a:r>
              <a:rPr lang="en-US" altLang="zh-CN" sz="3200" b="1" dirty="0">
                <a:latin typeface="楷体_GB2312" panose="02010609030101010101" pitchFamily="49" charset="-122"/>
                <a:ea typeface="楷体_GB2312" panose="02010609030101010101" pitchFamily="49" charset="-122"/>
              </a:rPr>
              <a:t>3</a:t>
            </a:r>
            <a:r>
              <a:rPr lang="zh-CN" altLang="en-US" sz="3200" b="1" dirty="0">
                <a:latin typeface="楷体_GB2312" panose="02010609030101010101" pitchFamily="49" charset="-122"/>
                <a:ea typeface="楷体_GB2312" panose="02010609030101010101" pitchFamily="49" charset="-122"/>
              </a:rPr>
              <a:t>．</a:t>
            </a:r>
            <a:r>
              <a:rPr lang="zh-CN" altLang="en-US" sz="3200" dirty="0">
                <a:latin typeface="楷体_GB2312" panose="02010609030101010101" pitchFamily="49" charset="-122"/>
                <a:ea typeface="楷体_GB2312" panose="02010609030101010101" pitchFamily="49" charset="-122"/>
              </a:rPr>
              <a:t>编写程序的</a:t>
            </a:r>
            <a:r>
              <a:rPr lang="zh-CN" altLang="en-US" sz="3200" b="1" dirty="0">
                <a:latin typeface="楷体_GB2312" panose="02010609030101010101" pitchFamily="49" charset="-122"/>
                <a:ea typeface="楷体_GB2312" panose="02010609030101010101" pitchFamily="49" charset="-122"/>
              </a:rPr>
              <a:t>语言</a:t>
            </a:r>
            <a:endParaRPr lang="zh-CN" altLang="en-US" sz="3200" dirty="0">
              <a:latin typeface="楷体_GB2312" panose="02010609030101010101" pitchFamily="49" charset="-122"/>
              <a:ea typeface="楷体_GB2312" panose="02010609030101010101" pitchFamily="49" charset="-122"/>
            </a:endParaRPr>
          </a:p>
        </p:txBody>
      </p:sp>
      <p:sp>
        <p:nvSpPr>
          <p:cNvPr id="79878" name="Text Box 6"/>
          <p:cNvSpPr txBox="1"/>
          <p:nvPr/>
        </p:nvSpPr>
        <p:spPr>
          <a:xfrm>
            <a:off x="593725" y="4191000"/>
            <a:ext cx="8626475" cy="584775"/>
          </a:xfrm>
          <a:prstGeom prst="rect">
            <a:avLst/>
          </a:prstGeom>
          <a:noFill/>
          <a:ln w="9525">
            <a:noFill/>
          </a:ln>
        </p:spPr>
        <p:txBody>
          <a:bodyPr>
            <a:spAutoFit/>
          </a:bodyPr>
          <a:lstStyle/>
          <a:p>
            <a:r>
              <a:rPr lang="en-US" altLang="zh-CN" sz="3200" b="1" dirty="0">
                <a:latin typeface="楷体_GB2312" panose="02010609030101010101" pitchFamily="49" charset="-122"/>
                <a:ea typeface="楷体_GB2312" panose="02010609030101010101" pitchFamily="49" charset="-122"/>
              </a:rPr>
              <a:t>4</a:t>
            </a:r>
            <a:r>
              <a:rPr lang="zh-CN" altLang="en-US" sz="3200" b="1" dirty="0">
                <a:latin typeface="楷体_GB2312" panose="02010609030101010101" pitchFamily="49" charset="-122"/>
                <a:ea typeface="楷体_GB2312" panose="02010609030101010101" pitchFamily="49" charset="-122"/>
              </a:rPr>
              <a:t>．编译</a:t>
            </a:r>
            <a:r>
              <a:rPr lang="zh-CN" altLang="en-US" sz="3200" dirty="0">
                <a:latin typeface="楷体_GB2312" panose="02010609030101010101" pitchFamily="49" charset="-122"/>
                <a:ea typeface="楷体_GB2312" panose="02010609030101010101" pitchFamily="49" charset="-122"/>
              </a:rPr>
              <a:t>程序产生的机器代码</a:t>
            </a:r>
            <a:r>
              <a:rPr lang="zh-CN" altLang="en-US" sz="3200" b="1" dirty="0">
                <a:latin typeface="楷体_GB2312" panose="02010609030101010101" pitchFamily="49" charset="-122"/>
                <a:ea typeface="楷体_GB2312" panose="02010609030101010101" pitchFamily="49" charset="-122"/>
              </a:rPr>
              <a:t>的质量</a:t>
            </a:r>
            <a:endParaRPr lang="zh-CN" altLang="en-US" sz="3200" dirty="0">
              <a:latin typeface="楷体_GB2312" panose="02010609030101010101" pitchFamily="49" charset="-122"/>
              <a:ea typeface="楷体_GB2312" panose="02010609030101010101" pitchFamily="49" charset="-122"/>
            </a:endParaRPr>
          </a:p>
        </p:txBody>
      </p:sp>
      <p:sp>
        <p:nvSpPr>
          <p:cNvPr id="79879" name="Text Box 7"/>
          <p:cNvSpPr txBox="1"/>
          <p:nvPr/>
        </p:nvSpPr>
        <p:spPr>
          <a:xfrm>
            <a:off x="641350" y="5105400"/>
            <a:ext cx="7894638" cy="584775"/>
          </a:xfrm>
          <a:prstGeom prst="rect">
            <a:avLst/>
          </a:prstGeom>
          <a:noFill/>
          <a:ln w="9525">
            <a:noFill/>
          </a:ln>
        </p:spPr>
        <p:txBody>
          <a:bodyPr>
            <a:spAutoFit/>
          </a:bodyPr>
          <a:lstStyle/>
          <a:p>
            <a:r>
              <a:rPr lang="en-US" altLang="zh-CN" sz="3200" b="1" dirty="0">
                <a:latin typeface="楷体_GB2312" panose="02010609030101010101" pitchFamily="49" charset="-122"/>
                <a:ea typeface="楷体_GB2312" panose="02010609030101010101" pitchFamily="49" charset="-122"/>
              </a:rPr>
              <a:t>5</a:t>
            </a:r>
            <a:r>
              <a:rPr lang="zh-CN" altLang="en-US" sz="3200" b="1" dirty="0">
                <a:latin typeface="楷体_GB2312" panose="02010609030101010101" pitchFamily="49" charset="-122"/>
                <a:ea typeface="楷体_GB2312" panose="02010609030101010101" pitchFamily="49" charset="-122"/>
              </a:rPr>
              <a:t>．计算机</a:t>
            </a:r>
            <a:r>
              <a:rPr lang="zh-CN" altLang="en-US" sz="3200" dirty="0">
                <a:latin typeface="楷体_GB2312" panose="02010609030101010101" pitchFamily="49" charset="-122"/>
                <a:ea typeface="楷体_GB2312" panose="02010609030101010101" pitchFamily="49" charset="-122"/>
              </a:rPr>
              <a:t>执行指令</a:t>
            </a:r>
            <a:r>
              <a:rPr lang="zh-CN" altLang="en-US" sz="3200" b="1" dirty="0">
                <a:latin typeface="楷体_GB2312" panose="02010609030101010101" pitchFamily="49" charset="-122"/>
                <a:ea typeface="楷体_GB2312" panose="02010609030101010101" pitchFamily="49" charset="-122"/>
              </a:rPr>
              <a:t>的速度</a:t>
            </a:r>
            <a:endParaRPr lang="zh-CN" altLang="en-US" sz="3200" dirty="0">
              <a:latin typeface="Times New Roman" panose="02020603050405020304" pitchFamily="18" charset="0"/>
            </a:endParaRPr>
          </a:p>
        </p:txBody>
      </p:sp>
      <p:sp>
        <p:nvSpPr>
          <p:cNvPr id="2" name="日期占位符 1"/>
          <p:cNvSpPr>
            <a:spLocks noGrp="1"/>
          </p:cNvSpPr>
          <p:nvPr>
            <p:ph type="dt" sz="half" idx="10"/>
          </p:nvPr>
        </p:nvSpPr>
        <p:spPr/>
        <p:txBody>
          <a:bodyPr/>
          <a:lstStyle/>
          <a:p>
            <a:r>
              <a:rPr lang="en-US" altLang="zh-CN"/>
              <a:t>Data Structures and algorithms</a:t>
            </a:r>
            <a:endParaRPr lang="zh-CN" altLang="en-US"/>
          </a:p>
        </p:txBody>
      </p:sp>
      <p:sp>
        <p:nvSpPr>
          <p:cNvPr id="3" name="页脚占位符 2"/>
          <p:cNvSpPr>
            <a:spLocks noGrp="1"/>
          </p:cNvSpPr>
          <p:nvPr>
            <p:ph type="ftr" sz="quarter" idx="11"/>
          </p:nvPr>
        </p:nvSpPr>
        <p:spPr/>
        <p:txBody>
          <a:bodyPr/>
          <a:lstStyle/>
          <a:p>
            <a:r>
              <a:rPr lang="en-US" altLang="zh-CN"/>
              <a:t>Software College Northeastern University</a:t>
            </a:r>
            <a:endParaRPr lang="zh-CN" altLang="en-US"/>
          </a:p>
        </p:txBody>
      </p:sp>
      <p:sp>
        <p:nvSpPr>
          <p:cNvPr id="4" name="灯片编号占位符 3"/>
          <p:cNvSpPr>
            <a:spLocks noGrp="1"/>
          </p:cNvSpPr>
          <p:nvPr>
            <p:ph type="sldNum" sz="quarter" idx="12"/>
          </p:nvPr>
        </p:nvSpPr>
        <p:spPr/>
        <p:txBody>
          <a:bodyPr/>
          <a:lstStyle/>
          <a:p>
            <a:fld id="{6E1C0148-8E4B-4B2F-95CE-20B4709700AE}" type="slidenum">
              <a:rPr lang="zh-CN" altLang="en-US" smtClean="0"/>
            </a:fld>
            <a:endParaRPr lang="zh-CN" altLang="en-US"/>
          </a:p>
        </p:txBody>
      </p:sp>
    </p:spTree>
  </p:cSld>
  <p:clrMapOvr>
    <a:masterClrMapping/>
  </p:clrMapOv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ext Box 2"/>
          <p:cNvSpPr txBox="1"/>
          <p:nvPr/>
        </p:nvSpPr>
        <p:spPr>
          <a:xfrm>
            <a:off x="405720" y="659065"/>
            <a:ext cx="7772400" cy="2746906"/>
          </a:xfrm>
          <a:prstGeom prst="rect">
            <a:avLst/>
          </a:prstGeom>
          <a:noFill/>
          <a:ln w="9525">
            <a:noFill/>
          </a:ln>
        </p:spPr>
        <p:txBody>
          <a:bodyPr>
            <a:spAutoFit/>
          </a:bodyPr>
          <a:lstStyle/>
          <a:p>
            <a:pPr>
              <a:lnSpc>
                <a:spcPct val="140000"/>
              </a:lnSpc>
            </a:pPr>
            <a:r>
              <a:rPr lang="zh-CN" altLang="en-US" sz="3200" dirty="0">
                <a:latin typeface="楷体_GB2312" panose="02010609030101010101" pitchFamily="49" charset="-122"/>
                <a:ea typeface="楷体_GB2312" panose="02010609030101010101" pitchFamily="49" charset="-122"/>
              </a:rPr>
              <a:t>   一个特定</a:t>
            </a:r>
            <a:r>
              <a:rPr lang="zh-CN" altLang="en-US" sz="3200" b="1" dirty="0">
                <a:solidFill>
                  <a:srgbClr val="9900CC"/>
                </a:solidFill>
                <a:latin typeface="楷体_GB2312" panose="02010609030101010101" pitchFamily="49" charset="-122"/>
                <a:ea typeface="楷体_GB2312" panose="02010609030101010101" pitchFamily="49" charset="-122"/>
              </a:rPr>
              <a:t>算法的</a:t>
            </a:r>
            <a:r>
              <a:rPr lang="zh-CN" altLang="en-US" sz="3200" b="1" dirty="0">
                <a:solidFill>
                  <a:srgbClr val="9900CC"/>
                </a:solidFill>
                <a:latin typeface="Times New Roman" panose="02020603050405020304" pitchFamily="18" charset="0"/>
                <a:ea typeface="楷体_GB2312" panose="02010609030101010101" pitchFamily="49" charset="-122"/>
              </a:rPr>
              <a:t>“</a:t>
            </a:r>
            <a:r>
              <a:rPr lang="zh-CN" altLang="en-US" sz="3200" b="1" dirty="0">
                <a:solidFill>
                  <a:srgbClr val="9900CC"/>
                </a:solidFill>
                <a:latin typeface="楷体_GB2312" panose="02010609030101010101" pitchFamily="49" charset="-122"/>
                <a:ea typeface="楷体_GB2312" panose="02010609030101010101" pitchFamily="49" charset="-122"/>
              </a:rPr>
              <a:t>运行工作量</a:t>
            </a:r>
            <a:r>
              <a:rPr lang="zh-CN" altLang="en-US" sz="3200" b="1" dirty="0">
                <a:latin typeface="Times New Roman" panose="02020603050405020304" pitchFamily="18" charset="0"/>
                <a:ea typeface="楷体_GB2312" panose="02010609030101010101" pitchFamily="49" charset="-122"/>
              </a:rPr>
              <a:t>”</a:t>
            </a:r>
            <a:endParaRPr lang="zh-CN" altLang="en-US" sz="3200" b="1" dirty="0">
              <a:latin typeface="楷体_GB2312" panose="02010609030101010101" pitchFamily="49" charset="-122"/>
              <a:ea typeface="楷体_GB2312" panose="02010609030101010101" pitchFamily="49" charset="-122"/>
            </a:endParaRPr>
          </a:p>
          <a:p>
            <a:pPr>
              <a:lnSpc>
                <a:spcPct val="140000"/>
              </a:lnSpc>
            </a:pPr>
            <a:r>
              <a:rPr lang="zh-CN" altLang="en-US" sz="3200" dirty="0">
                <a:latin typeface="楷体_GB2312" panose="02010609030101010101" pitchFamily="49" charset="-122"/>
                <a:ea typeface="楷体_GB2312" panose="02010609030101010101" pitchFamily="49" charset="-122"/>
              </a:rPr>
              <a:t>的大小，只依赖于</a:t>
            </a:r>
            <a:r>
              <a:rPr lang="zh-CN" altLang="en-US" sz="3200" dirty="0">
                <a:solidFill>
                  <a:srgbClr val="FF0000"/>
                </a:solidFill>
                <a:latin typeface="楷体_GB2312" panose="02010609030101010101" pitchFamily="49" charset="-122"/>
                <a:ea typeface="楷体_GB2312" panose="02010609030101010101" pitchFamily="49" charset="-122"/>
              </a:rPr>
              <a:t>问题的规模</a:t>
            </a:r>
            <a:r>
              <a:rPr lang="zh-CN" altLang="en-US" sz="3200" dirty="0">
                <a:latin typeface="楷体_GB2312" panose="02010609030101010101" pitchFamily="49" charset="-122"/>
                <a:ea typeface="楷体_GB2312" panose="02010609030101010101" pitchFamily="49" charset="-122"/>
              </a:rPr>
              <a:t>（通常用整数量</a:t>
            </a:r>
            <a:r>
              <a:rPr lang="en-US" altLang="zh-CN" sz="3200" dirty="0">
                <a:solidFill>
                  <a:srgbClr val="9900CC"/>
                </a:solidFill>
                <a:latin typeface="Times New Roman" panose="02020603050405020304" pitchFamily="18" charset="0"/>
                <a:ea typeface="楷体_GB2312" panose="02010609030101010101" pitchFamily="49" charset="-122"/>
              </a:rPr>
              <a:t>n</a:t>
            </a:r>
            <a:r>
              <a:rPr lang="zh-CN" altLang="en-US" sz="3200" dirty="0">
                <a:latin typeface="楷体_GB2312" panose="02010609030101010101" pitchFamily="49" charset="-122"/>
                <a:ea typeface="楷体_GB2312" panose="02010609030101010101" pitchFamily="49" charset="-122"/>
              </a:rPr>
              <a:t>表示），或者说，</a:t>
            </a:r>
            <a:r>
              <a:rPr lang="zh-CN" altLang="en-US" sz="3200" dirty="0">
                <a:solidFill>
                  <a:srgbClr val="9900CC"/>
                </a:solidFill>
                <a:latin typeface="楷体_GB2312" panose="02010609030101010101" pitchFamily="49" charset="-122"/>
                <a:ea typeface="楷体_GB2312" panose="02010609030101010101" pitchFamily="49" charset="-122"/>
              </a:rPr>
              <a:t>它</a:t>
            </a:r>
            <a:r>
              <a:rPr lang="zh-CN" altLang="en-US" sz="3200" b="1" dirty="0">
                <a:solidFill>
                  <a:srgbClr val="9900CC"/>
                </a:solidFill>
                <a:latin typeface="楷体_GB2312" panose="02010609030101010101" pitchFamily="49" charset="-122"/>
                <a:ea typeface="楷体_GB2312" panose="02010609030101010101" pitchFamily="49" charset="-122"/>
              </a:rPr>
              <a:t>是问题规模的函数</a:t>
            </a:r>
            <a:r>
              <a:rPr lang="zh-CN" altLang="en-US" sz="3200" dirty="0">
                <a:solidFill>
                  <a:srgbClr val="9900CC"/>
                </a:solidFill>
                <a:latin typeface="楷体_GB2312" panose="02010609030101010101" pitchFamily="49" charset="-122"/>
                <a:ea typeface="楷体_GB2312" panose="02010609030101010101" pitchFamily="49" charset="-122"/>
              </a:rPr>
              <a:t>。</a:t>
            </a:r>
            <a:endParaRPr lang="zh-CN" altLang="en-US" sz="3200" dirty="0">
              <a:solidFill>
                <a:srgbClr val="9900CC"/>
              </a:solidFill>
              <a:latin typeface="楷体_GB2312" panose="02010609030101010101" pitchFamily="49" charset="-122"/>
              <a:ea typeface="楷体_GB2312" panose="02010609030101010101" pitchFamily="49" charset="-122"/>
            </a:endParaRPr>
          </a:p>
        </p:txBody>
      </p:sp>
      <p:sp>
        <p:nvSpPr>
          <p:cNvPr id="80899" name="Rectangle 3"/>
          <p:cNvSpPr/>
          <p:nvPr/>
        </p:nvSpPr>
        <p:spPr>
          <a:xfrm>
            <a:off x="190500" y="3589569"/>
            <a:ext cx="8763000" cy="2554545"/>
          </a:xfrm>
          <a:prstGeom prst="rect">
            <a:avLst/>
          </a:prstGeom>
          <a:noFill/>
          <a:ln w="9525">
            <a:noFill/>
          </a:ln>
        </p:spPr>
        <p:txBody>
          <a:bodyPr>
            <a:spAutoFit/>
          </a:bodyPr>
          <a:lstStyle/>
          <a:p>
            <a:r>
              <a:rPr lang="zh-CN" altLang="en-US" sz="3200" dirty="0">
                <a:latin typeface="楷体_GB2312" panose="02010609030101010101" pitchFamily="49" charset="-122"/>
                <a:ea typeface="楷体_GB2312" panose="02010609030101010101" pitchFamily="49" charset="-122"/>
              </a:rPr>
              <a:t> 例 问题规模通常可以从问题描述中找到</a:t>
            </a:r>
            <a:endParaRPr lang="zh-CN" altLang="en-US" sz="3200" dirty="0">
              <a:latin typeface="楷体_GB2312" panose="02010609030101010101" pitchFamily="49" charset="-122"/>
              <a:ea typeface="楷体_GB2312" panose="02010609030101010101" pitchFamily="49" charset="-122"/>
            </a:endParaRPr>
          </a:p>
          <a:p>
            <a:r>
              <a:rPr lang="zh-CN" altLang="en-US" sz="3200" dirty="0">
                <a:latin typeface="楷体_GB2312" panose="02010609030101010101" pitchFamily="49" charset="-122"/>
                <a:ea typeface="楷体_GB2312" panose="02010609030101010101" pitchFamily="49" charset="-122"/>
              </a:rPr>
              <a:t>（</a:t>
            </a:r>
            <a:r>
              <a:rPr lang="en-US" altLang="zh-CN" sz="3200" dirty="0">
                <a:latin typeface="楷体_GB2312" panose="02010609030101010101" pitchFamily="49" charset="-122"/>
                <a:ea typeface="楷体_GB2312" panose="02010609030101010101" pitchFamily="49" charset="-122"/>
              </a:rPr>
              <a:t>1</a:t>
            </a:r>
            <a:r>
              <a:rPr lang="zh-CN" altLang="en-US" sz="3200" dirty="0">
                <a:latin typeface="楷体_GB2312" panose="02010609030101010101" pitchFamily="49" charset="-122"/>
                <a:ea typeface="楷体_GB2312" panose="02010609030101010101" pitchFamily="49" charset="-122"/>
              </a:rPr>
              <a:t>）在一个具有</a:t>
            </a:r>
            <a:r>
              <a:rPr lang="en-US" altLang="zh-CN" sz="3200" dirty="0">
                <a:latin typeface="楷体_GB2312" panose="02010609030101010101" pitchFamily="49" charset="-122"/>
                <a:ea typeface="楷体_GB2312" panose="02010609030101010101" pitchFamily="49" charset="-122"/>
              </a:rPr>
              <a:t>n</a:t>
            </a:r>
            <a:r>
              <a:rPr lang="zh-CN" altLang="en-US" sz="3200" dirty="0">
                <a:latin typeface="楷体_GB2312" panose="02010609030101010101" pitchFamily="49" charset="-122"/>
                <a:ea typeface="楷体_GB2312" panose="02010609030101010101" pitchFamily="49" charset="-122"/>
              </a:rPr>
              <a:t>个学生信息的文件中查找某个名叫张明的学生，该问题规模为</a:t>
            </a:r>
            <a:r>
              <a:rPr lang="en-US" altLang="zh-CN" sz="3200" dirty="0">
                <a:latin typeface="楷体_GB2312" panose="02010609030101010101" pitchFamily="49" charset="-122"/>
                <a:ea typeface="楷体_GB2312" panose="02010609030101010101" pitchFamily="49" charset="-122"/>
              </a:rPr>
              <a:t>n</a:t>
            </a:r>
            <a:r>
              <a:rPr lang="zh-CN" altLang="en-US" sz="3200" dirty="0">
                <a:latin typeface="楷体_GB2312" panose="02010609030101010101" pitchFamily="49" charset="-122"/>
                <a:ea typeface="楷体_GB2312" panose="02010609030101010101" pitchFamily="49" charset="-122"/>
              </a:rPr>
              <a:t>；</a:t>
            </a:r>
            <a:endParaRPr lang="zh-CN" altLang="en-US" sz="3200" dirty="0">
              <a:latin typeface="楷体_GB2312" panose="02010609030101010101" pitchFamily="49" charset="-122"/>
              <a:ea typeface="楷体_GB2312" panose="02010609030101010101" pitchFamily="49" charset="-122"/>
            </a:endParaRPr>
          </a:p>
          <a:p>
            <a:r>
              <a:rPr lang="zh-CN" altLang="en-US" sz="3200" dirty="0">
                <a:latin typeface="楷体_GB2312" panose="02010609030101010101" pitchFamily="49" charset="-122"/>
                <a:ea typeface="楷体_GB2312" panose="02010609030101010101" pitchFamily="49" charset="-122"/>
              </a:rPr>
              <a:t>（</a:t>
            </a:r>
            <a:r>
              <a:rPr lang="en-US" altLang="zh-CN" sz="3200" dirty="0">
                <a:latin typeface="楷体_GB2312" panose="02010609030101010101" pitchFamily="49" charset="-122"/>
                <a:ea typeface="楷体_GB2312" panose="02010609030101010101" pitchFamily="49" charset="-122"/>
              </a:rPr>
              <a:t>2</a:t>
            </a:r>
            <a:r>
              <a:rPr lang="zh-CN" altLang="en-US" sz="3200" dirty="0">
                <a:latin typeface="楷体_GB2312" panose="02010609030101010101" pitchFamily="49" charset="-122"/>
                <a:ea typeface="楷体_GB2312" panose="02010609030101010101" pitchFamily="49" charset="-122"/>
              </a:rPr>
              <a:t>）对一个具有</a:t>
            </a:r>
            <a:r>
              <a:rPr lang="en-US" altLang="zh-CN" sz="3200" dirty="0">
                <a:latin typeface="楷体_GB2312" panose="02010609030101010101" pitchFamily="49" charset="-122"/>
                <a:ea typeface="楷体_GB2312" panose="02010609030101010101" pitchFamily="49" charset="-122"/>
              </a:rPr>
              <a:t>n</a:t>
            </a:r>
            <a:r>
              <a:rPr lang="zh-CN" altLang="en-US" sz="3200" dirty="0">
                <a:latin typeface="楷体_GB2312" panose="02010609030101010101" pitchFamily="49" charset="-122"/>
                <a:ea typeface="楷体_GB2312" panose="02010609030101010101" pitchFamily="49" charset="-122"/>
              </a:rPr>
              <a:t>个整数组成的数组进行排序，其问题规模为</a:t>
            </a:r>
            <a:r>
              <a:rPr lang="en-US" altLang="zh-CN" sz="3200" dirty="0">
                <a:latin typeface="楷体_GB2312" panose="02010609030101010101" pitchFamily="49" charset="-122"/>
                <a:ea typeface="楷体_GB2312" panose="02010609030101010101" pitchFamily="49" charset="-122"/>
              </a:rPr>
              <a:t>n</a:t>
            </a:r>
            <a:r>
              <a:rPr lang="zh-CN" altLang="en-US" sz="3200" dirty="0">
                <a:latin typeface="楷体_GB2312" panose="02010609030101010101" pitchFamily="49" charset="-122"/>
                <a:ea typeface="楷体_GB2312" panose="02010609030101010101" pitchFamily="49" charset="-122"/>
              </a:rPr>
              <a:t>。</a:t>
            </a:r>
            <a:endParaRPr lang="zh-CN" altLang="en-US" sz="3200" dirty="0">
              <a:latin typeface="楷体_GB2312" panose="02010609030101010101" pitchFamily="49" charset="-122"/>
              <a:ea typeface="楷体_GB2312" panose="02010609030101010101" pitchFamily="49" charset="-122"/>
            </a:endParaRPr>
          </a:p>
        </p:txBody>
      </p:sp>
      <p:sp>
        <p:nvSpPr>
          <p:cNvPr id="2" name="日期占位符 1"/>
          <p:cNvSpPr>
            <a:spLocks noGrp="1"/>
          </p:cNvSpPr>
          <p:nvPr>
            <p:ph type="dt" sz="half" idx="10"/>
          </p:nvPr>
        </p:nvSpPr>
        <p:spPr/>
        <p:txBody>
          <a:bodyPr/>
          <a:lstStyle/>
          <a:p>
            <a:r>
              <a:rPr lang="en-US" altLang="zh-CN"/>
              <a:t>Data Structures and algorithms</a:t>
            </a:r>
            <a:endParaRPr lang="zh-CN" altLang="en-US"/>
          </a:p>
        </p:txBody>
      </p:sp>
      <p:sp>
        <p:nvSpPr>
          <p:cNvPr id="3" name="页脚占位符 2"/>
          <p:cNvSpPr>
            <a:spLocks noGrp="1"/>
          </p:cNvSpPr>
          <p:nvPr>
            <p:ph type="ftr" sz="quarter" idx="11"/>
          </p:nvPr>
        </p:nvSpPr>
        <p:spPr/>
        <p:txBody>
          <a:bodyPr/>
          <a:lstStyle/>
          <a:p>
            <a:r>
              <a:rPr lang="en-US" altLang="zh-CN"/>
              <a:t>Software College Northeastern University</a:t>
            </a:r>
            <a:endParaRPr lang="zh-CN" altLang="en-US"/>
          </a:p>
        </p:txBody>
      </p:sp>
      <p:sp>
        <p:nvSpPr>
          <p:cNvPr id="4" name="灯片编号占位符 3"/>
          <p:cNvSpPr>
            <a:spLocks noGrp="1"/>
          </p:cNvSpPr>
          <p:nvPr>
            <p:ph type="sldNum" sz="quarter" idx="12"/>
          </p:nvPr>
        </p:nvSpPr>
        <p:spPr/>
        <p:txBody>
          <a:bodyPr/>
          <a:lstStyle/>
          <a:p>
            <a:fld id="{6E1C0148-8E4B-4B2F-95CE-20B4709700AE}" type="slidenum">
              <a:rPr lang="zh-CN" altLang="en-US" smtClean="0"/>
            </a:fld>
            <a:endParaRPr lang="zh-CN" altLang="en-US"/>
          </a:p>
        </p:txBody>
      </p:sp>
    </p:spTree>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内容占位符 2"/>
          <p:cNvSpPr>
            <a:spLocks noGrp="1"/>
          </p:cNvSpPr>
          <p:nvPr>
            <p:ph idx="1"/>
          </p:nvPr>
        </p:nvSpPr>
        <p:spPr/>
        <p:txBody>
          <a:bodyPr anchor="t"/>
          <a:lstStyle/>
          <a:p>
            <a:pPr marL="488950" indent="-488950">
              <a:spcBef>
                <a:spcPct val="0"/>
              </a:spcBef>
              <a:buClrTx/>
              <a:buAutoNum type="arabicPeriod"/>
            </a:pPr>
            <a:r>
              <a:rPr lang="en-US" altLang="zh-CN" dirty="0"/>
              <a:t>T1(N) = c</a:t>
            </a:r>
            <a:r>
              <a:rPr lang="en-US" altLang="zh-CN" baseline="-25000" dirty="0"/>
              <a:t>1</a:t>
            </a:r>
            <a:r>
              <a:rPr lang="en-US" altLang="zh-CN" dirty="0"/>
              <a:t> N</a:t>
            </a:r>
            <a:r>
              <a:rPr lang="en-US" altLang="zh-CN" baseline="30000" dirty="0"/>
              <a:t>3</a:t>
            </a:r>
            <a:r>
              <a:rPr lang="en-US" altLang="zh-CN" dirty="0"/>
              <a:t>+ ..</a:t>
            </a:r>
            <a:endParaRPr lang="en-US" altLang="zh-CN" dirty="0"/>
          </a:p>
          <a:p>
            <a:pPr marL="488950" indent="-488950">
              <a:spcBef>
                <a:spcPct val="0"/>
              </a:spcBef>
              <a:buClrTx/>
              <a:buAutoNum type="arabicPeriod"/>
            </a:pPr>
            <a:r>
              <a:rPr lang="en-US" altLang="zh-CN" dirty="0"/>
              <a:t>T2(N) = c</a:t>
            </a:r>
            <a:r>
              <a:rPr lang="en-US" altLang="zh-CN" baseline="-25000" dirty="0"/>
              <a:t>2</a:t>
            </a:r>
            <a:r>
              <a:rPr lang="en-US" altLang="zh-CN" dirty="0"/>
              <a:t> N</a:t>
            </a:r>
            <a:r>
              <a:rPr lang="en-US" altLang="zh-CN" baseline="30000" dirty="0"/>
              <a:t>2 </a:t>
            </a:r>
            <a:r>
              <a:rPr lang="en-US" altLang="zh-CN" dirty="0"/>
              <a:t>+ ..</a:t>
            </a:r>
            <a:endParaRPr lang="en-US" altLang="zh-CN" dirty="0"/>
          </a:p>
          <a:p>
            <a:pPr marL="488950" indent="-488950">
              <a:spcBef>
                <a:spcPct val="0"/>
              </a:spcBef>
              <a:buClrTx/>
              <a:buAutoNum type="arabicPeriod"/>
            </a:pPr>
            <a:r>
              <a:rPr lang="en-US" altLang="zh-CN" dirty="0"/>
              <a:t>T3(N) = c</a:t>
            </a:r>
            <a:r>
              <a:rPr lang="en-US" altLang="zh-CN" baseline="-25000" dirty="0"/>
              <a:t>3 </a:t>
            </a:r>
            <a:r>
              <a:rPr lang="en-US" altLang="zh-CN" dirty="0"/>
              <a:t>N log N+..</a:t>
            </a:r>
            <a:endParaRPr lang="en-US" altLang="zh-CN" dirty="0"/>
          </a:p>
          <a:p>
            <a:pPr marL="488950" indent="-488950">
              <a:spcBef>
                <a:spcPct val="0"/>
              </a:spcBef>
              <a:buClrTx/>
              <a:buAutoNum type="arabicPeriod"/>
            </a:pPr>
            <a:r>
              <a:rPr lang="en-US" altLang="zh-CN" dirty="0"/>
              <a:t>T4(N) = c</a:t>
            </a:r>
            <a:r>
              <a:rPr lang="en-US" altLang="zh-CN" baseline="-25000" dirty="0"/>
              <a:t>4</a:t>
            </a:r>
            <a:r>
              <a:rPr lang="en-US" altLang="zh-CN" dirty="0"/>
              <a:t>N + d</a:t>
            </a:r>
            <a:endParaRPr lang="zh-CN" altLang="en-US" dirty="0"/>
          </a:p>
        </p:txBody>
      </p:sp>
      <p:sp>
        <p:nvSpPr>
          <p:cNvPr id="74754" name="日期占位符 3"/>
          <p:cNvSpPr>
            <a:spLocks noGrp="1"/>
          </p:cNvSpPr>
          <p:nvPr>
            <p:ph type="dt" sz="half" idx="10"/>
          </p:nvPr>
        </p:nvSpPr>
        <p:spPr/>
        <p:txBody>
          <a:bodyPr wrap="square" lIns="91440" tIns="45720" rIns="91440" bIns="45720" anchor="t"/>
          <a:lstStyle>
            <a:lvl1pPr marL="0" lvl="0" indent="0" algn="l" defTabSz="914400" rtl="0" eaLnBrk="0" fontAlgn="base" latinLnBrk="0" hangingPunct="0">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indent="0">
              <a:spcBef>
                <a:spcPct val="50000"/>
              </a:spcBef>
            </a:pPr>
            <a:r>
              <a:rPr lang="en-US" altLang="zh-CN" sz="1400">
                <a:solidFill>
                  <a:schemeClr val="bg2"/>
                </a:solidFill>
              </a:rPr>
              <a:t>Data Structures and algorithms</a:t>
            </a:r>
            <a:endParaRPr lang="en-US" altLang="zh-CN" sz="1400">
              <a:solidFill>
                <a:schemeClr val="bg2"/>
              </a:solidFill>
            </a:endParaRPr>
          </a:p>
        </p:txBody>
      </p:sp>
      <p:sp>
        <p:nvSpPr>
          <p:cNvPr id="74755" name="页脚占位符 4"/>
          <p:cNvSpPr>
            <a:spLocks noGrp="1"/>
          </p:cNvSpPr>
          <p:nvPr>
            <p:ph type="ftr" sz="quarter" idx="11"/>
          </p:nvPr>
        </p:nvSpPr>
        <p:spPr/>
        <p:txBody>
          <a:bodyPr wrap="square" lIns="91440" tIns="45720" rIns="91440" bIns="45720" anchor="t"/>
          <a:lstStyle>
            <a:lvl1pPr marL="0" lvl="0" indent="0" algn="l" defTabSz="914400" rtl="0" eaLnBrk="0" fontAlgn="base" latinLnBrk="0" hangingPunct="0">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36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indent="0">
              <a:spcBef>
                <a:spcPct val="50000"/>
              </a:spcBef>
            </a:pPr>
            <a:r>
              <a:rPr lang="zh-CN" altLang="en-US" sz="1400">
                <a:solidFill>
                  <a:schemeClr val="bg2"/>
                </a:solidFill>
              </a:rPr>
              <a:t>Software College Northeastern University</a:t>
            </a:r>
            <a:endParaRPr lang="en-US" altLang="zh-CN" sz="1400">
              <a:solidFill>
                <a:schemeClr val="bg2"/>
              </a:solidFill>
            </a:endParaRPr>
          </a:p>
        </p:txBody>
      </p:sp>
      <p:sp>
        <p:nvSpPr>
          <p:cNvPr id="108550" name="幻灯片编号占位符 5"/>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spcBef>
                <a:spcPct val="20000"/>
              </a:spcBef>
              <a:buClr>
                <a:schemeClr val="accent2"/>
              </a:buClr>
              <a:buFont typeface="Monotype Sorts" pitchFamily="2" charset="2"/>
              <a:buChar char="z"/>
              <a:defRPr sz="3050">
                <a:solidFill>
                  <a:schemeClr val="tx1"/>
                </a:solidFill>
                <a:latin typeface="Tahoma" panose="020B0604030504040204" pitchFamily="34" charset="0"/>
                <a:ea typeface="宋体" panose="02010600030101010101" pitchFamily="2" charset="-122"/>
              </a:defRPr>
            </a:lvl1pPr>
            <a:lvl2pPr marL="707390" indent="-272415">
              <a:spcBef>
                <a:spcPct val="20000"/>
              </a:spcBef>
              <a:buClr>
                <a:schemeClr val="accent2"/>
              </a:buClr>
              <a:buFont typeface="Monotype Sorts" pitchFamily="2" charset="2"/>
              <a:buChar char="y"/>
              <a:defRPr sz="2665">
                <a:solidFill>
                  <a:schemeClr val="tx1"/>
                </a:solidFill>
                <a:latin typeface="Tahoma" panose="020B0604030504040204" pitchFamily="34" charset="0"/>
                <a:ea typeface="宋体" panose="02010600030101010101" pitchFamily="2" charset="-122"/>
              </a:defRPr>
            </a:lvl2pPr>
            <a:lvl3pPr marL="1088390" indent="-217805">
              <a:spcBef>
                <a:spcPct val="20000"/>
              </a:spcBef>
              <a:buClr>
                <a:schemeClr val="accent2"/>
              </a:buClr>
              <a:buFont typeface="Monotype Sorts" pitchFamily="2" charset="2"/>
              <a:buChar char="x"/>
              <a:defRPr sz="2285">
                <a:solidFill>
                  <a:schemeClr val="tx1"/>
                </a:solidFill>
                <a:latin typeface="Tahoma" panose="020B0604030504040204" pitchFamily="34" charset="0"/>
                <a:ea typeface="宋体" panose="02010600030101010101" pitchFamily="2" charset="-122"/>
              </a:defRPr>
            </a:lvl3pPr>
            <a:lvl4pPr marL="1524000" indent="-217805">
              <a:spcBef>
                <a:spcPct val="20000"/>
              </a:spcBef>
              <a:buClr>
                <a:schemeClr val="accent2"/>
              </a:buClr>
              <a:buChar char="•"/>
              <a:defRPr sz="1905">
                <a:solidFill>
                  <a:schemeClr val="tx1"/>
                </a:solidFill>
                <a:latin typeface="Tahoma" panose="020B0604030504040204" pitchFamily="34" charset="0"/>
                <a:ea typeface="宋体" panose="02010600030101010101" pitchFamily="2" charset="-122"/>
              </a:defRPr>
            </a:lvl4pPr>
            <a:lvl5pPr marL="1959610" indent="-217805">
              <a:spcBef>
                <a:spcPct val="20000"/>
              </a:spcBef>
              <a:buClr>
                <a:schemeClr val="accent2"/>
              </a:buClr>
              <a:buChar char="–"/>
              <a:defRPr sz="1905">
                <a:solidFill>
                  <a:schemeClr val="tx1"/>
                </a:solidFill>
                <a:latin typeface="Tahoma" panose="020B0604030504040204" pitchFamily="34" charset="0"/>
                <a:ea typeface="宋体" panose="02010600030101010101" pitchFamily="2" charset="-122"/>
              </a:defRPr>
            </a:lvl5pPr>
            <a:lvl6pPr marL="2395220" indent="-217805" eaLnBrk="0" fontAlgn="base" hangingPunct="0">
              <a:spcBef>
                <a:spcPct val="20000"/>
              </a:spcBef>
              <a:spcAft>
                <a:spcPct val="0"/>
              </a:spcAft>
              <a:buClr>
                <a:schemeClr val="accent2"/>
              </a:buClr>
              <a:buChar char="–"/>
              <a:defRPr sz="1905">
                <a:solidFill>
                  <a:schemeClr val="tx1"/>
                </a:solidFill>
                <a:latin typeface="Tahoma" panose="020B0604030504040204" pitchFamily="34" charset="0"/>
                <a:ea typeface="宋体" panose="02010600030101010101" pitchFamily="2" charset="-122"/>
              </a:defRPr>
            </a:lvl6pPr>
            <a:lvl7pPr marL="2830195" indent="-217805" eaLnBrk="0" fontAlgn="base" hangingPunct="0">
              <a:spcBef>
                <a:spcPct val="20000"/>
              </a:spcBef>
              <a:spcAft>
                <a:spcPct val="0"/>
              </a:spcAft>
              <a:buClr>
                <a:schemeClr val="accent2"/>
              </a:buClr>
              <a:buChar char="–"/>
              <a:defRPr sz="1905">
                <a:solidFill>
                  <a:schemeClr val="tx1"/>
                </a:solidFill>
                <a:latin typeface="Tahoma" panose="020B0604030504040204" pitchFamily="34" charset="0"/>
                <a:ea typeface="宋体" panose="02010600030101010101" pitchFamily="2" charset="-122"/>
              </a:defRPr>
            </a:lvl7pPr>
            <a:lvl8pPr marL="3265805" indent="-217805" eaLnBrk="0" fontAlgn="base" hangingPunct="0">
              <a:spcBef>
                <a:spcPct val="20000"/>
              </a:spcBef>
              <a:spcAft>
                <a:spcPct val="0"/>
              </a:spcAft>
              <a:buClr>
                <a:schemeClr val="accent2"/>
              </a:buClr>
              <a:buChar char="–"/>
              <a:defRPr sz="1905">
                <a:solidFill>
                  <a:schemeClr val="tx1"/>
                </a:solidFill>
                <a:latin typeface="Tahoma" panose="020B0604030504040204" pitchFamily="34" charset="0"/>
                <a:ea typeface="宋体" panose="02010600030101010101" pitchFamily="2" charset="-122"/>
              </a:defRPr>
            </a:lvl8pPr>
            <a:lvl9pPr marL="3701415" indent="-217805" eaLnBrk="0" fontAlgn="base" hangingPunct="0">
              <a:spcBef>
                <a:spcPct val="20000"/>
              </a:spcBef>
              <a:spcAft>
                <a:spcPct val="0"/>
              </a:spcAft>
              <a:buClr>
                <a:schemeClr val="accent2"/>
              </a:buClr>
              <a:buChar char="–"/>
              <a:defRPr sz="1905">
                <a:solidFill>
                  <a:schemeClr val="tx1"/>
                </a:solidFill>
                <a:latin typeface="Tahoma" panose="020B0604030504040204" pitchFamily="34" charset="0"/>
                <a:ea typeface="宋体" panose="02010600030101010101" pitchFamily="2" charset="-122"/>
              </a:defRPr>
            </a:lvl9pPr>
          </a:lstStyle>
          <a:p>
            <a:pPr fontAlgn="base">
              <a:spcBef>
                <a:spcPct val="50000"/>
              </a:spcBef>
              <a:buClrTx/>
              <a:buFontTx/>
              <a:buNone/>
            </a:pPr>
            <a:fld id="{F5F5C997-0AD4-4276-87CD-D05185398D7E}" type="slidenum">
              <a:rPr lang="zh-CN" altLang="en-US" sz="1335" strike="noStrike" noProof="1">
                <a:solidFill>
                  <a:schemeClr val="bg2"/>
                </a:solidFill>
                <a:latin typeface="Comic Sans MS" panose="030F0702030302020204" pitchFamily="66" charset="0"/>
                <a:ea typeface="宋体" panose="02010600030101010101" pitchFamily="2" charset="-122"/>
                <a:cs typeface="+mn-cs"/>
              </a:rPr>
            </a:fld>
            <a:endParaRPr lang="en-US" altLang="zh-CN" sz="1335" strike="noStrike" noProof="1">
              <a:solidFill>
                <a:schemeClr val="bg2"/>
              </a:solidFill>
              <a:latin typeface="Comic Sans MS" panose="030F0702030302020204" pitchFamily="66" charset="0"/>
            </a:endParaRPr>
          </a:p>
        </p:txBody>
      </p:sp>
      <p:sp>
        <p:nvSpPr>
          <p:cNvPr id="2" name="标题 1"/>
          <p:cNvSpPr>
            <a:spLocks noGrp="1"/>
          </p:cNvSpPr>
          <p:nvPr>
            <p:ph type="title"/>
          </p:nvPr>
        </p:nvSpPr>
        <p:spPr/>
        <p:txBody>
          <a:bodyPr/>
          <a:lstStyle/>
          <a:p>
            <a:endParaRPr lang="zh-CN" altLang="en-US"/>
          </a:p>
        </p:txBody>
      </p:sp>
      <p:graphicFrame>
        <p:nvGraphicFramePr>
          <p:cNvPr id="7" name="表格 6"/>
          <p:cNvGraphicFramePr>
            <a:graphicFrameLocks noGrp="1"/>
          </p:cNvGraphicFramePr>
          <p:nvPr/>
        </p:nvGraphicFramePr>
        <p:xfrm>
          <a:off x="606425" y="598488"/>
          <a:ext cx="7926166" cy="3401407"/>
        </p:xfrm>
        <a:graphic>
          <a:graphicData uri="http://schemas.openxmlformats.org/drawingml/2006/table">
            <a:tbl>
              <a:tblPr firstRow="1" bandRow="1">
                <a:tableStyleId>{5C22544A-7EE6-4342-B048-85BDC9FD1C3A}</a:tableStyleId>
              </a:tblPr>
              <a:tblGrid>
                <a:gridCol w="1394927"/>
                <a:gridCol w="1562687"/>
                <a:gridCol w="1368152"/>
                <a:gridCol w="1584176"/>
                <a:gridCol w="2016224"/>
              </a:tblGrid>
              <a:tr h="353282">
                <a:tc>
                  <a:txBody>
                    <a:bodyPr/>
                    <a:lstStyle/>
                    <a:p>
                      <a:r>
                        <a:rPr lang="en-US" altLang="zh-CN" sz="1700" dirty="0"/>
                        <a:t>second</a:t>
                      </a:r>
                      <a:endParaRPr lang="zh-CN" altLang="en-US" sz="1700" dirty="0"/>
                    </a:p>
                  </a:txBody>
                  <a:tcPr marL="87086" marR="87086" marT="43555" marB="43555"/>
                </a:tc>
                <a:tc>
                  <a:txBody>
                    <a:bodyPr/>
                    <a:lstStyle/>
                    <a:p>
                      <a:pPr algn="ctr"/>
                      <a:r>
                        <a:rPr lang="en-US" altLang="zh-CN" sz="1700" dirty="0"/>
                        <a:t>1</a:t>
                      </a:r>
                      <a:endParaRPr lang="zh-CN" altLang="en-US" sz="1700" dirty="0"/>
                    </a:p>
                  </a:txBody>
                  <a:tcPr marL="87086" marR="87086" marT="43555" marB="43555"/>
                </a:tc>
                <a:tc>
                  <a:txBody>
                    <a:bodyPr/>
                    <a:lstStyle/>
                    <a:p>
                      <a:pPr algn="ctr"/>
                      <a:r>
                        <a:rPr lang="en-US" altLang="zh-CN" sz="1700" dirty="0"/>
                        <a:t>2</a:t>
                      </a:r>
                      <a:endParaRPr lang="zh-CN" altLang="en-US" sz="1700" dirty="0"/>
                    </a:p>
                  </a:txBody>
                  <a:tcPr marL="87086" marR="87086" marT="43555" marB="43555"/>
                </a:tc>
                <a:tc>
                  <a:txBody>
                    <a:bodyPr/>
                    <a:lstStyle/>
                    <a:p>
                      <a:pPr algn="ctr"/>
                      <a:r>
                        <a:rPr lang="en-US" altLang="zh-CN" sz="1700" dirty="0"/>
                        <a:t>3</a:t>
                      </a:r>
                      <a:endParaRPr lang="zh-CN" altLang="en-US" sz="1700" dirty="0"/>
                    </a:p>
                  </a:txBody>
                  <a:tcPr marL="87086" marR="87086" marT="43555" marB="43555"/>
                </a:tc>
                <a:tc>
                  <a:txBody>
                    <a:bodyPr/>
                    <a:lstStyle/>
                    <a:p>
                      <a:pPr algn="ctr"/>
                      <a:r>
                        <a:rPr lang="en-US" altLang="zh-CN" sz="1700" dirty="0"/>
                        <a:t>4</a:t>
                      </a:r>
                      <a:endParaRPr lang="zh-CN" altLang="en-US" sz="1700" dirty="0"/>
                    </a:p>
                  </a:txBody>
                  <a:tcPr marL="87086" marR="87086" marT="43555" marB="43555"/>
                </a:tc>
              </a:tr>
              <a:tr h="609625">
                <a:tc>
                  <a:txBody>
                    <a:bodyPr/>
                    <a:lstStyle/>
                    <a:p>
                      <a:r>
                        <a:rPr lang="en-US" altLang="zh-CN" sz="1700" dirty="0"/>
                        <a:t>N=100</a:t>
                      </a:r>
                      <a:endParaRPr lang="zh-CN" altLang="en-US" sz="1700" dirty="0"/>
                    </a:p>
                  </a:txBody>
                  <a:tcPr marL="87086" marR="87086" marT="43555" marB="43555"/>
                </a:tc>
                <a:tc>
                  <a:txBody>
                    <a:bodyPr/>
                    <a:lstStyle/>
                    <a:p>
                      <a:r>
                        <a:rPr lang="en-US" altLang="zh-CN" sz="1700" dirty="0"/>
                        <a:t>0.000 159</a:t>
                      </a:r>
                      <a:endParaRPr lang="zh-CN" altLang="en-US" sz="1700" dirty="0"/>
                    </a:p>
                  </a:txBody>
                  <a:tcPr marL="87086" marR="87086" marT="43555" marB="43555"/>
                </a:tc>
                <a:tc>
                  <a:txBody>
                    <a:bodyPr/>
                    <a:lstStyle/>
                    <a:p>
                      <a:r>
                        <a:rPr lang="en-US" altLang="zh-CN" sz="1700" dirty="0"/>
                        <a:t>0.000 006</a:t>
                      </a:r>
                      <a:endParaRPr lang="zh-CN" altLang="en-US" sz="1700" dirty="0"/>
                    </a:p>
                  </a:txBody>
                  <a:tcPr marL="87086" marR="87086" marT="43555" marB="43555"/>
                </a:tc>
                <a:tc>
                  <a:txBody>
                    <a:bodyPr/>
                    <a:lstStyle/>
                    <a:p>
                      <a:r>
                        <a:rPr lang="en-US" altLang="zh-CN" sz="1700" dirty="0"/>
                        <a:t>0.000 005</a:t>
                      </a:r>
                      <a:endParaRPr lang="zh-CN" altLang="en-US" sz="1700" dirty="0"/>
                    </a:p>
                  </a:txBody>
                  <a:tcPr marL="87086" marR="87086" marT="43555" marB="43555"/>
                </a:tc>
                <a:tc>
                  <a:txBody>
                    <a:bodyPr/>
                    <a:lstStyle/>
                    <a:p>
                      <a:r>
                        <a:rPr lang="en-US" altLang="zh-CN" sz="1700" dirty="0"/>
                        <a:t>0.000 002</a:t>
                      </a:r>
                      <a:endParaRPr lang="zh-CN" altLang="en-US" sz="1700" dirty="0"/>
                    </a:p>
                  </a:txBody>
                  <a:tcPr marL="87086" marR="87086" marT="43555" marB="43555"/>
                </a:tc>
              </a:tr>
              <a:tr h="609625">
                <a:tc>
                  <a:txBody>
                    <a:bodyPr/>
                    <a:lstStyle/>
                    <a:p>
                      <a:r>
                        <a:rPr lang="en-US" altLang="zh-CN" sz="1700" dirty="0"/>
                        <a:t>N=1000</a:t>
                      </a:r>
                      <a:endParaRPr lang="zh-CN" altLang="en-US" sz="1700" dirty="0"/>
                    </a:p>
                  </a:txBody>
                  <a:tcPr marL="87086" marR="87086" marT="43555" marB="43555"/>
                </a:tc>
                <a:tc>
                  <a:txBody>
                    <a:bodyPr/>
                    <a:lstStyle/>
                    <a:p>
                      <a:r>
                        <a:rPr lang="en-US" altLang="zh-CN" sz="1700" dirty="0"/>
                        <a:t>0.095857</a:t>
                      </a:r>
                      <a:endParaRPr lang="zh-CN" altLang="en-US" sz="1700" dirty="0"/>
                    </a:p>
                  </a:txBody>
                  <a:tcPr marL="87086" marR="87086" marT="43555" marB="43555"/>
                </a:tc>
                <a:tc>
                  <a:txBody>
                    <a:bodyPr/>
                    <a:lstStyle/>
                    <a:p>
                      <a:r>
                        <a:rPr lang="en-US" altLang="zh-CN" sz="1700" dirty="0"/>
                        <a:t>0.000 371</a:t>
                      </a:r>
                      <a:endParaRPr lang="zh-CN" altLang="en-US" sz="1700" dirty="0"/>
                    </a:p>
                  </a:txBody>
                  <a:tcPr marL="87086" marR="87086" marT="43555" marB="43555"/>
                </a:tc>
                <a:tc>
                  <a:txBody>
                    <a:bodyPr/>
                    <a:lstStyle/>
                    <a:p>
                      <a:r>
                        <a:rPr lang="en-US" altLang="zh-CN" sz="1700" dirty="0"/>
                        <a:t>0.000 060</a:t>
                      </a:r>
                      <a:endParaRPr lang="zh-CN" altLang="en-US" sz="1700" dirty="0"/>
                    </a:p>
                  </a:txBody>
                  <a:tcPr marL="87086" marR="87086" marT="43555" marB="43555"/>
                </a:tc>
                <a:tc>
                  <a:txBody>
                    <a:bodyPr/>
                    <a:lstStyle/>
                    <a:p>
                      <a:r>
                        <a:rPr lang="en-US" altLang="zh-CN" sz="1700" dirty="0"/>
                        <a:t>0.000 022</a:t>
                      </a:r>
                      <a:endParaRPr lang="zh-CN" altLang="en-US" sz="1700" dirty="0"/>
                    </a:p>
                  </a:txBody>
                  <a:tcPr marL="87086" marR="87086" marT="43555" marB="43555"/>
                </a:tc>
              </a:tr>
              <a:tr h="609625">
                <a:tc>
                  <a:txBody>
                    <a:bodyPr/>
                    <a:lstStyle/>
                    <a:p>
                      <a:r>
                        <a:rPr lang="en-US" altLang="zh-CN" sz="1700" dirty="0"/>
                        <a:t>N=10000</a:t>
                      </a:r>
                      <a:endParaRPr lang="zh-CN" altLang="en-US" sz="1700" dirty="0"/>
                    </a:p>
                  </a:txBody>
                  <a:tcPr marL="87086" marR="87086" marT="43555" marB="43555"/>
                </a:tc>
                <a:tc>
                  <a:txBody>
                    <a:bodyPr/>
                    <a:lstStyle/>
                    <a:p>
                      <a:r>
                        <a:rPr lang="en-US" altLang="zh-CN" sz="1700" dirty="0"/>
                        <a:t>86.67</a:t>
                      </a:r>
                      <a:endParaRPr lang="zh-CN" altLang="en-US" sz="1700" dirty="0"/>
                    </a:p>
                  </a:txBody>
                  <a:tcPr marL="87086" marR="87086" marT="43555" marB="43555"/>
                </a:tc>
                <a:tc>
                  <a:txBody>
                    <a:bodyPr/>
                    <a:lstStyle/>
                    <a:p>
                      <a:r>
                        <a:rPr lang="en-US" altLang="zh-CN" sz="1700" dirty="0"/>
                        <a:t>0.033 322</a:t>
                      </a:r>
                      <a:endParaRPr lang="zh-CN" altLang="en-US" sz="1700" dirty="0"/>
                    </a:p>
                  </a:txBody>
                  <a:tcPr marL="87086" marR="87086" marT="43555" marB="43555"/>
                </a:tc>
                <a:tc>
                  <a:txBody>
                    <a:bodyPr/>
                    <a:lstStyle/>
                    <a:p>
                      <a:r>
                        <a:rPr lang="en-US" altLang="zh-CN" sz="1700" dirty="0"/>
                        <a:t>0.000 619</a:t>
                      </a:r>
                      <a:endParaRPr lang="zh-CN" altLang="en-US" sz="1700" dirty="0"/>
                    </a:p>
                  </a:txBody>
                  <a:tcPr marL="87086" marR="87086" marT="43555" marB="43555"/>
                </a:tc>
                <a:tc>
                  <a:txBody>
                    <a:bodyPr/>
                    <a:lstStyle/>
                    <a:p>
                      <a:r>
                        <a:rPr lang="en-US" altLang="zh-CN" sz="1700" dirty="0"/>
                        <a:t>0.000 222</a:t>
                      </a:r>
                      <a:endParaRPr lang="zh-CN" altLang="en-US" sz="1700" dirty="0"/>
                    </a:p>
                  </a:txBody>
                  <a:tcPr marL="87086" marR="87086" marT="43555" marB="43555"/>
                </a:tc>
              </a:tr>
              <a:tr h="609625">
                <a:tc>
                  <a:txBody>
                    <a:bodyPr/>
                    <a:lstStyle/>
                    <a:p>
                      <a:r>
                        <a:rPr lang="en-US" altLang="zh-CN" sz="1700" dirty="0"/>
                        <a:t>N=100000</a:t>
                      </a:r>
                      <a:endParaRPr lang="zh-CN" altLang="en-US" sz="1700" dirty="0"/>
                    </a:p>
                  </a:txBody>
                  <a:tcPr marL="87086" marR="87086" marT="43555" marB="43555"/>
                </a:tc>
                <a:tc>
                  <a:txBody>
                    <a:bodyPr/>
                    <a:lstStyle/>
                    <a:p>
                      <a:r>
                        <a:rPr lang="en-US" altLang="zh-CN" sz="1700" dirty="0"/>
                        <a:t>NA</a:t>
                      </a:r>
                      <a:endParaRPr lang="zh-CN" altLang="en-US" sz="1700" dirty="0"/>
                    </a:p>
                  </a:txBody>
                  <a:tcPr marL="87086" marR="87086" marT="43555" marB="43555"/>
                </a:tc>
                <a:tc>
                  <a:txBody>
                    <a:bodyPr/>
                    <a:lstStyle/>
                    <a:p>
                      <a:r>
                        <a:rPr lang="en-US" altLang="zh-CN" sz="1700" dirty="0"/>
                        <a:t>3.33</a:t>
                      </a:r>
                      <a:endParaRPr lang="zh-CN" altLang="en-US" sz="1700" dirty="0"/>
                    </a:p>
                  </a:txBody>
                  <a:tcPr marL="87086" marR="87086" marT="43555" marB="43555"/>
                </a:tc>
                <a:tc>
                  <a:txBody>
                    <a:bodyPr/>
                    <a:lstStyle/>
                    <a:p>
                      <a:r>
                        <a:rPr lang="en-US" altLang="zh-CN" sz="1700" dirty="0"/>
                        <a:t>0.006 700</a:t>
                      </a:r>
                      <a:endParaRPr lang="zh-CN" altLang="en-US" sz="1700" dirty="0"/>
                    </a:p>
                  </a:txBody>
                  <a:tcPr marL="87086" marR="87086" marT="43555" marB="43555"/>
                </a:tc>
                <a:tc>
                  <a:txBody>
                    <a:bodyPr/>
                    <a:lstStyle/>
                    <a:p>
                      <a:r>
                        <a:rPr lang="en-US" altLang="zh-CN" sz="1700" dirty="0"/>
                        <a:t>0.002 205</a:t>
                      </a:r>
                      <a:endParaRPr lang="zh-CN" altLang="en-US" sz="1700" dirty="0"/>
                    </a:p>
                  </a:txBody>
                  <a:tcPr marL="87086" marR="87086" marT="43555" marB="43555"/>
                </a:tc>
              </a:tr>
              <a:tr h="609625">
                <a:tc>
                  <a:txBody>
                    <a:bodyPr/>
                    <a:lstStyle/>
                    <a:p>
                      <a:r>
                        <a:rPr lang="en-US" altLang="zh-CN" sz="1700" dirty="0"/>
                        <a:t>N=1000000</a:t>
                      </a:r>
                      <a:endParaRPr lang="zh-CN" altLang="en-US" sz="1700" dirty="0"/>
                    </a:p>
                  </a:txBody>
                  <a:tcPr marL="87086" marR="87086" marT="43555" marB="43555"/>
                </a:tc>
                <a:tc>
                  <a:txBody>
                    <a:bodyPr/>
                    <a:lstStyle/>
                    <a:p>
                      <a:r>
                        <a:rPr lang="en-US" altLang="zh-CN" sz="1700" dirty="0"/>
                        <a:t>NA</a:t>
                      </a:r>
                      <a:endParaRPr lang="zh-CN" altLang="en-US" sz="1700" dirty="0"/>
                    </a:p>
                  </a:txBody>
                  <a:tcPr marL="87086" marR="87086" marT="43555" marB="43555"/>
                </a:tc>
                <a:tc>
                  <a:txBody>
                    <a:bodyPr/>
                    <a:lstStyle/>
                    <a:p>
                      <a:r>
                        <a:rPr lang="en-US" altLang="zh-CN" sz="1700" dirty="0"/>
                        <a:t>NA</a:t>
                      </a:r>
                      <a:endParaRPr lang="zh-CN" altLang="en-US" sz="1700" dirty="0"/>
                    </a:p>
                  </a:txBody>
                  <a:tcPr marL="87086" marR="87086" marT="43555" marB="43555"/>
                </a:tc>
                <a:tc>
                  <a:txBody>
                    <a:bodyPr/>
                    <a:lstStyle/>
                    <a:p>
                      <a:r>
                        <a:rPr lang="en-US" altLang="zh-CN" sz="1700" dirty="0"/>
                        <a:t>0.074 870</a:t>
                      </a:r>
                      <a:endParaRPr lang="zh-CN" altLang="en-US" sz="1700" dirty="0"/>
                    </a:p>
                  </a:txBody>
                  <a:tcPr marL="87086" marR="87086" marT="43555" marB="43555"/>
                </a:tc>
                <a:tc>
                  <a:txBody>
                    <a:bodyPr/>
                    <a:lstStyle/>
                    <a:p>
                      <a:r>
                        <a:rPr lang="en-US" altLang="zh-CN" sz="1700" dirty="0"/>
                        <a:t>0.022 711</a:t>
                      </a:r>
                      <a:endParaRPr lang="zh-CN" altLang="en-US" sz="1700" dirty="0"/>
                    </a:p>
                  </a:txBody>
                  <a:tcPr marL="87086" marR="87086" marT="43555" marB="43555"/>
                </a:tc>
              </a:tr>
            </a:tbl>
          </a:graphicData>
        </a:graphic>
      </p:graphicFrame>
    </p:spTree>
  </p:cSld>
  <p:clrMapOvr>
    <a:masterClrMapping/>
  </p:clrMapOvr>
  <p:transition spd="slow"/>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7171" name="Rectangle 3"/>
          <p:cNvSpPr>
            <a:spLocks noGrp="1" noChangeArrowheads="1"/>
          </p:cNvSpPr>
          <p:nvPr>
            <p:ph idx="1"/>
          </p:nvPr>
        </p:nvSpPr>
        <p:spPr/>
        <p:txBody>
          <a:bodyPr vert="horz" wrap="square" lIns="91436" tIns="45718" rIns="91436" bIns="45718" numCol="1" anchor="t" anchorCtr="0" compatLnSpc="1">
            <a:normAutofit/>
          </a:bodyPr>
          <a:lstStyle/>
          <a:p>
            <a:pPr marL="342900" marR="0" lvl="0" indent="-342900" algn="l" defTabSz="914400" rtl="0" eaLnBrk="0" fontAlgn="base" latinLnBrk="0" hangingPunct="0">
              <a:lnSpc>
                <a:spcPct val="110000"/>
              </a:lnSpc>
              <a:spcBef>
                <a:spcPct val="0"/>
              </a:spcBef>
              <a:spcAft>
                <a:spcPct val="0"/>
              </a:spcAft>
              <a:buClr>
                <a:schemeClr val="accent1"/>
              </a:buClr>
              <a:buSzTx/>
              <a:buFontTx/>
              <a:buChar char="•"/>
              <a:defRPr/>
            </a:pPr>
            <a:r>
              <a:rPr kumimoji="1" lang="zh-CN" altLang="en-US" sz="3200" b="1" i="0" u="none" strike="noStrike" kern="0" cap="none" spc="0" normalizeH="0" baseline="0" noProof="0" dirty="0">
                <a:ln>
                  <a:noFill/>
                </a:ln>
                <a:solidFill>
                  <a:srgbClr val="FF0000"/>
                </a:solidFill>
                <a:uLnTx/>
                <a:uFillTx/>
                <a:latin typeface="楷体_GB2312" panose="02010609030101010101" pitchFamily="49" charset="-122"/>
                <a:ea typeface="楷体_GB2312" panose="02010609030101010101" pitchFamily="49" charset="-122"/>
                <a:cs typeface="+mn-cs"/>
              </a:rPr>
              <a:t>渐进分析</a:t>
            </a:r>
            <a:r>
              <a:rPr kumimoji="1" lang="zh-CN" altLang="en-US" sz="3200" b="1" i="0" u="none" strike="noStrike" kern="0" cap="none" spc="0" normalizeH="0" baseline="0" noProof="0" dirty="0">
                <a:ln>
                  <a:noFill/>
                </a:ln>
                <a:solidFill>
                  <a:schemeClr val="tx1"/>
                </a:solidFill>
                <a:uLnTx/>
                <a:uFillTx/>
                <a:latin typeface="楷体_GB2312" panose="02010609030101010101" pitchFamily="49" charset="-122"/>
                <a:ea typeface="楷体_GB2312" panose="02010609030101010101" pitchFamily="49" charset="-122"/>
                <a:cs typeface="+mn-cs"/>
              </a:rPr>
              <a:t>：</a:t>
            </a:r>
            <a:r>
              <a:rPr kumimoji="1" lang="zh-CN" altLang="en-US" sz="3200" b="1" i="0" u="none" strike="noStrike" kern="0" cap="none" spc="0" normalizeH="0" baseline="0" noProof="0" dirty="0">
                <a:ln>
                  <a:noFill/>
                </a:ln>
                <a:solidFill>
                  <a:srgbClr val="FF0000"/>
                </a:solidFill>
                <a:uLnTx/>
                <a:uFillTx/>
                <a:latin typeface="楷体_GB2312" panose="02010609030101010101" pitchFamily="49" charset="-122"/>
                <a:ea typeface="楷体_GB2312" panose="02010609030101010101" pitchFamily="49" charset="-122"/>
                <a:cs typeface="+mn-cs"/>
              </a:rPr>
              <a:t>忽略</a:t>
            </a:r>
            <a:r>
              <a:rPr kumimoji="1" lang="zh-CN" altLang="en-US" sz="3200" b="1" i="0" u="none" strike="noStrike" kern="0" cap="none" spc="0" normalizeH="0" baseline="0" noProof="0" dirty="0">
                <a:ln>
                  <a:noFill/>
                </a:ln>
                <a:solidFill>
                  <a:schemeClr val="tx1"/>
                </a:solidFill>
                <a:uLnTx/>
                <a:uFillTx/>
                <a:latin typeface="楷体_GB2312" panose="02010609030101010101" pitchFamily="49" charset="-122"/>
                <a:ea typeface="楷体_GB2312" panose="02010609030101010101" pitchFamily="49" charset="-122"/>
                <a:cs typeface="+mn-cs"/>
              </a:rPr>
              <a:t>用来表示问题规模和时间关系的函数中</a:t>
            </a:r>
            <a:r>
              <a:rPr kumimoji="1" lang="zh-CN" altLang="en-US" sz="3200" b="1" i="0" u="none" strike="noStrike" kern="0" cap="none" spc="0" normalizeH="0" baseline="0" noProof="0" dirty="0">
                <a:ln>
                  <a:noFill/>
                </a:ln>
                <a:solidFill>
                  <a:srgbClr val="FF0000"/>
                </a:solidFill>
                <a:uLnTx/>
                <a:uFillTx/>
                <a:latin typeface="楷体_GB2312" panose="02010609030101010101" pitchFamily="49" charset="-122"/>
                <a:ea typeface="楷体_GB2312" panose="02010609030101010101" pitchFamily="49" charset="-122"/>
                <a:cs typeface="+mn-cs"/>
              </a:rPr>
              <a:t>不能显著改变函数数量级的部分</a:t>
            </a:r>
            <a:r>
              <a:rPr kumimoji="1" lang="zh-CN" altLang="en-US" sz="3200" b="1" i="0" u="none" strike="noStrike" kern="0" cap="none" spc="0" normalizeH="0" baseline="0" noProof="0" dirty="0">
                <a:ln>
                  <a:noFill/>
                </a:ln>
                <a:solidFill>
                  <a:schemeClr val="tx1"/>
                </a:solidFill>
                <a:uLnTx/>
                <a:uFillTx/>
                <a:latin typeface="楷体_GB2312" panose="02010609030101010101" pitchFamily="49" charset="-122"/>
                <a:ea typeface="楷体_GB2312" panose="02010609030101010101" pitchFamily="49" charset="-122"/>
                <a:cs typeface="+mn-cs"/>
              </a:rPr>
              <a:t>，其结果是原函数的近似值，该近似值在</a:t>
            </a:r>
            <a:r>
              <a:rPr kumimoji="1" lang="zh-CN" altLang="en-US" sz="3200" b="1" i="0" u="none" strike="noStrike" kern="0" cap="none" spc="0" normalizeH="0" baseline="0" noProof="0" dirty="0">
                <a:ln>
                  <a:noFill/>
                </a:ln>
                <a:solidFill>
                  <a:srgbClr val="FF0000"/>
                </a:solidFill>
                <a:uLnTx/>
                <a:uFillTx/>
                <a:latin typeface="楷体_GB2312" panose="02010609030101010101" pitchFamily="49" charset="-122"/>
                <a:ea typeface="楷体_GB2312" panose="02010609030101010101" pitchFamily="49" charset="-122"/>
                <a:cs typeface="+mn-cs"/>
              </a:rPr>
              <a:t>问题规模很大</a:t>
            </a:r>
            <a:r>
              <a:rPr kumimoji="1" lang="zh-CN" altLang="en-US" sz="3200" b="1" i="0" u="none" strike="noStrike" kern="0" cap="none" spc="0" normalizeH="0" baseline="0" noProof="0" dirty="0">
                <a:ln>
                  <a:noFill/>
                </a:ln>
                <a:solidFill>
                  <a:schemeClr val="tx1"/>
                </a:solidFill>
                <a:uLnTx/>
                <a:uFillTx/>
                <a:latin typeface="楷体_GB2312" panose="02010609030101010101" pitchFamily="49" charset="-122"/>
                <a:ea typeface="楷体_GB2312" panose="02010609030101010101" pitchFamily="49" charset="-122"/>
                <a:cs typeface="+mn-cs"/>
              </a:rPr>
              <a:t>时会足够接近原值。</a:t>
            </a:r>
            <a:endParaRPr kumimoji="1" lang="zh-CN" altLang="en-US" sz="3200" b="1" i="0" u="none" strike="noStrike" kern="0" cap="none" spc="0" normalizeH="0" baseline="0" noProof="0" dirty="0">
              <a:ln>
                <a:noFill/>
              </a:ln>
              <a:solidFill>
                <a:schemeClr val="tx1"/>
              </a:solidFill>
              <a:uLnTx/>
              <a:uFillTx/>
              <a:latin typeface="楷体_GB2312" panose="02010609030101010101" pitchFamily="49" charset="-122"/>
              <a:ea typeface="楷体_GB2312" panose="02010609030101010101" pitchFamily="49" charset="-122"/>
              <a:cs typeface="+mn-cs"/>
            </a:endParaRPr>
          </a:p>
        </p:txBody>
      </p:sp>
      <p:sp>
        <p:nvSpPr>
          <p:cNvPr id="647170" name="Rectangle 2"/>
          <p:cNvSpPr>
            <a:spLocks noGrp="1" noChangeArrowheads="1"/>
          </p:cNvSpPr>
          <p:nvPr>
            <p:ph type="title"/>
          </p:nvPr>
        </p:nvSpPr>
        <p:spPr>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ctr" anchorCtr="0" compatLnSpc="1">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44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黑体" panose="02010609060101010101" pitchFamily="2" charset="-122"/>
                <a:cs typeface="+mj-cs"/>
              </a:rPr>
              <a:t>渐进分析法</a:t>
            </a:r>
            <a:endParaRPr kumimoji="1" lang="zh-CN" altLang="en-US" sz="40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黑体" panose="02010609060101010101" pitchFamily="2" charset="-122"/>
              <a:cs typeface="+mj-cs"/>
            </a:endParaRPr>
          </a:p>
        </p:txBody>
      </p:sp>
      <p:sp>
        <p:nvSpPr>
          <p:cNvPr id="647172" name="Text Box 4"/>
          <p:cNvSpPr txBox="1">
            <a:spLocks noChangeArrowheads="1"/>
          </p:cNvSpPr>
          <p:nvPr/>
        </p:nvSpPr>
        <p:spPr bwMode="auto">
          <a:xfrm>
            <a:off x="2339752" y="5655017"/>
            <a:ext cx="5976938"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R="0" algn="ctr" defTabSz="914400">
              <a:spcBef>
                <a:spcPct val="50000"/>
              </a:spcBef>
              <a:buClrTx/>
              <a:buSzTx/>
              <a:buFontTx/>
              <a:buNone/>
              <a:defRPr/>
            </a:pPr>
            <a:r>
              <a:rPr kumimoji="0" lang="zh-CN" altLang="en-US" sz="2800" b="1" kern="1200" cap="none" spc="0" normalizeH="0" baseline="0" noProof="0" dirty="0">
                <a:effectLst>
                  <a:outerShdw blurRad="38100" dist="38100" dir="2700000" algn="tl">
                    <a:srgbClr val="C0C0C0"/>
                  </a:outerShdw>
                </a:effectLst>
                <a:latin typeface="Times New Roman" panose="02020603050405020304" pitchFamily="18" charset="0"/>
                <a:ea typeface="楷体_GB2312" panose="02010609030101010101" pitchFamily="49" charset="-122"/>
                <a:cs typeface="+mn-cs"/>
              </a:rPr>
              <a:t>例：</a:t>
            </a:r>
            <a:r>
              <a:rPr kumimoji="0" lang="en-US" altLang="zh-CN" sz="2800" b="1" kern="1200" cap="none" spc="0" normalizeH="0" baseline="0" noProof="0" dirty="0">
                <a:effectLst>
                  <a:outerShdw blurRad="38100" dist="38100" dir="2700000" algn="tl">
                    <a:srgbClr val="C0C0C0"/>
                  </a:outerShdw>
                </a:effectLst>
                <a:latin typeface="Times New Roman" panose="02020603050405020304" pitchFamily="18" charset="0"/>
                <a:ea typeface="楷体_GB2312" panose="02010609030101010101" pitchFamily="49" charset="-122"/>
                <a:cs typeface="+mn-cs"/>
              </a:rPr>
              <a:t>f(n)=n</a:t>
            </a:r>
            <a:r>
              <a:rPr kumimoji="0" lang="en-US" altLang="zh-CN" sz="2800" b="1" kern="1200" cap="none" spc="0" normalizeH="0" baseline="30000" noProof="0" dirty="0">
                <a:effectLst>
                  <a:outerShdw blurRad="38100" dist="38100" dir="2700000" algn="tl">
                    <a:srgbClr val="C0C0C0"/>
                  </a:outerShdw>
                </a:effectLst>
                <a:latin typeface="Times New Roman" panose="02020603050405020304" pitchFamily="18" charset="0"/>
                <a:ea typeface="楷体_GB2312" panose="02010609030101010101" pitchFamily="49" charset="-122"/>
                <a:cs typeface="+mn-cs"/>
              </a:rPr>
              <a:t>2</a:t>
            </a:r>
            <a:r>
              <a:rPr kumimoji="0" lang="en-US" altLang="zh-CN" sz="2800" b="1" kern="1200" cap="none" spc="0" normalizeH="0" baseline="0" noProof="0" dirty="0">
                <a:effectLst>
                  <a:outerShdw blurRad="38100" dist="38100" dir="2700000" algn="tl">
                    <a:srgbClr val="C0C0C0"/>
                  </a:outerShdw>
                </a:effectLst>
                <a:latin typeface="Times New Roman" panose="02020603050405020304" pitchFamily="18" charset="0"/>
                <a:ea typeface="楷体_GB2312" panose="02010609030101010101" pitchFamily="49" charset="-122"/>
                <a:cs typeface="+mn-cs"/>
              </a:rPr>
              <a:t>+100n+log</a:t>
            </a:r>
            <a:r>
              <a:rPr kumimoji="0" lang="en-US" altLang="zh-CN" sz="2800" b="1" kern="1200" cap="none" spc="0" normalizeH="0" baseline="-25000" noProof="0" dirty="0">
                <a:effectLst>
                  <a:outerShdw blurRad="38100" dist="38100" dir="2700000" algn="tl">
                    <a:srgbClr val="C0C0C0"/>
                  </a:outerShdw>
                </a:effectLst>
                <a:latin typeface="Times New Roman" panose="02020603050405020304" pitchFamily="18" charset="0"/>
                <a:ea typeface="楷体_GB2312" panose="02010609030101010101" pitchFamily="49" charset="-122"/>
                <a:cs typeface="+mn-cs"/>
              </a:rPr>
              <a:t>10</a:t>
            </a:r>
            <a:r>
              <a:rPr kumimoji="0" lang="en-US" altLang="zh-CN" sz="2800" b="1" kern="1200" cap="none" spc="0" normalizeH="0" baseline="0" noProof="0" dirty="0">
                <a:effectLst>
                  <a:outerShdw blurRad="38100" dist="38100" dir="2700000" algn="tl">
                    <a:srgbClr val="C0C0C0"/>
                  </a:outerShdw>
                </a:effectLst>
                <a:latin typeface="Times New Roman" panose="02020603050405020304" pitchFamily="18" charset="0"/>
                <a:ea typeface="楷体_GB2312" panose="02010609030101010101" pitchFamily="49" charset="-122"/>
                <a:cs typeface="+mn-cs"/>
              </a:rPr>
              <a:t>n+1000</a:t>
            </a:r>
            <a:endParaRPr kumimoji="0" lang="en-US" altLang="zh-CN" sz="2800" b="1" kern="1200" cap="none" spc="0" normalizeH="0" baseline="0" noProof="0" dirty="0">
              <a:effectLst>
                <a:outerShdw blurRad="38100" dist="38100" dir="2700000" algn="tl">
                  <a:srgbClr val="C0C0C0"/>
                </a:outerShdw>
              </a:effectLst>
              <a:latin typeface="Times New Roman" panose="02020603050405020304" pitchFamily="18" charset="0"/>
              <a:ea typeface="楷体_GB2312" panose="02010609030101010101" pitchFamily="49" charset="-122"/>
              <a:cs typeface="+mn-cs"/>
            </a:endParaRPr>
          </a:p>
        </p:txBody>
      </p:sp>
      <p:sp>
        <p:nvSpPr>
          <p:cNvPr id="647173" name="Rectangle 5"/>
          <p:cNvSpPr>
            <a:spLocks noChangeArrowheads="1"/>
          </p:cNvSpPr>
          <p:nvPr/>
        </p:nvSpPr>
        <p:spPr bwMode="auto">
          <a:xfrm>
            <a:off x="333375" y="3962400"/>
            <a:ext cx="8496300" cy="1479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marR="0" lvl="0" indent="-342900" algn="l" defTabSz="914400" rtl="0" eaLnBrk="0" fontAlgn="base" latinLnBrk="0" hangingPunct="0">
              <a:lnSpc>
                <a:spcPct val="110000"/>
              </a:lnSpc>
              <a:spcBef>
                <a:spcPct val="0"/>
              </a:spcBef>
              <a:spcAft>
                <a:spcPct val="0"/>
              </a:spcAft>
              <a:buClr>
                <a:schemeClr val="accent1"/>
              </a:buClr>
              <a:buSzTx/>
              <a:buFontTx/>
              <a:buChar char="•"/>
              <a:defRPr/>
            </a:pPr>
            <a:r>
              <a:rPr kumimoji="1" lang="zh-CN" altLang="en-US" sz="3200" b="1" i="0" u="none" strike="noStrike" kern="1200" cap="none" spc="0" normalizeH="0" baseline="0" noProof="0" dirty="0">
                <a:ln>
                  <a:noFill/>
                </a:ln>
                <a:solidFill>
                  <a:schemeClr val="tx1"/>
                </a:solidFill>
                <a:uLnTx/>
                <a:uFillTx/>
                <a:latin typeface="楷体_GB2312" panose="02010609030101010101" pitchFamily="49" charset="-122"/>
                <a:ea typeface="楷体_GB2312" panose="02010609030101010101" pitchFamily="49" charset="-122"/>
                <a:cs typeface="+mn-cs"/>
              </a:rPr>
              <a:t>渐进分析是对资源开销的一种不精确的估计，它提供的是对算法所需资源开销进行评估的简单化模型，以便把注意力</a:t>
            </a:r>
            <a:r>
              <a:rPr kumimoji="1" lang="zh-CN" altLang="en-US" sz="3200" b="1" i="0" u="none" strike="noStrike" kern="1200" cap="none" spc="0" normalizeH="0" baseline="0" noProof="0" dirty="0">
                <a:ln>
                  <a:noFill/>
                </a:ln>
                <a:solidFill>
                  <a:srgbClr val="FF0000"/>
                </a:solidFill>
                <a:uLnTx/>
                <a:uFillTx/>
                <a:latin typeface="楷体_GB2312" panose="02010609030101010101" pitchFamily="49" charset="-122"/>
                <a:ea typeface="楷体_GB2312" panose="02010609030101010101" pitchFamily="49" charset="-122"/>
                <a:cs typeface="+mn-cs"/>
              </a:rPr>
              <a:t>集中在最重要的部分</a:t>
            </a:r>
            <a:r>
              <a:rPr kumimoji="1" lang="zh-CN" altLang="en-US" sz="3200" b="1" i="0" u="none" strike="noStrike" kern="1200" cap="none" spc="0" normalizeH="0" baseline="0" noProof="0" dirty="0">
                <a:ln>
                  <a:noFill/>
                </a:ln>
                <a:solidFill>
                  <a:schemeClr val="tx1"/>
                </a:solidFill>
                <a:uLnTx/>
                <a:uFillTx/>
                <a:latin typeface="楷体_GB2312" panose="02010609030101010101" pitchFamily="49" charset="-122"/>
                <a:ea typeface="楷体_GB2312" panose="02010609030101010101" pitchFamily="49" charset="-122"/>
                <a:cs typeface="+mn-cs"/>
              </a:rPr>
              <a:t>。</a:t>
            </a:r>
            <a:endParaRPr kumimoji="1" lang="zh-CN" altLang="en-US" sz="3200" b="1" i="0" u="none" strike="noStrike" kern="1200" cap="none" spc="0" normalizeH="0" baseline="0" noProof="0" dirty="0">
              <a:ln>
                <a:noFill/>
              </a:ln>
              <a:solidFill>
                <a:schemeClr val="tx1"/>
              </a:solidFill>
              <a:uLnTx/>
              <a:uFillTx/>
              <a:latin typeface="楷体_GB2312" panose="02010609030101010101" pitchFamily="49" charset="-122"/>
              <a:ea typeface="楷体_GB2312" panose="02010609030101010101" pitchFamily="49" charset="-122"/>
              <a:cs typeface="+mn-cs"/>
            </a:endParaRPr>
          </a:p>
        </p:txBody>
      </p:sp>
      <p:sp>
        <p:nvSpPr>
          <p:cNvPr id="2" name="日期占位符 1"/>
          <p:cNvSpPr>
            <a:spLocks noGrp="1"/>
          </p:cNvSpPr>
          <p:nvPr>
            <p:ph type="dt" sz="half" idx="10"/>
          </p:nvPr>
        </p:nvSpPr>
        <p:spPr/>
        <p:txBody>
          <a:bodyPr/>
          <a:lstStyle/>
          <a:p>
            <a:r>
              <a:rPr lang="en-US" altLang="zh-CN"/>
              <a:t>Data Structures and algorithms</a:t>
            </a:r>
            <a:endParaRPr lang="zh-CN" altLang="en-US"/>
          </a:p>
        </p:txBody>
      </p:sp>
      <p:sp>
        <p:nvSpPr>
          <p:cNvPr id="3" name="页脚占位符 2"/>
          <p:cNvSpPr>
            <a:spLocks noGrp="1"/>
          </p:cNvSpPr>
          <p:nvPr>
            <p:ph type="ftr" sz="quarter" idx="11"/>
          </p:nvPr>
        </p:nvSpPr>
        <p:spPr/>
        <p:txBody>
          <a:bodyPr/>
          <a:lstStyle/>
          <a:p>
            <a:r>
              <a:rPr lang="en-US" altLang="zh-CN"/>
              <a:t>Software College Northeastern University</a:t>
            </a:r>
            <a:endParaRPr lang="zh-CN" altLang="en-US"/>
          </a:p>
        </p:txBody>
      </p:sp>
      <p:sp>
        <p:nvSpPr>
          <p:cNvPr id="4" name="灯片编号占位符 3"/>
          <p:cNvSpPr>
            <a:spLocks noGrp="1"/>
          </p:cNvSpPr>
          <p:nvPr>
            <p:ph type="sldNum" sz="quarter" idx="12"/>
          </p:nvPr>
        </p:nvSpPr>
        <p:spPr/>
        <p:txBody>
          <a:bodyPr/>
          <a:lstStyle/>
          <a:p>
            <a:fld id="{6E1C0148-8E4B-4B2F-95CE-20B4709700AE}" type="slidenum">
              <a:rPr lang="zh-CN" altLang="en-US" smtClean="0"/>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grpId="0" nodeType="clickEffect">
                                  <p:stCondLst>
                                    <p:cond delay="0"/>
                                  </p:stCondLst>
                                  <p:childTnLst>
                                    <p:set>
                                      <p:cBhvr>
                                        <p:cTn id="6" dur="1" fill="hold">
                                          <p:stCondLst>
                                            <p:cond delay="0"/>
                                          </p:stCondLst>
                                        </p:cTn>
                                        <p:tgtEl>
                                          <p:spTgt spid="647171">
                                            <p:txEl>
                                              <p:pRg st="0" end="0"/>
                                            </p:txEl>
                                          </p:spTgt>
                                        </p:tgtEl>
                                        <p:attrNameLst>
                                          <p:attrName>style.visibility</p:attrName>
                                        </p:attrNameLst>
                                      </p:cBhvr>
                                      <p:to>
                                        <p:strVal val="visible"/>
                                      </p:to>
                                    </p:set>
                                    <p:animEffect transition="in" filter="blinds(vertical)">
                                      <p:cBhvr>
                                        <p:cTn id="7" dur="500"/>
                                        <p:tgtEl>
                                          <p:spTgt spid="64717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grpId="0" nodeType="clickEffect">
                                  <p:stCondLst>
                                    <p:cond delay="0"/>
                                  </p:stCondLst>
                                  <p:childTnLst>
                                    <p:set>
                                      <p:cBhvr>
                                        <p:cTn id="11" dur="1" fill="hold">
                                          <p:stCondLst>
                                            <p:cond delay="0"/>
                                          </p:stCondLst>
                                        </p:cTn>
                                        <p:tgtEl>
                                          <p:spTgt spid="647173"/>
                                        </p:tgtEl>
                                        <p:attrNameLst>
                                          <p:attrName>style.visibility</p:attrName>
                                        </p:attrNameLst>
                                      </p:cBhvr>
                                      <p:to>
                                        <p:strVal val="visible"/>
                                      </p:to>
                                    </p:set>
                                    <p:animEffect transition="in" filter="blinds(vertical)">
                                      <p:cBhvr>
                                        <p:cTn id="12" dur="500"/>
                                        <p:tgtEl>
                                          <p:spTgt spid="64717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5" fill="hold" grpId="0" nodeType="clickEffect">
                                  <p:stCondLst>
                                    <p:cond delay="0"/>
                                  </p:stCondLst>
                                  <p:childTnLst>
                                    <p:set>
                                      <p:cBhvr>
                                        <p:cTn id="16" dur="1" fill="hold">
                                          <p:stCondLst>
                                            <p:cond delay="0"/>
                                          </p:stCondLst>
                                        </p:cTn>
                                        <p:tgtEl>
                                          <p:spTgt spid="647172"/>
                                        </p:tgtEl>
                                        <p:attrNameLst>
                                          <p:attrName>style.visibility</p:attrName>
                                        </p:attrNameLst>
                                      </p:cBhvr>
                                      <p:to>
                                        <p:strVal val="visible"/>
                                      </p:to>
                                    </p:set>
                                    <p:animEffect transition="in" filter="blinds(vertical)">
                                      <p:cBhvr>
                                        <p:cTn id="17" dur="500"/>
                                        <p:tgtEl>
                                          <p:spTgt spid="6471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7171" grpId="0" build="p"/>
      <p:bldP spid="647172" grpId="0" bldLvl="0" animBg="1"/>
      <p:bldP spid="647173" grpId="0" bldLvl="0" animBg="1"/>
    </p:bldLst>
  </p:timing>
</p:sld>
</file>

<file path=ppt/slides/slide8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graphicFrame>
        <p:nvGraphicFramePr>
          <p:cNvPr id="649328" name="Group 112"/>
          <p:cNvGraphicFramePr>
            <a:graphicFrameLocks noGrp="1"/>
          </p:cNvGraphicFramePr>
          <p:nvPr>
            <p:custDataLst>
              <p:tags r:id="rId1"/>
            </p:custDataLst>
          </p:nvPr>
        </p:nvGraphicFramePr>
        <p:xfrm>
          <a:off x="0" y="1066800"/>
          <a:ext cx="9180513" cy="3802065"/>
        </p:xfrm>
        <a:graphic>
          <a:graphicData uri="http://schemas.openxmlformats.org/drawingml/2006/table">
            <a:tbl>
              <a:tblPr/>
              <a:tblGrid>
                <a:gridCol w="936625"/>
                <a:gridCol w="1511300"/>
                <a:gridCol w="1584325"/>
                <a:gridCol w="647700"/>
                <a:gridCol w="1152525"/>
                <a:gridCol w="720725"/>
                <a:gridCol w="360363"/>
                <a:gridCol w="863600"/>
                <a:gridCol w="647700"/>
                <a:gridCol w="755650"/>
              </a:tblGrid>
              <a:tr h="706438">
                <a:tc rowSpan="2">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20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rPr>
                        <a:t>n</a:t>
                      </a:r>
                      <a:endParaRPr kumimoji="1" lang="en-US" altLang="zh-CN" sz="20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a:txBody>
                  <a:tcPr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31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rPr>
                        <a:t>f(n)</a:t>
                      </a:r>
                      <a:endParaRPr kumimoji="1" lang="en-US" altLang="zh-CN" sz="31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31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rPr>
                        <a:t>n</a:t>
                      </a:r>
                      <a:r>
                        <a:rPr kumimoji="1" lang="en-US" altLang="zh-CN" sz="3100" b="1" i="0" u="none" strike="noStrike" cap="none" normalizeH="0" baseline="3000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rPr>
                        <a:t>2</a:t>
                      </a:r>
                      <a:endParaRPr kumimoji="1" lang="en-US" altLang="zh-CN" sz="3100" b="1" i="0" u="none" strike="noStrike" cap="none" normalizeH="0" baseline="3000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31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rPr>
                        <a:t>100n</a:t>
                      </a:r>
                      <a:endParaRPr kumimoji="1" lang="en-US" altLang="zh-CN" sz="31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31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rPr>
                        <a:t>log</a:t>
                      </a:r>
                      <a:r>
                        <a:rPr kumimoji="1" lang="en-US" altLang="zh-CN" sz="3100" b="1" i="0" u="none" strike="noStrike" cap="none" normalizeH="0" baseline="-2500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rPr>
                        <a:t>10</a:t>
                      </a:r>
                      <a:r>
                        <a:rPr kumimoji="1" lang="en-US" altLang="zh-CN" sz="31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rPr>
                        <a:t>n</a:t>
                      </a:r>
                      <a:endParaRPr kumimoji="1" lang="en-US" altLang="zh-CN" sz="31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31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rPr>
                        <a:t>1000</a:t>
                      </a:r>
                      <a:endParaRPr kumimoji="1" lang="en-US" altLang="zh-CN" sz="31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r>
              <a:tr h="452438">
                <a:tc vMerge="1">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zh-CN" altLang="en-US" sz="20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rPr>
                        <a:t>值</a:t>
                      </a:r>
                      <a:endParaRPr kumimoji="1" lang="zh-CN" altLang="en-US" sz="20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zh-CN" altLang="en-US" sz="20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rPr>
                        <a:t>值</a:t>
                      </a:r>
                      <a:endParaRPr kumimoji="1" lang="zh-CN" altLang="en-US" sz="20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20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rPr>
                        <a:t>%</a:t>
                      </a:r>
                      <a:endParaRPr kumimoji="1" lang="en-US" altLang="zh-CN" sz="20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zh-CN" altLang="en-US" sz="20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rPr>
                        <a:t>值</a:t>
                      </a:r>
                      <a:endParaRPr kumimoji="1" lang="zh-CN" altLang="en-US" sz="20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20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rPr>
                        <a:t>%</a:t>
                      </a:r>
                      <a:endParaRPr kumimoji="1" lang="en-US" altLang="zh-CN" sz="20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zh-CN" altLang="en-US" sz="20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rPr>
                        <a:t>值</a:t>
                      </a:r>
                      <a:endParaRPr kumimoji="1" lang="zh-CN" altLang="en-US" sz="20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20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rPr>
                        <a:t>%</a:t>
                      </a:r>
                      <a:endParaRPr kumimoji="1" lang="en-US" altLang="zh-CN" sz="20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zh-CN" altLang="en-US" sz="20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rPr>
                        <a:t>值</a:t>
                      </a:r>
                      <a:endParaRPr kumimoji="1" lang="zh-CN" altLang="en-US" sz="20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20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rPr>
                        <a:t>%</a:t>
                      </a:r>
                      <a:endParaRPr kumimoji="1" lang="en-US" altLang="zh-CN" sz="20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11163">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rPr>
                        <a:t>1</a:t>
                      </a:r>
                      <a:endPar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a:txBody>
                  <a:tcPr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rPr>
                        <a:t>1101</a:t>
                      </a:r>
                      <a:endPar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rPr>
                        <a:t>1</a:t>
                      </a:r>
                      <a:endPar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rPr>
                        <a:t>0.1</a:t>
                      </a:r>
                      <a:endPar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rPr>
                        <a:t>100</a:t>
                      </a:r>
                      <a:endPar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rPr>
                        <a:t>9.1</a:t>
                      </a:r>
                      <a:endPar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rPr>
                        <a:t>0</a:t>
                      </a:r>
                      <a:endPar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rPr>
                        <a:t>0.0</a:t>
                      </a:r>
                      <a:endPar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rPr>
                        <a:t>1000</a:t>
                      </a:r>
                      <a:endPar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rPr>
                        <a:t>90.83</a:t>
                      </a:r>
                      <a:endPar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31800">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rPr>
                        <a:t>10</a:t>
                      </a:r>
                      <a:endPar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a:txBody>
                  <a:tcPr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rPr>
                        <a:t>2101</a:t>
                      </a:r>
                      <a:endPar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rPr>
                        <a:t>100</a:t>
                      </a:r>
                      <a:endPar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rPr>
                        <a:t>4.76</a:t>
                      </a:r>
                      <a:endPar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rPr>
                        <a:t>1000</a:t>
                      </a:r>
                      <a:endPar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rPr>
                        <a:t>47.6</a:t>
                      </a:r>
                      <a:endPar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rPr>
                        <a:t>1</a:t>
                      </a:r>
                      <a:endPar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rPr>
                        <a:t>0.05</a:t>
                      </a:r>
                      <a:endPar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rPr>
                        <a:t>1000</a:t>
                      </a:r>
                      <a:endPar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rPr>
                        <a:t>47.6</a:t>
                      </a:r>
                      <a:endPar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0850">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rPr>
                        <a:t>100</a:t>
                      </a:r>
                      <a:endPar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a:txBody>
                  <a:tcPr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rPr>
                        <a:t>21002</a:t>
                      </a:r>
                      <a:endPar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rPr>
                        <a:t>10000</a:t>
                      </a:r>
                      <a:endPar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rPr>
                        <a:t>47.6</a:t>
                      </a:r>
                      <a:endPar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rPr>
                        <a:t>10000</a:t>
                      </a:r>
                      <a:endPar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rPr>
                        <a:t>47.6</a:t>
                      </a:r>
                      <a:endPar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rPr>
                        <a:t>2</a:t>
                      </a:r>
                      <a:endPar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rPr>
                        <a:t>0.001</a:t>
                      </a:r>
                      <a:endPar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rPr>
                        <a:t>1000</a:t>
                      </a:r>
                      <a:endPar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rPr>
                        <a:t>4.76</a:t>
                      </a:r>
                      <a:endPar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2438">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rPr>
                        <a:t>1000</a:t>
                      </a:r>
                      <a:endPar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a:txBody>
                  <a:tcPr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rPr>
                        <a:t>1101003</a:t>
                      </a:r>
                      <a:endPar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rPr>
                        <a:t>1000000</a:t>
                      </a:r>
                      <a:endPar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rPr>
                        <a:t>90.8</a:t>
                      </a:r>
                      <a:endPar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rPr>
                        <a:t>100000</a:t>
                      </a:r>
                      <a:endPar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rPr>
                        <a:t>9.1</a:t>
                      </a:r>
                      <a:endPar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rPr>
                        <a:t>3</a:t>
                      </a:r>
                      <a:endPar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rPr>
                        <a:t>0.0003</a:t>
                      </a:r>
                      <a:endPar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rPr>
                        <a:t>1000</a:t>
                      </a:r>
                      <a:endPar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rPr>
                        <a:t>0.09</a:t>
                      </a:r>
                      <a:endPar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0850">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rPr>
                        <a:t>10000</a:t>
                      </a:r>
                      <a:endPar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a:txBody>
                  <a:tcPr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rPr>
                        <a:t>101001004</a:t>
                      </a:r>
                      <a:endPar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rPr>
                        <a:t>100000000</a:t>
                      </a:r>
                      <a:endPar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rPr>
                        <a:t>99.0</a:t>
                      </a:r>
                      <a:endPar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rPr>
                        <a:t>1000000</a:t>
                      </a:r>
                      <a:endPar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rPr>
                        <a:t>0.99</a:t>
                      </a:r>
                      <a:endPar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rPr>
                        <a:t>4</a:t>
                      </a:r>
                      <a:endPar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rPr>
                        <a:t>0.0</a:t>
                      </a:r>
                      <a:endPar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rPr>
                        <a:t>1000</a:t>
                      </a:r>
                      <a:endPar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rPr>
                        <a:t>0.001</a:t>
                      </a:r>
                      <a:endPar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46088">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rPr>
                        <a:t>100000</a:t>
                      </a:r>
                      <a:endPar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a:txBody>
                  <a:tcPr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rPr>
                        <a:t>10010001005</a:t>
                      </a:r>
                      <a:endPar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rPr>
                        <a:t>10000000000</a:t>
                      </a:r>
                      <a:endPar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rPr>
                        <a:t>99.9</a:t>
                      </a:r>
                      <a:endPar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rPr>
                        <a:t>10000000</a:t>
                      </a:r>
                      <a:endPar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rPr>
                        <a:t>0.099</a:t>
                      </a:r>
                      <a:endPar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rPr>
                        <a:t>5</a:t>
                      </a:r>
                      <a:endPar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rPr>
                        <a:t>0.0</a:t>
                      </a:r>
                      <a:endPar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rPr>
                        <a:t>1000</a:t>
                      </a:r>
                      <a:endPar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rPr>
                        <a:t>0.00</a:t>
                      </a:r>
                      <a:endParaRPr kumimoji="1" lang="en-US" altLang="zh-CN" sz="1800" b="1" i="0" u="none" strike="noStrike" cap="none" normalizeH="0" baseline="0">
                        <a:ln>
                          <a:noFill/>
                        </a:ln>
                        <a:solidFill>
                          <a:schemeClr val="bg1">
                            <a:lumMod val="65000"/>
                            <a:lumOff val="35000"/>
                          </a:schemeClr>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649326" name="Rectangle 110"/>
          <p:cNvSpPr>
            <a:spLocks noGrp="1" noChangeArrowheads="1"/>
          </p:cNvSpPr>
          <p:nvPr>
            <p:ph type="title"/>
          </p:nvPr>
        </p:nvSpPr>
        <p:spPr/>
        <p:txBody>
          <a:bodyPr vert="horz" wrap="square" lIns="91436" tIns="45718" rIns="91436" bIns="45718" numCol="1" anchor="ctr" anchorCtr="0" compatLnSpc="1">
            <a:norm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2400" b="1" i="0" u="none" strike="noStrike" kern="0" cap="none" spc="0" normalizeH="0" baseline="0" noProof="0">
                <a:ln>
                  <a:noFill/>
                </a:ln>
                <a:solidFill>
                  <a:schemeClr val="bg1">
                    <a:lumMod val="65000"/>
                    <a:lumOff val="35000"/>
                  </a:schemeClr>
                </a:solidFill>
                <a:effectLst/>
                <a:uLnTx/>
                <a:uFillTx/>
                <a:latin typeface="Arial" panose="020B0604020202020204" pitchFamily="34" charset="0"/>
                <a:ea typeface="华文楷体" panose="02010600040101010101" charset="-122"/>
                <a:cs typeface="Arial" panose="020B0604020202020204" pitchFamily="34" charset="0"/>
              </a:rPr>
              <a:t> 函数</a:t>
            </a:r>
            <a:r>
              <a:rPr kumimoji="1" lang="en-US" altLang="zh-CN" sz="2400" b="1" i="0" u="none" strike="noStrike" kern="0" cap="none" spc="0" normalizeH="0" baseline="0" noProof="0">
                <a:ln>
                  <a:noFill/>
                </a:ln>
                <a:solidFill>
                  <a:schemeClr val="bg1">
                    <a:lumMod val="65000"/>
                    <a:lumOff val="35000"/>
                  </a:schemeClr>
                </a:solidFill>
                <a:effectLst/>
                <a:uLnTx/>
                <a:uFillTx/>
                <a:latin typeface="Arial" panose="020B0604020202020204" pitchFamily="34" charset="0"/>
                <a:ea typeface="华文楷体" panose="02010600040101010101" charset="-122"/>
                <a:cs typeface="Arial" panose="020B0604020202020204" pitchFamily="34" charset="0"/>
              </a:rPr>
              <a:t>f(n)=n</a:t>
            </a:r>
            <a:r>
              <a:rPr kumimoji="1" lang="en-US" altLang="zh-CN" sz="2400" b="1" i="0" u="none" strike="noStrike" kern="0" cap="none" spc="0" normalizeH="0" baseline="30000" noProof="0">
                <a:ln>
                  <a:noFill/>
                </a:ln>
                <a:solidFill>
                  <a:schemeClr val="bg1">
                    <a:lumMod val="65000"/>
                    <a:lumOff val="35000"/>
                  </a:schemeClr>
                </a:solidFill>
                <a:effectLst/>
                <a:uLnTx/>
                <a:uFillTx/>
                <a:latin typeface="Arial" panose="020B0604020202020204" pitchFamily="34" charset="0"/>
                <a:ea typeface="华文楷体" panose="02010600040101010101" charset="-122"/>
                <a:cs typeface="Arial" panose="020B0604020202020204" pitchFamily="34" charset="0"/>
              </a:rPr>
              <a:t>2</a:t>
            </a:r>
            <a:r>
              <a:rPr kumimoji="1" lang="en-US" altLang="zh-CN" sz="2400" b="1" i="0" u="none" strike="noStrike" kern="0" cap="none" spc="0" normalizeH="0" baseline="0" noProof="0">
                <a:ln>
                  <a:noFill/>
                </a:ln>
                <a:solidFill>
                  <a:schemeClr val="bg1">
                    <a:lumMod val="65000"/>
                    <a:lumOff val="35000"/>
                  </a:schemeClr>
                </a:solidFill>
                <a:effectLst/>
                <a:uLnTx/>
                <a:uFillTx/>
                <a:latin typeface="Arial" panose="020B0604020202020204" pitchFamily="34" charset="0"/>
                <a:ea typeface="华文楷体" panose="02010600040101010101" charset="-122"/>
                <a:cs typeface="Arial" panose="020B0604020202020204" pitchFamily="34" charset="0"/>
              </a:rPr>
              <a:t>+100n+log</a:t>
            </a:r>
            <a:r>
              <a:rPr kumimoji="1" lang="en-US" altLang="zh-CN" sz="2400" b="1" i="0" u="none" strike="noStrike" kern="0" cap="none" spc="0" normalizeH="0" baseline="-25000" noProof="0">
                <a:ln>
                  <a:noFill/>
                </a:ln>
                <a:solidFill>
                  <a:schemeClr val="bg1">
                    <a:lumMod val="65000"/>
                    <a:lumOff val="35000"/>
                  </a:schemeClr>
                </a:solidFill>
                <a:effectLst/>
                <a:uLnTx/>
                <a:uFillTx/>
                <a:latin typeface="Arial" panose="020B0604020202020204" pitchFamily="34" charset="0"/>
                <a:ea typeface="华文楷体" panose="02010600040101010101" charset="-122"/>
                <a:cs typeface="Arial" panose="020B0604020202020204" pitchFamily="34" charset="0"/>
              </a:rPr>
              <a:t>10</a:t>
            </a:r>
            <a:r>
              <a:rPr kumimoji="1" lang="en-US" altLang="zh-CN" sz="2400" b="1" i="0" u="none" strike="noStrike" kern="0" cap="none" spc="0" normalizeH="0" baseline="0" noProof="0">
                <a:ln>
                  <a:noFill/>
                </a:ln>
                <a:solidFill>
                  <a:schemeClr val="bg1">
                    <a:lumMod val="65000"/>
                    <a:lumOff val="35000"/>
                  </a:schemeClr>
                </a:solidFill>
                <a:effectLst/>
                <a:uLnTx/>
                <a:uFillTx/>
                <a:latin typeface="Arial" panose="020B0604020202020204" pitchFamily="34" charset="0"/>
                <a:ea typeface="华文楷体" panose="02010600040101010101" charset="-122"/>
                <a:cs typeface="Arial" panose="020B0604020202020204" pitchFamily="34" charset="0"/>
              </a:rPr>
              <a:t>n+1000</a:t>
            </a:r>
            <a:r>
              <a:rPr kumimoji="1" lang="zh-CN" altLang="en-US" sz="2400" b="1" i="0" u="none" strike="noStrike" kern="0" cap="none" spc="0" normalizeH="0" baseline="0" noProof="0">
                <a:ln>
                  <a:noFill/>
                </a:ln>
                <a:solidFill>
                  <a:schemeClr val="bg1">
                    <a:lumMod val="65000"/>
                    <a:lumOff val="35000"/>
                  </a:schemeClr>
                </a:solidFill>
                <a:effectLst/>
                <a:uLnTx/>
                <a:uFillTx/>
                <a:latin typeface="Arial" panose="020B0604020202020204" pitchFamily="34" charset="0"/>
                <a:ea typeface="华文楷体" panose="02010600040101010101" charset="-122"/>
                <a:cs typeface="Arial" panose="020B0604020202020204" pitchFamily="34" charset="0"/>
              </a:rPr>
              <a:t>中各项的增长速度</a:t>
            </a:r>
            <a:endParaRPr kumimoji="1" lang="zh-CN" altLang="en-US" sz="2400" b="1" i="0" u="none" strike="noStrike" kern="0" cap="none" spc="0" normalizeH="0" baseline="0" noProof="0">
              <a:ln>
                <a:noFill/>
              </a:ln>
              <a:solidFill>
                <a:schemeClr val="bg1">
                  <a:lumMod val="65000"/>
                  <a:lumOff val="35000"/>
                </a:schemeClr>
              </a:solidFill>
              <a:effectLst/>
              <a:uLnTx/>
              <a:uFillTx/>
              <a:latin typeface="Arial" panose="020B0604020202020204" pitchFamily="34" charset="0"/>
              <a:ea typeface="华文楷体" panose="02010600040101010101" charset="-122"/>
              <a:cs typeface="Arial" panose="020B0604020202020204" pitchFamily="34" charset="0"/>
            </a:endParaRPr>
          </a:p>
        </p:txBody>
      </p:sp>
      <p:sp>
        <p:nvSpPr>
          <p:cNvPr id="649329" name="Rectangle 113"/>
          <p:cNvSpPr>
            <a:spLocks noChangeArrowheads="1"/>
          </p:cNvSpPr>
          <p:nvPr/>
        </p:nvSpPr>
        <p:spPr bwMode="auto">
          <a:xfrm>
            <a:off x="-152400" y="5013325"/>
            <a:ext cx="9372600" cy="1655763"/>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marR="0" lvl="0" indent="-342900" algn="l" defTabSz="914400" rtl="0" eaLnBrk="0" fontAlgn="base" latinLnBrk="0" hangingPunct="0">
              <a:lnSpc>
                <a:spcPct val="100000"/>
              </a:lnSpc>
              <a:spcBef>
                <a:spcPct val="20000"/>
              </a:spcBef>
              <a:spcAft>
                <a:spcPct val="0"/>
              </a:spcAft>
              <a:buClr>
                <a:schemeClr val="accent1"/>
              </a:buClr>
              <a:buSzTx/>
              <a:buFontTx/>
              <a:buChar char="•"/>
              <a:defRPr/>
            </a:pPr>
            <a:r>
              <a:rPr kumimoji="1" lang="en-US" altLang="zh-CN" sz="2400" b="1" i="0" u="none" strike="noStrike" kern="1200" cap="none" spc="0" normalizeH="0" baseline="0" noProof="0">
                <a:ln>
                  <a:noFill/>
                </a:ln>
                <a:solidFill>
                  <a:schemeClr val="bg1">
                    <a:lumMod val="65000"/>
                    <a:lumOff val="35000"/>
                  </a:schemeClr>
                </a:solidFill>
                <a:uLnTx/>
                <a:uFillTx/>
                <a:latin typeface="Arial" panose="020B0604020202020204" pitchFamily="34" charset="0"/>
                <a:ea typeface="华文楷体" panose="02010600040101010101" charset="-122"/>
                <a:cs typeface="Arial" panose="020B0604020202020204" pitchFamily="34" charset="0"/>
              </a:rPr>
              <a:t>【</a:t>
            </a:r>
            <a:r>
              <a:rPr kumimoji="1" lang="zh-CN" altLang="en-US" sz="2400" b="1" i="0" u="none" strike="noStrike" kern="1200" cap="none" spc="0" normalizeH="0" baseline="0" noProof="0">
                <a:ln>
                  <a:noFill/>
                </a:ln>
                <a:solidFill>
                  <a:schemeClr val="bg1">
                    <a:lumMod val="65000"/>
                    <a:lumOff val="35000"/>
                  </a:schemeClr>
                </a:solidFill>
                <a:uLnTx/>
                <a:uFillTx/>
                <a:latin typeface="Arial" panose="020B0604020202020204" pitchFamily="34" charset="0"/>
                <a:ea typeface="华文楷体" panose="02010600040101010101" charset="-122"/>
                <a:cs typeface="Arial" panose="020B0604020202020204" pitchFamily="34" charset="0"/>
              </a:rPr>
              <a:t>关注</a:t>
            </a:r>
            <a:r>
              <a:rPr kumimoji="1" lang="en-US" altLang="zh-CN" sz="2400" b="1" i="0" u="none" strike="noStrike" kern="1200" cap="none" spc="0" normalizeH="0" baseline="0" noProof="0">
                <a:ln>
                  <a:noFill/>
                </a:ln>
                <a:solidFill>
                  <a:schemeClr val="bg1">
                    <a:lumMod val="65000"/>
                    <a:lumOff val="35000"/>
                  </a:schemeClr>
                </a:solidFill>
                <a:uLnTx/>
                <a:uFillTx/>
                <a:latin typeface="Arial" panose="020B0604020202020204" pitchFamily="34" charset="0"/>
                <a:ea typeface="华文楷体" panose="02010600040101010101" charset="-122"/>
                <a:cs typeface="Arial" panose="020B0604020202020204" pitchFamily="34" charset="0"/>
              </a:rPr>
              <a:t>】</a:t>
            </a:r>
            <a:r>
              <a:rPr kumimoji="1" lang="zh-CN" altLang="en-US" sz="2400" b="1" i="0" u="none" strike="noStrike" kern="1200" cap="none" spc="0" normalizeH="0" baseline="0" noProof="0">
                <a:ln>
                  <a:noFill/>
                </a:ln>
                <a:solidFill>
                  <a:schemeClr val="bg1">
                    <a:lumMod val="65000"/>
                    <a:lumOff val="35000"/>
                  </a:schemeClr>
                </a:solidFill>
                <a:uLnTx/>
                <a:uFillTx/>
                <a:latin typeface="Arial" panose="020B0604020202020204" pitchFamily="34" charset="0"/>
                <a:ea typeface="华文楷体" panose="02010600040101010101" charset="-122"/>
                <a:cs typeface="Arial" panose="020B0604020202020204" pitchFamily="34" charset="0"/>
              </a:rPr>
              <a:t>问题规模（实例特征）</a:t>
            </a:r>
            <a:r>
              <a:rPr kumimoji="1" lang="en-US" altLang="zh-CN" sz="2400" b="1" i="1" u="none" strike="noStrike" kern="1200" cap="none" spc="0" normalizeH="0" baseline="0" noProof="0">
                <a:ln>
                  <a:noFill/>
                </a:ln>
                <a:solidFill>
                  <a:schemeClr val="bg1">
                    <a:lumMod val="65000"/>
                    <a:lumOff val="35000"/>
                  </a:schemeClr>
                </a:solidFill>
                <a:uLnTx/>
                <a:uFillTx/>
                <a:latin typeface="Arial" panose="020B0604020202020204" pitchFamily="34" charset="0"/>
                <a:ea typeface="华文楷体" panose="02010600040101010101" charset="-122"/>
                <a:cs typeface="Arial" panose="020B0604020202020204" pitchFamily="34" charset="0"/>
              </a:rPr>
              <a:t>n</a:t>
            </a:r>
            <a:r>
              <a:rPr kumimoji="1" lang="zh-CN" altLang="en-US" sz="2400" b="1" i="0" u="none" strike="noStrike" kern="1200" cap="none" spc="0" normalizeH="0" baseline="0" noProof="0">
                <a:ln>
                  <a:noFill/>
                </a:ln>
                <a:solidFill>
                  <a:schemeClr val="bg1">
                    <a:lumMod val="65000"/>
                    <a:lumOff val="35000"/>
                  </a:schemeClr>
                </a:solidFill>
                <a:uLnTx/>
                <a:uFillTx/>
                <a:latin typeface="Arial" panose="020B0604020202020204" pitchFamily="34" charset="0"/>
                <a:ea typeface="华文楷体" panose="02010600040101010101" charset="-122"/>
                <a:cs typeface="Arial" panose="020B0604020202020204" pitchFamily="34" charset="0"/>
              </a:rPr>
              <a:t>足够大时程序的性能，即复杂度问题一般考虑的只是对于问题规模</a:t>
            </a:r>
            <a:r>
              <a:rPr kumimoji="1" lang="en-US" altLang="zh-CN" sz="2400" b="1" i="1" u="none" strike="noStrike" kern="1200" cap="none" spc="0" normalizeH="0" baseline="0" noProof="0">
                <a:ln>
                  <a:noFill/>
                </a:ln>
                <a:solidFill>
                  <a:schemeClr val="bg1">
                    <a:lumMod val="65000"/>
                    <a:lumOff val="35000"/>
                  </a:schemeClr>
                </a:solidFill>
                <a:uLnTx/>
                <a:uFillTx/>
                <a:latin typeface="Arial" panose="020B0604020202020204" pitchFamily="34" charset="0"/>
                <a:ea typeface="华文楷体" panose="02010600040101010101" charset="-122"/>
                <a:cs typeface="Arial" panose="020B0604020202020204" pitchFamily="34" charset="0"/>
              </a:rPr>
              <a:t>n</a:t>
            </a:r>
            <a:r>
              <a:rPr kumimoji="1" lang="zh-CN" altLang="en-US" sz="2400" b="1" i="0" u="none" strike="noStrike" kern="1200" cap="none" spc="0" normalizeH="0" baseline="0" noProof="0">
                <a:ln>
                  <a:noFill/>
                </a:ln>
                <a:solidFill>
                  <a:schemeClr val="bg1">
                    <a:lumMod val="65000"/>
                    <a:lumOff val="35000"/>
                  </a:schemeClr>
                </a:solidFill>
                <a:uLnTx/>
                <a:uFillTx/>
                <a:latin typeface="Arial" panose="020B0604020202020204" pitchFamily="34" charset="0"/>
                <a:ea typeface="华文楷体" panose="02010600040101010101" charset="-122"/>
                <a:cs typeface="Arial" panose="020B0604020202020204" pitchFamily="34" charset="0"/>
              </a:rPr>
              <a:t>的增长率。</a:t>
            </a:r>
            <a:endParaRPr kumimoji="1" lang="zh-CN" altLang="en-US" sz="2400" b="1" i="0" u="none" strike="noStrike" kern="1200" cap="none" spc="0" normalizeH="0" baseline="0" noProof="0">
              <a:ln>
                <a:noFill/>
              </a:ln>
              <a:solidFill>
                <a:schemeClr val="bg1">
                  <a:lumMod val="65000"/>
                  <a:lumOff val="35000"/>
                </a:schemeClr>
              </a:solidFill>
              <a:uLnTx/>
              <a:uFillTx/>
              <a:latin typeface="Arial" panose="020B0604020202020204" pitchFamily="34" charset="0"/>
              <a:ea typeface="华文楷体" panose="02010600040101010101" charset="-122"/>
              <a:cs typeface="Arial" panose="020B0604020202020204" pitchFamily="34" charset="0"/>
            </a:endParaRPr>
          </a:p>
          <a:p>
            <a:pPr marL="342900" marR="0" lvl="0" indent="-342900" algn="l" defTabSz="914400" rtl="0" eaLnBrk="0" fontAlgn="base" latinLnBrk="0" hangingPunct="0">
              <a:lnSpc>
                <a:spcPct val="100000"/>
              </a:lnSpc>
              <a:spcBef>
                <a:spcPct val="20000"/>
              </a:spcBef>
              <a:spcAft>
                <a:spcPct val="0"/>
              </a:spcAft>
              <a:buClr>
                <a:schemeClr val="accent1"/>
              </a:buClr>
              <a:buSzTx/>
              <a:buFontTx/>
              <a:buChar char="•"/>
              <a:defRPr/>
            </a:pPr>
            <a:r>
              <a:rPr kumimoji="1" lang="zh-CN" altLang="en-US" sz="2400" b="1" i="0" u="none" strike="noStrike" kern="1200" cap="none" spc="0" normalizeH="0" baseline="0" noProof="0">
                <a:ln>
                  <a:noFill/>
                </a:ln>
                <a:solidFill>
                  <a:schemeClr val="bg1">
                    <a:lumMod val="65000"/>
                    <a:lumOff val="35000"/>
                  </a:schemeClr>
                </a:solidFill>
                <a:uLnTx/>
                <a:uFillTx/>
                <a:latin typeface="Arial" panose="020B0604020202020204" pitchFamily="34" charset="0"/>
                <a:ea typeface="华文楷体" panose="02010600040101010101" charset="-122"/>
                <a:cs typeface="Arial" panose="020B0604020202020204" pitchFamily="34" charset="0"/>
              </a:rPr>
              <a:t>在难以获得精确的操作计数时，只需求出它关于</a:t>
            </a:r>
            <a:r>
              <a:rPr kumimoji="1" lang="en-US" altLang="zh-CN" sz="2400" b="1" i="1" u="none" strike="noStrike" kern="1200" cap="none" spc="0" normalizeH="0" baseline="0" noProof="0">
                <a:ln>
                  <a:noFill/>
                </a:ln>
                <a:solidFill>
                  <a:schemeClr val="bg1">
                    <a:lumMod val="65000"/>
                    <a:lumOff val="35000"/>
                  </a:schemeClr>
                </a:solidFill>
                <a:uLnTx/>
                <a:uFillTx/>
                <a:latin typeface="Arial" panose="020B0604020202020204" pitchFamily="34" charset="0"/>
                <a:ea typeface="华文楷体" panose="02010600040101010101" charset="-122"/>
                <a:cs typeface="Arial" panose="020B0604020202020204" pitchFamily="34" charset="0"/>
              </a:rPr>
              <a:t>n</a:t>
            </a:r>
            <a:r>
              <a:rPr kumimoji="1" lang="zh-CN" altLang="en-US" sz="2400" b="1" i="0" u="none" strike="noStrike" kern="1200" cap="none" spc="0" normalizeH="0" baseline="0" noProof="0">
                <a:ln>
                  <a:noFill/>
                </a:ln>
                <a:solidFill>
                  <a:schemeClr val="bg1">
                    <a:lumMod val="65000"/>
                    <a:lumOff val="35000"/>
                  </a:schemeClr>
                </a:solidFill>
                <a:uLnTx/>
                <a:uFillTx/>
                <a:latin typeface="Arial" panose="020B0604020202020204" pitchFamily="34" charset="0"/>
                <a:ea typeface="华文楷体" panose="02010600040101010101" charset="-122"/>
                <a:cs typeface="Arial" panose="020B0604020202020204" pitchFamily="34" charset="0"/>
              </a:rPr>
              <a:t>的增长率即可。</a:t>
            </a:r>
            <a:endParaRPr kumimoji="1" lang="zh-CN" altLang="en-US" sz="2400" b="1" i="0" u="none" strike="noStrike" kern="1200" cap="none" spc="0" normalizeH="0" baseline="0" noProof="0">
              <a:ln>
                <a:noFill/>
              </a:ln>
              <a:solidFill>
                <a:schemeClr val="bg1">
                  <a:lumMod val="65000"/>
                  <a:lumOff val="35000"/>
                </a:schemeClr>
              </a:solidFill>
              <a:uLnTx/>
              <a:uFillTx/>
              <a:latin typeface="Arial" panose="020B0604020202020204" pitchFamily="34" charset="0"/>
              <a:ea typeface="华文楷体" panose="02010600040101010101" charset="-122"/>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6493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5" fill="hold" grpId="0" nodeType="clickEffect">
                                  <p:stCondLst>
                                    <p:cond delay="0"/>
                                  </p:stCondLst>
                                  <p:childTnLst>
                                    <p:set>
                                      <p:cBhvr>
                                        <p:cTn id="10" dur="1" fill="hold">
                                          <p:stCondLst>
                                            <p:cond delay="0"/>
                                          </p:stCondLst>
                                        </p:cTn>
                                        <p:tgtEl>
                                          <p:spTgt spid="649329"/>
                                        </p:tgtEl>
                                        <p:attrNameLst>
                                          <p:attrName>style.visibility</p:attrName>
                                        </p:attrNameLst>
                                      </p:cBhvr>
                                      <p:to>
                                        <p:strVal val="visible"/>
                                      </p:to>
                                    </p:set>
                                    <p:animEffect transition="in" filter="blinds(vertical)">
                                      <p:cBhvr>
                                        <p:cTn id="11" dur="500"/>
                                        <p:tgtEl>
                                          <p:spTgt spid="6493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9329" grpId="0" bldLvl="0" animBg="1"/>
    </p:bldLst>
  </p:timing>
</p:sld>
</file>

<file path=ppt/slides/slide8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latin typeface="华文楷体" panose="02010600040101010101" charset="-122"/>
              <a:ea typeface="华文楷体" panose="02010600040101010101" charset="-122"/>
            </a:endParaRPr>
          </a:p>
        </p:txBody>
      </p:sp>
      <p:sp>
        <p:nvSpPr>
          <p:cNvPr id="116738" name="Date Placeholder 3"/>
          <p:cNvSpPr>
            <a:spLocks noGrp="1"/>
          </p:cNvSpPr>
          <p:nvPr>
            <p:ph type="dt" sz="half" idx="10"/>
          </p:nvPr>
        </p:nvSpPr>
        <p:spPr>
          <a:ln>
            <a:miter lim="800000"/>
          </a:ln>
        </p:spPr>
        <p:txBody>
          <a:bodyPr/>
          <a:lstStyle/>
          <a:p>
            <a:pPr>
              <a:defRPr/>
            </a:pPr>
            <a:r>
              <a:rPr lang="en-US" altLang="zh-CN">
                <a:latin typeface="华文楷体" panose="02010600040101010101" charset="-122"/>
                <a:ea typeface="华文楷体" panose="02010600040101010101" charset="-122"/>
              </a:rPr>
              <a:t>Data Structures and algorithms</a:t>
            </a:r>
            <a:endParaRPr lang="en-US" altLang="zh-CN">
              <a:latin typeface="华文楷体" panose="02010600040101010101" charset="-122"/>
              <a:ea typeface="华文楷体" panose="02010600040101010101" charset="-122"/>
            </a:endParaRPr>
          </a:p>
        </p:txBody>
      </p:sp>
      <p:sp>
        <p:nvSpPr>
          <p:cNvPr id="116739" name="Footer Placeholder 4"/>
          <p:cNvSpPr>
            <a:spLocks noGrp="1"/>
          </p:cNvSpPr>
          <p:nvPr>
            <p:ph type="ftr" sz="quarter" idx="11"/>
          </p:nvPr>
        </p:nvSpPr>
        <p:spPr>
          <a:ln>
            <a:miter lim="800000"/>
          </a:ln>
        </p:spPr>
        <p:txBody>
          <a:bodyPr/>
          <a:lstStyle/>
          <a:p>
            <a:pPr>
              <a:defRPr/>
            </a:pPr>
            <a:r>
              <a:rPr lang="zh-CN" altLang="en-US">
                <a:latin typeface="华文楷体" panose="02010600040101010101" charset="-122"/>
                <a:ea typeface="华文楷体" panose="02010600040101010101" charset="-122"/>
              </a:rPr>
              <a:t>Software College Northeastern University</a:t>
            </a:r>
            <a:endParaRPr lang="en-US" altLang="zh-CN">
              <a:latin typeface="华文楷体" panose="02010600040101010101" charset="-122"/>
              <a:ea typeface="华文楷体" panose="02010600040101010101" charset="-122"/>
            </a:endParaRPr>
          </a:p>
        </p:txBody>
      </p:sp>
      <p:sp>
        <p:nvSpPr>
          <p:cNvPr id="183300" name="Slide Number Placeholder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Monotype Sorts" pitchFamily="2" charset="2"/>
              <a:buChar char="z"/>
              <a:defRPr sz="3050">
                <a:solidFill>
                  <a:schemeClr val="tx1"/>
                </a:solidFill>
                <a:latin typeface="Tahoma" panose="020B0604030504040204" pitchFamily="34" charset="0"/>
                <a:ea typeface="宋体" panose="02010600030101010101" pitchFamily="2" charset="-122"/>
              </a:defRPr>
            </a:lvl1pPr>
            <a:lvl2pPr marL="707390" indent="-272415">
              <a:spcBef>
                <a:spcPct val="20000"/>
              </a:spcBef>
              <a:buClr>
                <a:schemeClr val="accent2"/>
              </a:buClr>
              <a:buFont typeface="Monotype Sorts" pitchFamily="2" charset="2"/>
              <a:buChar char="y"/>
              <a:defRPr sz="2665">
                <a:solidFill>
                  <a:schemeClr val="tx1"/>
                </a:solidFill>
                <a:latin typeface="Tahoma" panose="020B0604030504040204" pitchFamily="34" charset="0"/>
                <a:ea typeface="宋体" panose="02010600030101010101" pitchFamily="2" charset="-122"/>
              </a:defRPr>
            </a:lvl2pPr>
            <a:lvl3pPr marL="1088390" indent="-217805">
              <a:spcBef>
                <a:spcPct val="20000"/>
              </a:spcBef>
              <a:buClr>
                <a:schemeClr val="accent2"/>
              </a:buClr>
              <a:buFont typeface="Monotype Sorts" pitchFamily="2" charset="2"/>
              <a:buChar char="x"/>
              <a:defRPr sz="2285">
                <a:solidFill>
                  <a:schemeClr val="tx1"/>
                </a:solidFill>
                <a:latin typeface="Tahoma" panose="020B0604030504040204" pitchFamily="34" charset="0"/>
                <a:ea typeface="宋体" panose="02010600030101010101" pitchFamily="2" charset="-122"/>
              </a:defRPr>
            </a:lvl3pPr>
            <a:lvl4pPr marL="1524000" indent="-217805">
              <a:spcBef>
                <a:spcPct val="20000"/>
              </a:spcBef>
              <a:buClr>
                <a:schemeClr val="accent2"/>
              </a:buClr>
              <a:buChar char="•"/>
              <a:defRPr sz="1905">
                <a:solidFill>
                  <a:schemeClr val="tx1"/>
                </a:solidFill>
                <a:latin typeface="Tahoma" panose="020B0604030504040204" pitchFamily="34" charset="0"/>
                <a:ea typeface="宋体" panose="02010600030101010101" pitchFamily="2" charset="-122"/>
              </a:defRPr>
            </a:lvl4pPr>
            <a:lvl5pPr marL="1959610" indent="-217805">
              <a:spcBef>
                <a:spcPct val="20000"/>
              </a:spcBef>
              <a:buClr>
                <a:schemeClr val="accent2"/>
              </a:buClr>
              <a:buChar char="–"/>
              <a:defRPr sz="1905">
                <a:solidFill>
                  <a:schemeClr val="tx1"/>
                </a:solidFill>
                <a:latin typeface="Tahoma" panose="020B0604030504040204" pitchFamily="34" charset="0"/>
                <a:ea typeface="宋体" panose="02010600030101010101" pitchFamily="2" charset="-122"/>
              </a:defRPr>
            </a:lvl5pPr>
            <a:lvl6pPr marL="2395220" indent="-217805" eaLnBrk="0" fontAlgn="base" hangingPunct="0">
              <a:spcBef>
                <a:spcPct val="20000"/>
              </a:spcBef>
              <a:spcAft>
                <a:spcPct val="0"/>
              </a:spcAft>
              <a:buClr>
                <a:schemeClr val="accent2"/>
              </a:buClr>
              <a:buChar char="–"/>
              <a:defRPr sz="1905">
                <a:solidFill>
                  <a:schemeClr val="tx1"/>
                </a:solidFill>
                <a:latin typeface="Tahoma" panose="020B0604030504040204" pitchFamily="34" charset="0"/>
                <a:ea typeface="宋体" panose="02010600030101010101" pitchFamily="2" charset="-122"/>
              </a:defRPr>
            </a:lvl6pPr>
            <a:lvl7pPr marL="2830195" indent="-217805" eaLnBrk="0" fontAlgn="base" hangingPunct="0">
              <a:spcBef>
                <a:spcPct val="20000"/>
              </a:spcBef>
              <a:spcAft>
                <a:spcPct val="0"/>
              </a:spcAft>
              <a:buClr>
                <a:schemeClr val="accent2"/>
              </a:buClr>
              <a:buChar char="–"/>
              <a:defRPr sz="1905">
                <a:solidFill>
                  <a:schemeClr val="tx1"/>
                </a:solidFill>
                <a:latin typeface="Tahoma" panose="020B0604030504040204" pitchFamily="34" charset="0"/>
                <a:ea typeface="宋体" panose="02010600030101010101" pitchFamily="2" charset="-122"/>
              </a:defRPr>
            </a:lvl7pPr>
            <a:lvl8pPr marL="3265805" indent="-217805" eaLnBrk="0" fontAlgn="base" hangingPunct="0">
              <a:spcBef>
                <a:spcPct val="20000"/>
              </a:spcBef>
              <a:spcAft>
                <a:spcPct val="0"/>
              </a:spcAft>
              <a:buClr>
                <a:schemeClr val="accent2"/>
              </a:buClr>
              <a:buChar char="–"/>
              <a:defRPr sz="1905">
                <a:solidFill>
                  <a:schemeClr val="tx1"/>
                </a:solidFill>
                <a:latin typeface="Tahoma" panose="020B0604030504040204" pitchFamily="34" charset="0"/>
                <a:ea typeface="宋体" panose="02010600030101010101" pitchFamily="2" charset="-122"/>
              </a:defRPr>
            </a:lvl8pPr>
            <a:lvl9pPr marL="3701415" indent="-217805" eaLnBrk="0" fontAlgn="base" hangingPunct="0">
              <a:spcBef>
                <a:spcPct val="20000"/>
              </a:spcBef>
              <a:spcAft>
                <a:spcPct val="0"/>
              </a:spcAft>
              <a:buClr>
                <a:schemeClr val="accent2"/>
              </a:buClr>
              <a:buChar char="–"/>
              <a:defRPr sz="1905">
                <a:solidFill>
                  <a:schemeClr val="tx1"/>
                </a:solidFill>
                <a:latin typeface="Tahoma" panose="020B0604030504040204" pitchFamily="34" charset="0"/>
                <a:ea typeface="宋体" panose="02010600030101010101" pitchFamily="2" charset="-122"/>
              </a:defRPr>
            </a:lvl9pPr>
          </a:lstStyle>
          <a:p>
            <a:pPr>
              <a:spcBef>
                <a:spcPct val="50000"/>
              </a:spcBef>
              <a:buClrTx/>
              <a:buFontTx/>
              <a:buNone/>
            </a:pPr>
            <a:fld id="{7563A31C-E4DB-42C4-A239-3313261E500E}" type="slidenum">
              <a:rPr lang="zh-CN" altLang="en-US" sz="1335">
                <a:solidFill>
                  <a:schemeClr val="bg2"/>
                </a:solidFill>
                <a:latin typeface="华文楷体" panose="02010600040101010101" charset="-122"/>
                <a:ea typeface="华文楷体" panose="02010600040101010101" charset="-122"/>
              </a:rPr>
            </a:fld>
            <a:endParaRPr lang="en-US" altLang="zh-CN" sz="1335">
              <a:solidFill>
                <a:schemeClr val="bg2"/>
              </a:solidFill>
              <a:latin typeface="华文楷体" panose="02010600040101010101" charset="-122"/>
              <a:ea typeface="华文楷体" panose="02010600040101010101" charset="-122"/>
            </a:endParaRPr>
          </a:p>
        </p:txBody>
      </p:sp>
      <p:sp>
        <p:nvSpPr>
          <p:cNvPr id="680962" name="Rectangle 2"/>
          <p:cNvSpPr>
            <a:spLocks noGrp="1" noChangeArrowheads="1"/>
          </p:cNvSpPr>
          <p:nvPr>
            <p:ph type="title"/>
          </p:nvPr>
        </p:nvSpPr>
        <p:spPr/>
        <p:txBody>
          <a:bodyPr/>
          <a:lstStyle/>
          <a:p>
            <a:pPr>
              <a:defRPr/>
            </a:pPr>
            <a:r>
              <a:rPr lang="en-US" altLang="zh-CN" sz="4000" dirty="0">
                <a:solidFill>
                  <a:schemeClr val="tx1">
                    <a:lumMod val="50000"/>
                    <a:lumOff val="50000"/>
                  </a:schemeClr>
                </a:solidFill>
                <a:latin typeface="华文楷体" panose="02010600040101010101" charset="-122"/>
                <a:ea typeface="华文楷体" panose="02010600040101010101" charset="-122"/>
              </a:rPr>
              <a:t>(</a:t>
            </a:r>
            <a:r>
              <a:rPr lang="zh-CN" altLang="en-US" sz="4000" dirty="0">
                <a:solidFill>
                  <a:schemeClr val="tx1">
                    <a:lumMod val="50000"/>
                    <a:lumOff val="50000"/>
                  </a:schemeClr>
                </a:solidFill>
                <a:latin typeface="华文楷体" panose="02010600040101010101" charset="-122"/>
                <a:ea typeface="华文楷体" panose="02010600040101010101" charset="-122"/>
              </a:rPr>
              <a:t>渐近</a:t>
            </a:r>
            <a:r>
              <a:rPr lang="en-US" altLang="zh-CN" sz="4000" dirty="0">
                <a:solidFill>
                  <a:schemeClr val="tx1">
                    <a:lumMod val="50000"/>
                    <a:lumOff val="50000"/>
                  </a:schemeClr>
                </a:solidFill>
                <a:latin typeface="华文楷体" panose="02010600040101010101" charset="-122"/>
                <a:ea typeface="华文楷体" panose="02010600040101010101" charset="-122"/>
              </a:rPr>
              <a:t>)</a:t>
            </a:r>
            <a:r>
              <a:rPr lang="zh-CN" altLang="en-US" sz="4000" dirty="0">
                <a:solidFill>
                  <a:schemeClr val="tx1">
                    <a:lumMod val="50000"/>
                    <a:lumOff val="50000"/>
                  </a:schemeClr>
                </a:solidFill>
                <a:latin typeface="华文楷体" panose="02010600040101010101" charset="-122"/>
                <a:ea typeface="华文楷体" panose="02010600040101010101" charset="-122"/>
              </a:rPr>
              <a:t>时间复杂度</a:t>
            </a:r>
            <a:endParaRPr lang="en-US" altLang="zh-CN" dirty="0">
              <a:solidFill>
                <a:schemeClr val="tx1">
                  <a:lumMod val="50000"/>
                  <a:lumOff val="50000"/>
                </a:schemeClr>
              </a:solidFill>
              <a:effectLst>
                <a:outerShdw blurRad="38100" dist="38100" dir="2700000" algn="tl">
                  <a:srgbClr val="C0C0C0"/>
                </a:outerShdw>
              </a:effectLst>
              <a:latin typeface="华文楷体" panose="02010600040101010101" charset="-122"/>
              <a:ea typeface="华文楷体" panose="02010600040101010101" charset="-122"/>
            </a:endParaRPr>
          </a:p>
        </p:txBody>
      </p:sp>
      <p:sp>
        <p:nvSpPr>
          <p:cNvPr id="183302" name="Rectangle 3"/>
          <p:cNvSpPr>
            <a:spLocks noChangeArrowheads="1"/>
          </p:cNvSpPr>
          <p:nvPr/>
        </p:nvSpPr>
        <p:spPr bwMode="auto">
          <a:xfrm>
            <a:off x="798286" y="1614714"/>
            <a:ext cx="8345714"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Font typeface="Monotype Sorts" pitchFamily="2" charset="2"/>
              <a:buChar char="z"/>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accent2"/>
              </a:buClr>
              <a:buFont typeface="Monotype Sorts" pitchFamily="2" charset="2"/>
              <a:buChar char="y"/>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accent2"/>
              </a:buClr>
              <a:buFont typeface="Monotype Sorts" pitchFamily="2" charset="2"/>
              <a:buChar char="x"/>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2"/>
              </a:buClr>
              <a:buChar char="–"/>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sz="2000">
                <a:solidFill>
                  <a:schemeClr val="tx1"/>
                </a:solidFill>
                <a:latin typeface="Tahoma" panose="020B0604030504040204" pitchFamily="34" charset="0"/>
                <a:ea typeface="宋体" panose="02010600030101010101" pitchFamily="2" charset="-122"/>
              </a:defRPr>
            </a:lvl9pPr>
          </a:lstStyle>
          <a:p>
            <a:pPr eaLnBrk="1" hangingPunct="1">
              <a:lnSpc>
                <a:spcPct val="105000"/>
              </a:lnSpc>
            </a:pPr>
            <a:r>
              <a:rPr lang="en-US" altLang="zh-CN" sz="2665" dirty="0">
                <a:latin typeface="华文楷体" panose="02010600040101010101" charset="-122"/>
                <a:ea typeface="华文楷体" panose="02010600040101010101" charset="-122"/>
                <a:cs typeface="Arial" panose="020B0604020202020204" pitchFamily="34" charset="0"/>
              </a:rPr>
              <a:t>O</a:t>
            </a:r>
            <a:r>
              <a:rPr lang="zh-CN" altLang="en-US" sz="2665" dirty="0">
                <a:latin typeface="华文楷体" panose="02010600040101010101" charset="-122"/>
                <a:ea typeface="华文楷体" panose="02010600040101010101" charset="-122"/>
                <a:cs typeface="Arial" panose="020B0604020202020204" pitchFamily="34" charset="0"/>
              </a:rPr>
              <a:t>表示法</a:t>
            </a:r>
            <a:r>
              <a:rPr lang="en-US" altLang="zh-CN" sz="2665" dirty="0">
                <a:latin typeface="华文楷体" panose="02010600040101010101" charset="-122"/>
                <a:ea typeface="华文楷体" panose="02010600040101010101" charset="-122"/>
                <a:cs typeface="Arial" panose="020B0604020202020204" pitchFamily="34" charset="0"/>
              </a:rPr>
              <a:t>:</a:t>
            </a:r>
            <a:endParaRPr lang="en-US" altLang="zh-CN" sz="2665" dirty="0">
              <a:latin typeface="华文楷体" panose="02010600040101010101" charset="-122"/>
              <a:ea typeface="华文楷体" panose="02010600040101010101" charset="-122"/>
              <a:cs typeface="Arial" panose="020B0604020202020204" pitchFamily="34" charset="0"/>
            </a:endParaRPr>
          </a:p>
          <a:p>
            <a:pPr eaLnBrk="1" hangingPunct="1">
              <a:lnSpc>
                <a:spcPct val="105000"/>
              </a:lnSpc>
              <a:buFont typeface="Monotype Sorts" pitchFamily="2" charset="2"/>
              <a:buNone/>
            </a:pPr>
            <a:r>
              <a:rPr lang="en-US" altLang="zh-CN" sz="2665" dirty="0">
                <a:latin typeface="华文楷体" panose="02010600040101010101" charset="-122"/>
                <a:ea typeface="华文楷体" panose="02010600040101010101" charset="-122"/>
                <a:cs typeface="Arial" panose="020B0604020202020204" pitchFamily="34" charset="0"/>
              </a:rPr>
              <a:t>           </a:t>
            </a:r>
            <a:r>
              <a:rPr lang="en-US" altLang="zh-CN" sz="2665" dirty="0">
                <a:highlight>
                  <a:srgbClr val="FFFF00"/>
                </a:highlight>
                <a:latin typeface="华文楷体" panose="02010600040101010101" charset="-122"/>
                <a:ea typeface="华文楷体" panose="02010600040101010101" charset="-122"/>
                <a:cs typeface="Arial" panose="020B0604020202020204" pitchFamily="34" charset="0"/>
              </a:rPr>
              <a:t> </a:t>
            </a:r>
            <a:r>
              <a:rPr lang="en-US" altLang="zh-CN" sz="2665" dirty="0">
                <a:solidFill>
                  <a:srgbClr val="FF0000"/>
                </a:solidFill>
                <a:highlight>
                  <a:srgbClr val="FFFF00"/>
                </a:highlight>
                <a:latin typeface="华文楷体" panose="02010600040101010101" charset="-122"/>
                <a:ea typeface="华文楷体" panose="02010600040101010101" charset="-122"/>
                <a:cs typeface="Arial" panose="020B0604020202020204" pitchFamily="34" charset="0"/>
              </a:rPr>
              <a:t>T(N) = O(f(N))</a:t>
            </a:r>
            <a:endParaRPr lang="en-US" altLang="zh-CN" sz="2665" dirty="0">
              <a:solidFill>
                <a:srgbClr val="FF0000"/>
              </a:solidFill>
              <a:highlight>
                <a:srgbClr val="FFFF00"/>
              </a:highlight>
              <a:latin typeface="华文楷体" panose="02010600040101010101" charset="-122"/>
              <a:ea typeface="华文楷体" panose="02010600040101010101" charset="-122"/>
              <a:cs typeface="Arial" panose="020B0604020202020204" pitchFamily="34" charset="0"/>
            </a:endParaRPr>
          </a:p>
          <a:p>
            <a:pPr>
              <a:lnSpc>
                <a:spcPct val="105000"/>
              </a:lnSpc>
              <a:buNone/>
            </a:pPr>
            <a:r>
              <a:rPr lang="en-US" altLang="zh-CN" sz="2665" dirty="0">
                <a:solidFill>
                  <a:srgbClr val="009900"/>
                </a:solidFill>
                <a:latin typeface="华文楷体" panose="02010600040101010101" charset="-122"/>
                <a:ea typeface="华文楷体" panose="02010600040101010101" charset="-122"/>
                <a:cs typeface="Arial" panose="020B0604020202020204" pitchFamily="34" charset="0"/>
              </a:rPr>
              <a:t>    </a:t>
            </a:r>
            <a:r>
              <a:rPr lang="zh-CN" altLang="en-US" sz="2665" dirty="0">
                <a:solidFill>
                  <a:srgbClr val="009900"/>
                </a:solidFill>
                <a:latin typeface="华文楷体" panose="02010600040101010101" charset="-122"/>
                <a:ea typeface="华文楷体" panose="02010600040101010101" charset="-122"/>
                <a:cs typeface="Arial" panose="020B0604020202020204" pitchFamily="34" charset="0"/>
              </a:rPr>
              <a:t>如果存在一个正常数</a:t>
            </a:r>
            <a:r>
              <a:rPr lang="en-US" altLang="zh-CN" sz="2665" dirty="0">
                <a:solidFill>
                  <a:srgbClr val="009900"/>
                </a:solidFill>
                <a:latin typeface="华文楷体" panose="02010600040101010101" charset="-122"/>
                <a:ea typeface="华文楷体" panose="02010600040101010101" charset="-122"/>
                <a:cs typeface="Arial" panose="020B0604020202020204" pitchFamily="34" charset="0"/>
              </a:rPr>
              <a:t>c </a:t>
            </a:r>
            <a:r>
              <a:rPr lang="zh-CN" altLang="en-US" sz="2665" dirty="0">
                <a:solidFill>
                  <a:srgbClr val="009900"/>
                </a:solidFill>
                <a:latin typeface="华文楷体" panose="02010600040101010101" charset="-122"/>
                <a:ea typeface="华文楷体" panose="02010600040101010101" charset="-122"/>
                <a:cs typeface="Arial" panose="020B0604020202020204" pitchFamily="34" charset="0"/>
              </a:rPr>
              <a:t>和</a:t>
            </a:r>
            <a:r>
              <a:rPr lang="en-US" altLang="zh-CN" sz="2665" dirty="0">
                <a:solidFill>
                  <a:srgbClr val="009900"/>
                </a:solidFill>
                <a:latin typeface="华文楷体" panose="02010600040101010101" charset="-122"/>
                <a:ea typeface="华文楷体" panose="02010600040101010101" charset="-122"/>
                <a:cs typeface="Arial" panose="020B0604020202020204" pitchFamily="34" charset="0"/>
              </a:rPr>
              <a:t> n</a:t>
            </a:r>
            <a:r>
              <a:rPr lang="en-US" altLang="zh-CN" sz="2665" baseline="-25000" dirty="0">
                <a:solidFill>
                  <a:srgbClr val="009900"/>
                </a:solidFill>
                <a:latin typeface="华文楷体" panose="02010600040101010101" charset="-122"/>
                <a:ea typeface="华文楷体" panose="02010600040101010101" charset="-122"/>
                <a:cs typeface="Arial" panose="020B0604020202020204" pitchFamily="34" charset="0"/>
              </a:rPr>
              <a:t>0 </a:t>
            </a:r>
            <a:r>
              <a:rPr lang="zh-CN" altLang="en-US" sz="2665" dirty="0">
                <a:solidFill>
                  <a:srgbClr val="009900"/>
                </a:solidFill>
                <a:latin typeface="华文楷体" panose="02010600040101010101" charset="-122"/>
                <a:ea typeface="华文楷体" panose="02010600040101010101" charset="-122"/>
                <a:cs typeface="Arial" panose="020B0604020202020204" pitchFamily="34" charset="0"/>
              </a:rPr>
              <a:t>，当</a:t>
            </a:r>
            <a:r>
              <a:rPr lang="en-US" altLang="zh-CN" sz="2665" dirty="0">
                <a:solidFill>
                  <a:srgbClr val="009900"/>
                </a:solidFill>
                <a:latin typeface="华文楷体" panose="02010600040101010101" charset="-122"/>
                <a:ea typeface="华文楷体" panose="02010600040101010101" charset="-122"/>
                <a:cs typeface="Arial" panose="020B0604020202020204" pitchFamily="34" charset="0"/>
              </a:rPr>
              <a:t>n&gt;= n</a:t>
            </a:r>
            <a:r>
              <a:rPr lang="en-US" altLang="zh-CN" sz="2665" baseline="-25000" dirty="0">
                <a:solidFill>
                  <a:srgbClr val="009900"/>
                </a:solidFill>
                <a:latin typeface="华文楷体" panose="02010600040101010101" charset="-122"/>
                <a:ea typeface="华文楷体" panose="02010600040101010101" charset="-122"/>
                <a:cs typeface="Arial" panose="020B0604020202020204" pitchFamily="34" charset="0"/>
              </a:rPr>
              <a:t>0</a:t>
            </a:r>
            <a:endParaRPr lang="en-US" altLang="zh-CN" sz="2665" baseline="-25000" dirty="0">
              <a:solidFill>
                <a:srgbClr val="009900"/>
              </a:solidFill>
              <a:latin typeface="华文楷体" panose="02010600040101010101" charset="-122"/>
              <a:ea typeface="华文楷体" panose="02010600040101010101" charset="-122"/>
              <a:cs typeface="Arial" panose="020B0604020202020204" pitchFamily="34" charset="0"/>
            </a:endParaRPr>
          </a:p>
          <a:p>
            <a:pPr eaLnBrk="1" hangingPunct="1">
              <a:lnSpc>
                <a:spcPct val="105000"/>
              </a:lnSpc>
              <a:buFont typeface="Monotype Sorts" pitchFamily="2" charset="2"/>
              <a:buNone/>
            </a:pPr>
            <a:r>
              <a:rPr lang="zh-CN" altLang="en-US" sz="2665" dirty="0">
                <a:solidFill>
                  <a:srgbClr val="009900"/>
                </a:solidFill>
                <a:latin typeface="华文楷体" panose="02010600040101010101" charset="-122"/>
                <a:ea typeface="华文楷体" panose="02010600040101010101" charset="-122"/>
                <a:cs typeface="Arial" panose="020B0604020202020204" pitchFamily="34" charset="0"/>
              </a:rPr>
              <a:t>时，总有</a:t>
            </a:r>
            <a:r>
              <a:rPr lang="en-US" altLang="zh-CN" sz="2665" dirty="0">
                <a:solidFill>
                  <a:srgbClr val="009900"/>
                </a:solidFill>
                <a:latin typeface="华文楷体" panose="02010600040101010101" charset="-122"/>
                <a:ea typeface="华文楷体" panose="02010600040101010101" charset="-122"/>
                <a:cs typeface="Arial" panose="020B0604020202020204" pitchFamily="34" charset="0"/>
              </a:rPr>
              <a:t>T(N) &lt;= </a:t>
            </a:r>
            <a:r>
              <a:rPr lang="en-US" altLang="zh-CN" sz="2665" dirty="0" err="1">
                <a:solidFill>
                  <a:srgbClr val="009900"/>
                </a:solidFill>
                <a:latin typeface="华文楷体" panose="02010600040101010101" charset="-122"/>
                <a:ea typeface="华文楷体" panose="02010600040101010101" charset="-122"/>
                <a:cs typeface="Arial" panose="020B0604020202020204" pitchFamily="34" charset="0"/>
              </a:rPr>
              <a:t>cf</a:t>
            </a:r>
            <a:r>
              <a:rPr lang="en-US" altLang="zh-CN" sz="2665" dirty="0">
                <a:solidFill>
                  <a:srgbClr val="009900"/>
                </a:solidFill>
                <a:latin typeface="华文楷体" panose="02010600040101010101" charset="-122"/>
                <a:ea typeface="华文楷体" panose="02010600040101010101" charset="-122"/>
                <a:cs typeface="Arial" panose="020B0604020202020204" pitchFamily="34" charset="0"/>
              </a:rPr>
              <a:t>(N)</a:t>
            </a:r>
            <a:r>
              <a:rPr lang="zh-CN" altLang="en-US" sz="2665" dirty="0">
                <a:solidFill>
                  <a:srgbClr val="009900"/>
                </a:solidFill>
                <a:latin typeface="华文楷体" panose="02010600040101010101" charset="-122"/>
                <a:ea typeface="华文楷体" panose="02010600040101010101" charset="-122"/>
                <a:cs typeface="Arial" panose="020B0604020202020204" pitchFamily="34" charset="0"/>
              </a:rPr>
              <a:t>。</a:t>
            </a:r>
            <a:endParaRPr lang="en-US" altLang="zh-CN" sz="2665" dirty="0">
              <a:latin typeface="华文楷体" panose="02010600040101010101" charset="-122"/>
              <a:ea typeface="华文楷体" panose="02010600040101010101" charset="-122"/>
              <a:cs typeface="Arial" panose="020B0604020202020204" pitchFamily="34" charset="0"/>
            </a:endParaRPr>
          </a:p>
          <a:p>
            <a:pPr>
              <a:lnSpc>
                <a:spcPct val="105000"/>
              </a:lnSpc>
            </a:pPr>
            <a:r>
              <a:rPr lang="en-US" altLang="zh-CN" sz="2665" dirty="0">
                <a:latin typeface="华文楷体" panose="02010600040101010101" charset="-122"/>
                <a:ea typeface="华文楷体" panose="02010600040101010101" charset="-122"/>
                <a:cs typeface="Arial" panose="020B0604020202020204" pitchFamily="34" charset="0"/>
              </a:rPr>
              <a:t> </a:t>
            </a:r>
            <a:r>
              <a:rPr lang="el-GR" altLang="zh-CN" sz="2665" dirty="0">
                <a:latin typeface="华文楷体" panose="02010600040101010101" charset="-122"/>
                <a:ea typeface="华文楷体" panose="02010600040101010101" charset="-122"/>
                <a:cs typeface="Arial" panose="020B0604020202020204" pitchFamily="34" charset="0"/>
              </a:rPr>
              <a:t>Ω </a:t>
            </a:r>
            <a:r>
              <a:rPr lang="zh-CN" altLang="en-US" sz="2665" dirty="0">
                <a:latin typeface="华文楷体" panose="02010600040101010101" charset="-122"/>
                <a:ea typeface="华文楷体" panose="02010600040101010101" charset="-122"/>
                <a:cs typeface="Arial" panose="020B0604020202020204" pitchFamily="34" charset="0"/>
              </a:rPr>
              <a:t>表示法</a:t>
            </a:r>
            <a:endParaRPr lang="en-US" altLang="zh-CN" sz="2665" dirty="0">
              <a:latin typeface="华文楷体" panose="02010600040101010101" charset="-122"/>
              <a:ea typeface="华文楷体" panose="02010600040101010101" charset="-122"/>
              <a:cs typeface="Arial" panose="020B0604020202020204" pitchFamily="34" charset="0"/>
            </a:endParaRPr>
          </a:p>
          <a:p>
            <a:pPr marL="0" indent="0">
              <a:lnSpc>
                <a:spcPct val="105000"/>
              </a:lnSpc>
              <a:buNone/>
            </a:pPr>
            <a:r>
              <a:rPr lang="en-US" altLang="zh-CN" sz="2800" i="1" dirty="0">
                <a:solidFill>
                  <a:srgbClr val="FF0000"/>
                </a:solidFill>
                <a:latin typeface="华文楷体" panose="02010600040101010101" charset="-122"/>
                <a:ea typeface="华文楷体" panose="02010600040101010101" charset="-122"/>
                <a:cs typeface="Arial" panose="020B0604020202020204" pitchFamily="34" charset="0"/>
              </a:rPr>
              <a:t>           </a:t>
            </a:r>
            <a:r>
              <a:rPr lang="en-US" altLang="zh-CN" sz="2665" dirty="0">
                <a:solidFill>
                  <a:srgbClr val="FF0000"/>
                </a:solidFill>
                <a:latin typeface="华文楷体" panose="02010600040101010101" charset="-122"/>
                <a:ea typeface="华文楷体" panose="02010600040101010101" charset="-122"/>
                <a:cs typeface="Arial" panose="020B0604020202020204" pitchFamily="34" charset="0"/>
              </a:rPr>
              <a:t>T(N) = </a:t>
            </a:r>
            <a:r>
              <a:rPr lang="el-GR" altLang="zh-CN" sz="3050" i="1" dirty="0">
                <a:solidFill>
                  <a:srgbClr val="FF0000"/>
                </a:solidFill>
                <a:latin typeface="华文楷体" panose="02010600040101010101" charset="-122"/>
                <a:ea typeface="华文楷体" panose="02010600040101010101" charset="-122"/>
                <a:cs typeface="Arial" panose="020B0604020202020204" pitchFamily="34" charset="0"/>
              </a:rPr>
              <a:t>Ω</a:t>
            </a:r>
            <a:r>
              <a:rPr lang="en-US" altLang="zh-CN" sz="2665" dirty="0">
                <a:solidFill>
                  <a:srgbClr val="FF0000"/>
                </a:solidFill>
                <a:latin typeface="华文楷体" panose="02010600040101010101" charset="-122"/>
                <a:ea typeface="华文楷体" panose="02010600040101010101" charset="-122"/>
                <a:cs typeface="Arial" panose="020B0604020202020204" pitchFamily="34" charset="0"/>
              </a:rPr>
              <a:t>(g(N))</a:t>
            </a:r>
            <a:endParaRPr lang="en-US" altLang="zh-CN" sz="2665" dirty="0">
              <a:solidFill>
                <a:srgbClr val="FF0000"/>
              </a:solidFill>
              <a:latin typeface="华文楷体" panose="02010600040101010101" charset="-122"/>
              <a:ea typeface="华文楷体" panose="02010600040101010101" charset="-122"/>
              <a:cs typeface="Arial" panose="020B0604020202020204" pitchFamily="34" charset="0"/>
            </a:endParaRPr>
          </a:p>
          <a:p>
            <a:pPr>
              <a:lnSpc>
                <a:spcPct val="105000"/>
              </a:lnSpc>
              <a:buNone/>
            </a:pPr>
            <a:r>
              <a:rPr lang="zh-CN" altLang="en-US" sz="2665" dirty="0">
                <a:solidFill>
                  <a:srgbClr val="009900"/>
                </a:solidFill>
                <a:latin typeface="华文楷体" panose="02010600040101010101" charset="-122"/>
                <a:ea typeface="华文楷体" panose="02010600040101010101" charset="-122"/>
                <a:cs typeface="Arial" panose="020B0604020202020204" pitchFamily="34" charset="0"/>
              </a:rPr>
              <a:t>如果存在一个正常数</a:t>
            </a:r>
            <a:r>
              <a:rPr lang="en-US" altLang="zh-CN" sz="2665" dirty="0">
                <a:solidFill>
                  <a:srgbClr val="009900"/>
                </a:solidFill>
                <a:latin typeface="华文楷体" panose="02010600040101010101" charset="-122"/>
                <a:ea typeface="华文楷体" panose="02010600040101010101" charset="-122"/>
                <a:cs typeface="Arial" panose="020B0604020202020204" pitchFamily="34" charset="0"/>
              </a:rPr>
              <a:t>c </a:t>
            </a:r>
            <a:r>
              <a:rPr lang="zh-CN" altLang="en-US" sz="2665" dirty="0">
                <a:solidFill>
                  <a:srgbClr val="009900"/>
                </a:solidFill>
                <a:latin typeface="华文楷体" panose="02010600040101010101" charset="-122"/>
                <a:ea typeface="华文楷体" panose="02010600040101010101" charset="-122"/>
                <a:cs typeface="Arial" panose="020B0604020202020204" pitchFamily="34" charset="0"/>
              </a:rPr>
              <a:t>和</a:t>
            </a:r>
            <a:r>
              <a:rPr lang="en-US" altLang="zh-CN" sz="2665" dirty="0">
                <a:solidFill>
                  <a:srgbClr val="009900"/>
                </a:solidFill>
                <a:latin typeface="华文楷体" panose="02010600040101010101" charset="-122"/>
                <a:ea typeface="华文楷体" panose="02010600040101010101" charset="-122"/>
                <a:cs typeface="Arial" panose="020B0604020202020204" pitchFamily="34" charset="0"/>
              </a:rPr>
              <a:t> n</a:t>
            </a:r>
            <a:r>
              <a:rPr lang="en-US" altLang="zh-CN" sz="2665" baseline="-25000" dirty="0">
                <a:solidFill>
                  <a:srgbClr val="009900"/>
                </a:solidFill>
                <a:latin typeface="华文楷体" panose="02010600040101010101" charset="-122"/>
                <a:ea typeface="华文楷体" panose="02010600040101010101" charset="-122"/>
                <a:cs typeface="Arial" panose="020B0604020202020204" pitchFamily="34" charset="0"/>
              </a:rPr>
              <a:t>0</a:t>
            </a:r>
            <a:r>
              <a:rPr lang="zh-CN" altLang="en-US" sz="2665" dirty="0">
                <a:solidFill>
                  <a:srgbClr val="009900"/>
                </a:solidFill>
                <a:latin typeface="华文楷体" panose="02010600040101010101" charset="-122"/>
                <a:ea typeface="华文楷体" panose="02010600040101010101" charset="-122"/>
                <a:cs typeface="Arial" panose="020B0604020202020204" pitchFamily="34" charset="0"/>
              </a:rPr>
              <a:t> ，当</a:t>
            </a:r>
            <a:r>
              <a:rPr lang="en-US" altLang="zh-CN" sz="2665" dirty="0">
                <a:solidFill>
                  <a:srgbClr val="009900"/>
                </a:solidFill>
                <a:latin typeface="华文楷体" panose="02010600040101010101" charset="-122"/>
                <a:ea typeface="华文楷体" panose="02010600040101010101" charset="-122"/>
                <a:cs typeface="Arial" panose="020B0604020202020204" pitchFamily="34" charset="0"/>
              </a:rPr>
              <a:t>n&gt;= n</a:t>
            </a:r>
            <a:r>
              <a:rPr lang="en-US" altLang="zh-CN" sz="2665" baseline="-25000" dirty="0">
                <a:solidFill>
                  <a:srgbClr val="009900"/>
                </a:solidFill>
                <a:latin typeface="华文楷体" panose="02010600040101010101" charset="-122"/>
                <a:ea typeface="华文楷体" panose="02010600040101010101" charset="-122"/>
                <a:cs typeface="Arial" panose="020B0604020202020204" pitchFamily="34" charset="0"/>
              </a:rPr>
              <a:t>0</a:t>
            </a:r>
            <a:endParaRPr lang="en-US" altLang="zh-CN" sz="2665" baseline="-25000" dirty="0">
              <a:solidFill>
                <a:srgbClr val="009900"/>
              </a:solidFill>
              <a:latin typeface="华文楷体" panose="02010600040101010101" charset="-122"/>
              <a:ea typeface="华文楷体" panose="02010600040101010101" charset="-122"/>
              <a:cs typeface="Arial" panose="020B0604020202020204" pitchFamily="34" charset="0"/>
            </a:endParaRPr>
          </a:p>
          <a:p>
            <a:pPr>
              <a:lnSpc>
                <a:spcPct val="105000"/>
              </a:lnSpc>
              <a:buNone/>
            </a:pPr>
            <a:r>
              <a:rPr lang="zh-CN" altLang="en-US" sz="2665" dirty="0">
                <a:solidFill>
                  <a:srgbClr val="009900"/>
                </a:solidFill>
                <a:latin typeface="华文楷体" panose="02010600040101010101" charset="-122"/>
                <a:ea typeface="华文楷体" panose="02010600040101010101" charset="-122"/>
                <a:cs typeface="Arial" panose="020B0604020202020204" pitchFamily="34" charset="0"/>
              </a:rPr>
              <a:t>时，总有</a:t>
            </a:r>
            <a:r>
              <a:rPr lang="en-US" altLang="zh-CN" sz="2665" dirty="0">
                <a:solidFill>
                  <a:srgbClr val="009900"/>
                </a:solidFill>
                <a:latin typeface="华文楷体" panose="02010600040101010101" charset="-122"/>
                <a:ea typeface="华文楷体" panose="02010600040101010101" charset="-122"/>
                <a:cs typeface="Arial" panose="020B0604020202020204" pitchFamily="34" charset="0"/>
              </a:rPr>
              <a:t>T(N) &gt;= cg(N)</a:t>
            </a:r>
            <a:r>
              <a:rPr lang="zh-CN" altLang="en-US" sz="2665" dirty="0">
                <a:solidFill>
                  <a:srgbClr val="009900"/>
                </a:solidFill>
                <a:latin typeface="华文楷体" panose="02010600040101010101" charset="-122"/>
                <a:ea typeface="华文楷体" panose="02010600040101010101" charset="-122"/>
                <a:cs typeface="Arial" panose="020B0604020202020204" pitchFamily="34" charset="0"/>
              </a:rPr>
              <a:t>。</a:t>
            </a:r>
            <a:endParaRPr lang="en-US" altLang="zh-CN" sz="2665" baseline="-25000" dirty="0">
              <a:solidFill>
                <a:srgbClr val="009900"/>
              </a:solidFill>
              <a:latin typeface="华文楷体" panose="02010600040101010101" charset="-122"/>
              <a:ea typeface="华文楷体" panose="02010600040101010101" charset="-122"/>
              <a:cs typeface="Arial" panose="020B0604020202020204" pitchFamily="34" charset="0"/>
            </a:endParaRPr>
          </a:p>
        </p:txBody>
      </p:sp>
      <p:sp>
        <p:nvSpPr>
          <p:cNvPr id="183303" name="Rectangle 4"/>
          <p:cNvSpPr>
            <a:spLocks noChangeArrowheads="1"/>
          </p:cNvSpPr>
          <p:nvPr/>
        </p:nvSpPr>
        <p:spPr bwMode="auto">
          <a:xfrm>
            <a:off x="725714" y="1542143"/>
            <a:ext cx="8563429"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Font typeface="Monotype Sorts" pitchFamily="2" charset="2"/>
              <a:buChar char="z"/>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accent2"/>
              </a:buClr>
              <a:buFont typeface="Monotype Sorts" pitchFamily="2" charset="2"/>
              <a:buChar char="y"/>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accent2"/>
              </a:buClr>
              <a:buFont typeface="Monotype Sorts" pitchFamily="2" charset="2"/>
              <a:buChar char="x"/>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2"/>
              </a:buClr>
              <a:buChar char="–"/>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sz="2000">
                <a:solidFill>
                  <a:schemeClr val="tx1"/>
                </a:solidFill>
                <a:latin typeface="Tahoma" panose="020B0604030504040204" pitchFamily="34" charset="0"/>
                <a:ea typeface="宋体" panose="02010600030101010101" pitchFamily="2" charset="-122"/>
              </a:defRPr>
            </a:lvl9pPr>
          </a:lstStyle>
          <a:p>
            <a:pPr eaLnBrk="1" hangingPunct="1">
              <a:lnSpc>
                <a:spcPct val="105000"/>
              </a:lnSpc>
              <a:buFont typeface="Monotype Sorts" pitchFamily="2" charset="2"/>
              <a:buNone/>
            </a:pPr>
            <a:endParaRPr lang="en-US" altLang="zh-CN" sz="2665">
              <a:latin typeface="华文楷体" panose="02010600040101010101" charset="-122"/>
              <a:ea typeface="华文楷体" panose="02010600040101010101" charset="-122"/>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latin typeface="华文楷体" panose="02010600040101010101" charset="-122"/>
              <a:ea typeface="华文楷体" panose="02010600040101010101" charset="-122"/>
            </a:endParaRPr>
          </a:p>
        </p:txBody>
      </p:sp>
      <p:sp>
        <p:nvSpPr>
          <p:cNvPr id="79873" name="日期占位符 3"/>
          <p:cNvSpPr>
            <a:spLocks noGrp="1"/>
          </p:cNvSpPr>
          <p:nvPr>
            <p:ph type="dt" sz="half" idx="10"/>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FontTx/>
              <a:buNone/>
              <a:defRPr sz="36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Tx/>
              <a:buNone/>
              <a:defRPr sz="36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sz="36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sz="36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sz="36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indent="0">
              <a:spcBef>
                <a:spcPct val="50000"/>
              </a:spcBef>
            </a:pPr>
            <a:r>
              <a:rPr lang="en-US" altLang="zh-CN" sz="1400">
                <a:solidFill>
                  <a:schemeClr val="bg2"/>
                </a:solidFill>
                <a:latin typeface="华文楷体" panose="02010600040101010101" charset="-122"/>
                <a:ea typeface="华文楷体" panose="02010600040101010101" charset="-122"/>
              </a:rPr>
              <a:t>Data Structures and algorithms</a:t>
            </a:r>
            <a:endParaRPr lang="en-US" altLang="zh-CN" sz="1400">
              <a:solidFill>
                <a:schemeClr val="bg2"/>
              </a:solidFill>
              <a:latin typeface="华文楷体" panose="02010600040101010101" charset="-122"/>
              <a:ea typeface="华文楷体" panose="02010600040101010101" charset="-122"/>
            </a:endParaRPr>
          </a:p>
        </p:txBody>
      </p:sp>
      <p:sp>
        <p:nvSpPr>
          <p:cNvPr id="79874" name="页脚占位符 4"/>
          <p:cNvSpPr>
            <a:spLocks noGrp="1"/>
          </p:cNvSpPr>
          <p:nvPr>
            <p:ph type="ftr" sz="quarter" idx="11"/>
          </p:nvPr>
        </p:nvSpPr>
        <p:spPr/>
        <p:txBody>
          <a:bodyPr wrap="square" lIns="91440" tIns="45720" rIns="91440" bIns="45720" anchor="t" anchorCtr="0"/>
          <a:lstStyle>
            <a:lvl1pPr marL="0" lvl="0" indent="0" algn="l" defTabSz="914400" rtl="0" eaLnBrk="0" fontAlgn="base" latinLnBrk="0" hangingPunct="0">
              <a:lnSpc>
                <a:spcPct val="100000"/>
              </a:lnSpc>
              <a:spcBef>
                <a:spcPct val="0"/>
              </a:spcBef>
              <a:spcAft>
                <a:spcPct val="0"/>
              </a:spcAft>
              <a:buFontTx/>
              <a:buNone/>
              <a:defRPr sz="36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Tx/>
              <a:buNone/>
              <a:defRPr sz="36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sz="36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sz="36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sz="3600" b="0" i="0" u="none" kern="1200" baseline="0">
                <a:solidFill>
                  <a:schemeClr val="tx1"/>
                </a:solidFill>
                <a:latin typeface="Times New Roman" panose="02020603050405020304" pitchFamily="18" charset="0"/>
                <a:ea typeface="宋体" panose="02010600030101010101" pitchFamily="2" charset="-122"/>
                <a:cs typeface="+mn-cs"/>
              </a:defRPr>
            </a:lvl5pPr>
          </a:lstStyle>
          <a:p>
            <a:pPr lvl="0" indent="0">
              <a:spcBef>
                <a:spcPct val="50000"/>
              </a:spcBef>
            </a:pPr>
            <a:r>
              <a:rPr lang="zh-CN" altLang="en-US" sz="1400">
                <a:solidFill>
                  <a:schemeClr val="bg2"/>
                </a:solidFill>
                <a:latin typeface="华文楷体" panose="02010600040101010101" charset="-122"/>
                <a:ea typeface="华文楷体" panose="02010600040101010101" charset="-122"/>
              </a:rPr>
              <a:t>Software College Northeastern University</a:t>
            </a:r>
            <a:endParaRPr lang="en-US" altLang="zh-CN" sz="1400">
              <a:solidFill>
                <a:schemeClr val="bg2"/>
              </a:solidFill>
              <a:latin typeface="华文楷体" panose="02010600040101010101" charset="-122"/>
              <a:ea typeface="华文楷体" panose="02010600040101010101" charset="-122"/>
            </a:endParaRPr>
          </a:p>
        </p:txBody>
      </p:sp>
      <p:sp>
        <p:nvSpPr>
          <p:cNvPr id="111620" name="灯片编号占位符 5"/>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spcBef>
                <a:spcPct val="20000"/>
              </a:spcBef>
              <a:buClr>
                <a:schemeClr val="accent2"/>
              </a:buClr>
              <a:buFont typeface="Monotype Sorts" pitchFamily="2" charset="2"/>
              <a:buChar char="z"/>
              <a:defRPr sz="3050">
                <a:solidFill>
                  <a:schemeClr val="tx1"/>
                </a:solidFill>
                <a:latin typeface="Tahoma" panose="020B0604030504040204" pitchFamily="34" charset="0"/>
                <a:ea typeface="宋体" panose="02010600030101010101" pitchFamily="2" charset="-122"/>
              </a:defRPr>
            </a:lvl1pPr>
            <a:lvl2pPr marL="707390" indent="-272415">
              <a:spcBef>
                <a:spcPct val="20000"/>
              </a:spcBef>
              <a:buClr>
                <a:schemeClr val="accent2"/>
              </a:buClr>
              <a:buFont typeface="Monotype Sorts" pitchFamily="2" charset="2"/>
              <a:buChar char="y"/>
              <a:defRPr sz="2665">
                <a:solidFill>
                  <a:schemeClr val="tx1"/>
                </a:solidFill>
                <a:latin typeface="Tahoma" panose="020B0604030504040204" pitchFamily="34" charset="0"/>
                <a:ea typeface="宋体" panose="02010600030101010101" pitchFamily="2" charset="-122"/>
              </a:defRPr>
            </a:lvl2pPr>
            <a:lvl3pPr marL="1088390" indent="-217805">
              <a:spcBef>
                <a:spcPct val="20000"/>
              </a:spcBef>
              <a:buClr>
                <a:schemeClr val="accent2"/>
              </a:buClr>
              <a:buFont typeface="Monotype Sorts" pitchFamily="2" charset="2"/>
              <a:buChar char="x"/>
              <a:defRPr sz="2285">
                <a:solidFill>
                  <a:schemeClr val="tx1"/>
                </a:solidFill>
                <a:latin typeface="Tahoma" panose="020B0604030504040204" pitchFamily="34" charset="0"/>
                <a:ea typeface="宋体" panose="02010600030101010101" pitchFamily="2" charset="-122"/>
              </a:defRPr>
            </a:lvl3pPr>
            <a:lvl4pPr marL="1524000" indent="-217805">
              <a:spcBef>
                <a:spcPct val="20000"/>
              </a:spcBef>
              <a:buClr>
                <a:schemeClr val="accent2"/>
              </a:buClr>
              <a:buChar char="•"/>
              <a:defRPr sz="1905">
                <a:solidFill>
                  <a:schemeClr val="tx1"/>
                </a:solidFill>
                <a:latin typeface="Tahoma" panose="020B0604030504040204" pitchFamily="34" charset="0"/>
                <a:ea typeface="宋体" panose="02010600030101010101" pitchFamily="2" charset="-122"/>
              </a:defRPr>
            </a:lvl4pPr>
            <a:lvl5pPr marL="1959610" indent="-217805">
              <a:spcBef>
                <a:spcPct val="20000"/>
              </a:spcBef>
              <a:buClr>
                <a:schemeClr val="accent2"/>
              </a:buClr>
              <a:buChar char="–"/>
              <a:defRPr sz="1905">
                <a:solidFill>
                  <a:schemeClr val="tx1"/>
                </a:solidFill>
                <a:latin typeface="Tahoma" panose="020B0604030504040204" pitchFamily="34" charset="0"/>
                <a:ea typeface="宋体" panose="02010600030101010101" pitchFamily="2" charset="-122"/>
              </a:defRPr>
            </a:lvl5pPr>
            <a:lvl6pPr marL="2395220" indent="-217805" eaLnBrk="0" fontAlgn="base" hangingPunct="0">
              <a:spcBef>
                <a:spcPct val="20000"/>
              </a:spcBef>
              <a:spcAft>
                <a:spcPct val="0"/>
              </a:spcAft>
              <a:buClr>
                <a:schemeClr val="accent2"/>
              </a:buClr>
              <a:buChar char="–"/>
              <a:defRPr sz="1905">
                <a:solidFill>
                  <a:schemeClr val="tx1"/>
                </a:solidFill>
                <a:latin typeface="Tahoma" panose="020B0604030504040204" pitchFamily="34" charset="0"/>
                <a:ea typeface="宋体" panose="02010600030101010101" pitchFamily="2" charset="-122"/>
              </a:defRPr>
            </a:lvl6pPr>
            <a:lvl7pPr marL="2830195" indent="-217805" eaLnBrk="0" fontAlgn="base" hangingPunct="0">
              <a:spcBef>
                <a:spcPct val="20000"/>
              </a:spcBef>
              <a:spcAft>
                <a:spcPct val="0"/>
              </a:spcAft>
              <a:buClr>
                <a:schemeClr val="accent2"/>
              </a:buClr>
              <a:buChar char="–"/>
              <a:defRPr sz="1905">
                <a:solidFill>
                  <a:schemeClr val="tx1"/>
                </a:solidFill>
                <a:latin typeface="Tahoma" panose="020B0604030504040204" pitchFamily="34" charset="0"/>
                <a:ea typeface="宋体" panose="02010600030101010101" pitchFamily="2" charset="-122"/>
              </a:defRPr>
            </a:lvl7pPr>
            <a:lvl8pPr marL="3265805" indent="-217805" eaLnBrk="0" fontAlgn="base" hangingPunct="0">
              <a:spcBef>
                <a:spcPct val="20000"/>
              </a:spcBef>
              <a:spcAft>
                <a:spcPct val="0"/>
              </a:spcAft>
              <a:buClr>
                <a:schemeClr val="accent2"/>
              </a:buClr>
              <a:buChar char="–"/>
              <a:defRPr sz="1905">
                <a:solidFill>
                  <a:schemeClr val="tx1"/>
                </a:solidFill>
                <a:latin typeface="Tahoma" panose="020B0604030504040204" pitchFamily="34" charset="0"/>
                <a:ea typeface="宋体" panose="02010600030101010101" pitchFamily="2" charset="-122"/>
              </a:defRPr>
            </a:lvl8pPr>
            <a:lvl9pPr marL="3701415" indent="-217805" eaLnBrk="0" fontAlgn="base" hangingPunct="0">
              <a:spcBef>
                <a:spcPct val="20000"/>
              </a:spcBef>
              <a:spcAft>
                <a:spcPct val="0"/>
              </a:spcAft>
              <a:buClr>
                <a:schemeClr val="accent2"/>
              </a:buClr>
              <a:buChar char="–"/>
              <a:defRPr sz="1905">
                <a:solidFill>
                  <a:schemeClr val="tx1"/>
                </a:solidFill>
                <a:latin typeface="Tahoma" panose="020B0604030504040204" pitchFamily="34" charset="0"/>
                <a:ea typeface="宋体" panose="02010600030101010101" pitchFamily="2" charset="-122"/>
              </a:defRPr>
            </a:lvl9pPr>
          </a:lstStyle>
          <a:p>
            <a:pPr fontAlgn="base">
              <a:spcBef>
                <a:spcPct val="50000"/>
              </a:spcBef>
              <a:buClrTx/>
              <a:buFontTx/>
              <a:buNone/>
            </a:pPr>
            <a:fld id="{070BDCA5-38F7-4C8C-BB6B-8C2F88952AEC}" type="slidenum">
              <a:rPr lang="zh-CN" altLang="en-US" sz="1335" strike="noStrike" noProof="1">
                <a:solidFill>
                  <a:schemeClr val="bg2"/>
                </a:solidFill>
                <a:latin typeface="华文楷体" panose="02010600040101010101" charset="-122"/>
                <a:ea typeface="华文楷体" panose="02010600040101010101" charset="-122"/>
              </a:rPr>
            </a:fld>
            <a:endParaRPr lang="en-US" altLang="zh-CN" sz="1335" strike="noStrike" noProof="1">
              <a:solidFill>
                <a:schemeClr val="bg2"/>
              </a:solidFill>
              <a:latin typeface="华文楷体" panose="02010600040101010101" charset="-122"/>
              <a:ea typeface="华文楷体" panose="02010600040101010101" charset="-122"/>
            </a:endParaRPr>
          </a:p>
        </p:txBody>
      </p:sp>
      <p:sp>
        <p:nvSpPr>
          <p:cNvPr id="3" name="标题 2"/>
          <p:cNvSpPr>
            <a:spLocks noGrp="1"/>
          </p:cNvSpPr>
          <p:nvPr>
            <p:ph type="title"/>
          </p:nvPr>
        </p:nvSpPr>
        <p:spPr/>
        <p:txBody>
          <a:bodyPr/>
          <a:lstStyle/>
          <a:p>
            <a:endParaRPr lang="zh-CN" altLang="en-US">
              <a:latin typeface="华文楷体" panose="02010600040101010101" charset="-122"/>
              <a:ea typeface="华文楷体" panose="02010600040101010101" charset="-122"/>
            </a:endParaRPr>
          </a:p>
        </p:txBody>
      </p:sp>
      <p:sp>
        <p:nvSpPr>
          <p:cNvPr id="111622" name="Rectangle 3"/>
          <p:cNvSpPr>
            <a:spLocks noChangeArrowheads="1"/>
          </p:cNvSpPr>
          <p:nvPr/>
        </p:nvSpPr>
        <p:spPr bwMode="auto">
          <a:xfrm>
            <a:off x="798513" y="1614488"/>
            <a:ext cx="8345488"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Font typeface="Monotype Sorts" pitchFamily="2" charset="2"/>
              <a:buChar char="z"/>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accent2"/>
              </a:buClr>
              <a:buFont typeface="Monotype Sorts" pitchFamily="2" charset="2"/>
              <a:buChar char="y"/>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accent2"/>
              </a:buClr>
              <a:buFont typeface="Monotype Sorts" pitchFamily="2" charset="2"/>
              <a:buChar char="x"/>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2"/>
              </a:buClr>
              <a:buChar char="–"/>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sz="2000">
                <a:solidFill>
                  <a:schemeClr val="tx1"/>
                </a:solidFill>
                <a:latin typeface="Tahoma" panose="020B0604030504040204" pitchFamily="34" charset="0"/>
                <a:ea typeface="宋体" panose="02010600030101010101" pitchFamily="2" charset="-122"/>
              </a:defRPr>
            </a:lvl9pPr>
          </a:lstStyle>
          <a:p>
            <a:pPr marL="0" marR="0" indent="0" algn="l" defTabSz="914400" rtl="0" eaLnBrk="1" fontAlgn="base" latinLnBrk="0" hangingPunct="1">
              <a:lnSpc>
                <a:spcPct val="105000"/>
              </a:lnSpc>
              <a:spcBef>
                <a:spcPct val="20000"/>
              </a:spcBef>
              <a:spcAft>
                <a:spcPct val="0"/>
              </a:spcAft>
              <a:buClr>
                <a:schemeClr val="accent2"/>
              </a:buClr>
              <a:buFont typeface="Monotype Sorts" pitchFamily="2" charset="2"/>
              <a:buNone/>
            </a:pPr>
            <a:r>
              <a:rPr kumimoji="0" lang="zh-CN" altLang="en-US" sz="2665" b="0" i="0" u="none" strike="noStrike" kern="1200" cap="none" spc="0" normalizeH="0" baseline="0" noProof="1">
                <a:solidFill>
                  <a:schemeClr val="tx1"/>
                </a:solidFill>
                <a:latin typeface="华文楷体" panose="02010600040101010101" charset="-122"/>
                <a:ea typeface="华文楷体" panose="02010600040101010101" charset="-122"/>
                <a:sym typeface="+mn-ea"/>
              </a:rPr>
              <a:t>定义</a:t>
            </a:r>
            <a:r>
              <a:rPr kumimoji="0" lang="en-US" altLang="zh-CN" sz="2665" b="0" i="0" u="none" strike="noStrike" kern="1200" cap="none" spc="0" normalizeH="0" baseline="0" noProof="1">
                <a:solidFill>
                  <a:schemeClr val="tx1"/>
                </a:solidFill>
                <a:latin typeface="华文楷体" panose="02010600040101010101" charset="-122"/>
                <a:ea typeface="华文楷体" panose="02010600040101010101" charset="-122"/>
                <a:sym typeface="+mn-ea"/>
              </a:rPr>
              <a:t>---</a:t>
            </a:r>
            <a:r>
              <a:rPr kumimoji="0" lang="zh-CN" altLang="en-US" sz="2665" b="0" i="0" u="none" strike="noStrike" kern="1200" cap="none" spc="0" normalizeH="0" baseline="0" noProof="1">
                <a:solidFill>
                  <a:schemeClr val="tx1"/>
                </a:solidFill>
                <a:latin typeface="华文楷体" panose="02010600040101010101" charset="-122"/>
                <a:ea typeface="华文楷体" panose="02010600040101010101" charset="-122"/>
                <a:sym typeface="+mn-ea"/>
              </a:rPr>
              <a:t>大</a:t>
            </a:r>
            <a:r>
              <a:rPr kumimoji="0" lang="en-US" altLang="zh-CN" sz="2665" b="0" i="0" u="none" strike="noStrike" kern="1200" cap="none" spc="0" normalizeH="0" baseline="0" noProof="1">
                <a:solidFill>
                  <a:schemeClr val="tx1"/>
                </a:solidFill>
                <a:latin typeface="华文楷体" panose="02010600040101010101" charset="-122"/>
                <a:ea typeface="华文楷体" panose="02010600040101010101" charset="-122"/>
                <a:sym typeface="+mn-ea"/>
              </a:rPr>
              <a:t>O </a:t>
            </a:r>
            <a:r>
              <a:rPr kumimoji="0" lang="zh-CN" altLang="en-US" sz="2665" b="0" i="0" u="none" strike="noStrike" kern="1200" cap="none" spc="0" normalizeH="0" baseline="0" noProof="1">
                <a:solidFill>
                  <a:schemeClr val="tx1"/>
                </a:solidFill>
                <a:latin typeface="华文楷体" panose="02010600040101010101" charset="-122"/>
                <a:ea typeface="华文楷体" panose="02010600040101010101" charset="-122"/>
                <a:sym typeface="+mn-ea"/>
              </a:rPr>
              <a:t>表示法</a:t>
            </a:r>
            <a:endParaRPr kumimoji="0" lang="en-US" altLang="zh-CN" sz="2665" b="0" i="0" u="none" strike="noStrike" kern="1200" cap="none" spc="0" normalizeH="0" baseline="0" noProof="1">
              <a:solidFill>
                <a:schemeClr val="tx1"/>
              </a:solidFill>
              <a:latin typeface="华文楷体" panose="02010600040101010101" charset="-122"/>
              <a:ea typeface="华文楷体" panose="02010600040101010101" charset="-122"/>
              <a:sym typeface="+mn-ea"/>
            </a:endParaRPr>
          </a:p>
          <a:p>
            <a:pPr marL="342900" marR="0" indent="-342900" algn="l" defTabSz="914400" rtl="0" eaLnBrk="1" fontAlgn="base" latinLnBrk="0" hangingPunct="1">
              <a:lnSpc>
                <a:spcPct val="105000"/>
              </a:lnSpc>
              <a:spcBef>
                <a:spcPct val="20000"/>
              </a:spcBef>
              <a:spcAft>
                <a:spcPct val="0"/>
              </a:spcAft>
              <a:buClr>
                <a:schemeClr val="accent2"/>
              </a:buClr>
              <a:buFont typeface="Monotype Sorts" pitchFamily="2" charset="2"/>
              <a:buNone/>
            </a:pPr>
            <a:r>
              <a:rPr kumimoji="0" lang="en-US" altLang="zh-CN" sz="2665" b="0" i="0" u="none" strike="noStrike" kern="1200" cap="none" spc="0" normalizeH="0" baseline="0" noProof="1">
                <a:solidFill>
                  <a:schemeClr val="tx1"/>
                </a:solidFill>
                <a:latin typeface="华文楷体" panose="02010600040101010101" charset="-122"/>
                <a:ea typeface="华文楷体" panose="02010600040101010101" charset="-122"/>
                <a:sym typeface="+mn-ea"/>
              </a:rPr>
              <a:t>            </a:t>
            </a:r>
            <a:r>
              <a:rPr kumimoji="0" lang="en-US" altLang="zh-CN" sz="2665" b="0" i="1" u="none" strike="noStrike" kern="1200" cap="none" spc="0" normalizeH="0" baseline="0" noProof="1">
                <a:solidFill>
                  <a:srgbClr val="CC0000"/>
                </a:solidFill>
                <a:latin typeface="华文楷体" panose="02010600040101010101" charset="-122"/>
                <a:ea typeface="华文楷体" panose="02010600040101010101" charset="-122"/>
                <a:sym typeface="+mn-ea"/>
              </a:rPr>
              <a:t>f</a:t>
            </a:r>
            <a:r>
              <a:rPr kumimoji="0" lang="en-US" altLang="zh-CN" sz="2665" b="0" i="0" u="none" strike="noStrike" kern="1200" cap="none" spc="0" normalizeH="0" baseline="0" noProof="1">
                <a:solidFill>
                  <a:srgbClr val="CC0000"/>
                </a:solidFill>
                <a:latin typeface="华文楷体" panose="02010600040101010101" charset="-122"/>
                <a:ea typeface="华文楷体" panose="02010600040101010101" charset="-122"/>
                <a:sym typeface="+mn-ea"/>
              </a:rPr>
              <a:t>(N) = O(</a:t>
            </a:r>
            <a:r>
              <a:rPr kumimoji="0" lang="en-US" altLang="zh-CN" sz="2665" b="0" i="1" u="none" strike="noStrike" kern="1200" cap="none" spc="0" normalizeH="0" baseline="0" noProof="1">
                <a:solidFill>
                  <a:srgbClr val="CC0000"/>
                </a:solidFill>
                <a:latin typeface="华文楷体" panose="02010600040101010101" charset="-122"/>
                <a:ea typeface="华文楷体" panose="02010600040101010101" charset="-122"/>
                <a:sym typeface="+mn-ea"/>
              </a:rPr>
              <a:t>g</a:t>
            </a:r>
            <a:r>
              <a:rPr kumimoji="0" lang="en-US" altLang="zh-CN" sz="2665" b="0" i="0" u="none" strike="noStrike" kern="1200" cap="none" spc="0" normalizeH="0" baseline="0" noProof="1">
                <a:solidFill>
                  <a:srgbClr val="CC0000"/>
                </a:solidFill>
                <a:latin typeface="华文楷体" panose="02010600040101010101" charset="-122"/>
                <a:ea typeface="华文楷体" panose="02010600040101010101" charset="-122"/>
                <a:sym typeface="+mn-ea"/>
              </a:rPr>
              <a:t>(N))</a:t>
            </a:r>
            <a:endParaRPr kumimoji="0" lang="en-US" altLang="zh-CN" sz="2665" b="0" i="0" u="none" strike="noStrike" kern="1200" cap="none" spc="0" normalizeH="0" baseline="0" noProof="1">
              <a:solidFill>
                <a:srgbClr val="CC0000"/>
              </a:solidFill>
              <a:latin typeface="华文楷体" panose="02010600040101010101" charset="-122"/>
              <a:ea typeface="华文楷体" panose="02010600040101010101" charset="-122"/>
              <a:sym typeface="+mn-ea"/>
            </a:endParaRPr>
          </a:p>
          <a:p>
            <a:pPr marL="342900" marR="0" indent="-342900" algn="l" defTabSz="914400" rtl="0" eaLnBrk="1" fontAlgn="base" latinLnBrk="0" hangingPunct="1">
              <a:lnSpc>
                <a:spcPct val="105000"/>
              </a:lnSpc>
              <a:spcBef>
                <a:spcPct val="20000"/>
              </a:spcBef>
              <a:spcAft>
                <a:spcPct val="0"/>
              </a:spcAft>
              <a:buClr>
                <a:schemeClr val="accent2"/>
              </a:buClr>
              <a:buFont typeface="Monotype Sorts" pitchFamily="2" charset="2"/>
              <a:buNone/>
            </a:pPr>
            <a:r>
              <a:rPr kumimoji="0" lang="en-US" altLang="zh-CN" sz="2665" b="0" i="0" u="none" strike="noStrike" kern="1200" cap="none" spc="0" normalizeH="0" baseline="0" noProof="1">
                <a:solidFill>
                  <a:srgbClr val="009900"/>
                </a:solidFill>
                <a:latin typeface="华文楷体" panose="02010600040101010101" charset="-122"/>
                <a:ea typeface="华文楷体" panose="02010600040101010101" charset="-122"/>
                <a:sym typeface="+mn-ea"/>
              </a:rPr>
              <a:t>   </a:t>
            </a:r>
            <a:r>
              <a:rPr kumimoji="0" lang="zh-CN" altLang="en-US" sz="2665" b="0" i="0" u="none" strike="noStrike" kern="1200" cap="none" spc="0" normalizeH="0" baseline="0" noProof="1">
                <a:solidFill>
                  <a:srgbClr val="009900"/>
                </a:solidFill>
                <a:latin typeface="华文楷体" panose="02010600040101010101" charset="-122"/>
                <a:ea typeface="华文楷体" panose="02010600040101010101" charset="-122"/>
                <a:sym typeface="+mn-ea"/>
              </a:rPr>
              <a:t>如果存在一个正常数</a:t>
            </a:r>
            <a:r>
              <a:rPr kumimoji="0" lang="en-US" altLang="zh-CN" sz="2665" b="0" i="0" u="none" strike="noStrike" kern="1200" cap="none" spc="0" normalizeH="0" baseline="0" noProof="1">
                <a:solidFill>
                  <a:srgbClr val="009900"/>
                </a:solidFill>
                <a:latin typeface="华文楷体" panose="02010600040101010101" charset="-122"/>
                <a:ea typeface="华文楷体" panose="02010600040101010101" charset="-122"/>
                <a:sym typeface="+mn-ea"/>
              </a:rPr>
              <a:t>  </a:t>
            </a:r>
            <a:r>
              <a:rPr kumimoji="0" lang="en-US" altLang="zh-CN" sz="2665" b="0" i="1" u="none" strike="noStrike" kern="1200" cap="none" spc="0" normalizeH="0" baseline="0" noProof="1">
                <a:solidFill>
                  <a:srgbClr val="009900"/>
                </a:solidFill>
                <a:latin typeface="华文楷体" panose="02010600040101010101" charset="-122"/>
                <a:ea typeface="华文楷体" panose="02010600040101010101" charset="-122"/>
                <a:sym typeface="+mn-ea"/>
              </a:rPr>
              <a:t>c</a:t>
            </a:r>
            <a:r>
              <a:rPr kumimoji="0" lang="en-US" altLang="zh-CN" sz="2665" b="0" i="0" u="none" strike="noStrike" kern="1200" cap="none" spc="0" normalizeH="0" baseline="0" noProof="1">
                <a:solidFill>
                  <a:srgbClr val="009900"/>
                </a:solidFill>
                <a:latin typeface="华文楷体" panose="02010600040101010101" charset="-122"/>
                <a:ea typeface="华文楷体" panose="02010600040101010101" charset="-122"/>
                <a:sym typeface="+mn-ea"/>
              </a:rPr>
              <a:t> </a:t>
            </a:r>
            <a:r>
              <a:rPr kumimoji="0" lang="zh-CN" altLang="en-US" sz="2665" b="0" i="0" u="none" strike="noStrike" kern="1200" cap="none" spc="0" normalizeH="0" baseline="0" noProof="1">
                <a:solidFill>
                  <a:srgbClr val="009900"/>
                </a:solidFill>
                <a:latin typeface="华文楷体" panose="02010600040101010101" charset="-122"/>
                <a:ea typeface="华文楷体" panose="02010600040101010101" charset="-122"/>
                <a:sym typeface="+mn-ea"/>
              </a:rPr>
              <a:t>和</a:t>
            </a:r>
            <a:r>
              <a:rPr kumimoji="0" lang="en-US" altLang="zh-CN" sz="2665" b="0" i="0" u="none" strike="noStrike" kern="1200" cap="none" spc="0" normalizeH="0" baseline="0" noProof="1">
                <a:solidFill>
                  <a:srgbClr val="009900"/>
                </a:solidFill>
                <a:latin typeface="华文楷体" panose="02010600040101010101" charset="-122"/>
                <a:ea typeface="华文楷体" panose="02010600040101010101" charset="-122"/>
                <a:sym typeface="+mn-ea"/>
              </a:rPr>
              <a:t> </a:t>
            </a:r>
            <a:r>
              <a:rPr kumimoji="0" lang="en-US" altLang="zh-CN" sz="2665" b="0" i="1" u="none" strike="noStrike" kern="1200" cap="none" spc="0" normalizeH="0" baseline="0" noProof="1">
                <a:solidFill>
                  <a:srgbClr val="009900"/>
                </a:solidFill>
                <a:latin typeface="华文楷体" panose="02010600040101010101" charset="-122"/>
                <a:ea typeface="华文楷体" panose="02010600040101010101" charset="-122"/>
                <a:sym typeface="+mn-ea"/>
              </a:rPr>
              <a:t>n</a:t>
            </a:r>
            <a:r>
              <a:rPr kumimoji="0" lang="en-US" altLang="zh-CN" sz="2665" b="0" i="0" u="none" strike="noStrike" kern="1200" cap="none" spc="0" normalizeH="0" baseline="-25000" noProof="1">
                <a:solidFill>
                  <a:srgbClr val="009900"/>
                </a:solidFill>
                <a:latin typeface="华文楷体" panose="02010600040101010101" charset="-122"/>
                <a:ea typeface="华文楷体" panose="02010600040101010101" charset="-122"/>
                <a:sym typeface="+mn-ea"/>
              </a:rPr>
              <a:t>0</a:t>
            </a:r>
            <a:r>
              <a:rPr kumimoji="0" lang="zh-CN" altLang="en-US" sz="2665" b="0" i="0" u="none" strike="noStrike" kern="1200" cap="none" spc="0" normalizeH="0" baseline="0" noProof="1">
                <a:solidFill>
                  <a:srgbClr val="009900"/>
                </a:solidFill>
                <a:latin typeface="华文楷体" panose="02010600040101010101" charset="-122"/>
                <a:ea typeface="华文楷体" panose="02010600040101010101" charset="-122"/>
                <a:sym typeface="+mn-ea"/>
              </a:rPr>
              <a:t>，当</a:t>
            </a:r>
            <a:r>
              <a:rPr kumimoji="0" lang="en-US" altLang="zh-CN" sz="2665" b="0" i="0" u="none" strike="noStrike" kern="1200" cap="none" spc="0" normalizeH="0" baseline="0" noProof="1">
                <a:solidFill>
                  <a:srgbClr val="009900"/>
                </a:solidFill>
                <a:latin typeface="华文楷体" panose="02010600040101010101" charset="-122"/>
                <a:ea typeface="华文楷体" panose="02010600040101010101" charset="-122"/>
                <a:sym typeface="+mn-ea"/>
              </a:rPr>
              <a:t> </a:t>
            </a:r>
            <a:r>
              <a:rPr kumimoji="0" lang="en-US" altLang="zh-CN" sz="2665" b="0" i="1" u="none" strike="noStrike" kern="1200" cap="none" spc="0" normalizeH="0" baseline="0" noProof="1">
                <a:solidFill>
                  <a:srgbClr val="009900"/>
                </a:solidFill>
                <a:latin typeface="华文楷体" panose="02010600040101010101" charset="-122"/>
                <a:ea typeface="华文楷体" panose="02010600040101010101" charset="-122"/>
                <a:sym typeface="+mn-ea"/>
              </a:rPr>
              <a:t>N</a:t>
            </a:r>
            <a:r>
              <a:rPr kumimoji="0" lang="en-US" altLang="zh-CN" sz="2665" b="0" i="0" u="none" strike="noStrike" kern="1200" cap="none" spc="0" normalizeH="0" baseline="0" noProof="1">
                <a:solidFill>
                  <a:srgbClr val="009900"/>
                </a:solidFill>
                <a:latin typeface="华文楷体" panose="02010600040101010101" charset="-122"/>
                <a:ea typeface="华文楷体" panose="02010600040101010101" charset="-122"/>
                <a:sym typeface="+mn-ea"/>
              </a:rPr>
              <a:t>&gt;= </a:t>
            </a:r>
            <a:r>
              <a:rPr kumimoji="0" lang="en-US" altLang="zh-CN" sz="2665" b="0" i="1" u="none" strike="noStrike" kern="1200" cap="none" spc="0" normalizeH="0" baseline="0" noProof="1">
                <a:solidFill>
                  <a:srgbClr val="009900"/>
                </a:solidFill>
                <a:latin typeface="华文楷体" panose="02010600040101010101" charset="-122"/>
                <a:ea typeface="华文楷体" panose="02010600040101010101" charset="-122"/>
                <a:sym typeface="+mn-ea"/>
              </a:rPr>
              <a:t>n</a:t>
            </a:r>
            <a:r>
              <a:rPr kumimoji="0" lang="en-US" altLang="zh-CN" sz="2665" b="0" i="0" u="none" strike="noStrike" kern="1200" cap="none" spc="0" normalizeH="0" baseline="-25000" noProof="1">
                <a:solidFill>
                  <a:srgbClr val="009900"/>
                </a:solidFill>
                <a:latin typeface="华文楷体" panose="02010600040101010101" charset="-122"/>
                <a:ea typeface="华文楷体" panose="02010600040101010101" charset="-122"/>
                <a:sym typeface="+mn-ea"/>
              </a:rPr>
              <a:t>0</a:t>
            </a:r>
            <a:r>
              <a:rPr kumimoji="0" lang="zh-CN" altLang="en-US" sz="2665" b="0" i="0" u="none" strike="noStrike" kern="1200" cap="none" spc="0" normalizeH="0" baseline="0" noProof="1">
                <a:solidFill>
                  <a:srgbClr val="009900"/>
                </a:solidFill>
                <a:latin typeface="华文楷体" panose="02010600040101010101" charset="-122"/>
                <a:ea typeface="华文楷体" panose="02010600040101010101" charset="-122"/>
                <a:sym typeface="+mn-ea"/>
              </a:rPr>
              <a:t>时，一直存在</a:t>
            </a:r>
            <a:endParaRPr kumimoji="0" lang="en-US" altLang="zh-CN" sz="2665" b="0" i="0" u="none" strike="noStrike" kern="1200" cap="none" spc="0" normalizeH="0" baseline="-25000" noProof="1">
              <a:solidFill>
                <a:srgbClr val="009900"/>
              </a:solidFill>
              <a:latin typeface="华文楷体" panose="02010600040101010101" charset="-122"/>
              <a:ea typeface="华文楷体" panose="02010600040101010101" charset="-122"/>
              <a:sym typeface="+mn-ea"/>
            </a:endParaRPr>
          </a:p>
          <a:p>
            <a:pPr marL="342900" marR="0" indent="-342900" algn="l" defTabSz="914400" rtl="0" eaLnBrk="1" fontAlgn="base" latinLnBrk="0" hangingPunct="1">
              <a:lnSpc>
                <a:spcPct val="105000"/>
              </a:lnSpc>
              <a:spcBef>
                <a:spcPct val="20000"/>
              </a:spcBef>
              <a:spcAft>
                <a:spcPct val="0"/>
              </a:spcAft>
              <a:buClr>
                <a:schemeClr val="accent2"/>
              </a:buClr>
              <a:buFont typeface="Monotype Sorts" pitchFamily="2" charset="2"/>
              <a:buNone/>
            </a:pPr>
            <a:r>
              <a:rPr kumimoji="0" lang="en-US" altLang="zh-CN" sz="2665" b="0" i="1" u="none" strike="noStrike" kern="1200" cap="none" spc="0" normalizeH="0" baseline="0" noProof="1">
                <a:solidFill>
                  <a:srgbClr val="009900"/>
                </a:solidFill>
                <a:latin typeface="华文楷体" panose="02010600040101010101" charset="-122"/>
                <a:ea typeface="华文楷体" panose="02010600040101010101" charset="-122"/>
                <a:sym typeface="+mn-ea"/>
              </a:rPr>
              <a:t>f</a:t>
            </a:r>
            <a:r>
              <a:rPr kumimoji="0" lang="en-US" altLang="zh-CN" sz="2665" b="0" i="0" u="none" strike="noStrike" kern="1200" cap="none" spc="0" normalizeH="0" baseline="0" noProof="1">
                <a:solidFill>
                  <a:srgbClr val="009900"/>
                </a:solidFill>
                <a:latin typeface="华文楷体" panose="02010600040101010101" charset="-122"/>
                <a:ea typeface="华文楷体" panose="02010600040101010101" charset="-122"/>
                <a:sym typeface="+mn-ea"/>
              </a:rPr>
              <a:t>(</a:t>
            </a:r>
            <a:r>
              <a:rPr kumimoji="0" lang="en-US" altLang="zh-CN" sz="2665" b="0" i="1" u="none" strike="noStrike" kern="1200" cap="none" spc="0" normalizeH="0" baseline="0" noProof="1">
                <a:solidFill>
                  <a:srgbClr val="009900"/>
                </a:solidFill>
                <a:latin typeface="华文楷体" panose="02010600040101010101" charset="-122"/>
                <a:ea typeface="华文楷体" panose="02010600040101010101" charset="-122"/>
                <a:sym typeface="+mn-ea"/>
              </a:rPr>
              <a:t>N</a:t>
            </a:r>
            <a:r>
              <a:rPr kumimoji="0" lang="en-US" altLang="zh-CN" sz="2665" b="0" i="0" u="none" strike="noStrike" kern="1200" cap="none" spc="0" normalizeH="0" baseline="0" noProof="1">
                <a:solidFill>
                  <a:srgbClr val="009900"/>
                </a:solidFill>
                <a:latin typeface="华文楷体" panose="02010600040101010101" charset="-122"/>
                <a:ea typeface="华文楷体" panose="02010600040101010101" charset="-122"/>
                <a:sym typeface="+mn-ea"/>
              </a:rPr>
              <a:t>) &lt;= </a:t>
            </a:r>
            <a:r>
              <a:rPr kumimoji="0" lang="en-US" altLang="zh-CN" sz="2665" b="0" i="1" u="none" strike="noStrike" kern="1200" cap="none" spc="0" normalizeH="0" baseline="0" noProof="1">
                <a:solidFill>
                  <a:srgbClr val="009900"/>
                </a:solidFill>
                <a:latin typeface="华文楷体" panose="02010600040101010101" charset="-122"/>
                <a:ea typeface="华文楷体" panose="02010600040101010101" charset="-122"/>
                <a:sym typeface="+mn-ea"/>
              </a:rPr>
              <a:t>cg</a:t>
            </a:r>
            <a:r>
              <a:rPr kumimoji="0" lang="en-US" altLang="zh-CN" sz="2665" b="0" i="0" u="none" strike="noStrike" kern="1200" cap="none" spc="0" normalizeH="0" baseline="0" noProof="1">
                <a:solidFill>
                  <a:srgbClr val="009900"/>
                </a:solidFill>
                <a:latin typeface="华文楷体" panose="02010600040101010101" charset="-122"/>
                <a:ea typeface="华文楷体" panose="02010600040101010101" charset="-122"/>
                <a:sym typeface="+mn-ea"/>
              </a:rPr>
              <a:t>(</a:t>
            </a:r>
            <a:r>
              <a:rPr kumimoji="0" lang="en-US" altLang="zh-CN" sz="2665" b="0" i="1" u="none" strike="noStrike" kern="1200" cap="none" spc="0" normalizeH="0" baseline="0" noProof="1">
                <a:solidFill>
                  <a:srgbClr val="009900"/>
                </a:solidFill>
                <a:latin typeface="华文楷体" panose="02010600040101010101" charset="-122"/>
                <a:ea typeface="华文楷体" panose="02010600040101010101" charset="-122"/>
                <a:sym typeface="+mn-ea"/>
              </a:rPr>
              <a:t>N</a:t>
            </a:r>
            <a:r>
              <a:rPr kumimoji="0" lang="en-US" altLang="zh-CN" sz="2665" b="0" i="0" u="none" strike="noStrike" kern="1200" cap="none" spc="0" normalizeH="0" baseline="0" noProof="1">
                <a:solidFill>
                  <a:srgbClr val="009900"/>
                </a:solidFill>
                <a:latin typeface="华文楷体" panose="02010600040101010101" charset="-122"/>
                <a:ea typeface="华文楷体" panose="02010600040101010101" charset="-122"/>
                <a:sym typeface="+mn-ea"/>
              </a:rPr>
              <a:t>)  </a:t>
            </a:r>
            <a:endParaRPr kumimoji="0" lang="en-US" altLang="zh-CN" sz="2665" b="0" i="0" u="none" strike="noStrike" kern="1200" cap="none" spc="0" normalizeH="0" baseline="-25000" noProof="1">
              <a:solidFill>
                <a:srgbClr val="009900"/>
              </a:solidFill>
              <a:latin typeface="华文楷体" panose="02010600040101010101" charset="-122"/>
              <a:ea typeface="华文楷体" panose="02010600040101010101" charset="-122"/>
              <a:sym typeface="+mn-ea"/>
            </a:endParaRPr>
          </a:p>
        </p:txBody>
      </p:sp>
      <p:sp>
        <p:nvSpPr>
          <p:cNvPr id="111623" name="Rectangle 4"/>
          <p:cNvSpPr>
            <a:spLocks noChangeArrowheads="1"/>
          </p:cNvSpPr>
          <p:nvPr/>
        </p:nvSpPr>
        <p:spPr bwMode="auto">
          <a:xfrm>
            <a:off x="725488" y="1541463"/>
            <a:ext cx="8562975"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Font typeface="Monotype Sorts" pitchFamily="2" charset="2"/>
              <a:buChar char="z"/>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accent2"/>
              </a:buClr>
              <a:buFont typeface="Monotype Sorts" pitchFamily="2" charset="2"/>
              <a:buChar char="y"/>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accent2"/>
              </a:buClr>
              <a:buFont typeface="Monotype Sorts" pitchFamily="2" charset="2"/>
              <a:buChar char="x"/>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2"/>
              </a:buClr>
              <a:buChar char="–"/>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sz="2000">
                <a:solidFill>
                  <a:schemeClr val="tx1"/>
                </a:solidFill>
                <a:latin typeface="Tahoma" panose="020B0604030504040204" pitchFamily="34" charset="0"/>
                <a:ea typeface="宋体" panose="02010600030101010101" pitchFamily="2" charset="-122"/>
              </a:defRPr>
            </a:lvl9pPr>
          </a:lstStyle>
          <a:p>
            <a:pPr eaLnBrk="1" fontAlgn="base" hangingPunct="1">
              <a:lnSpc>
                <a:spcPct val="105000"/>
              </a:lnSpc>
              <a:buFont typeface="Monotype Sorts" pitchFamily="2" charset="2"/>
              <a:buNone/>
            </a:pPr>
            <a:endParaRPr lang="en-US" altLang="zh-CN" sz="2665" strike="noStrike" baseline="-25000" noProof="1">
              <a:solidFill>
                <a:srgbClr val="009900"/>
              </a:solidFill>
              <a:latin typeface="华文楷体" panose="02010600040101010101" charset="-122"/>
              <a:ea typeface="华文楷体" panose="02010600040101010101" charset="-122"/>
            </a:endParaRPr>
          </a:p>
        </p:txBody>
      </p:sp>
      <p:sp>
        <p:nvSpPr>
          <p:cNvPr id="111624" name="Line 14"/>
          <p:cNvSpPr>
            <a:spLocks noChangeShapeType="1"/>
          </p:cNvSpPr>
          <p:nvPr/>
        </p:nvSpPr>
        <p:spPr bwMode="auto">
          <a:xfrm>
            <a:off x="3871093" y="3351213"/>
            <a:ext cx="0" cy="210502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pPr fontAlgn="base"/>
            <a:endParaRPr lang="zh-CN" altLang="en-US" sz="1715" strike="noStrike" noProof="1">
              <a:latin typeface="华文楷体" panose="02010600040101010101" charset="-122"/>
              <a:ea typeface="华文楷体" panose="02010600040101010101" charset="-122"/>
            </a:endParaRPr>
          </a:p>
        </p:txBody>
      </p:sp>
      <p:sp>
        <p:nvSpPr>
          <p:cNvPr id="111625" name="Line 15"/>
          <p:cNvSpPr>
            <a:spLocks noChangeShapeType="1"/>
          </p:cNvSpPr>
          <p:nvPr/>
        </p:nvSpPr>
        <p:spPr bwMode="auto">
          <a:xfrm>
            <a:off x="3871093" y="5456238"/>
            <a:ext cx="2757488"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pPr fontAlgn="base"/>
            <a:endParaRPr lang="zh-CN" altLang="en-US" sz="1715" strike="noStrike" noProof="1">
              <a:latin typeface="华文楷体" panose="02010600040101010101" charset="-122"/>
              <a:ea typeface="华文楷体" panose="02010600040101010101" charset="-122"/>
            </a:endParaRPr>
          </a:p>
        </p:txBody>
      </p:sp>
      <p:sp>
        <p:nvSpPr>
          <p:cNvPr id="111626" name="Line 19"/>
          <p:cNvSpPr>
            <a:spLocks noChangeShapeType="1"/>
          </p:cNvSpPr>
          <p:nvPr/>
        </p:nvSpPr>
        <p:spPr bwMode="auto">
          <a:xfrm>
            <a:off x="4669606" y="4005263"/>
            <a:ext cx="0" cy="1450975"/>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wrap="none" anchor="ctr"/>
          <a:lstStyle/>
          <a:p>
            <a:pPr fontAlgn="base"/>
            <a:endParaRPr lang="zh-CN" altLang="en-US" sz="1715" strike="noStrike" noProof="1">
              <a:latin typeface="华文楷体" panose="02010600040101010101" charset="-122"/>
              <a:ea typeface="华文楷体" panose="02010600040101010101" charset="-122"/>
            </a:endParaRPr>
          </a:p>
        </p:txBody>
      </p:sp>
      <p:sp>
        <p:nvSpPr>
          <p:cNvPr id="111627" name="Text Box 20"/>
          <p:cNvSpPr txBox="1">
            <a:spLocks noChangeArrowheads="1"/>
          </p:cNvSpPr>
          <p:nvPr/>
        </p:nvSpPr>
        <p:spPr bwMode="auto">
          <a:xfrm>
            <a:off x="4523556" y="5311775"/>
            <a:ext cx="428625"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Monotype Sorts" pitchFamily="2" charset="2"/>
              <a:buChar char="z"/>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accent2"/>
              </a:buClr>
              <a:buFont typeface="Monotype Sorts" pitchFamily="2" charset="2"/>
              <a:buChar char="y"/>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accent2"/>
              </a:buClr>
              <a:buFont typeface="Monotype Sorts" pitchFamily="2" charset="2"/>
              <a:buChar char="x"/>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2"/>
              </a:buClr>
              <a:buChar char="–"/>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sz="2000">
                <a:solidFill>
                  <a:schemeClr val="tx1"/>
                </a:solidFill>
                <a:latin typeface="Tahoma" panose="020B0604030504040204" pitchFamily="34" charset="0"/>
                <a:ea typeface="宋体" panose="02010600030101010101" pitchFamily="2" charset="-122"/>
              </a:defRPr>
            </a:lvl9pPr>
          </a:lstStyle>
          <a:p>
            <a:pPr marL="0" marR="0" indent="0" algn="l" defTabSz="914400" rtl="0" eaLnBrk="0" fontAlgn="base" latinLnBrk="0" hangingPunct="0">
              <a:lnSpc>
                <a:spcPct val="100000"/>
              </a:lnSpc>
              <a:spcBef>
                <a:spcPct val="0"/>
              </a:spcBef>
              <a:spcAft>
                <a:spcPct val="0"/>
              </a:spcAft>
              <a:buClrTx/>
              <a:buFontTx/>
              <a:buNone/>
            </a:pPr>
            <a:r>
              <a:rPr kumimoji="0" lang="en-US" altLang="ko-KR" sz="2285" b="0" i="1" u="none" strike="noStrike" kern="1200" cap="none" spc="0" normalizeH="0" baseline="0" noProof="1">
                <a:solidFill>
                  <a:schemeClr val="tx1"/>
                </a:solidFill>
                <a:latin typeface="华文楷体" panose="02010600040101010101" charset="-122"/>
                <a:ea typeface="华文楷体" panose="02010600040101010101" charset="-122"/>
                <a:sym typeface="+mn-ea"/>
              </a:rPr>
              <a:t>n</a:t>
            </a:r>
            <a:r>
              <a:rPr kumimoji="0" lang="en-US" altLang="ko-KR" sz="2285" b="0" i="0" u="none" strike="noStrike" kern="1200" cap="none" spc="0" normalizeH="0" baseline="-25000" noProof="1">
                <a:solidFill>
                  <a:schemeClr val="tx1"/>
                </a:solidFill>
                <a:latin typeface="华文楷体" panose="02010600040101010101" charset="-122"/>
                <a:ea typeface="华文楷体" panose="02010600040101010101" charset="-122"/>
                <a:sym typeface="+mn-ea"/>
              </a:rPr>
              <a:t>0</a:t>
            </a:r>
            <a:endParaRPr kumimoji="0" lang="en-US" altLang="ko-KR" sz="2285" b="0" i="0" u="none" strike="noStrike" kern="1200" cap="none" spc="0" normalizeH="0" baseline="0" noProof="1">
              <a:solidFill>
                <a:schemeClr val="tx1"/>
              </a:solidFill>
              <a:latin typeface="华文楷体" panose="02010600040101010101" charset="-122"/>
              <a:ea typeface="华文楷体" panose="02010600040101010101" charset="-122"/>
              <a:sym typeface="+mn-ea"/>
            </a:endParaRPr>
          </a:p>
        </p:txBody>
      </p:sp>
      <p:sp>
        <p:nvSpPr>
          <p:cNvPr id="111628" name="Text Box 21"/>
          <p:cNvSpPr txBox="1">
            <a:spLocks noChangeArrowheads="1"/>
          </p:cNvSpPr>
          <p:nvPr/>
        </p:nvSpPr>
        <p:spPr bwMode="auto">
          <a:xfrm>
            <a:off x="6482531" y="5311775"/>
            <a:ext cx="331788"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Monotype Sorts" pitchFamily="2" charset="2"/>
              <a:buChar char="z"/>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accent2"/>
              </a:buClr>
              <a:buFont typeface="Monotype Sorts" pitchFamily="2" charset="2"/>
              <a:buChar char="y"/>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accent2"/>
              </a:buClr>
              <a:buFont typeface="Monotype Sorts" pitchFamily="2" charset="2"/>
              <a:buChar char="x"/>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2"/>
              </a:buClr>
              <a:buChar char="–"/>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sz="2000">
                <a:solidFill>
                  <a:schemeClr val="tx1"/>
                </a:solidFill>
                <a:latin typeface="Tahoma" panose="020B0604030504040204" pitchFamily="34" charset="0"/>
                <a:ea typeface="宋体" panose="02010600030101010101" pitchFamily="2" charset="-122"/>
              </a:defRPr>
            </a:lvl9pPr>
          </a:lstStyle>
          <a:p>
            <a:pPr marL="0" marR="0" indent="0" algn="l" defTabSz="914400" rtl="0" eaLnBrk="0" fontAlgn="base" latinLnBrk="0" hangingPunct="0">
              <a:lnSpc>
                <a:spcPct val="100000"/>
              </a:lnSpc>
              <a:spcBef>
                <a:spcPct val="0"/>
              </a:spcBef>
              <a:spcAft>
                <a:spcPct val="0"/>
              </a:spcAft>
              <a:buClrTx/>
              <a:buFontTx/>
              <a:buNone/>
            </a:pPr>
            <a:r>
              <a:rPr kumimoji="0" lang="en-US" altLang="ko-KR" sz="2285" b="0" i="1" u="none" strike="noStrike" kern="1200" cap="none" spc="0" normalizeH="0" baseline="0" noProof="1">
                <a:solidFill>
                  <a:schemeClr val="tx1"/>
                </a:solidFill>
                <a:latin typeface="华文楷体" panose="02010600040101010101" charset="-122"/>
                <a:ea typeface="华文楷体" panose="02010600040101010101" charset="-122"/>
                <a:sym typeface="+mn-ea"/>
              </a:rPr>
              <a:t>n</a:t>
            </a:r>
            <a:endParaRPr kumimoji="0" lang="en-US" altLang="ko-KR" sz="2285" b="0" i="0" u="none" strike="noStrike" kern="1200" cap="none" spc="0" normalizeH="0" baseline="0" noProof="1">
              <a:solidFill>
                <a:schemeClr val="tx1"/>
              </a:solidFill>
              <a:latin typeface="华文楷体" panose="02010600040101010101" charset="-122"/>
              <a:ea typeface="华文楷体" panose="02010600040101010101" charset="-122"/>
              <a:sym typeface="+mn-ea"/>
            </a:endParaRPr>
          </a:p>
        </p:txBody>
      </p:sp>
      <p:sp>
        <p:nvSpPr>
          <p:cNvPr id="111629" name="Text Box 23"/>
          <p:cNvSpPr txBox="1">
            <a:spLocks noChangeArrowheads="1"/>
          </p:cNvSpPr>
          <p:nvPr/>
        </p:nvSpPr>
        <p:spPr bwMode="auto">
          <a:xfrm>
            <a:off x="6555556" y="3714750"/>
            <a:ext cx="608013"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Monotype Sorts" pitchFamily="2" charset="2"/>
              <a:buChar char="z"/>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accent2"/>
              </a:buClr>
              <a:buFont typeface="Monotype Sorts" pitchFamily="2" charset="2"/>
              <a:buChar char="y"/>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accent2"/>
              </a:buClr>
              <a:buFont typeface="Monotype Sorts" pitchFamily="2" charset="2"/>
              <a:buChar char="x"/>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2"/>
              </a:buClr>
              <a:buChar char="–"/>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sz="2000">
                <a:solidFill>
                  <a:schemeClr val="tx1"/>
                </a:solidFill>
                <a:latin typeface="Tahoma" panose="020B0604030504040204" pitchFamily="34" charset="0"/>
                <a:ea typeface="宋体" panose="02010600030101010101" pitchFamily="2" charset="-122"/>
              </a:defRPr>
            </a:lvl9pPr>
          </a:lstStyle>
          <a:p>
            <a:pPr marL="0" marR="0" indent="0" algn="l" defTabSz="914400" rtl="0" eaLnBrk="0" fontAlgn="base" latinLnBrk="0" hangingPunct="0">
              <a:lnSpc>
                <a:spcPct val="100000"/>
              </a:lnSpc>
              <a:spcBef>
                <a:spcPct val="0"/>
              </a:spcBef>
              <a:spcAft>
                <a:spcPct val="0"/>
              </a:spcAft>
              <a:buClrTx/>
              <a:buFontTx/>
              <a:buNone/>
            </a:pPr>
            <a:r>
              <a:rPr kumimoji="0" lang="en-US" altLang="ko-KR" sz="2285" b="0" i="1" u="none" strike="noStrike" kern="1200" cap="none" spc="0" normalizeH="0" baseline="0" noProof="1">
                <a:solidFill>
                  <a:schemeClr val="tx1"/>
                </a:solidFill>
                <a:latin typeface="华文楷体" panose="02010600040101010101" charset="-122"/>
                <a:ea typeface="华文楷体" panose="02010600040101010101" charset="-122"/>
                <a:sym typeface="+mn-ea"/>
              </a:rPr>
              <a:t>f</a:t>
            </a:r>
            <a:r>
              <a:rPr kumimoji="0" lang="en-US" altLang="ko-KR" sz="2285" b="0" i="0" u="none" strike="noStrike" kern="1200" cap="none" spc="0" normalizeH="0" baseline="0" noProof="1">
                <a:solidFill>
                  <a:schemeClr val="tx1"/>
                </a:solidFill>
                <a:latin typeface="华文楷体" panose="02010600040101010101" charset="-122"/>
                <a:ea typeface="华文楷体" panose="02010600040101010101" charset="-122"/>
                <a:sym typeface="+mn-ea"/>
              </a:rPr>
              <a:t>(</a:t>
            </a:r>
            <a:r>
              <a:rPr kumimoji="0" lang="en-US" altLang="ko-KR" sz="2285" b="0" i="1" u="none" strike="noStrike" kern="1200" cap="none" spc="0" normalizeH="0" baseline="0" noProof="1">
                <a:solidFill>
                  <a:schemeClr val="tx1"/>
                </a:solidFill>
                <a:latin typeface="华文楷体" panose="02010600040101010101" charset="-122"/>
                <a:ea typeface="华文楷体" panose="02010600040101010101" charset="-122"/>
                <a:sym typeface="+mn-ea"/>
              </a:rPr>
              <a:t>n</a:t>
            </a:r>
            <a:r>
              <a:rPr kumimoji="0" lang="en-US" altLang="ko-KR" sz="2285" b="0" i="0" u="none" strike="noStrike" kern="1200" cap="none" spc="0" normalizeH="0" baseline="0" noProof="1">
                <a:solidFill>
                  <a:schemeClr val="tx1"/>
                </a:solidFill>
                <a:latin typeface="华文楷体" panose="02010600040101010101" charset="-122"/>
                <a:ea typeface="华文楷体" panose="02010600040101010101" charset="-122"/>
                <a:sym typeface="+mn-ea"/>
              </a:rPr>
              <a:t>)</a:t>
            </a:r>
            <a:endParaRPr kumimoji="0" lang="en-US" altLang="ko-KR" sz="2285" b="0" i="0" u="none" strike="noStrike" kern="1200" cap="none" spc="0" normalizeH="0" baseline="0" noProof="1">
              <a:solidFill>
                <a:schemeClr val="tx1"/>
              </a:solidFill>
              <a:latin typeface="华文楷体" panose="02010600040101010101" charset="-122"/>
              <a:ea typeface="华文楷体" panose="02010600040101010101" charset="-122"/>
              <a:sym typeface="+mn-ea"/>
            </a:endParaRPr>
          </a:p>
        </p:txBody>
      </p:sp>
      <p:sp>
        <p:nvSpPr>
          <p:cNvPr id="111630" name="Freeform 25"/>
          <p:cNvSpPr/>
          <p:nvPr/>
        </p:nvSpPr>
        <p:spPr bwMode="auto">
          <a:xfrm>
            <a:off x="3871093" y="3570288"/>
            <a:ext cx="2540000" cy="1524000"/>
          </a:xfrm>
          <a:custGeom>
            <a:avLst/>
            <a:gdLst>
              <a:gd name="T0" fmla="*/ 0 w 1680"/>
              <a:gd name="T1" fmla="*/ 2147483646 h 1008"/>
              <a:gd name="T2" fmla="*/ 2147483646 w 1680"/>
              <a:gd name="T3" fmla="*/ 2147483646 h 1008"/>
              <a:gd name="T4" fmla="*/ 2147483646 w 1680"/>
              <a:gd name="T5" fmla="*/ 2147483646 h 1008"/>
              <a:gd name="T6" fmla="*/ 2147483646 w 1680"/>
              <a:gd name="T7" fmla="*/ 2147483646 h 1008"/>
              <a:gd name="T8" fmla="*/ 2147483646 w 1680"/>
              <a:gd name="T9" fmla="*/ 2147483646 h 1008"/>
              <a:gd name="T10" fmla="*/ 2147483646 w 1680"/>
              <a:gd name="T11" fmla="*/ 2147483646 h 1008"/>
              <a:gd name="T12" fmla="*/ 2147483646 w 1680"/>
              <a:gd name="T13" fmla="*/ 0 h 1008"/>
              <a:gd name="T14" fmla="*/ 0 60000 65536"/>
              <a:gd name="T15" fmla="*/ 0 60000 65536"/>
              <a:gd name="T16" fmla="*/ 0 60000 65536"/>
              <a:gd name="T17" fmla="*/ 0 60000 65536"/>
              <a:gd name="T18" fmla="*/ 0 60000 65536"/>
              <a:gd name="T19" fmla="*/ 0 60000 65536"/>
              <a:gd name="T20" fmla="*/ 0 60000 65536"/>
              <a:gd name="T21" fmla="*/ 0 w 1680"/>
              <a:gd name="T22" fmla="*/ 0 h 1008"/>
              <a:gd name="T23" fmla="*/ 1680 w 1680"/>
              <a:gd name="T24" fmla="*/ 1008 h 100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80" h="1008">
                <a:moveTo>
                  <a:pt x="0" y="1008"/>
                </a:moveTo>
                <a:cubicBezTo>
                  <a:pt x="16" y="956"/>
                  <a:pt x="32" y="904"/>
                  <a:pt x="96" y="864"/>
                </a:cubicBezTo>
                <a:cubicBezTo>
                  <a:pt x="160" y="824"/>
                  <a:pt x="312" y="800"/>
                  <a:pt x="384" y="768"/>
                </a:cubicBezTo>
                <a:cubicBezTo>
                  <a:pt x="456" y="736"/>
                  <a:pt x="464" y="728"/>
                  <a:pt x="528" y="672"/>
                </a:cubicBezTo>
                <a:cubicBezTo>
                  <a:pt x="592" y="616"/>
                  <a:pt x="632" y="520"/>
                  <a:pt x="768" y="432"/>
                </a:cubicBezTo>
                <a:cubicBezTo>
                  <a:pt x="904" y="344"/>
                  <a:pt x="1192" y="216"/>
                  <a:pt x="1344" y="144"/>
                </a:cubicBezTo>
                <a:cubicBezTo>
                  <a:pt x="1496" y="72"/>
                  <a:pt x="1588" y="36"/>
                  <a:pt x="1680" y="0"/>
                </a:cubicBez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fontAlgn="base"/>
            <a:endParaRPr lang="zh-CN" altLang="en-US" sz="1715" strike="noStrike" noProof="1">
              <a:latin typeface="华文楷体" panose="02010600040101010101" charset="-122"/>
              <a:ea typeface="华文楷体" panose="02010600040101010101" charset="-122"/>
            </a:endParaRPr>
          </a:p>
        </p:txBody>
      </p:sp>
      <p:sp>
        <p:nvSpPr>
          <p:cNvPr id="111631" name="Freeform 26"/>
          <p:cNvSpPr/>
          <p:nvPr/>
        </p:nvSpPr>
        <p:spPr bwMode="auto">
          <a:xfrm>
            <a:off x="3871093" y="4005263"/>
            <a:ext cx="2540000" cy="1089025"/>
          </a:xfrm>
          <a:custGeom>
            <a:avLst/>
            <a:gdLst>
              <a:gd name="T0" fmla="*/ 0 w 1680"/>
              <a:gd name="T1" fmla="*/ 2147483646 h 720"/>
              <a:gd name="T2" fmla="*/ 2147483646 w 1680"/>
              <a:gd name="T3" fmla="*/ 2147483646 h 720"/>
              <a:gd name="T4" fmla="*/ 2147483646 w 1680"/>
              <a:gd name="T5" fmla="*/ 2147483646 h 720"/>
              <a:gd name="T6" fmla="*/ 2147483646 w 1680"/>
              <a:gd name="T7" fmla="*/ 2147483646 h 720"/>
              <a:gd name="T8" fmla="*/ 2147483646 w 1680"/>
              <a:gd name="T9" fmla="*/ 2147483646 h 720"/>
              <a:gd name="T10" fmla="*/ 2147483646 w 1680"/>
              <a:gd name="T11" fmla="*/ 2147483646 h 720"/>
              <a:gd name="T12" fmla="*/ 2147483646 w 1680"/>
              <a:gd name="T13" fmla="*/ 2147483646 h 720"/>
              <a:gd name="T14" fmla="*/ 2147483646 w 1680"/>
              <a:gd name="T15" fmla="*/ 2147483646 h 720"/>
              <a:gd name="T16" fmla="*/ 2147483646 w 1680"/>
              <a:gd name="T17" fmla="*/ 2147483646 h 720"/>
              <a:gd name="T18" fmla="*/ 2147483646 w 1680"/>
              <a:gd name="T19" fmla="*/ 2147483646 h 720"/>
              <a:gd name="T20" fmla="*/ 2147483646 w 1680"/>
              <a:gd name="T21" fmla="*/ 0 h 72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680"/>
              <a:gd name="T34" fmla="*/ 0 h 720"/>
              <a:gd name="T35" fmla="*/ 1680 w 1680"/>
              <a:gd name="T36" fmla="*/ 720 h 72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680" h="720">
                <a:moveTo>
                  <a:pt x="0" y="480"/>
                </a:moveTo>
                <a:cubicBezTo>
                  <a:pt x="36" y="488"/>
                  <a:pt x="72" y="496"/>
                  <a:pt x="96" y="528"/>
                </a:cubicBezTo>
                <a:cubicBezTo>
                  <a:pt x="120" y="560"/>
                  <a:pt x="120" y="648"/>
                  <a:pt x="144" y="672"/>
                </a:cubicBezTo>
                <a:cubicBezTo>
                  <a:pt x="168" y="696"/>
                  <a:pt x="216" y="720"/>
                  <a:pt x="240" y="672"/>
                </a:cubicBezTo>
                <a:cubicBezTo>
                  <a:pt x="264" y="624"/>
                  <a:pt x="256" y="456"/>
                  <a:pt x="288" y="384"/>
                </a:cubicBezTo>
                <a:cubicBezTo>
                  <a:pt x="320" y="312"/>
                  <a:pt x="384" y="232"/>
                  <a:pt x="432" y="240"/>
                </a:cubicBezTo>
                <a:cubicBezTo>
                  <a:pt x="480" y="248"/>
                  <a:pt x="512" y="416"/>
                  <a:pt x="576" y="432"/>
                </a:cubicBezTo>
                <a:cubicBezTo>
                  <a:pt x="640" y="448"/>
                  <a:pt x="752" y="368"/>
                  <a:pt x="816" y="336"/>
                </a:cubicBezTo>
                <a:cubicBezTo>
                  <a:pt x="880" y="304"/>
                  <a:pt x="888" y="272"/>
                  <a:pt x="960" y="240"/>
                </a:cubicBezTo>
                <a:cubicBezTo>
                  <a:pt x="1032" y="208"/>
                  <a:pt x="1128" y="184"/>
                  <a:pt x="1248" y="144"/>
                </a:cubicBezTo>
                <a:cubicBezTo>
                  <a:pt x="1368" y="104"/>
                  <a:pt x="1524" y="52"/>
                  <a:pt x="1680" y="0"/>
                </a:cubicBez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fontAlgn="base"/>
            <a:endParaRPr lang="zh-CN" altLang="en-US" sz="1715" strike="noStrike" noProof="1">
              <a:latin typeface="华文楷体" panose="02010600040101010101" charset="-122"/>
              <a:ea typeface="华文楷体" panose="02010600040101010101" charset="-122"/>
            </a:endParaRPr>
          </a:p>
        </p:txBody>
      </p:sp>
      <p:sp>
        <p:nvSpPr>
          <p:cNvPr id="111632" name="Text Box 34"/>
          <p:cNvSpPr txBox="1">
            <a:spLocks noChangeArrowheads="1"/>
          </p:cNvSpPr>
          <p:nvPr/>
        </p:nvSpPr>
        <p:spPr bwMode="auto">
          <a:xfrm>
            <a:off x="2153418" y="6037263"/>
            <a:ext cx="552450"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Monotype Sorts" pitchFamily="2" charset="2"/>
              <a:buChar char="z"/>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accent2"/>
              </a:buClr>
              <a:buFont typeface="Monotype Sorts" pitchFamily="2" charset="2"/>
              <a:buChar char="y"/>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accent2"/>
              </a:buClr>
              <a:buFont typeface="Monotype Sorts" pitchFamily="2" charset="2"/>
              <a:buChar char="x"/>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2"/>
              </a:buClr>
              <a:buChar char="–"/>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sz="2000">
                <a:solidFill>
                  <a:schemeClr val="tx1"/>
                </a:solidFill>
                <a:latin typeface="Tahoma" panose="020B0604030504040204" pitchFamily="34" charset="0"/>
                <a:ea typeface="宋体" panose="02010600030101010101" pitchFamily="2" charset="-122"/>
              </a:defRPr>
            </a:lvl9pPr>
          </a:lstStyle>
          <a:p>
            <a:pPr marL="0" marR="0" indent="0" algn="l" defTabSz="914400" rtl="0" eaLnBrk="0" fontAlgn="base" latinLnBrk="0" hangingPunct="0">
              <a:lnSpc>
                <a:spcPct val="100000"/>
              </a:lnSpc>
              <a:spcBef>
                <a:spcPct val="0"/>
              </a:spcBef>
              <a:spcAft>
                <a:spcPct val="0"/>
              </a:spcAft>
              <a:buClrTx/>
              <a:buFontTx/>
              <a:buNone/>
            </a:pPr>
            <a:r>
              <a:rPr kumimoji="0" lang="en-GB" altLang="zh-CN" sz="2285" b="0" i="0" u="none" strike="noStrike" kern="1200" cap="none" spc="0" normalizeH="0" baseline="0" noProof="1">
                <a:solidFill>
                  <a:schemeClr val="tx1"/>
                </a:solidFill>
                <a:latin typeface="华文楷体" panose="02010600040101010101" charset="-122"/>
                <a:ea typeface="华文楷体" panose="02010600040101010101" charset="-122"/>
                <a:sym typeface="+mn-ea"/>
              </a:rPr>
              <a:t>     </a:t>
            </a:r>
            <a:endParaRPr kumimoji="0" lang="en-GB" altLang="zh-CN" sz="2285" b="0" i="0" u="none" strike="noStrike" kern="1200" cap="none" spc="0" normalizeH="0" baseline="0" noProof="1">
              <a:solidFill>
                <a:schemeClr val="tx1"/>
              </a:solidFill>
              <a:latin typeface="华文楷体" panose="02010600040101010101" charset="-122"/>
              <a:ea typeface="华文楷体" panose="02010600040101010101" charset="-122"/>
              <a:sym typeface="+mn-ea"/>
            </a:endParaRPr>
          </a:p>
        </p:txBody>
      </p:sp>
      <p:sp>
        <p:nvSpPr>
          <p:cNvPr id="111633" name="TextBox 15"/>
          <p:cNvSpPr txBox="1">
            <a:spLocks noChangeArrowheads="1"/>
          </p:cNvSpPr>
          <p:nvPr/>
        </p:nvSpPr>
        <p:spPr bwMode="auto">
          <a:xfrm>
            <a:off x="2983681" y="5824538"/>
            <a:ext cx="5692775"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Monotype Sorts" pitchFamily="2" charset="2"/>
              <a:buChar char="z"/>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accent2"/>
              </a:buClr>
              <a:buFont typeface="Monotype Sorts" pitchFamily="2" charset="2"/>
              <a:buChar char="y"/>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accent2"/>
              </a:buClr>
              <a:buFont typeface="Monotype Sorts" pitchFamily="2" charset="2"/>
              <a:buChar char="x"/>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2"/>
              </a:buClr>
              <a:buChar char="–"/>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sz="2000">
                <a:solidFill>
                  <a:schemeClr val="tx1"/>
                </a:solidFill>
                <a:latin typeface="Tahoma" panose="020B0604030504040204" pitchFamily="34" charset="0"/>
                <a:ea typeface="宋体" panose="02010600030101010101" pitchFamily="2" charset="-122"/>
              </a:defRPr>
            </a:lvl9pPr>
          </a:lstStyle>
          <a:p>
            <a:pPr marL="0" marR="0" indent="0" algn="l" defTabSz="914400" rtl="0" eaLnBrk="0" fontAlgn="base" latinLnBrk="0" hangingPunct="0">
              <a:lnSpc>
                <a:spcPct val="100000"/>
              </a:lnSpc>
              <a:spcBef>
                <a:spcPct val="0"/>
              </a:spcBef>
              <a:spcAft>
                <a:spcPct val="0"/>
              </a:spcAft>
              <a:buClrTx/>
              <a:buFontTx/>
              <a:buNone/>
            </a:pPr>
            <a:r>
              <a:rPr kumimoji="0" lang="en-US" altLang="zh-CN" sz="2285" b="0" i="0" u="none" strike="noStrike" kern="1200" cap="none" spc="0" normalizeH="0" baseline="0" noProof="1">
                <a:solidFill>
                  <a:schemeClr val="tx1"/>
                </a:solidFill>
                <a:latin typeface="华文楷体" panose="02010600040101010101" charset="-122"/>
                <a:ea typeface="华文楷体" panose="02010600040101010101" charset="-122"/>
                <a:sym typeface="+mn-ea"/>
              </a:rPr>
              <a:t>Big Oh notation  </a:t>
            </a:r>
            <a:r>
              <a:rPr kumimoji="0" lang="en-US" altLang="zh-CN" sz="2285" b="0" i="1" u="none" strike="noStrike" kern="1200" cap="none" spc="0" normalizeH="0" baseline="0" noProof="1">
                <a:solidFill>
                  <a:schemeClr val="tx1"/>
                </a:solidFill>
                <a:latin typeface="华文楷体" panose="02010600040101010101" charset="-122"/>
                <a:ea typeface="华文楷体" panose="02010600040101010101" charset="-122"/>
                <a:sym typeface="+mn-ea"/>
              </a:rPr>
              <a:t>f</a:t>
            </a:r>
            <a:r>
              <a:rPr kumimoji="0" lang="en-US" altLang="zh-CN" sz="2285" b="0" i="0" u="none" strike="noStrike" kern="1200" cap="none" spc="0" normalizeH="0" baseline="0" noProof="1">
                <a:solidFill>
                  <a:schemeClr val="tx1"/>
                </a:solidFill>
                <a:latin typeface="华文楷体" panose="02010600040101010101" charset="-122"/>
                <a:ea typeface="华文楷体" panose="02010600040101010101" charset="-122"/>
                <a:sym typeface="+mn-ea"/>
              </a:rPr>
              <a:t>(</a:t>
            </a:r>
            <a:r>
              <a:rPr kumimoji="0" lang="en-US" altLang="zh-CN" sz="2285" b="0" i="1" u="none" strike="noStrike" kern="1200" cap="none" spc="0" normalizeH="0" baseline="0" noProof="1">
                <a:solidFill>
                  <a:schemeClr val="tx1"/>
                </a:solidFill>
                <a:latin typeface="华文楷体" panose="02010600040101010101" charset="-122"/>
                <a:ea typeface="华文楷体" panose="02010600040101010101" charset="-122"/>
                <a:sym typeface="+mn-ea"/>
              </a:rPr>
              <a:t>n</a:t>
            </a:r>
            <a:r>
              <a:rPr kumimoji="0" lang="en-US" altLang="zh-CN" sz="2285" b="0" i="0" u="none" strike="noStrike" kern="1200" cap="none" spc="0" normalizeH="0" baseline="0" noProof="1">
                <a:solidFill>
                  <a:schemeClr val="tx1"/>
                </a:solidFill>
                <a:latin typeface="华文楷体" panose="02010600040101010101" charset="-122"/>
                <a:ea typeface="华文楷体" panose="02010600040101010101" charset="-122"/>
                <a:sym typeface="+mn-ea"/>
              </a:rPr>
              <a:t>) ∈ </a:t>
            </a:r>
            <a:r>
              <a:rPr kumimoji="0" lang="en-US" altLang="zh-CN" sz="2285" b="0" i="1" u="none" strike="noStrike" kern="1200" cap="none" spc="0" normalizeH="0" baseline="0" noProof="1">
                <a:solidFill>
                  <a:schemeClr val="tx1"/>
                </a:solidFill>
                <a:latin typeface="华文楷体" panose="02010600040101010101" charset="-122"/>
                <a:ea typeface="华文楷体" panose="02010600040101010101" charset="-122"/>
                <a:sym typeface="+mn-ea"/>
              </a:rPr>
              <a:t>O</a:t>
            </a:r>
            <a:r>
              <a:rPr kumimoji="0" lang="en-US" altLang="zh-CN" sz="2285" b="0" i="0" u="none" strike="noStrike" kern="1200" cap="none" spc="0" normalizeH="0" baseline="0" noProof="1">
                <a:solidFill>
                  <a:schemeClr val="tx1"/>
                </a:solidFill>
                <a:latin typeface="华文楷体" panose="02010600040101010101" charset="-122"/>
                <a:ea typeface="华文楷体" panose="02010600040101010101" charset="-122"/>
                <a:sym typeface="+mn-ea"/>
              </a:rPr>
              <a:t>(</a:t>
            </a:r>
            <a:r>
              <a:rPr kumimoji="0" lang="en-US" altLang="zh-CN" sz="2285" b="0" i="1" u="none" strike="noStrike" kern="1200" cap="none" spc="0" normalizeH="0" baseline="0" noProof="1">
                <a:solidFill>
                  <a:schemeClr val="tx1"/>
                </a:solidFill>
                <a:latin typeface="华文楷体" panose="02010600040101010101" charset="-122"/>
                <a:ea typeface="华文楷体" panose="02010600040101010101" charset="-122"/>
                <a:sym typeface="+mn-ea"/>
              </a:rPr>
              <a:t>g</a:t>
            </a:r>
            <a:r>
              <a:rPr kumimoji="0" lang="en-US" altLang="zh-CN" sz="2285" b="0" i="0" u="none" strike="noStrike" kern="1200" cap="none" spc="0" normalizeH="0" baseline="0" noProof="1">
                <a:solidFill>
                  <a:schemeClr val="tx1"/>
                </a:solidFill>
                <a:latin typeface="华文楷体" panose="02010600040101010101" charset="-122"/>
                <a:ea typeface="华文楷体" panose="02010600040101010101" charset="-122"/>
                <a:sym typeface="+mn-ea"/>
              </a:rPr>
              <a:t>(</a:t>
            </a:r>
            <a:r>
              <a:rPr kumimoji="0" lang="en-US" altLang="zh-CN" sz="2285" b="0" i="1" u="none" strike="noStrike" kern="1200" cap="none" spc="0" normalizeH="0" baseline="0" noProof="1">
                <a:solidFill>
                  <a:schemeClr val="tx1"/>
                </a:solidFill>
                <a:latin typeface="华文楷体" panose="02010600040101010101" charset="-122"/>
                <a:ea typeface="华文楷体" panose="02010600040101010101" charset="-122"/>
                <a:sym typeface="+mn-ea"/>
              </a:rPr>
              <a:t>n</a:t>
            </a:r>
            <a:r>
              <a:rPr kumimoji="0" lang="en-US" altLang="zh-CN" sz="2285" b="0" i="0" u="none" strike="noStrike" kern="1200" cap="none" spc="0" normalizeH="0" baseline="0" noProof="1">
                <a:solidFill>
                  <a:schemeClr val="tx1"/>
                </a:solidFill>
                <a:latin typeface="华文楷体" panose="02010600040101010101" charset="-122"/>
                <a:ea typeface="华文楷体" panose="02010600040101010101" charset="-122"/>
                <a:sym typeface="+mn-ea"/>
              </a:rPr>
              <a:t>)) </a:t>
            </a:r>
            <a:endParaRPr kumimoji="0" lang="en-US" altLang="zh-CN" sz="2285" b="0" i="0" u="none" strike="noStrike" kern="1200" cap="none" spc="0" normalizeH="0" baseline="0" noProof="1">
              <a:solidFill>
                <a:schemeClr val="tx1"/>
              </a:solidFill>
              <a:latin typeface="华文楷体" panose="02010600040101010101" charset="-122"/>
              <a:ea typeface="华文楷体" panose="02010600040101010101" charset="-122"/>
              <a:sym typeface="+mn-ea"/>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latin typeface="华文楷体" panose="02010600040101010101" charset="-122"/>
              <a:ea typeface="华文楷体" panose="02010600040101010101" charset="-122"/>
            </a:endParaRPr>
          </a:p>
        </p:txBody>
      </p:sp>
      <p:sp>
        <p:nvSpPr>
          <p:cNvPr id="117762" name="Date Placeholder 3"/>
          <p:cNvSpPr>
            <a:spLocks noGrp="1"/>
          </p:cNvSpPr>
          <p:nvPr>
            <p:ph type="dt" sz="half" idx="10"/>
          </p:nvPr>
        </p:nvSpPr>
        <p:spPr>
          <a:ln>
            <a:miter lim="800000"/>
          </a:ln>
        </p:spPr>
        <p:txBody>
          <a:bodyPr/>
          <a:lstStyle/>
          <a:p>
            <a:pPr>
              <a:defRPr/>
            </a:pPr>
            <a:r>
              <a:rPr lang="en-US" altLang="zh-CN">
                <a:latin typeface="华文楷体" panose="02010600040101010101" charset="-122"/>
                <a:ea typeface="华文楷体" panose="02010600040101010101" charset="-122"/>
              </a:rPr>
              <a:t>Data Structures and algorithms</a:t>
            </a:r>
            <a:endParaRPr lang="en-US" altLang="zh-CN">
              <a:latin typeface="华文楷体" panose="02010600040101010101" charset="-122"/>
              <a:ea typeface="华文楷体" panose="02010600040101010101" charset="-122"/>
            </a:endParaRPr>
          </a:p>
        </p:txBody>
      </p:sp>
      <p:sp>
        <p:nvSpPr>
          <p:cNvPr id="117763" name="Footer Placeholder 4"/>
          <p:cNvSpPr>
            <a:spLocks noGrp="1"/>
          </p:cNvSpPr>
          <p:nvPr>
            <p:ph type="ftr" sz="quarter" idx="11"/>
          </p:nvPr>
        </p:nvSpPr>
        <p:spPr>
          <a:ln>
            <a:miter lim="800000"/>
          </a:ln>
        </p:spPr>
        <p:txBody>
          <a:bodyPr/>
          <a:lstStyle/>
          <a:p>
            <a:pPr>
              <a:defRPr/>
            </a:pPr>
            <a:r>
              <a:rPr lang="zh-CN" altLang="en-US">
                <a:latin typeface="华文楷体" panose="02010600040101010101" charset="-122"/>
                <a:ea typeface="华文楷体" panose="02010600040101010101" charset="-122"/>
              </a:rPr>
              <a:t>Software College Northeastern University</a:t>
            </a:r>
            <a:endParaRPr lang="en-US" altLang="zh-CN">
              <a:latin typeface="华文楷体" panose="02010600040101010101" charset="-122"/>
              <a:ea typeface="华文楷体" panose="02010600040101010101" charset="-122"/>
            </a:endParaRPr>
          </a:p>
        </p:txBody>
      </p:sp>
      <p:sp>
        <p:nvSpPr>
          <p:cNvPr id="185348" name="Slide Number Placeholder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Monotype Sorts" pitchFamily="2" charset="2"/>
              <a:buChar char="z"/>
              <a:defRPr sz="3050">
                <a:solidFill>
                  <a:schemeClr val="tx1"/>
                </a:solidFill>
                <a:latin typeface="Tahoma" panose="020B0604030504040204" pitchFamily="34" charset="0"/>
                <a:ea typeface="宋体" panose="02010600030101010101" pitchFamily="2" charset="-122"/>
              </a:defRPr>
            </a:lvl1pPr>
            <a:lvl2pPr marL="707390" indent="-272415">
              <a:spcBef>
                <a:spcPct val="20000"/>
              </a:spcBef>
              <a:buClr>
                <a:schemeClr val="accent2"/>
              </a:buClr>
              <a:buFont typeface="Monotype Sorts" pitchFamily="2" charset="2"/>
              <a:buChar char="y"/>
              <a:defRPr sz="2665">
                <a:solidFill>
                  <a:schemeClr val="tx1"/>
                </a:solidFill>
                <a:latin typeface="Tahoma" panose="020B0604030504040204" pitchFamily="34" charset="0"/>
                <a:ea typeface="宋体" panose="02010600030101010101" pitchFamily="2" charset="-122"/>
              </a:defRPr>
            </a:lvl2pPr>
            <a:lvl3pPr marL="1088390" indent="-217805">
              <a:spcBef>
                <a:spcPct val="20000"/>
              </a:spcBef>
              <a:buClr>
                <a:schemeClr val="accent2"/>
              </a:buClr>
              <a:buFont typeface="Monotype Sorts" pitchFamily="2" charset="2"/>
              <a:buChar char="x"/>
              <a:defRPr sz="2285">
                <a:solidFill>
                  <a:schemeClr val="tx1"/>
                </a:solidFill>
                <a:latin typeface="Tahoma" panose="020B0604030504040204" pitchFamily="34" charset="0"/>
                <a:ea typeface="宋体" panose="02010600030101010101" pitchFamily="2" charset="-122"/>
              </a:defRPr>
            </a:lvl3pPr>
            <a:lvl4pPr marL="1524000" indent="-217805">
              <a:spcBef>
                <a:spcPct val="20000"/>
              </a:spcBef>
              <a:buClr>
                <a:schemeClr val="accent2"/>
              </a:buClr>
              <a:buChar char="•"/>
              <a:defRPr sz="1905">
                <a:solidFill>
                  <a:schemeClr val="tx1"/>
                </a:solidFill>
                <a:latin typeface="Tahoma" panose="020B0604030504040204" pitchFamily="34" charset="0"/>
                <a:ea typeface="宋体" panose="02010600030101010101" pitchFamily="2" charset="-122"/>
              </a:defRPr>
            </a:lvl4pPr>
            <a:lvl5pPr marL="1959610" indent="-217805">
              <a:spcBef>
                <a:spcPct val="20000"/>
              </a:spcBef>
              <a:buClr>
                <a:schemeClr val="accent2"/>
              </a:buClr>
              <a:buChar char="–"/>
              <a:defRPr sz="1905">
                <a:solidFill>
                  <a:schemeClr val="tx1"/>
                </a:solidFill>
                <a:latin typeface="Tahoma" panose="020B0604030504040204" pitchFamily="34" charset="0"/>
                <a:ea typeface="宋体" panose="02010600030101010101" pitchFamily="2" charset="-122"/>
              </a:defRPr>
            </a:lvl5pPr>
            <a:lvl6pPr marL="2395220" indent="-217805" eaLnBrk="0" fontAlgn="base" hangingPunct="0">
              <a:spcBef>
                <a:spcPct val="20000"/>
              </a:spcBef>
              <a:spcAft>
                <a:spcPct val="0"/>
              </a:spcAft>
              <a:buClr>
                <a:schemeClr val="accent2"/>
              </a:buClr>
              <a:buChar char="–"/>
              <a:defRPr sz="1905">
                <a:solidFill>
                  <a:schemeClr val="tx1"/>
                </a:solidFill>
                <a:latin typeface="Tahoma" panose="020B0604030504040204" pitchFamily="34" charset="0"/>
                <a:ea typeface="宋体" panose="02010600030101010101" pitchFamily="2" charset="-122"/>
              </a:defRPr>
            </a:lvl6pPr>
            <a:lvl7pPr marL="2830195" indent="-217805" eaLnBrk="0" fontAlgn="base" hangingPunct="0">
              <a:spcBef>
                <a:spcPct val="20000"/>
              </a:spcBef>
              <a:spcAft>
                <a:spcPct val="0"/>
              </a:spcAft>
              <a:buClr>
                <a:schemeClr val="accent2"/>
              </a:buClr>
              <a:buChar char="–"/>
              <a:defRPr sz="1905">
                <a:solidFill>
                  <a:schemeClr val="tx1"/>
                </a:solidFill>
                <a:latin typeface="Tahoma" panose="020B0604030504040204" pitchFamily="34" charset="0"/>
                <a:ea typeface="宋体" panose="02010600030101010101" pitchFamily="2" charset="-122"/>
              </a:defRPr>
            </a:lvl7pPr>
            <a:lvl8pPr marL="3265805" indent="-217805" eaLnBrk="0" fontAlgn="base" hangingPunct="0">
              <a:spcBef>
                <a:spcPct val="20000"/>
              </a:spcBef>
              <a:spcAft>
                <a:spcPct val="0"/>
              </a:spcAft>
              <a:buClr>
                <a:schemeClr val="accent2"/>
              </a:buClr>
              <a:buChar char="–"/>
              <a:defRPr sz="1905">
                <a:solidFill>
                  <a:schemeClr val="tx1"/>
                </a:solidFill>
                <a:latin typeface="Tahoma" panose="020B0604030504040204" pitchFamily="34" charset="0"/>
                <a:ea typeface="宋体" panose="02010600030101010101" pitchFamily="2" charset="-122"/>
              </a:defRPr>
            </a:lvl8pPr>
            <a:lvl9pPr marL="3701415" indent="-217805" eaLnBrk="0" fontAlgn="base" hangingPunct="0">
              <a:spcBef>
                <a:spcPct val="20000"/>
              </a:spcBef>
              <a:spcAft>
                <a:spcPct val="0"/>
              </a:spcAft>
              <a:buClr>
                <a:schemeClr val="accent2"/>
              </a:buClr>
              <a:buChar char="–"/>
              <a:defRPr sz="1905">
                <a:solidFill>
                  <a:schemeClr val="tx1"/>
                </a:solidFill>
                <a:latin typeface="Tahoma" panose="020B0604030504040204" pitchFamily="34" charset="0"/>
                <a:ea typeface="宋体" panose="02010600030101010101" pitchFamily="2" charset="-122"/>
              </a:defRPr>
            </a:lvl9pPr>
          </a:lstStyle>
          <a:p>
            <a:pPr>
              <a:spcBef>
                <a:spcPct val="50000"/>
              </a:spcBef>
              <a:buClrTx/>
              <a:buFontTx/>
              <a:buNone/>
            </a:pPr>
            <a:fld id="{EB4EAF42-CA6A-42CA-9E88-36158DD08B4B}" type="slidenum">
              <a:rPr lang="zh-CN" altLang="en-US" sz="1335">
                <a:solidFill>
                  <a:schemeClr val="bg2"/>
                </a:solidFill>
                <a:latin typeface="华文楷体" panose="02010600040101010101" charset="-122"/>
                <a:ea typeface="华文楷体" panose="02010600040101010101" charset="-122"/>
              </a:rPr>
            </a:fld>
            <a:endParaRPr lang="en-US" altLang="zh-CN" sz="1335">
              <a:solidFill>
                <a:schemeClr val="bg2"/>
              </a:solidFill>
              <a:latin typeface="华文楷体" panose="02010600040101010101" charset="-122"/>
              <a:ea typeface="华文楷体" panose="02010600040101010101" charset="-122"/>
            </a:endParaRPr>
          </a:p>
        </p:txBody>
      </p:sp>
      <p:sp>
        <p:nvSpPr>
          <p:cNvPr id="683010" name="Rectangle 2"/>
          <p:cNvSpPr>
            <a:spLocks noGrp="1" noChangeArrowheads="1"/>
          </p:cNvSpPr>
          <p:nvPr>
            <p:ph type="title"/>
          </p:nvPr>
        </p:nvSpPr>
        <p:spPr/>
        <p:txBody>
          <a:bodyPr>
            <a:normAutofit/>
          </a:bodyPr>
          <a:lstStyle/>
          <a:p>
            <a:pPr>
              <a:defRPr/>
            </a:pPr>
            <a:r>
              <a:rPr lang="en-US" altLang="zh-CN" sz="4400" dirty="0">
                <a:solidFill>
                  <a:schemeClr val="tx1">
                    <a:lumMod val="50000"/>
                    <a:lumOff val="50000"/>
                  </a:schemeClr>
                </a:solidFill>
                <a:latin typeface="华文楷体" panose="02010600040101010101" charset="-122"/>
                <a:ea typeface="华文楷体" panose="02010600040101010101" charset="-122"/>
              </a:rPr>
              <a:t>(</a:t>
            </a:r>
            <a:r>
              <a:rPr lang="zh-CN" altLang="en-US" sz="4400" dirty="0">
                <a:solidFill>
                  <a:schemeClr val="tx1">
                    <a:lumMod val="50000"/>
                    <a:lumOff val="50000"/>
                  </a:schemeClr>
                </a:solidFill>
                <a:latin typeface="华文楷体" panose="02010600040101010101" charset="-122"/>
                <a:ea typeface="华文楷体" panose="02010600040101010101" charset="-122"/>
              </a:rPr>
              <a:t>渐近</a:t>
            </a:r>
            <a:r>
              <a:rPr lang="en-US" altLang="zh-CN" sz="4400" dirty="0">
                <a:solidFill>
                  <a:schemeClr val="tx1">
                    <a:lumMod val="50000"/>
                    <a:lumOff val="50000"/>
                  </a:schemeClr>
                </a:solidFill>
                <a:latin typeface="华文楷体" panose="02010600040101010101" charset="-122"/>
                <a:ea typeface="华文楷体" panose="02010600040101010101" charset="-122"/>
              </a:rPr>
              <a:t>)</a:t>
            </a:r>
            <a:r>
              <a:rPr lang="zh-CN" altLang="en-US" sz="4400" dirty="0">
                <a:solidFill>
                  <a:schemeClr val="tx1">
                    <a:lumMod val="50000"/>
                    <a:lumOff val="50000"/>
                  </a:schemeClr>
                </a:solidFill>
                <a:latin typeface="华文楷体" panose="02010600040101010101" charset="-122"/>
                <a:ea typeface="华文楷体" panose="02010600040101010101" charset="-122"/>
              </a:rPr>
              <a:t>时间复杂度</a:t>
            </a:r>
            <a:endParaRPr lang="en-US" altLang="zh-CN" dirty="0">
              <a:effectLst>
                <a:outerShdw blurRad="38100" dist="38100" dir="2700000" algn="tl">
                  <a:srgbClr val="C0C0C0"/>
                </a:outerShdw>
              </a:effectLst>
              <a:latin typeface="华文楷体" panose="02010600040101010101" charset="-122"/>
              <a:ea typeface="华文楷体" panose="02010600040101010101" charset="-122"/>
            </a:endParaRPr>
          </a:p>
        </p:txBody>
      </p:sp>
      <p:sp>
        <p:nvSpPr>
          <p:cNvPr id="185350" name="Rectangle 3"/>
          <p:cNvSpPr>
            <a:spLocks noChangeArrowheads="1"/>
          </p:cNvSpPr>
          <p:nvPr/>
        </p:nvSpPr>
        <p:spPr bwMode="auto">
          <a:xfrm>
            <a:off x="798286" y="1614714"/>
            <a:ext cx="8345714"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Font typeface="Monotype Sorts" pitchFamily="2" charset="2"/>
              <a:buChar char="z"/>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accent2"/>
              </a:buClr>
              <a:buFont typeface="Monotype Sorts" pitchFamily="2" charset="2"/>
              <a:buChar char="y"/>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accent2"/>
              </a:buClr>
              <a:buFont typeface="Monotype Sorts" pitchFamily="2" charset="2"/>
              <a:buChar char="x"/>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2"/>
              </a:buClr>
              <a:buChar char="–"/>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sz="2000">
                <a:solidFill>
                  <a:schemeClr val="tx1"/>
                </a:solidFill>
                <a:latin typeface="Tahoma" panose="020B0604030504040204" pitchFamily="34" charset="0"/>
                <a:ea typeface="宋体" panose="02010600030101010101" pitchFamily="2" charset="-122"/>
              </a:defRPr>
            </a:lvl9pPr>
          </a:lstStyle>
          <a:p>
            <a:pPr>
              <a:lnSpc>
                <a:spcPct val="105000"/>
              </a:lnSpc>
            </a:pPr>
            <a:r>
              <a:rPr lang="el-GR" altLang="zh-CN" sz="2800" i="1" dirty="0">
                <a:solidFill>
                  <a:srgbClr val="FF0000"/>
                </a:solidFill>
                <a:latin typeface="华文楷体" panose="02010600040101010101" charset="-122"/>
                <a:ea typeface="华文楷体" panose="02010600040101010101" charset="-122"/>
                <a:cs typeface="Arial" panose="020B0604020202020204" pitchFamily="34" charset="0"/>
              </a:rPr>
              <a:t>Θ</a:t>
            </a:r>
            <a:r>
              <a:rPr lang="zh-CN" altLang="en-US" sz="2665" dirty="0">
                <a:latin typeface="华文楷体" panose="02010600040101010101" charset="-122"/>
                <a:ea typeface="华文楷体" panose="02010600040101010101" charset="-122"/>
                <a:cs typeface="Arial" panose="020B0604020202020204" pitchFamily="34" charset="0"/>
              </a:rPr>
              <a:t>定义</a:t>
            </a:r>
            <a:r>
              <a:rPr lang="en-US" altLang="zh-CN" sz="2665" dirty="0">
                <a:latin typeface="华文楷体" panose="02010600040101010101" charset="-122"/>
                <a:ea typeface="华文楷体" panose="02010600040101010101" charset="-122"/>
                <a:cs typeface="Arial" panose="020B0604020202020204" pitchFamily="34" charset="0"/>
              </a:rPr>
              <a:t>:</a:t>
            </a:r>
            <a:endParaRPr lang="en-US" altLang="zh-CN" sz="2665" dirty="0">
              <a:latin typeface="华文楷体" panose="02010600040101010101" charset="-122"/>
              <a:ea typeface="华文楷体" panose="02010600040101010101" charset="-122"/>
              <a:cs typeface="Arial" panose="020B0604020202020204" pitchFamily="34" charset="0"/>
            </a:endParaRPr>
          </a:p>
          <a:p>
            <a:pPr eaLnBrk="1" hangingPunct="1">
              <a:lnSpc>
                <a:spcPct val="105000"/>
              </a:lnSpc>
              <a:buFont typeface="Monotype Sorts" pitchFamily="2" charset="2"/>
              <a:buNone/>
            </a:pPr>
            <a:r>
              <a:rPr lang="en-US" altLang="zh-CN" sz="2665" dirty="0">
                <a:latin typeface="华文楷体" panose="02010600040101010101" charset="-122"/>
                <a:ea typeface="华文楷体" panose="02010600040101010101" charset="-122"/>
                <a:cs typeface="Arial" panose="020B0604020202020204" pitchFamily="34" charset="0"/>
              </a:rPr>
              <a:t>            </a:t>
            </a:r>
            <a:r>
              <a:rPr lang="en-US" altLang="zh-CN" sz="2665" dirty="0">
                <a:solidFill>
                  <a:srgbClr val="FF0000"/>
                </a:solidFill>
                <a:latin typeface="华文楷体" panose="02010600040101010101" charset="-122"/>
                <a:ea typeface="华文楷体" panose="02010600040101010101" charset="-122"/>
                <a:cs typeface="Arial" panose="020B0604020202020204" pitchFamily="34" charset="0"/>
              </a:rPr>
              <a:t>T(N) = </a:t>
            </a:r>
            <a:r>
              <a:rPr lang="el-GR" altLang="zh-CN" sz="3050" i="1" dirty="0">
                <a:solidFill>
                  <a:srgbClr val="FF0000"/>
                </a:solidFill>
                <a:latin typeface="华文楷体" panose="02010600040101010101" charset="-122"/>
                <a:ea typeface="华文楷体" panose="02010600040101010101" charset="-122"/>
                <a:cs typeface="Arial" panose="020B0604020202020204" pitchFamily="34" charset="0"/>
              </a:rPr>
              <a:t>Θ</a:t>
            </a:r>
            <a:r>
              <a:rPr lang="en-US" altLang="zh-CN" sz="2665" dirty="0">
                <a:solidFill>
                  <a:srgbClr val="FF0000"/>
                </a:solidFill>
                <a:latin typeface="华文楷体" panose="02010600040101010101" charset="-122"/>
                <a:ea typeface="华文楷体" panose="02010600040101010101" charset="-122"/>
                <a:cs typeface="Arial" panose="020B0604020202020204" pitchFamily="34" charset="0"/>
              </a:rPr>
              <a:t>(b(N))</a:t>
            </a:r>
            <a:endParaRPr lang="en-US" altLang="zh-CN" sz="2665" dirty="0">
              <a:solidFill>
                <a:srgbClr val="FF0000"/>
              </a:solidFill>
              <a:latin typeface="华文楷体" panose="02010600040101010101" charset="-122"/>
              <a:ea typeface="华文楷体" panose="02010600040101010101" charset="-122"/>
              <a:cs typeface="Arial" panose="020B0604020202020204" pitchFamily="34" charset="0"/>
            </a:endParaRPr>
          </a:p>
          <a:p>
            <a:pPr>
              <a:lnSpc>
                <a:spcPct val="105000"/>
              </a:lnSpc>
              <a:buNone/>
            </a:pPr>
            <a:r>
              <a:rPr lang="en-US" altLang="zh-CN" sz="2665" dirty="0">
                <a:solidFill>
                  <a:srgbClr val="009900"/>
                </a:solidFill>
                <a:latin typeface="华文楷体" panose="02010600040101010101" charset="-122"/>
                <a:ea typeface="华文楷体" panose="02010600040101010101" charset="-122"/>
                <a:cs typeface="Arial" panose="020B0604020202020204" pitchFamily="34" charset="0"/>
              </a:rPr>
              <a:t>  </a:t>
            </a:r>
            <a:r>
              <a:rPr lang="zh-CN" altLang="en-US" sz="2665" dirty="0">
                <a:solidFill>
                  <a:srgbClr val="009900"/>
                </a:solidFill>
                <a:latin typeface="华文楷体" panose="02010600040101010101" charset="-122"/>
                <a:ea typeface="华文楷体" panose="02010600040101010101" charset="-122"/>
                <a:cs typeface="Arial" panose="020B0604020202020204" pitchFamily="34" charset="0"/>
              </a:rPr>
              <a:t>当且仅当</a:t>
            </a:r>
            <a:r>
              <a:rPr lang="en-US" altLang="zh-CN" sz="2665" dirty="0">
                <a:solidFill>
                  <a:srgbClr val="009900"/>
                </a:solidFill>
                <a:latin typeface="华文楷体" panose="02010600040101010101" charset="-122"/>
                <a:ea typeface="华文楷体" panose="02010600040101010101" charset="-122"/>
                <a:cs typeface="Arial" panose="020B0604020202020204" pitchFamily="34" charset="0"/>
              </a:rPr>
              <a:t>T(N) = O(b(N)) </a:t>
            </a:r>
            <a:r>
              <a:rPr lang="zh-CN" altLang="en-US" sz="2665" dirty="0">
                <a:solidFill>
                  <a:srgbClr val="009900"/>
                </a:solidFill>
                <a:latin typeface="华文楷体" panose="02010600040101010101" charset="-122"/>
                <a:ea typeface="华文楷体" panose="02010600040101010101" charset="-122"/>
                <a:cs typeface="Arial" panose="020B0604020202020204" pitchFamily="34" charset="0"/>
              </a:rPr>
              <a:t>并且</a:t>
            </a:r>
            <a:r>
              <a:rPr lang="en-US" altLang="zh-CN" sz="2665" dirty="0">
                <a:solidFill>
                  <a:srgbClr val="009900"/>
                </a:solidFill>
                <a:latin typeface="华文楷体" panose="02010600040101010101" charset="-122"/>
                <a:ea typeface="华文楷体" panose="02010600040101010101" charset="-122"/>
                <a:cs typeface="Arial" panose="020B0604020202020204" pitchFamily="34" charset="0"/>
              </a:rPr>
              <a:t> T(N) = </a:t>
            </a:r>
            <a:r>
              <a:rPr lang="el-GR" altLang="zh-CN" sz="2665" i="1" dirty="0">
                <a:solidFill>
                  <a:srgbClr val="009900"/>
                </a:solidFill>
                <a:latin typeface="华文楷体" panose="02010600040101010101" charset="-122"/>
                <a:ea typeface="华文楷体" panose="02010600040101010101" charset="-122"/>
                <a:cs typeface="Arial" panose="020B0604020202020204" pitchFamily="34" charset="0"/>
              </a:rPr>
              <a:t>Ω</a:t>
            </a:r>
            <a:r>
              <a:rPr lang="en-US" altLang="zh-CN" sz="2665" dirty="0">
                <a:solidFill>
                  <a:srgbClr val="009900"/>
                </a:solidFill>
                <a:latin typeface="华文楷体" panose="02010600040101010101" charset="-122"/>
                <a:ea typeface="华文楷体" panose="02010600040101010101" charset="-122"/>
                <a:cs typeface="Arial" panose="020B0604020202020204" pitchFamily="34" charset="0"/>
              </a:rPr>
              <a:t>(b(N)) </a:t>
            </a:r>
            <a:endParaRPr lang="en-US" altLang="zh-CN" sz="2665" baseline="-25000" dirty="0">
              <a:solidFill>
                <a:srgbClr val="009900"/>
              </a:solidFill>
              <a:latin typeface="华文楷体" panose="02010600040101010101" charset="-122"/>
              <a:ea typeface="华文楷体" panose="02010600040101010101" charset="-122"/>
              <a:cs typeface="Arial" panose="020B0604020202020204" pitchFamily="34" charset="0"/>
            </a:endParaRPr>
          </a:p>
          <a:p>
            <a:pPr>
              <a:lnSpc>
                <a:spcPct val="105000"/>
              </a:lnSpc>
              <a:spcBef>
                <a:spcPct val="60000"/>
              </a:spcBef>
            </a:pPr>
            <a:r>
              <a:rPr lang="en-US" altLang="zh-CN" sz="2800" dirty="0">
                <a:solidFill>
                  <a:srgbClr val="FF0000"/>
                </a:solidFill>
                <a:latin typeface="华文楷体" panose="02010600040101010101" charset="-122"/>
                <a:ea typeface="华文楷体" panose="02010600040101010101" charset="-122"/>
                <a:cs typeface="Arial" panose="020B0604020202020204" pitchFamily="34" charset="0"/>
              </a:rPr>
              <a:t>o</a:t>
            </a:r>
            <a:r>
              <a:rPr lang="zh-CN" altLang="en-US" sz="2665" dirty="0">
                <a:latin typeface="华文楷体" panose="02010600040101010101" charset="-122"/>
                <a:ea typeface="华文楷体" panose="02010600040101010101" charset="-122"/>
                <a:cs typeface="Arial" panose="020B0604020202020204" pitchFamily="34" charset="0"/>
              </a:rPr>
              <a:t>定义</a:t>
            </a:r>
            <a:r>
              <a:rPr lang="en-US" altLang="zh-CN" sz="2665" dirty="0">
                <a:solidFill>
                  <a:srgbClr val="FF0000"/>
                </a:solidFill>
                <a:latin typeface="华文楷体" panose="02010600040101010101" charset="-122"/>
                <a:ea typeface="华文楷体" panose="02010600040101010101" charset="-122"/>
                <a:cs typeface="Arial" panose="020B0604020202020204" pitchFamily="34" charset="0"/>
              </a:rPr>
              <a:t> </a:t>
            </a:r>
            <a:endParaRPr lang="en-US" altLang="zh-CN" sz="2665" dirty="0">
              <a:solidFill>
                <a:srgbClr val="FF0000"/>
              </a:solidFill>
              <a:latin typeface="华文楷体" panose="02010600040101010101" charset="-122"/>
              <a:ea typeface="华文楷体" panose="02010600040101010101" charset="-122"/>
              <a:cs typeface="Arial" panose="020B0604020202020204" pitchFamily="34" charset="0"/>
            </a:endParaRPr>
          </a:p>
          <a:p>
            <a:pPr marL="0" indent="0">
              <a:lnSpc>
                <a:spcPct val="105000"/>
              </a:lnSpc>
              <a:spcBef>
                <a:spcPct val="60000"/>
              </a:spcBef>
              <a:buNone/>
            </a:pPr>
            <a:r>
              <a:rPr lang="en-US" altLang="zh-CN" sz="2665" dirty="0">
                <a:solidFill>
                  <a:srgbClr val="FF0000"/>
                </a:solidFill>
                <a:latin typeface="华文楷体" panose="02010600040101010101" charset="-122"/>
                <a:ea typeface="华文楷体" panose="02010600040101010101" charset="-122"/>
                <a:cs typeface="Arial" panose="020B0604020202020204" pitchFamily="34" charset="0"/>
              </a:rPr>
              <a:t>           T(N) = </a:t>
            </a:r>
            <a:r>
              <a:rPr lang="en-US" altLang="zh-CN" sz="3050" dirty="0">
                <a:solidFill>
                  <a:srgbClr val="FF0000"/>
                </a:solidFill>
                <a:latin typeface="华文楷体" panose="02010600040101010101" charset="-122"/>
                <a:ea typeface="华文楷体" panose="02010600040101010101" charset="-122"/>
                <a:cs typeface="Arial" panose="020B0604020202020204" pitchFamily="34" charset="0"/>
              </a:rPr>
              <a:t>o</a:t>
            </a:r>
            <a:r>
              <a:rPr lang="en-US" altLang="zh-CN" sz="2665" dirty="0">
                <a:solidFill>
                  <a:srgbClr val="FF0000"/>
                </a:solidFill>
                <a:latin typeface="华文楷体" panose="02010600040101010101" charset="-122"/>
                <a:ea typeface="华文楷体" panose="02010600040101010101" charset="-122"/>
                <a:cs typeface="Arial" panose="020B0604020202020204" pitchFamily="34" charset="0"/>
              </a:rPr>
              <a:t>(p(N))</a:t>
            </a:r>
            <a:endParaRPr lang="en-US" altLang="zh-CN" sz="2665" dirty="0">
              <a:solidFill>
                <a:srgbClr val="FF0000"/>
              </a:solidFill>
              <a:latin typeface="华文楷体" panose="02010600040101010101" charset="-122"/>
              <a:ea typeface="华文楷体" panose="02010600040101010101" charset="-122"/>
              <a:cs typeface="Arial" panose="020B0604020202020204" pitchFamily="34" charset="0"/>
            </a:endParaRPr>
          </a:p>
          <a:p>
            <a:pPr eaLnBrk="1" hangingPunct="1">
              <a:lnSpc>
                <a:spcPct val="105000"/>
              </a:lnSpc>
              <a:buFont typeface="Monotype Sorts" pitchFamily="2" charset="2"/>
              <a:buNone/>
            </a:pPr>
            <a:r>
              <a:rPr lang="zh-CN" altLang="en-US" sz="2665" dirty="0">
                <a:solidFill>
                  <a:srgbClr val="009900"/>
                </a:solidFill>
                <a:latin typeface="华文楷体" panose="02010600040101010101" charset="-122"/>
                <a:ea typeface="华文楷体" panose="02010600040101010101" charset="-122"/>
                <a:cs typeface="Arial" panose="020B0604020202020204" pitchFamily="34" charset="0"/>
              </a:rPr>
              <a:t>如果</a:t>
            </a:r>
            <a:r>
              <a:rPr lang="en-US" altLang="zh-CN" sz="2665" dirty="0">
                <a:solidFill>
                  <a:srgbClr val="009900"/>
                </a:solidFill>
                <a:latin typeface="华文楷体" panose="02010600040101010101" charset="-122"/>
                <a:ea typeface="华文楷体" panose="02010600040101010101" charset="-122"/>
                <a:cs typeface="Arial" panose="020B0604020202020204" pitchFamily="34" charset="0"/>
              </a:rPr>
              <a:t>T(N) = O(p(N)) </a:t>
            </a:r>
            <a:r>
              <a:rPr lang="zh-CN" altLang="en-US" sz="2665" dirty="0">
                <a:solidFill>
                  <a:srgbClr val="009900"/>
                </a:solidFill>
                <a:latin typeface="华文楷体" panose="02010600040101010101" charset="-122"/>
                <a:ea typeface="华文楷体" panose="02010600040101010101" charset="-122"/>
                <a:cs typeface="Arial" panose="020B0604020202020204" pitchFamily="34" charset="0"/>
              </a:rPr>
              <a:t>，但是</a:t>
            </a:r>
            <a:r>
              <a:rPr lang="en-US" altLang="zh-CN" sz="2665" dirty="0">
                <a:solidFill>
                  <a:srgbClr val="009900"/>
                </a:solidFill>
                <a:latin typeface="华文楷体" panose="02010600040101010101" charset="-122"/>
                <a:ea typeface="华文楷体" panose="02010600040101010101" charset="-122"/>
                <a:cs typeface="Arial" panose="020B0604020202020204" pitchFamily="34" charset="0"/>
              </a:rPr>
              <a:t> T(N) </a:t>
            </a:r>
            <a:r>
              <a:rPr lang="en-US" altLang="zh-CN" sz="3050" i="1" dirty="0">
                <a:solidFill>
                  <a:srgbClr val="009900"/>
                </a:solidFill>
                <a:latin typeface="华文楷体" panose="02010600040101010101" charset="-122"/>
                <a:ea typeface="华文楷体" panose="02010600040101010101" charset="-122"/>
                <a:cs typeface="Arial" panose="020B0604020202020204" pitchFamily="34" charset="0"/>
              </a:rPr>
              <a:t>≠</a:t>
            </a:r>
            <a:r>
              <a:rPr lang="en-US" altLang="zh-CN" sz="2665" dirty="0">
                <a:solidFill>
                  <a:srgbClr val="009900"/>
                </a:solidFill>
                <a:latin typeface="华文楷体" panose="02010600040101010101" charset="-122"/>
                <a:ea typeface="华文楷体" panose="02010600040101010101" charset="-122"/>
                <a:cs typeface="Arial" panose="020B0604020202020204" pitchFamily="34" charset="0"/>
              </a:rPr>
              <a:t> </a:t>
            </a:r>
            <a:r>
              <a:rPr lang="el-GR" altLang="zh-CN" sz="2665" i="1" dirty="0">
                <a:solidFill>
                  <a:srgbClr val="009900"/>
                </a:solidFill>
                <a:latin typeface="华文楷体" panose="02010600040101010101" charset="-122"/>
                <a:ea typeface="华文楷体" panose="02010600040101010101" charset="-122"/>
                <a:cs typeface="Arial" panose="020B0604020202020204" pitchFamily="34" charset="0"/>
              </a:rPr>
              <a:t>Θ</a:t>
            </a:r>
            <a:r>
              <a:rPr lang="en-US" altLang="zh-CN" sz="2665" dirty="0">
                <a:solidFill>
                  <a:srgbClr val="009900"/>
                </a:solidFill>
                <a:latin typeface="华文楷体" panose="02010600040101010101" charset="-122"/>
                <a:ea typeface="华文楷体" panose="02010600040101010101" charset="-122"/>
                <a:cs typeface="Arial" panose="020B0604020202020204" pitchFamily="34" charset="0"/>
              </a:rPr>
              <a:t>(p(N)) </a:t>
            </a:r>
            <a:endParaRPr lang="en-US" altLang="zh-CN" sz="2665" dirty="0">
              <a:solidFill>
                <a:srgbClr val="009900"/>
              </a:solidFill>
              <a:latin typeface="华文楷体" panose="02010600040101010101" charset="-122"/>
              <a:ea typeface="华文楷体" panose="02010600040101010101" charset="-122"/>
              <a:cs typeface="Arial" panose="020B0604020202020204" pitchFamily="34" charset="0"/>
            </a:endParaRPr>
          </a:p>
          <a:p>
            <a:pPr eaLnBrk="1" hangingPunct="1">
              <a:lnSpc>
                <a:spcPct val="105000"/>
              </a:lnSpc>
              <a:buFont typeface="Monotype Sorts" pitchFamily="2" charset="2"/>
              <a:buNone/>
            </a:pPr>
            <a:endParaRPr lang="en-US" altLang="zh-CN" sz="2665" baseline="-25000" dirty="0">
              <a:solidFill>
                <a:srgbClr val="009900"/>
              </a:solidFill>
              <a:latin typeface="华文楷体" panose="02010600040101010101" charset="-122"/>
              <a:ea typeface="华文楷体" panose="02010600040101010101" charset="-122"/>
              <a:cs typeface="Arial" panose="020B0604020202020204" pitchFamily="34" charset="0"/>
            </a:endParaRPr>
          </a:p>
        </p:txBody>
      </p:sp>
      <p:sp>
        <p:nvSpPr>
          <p:cNvPr id="185351" name="Rectangle 4"/>
          <p:cNvSpPr>
            <a:spLocks noChangeArrowheads="1"/>
          </p:cNvSpPr>
          <p:nvPr/>
        </p:nvSpPr>
        <p:spPr bwMode="auto">
          <a:xfrm>
            <a:off x="725714" y="1542143"/>
            <a:ext cx="8563429"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Font typeface="Monotype Sorts" pitchFamily="2" charset="2"/>
              <a:buChar char="z"/>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accent2"/>
              </a:buClr>
              <a:buFont typeface="Monotype Sorts" pitchFamily="2" charset="2"/>
              <a:buChar char="y"/>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accent2"/>
              </a:buClr>
              <a:buFont typeface="Monotype Sorts" pitchFamily="2" charset="2"/>
              <a:buChar char="x"/>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2"/>
              </a:buClr>
              <a:buChar char="–"/>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sz="2000">
                <a:solidFill>
                  <a:schemeClr val="tx1"/>
                </a:solidFill>
                <a:latin typeface="Tahoma" panose="020B0604030504040204" pitchFamily="34" charset="0"/>
                <a:ea typeface="宋体" panose="02010600030101010101" pitchFamily="2" charset="-122"/>
              </a:defRPr>
            </a:lvl9pPr>
          </a:lstStyle>
          <a:p>
            <a:pPr eaLnBrk="1" hangingPunct="1">
              <a:lnSpc>
                <a:spcPct val="105000"/>
              </a:lnSpc>
              <a:buFont typeface="Monotype Sorts" pitchFamily="2" charset="2"/>
              <a:buNone/>
            </a:pPr>
            <a:endParaRPr lang="en-US" altLang="zh-CN" sz="2665">
              <a:latin typeface="华文楷体" panose="02010600040101010101" charset="-122"/>
              <a:ea typeface="华文楷体" panose="02010600040101010101" charset="-122"/>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latin typeface="华文楷体" panose="02010600040101010101" charset="-122"/>
              <a:ea typeface="华文楷体" panose="02010600040101010101" charset="-122"/>
            </a:endParaRPr>
          </a:p>
        </p:txBody>
      </p:sp>
      <p:sp>
        <p:nvSpPr>
          <p:cNvPr id="118786" name="Date Placeholder 3"/>
          <p:cNvSpPr>
            <a:spLocks noGrp="1"/>
          </p:cNvSpPr>
          <p:nvPr>
            <p:ph type="dt" sz="half" idx="10"/>
          </p:nvPr>
        </p:nvSpPr>
        <p:spPr>
          <a:ln>
            <a:miter lim="800000"/>
          </a:ln>
        </p:spPr>
        <p:txBody>
          <a:bodyPr/>
          <a:lstStyle/>
          <a:p>
            <a:pPr>
              <a:defRPr/>
            </a:pPr>
            <a:r>
              <a:rPr lang="en-US" altLang="zh-CN">
                <a:latin typeface="华文楷体" panose="02010600040101010101" charset="-122"/>
                <a:ea typeface="华文楷体" panose="02010600040101010101" charset="-122"/>
              </a:rPr>
              <a:t>Data Structures and algorithms</a:t>
            </a:r>
            <a:endParaRPr lang="en-US" altLang="zh-CN">
              <a:latin typeface="华文楷体" panose="02010600040101010101" charset="-122"/>
              <a:ea typeface="华文楷体" panose="02010600040101010101" charset="-122"/>
            </a:endParaRPr>
          </a:p>
        </p:txBody>
      </p:sp>
      <p:sp>
        <p:nvSpPr>
          <p:cNvPr id="118787" name="Footer Placeholder 4"/>
          <p:cNvSpPr>
            <a:spLocks noGrp="1"/>
          </p:cNvSpPr>
          <p:nvPr>
            <p:ph type="ftr" sz="quarter" idx="11"/>
          </p:nvPr>
        </p:nvSpPr>
        <p:spPr>
          <a:ln>
            <a:miter lim="800000"/>
          </a:ln>
        </p:spPr>
        <p:txBody>
          <a:bodyPr/>
          <a:lstStyle/>
          <a:p>
            <a:pPr>
              <a:defRPr/>
            </a:pPr>
            <a:r>
              <a:rPr lang="zh-CN" altLang="en-US">
                <a:latin typeface="华文楷体" panose="02010600040101010101" charset="-122"/>
                <a:ea typeface="华文楷体" panose="02010600040101010101" charset="-122"/>
              </a:rPr>
              <a:t>Software College Northeastern University</a:t>
            </a:r>
            <a:endParaRPr lang="en-US" altLang="zh-CN">
              <a:latin typeface="华文楷体" panose="02010600040101010101" charset="-122"/>
              <a:ea typeface="华文楷体" panose="02010600040101010101" charset="-122"/>
            </a:endParaRPr>
          </a:p>
        </p:txBody>
      </p:sp>
      <p:sp>
        <p:nvSpPr>
          <p:cNvPr id="187396" name="Slide Number Placeholder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Monotype Sorts" pitchFamily="2" charset="2"/>
              <a:buChar char="z"/>
              <a:defRPr sz="3050">
                <a:solidFill>
                  <a:schemeClr val="tx1"/>
                </a:solidFill>
                <a:latin typeface="Tahoma" panose="020B0604030504040204" pitchFamily="34" charset="0"/>
                <a:ea typeface="宋体" panose="02010600030101010101" pitchFamily="2" charset="-122"/>
              </a:defRPr>
            </a:lvl1pPr>
            <a:lvl2pPr marL="707390" indent="-272415">
              <a:spcBef>
                <a:spcPct val="20000"/>
              </a:spcBef>
              <a:buClr>
                <a:schemeClr val="accent2"/>
              </a:buClr>
              <a:buFont typeface="Monotype Sorts" pitchFamily="2" charset="2"/>
              <a:buChar char="y"/>
              <a:defRPr sz="2665">
                <a:solidFill>
                  <a:schemeClr val="tx1"/>
                </a:solidFill>
                <a:latin typeface="Tahoma" panose="020B0604030504040204" pitchFamily="34" charset="0"/>
                <a:ea typeface="宋体" panose="02010600030101010101" pitchFamily="2" charset="-122"/>
              </a:defRPr>
            </a:lvl2pPr>
            <a:lvl3pPr marL="1088390" indent="-217805">
              <a:spcBef>
                <a:spcPct val="20000"/>
              </a:spcBef>
              <a:buClr>
                <a:schemeClr val="accent2"/>
              </a:buClr>
              <a:buFont typeface="Monotype Sorts" pitchFamily="2" charset="2"/>
              <a:buChar char="x"/>
              <a:defRPr sz="2285">
                <a:solidFill>
                  <a:schemeClr val="tx1"/>
                </a:solidFill>
                <a:latin typeface="Tahoma" panose="020B0604030504040204" pitchFamily="34" charset="0"/>
                <a:ea typeface="宋体" panose="02010600030101010101" pitchFamily="2" charset="-122"/>
              </a:defRPr>
            </a:lvl3pPr>
            <a:lvl4pPr marL="1524000" indent="-217805">
              <a:spcBef>
                <a:spcPct val="20000"/>
              </a:spcBef>
              <a:buClr>
                <a:schemeClr val="accent2"/>
              </a:buClr>
              <a:buChar char="•"/>
              <a:defRPr sz="1905">
                <a:solidFill>
                  <a:schemeClr val="tx1"/>
                </a:solidFill>
                <a:latin typeface="Tahoma" panose="020B0604030504040204" pitchFamily="34" charset="0"/>
                <a:ea typeface="宋体" panose="02010600030101010101" pitchFamily="2" charset="-122"/>
              </a:defRPr>
            </a:lvl4pPr>
            <a:lvl5pPr marL="1959610" indent="-217805">
              <a:spcBef>
                <a:spcPct val="20000"/>
              </a:spcBef>
              <a:buClr>
                <a:schemeClr val="accent2"/>
              </a:buClr>
              <a:buChar char="–"/>
              <a:defRPr sz="1905">
                <a:solidFill>
                  <a:schemeClr val="tx1"/>
                </a:solidFill>
                <a:latin typeface="Tahoma" panose="020B0604030504040204" pitchFamily="34" charset="0"/>
                <a:ea typeface="宋体" panose="02010600030101010101" pitchFamily="2" charset="-122"/>
              </a:defRPr>
            </a:lvl5pPr>
            <a:lvl6pPr marL="2395220" indent="-217805" eaLnBrk="0" fontAlgn="base" hangingPunct="0">
              <a:spcBef>
                <a:spcPct val="20000"/>
              </a:spcBef>
              <a:spcAft>
                <a:spcPct val="0"/>
              </a:spcAft>
              <a:buClr>
                <a:schemeClr val="accent2"/>
              </a:buClr>
              <a:buChar char="–"/>
              <a:defRPr sz="1905">
                <a:solidFill>
                  <a:schemeClr val="tx1"/>
                </a:solidFill>
                <a:latin typeface="Tahoma" panose="020B0604030504040204" pitchFamily="34" charset="0"/>
                <a:ea typeface="宋体" panose="02010600030101010101" pitchFamily="2" charset="-122"/>
              </a:defRPr>
            </a:lvl6pPr>
            <a:lvl7pPr marL="2830195" indent="-217805" eaLnBrk="0" fontAlgn="base" hangingPunct="0">
              <a:spcBef>
                <a:spcPct val="20000"/>
              </a:spcBef>
              <a:spcAft>
                <a:spcPct val="0"/>
              </a:spcAft>
              <a:buClr>
                <a:schemeClr val="accent2"/>
              </a:buClr>
              <a:buChar char="–"/>
              <a:defRPr sz="1905">
                <a:solidFill>
                  <a:schemeClr val="tx1"/>
                </a:solidFill>
                <a:latin typeface="Tahoma" panose="020B0604030504040204" pitchFamily="34" charset="0"/>
                <a:ea typeface="宋体" panose="02010600030101010101" pitchFamily="2" charset="-122"/>
              </a:defRPr>
            </a:lvl7pPr>
            <a:lvl8pPr marL="3265805" indent="-217805" eaLnBrk="0" fontAlgn="base" hangingPunct="0">
              <a:spcBef>
                <a:spcPct val="20000"/>
              </a:spcBef>
              <a:spcAft>
                <a:spcPct val="0"/>
              </a:spcAft>
              <a:buClr>
                <a:schemeClr val="accent2"/>
              </a:buClr>
              <a:buChar char="–"/>
              <a:defRPr sz="1905">
                <a:solidFill>
                  <a:schemeClr val="tx1"/>
                </a:solidFill>
                <a:latin typeface="Tahoma" panose="020B0604030504040204" pitchFamily="34" charset="0"/>
                <a:ea typeface="宋体" panose="02010600030101010101" pitchFamily="2" charset="-122"/>
              </a:defRPr>
            </a:lvl8pPr>
            <a:lvl9pPr marL="3701415" indent="-217805" eaLnBrk="0" fontAlgn="base" hangingPunct="0">
              <a:spcBef>
                <a:spcPct val="20000"/>
              </a:spcBef>
              <a:spcAft>
                <a:spcPct val="0"/>
              </a:spcAft>
              <a:buClr>
                <a:schemeClr val="accent2"/>
              </a:buClr>
              <a:buChar char="–"/>
              <a:defRPr sz="1905">
                <a:solidFill>
                  <a:schemeClr val="tx1"/>
                </a:solidFill>
                <a:latin typeface="Tahoma" panose="020B0604030504040204" pitchFamily="34" charset="0"/>
                <a:ea typeface="宋体" panose="02010600030101010101" pitchFamily="2" charset="-122"/>
              </a:defRPr>
            </a:lvl9pPr>
          </a:lstStyle>
          <a:p>
            <a:pPr>
              <a:spcBef>
                <a:spcPct val="50000"/>
              </a:spcBef>
              <a:buClrTx/>
              <a:buFontTx/>
              <a:buNone/>
            </a:pPr>
            <a:fld id="{B8B535B5-4748-48B2-B3F5-ED4F87D31410}" type="slidenum">
              <a:rPr lang="zh-CN" altLang="en-US" sz="1335">
                <a:solidFill>
                  <a:schemeClr val="bg2"/>
                </a:solidFill>
                <a:latin typeface="华文楷体" panose="02010600040101010101" charset="-122"/>
                <a:ea typeface="华文楷体" panose="02010600040101010101" charset="-122"/>
              </a:rPr>
            </a:fld>
            <a:endParaRPr lang="en-US" altLang="zh-CN" sz="1335">
              <a:solidFill>
                <a:schemeClr val="bg2"/>
              </a:solidFill>
              <a:latin typeface="华文楷体" panose="02010600040101010101" charset="-122"/>
              <a:ea typeface="华文楷体" panose="02010600040101010101" charset="-122"/>
            </a:endParaRPr>
          </a:p>
        </p:txBody>
      </p:sp>
      <p:sp>
        <p:nvSpPr>
          <p:cNvPr id="685058" name="Rectangle 2"/>
          <p:cNvSpPr>
            <a:spLocks noGrp="1" noChangeArrowheads="1"/>
          </p:cNvSpPr>
          <p:nvPr>
            <p:ph type="title"/>
          </p:nvPr>
        </p:nvSpPr>
        <p:spPr/>
        <p:txBody>
          <a:bodyPr/>
          <a:lstStyle/>
          <a:p>
            <a:pPr>
              <a:defRPr/>
            </a:pPr>
            <a:r>
              <a:rPr lang="en-US" altLang="zh-CN" sz="4000" dirty="0">
                <a:solidFill>
                  <a:schemeClr val="tx1">
                    <a:lumMod val="50000"/>
                    <a:lumOff val="50000"/>
                  </a:schemeClr>
                </a:solidFill>
                <a:latin typeface="华文楷体" panose="02010600040101010101" charset="-122"/>
                <a:ea typeface="华文楷体" panose="02010600040101010101" charset="-122"/>
              </a:rPr>
              <a:t>(</a:t>
            </a:r>
            <a:r>
              <a:rPr lang="zh-CN" altLang="en-US" sz="4000" dirty="0">
                <a:solidFill>
                  <a:schemeClr val="tx1">
                    <a:lumMod val="50000"/>
                    <a:lumOff val="50000"/>
                  </a:schemeClr>
                </a:solidFill>
                <a:latin typeface="华文楷体" panose="02010600040101010101" charset="-122"/>
                <a:ea typeface="华文楷体" panose="02010600040101010101" charset="-122"/>
              </a:rPr>
              <a:t>渐近</a:t>
            </a:r>
            <a:r>
              <a:rPr lang="en-US" altLang="zh-CN" sz="4000" dirty="0">
                <a:solidFill>
                  <a:schemeClr val="tx1">
                    <a:lumMod val="50000"/>
                    <a:lumOff val="50000"/>
                  </a:schemeClr>
                </a:solidFill>
                <a:latin typeface="华文楷体" panose="02010600040101010101" charset="-122"/>
                <a:ea typeface="华文楷体" panose="02010600040101010101" charset="-122"/>
              </a:rPr>
              <a:t>)</a:t>
            </a:r>
            <a:r>
              <a:rPr lang="zh-CN" altLang="en-US" sz="4000" dirty="0">
                <a:solidFill>
                  <a:schemeClr val="tx1">
                    <a:lumMod val="50000"/>
                    <a:lumOff val="50000"/>
                  </a:schemeClr>
                </a:solidFill>
                <a:latin typeface="华文楷体" panose="02010600040101010101" charset="-122"/>
                <a:ea typeface="华文楷体" panose="02010600040101010101" charset="-122"/>
              </a:rPr>
              <a:t>时间复杂度</a:t>
            </a:r>
            <a:endParaRPr lang="en-US" altLang="zh-CN" dirty="0">
              <a:effectLst>
                <a:outerShdw blurRad="38100" dist="38100" dir="2700000" algn="tl">
                  <a:srgbClr val="C0C0C0"/>
                </a:outerShdw>
              </a:effectLst>
              <a:latin typeface="华文楷体" panose="02010600040101010101" charset="-122"/>
              <a:ea typeface="华文楷体" panose="02010600040101010101" charset="-122"/>
            </a:endParaRPr>
          </a:p>
        </p:txBody>
      </p:sp>
      <p:sp>
        <p:nvSpPr>
          <p:cNvPr id="187398" name="Rectangle 3"/>
          <p:cNvSpPr>
            <a:spLocks noChangeArrowheads="1"/>
          </p:cNvSpPr>
          <p:nvPr/>
        </p:nvSpPr>
        <p:spPr bwMode="auto">
          <a:xfrm>
            <a:off x="798286" y="1614714"/>
            <a:ext cx="8055429"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Font typeface="Monotype Sorts" pitchFamily="2" charset="2"/>
              <a:buChar char="z"/>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accent2"/>
              </a:buClr>
              <a:buFont typeface="Monotype Sorts" pitchFamily="2" charset="2"/>
              <a:buChar char="y"/>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accent2"/>
              </a:buClr>
              <a:buFont typeface="Monotype Sorts" pitchFamily="2" charset="2"/>
              <a:buChar char="x"/>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2"/>
              </a:buClr>
              <a:buChar char="–"/>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sz="2000">
                <a:solidFill>
                  <a:schemeClr val="tx1"/>
                </a:solidFill>
                <a:latin typeface="Tahoma" panose="020B0604030504040204" pitchFamily="34" charset="0"/>
                <a:ea typeface="宋体" panose="02010600030101010101" pitchFamily="2" charset="-122"/>
              </a:defRPr>
            </a:lvl9pPr>
          </a:lstStyle>
          <a:p>
            <a:pPr lvl="1">
              <a:lnSpc>
                <a:spcPct val="105000"/>
              </a:lnSpc>
            </a:pPr>
            <a:r>
              <a:rPr lang="zh-CN" altLang="en-US" sz="2650" dirty="0">
                <a:latin typeface="华文楷体" panose="02010600040101010101" charset="-122"/>
                <a:ea typeface="华文楷体" panose="02010600040101010101" charset="-122"/>
              </a:rPr>
              <a:t>物理含义</a:t>
            </a:r>
            <a:r>
              <a:rPr lang="en-US" altLang="zh-CN" sz="2650" dirty="0">
                <a:latin typeface="华文楷体" panose="02010600040101010101" charset="-122"/>
                <a:ea typeface="华文楷体" panose="02010600040101010101" charset="-122"/>
              </a:rPr>
              <a:t>:</a:t>
            </a:r>
            <a:endParaRPr lang="en-US" altLang="zh-CN" sz="2650" dirty="0">
              <a:latin typeface="华文楷体" panose="02010600040101010101" charset="-122"/>
              <a:ea typeface="华文楷体" panose="02010600040101010101" charset="-122"/>
            </a:endParaRPr>
          </a:p>
          <a:p>
            <a:pPr lvl="2">
              <a:lnSpc>
                <a:spcPct val="105000"/>
              </a:lnSpc>
              <a:buFont typeface="Monotype Sorts" pitchFamily="2" charset="2"/>
              <a:buNone/>
            </a:pPr>
            <a:r>
              <a:rPr lang="en-US" altLang="zh-CN" sz="2265" dirty="0">
                <a:solidFill>
                  <a:srgbClr val="009900"/>
                </a:solidFill>
                <a:latin typeface="华文楷体" panose="02010600040101010101" charset="-122"/>
                <a:ea typeface="华文楷体" panose="02010600040101010101" charset="-122"/>
              </a:rPr>
              <a:t>- </a:t>
            </a:r>
            <a:r>
              <a:rPr lang="zh-CN" altLang="en-US" sz="2265" dirty="0">
                <a:solidFill>
                  <a:srgbClr val="009900"/>
                </a:solidFill>
                <a:latin typeface="华文楷体" panose="02010600040101010101" charset="-122"/>
                <a:ea typeface="华文楷体" panose="02010600040101010101" charset="-122"/>
              </a:rPr>
              <a:t>在某些点</a:t>
            </a:r>
            <a:r>
              <a:rPr lang="en-US" altLang="zh-CN" sz="2265" dirty="0">
                <a:solidFill>
                  <a:srgbClr val="009900"/>
                </a:solidFill>
                <a:latin typeface="华文楷体" panose="02010600040101010101" charset="-122"/>
                <a:ea typeface="华文楷体" panose="02010600040101010101" charset="-122"/>
              </a:rPr>
              <a:t>f(N) &lt; g(N) </a:t>
            </a:r>
            <a:r>
              <a:rPr lang="zh-CN" altLang="en-US" sz="2265" dirty="0">
                <a:solidFill>
                  <a:srgbClr val="009900"/>
                </a:solidFill>
                <a:latin typeface="华文楷体" panose="02010600040101010101" charset="-122"/>
                <a:ea typeface="华文楷体" panose="02010600040101010101" charset="-122"/>
              </a:rPr>
              <a:t>是没意义的</a:t>
            </a:r>
            <a:endParaRPr lang="en-US" altLang="zh-CN" sz="2265" dirty="0">
              <a:solidFill>
                <a:srgbClr val="009900"/>
              </a:solidFill>
              <a:latin typeface="华文楷体" panose="02010600040101010101" charset="-122"/>
              <a:ea typeface="华文楷体" panose="02010600040101010101" charset="-122"/>
            </a:endParaRPr>
          </a:p>
          <a:p>
            <a:pPr lvl="2">
              <a:lnSpc>
                <a:spcPct val="105000"/>
              </a:lnSpc>
              <a:buFont typeface="Monotype Sorts" pitchFamily="2" charset="2"/>
              <a:buNone/>
            </a:pPr>
            <a:r>
              <a:rPr lang="en-US" altLang="zh-CN" sz="1885" dirty="0">
                <a:solidFill>
                  <a:srgbClr val="009900"/>
                </a:solidFill>
                <a:latin typeface="华文楷体" panose="02010600040101010101" charset="-122"/>
                <a:ea typeface="华文楷体" panose="02010600040101010101" charset="-122"/>
              </a:rPr>
              <a:t>-</a:t>
            </a:r>
            <a:r>
              <a:rPr lang="en-US" altLang="zh-CN" sz="1885" dirty="0">
                <a:latin typeface="华文楷体" panose="02010600040101010101" charset="-122"/>
                <a:ea typeface="华文楷体" panose="02010600040101010101" charset="-122"/>
              </a:rPr>
              <a:t> </a:t>
            </a:r>
            <a:r>
              <a:rPr lang="zh-CN" altLang="en-US" sz="1885" dirty="0">
                <a:latin typeface="华文楷体" panose="02010600040101010101" charset="-122"/>
                <a:ea typeface="华文楷体" panose="02010600040101010101" charset="-122"/>
              </a:rPr>
              <a:t>相对增长速度</a:t>
            </a:r>
            <a:endParaRPr lang="zh-CN" altLang="en-US" sz="1885" dirty="0">
              <a:latin typeface="华文楷体" panose="02010600040101010101" charset="-122"/>
              <a:ea typeface="华文楷体" panose="02010600040101010101" charset="-122"/>
            </a:endParaRPr>
          </a:p>
          <a:p>
            <a:pPr eaLnBrk="1" hangingPunct="1">
              <a:lnSpc>
                <a:spcPct val="105000"/>
              </a:lnSpc>
              <a:buFont typeface="Monotype Sorts" pitchFamily="2" charset="2"/>
              <a:buNone/>
            </a:pPr>
            <a:endParaRPr lang="zh-CN" altLang="en-US" sz="2665" dirty="0">
              <a:latin typeface="华文楷体" panose="02010600040101010101" charset="-122"/>
              <a:ea typeface="华文楷体" panose="02010600040101010101" charset="-122"/>
            </a:endParaRPr>
          </a:p>
          <a:p>
            <a:pPr eaLnBrk="1" hangingPunct="1">
              <a:lnSpc>
                <a:spcPct val="105000"/>
              </a:lnSpc>
              <a:buFontTx/>
              <a:buNone/>
            </a:pPr>
            <a:endParaRPr lang="en-US" altLang="zh-CN" sz="2665" dirty="0">
              <a:latin typeface="华文楷体" panose="02010600040101010101" charset="-122"/>
              <a:ea typeface="华文楷体" panose="02010600040101010101" charset="-122"/>
            </a:endParaRPr>
          </a:p>
        </p:txBody>
      </p:sp>
      <p:sp>
        <p:nvSpPr>
          <p:cNvPr id="187399" name="Rectangle 4"/>
          <p:cNvSpPr>
            <a:spLocks noChangeArrowheads="1"/>
          </p:cNvSpPr>
          <p:nvPr/>
        </p:nvSpPr>
        <p:spPr bwMode="auto">
          <a:xfrm>
            <a:off x="725714" y="1542143"/>
            <a:ext cx="8563429"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Font typeface="Monotype Sorts" pitchFamily="2" charset="2"/>
              <a:buChar char="z"/>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accent2"/>
              </a:buClr>
              <a:buFont typeface="Monotype Sorts" pitchFamily="2" charset="2"/>
              <a:buChar char="y"/>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accent2"/>
              </a:buClr>
              <a:buFont typeface="Monotype Sorts" pitchFamily="2" charset="2"/>
              <a:buChar char="x"/>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2"/>
              </a:buClr>
              <a:buChar char="–"/>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sz="2000">
                <a:solidFill>
                  <a:schemeClr val="tx1"/>
                </a:solidFill>
                <a:latin typeface="Tahoma" panose="020B0604030504040204" pitchFamily="34" charset="0"/>
                <a:ea typeface="宋体" panose="02010600030101010101" pitchFamily="2" charset="-122"/>
              </a:defRPr>
            </a:lvl9pPr>
          </a:lstStyle>
          <a:p>
            <a:pPr eaLnBrk="1" hangingPunct="1">
              <a:lnSpc>
                <a:spcPct val="105000"/>
              </a:lnSpc>
              <a:buFont typeface="Monotype Sorts" pitchFamily="2" charset="2"/>
              <a:buNone/>
            </a:pPr>
            <a:endParaRPr lang="en-US" altLang="zh-CN" sz="2665">
              <a:latin typeface="华文楷体" panose="02010600040101010101" charset="-122"/>
              <a:ea typeface="华文楷体" panose="02010600040101010101" charset="-122"/>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Date Placeholder 1"/>
          <p:cNvSpPr>
            <a:spLocks noGrp="1"/>
          </p:cNvSpPr>
          <p:nvPr>
            <p:ph type="dt" sz="half" idx="10"/>
          </p:nvPr>
        </p:nvSpPr>
        <p:spPr>
          <a:ln>
            <a:miter lim="800000"/>
          </a:ln>
        </p:spPr>
        <p:txBody>
          <a:bodyPr/>
          <a:lstStyle/>
          <a:p>
            <a:pPr>
              <a:defRPr/>
            </a:pPr>
            <a:r>
              <a:rPr lang="en-US" altLang="zh-CN"/>
              <a:t>Data Structures and algorithms</a:t>
            </a:r>
            <a:endParaRPr lang="en-US" altLang="zh-CN"/>
          </a:p>
        </p:txBody>
      </p:sp>
      <p:sp>
        <p:nvSpPr>
          <p:cNvPr id="119811" name="Footer Placeholder 2"/>
          <p:cNvSpPr>
            <a:spLocks noGrp="1"/>
          </p:cNvSpPr>
          <p:nvPr>
            <p:ph type="ftr" sz="quarter" idx="11"/>
          </p:nvPr>
        </p:nvSpPr>
        <p:spPr>
          <a:ln>
            <a:miter lim="800000"/>
          </a:ln>
        </p:spPr>
        <p:txBody>
          <a:bodyPr/>
          <a:lstStyle/>
          <a:p>
            <a:pPr>
              <a:defRPr/>
            </a:pPr>
            <a:r>
              <a:rPr lang="zh-CN" altLang="en-US"/>
              <a:t>Software College Northeastern University</a:t>
            </a:r>
            <a:endParaRPr lang="en-US" altLang="zh-CN"/>
          </a:p>
        </p:txBody>
      </p:sp>
      <p:sp>
        <p:nvSpPr>
          <p:cNvPr id="189444" name="Slide Number Placeholder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Monotype Sorts" pitchFamily="2" charset="2"/>
              <a:buChar char="z"/>
              <a:defRPr sz="3050">
                <a:solidFill>
                  <a:schemeClr val="tx1"/>
                </a:solidFill>
                <a:latin typeface="Tahoma" panose="020B0604030504040204" pitchFamily="34" charset="0"/>
                <a:ea typeface="宋体" panose="02010600030101010101" pitchFamily="2" charset="-122"/>
              </a:defRPr>
            </a:lvl1pPr>
            <a:lvl2pPr marL="707390" indent="-272415">
              <a:spcBef>
                <a:spcPct val="20000"/>
              </a:spcBef>
              <a:buClr>
                <a:schemeClr val="accent2"/>
              </a:buClr>
              <a:buFont typeface="Monotype Sorts" pitchFamily="2" charset="2"/>
              <a:buChar char="y"/>
              <a:defRPr sz="2665">
                <a:solidFill>
                  <a:schemeClr val="tx1"/>
                </a:solidFill>
                <a:latin typeface="Tahoma" panose="020B0604030504040204" pitchFamily="34" charset="0"/>
                <a:ea typeface="宋体" panose="02010600030101010101" pitchFamily="2" charset="-122"/>
              </a:defRPr>
            </a:lvl2pPr>
            <a:lvl3pPr marL="1088390" indent="-217805">
              <a:spcBef>
                <a:spcPct val="20000"/>
              </a:spcBef>
              <a:buClr>
                <a:schemeClr val="accent2"/>
              </a:buClr>
              <a:buFont typeface="Monotype Sorts" pitchFamily="2" charset="2"/>
              <a:buChar char="x"/>
              <a:defRPr sz="2285">
                <a:solidFill>
                  <a:schemeClr val="tx1"/>
                </a:solidFill>
                <a:latin typeface="Tahoma" panose="020B0604030504040204" pitchFamily="34" charset="0"/>
                <a:ea typeface="宋体" panose="02010600030101010101" pitchFamily="2" charset="-122"/>
              </a:defRPr>
            </a:lvl3pPr>
            <a:lvl4pPr marL="1524000" indent="-217805">
              <a:spcBef>
                <a:spcPct val="20000"/>
              </a:spcBef>
              <a:buClr>
                <a:schemeClr val="accent2"/>
              </a:buClr>
              <a:buChar char="•"/>
              <a:defRPr sz="1905">
                <a:solidFill>
                  <a:schemeClr val="tx1"/>
                </a:solidFill>
                <a:latin typeface="Tahoma" panose="020B0604030504040204" pitchFamily="34" charset="0"/>
                <a:ea typeface="宋体" panose="02010600030101010101" pitchFamily="2" charset="-122"/>
              </a:defRPr>
            </a:lvl4pPr>
            <a:lvl5pPr marL="1959610" indent="-217805">
              <a:spcBef>
                <a:spcPct val="20000"/>
              </a:spcBef>
              <a:buClr>
                <a:schemeClr val="accent2"/>
              </a:buClr>
              <a:buChar char="–"/>
              <a:defRPr sz="1905">
                <a:solidFill>
                  <a:schemeClr val="tx1"/>
                </a:solidFill>
                <a:latin typeface="Tahoma" panose="020B0604030504040204" pitchFamily="34" charset="0"/>
                <a:ea typeface="宋体" panose="02010600030101010101" pitchFamily="2" charset="-122"/>
              </a:defRPr>
            </a:lvl5pPr>
            <a:lvl6pPr marL="2395220" indent="-217805" eaLnBrk="0" fontAlgn="base" hangingPunct="0">
              <a:spcBef>
                <a:spcPct val="20000"/>
              </a:spcBef>
              <a:spcAft>
                <a:spcPct val="0"/>
              </a:spcAft>
              <a:buClr>
                <a:schemeClr val="accent2"/>
              </a:buClr>
              <a:buChar char="–"/>
              <a:defRPr sz="1905">
                <a:solidFill>
                  <a:schemeClr val="tx1"/>
                </a:solidFill>
                <a:latin typeface="Tahoma" panose="020B0604030504040204" pitchFamily="34" charset="0"/>
                <a:ea typeface="宋体" panose="02010600030101010101" pitchFamily="2" charset="-122"/>
              </a:defRPr>
            </a:lvl6pPr>
            <a:lvl7pPr marL="2830195" indent="-217805" eaLnBrk="0" fontAlgn="base" hangingPunct="0">
              <a:spcBef>
                <a:spcPct val="20000"/>
              </a:spcBef>
              <a:spcAft>
                <a:spcPct val="0"/>
              </a:spcAft>
              <a:buClr>
                <a:schemeClr val="accent2"/>
              </a:buClr>
              <a:buChar char="–"/>
              <a:defRPr sz="1905">
                <a:solidFill>
                  <a:schemeClr val="tx1"/>
                </a:solidFill>
                <a:latin typeface="Tahoma" panose="020B0604030504040204" pitchFamily="34" charset="0"/>
                <a:ea typeface="宋体" panose="02010600030101010101" pitchFamily="2" charset="-122"/>
              </a:defRPr>
            </a:lvl7pPr>
            <a:lvl8pPr marL="3265805" indent="-217805" eaLnBrk="0" fontAlgn="base" hangingPunct="0">
              <a:spcBef>
                <a:spcPct val="20000"/>
              </a:spcBef>
              <a:spcAft>
                <a:spcPct val="0"/>
              </a:spcAft>
              <a:buClr>
                <a:schemeClr val="accent2"/>
              </a:buClr>
              <a:buChar char="–"/>
              <a:defRPr sz="1905">
                <a:solidFill>
                  <a:schemeClr val="tx1"/>
                </a:solidFill>
                <a:latin typeface="Tahoma" panose="020B0604030504040204" pitchFamily="34" charset="0"/>
                <a:ea typeface="宋体" panose="02010600030101010101" pitchFamily="2" charset="-122"/>
              </a:defRPr>
            </a:lvl8pPr>
            <a:lvl9pPr marL="3701415" indent="-217805" eaLnBrk="0" fontAlgn="base" hangingPunct="0">
              <a:spcBef>
                <a:spcPct val="20000"/>
              </a:spcBef>
              <a:spcAft>
                <a:spcPct val="0"/>
              </a:spcAft>
              <a:buClr>
                <a:schemeClr val="accent2"/>
              </a:buClr>
              <a:buChar char="–"/>
              <a:defRPr sz="1905">
                <a:solidFill>
                  <a:schemeClr val="tx1"/>
                </a:solidFill>
                <a:latin typeface="Tahoma" panose="020B0604030504040204" pitchFamily="34" charset="0"/>
                <a:ea typeface="宋体" panose="02010600030101010101" pitchFamily="2" charset="-122"/>
              </a:defRPr>
            </a:lvl9pPr>
          </a:lstStyle>
          <a:p>
            <a:pPr>
              <a:spcBef>
                <a:spcPct val="50000"/>
              </a:spcBef>
              <a:buClrTx/>
              <a:buFontTx/>
              <a:buNone/>
            </a:pPr>
            <a:fld id="{76D29215-3A17-4221-BB7B-CEC1A5A5073B}" type="slidenum">
              <a:rPr lang="zh-CN" altLang="en-US" sz="1335">
                <a:solidFill>
                  <a:schemeClr val="bg2"/>
                </a:solidFill>
                <a:latin typeface="Comic Sans MS" panose="030F0702030302020204" pitchFamily="66" charset="0"/>
              </a:rPr>
            </a:fld>
            <a:endParaRPr lang="en-US" altLang="zh-CN" sz="1335">
              <a:solidFill>
                <a:schemeClr val="bg2"/>
              </a:solidFill>
              <a:latin typeface="Comic Sans MS" panose="030F0702030302020204" pitchFamily="66" charset="0"/>
            </a:endParaRPr>
          </a:p>
        </p:txBody>
      </p:sp>
      <p:pic>
        <p:nvPicPr>
          <p:cNvPr id="189445" name="Picture 2" descr="shujujiegou6"/>
          <p:cNvPicPr>
            <a:picLocks noChangeAspect="1" noChangeArrowheads="1"/>
          </p:cNvPicPr>
          <p:nvPr/>
        </p:nvPicPr>
        <p:blipFill>
          <a:blip r:embed="rId1">
            <a:extLst>
              <a:ext uri="{28A0092B-C50C-407E-A947-70E740481C1C}">
                <a14:useLocalDpi xmlns:a14="http://schemas.microsoft.com/office/drawing/2010/main" val="0"/>
              </a:ext>
            </a:extLst>
          </a:blip>
          <a:srcRect b="18311"/>
          <a:stretch>
            <a:fillRect/>
          </a:stretch>
        </p:blipFill>
        <p:spPr bwMode="auto">
          <a:xfrm>
            <a:off x="762000" y="1687286"/>
            <a:ext cx="7886095" cy="4209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9446" name="Text Box 3"/>
          <p:cNvSpPr txBox="1">
            <a:spLocks noChangeArrowheads="1"/>
          </p:cNvSpPr>
          <p:nvPr/>
        </p:nvSpPr>
        <p:spPr bwMode="auto">
          <a:xfrm>
            <a:off x="2057703" y="5243286"/>
            <a:ext cx="5562297" cy="4440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20000"/>
              </a:spcBef>
              <a:buClr>
                <a:schemeClr val="accent2"/>
              </a:buClr>
              <a:buFont typeface="Monotype Sorts" pitchFamily="2" charset="2"/>
              <a:buChar char="z"/>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accent2"/>
              </a:buClr>
              <a:buFont typeface="Monotype Sorts" pitchFamily="2" charset="2"/>
              <a:buChar char="y"/>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accent2"/>
              </a:buClr>
              <a:buFont typeface="Monotype Sorts" pitchFamily="2" charset="2"/>
              <a:buChar char="x"/>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2"/>
              </a:buClr>
              <a:buChar char="–"/>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sz="2000">
                <a:solidFill>
                  <a:schemeClr val="tx1"/>
                </a:solidFill>
                <a:latin typeface="Tahoma" panose="020B0604030504040204" pitchFamily="34" charset="0"/>
                <a:ea typeface="宋体" panose="02010600030101010101" pitchFamily="2" charset="-122"/>
              </a:defRPr>
            </a:lvl9pPr>
          </a:lstStyle>
          <a:p>
            <a:pPr algn="ctr">
              <a:spcBef>
                <a:spcPct val="50000"/>
              </a:spcBef>
              <a:buClrTx/>
              <a:buFontTx/>
              <a:buNone/>
            </a:pPr>
            <a:endParaRPr kumimoji="1" lang="zh-CN" altLang="en-US" sz="2285">
              <a:latin typeface="Times New Roman" panose="02020603050405020304" pitchFamily="18" charset="0"/>
            </a:endParaRPr>
          </a:p>
        </p:txBody>
      </p:sp>
      <p:sp>
        <p:nvSpPr>
          <p:cNvPr id="189447" name="Oval 4"/>
          <p:cNvSpPr>
            <a:spLocks noChangeArrowheads="1"/>
          </p:cNvSpPr>
          <p:nvPr/>
        </p:nvSpPr>
        <p:spPr bwMode="auto">
          <a:xfrm>
            <a:off x="4419298" y="4445000"/>
            <a:ext cx="228297" cy="217714"/>
          </a:xfrm>
          <a:prstGeom prst="ellipse">
            <a:avLst/>
          </a:prstGeom>
          <a:solidFill>
            <a:srgbClr val="FF0000"/>
          </a:solidFill>
          <a:ln w="25400">
            <a:solidFill>
              <a:schemeClr val="tx1"/>
            </a:solidFill>
            <a:round/>
          </a:ln>
        </p:spPr>
        <p:txBody>
          <a:bodyPr wrap="none" anchor="ctr"/>
          <a:lstStyle>
            <a:lvl1pPr>
              <a:spcBef>
                <a:spcPct val="20000"/>
              </a:spcBef>
              <a:buClr>
                <a:schemeClr val="accent2"/>
              </a:buClr>
              <a:buFont typeface="Monotype Sorts" pitchFamily="2" charset="2"/>
              <a:buChar char="z"/>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accent2"/>
              </a:buClr>
              <a:buFont typeface="Monotype Sorts" pitchFamily="2" charset="2"/>
              <a:buChar char="y"/>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accent2"/>
              </a:buClr>
              <a:buFont typeface="Monotype Sorts" pitchFamily="2" charset="2"/>
              <a:buChar char="x"/>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2"/>
              </a:buClr>
              <a:buChar char="–"/>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sz="2000">
                <a:solidFill>
                  <a:schemeClr val="tx1"/>
                </a:solidFill>
                <a:latin typeface="Tahoma" panose="020B0604030504040204" pitchFamily="34" charset="0"/>
                <a:ea typeface="宋体" panose="02010600030101010101" pitchFamily="2" charset="-122"/>
              </a:defRPr>
            </a:lvl9pPr>
          </a:lstStyle>
          <a:p>
            <a:pPr>
              <a:spcBef>
                <a:spcPct val="0"/>
              </a:spcBef>
              <a:buClrTx/>
              <a:buFontTx/>
              <a:buNone/>
            </a:pPr>
            <a:endParaRPr lang="zh-CN" altLang="en-US" sz="2285">
              <a:latin typeface="Times New Roman" panose="02020603050405020304" pitchFamily="18" charset="0"/>
            </a:endParaRPr>
          </a:p>
        </p:txBody>
      </p:sp>
      <p:sp>
        <p:nvSpPr>
          <p:cNvPr id="189448" name="Oval 5"/>
          <p:cNvSpPr>
            <a:spLocks noChangeArrowheads="1"/>
          </p:cNvSpPr>
          <p:nvPr/>
        </p:nvSpPr>
        <p:spPr bwMode="auto">
          <a:xfrm>
            <a:off x="5258405" y="3501572"/>
            <a:ext cx="228298" cy="217714"/>
          </a:xfrm>
          <a:prstGeom prst="ellipse">
            <a:avLst/>
          </a:prstGeom>
          <a:solidFill>
            <a:srgbClr val="FF0000"/>
          </a:solidFill>
          <a:ln w="25400">
            <a:solidFill>
              <a:schemeClr val="tx1"/>
            </a:solidFill>
            <a:round/>
          </a:ln>
        </p:spPr>
        <p:txBody>
          <a:bodyPr wrap="none" anchor="ctr"/>
          <a:lstStyle>
            <a:lvl1pPr>
              <a:spcBef>
                <a:spcPct val="20000"/>
              </a:spcBef>
              <a:buClr>
                <a:schemeClr val="accent2"/>
              </a:buClr>
              <a:buFont typeface="Monotype Sorts" pitchFamily="2" charset="2"/>
              <a:buChar char="z"/>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accent2"/>
              </a:buClr>
              <a:buFont typeface="Monotype Sorts" pitchFamily="2" charset="2"/>
              <a:buChar char="y"/>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accent2"/>
              </a:buClr>
              <a:buFont typeface="Monotype Sorts" pitchFamily="2" charset="2"/>
              <a:buChar char="x"/>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2"/>
              </a:buClr>
              <a:buChar char="–"/>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sz="2000">
                <a:solidFill>
                  <a:schemeClr val="tx1"/>
                </a:solidFill>
                <a:latin typeface="Tahoma" panose="020B0604030504040204" pitchFamily="34" charset="0"/>
                <a:ea typeface="宋体" panose="02010600030101010101" pitchFamily="2" charset="-122"/>
              </a:defRPr>
            </a:lvl9pPr>
          </a:lstStyle>
          <a:p>
            <a:pPr>
              <a:spcBef>
                <a:spcPct val="0"/>
              </a:spcBef>
              <a:buClrTx/>
              <a:buFontTx/>
              <a:buNone/>
            </a:pPr>
            <a:endParaRPr lang="zh-CN" altLang="en-US" sz="2285">
              <a:latin typeface="Times New Roman" panose="02020603050405020304" pitchFamily="18" charset="0"/>
            </a:endParaRPr>
          </a:p>
        </p:txBody>
      </p:sp>
      <p:sp>
        <p:nvSpPr>
          <p:cNvPr id="687110" name="Rectangle 6"/>
          <p:cNvSpPr>
            <a:spLocks noChangeArrowheads="1"/>
          </p:cNvSpPr>
          <p:nvPr/>
        </p:nvSpPr>
        <p:spPr bwMode="auto">
          <a:xfrm>
            <a:off x="943429" y="381000"/>
            <a:ext cx="7772703" cy="725714"/>
          </a:xfrm>
          <a:prstGeom prst="rect">
            <a:avLst/>
          </a:prstGeom>
          <a:noFill/>
          <a:ln>
            <a:noFill/>
          </a:ln>
        </p:spPr>
        <p:txBody>
          <a:bodyPr anchor="b"/>
          <a:lstStyle/>
          <a:p>
            <a:pPr>
              <a:defRPr/>
            </a:pPr>
            <a:r>
              <a:rPr lang="en-US" altLang="zh-CN" sz="3600" dirty="0">
                <a:solidFill>
                  <a:schemeClr val="tx1">
                    <a:lumMod val="50000"/>
                    <a:lumOff val="50000"/>
                  </a:schemeClr>
                </a:solidFill>
                <a:latin typeface="Times New Roman" panose="02020603050405020304" pitchFamily="18" charset="0"/>
                <a:ea typeface="楷体_GB2312" panose="02010609030101010101" pitchFamily="49" charset="-122"/>
              </a:rPr>
              <a:t>(</a:t>
            </a:r>
            <a:r>
              <a:rPr lang="zh-CN" altLang="en-US" sz="3600" dirty="0">
                <a:solidFill>
                  <a:schemeClr val="tx1">
                    <a:lumMod val="50000"/>
                    <a:lumOff val="50000"/>
                  </a:schemeClr>
                </a:solidFill>
                <a:latin typeface="Times New Roman" panose="02020603050405020304" pitchFamily="18" charset="0"/>
                <a:ea typeface="楷体_GB2312" panose="02010609030101010101" pitchFamily="49" charset="-122"/>
              </a:rPr>
              <a:t>渐近</a:t>
            </a:r>
            <a:r>
              <a:rPr lang="en-US" altLang="zh-CN" sz="3600" dirty="0">
                <a:solidFill>
                  <a:schemeClr val="tx1">
                    <a:lumMod val="50000"/>
                    <a:lumOff val="50000"/>
                  </a:schemeClr>
                </a:solidFill>
                <a:latin typeface="Times New Roman" panose="02020603050405020304" pitchFamily="18" charset="0"/>
                <a:ea typeface="楷体_GB2312" panose="02010609030101010101" pitchFamily="49" charset="-122"/>
              </a:rPr>
              <a:t>)</a:t>
            </a:r>
            <a:r>
              <a:rPr lang="zh-CN" altLang="en-US" sz="3600" dirty="0">
                <a:solidFill>
                  <a:schemeClr val="tx1">
                    <a:lumMod val="50000"/>
                    <a:lumOff val="50000"/>
                  </a:schemeClr>
                </a:solidFill>
                <a:latin typeface="Times New Roman" panose="02020603050405020304" pitchFamily="18" charset="0"/>
                <a:ea typeface="楷体_GB2312" panose="02010609030101010101" pitchFamily="49" charset="-122"/>
              </a:rPr>
              <a:t>时间复杂度</a:t>
            </a:r>
            <a:endParaRPr lang="en-US" altLang="zh-CN" sz="3430" dirty="0">
              <a:solidFill>
                <a:schemeClr val="tx2"/>
              </a:solidFill>
              <a:effectLst>
                <a:outerShdw blurRad="38100" dist="38100" dir="2700000" algn="tl">
                  <a:srgbClr val="C0C0C0"/>
                </a:outerShdw>
              </a:effectLst>
              <a:latin typeface="Comic Sans MS" panose="030F0702030302020204" pitchFamily="66" charset="0"/>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1493" name="Picture 2" descr="l2img1189"/>
          <p:cNvPicPr>
            <a:picLocks noGrp="1" noChangeAspect="1" noChangeArrowheads="1"/>
          </p:cNvPicPr>
          <p:nvPr>
            <p:ph idx="1"/>
          </p:nvPr>
        </p:nvPicPr>
        <p:blipFill>
          <a:blip r:embed="rId1">
            <a:extLst>
              <a:ext uri="{28A0092B-C50C-407E-A947-70E740481C1C}">
                <a14:useLocalDpi xmlns:a14="http://schemas.microsoft.com/office/drawing/2010/main" val="0"/>
              </a:ext>
            </a:extLst>
          </a:blip>
          <a:stretch>
            <a:fillRect/>
          </a:stretch>
        </p:blipFill>
        <p:spPr>
          <a:xfrm>
            <a:off x="2871787" y="2663031"/>
            <a:ext cx="3400425" cy="2162175"/>
          </a:xfrm>
          <a:noFill/>
        </p:spPr>
      </p:pic>
      <p:sp>
        <p:nvSpPr>
          <p:cNvPr id="120834" name="Date Placeholder 3"/>
          <p:cNvSpPr>
            <a:spLocks noGrp="1"/>
          </p:cNvSpPr>
          <p:nvPr>
            <p:ph type="dt" sz="half" idx="10"/>
          </p:nvPr>
        </p:nvSpPr>
        <p:spPr>
          <a:ln>
            <a:miter lim="800000"/>
          </a:ln>
        </p:spPr>
        <p:txBody>
          <a:bodyPr/>
          <a:lstStyle/>
          <a:p>
            <a:pPr>
              <a:defRPr/>
            </a:pPr>
            <a:r>
              <a:rPr lang="en-US" altLang="zh-CN"/>
              <a:t>Data Structures and algorithms</a:t>
            </a:r>
            <a:endParaRPr lang="en-US" altLang="zh-CN"/>
          </a:p>
        </p:txBody>
      </p:sp>
      <p:sp>
        <p:nvSpPr>
          <p:cNvPr id="120835" name="Footer Placeholder 4"/>
          <p:cNvSpPr>
            <a:spLocks noGrp="1"/>
          </p:cNvSpPr>
          <p:nvPr>
            <p:ph type="ftr" sz="quarter" idx="11"/>
          </p:nvPr>
        </p:nvSpPr>
        <p:spPr>
          <a:ln>
            <a:miter lim="800000"/>
          </a:ln>
        </p:spPr>
        <p:txBody>
          <a:bodyPr/>
          <a:lstStyle/>
          <a:p>
            <a:pPr>
              <a:defRPr/>
            </a:pPr>
            <a:r>
              <a:rPr lang="zh-CN" altLang="en-US"/>
              <a:t>Software College Northeastern University</a:t>
            </a:r>
            <a:endParaRPr lang="en-US" altLang="zh-CN"/>
          </a:p>
        </p:txBody>
      </p:sp>
      <p:sp>
        <p:nvSpPr>
          <p:cNvPr id="191492" name="Slide Number Placeholder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Monotype Sorts" pitchFamily="2" charset="2"/>
              <a:buChar char="z"/>
              <a:defRPr sz="3050">
                <a:solidFill>
                  <a:schemeClr val="tx1"/>
                </a:solidFill>
                <a:latin typeface="Tahoma" panose="020B0604030504040204" pitchFamily="34" charset="0"/>
                <a:ea typeface="宋体" panose="02010600030101010101" pitchFamily="2" charset="-122"/>
              </a:defRPr>
            </a:lvl1pPr>
            <a:lvl2pPr marL="707390" indent="-272415">
              <a:spcBef>
                <a:spcPct val="20000"/>
              </a:spcBef>
              <a:buClr>
                <a:schemeClr val="accent2"/>
              </a:buClr>
              <a:buFont typeface="Monotype Sorts" pitchFamily="2" charset="2"/>
              <a:buChar char="y"/>
              <a:defRPr sz="2665">
                <a:solidFill>
                  <a:schemeClr val="tx1"/>
                </a:solidFill>
                <a:latin typeface="Tahoma" panose="020B0604030504040204" pitchFamily="34" charset="0"/>
                <a:ea typeface="宋体" panose="02010600030101010101" pitchFamily="2" charset="-122"/>
              </a:defRPr>
            </a:lvl2pPr>
            <a:lvl3pPr marL="1088390" indent="-217805">
              <a:spcBef>
                <a:spcPct val="20000"/>
              </a:spcBef>
              <a:buClr>
                <a:schemeClr val="accent2"/>
              </a:buClr>
              <a:buFont typeface="Monotype Sorts" pitchFamily="2" charset="2"/>
              <a:buChar char="x"/>
              <a:defRPr sz="2285">
                <a:solidFill>
                  <a:schemeClr val="tx1"/>
                </a:solidFill>
                <a:latin typeface="Tahoma" panose="020B0604030504040204" pitchFamily="34" charset="0"/>
                <a:ea typeface="宋体" panose="02010600030101010101" pitchFamily="2" charset="-122"/>
              </a:defRPr>
            </a:lvl3pPr>
            <a:lvl4pPr marL="1524000" indent="-217805">
              <a:spcBef>
                <a:spcPct val="20000"/>
              </a:spcBef>
              <a:buClr>
                <a:schemeClr val="accent2"/>
              </a:buClr>
              <a:buChar char="•"/>
              <a:defRPr sz="1905">
                <a:solidFill>
                  <a:schemeClr val="tx1"/>
                </a:solidFill>
                <a:latin typeface="Tahoma" panose="020B0604030504040204" pitchFamily="34" charset="0"/>
                <a:ea typeface="宋体" panose="02010600030101010101" pitchFamily="2" charset="-122"/>
              </a:defRPr>
            </a:lvl4pPr>
            <a:lvl5pPr marL="1959610" indent="-217805">
              <a:spcBef>
                <a:spcPct val="20000"/>
              </a:spcBef>
              <a:buClr>
                <a:schemeClr val="accent2"/>
              </a:buClr>
              <a:buChar char="–"/>
              <a:defRPr sz="1905">
                <a:solidFill>
                  <a:schemeClr val="tx1"/>
                </a:solidFill>
                <a:latin typeface="Tahoma" panose="020B0604030504040204" pitchFamily="34" charset="0"/>
                <a:ea typeface="宋体" panose="02010600030101010101" pitchFamily="2" charset="-122"/>
              </a:defRPr>
            </a:lvl5pPr>
            <a:lvl6pPr marL="2395220" indent="-217805" eaLnBrk="0" fontAlgn="base" hangingPunct="0">
              <a:spcBef>
                <a:spcPct val="20000"/>
              </a:spcBef>
              <a:spcAft>
                <a:spcPct val="0"/>
              </a:spcAft>
              <a:buClr>
                <a:schemeClr val="accent2"/>
              </a:buClr>
              <a:buChar char="–"/>
              <a:defRPr sz="1905">
                <a:solidFill>
                  <a:schemeClr val="tx1"/>
                </a:solidFill>
                <a:latin typeface="Tahoma" panose="020B0604030504040204" pitchFamily="34" charset="0"/>
                <a:ea typeface="宋体" panose="02010600030101010101" pitchFamily="2" charset="-122"/>
              </a:defRPr>
            </a:lvl6pPr>
            <a:lvl7pPr marL="2830195" indent="-217805" eaLnBrk="0" fontAlgn="base" hangingPunct="0">
              <a:spcBef>
                <a:spcPct val="20000"/>
              </a:spcBef>
              <a:spcAft>
                <a:spcPct val="0"/>
              </a:spcAft>
              <a:buClr>
                <a:schemeClr val="accent2"/>
              </a:buClr>
              <a:buChar char="–"/>
              <a:defRPr sz="1905">
                <a:solidFill>
                  <a:schemeClr val="tx1"/>
                </a:solidFill>
                <a:latin typeface="Tahoma" panose="020B0604030504040204" pitchFamily="34" charset="0"/>
                <a:ea typeface="宋体" panose="02010600030101010101" pitchFamily="2" charset="-122"/>
              </a:defRPr>
            </a:lvl7pPr>
            <a:lvl8pPr marL="3265805" indent="-217805" eaLnBrk="0" fontAlgn="base" hangingPunct="0">
              <a:spcBef>
                <a:spcPct val="20000"/>
              </a:spcBef>
              <a:spcAft>
                <a:spcPct val="0"/>
              </a:spcAft>
              <a:buClr>
                <a:schemeClr val="accent2"/>
              </a:buClr>
              <a:buChar char="–"/>
              <a:defRPr sz="1905">
                <a:solidFill>
                  <a:schemeClr val="tx1"/>
                </a:solidFill>
                <a:latin typeface="Tahoma" panose="020B0604030504040204" pitchFamily="34" charset="0"/>
                <a:ea typeface="宋体" panose="02010600030101010101" pitchFamily="2" charset="-122"/>
              </a:defRPr>
            </a:lvl8pPr>
            <a:lvl9pPr marL="3701415" indent="-217805" eaLnBrk="0" fontAlgn="base" hangingPunct="0">
              <a:spcBef>
                <a:spcPct val="20000"/>
              </a:spcBef>
              <a:spcAft>
                <a:spcPct val="0"/>
              </a:spcAft>
              <a:buClr>
                <a:schemeClr val="accent2"/>
              </a:buClr>
              <a:buChar char="–"/>
              <a:defRPr sz="1905">
                <a:solidFill>
                  <a:schemeClr val="tx1"/>
                </a:solidFill>
                <a:latin typeface="Tahoma" panose="020B0604030504040204" pitchFamily="34" charset="0"/>
                <a:ea typeface="宋体" panose="02010600030101010101" pitchFamily="2" charset="-122"/>
              </a:defRPr>
            </a:lvl9pPr>
          </a:lstStyle>
          <a:p>
            <a:pPr>
              <a:spcBef>
                <a:spcPct val="50000"/>
              </a:spcBef>
              <a:buClrTx/>
              <a:buFontTx/>
              <a:buNone/>
            </a:pPr>
            <a:fld id="{31FA69B9-D1E8-40A0-8C79-F7EA39A6AFDB}" type="slidenum">
              <a:rPr lang="zh-CN" altLang="en-US" sz="1335">
                <a:solidFill>
                  <a:schemeClr val="bg2"/>
                </a:solidFill>
                <a:latin typeface="Comic Sans MS" panose="030F0702030302020204" pitchFamily="66" charset="0"/>
              </a:rPr>
            </a:fld>
            <a:endParaRPr lang="en-US" altLang="zh-CN" sz="1335">
              <a:solidFill>
                <a:schemeClr val="bg2"/>
              </a:solidFill>
              <a:latin typeface="Comic Sans MS" panose="030F0702030302020204" pitchFamily="66" charset="0"/>
            </a:endParaRPr>
          </a:p>
        </p:txBody>
      </p:sp>
      <p:sp>
        <p:nvSpPr>
          <p:cNvPr id="2" name="标题 1"/>
          <p:cNvSpPr>
            <a:spLocks noGrp="1"/>
          </p:cNvSpPr>
          <p:nvPr>
            <p:ph type="title"/>
          </p:nvPr>
        </p:nvSpPr>
        <p:spPr/>
        <p:txBody>
          <a:bodyPr/>
          <a:lstStyle/>
          <a:p>
            <a:endParaRPr lang="zh-CN" altLang="en-US"/>
          </a:p>
        </p:txBody>
      </p:sp>
      <p:sp>
        <p:nvSpPr>
          <p:cNvPr id="191494" name="Text Box 3"/>
          <p:cNvSpPr txBox="1">
            <a:spLocks noChangeArrowheads="1"/>
          </p:cNvSpPr>
          <p:nvPr/>
        </p:nvSpPr>
        <p:spPr bwMode="auto">
          <a:xfrm>
            <a:off x="3645203" y="2413000"/>
            <a:ext cx="492881" cy="297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Monotype Sorts" pitchFamily="2" charset="2"/>
              <a:buChar char="z"/>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accent2"/>
              </a:buClr>
              <a:buFont typeface="Monotype Sorts" pitchFamily="2" charset="2"/>
              <a:buChar char="y"/>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accent2"/>
              </a:buClr>
              <a:buFont typeface="Monotype Sorts" pitchFamily="2" charset="2"/>
              <a:buChar char="x"/>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2"/>
              </a:buClr>
              <a:buChar char="–"/>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sz="2000">
                <a:solidFill>
                  <a:schemeClr val="tx1"/>
                </a:solidFill>
                <a:latin typeface="Tahoma" panose="020B0604030504040204" pitchFamily="34" charset="0"/>
                <a:ea typeface="宋体" panose="02010600030101010101" pitchFamily="2" charset="-122"/>
              </a:defRPr>
            </a:lvl9pPr>
          </a:lstStyle>
          <a:p>
            <a:pPr>
              <a:spcBef>
                <a:spcPct val="50000"/>
              </a:spcBef>
              <a:buClrTx/>
              <a:buFontTx/>
              <a:buNone/>
            </a:pPr>
            <a:r>
              <a:rPr lang="en-US" altLang="zh-CN" sz="1335">
                <a:latin typeface="Times New Roman" panose="02020603050405020304" pitchFamily="18" charset="0"/>
              </a:rPr>
              <a:t>b=2</a:t>
            </a:r>
            <a:endParaRPr lang="en-US" altLang="zh-CN" sz="1335">
              <a:latin typeface="Times New Roman" panose="02020603050405020304" pitchFamily="18" charset="0"/>
            </a:endParaRPr>
          </a:p>
        </p:txBody>
      </p:sp>
      <p:sp>
        <p:nvSpPr>
          <p:cNvPr id="191495" name="Text Box 4"/>
          <p:cNvSpPr txBox="1">
            <a:spLocks noChangeArrowheads="1"/>
          </p:cNvSpPr>
          <p:nvPr/>
        </p:nvSpPr>
        <p:spPr bwMode="auto">
          <a:xfrm>
            <a:off x="5896429" y="2340428"/>
            <a:ext cx="492881" cy="297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Monotype Sorts" pitchFamily="2" charset="2"/>
              <a:buChar char="z"/>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accent2"/>
              </a:buClr>
              <a:buFont typeface="Monotype Sorts" pitchFamily="2" charset="2"/>
              <a:buChar char="y"/>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accent2"/>
              </a:buClr>
              <a:buFont typeface="Monotype Sorts" pitchFamily="2" charset="2"/>
              <a:buChar char="x"/>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2"/>
              </a:buClr>
              <a:buChar char="–"/>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sz="2000">
                <a:solidFill>
                  <a:schemeClr val="tx1"/>
                </a:solidFill>
                <a:latin typeface="Tahoma" panose="020B0604030504040204" pitchFamily="34" charset="0"/>
                <a:ea typeface="宋体" panose="02010600030101010101" pitchFamily="2" charset="-122"/>
              </a:defRPr>
            </a:lvl9pPr>
          </a:lstStyle>
          <a:p>
            <a:pPr>
              <a:spcBef>
                <a:spcPct val="50000"/>
              </a:spcBef>
              <a:buClrTx/>
              <a:buFontTx/>
              <a:buNone/>
            </a:pPr>
            <a:r>
              <a:rPr lang="en-US" altLang="zh-CN" sz="1335">
                <a:latin typeface="Times New Roman" panose="02020603050405020304" pitchFamily="18" charset="0"/>
              </a:rPr>
              <a:t>b=e</a:t>
            </a:r>
            <a:endParaRPr lang="en-US" altLang="zh-CN" sz="1335">
              <a:latin typeface="Times New Roman" panose="02020603050405020304" pitchFamily="18" charset="0"/>
            </a:endParaRPr>
          </a:p>
        </p:txBody>
      </p:sp>
      <p:sp>
        <p:nvSpPr>
          <p:cNvPr id="191496" name="Text Box 5"/>
          <p:cNvSpPr txBox="1">
            <a:spLocks noChangeArrowheads="1"/>
          </p:cNvSpPr>
          <p:nvPr/>
        </p:nvSpPr>
        <p:spPr bwMode="auto">
          <a:xfrm>
            <a:off x="6037036" y="3211286"/>
            <a:ext cx="562429" cy="297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Monotype Sorts" pitchFamily="2" charset="2"/>
              <a:buChar char="z"/>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accent2"/>
              </a:buClr>
              <a:buFont typeface="Monotype Sorts" pitchFamily="2" charset="2"/>
              <a:buChar char="y"/>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accent2"/>
              </a:buClr>
              <a:buFont typeface="Monotype Sorts" pitchFamily="2" charset="2"/>
              <a:buChar char="x"/>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2"/>
              </a:buClr>
              <a:buChar char="–"/>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sz="2000">
                <a:solidFill>
                  <a:schemeClr val="tx1"/>
                </a:solidFill>
                <a:latin typeface="Tahoma" panose="020B0604030504040204" pitchFamily="34" charset="0"/>
                <a:ea typeface="宋体" panose="02010600030101010101" pitchFamily="2" charset="-122"/>
              </a:defRPr>
            </a:lvl9pPr>
          </a:lstStyle>
          <a:p>
            <a:pPr>
              <a:spcBef>
                <a:spcPct val="50000"/>
              </a:spcBef>
              <a:buClrTx/>
              <a:buFontTx/>
              <a:buNone/>
            </a:pPr>
            <a:r>
              <a:rPr lang="en-US" altLang="zh-CN" sz="1335">
                <a:latin typeface="Times New Roman" panose="02020603050405020304" pitchFamily="18" charset="0"/>
              </a:rPr>
              <a:t>b=10</a:t>
            </a:r>
            <a:endParaRPr lang="en-US" altLang="zh-CN" sz="1335">
              <a:latin typeface="Times New Roman" panose="02020603050405020304" pitchFamily="18" charset="0"/>
            </a:endParaRPr>
          </a:p>
        </p:txBody>
      </p:sp>
      <p:sp>
        <p:nvSpPr>
          <p:cNvPr id="689158" name="Rectangle 6"/>
          <p:cNvSpPr>
            <a:spLocks noChangeArrowheads="1"/>
          </p:cNvSpPr>
          <p:nvPr/>
        </p:nvSpPr>
        <p:spPr bwMode="auto">
          <a:xfrm>
            <a:off x="943429" y="381000"/>
            <a:ext cx="7772703" cy="725714"/>
          </a:xfrm>
          <a:prstGeom prst="rect">
            <a:avLst/>
          </a:prstGeom>
          <a:noFill/>
          <a:ln>
            <a:noFill/>
          </a:ln>
        </p:spPr>
        <p:txBody>
          <a:bodyPr anchor="b"/>
          <a:lstStyle/>
          <a:p>
            <a:pPr>
              <a:defRPr/>
            </a:pPr>
            <a:r>
              <a:rPr lang="en-US" altLang="zh-CN" sz="3600" dirty="0">
                <a:solidFill>
                  <a:schemeClr val="tx1">
                    <a:lumMod val="50000"/>
                    <a:lumOff val="50000"/>
                  </a:schemeClr>
                </a:solidFill>
                <a:latin typeface="Times New Roman" panose="02020603050405020304" pitchFamily="18" charset="0"/>
                <a:ea typeface="楷体_GB2312" panose="02010609030101010101" pitchFamily="49" charset="-122"/>
              </a:rPr>
              <a:t>(</a:t>
            </a:r>
            <a:r>
              <a:rPr lang="zh-CN" altLang="en-US" sz="3600" dirty="0">
                <a:solidFill>
                  <a:schemeClr val="tx1">
                    <a:lumMod val="50000"/>
                    <a:lumOff val="50000"/>
                  </a:schemeClr>
                </a:solidFill>
                <a:latin typeface="Times New Roman" panose="02020603050405020304" pitchFamily="18" charset="0"/>
                <a:ea typeface="楷体_GB2312" panose="02010609030101010101" pitchFamily="49" charset="-122"/>
              </a:rPr>
              <a:t>渐近</a:t>
            </a:r>
            <a:r>
              <a:rPr lang="en-US" altLang="zh-CN" sz="3600" dirty="0">
                <a:solidFill>
                  <a:schemeClr val="tx1">
                    <a:lumMod val="50000"/>
                    <a:lumOff val="50000"/>
                  </a:schemeClr>
                </a:solidFill>
                <a:latin typeface="Times New Roman" panose="02020603050405020304" pitchFamily="18" charset="0"/>
                <a:ea typeface="楷体_GB2312" panose="02010609030101010101" pitchFamily="49" charset="-122"/>
              </a:rPr>
              <a:t>)</a:t>
            </a:r>
            <a:r>
              <a:rPr lang="zh-CN" altLang="en-US" sz="3600" dirty="0">
                <a:solidFill>
                  <a:schemeClr val="tx1">
                    <a:lumMod val="50000"/>
                    <a:lumOff val="50000"/>
                  </a:schemeClr>
                </a:solidFill>
                <a:latin typeface="Times New Roman" panose="02020603050405020304" pitchFamily="18" charset="0"/>
                <a:ea typeface="楷体_GB2312" panose="02010609030101010101" pitchFamily="49" charset="-122"/>
              </a:rPr>
              <a:t>时间复杂度</a:t>
            </a:r>
            <a:endParaRPr lang="en-US" altLang="zh-CN" sz="3430" dirty="0">
              <a:solidFill>
                <a:schemeClr val="tx2"/>
              </a:solidFill>
              <a:effectLst>
                <a:outerShdw blurRad="38100" dist="38100" dir="2700000" algn="tl">
                  <a:srgbClr val="C0C0C0"/>
                </a:outerShdw>
              </a:effectLst>
              <a:latin typeface="Comic Sans MS" panose="030F0702030302020204" pitchFamily="66" charset="0"/>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endParaRPr lang="zh-CN" altLang="en-US">
              <a:latin typeface="Arial" panose="020B0604020202020204" pitchFamily="34" charset="0"/>
              <a:ea typeface="华文楷体" panose="02010600040101010101" charset="-122"/>
              <a:cs typeface="Arial" panose="020B0604020202020204" pitchFamily="34" charset="0"/>
            </a:endParaRPr>
          </a:p>
        </p:txBody>
      </p:sp>
      <p:sp>
        <p:nvSpPr>
          <p:cNvPr id="121858" name="Date Placeholder 3"/>
          <p:cNvSpPr>
            <a:spLocks noGrp="1"/>
          </p:cNvSpPr>
          <p:nvPr>
            <p:ph type="dt" sz="half" idx="10"/>
          </p:nvPr>
        </p:nvSpPr>
        <p:spPr>
          <a:ln>
            <a:miter lim="800000"/>
          </a:ln>
        </p:spPr>
        <p:txBody>
          <a:bodyPr/>
          <a:lstStyle/>
          <a:p>
            <a:pPr>
              <a:defRPr/>
            </a:pPr>
            <a:r>
              <a:rPr lang="en-US" altLang="zh-CN">
                <a:latin typeface="Arial" panose="020B0604020202020204" pitchFamily="34" charset="0"/>
                <a:ea typeface="华文楷体" panose="02010600040101010101" charset="-122"/>
                <a:cs typeface="Arial" panose="020B0604020202020204" pitchFamily="34" charset="0"/>
              </a:rPr>
              <a:t>Data Structures and algorithms</a:t>
            </a:r>
            <a:endParaRPr lang="en-US" altLang="zh-CN">
              <a:latin typeface="Arial" panose="020B0604020202020204" pitchFamily="34" charset="0"/>
              <a:ea typeface="华文楷体" panose="02010600040101010101" charset="-122"/>
              <a:cs typeface="Arial" panose="020B0604020202020204" pitchFamily="34" charset="0"/>
            </a:endParaRPr>
          </a:p>
        </p:txBody>
      </p:sp>
      <p:sp>
        <p:nvSpPr>
          <p:cNvPr id="121859" name="Footer Placeholder 4"/>
          <p:cNvSpPr>
            <a:spLocks noGrp="1"/>
          </p:cNvSpPr>
          <p:nvPr>
            <p:ph type="ftr" sz="quarter" idx="11"/>
          </p:nvPr>
        </p:nvSpPr>
        <p:spPr>
          <a:ln>
            <a:miter lim="800000"/>
          </a:ln>
        </p:spPr>
        <p:txBody>
          <a:bodyPr/>
          <a:lstStyle/>
          <a:p>
            <a:pPr>
              <a:defRPr/>
            </a:pPr>
            <a:r>
              <a:rPr lang="zh-CN" altLang="en-US">
                <a:latin typeface="Arial" panose="020B0604020202020204" pitchFamily="34" charset="0"/>
                <a:ea typeface="华文楷体" panose="02010600040101010101" charset="-122"/>
                <a:cs typeface="Arial" panose="020B0604020202020204" pitchFamily="34" charset="0"/>
              </a:rPr>
              <a:t>Software College Northeastern University</a:t>
            </a:r>
            <a:endParaRPr lang="en-US" altLang="zh-CN">
              <a:latin typeface="Arial" panose="020B0604020202020204" pitchFamily="34" charset="0"/>
              <a:ea typeface="华文楷体" panose="02010600040101010101" charset="-122"/>
              <a:cs typeface="Arial" panose="020B0604020202020204" pitchFamily="34" charset="0"/>
            </a:endParaRPr>
          </a:p>
        </p:txBody>
      </p:sp>
      <p:sp>
        <p:nvSpPr>
          <p:cNvPr id="193540" name="Slide Number Placeholder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Monotype Sorts" pitchFamily="2" charset="2"/>
              <a:buChar char="z"/>
              <a:defRPr sz="3050">
                <a:solidFill>
                  <a:schemeClr val="tx1"/>
                </a:solidFill>
                <a:latin typeface="Tahoma" panose="020B0604030504040204" pitchFamily="34" charset="0"/>
                <a:ea typeface="宋体" panose="02010600030101010101" pitchFamily="2" charset="-122"/>
              </a:defRPr>
            </a:lvl1pPr>
            <a:lvl2pPr marL="707390" indent="-272415">
              <a:spcBef>
                <a:spcPct val="20000"/>
              </a:spcBef>
              <a:buClr>
                <a:schemeClr val="accent2"/>
              </a:buClr>
              <a:buFont typeface="Monotype Sorts" pitchFamily="2" charset="2"/>
              <a:buChar char="y"/>
              <a:defRPr sz="2665">
                <a:solidFill>
                  <a:schemeClr val="tx1"/>
                </a:solidFill>
                <a:latin typeface="Tahoma" panose="020B0604030504040204" pitchFamily="34" charset="0"/>
                <a:ea typeface="宋体" panose="02010600030101010101" pitchFamily="2" charset="-122"/>
              </a:defRPr>
            </a:lvl2pPr>
            <a:lvl3pPr marL="1088390" indent="-217805">
              <a:spcBef>
                <a:spcPct val="20000"/>
              </a:spcBef>
              <a:buClr>
                <a:schemeClr val="accent2"/>
              </a:buClr>
              <a:buFont typeface="Monotype Sorts" pitchFamily="2" charset="2"/>
              <a:buChar char="x"/>
              <a:defRPr sz="2285">
                <a:solidFill>
                  <a:schemeClr val="tx1"/>
                </a:solidFill>
                <a:latin typeface="Tahoma" panose="020B0604030504040204" pitchFamily="34" charset="0"/>
                <a:ea typeface="宋体" panose="02010600030101010101" pitchFamily="2" charset="-122"/>
              </a:defRPr>
            </a:lvl3pPr>
            <a:lvl4pPr marL="1524000" indent="-217805">
              <a:spcBef>
                <a:spcPct val="20000"/>
              </a:spcBef>
              <a:buClr>
                <a:schemeClr val="accent2"/>
              </a:buClr>
              <a:buChar char="•"/>
              <a:defRPr sz="1905">
                <a:solidFill>
                  <a:schemeClr val="tx1"/>
                </a:solidFill>
                <a:latin typeface="Tahoma" panose="020B0604030504040204" pitchFamily="34" charset="0"/>
                <a:ea typeface="宋体" panose="02010600030101010101" pitchFamily="2" charset="-122"/>
              </a:defRPr>
            </a:lvl4pPr>
            <a:lvl5pPr marL="1959610" indent="-217805">
              <a:spcBef>
                <a:spcPct val="20000"/>
              </a:spcBef>
              <a:buClr>
                <a:schemeClr val="accent2"/>
              </a:buClr>
              <a:buChar char="–"/>
              <a:defRPr sz="1905">
                <a:solidFill>
                  <a:schemeClr val="tx1"/>
                </a:solidFill>
                <a:latin typeface="Tahoma" panose="020B0604030504040204" pitchFamily="34" charset="0"/>
                <a:ea typeface="宋体" panose="02010600030101010101" pitchFamily="2" charset="-122"/>
              </a:defRPr>
            </a:lvl5pPr>
            <a:lvl6pPr marL="2395220" indent="-217805" eaLnBrk="0" fontAlgn="base" hangingPunct="0">
              <a:spcBef>
                <a:spcPct val="20000"/>
              </a:spcBef>
              <a:spcAft>
                <a:spcPct val="0"/>
              </a:spcAft>
              <a:buClr>
                <a:schemeClr val="accent2"/>
              </a:buClr>
              <a:buChar char="–"/>
              <a:defRPr sz="1905">
                <a:solidFill>
                  <a:schemeClr val="tx1"/>
                </a:solidFill>
                <a:latin typeface="Tahoma" panose="020B0604030504040204" pitchFamily="34" charset="0"/>
                <a:ea typeface="宋体" panose="02010600030101010101" pitchFamily="2" charset="-122"/>
              </a:defRPr>
            </a:lvl6pPr>
            <a:lvl7pPr marL="2830195" indent="-217805" eaLnBrk="0" fontAlgn="base" hangingPunct="0">
              <a:spcBef>
                <a:spcPct val="20000"/>
              </a:spcBef>
              <a:spcAft>
                <a:spcPct val="0"/>
              </a:spcAft>
              <a:buClr>
                <a:schemeClr val="accent2"/>
              </a:buClr>
              <a:buChar char="–"/>
              <a:defRPr sz="1905">
                <a:solidFill>
                  <a:schemeClr val="tx1"/>
                </a:solidFill>
                <a:latin typeface="Tahoma" panose="020B0604030504040204" pitchFamily="34" charset="0"/>
                <a:ea typeface="宋体" panose="02010600030101010101" pitchFamily="2" charset="-122"/>
              </a:defRPr>
            </a:lvl7pPr>
            <a:lvl8pPr marL="3265805" indent="-217805" eaLnBrk="0" fontAlgn="base" hangingPunct="0">
              <a:spcBef>
                <a:spcPct val="20000"/>
              </a:spcBef>
              <a:spcAft>
                <a:spcPct val="0"/>
              </a:spcAft>
              <a:buClr>
                <a:schemeClr val="accent2"/>
              </a:buClr>
              <a:buChar char="–"/>
              <a:defRPr sz="1905">
                <a:solidFill>
                  <a:schemeClr val="tx1"/>
                </a:solidFill>
                <a:latin typeface="Tahoma" panose="020B0604030504040204" pitchFamily="34" charset="0"/>
                <a:ea typeface="宋体" panose="02010600030101010101" pitchFamily="2" charset="-122"/>
              </a:defRPr>
            </a:lvl8pPr>
            <a:lvl9pPr marL="3701415" indent="-217805" eaLnBrk="0" fontAlgn="base" hangingPunct="0">
              <a:spcBef>
                <a:spcPct val="20000"/>
              </a:spcBef>
              <a:spcAft>
                <a:spcPct val="0"/>
              </a:spcAft>
              <a:buClr>
                <a:schemeClr val="accent2"/>
              </a:buClr>
              <a:buChar char="–"/>
              <a:defRPr sz="1905">
                <a:solidFill>
                  <a:schemeClr val="tx1"/>
                </a:solidFill>
                <a:latin typeface="Tahoma" panose="020B0604030504040204" pitchFamily="34" charset="0"/>
                <a:ea typeface="宋体" panose="02010600030101010101" pitchFamily="2" charset="-122"/>
              </a:defRPr>
            </a:lvl9pPr>
          </a:lstStyle>
          <a:p>
            <a:pPr>
              <a:spcBef>
                <a:spcPct val="50000"/>
              </a:spcBef>
              <a:buClrTx/>
              <a:buFontTx/>
              <a:buNone/>
            </a:pPr>
            <a:fld id="{002574FC-CC3F-43E4-A082-A977E77345CC}" type="slidenum">
              <a:rPr lang="zh-CN" altLang="en-US" sz="1335">
                <a:solidFill>
                  <a:schemeClr val="bg2"/>
                </a:solidFill>
                <a:latin typeface="Arial" panose="020B0604020202020204" pitchFamily="34" charset="0"/>
                <a:ea typeface="华文楷体" panose="02010600040101010101" charset="-122"/>
                <a:cs typeface="Arial" panose="020B0604020202020204" pitchFamily="34" charset="0"/>
              </a:rPr>
            </a:fld>
            <a:endParaRPr lang="en-US" altLang="zh-CN" sz="1335">
              <a:solidFill>
                <a:schemeClr val="bg2"/>
              </a:solidFill>
              <a:latin typeface="Arial" panose="020B0604020202020204" pitchFamily="34" charset="0"/>
              <a:ea typeface="华文楷体" panose="02010600040101010101" charset="-122"/>
              <a:cs typeface="Arial" panose="020B0604020202020204" pitchFamily="34" charset="0"/>
            </a:endParaRPr>
          </a:p>
        </p:txBody>
      </p:sp>
      <p:sp>
        <p:nvSpPr>
          <p:cNvPr id="691202" name="Rectangle 2"/>
          <p:cNvSpPr>
            <a:spLocks noGrp="1" noChangeArrowheads="1"/>
          </p:cNvSpPr>
          <p:nvPr>
            <p:ph type="title"/>
          </p:nvPr>
        </p:nvSpPr>
        <p:spPr/>
        <p:txBody>
          <a:bodyPr/>
          <a:lstStyle/>
          <a:p>
            <a:pPr>
              <a:defRPr/>
            </a:pPr>
            <a:r>
              <a:rPr lang="en-US" altLang="zh-CN" sz="4000" dirty="0">
                <a:solidFill>
                  <a:schemeClr val="tx1">
                    <a:lumMod val="50000"/>
                    <a:lumOff val="50000"/>
                  </a:schemeClr>
                </a:solidFill>
                <a:latin typeface="Arial" panose="020B0604020202020204" pitchFamily="34" charset="0"/>
                <a:ea typeface="华文楷体" panose="02010600040101010101" charset="-122"/>
                <a:cs typeface="Arial" panose="020B0604020202020204" pitchFamily="34" charset="0"/>
              </a:rPr>
              <a:t>(</a:t>
            </a:r>
            <a:r>
              <a:rPr lang="zh-CN" altLang="en-US" sz="4000" dirty="0">
                <a:solidFill>
                  <a:schemeClr val="tx1">
                    <a:lumMod val="50000"/>
                    <a:lumOff val="50000"/>
                  </a:schemeClr>
                </a:solidFill>
                <a:latin typeface="Arial" panose="020B0604020202020204" pitchFamily="34" charset="0"/>
                <a:ea typeface="华文楷体" panose="02010600040101010101" charset="-122"/>
                <a:cs typeface="Arial" panose="020B0604020202020204" pitchFamily="34" charset="0"/>
              </a:rPr>
              <a:t>渐近</a:t>
            </a:r>
            <a:r>
              <a:rPr lang="en-US" altLang="zh-CN" sz="4000" dirty="0">
                <a:solidFill>
                  <a:schemeClr val="tx1">
                    <a:lumMod val="50000"/>
                    <a:lumOff val="50000"/>
                  </a:schemeClr>
                </a:solidFill>
                <a:latin typeface="Arial" panose="020B0604020202020204" pitchFamily="34" charset="0"/>
                <a:ea typeface="华文楷体" panose="02010600040101010101" charset="-122"/>
                <a:cs typeface="Arial" panose="020B0604020202020204" pitchFamily="34" charset="0"/>
              </a:rPr>
              <a:t>)</a:t>
            </a:r>
            <a:r>
              <a:rPr lang="zh-CN" altLang="en-US" sz="4000" dirty="0">
                <a:solidFill>
                  <a:schemeClr val="tx1">
                    <a:lumMod val="50000"/>
                    <a:lumOff val="50000"/>
                  </a:schemeClr>
                </a:solidFill>
                <a:latin typeface="Arial" panose="020B0604020202020204" pitchFamily="34" charset="0"/>
                <a:ea typeface="华文楷体" panose="02010600040101010101" charset="-122"/>
                <a:cs typeface="Arial" panose="020B0604020202020204" pitchFamily="34" charset="0"/>
              </a:rPr>
              <a:t>时间复杂度</a:t>
            </a:r>
            <a:endParaRPr lang="en-US" altLang="zh-CN" dirty="0">
              <a:effectLst>
                <a:outerShdw blurRad="38100" dist="38100" dir="2700000" algn="tl">
                  <a:srgbClr val="C0C0C0"/>
                </a:outerShdw>
              </a:effectLst>
              <a:latin typeface="Arial" panose="020B0604020202020204" pitchFamily="34" charset="0"/>
              <a:ea typeface="华文楷体" panose="02010600040101010101" charset="-122"/>
              <a:cs typeface="Arial" panose="020B0604020202020204" pitchFamily="34" charset="0"/>
            </a:endParaRPr>
          </a:p>
        </p:txBody>
      </p:sp>
      <p:sp>
        <p:nvSpPr>
          <p:cNvPr id="193542" name="Rectangle 3"/>
          <p:cNvSpPr>
            <a:spLocks noChangeArrowheads="1"/>
          </p:cNvSpPr>
          <p:nvPr/>
        </p:nvSpPr>
        <p:spPr bwMode="auto">
          <a:xfrm>
            <a:off x="725714" y="1542143"/>
            <a:ext cx="8563429"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Font typeface="Monotype Sorts" pitchFamily="2" charset="2"/>
              <a:buChar char="z"/>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accent2"/>
              </a:buClr>
              <a:buFont typeface="Monotype Sorts" pitchFamily="2" charset="2"/>
              <a:buChar char="y"/>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accent2"/>
              </a:buClr>
              <a:buFont typeface="Monotype Sorts" pitchFamily="2" charset="2"/>
              <a:buChar char="x"/>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2"/>
              </a:buClr>
              <a:buChar char="–"/>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sz="2000">
                <a:solidFill>
                  <a:schemeClr val="tx1"/>
                </a:solidFill>
                <a:latin typeface="Tahoma" panose="020B0604030504040204" pitchFamily="34" charset="0"/>
                <a:ea typeface="宋体" panose="02010600030101010101" pitchFamily="2" charset="-122"/>
              </a:defRPr>
            </a:lvl9pPr>
          </a:lstStyle>
          <a:p>
            <a:pPr eaLnBrk="1" hangingPunct="1">
              <a:lnSpc>
                <a:spcPct val="105000"/>
              </a:lnSpc>
              <a:buFont typeface="Monotype Sorts" pitchFamily="2" charset="2"/>
              <a:buNone/>
            </a:pPr>
            <a:endParaRPr lang="en-US" altLang="zh-CN" sz="2665">
              <a:latin typeface="Arial" panose="020B0604020202020204" pitchFamily="34" charset="0"/>
              <a:ea typeface="华文楷体" panose="02010600040101010101" charset="-122"/>
              <a:cs typeface="Arial" panose="020B0604020202020204" pitchFamily="34" charset="0"/>
            </a:endParaRPr>
          </a:p>
        </p:txBody>
      </p:sp>
      <p:graphicFrame>
        <p:nvGraphicFramePr>
          <p:cNvPr id="193543" name="Object 4" descr="Dotted grid"/>
          <p:cNvGraphicFramePr>
            <a:graphicFrameLocks noChangeAspect="1"/>
          </p:cNvGraphicFramePr>
          <p:nvPr/>
        </p:nvGraphicFramePr>
        <p:xfrm>
          <a:off x="798285" y="1614714"/>
          <a:ext cx="7341810" cy="4064000"/>
        </p:xfrm>
        <a:graphic>
          <a:graphicData uri="http://schemas.openxmlformats.org/presentationml/2006/ole">
            <mc:AlternateContent xmlns:mc="http://schemas.openxmlformats.org/markup-compatibility/2006">
              <mc:Choice xmlns:v="urn:schemas-microsoft-com:vml" Requires="v">
                <p:oleObj spid="_x0000_s4101" name="文档" r:id="rId1" imgW="7943215" imgH="4632960" progId="Word.Document.8">
                  <p:embed/>
                </p:oleObj>
              </mc:Choice>
              <mc:Fallback>
                <p:oleObj name="文档" r:id="rId1" imgW="7943215" imgH="4632960" progId="Word.Document.8">
                  <p:embed/>
                  <p:pic>
                    <p:nvPicPr>
                      <p:cNvPr id="0" name="图片 819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8285" y="1614714"/>
                        <a:ext cx="7341810" cy="4064000"/>
                      </a:xfrm>
                      <a:prstGeom prst="rect">
                        <a:avLst/>
                      </a:prstGeom>
                      <a:noFill/>
                      <a:ln>
                        <a:noFill/>
                      </a:ln>
                      <a:effectLst/>
                      <a:extLst>
                        <a:ext uri="{909E8E84-426E-40DD-AFC4-6F175D3DCCD1}">
                          <a14:hiddenFill xmlns:a14="http://schemas.microsoft.com/office/drawing/2010/main">
                            <a:pattFill prst="dotGrid">
                              <a:fgClr>
                                <a:schemeClr val="hlink"/>
                              </a:fgClr>
                              <a:bgClr>
                                <a:schemeClr val="bg1"/>
                              </a:bgClr>
                            </a:patt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93544" name="Rectangle 5"/>
          <p:cNvSpPr>
            <a:spLocks noChangeArrowheads="1"/>
          </p:cNvSpPr>
          <p:nvPr/>
        </p:nvSpPr>
        <p:spPr bwMode="auto">
          <a:xfrm>
            <a:off x="2249714" y="5678715"/>
            <a:ext cx="4064000" cy="502766"/>
          </a:xfrm>
          <a:prstGeom prst="rect">
            <a:avLst/>
          </a:prstGeom>
          <a:solidFill>
            <a:srgbClr val="99CC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Monotype Sorts" pitchFamily="2" charset="2"/>
              <a:buChar char="z"/>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accent2"/>
              </a:buClr>
              <a:buFont typeface="Monotype Sorts" pitchFamily="2" charset="2"/>
              <a:buChar char="y"/>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accent2"/>
              </a:buClr>
              <a:buFont typeface="Monotype Sorts" pitchFamily="2" charset="2"/>
              <a:buChar char="x"/>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2"/>
              </a:buClr>
              <a:buChar char="–"/>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sz="2000">
                <a:solidFill>
                  <a:schemeClr val="tx1"/>
                </a:solidFill>
                <a:latin typeface="Tahoma" panose="020B0604030504040204" pitchFamily="34" charset="0"/>
                <a:ea typeface="宋体" panose="02010600030101010101" pitchFamily="2" charset="-122"/>
              </a:defRPr>
            </a:lvl9pPr>
          </a:lstStyle>
          <a:p>
            <a:pPr>
              <a:spcBef>
                <a:spcPct val="0"/>
              </a:spcBef>
              <a:buClrTx/>
              <a:buFontTx/>
              <a:buNone/>
            </a:pPr>
            <a:r>
              <a:rPr lang="en-US" altLang="zh-CN" sz="2665">
                <a:solidFill>
                  <a:srgbClr val="000099"/>
                </a:solidFill>
                <a:latin typeface="Arial" panose="020B0604020202020204" pitchFamily="34" charset="0"/>
                <a:ea typeface="华文楷体" panose="02010600040101010101" charset="-122"/>
                <a:cs typeface="Arial" panose="020B0604020202020204" pitchFamily="34" charset="0"/>
              </a:rPr>
              <a:t>Typical Growth Rates</a:t>
            </a:r>
            <a:endParaRPr lang="en-US" altLang="zh-CN" sz="2665">
              <a:solidFill>
                <a:srgbClr val="FF0000"/>
              </a:solidFill>
              <a:latin typeface="Arial" panose="020B0604020202020204" pitchFamily="34" charset="0"/>
              <a:ea typeface="华文楷体" panose="02010600040101010101" charset="-122"/>
              <a:cs typeface="Arial" panose="020B0604020202020204" pitchFamily="34" charset="0"/>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93251" name="Rectangle 3"/>
          <p:cNvSpPr>
            <a:spLocks noGrp="1" noChangeArrowheads="1"/>
          </p:cNvSpPr>
          <p:nvPr>
            <p:ph idx="1"/>
          </p:nvPr>
        </p:nvSpPr>
        <p:spPr/>
        <p:txBody>
          <a:bodyPr/>
          <a:lstStyle/>
          <a:p>
            <a:pPr eaLnBrk="1" hangingPunct="1"/>
            <a:r>
              <a:rPr lang="zh-CN" altLang="en-US" dirty="0">
                <a:solidFill>
                  <a:srgbClr val="FF0000"/>
                </a:solidFill>
                <a:highlight>
                  <a:srgbClr val="FFFF00"/>
                </a:highlight>
                <a:latin typeface="Arial" panose="020B0604020202020204" pitchFamily="34" charset="0"/>
                <a:ea typeface="华文楷体" panose="02010600040101010101" charset="-122"/>
                <a:cs typeface="Arial" panose="020B0604020202020204" pitchFamily="34" charset="0"/>
              </a:rPr>
              <a:t>规则</a:t>
            </a:r>
            <a:r>
              <a:rPr lang="en-US" altLang="zh-CN" dirty="0">
                <a:solidFill>
                  <a:srgbClr val="FF0000"/>
                </a:solidFill>
                <a:highlight>
                  <a:srgbClr val="FFFF00"/>
                </a:highlight>
                <a:latin typeface="Arial" panose="020B0604020202020204" pitchFamily="34" charset="0"/>
                <a:ea typeface="华文楷体" panose="02010600040101010101" charset="-122"/>
                <a:cs typeface="Arial" panose="020B0604020202020204" pitchFamily="34" charset="0"/>
              </a:rPr>
              <a:t> 1</a:t>
            </a:r>
            <a:endParaRPr lang="en-US" altLang="zh-CN" dirty="0">
              <a:solidFill>
                <a:srgbClr val="FF0000"/>
              </a:solidFill>
              <a:highlight>
                <a:srgbClr val="FFFF00"/>
              </a:highlight>
              <a:latin typeface="Arial" panose="020B0604020202020204" pitchFamily="34" charset="0"/>
              <a:ea typeface="华文楷体" panose="02010600040101010101" charset="-122"/>
              <a:cs typeface="Arial" panose="020B0604020202020204" pitchFamily="34" charset="0"/>
            </a:endParaRPr>
          </a:p>
          <a:p>
            <a:pPr eaLnBrk="1" hangingPunct="1"/>
            <a:endParaRPr lang="en-US" altLang="zh-CN" dirty="0">
              <a:latin typeface="Arial" panose="020B0604020202020204" pitchFamily="34" charset="0"/>
              <a:ea typeface="华文楷体" panose="02010600040101010101" charset="-122"/>
              <a:cs typeface="Arial" panose="020B0604020202020204" pitchFamily="34" charset="0"/>
            </a:endParaRPr>
          </a:p>
          <a:p>
            <a:pPr eaLnBrk="1" hangingPunct="1"/>
            <a:endParaRPr lang="en-US" altLang="zh-CN" dirty="0">
              <a:latin typeface="Arial" panose="020B0604020202020204" pitchFamily="34" charset="0"/>
              <a:ea typeface="华文楷体" panose="02010600040101010101" charset="-122"/>
              <a:cs typeface="Arial" panose="020B0604020202020204" pitchFamily="34" charset="0"/>
            </a:endParaRPr>
          </a:p>
          <a:p>
            <a:pPr eaLnBrk="1" hangingPunct="1"/>
            <a:endParaRPr lang="zh-CN" altLang="en-US" dirty="0">
              <a:latin typeface="Arial" panose="020B0604020202020204" pitchFamily="34" charset="0"/>
              <a:ea typeface="华文楷体" panose="02010600040101010101" charset="-122"/>
              <a:cs typeface="Arial" panose="020B0604020202020204" pitchFamily="34" charset="0"/>
            </a:endParaRPr>
          </a:p>
        </p:txBody>
      </p:sp>
      <p:sp>
        <p:nvSpPr>
          <p:cNvPr id="122882" name="Date Placeholder 3"/>
          <p:cNvSpPr>
            <a:spLocks noGrp="1"/>
          </p:cNvSpPr>
          <p:nvPr>
            <p:ph type="dt" sz="half" idx="10"/>
          </p:nvPr>
        </p:nvSpPr>
        <p:spPr>
          <a:ln>
            <a:miter lim="800000"/>
          </a:ln>
        </p:spPr>
        <p:txBody>
          <a:bodyPr/>
          <a:lstStyle/>
          <a:p>
            <a:pPr>
              <a:defRPr/>
            </a:pPr>
            <a:r>
              <a:rPr lang="en-US" altLang="zh-CN">
                <a:latin typeface="Arial" panose="020B0604020202020204" pitchFamily="34" charset="0"/>
                <a:ea typeface="华文楷体" panose="02010600040101010101" charset="-122"/>
                <a:cs typeface="Arial" panose="020B0604020202020204" pitchFamily="34" charset="0"/>
              </a:rPr>
              <a:t>Data Structures and algorithms</a:t>
            </a:r>
            <a:endParaRPr lang="en-US" altLang="zh-CN">
              <a:latin typeface="Arial" panose="020B0604020202020204" pitchFamily="34" charset="0"/>
              <a:ea typeface="华文楷体" panose="02010600040101010101" charset="-122"/>
              <a:cs typeface="Arial" panose="020B0604020202020204" pitchFamily="34" charset="0"/>
            </a:endParaRPr>
          </a:p>
        </p:txBody>
      </p:sp>
      <p:sp>
        <p:nvSpPr>
          <p:cNvPr id="122883" name="Footer Placeholder 4"/>
          <p:cNvSpPr>
            <a:spLocks noGrp="1"/>
          </p:cNvSpPr>
          <p:nvPr>
            <p:ph type="ftr" sz="quarter" idx="11"/>
          </p:nvPr>
        </p:nvSpPr>
        <p:spPr>
          <a:ln>
            <a:miter lim="800000"/>
          </a:ln>
        </p:spPr>
        <p:txBody>
          <a:bodyPr/>
          <a:lstStyle/>
          <a:p>
            <a:pPr>
              <a:defRPr/>
            </a:pPr>
            <a:r>
              <a:rPr lang="zh-CN" altLang="en-US">
                <a:latin typeface="Arial" panose="020B0604020202020204" pitchFamily="34" charset="0"/>
                <a:ea typeface="华文楷体" panose="02010600040101010101" charset="-122"/>
                <a:cs typeface="Arial" panose="020B0604020202020204" pitchFamily="34" charset="0"/>
              </a:rPr>
              <a:t>Software College Northeastern University</a:t>
            </a:r>
            <a:endParaRPr lang="en-US" altLang="zh-CN">
              <a:latin typeface="Arial" panose="020B0604020202020204" pitchFamily="34" charset="0"/>
              <a:ea typeface="华文楷体" panose="02010600040101010101" charset="-122"/>
              <a:cs typeface="Arial" panose="020B0604020202020204" pitchFamily="34" charset="0"/>
            </a:endParaRPr>
          </a:p>
        </p:txBody>
      </p:sp>
      <p:sp>
        <p:nvSpPr>
          <p:cNvPr id="195588" name="Slide Number Placeholder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Monotype Sorts" pitchFamily="2" charset="2"/>
              <a:buChar char="z"/>
              <a:defRPr sz="3050">
                <a:solidFill>
                  <a:schemeClr val="tx1"/>
                </a:solidFill>
                <a:latin typeface="Tahoma" panose="020B0604030504040204" pitchFamily="34" charset="0"/>
                <a:ea typeface="宋体" panose="02010600030101010101" pitchFamily="2" charset="-122"/>
              </a:defRPr>
            </a:lvl1pPr>
            <a:lvl2pPr marL="707390" indent="-272415">
              <a:spcBef>
                <a:spcPct val="20000"/>
              </a:spcBef>
              <a:buClr>
                <a:schemeClr val="accent2"/>
              </a:buClr>
              <a:buFont typeface="Monotype Sorts" pitchFamily="2" charset="2"/>
              <a:buChar char="y"/>
              <a:defRPr sz="2665">
                <a:solidFill>
                  <a:schemeClr val="tx1"/>
                </a:solidFill>
                <a:latin typeface="Tahoma" panose="020B0604030504040204" pitchFamily="34" charset="0"/>
                <a:ea typeface="宋体" panose="02010600030101010101" pitchFamily="2" charset="-122"/>
              </a:defRPr>
            </a:lvl2pPr>
            <a:lvl3pPr marL="1088390" indent="-217805">
              <a:spcBef>
                <a:spcPct val="20000"/>
              </a:spcBef>
              <a:buClr>
                <a:schemeClr val="accent2"/>
              </a:buClr>
              <a:buFont typeface="Monotype Sorts" pitchFamily="2" charset="2"/>
              <a:buChar char="x"/>
              <a:defRPr sz="2285">
                <a:solidFill>
                  <a:schemeClr val="tx1"/>
                </a:solidFill>
                <a:latin typeface="Tahoma" panose="020B0604030504040204" pitchFamily="34" charset="0"/>
                <a:ea typeface="宋体" panose="02010600030101010101" pitchFamily="2" charset="-122"/>
              </a:defRPr>
            </a:lvl3pPr>
            <a:lvl4pPr marL="1524000" indent="-217805">
              <a:spcBef>
                <a:spcPct val="20000"/>
              </a:spcBef>
              <a:buClr>
                <a:schemeClr val="accent2"/>
              </a:buClr>
              <a:buChar char="•"/>
              <a:defRPr sz="1905">
                <a:solidFill>
                  <a:schemeClr val="tx1"/>
                </a:solidFill>
                <a:latin typeface="Tahoma" panose="020B0604030504040204" pitchFamily="34" charset="0"/>
                <a:ea typeface="宋体" panose="02010600030101010101" pitchFamily="2" charset="-122"/>
              </a:defRPr>
            </a:lvl4pPr>
            <a:lvl5pPr marL="1959610" indent="-217805">
              <a:spcBef>
                <a:spcPct val="20000"/>
              </a:spcBef>
              <a:buClr>
                <a:schemeClr val="accent2"/>
              </a:buClr>
              <a:buChar char="–"/>
              <a:defRPr sz="1905">
                <a:solidFill>
                  <a:schemeClr val="tx1"/>
                </a:solidFill>
                <a:latin typeface="Tahoma" panose="020B0604030504040204" pitchFamily="34" charset="0"/>
                <a:ea typeface="宋体" panose="02010600030101010101" pitchFamily="2" charset="-122"/>
              </a:defRPr>
            </a:lvl5pPr>
            <a:lvl6pPr marL="2395220" indent="-217805" eaLnBrk="0" fontAlgn="base" hangingPunct="0">
              <a:spcBef>
                <a:spcPct val="20000"/>
              </a:spcBef>
              <a:spcAft>
                <a:spcPct val="0"/>
              </a:spcAft>
              <a:buClr>
                <a:schemeClr val="accent2"/>
              </a:buClr>
              <a:buChar char="–"/>
              <a:defRPr sz="1905">
                <a:solidFill>
                  <a:schemeClr val="tx1"/>
                </a:solidFill>
                <a:latin typeface="Tahoma" panose="020B0604030504040204" pitchFamily="34" charset="0"/>
                <a:ea typeface="宋体" panose="02010600030101010101" pitchFamily="2" charset="-122"/>
              </a:defRPr>
            </a:lvl6pPr>
            <a:lvl7pPr marL="2830195" indent="-217805" eaLnBrk="0" fontAlgn="base" hangingPunct="0">
              <a:spcBef>
                <a:spcPct val="20000"/>
              </a:spcBef>
              <a:spcAft>
                <a:spcPct val="0"/>
              </a:spcAft>
              <a:buClr>
                <a:schemeClr val="accent2"/>
              </a:buClr>
              <a:buChar char="–"/>
              <a:defRPr sz="1905">
                <a:solidFill>
                  <a:schemeClr val="tx1"/>
                </a:solidFill>
                <a:latin typeface="Tahoma" panose="020B0604030504040204" pitchFamily="34" charset="0"/>
                <a:ea typeface="宋体" panose="02010600030101010101" pitchFamily="2" charset="-122"/>
              </a:defRPr>
            </a:lvl7pPr>
            <a:lvl8pPr marL="3265805" indent="-217805" eaLnBrk="0" fontAlgn="base" hangingPunct="0">
              <a:spcBef>
                <a:spcPct val="20000"/>
              </a:spcBef>
              <a:spcAft>
                <a:spcPct val="0"/>
              </a:spcAft>
              <a:buClr>
                <a:schemeClr val="accent2"/>
              </a:buClr>
              <a:buChar char="–"/>
              <a:defRPr sz="1905">
                <a:solidFill>
                  <a:schemeClr val="tx1"/>
                </a:solidFill>
                <a:latin typeface="Tahoma" panose="020B0604030504040204" pitchFamily="34" charset="0"/>
                <a:ea typeface="宋体" panose="02010600030101010101" pitchFamily="2" charset="-122"/>
              </a:defRPr>
            </a:lvl8pPr>
            <a:lvl9pPr marL="3701415" indent="-217805" eaLnBrk="0" fontAlgn="base" hangingPunct="0">
              <a:spcBef>
                <a:spcPct val="20000"/>
              </a:spcBef>
              <a:spcAft>
                <a:spcPct val="0"/>
              </a:spcAft>
              <a:buClr>
                <a:schemeClr val="accent2"/>
              </a:buClr>
              <a:buChar char="–"/>
              <a:defRPr sz="1905">
                <a:solidFill>
                  <a:schemeClr val="tx1"/>
                </a:solidFill>
                <a:latin typeface="Tahoma" panose="020B0604030504040204" pitchFamily="34" charset="0"/>
                <a:ea typeface="宋体" panose="02010600030101010101" pitchFamily="2" charset="-122"/>
              </a:defRPr>
            </a:lvl9pPr>
          </a:lstStyle>
          <a:p>
            <a:pPr>
              <a:spcBef>
                <a:spcPct val="50000"/>
              </a:spcBef>
              <a:buClrTx/>
              <a:buFontTx/>
              <a:buNone/>
            </a:pPr>
            <a:fld id="{5028E137-E92E-4D10-B012-3C69C783EAF6}" type="slidenum">
              <a:rPr lang="zh-CN" altLang="en-US" sz="1335">
                <a:solidFill>
                  <a:schemeClr val="bg2"/>
                </a:solidFill>
                <a:latin typeface="Arial" panose="020B0604020202020204" pitchFamily="34" charset="0"/>
                <a:ea typeface="华文楷体" panose="02010600040101010101" charset="-122"/>
                <a:cs typeface="Arial" panose="020B0604020202020204" pitchFamily="34" charset="0"/>
              </a:rPr>
            </a:fld>
            <a:endParaRPr lang="en-US" altLang="zh-CN" sz="1335">
              <a:solidFill>
                <a:schemeClr val="bg2"/>
              </a:solidFill>
              <a:latin typeface="Arial" panose="020B0604020202020204" pitchFamily="34" charset="0"/>
              <a:ea typeface="华文楷体" panose="02010600040101010101" charset="-122"/>
              <a:cs typeface="Arial" panose="020B0604020202020204" pitchFamily="34" charset="0"/>
            </a:endParaRPr>
          </a:p>
        </p:txBody>
      </p:sp>
      <p:sp>
        <p:nvSpPr>
          <p:cNvPr id="195589" name="Rectangle 2"/>
          <p:cNvSpPr>
            <a:spLocks noGrp="1" noChangeArrowheads="1"/>
          </p:cNvSpPr>
          <p:nvPr>
            <p:ph type="title"/>
          </p:nvPr>
        </p:nvSpPr>
        <p:spPr>
          <a:noFill/>
        </p:spPr>
        <p:txBody>
          <a:bodyPr/>
          <a:lstStyle/>
          <a:p>
            <a:r>
              <a:rPr lang="en-US" altLang="zh-CN" sz="4000" dirty="0">
                <a:solidFill>
                  <a:schemeClr val="tx1">
                    <a:lumMod val="50000"/>
                    <a:lumOff val="50000"/>
                  </a:schemeClr>
                </a:solidFill>
                <a:latin typeface="Arial" panose="020B0604020202020204" pitchFamily="34" charset="0"/>
                <a:ea typeface="华文楷体" panose="02010600040101010101" charset="-122"/>
                <a:cs typeface="Arial" panose="020B0604020202020204" pitchFamily="34" charset="0"/>
              </a:rPr>
              <a:t>(</a:t>
            </a:r>
            <a:r>
              <a:rPr lang="zh-CN" altLang="en-US" sz="4000" dirty="0">
                <a:solidFill>
                  <a:schemeClr val="tx1">
                    <a:lumMod val="50000"/>
                    <a:lumOff val="50000"/>
                  </a:schemeClr>
                </a:solidFill>
                <a:latin typeface="Arial" panose="020B0604020202020204" pitchFamily="34" charset="0"/>
                <a:ea typeface="华文楷体" panose="02010600040101010101" charset="-122"/>
                <a:cs typeface="Arial" panose="020B0604020202020204" pitchFamily="34" charset="0"/>
              </a:rPr>
              <a:t>渐近</a:t>
            </a:r>
            <a:r>
              <a:rPr lang="en-US" altLang="zh-CN" sz="4000" dirty="0">
                <a:solidFill>
                  <a:schemeClr val="tx1">
                    <a:lumMod val="50000"/>
                    <a:lumOff val="50000"/>
                  </a:schemeClr>
                </a:solidFill>
                <a:latin typeface="Arial" panose="020B0604020202020204" pitchFamily="34" charset="0"/>
                <a:ea typeface="华文楷体" panose="02010600040101010101" charset="-122"/>
                <a:cs typeface="Arial" panose="020B0604020202020204" pitchFamily="34" charset="0"/>
              </a:rPr>
              <a:t>)</a:t>
            </a:r>
            <a:r>
              <a:rPr lang="zh-CN" altLang="en-US" sz="4000" dirty="0">
                <a:solidFill>
                  <a:schemeClr val="tx1">
                    <a:lumMod val="50000"/>
                    <a:lumOff val="50000"/>
                  </a:schemeClr>
                </a:solidFill>
                <a:latin typeface="Arial" panose="020B0604020202020204" pitchFamily="34" charset="0"/>
                <a:ea typeface="华文楷体" panose="02010600040101010101" charset="-122"/>
                <a:cs typeface="Arial" panose="020B0604020202020204" pitchFamily="34" charset="0"/>
              </a:rPr>
              <a:t>时间复杂度</a:t>
            </a:r>
            <a:endParaRPr lang="en-US" altLang="zh-CN" dirty="0">
              <a:solidFill>
                <a:schemeClr val="tx1"/>
              </a:solidFill>
              <a:latin typeface="Arial" panose="020B0604020202020204" pitchFamily="34" charset="0"/>
              <a:ea typeface="华文楷体" panose="02010600040101010101" charset="-122"/>
              <a:cs typeface="Arial" panose="020B0604020202020204" pitchFamily="34" charset="0"/>
            </a:endParaRPr>
          </a:p>
        </p:txBody>
      </p:sp>
      <p:graphicFrame>
        <p:nvGraphicFramePr>
          <p:cNvPr id="693252" name="Object 4" descr="Stationery"/>
          <p:cNvGraphicFramePr>
            <a:graphicFrameLocks noChangeAspect="1"/>
          </p:cNvGraphicFramePr>
          <p:nvPr/>
        </p:nvGraphicFramePr>
        <p:xfrm>
          <a:off x="646113" y="2255838"/>
          <a:ext cx="8542337" cy="1476375"/>
        </p:xfrm>
        <a:graphic>
          <a:graphicData uri="http://schemas.openxmlformats.org/presentationml/2006/ole">
            <mc:AlternateContent xmlns:mc="http://schemas.openxmlformats.org/markup-compatibility/2006">
              <mc:Choice xmlns:v="urn:schemas-microsoft-com:vml" Requires="v">
                <p:oleObj spid="_x0000_s5125" name="公式" r:id="rId1" imgW="79857600" imgH="17373600" progId="Equation.3">
                  <p:embed/>
                </p:oleObj>
              </mc:Choice>
              <mc:Fallback>
                <p:oleObj name="公式" r:id="rId1" imgW="79857600" imgH="17373600" progId="Equation.3">
                  <p:embed/>
                  <p:pic>
                    <p:nvPicPr>
                      <p:cNvPr id="0" name="图片 9218"/>
                      <p:cNvPicPr>
                        <a:picLocks noChangeAspect="1" noChangeArrowheads="1"/>
                      </p:cNvPicPr>
                      <p:nvPr/>
                    </p:nvPicPr>
                    <p:blipFill>
                      <a:blip r:embed="rId2"/>
                      <a:srcRect/>
                      <a:stretch>
                        <a:fillRect/>
                      </a:stretch>
                    </p:blipFill>
                    <p:spPr bwMode="auto">
                      <a:xfrm>
                        <a:off x="646113" y="2255838"/>
                        <a:ext cx="8542337" cy="1476375"/>
                      </a:xfrm>
                      <a:prstGeom prst="rect">
                        <a:avLst/>
                      </a:prstGeom>
                      <a:blipFill dpi="0" rotWithShape="0">
                        <a:blip r:embed="rId3"/>
                        <a:srcRect/>
                        <a:tile tx="0" ty="0" sx="100000" sy="100000" flip="none" algn="tl"/>
                      </a:blip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93253" name="Rectangle 5"/>
          <p:cNvSpPr>
            <a:spLocks noChangeArrowheads="1"/>
          </p:cNvSpPr>
          <p:nvPr/>
        </p:nvSpPr>
        <p:spPr bwMode="auto">
          <a:xfrm>
            <a:off x="762000" y="3955143"/>
            <a:ext cx="7772703" cy="1959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Font typeface="Monotype Sorts" pitchFamily="2" charset="2"/>
              <a:buChar char="z"/>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accent2"/>
              </a:buClr>
              <a:buFont typeface="Monotype Sorts" pitchFamily="2" charset="2"/>
              <a:buChar char="y"/>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accent2"/>
              </a:buClr>
              <a:buFont typeface="Monotype Sorts" pitchFamily="2" charset="2"/>
              <a:buChar char="x"/>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2"/>
              </a:buClr>
              <a:buChar char="–"/>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sz="2000">
                <a:solidFill>
                  <a:schemeClr val="tx1"/>
                </a:solidFill>
                <a:latin typeface="Tahoma" panose="020B0604030504040204" pitchFamily="34" charset="0"/>
                <a:ea typeface="宋体" panose="02010600030101010101" pitchFamily="2" charset="-122"/>
              </a:defRPr>
            </a:lvl9pPr>
          </a:lstStyle>
          <a:p>
            <a:pPr eaLnBrk="1" hangingPunct="1"/>
            <a:r>
              <a:rPr lang="en-US" altLang="zh-CN" sz="3050" dirty="0">
                <a:solidFill>
                  <a:srgbClr val="FF0000"/>
                </a:solidFill>
                <a:latin typeface="Arial" panose="020B0604020202020204" pitchFamily="34" charset="0"/>
                <a:ea typeface="华文楷体" panose="02010600040101010101" charset="-122"/>
                <a:cs typeface="Arial" panose="020B0604020202020204" pitchFamily="34" charset="0"/>
              </a:rPr>
              <a:t>Examples:</a:t>
            </a:r>
            <a:endParaRPr lang="en-US" altLang="zh-CN" sz="3050" dirty="0">
              <a:solidFill>
                <a:srgbClr val="FF0000"/>
              </a:solidFill>
              <a:latin typeface="Arial" panose="020B0604020202020204" pitchFamily="34" charset="0"/>
              <a:ea typeface="华文楷体" panose="02010600040101010101" charset="-122"/>
              <a:cs typeface="Arial" panose="020B0604020202020204" pitchFamily="34" charset="0"/>
            </a:endParaRPr>
          </a:p>
          <a:p>
            <a:pPr lvl="1" eaLnBrk="1" hangingPunct="1">
              <a:buFont typeface="Monotype Sorts" pitchFamily="2" charset="2"/>
              <a:buNone/>
            </a:pPr>
            <a:r>
              <a:rPr lang="zh-CN" altLang="en-US" sz="2665" dirty="0">
                <a:latin typeface="Arial" panose="020B0604020202020204" pitchFamily="34" charset="0"/>
                <a:ea typeface="华文楷体" panose="02010600040101010101" charset="-122"/>
                <a:cs typeface="Arial" panose="020B0604020202020204" pitchFamily="34" charset="0"/>
              </a:rPr>
              <a:t>如果</a:t>
            </a:r>
            <a:r>
              <a:rPr lang="en-US" altLang="zh-CN" sz="2665" dirty="0">
                <a:latin typeface="Arial" panose="020B0604020202020204" pitchFamily="34" charset="0"/>
                <a:ea typeface="华文楷体" panose="02010600040101010101" charset="-122"/>
                <a:cs typeface="Arial" panose="020B0604020202020204" pitchFamily="34" charset="0"/>
              </a:rPr>
              <a:t> T</a:t>
            </a:r>
            <a:r>
              <a:rPr lang="en-US" altLang="zh-CN" sz="2665" baseline="-25000" dirty="0">
                <a:latin typeface="Arial" panose="020B0604020202020204" pitchFamily="34" charset="0"/>
                <a:ea typeface="华文楷体" panose="02010600040101010101" charset="-122"/>
                <a:cs typeface="Arial" panose="020B0604020202020204" pitchFamily="34" charset="0"/>
              </a:rPr>
              <a:t>1</a:t>
            </a:r>
            <a:r>
              <a:rPr lang="en-US" altLang="zh-CN" sz="2665" dirty="0">
                <a:latin typeface="Arial" panose="020B0604020202020204" pitchFamily="34" charset="0"/>
                <a:ea typeface="华文楷体" panose="02010600040101010101" charset="-122"/>
                <a:cs typeface="Arial" panose="020B0604020202020204" pitchFamily="34" charset="0"/>
              </a:rPr>
              <a:t>(N) = O(N</a:t>
            </a:r>
            <a:r>
              <a:rPr lang="en-US" altLang="zh-CN" sz="2665" baseline="30000" dirty="0">
                <a:latin typeface="Arial" panose="020B0604020202020204" pitchFamily="34" charset="0"/>
                <a:ea typeface="华文楷体" panose="02010600040101010101" charset="-122"/>
                <a:cs typeface="Arial" panose="020B0604020202020204" pitchFamily="34" charset="0"/>
              </a:rPr>
              <a:t>2</a:t>
            </a:r>
            <a:r>
              <a:rPr lang="en-US" altLang="zh-CN" sz="2665" dirty="0">
                <a:latin typeface="Arial" panose="020B0604020202020204" pitchFamily="34" charset="0"/>
                <a:ea typeface="华文楷体" panose="02010600040101010101" charset="-122"/>
                <a:cs typeface="Arial" panose="020B0604020202020204" pitchFamily="34" charset="0"/>
              </a:rPr>
              <a:t>) </a:t>
            </a:r>
            <a:r>
              <a:rPr lang="zh-CN" altLang="en-US" sz="2665" dirty="0">
                <a:latin typeface="Arial" panose="020B0604020202020204" pitchFamily="34" charset="0"/>
                <a:ea typeface="华文楷体" panose="02010600040101010101" charset="-122"/>
                <a:cs typeface="Arial" panose="020B0604020202020204" pitchFamily="34" charset="0"/>
              </a:rPr>
              <a:t>且</a:t>
            </a:r>
            <a:r>
              <a:rPr lang="en-US" altLang="zh-CN" sz="2665" dirty="0">
                <a:latin typeface="Arial" panose="020B0604020202020204" pitchFamily="34" charset="0"/>
                <a:ea typeface="华文楷体" panose="02010600040101010101" charset="-122"/>
                <a:cs typeface="Arial" panose="020B0604020202020204" pitchFamily="34" charset="0"/>
              </a:rPr>
              <a:t> T</a:t>
            </a:r>
            <a:r>
              <a:rPr lang="en-US" altLang="zh-CN" sz="2665" baseline="-25000" dirty="0">
                <a:latin typeface="Arial" panose="020B0604020202020204" pitchFamily="34" charset="0"/>
                <a:ea typeface="华文楷体" panose="02010600040101010101" charset="-122"/>
                <a:cs typeface="Arial" panose="020B0604020202020204" pitchFamily="34" charset="0"/>
              </a:rPr>
              <a:t>2</a:t>
            </a:r>
            <a:r>
              <a:rPr lang="en-US" altLang="zh-CN" sz="2665" dirty="0">
                <a:latin typeface="Arial" panose="020B0604020202020204" pitchFamily="34" charset="0"/>
                <a:ea typeface="华文楷体" panose="02010600040101010101" charset="-122"/>
                <a:cs typeface="Arial" panose="020B0604020202020204" pitchFamily="34" charset="0"/>
              </a:rPr>
              <a:t>(N)= O(N) </a:t>
            </a:r>
            <a:r>
              <a:rPr lang="zh-CN" altLang="en-US" sz="2665" dirty="0">
                <a:latin typeface="Arial" panose="020B0604020202020204" pitchFamily="34" charset="0"/>
                <a:ea typeface="华文楷体" panose="02010600040101010101" charset="-122"/>
                <a:cs typeface="Arial" panose="020B0604020202020204" pitchFamily="34" charset="0"/>
              </a:rPr>
              <a:t>那么</a:t>
            </a:r>
            <a:endParaRPr lang="en-US" altLang="zh-CN" sz="2665" dirty="0">
              <a:latin typeface="Arial" panose="020B0604020202020204" pitchFamily="34" charset="0"/>
              <a:ea typeface="华文楷体" panose="02010600040101010101" charset="-122"/>
              <a:cs typeface="Arial" panose="020B0604020202020204" pitchFamily="34" charset="0"/>
            </a:endParaRPr>
          </a:p>
          <a:p>
            <a:pPr lvl="1" eaLnBrk="1" hangingPunct="1">
              <a:buFont typeface="Monotype Sorts" pitchFamily="2" charset="2"/>
              <a:buNone/>
            </a:pPr>
            <a:r>
              <a:rPr lang="en-US" altLang="zh-CN" sz="2665" dirty="0">
                <a:latin typeface="Arial" panose="020B0604020202020204" pitchFamily="34" charset="0"/>
                <a:ea typeface="华文楷体" panose="02010600040101010101" charset="-122"/>
                <a:cs typeface="Arial" panose="020B0604020202020204" pitchFamily="34" charset="0"/>
              </a:rPr>
              <a:t>(a) T</a:t>
            </a:r>
            <a:r>
              <a:rPr lang="en-US" altLang="zh-CN" sz="2665" baseline="-25000" dirty="0">
                <a:latin typeface="Arial" panose="020B0604020202020204" pitchFamily="34" charset="0"/>
                <a:ea typeface="华文楷体" panose="02010600040101010101" charset="-122"/>
                <a:cs typeface="Arial" panose="020B0604020202020204" pitchFamily="34" charset="0"/>
              </a:rPr>
              <a:t>1</a:t>
            </a:r>
            <a:r>
              <a:rPr lang="en-US" altLang="zh-CN" sz="2665" dirty="0">
                <a:latin typeface="Arial" panose="020B0604020202020204" pitchFamily="34" charset="0"/>
                <a:ea typeface="华文楷体" panose="02010600040101010101" charset="-122"/>
                <a:cs typeface="Arial" panose="020B0604020202020204" pitchFamily="34" charset="0"/>
              </a:rPr>
              <a:t>(N) + T</a:t>
            </a:r>
            <a:r>
              <a:rPr lang="en-US" altLang="zh-CN" sz="2665" baseline="-25000" dirty="0">
                <a:latin typeface="Arial" panose="020B0604020202020204" pitchFamily="34" charset="0"/>
                <a:ea typeface="华文楷体" panose="02010600040101010101" charset="-122"/>
                <a:cs typeface="Arial" panose="020B0604020202020204" pitchFamily="34" charset="0"/>
              </a:rPr>
              <a:t>2</a:t>
            </a:r>
            <a:r>
              <a:rPr lang="en-US" altLang="zh-CN" sz="2665" dirty="0">
                <a:latin typeface="Arial" panose="020B0604020202020204" pitchFamily="34" charset="0"/>
                <a:ea typeface="华文楷体" panose="02010600040101010101" charset="-122"/>
                <a:cs typeface="Arial" panose="020B0604020202020204" pitchFamily="34" charset="0"/>
              </a:rPr>
              <a:t>(N) = O(N</a:t>
            </a:r>
            <a:r>
              <a:rPr lang="en-US" altLang="zh-CN" sz="2665" baseline="30000" dirty="0">
                <a:latin typeface="Arial" panose="020B0604020202020204" pitchFamily="34" charset="0"/>
                <a:ea typeface="华文楷体" panose="02010600040101010101" charset="-122"/>
                <a:cs typeface="Arial" panose="020B0604020202020204" pitchFamily="34" charset="0"/>
              </a:rPr>
              <a:t>2</a:t>
            </a:r>
            <a:r>
              <a:rPr lang="en-US" altLang="zh-CN" sz="2665" dirty="0">
                <a:latin typeface="Arial" panose="020B0604020202020204" pitchFamily="34" charset="0"/>
                <a:ea typeface="华文楷体" panose="02010600040101010101" charset="-122"/>
                <a:cs typeface="Arial" panose="020B0604020202020204" pitchFamily="34" charset="0"/>
              </a:rPr>
              <a:t>)</a:t>
            </a:r>
            <a:endParaRPr lang="en-US" altLang="zh-CN" sz="2665" dirty="0">
              <a:latin typeface="Arial" panose="020B0604020202020204" pitchFamily="34" charset="0"/>
              <a:ea typeface="华文楷体" panose="02010600040101010101" charset="-122"/>
              <a:cs typeface="Arial" panose="020B0604020202020204" pitchFamily="34" charset="0"/>
            </a:endParaRPr>
          </a:p>
          <a:p>
            <a:pPr lvl="1" eaLnBrk="1" hangingPunct="1">
              <a:buFont typeface="Monotype Sorts" pitchFamily="2" charset="2"/>
              <a:buNone/>
            </a:pPr>
            <a:r>
              <a:rPr lang="en-US" altLang="zh-CN" sz="2665" dirty="0">
                <a:latin typeface="Arial" panose="020B0604020202020204" pitchFamily="34" charset="0"/>
                <a:ea typeface="华文楷体" panose="02010600040101010101" charset="-122"/>
                <a:cs typeface="Arial" panose="020B0604020202020204" pitchFamily="34" charset="0"/>
              </a:rPr>
              <a:t>(b) T</a:t>
            </a:r>
            <a:r>
              <a:rPr lang="en-US" altLang="zh-CN" sz="2665" baseline="-25000" dirty="0">
                <a:latin typeface="Arial" panose="020B0604020202020204" pitchFamily="34" charset="0"/>
                <a:ea typeface="华文楷体" panose="02010600040101010101" charset="-122"/>
                <a:cs typeface="Arial" panose="020B0604020202020204" pitchFamily="34" charset="0"/>
              </a:rPr>
              <a:t>1</a:t>
            </a:r>
            <a:r>
              <a:rPr lang="en-US" altLang="zh-CN" sz="2665" dirty="0">
                <a:latin typeface="Arial" panose="020B0604020202020204" pitchFamily="34" charset="0"/>
                <a:ea typeface="华文楷体" panose="02010600040101010101" charset="-122"/>
                <a:cs typeface="Arial" panose="020B0604020202020204" pitchFamily="34" charset="0"/>
              </a:rPr>
              <a:t>(N) * T</a:t>
            </a:r>
            <a:r>
              <a:rPr lang="en-US" altLang="zh-CN" sz="2665" baseline="-25000" dirty="0">
                <a:latin typeface="Arial" panose="020B0604020202020204" pitchFamily="34" charset="0"/>
                <a:ea typeface="华文楷体" panose="02010600040101010101" charset="-122"/>
                <a:cs typeface="Arial" panose="020B0604020202020204" pitchFamily="34" charset="0"/>
              </a:rPr>
              <a:t>2</a:t>
            </a:r>
            <a:r>
              <a:rPr lang="en-US" altLang="zh-CN" sz="2665" dirty="0">
                <a:latin typeface="Arial" panose="020B0604020202020204" pitchFamily="34" charset="0"/>
                <a:ea typeface="华文楷体" panose="02010600040101010101" charset="-122"/>
                <a:cs typeface="Arial" panose="020B0604020202020204" pitchFamily="34" charset="0"/>
              </a:rPr>
              <a:t>(N) = O(N</a:t>
            </a:r>
            <a:r>
              <a:rPr lang="en-US" altLang="zh-CN" sz="2665" baseline="30000" dirty="0">
                <a:latin typeface="Arial" panose="020B0604020202020204" pitchFamily="34" charset="0"/>
                <a:ea typeface="华文楷体" panose="02010600040101010101" charset="-122"/>
                <a:cs typeface="Arial" panose="020B0604020202020204" pitchFamily="34" charset="0"/>
              </a:rPr>
              <a:t>3</a:t>
            </a:r>
            <a:r>
              <a:rPr lang="en-US" altLang="zh-CN" sz="2665" dirty="0">
                <a:latin typeface="Arial" panose="020B0604020202020204" pitchFamily="34" charset="0"/>
                <a:ea typeface="华文楷体" panose="02010600040101010101" charset="-122"/>
                <a:cs typeface="Arial" panose="020B0604020202020204" pitchFamily="34" charset="0"/>
              </a:rPr>
              <a:t>)</a:t>
            </a:r>
            <a:endParaRPr lang="en-US" altLang="zh-CN" sz="2665" dirty="0">
              <a:latin typeface="Arial" panose="020B0604020202020204" pitchFamily="34" charset="0"/>
              <a:ea typeface="华文楷体" panose="02010600040101010101" charset="-122"/>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93251">
                                            <p:txEl>
                                              <p:pRg st="0" end="0"/>
                                            </p:txEl>
                                          </p:spTgt>
                                        </p:tgtEl>
                                        <p:attrNameLst>
                                          <p:attrName>style.visibility</p:attrName>
                                        </p:attrNameLst>
                                      </p:cBhvr>
                                      <p:to>
                                        <p:strVal val="visible"/>
                                      </p:to>
                                    </p:set>
                                    <p:anim calcmode="lin" valueType="num">
                                      <p:cBhvr additive="base">
                                        <p:cTn id="7" dur="500" fill="hold"/>
                                        <p:tgtEl>
                                          <p:spTgt spid="69325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9325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693252"/>
                                        </p:tgtEl>
                                        <p:attrNameLst>
                                          <p:attrName>style.visibility</p:attrName>
                                        </p:attrNameLst>
                                      </p:cBhvr>
                                      <p:to>
                                        <p:strVal val="visible"/>
                                      </p:to>
                                    </p:set>
                                    <p:anim calcmode="lin" valueType="num">
                                      <p:cBhvr additive="base">
                                        <p:cTn id="13" dur="500" fill="hold"/>
                                        <p:tgtEl>
                                          <p:spTgt spid="693252"/>
                                        </p:tgtEl>
                                        <p:attrNameLst>
                                          <p:attrName>ppt_x</p:attrName>
                                        </p:attrNameLst>
                                      </p:cBhvr>
                                      <p:tavLst>
                                        <p:tav tm="0">
                                          <p:val>
                                            <p:strVal val="0-#ppt_w/2"/>
                                          </p:val>
                                        </p:tav>
                                        <p:tav tm="100000">
                                          <p:val>
                                            <p:strVal val="#ppt_x"/>
                                          </p:val>
                                        </p:tav>
                                      </p:tavLst>
                                    </p:anim>
                                    <p:anim calcmode="lin" valueType="num">
                                      <p:cBhvr additive="base">
                                        <p:cTn id="14" dur="500" fill="hold"/>
                                        <p:tgtEl>
                                          <p:spTgt spid="693252"/>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grpId="0" nodeType="clickEffect">
                                  <p:stCondLst>
                                    <p:cond delay="0"/>
                                  </p:stCondLst>
                                  <p:childTnLst>
                                    <p:set>
                                      <p:cBhvr>
                                        <p:cTn id="18" dur="1" fill="hold">
                                          <p:stCondLst>
                                            <p:cond delay="0"/>
                                          </p:stCondLst>
                                        </p:cTn>
                                        <p:tgtEl>
                                          <p:spTgt spid="693253"/>
                                        </p:tgtEl>
                                        <p:attrNameLst>
                                          <p:attrName>style.visibility</p:attrName>
                                        </p:attrNameLst>
                                      </p:cBhvr>
                                      <p:to>
                                        <p:strVal val="visible"/>
                                      </p:to>
                                    </p:set>
                                    <p:animEffect transition="in" filter="blinds(horizontal)">
                                      <p:cBhvr>
                                        <p:cTn id="19" dur="500"/>
                                        <p:tgtEl>
                                          <p:spTgt spid="6932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3251" grpId="0" autoUpdateAnimBg="0" build="p"/>
      <p:bldP spid="693253" grpId="0" autoUpdateAnimBg="0"/>
    </p:bldLst>
  </p:timing>
</p:sld>
</file>

<file path=ppt/slides/slide9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95299" name="Rectangle 3"/>
          <p:cNvSpPr>
            <a:spLocks noGrp="1" noChangeArrowheads="1"/>
          </p:cNvSpPr>
          <p:nvPr>
            <p:ph idx="1"/>
          </p:nvPr>
        </p:nvSpPr>
        <p:spPr/>
        <p:txBody>
          <a:bodyPr/>
          <a:lstStyle/>
          <a:p>
            <a:pPr eaLnBrk="1" hangingPunct="1"/>
            <a:r>
              <a:rPr lang="zh-CN" altLang="en-US" sz="2800" dirty="0">
                <a:solidFill>
                  <a:srgbClr val="FF0000"/>
                </a:solidFill>
                <a:highlight>
                  <a:srgbClr val="FFFF00"/>
                </a:highlight>
                <a:latin typeface="Arial" panose="020B0604020202020204" pitchFamily="34" charset="0"/>
                <a:ea typeface="华文楷体" panose="02010600040101010101" charset="-122"/>
                <a:cs typeface="Arial" panose="020B0604020202020204" pitchFamily="34" charset="0"/>
              </a:rPr>
              <a:t>规则</a:t>
            </a:r>
            <a:r>
              <a:rPr lang="en-US" altLang="zh-CN" sz="2800" dirty="0">
                <a:solidFill>
                  <a:srgbClr val="FF0000"/>
                </a:solidFill>
                <a:highlight>
                  <a:srgbClr val="FFFF00"/>
                </a:highlight>
                <a:latin typeface="Arial" panose="020B0604020202020204" pitchFamily="34" charset="0"/>
                <a:ea typeface="华文楷体" panose="02010600040101010101" charset="-122"/>
                <a:cs typeface="Arial" panose="020B0604020202020204" pitchFamily="34" charset="0"/>
              </a:rPr>
              <a:t> 2</a:t>
            </a:r>
            <a:endParaRPr lang="en-US" altLang="zh-CN" sz="2800" dirty="0">
              <a:solidFill>
                <a:srgbClr val="FF0000"/>
              </a:solidFill>
              <a:highlight>
                <a:srgbClr val="FFFF00"/>
              </a:highlight>
              <a:latin typeface="Arial" panose="020B0604020202020204" pitchFamily="34" charset="0"/>
              <a:ea typeface="华文楷体" panose="02010600040101010101" charset="-122"/>
              <a:cs typeface="Arial" panose="020B0604020202020204" pitchFamily="34" charset="0"/>
            </a:endParaRPr>
          </a:p>
          <a:p>
            <a:pPr eaLnBrk="1" hangingPunct="1"/>
            <a:endParaRPr lang="en-US" altLang="zh-CN" sz="2800" dirty="0">
              <a:latin typeface="Arial" panose="020B0604020202020204" pitchFamily="34" charset="0"/>
              <a:ea typeface="华文楷体" panose="02010600040101010101" charset="-122"/>
              <a:cs typeface="Arial" panose="020B0604020202020204" pitchFamily="34" charset="0"/>
            </a:endParaRPr>
          </a:p>
          <a:p>
            <a:pPr eaLnBrk="1" hangingPunct="1"/>
            <a:endParaRPr lang="en-US" altLang="zh-CN" sz="2800" dirty="0">
              <a:latin typeface="Arial" panose="020B0604020202020204" pitchFamily="34" charset="0"/>
              <a:ea typeface="华文楷体" panose="02010600040101010101" charset="-122"/>
              <a:cs typeface="Arial" panose="020B0604020202020204" pitchFamily="34" charset="0"/>
            </a:endParaRPr>
          </a:p>
          <a:p>
            <a:pPr eaLnBrk="1" hangingPunct="1"/>
            <a:endParaRPr lang="zh-CN" altLang="en-US" sz="2800" dirty="0">
              <a:latin typeface="Arial" panose="020B0604020202020204" pitchFamily="34" charset="0"/>
              <a:ea typeface="华文楷体" panose="02010600040101010101" charset="-122"/>
              <a:cs typeface="Arial" panose="020B0604020202020204" pitchFamily="34" charset="0"/>
            </a:endParaRPr>
          </a:p>
        </p:txBody>
      </p:sp>
      <p:sp>
        <p:nvSpPr>
          <p:cNvPr id="123906" name="Date Placeholder 3"/>
          <p:cNvSpPr>
            <a:spLocks noGrp="1"/>
          </p:cNvSpPr>
          <p:nvPr>
            <p:ph type="dt" sz="half" idx="10"/>
          </p:nvPr>
        </p:nvSpPr>
        <p:spPr>
          <a:ln>
            <a:miter lim="800000"/>
          </a:ln>
        </p:spPr>
        <p:txBody>
          <a:bodyPr/>
          <a:lstStyle/>
          <a:p>
            <a:pPr>
              <a:defRPr/>
            </a:pPr>
            <a:r>
              <a:rPr lang="en-US" altLang="zh-CN">
                <a:latin typeface="Arial" panose="020B0604020202020204" pitchFamily="34" charset="0"/>
                <a:ea typeface="华文楷体" panose="02010600040101010101" charset="-122"/>
                <a:cs typeface="Arial" panose="020B0604020202020204" pitchFamily="34" charset="0"/>
              </a:rPr>
              <a:t>Data Structures and algorithms</a:t>
            </a:r>
            <a:endParaRPr lang="en-US" altLang="zh-CN">
              <a:latin typeface="Arial" panose="020B0604020202020204" pitchFamily="34" charset="0"/>
              <a:ea typeface="华文楷体" panose="02010600040101010101" charset="-122"/>
              <a:cs typeface="Arial" panose="020B0604020202020204" pitchFamily="34" charset="0"/>
            </a:endParaRPr>
          </a:p>
        </p:txBody>
      </p:sp>
      <p:sp>
        <p:nvSpPr>
          <p:cNvPr id="123907" name="Footer Placeholder 4"/>
          <p:cNvSpPr>
            <a:spLocks noGrp="1"/>
          </p:cNvSpPr>
          <p:nvPr>
            <p:ph type="ftr" sz="quarter" idx="11"/>
          </p:nvPr>
        </p:nvSpPr>
        <p:spPr>
          <a:ln>
            <a:miter lim="800000"/>
          </a:ln>
        </p:spPr>
        <p:txBody>
          <a:bodyPr/>
          <a:lstStyle/>
          <a:p>
            <a:pPr>
              <a:defRPr/>
            </a:pPr>
            <a:r>
              <a:rPr lang="zh-CN" altLang="en-US">
                <a:latin typeface="Arial" panose="020B0604020202020204" pitchFamily="34" charset="0"/>
                <a:ea typeface="华文楷体" panose="02010600040101010101" charset="-122"/>
                <a:cs typeface="Arial" panose="020B0604020202020204" pitchFamily="34" charset="0"/>
              </a:rPr>
              <a:t>Software College Northeastern University</a:t>
            </a:r>
            <a:endParaRPr lang="en-US" altLang="zh-CN">
              <a:latin typeface="Arial" panose="020B0604020202020204" pitchFamily="34" charset="0"/>
              <a:ea typeface="华文楷体" panose="02010600040101010101" charset="-122"/>
              <a:cs typeface="Arial" panose="020B0604020202020204" pitchFamily="34" charset="0"/>
            </a:endParaRPr>
          </a:p>
        </p:txBody>
      </p:sp>
      <p:sp>
        <p:nvSpPr>
          <p:cNvPr id="197636" name="Slide Number Placeholder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Monotype Sorts" pitchFamily="2" charset="2"/>
              <a:buChar char="z"/>
              <a:defRPr sz="3050">
                <a:solidFill>
                  <a:schemeClr val="tx1"/>
                </a:solidFill>
                <a:latin typeface="Tahoma" panose="020B0604030504040204" pitchFamily="34" charset="0"/>
                <a:ea typeface="宋体" panose="02010600030101010101" pitchFamily="2" charset="-122"/>
              </a:defRPr>
            </a:lvl1pPr>
            <a:lvl2pPr marL="707390" indent="-272415">
              <a:spcBef>
                <a:spcPct val="20000"/>
              </a:spcBef>
              <a:buClr>
                <a:schemeClr val="accent2"/>
              </a:buClr>
              <a:buFont typeface="Monotype Sorts" pitchFamily="2" charset="2"/>
              <a:buChar char="y"/>
              <a:defRPr sz="2665">
                <a:solidFill>
                  <a:schemeClr val="tx1"/>
                </a:solidFill>
                <a:latin typeface="Tahoma" panose="020B0604030504040204" pitchFamily="34" charset="0"/>
                <a:ea typeface="宋体" panose="02010600030101010101" pitchFamily="2" charset="-122"/>
              </a:defRPr>
            </a:lvl2pPr>
            <a:lvl3pPr marL="1088390" indent="-217805">
              <a:spcBef>
                <a:spcPct val="20000"/>
              </a:spcBef>
              <a:buClr>
                <a:schemeClr val="accent2"/>
              </a:buClr>
              <a:buFont typeface="Monotype Sorts" pitchFamily="2" charset="2"/>
              <a:buChar char="x"/>
              <a:defRPr sz="2285">
                <a:solidFill>
                  <a:schemeClr val="tx1"/>
                </a:solidFill>
                <a:latin typeface="Tahoma" panose="020B0604030504040204" pitchFamily="34" charset="0"/>
                <a:ea typeface="宋体" panose="02010600030101010101" pitchFamily="2" charset="-122"/>
              </a:defRPr>
            </a:lvl3pPr>
            <a:lvl4pPr marL="1524000" indent="-217805">
              <a:spcBef>
                <a:spcPct val="20000"/>
              </a:spcBef>
              <a:buClr>
                <a:schemeClr val="accent2"/>
              </a:buClr>
              <a:buChar char="•"/>
              <a:defRPr sz="1905">
                <a:solidFill>
                  <a:schemeClr val="tx1"/>
                </a:solidFill>
                <a:latin typeface="Tahoma" panose="020B0604030504040204" pitchFamily="34" charset="0"/>
                <a:ea typeface="宋体" panose="02010600030101010101" pitchFamily="2" charset="-122"/>
              </a:defRPr>
            </a:lvl4pPr>
            <a:lvl5pPr marL="1959610" indent="-217805">
              <a:spcBef>
                <a:spcPct val="20000"/>
              </a:spcBef>
              <a:buClr>
                <a:schemeClr val="accent2"/>
              </a:buClr>
              <a:buChar char="–"/>
              <a:defRPr sz="1905">
                <a:solidFill>
                  <a:schemeClr val="tx1"/>
                </a:solidFill>
                <a:latin typeface="Tahoma" panose="020B0604030504040204" pitchFamily="34" charset="0"/>
                <a:ea typeface="宋体" panose="02010600030101010101" pitchFamily="2" charset="-122"/>
              </a:defRPr>
            </a:lvl5pPr>
            <a:lvl6pPr marL="2395220" indent="-217805" eaLnBrk="0" fontAlgn="base" hangingPunct="0">
              <a:spcBef>
                <a:spcPct val="20000"/>
              </a:spcBef>
              <a:spcAft>
                <a:spcPct val="0"/>
              </a:spcAft>
              <a:buClr>
                <a:schemeClr val="accent2"/>
              </a:buClr>
              <a:buChar char="–"/>
              <a:defRPr sz="1905">
                <a:solidFill>
                  <a:schemeClr val="tx1"/>
                </a:solidFill>
                <a:latin typeface="Tahoma" panose="020B0604030504040204" pitchFamily="34" charset="0"/>
                <a:ea typeface="宋体" panose="02010600030101010101" pitchFamily="2" charset="-122"/>
              </a:defRPr>
            </a:lvl6pPr>
            <a:lvl7pPr marL="2830195" indent="-217805" eaLnBrk="0" fontAlgn="base" hangingPunct="0">
              <a:spcBef>
                <a:spcPct val="20000"/>
              </a:spcBef>
              <a:spcAft>
                <a:spcPct val="0"/>
              </a:spcAft>
              <a:buClr>
                <a:schemeClr val="accent2"/>
              </a:buClr>
              <a:buChar char="–"/>
              <a:defRPr sz="1905">
                <a:solidFill>
                  <a:schemeClr val="tx1"/>
                </a:solidFill>
                <a:latin typeface="Tahoma" panose="020B0604030504040204" pitchFamily="34" charset="0"/>
                <a:ea typeface="宋体" panose="02010600030101010101" pitchFamily="2" charset="-122"/>
              </a:defRPr>
            </a:lvl7pPr>
            <a:lvl8pPr marL="3265805" indent="-217805" eaLnBrk="0" fontAlgn="base" hangingPunct="0">
              <a:spcBef>
                <a:spcPct val="20000"/>
              </a:spcBef>
              <a:spcAft>
                <a:spcPct val="0"/>
              </a:spcAft>
              <a:buClr>
                <a:schemeClr val="accent2"/>
              </a:buClr>
              <a:buChar char="–"/>
              <a:defRPr sz="1905">
                <a:solidFill>
                  <a:schemeClr val="tx1"/>
                </a:solidFill>
                <a:latin typeface="Tahoma" panose="020B0604030504040204" pitchFamily="34" charset="0"/>
                <a:ea typeface="宋体" panose="02010600030101010101" pitchFamily="2" charset="-122"/>
              </a:defRPr>
            </a:lvl8pPr>
            <a:lvl9pPr marL="3701415" indent="-217805" eaLnBrk="0" fontAlgn="base" hangingPunct="0">
              <a:spcBef>
                <a:spcPct val="20000"/>
              </a:spcBef>
              <a:spcAft>
                <a:spcPct val="0"/>
              </a:spcAft>
              <a:buClr>
                <a:schemeClr val="accent2"/>
              </a:buClr>
              <a:buChar char="–"/>
              <a:defRPr sz="1905">
                <a:solidFill>
                  <a:schemeClr val="tx1"/>
                </a:solidFill>
                <a:latin typeface="Tahoma" panose="020B0604030504040204" pitchFamily="34" charset="0"/>
                <a:ea typeface="宋体" panose="02010600030101010101" pitchFamily="2" charset="-122"/>
              </a:defRPr>
            </a:lvl9pPr>
          </a:lstStyle>
          <a:p>
            <a:pPr>
              <a:spcBef>
                <a:spcPct val="50000"/>
              </a:spcBef>
              <a:buClrTx/>
              <a:buFontTx/>
              <a:buNone/>
            </a:pPr>
            <a:fld id="{DDF93386-A9F4-4295-8B39-53B95CFD6462}" type="slidenum">
              <a:rPr lang="zh-CN" altLang="en-US" sz="1335">
                <a:solidFill>
                  <a:schemeClr val="bg2"/>
                </a:solidFill>
                <a:latin typeface="Arial" panose="020B0604020202020204" pitchFamily="34" charset="0"/>
                <a:ea typeface="华文楷体" panose="02010600040101010101" charset="-122"/>
                <a:cs typeface="Arial" panose="020B0604020202020204" pitchFamily="34" charset="0"/>
              </a:rPr>
            </a:fld>
            <a:endParaRPr lang="en-US" altLang="zh-CN" sz="1335">
              <a:solidFill>
                <a:schemeClr val="bg2"/>
              </a:solidFill>
              <a:latin typeface="Arial" panose="020B0604020202020204" pitchFamily="34" charset="0"/>
              <a:ea typeface="华文楷体" panose="02010600040101010101" charset="-122"/>
              <a:cs typeface="Arial" panose="020B0604020202020204" pitchFamily="34" charset="0"/>
            </a:endParaRPr>
          </a:p>
        </p:txBody>
      </p:sp>
      <p:sp>
        <p:nvSpPr>
          <p:cNvPr id="197637" name="Rectangle 2"/>
          <p:cNvSpPr>
            <a:spLocks noGrp="1" noChangeArrowheads="1"/>
          </p:cNvSpPr>
          <p:nvPr>
            <p:ph type="title"/>
          </p:nvPr>
        </p:nvSpPr>
        <p:spPr>
          <a:noFill/>
        </p:spPr>
        <p:txBody>
          <a:bodyPr/>
          <a:lstStyle/>
          <a:p>
            <a:r>
              <a:rPr lang="en-US" altLang="zh-CN" sz="4400" dirty="0">
                <a:solidFill>
                  <a:schemeClr val="tx1">
                    <a:lumMod val="50000"/>
                    <a:lumOff val="50000"/>
                  </a:schemeClr>
                </a:solidFill>
                <a:latin typeface="Arial" panose="020B0604020202020204" pitchFamily="34" charset="0"/>
                <a:ea typeface="华文楷体" panose="02010600040101010101" charset="-122"/>
                <a:cs typeface="Arial" panose="020B0604020202020204" pitchFamily="34" charset="0"/>
              </a:rPr>
              <a:t>(</a:t>
            </a:r>
            <a:r>
              <a:rPr lang="zh-CN" altLang="en-US" sz="4400" dirty="0">
                <a:solidFill>
                  <a:schemeClr val="tx1">
                    <a:lumMod val="50000"/>
                    <a:lumOff val="50000"/>
                  </a:schemeClr>
                </a:solidFill>
                <a:latin typeface="Arial" panose="020B0604020202020204" pitchFamily="34" charset="0"/>
                <a:ea typeface="华文楷体" panose="02010600040101010101" charset="-122"/>
                <a:cs typeface="Arial" panose="020B0604020202020204" pitchFamily="34" charset="0"/>
              </a:rPr>
              <a:t>渐近</a:t>
            </a:r>
            <a:r>
              <a:rPr lang="en-US" altLang="zh-CN" sz="4400" dirty="0">
                <a:solidFill>
                  <a:schemeClr val="tx1">
                    <a:lumMod val="50000"/>
                    <a:lumOff val="50000"/>
                  </a:schemeClr>
                </a:solidFill>
                <a:latin typeface="Arial" panose="020B0604020202020204" pitchFamily="34" charset="0"/>
                <a:ea typeface="华文楷体" panose="02010600040101010101" charset="-122"/>
                <a:cs typeface="Arial" panose="020B0604020202020204" pitchFamily="34" charset="0"/>
              </a:rPr>
              <a:t>)</a:t>
            </a:r>
            <a:r>
              <a:rPr lang="zh-CN" altLang="en-US" sz="4400" dirty="0">
                <a:solidFill>
                  <a:schemeClr val="tx1">
                    <a:lumMod val="50000"/>
                    <a:lumOff val="50000"/>
                  </a:schemeClr>
                </a:solidFill>
                <a:latin typeface="Arial" panose="020B0604020202020204" pitchFamily="34" charset="0"/>
                <a:ea typeface="华文楷体" panose="02010600040101010101" charset="-122"/>
                <a:cs typeface="Arial" panose="020B0604020202020204" pitchFamily="34" charset="0"/>
              </a:rPr>
              <a:t>时间复杂度</a:t>
            </a:r>
            <a:endParaRPr lang="en-US" altLang="zh-CN" dirty="0">
              <a:solidFill>
                <a:schemeClr val="tx1"/>
              </a:solidFill>
              <a:latin typeface="Arial" panose="020B0604020202020204" pitchFamily="34" charset="0"/>
              <a:ea typeface="华文楷体" panose="02010600040101010101" charset="-122"/>
              <a:cs typeface="Arial" panose="020B0604020202020204" pitchFamily="34" charset="0"/>
            </a:endParaRPr>
          </a:p>
        </p:txBody>
      </p:sp>
      <p:sp>
        <p:nvSpPr>
          <p:cNvPr id="695300" name="Rectangle 4"/>
          <p:cNvSpPr>
            <a:spLocks noChangeArrowheads="1"/>
          </p:cNvSpPr>
          <p:nvPr/>
        </p:nvSpPr>
        <p:spPr bwMode="auto">
          <a:xfrm>
            <a:off x="762000" y="3955143"/>
            <a:ext cx="7772703" cy="1959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Font typeface="Monotype Sorts" pitchFamily="2" charset="2"/>
              <a:buChar char="z"/>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accent2"/>
              </a:buClr>
              <a:buFont typeface="Monotype Sorts" pitchFamily="2" charset="2"/>
              <a:buChar char="y"/>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accent2"/>
              </a:buClr>
              <a:buFont typeface="Monotype Sorts" pitchFamily="2" charset="2"/>
              <a:buChar char="x"/>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2"/>
              </a:buClr>
              <a:buChar char="–"/>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sz="2000">
                <a:solidFill>
                  <a:schemeClr val="tx1"/>
                </a:solidFill>
                <a:latin typeface="Tahoma" panose="020B0604030504040204" pitchFamily="34" charset="0"/>
                <a:ea typeface="宋体" panose="02010600030101010101" pitchFamily="2" charset="-122"/>
              </a:defRPr>
            </a:lvl9pPr>
          </a:lstStyle>
          <a:p>
            <a:pPr eaLnBrk="1" hangingPunct="1"/>
            <a:r>
              <a:rPr lang="zh-CN" altLang="en-US" sz="2800" dirty="0">
                <a:solidFill>
                  <a:srgbClr val="FF0000"/>
                </a:solidFill>
                <a:highlight>
                  <a:srgbClr val="FFFF00"/>
                </a:highlight>
                <a:latin typeface="Arial" panose="020B0604020202020204" pitchFamily="34" charset="0"/>
                <a:ea typeface="华文楷体" panose="02010600040101010101" charset="-122"/>
                <a:cs typeface="Arial" panose="020B0604020202020204" pitchFamily="34" charset="0"/>
              </a:rPr>
              <a:t>规则</a:t>
            </a:r>
            <a:r>
              <a:rPr lang="en-US" altLang="zh-CN" sz="2800" dirty="0">
                <a:solidFill>
                  <a:srgbClr val="FF0000"/>
                </a:solidFill>
                <a:highlight>
                  <a:srgbClr val="FFFF00"/>
                </a:highlight>
                <a:latin typeface="Arial" panose="020B0604020202020204" pitchFamily="34" charset="0"/>
                <a:ea typeface="华文楷体" panose="02010600040101010101" charset="-122"/>
                <a:cs typeface="Arial" panose="020B0604020202020204" pitchFamily="34" charset="0"/>
              </a:rPr>
              <a:t> 3:</a:t>
            </a:r>
            <a:endParaRPr lang="en-US" altLang="zh-CN" sz="2800" dirty="0">
              <a:solidFill>
                <a:srgbClr val="FF0000"/>
              </a:solidFill>
              <a:highlight>
                <a:srgbClr val="FFFF00"/>
              </a:highlight>
              <a:latin typeface="Arial" panose="020B0604020202020204" pitchFamily="34" charset="0"/>
              <a:ea typeface="华文楷体" panose="02010600040101010101" charset="-122"/>
              <a:cs typeface="Arial" panose="020B0604020202020204" pitchFamily="34" charset="0"/>
            </a:endParaRPr>
          </a:p>
        </p:txBody>
      </p:sp>
      <p:graphicFrame>
        <p:nvGraphicFramePr>
          <p:cNvPr id="695301" name="Object 5" descr="Stationery"/>
          <p:cNvGraphicFramePr>
            <a:graphicFrameLocks noChangeAspect="1"/>
          </p:cNvGraphicFramePr>
          <p:nvPr/>
        </p:nvGraphicFramePr>
        <p:xfrm>
          <a:off x="1571625" y="2413000"/>
          <a:ext cx="6265863" cy="1104900"/>
        </p:xfrm>
        <a:graphic>
          <a:graphicData uri="http://schemas.openxmlformats.org/presentationml/2006/ole">
            <mc:AlternateContent xmlns:mc="http://schemas.openxmlformats.org/markup-compatibility/2006">
              <mc:Choice xmlns:v="urn:schemas-microsoft-com:vml" Requires="v">
                <p:oleObj spid="_x0000_s6153" name="公式" r:id="rId1" imgW="56997600" imgH="10972800" progId="Equation.3">
                  <p:embed/>
                </p:oleObj>
              </mc:Choice>
              <mc:Fallback>
                <p:oleObj name="公式" r:id="rId1" imgW="56997600" imgH="10972800" progId="Equation.3">
                  <p:embed/>
                  <p:pic>
                    <p:nvPicPr>
                      <p:cNvPr id="0" name="图片 10243"/>
                      <p:cNvPicPr>
                        <a:picLocks noChangeAspect="1" noChangeArrowheads="1"/>
                      </p:cNvPicPr>
                      <p:nvPr/>
                    </p:nvPicPr>
                    <p:blipFill>
                      <a:blip r:embed="rId2"/>
                      <a:srcRect/>
                      <a:stretch>
                        <a:fillRect/>
                      </a:stretch>
                    </p:blipFill>
                    <p:spPr bwMode="auto">
                      <a:xfrm>
                        <a:off x="1571625" y="2413000"/>
                        <a:ext cx="6265863" cy="1104900"/>
                      </a:xfrm>
                      <a:prstGeom prst="rect">
                        <a:avLst/>
                      </a:prstGeom>
                      <a:blipFill dpi="0" rotWithShape="0">
                        <a:blip r:embed="rId3"/>
                        <a:srcRect/>
                        <a:tile tx="0" ty="0" sx="100000" sy="100000" flip="none" algn="tl"/>
                      </a:blip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95302" name="Object 6" descr="Stationery"/>
          <p:cNvGraphicFramePr>
            <a:graphicFrameLocks noChangeAspect="1"/>
          </p:cNvGraphicFramePr>
          <p:nvPr/>
        </p:nvGraphicFramePr>
        <p:xfrm>
          <a:off x="1838325" y="4518025"/>
          <a:ext cx="5684838" cy="1106488"/>
        </p:xfrm>
        <a:graphic>
          <a:graphicData uri="http://schemas.openxmlformats.org/presentationml/2006/ole">
            <mc:AlternateContent xmlns:mc="http://schemas.openxmlformats.org/markup-compatibility/2006">
              <mc:Choice xmlns:v="urn:schemas-microsoft-com:vml" Requires="v">
                <p:oleObj spid="_x0000_s6154" name="公式" r:id="rId4" imgW="53644800" imgH="10972800" progId="Equation.3">
                  <p:embed/>
                </p:oleObj>
              </mc:Choice>
              <mc:Fallback>
                <p:oleObj name="公式" r:id="rId4" imgW="53644800" imgH="10972800" progId="Equation.3">
                  <p:embed/>
                  <p:pic>
                    <p:nvPicPr>
                      <p:cNvPr id="0" name="图片 10244"/>
                      <p:cNvPicPr>
                        <a:picLocks noChangeAspect="1" noChangeArrowheads="1"/>
                      </p:cNvPicPr>
                      <p:nvPr/>
                    </p:nvPicPr>
                    <p:blipFill>
                      <a:blip r:embed="rId5"/>
                      <a:srcRect/>
                      <a:stretch>
                        <a:fillRect/>
                      </a:stretch>
                    </p:blipFill>
                    <p:spPr bwMode="auto">
                      <a:xfrm>
                        <a:off x="1838325" y="4518025"/>
                        <a:ext cx="5684838" cy="1106488"/>
                      </a:xfrm>
                      <a:prstGeom prst="rect">
                        <a:avLst/>
                      </a:prstGeom>
                      <a:blipFill dpi="0" rotWithShape="0">
                        <a:blip r:embed="rId3"/>
                        <a:srcRect/>
                        <a:tile tx="0" ty="0" sx="100000" sy="100000" flip="none" algn="tl"/>
                      </a:blip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95299">
                                            <p:txEl>
                                              <p:pRg st="0" end="0"/>
                                            </p:txEl>
                                          </p:spTgt>
                                        </p:tgtEl>
                                        <p:attrNameLst>
                                          <p:attrName>style.visibility</p:attrName>
                                        </p:attrNameLst>
                                      </p:cBhvr>
                                      <p:to>
                                        <p:strVal val="visible"/>
                                      </p:to>
                                    </p:set>
                                    <p:anim calcmode="lin" valueType="num">
                                      <p:cBhvr additive="base">
                                        <p:cTn id="7" dur="500" fill="hold"/>
                                        <p:tgtEl>
                                          <p:spTgt spid="69529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9529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695300"/>
                                        </p:tgtEl>
                                        <p:attrNameLst>
                                          <p:attrName>style.visibility</p:attrName>
                                        </p:attrNameLst>
                                      </p:cBhvr>
                                      <p:to>
                                        <p:strVal val="visible"/>
                                      </p:to>
                                    </p:set>
                                    <p:animEffect transition="in" filter="blinds(horizontal)">
                                      <p:cBhvr>
                                        <p:cTn id="13" dur="500"/>
                                        <p:tgtEl>
                                          <p:spTgt spid="695300"/>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nodeType="clickEffect">
                                  <p:stCondLst>
                                    <p:cond delay="0"/>
                                  </p:stCondLst>
                                  <p:childTnLst>
                                    <p:set>
                                      <p:cBhvr>
                                        <p:cTn id="17" dur="1" fill="hold">
                                          <p:stCondLst>
                                            <p:cond delay="0"/>
                                          </p:stCondLst>
                                        </p:cTn>
                                        <p:tgtEl>
                                          <p:spTgt spid="695301"/>
                                        </p:tgtEl>
                                        <p:attrNameLst>
                                          <p:attrName>style.visibility</p:attrName>
                                        </p:attrNameLst>
                                      </p:cBhvr>
                                      <p:to>
                                        <p:strVal val="visible"/>
                                      </p:to>
                                    </p:set>
                                    <p:anim calcmode="lin" valueType="num">
                                      <p:cBhvr additive="base">
                                        <p:cTn id="18" dur="500" fill="hold"/>
                                        <p:tgtEl>
                                          <p:spTgt spid="695301"/>
                                        </p:tgtEl>
                                        <p:attrNameLst>
                                          <p:attrName>ppt_x</p:attrName>
                                        </p:attrNameLst>
                                      </p:cBhvr>
                                      <p:tavLst>
                                        <p:tav tm="0">
                                          <p:val>
                                            <p:strVal val="0-#ppt_w/2"/>
                                          </p:val>
                                        </p:tav>
                                        <p:tav tm="100000">
                                          <p:val>
                                            <p:strVal val="#ppt_x"/>
                                          </p:val>
                                        </p:tav>
                                      </p:tavLst>
                                    </p:anim>
                                    <p:anim calcmode="lin" valueType="num">
                                      <p:cBhvr additive="base">
                                        <p:cTn id="19" dur="500" fill="hold"/>
                                        <p:tgtEl>
                                          <p:spTgt spid="695301"/>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8" fill="hold" nodeType="clickEffect">
                                  <p:stCondLst>
                                    <p:cond delay="0"/>
                                  </p:stCondLst>
                                  <p:childTnLst>
                                    <p:set>
                                      <p:cBhvr>
                                        <p:cTn id="23" dur="1" fill="hold">
                                          <p:stCondLst>
                                            <p:cond delay="0"/>
                                          </p:stCondLst>
                                        </p:cTn>
                                        <p:tgtEl>
                                          <p:spTgt spid="695302"/>
                                        </p:tgtEl>
                                        <p:attrNameLst>
                                          <p:attrName>style.visibility</p:attrName>
                                        </p:attrNameLst>
                                      </p:cBhvr>
                                      <p:to>
                                        <p:strVal val="visible"/>
                                      </p:to>
                                    </p:set>
                                    <p:anim calcmode="lin" valueType="num">
                                      <p:cBhvr additive="base">
                                        <p:cTn id="24" dur="500" fill="hold"/>
                                        <p:tgtEl>
                                          <p:spTgt spid="695302"/>
                                        </p:tgtEl>
                                        <p:attrNameLst>
                                          <p:attrName>ppt_x</p:attrName>
                                        </p:attrNameLst>
                                      </p:cBhvr>
                                      <p:tavLst>
                                        <p:tav tm="0">
                                          <p:val>
                                            <p:strVal val="0-#ppt_w/2"/>
                                          </p:val>
                                        </p:tav>
                                        <p:tav tm="100000">
                                          <p:val>
                                            <p:strVal val="#ppt_x"/>
                                          </p:val>
                                        </p:tav>
                                      </p:tavLst>
                                    </p:anim>
                                    <p:anim calcmode="lin" valueType="num">
                                      <p:cBhvr additive="base">
                                        <p:cTn id="25" dur="500" fill="hold"/>
                                        <p:tgtEl>
                                          <p:spTgt spid="69530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5299" grpId="0" autoUpdateAnimBg="0" build="p"/>
      <p:bldP spid="695300" grpId="0" autoUpdateAnimBg="0"/>
    </p:bldLst>
  </p:timing>
</p:sld>
</file>

<file path=ppt/slides/slide9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9686" name="Rectangle 3"/>
          <p:cNvSpPr>
            <a:spLocks noGrp="1" noChangeArrowheads="1"/>
          </p:cNvSpPr>
          <p:nvPr>
            <p:ph idx="1"/>
          </p:nvPr>
        </p:nvSpPr>
        <p:spPr/>
        <p:txBody>
          <a:bodyPr/>
          <a:lstStyle/>
          <a:p>
            <a:pPr eaLnBrk="1" hangingPunct="1"/>
            <a:endParaRPr lang="en-US" altLang="zh-CN">
              <a:latin typeface="华文楷体" panose="02010600040101010101" charset="-122"/>
              <a:ea typeface="华文楷体" panose="02010600040101010101" charset="-122"/>
            </a:endParaRPr>
          </a:p>
          <a:p>
            <a:pPr eaLnBrk="1" hangingPunct="1"/>
            <a:endParaRPr lang="en-US" altLang="zh-CN">
              <a:latin typeface="华文楷体" panose="02010600040101010101" charset="-122"/>
              <a:ea typeface="华文楷体" panose="02010600040101010101" charset="-122"/>
            </a:endParaRPr>
          </a:p>
          <a:p>
            <a:pPr eaLnBrk="1" hangingPunct="1"/>
            <a:endParaRPr lang="zh-CN" altLang="en-US">
              <a:latin typeface="华文楷体" panose="02010600040101010101" charset="-122"/>
              <a:ea typeface="华文楷体" panose="02010600040101010101" charset="-122"/>
            </a:endParaRPr>
          </a:p>
        </p:txBody>
      </p:sp>
      <p:sp>
        <p:nvSpPr>
          <p:cNvPr id="124930" name="Date Placeholder 3"/>
          <p:cNvSpPr>
            <a:spLocks noGrp="1"/>
          </p:cNvSpPr>
          <p:nvPr>
            <p:ph type="dt" sz="half" idx="10"/>
          </p:nvPr>
        </p:nvSpPr>
        <p:spPr>
          <a:ln>
            <a:miter lim="800000"/>
          </a:ln>
        </p:spPr>
        <p:txBody>
          <a:bodyPr/>
          <a:lstStyle/>
          <a:p>
            <a:pPr>
              <a:defRPr/>
            </a:pPr>
            <a:r>
              <a:rPr lang="en-US" altLang="zh-CN">
                <a:latin typeface="华文楷体" panose="02010600040101010101" charset="-122"/>
                <a:ea typeface="华文楷体" panose="02010600040101010101" charset="-122"/>
              </a:rPr>
              <a:t>Data Structures and algorithms</a:t>
            </a:r>
            <a:endParaRPr lang="en-US" altLang="zh-CN">
              <a:latin typeface="华文楷体" panose="02010600040101010101" charset="-122"/>
              <a:ea typeface="华文楷体" panose="02010600040101010101" charset="-122"/>
            </a:endParaRPr>
          </a:p>
        </p:txBody>
      </p:sp>
      <p:sp>
        <p:nvSpPr>
          <p:cNvPr id="124931" name="Footer Placeholder 4"/>
          <p:cNvSpPr>
            <a:spLocks noGrp="1"/>
          </p:cNvSpPr>
          <p:nvPr>
            <p:ph type="ftr" sz="quarter" idx="11"/>
          </p:nvPr>
        </p:nvSpPr>
        <p:spPr>
          <a:ln>
            <a:miter lim="800000"/>
          </a:ln>
        </p:spPr>
        <p:txBody>
          <a:bodyPr/>
          <a:lstStyle/>
          <a:p>
            <a:pPr>
              <a:defRPr/>
            </a:pPr>
            <a:r>
              <a:rPr lang="zh-CN" altLang="en-US">
                <a:latin typeface="华文楷体" panose="02010600040101010101" charset="-122"/>
                <a:ea typeface="华文楷体" panose="02010600040101010101" charset="-122"/>
              </a:rPr>
              <a:t>Software College Northeastern University</a:t>
            </a:r>
            <a:endParaRPr lang="en-US" altLang="zh-CN">
              <a:latin typeface="华文楷体" panose="02010600040101010101" charset="-122"/>
              <a:ea typeface="华文楷体" panose="02010600040101010101" charset="-122"/>
            </a:endParaRPr>
          </a:p>
        </p:txBody>
      </p:sp>
      <p:sp>
        <p:nvSpPr>
          <p:cNvPr id="199684" name="Slide Number Placeholder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Monotype Sorts" pitchFamily="2" charset="2"/>
              <a:buChar char="z"/>
              <a:defRPr sz="3050">
                <a:solidFill>
                  <a:schemeClr val="tx1"/>
                </a:solidFill>
                <a:latin typeface="Tahoma" panose="020B0604030504040204" pitchFamily="34" charset="0"/>
                <a:ea typeface="宋体" panose="02010600030101010101" pitchFamily="2" charset="-122"/>
              </a:defRPr>
            </a:lvl1pPr>
            <a:lvl2pPr marL="707390" indent="-272415">
              <a:spcBef>
                <a:spcPct val="20000"/>
              </a:spcBef>
              <a:buClr>
                <a:schemeClr val="accent2"/>
              </a:buClr>
              <a:buFont typeface="Monotype Sorts" pitchFamily="2" charset="2"/>
              <a:buChar char="y"/>
              <a:defRPr sz="2665">
                <a:solidFill>
                  <a:schemeClr val="tx1"/>
                </a:solidFill>
                <a:latin typeface="Tahoma" panose="020B0604030504040204" pitchFamily="34" charset="0"/>
                <a:ea typeface="宋体" panose="02010600030101010101" pitchFamily="2" charset="-122"/>
              </a:defRPr>
            </a:lvl2pPr>
            <a:lvl3pPr marL="1088390" indent="-217805">
              <a:spcBef>
                <a:spcPct val="20000"/>
              </a:spcBef>
              <a:buClr>
                <a:schemeClr val="accent2"/>
              </a:buClr>
              <a:buFont typeface="Monotype Sorts" pitchFamily="2" charset="2"/>
              <a:buChar char="x"/>
              <a:defRPr sz="2285">
                <a:solidFill>
                  <a:schemeClr val="tx1"/>
                </a:solidFill>
                <a:latin typeface="Tahoma" panose="020B0604030504040204" pitchFamily="34" charset="0"/>
                <a:ea typeface="宋体" panose="02010600030101010101" pitchFamily="2" charset="-122"/>
              </a:defRPr>
            </a:lvl3pPr>
            <a:lvl4pPr marL="1524000" indent="-217805">
              <a:spcBef>
                <a:spcPct val="20000"/>
              </a:spcBef>
              <a:buClr>
                <a:schemeClr val="accent2"/>
              </a:buClr>
              <a:buChar char="•"/>
              <a:defRPr sz="1905">
                <a:solidFill>
                  <a:schemeClr val="tx1"/>
                </a:solidFill>
                <a:latin typeface="Tahoma" panose="020B0604030504040204" pitchFamily="34" charset="0"/>
                <a:ea typeface="宋体" panose="02010600030101010101" pitchFamily="2" charset="-122"/>
              </a:defRPr>
            </a:lvl4pPr>
            <a:lvl5pPr marL="1959610" indent="-217805">
              <a:spcBef>
                <a:spcPct val="20000"/>
              </a:spcBef>
              <a:buClr>
                <a:schemeClr val="accent2"/>
              </a:buClr>
              <a:buChar char="–"/>
              <a:defRPr sz="1905">
                <a:solidFill>
                  <a:schemeClr val="tx1"/>
                </a:solidFill>
                <a:latin typeface="Tahoma" panose="020B0604030504040204" pitchFamily="34" charset="0"/>
                <a:ea typeface="宋体" panose="02010600030101010101" pitchFamily="2" charset="-122"/>
              </a:defRPr>
            </a:lvl5pPr>
            <a:lvl6pPr marL="2395220" indent="-217805" eaLnBrk="0" fontAlgn="base" hangingPunct="0">
              <a:spcBef>
                <a:spcPct val="20000"/>
              </a:spcBef>
              <a:spcAft>
                <a:spcPct val="0"/>
              </a:spcAft>
              <a:buClr>
                <a:schemeClr val="accent2"/>
              </a:buClr>
              <a:buChar char="–"/>
              <a:defRPr sz="1905">
                <a:solidFill>
                  <a:schemeClr val="tx1"/>
                </a:solidFill>
                <a:latin typeface="Tahoma" panose="020B0604030504040204" pitchFamily="34" charset="0"/>
                <a:ea typeface="宋体" panose="02010600030101010101" pitchFamily="2" charset="-122"/>
              </a:defRPr>
            </a:lvl6pPr>
            <a:lvl7pPr marL="2830195" indent="-217805" eaLnBrk="0" fontAlgn="base" hangingPunct="0">
              <a:spcBef>
                <a:spcPct val="20000"/>
              </a:spcBef>
              <a:spcAft>
                <a:spcPct val="0"/>
              </a:spcAft>
              <a:buClr>
                <a:schemeClr val="accent2"/>
              </a:buClr>
              <a:buChar char="–"/>
              <a:defRPr sz="1905">
                <a:solidFill>
                  <a:schemeClr val="tx1"/>
                </a:solidFill>
                <a:latin typeface="Tahoma" panose="020B0604030504040204" pitchFamily="34" charset="0"/>
                <a:ea typeface="宋体" panose="02010600030101010101" pitchFamily="2" charset="-122"/>
              </a:defRPr>
            </a:lvl7pPr>
            <a:lvl8pPr marL="3265805" indent="-217805" eaLnBrk="0" fontAlgn="base" hangingPunct="0">
              <a:spcBef>
                <a:spcPct val="20000"/>
              </a:spcBef>
              <a:spcAft>
                <a:spcPct val="0"/>
              </a:spcAft>
              <a:buClr>
                <a:schemeClr val="accent2"/>
              </a:buClr>
              <a:buChar char="–"/>
              <a:defRPr sz="1905">
                <a:solidFill>
                  <a:schemeClr val="tx1"/>
                </a:solidFill>
                <a:latin typeface="Tahoma" panose="020B0604030504040204" pitchFamily="34" charset="0"/>
                <a:ea typeface="宋体" panose="02010600030101010101" pitchFamily="2" charset="-122"/>
              </a:defRPr>
            </a:lvl8pPr>
            <a:lvl9pPr marL="3701415" indent="-217805" eaLnBrk="0" fontAlgn="base" hangingPunct="0">
              <a:spcBef>
                <a:spcPct val="20000"/>
              </a:spcBef>
              <a:spcAft>
                <a:spcPct val="0"/>
              </a:spcAft>
              <a:buClr>
                <a:schemeClr val="accent2"/>
              </a:buClr>
              <a:buChar char="–"/>
              <a:defRPr sz="1905">
                <a:solidFill>
                  <a:schemeClr val="tx1"/>
                </a:solidFill>
                <a:latin typeface="Tahoma" panose="020B0604030504040204" pitchFamily="34" charset="0"/>
                <a:ea typeface="宋体" panose="02010600030101010101" pitchFamily="2" charset="-122"/>
              </a:defRPr>
            </a:lvl9pPr>
          </a:lstStyle>
          <a:p>
            <a:pPr>
              <a:spcBef>
                <a:spcPct val="50000"/>
              </a:spcBef>
              <a:buClrTx/>
              <a:buFontTx/>
              <a:buNone/>
            </a:pPr>
            <a:fld id="{505A3D41-D500-41C9-8753-B01DE8F9A817}" type="slidenum">
              <a:rPr lang="zh-CN" altLang="en-US" sz="1335">
                <a:solidFill>
                  <a:schemeClr val="bg2"/>
                </a:solidFill>
                <a:latin typeface="华文楷体" panose="02010600040101010101" charset="-122"/>
                <a:ea typeface="华文楷体" panose="02010600040101010101" charset="-122"/>
              </a:rPr>
            </a:fld>
            <a:endParaRPr lang="en-US" altLang="zh-CN" sz="1335">
              <a:solidFill>
                <a:schemeClr val="bg2"/>
              </a:solidFill>
              <a:latin typeface="华文楷体" panose="02010600040101010101" charset="-122"/>
              <a:ea typeface="华文楷体" panose="02010600040101010101" charset="-122"/>
            </a:endParaRPr>
          </a:p>
        </p:txBody>
      </p:sp>
      <p:sp>
        <p:nvSpPr>
          <p:cNvPr id="199685" name="Rectangle 2"/>
          <p:cNvSpPr>
            <a:spLocks noGrp="1" noChangeArrowheads="1"/>
          </p:cNvSpPr>
          <p:nvPr>
            <p:ph type="title"/>
          </p:nvPr>
        </p:nvSpPr>
        <p:spPr>
          <a:noFill/>
        </p:spPr>
        <p:txBody>
          <a:bodyPr/>
          <a:lstStyle/>
          <a:p>
            <a:r>
              <a:rPr lang="en-US" altLang="zh-CN" sz="4400" dirty="0">
                <a:solidFill>
                  <a:schemeClr val="tx1">
                    <a:lumMod val="50000"/>
                    <a:lumOff val="50000"/>
                  </a:schemeClr>
                </a:solidFill>
                <a:latin typeface="华文楷体" panose="02010600040101010101" charset="-122"/>
                <a:ea typeface="华文楷体" panose="02010600040101010101" charset="-122"/>
              </a:rPr>
              <a:t>(</a:t>
            </a:r>
            <a:r>
              <a:rPr lang="zh-CN" altLang="en-US" sz="4400" dirty="0">
                <a:solidFill>
                  <a:schemeClr val="tx1">
                    <a:lumMod val="50000"/>
                    <a:lumOff val="50000"/>
                  </a:schemeClr>
                </a:solidFill>
                <a:latin typeface="华文楷体" panose="02010600040101010101" charset="-122"/>
                <a:ea typeface="华文楷体" panose="02010600040101010101" charset="-122"/>
              </a:rPr>
              <a:t>渐近</a:t>
            </a:r>
            <a:r>
              <a:rPr lang="en-US" altLang="zh-CN" sz="4400" dirty="0">
                <a:solidFill>
                  <a:schemeClr val="tx1">
                    <a:lumMod val="50000"/>
                    <a:lumOff val="50000"/>
                  </a:schemeClr>
                </a:solidFill>
                <a:latin typeface="华文楷体" panose="02010600040101010101" charset="-122"/>
                <a:ea typeface="华文楷体" panose="02010600040101010101" charset="-122"/>
              </a:rPr>
              <a:t>)</a:t>
            </a:r>
            <a:r>
              <a:rPr lang="zh-CN" altLang="en-US" sz="4400" dirty="0">
                <a:solidFill>
                  <a:schemeClr val="tx1">
                    <a:lumMod val="50000"/>
                    <a:lumOff val="50000"/>
                  </a:schemeClr>
                </a:solidFill>
                <a:latin typeface="华文楷体" panose="02010600040101010101" charset="-122"/>
                <a:ea typeface="华文楷体" panose="02010600040101010101" charset="-122"/>
              </a:rPr>
              <a:t>时间复杂度</a:t>
            </a:r>
            <a:endParaRPr lang="en-US" altLang="zh-CN" dirty="0">
              <a:solidFill>
                <a:schemeClr val="tx1"/>
              </a:solidFill>
              <a:latin typeface="华文楷体" panose="02010600040101010101" charset="-122"/>
              <a:ea typeface="华文楷体" panose="02010600040101010101" charset="-122"/>
            </a:endParaRPr>
          </a:p>
        </p:txBody>
      </p:sp>
      <p:sp>
        <p:nvSpPr>
          <p:cNvPr id="697348" name="Rectangle 4"/>
          <p:cNvSpPr>
            <a:spLocks noChangeArrowheads="1"/>
          </p:cNvSpPr>
          <p:nvPr/>
        </p:nvSpPr>
        <p:spPr bwMode="auto">
          <a:xfrm>
            <a:off x="870857" y="1759857"/>
            <a:ext cx="7772703" cy="1959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Font typeface="Monotype Sorts" pitchFamily="2" charset="2"/>
              <a:buChar char="z"/>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accent2"/>
              </a:buClr>
              <a:buFont typeface="Monotype Sorts" pitchFamily="2" charset="2"/>
              <a:buChar char="y"/>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accent2"/>
              </a:buClr>
              <a:buFont typeface="Monotype Sorts" pitchFamily="2" charset="2"/>
              <a:buChar char="x"/>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2"/>
              </a:buClr>
              <a:buChar char="–"/>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sz="2000">
                <a:solidFill>
                  <a:schemeClr val="tx1"/>
                </a:solidFill>
                <a:latin typeface="Tahoma" panose="020B0604030504040204" pitchFamily="34" charset="0"/>
                <a:ea typeface="宋体" panose="02010600030101010101" pitchFamily="2" charset="-122"/>
              </a:defRPr>
            </a:lvl9pPr>
          </a:lstStyle>
          <a:p>
            <a:r>
              <a:rPr lang="zh-CN" altLang="en-US" sz="3050" dirty="0">
                <a:latin typeface="华文楷体" panose="02010600040101010101" charset="-122"/>
                <a:ea typeface="华文楷体" panose="02010600040101010101" charset="-122"/>
              </a:rPr>
              <a:t>在大</a:t>
            </a:r>
            <a:r>
              <a:rPr lang="en-US" altLang="zh-CN" sz="3050" dirty="0">
                <a:latin typeface="华文楷体" panose="02010600040101010101" charset="-122"/>
                <a:ea typeface="华文楷体" panose="02010600040101010101" charset="-122"/>
              </a:rPr>
              <a:t>O</a:t>
            </a:r>
            <a:r>
              <a:rPr lang="zh-CN" altLang="en-US" sz="3050" dirty="0">
                <a:latin typeface="华文楷体" panose="02010600040101010101" charset="-122"/>
                <a:ea typeface="华文楷体" panose="02010600040101010101" charset="-122"/>
              </a:rPr>
              <a:t>表示法中，应该忽略</a:t>
            </a:r>
            <a:r>
              <a:rPr lang="en-US" altLang="zh-CN" sz="3050" dirty="0">
                <a:latin typeface="华文楷体" panose="02010600040101010101" charset="-122"/>
                <a:ea typeface="华文楷体" panose="02010600040101010101" charset="-122"/>
              </a:rPr>
              <a:t>:</a:t>
            </a:r>
            <a:endParaRPr lang="en-US" altLang="zh-CN" sz="3050" dirty="0">
              <a:latin typeface="华文楷体" panose="02010600040101010101" charset="-122"/>
              <a:ea typeface="华文楷体" panose="02010600040101010101" charset="-122"/>
            </a:endParaRPr>
          </a:p>
          <a:p>
            <a:pPr lvl="1" eaLnBrk="1" hangingPunct="1"/>
            <a:r>
              <a:rPr lang="zh-CN" altLang="en-US" sz="2665" dirty="0">
                <a:latin typeface="华文楷体" panose="02010600040101010101" charset="-122"/>
                <a:ea typeface="华文楷体" panose="02010600040101010101" charset="-122"/>
              </a:rPr>
              <a:t>低阶项</a:t>
            </a:r>
            <a:endParaRPr lang="en-US" altLang="zh-CN" sz="2665" dirty="0">
              <a:latin typeface="华文楷体" panose="02010600040101010101" charset="-122"/>
              <a:ea typeface="华文楷体" panose="02010600040101010101" charset="-122"/>
            </a:endParaRPr>
          </a:p>
          <a:p>
            <a:pPr lvl="1" eaLnBrk="1" hangingPunct="1"/>
            <a:r>
              <a:rPr lang="zh-CN" altLang="en-US" sz="2665" dirty="0">
                <a:latin typeface="华文楷体" panose="02010600040101010101" charset="-122"/>
                <a:ea typeface="华文楷体" panose="02010600040101010101" charset="-122"/>
              </a:rPr>
              <a:t>常数项</a:t>
            </a:r>
            <a:endParaRPr lang="en-US" altLang="zh-CN" sz="2665" dirty="0">
              <a:latin typeface="华文楷体" panose="02010600040101010101" charset="-122"/>
              <a:ea typeface="华文楷体" panose="02010600040101010101" charset="-122"/>
            </a:endParaRPr>
          </a:p>
          <a:p>
            <a:pPr eaLnBrk="1" hangingPunct="1"/>
            <a:r>
              <a:rPr lang="zh-CN" altLang="en-US" sz="3050" dirty="0">
                <a:latin typeface="华文楷体" panose="02010600040101010101" charset="-122"/>
                <a:ea typeface="华文楷体" panose="02010600040101010101" charset="-122"/>
              </a:rPr>
              <a:t>例如</a:t>
            </a:r>
            <a:r>
              <a:rPr lang="en-US" altLang="zh-CN" sz="3050" dirty="0">
                <a:latin typeface="华文楷体" panose="02010600040101010101" charset="-122"/>
                <a:ea typeface="华文楷体" panose="02010600040101010101" charset="-122"/>
              </a:rPr>
              <a:t>:</a:t>
            </a:r>
            <a:endParaRPr lang="en-US" altLang="zh-CN" sz="3050" dirty="0">
              <a:latin typeface="华文楷体" panose="02010600040101010101" charset="-122"/>
              <a:ea typeface="华文楷体" panose="02010600040101010101" charset="-122"/>
            </a:endParaRPr>
          </a:p>
          <a:p>
            <a:pPr eaLnBrk="1" hangingPunct="1">
              <a:buFont typeface="Monotype Sorts" pitchFamily="2" charset="2"/>
              <a:buNone/>
            </a:pPr>
            <a:r>
              <a:rPr lang="en-US" altLang="zh-CN" sz="3050" dirty="0">
                <a:latin typeface="华文楷体" panose="02010600040101010101" charset="-122"/>
                <a:ea typeface="华文楷体" panose="02010600040101010101" charset="-122"/>
              </a:rPr>
              <a:t>   </a:t>
            </a:r>
            <a:r>
              <a:rPr lang="en-US" altLang="zh-CN" sz="2665" dirty="0">
                <a:latin typeface="华文楷体" panose="02010600040101010101" charset="-122"/>
                <a:ea typeface="华文楷体" panose="02010600040101010101" charset="-122"/>
              </a:rPr>
              <a:t>correct </a:t>
            </a:r>
            <a:r>
              <a:rPr lang="en-US" altLang="zh-CN" sz="2665" dirty="0" err="1">
                <a:latin typeface="华文楷体" panose="02010600040101010101" charset="-122"/>
                <a:ea typeface="华文楷体" panose="02010600040101010101" charset="-122"/>
              </a:rPr>
              <a:t>form:T</a:t>
            </a:r>
            <a:r>
              <a:rPr lang="en-US" altLang="zh-CN" sz="2665" dirty="0">
                <a:latin typeface="华文楷体" panose="02010600040101010101" charset="-122"/>
                <a:ea typeface="华文楷体" panose="02010600040101010101" charset="-122"/>
              </a:rPr>
              <a:t>(N) = O(N</a:t>
            </a:r>
            <a:r>
              <a:rPr lang="en-US" altLang="zh-CN" sz="2665" baseline="30000" dirty="0">
                <a:latin typeface="华文楷体" panose="02010600040101010101" charset="-122"/>
                <a:ea typeface="华文楷体" panose="02010600040101010101" charset="-122"/>
              </a:rPr>
              <a:t>2</a:t>
            </a:r>
            <a:r>
              <a:rPr lang="en-US" altLang="zh-CN" sz="2665" dirty="0">
                <a:latin typeface="华文楷体" panose="02010600040101010101" charset="-122"/>
                <a:ea typeface="华文楷体" panose="02010600040101010101" charset="-122"/>
              </a:rPr>
              <a:t>) </a:t>
            </a:r>
            <a:endParaRPr lang="en-US" altLang="zh-CN" sz="2665" dirty="0">
              <a:latin typeface="华文楷体" panose="02010600040101010101" charset="-122"/>
              <a:ea typeface="华文楷体" panose="02010600040101010101" charset="-122"/>
            </a:endParaRPr>
          </a:p>
          <a:p>
            <a:pPr eaLnBrk="1" hangingPunct="1">
              <a:buFont typeface="Monotype Sorts" pitchFamily="2" charset="2"/>
              <a:buNone/>
            </a:pPr>
            <a:r>
              <a:rPr lang="en-US" altLang="zh-CN" sz="2665" dirty="0">
                <a:latin typeface="华文楷体" panose="02010600040101010101" charset="-122"/>
                <a:ea typeface="华文楷体" panose="02010600040101010101" charset="-122"/>
              </a:rPr>
              <a:t>    </a:t>
            </a:r>
            <a:r>
              <a:rPr lang="en-US" altLang="zh-CN" sz="2665" dirty="0">
                <a:solidFill>
                  <a:srgbClr val="FF0000"/>
                </a:solidFill>
                <a:latin typeface="华文楷体" panose="02010600040101010101" charset="-122"/>
                <a:ea typeface="华文楷体" panose="02010600040101010101" charset="-122"/>
              </a:rPr>
              <a:t>bad style: T(N) = O(2N</a:t>
            </a:r>
            <a:r>
              <a:rPr lang="en-US" altLang="zh-CN" sz="2665" baseline="30000" dirty="0">
                <a:solidFill>
                  <a:srgbClr val="FF0000"/>
                </a:solidFill>
                <a:latin typeface="华文楷体" panose="02010600040101010101" charset="-122"/>
                <a:ea typeface="华文楷体" panose="02010600040101010101" charset="-122"/>
              </a:rPr>
              <a:t>2</a:t>
            </a:r>
            <a:r>
              <a:rPr lang="en-US" altLang="zh-CN" sz="2665" dirty="0">
                <a:solidFill>
                  <a:srgbClr val="FF0000"/>
                </a:solidFill>
                <a:latin typeface="华文楷体" panose="02010600040101010101" charset="-122"/>
                <a:ea typeface="华文楷体" panose="02010600040101010101" charset="-122"/>
              </a:rPr>
              <a:t>) </a:t>
            </a:r>
            <a:endParaRPr lang="en-US" altLang="zh-CN" sz="2665" dirty="0">
              <a:solidFill>
                <a:srgbClr val="FF0000"/>
              </a:solidFill>
              <a:latin typeface="华文楷体" panose="02010600040101010101" charset="-122"/>
              <a:ea typeface="华文楷体" panose="02010600040101010101" charset="-122"/>
            </a:endParaRPr>
          </a:p>
          <a:p>
            <a:pPr eaLnBrk="1" hangingPunct="1">
              <a:buFont typeface="Monotype Sorts" pitchFamily="2" charset="2"/>
              <a:buNone/>
            </a:pPr>
            <a:r>
              <a:rPr lang="en-US" altLang="zh-CN" sz="2665" dirty="0">
                <a:latin typeface="华文楷体" panose="02010600040101010101" charset="-122"/>
                <a:ea typeface="华文楷体" panose="02010600040101010101" charset="-122"/>
              </a:rPr>
              <a:t>    correct </a:t>
            </a:r>
            <a:r>
              <a:rPr lang="en-US" altLang="zh-CN" sz="2665" dirty="0" err="1">
                <a:latin typeface="华文楷体" panose="02010600040101010101" charset="-122"/>
                <a:ea typeface="华文楷体" panose="02010600040101010101" charset="-122"/>
              </a:rPr>
              <a:t>form:T</a:t>
            </a:r>
            <a:r>
              <a:rPr lang="en-US" altLang="zh-CN" sz="2665" dirty="0">
                <a:latin typeface="华文楷体" panose="02010600040101010101" charset="-122"/>
                <a:ea typeface="华文楷体" panose="02010600040101010101" charset="-122"/>
              </a:rPr>
              <a:t>(N) = O(N</a:t>
            </a:r>
            <a:r>
              <a:rPr lang="en-US" altLang="zh-CN" sz="2665" baseline="30000" dirty="0">
                <a:latin typeface="华文楷体" panose="02010600040101010101" charset="-122"/>
                <a:ea typeface="华文楷体" panose="02010600040101010101" charset="-122"/>
              </a:rPr>
              <a:t>2</a:t>
            </a:r>
            <a:r>
              <a:rPr lang="en-US" altLang="zh-CN" sz="2665" dirty="0">
                <a:latin typeface="华文楷体" panose="02010600040101010101" charset="-122"/>
                <a:ea typeface="华文楷体" panose="02010600040101010101" charset="-122"/>
              </a:rPr>
              <a:t>) </a:t>
            </a:r>
            <a:endParaRPr lang="en-US" altLang="zh-CN" sz="2665" dirty="0">
              <a:latin typeface="华文楷体" panose="02010600040101010101" charset="-122"/>
              <a:ea typeface="华文楷体" panose="02010600040101010101" charset="-122"/>
            </a:endParaRPr>
          </a:p>
          <a:p>
            <a:pPr eaLnBrk="1" hangingPunct="1">
              <a:buFont typeface="Monotype Sorts" pitchFamily="2" charset="2"/>
              <a:buNone/>
            </a:pPr>
            <a:r>
              <a:rPr lang="en-US" altLang="zh-CN" sz="2665" dirty="0">
                <a:latin typeface="华文楷体" panose="02010600040101010101" charset="-122"/>
                <a:ea typeface="华文楷体" panose="02010600040101010101" charset="-122"/>
              </a:rPr>
              <a:t>    </a:t>
            </a:r>
            <a:r>
              <a:rPr lang="en-US" altLang="zh-CN" sz="2665" dirty="0">
                <a:solidFill>
                  <a:srgbClr val="FF0000"/>
                </a:solidFill>
                <a:latin typeface="华文楷体" panose="02010600040101010101" charset="-122"/>
                <a:ea typeface="华文楷体" panose="02010600040101010101" charset="-122"/>
              </a:rPr>
              <a:t>bad style: T(N) = O(N</a:t>
            </a:r>
            <a:r>
              <a:rPr lang="en-US" altLang="zh-CN" sz="2665" baseline="30000" dirty="0">
                <a:solidFill>
                  <a:srgbClr val="FF0000"/>
                </a:solidFill>
                <a:latin typeface="华文楷体" panose="02010600040101010101" charset="-122"/>
                <a:ea typeface="华文楷体" panose="02010600040101010101" charset="-122"/>
              </a:rPr>
              <a:t>2</a:t>
            </a:r>
            <a:r>
              <a:rPr lang="en-US" altLang="zh-CN" sz="2665" dirty="0">
                <a:solidFill>
                  <a:srgbClr val="FF0000"/>
                </a:solidFill>
                <a:latin typeface="华文楷体" panose="02010600040101010101" charset="-122"/>
                <a:ea typeface="华文楷体" panose="02010600040101010101" charset="-122"/>
              </a:rPr>
              <a:t>+N) </a:t>
            </a:r>
            <a:endParaRPr lang="en-US" altLang="zh-CN" sz="2665" dirty="0">
              <a:solidFill>
                <a:srgbClr val="FF0000"/>
              </a:solidFill>
              <a:latin typeface="华文楷体" panose="02010600040101010101" charset="-122"/>
              <a:ea typeface="华文楷体" panose="02010600040101010101" charset="-122"/>
            </a:endParaRPr>
          </a:p>
          <a:p>
            <a:pPr eaLnBrk="1" hangingPunct="1">
              <a:buFont typeface="Monotype Sorts" pitchFamily="2" charset="2"/>
              <a:buNone/>
            </a:pPr>
            <a:endParaRPr lang="en-US" altLang="zh-CN" sz="2665" dirty="0">
              <a:solidFill>
                <a:srgbClr val="FF0000"/>
              </a:solidFill>
              <a:latin typeface="华文楷体" panose="02010600040101010101" charset="-122"/>
              <a:ea typeface="华文楷体" panose="0201060004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97348"/>
                                        </p:tgtEl>
                                        <p:attrNameLst>
                                          <p:attrName>style.visibility</p:attrName>
                                        </p:attrNameLst>
                                      </p:cBhvr>
                                      <p:to>
                                        <p:strVal val="visible"/>
                                      </p:to>
                                    </p:set>
                                    <p:animEffect transition="in" filter="blinds(horizontal)">
                                      <p:cBhvr>
                                        <p:cTn id="7" dur="500"/>
                                        <p:tgtEl>
                                          <p:spTgt spid="6973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7348" grpId="0" autoUpdateAnimBg="0"/>
    </p:bldLst>
  </p:timing>
</p:sld>
</file>

<file path=ppt/slides/slide9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99394" name="Rectangle 2"/>
          <p:cNvSpPr>
            <a:spLocks noGrp="1" noChangeArrowheads="1"/>
          </p:cNvSpPr>
          <p:nvPr>
            <p:ph idx="1"/>
          </p:nvPr>
        </p:nvSpPr>
        <p:spPr/>
        <p:txBody>
          <a:bodyPr/>
          <a:lstStyle/>
          <a:p>
            <a:pPr eaLnBrk="1" hangingPunct="1"/>
            <a:r>
              <a:rPr lang="en-US" altLang="zh-CN" dirty="0">
                <a:solidFill>
                  <a:srgbClr val="FF0000"/>
                </a:solidFill>
                <a:latin typeface="Arial" panose="020B0604020202020204" pitchFamily="34" charset="0"/>
                <a:ea typeface="华文楷体" panose="02010600040101010101" charset="-122"/>
                <a:cs typeface="Arial" panose="020B0604020202020204" pitchFamily="34" charset="0"/>
              </a:rPr>
              <a:t>Using </a:t>
            </a:r>
            <a:r>
              <a:rPr lang="en-US" altLang="zh-CN" dirty="0" err="1">
                <a:solidFill>
                  <a:srgbClr val="FF0000"/>
                </a:solidFill>
                <a:latin typeface="Arial" panose="020B0604020202020204" pitchFamily="34" charset="0"/>
                <a:ea typeface="华文楷体" panose="02010600040101010101" charset="-122"/>
                <a:cs typeface="Arial" panose="020B0604020202020204" pitchFamily="34" charset="0"/>
              </a:rPr>
              <a:t>L’Hopital’s</a:t>
            </a:r>
            <a:r>
              <a:rPr lang="en-US" altLang="zh-CN" dirty="0">
                <a:solidFill>
                  <a:srgbClr val="FF0000"/>
                </a:solidFill>
                <a:latin typeface="Arial" panose="020B0604020202020204" pitchFamily="34" charset="0"/>
                <a:ea typeface="华文楷体" panose="02010600040101010101" charset="-122"/>
                <a:cs typeface="Arial" panose="020B0604020202020204" pitchFamily="34" charset="0"/>
              </a:rPr>
              <a:t> rule to evaluate:</a:t>
            </a:r>
            <a:endParaRPr lang="en-US" altLang="zh-CN" dirty="0">
              <a:latin typeface="Arial" panose="020B0604020202020204" pitchFamily="34" charset="0"/>
              <a:ea typeface="华文楷体" panose="02010600040101010101" charset="-122"/>
              <a:cs typeface="Arial" panose="020B0604020202020204" pitchFamily="34" charset="0"/>
            </a:endParaRPr>
          </a:p>
          <a:p>
            <a:pPr eaLnBrk="1" hangingPunct="1"/>
            <a:endParaRPr lang="en-US" altLang="zh-CN" dirty="0">
              <a:latin typeface="Arial" panose="020B0604020202020204" pitchFamily="34" charset="0"/>
              <a:ea typeface="华文楷体" panose="02010600040101010101" charset="-122"/>
              <a:cs typeface="Arial" panose="020B0604020202020204" pitchFamily="34" charset="0"/>
            </a:endParaRPr>
          </a:p>
          <a:p>
            <a:pPr eaLnBrk="1" hangingPunct="1"/>
            <a:endParaRPr lang="zh-CN" altLang="en-US" dirty="0">
              <a:latin typeface="Arial" panose="020B0604020202020204" pitchFamily="34" charset="0"/>
              <a:ea typeface="华文楷体" panose="02010600040101010101" charset="-122"/>
              <a:cs typeface="Arial" panose="020B0604020202020204" pitchFamily="34" charset="0"/>
            </a:endParaRPr>
          </a:p>
        </p:txBody>
      </p:sp>
      <p:sp>
        <p:nvSpPr>
          <p:cNvPr id="125954" name="Date Placeholder 3"/>
          <p:cNvSpPr>
            <a:spLocks noGrp="1"/>
          </p:cNvSpPr>
          <p:nvPr>
            <p:ph type="dt" sz="half" idx="10"/>
          </p:nvPr>
        </p:nvSpPr>
        <p:spPr>
          <a:ln>
            <a:miter lim="800000"/>
          </a:ln>
        </p:spPr>
        <p:txBody>
          <a:bodyPr/>
          <a:lstStyle/>
          <a:p>
            <a:pPr>
              <a:defRPr/>
            </a:pPr>
            <a:r>
              <a:rPr lang="en-US" altLang="zh-CN">
                <a:latin typeface="Arial" panose="020B0604020202020204" pitchFamily="34" charset="0"/>
                <a:ea typeface="华文楷体" panose="02010600040101010101" charset="-122"/>
                <a:cs typeface="Arial" panose="020B0604020202020204" pitchFamily="34" charset="0"/>
              </a:rPr>
              <a:t>Data Structures and algorithms</a:t>
            </a:r>
            <a:endParaRPr lang="en-US" altLang="zh-CN">
              <a:latin typeface="Arial" panose="020B0604020202020204" pitchFamily="34" charset="0"/>
              <a:ea typeface="华文楷体" panose="02010600040101010101" charset="-122"/>
              <a:cs typeface="Arial" panose="020B0604020202020204" pitchFamily="34" charset="0"/>
            </a:endParaRPr>
          </a:p>
        </p:txBody>
      </p:sp>
      <p:sp>
        <p:nvSpPr>
          <p:cNvPr id="125955" name="Footer Placeholder 4"/>
          <p:cNvSpPr>
            <a:spLocks noGrp="1"/>
          </p:cNvSpPr>
          <p:nvPr>
            <p:ph type="ftr" sz="quarter" idx="11"/>
          </p:nvPr>
        </p:nvSpPr>
        <p:spPr>
          <a:ln>
            <a:miter lim="800000"/>
          </a:ln>
        </p:spPr>
        <p:txBody>
          <a:bodyPr/>
          <a:lstStyle/>
          <a:p>
            <a:pPr>
              <a:defRPr/>
            </a:pPr>
            <a:r>
              <a:rPr lang="zh-CN" altLang="en-US">
                <a:latin typeface="Arial" panose="020B0604020202020204" pitchFamily="34" charset="0"/>
                <a:ea typeface="华文楷体" panose="02010600040101010101" charset="-122"/>
                <a:cs typeface="Arial" panose="020B0604020202020204" pitchFamily="34" charset="0"/>
              </a:rPr>
              <a:t>Software College Northeastern University</a:t>
            </a:r>
            <a:endParaRPr lang="en-US" altLang="zh-CN">
              <a:latin typeface="Arial" panose="020B0604020202020204" pitchFamily="34" charset="0"/>
              <a:ea typeface="华文楷体" panose="02010600040101010101" charset="-122"/>
              <a:cs typeface="Arial" panose="020B0604020202020204" pitchFamily="34" charset="0"/>
            </a:endParaRPr>
          </a:p>
        </p:txBody>
      </p:sp>
      <p:sp>
        <p:nvSpPr>
          <p:cNvPr id="201732" name="Slide Number Placeholder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Monotype Sorts" pitchFamily="2" charset="2"/>
              <a:buChar char="z"/>
              <a:defRPr sz="3050">
                <a:solidFill>
                  <a:schemeClr val="tx1"/>
                </a:solidFill>
                <a:latin typeface="Tahoma" panose="020B0604030504040204" pitchFamily="34" charset="0"/>
                <a:ea typeface="宋体" panose="02010600030101010101" pitchFamily="2" charset="-122"/>
              </a:defRPr>
            </a:lvl1pPr>
            <a:lvl2pPr marL="707390" indent="-272415">
              <a:spcBef>
                <a:spcPct val="20000"/>
              </a:spcBef>
              <a:buClr>
                <a:schemeClr val="accent2"/>
              </a:buClr>
              <a:buFont typeface="Monotype Sorts" pitchFamily="2" charset="2"/>
              <a:buChar char="y"/>
              <a:defRPr sz="2665">
                <a:solidFill>
                  <a:schemeClr val="tx1"/>
                </a:solidFill>
                <a:latin typeface="Tahoma" panose="020B0604030504040204" pitchFamily="34" charset="0"/>
                <a:ea typeface="宋体" panose="02010600030101010101" pitchFamily="2" charset="-122"/>
              </a:defRPr>
            </a:lvl2pPr>
            <a:lvl3pPr marL="1088390" indent="-217805">
              <a:spcBef>
                <a:spcPct val="20000"/>
              </a:spcBef>
              <a:buClr>
                <a:schemeClr val="accent2"/>
              </a:buClr>
              <a:buFont typeface="Monotype Sorts" pitchFamily="2" charset="2"/>
              <a:buChar char="x"/>
              <a:defRPr sz="2285">
                <a:solidFill>
                  <a:schemeClr val="tx1"/>
                </a:solidFill>
                <a:latin typeface="Tahoma" panose="020B0604030504040204" pitchFamily="34" charset="0"/>
                <a:ea typeface="宋体" panose="02010600030101010101" pitchFamily="2" charset="-122"/>
              </a:defRPr>
            </a:lvl3pPr>
            <a:lvl4pPr marL="1524000" indent="-217805">
              <a:spcBef>
                <a:spcPct val="20000"/>
              </a:spcBef>
              <a:buClr>
                <a:schemeClr val="accent2"/>
              </a:buClr>
              <a:buChar char="•"/>
              <a:defRPr sz="1905">
                <a:solidFill>
                  <a:schemeClr val="tx1"/>
                </a:solidFill>
                <a:latin typeface="Tahoma" panose="020B0604030504040204" pitchFamily="34" charset="0"/>
                <a:ea typeface="宋体" panose="02010600030101010101" pitchFamily="2" charset="-122"/>
              </a:defRPr>
            </a:lvl4pPr>
            <a:lvl5pPr marL="1959610" indent="-217805">
              <a:spcBef>
                <a:spcPct val="20000"/>
              </a:spcBef>
              <a:buClr>
                <a:schemeClr val="accent2"/>
              </a:buClr>
              <a:buChar char="–"/>
              <a:defRPr sz="1905">
                <a:solidFill>
                  <a:schemeClr val="tx1"/>
                </a:solidFill>
                <a:latin typeface="Tahoma" panose="020B0604030504040204" pitchFamily="34" charset="0"/>
                <a:ea typeface="宋体" panose="02010600030101010101" pitchFamily="2" charset="-122"/>
              </a:defRPr>
            </a:lvl5pPr>
            <a:lvl6pPr marL="2395220" indent="-217805" eaLnBrk="0" fontAlgn="base" hangingPunct="0">
              <a:spcBef>
                <a:spcPct val="20000"/>
              </a:spcBef>
              <a:spcAft>
                <a:spcPct val="0"/>
              </a:spcAft>
              <a:buClr>
                <a:schemeClr val="accent2"/>
              </a:buClr>
              <a:buChar char="–"/>
              <a:defRPr sz="1905">
                <a:solidFill>
                  <a:schemeClr val="tx1"/>
                </a:solidFill>
                <a:latin typeface="Tahoma" panose="020B0604030504040204" pitchFamily="34" charset="0"/>
                <a:ea typeface="宋体" panose="02010600030101010101" pitchFamily="2" charset="-122"/>
              </a:defRPr>
            </a:lvl6pPr>
            <a:lvl7pPr marL="2830195" indent="-217805" eaLnBrk="0" fontAlgn="base" hangingPunct="0">
              <a:spcBef>
                <a:spcPct val="20000"/>
              </a:spcBef>
              <a:spcAft>
                <a:spcPct val="0"/>
              </a:spcAft>
              <a:buClr>
                <a:schemeClr val="accent2"/>
              </a:buClr>
              <a:buChar char="–"/>
              <a:defRPr sz="1905">
                <a:solidFill>
                  <a:schemeClr val="tx1"/>
                </a:solidFill>
                <a:latin typeface="Tahoma" panose="020B0604030504040204" pitchFamily="34" charset="0"/>
                <a:ea typeface="宋体" panose="02010600030101010101" pitchFamily="2" charset="-122"/>
              </a:defRPr>
            </a:lvl7pPr>
            <a:lvl8pPr marL="3265805" indent="-217805" eaLnBrk="0" fontAlgn="base" hangingPunct="0">
              <a:spcBef>
                <a:spcPct val="20000"/>
              </a:spcBef>
              <a:spcAft>
                <a:spcPct val="0"/>
              </a:spcAft>
              <a:buClr>
                <a:schemeClr val="accent2"/>
              </a:buClr>
              <a:buChar char="–"/>
              <a:defRPr sz="1905">
                <a:solidFill>
                  <a:schemeClr val="tx1"/>
                </a:solidFill>
                <a:latin typeface="Tahoma" panose="020B0604030504040204" pitchFamily="34" charset="0"/>
                <a:ea typeface="宋体" panose="02010600030101010101" pitchFamily="2" charset="-122"/>
              </a:defRPr>
            </a:lvl8pPr>
            <a:lvl9pPr marL="3701415" indent="-217805" eaLnBrk="0" fontAlgn="base" hangingPunct="0">
              <a:spcBef>
                <a:spcPct val="20000"/>
              </a:spcBef>
              <a:spcAft>
                <a:spcPct val="0"/>
              </a:spcAft>
              <a:buClr>
                <a:schemeClr val="accent2"/>
              </a:buClr>
              <a:buChar char="–"/>
              <a:defRPr sz="1905">
                <a:solidFill>
                  <a:schemeClr val="tx1"/>
                </a:solidFill>
                <a:latin typeface="Tahoma" panose="020B0604030504040204" pitchFamily="34" charset="0"/>
                <a:ea typeface="宋体" panose="02010600030101010101" pitchFamily="2" charset="-122"/>
              </a:defRPr>
            </a:lvl9pPr>
          </a:lstStyle>
          <a:p>
            <a:pPr>
              <a:spcBef>
                <a:spcPct val="50000"/>
              </a:spcBef>
              <a:buClrTx/>
              <a:buFontTx/>
              <a:buNone/>
            </a:pPr>
            <a:fld id="{6B522CD0-EAB1-4065-8962-52B4B7738794}" type="slidenum">
              <a:rPr lang="zh-CN" altLang="en-US" sz="1335">
                <a:solidFill>
                  <a:schemeClr val="bg2"/>
                </a:solidFill>
                <a:latin typeface="Arial" panose="020B0604020202020204" pitchFamily="34" charset="0"/>
                <a:ea typeface="华文楷体" panose="02010600040101010101" charset="-122"/>
                <a:cs typeface="Arial" panose="020B0604020202020204" pitchFamily="34" charset="0"/>
              </a:rPr>
            </a:fld>
            <a:endParaRPr lang="en-US" altLang="zh-CN" sz="1335">
              <a:solidFill>
                <a:schemeClr val="bg2"/>
              </a:solidFill>
              <a:latin typeface="Arial" panose="020B0604020202020204" pitchFamily="34" charset="0"/>
              <a:ea typeface="华文楷体" panose="02010600040101010101" charset="-122"/>
              <a:cs typeface="Arial" panose="020B0604020202020204" pitchFamily="34" charset="0"/>
            </a:endParaRPr>
          </a:p>
        </p:txBody>
      </p:sp>
      <p:sp>
        <p:nvSpPr>
          <p:cNvPr id="201740" name="Rectangle 9"/>
          <p:cNvSpPr>
            <a:spLocks noGrp="1" noChangeArrowheads="1"/>
          </p:cNvSpPr>
          <p:nvPr>
            <p:ph type="title"/>
          </p:nvPr>
        </p:nvSpPr>
        <p:spPr>
          <a:noFill/>
        </p:spPr>
        <p:txBody>
          <a:bodyPr/>
          <a:lstStyle/>
          <a:p>
            <a:r>
              <a:rPr lang="en-US" altLang="zh-CN" sz="4400" dirty="0">
                <a:solidFill>
                  <a:schemeClr val="tx1">
                    <a:lumMod val="50000"/>
                    <a:lumOff val="50000"/>
                  </a:schemeClr>
                </a:solidFill>
                <a:latin typeface="Arial" panose="020B0604020202020204" pitchFamily="34" charset="0"/>
                <a:ea typeface="华文楷体" panose="02010600040101010101" charset="-122"/>
                <a:cs typeface="Arial" panose="020B0604020202020204" pitchFamily="34" charset="0"/>
              </a:rPr>
              <a:t>(</a:t>
            </a:r>
            <a:r>
              <a:rPr lang="zh-CN" altLang="en-US" sz="4400" dirty="0">
                <a:solidFill>
                  <a:schemeClr val="tx1">
                    <a:lumMod val="50000"/>
                    <a:lumOff val="50000"/>
                  </a:schemeClr>
                </a:solidFill>
                <a:latin typeface="Arial" panose="020B0604020202020204" pitchFamily="34" charset="0"/>
                <a:ea typeface="华文楷体" panose="02010600040101010101" charset="-122"/>
                <a:cs typeface="Arial" panose="020B0604020202020204" pitchFamily="34" charset="0"/>
              </a:rPr>
              <a:t>渐近</a:t>
            </a:r>
            <a:r>
              <a:rPr lang="en-US" altLang="zh-CN" sz="4400" dirty="0">
                <a:solidFill>
                  <a:schemeClr val="tx1">
                    <a:lumMod val="50000"/>
                    <a:lumOff val="50000"/>
                  </a:schemeClr>
                </a:solidFill>
                <a:latin typeface="Arial" panose="020B0604020202020204" pitchFamily="34" charset="0"/>
                <a:ea typeface="华文楷体" panose="02010600040101010101" charset="-122"/>
                <a:cs typeface="Arial" panose="020B0604020202020204" pitchFamily="34" charset="0"/>
              </a:rPr>
              <a:t>)</a:t>
            </a:r>
            <a:r>
              <a:rPr lang="zh-CN" altLang="en-US" sz="4400" dirty="0">
                <a:solidFill>
                  <a:schemeClr val="tx1">
                    <a:lumMod val="50000"/>
                    <a:lumOff val="50000"/>
                  </a:schemeClr>
                </a:solidFill>
                <a:latin typeface="Arial" panose="020B0604020202020204" pitchFamily="34" charset="0"/>
                <a:ea typeface="华文楷体" panose="02010600040101010101" charset="-122"/>
                <a:cs typeface="Arial" panose="020B0604020202020204" pitchFamily="34" charset="0"/>
              </a:rPr>
              <a:t>时间复杂度</a:t>
            </a:r>
            <a:endParaRPr lang="en-US" altLang="zh-CN" dirty="0">
              <a:latin typeface="Arial" panose="020B0604020202020204" pitchFamily="34" charset="0"/>
              <a:ea typeface="华文楷体" panose="02010600040101010101" charset="-122"/>
              <a:cs typeface="Arial" panose="020B0604020202020204" pitchFamily="34" charset="0"/>
            </a:endParaRPr>
          </a:p>
        </p:txBody>
      </p:sp>
      <p:graphicFrame>
        <p:nvGraphicFramePr>
          <p:cNvPr id="699395" name="Object 3" descr="Stationery"/>
          <p:cNvGraphicFramePr>
            <a:graphicFrameLocks noChangeAspect="1"/>
          </p:cNvGraphicFramePr>
          <p:nvPr/>
        </p:nvGraphicFramePr>
        <p:xfrm>
          <a:off x="3625548" y="2095500"/>
          <a:ext cx="1478643" cy="987274"/>
        </p:xfrm>
        <a:graphic>
          <a:graphicData uri="http://schemas.openxmlformats.org/presentationml/2006/ole">
            <mc:AlternateContent xmlns:mc="http://schemas.openxmlformats.org/markup-compatibility/2006">
              <mc:Choice xmlns:v="urn:schemas-microsoft-com:vml" Requires="v">
                <p:oleObj spid="_x0000_s7189" name="公式" r:id="rId1" imgW="635000" imgH="444500" progId="Equation.3">
                  <p:embed/>
                </p:oleObj>
              </mc:Choice>
              <mc:Fallback>
                <p:oleObj name="公式" r:id="rId1" imgW="635000" imgH="444500" progId="Equation.3">
                  <p:embed/>
                  <p:pic>
                    <p:nvPicPr>
                      <p:cNvPr id="0" name="图片 1127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25548" y="2095500"/>
                        <a:ext cx="1478643" cy="987274"/>
                      </a:xfrm>
                      <a:prstGeom prst="rect">
                        <a:avLst/>
                      </a:prstGeom>
                      <a:blipFill dpi="0" rotWithShape="0">
                        <a:blip r:embed="rId3"/>
                        <a:srcRect/>
                        <a:tile tx="0" ty="0" sx="100000" sy="100000" flip="none" algn="tl"/>
                      </a:blip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99396" name="Rectangle 4"/>
          <p:cNvSpPr>
            <a:spLocks noChangeArrowheads="1"/>
          </p:cNvSpPr>
          <p:nvPr/>
        </p:nvSpPr>
        <p:spPr bwMode="auto">
          <a:xfrm>
            <a:off x="837595" y="3719286"/>
            <a:ext cx="7772703" cy="1959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Font typeface="Monotype Sorts" pitchFamily="2" charset="2"/>
              <a:buChar char="z"/>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accent2"/>
              </a:buClr>
              <a:buFont typeface="Monotype Sorts" pitchFamily="2" charset="2"/>
              <a:buChar char="y"/>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accent2"/>
              </a:buClr>
              <a:buFont typeface="Monotype Sorts" pitchFamily="2" charset="2"/>
              <a:buChar char="x"/>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Char char="•"/>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2"/>
              </a:buClr>
              <a:buChar char="–"/>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2"/>
              </a:buClr>
              <a:buChar char="–"/>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2"/>
              </a:buClr>
              <a:buChar char="–"/>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2"/>
              </a:buClr>
              <a:buChar char="–"/>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2"/>
              </a:buClr>
              <a:buChar char="–"/>
              <a:defRPr sz="2000">
                <a:solidFill>
                  <a:schemeClr val="tx1"/>
                </a:solidFill>
                <a:latin typeface="Tahoma" panose="020B0604030504040204" pitchFamily="34" charset="0"/>
                <a:ea typeface="宋体" panose="02010600030101010101" pitchFamily="2" charset="-122"/>
              </a:defRPr>
            </a:lvl9pPr>
          </a:lstStyle>
          <a:p>
            <a:pPr eaLnBrk="1" hangingPunct="1"/>
            <a:endParaRPr lang="zh-CN" altLang="en-US" sz="3050">
              <a:solidFill>
                <a:srgbClr val="FF0000"/>
              </a:solidFill>
              <a:latin typeface="Arial" panose="020B0604020202020204" pitchFamily="34" charset="0"/>
              <a:ea typeface="华文楷体" panose="02010600040101010101" charset="-122"/>
              <a:cs typeface="Arial" panose="020B0604020202020204" pitchFamily="34" charset="0"/>
            </a:endParaRPr>
          </a:p>
          <a:p>
            <a:pPr lvl="1" eaLnBrk="1" hangingPunct="1">
              <a:buFont typeface="Monotype Sorts" pitchFamily="2" charset="2"/>
              <a:buNone/>
            </a:pPr>
            <a:endParaRPr lang="zh-CN" altLang="en-US" sz="2665">
              <a:latin typeface="Arial" panose="020B0604020202020204" pitchFamily="34" charset="0"/>
              <a:ea typeface="华文楷体" panose="02010600040101010101" charset="-122"/>
              <a:cs typeface="Arial" panose="020B0604020202020204" pitchFamily="34" charset="0"/>
            </a:endParaRPr>
          </a:p>
        </p:txBody>
      </p:sp>
      <p:graphicFrame>
        <p:nvGraphicFramePr>
          <p:cNvPr id="699397" name="Object 5" descr="Stationery"/>
          <p:cNvGraphicFramePr>
            <a:graphicFrameLocks noChangeAspect="1"/>
          </p:cNvGraphicFramePr>
          <p:nvPr/>
        </p:nvGraphicFramePr>
        <p:xfrm>
          <a:off x="1314450" y="3328988"/>
          <a:ext cx="5942013" cy="503237"/>
        </p:xfrm>
        <a:graphic>
          <a:graphicData uri="http://schemas.openxmlformats.org/presentationml/2006/ole">
            <mc:AlternateContent xmlns:mc="http://schemas.openxmlformats.org/markup-compatibility/2006">
              <mc:Choice xmlns:v="urn:schemas-microsoft-com:vml" Requires="v">
                <p:oleObj spid="_x0000_s7190" name="公式" r:id="rId4" imgW="2235200" imgH="228600" progId="Equation.3">
                  <p:embed/>
                </p:oleObj>
              </mc:Choice>
              <mc:Fallback>
                <p:oleObj name="公式" r:id="rId4" imgW="2235200" imgH="228600" progId="Equation.3">
                  <p:embed/>
                  <p:pic>
                    <p:nvPicPr>
                      <p:cNvPr id="0" name="图片 1127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14450" y="3328988"/>
                        <a:ext cx="5942013" cy="503237"/>
                      </a:xfrm>
                      <a:prstGeom prst="rect">
                        <a:avLst/>
                      </a:prstGeom>
                      <a:blipFill dpi="0" rotWithShape="0">
                        <a:blip r:embed="rId3"/>
                        <a:srcRect/>
                        <a:tile tx="0" ty="0" sx="100000" sy="100000" flip="none" algn="tl"/>
                      </a:blip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99398" name="Object 6" descr="Stationery"/>
          <p:cNvGraphicFramePr>
            <a:graphicFrameLocks noChangeAspect="1"/>
          </p:cNvGraphicFramePr>
          <p:nvPr/>
        </p:nvGraphicFramePr>
        <p:xfrm>
          <a:off x="1325941" y="3909786"/>
          <a:ext cx="5931202" cy="503465"/>
        </p:xfrm>
        <a:graphic>
          <a:graphicData uri="http://schemas.openxmlformats.org/presentationml/2006/ole">
            <mc:AlternateContent xmlns:mc="http://schemas.openxmlformats.org/markup-compatibility/2006">
              <mc:Choice xmlns:v="urn:schemas-microsoft-com:vml" Requires="v">
                <p:oleObj spid="_x0000_s7191" name="公式" r:id="rId6" imgW="2540000" imgH="228600" progId="Equation.3">
                  <p:embed/>
                </p:oleObj>
              </mc:Choice>
              <mc:Fallback>
                <p:oleObj name="公式" r:id="rId6" imgW="2540000" imgH="228600" progId="Equation.3">
                  <p:embed/>
                  <p:pic>
                    <p:nvPicPr>
                      <p:cNvPr id="0" name="图片 1127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25941" y="3909786"/>
                        <a:ext cx="5931202" cy="503465"/>
                      </a:xfrm>
                      <a:prstGeom prst="rect">
                        <a:avLst/>
                      </a:prstGeom>
                      <a:blipFill dpi="0" rotWithShape="0">
                        <a:blip r:embed="rId3"/>
                        <a:srcRect/>
                        <a:tile tx="0" ty="0" sx="100000" sy="100000" flip="none" algn="tl"/>
                      </a:blip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99399" name="Object 7" descr="Stationery"/>
          <p:cNvGraphicFramePr>
            <a:graphicFrameLocks noChangeAspect="1"/>
          </p:cNvGraphicFramePr>
          <p:nvPr/>
        </p:nvGraphicFramePr>
        <p:xfrm>
          <a:off x="1313846" y="4490357"/>
          <a:ext cx="5943297" cy="503465"/>
        </p:xfrm>
        <a:graphic>
          <a:graphicData uri="http://schemas.openxmlformats.org/presentationml/2006/ole">
            <mc:AlternateContent xmlns:mc="http://schemas.openxmlformats.org/markup-compatibility/2006">
              <mc:Choice xmlns:v="urn:schemas-microsoft-com:vml" Requires="v">
                <p:oleObj spid="_x0000_s7192" name="公式" r:id="rId8" imgW="2273300" imgH="228600" progId="Equation.3">
                  <p:embed/>
                </p:oleObj>
              </mc:Choice>
              <mc:Fallback>
                <p:oleObj name="公式" r:id="rId8" imgW="2273300" imgH="228600" progId="Equation.3">
                  <p:embed/>
                  <p:pic>
                    <p:nvPicPr>
                      <p:cNvPr id="0" name="图片 1127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313846" y="4490357"/>
                        <a:ext cx="5943297" cy="503465"/>
                      </a:xfrm>
                      <a:prstGeom prst="rect">
                        <a:avLst/>
                      </a:prstGeom>
                      <a:blipFill dpi="0" rotWithShape="0">
                        <a:blip r:embed="rId3"/>
                        <a:srcRect/>
                        <a:tile tx="0" ty="0" sx="100000" sy="100000" flip="none" algn="tl"/>
                      </a:blip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99400" name="Object 8" descr="Stationery"/>
          <p:cNvGraphicFramePr>
            <a:graphicFrameLocks noChangeAspect="1"/>
          </p:cNvGraphicFramePr>
          <p:nvPr/>
        </p:nvGraphicFramePr>
        <p:xfrm>
          <a:off x="1306286" y="5089071"/>
          <a:ext cx="5950857" cy="503465"/>
        </p:xfrm>
        <a:graphic>
          <a:graphicData uri="http://schemas.openxmlformats.org/presentationml/2006/ole">
            <mc:AlternateContent xmlns:mc="http://schemas.openxmlformats.org/markup-compatibility/2006">
              <mc:Choice xmlns:v="urn:schemas-microsoft-com:vml" Requires="v">
                <p:oleObj spid="_x0000_s7193" name="公式" r:id="rId10" imgW="2476500" imgH="228600" progId="Equation.3">
                  <p:embed/>
                </p:oleObj>
              </mc:Choice>
              <mc:Fallback>
                <p:oleObj name="公式" r:id="rId10" imgW="2476500" imgH="228600" progId="Equation.3">
                  <p:embed/>
                  <p:pic>
                    <p:nvPicPr>
                      <p:cNvPr id="0" name="图片 1127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306286" y="5089071"/>
                        <a:ext cx="5950857" cy="503465"/>
                      </a:xfrm>
                      <a:prstGeom prst="rect">
                        <a:avLst/>
                      </a:prstGeom>
                      <a:blipFill dpi="0" rotWithShape="0">
                        <a:blip r:embed="rId3"/>
                        <a:srcRect/>
                        <a:tile tx="0" ty="0" sx="100000" sy="100000" flip="none" algn="tl"/>
                      </a:blip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99394">
                                            <p:txEl>
                                              <p:pRg st="0" end="0"/>
                                            </p:txEl>
                                          </p:spTgt>
                                        </p:tgtEl>
                                        <p:attrNameLst>
                                          <p:attrName>style.visibility</p:attrName>
                                        </p:attrNameLst>
                                      </p:cBhvr>
                                      <p:to>
                                        <p:strVal val="visible"/>
                                      </p:to>
                                    </p:set>
                                    <p:anim calcmode="lin" valueType="num">
                                      <p:cBhvr additive="base">
                                        <p:cTn id="7" dur="500" fill="hold"/>
                                        <p:tgtEl>
                                          <p:spTgt spid="699394">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9939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699395"/>
                                        </p:tgtEl>
                                        <p:attrNameLst>
                                          <p:attrName>style.visibility</p:attrName>
                                        </p:attrNameLst>
                                      </p:cBhvr>
                                      <p:to>
                                        <p:strVal val="visible"/>
                                      </p:to>
                                    </p:set>
                                    <p:anim calcmode="lin" valueType="num">
                                      <p:cBhvr additive="base">
                                        <p:cTn id="13" dur="500" fill="hold"/>
                                        <p:tgtEl>
                                          <p:spTgt spid="699395"/>
                                        </p:tgtEl>
                                        <p:attrNameLst>
                                          <p:attrName>ppt_x</p:attrName>
                                        </p:attrNameLst>
                                      </p:cBhvr>
                                      <p:tavLst>
                                        <p:tav tm="0">
                                          <p:val>
                                            <p:strVal val="0-#ppt_w/2"/>
                                          </p:val>
                                        </p:tav>
                                        <p:tav tm="100000">
                                          <p:val>
                                            <p:strVal val="#ppt_x"/>
                                          </p:val>
                                        </p:tav>
                                      </p:tavLst>
                                    </p:anim>
                                    <p:anim calcmode="lin" valueType="num">
                                      <p:cBhvr additive="base">
                                        <p:cTn id="14" dur="500" fill="hold"/>
                                        <p:tgtEl>
                                          <p:spTgt spid="699395"/>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699397"/>
                                        </p:tgtEl>
                                        <p:attrNameLst>
                                          <p:attrName>style.visibility</p:attrName>
                                        </p:attrNameLst>
                                      </p:cBhvr>
                                      <p:to>
                                        <p:strVal val="visible"/>
                                      </p:to>
                                    </p:set>
                                    <p:anim calcmode="lin" valueType="num">
                                      <p:cBhvr additive="base">
                                        <p:cTn id="19" dur="500" fill="hold"/>
                                        <p:tgtEl>
                                          <p:spTgt spid="699397"/>
                                        </p:tgtEl>
                                        <p:attrNameLst>
                                          <p:attrName>ppt_x</p:attrName>
                                        </p:attrNameLst>
                                      </p:cBhvr>
                                      <p:tavLst>
                                        <p:tav tm="0">
                                          <p:val>
                                            <p:strVal val="0-#ppt_w/2"/>
                                          </p:val>
                                        </p:tav>
                                        <p:tav tm="100000">
                                          <p:val>
                                            <p:strVal val="#ppt_x"/>
                                          </p:val>
                                        </p:tav>
                                      </p:tavLst>
                                    </p:anim>
                                    <p:anim calcmode="lin" valueType="num">
                                      <p:cBhvr additive="base">
                                        <p:cTn id="20" dur="500" fill="hold"/>
                                        <p:tgtEl>
                                          <p:spTgt spid="699397"/>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699398"/>
                                        </p:tgtEl>
                                        <p:attrNameLst>
                                          <p:attrName>style.visibility</p:attrName>
                                        </p:attrNameLst>
                                      </p:cBhvr>
                                      <p:to>
                                        <p:strVal val="visible"/>
                                      </p:to>
                                    </p:set>
                                    <p:anim calcmode="lin" valueType="num">
                                      <p:cBhvr additive="base">
                                        <p:cTn id="25" dur="500" fill="hold"/>
                                        <p:tgtEl>
                                          <p:spTgt spid="699398"/>
                                        </p:tgtEl>
                                        <p:attrNameLst>
                                          <p:attrName>ppt_x</p:attrName>
                                        </p:attrNameLst>
                                      </p:cBhvr>
                                      <p:tavLst>
                                        <p:tav tm="0">
                                          <p:val>
                                            <p:strVal val="0-#ppt_w/2"/>
                                          </p:val>
                                        </p:tav>
                                        <p:tav tm="100000">
                                          <p:val>
                                            <p:strVal val="#ppt_x"/>
                                          </p:val>
                                        </p:tav>
                                      </p:tavLst>
                                    </p:anim>
                                    <p:anim calcmode="lin" valueType="num">
                                      <p:cBhvr additive="base">
                                        <p:cTn id="26" dur="500" fill="hold"/>
                                        <p:tgtEl>
                                          <p:spTgt spid="699398"/>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699399"/>
                                        </p:tgtEl>
                                        <p:attrNameLst>
                                          <p:attrName>style.visibility</p:attrName>
                                        </p:attrNameLst>
                                      </p:cBhvr>
                                      <p:to>
                                        <p:strVal val="visible"/>
                                      </p:to>
                                    </p:set>
                                    <p:anim calcmode="lin" valueType="num">
                                      <p:cBhvr additive="base">
                                        <p:cTn id="31" dur="500" fill="hold"/>
                                        <p:tgtEl>
                                          <p:spTgt spid="699399"/>
                                        </p:tgtEl>
                                        <p:attrNameLst>
                                          <p:attrName>ppt_x</p:attrName>
                                        </p:attrNameLst>
                                      </p:cBhvr>
                                      <p:tavLst>
                                        <p:tav tm="0">
                                          <p:val>
                                            <p:strVal val="0-#ppt_w/2"/>
                                          </p:val>
                                        </p:tav>
                                        <p:tav tm="100000">
                                          <p:val>
                                            <p:strVal val="#ppt_x"/>
                                          </p:val>
                                        </p:tav>
                                      </p:tavLst>
                                    </p:anim>
                                    <p:anim calcmode="lin" valueType="num">
                                      <p:cBhvr additive="base">
                                        <p:cTn id="32" dur="500" fill="hold"/>
                                        <p:tgtEl>
                                          <p:spTgt spid="699399"/>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699400"/>
                                        </p:tgtEl>
                                        <p:attrNameLst>
                                          <p:attrName>style.visibility</p:attrName>
                                        </p:attrNameLst>
                                      </p:cBhvr>
                                      <p:to>
                                        <p:strVal val="visible"/>
                                      </p:to>
                                    </p:set>
                                    <p:anim calcmode="lin" valueType="num">
                                      <p:cBhvr additive="base">
                                        <p:cTn id="37" dur="500" fill="hold"/>
                                        <p:tgtEl>
                                          <p:spTgt spid="699400"/>
                                        </p:tgtEl>
                                        <p:attrNameLst>
                                          <p:attrName>ppt_x</p:attrName>
                                        </p:attrNameLst>
                                      </p:cBhvr>
                                      <p:tavLst>
                                        <p:tav tm="0">
                                          <p:val>
                                            <p:strVal val="0-#ppt_w/2"/>
                                          </p:val>
                                        </p:tav>
                                        <p:tav tm="100000">
                                          <p:val>
                                            <p:strVal val="#ppt_x"/>
                                          </p:val>
                                        </p:tav>
                                      </p:tavLst>
                                    </p:anim>
                                    <p:anim calcmode="lin" valueType="num">
                                      <p:cBhvr additive="base">
                                        <p:cTn id="38" dur="500" fill="hold"/>
                                        <p:tgtEl>
                                          <p:spTgt spid="699400"/>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grpId="0" nodeType="clickEffect" nodePh="1">
                                  <p:stCondLst>
                                    <p:cond delay="0"/>
                                  </p:stCondLst>
                                  <p:endCondLst>
                                    <p:cond evt="begin" delay="0">
                                      <p:tn val="41"/>
                                    </p:cond>
                                  </p:endCondLst>
                                  <p:childTnLst>
                                    <p:set>
                                      <p:cBhvr>
                                        <p:cTn id="42" dur="1" fill="hold">
                                          <p:stCondLst>
                                            <p:cond delay="0"/>
                                          </p:stCondLst>
                                        </p:cTn>
                                        <p:tgtEl>
                                          <p:spTgt spid="699396"/>
                                        </p:tgtEl>
                                        <p:attrNameLst>
                                          <p:attrName>style.visibility</p:attrName>
                                        </p:attrNameLst>
                                      </p:cBhvr>
                                      <p:to>
                                        <p:strVal val="visible"/>
                                      </p:to>
                                    </p:set>
                                    <p:animEffect transition="in" filter="blinds(horizontal)">
                                      <p:cBhvr>
                                        <p:cTn id="43" dur="500"/>
                                        <p:tgtEl>
                                          <p:spTgt spid="6993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9394" grpId="0" autoUpdateAnimBg="0" build="p"/>
      <p:bldP spid="699396" grpId="0" autoUpdateAnimBg="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Text Box 2"/>
          <p:cNvSpPr txBox="1"/>
          <p:nvPr/>
        </p:nvSpPr>
        <p:spPr>
          <a:xfrm>
            <a:off x="863600" y="1600200"/>
            <a:ext cx="7442200" cy="2393950"/>
          </a:xfrm>
          <a:prstGeom prst="rect">
            <a:avLst/>
          </a:prstGeom>
          <a:noFill/>
          <a:ln w="9525">
            <a:noFill/>
          </a:ln>
        </p:spPr>
        <p:txBody>
          <a:bodyPr wrap="none">
            <a:spAutoFit/>
          </a:bodyPr>
          <a:lstStyle/>
          <a:p>
            <a:pPr>
              <a:lnSpc>
                <a:spcPct val="140000"/>
              </a:lnSpc>
            </a:pPr>
            <a:r>
              <a:rPr lang="zh-CN" altLang="en-US" sz="5400" b="1" dirty="0">
                <a:solidFill>
                  <a:srgbClr val="FF0000"/>
                </a:solidFill>
                <a:latin typeface="楷体_GB2312" panose="02010609030101010101" pitchFamily="49" charset="-122"/>
                <a:ea typeface="楷体_GB2312" panose="02010609030101010101" pitchFamily="49" charset="-122"/>
              </a:rPr>
              <a:t>如何估算</a:t>
            </a:r>
            <a:endParaRPr lang="zh-CN" altLang="en-US" sz="5400" b="1" dirty="0">
              <a:solidFill>
                <a:srgbClr val="FF0000"/>
              </a:solidFill>
              <a:latin typeface="楷体_GB2312" panose="02010609030101010101" pitchFamily="49" charset="-122"/>
              <a:ea typeface="楷体_GB2312" panose="02010609030101010101" pitchFamily="49" charset="-122"/>
            </a:endParaRPr>
          </a:p>
          <a:p>
            <a:pPr>
              <a:lnSpc>
                <a:spcPct val="140000"/>
              </a:lnSpc>
            </a:pPr>
            <a:r>
              <a:rPr lang="zh-CN" altLang="en-US" sz="5400" b="1" dirty="0">
                <a:solidFill>
                  <a:srgbClr val="FF0000"/>
                </a:solidFill>
                <a:latin typeface="楷体_GB2312" panose="02010609030101010101" pitchFamily="49" charset="-122"/>
                <a:ea typeface="楷体_GB2312" panose="02010609030101010101" pitchFamily="49" charset="-122"/>
              </a:rPr>
              <a:t>   算法的时间复杂度？</a:t>
            </a:r>
            <a:endParaRPr lang="zh-CN" altLang="en-US" sz="2400" b="1" dirty="0">
              <a:latin typeface="楷体_GB2312" panose="02010609030101010101" pitchFamily="49" charset="-122"/>
              <a:ea typeface="楷体_GB2312" panose="02010609030101010101" pitchFamily="49" charset="-122"/>
            </a:endParaRPr>
          </a:p>
        </p:txBody>
      </p:sp>
      <p:sp>
        <p:nvSpPr>
          <p:cNvPr id="2" name="日期占位符 1"/>
          <p:cNvSpPr>
            <a:spLocks noGrp="1"/>
          </p:cNvSpPr>
          <p:nvPr>
            <p:ph type="dt" sz="half" idx="10"/>
          </p:nvPr>
        </p:nvSpPr>
        <p:spPr/>
        <p:txBody>
          <a:bodyPr/>
          <a:lstStyle/>
          <a:p>
            <a:r>
              <a:rPr lang="en-US" altLang="zh-CN"/>
              <a:t>Data Structures and algorithms</a:t>
            </a:r>
            <a:endParaRPr lang="zh-CN" altLang="en-US"/>
          </a:p>
        </p:txBody>
      </p:sp>
      <p:sp>
        <p:nvSpPr>
          <p:cNvPr id="3" name="页脚占位符 2"/>
          <p:cNvSpPr>
            <a:spLocks noGrp="1"/>
          </p:cNvSpPr>
          <p:nvPr>
            <p:ph type="ftr" sz="quarter" idx="11"/>
          </p:nvPr>
        </p:nvSpPr>
        <p:spPr/>
        <p:txBody>
          <a:bodyPr/>
          <a:lstStyle/>
          <a:p>
            <a:r>
              <a:rPr lang="en-US" altLang="zh-CN"/>
              <a:t>Software College Northeastern University</a:t>
            </a:r>
            <a:endParaRPr lang="zh-CN" altLang="en-US"/>
          </a:p>
        </p:txBody>
      </p:sp>
      <p:sp>
        <p:nvSpPr>
          <p:cNvPr id="4" name="灯片编号占位符 3"/>
          <p:cNvSpPr>
            <a:spLocks noGrp="1"/>
          </p:cNvSpPr>
          <p:nvPr>
            <p:ph type="sldNum" sz="quarter" idx="12"/>
          </p:nvPr>
        </p:nvSpPr>
        <p:spPr/>
        <p:txBody>
          <a:bodyPr/>
          <a:lstStyle/>
          <a:p>
            <a:fld id="{6E1C0148-8E4B-4B2F-95CE-20B4709700AE}" type="slidenum">
              <a:rPr lang="zh-CN" altLang="en-US" smtClean="0"/>
            </a:fld>
            <a:endParaRPr lang="zh-CN" altLang="en-US"/>
          </a:p>
        </p:txBody>
      </p:sp>
    </p:spTree>
  </p:cSld>
  <p:clrMapOvr>
    <a:masterClrMapping/>
  </p:clrMapOvr>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0306" name="Text Box 2"/>
          <p:cNvSpPr txBox="1"/>
          <p:nvPr/>
        </p:nvSpPr>
        <p:spPr>
          <a:xfrm>
            <a:off x="395536" y="698772"/>
            <a:ext cx="8007320" cy="1195712"/>
          </a:xfrm>
          <a:prstGeom prst="rect">
            <a:avLst/>
          </a:prstGeom>
          <a:noFill/>
          <a:ln w="9525">
            <a:noFill/>
          </a:ln>
        </p:spPr>
        <p:txBody>
          <a:bodyPr wrap="none">
            <a:spAutoFit/>
          </a:bodyPr>
          <a:lstStyle/>
          <a:p>
            <a:pPr>
              <a:lnSpc>
                <a:spcPct val="120000"/>
              </a:lnSpc>
            </a:pPr>
            <a:r>
              <a:rPr lang="zh-CN" altLang="en-US" sz="3200" b="1" dirty="0">
                <a:latin typeface="楷体_GB2312" panose="02010609030101010101" pitchFamily="49" charset="-122"/>
                <a:ea typeface="楷体_GB2312" panose="02010609030101010101" pitchFamily="49" charset="-122"/>
              </a:rPr>
              <a:t>算法 </a:t>
            </a:r>
            <a:r>
              <a:rPr lang="en-US" altLang="zh-CN" sz="3200" b="1" dirty="0">
                <a:latin typeface="楷体_GB2312" panose="02010609030101010101" pitchFamily="49" charset="-122"/>
                <a:ea typeface="楷体_GB2312" panose="02010609030101010101" pitchFamily="49" charset="-122"/>
              </a:rPr>
              <a:t>= </a:t>
            </a:r>
            <a:r>
              <a:rPr lang="zh-CN" altLang="en-US" sz="3200" b="1" dirty="0">
                <a:latin typeface="楷体_GB2312" panose="02010609030101010101" pitchFamily="49" charset="-122"/>
                <a:ea typeface="楷体_GB2312" panose="02010609030101010101" pitchFamily="49" charset="-122"/>
              </a:rPr>
              <a:t>控制结构 </a:t>
            </a:r>
            <a:r>
              <a:rPr lang="en-US" altLang="zh-CN" sz="3200" b="1" dirty="0">
                <a:latin typeface="楷体_GB2312" panose="02010609030101010101" pitchFamily="49" charset="-122"/>
                <a:ea typeface="楷体_GB2312" panose="02010609030101010101" pitchFamily="49" charset="-122"/>
              </a:rPr>
              <a:t>+ </a:t>
            </a:r>
            <a:r>
              <a:rPr lang="zh-CN" altLang="en-US" sz="3200" b="1" dirty="0">
                <a:latin typeface="楷体_GB2312" panose="02010609030101010101" pitchFamily="49" charset="-122"/>
                <a:ea typeface="楷体_GB2312" panose="02010609030101010101" pitchFamily="49" charset="-122"/>
              </a:rPr>
              <a:t>原操作</a:t>
            </a:r>
            <a:endParaRPr lang="en-US" altLang="zh-CN" sz="3200" b="1" dirty="0">
              <a:latin typeface="楷体_GB2312" panose="02010609030101010101" pitchFamily="49" charset="-122"/>
              <a:ea typeface="楷体_GB2312" panose="02010609030101010101" pitchFamily="49" charset="-122"/>
            </a:endParaRPr>
          </a:p>
          <a:p>
            <a:pPr>
              <a:lnSpc>
                <a:spcPct val="120000"/>
              </a:lnSpc>
            </a:pPr>
            <a:r>
              <a:rPr lang="en-US" altLang="zh-CN" sz="3200" b="1" dirty="0">
                <a:latin typeface="楷体_GB2312" panose="02010609030101010101" pitchFamily="49" charset="-122"/>
                <a:ea typeface="楷体_GB2312" panose="02010609030101010101" pitchFamily="49" charset="-122"/>
              </a:rPr>
              <a:t>                </a:t>
            </a:r>
            <a:r>
              <a:rPr lang="zh-CN" altLang="en-US" sz="3200" dirty="0">
                <a:latin typeface="楷体_GB2312" panose="02010609030101010101" pitchFamily="49" charset="-122"/>
                <a:ea typeface="楷体_GB2312" panose="02010609030101010101" pitchFamily="49" charset="-122"/>
              </a:rPr>
              <a:t>（固有数据类型的操作）</a:t>
            </a:r>
            <a:endParaRPr lang="zh-CN" altLang="en-US" sz="3200" dirty="0">
              <a:latin typeface="楷体_GB2312" panose="02010609030101010101" pitchFamily="49" charset="-122"/>
              <a:ea typeface="楷体_GB2312" panose="02010609030101010101" pitchFamily="49" charset="-122"/>
            </a:endParaRPr>
          </a:p>
        </p:txBody>
      </p:sp>
      <p:sp>
        <p:nvSpPr>
          <p:cNvPr id="610307" name="Text Box 3"/>
          <p:cNvSpPr txBox="1"/>
          <p:nvPr/>
        </p:nvSpPr>
        <p:spPr>
          <a:xfrm>
            <a:off x="685081" y="2016225"/>
            <a:ext cx="8382000" cy="1368067"/>
          </a:xfrm>
          <a:prstGeom prst="rect">
            <a:avLst/>
          </a:prstGeom>
          <a:noFill/>
          <a:ln w="9525">
            <a:noFill/>
          </a:ln>
        </p:spPr>
        <p:txBody>
          <a:bodyPr wrap="square">
            <a:spAutoFit/>
          </a:bodyPr>
          <a:lstStyle/>
          <a:p>
            <a:pPr>
              <a:lnSpc>
                <a:spcPct val="140000"/>
              </a:lnSpc>
            </a:pPr>
            <a:r>
              <a:rPr lang="zh-CN" altLang="en-US" sz="3200" b="1" dirty="0">
                <a:solidFill>
                  <a:srgbClr val="C00000"/>
                </a:solidFill>
                <a:latin typeface="楷体_GB2312" panose="02010609030101010101" pitchFamily="49" charset="-122"/>
                <a:ea typeface="楷体_GB2312" panose="02010609030101010101" pitchFamily="49" charset="-122"/>
              </a:rPr>
              <a:t>算法的执行时间</a:t>
            </a:r>
            <a:r>
              <a:rPr lang="zh-CN" altLang="en-US" sz="3200" dirty="0">
                <a:solidFill>
                  <a:srgbClr val="C00000"/>
                </a:solidFill>
                <a:latin typeface="楷体_GB2312" panose="02010609030101010101" pitchFamily="49" charset="-122"/>
                <a:ea typeface="楷体_GB2312" panose="02010609030101010101" pitchFamily="49" charset="-122"/>
              </a:rPr>
              <a:t> </a:t>
            </a:r>
            <a:r>
              <a:rPr lang="en-US" altLang="zh-CN" sz="3200" dirty="0">
                <a:solidFill>
                  <a:srgbClr val="C00000"/>
                </a:solidFill>
                <a:latin typeface="楷体_GB2312" panose="02010609030101010101" pitchFamily="49" charset="-122"/>
                <a:ea typeface="楷体_GB2312" panose="02010609030101010101" pitchFamily="49" charset="-122"/>
              </a:rPr>
              <a:t>=</a:t>
            </a:r>
            <a:endParaRPr lang="en-US" altLang="zh-CN" sz="3200" dirty="0">
              <a:solidFill>
                <a:srgbClr val="C00000"/>
              </a:solidFill>
              <a:latin typeface="楷体_GB2312" panose="02010609030101010101" pitchFamily="49" charset="-122"/>
              <a:ea typeface="楷体_GB2312" panose="02010609030101010101" pitchFamily="49" charset="-122"/>
            </a:endParaRPr>
          </a:p>
          <a:p>
            <a:pPr>
              <a:lnSpc>
                <a:spcPct val="140000"/>
              </a:lnSpc>
            </a:pPr>
            <a:r>
              <a:rPr lang="zh-CN" altLang="en-US" sz="3200" b="1" dirty="0">
                <a:solidFill>
                  <a:srgbClr val="C00000"/>
                </a:solidFill>
                <a:latin typeface="楷体_GB2312" panose="02010609030101010101" pitchFamily="49" charset="-122"/>
                <a:ea typeface="楷体_GB2312" panose="02010609030101010101" pitchFamily="49" charset="-122"/>
              </a:rPr>
              <a:t>原操作</a:t>
            </a:r>
            <a:r>
              <a:rPr lang="en-US" altLang="zh-CN" sz="3200" b="1" dirty="0">
                <a:solidFill>
                  <a:srgbClr val="C00000"/>
                </a:solidFill>
                <a:latin typeface="楷体_GB2312" panose="02010609030101010101" pitchFamily="49" charset="-122"/>
                <a:ea typeface="楷体_GB2312" panose="02010609030101010101" pitchFamily="49" charset="-122"/>
              </a:rPr>
              <a:t>(i)</a:t>
            </a:r>
            <a:r>
              <a:rPr lang="zh-CN" altLang="en-US" sz="3200" b="1" dirty="0">
                <a:solidFill>
                  <a:srgbClr val="C00000"/>
                </a:solidFill>
                <a:latin typeface="楷体_GB2312" panose="02010609030101010101" pitchFamily="49" charset="-122"/>
                <a:ea typeface="楷体_GB2312" panose="02010609030101010101" pitchFamily="49" charset="-122"/>
              </a:rPr>
              <a:t>的执行次数</a:t>
            </a:r>
            <a:r>
              <a:rPr lang="en-US" altLang="zh-CN" sz="3200" b="1" dirty="0">
                <a:solidFill>
                  <a:srgbClr val="C00000"/>
                </a:solidFill>
                <a:latin typeface="楷体_GB2312" panose="02010609030101010101" pitchFamily="49" charset="-122"/>
                <a:ea typeface="楷体_GB2312" panose="02010609030101010101" pitchFamily="49" charset="-122"/>
              </a:rPr>
              <a:t>×</a:t>
            </a:r>
            <a:r>
              <a:rPr lang="zh-CN" altLang="en-US" sz="3200" b="1" dirty="0">
                <a:solidFill>
                  <a:srgbClr val="C00000"/>
                </a:solidFill>
                <a:latin typeface="楷体_GB2312" panose="02010609030101010101" pitchFamily="49" charset="-122"/>
                <a:ea typeface="楷体_GB2312" panose="02010609030101010101" pitchFamily="49" charset="-122"/>
              </a:rPr>
              <a:t>原操作</a:t>
            </a:r>
            <a:r>
              <a:rPr lang="en-US" altLang="zh-CN" sz="3200" b="1" dirty="0">
                <a:solidFill>
                  <a:srgbClr val="C00000"/>
                </a:solidFill>
                <a:latin typeface="楷体_GB2312" panose="02010609030101010101" pitchFamily="49" charset="-122"/>
                <a:ea typeface="楷体_GB2312" panose="02010609030101010101" pitchFamily="49" charset="-122"/>
              </a:rPr>
              <a:t>(i)</a:t>
            </a:r>
            <a:r>
              <a:rPr lang="zh-CN" altLang="en-US" sz="3200" b="1" dirty="0">
                <a:solidFill>
                  <a:srgbClr val="C00000"/>
                </a:solidFill>
                <a:latin typeface="楷体_GB2312" panose="02010609030101010101" pitchFamily="49" charset="-122"/>
                <a:ea typeface="楷体_GB2312" panose="02010609030101010101" pitchFamily="49" charset="-122"/>
              </a:rPr>
              <a:t>的执行时间</a:t>
            </a:r>
            <a:endParaRPr lang="zh-CN" altLang="en-US" sz="3200" b="1" dirty="0">
              <a:solidFill>
                <a:srgbClr val="C00000"/>
              </a:solidFill>
              <a:latin typeface="楷体_GB2312" panose="02010609030101010101" pitchFamily="49" charset="-122"/>
              <a:ea typeface="楷体_GB2312" panose="02010609030101010101" pitchFamily="49" charset="-122"/>
            </a:endParaRPr>
          </a:p>
        </p:txBody>
      </p:sp>
      <p:graphicFrame>
        <p:nvGraphicFramePr>
          <p:cNvPr id="610308" name="Object 4"/>
          <p:cNvGraphicFramePr>
            <a:graphicFrameLocks noChangeAspect="1"/>
          </p:cNvGraphicFramePr>
          <p:nvPr/>
        </p:nvGraphicFramePr>
        <p:xfrm>
          <a:off x="289345" y="2744033"/>
          <a:ext cx="674688" cy="762000"/>
        </p:xfrm>
        <a:graphic>
          <a:graphicData uri="http://schemas.openxmlformats.org/presentationml/2006/ole">
            <mc:AlternateContent xmlns:mc="http://schemas.openxmlformats.org/markup-compatibility/2006">
              <mc:Choice xmlns:v="urn:schemas-microsoft-com:vml" Requires="v">
                <p:oleObj spid="_x0000_s8197" name="" r:id="rId1" imgW="701040" imgH="792480" progId="Word.Document.8">
                  <p:embed/>
                </p:oleObj>
              </mc:Choice>
              <mc:Fallback>
                <p:oleObj name="" r:id="rId1" imgW="701040" imgH="792480" progId="Word.Document.8">
                  <p:embed/>
                  <p:pic>
                    <p:nvPicPr>
                      <p:cNvPr id="0" name="图片 3077"/>
                      <p:cNvPicPr/>
                      <p:nvPr/>
                    </p:nvPicPr>
                    <p:blipFill>
                      <a:blip r:embed="rId2"/>
                      <a:stretch>
                        <a:fillRect/>
                      </a:stretch>
                    </p:blipFill>
                    <p:spPr>
                      <a:xfrm>
                        <a:off x="289345" y="2744033"/>
                        <a:ext cx="674688" cy="762000"/>
                      </a:xfrm>
                      <a:prstGeom prst="rect">
                        <a:avLst/>
                      </a:prstGeom>
                      <a:noFill/>
                      <a:ln w="38100">
                        <a:noFill/>
                        <a:miter/>
                      </a:ln>
                    </p:spPr>
                  </p:pic>
                </p:oleObj>
              </mc:Fallback>
            </mc:AlternateContent>
          </a:graphicData>
        </a:graphic>
      </p:graphicFrame>
      <p:sp>
        <p:nvSpPr>
          <p:cNvPr id="610309" name="Text Box 5"/>
          <p:cNvSpPr txBox="1"/>
          <p:nvPr/>
        </p:nvSpPr>
        <p:spPr>
          <a:xfrm>
            <a:off x="289345" y="3717032"/>
            <a:ext cx="8382000" cy="1786643"/>
          </a:xfrm>
          <a:prstGeom prst="rect">
            <a:avLst/>
          </a:prstGeom>
          <a:noFill/>
          <a:ln w="9525">
            <a:noFill/>
          </a:ln>
        </p:spPr>
        <p:txBody>
          <a:bodyPr>
            <a:spAutoFit/>
          </a:bodyPr>
          <a:lstStyle/>
          <a:p>
            <a:pPr>
              <a:lnSpc>
                <a:spcPct val="120000"/>
              </a:lnSpc>
            </a:pPr>
            <a:r>
              <a:rPr lang="zh-CN" altLang="en-US" sz="3200" b="1" dirty="0">
                <a:solidFill>
                  <a:schemeClr val="tx2"/>
                </a:solidFill>
                <a:latin typeface="楷体_GB2312" panose="02010609030101010101" pitchFamily="49" charset="-122"/>
                <a:ea typeface="楷体_GB2312" panose="02010609030101010101" pitchFamily="49" charset="-122"/>
              </a:rPr>
              <a:t>   </a:t>
            </a:r>
            <a:r>
              <a:rPr lang="zh-CN" altLang="en-US" sz="3200" b="1" u="sng" dirty="0">
                <a:solidFill>
                  <a:schemeClr val="tx2"/>
                </a:solidFill>
                <a:latin typeface="楷体_GB2312" panose="02010609030101010101" pitchFamily="49" charset="-122"/>
                <a:ea typeface="楷体_GB2312" panose="02010609030101010101" pitchFamily="49" charset="-122"/>
              </a:rPr>
              <a:t>算法的执行时间</a:t>
            </a:r>
            <a:r>
              <a:rPr lang="zh-CN" altLang="en-US" sz="3200" dirty="0">
                <a:latin typeface="楷体_GB2312" panose="02010609030101010101" pitchFamily="49" charset="-122"/>
                <a:ea typeface="楷体_GB2312" panose="02010609030101010101" pitchFamily="49" charset="-122"/>
              </a:rPr>
              <a:t> </a:t>
            </a:r>
            <a:endParaRPr lang="zh-CN" altLang="en-US" sz="3200" dirty="0">
              <a:latin typeface="楷体_GB2312" panose="02010609030101010101" pitchFamily="49" charset="-122"/>
              <a:ea typeface="楷体_GB2312" panose="02010609030101010101" pitchFamily="49" charset="-122"/>
            </a:endParaRPr>
          </a:p>
          <a:p>
            <a:pPr>
              <a:lnSpc>
                <a:spcPct val="120000"/>
              </a:lnSpc>
            </a:pPr>
            <a:r>
              <a:rPr lang="zh-CN" altLang="en-US" sz="3200" dirty="0">
                <a:latin typeface="楷体_GB2312" panose="02010609030101010101" pitchFamily="49" charset="-122"/>
                <a:ea typeface="楷体_GB2312" panose="02010609030101010101" pitchFamily="49" charset="-122"/>
              </a:rPr>
              <a:t>        </a:t>
            </a:r>
            <a:r>
              <a:rPr lang="zh-CN" altLang="en-US" sz="3200" b="1" dirty="0">
                <a:solidFill>
                  <a:srgbClr val="FF00FF"/>
                </a:solidFill>
                <a:latin typeface="楷体_GB2312" panose="02010609030101010101" pitchFamily="49" charset="-122"/>
                <a:ea typeface="楷体_GB2312" panose="02010609030101010101" pitchFamily="49" charset="-122"/>
              </a:rPr>
              <a:t>与</a:t>
            </a:r>
            <a:r>
              <a:rPr lang="zh-CN" altLang="en-US" sz="3200" dirty="0">
                <a:latin typeface="楷体_GB2312" panose="02010609030101010101" pitchFamily="49" charset="-122"/>
                <a:ea typeface="楷体_GB2312" panose="02010609030101010101" pitchFamily="49" charset="-122"/>
              </a:rPr>
              <a:t> </a:t>
            </a:r>
            <a:endParaRPr lang="zh-CN" altLang="en-US" sz="3200" dirty="0">
              <a:latin typeface="楷体_GB2312" panose="02010609030101010101" pitchFamily="49" charset="-122"/>
              <a:ea typeface="楷体_GB2312" panose="02010609030101010101" pitchFamily="49" charset="-122"/>
            </a:endParaRPr>
          </a:p>
          <a:p>
            <a:pPr>
              <a:lnSpc>
                <a:spcPct val="120000"/>
              </a:lnSpc>
            </a:pPr>
            <a:r>
              <a:rPr lang="zh-CN" altLang="en-US" sz="3200" b="1" u="sng" dirty="0">
                <a:solidFill>
                  <a:schemeClr val="tx2"/>
                </a:solidFill>
                <a:latin typeface="楷体_GB2312" panose="02010609030101010101" pitchFamily="49" charset="-122"/>
                <a:ea typeface="楷体_GB2312" panose="02010609030101010101" pitchFamily="49" charset="-122"/>
              </a:rPr>
              <a:t>   原操作执行次数之和</a:t>
            </a:r>
            <a:r>
              <a:rPr lang="zh-CN" altLang="en-US" sz="3200" b="1" dirty="0">
                <a:latin typeface="楷体_GB2312" panose="02010609030101010101" pitchFamily="49" charset="-122"/>
                <a:ea typeface="楷体_GB2312" panose="02010609030101010101" pitchFamily="49" charset="-122"/>
              </a:rPr>
              <a:t>  </a:t>
            </a:r>
            <a:r>
              <a:rPr lang="zh-CN" altLang="en-US" sz="3200" dirty="0">
                <a:latin typeface="楷体_GB2312" panose="02010609030101010101" pitchFamily="49" charset="-122"/>
                <a:ea typeface="楷体_GB2312" panose="02010609030101010101" pitchFamily="49" charset="-122"/>
              </a:rPr>
              <a:t> </a:t>
            </a:r>
            <a:r>
              <a:rPr lang="zh-CN" altLang="en-US" sz="3200" b="1" dirty="0">
                <a:solidFill>
                  <a:srgbClr val="FF00FF"/>
                </a:solidFill>
                <a:latin typeface="楷体_GB2312" panose="02010609030101010101" pitchFamily="49" charset="-122"/>
                <a:ea typeface="楷体_GB2312" panose="02010609030101010101" pitchFamily="49" charset="-122"/>
              </a:rPr>
              <a:t>成正比</a:t>
            </a:r>
            <a:r>
              <a:rPr lang="zh-CN" altLang="en-US" sz="3200" dirty="0">
                <a:latin typeface="楷体_GB2312" panose="02010609030101010101" pitchFamily="49" charset="-122"/>
                <a:ea typeface="楷体_GB2312" panose="02010609030101010101" pitchFamily="49" charset="-122"/>
              </a:rPr>
              <a:t> </a:t>
            </a:r>
            <a:endParaRPr lang="zh-CN" altLang="en-US" sz="3200" dirty="0">
              <a:latin typeface="楷体_GB2312" panose="02010609030101010101" pitchFamily="49" charset="-122"/>
              <a:ea typeface="楷体_GB2312" panose="02010609030101010101" pitchFamily="49" charset="-122"/>
            </a:endParaRPr>
          </a:p>
        </p:txBody>
      </p:sp>
      <p:sp>
        <p:nvSpPr>
          <p:cNvPr id="2" name="日期占位符 1"/>
          <p:cNvSpPr>
            <a:spLocks noGrp="1"/>
          </p:cNvSpPr>
          <p:nvPr>
            <p:ph type="dt" sz="half" idx="10"/>
          </p:nvPr>
        </p:nvSpPr>
        <p:spPr/>
        <p:txBody>
          <a:bodyPr/>
          <a:lstStyle/>
          <a:p>
            <a:r>
              <a:rPr lang="en-US" altLang="zh-CN"/>
              <a:t>Data Structures and algorithms</a:t>
            </a:r>
            <a:endParaRPr lang="zh-CN" altLang="en-US"/>
          </a:p>
        </p:txBody>
      </p:sp>
      <p:sp>
        <p:nvSpPr>
          <p:cNvPr id="3" name="页脚占位符 2"/>
          <p:cNvSpPr>
            <a:spLocks noGrp="1"/>
          </p:cNvSpPr>
          <p:nvPr>
            <p:ph type="ftr" sz="quarter" idx="11"/>
          </p:nvPr>
        </p:nvSpPr>
        <p:spPr/>
        <p:txBody>
          <a:bodyPr/>
          <a:lstStyle/>
          <a:p>
            <a:r>
              <a:rPr lang="en-US" altLang="zh-CN"/>
              <a:t>Software College Northeastern University</a:t>
            </a:r>
            <a:endParaRPr lang="zh-CN" altLang="en-US"/>
          </a:p>
        </p:txBody>
      </p:sp>
      <p:sp>
        <p:nvSpPr>
          <p:cNvPr id="4" name="灯片编号占位符 3"/>
          <p:cNvSpPr>
            <a:spLocks noGrp="1"/>
          </p:cNvSpPr>
          <p:nvPr>
            <p:ph type="sldNum" sz="quarter" idx="12"/>
          </p:nvPr>
        </p:nvSpPr>
        <p:spPr/>
        <p:txBody>
          <a:bodyPr/>
          <a:lstStyle/>
          <a:p>
            <a:fld id="{6E1C0148-8E4B-4B2F-95CE-20B4709700AE}" type="slidenum">
              <a:rPr lang="zh-CN" altLang="en-US" smtClean="0"/>
            </a:fld>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610306"/>
                                        </p:tgtEl>
                                        <p:attrNameLst>
                                          <p:attrName>style.visibility</p:attrName>
                                        </p:attrNameLst>
                                      </p:cBhvr>
                                      <p:to>
                                        <p:strVal val="visible"/>
                                      </p:to>
                                    </p:set>
                                    <p:animEffect transition="in" filter="slide(fromTop)">
                                      <p:cBhvr>
                                        <p:cTn id="7" dur="500"/>
                                        <p:tgtEl>
                                          <p:spTgt spid="61030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iterate type="wd">
                                    <p:tmAbs val="300"/>
                                  </p:iterate>
                                  <p:childTnLst>
                                    <p:set>
                                      <p:cBhvr>
                                        <p:cTn id="11" dur="1" fill="hold">
                                          <p:stCondLst>
                                            <p:cond delay="299"/>
                                          </p:stCondLst>
                                        </p:cTn>
                                        <p:tgtEl>
                                          <p:spTgt spid="610307"/>
                                        </p:tgtEl>
                                        <p:attrNameLst>
                                          <p:attrName>style.visibility</p:attrName>
                                        </p:attrNameLst>
                                      </p:cBhvr>
                                      <p:to>
                                        <p:strVal val="visible"/>
                                      </p:to>
                                    </p:set>
                                  </p:childTnLst>
                                </p:cTn>
                              </p:par>
                            </p:childTnLst>
                          </p:cTn>
                        </p:par>
                        <p:par>
                          <p:cTn id="12" fill="hold">
                            <p:stCondLst>
                              <p:cond delay="9600"/>
                            </p:stCondLst>
                            <p:childTnLst>
                              <p:par>
                                <p:cTn id="13" presetID="1" presetClass="entr" presetSubtype="0" fill="hold" nodeType="afterEffect">
                                  <p:stCondLst>
                                    <p:cond delay="0"/>
                                  </p:stCondLst>
                                  <p:childTnLst>
                                    <p:set>
                                      <p:cBhvr>
                                        <p:cTn id="14" dur="1" fill="hold">
                                          <p:stCondLst>
                                            <p:cond delay="499"/>
                                          </p:stCondLst>
                                        </p:cTn>
                                        <p:tgtEl>
                                          <p:spTgt spid="61030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10309"/>
                                        </p:tgtEl>
                                        <p:attrNameLst>
                                          <p:attrName>style.visibility</p:attrName>
                                        </p:attrNameLst>
                                      </p:cBhvr>
                                      <p:to>
                                        <p:strVal val="visible"/>
                                      </p:to>
                                    </p:set>
                                    <p:anim calcmode="lin" valueType="num">
                                      <p:cBhvr additive="base">
                                        <p:cTn id="19" dur="500" fill="hold"/>
                                        <p:tgtEl>
                                          <p:spTgt spid="610309"/>
                                        </p:tgtEl>
                                        <p:attrNameLst>
                                          <p:attrName>ppt_x</p:attrName>
                                        </p:attrNameLst>
                                      </p:cBhvr>
                                      <p:tavLst>
                                        <p:tav tm="0">
                                          <p:val>
                                            <p:strVal val="#ppt_x"/>
                                          </p:val>
                                        </p:tav>
                                        <p:tav tm="100000">
                                          <p:val>
                                            <p:strVal val="#ppt_x"/>
                                          </p:val>
                                        </p:tav>
                                      </p:tavLst>
                                    </p:anim>
                                    <p:anim calcmode="lin" valueType="num">
                                      <p:cBhvr additive="base">
                                        <p:cTn id="20" dur="500" fill="hold"/>
                                        <p:tgtEl>
                                          <p:spTgt spid="61030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0306" grpId="0"/>
      <p:bldP spid="610307" grpId="0"/>
      <p:bldP spid="610309" grpId="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1330" name="Text Box 2"/>
          <p:cNvSpPr txBox="1"/>
          <p:nvPr/>
        </p:nvSpPr>
        <p:spPr>
          <a:xfrm>
            <a:off x="304800" y="928688"/>
            <a:ext cx="8382000" cy="3840162"/>
          </a:xfrm>
          <a:prstGeom prst="rect">
            <a:avLst/>
          </a:prstGeom>
          <a:noFill/>
          <a:ln w="9525">
            <a:noFill/>
          </a:ln>
        </p:spPr>
        <p:txBody>
          <a:bodyPr>
            <a:spAutoFit/>
          </a:bodyPr>
          <a:lstStyle/>
          <a:p>
            <a:pPr>
              <a:lnSpc>
                <a:spcPct val="150000"/>
              </a:lnSpc>
            </a:pPr>
            <a:r>
              <a:rPr lang="zh-CN" altLang="en-US" sz="4400" dirty="0">
                <a:solidFill>
                  <a:srgbClr val="000080"/>
                </a:solidFill>
                <a:latin typeface="楷体_GB2312" panose="02010609030101010101" pitchFamily="49" charset="-122"/>
                <a:ea typeface="楷体_GB2312" panose="02010609030101010101" pitchFamily="49" charset="-122"/>
              </a:rPr>
              <a:t>   </a:t>
            </a:r>
            <a:r>
              <a:rPr lang="zh-CN" altLang="en-US" sz="4000" dirty="0">
                <a:solidFill>
                  <a:srgbClr val="000080"/>
                </a:solidFill>
                <a:latin typeface="楷体_GB2312" panose="02010609030101010101" pitchFamily="49" charset="-122"/>
                <a:ea typeface="楷体_GB2312" panose="02010609030101010101" pitchFamily="49" charset="-122"/>
              </a:rPr>
              <a:t>从算法中选取一种对于所研究的问题来说是 </a:t>
            </a:r>
            <a:r>
              <a:rPr lang="zh-CN" altLang="en-US" sz="4000" b="1" dirty="0">
                <a:solidFill>
                  <a:srgbClr val="FF0000"/>
                </a:solidFill>
                <a:latin typeface="楷体_GB2312" panose="02010609030101010101" pitchFamily="49" charset="-122"/>
                <a:ea typeface="楷体_GB2312" panose="02010609030101010101" pitchFamily="49" charset="-122"/>
              </a:rPr>
              <a:t>基本操作</a:t>
            </a:r>
            <a:r>
              <a:rPr lang="zh-CN" altLang="en-US" sz="4000" b="1" dirty="0">
                <a:solidFill>
                  <a:srgbClr val="000080"/>
                </a:solidFill>
                <a:latin typeface="楷体_GB2312" panose="02010609030101010101" pitchFamily="49" charset="-122"/>
                <a:ea typeface="楷体_GB2312" panose="02010609030101010101" pitchFamily="49" charset="-122"/>
              </a:rPr>
              <a:t> </a:t>
            </a:r>
            <a:r>
              <a:rPr lang="zh-CN" altLang="en-US" sz="4000" dirty="0">
                <a:solidFill>
                  <a:srgbClr val="000080"/>
                </a:solidFill>
                <a:latin typeface="楷体_GB2312" panose="02010609030101010101" pitchFamily="49" charset="-122"/>
                <a:ea typeface="楷体_GB2312" panose="02010609030101010101" pitchFamily="49" charset="-122"/>
              </a:rPr>
              <a:t>的原操作，以该基本操作 </a:t>
            </a:r>
            <a:r>
              <a:rPr lang="zh-CN" altLang="en-US" sz="4000" b="1" dirty="0">
                <a:solidFill>
                  <a:srgbClr val="FF0000"/>
                </a:solidFill>
                <a:latin typeface="楷体_GB2312" panose="02010609030101010101" pitchFamily="49" charset="-122"/>
                <a:ea typeface="楷体_GB2312" panose="02010609030101010101" pitchFamily="49" charset="-122"/>
              </a:rPr>
              <a:t>在算法中重复执行的次数</a:t>
            </a:r>
            <a:r>
              <a:rPr lang="zh-CN" altLang="en-US" sz="4000" dirty="0">
                <a:solidFill>
                  <a:srgbClr val="000080"/>
                </a:solidFill>
                <a:latin typeface="楷体_GB2312" panose="02010609030101010101" pitchFamily="49" charset="-122"/>
                <a:ea typeface="楷体_GB2312" panose="02010609030101010101" pitchFamily="49" charset="-122"/>
              </a:rPr>
              <a:t> 作为算法运行时间的衡量准则。</a:t>
            </a:r>
            <a:endParaRPr lang="zh-CN" altLang="en-US" sz="2400" dirty="0">
              <a:solidFill>
                <a:srgbClr val="000080"/>
              </a:solidFill>
              <a:latin typeface="楷体_GB2312" panose="02010609030101010101" pitchFamily="49" charset="-122"/>
              <a:ea typeface="楷体_GB2312" panose="02010609030101010101" pitchFamily="49" charset="-122"/>
            </a:endParaRPr>
          </a:p>
        </p:txBody>
      </p:sp>
      <p:sp>
        <p:nvSpPr>
          <p:cNvPr id="2" name="日期占位符 1"/>
          <p:cNvSpPr>
            <a:spLocks noGrp="1"/>
          </p:cNvSpPr>
          <p:nvPr>
            <p:ph type="dt" sz="half" idx="10"/>
          </p:nvPr>
        </p:nvSpPr>
        <p:spPr/>
        <p:txBody>
          <a:bodyPr/>
          <a:lstStyle/>
          <a:p>
            <a:r>
              <a:rPr lang="en-US" altLang="zh-CN"/>
              <a:t>Data Structures and algorithms</a:t>
            </a:r>
            <a:endParaRPr lang="zh-CN" altLang="en-US"/>
          </a:p>
        </p:txBody>
      </p:sp>
      <p:sp>
        <p:nvSpPr>
          <p:cNvPr id="3" name="页脚占位符 2"/>
          <p:cNvSpPr>
            <a:spLocks noGrp="1"/>
          </p:cNvSpPr>
          <p:nvPr>
            <p:ph type="ftr" sz="quarter" idx="11"/>
          </p:nvPr>
        </p:nvSpPr>
        <p:spPr/>
        <p:txBody>
          <a:bodyPr/>
          <a:lstStyle/>
          <a:p>
            <a:r>
              <a:rPr lang="en-US" altLang="zh-CN"/>
              <a:t>Software College Northeastern University</a:t>
            </a:r>
            <a:endParaRPr lang="zh-CN" altLang="en-US"/>
          </a:p>
        </p:txBody>
      </p:sp>
      <p:sp>
        <p:nvSpPr>
          <p:cNvPr id="4" name="灯片编号占位符 3"/>
          <p:cNvSpPr>
            <a:spLocks noGrp="1"/>
          </p:cNvSpPr>
          <p:nvPr>
            <p:ph type="sldNum" sz="quarter" idx="12"/>
          </p:nvPr>
        </p:nvSpPr>
        <p:spPr/>
        <p:txBody>
          <a:bodyPr/>
          <a:lstStyle/>
          <a:p>
            <a:fld id="{6E1C0148-8E4B-4B2F-95CE-20B4709700AE}" type="slidenum">
              <a:rPr lang="zh-CN" altLang="en-US" smtClean="0"/>
            </a:fld>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528" fill="hold" grpId="0" nodeType="afterEffect">
                                  <p:stCondLst>
                                    <p:cond delay="0"/>
                                  </p:stCondLst>
                                  <p:childTnLst>
                                    <p:set>
                                      <p:cBhvr>
                                        <p:cTn id="6" dur="1" fill="hold">
                                          <p:stCondLst>
                                            <p:cond delay="0"/>
                                          </p:stCondLst>
                                        </p:cTn>
                                        <p:tgtEl>
                                          <p:spTgt spid="611330"/>
                                        </p:tgtEl>
                                        <p:attrNameLst>
                                          <p:attrName>style.visibility</p:attrName>
                                        </p:attrNameLst>
                                      </p:cBhvr>
                                      <p:to>
                                        <p:strVal val="visible"/>
                                      </p:to>
                                    </p:set>
                                    <p:anim calcmode="lin" valueType="num">
                                      <p:cBhvr>
                                        <p:cTn id="7" dur="500" fill="hold"/>
                                        <p:tgtEl>
                                          <p:spTgt spid="611330"/>
                                        </p:tgtEl>
                                        <p:attrNameLst>
                                          <p:attrName>ppt_w</p:attrName>
                                        </p:attrNameLst>
                                      </p:cBhvr>
                                      <p:tavLst>
                                        <p:tav tm="0">
                                          <p:val>
                                            <p:fltVal val="0"/>
                                          </p:val>
                                        </p:tav>
                                        <p:tav tm="100000">
                                          <p:val>
                                            <p:strVal val="#ppt_w"/>
                                          </p:val>
                                        </p:tav>
                                      </p:tavLst>
                                    </p:anim>
                                    <p:anim calcmode="lin" valueType="num">
                                      <p:cBhvr>
                                        <p:cTn id="8" dur="500" fill="hold"/>
                                        <p:tgtEl>
                                          <p:spTgt spid="611330"/>
                                        </p:tgtEl>
                                        <p:attrNameLst>
                                          <p:attrName>ppt_h</p:attrName>
                                        </p:attrNameLst>
                                      </p:cBhvr>
                                      <p:tavLst>
                                        <p:tav tm="0">
                                          <p:val>
                                            <p:fltVal val="0"/>
                                          </p:val>
                                        </p:tav>
                                        <p:tav tm="100000">
                                          <p:val>
                                            <p:strVal val="#ppt_h"/>
                                          </p:val>
                                        </p:tav>
                                      </p:tavLst>
                                    </p:anim>
                                    <p:anim calcmode="lin" valueType="num">
                                      <p:cBhvr>
                                        <p:cTn id="9" dur="500" fill="hold"/>
                                        <p:tgtEl>
                                          <p:spTgt spid="611330"/>
                                        </p:tgtEl>
                                        <p:attrNameLst>
                                          <p:attrName>ppt_x</p:attrName>
                                        </p:attrNameLst>
                                      </p:cBhvr>
                                      <p:tavLst>
                                        <p:tav tm="0">
                                          <p:val>
                                            <p:fltVal val="0.5"/>
                                          </p:val>
                                        </p:tav>
                                        <p:tav tm="100000">
                                          <p:val>
                                            <p:strVal val="#ppt_x"/>
                                          </p:val>
                                        </p:tav>
                                      </p:tavLst>
                                    </p:anim>
                                    <p:anim calcmode="lin" valueType="num">
                                      <p:cBhvr>
                                        <p:cTn id="10" dur="500" fill="hold"/>
                                        <p:tgtEl>
                                          <p:spTgt spid="611330"/>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1330" grpId="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3379" name="Text Box 3"/>
          <p:cNvSpPr txBox="1"/>
          <p:nvPr/>
        </p:nvSpPr>
        <p:spPr>
          <a:xfrm>
            <a:off x="899592" y="1039153"/>
            <a:ext cx="6565900" cy="5203825"/>
          </a:xfrm>
          <a:prstGeom prst="rect">
            <a:avLst/>
          </a:prstGeom>
          <a:noFill/>
          <a:ln w="9525">
            <a:noFill/>
          </a:ln>
        </p:spPr>
        <p:txBody>
          <a:bodyPr wrap="none">
            <a:spAutoFit/>
          </a:bodyPr>
          <a:lstStyle/>
          <a:p>
            <a:pPr>
              <a:lnSpc>
                <a:spcPct val="120000"/>
              </a:lnSpc>
            </a:pPr>
            <a:r>
              <a:rPr lang="en-US" altLang="zh-CN" sz="3200" b="1" dirty="0">
                <a:latin typeface="华文楷体" panose="02010600040101010101" charset="-122"/>
                <a:ea typeface="华文楷体" panose="02010600040101010101" charset="-122"/>
              </a:rPr>
              <a:t>void </a:t>
            </a:r>
            <a:r>
              <a:rPr lang="en-US" altLang="zh-CN" sz="3200" dirty="0">
                <a:latin typeface="华文楷体" panose="02010600040101010101" charset="-122"/>
                <a:ea typeface="华文楷体" panose="02010600040101010101" charset="-122"/>
              </a:rPr>
              <a:t>mult(</a:t>
            </a:r>
            <a:r>
              <a:rPr lang="en-US" altLang="zh-CN" sz="3200" b="1" dirty="0">
                <a:latin typeface="华文楷体" panose="02010600040101010101" charset="-122"/>
                <a:ea typeface="华文楷体" panose="02010600040101010101" charset="-122"/>
              </a:rPr>
              <a:t>int</a:t>
            </a:r>
            <a:r>
              <a:rPr lang="en-US" altLang="zh-CN" sz="3200" dirty="0">
                <a:latin typeface="华文楷体" panose="02010600040101010101" charset="-122"/>
                <a:ea typeface="华文楷体" panose="02010600040101010101" charset="-122"/>
              </a:rPr>
              <a:t> a[], </a:t>
            </a:r>
            <a:r>
              <a:rPr lang="en-US" altLang="zh-CN" sz="3200" b="1" dirty="0">
                <a:latin typeface="华文楷体" panose="02010600040101010101" charset="-122"/>
                <a:ea typeface="华文楷体" panose="02010600040101010101" charset="-122"/>
              </a:rPr>
              <a:t>int</a:t>
            </a:r>
            <a:r>
              <a:rPr lang="en-US" altLang="zh-CN" sz="3200" dirty="0">
                <a:latin typeface="华文楷体" panose="02010600040101010101" charset="-122"/>
                <a:ea typeface="华文楷体" panose="02010600040101010101" charset="-122"/>
              </a:rPr>
              <a:t> b[], </a:t>
            </a:r>
            <a:r>
              <a:rPr lang="en-US" altLang="zh-CN" sz="3200" b="1" dirty="0">
                <a:latin typeface="华文楷体" panose="02010600040101010101" charset="-122"/>
                <a:ea typeface="华文楷体" panose="02010600040101010101" charset="-122"/>
              </a:rPr>
              <a:t>int&amp;</a:t>
            </a:r>
            <a:r>
              <a:rPr lang="en-US" altLang="zh-CN" sz="3200" dirty="0">
                <a:latin typeface="华文楷体" panose="02010600040101010101" charset="-122"/>
                <a:ea typeface="华文楷体" panose="02010600040101010101" charset="-122"/>
              </a:rPr>
              <a:t> c[] ) </a:t>
            </a:r>
            <a:r>
              <a:rPr lang="en-US" altLang="zh-CN" sz="3200" b="1" dirty="0">
                <a:latin typeface="华文楷体" panose="02010600040101010101" charset="-122"/>
                <a:ea typeface="华文楷体" panose="02010600040101010101" charset="-122"/>
              </a:rPr>
              <a:t>{</a:t>
            </a:r>
            <a:endParaRPr lang="en-US" altLang="zh-CN" sz="3200" dirty="0">
              <a:latin typeface="华文楷体" panose="02010600040101010101" charset="-122"/>
              <a:ea typeface="华文楷体" panose="02010600040101010101" charset="-122"/>
            </a:endParaRPr>
          </a:p>
          <a:p>
            <a:pPr>
              <a:lnSpc>
                <a:spcPct val="120000"/>
              </a:lnSpc>
            </a:pPr>
            <a:r>
              <a:rPr lang="en-US" altLang="zh-CN" sz="2400" dirty="0">
                <a:solidFill>
                  <a:srgbClr val="333399"/>
                </a:solidFill>
                <a:latin typeface="华文楷体" panose="02010600040101010101" charset="-122"/>
                <a:ea typeface="华文楷体" panose="02010600040101010101" charset="-122"/>
              </a:rPr>
              <a:t>// </a:t>
            </a:r>
            <a:r>
              <a:rPr lang="zh-CN" altLang="en-US" sz="2400" dirty="0">
                <a:solidFill>
                  <a:srgbClr val="333399"/>
                </a:solidFill>
                <a:latin typeface="华文楷体" panose="02010600040101010101" charset="-122"/>
                <a:ea typeface="华文楷体" panose="02010600040101010101" charset="-122"/>
              </a:rPr>
              <a:t>以二维数组存储矩阵元素，</a:t>
            </a:r>
            <a:r>
              <a:rPr lang="en-US" altLang="zh-CN" sz="2400" dirty="0">
                <a:solidFill>
                  <a:srgbClr val="333399"/>
                </a:solidFill>
                <a:latin typeface="华文楷体" panose="02010600040101010101" charset="-122"/>
                <a:ea typeface="华文楷体" panose="02010600040101010101" charset="-122"/>
              </a:rPr>
              <a:t>c </a:t>
            </a:r>
            <a:r>
              <a:rPr lang="zh-CN" altLang="en-US" sz="2400" dirty="0">
                <a:solidFill>
                  <a:srgbClr val="333399"/>
                </a:solidFill>
                <a:latin typeface="华文楷体" panose="02010600040101010101" charset="-122"/>
                <a:ea typeface="华文楷体" panose="02010600040101010101" charset="-122"/>
              </a:rPr>
              <a:t>为 </a:t>
            </a:r>
            <a:r>
              <a:rPr lang="en-US" altLang="zh-CN" sz="2400" dirty="0">
                <a:solidFill>
                  <a:srgbClr val="333399"/>
                </a:solidFill>
                <a:latin typeface="华文楷体" panose="02010600040101010101" charset="-122"/>
                <a:ea typeface="华文楷体" panose="02010600040101010101" charset="-122"/>
              </a:rPr>
              <a:t>a </a:t>
            </a:r>
            <a:r>
              <a:rPr lang="zh-CN" altLang="en-US" sz="2400" dirty="0">
                <a:solidFill>
                  <a:srgbClr val="333399"/>
                </a:solidFill>
                <a:latin typeface="华文楷体" panose="02010600040101010101" charset="-122"/>
                <a:ea typeface="华文楷体" panose="02010600040101010101" charset="-122"/>
              </a:rPr>
              <a:t>和 </a:t>
            </a:r>
            <a:r>
              <a:rPr lang="en-US" altLang="zh-CN" sz="2400" dirty="0">
                <a:solidFill>
                  <a:srgbClr val="333399"/>
                </a:solidFill>
                <a:latin typeface="华文楷体" panose="02010600040101010101" charset="-122"/>
                <a:ea typeface="华文楷体" panose="02010600040101010101" charset="-122"/>
              </a:rPr>
              <a:t>b </a:t>
            </a:r>
            <a:r>
              <a:rPr lang="zh-CN" altLang="en-US" sz="2400" dirty="0">
                <a:solidFill>
                  <a:srgbClr val="333399"/>
                </a:solidFill>
                <a:latin typeface="华文楷体" panose="02010600040101010101" charset="-122"/>
                <a:ea typeface="华文楷体" panose="02010600040101010101" charset="-122"/>
              </a:rPr>
              <a:t>的乘积</a:t>
            </a:r>
            <a:endParaRPr lang="zh-CN" altLang="en-US" sz="3200" b="1" dirty="0">
              <a:solidFill>
                <a:srgbClr val="6600CC"/>
              </a:solidFill>
              <a:latin typeface="华文楷体" panose="02010600040101010101" charset="-122"/>
              <a:ea typeface="华文楷体" panose="02010600040101010101" charset="-122"/>
            </a:endParaRPr>
          </a:p>
          <a:p>
            <a:pPr>
              <a:lnSpc>
                <a:spcPct val="120000"/>
              </a:lnSpc>
            </a:pPr>
            <a:r>
              <a:rPr lang="zh-CN" altLang="en-US" sz="3200" b="1" dirty="0">
                <a:solidFill>
                  <a:srgbClr val="6600CC"/>
                </a:solidFill>
                <a:latin typeface="华文楷体" panose="02010600040101010101" charset="-122"/>
                <a:ea typeface="华文楷体" panose="02010600040101010101" charset="-122"/>
              </a:rPr>
              <a:t>   </a:t>
            </a:r>
            <a:r>
              <a:rPr lang="en-US" altLang="zh-CN" sz="3200" b="1" dirty="0">
                <a:solidFill>
                  <a:srgbClr val="6600CC"/>
                </a:solidFill>
                <a:latin typeface="华文楷体" panose="02010600040101010101" charset="-122"/>
                <a:ea typeface="华文楷体" panose="02010600040101010101" charset="-122"/>
              </a:rPr>
              <a:t>for</a:t>
            </a:r>
            <a:r>
              <a:rPr lang="en-US" altLang="zh-CN" sz="3200" dirty="0">
                <a:latin typeface="华文楷体" panose="02010600040101010101" charset="-122"/>
                <a:ea typeface="华文楷体" panose="02010600040101010101" charset="-122"/>
              </a:rPr>
              <a:t> (i=1; i&lt;=n; ++i)</a:t>
            </a:r>
            <a:endParaRPr lang="en-US" altLang="zh-CN" sz="3200" dirty="0">
              <a:latin typeface="华文楷体" panose="02010600040101010101" charset="-122"/>
              <a:ea typeface="华文楷体" panose="02010600040101010101" charset="-122"/>
            </a:endParaRPr>
          </a:p>
          <a:p>
            <a:pPr>
              <a:lnSpc>
                <a:spcPct val="120000"/>
              </a:lnSpc>
            </a:pPr>
            <a:r>
              <a:rPr lang="en-US" altLang="zh-CN" sz="3200" dirty="0">
                <a:latin typeface="华文楷体" panose="02010600040101010101" charset="-122"/>
                <a:ea typeface="华文楷体" panose="02010600040101010101" charset="-122"/>
              </a:rPr>
              <a:t>      </a:t>
            </a:r>
            <a:r>
              <a:rPr lang="en-US" altLang="zh-CN" sz="3200" b="1" dirty="0">
                <a:solidFill>
                  <a:srgbClr val="6600CC"/>
                </a:solidFill>
                <a:latin typeface="华文楷体" panose="02010600040101010101" charset="-122"/>
                <a:ea typeface="华文楷体" panose="02010600040101010101" charset="-122"/>
              </a:rPr>
              <a:t>for</a:t>
            </a:r>
            <a:r>
              <a:rPr lang="en-US" altLang="zh-CN" sz="3200" dirty="0">
                <a:latin typeface="华文楷体" panose="02010600040101010101" charset="-122"/>
                <a:ea typeface="华文楷体" panose="02010600040101010101" charset="-122"/>
              </a:rPr>
              <a:t> (j=1; j&lt;=n; ++j) </a:t>
            </a:r>
            <a:r>
              <a:rPr lang="en-US" altLang="zh-CN" sz="3200" b="1" dirty="0">
                <a:latin typeface="华文楷体" panose="02010600040101010101" charset="-122"/>
                <a:ea typeface="华文楷体" panose="02010600040101010101" charset="-122"/>
              </a:rPr>
              <a:t>{</a:t>
            </a:r>
            <a:endParaRPr lang="en-US" altLang="zh-CN" sz="3200" dirty="0">
              <a:latin typeface="华文楷体" panose="02010600040101010101" charset="-122"/>
              <a:ea typeface="华文楷体" panose="02010600040101010101" charset="-122"/>
            </a:endParaRPr>
          </a:p>
          <a:p>
            <a:pPr>
              <a:lnSpc>
                <a:spcPct val="120000"/>
              </a:lnSpc>
            </a:pPr>
            <a:r>
              <a:rPr lang="en-US" altLang="zh-CN" sz="3200" dirty="0">
                <a:latin typeface="华文楷体" panose="02010600040101010101" charset="-122"/>
                <a:ea typeface="华文楷体" panose="02010600040101010101" charset="-122"/>
              </a:rPr>
              <a:t>         c[i,j] = 0;</a:t>
            </a:r>
            <a:endParaRPr lang="en-US" altLang="zh-CN" sz="3200" dirty="0">
              <a:latin typeface="华文楷体" panose="02010600040101010101" charset="-122"/>
              <a:ea typeface="华文楷体" panose="02010600040101010101" charset="-122"/>
            </a:endParaRPr>
          </a:p>
          <a:p>
            <a:pPr>
              <a:lnSpc>
                <a:spcPct val="120000"/>
              </a:lnSpc>
            </a:pPr>
            <a:r>
              <a:rPr lang="en-US" altLang="zh-CN" sz="3200" dirty="0">
                <a:latin typeface="华文楷体" panose="02010600040101010101" charset="-122"/>
                <a:ea typeface="华文楷体" panose="02010600040101010101" charset="-122"/>
              </a:rPr>
              <a:t>         </a:t>
            </a:r>
            <a:r>
              <a:rPr lang="en-US" altLang="zh-CN" sz="3200" b="1" dirty="0">
                <a:solidFill>
                  <a:srgbClr val="6600CC"/>
                </a:solidFill>
                <a:latin typeface="华文楷体" panose="02010600040101010101" charset="-122"/>
                <a:ea typeface="华文楷体" panose="02010600040101010101" charset="-122"/>
              </a:rPr>
              <a:t>for</a:t>
            </a:r>
            <a:r>
              <a:rPr lang="en-US" altLang="zh-CN" sz="3200" dirty="0">
                <a:latin typeface="华文楷体" panose="02010600040101010101" charset="-122"/>
                <a:ea typeface="华文楷体" panose="02010600040101010101" charset="-122"/>
              </a:rPr>
              <a:t> (k=1; k&lt;=n; </a:t>
            </a:r>
            <a:r>
              <a:rPr lang="en-US" altLang="zh-CN" sz="3200" b="1" dirty="0">
                <a:latin typeface="华文楷体" panose="02010600040101010101" charset="-122"/>
                <a:ea typeface="华文楷体" panose="02010600040101010101" charset="-122"/>
              </a:rPr>
              <a:t>++</a:t>
            </a:r>
            <a:r>
              <a:rPr lang="en-US" altLang="zh-CN" sz="3200" dirty="0">
                <a:latin typeface="华文楷体" panose="02010600040101010101" charset="-122"/>
                <a:ea typeface="华文楷体" panose="02010600040101010101" charset="-122"/>
              </a:rPr>
              <a:t>k)</a:t>
            </a:r>
            <a:endParaRPr lang="en-US" altLang="zh-CN" sz="3200" dirty="0">
              <a:latin typeface="华文楷体" panose="02010600040101010101" charset="-122"/>
              <a:ea typeface="华文楷体" panose="02010600040101010101" charset="-122"/>
            </a:endParaRPr>
          </a:p>
          <a:p>
            <a:pPr>
              <a:lnSpc>
                <a:spcPct val="120000"/>
              </a:lnSpc>
            </a:pPr>
            <a:r>
              <a:rPr lang="en-US" altLang="zh-CN" sz="3200" dirty="0">
                <a:latin typeface="华文楷体" panose="02010600040101010101" charset="-122"/>
                <a:ea typeface="华文楷体" panose="02010600040101010101" charset="-122"/>
              </a:rPr>
              <a:t>            c[i,j] += </a:t>
            </a:r>
            <a:r>
              <a:rPr lang="en-US" altLang="zh-CN" sz="3200" dirty="0">
                <a:solidFill>
                  <a:srgbClr val="CC0000"/>
                </a:solidFill>
                <a:latin typeface="华文楷体" panose="02010600040101010101" charset="-122"/>
                <a:ea typeface="华文楷体" panose="02010600040101010101" charset="-122"/>
              </a:rPr>
              <a:t>a[i,k]</a:t>
            </a:r>
            <a:r>
              <a:rPr lang="en-US" altLang="zh-CN" sz="3200" b="1" dirty="0">
                <a:solidFill>
                  <a:srgbClr val="CC0000"/>
                </a:solidFill>
                <a:latin typeface="华文楷体" panose="02010600040101010101" charset="-122"/>
                <a:ea typeface="华文楷体" panose="02010600040101010101" charset="-122"/>
              </a:rPr>
              <a:t>*</a:t>
            </a:r>
            <a:r>
              <a:rPr lang="en-US" altLang="zh-CN" sz="3200" dirty="0">
                <a:solidFill>
                  <a:srgbClr val="CC0000"/>
                </a:solidFill>
                <a:latin typeface="华文楷体" panose="02010600040101010101" charset="-122"/>
                <a:ea typeface="华文楷体" panose="02010600040101010101" charset="-122"/>
              </a:rPr>
              <a:t>b[k,j];</a:t>
            </a:r>
            <a:endParaRPr lang="en-US" altLang="zh-CN" sz="3200" dirty="0">
              <a:latin typeface="华文楷体" panose="02010600040101010101" charset="-122"/>
              <a:ea typeface="华文楷体" panose="02010600040101010101" charset="-122"/>
            </a:endParaRPr>
          </a:p>
          <a:p>
            <a:pPr>
              <a:lnSpc>
                <a:spcPct val="120000"/>
              </a:lnSpc>
            </a:pPr>
            <a:r>
              <a:rPr lang="en-US" altLang="zh-CN" sz="3200" dirty="0">
                <a:latin typeface="华文楷体" panose="02010600040101010101" charset="-122"/>
                <a:ea typeface="华文楷体" panose="02010600040101010101" charset="-122"/>
              </a:rPr>
              <a:t>      </a:t>
            </a:r>
            <a:r>
              <a:rPr lang="en-US" altLang="zh-CN" sz="3200" b="1" dirty="0">
                <a:latin typeface="华文楷体" panose="02010600040101010101" charset="-122"/>
                <a:ea typeface="华文楷体" panose="02010600040101010101" charset="-122"/>
              </a:rPr>
              <a:t>} </a:t>
            </a:r>
            <a:r>
              <a:rPr lang="en-US" altLang="zh-CN" sz="3200" dirty="0">
                <a:latin typeface="华文楷体" panose="02010600040101010101" charset="-122"/>
                <a:ea typeface="华文楷体" panose="02010600040101010101" charset="-122"/>
              </a:rPr>
              <a:t>//for</a:t>
            </a:r>
            <a:endParaRPr lang="en-US" altLang="zh-CN" sz="3200" b="1" dirty="0">
              <a:latin typeface="华文楷体" panose="02010600040101010101" charset="-122"/>
              <a:ea typeface="华文楷体" panose="02010600040101010101" charset="-122"/>
            </a:endParaRPr>
          </a:p>
          <a:p>
            <a:pPr>
              <a:lnSpc>
                <a:spcPct val="120000"/>
              </a:lnSpc>
            </a:pPr>
            <a:r>
              <a:rPr lang="en-US" altLang="zh-CN" sz="3200" b="1" dirty="0">
                <a:latin typeface="华文楷体" panose="02010600040101010101" charset="-122"/>
                <a:ea typeface="华文楷体" panose="02010600040101010101" charset="-122"/>
              </a:rPr>
              <a:t>} </a:t>
            </a:r>
            <a:r>
              <a:rPr lang="en-US" altLang="zh-CN" sz="3200" dirty="0">
                <a:latin typeface="华文楷体" panose="02010600040101010101" charset="-122"/>
                <a:ea typeface="华文楷体" panose="02010600040101010101" charset="-122"/>
              </a:rPr>
              <a:t>//mult</a:t>
            </a:r>
            <a:endParaRPr lang="en-US" altLang="zh-CN" sz="3200" b="1" dirty="0">
              <a:latin typeface="华文楷体" panose="02010600040101010101" charset="-122"/>
              <a:ea typeface="华文楷体" panose="02010600040101010101" charset="-122"/>
            </a:endParaRPr>
          </a:p>
        </p:txBody>
      </p:sp>
      <p:sp>
        <p:nvSpPr>
          <p:cNvPr id="613380" name="Text Box 4"/>
          <p:cNvSpPr txBox="1"/>
          <p:nvPr/>
        </p:nvSpPr>
        <p:spPr>
          <a:xfrm>
            <a:off x="4540250" y="5272949"/>
            <a:ext cx="4791075" cy="701675"/>
          </a:xfrm>
          <a:prstGeom prst="rect">
            <a:avLst/>
          </a:prstGeom>
          <a:noFill/>
          <a:ln w="9525">
            <a:noFill/>
          </a:ln>
        </p:spPr>
        <p:txBody>
          <a:bodyPr>
            <a:spAutoFit/>
          </a:bodyPr>
          <a:lstStyle/>
          <a:p>
            <a:r>
              <a:rPr lang="zh-CN" altLang="en-US" sz="3600" dirty="0">
                <a:latin typeface="华文楷体" panose="02010600040101010101" charset="-122"/>
                <a:ea typeface="华文楷体" panose="02010600040101010101" charset="-122"/>
              </a:rPr>
              <a:t>基本操作</a:t>
            </a:r>
            <a:r>
              <a:rPr lang="en-US" altLang="zh-CN" sz="3600" dirty="0">
                <a:latin typeface="华文楷体" panose="02010600040101010101" charset="-122"/>
                <a:ea typeface="华文楷体" panose="02010600040101010101" charset="-122"/>
              </a:rPr>
              <a:t>:</a:t>
            </a:r>
            <a:r>
              <a:rPr lang="en-US" altLang="zh-CN" sz="4000" dirty="0">
                <a:latin typeface="华文楷体" panose="02010600040101010101" charset="-122"/>
                <a:ea typeface="华文楷体" panose="02010600040101010101" charset="-122"/>
              </a:rPr>
              <a:t> </a:t>
            </a:r>
            <a:r>
              <a:rPr lang="zh-CN" altLang="en-US" sz="4000" b="1" dirty="0">
                <a:solidFill>
                  <a:srgbClr val="CC0000"/>
                </a:solidFill>
                <a:latin typeface="华文楷体" panose="02010600040101010101" charset="-122"/>
                <a:ea typeface="华文楷体" panose="02010600040101010101" charset="-122"/>
              </a:rPr>
              <a:t>乘法</a:t>
            </a:r>
            <a:r>
              <a:rPr lang="zh-CN" altLang="en-US" sz="4000" dirty="0">
                <a:solidFill>
                  <a:srgbClr val="CC0000"/>
                </a:solidFill>
                <a:latin typeface="华文楷体" panose="02010600040101010101" charset="-122"/>
                <a:ea typeface="华文楷体" panose="02010600040101010101" charset="-122"/>
              </a:rPr>
              <a:t>操作</a:t>
            </a:r>
            <a:endParaRPr lang="zh-CN" altLang="en-US" sz="2400" dirty="0">
              <a:latin typeface="华文楷体" panose="02010600040101010101" charset="-122"/>
              <a:ea typeface="华文楷体" panose="02010600040101010101" charset="-122"/>
            </a:endParaRPr>
          </a:p>
        </p:txBody>
      </p:sp>
      <p:sp>
        <p:nvSpPr>
          <p:cNvPr id="613381" name="Text Box 5"/>
          <p:cNvSpPr txBox="1"/>
          <p:nvPr/>
        </p:nvSpPr>
        <p:spPr>
          <a:xfrm>
            <a:off x="4540250" y="6000889"/>
            <a:ext cx="3975768" cy="707886"/>
          </a:xfrm>
          <a:prstGeom prst="rect">
            <a:avLst/>
          </a:prstGeom>
          <a:noFill/>
          <a:ln w="9525">
            <a:noFill/>
          </a:ln>
        </p:spPr>
        <p:txBody>
          <a:bodyPr wrap="none">
            <a:spAutoFit/>
          </a:bodyPr>
          <a:lstStyle/>
          <a:p>
            <a:r>
              <a:rPr lang="zh-CN" altLang="en-US" sz="3600" dirty="0">
                <a:latin typeface="华文楷体" panose="02010600040101010101" charset="-122"/>
                <a:ea typeface="华文楷体" panose="02010600040101010101" charset="-122"/>
              </a:rPr>
              <a:t>时间复杂度</a:t>
            </a:r>
            <a:r>
              <a:rPr lang="en-US" altLang="zh-CN" sz="3600" dirty="0">
                <a:latin typeface="华文楷体" panose="02010600040101010101" charset="-122"/>
                <a:ea typeface="华文楷体" panose="02010600040101010101" charset="-122"/>
              </a:rPr>
              <a:t>:</a:t>
            </a:r>
            <a:r>
              <a:rPr lang="en-US" altLang="zh-CN" sz="4000" dirty="0">
                <a:latin typeface="华文楷体" panose="02010600040101010101" charset="-122"/>
                <a:ea typeface="华文楷体" panose="02010600040101010101" charset="-122"/>
              </a:rPr>
              <a:t>  </a:t>
            </a:r>
            <a:r>
              <a:rPr lang="en-US" altLang="zh-CN" sz="4000" b="1" dirty="0">
                <a:solidFill>
                  <a:srgbClr val="6600CC"/>
                </a:solidFill>
                <a:latin typeface="华文楷体" panose="02010600040101010101" charset="-122"/>
                <a:ea typeface="华文楷体" panose="02010600040101010101" charset="-122"/>
              </a:rPr>
              <a:t>O(n</a:t>
            </a:r>
            <a:r>
              <a:rPr lang="en-US" altLang="zh-CN" sz="4000" b="1" baseline="30000" dirty="0">
                <a:solidFill>
                  <a:srgbClr val="6600CC"/>
                </a:solidFill>
                <a:latin typeface="华文楷体" panose="02010600040101010101" charset="-122"/>
                <a:ea typeface="华文楷体" panose="02010600040101010101" charset="-122"/>
              </a:rPr>
              <a:t>3</a:t>
            </a:r>
            <a:r>
              <a:rPr lang="en-US" altLang="zh-CN" sz="4000" b="1" dirty="0">
                <a:solidFill>
                  <a:srgbClr val="6600CC"/>
                </a:solidFill>
                <a:latin typeface="华文楷体" panose="02010600040101010101" charset="-122"/>
                <a:ea typeface="华文楷体" panose="02010600040101010101" charset="-122"/>
              </a:rPr>
              <a:t>)</a:t>
            </a:r>
            <a:endParaRPr lang="en-US" altLang="zh-CN" sz="4000" dirty="0">
              <a:latin typeface="华文楷体" panose="02010600040101010101" charset="-122"/>
              <a:ea typeface="华文楷体" panose="02010600040101010101" charset="-122"/>
            </a:endParaRPr>
          </a:p>
        </p:txBody>
      </p:sp>
      <p:sp>
        <p:nvSpPr>
          <p:cNvPr id="88069" name="Text Box 6"/>
          <p:cNvSpPr txBox="1"/>
          <p:nvPr/>
        </p:nvSpPr>
        <p:spPr>
          <a:xfrm>
            <a:off x="1965325" y="-307975"/>
            <a:ext cx="184731" cy="369332"/>
          </a:xfrm>
          <a:prstGeom prst="rect">
            <a:avLst/>
          </a:prstGeom>
          <a:noFill/>
          <a:ln w="9525">
            <a:noFill/>
          </a:ln>
        </p:spPr>
        <p:txBody>
          <a:bodyPr wrap="none">
            <a:spAutoFit/>
          </a:bodyPr>
          <a:lstStyle/>
          <a:p>
            <a:endParaRPr lang="zh-CN" altLang="en-US" dirty="0">
              <a:latin typeface="华文楷体" panose="02010600040101010101" charset="-122"/>
              <a:ea typeface="华文楷体" panose="02010600040101010101" charset="-122"/>
            </a:endParaRPr>
          </a:p>
        </p:txBody>
      </p:sp>
      <p:sp>
        <p:nvSpPr>
          <p:cNvPr id="88070" name="Text Box 8"/>
          <p:cNvSpPr txBox="1"/>
          <p:nvPr/>
        </p:nvSpPr>
        <p:spPr>
          <a:xfrm>
            <a:off x="1508125" y="149225"/>
            <a:ext cx="4502150" cy="701675"/>
          </a:xfrm>
          <a:prstGeom prst="rect">
            <a:avLst/>
          </a:prstGeom>
          <a:noFill/>
          <a:ln w="9525">
            <a:noFill/>
          </a:ln>
        </p:spPr>
        <p:txBody>
          <a:bodyPr wrap="none">
            <a:spAutoFit/>
          </a:bodyPr>
          <a:lstStyle/>
          <a:p>
            <a:r>
              <a:rPr lang="zh-CN" altLang="en-US" sz="4000" dirty="0">
                <a:solidFill>
                  <a:srgbClr val="FF0000"/>
                </a:solidFill>
                <a:latin typeface="华文楷体" panose="02010600040101010101" charset="-122"/>
                <a:ea typeface="华文楷体" panose="02010600040101010101" charset="-122"/>
              </a:rPr>
              <a:t>例</a:t>
            </a:r>
            <a:r>
              <a:rPr lang="en-US" altLang="zh-CN" sz="4000" dirty="0">
                <a:solidFill>
                  <a:srgbClr val="FF0000"/>
                </a:solidFill>
                <a:latin typeface="华文楷体" panose="02010600040101010101" charset="-122"/>
                <a:ea typeface="华文楷体" panose="02010600040101010101" charset="-122"/>
              </a:rPr>
              <a:t>1</a:t>
            </a:r>
            <a:r>
              <a:rPr lang="zh-CN" altLang="en-US" sz="4000" dirty="0">
                <a:solidFill>
                  <a:srgbClr val="FF0000"/>
                </a:solidFill>
                <a:latin typeface="华文楷体" panose="02010600040101010101" charset="-122"/>
                <a:ea typeface="华文楷体" panose="02010600040101010101" charset="-122"/>
              </a:rPr>
              <a:t>：两个矩阵相乘</a:t>
            </a:r>
            <a:endParaRPr lang="zh-CN" altLang="en-US" sz="4000" dirty="0">
              <a:solidFill>
                <a:srgbClr val="FF0000"/>
              </a:solidFill>
              <a:latin typeface="华文楷体" panose="02010600040101010101" charset="-122"/>
              <a:ea typeface="华文楷体" panose="02010600040101010101" charset="-122"/>
            </a:endParaRPr>
          </a:p>
        </p:txBody>
      </p:sp>
      <p:sp>
        <p:nvSpPr>
          <p:cNvPr id="2" name="日期占位符 1"/>
          <p:cNvSpPr>
            <a:spLocks noGrp="1"/>
          </p:cNvSpPr>
          <p:nvPr>
            <p:ph type="dt" sz="half" idx="10"/>
          </p:nvPr>
        </p:nvSpPr>
        <p:spPr/>
        <p:txBody>
          <a:bodyPr/>
          <a:lstStyle/>
          <a:p>
            <a:r>
              <a:rPr lang="en-US" altLang="zh-CN">
                <a:latin typeface="华文楷体" panose="02010600040101010101" charset="-122"/>
                <a:ea typeface="华文楷体" panose="02010600040101010101" charset="-122"/>
              </a:rPr>
              <a:t>Data Structures and algorithms</a:t>
            </a:r>
            <a:endParaRPr lang="zh-CN" altLang="en-US">
              <a:latin typeface="华文楷体" panose="02010600040101010101" charset="-122"/>
              <a:ea typeface="华文楷体" panose="02010600040101010101" charset="-122"/>
            </a:endParaRPr>
          </a:p>
        </p:txBody>
      </p:sp>
      <p:sp>
        <p:nvSpPr>
          <p:cNvPr id="3" name="页脚占位符 2"/>
          <p:cNvSpPr>
            <a:spLocks noGrp="1"/>
          </p:cNvSpPr>
          <p:nvPr>
            <p:ph type="ftr" sz="quarter" idx="11"/>
          </p:nvPr>
        </p:nvSpPr>
        <p:spPr/>
        <p:txBody>
          <a:bodyPr/>
          <a:lstStyle/>
          <a:p>
            <a:r>
              <a:rPr lang="en-US" altLang="zh-CN">
                <a:latin typeface="华文楷体" panose="02010600040101010101" charset="-122"/>
                <a:ea typeface="华文楷体" panose="02010600040101010101" charset="-122"/>
              </a:rPr>
              <a:t>Software College Northeastern University</a:t>
            </a:r>
            <a:endParaRPr lang="zh-CN" altLang="en-US">
              <a:latin typeface="华文楷体" panose="02010600040101010101" charset="-122"/>
              <a:ea typeface="华文楷体" panose="02010600040101010101" charset="-122"/>
            </a:endParaRPr>
          </a:p>
        </p:txBody>
      </p:sp>
      <p:sp>
        <p:nvSpPr>
          <p:cNvPr id="4" name="灯片编号占位符 3"/>
          <p:cNvSpPr>
            <a:spLocks noGrp="1"/>
          </p:cNvSpPr>
          <p:nvPr>
            <p:ph type="sldNum" sz="quarter" idx="12"/>
          </p:nvPr>
        </p:nvSpPr>
        <p:spPr/>
        <p:txBody>
          <a:bodyPr/>
          <a:lstStyle/>
          <a:p>
            <a:fld id="{6E1C0148-8E4B-4B2F-95CE-20B4709700AE}" type="slidenum">
              <a:rPr lang="zh-CN" altLang="en-US" smtClean="0">
                <a:latin typeface="华文楷体" panose="02010600040101010101" charset="-122"/>
                <a:ea typeface="华文楷体" panose="02010600040101010101" charset="-122"/>
              </a:rPr>
            </a:fld>
            <a:endParaRPr lang="zh-CN" altLang="en-US">
              <a:latin typeface="华文楷体" panose="02010600040101010101" charset="-122"/>
              <a:ea typeface="华文楷体" panose="0201060004010101010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grpId="0" nodeType="clickEffect">
                                  <p:stCondLst>
                                    <p:cond delay="0"/>
                                  </p:stCondLst>
                                  <p:childTnLst>
                                    <p:set>
                                      <p:cBhvr>
                                        <p:cTn id="6" dur="1" fill="hold">
                                          <p:stCondLst>
                                            <p:cond delay="0"/>
                                          </p:stCondLst>
                                        </p:cTn>
                                        <p:tgtEl>
                                          <p:spTgt spid="613379"/>
                                        </p:tgtEl>
                                        <p:attrNameLst>
                                          <p:attrName>style.visibility</p:attrName>
                                        </p:attrNameLst>
                                      </p:cBhvr>
                                      <p:to>
                                        <p:strVal val="visible"/>
                                      </p:to>
                                    </p:set>
                                    <p:animEffect transition="in" filter="barn(outVertical)">
                                      <p:cBhvr>
                                        <p:cTn id="7" dur="500"/>
                                        <p:tgtEl>
                                          <p:spTgt spid="61337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613380"/>
                                        </p:tgtEl>
                                        <p:attrNameLst>
                                          <p:attrName>style.visibility</p:attrName>
                                        </p:attrNameLst>
                                      </p:cBhvr>
                                      <p:to>
                                        <p:strVal val="visible"/>
                                      </p:to>
                                    </p:set>
                                    <p:animEffect transition="in" filter="wipe(left)">
                                      <p:cBhvr>
                                        <p:cTn id="12" dur="300"/>
                                        <p:tgtEl>
                                          <p:spTgt spid="61338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wd">
                                    <p:tmPct val="100000"/>
                                  </p:iterate>
                                  <p:childTnLst>
                                    <p:set>
                                      <p:cBhvr>
                                        <p:cTn id="16" dur="1" fill="hold">
                                          <p:stCondLst>
                                            <p:cond delay="0"/>
                                          </p:stCondLst>
                                        </p:cTn>
                                        <p:tgtEl>
                                          <p:spTgt spid="613381"/>
                                        </p:tgtEl>
                                        <p:attrNameLst>
                                          <p:attrName>style.visibility</p:attrName>
                                        </p:attrNameLst>
                                      </p:cBhvr>
                                      <p:to>
                                        <p:strVal val="visible"/>
                                      </p:to>
                                    </p:set>
                                    <p:animEffect transition="in" filter="wipe(left)">
                                      <p:cBhvr>
                                        <p:cTn id="17" dur="300"/>
                                        <p:tgtEl>
                                          <p:spTgt spid="6133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3379" grpId="0"/>
      <p:bldP spid="613380" grpId="0"/>
      <p:bldP spid="613381" grpId="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Text Box 2"/>
          <p:cNvSpPr txBox="1"/>
          <p:nvPr/>
        </p:nvSpPr>
        <p:spPr>
          <a:xfrm>
            <a:off x="1524000" y="228600"/>
            <a:ext cx="4495800" cy="641350"/>
          </a:xfrm>
          <a:prstGeom prst="rect">
            <a:avLst/>
          </a:prstGeom>
          <a:noFill/>
          <a:ln w="9525">
            <a:noFill/>
          </a:ln>
        </p:spPr>
        <p:txBody>
          <a:bodyPr>
            <a:spAutoFit/>
          </a:bodyPr>
          <a:lstStyle/>
          <a:p>
            <a:r>
              <a:rPr lang="zh-CN" altLang="en-US" sz="3600" b="1" dirty="0">
                <a:solidFill>
                  <a:srgbClr val="FF0000"/>
                </a:solidFill>
                <a:latin typeface="华文楷体" panose="02010600040101010101" charset="-122"/>
                <a:ea typeface="华文楷体" panose="02010600040101010101" charset="-122"/>
              </a:rPr>
              <a:t>例</a:t>
            </a:r>
            <a:r>
              <a:rPr lang="en-US" altLang="zh-CN" sz="3600" b="1" dirty="0">
                <a:solidFill>
                  <a:srgbClr val="FF0000"/>
                </a:solidFill>
                <a:latin typeface="华文楷体" panose="02010600040101010101" charset="-122"/>
                <a:ea typeface="华文楷体" panose="02010600040101010101" charset="-122"/>
              </a:rPr>
              <a:t>2</a:t>
            </a:r>
            <a:r>
              <a:rPr lang="zh-CN" altLang="en-US" sz="3600" b="1" dirty="0">
                <a:solidFill>
                  <a:srgbClr val="FF0000"/>
                </a:solidFill>
                <a:latin typeface="华文楷体" panose="02010600040101010101" charset="-122"/>
                <a:ea typeface="华文楷体" panose="02010600040101010101" charset="-122"/>
              </a:rPr>
              <a:t>：选择排序</a:t>
            </a:r>
            <a:endParaRPr lang="zh-CN" altLang="en-US" sz="2400" b="1" dirty="0">
              <a:latin typeface="华文楷体" panose="02010600040101010101" charset="-122"/>
              <a:ea typeface="华文楷体" panose="02010600040101010101" charset="-122"/>
            </a:endParaRPr>
          </a:p>
        </p:txBody>
      </p:sp>
      <p:sp>
        <p:nvSpPr>
          <p:cNvPr id="614403" name="Text Box 3"/>
          <p:cNvSpPr txBox="1"/>
          <p:nvPr/>
        </p:nvSpPr>
        <p:spPr>
          <a:xfrm>
            <a:off x="457200" y="1066800"/>
            <a:ext cx="8465779" cy="4995663"/>
          </a:xfrm>
          <a:prstGeom prst="rect">
            <a:avLst/>
          </a:prstGeom>
          <a:noFill/>
          <a:ln w="9525">
            <a:noFill/>
          </a:ln>
        </p:spPr>
        <p:txBody>
          <a:bodyPr wrap="none">
            <a:spAutoFit/>
          </a:bodyPr>
          <a:lstStyle/>
          <a:p>
            <a:r>
              <a:rPr lang="zh-CN" altLang="en-US" sz="3200" b="1" dirty="0">
                <a:latin typeface="华文楷体" panose="02010600040101010101" charset="-122"/>
                <a:ea typeface="华文楷体" panose="02010600040101010101" charset="-122"/>
              </a:rPr>
              <a:t> </a:t>
            </a:r>
            <a:r>
              <a:rPr lang="en-US" altLang="zh-CN" sz="3200" b="1" dirty="0">
                <a:latin typeface="华文楷体" panose="02010600040101010101" charset="-122"/>
                <a:ea typeface="华文楷体" panose="02010600040101010101" charset="-122"/>
              </a:rPr>
              <a:t>void</a:t>
            </a:r>
            <a:r>
              <a:rPr lang="en-US" altLang="zh-CN" sz="3200" dirty="0">
                <a:latin typeface="华文楷体" panose="02010600040101010101" charset="-122"/>
                <a:ea typeface="华文楷体" panose="02010600040101010101" charset="-122"/>
              </a:rPr>
              <a:t> select_sort(</a:t>
            </a:r>
            <a:r>
              <a:rPr lang="en-US" altLang="zh-CN" sz="3200" b="1" dirty="0">
                <a:latin typeface="华文楷体" panose="02010600040101010101" charset="-122"/>
                <a:ea typeface="华文楷体" panose="02010600040101010101" charset="-122"/>
              </a:rPr>
              <a:t>int&amp;</a:t>
            </a:r>
            <a:r>
              <a:rPr lang="en-US" altLang="zh-CN" sz="3200" dirty="0">
                <a:latin typeface="华文楷体" panose="02010600040101010101" charset="-122"/>
                <a:ea typeface="华文楷体" panose="02010600040101010101" charset="-122"/>
              </a:rPr>
              <a:t> a[], </a:t>
            </a:r>
            <a:r>
              <a:rPr lang="en-US" altLang="zh-CN" sz="3200" b="1" dirty="0">
                <a:latin typeface="华文楷体" panose="02010600040101010101" charset="-122"/>
                <a:ea typeface="华文楷体" panose="02010600040101010101" charset="-122"/>
              </a:rPr>
              <a:t>int</a:t>
            </a:r>
            <a:r>
              <a:rPr lang="en-US" altLang="zh-CN" sz="3200" dirty="0">
                <a:latin typeface="华文楷体" panose="02010600040101010101" charset="-122"/>
                <a:ea typeface="华文楷体" panose="02010600040101010101" charset="-122"/>
              </a:rPr>
              <a:t> n) </a:t>
            </a:r>
            <a:r>
              <a:rPr lang="en-US" altLang="zh-CN" sz="3200" b="1" dirty="0">
                <a:latin typeface="华文楷体" panose="02010600040101010101" charset="-122"/>
                <a:ea typeface="华文楷体" panose="02010600040101010101" charset="-122"/>
              </a:rPr>
              <a:t>{</a:t>
            </a:r>
            <a:endParaRPr lang="en-US" altLang="zh-CN" sz="3200" dirty="0">
              <a:latin typeface="华文楷体" panose="02010600040101010101" charset="-122"/>
              <a:ea typeface="华文楷体" panose="02010600040101010101" charset="-122"/>
            </a:endParaRPr>
          </a:p>
          <a:p>
            <a:r>
              <a:rPr lang="en-US" altLang="zh-CN" sz="3200" dirty="0">
                <a:latin typeface="华文楷体" panose="02010600040101010101" charset="-122"/>
                <a:ea typeface="华文楷体" panose="02010600040101010101" charset="-122"/>
              </a:rPr>
              <a:t>   // </a:t>
            </a:r>
            <a:r>
              <a:rPr lang="zh-CN" altLang="en-US" sz="2400" b="1" dirty="0">
                <a:solidFill>
                  <a:srgbClr val="333399"/>
                </a:solidFill>
                <a:latin typeface="华文楷体" panose="02010600040101010101" charset="-122"/>
                <a:ea typeface="华文楷体" panose="02010600040101010101" charset="-122"/>
              </a:rPr>
              <a:t>将 </a:t>
            </a:r>
            <a:r>
              <a:rPr lang="en-US" altLang="zh-CN" sz="2400" b="1" dirty="0">
                <a:solidFill>
                  <a:srgbClr val="333399"/>
                </a:solidFill>
                <a:latin typeface="华文楷体" panose="02010600040101010101" charset="-122"/>
                <a:ea typeface="华文楷体" panose="02010600040101010101" charset="-122"/>
              </a:rPr>
              <a:t>a </a:t>
            </a:r>
            <a:r>
              <a:rPr lang="zh-CN" altLang="en-US" sz="2400" b="1" dirty="0">
                <a:solidFill>
                  <a:srgbClr val="333399"/>
                </a:solidFill>
                <a:latin typeface="华文楷体" panose="02010600040101010101" charset="-122"/>
                <a:ea typeface="华文楷体" panose="02010600040101010101" charset="-122"/>
              </a:rPr>
              <a:t>中整数序列重新排列成自小至大有序的整数序列</a:t>
            </a:r>
            <a:r>
              <a:rPr lang="zh-CN" altLang="en-US" sz="3200" dirty="0">
                <a:solidFill>
                  <a:srgbClr val="333399"/>
                </a:solidFill>
                <a:latin typeface="华文楷体" panose="02010600040101010101" charset="-122"/>
                <a:ea typeface="华文楷体" panose="02010600040101010101" charset="-122"/>
              </a:rPr>
              <a:t>。</a:t>
            </a:r>
            <a:endParaRPr lang="zh-CN" altLang="en-US" sz="3200" dirty="0">
              <a:latin typeface="华文楷体" panose="02010600040101010101" charset="-122"/>
              <a:ea typeface="华文楷体" panose="02010600040101010101" charset="-122"/>
            </a:endParaRPr>
          </a:p>
          <a:p>
            <a:pPr>
              <a:lnSpc>
                <a:spcPct val="115000"/>
              </a:lnSpc>
            </a:pPr>
            <a:r>
              <a:rPr lang="zh-CN" altLang="en-US" sz="3200" dirty="0">
                <a:latin typeface="华文楷体" panose="02010600040101010101" charset="-122"/>
                <a:ea typeface="华文楷体" panose="02010600040101010101" charset="-122"/>
              </a:rPr>
              <a:t>  </a:t>
            </a:r>
            <a:r>
              <a:rPr lang="zh-CN" altLang="en-US" sz="3200" dirty="0">
                <a:solidFill>
                  <a:srgbClr val="006699"/>
                </a:solidFill>
                <a:latin typeface="华文楷体" panose="02010600040101010101" charset="-122"/>
                <a:ea typeface="华文楷体" panose="02010600040101010101" charset="-122"/>
              </a:rPr>
              <a:t> </a:t>
            </a:r>
            <a:endParaRPr lang="zh-CN" altLang="en-US" sz="3200" dirty="0">
              <a:solidFill>
                <a:srgbClr val="006699"/>
              </a:solidFill>
              <a:latin typeface="华文楷体" panose="02010600040101010101" charset="-122"/>
              <a:ea typeface="华文楷体" panose="02010600040101010101" charset="-122"/>
            </a:endParaRPr>
          </a:p>
          <a:p>
            <a:pPr>
              <a:lnSpc>
                <a:spcPct val="115000"/>
              </a:lnSpc>
            </a:pPr>
            <a:endParaRPr lang="zh-CN" altLang="en-US" sz="3200" dirty="0">
              <a:solidFill>
                <a:srgbClr val="006699"/>
              </a:solidFill>
              <a:latin typeface="华文楷体" panose="02010600040101010101" charset="-122"/>
              <a:ea typeface="华文楷体" panose="02010600040101010101" charset="-122"/>
            </a:endParaRPr>
          </a:p>
          <a:p>
            <a:pPr>
              <a:lnSpc>
                <a:spcPct val="115000"/>
              </a:lnSpc>
            </a:pPr>
            <a:endParaRPr lang="zh-CN" altLang="en-US" sz="3200" dirty="0">
              <a:solidFill>
                <a:srgbClr val="006699"/>
              </a:solidFill>
              <a:latin typeface="华文楷体" panose="02010600040101010101" charset="-122"/>
              <a:ea typeface="华文楷体" panose="02010600040101010101" charset="-122"/>
            </a:endParaRPr>
          </a:p>
          <a:p>
            <a:pPr>
              <a:lnSpc>
                <a:spcPct val="115000"/>
              </a:lnSpc>
            </a:pPr>
            <a:endParaRPr lang="zh-CN" altLang="en-US" sz="3200" dirty="0">
              <a:solidFill>
                <a:srgbClr val="006699"/>
              </a:solidFill>
              <a:latin typeface="华文楷体" panose="02010600040101010101" charset="-122"/>
              <a:ea typeface="华文楷体" panose="02010600040101010101" charset="-122"/>
            </a:endParaRPr>
          </a:p>
          <a:p>
            <a:pPr>
              <a:lnSpc>
                <a:spcPct val="115000"/>
              </a:lnSpc>
            </a:pPr>
            <a:endParaRPr lang="zh-CN" altLang="en-US" sz="3200" dirty="0">
              <a:solidFill>
                <a:srgbClr val="006699"/>
              </a:solidFill>
              <a:latin typeface="华文楷体" panose="02010600040101010101" charset="-122"/>
              <a:ea typeface="华文楷体" panose="02010600040101010101" charset="-122"/>
            </a:endParaRPr>
          </a:p>
          <a:p>
            <a:pPr>
              <a:lnSpc>
                <a:spcPct val="115000"/>
              </a:lnSpc>
            </a:pPr>
            <a:endParaRPr lang="zh-CN" altLang="en-US" sz="3200" dirty="0">
              <a:latin typeface="华文楷体" panose="02010600040101010101" charset="-122"/>
              <a:ea typeface="华文楷体" panose="02010600040101010101" charset="-122"/>
            </a:endParaRPr>
          </a:p>
          <a:p>
            <a:pPr>
              <a:lnSpc>
                <a:spcPct val="110000"/>
              </a:lnSpc>
            </a:pPr>
            <a:r>
              <a:rPr lang="en-US" altLang="zh-CN" sz="3200" b="1" dirty="0">
                <a:latin typeface="华文楷体" panose="02010600040101010101" charset="-122"/>
                <a:ea typeface="华文楷体" panose="02010600040101010101" charset="-122"/>
              </a:rPr>
              <a:t>} </a:t>
            </a:r>
            <a:r>
              <a:rPr lang="en-US" altLang="zh-CN" sz="3200" dirty="0">
                <a:latin typeface="华文楷体" panose="02010600040101010101" charset="-122"/>
                <a:ea typeface="华文楷体" panose="02010600040101010101" charset="-122"/>
              </a:rPr>
              <a:t>// select_sort</a:t>
            </a:r>
            <a:endParaRPr lang="en-US" altLang="zh-CN" sz="3200" dirty="0">
              <a:latin typeface="华文楷体" panose="02010600040101010101" charset="-122"/>
              <a:ea typeface="华文楷体" panose="02010600040101010101" charset="-122"/>
            </a:endParaRPr>
          </a:p>
        </p:txBody>
      </p:sp>
      <p:sp>
        <p:nvSpPr>
          <p:cNvPr id="614404" name="Text Box 4"/>
          <p:cNvSpPr txBox="1"/>
          <p:nvPr/>
        </p:nvSpPr>
        <p:spPr>
          <a:xfrm>
            <a:off x="4886325" y="5257800"/>
            <a:ext cx="3913251" cy="1077218"/>
          </a:xfrm>
          <a:prstGeom prst="rect">
            <a:avLst/>
          </a:prstGeom>
          <a:noFill/>
          <a:ln w="9525">
            <a:noFill/>
          </a:ln>
        </p:spPr>
        <p:txBody>
          <a:bodyPr wrap="none">
            <a:spAutoFit/>
          </a:bodyPr>
          <a:lstStyle/>
          <a:p>
            <a:r>
              <a:rPr lang="zh-CN" altLang="en-US" sz="3200" dirty="0">
                <a:latin typeface="华文楷体" panose="02010600040101010101" charset="-122"/>
                <a:ea typeface="华文楷体" panose="02010600040101010101" charset="-122"/>
              </a:rPr>
              <a:t>基本操作</a:t>
            </a:r>
            <a:r>
              <a:rPr lang="en-US" altLang="zh-CN" sz="3200" dirty="0">
                <a:latin typeface="华文楷体" panose="02010600040101010101" charset="-122"/>
                <a:ea typeface="华文楷体" panose="02010600040101010101" charset="-122"/>
              </a:rPr>
              <a:t>: </a:t>
            </a:r>
            <a:endParaRPr lang="en-US" altLang="zh-CN" sz="3200" dirty="0">
              <a:latin typeface="华文楷体" panose="02010600040101010101" charset="-122"/>
              <a:ea typeface="华文楷体" panose="02010600040101010101" charset="-122"/>
            </a:endParaRPr>
          </a:p>
          <a:p>
            <a:r>
              <a:rPr lang="en-US" altLang="zh-CN" sz="3200" b="1" dirty="0">
                <a:solidFill>
                  <a:srgbClr val="CC0000"/>
                </a:solidFill>
                <a:latin typeface="华文楷体" panose="02010600040101010101" charset="-122"/>
                <a:ea typeface="华文楷体" panose="02010600040101010101" charset="-122"/>
              </a:rPr>
              <a:t>  </a:t>
            </a:r>
            <a:r>
              <a:rPr lang="zh-CN" altLang="en-US" sz="3200" b="1" dirty="0">
                <a:solidFill>
                  <a:srgbClr val="CC0000"/>
                </a:solidFill>
                <a:latin typeface="华文楷体" panose="02010600040101010101" charset="-122"/>
                <a:ea typeface="华文楷体" panose="02010600040101010101" charset="-122"/>
              </a:rPr>
              <a:t>比较</a:t>
            </a:r>
            <a:r>
              <a:rPr lang="en-US" altLang="zh-CN" sz="3200" dirty="0">
                <a:solidFill>
                  <a:srgbClr val="CC0000"/>
                </a:solidFill>
                <a:latin typeface="华文楷体" panose="02010600040101010101" charset="-122"/>
                <a:ea typeface="华文楷体" panose="02010600040101010101" charset="-122"/>
              </a:rPr>
              <a:t>(</a:t>
            </a:r>
            <a:r>
              <a:rPr lang="zh-CN" altLang="en-US" sz="3200" dirty="0">
                <a:solidFill>
                  <a:srgbClr val="CC0000"/>
                </a:solidFill>
                <a:latin typeface="华文楷体" panose="02010600040101010101" charset="-122"/>
                <a:ea typeface="华文楷体" panose="02010600040101010101" charset="-122"/>
              </a:rPr>
              <a:t>数据元素</a:t>
            </a:r>
            <a:r>
              <a:rPr lang="en-US" altLang="zh-CN" sz="3200" dirty="0">
                <a:solidFill>
                  <a:srgbClr val="CC0000"/>
                </a:solidFill>
                <a:latin typeface="华文楷体" panose="02010600040101010101" charset="-122"/>
                <a:ea typeface="华文楷体" panose="02010600040101010101" charset="-122"/>
              </a:rPr>
              <a:t>)</a:t>
            </a:r>
            <a:r>
              <a:rPr lang="zh-CN" altLang="en-US" sz="3200" b="1" dirty="0">
                <a:solidFill>
                  <a:srgbClr val="CC0000"/>
                </a:solidFill>
                <a:latin typeface="华文楷体" panose="02010600040101010101" charset="-122"/>
                <a:ea typeface="华文楷体" panose="02010600040101010101" charset="-122"/>
              </a:rPr>
              <a:t>操作</a:t>
            </a:r>
            <a:endParaRPr lang="zh-CN" altLang="en-US" sz="3200" dirty="0">
              <a:latin typeface="华文楷体" panose="02010600040101010101" charset="-122"/>
              <a:ea typeface="华文楷体" panose="02010600040101010101" charset="-122"/>
            </a:endParaRPr>
          </a:p>
        </p:txBody>
      </p:sp>
      <p:sp>
        <p:nvSpPr>
          <p:cNvPr id="614405" name="Text Box 5"/>
          <p:cNvSpPr txBox="1"/>
          <p:nvPr/>
        </p:nvSpPr>
        <p:spPr>
          <a:xfrm>
            <a:off x="5029200" y="6216650"/>
            <a:ext cx="3451586" cy="646331"/>
          </a:xfrm>
          <a:prstGeom prst="rect">
            <a:avLst/>
          </a:prstGeom>
          <a:noFill/>
          <a:ln w="9525">
            <a:noFill/>
          </a:ln>
        </p:spPr>
        <p:txBody>
          <a:bodyPr wrap="none">
            <a:spAutoFit/>
          </a:bodyPr>
          <a:lstStyle/>
          <a:p>
            <a:r>
              <a:rPr lang="zh-CN" altLang="en-US" sz="3200" dirty="0">
                <a:latin typeface="华文楷体" panose="02010600040101010101" charset="-122"/>
                <a:ea typeface="华文楷体" panose="02010600040101010101" charset="-122"/>
              </a:rPr>
              <a:t>时间复杂度</a:t>
            </a:r>
            <a:r>
              <a:rPr lang="en-US" altLang="zh-CN" sz="3200" dirty="0">
                <a:latin typeface="华文楷体" panose="02010600040101010101" charset="-122"/>
                <a:ea typeface="华文楷体" panose="02010600040101010101" charset="-122"/>
              </a:rPr>
              <a:t>:</a:t>
            </a:r>
            <a:r>
              <a:rPr lang="en-US" altLang="zh-CN" sz="3600" dirty="0">
                <a:latin typeface="华文楷体" panose="02010600040101010101" charset="-122"/>
                <a:ea typeface="华文楷体" panose="02010600040101010101" charset="-122"/>
              </a:rPr>
              <a:t> </a:t>
            </a:r>
            <a:r>
              <a:rPr lang="en-US" altLang="zh-CN" sz="3600" b="1" dirty="0">
                <a:solidFill>
                  <a:srgbClr val="6600CC"/>
                </a:solidFill>
                <a:latin typeface="华文楷体" panose="02010600040101010101" charset="-122"/>
                <a:ea typeface="华文楷体" panose="02010600040101010101" charset="-122"/>
              </a:rPr>
              <a:t>O(n</a:t>
            </a:r>
            <a:r>
              <a:rPr lang="en-US" altLang="zh-CN" sz="3600" b="1" baseline="30000" dirty="0">
                <a:solidFill>
                  <a:srgbClr val="6600CC"/>
                </a:solidFill>
                <a:latin typeface="华文楷体" panose="02010600040101010101" charset="-122"/>
                <a:ea typeface="华文楷体" panose="02010600040101010101" charset="-122"/>
              </a:rPr>
              <a:t>2</a:t>
            </a:r>
            <a:r>
              <a:rPr lang="en-US" altLang="zh-CN" sz="3600" b="1" dirty="0">
                <a:solidFill>
                  <a:srgbClr val="6600CC"/>
                </a:solidFill>
                <a:latin typeface="华文楷体" panose="02010600040101010101" charset="-122"/>
                <a:ea typeface="华文楷体" panose="02010600040101010101" charset="-122"/>
              </a:rPr>
              <a:t>)</a:t>
            </a:r>
            <a:endParaRPr lang="en-US" altLang="zh-CN" dirty="0">
              <a:latin typeface="华文楷体" panose="02010600040101010101" charset="-122"/>
              <a:ea typeface="华文楷体" panose="02010600040101010101" charset="-122"/>
            </a:endParaRPr>
          </a:p>
        </p:txBody>
      </p:sp>
      <p:sp>
        <p:nvSpPr>
          <p:cNvPr id="614406" name="Rectangle 6"/>
          <p:cNvSpPr/>
          <p:nvPr/>
        </p:nvSpPr>
        <p:spPr>
          <a:xfrm>
            <a:off x="1828800" y="2944813"/>
            <a:ext cx="4658648" cy="1782476"/>
          </a:xfrm>
          <a:prstGeom prst="rect">
            <a:avLst/>
          </a:prstGeom>
          <a:noFill/>
          <a:ln w="9525">
            <a:noFill/>
          </a:ln>
        </p:spPr>
        <p:txBody>
          <a:bodyPr wrap="none">
            <a:spAutoFit/>
          </a:bodyPr>
          <a:lstStyle/>
          <a:p>
            <a:pPr>
              <a:lnSpc>
                <a:spcPct val="115000"/>
              </a:lnSpc>
            </a:pPr>
            <a:r>
              <a:rPr lang="en-US" altLang="zh-CN" sz="3200" dirty="0">
                <a:latin typeface="华文楷体" panose="02010600040101010101" charset="-122"/>
                <a:ea typeface="华文楷体" panose="02010600040101010101" charset="-122"/>
              </a:rPr>
              <a:t>j = i;   </a:t>
            </a:r>
            <a:r>
              <a:rPr lang="en-US" altLang="zh-CN" sz="2400" dirty="0">
                <a:solidFill>
                  <a:srgbClr val="333399"/>
                </a:solidFill>
                <a:latin typeface="华文楷体" panose="02010600040101010101" charset="-122"/>
                <a:ea typeface="华文楷体" panose="02010600040101010101" charset="-122"/>
              </a:rPr>
              <a:t>//</a:t>
            </a:r>
            <a:r>
              <a:rPr lang="en-US" altLang="zh-CN" sz="2400" b="1" dirty="0">
                <a:solidFill>
                  <a:srgbClr val="333399"/>
                </a:solidFill>
                <a:latin typeface="华文楷体" panose="02010600040101010101" charset="-122"/>
                <a:ea typeface="华文楷体" panose="02010600040101010101" charset="-122"/>
              </a:rPr>
              <a:t> </a:t>
            </a:r>
            <a:r>
              <a:rPr lang="zh-CN" altLang="zh-CN" sz="2400" b="1" dirty="0">
                <a:solidFill>
                  <a:srgbClr val="333399"/>
                </a:solidFill>
                <a:latin typeface="华文楷体" panose="02010600040101010101" charset="-122"/>
                <a:ea typeface="华文楷体" panose="02010600040101010101" charset="-122"/>
              </a:rPr>
              <a:t>选择第 </a:t>
            </a:r>
            <a:r>
              <a:rPr lang="en-US" altLang="zh-CN" sz="2400" b="1" dirty="0">
                <a:solidFill>
                  <a:srgbClr val="333399"/>
                </a:solidFill>
                <a:latin typeface="华文楷体" panose="02010600040101010101" charset="-122"/>
                <a:ea typeface="华文楷体" panose="02010600040101010101" charset="-122"/>
              </a:rPr>
              <a:t>i </a:t>
            </a:r>
            <a:r>
              <a:rPr lang="zh-CN" altLang="zh-CN" sz="2400" b="1" dirty="0">
                <a:solidFill>
                  <a:srgbClr val="333399"/>
                </a:solidFill>
                <a:latin typeface="华文楷体" panose="02010600040101010101" charset="-122"/>
                <a:ea typeface="华文楷体" panose="02010600040101010101" charset="-122"/>
              </a:rPr>
              <a:t>个最小元素</a:t>
            </a:r>
            <a:endParaRPr lang="zh-CN" altLang="en-US" sz="2400" dirty="0">
              <a:latin typeface="华文楷体" panose="02010600040101010101" charset="-122"/>
              <a:ea typeface="华文楷体" panose="02010600040101010101" charset="-122"/>
            </a:endParaRPr>
          </a:p>
          <a:p>
            <a:pPr>
              <a:lnSpc>
                <a:spcPct val="115000"/>
              </a:lnSpc>
            </a:pPr>
            <a:r>
              <a:rPr lang="en-US" altLang="zh-CN" sz="3200" b="1" dirty="0">
                <a:solidFill>
                  <a:srgbClr val="6600CC"/>
                </a:solidFill>
                <a:latin typeface="华文楷体" panose="02010600040101010101" charset="-122"/>
                <a:ea typeface="华文楷体" panose="02010600040101010101" charset="-122"/>
              </a:rPr>
              <a:t>for</a:t>
            </a:r>
            <a:r>
              <a:rPr lang="en-US" altLang="zh-CN" sz="3200" dirty="0">
                <a:latin typeface="华文楷体" panose="02010600040101010101" charset="-122"/>
                <a:ea typeface="华文楷体" panose="02010600040101010101" charset="-122"/>
              </a:rPr>
              <a:t> ( k = i+1;  k &lt; n;  </a:t>
            </a:r>
            <a:r>
              <a:rPr lang="en-US" altLang="zh-CN" sz="3200" b="1" dirty="0">
                <a:latin typeface="华文楷体" panose="02010600040101010101" charset="-122"/>
                <a:ea typeface="华文楷体" panose="02010600040101010101" charset="-122"/>
              </a:rPr>
              <a:t>++</a:t>
            </a:r>
            <a:r>
              <a:rPr lang="en-US" altLang="zh-CN" sz="3200" dirty="0">
                <a:latin typeface="华文楷体" panose="02010600040101010101" charset="-122"/>
                <a:ea typeface="华文楷体" panose="02010600040101010101" charset="-122"/>
              </a:rPr>
              <a:t>k )</a:t>
            </a:r>
            <a:endParaRPr lang="en-US" altLang="zh-CN" sz="3200" dirty="0">
              <a:latin typeface="华文楷体" panose="02010600040101010101" charset="-122"/>
              <a:ea typeface="华文楷体" panose="02010600040101010101" charset="-122"/>
            </a:endParaRPr>
          </a:p>
          <a:p>
            <a:pPr>
              <a:lnSpc>
                <a:spcPct val="120000"/>
              </a:lnSpc>
            </a:pPr>
            <a:r>
              <a:rPr lang="en-US" altLang="zh-CN" sz="3200" dirty="0">
                <a:latin typeface="华文楷体" panose="02010600040101010101" charset="-122"/>
                <a:ea typeface="华文楷体" panose="02010600040101010101" charset="-122"/>
              </a:rPr>
              <a:t>    </a:t>
            </a:r>
            <a:r>
              <a:rPr lang="en-US" altLang="zh-CN" sz="3200" b="1" dirty="0">
                <a:latin typeface="华文楷体" panose="02010600040101010101" charset="-122"/>
                <a:ea typeface="华文楷体" panose="02010600040101010101" charset="-122"/>
              </a:rPr>
              <a:t>if </a:t>
            </a:r>
            <a:r>
              <a:rPr lang="en-US" altLang="zh-CN" sz="3200" dirty="0">
                <a:solidFill>
                  <a:srgbClr val="CC0000"/>
                </a:solidFill>
                <a:latin typeface="华文楷体" panose="02010600040101010101" charset="-122"/>
                <a:ea typeface="华文楷体" panose="02010600040101010101" charset="-122"/>
              </a:rPr>
              <a:t>(a[k] </a:t>
            </a:r>
            <a:r>
              <a:rPr lang="en-US" altLang="zh-CN" sz="3200" b="1" dirty="0">
                <a:solidFill>
                  <a:srgbClr val="CC0000"/>
                </a:solidFill>
                <a:latin typeface="华文楷体" panose="02010600040101010101" charset="-122"/>
                <a:ea typeface="华文楷体" panose="02010600040101010101" charset="-122"/>
              </a:rPr>
              <a:t>&lt;</a:t>
            </a:r>
            <a:r>
              <a:rPr lang="en-US" altLang="zh-CN" sz="3200" dirty="0">
                <a:solidFill>
                  <a:srgbClr val="CC0000"/>
                </a:solidFill>
                <a:latin typeface="华文楷体" panose="02010600040101010101" charset="-122"/>
                <a:ea typeface="华文楷体" panose="02010600040101010101" charset="-122"/>
              </a:rPr>
              <a:t> a[j] )</a:t>
            </a:r>
            <a:r>
              <a:rPr lang="en-US" altLang="zh-CN" sz="3200" dirty="0">
                <a:latin typeface="华文楷体" panose="02010600040101010101" charset="-122"/>
                <a:ea typeface="华文楷体" panose="02010600040101010101" charset="-122"/>
              </a:rPr>
              <a:t>  j = k;</a:t>
            </a:r>
            <a:endParaRPr lang="en-US" altLang="zh-CN" sz="3200" dirty="0">
              <a:latin typeface="华文楷体" panose="02010600040101010101" charset="-122"/>
              <a:ea typeface="华文楷体" panose="02010600040101010101" charset="-122"/>
            </a:endParaRPr>
          </a:p>
        </p:txBody>
      </p:sp>
      <p:sp>
        <p:nvSpPr>
          <p:cNvPr id="614407" name="Rectangle 7"/>
          <p:cNvSpPr/>
          <p:nvPr/>
        </p:nvSpPr>
        <p:spPr>
          <a:xfrm>
            <a:off x="1219200" y="2276475"/>
            <a:ext cx="4530407" cy="3444469"/>
          </a:xfrm>
          <a:prstGeom prst="rect">
            <a:avLst/>
          </a:prstGeom>
          <a:noFill/>
          <a:ln w="9525">
            <a:noFill/>
          </a:ln>
        </p:spPr>
        <p:txBody>
          <a:bodyPr wrap="none">
            <a:spAutoFit/>
          </a:bodyPr>
          <a:lstStyle/>
          <a:p>
            <a:pPr>
              <a:lnSpc>
                <a:spcPct val="115000"/>
              </a:lnSpc>
            </a:pPr>
            <a:r>
              <a:rPr lang="en-US" altLang="zh-CN" sz="3200" b="1" dirty="0">
                <a:solidFill>
                  <a:srgbClr val="6600CC"/>
                </a:solidFill>
                <a:latin typeface="华文楷体" panose="02010600040101010101" charset="-122"/>
                <a:ea typeface="华文楷体" panose="02010600040101010101" charset="-122"/>
              </a:rPr>
              <a:t>for </a:t>
            </a:r>
            <a:r>
              <a:rPr lang="en-US" altLang="zh-CN" sz="3200" dirty="0">
                <a:solidFill>
                  <a:srgbClr val="6600CC"/>
                </a:solidFill>
                <a:latin typeface="华文楷体" panose="02010600040101010101" charset="-122"/>
                <a:ea typeface="华文楷体" panose="02010600040101010101" charset="-122"/>
              </a:rPr>
              <a:t>( i = 0;  i&lt; n-1;  </a:t>
            </a:r>
            <a:r>
              <a:rPr lang="en-US" altLang="zh-CN" sz="3200" b="1" dirty="0">
                <a:solidFill>
                  <a:srgbClr val="6600CC"/>
                </a:solidFill>
                <a:latin typeface="华文楷体" panose="02010600040101010101" charset="-122"/>
                <a:ea typeface="华文楷体" panose="02010600040101010101" charset="-122"/>
              </a:rPr>
              <a:t>++</a:t>
            </a:r>
            <a:r>
              <a:rPr lang="en-US" altLang="zh-CN" sz="3200" dirty="0">
                <a:solidFill>
                  <a:srgbClr val="6600CC"/>
                </a:solidFill>
                <a:latin typeface="华文楷体" panose="02010600040101010101" charset="-122"/>
                <a:ea typeface="华文楷体" panose="02010600040101010101" charset="-122"/>
              </a:rPr>
              <a:t>i ) </a:t>
            </a:r>
            <a:r>
              <a:rPr lang="en-US" altLang="zh-CN" sz="3200" b="1" dirty="0">
                <a:solidFill>
                  <a:srgbClr val="6600CC"/>
                </a:solidFill>
                <a:latin typeface="华文楷体" panose="02010600040101010101" charset="-122"/>
                <a:ea typeface="华文楷体" panose="02010600040101010101" charset="-122"/>
              </a:rPr>
              <a:t>{</a:t>
            </a:r>
            <a:endParaRPr lang="en-US" altLang="zh-CN" sz="3200" b="1" dirty="0">
              <a:latin typeface="华文楷体" panose="02010600040101010101" charset="-122"/>
              <a:ea typeface="华文楷体" panose="02010600040101010101" charset="-122"/>
            </a:endParaRPr>
          </a:p>
          <a:p>
            <a:pPr>
              <a:lnSpc>
                <a:spcPct val="115000"/>
              </a:lnSpc>
            </a:pPr>
            <a:endParaRPr lang="en-US" altLang="zh-CN" sz="3200" b="1" dirty="0">
              <a:latin typeface="华文楷体" panose="02010600040101010101" charset="-122"/>
              <a:ea typeface="华文楷体" panose="02010600040101010101" charset="-122"/>
            </a:endParaRPr>
          </a:p>
          <a:p>
            <a:pPr>
              <a:lnSpc>
                <a:spcPct val="115000"/>
              </a:lnSpc>
            </a:pPr>
            <a:endParaRPr lang="en-US" altLang="zh-CN" sz="3200" b="1" dirty="0">
              <a:latin typeface="华文楷体" panose="02010600040101010101" charset="-122"/>
              <a:ea typeface="华文楷体" panose="02010600040101010101" charset="-122"/>
            </a:endParaRPr>
          </a:p>
          <a:p>
            <a:pPr>
              <a:lnSpc>
                <a:spcPct val="115000"/>
              </a:lnSpc>
            </a:pPr>
            <a:endParaRPr lang="en-US" altLang="zh-CN" sz="3200" b="1" dirty="0">
              <a:latin typeface="华文楷体" panose="02010600040101010101" charset="-122"/>
              <a:ea typeface="华文楷体" panose="02010600040101010101" charset="-122"/>
            </a:endParaRPr>
          </a:p>
          <a:p>
            <a:pPr>
              <a:lnSpc>
                <a:spcPct val="115000"/>
              </a:lnSpc>
            </a:pPr>
            <a:r>
              <a:rPr lang="en-US" altLang="zh-CN" sz="3200" b="1" dirty="0">
                <a:latin typeface="华文楷体" panose="02010600040101010101" charset="-122"/>
                <a:ea typeface="华文楷体" panose="02010600040101010101" charset="-122"/>
              </a:rPr>
              <a:t>      if</a:t>
            </a:r>
            <a:r>
              <a:rPr lang="en-US" altLang="zh-CN" sz="3200" dirty="0">
                <a:latin typeface="华文楷体" panose="02010600040101010101" charset="-122"/>
                <a:ea typeface="华文楷体" panose="02010600040101010101" charset="-122"/>
              </a:rPr>
              <a:t> ( j </a:t>
            </a:r>
            <a:r>
              <a:rPr lang="en-US" altLang="zh-CN" sz="3200" b="1" dirty="0">
                <a:latin typeface="华文楷体" panose="02010600040101010101" charset="-122"/>
                <a:ea typeface="华文楷体" panose="02010600040101010101" charset="-122"/>
              </a:rPr>
              <a:t>!=</a:t>
            </a:r>
            <a:r>
              <a:rPr lang="en-US" altLang="zh-CN" sz="3200" dirty="0">
                <a:latin typeface="华文楷体" panose="02010600040101010101" charset="-122"/>
                <a:ea typeface="华文楷体" panose="02010600040101010101" charset="-122"/>
              </a:rPr>
              <a:t> i )  a[j] </a:t>
            </a:r>
            <a:r>
              <a:rPr lang="en-US" altLang="zh-CN" sz="3200" b="1" dirty="0">
                <a:latin typeface="华文楷体" panose="02010600040101010101" charset="-122"/>
                <a:ea typeface="华文楷体" panose="02010600040101010101" charset="-122"/>
              </a:rPr>
              <a:t>←→</a:t>
            </a:r>
            <a:r>
              <a:rPr lang="en-US" altLang="zh-CN" sz="3200" dirty="0">
                <a:latin typeface="华文楷体" panose="02010600040101010101" charset="-122"/>
                <a:ea typeface="华文楷体" panose="02010600040101010101" charset="-122"/>
              </a:rPr>
              <a:t> a[i]</a:t>
            </a:r>
            <a:endParaRPr lang="en-US" altLang="zh-CN" sz="3200" dirty="0">
              <a:latin typeface="华文楷体" panose="02010600040101010101" charset="-122"/>
              <a:ea typeface="华文楷体" panose="02010600040101010101" charset="-122"/>
            </a:endParaRPr>
          </a:p>
          <a:p>
            <a:pPr>
              <a:lnSpc>
                <a:spcPct val="110000"/>
              </a:lnSpc>
            </a:pPr>
            <a:r>
              <a:rPr lang="en-US" altLang="zh-CN" sz="3200" b="1" dirty="0">
                <a:solidFill>
                  <a:srgbClr val="6600CC"/>
                </a:solidFill>
                <a:latin typeface="华文楷体" panose="02010600040101010101" charset="-122"/>
                <a:ea typeface="华文楷体" panose="02010600040101010101" charset="-122"/>
              </a:rPr>
              <a:t>}</a:t>
            </a:r>
            <a:endParaRPr lang="en-US" altLang="zh-CN" sz="3200" dirty="0">
              <a:latin typeface="华文楷体" panose="02010600040101010101" charset="-122"/>
              <a:ea typeface="华文楷体" panose="02010600040101010101" charset="-122"/>
            </a:endParaRPr>
          </a:p>
        </p:txBody>
      </p:sp>
      <p:sp>
        <p:nvSpPr>
          <p:cNvPr id="2" name="日期占位符 1"/>
          <p:cNvSpPr>
            <a:spLocks noGrp="1"/>
          </p:cNvSpPr>
          <p:nvPr>
            <p:ph type="dt" sz="half" idx="10"/>
          </p:nvPr>
        </p:nvSpPr>
        <p:spPr/>
        <p:txBody>
          <a:bodyPr/>
          <a:lstStyle/>
          <a:p>
            <a:r>
              <a:rPr lang="en-US" altLang="zh-CN">
                <a:latin typeface="华文楷体" panose="02010600040101010101" charset="-122"/>
                <a:ea typeface="华文楷体" panose="02010600040101010101" charset="-122"/>
              </a:rPr>
              <a:t>Data Structures and algorithms</a:t>
            </a:r>
            <a:endParaRPr lang="zh-CN" altLang="en-US">
              <a:latin typeface="华文楷体" panose="02010600040101010101" charset="-122"/>
              <a:ea typeface="华文楷体" panose="02010600040101010101" charset="-122"/>
            </a:endParaRPr>
          </a:p>
        </p:txBody>
      </p:sp>
      <p:sp>
        <p:nvSpPr>
          <p:cNvPr id="3" name="页脚占位符 2"/>
          <p:cNvSpPr>
            <a:spLocks noGrp="1"/>
          </p:cNvSpPr>
          <p:nvPr>
            <p:ph type="ftr" sz="quarter" idx="11"/>
          </p:nvPr>
        </p:nvSpPr>
        <p:spPr/>
        <p:txBody>
          <a:bodyPr/>
          <a:lstStyle/>
          <a:p>
            <a:r>
              <a:rPr lang="en-US" altLang="zh-CN">
                <a:latin typeface="华文楷体" panose="02010600040101010101" charset="-122"/>
                <a:ea typeface="华文楷体" panose="02010600040101010101" charset="-122"/>
              </a:rPr>
              <a:t>Software College Northeastern University</a:t>
            </a:r>
            <a:endParaRPr lang="zh-CN" altLang="en-US">
              <a:latin typeface="华文楷体" panose="02010600040101010101" charset="-122"/>
              <a:ea typeface="华文楷体" panose="02010600040101010101" charset="-122"/>
            </a:endParaRPr>
          </a:p>
        </p:txBody>
      </p:sp>
      <p:sp>
        <p:nvSpPr>
          <p:cNvPr id="4" name="灯片编号占位符 3"/>
          <p:cNvSpPr>
            <a:spLocks noGrp="1"/>
          </p:cNvSpPr>
          <p:nvPr>
            <p:ph type="sldNum" sz="quarter" idx="12"/>
          </p:nvPr>
        </p:nvSpPr>
        <p:spPr/>
        <p:txBody>
          <a:bodyPr/>
          <a:lstStyle/>
          <a:p>
            <a:fld id="{6E1C0148-8E4B-4B2F-95CE-20B4709700AE}" type="slidenum">
              <a:rPr lang="zh-CN" altLang="en-US" smtClean="0">
                <a:latin typeface="华文楷体" panose="02010600040101010101" charset="-122"/>
                <a:ea typeface="华文楷体" panose="02010600040101010101" charset="-122"/>
              </a:rPr>
            </a:fld>
            <a:endParaRPr lang="zh-CN" altLang="en-US">
              <a:latin typeface="华文楷体" panose="02010600040101010101" charset="-122"/>
              <a:ea typeface="华文楷体" panose="0201060004010101010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grpId="0" nodeType="clickEffect">
                                  <p:stCondLst>
                                    <p:cond delay="0"/>
                                  </p:stCondLst>
                                  <p:childTnLst>
                                    <p:set>
                                      <p:cBhvr>
                                        <p:cTn id="6" dur="1" fill="hold">
                                          <p:stCondLst>
                                            <p:cond delay="0"/>
                                          </p:stCondLst>
                                        </p:cTn>
                                        <p:tgtEl>
                                          <p:spTgt spid="614403"/>
                                        </p:tgtEl>
                                        <p:attrNameLst>
                                          <p:attrName>style.visibility</p:attrName>
                                        </p:attrNameLst>
                                      </p:cBhvr>
                                      <p:to>
                                        <p:strVal val="visible"/>
                                      </p:to>
                                    </p:set>
                                    <p:animEffect transition="in" filter="barn(outVertical)">
                                      <p:cBhvr>
                                        <p:cTn id="7" dur="500"/>
                                        <p:tgtEl>
                                          <p:spTgt spid="614403"/>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614406"/>
                                        </p:tgtEl>
                                        <p:attrNameLst>
                                          <p:attrName>style.visibility</p:attrName>
                                        </p:attrNameLst>
                                      </p:cBhvr>
                                      <p:to>
                                        <p:strVal val="visible"/>
                                      </p:to>
                                    </p:set>
                                    <p:animEffect transition="in" filter="strips(downRight)">
                                      <p:cBhvr>
                                        <p:cTn id="12" dur="500"/>
                                        <p:tgtEl>
                                          <p:spTgt spid="614406"/>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grpId="0" nodeType="clickEffect">
                                  <p:stCondLst>
                                    <p:cond delay="0"/>
                                  </p:stCondLst>
                                  <p:iterate type="lt">
                                    <p:tmPct val="100000"/>
                                  </p:iterate>
                                  <p:childTnLst>
                                    <p:set>
                                      <p:cBhvr>
                                        <p:cTn id="16" dur="1" fill="hold">
                                          <p:stCondLst>
                                            <p:cond delay="0"/>
                                          </p:stCondLst>
                                        </p:cTn>
                                        <p:tgtEl>
                                          <p:spTgt spid="614407"/>
                                        </p:tgtEl>
                                        <p:attrNameLst>
                                          <p:attrName>style.visibility</p:attrName>
                                        </p:attrNameLst>
                                      </p:cBhvr>
                                      <p:to>
                                        <p:strVal val="visible"/>
                                      </p:to>
                                    </p:set>
                                    <p:animEffect transition="in" filter="strips(downRight)">
                                      <p:cBhvr>
                                        <p:cTn id="17" dur="75"/>
                                        <p:tgtEl>
                                          <p:spTgt spid="61440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iterate type="wd">
                                    <p:tmPct val="100000"/>
                                  </p:iterate>
                                  <p:childTnLst>
                                    <p:set>
                                      <p:cBhvr>
                                        <p:cTn id="21" dur="1" fill="hold">
                                          <p:stCondLst>
                                            <p:cond delay="0"/>
                                          </p:stCondLst>
                                        </p:cTn>
                                        <p:tgtEl>
                                          <p:spTgt spid="614404"/>
                                        </p:tgtEl>
                                        <p:attrNameLst>
                                          <p:attrName>style.visibility</p:attrName>
                                        </p:attrNameLst>
                                      </p:cBhvr>
                                      <p:to>
                                        <p:strVal val="visible"/>
                                      </p:to>
                                    </p:set>
                                    <p:animEffect transition="in" filter="wipe(left)">
                                      <p:cBhvr>
                                        <p:cTn id="22" dur="300"/>
                                        <p:tgtEl>
                                          <p:spTgt spid="61440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iterate type="wd">
                                    <p:tmPct val="100000"/>
                                  </p:iterate>
                                  <p:childTnLst>
                                    <p:set>
                                      <p:cBhvr>
                                        <p:cTn id="26" dur="1" fill="hold">
                                          <p:stCondLst>
                                            <p:cond delay="0"/>
                                          </p:stCondLst>
                                        </p:cTn>
                                        <p:tgtEl>
                                          <p:spTgt spid="614405"/>
                                        </p:tgtEl>
                                        <p:attrNameLst>
                                          <p:attrName>style.visibility</p:attrName>
                                        </p:attrNameLst>
                                      </p:cBhvr>
                                      <p:to>
                                        <p:strVal val="visible"/>
                                      </p:to>
                                    </p:set>
                                    <p:animEffect transition="in" filter="wipe(left)">
                                      <p:cBhvr>
                                        <p:cTn id="27" dur="300"/>
                                        <p:tgtEl>
                                          <p:spTgt spid="6144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03" grpId="0"/>
      <p:bldP spid="614404" grpId="0"/>
      <p:bldP spid="614405" grpId="0"/>
      <p:bldP spid="614406" grpId="0"/>
      <p:bldP spid="614407" grpId="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Text Box 2"/>
          <p:cNvSpPr txBox="1"/>
          <p:nvPr/>
        </p:nvSpPr>
        <p:spPr>
          <a:xfrm>
            <a:off x="1447800" y="228600"/>
            <a:ext cx="3200400" cy="579438"/>
          </a:xfrm>
          <a:prstGeom prst="rect">
            <a:avLst/>
          </a:prstGeom>
          <a:noFill/>
          <a:ln w="9525">
            <a:noFill/>
          </a:ln>
        </p:spPr>
        <p:txBody>
          <a:bodyPr>
            <a:spAutoFit/>
          </a:bodyPr>
          <a:lstStyle/>
          <a:p>
            <a:r>
              <a:rPr lang="zh-CN" altLang="en-US" sz="3200" b="1" dirty="0">
                <a:solidFill>
                  <a:srgbClr val="FF0000"/>
                </a:solidFill>
                <a:latin typeface="Times New Roman" panose="02020603050405020304" pitchFamily="18" charset="0"/>
              </a:rPr>
              <a:t>例</a:t>
            </a:r>
            <a:r>
              <a:rPr lang="en-US" altLang="zh-CN" sz="3200" b="1" dirty="0">
                <a:solidFill>
                  <a:srgbClr val="FF0000"/>
                </a:solidFill>
                <a:latin typeface="Times New Roman" panose="02020603050405020304" pitchFamily="18" charset="0"/>
              </a:rPr>
              <a:t>3: </a:t>
            </a:r>
            <a:r>
              <a:rPr lang="zh-CN" altLang="en-US" sz="3200" b="1" dirty="0">
                <a:solidFill>
                  <a:srgbClr val="FF0000"/>
                </a:solidFill>
                <a:latin typeface="Times New Roman" panose="02020603050405020304" pitchFamily="18" charset="0"/>
              </a:rPr>
              <a:t>起泡排序</a:t>
            </a:r>
            <a:endParaRPr lang="zh-CN" altLang="en-US" sz="2400" b="1" dirty="0">
              <a:latin typeface="Times New Roman" panose="02020603050405020304" pitchFamily="18" charset="0"/>
            </a:endParaRPr>
          </a:p>
        </p:txBody>
      </p:sp>
      <p:sp>
        <p:nvSpPr>
          <p:cNvPr id="615427" name="Text Box 3"/>
          <p:cNvSpPr txBox="1"/>
          <p:nvPr/>
        </p:nvSpPr>
        <p:spPr>
          <a:xfrm>
            <a:off x="750888" y="1066800"/>
            <a:ext cx="8193087" cy="5349875"/>
          </a:xfrm>
          <a:prstGeom prst="rect">
            <a:avLst/>
          </a:prstGeom>
          <a:noFill/>
          <a:ln w="9525">
            <a:noFill/>
          </a:ln>
        </p:spPr>
        <p:txBody>
          <a:bodyPr wrap="none">
            <a:spAutoFit/>
          </a:bodyPr>
          <a:lstStyle/>
          <a:p>
            <a:pPr>
              <a:lnSpc>
                <a:spcPct val="120000"/>
              </a:lnSpc>
            </a:pPr>
            <a:r>
              <a:rPr lang="en-US" altLang="zh-CN" sz="3200" b="1" dirty="0">
                <a:latin typeface="Times New Roman" panose="02020603050405020304" pitchFamily="18" charset="0"/>
              </a:rPr>
              <a:t>void</a:t>
            </a:r>
            <a:r>
              <a:rPr lang="en-US" altLang="zh-CN" sz="3200" dirty="0">
                <a:latin typeface="Times New Roman" panose="02020603050405020304" pitchFamily="18" charset="0"/>
              </a:rPr>
              <a:t> bubble_sort(</a:t>
            </a:r>
            <a:r>
              <a:rPr lang="en-US" altLang="zh-CN" sz="3200" b="1" dirty="0">
                <a:latin typeface="Times New Roman" panose="02020603050405020304" pitchFamily="18" charset="0"/>
              </a:rPr>
              <a:t>int&amp;</a:t>
            </a:r>
            <a:r>
              <a:rPr lang="en-US" altLang="zh-CN" sz="3200" dirty="0">
                <a:latin typeface="Times New Roman" panose="02020603050405020304" pitchFamily="18" charset="0"/>
              </a:rPr>
              <a:t> a[], </a:t>
            </a:r>
            <a:r>
              <a:rPr lang="en-US" altLang="zh-CN" sz="3200" b="1" dirty="0">
                <a:latin typeface="Times New Roman" panose="02020603050405020304" pitchFamily="18" charset="0"/>
              </a:rPr>
              <a:t>int</a:t>
            </a:r>
            <a:r>
              <a:rPr lang="en-US" altLang="zh-CN" sz="3200" dirty="0">
                <a:latin typeface="Times New Roman" panose="02020603050405020304" pitchFamily="18" charset="0"/>
              </a:rPr>
              <a:t> n) </a:t>
            </a:r>
            <a:r>
              <a:rPr lang="en-US" altLang="zh-CN" sz="3200" b="1" dirty="0">
                <a:latin typeface="Times New Roman" panose="02020603050405020304" pitchFamily="18" charset="0"/>
              </a:rPr>
              <a:t>{</a:t>
            </a:r>
            <a:endParaRPr lang="en-US" altLang="zh-CN" sz="3200" dirty="0">
              <a:latin typeface="Times New Roman" panose="02020603050405020304" pitchFamily="18" charset="0"/>
            </a:endParaRPr>
          </a:p>
          <a:p>
            <a:pPr>
              <a:lnSpc>
                <a:spcPct val="120000"/>
              </a:lnSpc>
            </a:pPr>
            <a:r>
              <a:rPr lang="en-US" altLang="zh-CN" sz="3200" dirty="0">
                <a:latin typeface="Times New Roman" panose="02020603050405020304" pitchFamily="18" charset="0"/>
              </a:rPr>
              <a:t>   </a:t>
            </a:r>
            <a:r>
              <a:rPr lang="en-US" altLang="zh-CN" sz="2400" b="1" dirty="0">
                <a:solidFill>
                  <a:srgbClr val="333399"/>
                </a:solidFill>
                <a:latin typeface="Times New Roman" panose="02020603050405020304" pitchFamily="18" charset="0"/>
                <a:ea typeface="楷体_GB2312" panose="02010609030101010101" pitchFamily="49" charset="-122"/>
              </a:rPr>
              <a:t>// </a:t>
            </a:r>
            <a:r>
              <a:rPr lang="zh-CN" altLang="en-US" sz="2400" b="1" dirty="0">
                <a:solidFill>
                  <a:srgbClr val="333399"/>
                </a:solidFill>
                <a:latin typeface="Times New Roman" panose="02020603050405020304" pitchFamily="18" charset="0"/>
                <a:ea typeface="楷体_GB2312" panose="02010609030101010101" pitchFamily="49" charset="-122"/>
              </a:rPr>
              <a:t>将 </a:t>
            </a:r>
            <a:r>
              <a:rPr lang="en-US" altLang="zh-CN" sz="2400" b="1" dirty="0">
                <a:solidFill>
                  <a:srgbClr val="333399"/>
                </a:solidFill>
                <a:latin typeface="Times New Roman" panose="02020603050405020304" pitchFamily="18" charset="0"/>
                <a:ea typeface="楷体_GB2312" panose="02010609030101010101" pitchFamily="49" charset="-122"/>
              </a:rPr>
              <a:t>a </a:t>
            </a:r>
            <a:r>
              <a:rPr lang="zh-CN" altLang="en-US" sz="2400" b="1" dirty="0">
                <a:solidFill>
                  <a:srgbClr val="333399"/>
                </a:solidFill>
                <a:latin typeface="Times New Roman" panose="02020603050405020304" pitchFamily="18" charset="0"/>
                <a:ea typeface="楷体_GB2312" panose="02010609030101010101" pitchFamily="49" charset="-122"/>
              </a:rPr>
              <a:t>中整数序列重新排列成自小至大有序的整数序列。</a:t>
            </a:r>
            <a:endParaRPr lang="zh-CN" altLang="en-US" sz="2400" b="1" dirty="0">
              <a:solidFill>
                <a:srgbClr val="333399"/>
              </a:solidFill>
              <a:latin typeface="Times New Roman" panose="02020603050405020304" pitchFamily="18" charset="0"/>
              <a:ea typeface="楷体_GB2312" panose="02010609030101010101" pitchFamily="49" charset="-122"/>
            </a:endParaRPr>
          </a:p>
          <a:p>
            <a:pPr>
              <a:lnSpc>
                <a:spcPct val="120000"/>
              </a:lnSpc>
            </a:pPr>
            <a:r>
              <a:rPr lang="en-US" altLang="zh-CN" sz="3200" b="1" dirty="0">
                <a:solidFill>
                  <a:srgbClr val="6600CC"/>
                </a:solidFill>
                <a:latin typeface="Times New Roman" panose="02020603050405020304" pitchFamily="18" charset="0"/>
              </a:rPr>
              <a:t>for</a:t>
            </a:r>
            <a:r>
              <a:rPr lang="en-US" altLang="zh-CN" sz="3200" dirty="0">
                <a:solidFill>
                  <a:srgbClr val="6600CC"/>
                </a:solidFill>
                <a:latin typeface="Times New Roman" panose="02020603050405020304" pitchFamily="18" charset="0"/>
              </a:rPr>
              <a:t> </a:t>
            </a:r>
            <a:r>
              <a:rPr lang="en-US" altLang="zh-CN" sz="3200" dirty="0">
                <a:latin typeface="Times New Roman" panose="02020603050405020304" pitchFamily="18" charset="0"/>
              </a:rPr>
              <a:t>(i=n-1</a:t>
            </a:r>
            <a:r>
              <a:rPr lang="en-US" altLang="zh-CN" sz="3200" dirty="0">
                <a:solidFill>
                  <a:schemeClr val="bg2">
                    <a:lumMod val="50000"/>
                  </a:schemeClr>
                </a:solidFill>
                <a:latin typeface="Times New Roman" panose="02020603050405020304" pitchFamily="18" charset="0"/>
              </a:rPr>
              <a:t>, change=TRUE</a:t>
            </a:r>
            <a:r>
              <a:rPr lang="en-US" altLang="zh-CN" sz="3200" dirty="0">
                <a:latin typeface="Times New Roman" panose="02020603050405020304" pitchFamily="18" charset="0"/>
              </a:rPr>
              <a:t>;  i&gt;1 </a:t>
            </a:r>
            <a:r>
              <a:rPr lang="en-US" altLang="zh-CN" sz="3200" b="1" dirty="0">
                <a:latin typeface="Times New Roman" panose="02020603050405020304" pitchFamily="18" charset="0"/>
              </a:rPr>
              <a:t>&amp;&amp; </a:t>
            </a:r>
            <a:r>
              <a:rPr lang="en-US" altLang="zh-CN" sz="3200" dirty="0">
                <a:solidFill>
                  <a:schemeClr val="bg2">
                    <a:lumMod val="50000"/>
                  </a:schemeClr>
                </a:solidFill>
                <a:latin typeface="Times New Roman" panose="02020603050405020304" pitchFamily="18" charset="0"/>
              </a:rPr>
              <a:t>change</a:t>
            </a:r>
            <a:r>
              <a:rPr lang="en-US" altLang="zh-CN" sz="3200" dirty="0">
                <a:latin typeface="Times New Roman" panose="02020603050405020304" pitchFamily="18" charset="0"/>
              </a:rPr>
              <a:t>;  --i)</a:t>
            </a:r>
            <a:endParaRPr lang="en-US" altLang="zh-CN" sz="3200" dirty="0">
              <a:latin typeface="Times New Roman" panose="02020603050405020304" pitchFamily="18" charset="0"/>
            </a:endParaRPr>
          </a:p>
          <a:p>
            <a:pPr>
              <a:lnSpc>
                <a:spcPct val="120000"/>
              </a:lnSpc>
            </a:pPr>
            <a:endParaRPr lang="en-US" altLang="zh-CN" sz="3200" b="1" dirty="0">
              <a:latin typeface="Times New Roman" panose="02020603050405020304" pitchFamily="18" charset="0"/>
            </a:endParaRPr>
          </a:p>
          <a:p>
            <a:pPr>
              <a:lnSpc>
                <a:spcPct val="120000"/>
              </a:lnSpc>
            </a:pPr>
            <a:endParaRPr lang="en-US" altLang="zh-CN" sz="3200" b="1" dirty="0">
              <a:latin typeface="Times New Roman" panose="02020603050405020304" pitchFamily="18" charset="0"/>
            </a:endParaRPr>
          </a:p>
          <a:p>
            <a:pPr>
              <a:lnSpc>
                <a:spcPct val="120000"/>
              </a:lnSpc>
            </a:pPr>
            <a:endParaRPr lang="en-US" altLang="zh-CN" sz="3200" b="1" dirty="0">
              <a:latin typeface="Times New Roman" panose="02020603050405020304" pitchFamily="18" charset="0"/>
            </a:endParaRPr>
          </a:p>
          <a:p>
            <a:pPr>
              <a:lnSpc>
                <a:spcPct val="120000"/>
              </a:lnSpc>
            </a:pPr>
            <a:endParaRPr lang="en-US" altLang="zh-CN" sz="3200" b="1" dirty="0">
              <a:latin typeface="Times New Roman" panose="02020603050405020304" pitchFamily="18" charset="0"/>
            </a:endParaRPr>
          </a:p>
          <a:p>
            <a:pPr>
              <a:lnSpc>
                <a:spcPct val="120000"/>
              </a:lnSpc>
            </a:pPr>
            <a:endParaRPr lang="en-US" altLang="zh-CN" sz="3200" b="1" dirty="0">
              <a:latin typeface="Times New Roman" panose="02020603050405020304" pitchFamily="18" charset="0"/>
            </a:endParaRPr>
          </a:p>
          <a:p>
            <a:pPr>
              <a:lnSpc>
                <a:spcPct val="120000"/>
              </a:lnSpc>
            </a:pPr>
            <a:r>
              <a:rPr lang="en-US" altLang="zh-CN" sz="3200" b="1" dirty="0">
                <a:latin typeface="Times New Roman" panose="02020603050405020304" pitchFamily="18" charset="0"/>
              </a:rPr>
              <a:t>} </a:t>
            </a:r>
            <a:r>
              <a:rPr lang="en-US" altLang="zh-CN" sz="3200" dirty="0">
                <a:latin typeface="Times New Roman" panose="02020603050405020304" pitchFamily="18" charset="0"/>
              </a:rPr>
              <a:t>// bubble_sort</a:t>
            </a:r>
            <a:endParaRPr lang="en-US" altLang="zh-CN" sz="3200" dirty="0">
              <a:latin typeface="Times New Roman" panose="02020603050405020304" pitchFamily="18" charset="0"/>
            </a:endParaRPr>
          </a:p>
        </p:txBody>
      </p:sp>
      <p:sp>
        <p:nvSpPr>
          <p:cNvPr id="615428" name="Text Box 4"/>
          <p:cNvSpPr txBox="1"/>
          <p:nvPr/>
        </p:nvSpPr>
        <p:spPr>
          <a:xfrm>
            <a:off x="3962400" y="5257800"/>
            <a:ext cx="4410075" cy="701675"/>
          </a:xfrm>
          <a:prstGeom prst="rect">
            <a:avLst/>
          </a:prstGeom>
          <a:noFill/>
          <a:ln w="9525">
            <a:noFill/>
          </a:ln>
        </p:spPr>
        <p:txBody>
          <a:bodyPr wrap="none">
            <a:spAutoFit/>
          </a:bodyPr>
          <a:lstStyle/>
          <a:p>
            <a:r>
              <a:rPr lang="zh-CN" altLang="en-US" sz="3600" dirty="0">
                <a:latin typeface="隶书" panose="02010509060101010101" pitchFamily="49" charset="-122"/>
                <a:ea typeface="隶书" panose="02010509060101010101" pitchFamily="49" charset="-122"/>
              </a:rPr>
              <a:t>基本操作</a:t>
            </a:r>
            <a:r>
              <a:rPr lang="en-US" altLang="zh-CN" sz="3600" dirty="0">
                <a:latin typeface="隶书" panose="02010509060101010101" pitchFamily="49" charset="-122"/>
                <a:ea typeface="隶书" panose="02010509060101010101" pitchFamily="49" charset="-122"/>
              </a:rPr>
              <a:t>:</a:t>
            </a:r>
            <a:r>
              <a:rPr lang="en-US" altLang="zh-CN" sz="4000" b="1" dirty="0">
                <a:solidFill>
                  <a:srgbClr val="9900CC"/>
                </a:solidFill>
                <a:latin typeface="Times New Roman" panose="02020603050405020304" pitchFamily="18" charset="0"/>
              </a:rPr>
              <a:t> </a:t>
            </a:r>
            <a:r>
              <a:rPr lang="zh-CN" altLang="en-US" sz="4000" b="1" dirty="0">
                <a:solidFill>
                  <a:srgbClr val="CC0000"/>
                </a:solidFill>
                <a:latin typeface="Times New Roman" panose="02020603050405020304" pitchFamily="18" charset="0"/>
                <a:ea typeface="隶书" panose="02010509060101010101" pitchFamily="49" charset="-122"/>
              </a:rPr>
              <a:t>赋值</a:t>
            </a:r>
            <a:r>
              <a:rPr lang="zh-CN" altLang="en-US" sz="4000" dirty="0">
                <a:solidFill>
                  <a:srgbClr val="CC0000"/>
                </a:solidFill>
                <a:latin typeface="Times New Roman" panose="02020603050405020304" pitchFamily="18" charset="0"/>
                <a:ea typeface="隶书" panose="02010509060101010101" pitchFamily="49" charset="-122"/>
              </a:rPr>
              <a:t>操作</a:t>
            </a:r>
            <a:endParaRPr lang="zh-CN" altLang="en-US" sz="2400" dirty="0">
              <a:latin typeface="Times New Roman" panose="02020603050405020304" pitchFamily="18" charset="0"/>
            </a:endParaRPr>
          </a:p>
        </p:txBody>
      </p:sp>
      <p:sp>
        <p:nvSpPr>
          <p:cNvPr id="615429" name="Text Box 5"/>
          <p:cNvSpPr txBox="1"/>
          <p:nvPr/>
        </p:nvSpPr>
        <p:spPr>
          <a:xfrm>
            <a:off x="3962400" y="5927725"/>
            <a:ext cx="4014788" cy="701675"/>
          </a:xfrm>
          <a:prstGeom prst="rect">
            <a:avLst/>
          </a:prstGeom>
          <a:noFill/>
          <a:ln w="9525">
            <a:noFill/>
          </a:ln>
        </p:spPr>
        <p:txBody>
          <a:bodyPr wrap="none">
            <a:spAutoFit/>
          </a:bodyPr>
          <a:lstStyle/>
          <a:p>
            <a:r>
              <a:rPr lang="zh-CN" altLang="en-US" sz="3600" dirty="0">
                <a:latin typeface="隶书" panose="02010509060101010101" pitchFamily="49" charset="-122"/>
                <a:ea typeface="隶书" panose="02010509060101010101" pitchFamily="49" charset="-122"/>
              </a:rPr>
              <a:t>时间复杂度</a:t>
            </a:r>
            <a:r>
              <a:rPr lang="en-US" altLang="zh-CN" sz="3600" dirty="0">
                <a:latin typeface="隶书" panose="02010509060101010101" pitchFamily="49" charset="-122"/>
                <a:ea typeface="隶书" panose="02010509060101010101" pitchFamily="49" charset="-122"/>
              </a:rPr>
              <a:t>:</a:t>
            </a:r>
            <a:r>
              <a:rPr lang="en-US" altLang="zh-CN" sz="4000" dirty="0">
                <a:latin typeface="Times New Roman" panose="02020603050405020304" pitchFamily="18" charset="0"/>
              </a:rPr>
              <a:t> </a:t>
            </a:r>
            <a:r>
              <a:rPr lang="en-US" altLang="zh-CN" sz="4000" b="1" dirty="0">
                <a:solidFill>
                  <a:srgbClr val="9900CC"/>
                </a:solidFill>
                <a:latin typeface="Times New Roman" panose="02020603050405020304" pitchFamily="18" charset="0"/>
              </a:rPr>
              <a:t>O(n</a:t>
            </a:r>
            <a:r>
              <a:rPr lang="en-US" altLang="zh-CN" sz="4000" b="1" baseline="30000" dirty="0">
                <a:solidFill>
                  <a:srgbClr val="9900CC"/>
                </a:solidFill>
                <a:latin typeface="Times New Roman" panose="02020603050405020304" pitchFamily="18" charset="0"/>
              </a:rPr>
              <a:t>2</a:t>
            </a:r>
            <a:r>
              <a:rPr lang="en-US" altLang="zh-CN" sz="4000" b="1" dirty="0">
                <a:solidFill>
                  <a:srgbClr val="9900CC"/>
                </a:solidFill>
                <a:latin typeface="Times New Roman" panose="02020603050405020304" pitchFamily="18" charset="0"/>
              </a:rPr>
              <a:t>)</a:t>
            </a:r>
            <a:endParaRPr lang="en-US" altLang="zh-CN" sz="4000" dirty="0">
              <a:latin typeface="Times New Roman" panose="02020603050405020304" pitchFamily="18" charset="0"/>
            </a:endParaRPr>
          </a:p>
        </p:txBody>
      </p:sp>
      <p:sp>
        <p:nvSpPr>
          <p:cNvPr id="615430" name="Rectangle 6"/>
          <p:cNvSpPr/>
          <p:nvPr/>
        </p:nvSpPr>
        <p:spPr>
          <a:xfrm>
            <a:off x="952500" y="2895600"/>
            <a:ext cx="8267700" cy="3013075"/>
          </a:xfrm>
          <a:prstGeom prst="rect">
            <a:avLst/>
          </a:prstGeom>
          <a:noFill/>
          <a:ln w="9525">
            <a:noFill/>
          </a:ln>
        </p:spPr>
        <p:txBody>
          <a:bodyPr wrap="none">
            <a:spAutoFit/>
          </a:bodyPr>
          <a:lstStyle/>
          <a:p>
            <a:pPr>
              <a:lnSpc>
                <a:spcPct val="120000"/>
              </a:lnSpc>
            </a:pPr>
            <a:r>
              <a:rPr lang="en-US" altLang="zh-CN" sz="3200" b="1" dirty="0">
                <a:latin typeface="Times New Roman" panose="02020603050405020304" pitchFamily="18" charset="0"/>
              </a:rPr>
              <a:t>{ </a:t>
            </a:r>
            <a:r>
              <a:rPr lang="en-US" altLang="zh-CN" sz="3200" dirty="0">
                <a:latin typeface="Times New Roman" panose="02020603050405020304" pitchFamily="18" charset="0"/>
              </a:rPr>
              <a:t> </a:t>
            </a:r>
            <a:r>
              <a:rPr lang="en-US" altLang="zh-CN" sz="3200" dirty="0">
                <a:solidFill>
                  <a:schemeClr val="bg2">
                    <a:lumMod val="50000"/>
                  </a:schemeClr>
                </a:solidFill>
                <a:latin typeface="Times New Roman" panose="02020603050405020304" pitchFamily="18" charset="0"/>
              </a:rPr>
              <a:t>change = FALSE; </a:t>
            </a:r>
            <a:r>
              <a:rPr lang="en-US" altLang="zh-CN" sz="3200" dirty="0">
                <a:latin typeface="Times New Roman" panose="02020603050405020304" pitchFamily="18" charset="0"/>
              </a:rPr>
              <a:t> </a:t>
            </a:r>
            <a:r>
              <a:rPr lang="en-US" altLang="zh-CN" sz="2800" dirty="0">
                <a:latin typeface="Times New Roman" panose="02020603050405020304" pitchFamily="18" charset="0"/>
              </a:rPr>
              <a:t>// change </a:t>
            </a:r>
            <a:r>
              <a:rPr lang="zh-CN" altLang="en-US" sz="2800" dirty="0">
                <a:latin typeface="Times New Roman" panose="02020603050405020304" pitchFamily="18" charset="0"/>
                <a:ea typeface="楷体_GB2312" panose="02010609030101010101" pitchFamily="49" charset="-122"/>
              </a:rPr>
              <a:t>为元素进行交换标志</a:t>
            </a:r>
            <a:endParaRPr lang="zh-CN" altLang="en-US" sz="3200" dirty="0">
              <a:latin typeface="Times New Roman" panose="02020603050405020304" pitchFamily="18" charset="0"/>
            </a:endParaRPr>
          </a:p>
          <a:p>
            <a:pPr>
              <a:lnSpc>
                <a:spcPct val="120000"/>
              </a:lnSpc>
            </a:pPr>
            <a:r>
              <a:rPr lang="zh-CN" altLang="en-US" sz="3200" dirty="0">
                <a:latin typeface="Times New Roman" panose="02020603050405020304" pitchFamily="18" charset="0"/>
              </a:rPr>
              <a:t>      </a:t>
            </a:r>
            <a:r>
              <a:rPr lang="en-US" altLang="zh-CN" sz="3200" b="1" dirty="0">
                <a:solidFill>
                  <a:srgbClr val="6600CC"/>
                </a:solidFill>
                <a:latin typeface="Times New Roman" panose="02020603050405020304" pitchFamily="18" charset="0"/>
              </a:rPr>
              <a:t>for</a:t>
            </a:r>
            <a:r>
              <a:rPr lang="en-US" altLang="zh-CN" sz="3200" dirty="0">
                <a:latin typeface="Times New Roman" panose="02020603050405020304" pitchFamily="18" charset="0"/>
              </a:rPr>
              <a:t> (j=0;  j&lt;i;  ++j)</a:t>
            </a:r>
            <a:endParaRPr lang="en-US" altLang="zh-CN" sz="3200" dirty="0">
              <a:latin typeface="Times New Roman" panose="02020603050405020304" pitchFamily="18" charset="0"/>
            </a:endParaRPr>
          </a:p>
          <a:p>
            <a:pPr>
              <a:lnSpc>
                <a:spcPct val="120000"/>
              </a:lnSpc>
            </a:pPr>
            <a:r>
              <a:rPr lang="en-US" altLang="zh-CN" sz="3200" dirty="0">
                <a:latin typeface="Times New Roman" panose="02020603050405020304" pitchFamily="18" charset="0"/>
              </a:rPr>
              <a:t>         </a:t>
            </a:r>
            <a:r>
              <a:rPr lang="en-US" altLang="zh-CN" sz="3200" b="1" dirty="0">
                <a:latin typeface="Times New Roman" panose="02020603050405020304" pitchFamily="18" charset="0"/>
              </a:rPr>
              <a:t>if </a:t>
            </a:r>
            <a:r>
              <a:rPr lang="en-US" altLang="zh-CN" sz="3200" dirty="0">
                <a:latin typeface="Times New Roman" panose="02020603050405020304" pitchFamily="18" charset="0"/>
              </a:rPr>
              <a:t>(a[j] &gt; a[j+1]) </a:t>
            </a:r>
            <a:endParaRPr lang="en-US" altLang="zh-CN" sz="3200" dirty="0">
              <a:latin typeface="Times New Roman" panose="02020603050405020304" pitchFamily="18" charset="0"/>
            </a:endParaRPr>
          </a:p>
          <a:p>
            <a:pPr>
              <a:lnSpc>
                <a:spcPct val="120000"/>
              </a:lnSpc>
            </a:pPr>
            <a:r>
              <a:rPr lang="en-US" altLang="zh-CN" sz="3200" dirty="0">
                <a:latin typeface="Times New Roman" panose="02020603050405020304" pitchFamily="18" charset="0"/>
              </a:rPr>
              <a:t>            </a:t>
            </a:r>
            <a:r>
              <a:rPr lang="en-US" altLang="zh-CN" sz="3200" b="1" dirty="0">
                <a:latin typeface="Times New Roman" panose="02020603050405020304" pitchFamily="18" charset="0"/>
              </a:rPr>
              <a:t>{</a:t>
            </a:r>
            <a:r>
              <a:rPr lang="en-US" altLang="zh-CN" sz="3200" dirty="0">
                <a:latin typeface="Times New Roman" panose="02020603050405020304" pitchFamily="18" charset="0"/>
              </a:rPr>
              <a:t> </a:t>
            </a:r>
            <a:r>
              <a:rPr lang="en-US" altLang="zh-CN" sz="3200" dirty="0">
                <a:solidFill>
                  <a:srgbClr val="CC0000"/>
                </a:solidFill>
                <a:latin typeface="Times New Roman" panose="02020603050405020304" pitchFamily="18" charset="0"/>
              </a:rPr>
              <a:t>a[j] </a:t>
            </a:r>
            <a:r>
              <a:rPr lang="en-US" altLang="zh-CN" sz="3200" b="1" dirty="0">
                <a:solidFill>
                  <a:srgbClr val="CC0000"/>
                </a:solidFill>
                <a:latin typeface="Times New Roman" panose="02020603050405020304" pitchFamily="18" charset="0"/>
              </a:rPr>
              <a:t>←→</a:t>
            </a:r>
            <a:r>
              <a:rPr lang="en-US" altLang="zh-CN" sz="3200" dirty="0">
                <a:solidFill>
                  <a:srgbClr val="CC0000"/>
                </a:solidFill>
                <a:latin typeface="Times New Roman" panose="02020603050405020304" pitchFamily="18" charset="0"/>
              </a:rPr>
              <a:t> a[j+1];</a:t>
            </a:r>
            <a:r>
              <a:rPr lang="en-US" altLang="zh-CN" sz="3200" dirty="0">
                <a:latin typeface="Times New Roman" panose="02020603050405020304" pitchFamily="18" charset="0"/>
              </a:rPr>
              <a:t>   </a:t>
            </a:r>
            <a:r>
              <a:rPr lang="en-US" altLang="zh-CN" sz="3200" dirty="0">
                <a:solidFill>
                  <a:schemeClr val="bg2">
                    <a:lumMod val="50000"/>
                  </a:schemeClr>
                </a:solidFill>
                <a:latin typeface="Times New Roman" panose="02020603050405020304" pitchFamily="18" charset="0"/>
              </a:rPr>
              <a:t>change = TRUE </a:t>
            </a:r>
            <a:r>
              <a:rPr lang="en-US" altLang="zh-CN" sz="3200" dirty="0">
                <a:latin typeface="Times New Roman" panose="02020603050405020304" pitchFamily="18" charset="0"/>
              </a:rPr>
              <a:t>;</a:t>
            </a:r>
            <a:r>
              <a:rPr lang="en-US" altLang="zh-CN" sz="3200" b="1" dirty="0">
                <a:latin typeface="Times New Roman" panose="02020603050405020304" pitchFamily="18" charset="0"/>
              </a:rPr>
              <a:t>}</a:t>
            </a:r>
            <a:endParaRPr lang="en-US" altLang="zh-CN" sz="3200" b="1" dirty="0">
              <a:latin typeface="Times New Roman" panose="02020603050405020304" pitchFamily="18" charset="0"/>
            </a:endParaRPr>
          </a:p>
          <a:p>
            <a:pPr>
              <a:lnSpc>
                <a:spcPct val="120000"/>
              </a:lnSpc>
            </a:pPr>
            <a:r>
              <a:rPr lang="en-US" altLang="zh-CN" sz="3200" b="1" dirty="0">
                <a:latin typeface="Times New Roman" panose="02020603050405020304" pitchFamily="18" charset="0"/>
              </a:rPr>
              <a:t>} </a:t>
            </a:r>
            <a:r>
              <a:rPr lang="en-US" altLang="zh-CN" sz="2800" dirty="0">
                <a:latin typeface="Times New Roman" panose="02020603050405020304" pitchFamily="18" charset="0"/>
              </a:rPr>
              <a:t>// </a:t>
            </a:r>
            <a:r>
              <a:rPr lang="zh-CN" altLang="en-US" sz="2800" dirty="0">
                <a:latin typeface="Times New Roman" panose="02020603050405020304" pitchFamily="18" charset="0"/>
                <a:ea typeface="楷体_GB2312" panose="02010609030101010101" pitchFamily="49" charset="-122"/>
              </a:rPr>
              <a:t>一趟起泡</a:t>
            </a:r>
            <a:endParaRPr lang="zh-CN" altLang="en-US" sz="3200" b="1" dirty="0">
              <a:latin typeface="Times New Roman" panose="02020603050405020304" pitchFamily="18" charset="0"/>
            </a:endParaRPr>
          </a:p>
        </p:txBody>
      </p:sp>
      <p:sp>
        <p:nvSpPr>
          <p:cNvPr id="2" name="日期占位符 1"/>
          <p:cNvSpPr>
            <a:spLocks noGrp="1"/>
          </p:cNvSpPr>
          <p:nvPr>
            <p:ph type="dt" sz="half" idx="10"/>
          </p:nvPr>
        </p:nvSpPr>
        <p:spPr/>
        <p:txBody>
          <a:bodyPr/>
          <a:lstStyle/>
          <a:p>
            <a:r>
              <a:rPr lang="en-US" altLang="zh-CN"/>
              <a:t>Data Structures and algorithms</a:t>
            </a:r>
            <a:endParaRPr lang="zh-CN" altLang="en-US"/>
          </a:p>
        </p:txBody>
      </p:sp>
      <p:sp>
        <p:nvSpPr>
          <p:cNvPr id="3" name="页脚占位符 2"/>
          <p:cNvSpPr>
            <a:spLocks noGrp="1"/>
          </p:cNvSpPr>
          <p:nvPr>
            <p:ph type="ftr" sz="quarter" idx="11"/>
          </p:nvPr>
        </p:nvSpPr>
        <p:spPr/>
        <p:txBody>
          <a:bodyPr/>
          <a:lstStyle/>
          <a:p>
            <a:r>
              <a:rPr lang="en-US" altLang="zh-CN"/>
              <a:t>Software College Northeastern University</a:t>
            </a:r>
            <a:endParaRPr lang="zh-CN" altLang="en-US"/>
          </a:p>
        </p:txBody>
      </p:sp>
      <p:sp>
        <p:nvSpPr>
          <p:cNvPr id="4" name="灯片编号占位符 3"/>
          <p:cNvSpPr>
            <a:spLocks noGrp="1"/>
          </p:cNvSpPr>
          <p:nvPr>
            <p:ph type="sldNum" sz="quarter" idx="12"/>
          </p:nvPr>
        </p:nvSpPr>
        <p:spPr/>
        <p:txBody>
          <a:bodyPr/>
          <a:lstStyle/>
          <a:p>
            <a:fld id="{6E1C0148-8E4B-4B2F-95CE-20B4709700AE}" type="slidenum">
              <a:rPr lang="zh-CN" altLang="en-US" smtClean="0"/>
            </a:fld>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grpId="0" nodeType="clickEffect">
                                  <p:stCondLst>
                                    <p:cond delay="0"/>
                                  </p:stCondLst>
                                  <p:childTnLst>
                                    <p:set>
                                      <p:cBhvr>
                                        <p:cTn id="6" dur="1" fill="hold">
                                          <p:stCondLst>
                                            <p:cond delay="0"/>
                                          </p:stCondLst>
                                        </p:cTn>
                                        <p:tgtEl>
                                          <p:spTgt spid="615427"/>
                                        </p:tgtEl>
                                        <p:attrNameLst>
                                          <p:attrName>style.visibility</p:attrName>
                                        </p:attrNameLst>
                                      </p:cBhvr>
                                      <p:to>
                                        <p:strVal val="visible"/>
                                      </p:to>
                                    </p:set>
                                    <p:animEffect transition="in" filter="barn(outVertical)">
                                      <p:cBhvr>
                                        <p:cTn id="7" dur="500"/>
                                        <p:tgtEl>
                                          <p:spTgt spid="615427"/>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615430"/>
                                        </p:tgtEl>
                                        <p:attrNameLst>
                                          <p:attrName>style.visibility</p:attrName>
                                        </p:attrNameLst>
                                      </p:cBhvr>
                                      <p:to>
                                        <p:strVal val="visible"/>
                                      </p:to>
                                    </p:set>
                                    <p:animEffect transition="in" filter="strips(downRight)">
                                      <p:cBhvr>
                                        <p:cTn id="12" dur="500"/>
                                        <p:tgtEl>
                                          <p:spTgt spid="61543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15428"/>
                                        </p:tgtEl>
                                        <p:attrNameLst>
                                          <p:attrName>style.visibility</p:attrName>
                                        </p:attrNameLst>
                                      </p:cBhvr>
                                      <p:to>
                                        <p:strVal val="visible"/>
                                      </p:to>
                                    </p:set>
                                    <p:animEffect transition="in" filter="wipe(left)">
                                      <p:cBhvr>
                                        <p:cTn id="17" dur="500"/>
                                        <p:tgtEl>
                                          <p:spTgt spid="61542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15429"/>
                                        </p:tgtEl>
                                        <p:attrNameLst>
                                          <p:attrName>style.visibility</p:attrName>
                                        </p:attrNameLst>
                                      </p:cBhvr>
                                      <p:to>
                                        <p:strVal val="visible"/>
                                      </p:to>
                                    </p:set>
                                    <p:animEffect transition="in" filter="wipe(left)">
                                      <p:cBhvr>
                                        <p:cTn id="22" dur="500"/>
                                        <p:tgtEl>
                                          <p:spTgt spid="6154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427" grpId="0"/>
      <p:bldP spid="615428" grpId="0"/>
      <p:bldP spid="615429" grpId="0"/>
      <p:bldP spid="615430" grpId="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4578" name="Rectangle 2"/>
          <p:cNvSpPr>
            <a:spLocks noGrp="1" noChangeArrowheads="1"/>
          </p:cNvSpPr>
          <p:nvPr>
            <p:ph type="title"/>
          </p:nvPr>
        </p:nvSpPr>
        <p:spPr>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ctr" anchorCtr="0" compatLnSpc="1">
            <a:normAutofit fontScale="90000"/>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4400" b="1" i="0" u="none" strike="noStrike" kern="0" cap="none" spc="0" normalizeH="0" baseline="0" noProof="0">
                <a:ln>
                  <a:noFill/>
                </a:ln>
                <a:solidFill>
                  <a:schemeClr val="tx2"/>
                </a:solidFill>
                <a:effectLst>
                  <a:outerShdw blurRad="38100" dist="38100" dir="2700000" algn="tl">
                    <a:srgbClr val="C0C0C0"/>
                  </a:outerShdw>
                </a:effectLst>
                <a:uLnTx/>
                <a:uFillTx/>
                <a:latin typeface="华文楷体" panose="02010600040101010101" charset="-122"/>
                <a:ea typeface="华文楷体" panose="02010600040101010101" charset="-122"/>
              </a:rPr>
              <a:t>-</a:t>
            </a:r>
            <a:r>
              <a:rPr kumimoji="1" lang="zh-CN" altLang="en-US" sz="4400" b="1" i="0" u="none" strike="noStrike" kern="0" cap="none" spc="0" normalizeH="0" baseline="0" noProof="0">
                <a:ln>
                  <a:noFill/>
                </a:ln>
                <a:solidFill>
                  <a:schemeClr val="tx2"/>
                </a:solidFill>
                <a:effectLst>
                  <a:outerShdw blurRad="38100" dist="38100" dir="2700000" algn="tl">
                    <a:srgbClr val="C0C0C0"/>
                  </a:outerShdw>
                </a:effectLst>
                <a:uLnTx/>
                <a:uFillTx/>
                <a:latin typeface="华文楷体" panose="02010600040101010101" charset="-122"/>
                <a:ea typeface="华文楷体" panose="02010600040101010101" charset="-122"/>
              </a:rPr>
              <a:t>常用的渐进函数</a:t>
            </a:r>
            <a:endParaRPr kumimoji="1" lang="zh-CN" altLang="en-US" sz="4400" b="1" i="0" u="none" strike="noStrike" kern="0" cap="none" spc="0" normalizeH="0" baseline="0" noProof="0">
              <a:ln>
                <a:noFill/>
              </a:ln>
              <a:solidFill>
                <a:schemeClr val="tx2"/>
              </a:solidFill>
              <a:effectLst>
                <a:outerShdw blurRad="38100" dist="38100" dir="2700000" algn="tl">
                  <a:srgbClr val="C0C0C0"/>
                </a:outerShdw>
              </a:effectLst>
              <a:uLnTx/>
              <a:uFillTx/>
              <a:latin typeface="华文楷体" panose="02010600040101010101" charset="-122"/>
              <a:ea typeface="华文楷体" panose="02010600040101010101" charset="-122"/>
            </a:endParaRPr>
          </a:p>
        </p:txBody>
      </p:sp>
      <p:graphicFrame>
        <p:nvGraphicFramePr>
          <p:cNvPr id="664579" name="Group 3"/>
          <p:cNvGraphicFramePr>
            <a:graphicFrameLocks noGrp="1"/>
          </p:cNvGraphicFramePr>
          <p:nvPr>
            <p:ph type="tbl" idx="1"/>
          </p:nvPr>
        </p:nvGraphicFramePr>
        <p:xfrm>
          <a:off x="457200" y="1371600"/>
          <a:ext cx="8178800" cy="5211864"/>
        </p:xfrm>
        <a:graphic>
          <a:graphicData uri="http://schemas.openxmlformats.org/drawingml/2006/table">
            <a:tbl>
              <a:tblPr/>
              <a:tblGrid>
                <a:gridCol w="3616325"/>
                <a:gridCol w="4562475"/>
              </a:tblGrid>
              <a:tr h="579085">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zh-CN" altLang="en-US" sz="3200" b="1" i="0" u="none" strike="noStrike" cap="none" normalizeH="0" baseline="0" dirty="0">
                          <a:ln>
                            <a:noFill/>
                          </a:ln>
                          <a:solidFill>
                            <a:schemeClr val="tx1"/>
                          </a:solidFill>
                          <a:effectLst>
                            <a:outerShdw blurRad="38100" dist="38100" dir="2700000" algn="tl">
                              <a:srgbClr val="C0C0C0"/>
                            </a:outerShdw>
                          </a:effectLst>
                          <a:latin typeface="Times New Roman" panose="02020603050405020304" pitchFamily="18" charset="0"/>
                          <a:ea typeface="楷体_GB2312" panose="02010609030101010101" pitchFamily="49" charset="-122"/>
                        </a:rPr>
                        <a:t>函  数</a:t>
                      </a:r>
                      <a:endParaRPr kumimoji="1" lang="zh-CN" altLang="en-US" sz="3200" b="1" i="0" u="none" strike="noStrike" cap="none" normalizeH="0" baseline="0" dirty="0">
                        <a:ln>
                          <a:noFill/>
                        </a:ln>
                        <a:solidFill>
                          <a:schemeClr val="tx1"/>
                        </a:solidFill>
                        <a:effectLst>
                          <a:outerShdw blurRad="38100" dist="38100" dir="2700000" algn="tl">
                            <a:srgbClr val="C0C0C0"/>
                          </a:outerShdw>
                        </a:effectLst>
                        <a:latin typeface="Times New Roman" panose="02020603050405020304" pitchFamily="18" charset="0"/>
                        <a:ea typeface="楷体_GB2312" panose="02010609030101010101" pitchFamily="49" charset="-122"/>
                      </a:endParaRPr>
                    </a:p>
                  </a:txBody>
                  <a:tcPr marT="45708" marB="45708" anchor="ctr" horzOverflow="overflow">
                    <a:lnL cap="flat">
                      <a:noFill/>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zh-CN" altLang="en-US" sz="3200" b="1"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anose="02010609030101010101" pitchFamily="49" charset="-122"/>
                        </a:rPr>
                        <a:t>名  称</a:t>
                      </a:r>
                      <a:endParaRPr kumimoji="1" lang="zh-CN" altLang="en-US" sz="3200" b="1"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anose="02010609030101010101" pitchFamily="49" charset="-122"/>
                      </a:endParaRPr>
                    </a:p>
                  </a:txBody>
                  <a:tcPr marT="45708" marB="45708" anchor="ctr" horzOverflow="overflow">
                    <a:lnL w="12700" cap="flat" cmpd="sng" algn="ctr">
                      <a:solidFill>
                        <a:schemeClr val="tx1"/>
                      </a:solidFill>
                      <a:prstDash val="solid"/>
                      <a:round/>
                      <a:headEnd type="none" w="sm" len="sm"/>
                      <a:tailEnd type="none" w="sm" len="sm"/>
                    </a:lnL>
                    <a:lnR cap="flat">
                      <a:noFill/>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579085">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3200" b="1"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anose="02010609030101010101" pitchFamily="49" charset="-122"/>
                        </a:rPr>
                        <a:t>O(1)</a:t>
                      </a:r>
                      <a:endParaRPr kumimoji="1" lang="zh-CN" altLang="en-US" sz="3200" b="1"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anose="02010609030101010101" pitchFamily="49" charset="-122"/>
                      </a:endParaRPr>
                    </a:p>
                  </a:txBody>
                  <a:tcPr marT="45708" marB="45708" anchor="ctr" horzOverflow="overflow">
                    <a:lnL cap="flat">
                      <a:noFill/>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zh-CN" altLang="en-US" sz="3200" b="1"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anose="02010609030101010101" pitchFamily="49" charset="-122"/>
                        </a:rPr>
                        <a:t>常量级</a:t>
                      </a:r>
                      <a:endParaRPr kumimoji="1" lang="zh-CN" altLang="en-US" sz="3200" b="1"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anose="02010609030101010101" pitchFamily="49" charset="-122"/>
                      </a:endParaRPr>
                    </a:p>
                  </a:txBody>
                  <a:tcPr marT="45708" marB="45708" anchor="ctr" horzOverflow="overflow">
                    <a:lnL w="12700" cap="flat" cmpd="sng" algn="ctr">
                      <a:solidFill>
                        <a:schemeClr val="tx1"/>
                      </a:solidFill>
                      <a:prstDash val="solid"/>
                      <a:round/>
                      <a:headEnd type="none" w="sm" len="sm"/>
                      <a:tailEnd type="none" w="sm" len="sm"/>
                    </a:lnL>
                    <a:lnR cap="flat">
                      <a:noFill/>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579085">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3200" b="1"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anose="02010609030101010101" pitchFamily="49" charset="-122"/>
                        </a:rPr>
                        <a:t>O(n)</a:t>
                      </a:r>
                      <a:endParaRPr kumimoji="1" lang="zh-CN" altLang="en-US" sz="3200" b="1"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anose="02010609030101010101" pitchFamily="49" charset="-122"/>
                      </a:endParaRPr>
                    </a:p>
                  </a:txBody>
                  <a:tcPr marT="45708" marB="45708" anchor="ctr" horzOverflow="overflow">
                    <a:lnL cap="flat">
                      <a:noFill/>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zh-CN" altLang="en-US" sz="3200" b="1"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anose="02010609030101010101" pitchFamily="49" charset="-122"/>
                        </a:rPr>
                        <a:t>线性级</a:t>
                      </a:r>
                      <a:endParaRPr kumimoji="1" lang="zh-CN" altLang="en-US" sz="3200" b="1"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anose="02010609030101010101" pitchFamily="49" charset="-122"/>
                      </a:endParaRPr>
                    </a:p>
                  </a:txBody>
                  <a:tcPr marT="45708" marB="45708" anchor="ctr" horzOverflow="overflow">
                    <a:lnL w="12700" cap="flat" cmpd="sng" algn="ctr">
                      <a:solidFill>
                        <a:schemeClr val="tx1"/>
                      </a:solidFill>
                      <a:prstDash val="solid"/>
                      <a:round/>
                      <a:headEnd type="none" w="sm" len="sm"/>
                      <a:tailEnd type="none" w="sm" len="sm"/>
                    </a:lnL>
                    <a:lnR cap="flat">
                      <a:noFill/>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579085">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3200" b="1"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anose="02010609030101010101" pitchFamily="49" charset="-122"/>
                        </a:rPr>
                        <a:t>O(n</a:t>
                      </a:r>
                      <a:r>
                        <a:rPr kumimoji="1" lang="en-US" altLang="zh-CN" sz="3200" b="1" i="0" u="none" strike="noStrike" cap="none" normalizeH="0" baseline="30000">
                          <a:ln>
                            <a:noFill/>
                          </a:ln>
                          <a:solidFill>
                            <a:schemeClr val="tx1"/>
                          </a:solidFill>
                          <a:effectLst>
                            <a:outerShdw blurRad="38100" dist="38100" dir="2700000" algn="tl">
                              <a:srgbClr val="C0C0C0"/>
                            </a:outerShdw>
                          </a:effectLst>
                          <a:latin typeface="Times New Roman" panose="02020603050405020304" pitchFamily="18" charset="0"/>
                          <a:ea typeface="楷体_GB2312" panose="02010609030101010101" pitchFamily="49" charset="-122"/>
                        </a:rPr>
                        <a:t>2</a:t>
                      </a:r>
                      <a:r>
                        <a:rPr kumimoji="1" lang="en-US" altLang="zh-CN" sz="3200" b="1"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anose="02010609030101010101" pitchFamily="49" charset="-122"/>
                        </a:rPr>
                        <a:t>)</a:t>
                      </a:r>
                      <a:endParaRPr kumimoji="1" lang="zh-CN" altLang="en-US" sz="3200" b="1"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anose="02010609030101010101" pitchFamily="49" charset="-122"/>
                      </a:endParaRPr>
                    </a:p>
                  </a:txBody>
                  <a:tcPr marT="45708" marB="45708" anchor="ctr" horzOverflow="overflow">
                    <a:lnL cap="flat">
                      <a:noFill/>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zh-CN" altLang="en-US" sz="3200" b="1"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anose="02010609030101010101" pitchFamily="49" charset="-122"/>
                        </a:rPr>
                        <a:t>平方级</a:t>
                      </a:r>
                      <a:endParaRPr kumimoji="1" lang="zh-CN" altLang="en-US" sz="3200" b="1"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anose="02010609030101010101" pitchFamily="49" charset="-122"/>
                      </a:endParaRPr>
                    </a:p>
                  </a:txBody>
                  <a:tcPr marT="45708" marB="45708" anchor="ctr" horzOverflow="overflow">
                    <a:lnL w="12700" cap="flat" cmpd="sng" algn="ctr">
                      <a:solidFill>
                        <a:schemeClr val="tx1"/>
                      </a:solidFill>
                      <a:prstDash val="solid"/>
                      <a:round/>
                      <a:headEnd type="none" w="sm" len="sm"/>
                      <a:tailEnd type="none" w="sm" len="sm"/>
                    </a:lnL>
                    <a:lnR cap="flat">
                      <a:noFill/>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579085">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3200" b="1"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anose="02010609030101010101" pitchFamily="49" charset="-122"/>
                        </a:rPr>
                        <a:t>O(n</a:t>
                      </a:r>
                      <a:r>
                        <a:rPr kumimoji="1" lang="en-US" altLang="zh-CN" sz="3200" b="1" i="0" u="none" strike="noStrike" cap="none" normalizeH="0" baseline="30000">
                          <a:ln>
                            <a:noFill/>
                          </a:ln>
                          <a:solidFill>
                            <a:schemeClr val="tx1"/>
                          </a:solidFill>
                          <a:effectLst>
                            <a:outerShdw blurRad="38100" dist="38100" dir="2700000" algn="tl">
                              <a:srgbClr val="C0C0C0"/>
                            </a:outerShdw>
                          </a:effectLst>
                          <a:latin typeface="Times New Roman" panose="02020603050405020304" pitchFamily="18" charset="0"/>
                          <a:ea typeface="楷体_GB2312" panose="02010609030101010101" pitchFamily="49" charset="-122"/>
                        </a:rPr>
                        <a:t>3</a:t>
                      </a:r>
                      <a:r>
                        <a:rPr kumimoji="1" lang="en-US" altLang="zh-CN" sz="3200" b="1"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anose="02010609030101010101" pitchFamily="49" charset="-122"/>
                        </a:rPr>
                        <a:t>)</a:t>
                      </a:r>
                      <a:endParaRPr kumimoji="1" lang="zh-CN" altLang="en-US" sz="3200" b="1"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anose="02010609030101010101" pitchFamily="49" charset="-122"/>
                      </a:endParaRPr>
                    </a:p>
                  </a:txBody>
                  <a:tcPr marT="45708" marB="45708" anchor="ctr" horzOverflow="overflow">
                    <a:lnL cap="flat">
                      <a:noFill/>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zh-CN" altLang="en-US" sz="3200" b="1"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anose="02010609030101010101" pitchFamily="49" charset="-122"/>
                        </a:rPr>
                        <a:t>立方级</a:t>
                      </a:r>
                      <a:endParaRPr kumimoji="1" lang="zh-CN" altLang="en-US" sz="3200" b="1"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anose="02010609030101010101" pitchFamily="49" charset="-122"/>
                      </a:endParaRPr>
                    </a:p>
                  </a:txBody>
                  <a:tcPr marT="45708" marB="45708" anchor="ctr" horzOverflow="overflow">
                    <a:lnL w="12700" cap="flat" cmpd="sng" algn="ctr">
                      <a:solidFill>
                        <a:schemeClr val="tx1"/>
                      </a:solidFill>
                      <a:prstDash val="solid"/>
                      <a:round/>
                      <a:headEnd type="none" w="sm" len="sm"/>
                      <a:tailEnd type="none" w="sm" len="sm"/>
                    </a:lnL>
                    <a:lnR cap="flat">
                      <a:noFill/>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579085">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3200" b="1"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anose="02010609030101010101" pitchFamily="49" charset="-122"/>
                        </a:rPr>
                        <a:t>O(logn)</a:t>
                      </a:r>
                      <a:endParaRPr kumimoji="1" lang="zh-CN" altLang="en-US" sz="3200" b="1"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anose="02010609030101010101" pitchFamily="49" charset="-122"/>
                      </a:endParaRPr>
                    </a:p>
                  </a:txBody>
                  <a:tcPr marT="45708" marB="45708" anchor="ctr" horzOverflow="overflow">
                    <a:lnL cap="flat">
                      <a:noFill/>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zh-CN" altLang="en-US" sz="3200" b="1"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anose="02010609030101010101" pitchFamily="49" charset="-122"/>
                        </a:rPr>
                        <a:t>对数级</a:t>
                      </a:r>
                      <a:endParaRPr kumimoji="1" lang="zh-CN" altLang="en-US" sz="3200" b="1"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anose="02010609030101010101" pitchFamily="49" charset="-122"/>
                      </a:endParaRPr>
                    </a:p>
                  </a:txBody>
                  <a:tcPr marT="45708" marB="45708" anchor="ctr" horzOverflow="overflow">
                    <a:lnL w="12700" cap="flat" cmpd="sng" algn="ctr">
                      <a:solidFill>
                        <a:schemeClr val="tx1"/>
                      </a:solidFill>
                      <a:prstDash val="solid"/>
                      <a:round/>
                      <a:headEnd type="none" w="sm" len="sm"/>
                      <a:tailEnd type="none" w="sm" len="sm"/>
                    </a:lnL>
                    <a:lnR cap="flat">
                      <a:noFill/>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579085">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3200" b="1"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anose="02010609030101010101" pitchFamily="49" charset="-122"/>
                        </a:rPr>
                        <a:t>O(nlogn)</a:t>
                      </a:r>
                      <a:endParaRPr kumimoji="1" lang="zh-CN" altLang="en-US" sz="3200" b="1"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anose="02010609030101010101" pitchFamily="49" charset="-122"/>
                      </a:endParaRPr>
                    </a:p>
                  </a:txBody>
                  <a:tcPr marT="45708" marB="45708" anchor="ctr" horzOverflow="overflow">
                    <a:lnL cap="flat">
                      <a:noFill/>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3200" b="1"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anose="02010609030101010101" pitchFamily="49" charset="-122"/>
                        </a:rPr>
                        <a:t>n</a:t>
                      </a:r>
                      <a:r>
                        <a:rPr kumimoji="1" lang="zh-CN" altLang="en-US" sz="3200" b="1"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anose="02010609030101010101" pitchFamily="49" charset="-122"/>
                        </a:rPr>
                        <a:t>个</a:t>
                      </a:r>
                      <a:r>
                        <a:rPr kumimoji="1" lang="en-US" altLang="zh-CN" sz="3200" b="1"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anose="02010609030101010101" pitchFamily="49" charset="-122"/>
                        </a:rPr>
                        <a:t>logn</a:t>
                      </a:r>
                      <a:endParaRPr kumimoji="1" lang="en-US" altLang="zh-CN" sz="3200" b="1"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anose="02010609030101010101" pitchFamily="49" charset="-122"/>
                      </a:endParaRPr>
                    </a:p>
                  </a:txBody>
                  <a:tcPr marT="45708" marB="45708" anchor="ctr" horzOverflow="overflow">
                    <a:lnL w="12700" cap="flat" cmpd="sng" algn="ctr">
                      <a:solidFill>
                        <a:schemeClr val="tx1"/>
                      </a:solidFill>
                      <a:prstDash val="solid"/>
                      <a:round/>
                      <a:headEnd type="none" w="sm" len="sm"/>
                      <a:tailEnd type="none" w="sm" len="sm"/>
                    </a:lnL>
                    <a:lnR cap="flat">
                      <a:noFill/>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579085">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3200" b="1"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anose="02010609030101010101" pitchFamily="49" charset="-122"/>
                        </a:rPr>
                        <a:t>O(2</a:t>
                      </a:r>
                      <a:r>
                        <a:rPr kumimoji="1" lang="en-US" altLang="zh-CN" sz="3200" b="1" i="0" u="none" strike="noStrike" cap="none" normalizeH="0" baseline="30000">
                          <a:ln>
                            <a:noFill/>
                          </a:ln>
                          <a:solidFill>
                            <a:schemeClr val="tx1"/>
                          </a:solidFill>
                          <a:effectLst>
                            <a:outerShdw blurRad="38100" dist="38100" dir="2700000" algn="tl">
                              <a:srgbClr val="C0C0C0"/>
                            </a:outerShdw>
                          </a:effectLst>
                          <a:latin typeface="Times New Roman" panose="02020603050405020304" pitchFamily="18" charset="0"/>
                          <a:ea typeface="楷体_GB2312" panose="02010609030101010101" pitchFamily="49" charset="-122"/>
                        </a:rPr>
                        <a:t>n</a:t>
                      </a:r>
                      <a:r>
                        <a:rPr kumimoji="1" lang="en-US" altLang="zh-CN" sz="3200" b="1"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anose="02010609030101010101" pitchFamily="49" charset="-122"/>
                        </a:rPr>
                        <a:t>)</a:t>
                      </a:r>
                      <a:endParaRPr kumimoji="1" lang="zh-CN" altLang="en-US" sz="3200" b="1"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anose="02010609030101010101" pitchFamily="49" charset="-122"/>
                      </a:endParaRPr>
                    </a:p>
                  </a:txBody>
                  <a:tcPr marT="45708" marB="45708" anchor="ctr" horzOverflow="overflow">
                    <a:lnL cap="flat">
                      <a:noFill/>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zh-CN" altLang="en-US" sz="3200" b="1"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anose="02010609030101010101" pitchFamily="49" charset="-122"/>
                        </a:rPr>
                        <a:t>指数级</a:t>
                      </a:r>
                      <a:endParaRPr kumimoji="1" lang="zh-CN" altLang="en-US" sz="3200" b="1"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anose="02010609030101010101" pitchFamily="49" charset="-122"/>
                      </a:endParaRPr>
                    </a:p>
                  </a:txBody>
                  <a:tcPr marT="45708" marB="45708" anchor="ctr" horzOverflow="overflow">
                    <a:lnL w="12700" cap="flat" cmpd="sng" algn="ctr">
                      <a:solidFill>
                        <a:schemeClr val="tx1"/>
                      </a:solidFill>
                      <a:prstDash val="solid"/>
                      <a:round/>
                      <a:headEnd type="none" w="sm" len="sm"/>
                      <a:tailEnd type="none" w="sm" len="sm"/>
                    </a:lnL>
                    <a:lnR cap="flat">
                      <a:noFill/>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579085">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en-US" altLang="zh-CN" sz="3200" b="1"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anose="02010609030101010101" pitchFamily="49" charset="-122"/>
                        </a:rPr>
                        <a:t>O(n!)</a:t>
                      </a:r>
                      <a:endParaRPr kumimoji="1" lang="zh-CN" altLang="en-US" sz="3200" b="1" i="0" u="none" strike="noStrike" cap="none" normalizeH="0" baseline="0">
                        <a:ln>
                          <a:noFill/>
                        </a:ln>
                        <a:solidFill>
                          <a:schemeClr val="tx1"/>
                        </a:solidFill>
                        <a:effectLst>
                          <a:outerShdw blurRad="38100" dist="38100" dir="2700000" algn="tl">
                            <a:srgbClr val="C0C0C0"/>
                          </a:outerShdw>
                        </a:effectLst>
                        <a:latin typeface="Times New Roman" panose="02020603050405020304" pitchFamily="18" charset="0"/>
                        <a:ea typeface="楷体_GB2312" panose="02010609030101010101" pitchFamily="49" charset="-122"/>
                      </a:endParaRPr>
                    </a:p>
                  </a:txBody>
                  <a:tcPr marT="45708" marB="45708" anchor="ctr" horzOverflow="overflow">
                    <a:lnL cap="flat">
                      <a:noFill/>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zh-CN" altLang="en-US" sz="3200" b="1" i="0" u="none" strike="noStrike" cap="none" normalizeH="0" baseline="0" dirty="0">
                          <a:ln>
                            <a:noFill/>
                          </a:ln>
                          <a:solidFill>
                            <a:schemeClr val="tx1"/>
                          </a:solidFill>
                          <a:effectLst>
                            <a:outerShdw blurRad="38100" dist="38100" dir="2700000" algn="tl">
                              <a:srgbClr val="C0C0C0"/>
                            </a:outerShdw>
                          </a:effectLst>
                          <a:latin typeface="Times New Roman" panose="02020603050405020304" pitchFamily="18" charset="0"/>
                          <a:ea typeface="楷体_GB2312" panose="02010609030101010101" pitchFamily="49" charset="-122"/>
                        </a:rPr>
                        <a:t>阶乘级</a:t>
                      </a:r>
                      <a:endParaRPr kumimoji="1" lang="zh-CN" altLang="en-US" sz="3200" b="1" i="0" u="none" strike="noStrike" cap="none" normalizeH="0" baseline="0" dirty="0">
                        <a:ln>
                          <a:noFill/>
                        </a:ln>
                        <a:solidFill>
                          <a:schemeClr val="tx1"/>
                        </a:solidFill>
                        <a:effectLst>
                          <a:outerShdw blurRad="38100" dist="38100" dir="2700000" algn="tl">
                            <a:srgbClr val="C0C0C0"/>
                          </a:outerShdw>
                        </a:effectLst>
                        <a:latin typeface="Times New Roman" panose="02020603050405020304" pitchFamily="18" charset="0"/>
                        <a:ea typeface="楷体_GB2312" panose="02010609030101010101" pitchFamily="49" charset="-122"/>
                      </a:endParaRPr>
                    </a:p>
                  </a:txBody>
                  <a:tcPr marT="45708" marB="45708" anchor="ctr" horzOverflow="overflow">
                    <a:lnL w="12700" cap="flat" cmpd="sng" algn="ctr">
                      <a:solidFill>
                        <a:schemeClr val="tx1"/>
                      </a:solidFill>
                      <a:prstDash val="solid"/>
                      <a:round/>
                      <a:headEnd type="none" w="sm" len="sm"/>
                      <a:tailEnd type="none" w="sm" len="sm"/>
                    </a:lnL>
                    <a:lnR cap="flat">
                      <a:noFill/>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r>
            </a:tbl>
          </a:graphicData>
        </a:graphic>
      </p:graphicFrame>
      <p:sp>
        <p:nvSpPr>
          <p:cNvPr id="2" name="日期占位符 1"/>
          <p:cNvSpPr>
            <a:spLocks noGrp="1"/>
          </p:cNvSpPr>
          <p:nvPr>
            <p:ph type="dt" sz="half" idx="10"/>
          </p:nvPr>
        </p:nvSpPr>
        <p:spPr/>
        <p:txBody>
          <a:bodyPr/>
          <a:lstStyle/>
          <a:p>
            <a:pPr>
              <a:defRPr/>
            </a:pPr>
            <a:r>
              <a:rPr lang="en-US" altLang="zh-CN">
                <a:latin typeface="华文楷体" panose="02010600040101010101" charset="-122"/>
                <a:ea typeface="华文楷体" panose="02010600040101010101" charset="-122"/>
              </a:rPr>
              <a:t>Data Structures and algorithms</a:t>
            </a:r>
            <a:endParaRPr lang="en-US" altLang="zh-CN">
              <a:latin typeface="华文楷体" panose="02010600040101010101" charset="-122"/>
              <a:ea typeface="华文楷体" panose="02010600040101010101" charset="-122"/>
            </a:endParaRPr>
          </a:p>
        </p:txBody>
      </p:sp>
      <p:sp>
        <p:nvSpPr>
          <p:cNvPr id="3" name="页脚占位符 2"/>
          <p:cNvSpPr>
            <a:spLocks noGrp="1"/>
          </p:cNvSpPr>
          <p:nvPr>
            <p:ph type="ftr" sz="quarter" idx="11"/>
          </p:nvPr>
        </p:nvSpPr>
        <p:spPr/>
        <p:txBody>
          <a:bodyPr/>
          <a:lstStyle/>
          <a:p>
            <a:pPr>
              <a:defRPr/>
            </a:pPr>
            <a:r>
              <a:rPr lang="zh-CN" altLang="en-US">
                <a:latin typeface="华文楷体" panose="02010600040101010101" charset="-122"/>
                <a:ea typeface="华文楷体" panose="02010600040101010101" charset="-122"/>
              </a:rPr>
              <a:t>Software College Northeastern University</a:t>
            </a:r>
            <a:endParaRPr lang="en-US" altLang="zh-CN">
              <a:latin typeface="华文楷体" panose="02010600040101010101" charset="-122"/>
              <a:ea typeface="华文楷体" panose="02010600040101010101" charset="-122"/>
            </a:endParaRPr>
          </a:p>
        </p:txBody>
      </p:sp>
      <p:sp>
        <p:nvSpPr>
          <p:cNvPr id="4" name="灯片编号占位符 3"/>
          <p:cNvSpPr>
            <a:spLocks noGrp="1"/>
          </p:cNvSpPr>
          <p:nvPr>
            <p:ph type="sldNum" sz="quarter" idx="12"/>
          </p:nvPr>
        </p:nvSpPr>
        <p:spPr/>
        <p:txBody>
          <a:bodyPr/>
          <a:lstStyle/>
          <a:p>
            <a:pPr>
              <a:defRPr/>
            </a:pPr>
            <a:fld id="{DCD95ECE-03D4-44F6-8B2E-79A27ABAD67A}" type="slidenum">
              <a:rPr lang="zh-CN" altLang="en-US" smtClean="0">
                <a:latin typeface="华文楷体" panose="02010600040101010101" charset="-122"/>
                <a:ea typeface="华文楷体" panose="02010600040101010101" charset="-122"/>
              </a:rPr>
            </a:fld>
            <a:endParaRPr lang="en-US" altLang="zh-CN">
              <a:latin typeface="华文楷体" panose="02010600040101010101" charset="-122"/>
              <a:ea typeface="华文楷体" panose="0201060004010101010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32" fill="hold" nodeType="clickEffect">
                                  <p:stCondLst>
                                    <p:cond delay="0"/>
                                  </p:stCondLst>
                                  <p:childTnLst>
                                    <p:set>
                                      <p:cBhvr>
                                        <p:cTn id="6" dur="1" fill="hold">
                                          <p:stCondLst>
                                            <p:cond delay="0"/>
                                          </p:stCondLst>
                                        </p:cTn>
                                        <p:tgtEl>
                                          <p:spTgt spid="664579"/>
                                        </p:tgtEl>
                                        <p:attrNameLst>
                                          <p:attrName>style.visibility</p:attrName>
                                        </p:attrNameLst>
                                      </p:cBhvr>
                                      <p:to>
                                        <p:strVal val="visible"/>
                                      </p:to>
                                    </p:set>
                                    <p:animEffect transition="in" filter="diamond(out)">
                                      <p:cBhvr>
                                        <p:cTn id="7" dur="1000"/>
                                        <p:tgtEl>
                                          <p:spTgt spid="6645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2162" name="Group 2"/>
          <p:cNvGrpSpPr/>
          <p:nvPr/>
        </p:nvGrpSpPr>
        <p:grpSpPr>
          <a:xfrm>
            <a:off x="1258888" y="523875"/>
            <a:ext cx="6626225" cy="4344988"/>
            <a:chOff x="793" y="210"/>
            <a:chExt cx="4174" cy="2737"/>
          </a:xfrm>
        </p:grpSpPr>
        <p:sp>
          <p:nvSpPr>
            <p:cNvPr id="92164" name="Line 3"/>
            <p:cNvSpPr/>
            <p:nvPr/>
          </p:nvSpPr>
          <p:spPr>
            <a:xfrm flipV="1">
              <a:off x="1383" y="1072"/>
              <a:ext cx="2404" cy="1225"/>
            </a:xfrm>
            <a:prstGeom prst="line">
              <a:avLst/>
            </a:prstGeom>
            <a:ln w="31750" cap="flat" cmpd="sng">
              <a:solidFill>
                <a:schemeClr val="tx1"/>
              </a:solidFill>
              <a:prstDash val="solid"/>
              <a:headEnd type="none" w="med" len="med"/>
              <a:tailEnd type="none" w="med" len="med"/>
            </a:ln>
          </p:spPr>
        </p:sp>
        <p:sp>
          <p:nvSpPr>
            <p:cNvPr id="92165" name="Arc 4"/>
            <p:cNvSpPr/>
            <p:nvPr/>
          </p:nvSpPr>
          <p:spPr>
            <a:xfrm rot="-10800000" flipV="1">
              <a:off x="1461" y="1937"/>
              <a:ext cx="2553" cy="408"/>
            </a:xfrm>
            <a:custGeom>
              <a:avLst/>
              <a:gdLst/>
              <a:ahLst/>
              <a:cxnLst>
                <a:cxn ang="0">
                  <a:pos x="0" y="0"/>
                </a:cxn>
                <a:cxn ang="0">
                  <a:pos x="0" y="0"/>
                </a:cxn>
                <a:cxn ang="0">
                  <a:pos x="0" y="0"/>
                </a:cxn>
              </a:cxnLst>
              <a:rect l="0" t="0" r="0" b="0"/>
              <a:pathLst>
                <a:path w="27623" h="21600" fill="none">
                  <a:moveTo>
                    <a:pt x="0" y="907"/>
                  </a:moveTo>
                  <a:cubicBezTo>
                    <a:pt x="2009" y="305"/>
                    <a:pt x="4096" y="-1"/>
                    <a:pt x="6194" y="0"/>
                  </a:cubicBezTo>
                  <a:cubicBezTo>
                    <a:pt x="17074" y="0"/>
                    <a:pt x="26256" y="8093"/>
                    <a:pt x="27623" y="18887"/>
                  </a:cubicBezTo>
                </a:path>
                <a:path w="27623" h="21600" stroke="0">
                  <a:moveTo>
                    <a:pt x="0" y="907"/>
                  </a:moveTo>
                  <a:cubicBezTo>
                    <a:pt x="2009" y="305"/>
                    <a:pt x="4096" y="-1"/>
                    <a:pt x="6194" y="0"/>
                  </a:cubicBezTo>
                  <a:cubicBezTo>
                    <a:pt x="17074" y="0"/>
                    <a:pt x="26256" y="8093"/>
                    <a:pt x="27623" y="18887"/>
                  </a:cubicBezTo>
                  <a:lnTo>
                    <a:pt x="6194" y="21600"/>
                  </a:lnTo>
                  <a:lnTo>
                    <a:pt x="0" y="907"/>
                  </a:lnTo>
                  <a:close/>
                </a:path>
              </a:pathLst>
            </a:custGeom>
            <a:noFill/>
            <a:ln w="317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92166" name="Line 5"/>
            <p:cNvSpPr/>
            <p:nvPr/>
          </p:nvSpPr>
          <p:spPr>
            <a:xfrm>
              <a:off x="1383" y="261"/>
              <a:ext cx="0" cy="2040"/>
            </a:xfrm>
            <a:prstGeom prst="line">
              <a:avLst/>
            </a:prstGeom>
            <a:ln w="25400" cap="flat" cmpd="sng">
              <a:solidFill>
                <a:schemeClr val="tx1"/>
              </a:solidFill>
              <a:prstDash val="solid"/>
              <a:headEnd type="triangle" w="lg" len="lg"/>
              <a:tailEnd type="none" w="med" len="med"/>
            </a:ln>
          </p:spPr>
        </p:sp>
        <p:sp>
          <p:nvSpPr>
            <p:cNvPr id="92167" name="Line 6"/>
            <p:cNvSpPr/>
            <p:nvPr/>
          </p:nvSpPr>
          <p:spPr>
            <a:xfrm>
              <a:off x="1383" y="2297"/>
              <a:ext cx="2720" cy="0"/>
            </a:xfrm>
            <a:prstGeom prst="line">
              <a:avLst/>
            </a:prstGeom>
            <a:ln w="25400" cap="flat" cmpd="sng">
              <a:solidFill>
                <a:schemeClr val="tx1"/>
              </a:solidFill>
              <a:prstDash val="solid"/>
              <a:headEnd type="none" w="med" len="med"/>
              <a:tailEnd type="triangle" w="lg" len="lg"/>
            </a:ln>
          </p:spPr>
        </p:sp>
        <p:sp>
          <p:nvSpPr>
            <p:cNvPr id="92168" name="Line 7"/>
            <p:cNvSpPr/>
            <p:nvPr/>
          </p:nvSpPr>
          <p:spPr>
            <a:xfrm>
              <a:off x="1756" y="2246"/>
              <a:ext cx="0" cy="45"/>
            </a:xfrm>
            <a:prstGeom prst="line">
              <a:avLst/>
            </a:prstGeom>
            <a:ln w="25400" cap="flat" cmpd="sng">
              <a:solidFill>
                <a:schemeClr val="tx1"/>
              </a:solidFill>
              <a:prstDash val="solid"/>
              <a:headEnd type="none" w="med" len="med"/>
              <a:tailEnd type="none" w="med" len="med"/>
            </a:ln>
          </p:spPr>
        </p:sp>
        <p:sp>
          <p:nvSpPr>
            <p:cNvPr id="92169" name="Line 8"/>
            <p:cNvSpPr/>
            <p:nvPr/>
          </p:nvSpPr>
          <p:spPr>
            <a:xfrm>
              <a:off x="2199" y="2246"/>
              <a:ext cx="0" cy="45"/>
            </a:xfrm>
            <a:prstGeom prst="line">
              <a:avLst/>
            </a:prstGeom>
            <a:ln w="25400" cap="flat" cmpd="sng">
              <a:solidFill>
                <a:schemeClr val="tx1"/>
              </a:solidFill>
              <a:prstDash val="solid"/>
              <a:headEnd type="none" w="med" len="med"/>
              <a:tailEnd type="none" w="med" len="med"/>
            </a:ln>
          </p:spPr>
        </p:sp>
        <p:sp>
          <p:nvSpPr>
            <p:cNvPr id="92170" name="Line 9"/>
            <p:cNvSpPr/>
            <p:nvPr/>
          </p:nvSpPr>
          <p:spPr>
            <a:xfrm>
              <a:off x="2653" y="2246"/>
              <a:ext cx="0" cy="45"/>
            </a:xfrm>
            <a:prstGeom prst="line">
              <a:avLst/>
            </a:prstGeom>
            <a:ln w="25400" cap="flat" cmpd="sng">
              <a:solidFill>
                <a:schemeClr val="tx1"/>
              </a:solidFill>
              <a:prstDash val="solid"/>
              <a:headEnd type="none" w="med" len="med"/>
              <a:tailEnd type="none" w="med" len="med"/>
            </a:ln>
          </p:spPr>
        </p:sp>
        <p:sp>
          <p:nvSpPr>
            <p:cNvPr id="92171" name="Line 10"/>
            <p:cNvSpPr/>
            <p:nvPr/>
          </p:nvSpPr>
          <p:spPr>
            <a:xfrm>
              <a:off x="3061" y="2246"/>
              <a:ext cx="0" cy="45"/>
            </a:xfrm>
            <a:prstGeom prst="line">
              <a:avLst/>
            </a:prstGeom>
            <a:ln w="25400" cap="flat" cmpd="sng">
              <a:solidFill>
                <a:schemeClr val="tx1"/>
              </a:solidFill>
              <a:prstDash val="solid"/>
              <a:headEnd type="none" w="med" len="med"/>
              <a:tailEnd type="none" w="med" len="med"/>
            </a:ln>
          </p:spPr>
        </p:sp>
        <p:sp>
          <p:nvSpPr>
            <p:cNvPr id="92172" name="Line 11"/>
            <p:cNvSpPr/>
            <p:nvPr/>
          </p:nvSpPr>
          <p:spPr>
            <a:xfrm>
              <a:off x="3469" y="2246"/>
              <a:ext cx="0" cy="45"/>
            </a:xfrm>
            <a:prstGeom prst="line">
              <a:avLst/>
            </a:prstGeom>
            <a:ln w="25400" cap="flat" cmpd="sng">
              <a:solidFill>
                <a:schemeClr val="tx1"/>
              </a:solidFill>
              <a:prstDash val="solid"/>
              <a:headEnd type="none" w="med" len="med"/>
              <a:tailEnd type="none" w="med" len="med"/>
            </a:ln>
          </p:spPr>
        </p:sp>
        <p:sp>
          <p:nvSpPr>
            <p:cNvPr id="92173" name="Line 12"/>
            <p:cNvSpPr/>
            <p:nvPr/>
          </p:nvSpPr>
          <p:spPr>
            <a:xfrm>
              <a:off x="3878" y="2246"/>
              <a:ext cx="0" cy="45"/>
            </a:xfrm>
            <a:prstGeom prst="line">
              <a:avLst/>
            </a:prstGeom>
            <a:ln w="25400" cap="flat" cmpd="sng">
              <a:solidFill>
                <a:schemeClr val="tx1"/>
              </a:solidFill>
              <a:prstDash val="solid"/>
              <a:headEnd type="none" w="med" len="med"/>
              <a:tailEnd type="none" w="med" len="med"/>
            </a:ln>
          </p:spPr>
        </p:sp>
        <p:sp>
          <p:nvSpPr>
            <p:cNvPr id="92174" name="Line 13"/>
            <p:cNvSpPr/>
            <p:nvPr/>
          </p:nvSpPr>
          <p:spPr>
            <a:xfrm>
              <a:off x="1383" y="1904"/>
              <a:ext cx="45" cy="0"/>
            </a:xfrm>
            <a:prstGeom prst="line">
              <a:avLst/>
            </a:prstGeom>
            <a:ln w="25400" cap="flat" cmpd="sng">
              <a:solidFill>
                <a:schemeClr val="tx1"/>
              </a:solidFill>
              <a:prstDash val="solid"/>
              <a:headEnd type="none" w="med" len="med"/>
              <a:tailEnd type="none" w="med" len="med"/>
            </a:ln>
          </p:spPr>
        </p:sp>
        <p:sp>
          <p:nvSpPr>
            <p:cNvPr id="92175" name="Line 14"/>
            <p:cNvSpPr/>
            <p:nvPr/>
          </p:nvSpPr>
          <p:spPr>
            <a:xfrm>
              <a:off x="1383" y="1460"/>
              <a:ext cx="45" cy="0"/>
            </a:xfrm>
            <a:prstGeom prst="line">
              <a:avLst/>
            </a:prstGeom>
            <a:ln w="25400" cap="flat" cmpd="sng">
              <a:solidFill>
                <a:schemeClr val="tx1"/>
              </a:solidFill>
              <a:prstDash val="solid"/>
              <a:headEnd type="none" w="med" len="med"/>
              <a:tailEnd type="none" w="med" len="med"/>
            </a:ln>
          </p:spPr>
        </p:sp>
        <p:sp>
          <p:nvSpPr>
            <p:cNvPr id="92176" name="Line 15"/>
            <p:cNvSpPr/>
            <p:nvPr/>
          </p:nvSpPr>
          <p:spPr>
            <a:xfrm>
              <a:off x="1383" y="1072"/>
              <a:ext cx="45" cy="0"/>
            </a:xfrm>
            <a:prstGeom prst="line">
              <a:avLst/>
            </a:prstGeom>
            <a:ln w="25400" cap="flat" cmpd="sng">
              <a:solidFill>
                <a:schemeClr val="tx1"/>
              </a:solidFill>
              <a:prstDash val="solid"/>
              <a:headEnd type="none" w="med" len="med"/>
              <a:tailEnd type="none" w="med" len="med"/>
            </a:ln>
          </p:spPr>
        </p:sp>
        <p:sp>
          <p:nvSpPr>
            <p:cNvPr id="92177" name="Line 16"/>
            <p:cNvSpPr/>
            <p:nvPr/>
          </p:nvSpPr>
          <p:spPr>
            <a:xfrm>
              <a:off x="1791" y="2312"/>
              <a:ext cx="45" cy="0"/>
            </a:xfrm>
            <a:prstGeom prst="line">
              <a:avLst/>
            </a:prstGeom>
            <a:ln w="9525" cap="flat" cmpd="sng">
              <a:solidFill>
                <a:schemeClr val="tx1"/>
              </a:solidFill>
              <a:prstDash val="solid"/>
              <a:headEnd type="none" w="med" len="med"/>
              <a:tailEnd type="none" w="med" len="med"/>
            </a:ln>
          </p:spPr>
        </p:sp>
        <p:sp>
          <p:nvSpPr>
            <p:cNvPr id="92178" name="Line 17"/>
            <p:cNvSpPr/>
            <p:nvPr/>
          </p:nvSpPr>
          <p:spPr>
            <a:xfrm>
              <a:off x="1383" y="664"/>
              <a:ext cx="45" cy="0"/>
            </a:xfrm>
            <a:prstGeom prst="line">
              <a:avLst/>
            </a:prstGeom>
            <a:ln w="25400" cap="flat" cmpd="sng">
              <a:solidFill>
                <a:schemeClr val="tx1"/>
              </a:solidFill>
              <a:prstDash val="solid"/>
              <a:headEnd type="none" w="med" len="med"/>
              <a:tailEnd type="none" w="med" len="med"/>
            </a:ln>
          </p:spPr>
        </p:sp>
        <p:sp>
          <p:nvSpPr>
            <p:cNvPr id="92179" name="Line 18"/>
            <p:cNvSpPr/>
            <p:nvPr/>
          </p:nvSpPr>
          <p:spPr>
            <a:xfrm>
              <a:off x="2199" y="1911"/>
              <a:ext cx="0" cy="340"/>
            </a:xfrm>
            <a:prstGeom prst="line">
              <a:avLst/>
            </a:prstGeom>
            <a:ln w="25400" cap="flat" cmpd="sng">
              <a:solidFill>
                <a:schemeClr val="tx1"/>
              </a:solidFill>
              <a:prstDash val="dash"/>
              <a:headEnd type="none" w="med" len="med"/>
              <a:tailEnd type="none" w="med" len="med"/>
            </a:ln>
          </p:spPr>
        </p:sp>
        <p:sp>
          <p:nvSpPr>
            <p:cNvPr id="665619" name="Text Box 19"/>
            <p:cNvSpPr txBox="1">
              <a:spLocks noChangeArrowheads="1"/>
            </p:cNvSpPr>
            <p:nvPr/>
          </p:nvSpPr>
          <p:spPr bwMode="auto">
            <a:xfrm>
              <a:off x="793" y="1798"/>
              <a:ext cx="68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R="0" algn="ctr" defTabSz="914400">
                <a:spcBef>
                  <a:spcPct val="50000"/>
                </a:spcBef>
                <a:buClrTx/>
                <a:buSzTx/>
                <a:buFontTx/>
                <a:buNone/>
                <a:defRPr/>
              </a:pPr>
              <a:r>
                <a:rPr kumimoji="0" lang="en-US" altLang="zh-CN" sz="1800" b="1" kern="1200" cap="none" spc="0" normalizeH="0" baseline="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1000</a:t>
              </a:r>
              <a:endParaRPr kumimoji="0" lang="en-US" altLang="zh-CN" sz="1800" b="1" kern="1200" cap="none" spc="0" normalizeH="0" baseline="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endParaRPr>
            </a:p>
          </p:txBody>
        </p:sp>
        <p:sp>
          <p:nvSpPr>
            <p:cNvPr id="665620" name="Text Box 20"/>
            <p:cNvSpPr txBox="1">
              <a:spLocks noChangeArrowheads="1"/>
            </p:cNvSpPr>
            <p:nvPr/>
          </p:nvSpPr>
          <p:spPr bwMode="auto">
            <a:xfrm>
              <a:off x="793" y="1344"/>
              <a:ext cx="68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R="0" algn="ctr" defTabSz="914400">
                <a:spcBef>
                  <a:spcPct val="50000"/>
                </a:spcBef>
                <a:buClrTx/>
                <a:buSzTx/>
                <a:buFontTx/>
                <a:buNone/>
                <a:defRPr/>
              </a:pPr>
              <a:r>
                <a:rPr kumimoji="0" lang="en-US" altLang="zh-CN" sz="1800" b="1" kern="1200" cap="none" spc="0" normalizeH="0" baseline="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2000</a:t>
              </a:r>
              <a:endParaRPr kumimoji="0" lang="en-US" altLang="zh-CN" sz="1800" b="1" kern="1200" cap="none" spc="0" normalizeH="0" baseline="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endParaRPr>
            </a:p>
          </p:txBody>
        </p:sp>
        <p:sp>
          <p:nvSpPr>
            <p:cNvPr id="665621" name="Text Box 21"/>
            <p:cNvSpPr txBox="1">
              <a:spLocks noChangeArrowheads="1"/>
            </p:cNvSpPr>
            <p:nvPr/>
          </p:nvSpPr>
          <p:spPr bwMode="auto">
            <a:xfrm>
              <a:off x="793" y="936"/>
              <a:ext cx="68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R="0" algn="ctr" defTabSz="914400">
                <a:spcBef>
                  <a:spcPct val="50000"/>
                </a:spcBef>
                <a:buClrTx/>
                <a:buSzTx/>
                <a:buFontTx/>
                <a:buNone/>
                <a:defRPr/>
              </a:pPr>
              <a:r>
                <a:rPr kumimoji="0" lang="en-US" altLang="zh-CN" sz="1800" b="1" kern="1200" cap="none" spc="0" normalizeH="0" baseline="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3000</a:t>
              </a:r>
              <a:endParaRPr kumimoji="0" lang="en-US" altLang="zh-CN" sz="1800" b="1" kern="1200" cap="none" spc="0" normalizeH="0" baseline="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endParaRPr>
            </a:p>
          </p:txBody>
        </p:sp>
        <p:sp>
          <p:nvSpPr>
            <p:cNvPr id="665622" name="Text Box 22"/>
            <p:cNvSpPr txBox="1">
              <a:spLocks noChangeArrowheads="1"/>
            </p:cNvSpPr>
            <p:nvPr/>
          </p:nvSpPr>
          <p:spPr bwMode="auto">
            <a:xfrm>
              <a:off x="793" y="528"/>
              <a:ext cx="68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R="0" algn="ctr" defTabSz="914400">
                <a:spcBef>
                  <a:spcPct val="50000"/>
                </a:spcBef>
                <a:buClrTx/>
                <a:buSzTx/>
                <a:buFontTx/>
                <a:buNone/>
                <a:defRPr/>
              </a:pPr>
              <a:r>
                <a:rPr kumimoji="0" lang="en-US" altLang="zh-CN" sz="1800" b="1" kern="1200" cap="none" spc="0" normalizeH="0" baseline="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4000</a:t>
              </a:r>
              <a:endParaRPr kumimoji="0" lang="en-US" altLang="zh-CN" sz="1800" b="1" kern="1200" cap="none" spc="0" normalizeH="0" baseline="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endParaRPr>
            </a:p>
          </p:txBody>
        </p:sp>
        <p:sp>
          <p:nvSpPr>
            <p:cNvPr id="665623" name="Text Box 23"/>
            <p:cNvSpPr txBox="1">
              <a:spLocks noChangeArrowheads="1"/>
            </p:cNvSpPr>
            <p:nvPr/>
          </p:nvSpPr>
          <p:spPr bwMode="auto">
            <a:xfrm>
              <a:off x="839" y="210"/>
              <a:ext cx="72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R="0" defTabSz="914400">
                <a:spcBef>
                  <a:spcPct val="50000"/>
                </a:spcBef>
                <a:buClrTx/>
                <a:buSzTx/>
                <a:buFontTx/>
                <a:buNone/>
                <a:defRPr/>
              </a:pPr>
              <a:r>
                <a:rPr kumimoji="0" lang="en-US" altLang="zh-CN" sz="2400" b="1" kern="1200" cap="none" spc="0" normalizeH="0" baseline="0" noProof="0">
                  <a:solidFill>
                    <a:srgbClr val="FFFFFF"/>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T(n)</a:t>
              </a:r>
              <a:endParaRPr kumimoji="0" lang="en-US" altLang="zh-CN" sz="2400" b="1" kern="1200" cap="none" spc="0" normalizeH="0" baseline="0" noProof="0">
                <a:solidFill>
                  <a:srgbClr val="FFFFFF"/>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endParaRPr>
            </a:p>
          </p:txBody>
        </p:sp>
        <p:sp>
          <p:nvSpPr>
            <p:cNvPr id="665624" name="Text Box 24"/>
            <p:cNvSpPr txBox="1">
              <a:spLocks noChangeArrowheads="1"/>
            </p:cNvSpPr>
            <p:nvPr/>
          </p:nvSpPr>
          <p:spPr bwMode="auto">
            <a:xfrm>
              <a:off x="1610" y="2297"/>
              <a:ext cx="31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R="0" algn="ctr" defTabSz="914400">
                <a:spcBef>
                  <a:spcPct val="50000"/>
                </a:spcBef>
                <a:buClrTx/>
                <a:buSzTx/>
                <a:buFontTx/>
                <a:buNone/>
                <a:defRPr/>
              </a:pPr>
              <a:r>
                <a:rPr kumimoji="0" lang="en-US" altLang="zh-CN" sz="1800" b="1" kern="1200" cap="none" spc="0" normalizeH="0" baseline="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5</a:t>
              </a:r>
              <a:endParaRPr kumimoji="0" lang="en-US" altLang="zh-CN" sz="1800" b="1" kern="1200" cap="none" spc="0" normalizeH="0" baseline="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endParaRPr>
            </a:p>
          </p:txBody>
        </p:sp>
        <p:sp>
          <p:nvSpPr>
            <p:cNvPr id="665625" name="Text Box 25"/>
            <p:cNvSpPr txBox="1">
              <a:spLocks noChangeArrowheads="1"/>
            </p:cNvSpPr>
            <p:nvPr/>
          </p:nvSpPr>
          <p:spPr bwMode="auto">
            <a:xfrm>
              <a:off x="2064" y="2297"/>
              <a:ext cx="31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R="0" algn="ctr" defTabSz="914400">
                <a:spcBef>
                  <a:spcPct val="50000"/>
                </a:spcBef>
                <a:buClrTx/>
                <a:buSzTx/>
                <a:buFontTx/>
                <a:buNone/>
                <a:defRPr/>
              </a:pPr>
              <a:r>
                <a:rPr kumimoji="0" lang="en-US" altLang="zh-CN" sz="1800" b="1" kern="1200" cap="none" spc="0" normalizeH="0" baseline="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10</a:t>
              </a:r>
              <a:endParaRPr kumimoji="0" lang="en-US" altLang="zh-CN" sz="1800" b="1" kern="1200" cap="none" spc="0" normalizeH="0" baseline="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endParaRPr>
            </a:p>
          </p:txBody>
        </p:sp>
        <p:sp>
          <p:nvSpPr>
            <p:cNvPr id="665626" name="Text Box 26"/>
            <p:cNvSpPr txBox="1">
              <a:spLocks noChangeArrowheads="1"/>
            </p:cNvSpPr>
            <p:nvPr/>
          </p:nvSpPr>
          <p:spPr bwMode="auto">
            <a:xfrm>
              <a:off x="2517" y="2297"/>
              <a:ext cx="31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R="0" algn="ctr" defTabSz="914400">
                <a:spcBef>
                  <a:spcPct val="50000"/>
                </a:spcBef>
                <a:buClrTx/>
                <a:buSzTx/>
                <a:buFontTx/>
                <a:buNone/>
                <a:defRPr/>
              </a:pPr>
              <a:r>
                <a:rPr kumimoji="0" lang="en-US" altLang="zh-CN" sz="1800" b="1" kern="1200" cap="none" spc="0" normalizeH="0" baseline="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15</a:t>
              </a:r>
              <a:endParaRPr kumimoji="0" lang="en-US" altLang="zh-CN" sz="1800" b="1" kern="1200" cap="none" spc="0" normalizeH="0" baseline="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endParaRPr>
            </a:p>
          </p:txBody>
        </p:sp>
        <p:sp>
          <p:nvSpPr>
            <p:cNvPr id="665627" name="Text Box 27"/>
            <p:cNvSpPr txBox="1">
              <a:spLocks noChangeArrowheads="1"/>
            </p:cNvSpPr>
            <p:nvPr/>
          </p:nvSpPr>
          <p:spPr bwMode="auto">
            <a:xfrm>
              <a:off x="2926" y="2297"/>
              <a:ext cx="31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R="0" algn="ctr" defTabSz="914400">
                <a:spcBef>
                  <a:spcPct val="50000"/>
                </a:spcBef>
                <a:buClrTx/>
                <a:buSzTx/>
                <a:buFontTx/>
                <a:buNone/>
                <a:defRPr/>
              </a:pPr>
              <a:r>
                <a:rPr kumimoji="0" lang="en-US" altLang="zh-CN" sz="1800" b="1" kern="1200" cap="none" spc="0" normalizeH="0" baseline="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20</a:t>
              </a:r>
              <a:endParaRPr kumimoji="0" lang="en-US" altLang="zh-CN" sz="1800" b="1" kern="1200" cap="none" spc="0" normalizeH="0" baseline="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endParaRPr>
            </a:p>
          </p:txBody>
        </p:sp>
        <p:sp>
          <p:nvSpPr>
            <p:cNvPr id="665628" name="Text Box 28"/>
            <p:cNvSpPr txBox="1">
              <a:spLocks noChangeArrowheads="1"/>
            </p:cNvSpPr>
            <p:nvPr/>
          </p:nvSpPr>
          <p:spPr bwMode="auto">
            <a:xfrm>
              <a:off x="3333" y="2297"/>
              <a:ext cx="31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R="0" algn="ctr" defTabSz="914400">
                <a:spcBef>
                  <a:spcPct val="50000"/>
                </a:spcBef>
                <a:buClrTx/>
                <a:buSzTx/>
                <a:buFontTx/>
                <a:buNone/>
                <a:defRPr/>
              </a:pPr>
              <a:r>
                <a:rPr kumimoji="0" lang="en-US" altLang="zh-CN" sz="1800" b="1" kern="1200" cap="none" spc="0" normalizeH="0" baseline="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25</a:t>
              </a:r>
              <a:endParaRPr kumimoji="0" lang="en-US" altLang="zh-CN" sz="1800" b="1" kern="1200" cap="none" spc="0" normalizeH="0" baseline="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endParaRPr>
            </a:p>
          </p:txBody>
        </p:sp>
        <p:sp>
          <p:nvSpPr>
            <p:cNvPr id="92190" name="Line 29"/>
            <p:cNvSpPr/>
            <p:nvPr/>
          </p:nvSpPr>
          <p:spPr>
            <a:xfrm>
              <a:off x="2658" y="1667"/>
              <a:ext cx="0" cy="635"/>
            </a:xfrm>
            <a:prstGeom prst="line">
              <a:avLst/>
            </a:prstGeom>
            <a:ln w="25400" cap="flat" cmpd="sng">
              <a:solidFill>
                <a:schemeClr val="tx1"/>
              </a:solidFill>
              <a:prstDash val="dash"/>
              <a:headEnd type="none" w="med" len="med"/>
              <a:tailEnd type="none" w="med" len="med"/>
            </a:ln>
          </p:spPr>
        </p:sp>
        <p:sp>
          <p:nvSpPr>
            <p:cNvPr id="92191" name="Line 30"/>
            <p:cNvSpPr/>
            <p:nvPr/>
          </p:nvSpPr>
          <p:spPr>
            <a:xfrm>
              <a:off x="3061" y="1480"/>
              <a:ext cx="0" cy="817"/>
            </a:xfrm>
            <a:prstGeom prst="line">
              <a:avLst/>
            </a:prstGeom>
            <a:ln w="25400" cap="flat" cmpd="sng">
              <a:solidFill>
                <a:schemeClr val="tx1"/>
              </a:solidFill>
              <a:prstDash val="dash"/>
              <a:headEnd type="none" w="med" len="med"/>
              <a:tailEnd type="none" w="med" len="med"/>
            </a:ln>
          </p:spPr>
        </p:sp>
        <p:sp>
          <p:nvSpPr>
            <p:cNvPr id="92192" name="Line 31"/>
            <p:cNvSpPr/>
            <p:nvPr/>
          </p:nvSpPr>
          <p:spPr>
            <a:xfrm flipV="1">
              <a:off x="1383" y="1460"/>
              <a:ext cx="1633" cy="0"/>
            </a:xfrm>
            <a:prstGeom prst="line">
              <a:avLst/>
            </a:prstGeom>
            <a:ln w="25400" cap="flat" cmpd="sng">
              <a:solidFill>
                <a:schemeClr val="tx1"/>
              </a:solidFill>
              <a:prstDash val="dash"/>
              <a:headEnd type="none" w="med" len="med"/>
              <a:tailEnd type="none" w="med" len="med"/>
            </a:ln>
          </p:spPr>
        </p:sp>
        <p:sp>
          <p:nvSpPr>
            <p:cNvPr id="665632" name="Text Box 32"/>
            <p:cNvSpPr txBox="1">
              <a:spLocks noChangeArrowheads="1"/>
            </p:cNvSpPr>
            <p:nvPr/>
          </p:nvSpPr>
          <p:spPr bwMode="auto">
            <a:xfrm>
              <a:off x="3924" y="2297"/>
              <a:ext cx="31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R="0" algn="ctr" defTabSz="914400">
                <a:spcBef>
                  <a:spcPct val="50000"/>
                </a:spcBef>
                <a:buClrTx/>
                <a:buSzTx/>
                <a:buFontTx/>
                <a:buNone/>
                <a:defRPr/>
              </a:pPr>
              <a:r>
                <a:rPr kumimoji="0" lang="en-US" altLang="zh-CN" sz="2400" b="1" kern="1200" cap="none" spc="0" normalizeH="0" baseline="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n</a:t>
              </a:r>
              <a:endParaRPr kumimoji="0" lang="en-US" altLang="zh-CN" sz="2400" b="1" kern="1200" cap="none" spc="0" normalizeH="0" baseline="0" noProof="0">
                <a:effectLst>
                  <a:outerShdw blurRad="38100" dist="38100" dir="2700000" algn="tl">
                    <a:srgbClr val="C0C0C0"/>
                  </a:outerShdw>
                </a:effectLst>
                <a:latin typeface="Times New Roman" panose="02020603050405020304" pitchFamily="18" charset="0"/>
                <a:ea typeface="宋体" panose="02010600030101010101" pitchFamily="2" charset="-122"/>
                <a:cs typeface="+mn-cs"/>
              </a:endParaRPr>
            </a:p>
          </p:txBody>
        </p:sp>
        <p:sp>
          <p:nvSpPr>
            <p:cNvPr id="92194" name="Arc 33"/>
            <p:cNvSpPr/>
            <p:nvPr/>
          </p:nvSpPr>
          <p:spPr>
            <a:xfrm flipV="1">
              <a:off x="1428" y="664"/>
              <a:ext cx="1543" cy="1633"/>
            </a:xfrm>
            <a:custGeom>
              <a:avLst/>
              <a:gdLst/>
              <a:ahLst/>
              <a:cxnLst>
                <a:cxn ang="0">
                  <a:pos x="0" y="0"/>
                </a:cxn>
                <a:cxn ang="0">
                  <a:pos x="0" y="0"/>
                </a:cxn>
                <a:cxn ang="0">
                  <a:pos x="0" y="0"/>
                </a:cxn>
              </a:cxnLst>
              <a:rect l="0" t="0" r="0" b="0"/>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317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92195" name="Arc 34"/>
            <p:cNvSpPr/>
            <p:nvPr/>
          </p:nvSpPr>
          <p:spPr>
            <a:xfrm flipV="1">
              <a:off x="1428" y="709"/>
              <a:ext cx="907" cy="1588"/>
            </a:xfrm>
            <a:custGeom>
              <a:avLst/>
              <a:gdLst/>
              <a:ahLst/>
              <a:cxnLst>
                <a:cxn ang="0">
                  <a:pos x="0" y="0"/>
                </a:cxn>
                <a:cxn ang="0">
                  <a:pos x="0" y="0"/>
                </a:cxn>
                <a:cxn ang="0">
                  <a:pos x="0" y="0"/>
                </a:cxn>
              </a:cxnLst>
              <a:rect l="0" t="0" r="0" b="0"/>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317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665635" name="Text Box 35"/>
            <p:cNvSpPr txBox="1">
              <a:spLocks noChangeArrowheads="1"/>
            </p:cNvSpPr>
            <p:nvPr/>
          </p:nvSpPr>
          <p:spPr bwMode="auto">
            <a:xfrm>
              <a:off x="1882" y="527"/>
              <a:ext cx="45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R="0" algn="ctr" defTabSz="914400">
                <a:spcBef>
                  <a:spcPct val="50000"/>
                </a:spcBef>
                <a:buClrTx/>
                <a:buSzTx/>
                <a:buFontTx/>
                <a:buNone/>
                <a:defRPr/>
              </a:pPr>
              <a:r>
                <a:rPr kumimoji="0" lang="en-US" altLang="zh-CN" sz="2400" b="1" kern="1200" cap="none" spc="0" normalizeH="0" baseline="0" noProof="0">
                  <a:solidFill>
                    <a:schemeClr val="accent2"/>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2</a:t>
              </a:r>
              <a:r>
                <a:rPr kumimoji="0" lang="en-US" altLang="zh-CN" sz="2400" b="1" kern="1200" cap="none" spc="0" normalizeH="0" baseline="30000" noProof="0">
                  <a:solidFill>
                    <a:schemeClr val="accent2"/>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n</a:t>
              </a:r>
              <a:endParaRPr kumimoji="0" lang="en-US" altLang="zh-CN" sz="2400" b="1" kern="1200" cap="none" spc="0" normalizeH="0" baseline="30000" noProof="0">
                <a:solidFill>
                  <a:schemeClr val="accent2"/>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endParaRPr>
            </a:p>
          </p:txBody>
        </p:sp>
        <p:sp>
          <p:nvSpPr>
            <p:cNvPr id="665636" name="Text Box 36"/>
            <p:cNvSpPr txBox="1">
              <a:spLocks noChangeArrowheads="1"/>
            </p:cNvSpPr>
            <p:nvPr/>
          </p:nvSpPr>
          <p:spPr bwMode="auto">
            <a:xfrm>
              <a:off x="2472" y="527"/>
              <a:ext cx="45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R="0" algn="ctr" defTabSz="914400">
                <a:spcBef>
                  <a:spcPct val="50000"/>
                </a:spcBef>
                <a:buClrTx/>
                <a:buSzTx/>
                <a:buFontTx/>
                <a:buNone/>
                <a:defRPr/>
              </a:pPr>
              <a:r>
                <a:rPr kumimoji="0" lang="en-US" altLang="zh-CN" sz="2400" b="1" kern="1200" cap="none" spc="0" normalizeH="0" baseline="0" noProof="0">
                  <a:solidFill>
                    <a:schemeClr val="accent2"/>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n</a:t>
              </a:r>
              <a:r>
                <a:rPr kumimoji="0" lang="en-US" altLang="zh-CN" sz="2400" b="1" kern="1200" cap="none" spc="0" normalizeH="0" baseline="30000" noProof="0">
                  <a:solidFill>
                    <a:schemeClr val="accent2"/>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3</a:t>
              </a:r>
              <a:r>
                <a:rPr kumimoji="0" lang="en-US" altLang="zh-CN" sz="2400" b="1" kern="1200" cap="none" spc="0" normalizeH="0" baseline="0" noProof="0">
                  <a:solidFill>
                    <a:schemeClr val="accent2"/>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/2</a:t>
              </a:r>
              <a:endParaRPr kumimoji="0" lang="en-US" altLang="zh-CN" sz="2400" b="1" kern="1200" cap="none" spc="0" normalizeH="0" baseline="0" noProof="0">
                <a:solidFill>
                  <a:schemeClr val="accent2"/>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endParaRPr>
            </a:p>
          </p:txBody>
        </p:sp>
        <p:sp>
          <p:nvSpPr>
            <p:cNvPr id="665637" name="Text Box 37"/>
            <p:cNvSpPr txBox="1">
              <a:spLocks noChangeArrowheads="1"/>
            </p:cNvSpPr>
            <p:nvPr/>
          </p:nvSpPr>
          <p:spPr bwMode="auto">
            <a:xfrm>
              <a:off x="3832" y="1072"/>
              <a:ext cx="104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R="0" defTabSz="914400">
                <a:spcBef>
                  <a:spcPct val="50000"/>
                </a:spcBef>
                <a:buClrTx/>
                <a:buSzTx/>
                <a:buFontTx/>
                <a:buNone/>
                <a:defRPr/>
              </a:pPr>
              <a:r>
                <a:rPr kumimoji="0" lang="en-US" altLang="zh-CN" sz="2400" b="1" kern="1200" cap="none" spc="0" normalizeH="0" baseline="0" noProof="0">
                  <a:solidFill>
                    <a:schemeClr val="accent2"/>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100n</a:t>
              </a:r>
              <a:endParaRPr kumimoji="0" lang="en-US" altLang="zh-CN" sz="2400" b="1" kern="1200" cap="none" spc="0" normalizeH="0" baseline="0" noProof="0">
                <a:solidFill>
                  <a:schemeClr val="accent2"/>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endParaRPr>
            </a:p>
          </p:txBody>
        </p:sp>
        <p:sp>
          <p:nvSpPr>
            <p:cNvPr id="665638" name="Text Box 38"/>
            <p:cNvSpPr txBox="1">
              <a:spLocks noChangeArrowheads="1"/>
            </p:cNvSpPr>
            <p:nvPr/>
          </p:nvSpPr>
          <p:spPr bwMode="auto">
            <a:xfrm>
              <a:off x="3969" y="1616"/>
              <a:ext cx="99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R="0" defTabSz="914400">
                <a:spcBef>
                  <a:spcPct val="50000"/>
                </a:spcBef>
                <a:buClrTx/>
                <a:buSzTx/>
                <a:buFontTx/>
                <a:buNone/>
                <a:defRPr/>
              </a:pPr>
              <a:r>
                <a:rPr kumimoji="0" lang="en-US" altLang="zh-CN" sz="2400" b="1" kern="1200" cap="none" spc="0" normalizeH="0" baseline="0" noProof="0">
                  <a:solidFill>
                    <a:schemeClr val="accent2"/>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200log</a:t>
              </a:r>
              <a:r>
                <a:rPr kumimoji="0" lang="en-US" altLang="zh-CN" sz="2400" b="1" kern="1200" cap="none" spc="0" normalizeH="0" baseline="-25000" noProof="0">
                  <a:solidFill>
                    <a:schemeClr val="accent2"/>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2</a:t>
              </a:r>
              <a:r>
                <a:rPr kumimoji="0" lang="en-US" altLang="zh-CN" sz="2400" b="1" kern="1200" cap="none" spc="0" normalizeH="0" baseline="0" noProof="0">
                  <a:solidFill>
                    <a:schemeClr val="accent2"/>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n</a:t>
              </a:r>
              <a:endParaRPr kumimoji="0" lang="en-US" altLang="zh-CN" sz="2400" b="1" kern="1200" cap="none" spc="0" normalizeH="0" baseline="0" noProof="0">
                <a:solidFill>
                  <a:schemeClr val="accent2"/>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endParaRPr>
            </a:p>
          </p:txBody>
        </p:sp>
        <p:sp>
          <p:nvSpPr>
            <p:cNvPr id="665639" name="Text Box 39"/>
            <p:cNvSpPr txBox="1">
              <a:spLocks noChangeArrowheads="1"/>
            </p:cNvSpPr>
            <p:nvPr/>
          </p:nvSpPr>
          <p:spPr bwMode="auto">
            <a:xfrm>
              <a:off x="1337" y="2659"/>
              <a:ext cx="294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R="0" algn="ctr" defTabSz="914400">
                <a:spcBef>
                  <a:spcPct val="50000"/>
                </a:spcBef>
                <a:buClrTx/>
                <a:buSzTx/>
                <a:buFontTx/>
                <a:buNone/>
                <a:defRPr/>
              </a:pPr>
              <a:r>
                <a:rPr kumimoji="0" lang="zh-CN" altLang="en-US" sz="2400" b="1" kern="1200" cap="none" spc="0" normalizeH="0" baseline="0" noProof="0">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2" charset="-122"/>
                  <a:cs typeface="+mn-cs"/>
                </a:rPr>
                <a:t>常见函数的增长率示意图</a:t>
              </a:r>
              <a:endParaRPr kumimoji="0" lang="zh-CN" altLang="en-US" sz="2400" b="1" kern="1200" cap="none" spc="0" normalizeH="0" baseline="0" noProof="0">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2" charset="-122"/>
                <a:cs typeface="+mn-cs"/>
              </a:endParaRPr>
            </a:p>
          </p:txBody>
        </p:sp>
      </p:grpSp>
      <p:sp>
        <p:nvSpPr>
          <p:cNvPr id="665640" name="Text Box 40"/>
          <p:cNvSpPr txBox="1">
            <a:spLocks noChangeArrowheads="1"/>
          </p:cNvSpPr>
          <p:nvPr/>
        </p:nvSpPr>
        <p:spPr bwMode="auto">
          <a:xfrm>
            <a:off x="250825" y="4724400"/>
            <a:ext cx="8569325" cy="175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R="0" defTabSz="914400">
              <a:lnSpc>
                <a:spcPct val="130000"/>
              </a:lnSpc>
              <a:buClr>
                <a:schemeClr val="accent1"/>
              </a:buClr>
              <a:buSzTx/>
              <a:buFont typeface="Wingdings" panose="05000000000000000000" pitchFamily="2" charset="2"/>
              <a:buChar char="n"/>
              <a:defRPr/>
            </a:pPr>
            <a:r>
              <a:rPr kumimoji="0" lang="zh-CN" altLang="en-US" sz="2800" b="1" kern="1200" cap="none" spc="0" normalizeH="0" baseline="0" noProof="0">
                <a:effectLst>
                  <a:outerShdw blurRad="38100" dist="38100" dir="2700000" algn="tl">
                    <a:srgbClr val="C0C0C0"/>
                  </a:outerShdw>
                </a:effectLst>
                <a:latin typeface="Times New Roman" panose="02020603050405020304" pitchFamily="18" charset="0"/>
                <a:ea typeface="黑体" panose="02010609060101010101" pitchFamily="2" charset="-122"/>
                <a:cs typeface="+mn-cs"/>
              </a:rPr>
              <a:t> </a:t>
            </a:r>
            <a:r>
              <a:rPr kumimoji="0" lang="zh-CN" altLang="en-US" sz="2800" b="1" kern="1200" cap="none" spc="0" normalizeH="0" baseline="0" noProof="0">
                <a:effectLst>
                  <a:outerShdw blurRad="38100" dist="38100" dir="2700000" algn="tl">
                    <a:srgbClr val="C0C0C0"/>
                  </a:outerShdw>
                </a:effectLst>
                <a:latin typeface="Times New Roman" panose="02020603050405020304" pitchFamily="18" charset="0"/>
                <a:ea typeface="楷体_GB2312" panose="02010609030101010101" pitchFamily="49" charset="-122"/>
                <a:cs typeface="+mn-cs"/>
              </a:rPr>
              <a:t>一般地，常用的时间复杂度有如下关系：</a:t>
            </a:r>
            <a:r>
              <a:rPr kumimoji="0" lang="zh-CN" altLang="en-US" sz="2800" b="1" kern="1200" cap="none" spc="0" normalizeH="0" baseline="0" noProof="0">
                <a:effectLst>
                  <a:outerShdw blurRad="38100" dist="38100" dir="2700000" algn="tl">
                    <a:srgbClr val="C0C0C0"/>
                  </a:outerShdw>
                </a:effectLst>
                <a:latin typeface="Times New Roman" panose="02020603050405020304" pitchFamily="18" charset="0"/>
                <a:ea typeface="黑体" panose="02010609060101010101" pitchFamily="2" charset="-122"/>
                <a:cs typeface="+mn-cs"/>
              </a:rPr>
              <a:t>        </a:t>
            </a:r>
            <a:endParaRPr kumimoji="0" lang="zh-CN" altLang="en-US" sz="2800" b="1" kern="1200" cap="none" spc="0" normalizeH="0" baseline="0" noProof="0">
              <a:effectLst>
                <a:outerShdw blurRad="38100" dist="38100" dir="2700000" algn="tl">
                  <a:srgbClr val="C0C0C0"/>
                </a:outerShdw>
              </a:effectLst>
              <a:latin typeface="Times New Roman" panose="02020603050405020304" pitchFamily="18" charset="0"/>
              <a:ea typeface="黑体" panose="02010609060101010101" pitchFamily="2" charset="-122"/>
              <a:cs typeface="+mn-cs"/>
            </a:endParaRPr>
          </a:p>
          <a:p>
            <a:pPr marR="0" defTabSz="914400">
              <a:lnSpc>
                <a:spcPct val="130000"/>
              </a:lnSpc>
              <a:buClrTx/>
              <a:buSzTx/>
              <a:buFontTx/>
              <a:buNone/>
              <a:defRPr/>
            </a:pPr>
            <a:r>
              <a:rPr kumimoji="0" lang="zh-CN" altLang="en-US" sz="2800" b="1" kern="1200" cap="none" spc="0" normalizeH="0" baseline="0" noProof="0">
                <a:solidFill>
                  <a:srgbClr val="FFFFFF"/>
                </a:solidFill>
                <a:effectLst>
                  <a:outerShdw blurRad="38100" dist="38100" dir="2700000" algn="tl">
                    <a:srgbClr val="C0C0C0"/>
                  </a:outerShdw>
                </a:effectLst>
                <a:latin typeface="Times New Roman" panose="02020603050405020304" pitchFamily="18" charset="0"/>
                <a:ea typeface="黑体" panose="02010609060101010101" pitchFamily="2" charset="-122"/>
                <a:cs typeface="+mn-cs"/>
              </a:rPr>
              <a:t>        </a:t>
            </a:r>
            <a:r>
              <a:rPr kumimoji="0" lang="en-US" altLang="zh-CN" sz="2800" b="1" kern="1200" cap="none" spc="0" normalizeH="0" baseline="0" noProof="0">
                <a:solidFill>
                  <a:schemeClr val="accent2"/>
                </a:solidFill>
                <a:effectLst>
                  <a:outerShdw blurRad="38100" dist="38100" dir="2700000" algn="tl">
                    <a:srgbClr val="C0C0C0"/>
                  </a:outerShdw>
                </a:effectLst>
                <a:highlight>
                  <a:srgbClr val="FFFF00"/>
                </a:highlight>
                <a:latin typeface="Times New Roman" panose="02020603050405020304" pitchFamily="18" charset="0"/>
                <a:ea typeface="黑体" panose="02010609060101010101" pitchFamily="2" charset="-122"/>
                <a:cs typeface="+mn-cs"/>
              </a:rPr>
              <a:t>O(1) ≤ O(logn) ≤ O(n) ≤ O(nlogn) ≤ O(n</a:t>
            </a:r>
            <a:r>
              <a:rPr kumimoji="0" lang="en-US" altLang="zh-CN" sz="2800" b="1" kern="1200" cap="none" spc="0" normalizeH="0" baseline="30000" noProof="0">
                <a:solidFill>
                  <a:schemeClr val="accent2"/>
                </a:solidFill>
                <a:effectLst>
                  <a:outerShdw blurRad="38100" dist="38100" dir="2700000" algn="tl">
                    <a:srgbClr val="C0C0C0"/>
                  </a:outerShdw>
                </a:effectLst>
                <a:highlight>
                  <a:srgbClr val="FFFF00"/>
                </a:highlight>
                <a:latin typeface="Times New Roman" panose="02020603050405020304" pitchFamily="18" charset="0"/>
                <a:ea typeface="黑体" panose="02010609060101010101" pitchFamily="2" charset="-122"/>
                <a:cs typeface="+mn-cs"/>
              </a:rPr>
              <a:t>2</a:t>
            </a:r>
            <a:r>
              <a:rPr kumimoji="0" lang="en-US" altLang="zh-CN" sz="2800" b="1" kern="1200" cap="none" spc="0" normalizeH="0" baseline="0" noProof="0">
                <a:solidFill>
                  <a:schemeClr val="accent2"/>
                </a:solidFill>
                <a:effectLst>
                  <a:outerShdw blurRad="38100" dist="38100" dir="2700000" algn="tl">
                    <a:srgbClr val="C0C0C0"/>
                  </a:outerShdw>
                </a:effectLst>
                <a:highlight>
                  <a:srgbClr val="FFFF00"/>
                </a:highlight>
                <a:latin typeface="Times New Roman" panose="02020603050405020304" pitchFamily="18" charset="0"/>
                <a:ea typeface="黑体" panose="02010609060101010101" pitchFamily="2" charset="-122"/>
                <a:cs typeface="+mn-cs"/>
              </a:rPr>
              <a:t>) ≤ O(n</a:t>
            </a:r>
            <a:r>
              <a:rPr kumimoji="0" lang="en-US" altLang="zh-CN" sz="2800" b="1" kern="1200" cap="none" spc="0" normalizeH="0" baseline="30000" noProof="0">
                <a:solidFill>
                  <a:schemeClr val="accent2"/>
                </a:solidFill>
                <a:effectLst>
                  <a:outerShdw blurRad="38100" dist="38100" dir="2700000" algn="tl">
                    <a:srgbClr val="C0C0C0"/>
                  </a:outerShdw>
                </a:effectLst>
                <a:highlight>
                  <a:srgbClr val="FFFF00"/>
                </a:highlight>
                <a:latin typeface="Times New Roman" panose="02020603050405020304" pitchFamily="18" charset="0"/>
                <a:ea typeface="黑体" panose="02010609060101010101" pitchFamily="2" charset="-122"/>
                <a:cs typeface="+mn-cs"/>
              </a:rPr>
              <a:t>3</a:t>
            </a:r>
            <a:r>
              <a:rPr kumimoji="0" lang="en-US" altLang="zh-CN" sz="2800" b="1" kern="1200" cap="none" spc="0" normalizeH="0" baseline="0" noProof="0">
                <a:solidFill>
                  <a:schemeClr val="accent2"/>
                </a:solidFill>
                <a:effectLst>
                  <a:outerShdw blurRad="38100" dist="38100" dir="2700000" algn="tl">
                    <a:srgbClr val="C0C0C0"/>
                  </a:outerShdw>
                </a:effectLst>
                <a:highlight>
                  <a:srgbClr val="FFFF00"/>
                </a:highlight>
                <a:latin typeface="Times New Roman" panose="02020603050405020304" pitchFamily="18" charset="0"/>
                <a:ea typeface="黑体" panose="02010609060101010101" pitchFamily="2" charset="-122"/>
                <a:cs typeface="+mn-cs"/>
              </a:rPr>
              <a:t>) ≤ … ≤ O(n</a:t>
            </a:r>
            <a:r>
              <a:rPr kumimoji="0" lang="en-US" altLang="zh-CN" sz="2800" b="1" kern="1200" cap="none" spc="0" normalizeH="0" baseline="30000" noProof="0">
                <a:solidFill>
                  <a:schemeClr val="accent2"/>
                </a:solidFill>
                <a:effectLst>
                  <a:outerShdw blurRad="38100" dist="38100" dir="2700000" algn="tl">
                    <a:srgbClr val="C0C0C0"/>
                  </a:outerShdw>
                </a:effectLst>
                <a:highlight>
                  <a:srgbClr val="FFFF00"/>
                </a:highlight>
                <a:latin typeface="Times New Roman" panose="02020603050405020304" pitchFamily="18" charset="0"/>
                <a:ea typeface="黑体" panose="02010609060101010101" pitchFamily="2" charset="-122"/>
                <a:cs typeface="+mn-cs"/>
              </a:rPr>
              <a:t>k</a:t>
            </a:r>
            <a:r>
              <a:rPr kumimoji="0" lang="en-US" altLang="zh-CN" sz="2800" b="1" kern="1200" cap="none" spc="0" normalizeH="0" baseline="0" noProof="0">
                <a:solidFill>
                  <a:schemeClr val="accent2"/>
                </a:solidFill>
                <a:effectLst>
                  <a:outerShdw blurRad="38100" dist="38100" dir="2700000" algn="tl">
                    <a:srgbClr val="C0C0C0"/>
                  </a:outerShdw>
                </a:effectLst>
                <a:highlight>
                  <a:srgbClr val="FFFF00"/>
                </a:highlight>
                <a:latin typeface="Times New Roman" panose="02020603050405020304" pitchFamily="18" charset="0"/>
                <a:ea typeface="黑体" panose="02010609060101010101" pitchFamily="2" charset="-122"/>
                <a:cs typeface="+mn-cs"/>
              </a:rPr>
              <a:t>) ≤O(2</a:t>
            </a:r>
            <a:r>
              <a:rPr kumimoji="0" lang="en-US" altLang="zh-CN" sz="2800" b="1" kern="1200" cap="none" spc="0" normalizeH="0" baseline="30000" noProof="0">
                <a:solidFill>
                  <a:schemeClr val="accent2"/>
                </a:solidFill>
                <a:effectLst>
                  <a:outerShdw blurRad="38100" dist="38100" dir="2700000" algn="tl">
                    <a:srgbClr val="C0C0C0"/>
                  </a:outerShdw>
                </a:effectLst>
                <a:highlight>
                  <a:srgbClr val="FFFF00"/>
                </a:highlight>
                <a:latin typeface="Times New Roman" panose="02020603050405020304" pitchFamily="18" charset="0"/>
                <a:ea typeface="黑体" panose="02010609060101010101" pitchFamily="2" charset="-122"/>
                <a:cs typeface="+mn-cs"/>
              </a:rPr>
              <a:t>n</a:t>
            </a:r>
            <a:r>
              <a:rPr kumimoji="0" lang="en-US" altLang="zh-CN" sz="2800" b="1" kern="1200" cap="none" spc="0" normalizeH="0" baseline="0" noProof="0">
                <a:solidFill>
                  <a:schemeClr val="accent2"/>
                </a:solidFill>
                <a:effectLst>
                  <a:outerShdw blurRad="38100" dist="38100" dir="2700000" algn="tl">
                    <a:srgbClr val="C0C0C0"/>
                  </a:outerShdw>
                </a:effectLst>
                <a:highlight>
                  <a:srgbClr val="FFFF00"/>
                </a:highlight>
                <a:latin typeface="Times New Roman" panose="02020603050405020304" pitchFamily="18" charset="0"/>
                <a:ea typeface="黑体" panose="02010609060101010101" pitchFamily="2" charset="-122"/>
                <a:cs typeface="+mn-cs"/>
              </a:rPr>
              <a:t>) ≤O(3</a:t>
            </a:r>
            <a:r>
              <a:rPr kumimoji="0" lang="en-US" altLang="zh-CN" sz="2800" b="1" kern="1200" cap="none" spc="0" normalizeH="0" baseline="30000" noProof="0">
                <a:solidFill>
                  <a:schemeClr val="accent2"/>
                </a:solidFill>
                <a:effectLst>
                  <a:outerShdw blurRad="38100" dist="38100" dir="2700000" algn="tl">
                    <a:srgbClr val="C0C0C0"/>
                  </a:outerShdw>
                </a:effectLst>
                <a:highlight>
                  <a:srgbClr val="FFFF00"/>
                </a:highlight>
                <a:latin typeface="Times New Roman" panose="02020603050405020304" pitchFamily="18" charset="0"/>
                <a:ea typeface="黑体" panose="02010609060101010101" pitchFamily="2" charset="-122"/>
                <a:cs typeface="+mn-cs"/>
              </a:rPr>
              <a:t>n</a:t>
            </a:r>
            <a:r>
              <a:rPr kumimoji="0" lang="en-US" altLang="zh-CN" sz="2800" b="1" kern="1200" cap="none" spc="0" normalizeH="0" baseline="0" noProof="0">
                <a:solidFill>
                  <a:schemeClr val="accent2"/>
                </a:solidFill>
                <a:effectLst>
                  <a:outerShdw blurRad="38100" dist="38100" dir="2700000" algn="tl">
                    <a:srgbClr val="C0C0C0"/>
                  </a:outerShdw>
                </a:effectLst>
                <a:highlight>
                  <a:srgbClr val="FFFF00"/>
                </a:highlight>
                <a:latin typeface="Times New Roman" panose="02020603050405020304" pitchFamily="18" charset="0"/>
                <a:ea typeface="黑体" panose="02010609060101010101" pitchFamily="2" charset="-122"/>
                <a:cs typeface="+mn-cs"/>
              </a:rPr>
              <a:t>) ≤O(n!)</a:t>
            </a:r>
            <a:endParaRPr kumimoji="0" lang="en-US" altLang="zh-CN" sz="2800" b="1" kern="1200" cap="none" spc="0" normalizeH="0" baseline="0" noProof="0">
              <a:solidFill>
                <a:schemeClr val="accent2"/>
              </a:solidFill>
              <a:effectLst>
                <a:outerShdw blurRad="38100" dist="38100" dir="2700000" algn="tl">
                  <a:srgbClr val="C0C0C0"/>
                </a:outerShdw>
              </a:effectLst>
              <a:highlight>
                <a:srgbClr val="FFFF00"/>
              </a:highlight>
              <a:latin typeface="Times New Roman" panose="02020603050405020304" pitchFamily="18" charset="0"/>
              <a:ea typeface="黑体" panose="02010609060101010101" pitchFamily="2" charset="-122"/>
              <a:cs typeface="+mn-cs"/>
            </a:endParaRPr>
          </a:p>
        </p:txBody>
      </p:sp>
      <p:sp>
        <p:nvSpPr>
          <p:cNvPr id="2" name="日期占位符 1"/>
          <p:cNvSpPr>
            <a:spLocks noGrp="1"/>
          </p:cNvSpPr>
          <p:nvPr>
            <p:ph type="dt" sz="half" idx="10"/>
          </p:nvPr>
        </p:nvSpPr>
        <p:spPr/>
        <p:txBody>
          <a:bodyPr/>
          <a:lstStyle/>
          <a:p>
            <a:r>
              <a:rPr lang="en-US" altLang="zh-CN"/>
              <a:t>Data Structures and algorithms</a:t>
            </a:r>
            <a:endParaRPr lang="zh-CN" altLang="en-US"/>
          </a:p>
        </p:txBody>
      </p:sp>
      <p:sp>
        <p:nvSpPr>
          <p:cNvPr id="3" name="页脚占位符 2"/>
          <p:cNvSpPr>
            <a:spLocks noGrp="1"/>
          </p:cNvSpPr>
          <p:nvPr>
            <p:ph type="ftr" sz="quarter" idx="11"/>
          </p:nvPr>
        </p:nvSpPr>
        <p:spPr/>
        <p:txBody>
          <a:bodyPr/>
          <a:lstStyle/>
          <a:p>
            <a:r>
              <a:rPr lang="en-US" altLang="zh-CN"/>
              <a:t>Software College Northeastern University</a:t>
            </a:r>
            <a:endParaRPr lang="zh-CN" altLang="en-US"/>
          </a:p>
        </p:txBody>
      </p:sp>
      <p:sp>
        <p:nvSpPr>
          <p:cNvPr id="4" name="灯片编号占位符 3"/>
          <p:cNvSpPr>
            <a:spLocks noGrp="1"/>
          </p:cNvSpPr>
          <p:nvPr>
            <p:ph type="sldNum" sz="quarter" idx="12"/>
          </p:nvPr>
        </p:nvSpPr>
        <p:spPr/>
        <p:txBody>
          <a:bodyPr/>
          <a:lstStyle/>
          <a:p>
            <a:fld id="{6E1C0148-8E4B-4B2F-95CE-20B4709700AE}" type="slidenum">
              <a:rPr lang="zh-CN" altLang="en-US" smtClean="0"/>
            </a:fld>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grpId="0" nodeType="clickEffect">
                                  <p:stCondLst>
                                    <p:cond delay="0"/>
                                  </p:stCondLst>
                                  <p:childTnLst>
                                    <p:set>
                                      <p:cBhvr>
                                        <p:cTn id="6" dur="1" fill="hold">
                                          <p:stCondLst>
                                            <p:cond delay="0"/>
                                          </p:stCondLst>
                                        </p:cTn>
                                        <p:tgtEl>
                                          <p:spTgt spid="665640"/>
                                        </p:tgtEl>
                                        <p:attrNameLst>
                                          <p:attrName>style.visibility</p:attrName>
                                        </p:attrNameLst>
                                      </p:cBhvr>
                                      <p:to>
                                        <p:strVal val="visible"/>
                                      </p:to>
                                    </p:set>
                                    <p:animEffect transition="in" filter="blinds(vertical)">
                                      <p:cBhvr>
                                        <p:cTn id="7" dur="500"/>
                                        <p:tgtEl>
                                          <p:spTgt spid="6656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40" grpId="0" bldLvl="0" animBg="1"/>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667650" name="Rectangle 2"/>
          <p:cNvSpPr>
            <a:spLocks noGrp="1" noChangeArrowheads="1"/>
          </p:cNvSpPr>
          <p:nvPr>
            <p:ph type="title"/>
          </p:nvPr>
        </p:nvSpPr>
        <p:spPr>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黑体" panose="02010609060101010101" pitchFamily="2" charset="-122"/>
                <a:cs typeface="+mj-cs"/>
              </a:rPr>
              <a:t>-</a:t>
            </a:r>
            <a:r>
              <a:rPr kumimoji="1" lang="zh-CN" altLang="en-US" sz="32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黑体" panose="02010609060101010101" pitchFamily="2" charset="-122"/>
                <a:cs typeface="+mj-cs"/>
              </a:rPr>
              <a:t>小结：程序（算法）渐进时间复杂度的计算</a:t>
            </a:r>
            <a:endParaRPr kumimoji="1" lang="en-US" altLang="zh-CN" sz="3200" b="1" i="0" u="none" strike="noStrike" kern="0" cap="none" spc="0" normalizeH="0" baseline="0" noProof="0">
              <a:ln>
                <a:noFill/>
              </a:ln>
              <a:solidFill>
                <a:schemeClr val="tx2"/>
              </a:solidFill>
              <a:effectLst>
                <a:outerShdw blurRad="38100" dist="38100" dir="2700000" algn="tl">
                  <a:srgbClr val="C0C0C0"/>
                </a:outerShdw>
              </a:effectLst>
              <a:uLnTx/>
              <a:uFillTx/>
              <a:latin typeface="+mj-lt"/>
              <a:ea typeface="黑体" panose="02010609060101010101" pitchFamily="2" charset="-122"/>
              <a:cs typeface="+mj-cs"/>
            </a:endParaRPr>
          </a:p>
        </p:txBody>
      </p:sp>
      <p:sp>
        <p:nvSpPr>
          <p:cNvPr id="667651" name="Text Box 3"/>
          <p:cNvSpPr txBox="1">
            <a:spLocks noChangeArrowheads="1"/>
          </p:cNvSpPr>
          <p:nvPr/>
        </p:nvSpPr>
        <p:spPr bwMode="auto">
          <a:xfrm>
            <a:off x="395288" y="1412875"/>
            <a:ext cx="8353425" cy="4656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R="0" defTabSz="914400">
              <a:spcBef>
                <a:spcPct val="50000"/>
              </a:spcBef>
              <a:buClr>
                <a:schemeClr val="tx2"/>
              </a:buClr>
              <a:buSzTx/>
              <a:buFontTx/>
              <a:buChar char="•"/>
              <a:defRPr/>
            </a:pPr>
            <a:r>
              <a:rPr kumimoji="0" lang="zh-CN" altLang="en-US" sz="2400" b="1" kern="1200" cap="none" spc="0" normalizeH="0" baseline="0" noProof="0">
                <a:effectLst>
                  <a:outerShdw blurRad="38100" dist="38100" dir="2700000" algn="tl">
                    <a:srgbClr val="C0C0C0"/>
                  </a:outerShdw>
                </a:effectLst>
                <a:latin typeface="楷体_GB2312" panose="02010609030101010101" pitchFamily="49" charset="-122"/>
                <a:ea typeface="楷体_GB2312" panose="02010609030101010101" pitchFamily="49" charset="-122"/>
                <a:cs typeface="+mn-cs"/>
              </a:rPr>
              <a:t>算法的渐进时间复杂度考虑的只是对于问题规模的增长率，在难以精确计算基本操作语句执行次数的情况下，只需求出它</a:t>
            </a:r>
            <a:r>
              <a:rPr kumimoji="0" lang="zh-CN" altLang="en-US" sz="2400" b="1" kern="1200" cap="none" spc="0" normalizeH="0" baseline="0" noProof="0">
                <a:solidFill>
                  <a:srgbClr val="FF0000"/>
                </a:solidFill>
                <a:effectLst>
                  <a:outerShdw blurRad="38100" dist="38100" dir="2700000" algn="tl">
                    <a:srgbClr val="C0C0C0"/>
                  </a:outerShdw>
                </a:effectLst>
                <a:latin typeface="楷体_GB2312" panose="02010609030101010101" pitchFamily="49" charset="-122"/>
                <a:ea typeface="楷体_GB2312" panose="02010609030101010101" pitchFamily="49" charset="-122"/>
                <a:cs typeface="+mn-cs"/>
              </a:rPr>
              <a:t>关于</a:t>
            </a:r>
            <a:r>
              <a:rPr kumimoji="0" lang="en-US" altLang="zh-CN" sz="2400" b="1" kern="1200" cap="none" spc="0" normalizeH="0" baseline="0" noProof="0">
                <a:solidFill>
                  <a:srgbClr val="FF0000"/>
                </a:solidFill>
                <a:effectLst>
                  <a:outerShdw blurRad="38100" dist="38100" dir="2700000" algn="tl">
                    <a:srgbClr val="C0C0C0"/>
                  </a:outerShdw>
                </a:effectLst>
                <a:latin typeface="楷体_GB2312" panose="02010609030101010101" pitchFamily="49" charset="-122"/>
                <a:ea typeface="楷体_GB2312" panose="02010609030101010101" pitchFamily="49" charset="-122"/>
                <a:cs typeface="+mn-cs"/>
              </a:rPr>
              <a:t>n</a:t>
            </a:r>
            <a:r>
              <a:rPr kumimoji="0" lang="zh-CN" altLang="en-US" sz="2400" b="1" kern="1200" cap="none" spc="0" normalizeH="0" baseline="0" noProof="0">
                <a:solidFill>
                  <a:srgbClr val="FF0000"/>
                </a:solidFill>
                <a:effectLst>
                  <a:outerShdw blurRad="38100" dist="38100" dir="2700000" algn="tl">
                    <a:srgbClr val="C0C0C0"/>
                  </a:outerShdw>
                </a:effectLst>
                <a:latin typeface="楷体_GB2312" panose="02010609030101010101" pitchFamily="49" charset="-122"/>
                <a:ea typeface="楷体_GB2312" panose="02010609030101010101" pitchFamily="49" charset="-122"/>
                <a:cs typeface="+mn-cs"/>
              </a:rPr>
              <a:t>的增长率或数量级即可</a:t>
            </a:r>
            <a:r>
              <a:rPr kumimoji="0" lang="zh-CN" altLang="en-US" sz="2400" b="1" kern="1200" cap="none" spc="0" normalizeH="0" baseline="0" noProof="0">
                <a:effectLst>
                  <a:outerShdw blurRad="38100" dist="38100" dir="2700000" algn="tl">
                    <a:srgbClr val="C0C0C0"/>
                  </a:outerShdw>
                </a:effectLst>
                <a:latin typeface="楷体_GB2312" panose="02010609030101010101" pitchFamily="49" charset="-122"/>
                <a:ea typeface="楷体_GB2312" panose="02010609030101010101" pitchFamily="49" charset="-122"/>
                <a:cs typeface="+mn-cs"/>
              </a:rPr>
              <a:t>。</a:t>
            </a:r>
            <a:endParaRPr kumimoji="0" lang="zh-CN" altLang="en-US" sz="2400" b="1" kern="1200" cap="none" spc="0" normalizeH="0" baseline="0" noProof="0">
              <a:effectLst>
                <a:outerShdw blurRad="38100" dist="38100" dir="2700000" algn="tl">
                  <a:srgbClr val="C0C0C0"/>
                </a:outerShdw>
              </a:effectLst>
              <a:latin typeface="楷体_GB2312" panose="02010609030101010101" pitchFamily="49" charset="-122"/>
              <a:ea typeface="楷体_GB2312" panose="02010609030101010101" pitchFamily="49" charset="-122"/>
              <a:cs typeface="+mn-cs"/>
            </a:endParaRPr>
          </a:p>
          <a:p>
            <a:pPr marR="0" defTabSz="914400">
              <a:spcBef>
                <a:spcPct val="50000"/>
              </a:spcBef>
              <a:buClr>
                <a:schemeClr val="tx2"/>
              </a:buClr>
              <a:buSzTx/>
              <a:buFontTx/>
              <a:buChar char="•"/>
              <a:defRPr/>
            </a:pPr>
            <a:r>
              <a:rPr kumimoji="0" lang="zh-CN" altLang="en-US" sz="2400" b="1" kern="1200" cap="none" spc="0" normalizeH="0" baseline="0" noProof="0">
                <a:effectLst>
                  <a:outerShdw blurRad="38100" dist="38100" dir="2700000" algn="tl">
                    <a:srgbClr val="C0C0C0"/>
                  </a:outerShdw>
                </a:effectLst>
                <a:latin typeface="楷体_GB2312" panose="02010609030101010101" pitchFamily="49" charset="-122"/>
                <a:ea typeface="楷体_GB2312" panose="02010609030101010101" pitchFamily="49" charset="-122"/>
                <a:cs typeface="+mn-cs"/>
              </a:rPr>
              <a:t>算法的时间复杂度通常以算法中</a:t>
            </a:r>
            <a:r>
              <a:rPr kumimoji="0" lang="zh-CN" altLang="en-US" sz="2400" b="1" kern="1200" cap="none" spc="0" normalizeH="0" baseline="0" noProof="0">
                <a:solidFill>
                  <a:srgbClr val="FF0000"/>
                </a:solidFill>
                <a:effectLst>
                  <a:outerShdw blurRad="38100" dist="38100" dir="2700000" algn="tl">
                    <a:srgbClr val="C0C0C0"/>
                  </a:outerShdw>
                </a:effectLst>
                <a:latin typeface="楷体_GB2312" panose="02010609030101010101" pitchFamily="49" charset="-122"/>
                <a:ea typeface="楷体_GB2312" panose="02010609030101010101" pitchFamily="49" charset="-122"/>
                <a:cs typeface="+mn-cs"/>
              </a:rPr>
              <a:t>关键操作重复执行的次数作为度量标准</a:t>
            </a:r>
            <a:r>
              <a:rPr kumimoji="0" lang="zh-CN" altLang="en-US" sz="2400" b="1" kern="1200" cap="none" spc="0" normalizeH="0" baseline="0" noProof="0">
                <a:effectLst>
                  <a:outerShdw blurRad="38100" dist="38100" dir="2700000" algn="tl">
                    <a:srgbClr val="C0C0C0"/>
                  </a:outerShdw>
                </a:effectLst>
                <a:latin typeface="楷体_GB2312" panose="02010609030101010101" pitchFamily="49" charset="-122"/>
                <a:ea typeface="楷体_GB2312" panose="02010609030101010101" pitchFamily="49" charset="-122"/>
                <a:cs typeface="+mn-cs"/>
              </a:rPr>
              <a:t>；</a:t>
            </a:r>
            <a:endParaRPr kumimoji="0" lang="zh-CN" altLang="en-US" sz="2400" b="1" kern="1200" cap="none" spc="0" normalizeH="0" baseline="0" noProof="0">
              <a:effectLst>
                <a:outerShdw blurRad="38100" dist="38100" dir="2700000" algn="tl">
                  <a:srgbClr val="C0C0C0"/>
                </a:outerShdw>
              </a:effectLst>
              <a:latin typeface="楷体_GB2312" panose="02010609030101010101" pitchFamily="49" charset="-122"/>
              <a:ea typeface="楷体_GB2312" panose="02010609030101010101" pitchFamily="49" charset="-122"/>
              <a:cs typeface="+mn-cs"/>
            </a:endParaRPr>
          </a:p>
          <a:p>
            <a:pPr marR="0" defTabSz="914400">
              <a:spcBef>
                <a:spcPct val="50000"/>
              </a:spcBef>
              <a:buClr>
                <a:schemeClr val="tx2"/>
              </a:buClr>
              <a:buSzTx/>
              <a:buFontTx/>
              <a:buChar char="•"/>
              <a:defRPr/>
            </a:pPr>
            <a:r>
              <a:rPr kumimoji="0" lang="zh-CN" altLang="en-US" sz="2400" b="1" kern="1200" cap="none" spc="0" normalizeH="0" baseline="0" noProof="0">
                <a:effectLst>
                  <a:outerShdw blurRad="38100" dist="38100" dir="2700000" algn="tl">
                    <a:srgbClr val="C0C0C0"/>
                  </a:outerShdw>
                </a:effectLst>
                <a:latin typeface="楷体_GB2312" panose="02010609030101010101" pitchFamily="49" charset="-122"/>
                <a:ea typeface="楷体_GB2312" panose="02010609030101010101" pitchFamily="49" charset="-122"/>
                <a:cs typeface="+mn-cs"/>
              </a:rPr>
              <a:t> 被视作算法基本操作的一般是最深层循环内的语句。</a:t>
            </a:r>
            <a:r>
              <a:rPr kumimoji="0" lang="en-US" altLang="zh-CN" sz="2400" b="1" kern="1200" cap="none" spc="0" normalizeH="0" baseline="0" noProof="0">
                <a:effectLst>
                  <a:outerShdw blurRad="38100" dist="38100" dir="2700000" algn="tl">
                    <a:srgbClr val="C0C0C0"/>
                  </a:outerShdw>
                </a:effectLst>
                <a:latin typeface="Times New Roman" panose="02020603050405020304"/>
                <a:ea typeface="楷体_GB2312" panose="02010609030101010101" pitchFamily="49" charset="-122"/>
                <a:cs typeface="+mn-cs"/>
              </a:rPr>
              <a:t>——</a:t>
            </a:r>
            <a:r>
              <a:rPr kumimoji="0" lang="en-US" altLang="zh-CN" sz="2400" b="1" kern="1200" cap="none" spc="0" normalizeH="0" baseline="0" noProof="0">
                <a:effectLst>
                  <a:outerShdw blurRad="38100" dist="38100" dir="2700000" algn="tl">
                    <a:srgbClr val="C0C0C0"/>
                  </a:outerShdw>
                </a:effectLst>
                <a:latin typeface="楷体_GB2312" panose="02010609030101010101" pitchFamily="49" charset="-122"/>
                <a:ea typeface="楷体_GB2312" panose="02010609030101010101" pitchFamily="49" charset="-122"/>
                <a:cs typeface="+mn-cs"/>
              </a:rPr>
              <a:t> </a:t>
            </a:r>
            <a:r>
              <a:rPr kumimoji="0" lang="zh-CN" altLang="en-US" sz="2400" b="1" kern="1200" cap="none" spc="0" normalizeH="0" baseline="0" noProof="0">
                <a:solidFill>
                  <a:srgbClr val="FF0000"/>
                </a:solidFill>
                <a:effectLst>
                  <a:outerShdw blurRad="38100" dist="38100" dir="2700000" algn="tl">
                    <a:srgbClr val="C0C0C0"/>
                  </a:outerShdw>
                </a:effectLst>
                <a:latin typeface="楷体_GB2312" panose="02010609030101010101" pitchFamily="49" charset="-122"/>
                <a:ea typeface="楷体_GB2312" panose="02010609030101010101" pitchFamily="49" charset="-122"/>
                <a:cs typeface="+mn-cs"/>
              </a:rPr>
              <a:t>算法的时间复杂度是由嵌套最深层语句的频度（该语句重复执行的次数）决定的。</a:t>
            </a:r>
            <a:endParaRPr kumimoji="0" lang="zh-CN" altLang="en-US" sz="2400" b="1" kern="1200" cap="none" spc="0" normalizeH="0" baseline="0" noProof="0">
              <a:effectLst>
                <a:outerShdw blurRad="38100" dist="38100" dir="2700000" algn="tl">
                  <a:srgbClr val="C0C0C0"/>
                </a:outerShdw>
              </a:effectLst>
              <a:latin typeface="楷体_GB2312" panose="02010609030101010101" pitchFamily="49" charset="-122"/>
              <a:ea typeface="楷体_GB2312" panose="02010609030101010101" pitchFamily="49" charset="-122"/>
              <a:cs typeface="+mn-cs"/>
            </a:endParaRPr>
          </a:p>
          <a:p>
            <a:pPr marR="0" defTabSz="914400">
              <a:spcBef>
                <a:spcPct val="50000"/>
              </a:spcBef>
              <a:buClr>
                <a:schemeClr val="tx2"/>
              </a:buClr>
              <a:buSzTx/>
              <a:buFontTx/>
              <a:buChar char="•"/>
              <a:defRPr/>
            </a:pPr>
            <a:r>
              <a:rPr kumimoji="0" lang="zh-CN" altLang="en-US" sz="2400" b="1" kern="1200" cap="none" spc="0" normalizeH="0" baseline="0" noProof="0">
                <a:effectLst>
                  <a:outerShdw blurRad="38100" dist="38100" dir="2700000" algn="tl">
                    <a:srgbClr val="C0C0C0"/>
                  </a:outerShdw>
                </a:effectLst>
                <a:latin typeface="楷体_GB2312" panose="02010609030101010101" pitchFamily="49" charset="-122"/>
                <a:ea typeface="楷体_GB2312" panose="02010609030101010101" pitchFamily="49" charset="-122"/>
                <a:cs typeface="+mn-cs"/>
              </a:rPr>
              <a:t> 这种衡量效率的办法所得出的不是时间量，而是一种</a:t>
            </a:r>
            <a:r>
              <a:rPr kumimoji="0" lang="zh-CN" altLang="en-US" sz="2400" b="1" kern="1200" cap="none" spc="0" normalizeH="0" baseline="0" noProof="0">
                <a:solidFill>
                  <a:srgbClr val="FF0000"/>
                </a:solidFill>
                <a:effectLst>
                  <a:outerShdw blurRad="38100" dist="38100" dir="2700000" algn="tl">
                    <a:srgbClr val="C0C0C0"/>
                  </a:outerShdw>
                </a:effectLst>
                <a:latin typeface="楷体_GB2312" panose="02010609030101010101" pitchFamily="49" charset="-122"/>
                <a:ea typeface="楷体_GB2312" panose="02010609030101010101" pitchFamily="49" charset="-122"/>
                <a:cs typeface="+mn-cs"/>
              </a:rPr>
              <a:t>增长趋势的量度</a:t>
            </a:r>
            <a:r>
              <a:rPr kumimoji="0" lang="zh-CN" altLang="en-US" sz="2400" b="1" kern="1200" cap="none" spc="0" normalizeH="0" baseline="0" noProof="0">
                <a:effectLst>
                  <a:outerShdw blurRad="38100" dist="38100" dir="2700000" algn="tl">
                    <a:srgbClr val="C0C0C0"/>
                  </a:outerShdw>
                </a:effectLst>
                <a:latin typeface="楷体_GB2312" panose="02010609030101010101" pitchFamily="49" charset="-122"/>
                <a:ea typeface="楷体_GB2312" panose="02010609030101010101" pitchFamily="49" charset="-122"/>
                <a:cs typeface="+mn-cs"/>
              </a:rPr>
              <a:t>。它与软硬件环境无关，只暴露算法本身执行效率的优劣。</a:t>
            </a:r>
            <a:endParaRPr kumimoji="0" lang="zh-CN" altLang="en-US" sz="2400" b="1" kern="1200" cap="none" spc="0" normalizeH="0" baseline="0" noProof="0">
              <a:effectLst>
                <a:outerShdw blurRad="38100" dist="38100" dir="2700000" algn="tl">
                  <a:srgbClr val="C0C0C0"/>
                </a:outerShdw>
              </a:effectLst>
              <a:latin typeface="楷体_GB2312" panose="02010609030101010101" pitchFamily="49" charset="-122"/>
              <a:ea typeface="楷体_GB2312" panose="02010609030101010101" pitchFamily="49" charset="-122"/>
              <a:cs typeface="+mn-cs"/>
            </a:endParaRPr>
          </a:p>
        </p:txBody>
      </p:sp>
      <p:sp>
        <p:nvSpPr>
          <p:cNvPr id="3" name="日期占位符 2"/>
          <p:cNvSpPr>
            <a:spLocks noGrp="1"/>
          </p:cNvSpPr>
          <p:nvPr>
            <p:ph type="dt" sz="half" idx="10"/>
          </p:nvPr>
        </p:nvSpPr>
        <p:spPr/>
        <p:txBody>
          <a:bodyPr/>
          <a:lstStyle/>
          <a:p>
            <a:r>
              <a:rPr lang="en-US" altLang="zh-CN"/>
              <a:t>Data Structures and algorithms</a:t>
            </a:r>
            <a:endParaRPr lang="zh-CN" altLang="en-US"/>
          </a:p>
        </p:txBody>
      </p:sp>
      <p:sp>
        <p:nvSpPr>
          <p:cNvPr id="4" name="页脚占位符 3"/>
          <p:cNvSpPr>
            <a:spLocks noGrp="1"/>
          </p:cNvSpPr>
          <p:nvPr>
            <p:ph type="ftr" sz="quarter" idx="11"/>
          </p:nvPr>
        </p:nvSpPr>
        <p:spPr/>
        <p:txBody>
          <a:bodyPr/>
          <a:lstStyle/>
          <a:p>
            <a:r>
              <a:rPr lang="en-US" altLang="zh-CN"/>
              <a:t>Software College Northeastern University</a:t>
            </a:r>
            <a:endParaRPr lang="zh-CN" altLang="en-US"/>
          </a:p>
        </p:txBody>
      </p:sp>
      <p:sp>
        <p:nvSpPr>
          <p:cNvPr id="5" name="灯片编号占位符 4"/>
          <p:cNvSpPr>
            <a:spLocks noGrp="1"/>
          </p:cNvSpPr>
          <p:nvPr>
            <p:ph type="sldNum" sz="quarter" idx="12"/>
          </p:nvPr>
        </p:nvSpPr>
        <p:spPr/>
        <p:txBody>
          <a:bodyPr/>
          <a:lstStyle/>
          <a:p>
            <a:fld id="{6E1C0148-8E4B-4B2F-95CE-20B4709700AE}" type="slidenum">
              <a:rPr lang="zh-CN" altLang="en-US" smtClean="0"/>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nodeType="clickEffect">
                                  <p:stCondLst>
                                    <p:cond delay="0"/>
                                  </p:stCondLst>
                                  <p:childTnLst>
                                    <p:set>
                                      <p:cBhvr>
                                        <p:cTn id="6" dur="1" fill="hold">
                                          <p:stCondLst>
                                            <p:cond delay="0"/>
                                          </p:stCondLst>
                                        </p:cTn>
                                        <p:tgtEl>
                                          <p:spTgt spid="667651">
                                            <p:txEl>
                                              <p:pRg st="0" end="0"/>
                                            </p:txEl>
                                          </p:spTgt>
                                        </p:tgtEl>
                                        <p:attrNameLst>
                                          <p:attrName>style.visibility</p:attrName>
                                        </p:attrNameLst>
                                      </p:cBhvr>
                                      <p:to>
                                        <p:strVal val="visible"/>
                                      </p:to>
                                    </p:set>
                                    <p:animEffect transition="in" filter="blinds(vertical)">
                                      <p:cBhvr>
                                        <p:cTn id="7" dur="500"/>
                                        <p:tgtEl>
                                          <p:spTgt spid="66765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nodeType="clickEffect">
                                  <p:stCondLst>
                                    <p:cond delay="0"/>
                                  </p:stCondLst>
                                  <p:childTnLst>
                                    <p:set>
                                      <p:cBhvr>
                                        <p:cTn id="11" dur="1" fill="hold">
                                          <p:stCondLst>
                                            <p:cond delay="0"/>
                                          </p:stCondLst>
                                        </p:cTn>
                                        <p:tgtEl>
                                          <p:spTgt spid="667651">
                                            <p:txEl>
                                              <p:pRg st="1" end="1"/>
                                            </p:txEl>
                                          </p:spTgt>
                                        </p:tgtEl>
                                        <p:attrNameLst>
                                          <p:attrName>style.visibility</p:attrName>
                                        </p:attrNameLst>
                                      </p:cBhvr>
                                      <p:to>
                                        <p:strVal val="visible"/>
                                      </p:to>
                                    </p:set>
                                    <p:animEffect transition="in" filter="blinds(vertical)">
                                      <p:cBhvr>
                                        <p:cTn id="12" dur="500"/>
                                        <p:tgtEl>
                                          <p:spTgt spid="66765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5" fill="hold" nodeType="clickEffect">
                                  <p:stCondLst>
                                    <p:cond delay="0"/>
                                  </p:stCondLst>
                                  <p:childTnLst>
                                    <p:set>
                                      <p:cBhvr>
                                        <p:cTn id="16" dur="1" fill="hold">
                                          <p:stCondLst>
                                            <p:cond delay="0"/>
                                          </p:stCondLst>
                                        </p:cTn>
                                        <p:tgtEl>
                                          <p:spTgt spid="667651">
                                            <p:txEl>
                                              <p:pRg st="2" end="2"/>
                                            </p:txEl>
                                          </p:spTgt>
                                        </p:tgtEl>
                                        <p:attrNameLst>
                                          <p:attrName>style.visibility</p:attrName>
                                        </p:attrNameLst>
                                      </p:cBhvr>
                                      <p:to>
                                        <p:strVal val="visible"/>
                                      </p:to>
                                    </p:set>
                                    <p:animEffect transition="in" filter="blinds(vertical)">
                                      <p:cBhvr>
                                        <p:cTn id="17" dur="500"/>
                                        <p:tgtEl>
                                          <p:spTgt spid="66765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5" fill="hold" nodeType="clickEffect">
                                  <p:stCondLst>
                                    <p:cond delay="0"/>
                                  </p:stCondLst>
                                  <p:childTnLst>
                                    <p:set>
                                      <p:cBhvr>
                                        <p:cTn id="21" dur="1" fill="hold">
                                          <p:stCondLst>
                                            <p:cond delay="0"/>
                                          </p:stCondLst>
                                        </p:cTn>
                                        <p:tgtEl>
                                          <p:spTgt spid="667651">
                                            <p:txEl>
                                              <p:pRg st="3" end="3"/>
                                            </p:txEl>
                                          </p:spTgt>
                                        </p:tgtEl>
                                        <p:attrNameLst>
                                          <p:attrName>style.visibility</p:attrName>
                                        </p:attrNameLst>
                                      </p:cBhvr>
                                      <p:to>
                                        <p:strVal val="visible"/>
                                      </p:to>
                                    </p:set>
                                    <p:animEffect transition="in" filter="blinds(vertical)">
                                      <p:cBhvr>
                                        <p:cTn id="22" dur="500"/>
                                        <p:tgtEl>
                                          <p:spTgt spid="66765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p:cNvSpPr>
          <p:nvPr>
            <p:ph idx="1"/>
          </p:nvPr>
        </p:nvSpPr>
        <p:spPr/>
        <p:txBody>
          <a:bodyPr vert="horz" wrap="square" lIns="91436" tIns="45718" rIns="91436" bIns="45718" anchor="t">
            <a:normAutofit fontScale="92500" lnSpcReduction="10000"/>
          </a:bodyPr>
          <a:lstStyle/>
          <a:p>
            <a:pPr>
              <a:lnSpc>
                <a:spcPct val="90000"/>
              </a:lnSpc>
              <a:buNone/>
            </a:pPr>
            <a:r>
              <a:rPr lang="zh-CN" altLang="en-US" sz="2800" b="1" dirty="0">
                <a:solidFill>
                  <a:srgbClr val="131D45"/>
                </a:solidFill>
                <a:latin typeface="楷体_GB2312" panose="02010609030101010101" pitchFamily="49" charset="-122"/>
                <a:ea typeface="楷体_GB2312" panose="02010609030101010101" pitchFamily="49" charset="-122"/>
              </a:rPr>
              <a:t> （</a:t>
            </a:r>
            <a:r>
              <a:rPr lang="en-US" altLang="zh-CN" sz="2800" b="1" dirty="0">
                <a:solidFill>
                  <a:srgbClr val="131D45"/>
                </a:solidFill>
                <a:latin typeface="楷体_GB2312" panose="02010609030101010101" pitchFamily="49" charset="-122"/>
                <a:ea typeface="楷体_GB2312" panose="02010609030101010101" pitchFamily="49" charset="-122"/>
              </a:rPr>
              <a:t>4</a:t>
            </a:r>
            <a:r>
              <a:rPr lang="zh-CN" altLang="en-US" sz="2800" b="1" dirty="0">
                <a:solidFill>
                  <a:srgbClr val="131D45"/>
                </a:solidFill>
                <a:latin typeface="楷体_GB2312" panose="02010609030101010101" pitchFamily="49" charset="-122"/>
                <a:ea typeface="楷体_GB2312" panose="02010609030101010101" pitchFamily="49" charset="-122"/>
              </a:rPr>
              <a:t>）对于某些算法复杂度 ，不仅与问题的规模有关，而且还与它所处理的数据集的状态有关。因此即使问题规模相同 ，如果输入数据不同 ，其时间开销也不同</a:t>
            </a:r>
            <a:endParaRPr lang="zh-CN" altLang="en-US" sz="2800" b="1" dirty="0">
              <a:solidFill>
                <a:srgbClr val="131D45"/>
              </a:solidFill>
              <a:latin typeface="楷体_GB2312" panose="02010609030101010101" pitchFamily="49" charset="-122"/>
              <a:ea typeface="楷体_GB2312" panose="02010609030101010101" pitchFamily="49" charset="-122"/>
            </a:endParaRPr>
          </a:p>
          <a:p>
            <a:pPr lvl="1">
              <a:lnSpc>
                <a:spcPct val="90000"/>
              </a:lnSpc>
            </a:pPr>
            <a:r>
              <a:rPr lang="zh-CN" altLang="en-US" sz="2400" b="1" dirty="0">
                <a:solidFill>
                  <a:srgbClr val="131D45"/>
                </a:solidFill>
                <a:latin typeface="楷体_GB2312" panose="02010609030101010101" pitchFamily="49" charset="-122"/>
                <a:ea typeface="楷体_GB2312" panose="02010609030101010101" pitchFamily="49" charset="-122"/>
              </a:rPr>
              <a:t>最佳：没兴趣 。发生概率太小，条件考虑太乐观</a:t>
            </a:r>
            <a:endParaRPr lang="zh-CN" altLang="en-US" sz="2400" b="1" dirty="0">
              <a:solidFill>
                <a:srgbClr val="131D45"/>
              </a:solidFill>
              <a:latin typeface="楷体_GB2312" panose="02010609030101010101" pitchFamily="49" charset="-122"/>
              <a:ea typeface="楷体_GB2312" panose="02010609030101010101" pitchFamily="49" charset="-122"/>
            </a:endParaRPr>
          </a:p>
          <a:p>
            <a:pPr lvl="1">
              <a:lnSpc>
                <a:spcPct val="90000"/>
              </a:lnSpc>
            </a:pPr>
            <a:r>
              <a:rPr lang="zh-CN" altLang="en-US" sz="2400" b="1" dirty="0">
                <a:solidFill>
                  <a:srgbClr val="131D45"/>
                </a:solidFill>
                <a:latin typeface="楷体_GB2312" panose="02010609030101010101" pitchFamily="49" charset="-122"/>
                <a:ea typeface="楷体_GB2312" panose="02010609030101010101" pitchFamily="49" charset="-122"/>
              </a:rPr>
              <a:t>最差：知道算法至少能多快。对实时系统尤其重要。</a:t>
            </a:r>
            <a:endParaRPr lang="zh-CN" altLang="en-US" sz="2400" b="1" dirty="0">
              <a:solidFill>
                <a:srgbClr val="131D45"/>
              </a:solidFill>
              <a:latin typeface="楷体_GB2312" panose="02010609030101010101" pitchFamily="49" charset="-122"/>
              <a:ea typeface="楷体_GB2312" panose="02010609030101010101" pitchFamily="49" charset="-122"/>
            </a:endParaRPr>
          </a:p>
          <a:p>
            <a:pPr lvl="1">
              <a:lnSpc>
                <a:spcPct val="90000"/>
              </a:lnSpc>
            </a:pPr>
            <a:r>
              <a:rPr lang="zh-CN" altLang="en-US" sz="2400" b="1" dirty="0">
                <a:solidFill>
                  <a:srgbClr val="131D45"/>
                </a:solidFill>
                <a:latin typeface="楷体_GB2312" panose="02010609030101010101" pitchFamily="49" charset="-122"/>
                <a:ea typeface="楷体_GB2312" panose="02010609030101010101" pitchFamily="49" charset="-122"/>
              </a:rPr>
              <a:t>平均情况： 程序要对许多情况运行多次，通常希望知道平均情况的时间代价。平均情况分析并不总是可行的，它要求我们清楚数据的如何分布。</a:t>
            </a:r>
            <a:endParaRPr lang="zh-CN" altLang="en-US" sz="2400" b="1" dirty="0">
              <a:solidFill>
                <a:srgbClr val="131D45"/>
              </a:solidFill>
              <a:latin typeface="楷体_GB2312" panose="02010609030101010101" pitchFamily="49" charset="-122"/>
              <a:ea typeface="楷体_GB2312" panose="02010609030101010101" pitchFamily="49" charset="-122"/>
            </a:endParaRPr>
          </a:p>
          <a:p>
            <a:pPr>
              <a:lnSpc>
                <a:spcPct val="90000"/>
              </a:lnSpc>
              <a:buNone/>
            </a:pPr>
            <a:r>
              <a:rPr lang="zh-CN" altLang="en-US" sz="2800" b="1" dirty="0">
                <a:solidFill>
                  <a:srgbClr val="131D45"/>
                </a:solidFill>
                <a:latin typeface="楷体_GB2312" panose="02010609030101010101" pitchFamily="49" charset="-122"/>
                <a:ea typeface="楷体_GB2312" panose="02010609030101010101" pitchFamily="49" charset="-122"/>
              </a:rPr>
              <a:t>  总之，在实时系统，</a:t>
            </a:r>
            <a:r>
              <a:rPr lang="zh-CN" altLang="en-US" sz="2800" b="1" dirty="0">
                <a:solidFill>
                  <a:srgbClr val="FF0000"/>
                </a:solidFill>
                <a:latin typeface="楷体_GB2312" panose="02010609030101010101" pitchFamily="49" charset="-122"/>
                <a:ea typeface="楷体_GB2312" panose="02010609030101010101" pitchFamily="49" charset="-122"/>
              </a:rPr>
              <a:t>关注最差情况</a:t>
            </a:r>
            <a:r>
              <a:rPr lang="zh-CN" altLang="en-US" sz="2800" b="1" dirty="0">
                <a:solidFill>
                  <a:srgbClr val="131D45"/>
                </a:solidFill>
                <a:latin typeface="楷体_GB2312" panose="02010609030101010101" pitchFamily="49" charset="-122"/>
                <a:ea typeface="楷体_GB2312" panose="02010609030101010101" pitchFamily="49" charset="-122"/>
              </a:rPr>
              <a:t>。在其他情况，通常考虑平均情况，只要知道计算平均情况所需的输入数据的分部即可。否则，只能求助最差的情况分析。</a:t>
            </a:r>
            <a:endParaRPr lang="zh-CN" altLang="en-US" sz="2800" b="1" dirty="0">
              <a:solidFill>
                <a:srgbClr val="131D45"/>
              </a:solidFill>
              <a:latin typeface="楷体_GB2312" panose="02010609030101010101" pitchFamily="49" charset="-122"/>
              <a:ea typeface="楷体_GB2312" panose="02010609030101010101" pitchFamily="49" charset="-122"/>
            </a:endParaRPr>
          </a:p>
        </p:txBody>
      </p:sp>
      <p:sp>
        <p:nvSpPr>
          <p:cNvPr id="2" name="标题 1"/>
          <p:cNvSpPr>
            <a:spLocks noGrp="1"/>
          </p:cNvSpPr>
          <p:nvPr>
            <p:ph type="title"/>
          </p:nvPr>
        </p:nvSpPr>
        <p:spPr/>
        <p:txBody>
          <a:bodyPr/>
          <a:lstStyle/>
          <a:p>
            <a:endParaRPr lang="zh-CN" altLang="en-US"/>
          </a:p>
        </p:txBody>
      </p:sp>
      <p:sp>
        <p:nvSpPr>
          <p:cNvPr id="3" name="日期占位符 2"/>
          <p:cNvSpPr>
            <a:spLocks noGrp="1"/>
          </p:cNvSpPr>
          <p:nvPr>
            <p:ph type="dt" sz="half" idx="10"/>
          </p:nvPr>
        </p:nvSpPr>
        <p:spPr/>
        <p:txBody>
          <a:bodyPr/>
          <a:lstStyle/>
          <a:p>
            <a:r>
              <a:rPr lang="en-US" altLang="zh-CN"/>
              <a:t>Data Structures and algorithms</a:t>
            </a:r>
            <a:endParaRPr lang="zh-CN" altLang="en-US"/>
          </a:p>
        </p:txBody>
      </p:sp>
      <p:sp>
        <p:nvSpPr>
          <p:cNvPr id="4" name="页脚占位符 3"/>
          <p:cNvSpPr>
            <a:spLocks noGrp="1"/>
          </p:cNvSpPr>
          <p:nvPr>
            <p:ph type="ftr" sz="quarter" idx="11"/>
          </p:nvPr>
        </p:nvSpPr>
        <p:spPr/>
        <p:txBody>
          <a:bodyPr/>
          <a:lstStyle/>
          <a:p>
            <a:r>
              <a:rPr lang="en-US" altLang="zh-CN"/>
              <a:t>Software College Northeastern University</a:t>
            </a:r>
            <a:endParaRPr lang="zh-CN" altLang="en-US"/>
          </a:p>
        </p:txBody>
      </p:sp>
      <p:sp>
        <p:nvSpPr>
          <p:cNvPr id="5" name="灯片编号占位符 4"/>
          <p:cNvSpPr>
            <a:spLocks noGrp="1"/>
          </p:cNvSpPr>
          <p:nvPr>
            <p:ph type="sldNum" sz="quarter" idx="12"/>
          </p:nvPr>
        </p:nvSpPr>
        <p:spPr/>
        <p:txBody>
          <a:bodyPr/>
          <a:lstStyle/>
          <a:p>
            <a:fld id="{6E1C0148-8E4B-4B2F-95CE-20B4709700AE}" type="slidenum">
              <a:rPr lang="zh-CN" altLang="en-US" smtClean="0"/>
            </a:fld>
            <a:endParaRPr lang="zh-CN" altLang="en-US" dirty="0"/>
          </a:p>
        </p:txBody>
      </p:sp>
    </p:spTree>
  </p:cSld>
  <p:clrMapOvr>
    <a:masterClrMapping/>
  </p:clrMapOvr>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8674" name="Rectangle 2"/>
          <p:cNvSpPr>
            <a:spLocks noGrp="1" noChangeArrowheads="1"/>
          </p:cNvSpPr>
          <p:nvPr>
            <p:ph type="title" idx="4294967295"/>
          </p:nvPr>
        </p:nvSpPr>
        <p:spPr>
          <a:xfrm>
            <a:off x="1866900" y="195263"/>
            <a:ext cx="7277100" cy="560387"/>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ctr" anchorCtr="0" compatLnSpc="1">
            <a:normAutofit fontScale="90000"/>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3600" b="1" i="0" u="none" strike="noStrike" kern="0" cap="none" spc="0" normalizeH="0" baseline="0" noProof="0">
                <a:ln>
                  <a:noFill/>
                </a:ln>
                <a:solidFill>
                  <a:schemeClr val="tx2"/>
                </a:solidFill>
                <a:effectLst>
                  <a:outerShdw blurRad="38100" dist="38100" dir="2700000" algn="tl">
                    <a:srgbClr val="C0C0C0"/>
                  </a:outerShdw>
                </a:effectLst>
                <a:uLnTx/>
                <a:uFillTx/>
                <a:latin typeface="Times New Roman" panose="02020603050405020304" pitchFamily="18" charset="0"/>
                <a:ea typeface="黑体" panose="02010609060101010101" pitchFamily="2" charset="-122"/>
                <a:cs typeface="+mj-cs"/>
              </a:rPr>
              <a:t>【</a:t>
            </a:r>
            <a:r>
              <a:rPr kumimoji="1" lang="zh-CN" altLang="en-US" sz="3600" b="1" i="0" u="none" strike="noStrike" kern="0" cap="none" spc="0" normalizeH="0" baseline="0" noProof="0">
                <a:ln>
                  <a:noFill/>
                </a:ln>
                <a:solidFill>
                  <a:schemeClr val="tx2"/>
                </a:solidFill>
                <a:effectLst>
                  <a:outerShdw blurRad="38100" dist="38100" dir="2700000" algn="tl">
                    <a:srgbClr val="C0C0C0"/>
                  </a:outerShdw>
                </a:effectLst>
                <a:uLnTx/>
                <a:uFillTx/>
                <a:latin typeface="Times New Roman" panose="02020603050405020304" pitchFamily="18" charset="0"/>
                <a:ea typeface="黑体" panose="02010609060101010101" pitchFamily="2" charset="-122"/>
                <a:cs typeface="+mj-cs"/>
              </a:rPr>
              <a:t>课堂练习</a:t>
            </a:r>
            <a:r>
              <a:rPr kumimoji="1" lang="en-US" altLang="zh-CN" sz="3600" b="1" i="0" u="none" strike="noStrike" kern="0" cap="none" spc="0" normalizeH="0" baseline="0" noProof="0">
                <a:ln>
                  <a:noFill/>
                </a:ln>
                <a:solidFill>
                  <a:schemeClr val="tx2"/>
                </a:solidFill>
                <a:effectLst>
                  <a:outerShdw blurRad="38100" dist="38100" dir="2700000" algn="tl">
                    <a:srgbClr val="C0C0C0"/>
                  </a:outerShdw>
                </a:effectLst>
                <a:uLnTx/>
                <a:uFillTx/>
                <a:latin typeface="Times New Roman" panose="02020603050405020304" pitchFamily="18" charset="0"/>
                <a:ea typeface="黑体" panose="02010609060101010101" pitchFamily="2" charset="-122"/>
                <a:cs typeface="+mj-cs"/>
              </a:rPr>
              <a:t>】</a:t>
            </a:r>
            <a:r>
              <a:rPr kumimoji="1" lang="zh-CN" altLang="en-US" sz="3600" b="1" i="0" u="none" strike="noStrike" kern="0" cap="none" spc="0" normalizeH="0" baseline="0" noProof="0">
                <a:ln>
                  <a:noFill/>
                </a:ln>
                <a:solidFill>
                  <a:schemeClr val="tx2"/>
                </a:solidFill>
                <a:effectLst>
                  <a:outerShdw blurRad="38100" dist="38100" dir="2700000" algn="tl">
                    <a:srgbClr val="C0C0C0"/>
                  </a:outerShdw>
                </a:effectLst>
                <a:uLnTx/>
                <a:uFillTx/>
                <a:latin typeface="Times New Roman" panose="02020603050405020304" pitchFamily="18" charset="0"/>
                <a:ea typeface="黑体" panose="02010609060101010101" pitchFamily="2" charset="-122"/>
                <a:cs typeface="+mj-cs"/>
              </a:rPr>
              <a:t>渐进时间复杂度分析</a:t>
            </a:r>
            <a:endParaRPr kumimoji="1" lang="zh-CN" altLang="en-US" sz="3600" b="1" i="0" u="none" strike="noStrike" kern="0" cap="none" spc="0" normalizeH="0" baseline="0" noProof="0">
              <a:ln>
                <a:noFill/>
              </a:ln>
              <a:solidFill>
                <a:schemeClr val="tx2"/>
              </a:solidFill>
              <a:effectLst>
                <a:outerShdw blurRad="38100" dist="38100" dir="2700000" algn="tl">
                  <a:srgbClr val="C0C0C0"/>
                </a:outerShdw>
              </a:effectLst>
              <a:uLnTx/>
              <a:uFillTx/>
              <a:latin typeface="Times New Roman" panose="02020603050405020304" pitchFamily="18" charset="0"/>
              <a:ea typeface="黑体" panose="02010609060101010101" pitchFamily="2" charset="-122"/>
              <a:cs typeface="+mj-cs"/>
            </a:endParaRPr>
          </a:p>
        </p:txBody>
      </p:sp>
      <p:sp>
        <p:nvSpPr>
          <p:cNvPr id="668675" name="Text Box 3"/>
          <p:cNvSpPr txBox="1">
            <a:spLocks noChangeArrowheads="1"/>
          </p:cNvSpPr>
          <p:nvPr/>
        </p:nvSpPr>
        <p:spPr bwMode="auto">
          <a:xfrm>
            <a:off x="395288" y="1412875"/>
            <a:ext cx="4681538" cy="647700"/>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R="0" defTabSz="914400">
              <a:lnSpc>
                <a:spcPct val="130000"/>
              </a:lnSpc>
              <a:buClr>
                <a:schemeClr val="accent1"/>
              </a:buClr>
              <a:buSzTx/>
              <a:buFont typeface="Wingdings" panose="05000000000000000000" pitchFamily="2" charset="2"/>
              <a:buChar char="u"/>
              <a:defRPr/>
            </a:pPr>
            <a:r>
              <a:rPr kumimoji="0" lang="zh-CN" altLang="en-US" sz="2800" b="1" kern="1200" cap="none" spc="0" normalizeH="0" baseline="0" noProof="0">
                <a:effectLst>
                  <a:outerShdw blurRad="38100" dist="38100" dir="2700000" algn="tl">
                    <a:srgbClr val="FFFFFF"/>
                  </a:outerShdw>
                </a:effectLst>
                <a:latin typeface="Times New Roman" panose="02020603050405020304" pitchFamily="18" charset="0"/>
                <a:ea typeface="黑体" panose="02010609060101010101" pitchFamily="2" charset="-122"/>
                <a:cs typeface="+mn-cs"/>
              </a:rPr>
              <a:t> </a:t>
            </a:r>
            <a:r>
              <a:rPr kumimoji="0" lang="zh-CN" altLang="en-US" sz="2800" b="1" kern="1200" cap="none" spc="0" normalizeH="0" baseline="0" noProof="0">
                <a:effectLst>
                  <a:outerShdw blurRad="38100" dist="38100" dir="2700000" algn="tl">
                    <a:srgbClr val="FFFFFF"/>
                  </a:outerShdw>
                </a:effectLst>
                <a:latin typeface="Times New Roman" panose="02020603050405020304" pitchFamily="18" charset="0"/>
                <a:ea typeface="楷体_GB2312" panose="02010609030101010101" pitchFamily="49" charset="-122"/>
                <a:cs typeface="+mn-cs"/>
              </a:rPr>
              <a:t>练习</a:t>
            </a:r>
            <a:r>
              <a:rPr kumimoji="0" lang="en-US" altLang="zh-CN" sz="2800" b="1" kern="1200" cap="none" spc="0" normalizeH="0" baseline="0" noProof="0">
                <a:effectLst>
                  <a:outerShdw blurRad="38100" dist="38100" dir="2700000" algn="tl">
                    <a:srgbClr val="FFFFFF"/>
                  </a:outerShdw>
                </a:effectLst>
                <a:latin typeface="Times New Roman" panose="02020603050405020304" pitchFamily="18" charset="0"/>
                <a:ea typeface="黑体" panose="02010609060101010101" pitchFamily="2" charset="-122"/>
                <a:cs typeface="+mn-cs"/>
              </a:rPr>
              <a:t>1   </a:t>
            </a:r>
            <a:r>
              <a:rPr kumimoji="0" lang="en-US" altLang="zh-CN" sz="2800" b="1" kern="1200" cap="none" spc="0" normalizeH="0" baseline="0" noProof="0">
                <a:solidFill>
                  <a:srgbClr val="FF0000"/>
                </a:solidFill>
                <a:effectLst>
                  <a:outerShdw blurRad="38100" dist="38100" dir="2700000" algn="tl">
                    <a:srgbClr val="000000"/>
                  </a:outerShdw>
                </a:effectLst>
                <a:latin typeface="Times New Roman" panose="02020603050405020304" pitchFamily="18" charset="0"/>
                <a:ea typeface="黑体" panose="02010609060101010101" pitchFamily="2" charset="-122"/>
                <a:cs typeface="+mn-cs"/>
              </a:rPr>
              <a:t>x++;</a:t>
            </a:r>
            <a:endParaRPr kumimoji="0" lang="en-US" altLang="zh-CN" sz="2800" b="1" kern="1200" cap="none" spc="0" normalizeH="0" baseline="0" noProof="0">
              <a:solidFill>
                <a:srgbClr val="FF0000"/>
              </a:solidFill>
              <a:effectLst>
                <a:outerShdw blurRad="38100" dist="38100" dir="2700000" algn="tl">
                  <a:srgbClr val="000000"/>
                </a:outerShdw>
              </a:effectLst>
              <a:latin typeface="Times New Roman" panose="02020603050405020304" pitchFamily="18" charset="0"/>
              <a:ea typeface="黑体" panose="02010609060101010101" pitchFamily="2" charset="-122"/>
              <a:cs typeface="+mn-cs"/>
            </a:endParaRPr>
          </a:p>
        </p:txBody>
      </p:sp>
      <p:sp>
        <p:nvSpPr>
          <p:cNvPr id="668676" name="Text Box 4"/>
          <p:cNvSpPr txBox="1">
            <a:spLocks noChangeArrowheads="1"/>
          </p:cNvSpPr>
          <p:nvPr/>
        </p:nvSpPr>
        <p:spPr bwMode="auto">
          <a:xfrm>
            <a:off x="6227763" y="1412875"/>
            <a:ext cx="1368425" cy="647700"/>
          </a:xfrm>
          <a:prstGeom prst="rect">
            <a:avLst/>
          </a:prstGeom>
          <a:solidFill>
            <a:srgbClr val="9933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R="0" algn="ctr" defTabSz="914400">
              <a:lnSpc>
                <a:spcPct val="130000"/>
              </a:lnSpc>
              <a:buClr>
                <a:schemeClr val="folHlink"/>
              </a:buClr>
              <a:buSzTx/>
              <a:buFont typeface="Wingdings" panose="05000000000000000000" pitchFamily="2" charset="2"/>
              <a:buNone/>
              <a:defRPr/>
            </a:pPr>
            <a:r>
              <a:rPr kumimoji="0" lang="en-US" altLang="zh-CN" sz="2800" b="1" kern="1200" cap="none" spc="0" normalizeH="0" baseline="0" noProof="0">
                <a:solidFill>
                  <a:schemeClr val="bg1"/>
                </a:solidFill>
                <a:effectLst>
                  <a:outerShdw blurRad="38100" dist="38100" dir="2700000" algn="tl">
                    <a:srgbClr val="000000"/>
                  </a:outerShdw>
                </a:effectLst>
                <a:latin typeface="Times New Roman" panose="02020603050405020304" pitchFamily="18" charset="0"/>
                <a:ea typeface="黑体" panose="02010609060101010101" pitchFamily="2" charset="-122"/>
                <a:cs typeface="+mn-cs"/>
              </a:rPr>
              <a:t>O(1)</a:t>
            </a:r>
            <a:endParaRPr kumimoji="0" lang="en-US" altLang="zh-CN" sz="2800" b="1" kern="1200" cap="none" spc="0" normalizeH="0" baseline="0" noProof="0">
              <a:solidFill>
                <a:schemeClr val="bg1"/>
              </a:solidFill>
              <a:effectLst>
                <a:outerShdw blurRad="38100" dist="38100" dir="2700000" algn="tl">
                  <a:srgbClr val="000000"/>
                </a:outerShdw>
              </a:effectLst>
              <a:latin typeface="Times New Roman" panose="02020603050405020304" pitchFamily="18" charset="0"/>
              <a:ea typeface="黑体" panose="02010609060101010101" pitchFamily="2" charset="-122"/>
              <a:cs typeface="+mn-cs"/>
            </a:endParaRPr>
          </a:p>
        </p:txBody>
      </p:sp>
      <p:sp>
        <p:nvSpPr>
          <p:cNvPr id="668677" name="Text Box 5"/>
          <p:cNvSpPr txBox="1">
            <a:spLocks noChangeArrowheads="1"/>
          </p:cNvSpPr>
          <p:nvPr/>
        </p:nvSpPr>
        <p:spPr bwMode="auto">
          <a:xfrm>
            <a:off x="395288" y="2565400"/>
            <a:ext cx="4752975" cy="1203325"/>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R="0" defTabSz="914400">
              <a:lnSpc>
                <a:spcPct val="130000"/>
              </a:lnSpc>
              <a:buClr>
                <a:schemeClr val="accent1"/>
              </a:buClr>
              <a:buSzTx/>
              <a:buFont typeface="Wingdings" panose="05000000000000000000" pitchFamily="2" charset="2"/>
              <a:buChar char="u"/>
              <a:defRPr/>
            </a:pPr>
            <a:r>
              <a:rPr kumimoji="0" lang="zh-CN" altLang="en-US" sz="2800" b="1" kern="1200" cap="none" spc="0" normalizeH="0" baseline="0" noProof="0">
                <a:effectLst>
                  <a:outerShdw blurRad="38100" dist="38100" dir="2700000" algn="tl">
                    <a:srgbClr val="FFFFFF"/>
                  </a:outerShdw>
                </a:effectLst>
                <a:latin typeface="Times New Roman" panose="02020603050405020304" pitchFamily="18" charset="0"/>
                <a:ea typeface="黑体" panose="02010609060101010101" pitchFamily="2" charset="-122"/>
                <a:cs typeface="+mn-cs"/>
              </a:rPr>
              <a:t> </a:t>
            </a:r>
            <a:r>
              <a:rPr kumimoji="0" lang="zh-CN" altLang="en-US" sz="2800" b="1" kern="1200" cap="none" spc="0" normalizeH="0" baseline="0" noProof="0">
                <a:effectLst>
                  <a:outerShdw blurRad="38100" dist="38100" dir="2700000" algn="tl">
                    <a:srgbClr val="FFFFFF"/>
                  </a:outerShdw>
                </a:effectLst>
                <a:latin typeface="Times New Roman" panose="02020603050405020304" pitchFamily="18" charset="0"/>
                <a:ea typeface="楷体_GB2312" panose="02010609030101010101" pitchFamily="49" charset="-122"/>
                <a:cs typeface="+mn-cs"/>
              </a:rPr>
              <a:t>练习</a:t>
            </a:r>
            <a:r>
              <a:rPr kumimoji="0" lang="en-US" altLang="zh-CN" sz="2800" b="1" kern="1200" cap="none" spc="0" normalizeH="0" baseline="0" noProof="0">
                <a:effectLst>
                  <a:outerShdw blurRad="38100" dist="38100" dir="2700000" algn="tl">
                    <a:srgbClr val="FFFFFF"/>
                  </a:outerShdw>
                </a:effectLst>
                <a:latin typeface="Times New Roman" panose="02020603050405020304" pitchFamily="18" charset="0"/>
                <a:ea typeface="黑体" panose="02010609060101010101" pitchFamily="2" charset="-122"/>
                <a:cs typeface="+mn-cs"/>
              </a:rPr>
              <a:t>2   for(i=0;i&lt;n;i++)</a:t>
            </a:r>
            <a:endParaRPr kumimoji="0" lang="en-US" altLang="zh-CN" sz="2800" b="1" kern="1200" cap="none" spc="0" normalizeH="0" baseline="0" noProof="0">
              <a:effectLst>
                <a:outerShdw blurRad="38100" dist="38100" dir="2700000" algn="tl">
                  <a:srgbClr val="FFFFFF"/>
                </a:outerShdw>
              </a:effectLst>
              <a:latin typeface="Times New Roman" panose="02020603050405020304" pitchFamily="18" charset="0"/>
              <a:ea typeface="黑体" panose="02010609060101010101" pitchFamily="2" charset="-122"/>
              <a:cs typeface="+mn-cs"/>
            </a:endParaRPr>
          </a:p>
          <a:p>
            <a:pPr marR="0" defTabSz="914400">
              <a:lnSpc>
                <a:spcPct val="130000"/>
              </a:lnSpc>
              <a:buClr>
                <a:schemeClr val="folHlink"/>
              </a:buClr>
              <a:buSzTx/>
              <a:buFont typeface="Wingdings" panose="05000000000000000000" pitchFamily="2" charset="2"/>
              <a:buNone/>
              <a:defRPr/>
            </a:pPr>
            <a:r>
              <a:rPr kumimoji="0" lang="en-US" altLang="zh-CN" sz="2800" b="1" kern="1200" cap="none" spc="0" normalizeH="0" baseline="0" noProof="0">
                <a:effectLst>
                  <a:outerShdw blurRad="38100" dist="38100" dir="2700000" algn="tl">
                    <a:srgbClr val="FFFFFF"/>
                  </a:outerShdw>
                </a:effectLst>
                <a:latin typeface="Times New Roman" panose="02020603050405020304" pitchFamily="18" charset="0"/>
                <a:ea typeface="黑体" panose="02010609060101010101" pitchFamily="2" charset="-122"/>
                <a:cs typeface="+mn-cs"/>
              </a:rPr>
              <a:t>                	    </a:t>
            </a:r>
            <a:r>
              <a:rPr kumimoji="0" lang="en-US" altLang="zh-CN" sz="2800" b="1" kern="1200" cap="none" spc="0" normalizeH="0" baseline="0" noProof="0">
                <a:solidFill>
                  <a:srgbClr val="FF0000"/>
                </a:solidFill>
                <a:effectLst>
                  <a:outerShdw blurRad="38100" dist="38100" dir="2700000" algn="tl">
                    <a:srgbClr val="000000"/>
                  </a:outerShdw>
                </a:effectLst>
                <a:latin typeface="Times New Roman" panose="02020603050405020304" pitchFamily="18" charset="0"/>
                <a:ea typeface="黑体" panose="02010609060101010101" pitchFamily="2" charset="-122"/>
                <a:cs typeface="+mn-cs"/>
              </a:rPr>
              <a:t>x++;</a:t>
            </a:r>
            <a:endParaRPr kumimoji="0" lang="en-US" altLang="zh-CN" sz="2800" b="1" kern="1200" cap="none" spc="0" normalizeH="0" baseline="0" noProof="0">
              <a:solidFill>
                <a:srgbClr val="FF0000"/>
              </a:solidFill>
              <a:effectLst>
                <a:outerShdw blurRad="38100" dist="38100" dir="2700000" algn="tl">
                  <a:srgbClr val="000000"/>
                </a:outerShdw>
              </a:effectLst>
              <a:latin typeface="Times New Roman" panose="02020603050405020304" pitchFamily="18" charset="0"/>
              <a:ea typeface="黑体" panose="02010609060101010101" pitchFamily="2" charset="-122"/>
              <a:cs typeface="+mn-cs"/>
            </a:endParaRPr>
          </a:p>
        </p:txBody>
      </p:sp>
      <p:sp>
        <p:nvSpPr>
          <p:cNvPr id="668678" name="Text Box 6"/>
          <p:cNvSpPr txBox="1">
            <a:spLocks noChangeArrowheads="1"/>
          </p:cNvSpPr>
          <p:nvPr/>
        </p:nvSpPr>
        <p:spPr bwMode="auto">
          <a:xfrm>
            <a:off x="6227763" y="2925763"/>
            <a:ext cx="1368425" cy="647700"/>
          </a:xfrm>
          <a:prstGeom prst="rect">
            <a:avLst/>
          </a:prstGeom>
          <a:solidFill>
            <a:srgbClr val="9933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R="0" algn="ctr" defTabSz="914400">
              <a:lnSpc>
                <a:spcPct val="130000"/>
              </a:lnSpc>
              <a:buClr>
                <a:schemeClr val="folHlink"/>
              </a:buClr>
              <a:buSzTx/>
              <a:buFont typeface="Wingdings" panose="05000000000000000000" pitchFamily="2" charset="2"/>
              <a:buNone/>
              <a:defRPr/>
            </a:pPr>
            <a:r>
              <a:rPr kumimoji="0" lang="en-US" altLang="zh-CN" sz="2400" b="1" kern="1200" cap="none" spc="0" normalizeH="0" baseline="0" noProof="0">
                <a:solidFill>
                  <a:schemeClr val="bg1"/>
                </a:solidFill>
                <a:effectLst>
                  <a:outerShdw blurRad="38100" dist="38100" dir="2700000" algn="tl">
                    <a:srgbClr val="000000"/>
                  </a:outerShdw>
                </a:effectLst>
                <a:latin typeface="Times New Roman" panose="02020603050405020304" pitchFamily="18" charset="0"/>
                <a:ea typeface="楷体_GB2312" panose="02010609030101010101" pitchFamily="49" charset="-122"/>
                <a:cs typeface="+mn-cs"/>
              </a:rPr>
              <a:t>O</a:t>
            </a:r>
            <a:r>
              <a:rPr kumimoji="0" lang="en-US" altLang="zh-CN" sz="2800" b="1" kern="1200" cap="none" spc="0" normalizeH="0" baseline="0" noProof="0">
                <a:solidFill>
                  <a:schemeClr val="bg1"/>
                </a:solidFill>
                <a:effectLst>
                  <a:outerShdw blurRad="38100" dist="38100" dir="2700000" algn="tl">
                    <a:srgbClr val="000000"/>
                  </a:outerShdw>
                </a:effectLst>
                <a:latin typeface="Times New Roman" panose="02020603050405020304" pitchFamily="18" charset="0"/>
                <a:ea typeface="黑体" panose="02010609060101010101" pitchFamily="2" charset="-122"/>
                <a:cs typeface="+mn-cs"/>
              </a:rPr>
              <a:t>(n)   </a:t>
            </a:r>
            <a:endParaRPr kumimoji="0" lang="en-US" altLang="zh-CN" sz="2800" b="1" kern="1200" cap="none" spc="0" normalizeH="0" baseline="0" noProof="0">
              <a:solidFill>
                <a:schemeClr val="bg1"/>
              </a:solidFill>
              <a:effectLst>
                <a:outerShdw blurRad="38100" dist="38100" dir="2700000" algn="tl">
                  <a:srgbClr val="000000"/>
                </a:outerShdw>
              </a:effectLst>
              <a:latin typeface="Times New Roman" panose="02020603050405020304" pitchFamily="18" charset="0"/>
              <a:ea typeface="黑体" panose="02010609060101010101" pitchFamily="2" charset="-122"/>
              <a:cs typeface="+mn-cs"/>
            </a:endParaRPr>
          </a:p>
        </p:txBody>
      </p:sp>
      <p:sp>
        <p:nvSpPr>
          <p:cNvPr id="668679" name="Text Box 7"/>
          <p:cNvSpPr txBox="1">
            <a:spLocks noChangeArrowheads="1"/>
          </p:cNvSpPr>
          <p:nvPr/>
        </p:nvSpPr>
        <p:spPr bwMode="auto">
          <a:xfrm>
            <a:off x="395288" y="4333875"/>
            <a:ext cx="4824413" cy="1758950"/>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R="0" defTabSz="914400">
              <a:lnSpc>
                <a:spcPct val="130000"/>
              </a:lnSpc>
              <a:buClr>
                <a:schemeClr val="accent1"/>
              </a:buClr>
              <a:buSzTx/>
              <a:buFont typeface="Wingdings" panose="05000000000000000000" pitchFamily="2" charset="2"/>
              <a:buChar char="u"/>
              <a:defRPr/>
            </a:pPr>
            <a:r>
              <a:rPr kumimoji="0" lang="zh-CN" altLang="en-US" sz="2800" b="1" kern="1200" cap="none" spc="0" normalizeH="0" baseline="0" noProof="0">
                <a:effectLst>
                  <a:outerShdw blurRad="38100" dist="38100" dir="2700000" algn="tl">
                    <a:srgbClr val="FFFFFF"/>
                  </a:outerShdw>
                </a:effectLst>
                <a:latin typeface="Times New Roman" panose="02020603050405020304" pitchFamily="18" charset="0"/>
                <a:ea typeface="黑体" panose="02010609060101010101" pitchFamily="2" charset="-122"/>
                <a:cs typeface="+mn-cs"/>
              </a:rPr>
              <a:t> </a:t>
            </a:r>
            <a:r>
              <a:rPr kumimoji="0" lang="zh-CN" altLang="en-US" sz="2800" b="1" kern="1200" cap="none" spc="0" normalizeH="0" baseline="0" noProof="0">
                <a:effectLst>
                  <a:outerShdw blurRad="38100" dist="38100" dir="2700000" algn="tl">
                    <a:srgbClr val="FFFFFF"/>
                  </a:outerShdw>
                </a:effectLst>
                <a:latin typeface="Times New Roman" panose="02020603050405020304" pitchFamily="18" charset="0"/>
                <a:ea typeface="楷体_GB2312" panose="02010609030101010101" pitchFamily="49" charset="-122"/>
                <a:cs typeface="+mn-cs"/>
              </a:rPr>
              <a:t>练习</a:t>
            </a:r>
            <a:r>
              <a:rPr kumimoji="0" lang="en-US" altLang="zh-CN" sz="2800" b="1" kern="1200" cap="none" spc="0" normalizeH="0" baseline="0" noProof="0">
                <a:effectLst>
                  <a:outerShdw blurRad="38100" dist="38100" dir="2700000" algn="tl">
                    <a:srgbClr val="FFFFFF"/>
                  </a:outerShdw>
                </a:effectLst>
                <a:latin typeface="Times New Roman" panose="02020603050405020304" pitchFamily="18" charset="0"/>
                <a:ea typeface="黑体" panose="02010609060101010101" pitchFamily="2" charset="-122"/>
                <a:cs typeface="+mn-cs"/>
              </a:rPr>
              <a:t>3  for(i=0;i&lt;n;i++)</a:t>
            </a:r>
            <a:endParaRPr kumimoji="0" lang="en-US" altLang="zh-CN" sz="2800" b="1" kern="1200" cap="none" spc="0" normalizeH="0" baseline="0" noProof="0">
              <a:effectLst>
                <a:outerShdw blurRad="38100" dist="38100" dir="2700000" algn="tl">
                  <a:srgbClr val="FFFFFF"/>
                </a:outerShdw>
              </a:effectLst>
              <a:latin typeface="Times New Roman" panose="02020603050405020304" pitchFamily="18" charset="0"/>
              <a:ea typeface="黑体" panose="02010609060101010101" pitchFamily="2" charset="-122"/>
              <a:cs typeface="+mn-cs"/>
            </a:endParaRPr>
          </a:p>
          <a:p>
            <a:pPr marR="0" defTabSz="914400">
              <a:lnSpc>
                <a:spcPct val="130000"/>
              </a:lnSpc>
              <a:buClr>
                <a:schemeClr val="folHlink"/>
              </a:buClr>
              <a:buSzTx/>
              <a:buFont typeface="Wingdings" panose="05000000000000000000" pitchFamily="2" charset="2"/>
              <a:buNone/>
              <a:defRPr/>
            </a:pPr>
            <a:r>
              <a:rPr kumimoji="0" lang="en-US" altLang="zh-CN" sz="2800" b="1" kern="1200" cap="none" spc="0" normalizeH="0" baseline="0" noProof="0">
                <a:effectLst>
                  <a:outerShdw blurRad="38100" dist="38100" dir="2700000" algn="tl">
                    <a:srgbClr val="FFFFFF"/>
                  </a:outerShdw>
                </a:effectLst>
                <a:latin typeface="Times New Roman" panose="02020603050405020304" pitchFamily="18" charset="0"/>
                <a:ea typeface="黑体" panose="02010609060101010101" pitchFamily="2" charset="-122"/>
                <a:cs typeface="+mn-cs"/>
              </a:rPr>
              <a:t>                	for(j=0;j&lt;n;i++)</a:t>
            </a:r>
            <a:endParaRPr kumimoji="0" lang="en-US" altLang="zh-CN" sz="2800" b="1" kern="1200" cap="none" spc="0" normalizeH="0" baseline="0" noProof="0">
              <a:effectLst>
                <a:outerShdw blurRad="38100" dist="38100" dir="2700000" algn="tl">
                  <a:srgbClr val="FFFFFF"/>
                </a:outerShdw>
              </a:effectLst>
              <a:latin typeface="Times New Roman" panose="02020603050405020304" pitchFamily="18" charset="0"/>
              <a:ea typeface="黑体" panose="02010609060101010101" pitchFamily="2" charset="-122"/>
              <a:cs typeface="+mn-cs"/>
            </a:endParaRPr>
          </a:p>
          <a:p>
            <a:pPr marR="0" defTabSz="914400">
              <a:lnSpc>
                <a:spcPct val="130000"/>
              </a:lnSpc>
              <a:buClr>
                <a:schemeClr val="folHlink"/>
              </a:buClr>
              <a:buSzTx/>
              <a:buFont typeface="Wingdings" panose="05000000000000000000" pitchFamily="2" charset="2"/>
              <a:buNone/>
              <a:defRPr/>
            </a:pPr>
            <a:r>
              <a:rPr kumimoji="0" lang="en-US" altLang="zh-CN" sz="2800" b="1" kern="1200" cap="none" spc="0" normalizeH="0" baseline="0" noProof="0">
                <a:effectLst>
                  <a:outerShdw blurRad="38100" dist="38100" dir="2700000" algn="tl">
                    <a:srgbClr val="FFFFFF"/>
                  </a:outerShdw>
                </a:effectLst>
                <a:latin typeface="Times New Roman" panose="02020603050405020304" pitchFamily="18" charset="0"/>
                <a:ea typeface="黑体" panose="02010609060101010101" pitchFamily="2" charset="-122"/>
                <a:cs typeface="+mn-cs"/>
              </a:rPr>
              <a:t>	                    </a:t>
            </a:r>
            <a:r>
              <a:rPr kumimoji="0" lang="en-US" altLang="zh-CN" sz="2800" b="1" kern="1200" cap="none" spc="0" normalizeH="0" baseline="0" noProof="0">
                <a:solidFill>
                  <a:srgbClr val="FF0000"/>
                </a:solidFill>
                <a:effectLst>
                  <a:outerShdw blurRad="38100" dist="38100" dir="2700000" algn="tl">
                    <a:srgbClr val="000000"/>
                  </a:outerShdw>
                </a:effectLst>
                <a:latin typeface="Times New Roman" panose="02020603050405020304" pitchFamily="18" charset="0"/>
                <a:ea typeface="黑体" panose="02010609060101010101" pitchFamily="2" charset="-122"/>
                <a:cs typeface="+mn-cs"/>
              </a:rPr>
              <a:t>x++;</a:t>
            </a:r>
            <a:endParaRPr kumimoji="0" lang="en-US" altLang="zh-CN" sz="2800" b="1" kern="1200" cap="none" spc="0" normalizeH="0" baseline="0" noProof="0">
              <a:solidFill>
                <a:srgbClr val="FF0000"/>
              </a:solidFill>
              <a:effectLst>
                <a:outerShdw blurRad="38100" dist="38100" dir="2700000" algn="tl">
                  <a:srgbClr val="000000"/>
                </a:outerShdw>
              </a:effectLst>
              <a:latin typeface="Times New Roman" panose="02020603050405020304" pitchFamily="18" charset="0"/>
              <a:ea typeface="黑体" panose="02010609060101010101" pitchFamily="2" charset="-122"/>
              <a:cs typeface="+mn-cs"/>
            </a:endParaRPr>
          </a:p>
        </p:txBody>
      </p:sp>
      <p:sp>
        <p:nvSpPr>
          <p:cNvPr id="668680" name="Text Box 8"/>
          <p:cNvSpPr txBox="1">
            <a:spLocks noChangeArrowheads="1"/>
          </p:cNvSpPr>
          <p:nvPr/>
        </p:nvSpPr>
        <p:spPr bwMode="auto">
          <a:xfrm>
            <a:off x="6227763" y="4868863"/>
            <a:ext cx="1439863" cy="647700"/>
          </a:xfrm>
          <a:prstGeom prst="rect">
            <a:avLst/>
          </a:prstGeom>
          <a:solidFill>
            <a:srgbClr val="9933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R="0" algn="ctr" defTabSz="914400">
              <a:lnSpc>
                <a:spcPct val="130000"/>
              </a:lnSpc>
              <a:buClr>
                <a:schemeClr val="folHlink"/>
              </a:buClr>
              <a:buSzTx/>
              <a:buFont typeface="Wingdings" panose="05000000000000000000" pitchFamily="2" charset="2"/>
              <a:buNone/>
              <a:defRPr/>
            </a:pPr>
            <a:r>
              <a:rPr kumimoji="0" lang="en-US" altLang="zh-CN" sz="2800" b="1" kern="1200" cap="none" spc="0" normalizeH="0" baseline="0" noProof="0">
                <a:solidFill>
                  <a:schemeClr val="bg1"/>
                </a:solidFill>
                <a:effectLst>
                  <a:outerShdw blurRad="38100" dist="38100" dir="2700000" algn="tl">
                    <a:srgbClr val="000000"/>
                  </a:outerShdw>
                </a:effectLst>
                <a:latin typeface="Times New Roman" panose="02020603050405020304" pitchFamily="18" charset="0"/>
                <a:ea typeface="黑体" panose="02010609060101010101" pitchFamily="2" charset="-122"/>
                <a:cs typeface="+mn-cs"/>
              </a:rPr>
              <a:t>O(n</a:t>
            </a:r>
            <a:r>
              <a:rPr kumimoji="0" lang="en-US" altLang="zh-CN" sz="2800" b="1" kern="1200" cap="none" spc="0" normalizeH="0" baseline="30000" noProof="0">
                <a:solidFill>
                  <a:schemeClr val="bg1"/>
                </a:solidFill>
                <a:effectLst>
                  <a:outerShdw blurRad="38100" dist="38100" dir="2700000" algn="tl">
                    <a:srgbClr val="000000"/>
                  </a:outerShdw>
                </a:effectLst>
                <a:latin typeface="Times New Roman" panose="02020603050405020304" pitchFamily="18" charset="0"/>
                <a:ea typeface="黑体" panose="02010609060101010101" pitchFamily="2" charset="-122"/>
                <a:cs typeface="+mn-cs"/>
              </a:rPr>
              <a:t>2</a:t>
            </a:r>
            <a:r>
              <a:rPr kumimoji="0" lang="en-US" altLang="zh-CN" sz="2800" b="1" kern="1200" cap="none" spc="0" normalizeH="0" baseline="0" noProof="0">
                <a:solidFill>
                  <a:schemeClr val="bg1"/>
                </a:solidFill>
                <a:effectLst>
                  <a:outerShdw blurRad="38100" dist="38100" dir="2700000" algn="tl">
                    <a:srgbClr val="000000"/>
                  </a:outerShdw>
                </a:effectLst>
                <a:latin typeface="Times New Roman" panose="02020603050405020304" pitchFamily="18" charset="0"/>
                <a:ea typeface="黑体" panose="02010609060101010101" pitchFamily="2" charset="-122"/>
                <a:cs typeface="+mn-cs"/>
              </a:rPr>
              <a:t>)</a:t>
            </a:r>
            <a:endParaRPr kumimoji="0" lang="en-US" altLang="zh-CN" sz="2800" b="1" kern="1200" cap="none" spc="0" normalizeH="0" baseline="0" noProof="0">
              <a:solidFill>
                <a:schemeClr val="bg1"/>
              </a:solidFill>
              <a:effectLst>
                <a:outerShdw blurRad="38100" dist="38100" dir="2700000" algn="tl">
                  <a:srgbClr val="000000"/>
                </a:outerShdw>
              </a:effectLst>
              <a:latin typeface="Times New Roman" panose="02020603050405020304" pitchFamily="18" charset="0"/>
              <a:ea typeface="黑体" panose="02010609060101010101" pitchFamily="2" charset="-122"/>
              <a:cs typeface="+mn-cs"/>
            </a:endParaRPr>
          </a:p>
        </p:txBody>
      </p:sp>
      <p:sp>
        <p:nvSpPr>
          <p:cNvPr id="2" name="日期占位符 1"/>
          <p:cNvSpPr>
            <a:spLocks noGrp="1"/>
          </p:cNvSpPr>
          <p:nvPr>
            <p:ph type="dt" sz="half" idx="10"/>
          </p:nvPr>
        </p:nvSpPr>
        <p:spPr/>
        <p:txBody>
          <a:bodyPr/>
          <a:lstStyle/>
          <a:p>
            <a:r>
              <a:rPr lang="en-US" altLang="zh-CN"/>
              <a:t>Data Structures and algorithms</a:t>
            </a:r>
            <a:endParaRPr lang="zh-CN" altLang="en-US"/>
          </a:p>
        </p:txBody>
      </p:sp>
      <p:sp>
        <p:nvSpPr>
          <p:cNvPr id="3" name="页脚占位符 2"/>
          <p:cNvSpPr>
            <a:spLocks noGrp="1"/>
          </p:cNvSpPr>
          <p:nvPr>
            <p:ph type="ftr" sz="quarter" idx="11"/>
          </p:nvPr>
        </p:nvSpPr>
        <p:spPr/>
        <p:txBody>
          <a:bodyPr/>
          <a:lstStyle/>
          <a:p>
            <a:r>
              <a:rPr lang="en-US" altLang="zh-CN"/>
              <a:t>Software College Northeastern University</a:t>
            </a:r>
            <a:endParaRPr lang="zh-CN" altLang="en-US"/>
          </a:p>
        </p:txBody>
      </p:sp>
      <p:sp>
        <p:nvSpPr>
          <p:cNvPr id="4" name="灯片编号占位符 3"/>
          <p:cNvSpPr>
            <a:spLocks noGrp="1"/>
          </p:cNvSpPr>
          <p:nvPr>
            <p:ph type="sldNum" sz="quarter" idx="12"/>
          </p:nvPr>
        </p:nvSpPr>
        <p:spPr/>
        <p:txBody>
          <a:bodyPr/>
          <a:lstStyle/>
          <a:p>
            <a:fld id="{6E1C0148-8E4B-4B2F-95CE-20B4709700AE}" type="slidenum">
              <a:rPr lang="zh-CN" altLang="en-US" smtClean="0"/>
            </a:fld>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grpId="0" nodeType="clickEffect">
                                  <p:stCondLst>
                                    <p:cond delay="0"/>
                                  </p:stCondLst>
                                  <p:childTnLst>
                                    <p:set>
                                      <p:cBhvr>
                                        <p:cTn id="6" dur="1" fill="hold">
                                          <p:stCondLst>
                                            <p:cond delay="0"/>
                                          </p:stCondLst>
                                        </p:cTn>
                                        <p:tgtEl>
                                          <p:spTgt spid="668675"/>
                                        </p:tgtEl>
                                        <p:attrNameLst>
                                          <p:attrName>style.visibility</p:attrName>
                                        </p:attrNameLst>
                                      </p:cBhvr>
                                      <p:to>
                                        <p:strVal val="visible"/>
                                      </p:to>
                                    </p:set>
                                    <p:animEffect transition="in" filter="blinds(vertical)">
                                      <p:cBhvr>
                                        <p:cTn id="7" dur="500"/>
                                        <p:tgtEl>
                                          <p:spTgt spid="66867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grpId="0" nodeType="clickEffect">
                                  <p:stCondLst>
                                    <p:cond delay="0"/>
                                  </p:stCondLst>
                                  <p:childTnLst>
                                    <p:set>
                                      <p:cBhvr>
                                        <p:cTn id="11" dur="1" fill="hold">
                                          <p:stCondLst>
                                            <p:cond delay="0"/>
                                          </p:stCondLst>
                                        </p:cTn>
                                        <p:tgtEl>
                                          <p:spTgt spid="668676"/>
                                        </p:tgtEl>
                                        <p:attrNameLst>
                                          <p:attrName>style.visibility</p:attrName>
                                        </p:attrNameLst>
                                      </p:cBhvr>
                                      <p:to>
                                        <p:strVal val="visible"/>
                                      </p:to>
                                    </p:set>
                                    <p:animEffect transition="in" filter="blinds(vertical)">
                                      <p:cBhvr>
                                        <p:cTn id="12" dur="500"/>
                                        <p:tgtEl>
                                          <p:spTgt spid="66867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5" fill="hold" grpId="0" nodeType="clickEffect">
                                  <p:stCondLst>
                                    <p:cond delay="0"/>
                                  </p:stCondLst>
                                  <p:childTnLst>
                                    <p:set>
                                      <p:cBhvr>
                                        <p:cTn id="16" dur="1" fill="hold">
                                          <p:stCondLst>
                                            <p:cond delay="0"/>
                                          </p:stCondLst>
                                        </p:cTn>
                                        <p:tgtEl>
                                          <p:spTgt spid="668677"/>
                                        </p:tgtEl>
                                        <p:attrNameLst>
                                          <p:attrName>style.visibility</p:attrName>
                                        </p:attrNameLst>
                                      </p:cBhvr>
                                      <p:to>
                                        <p:strVal val="visible"/>
                                      </p:to>
                                    </p:set>
                                    <p:animEffect transition="in" filter="blinds(vertical)">
                                      <p:cBhvr>
                                        <p:cTn id="17" dur="500"/>
                                        <p:tgtEl>
                                          <p:spTgt spid="668677"/>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5" fill="hold" grpId="0" nodeType="clickEffect">
                                  <p:stCondLst>
                                    <p:cond delay="0"/>
                                  </p:stCondLst>
                                  <p:childTnLst>
                                    <p:set>
                                      <p:cBhvr>
                                        <p:cTn id="21" dur="1" fill="hold">
                                          <p:stCondLst>
                                            <p:cond delay="0"/>
                                          </p:stCondLst>
                                        </p:cTn>
                                        <p:tgtEl>
                                          <p:spTgt spid="668678"/>
                                        </p:tgtEl>
                                        <p:attrNameLst>
                                          <p:attrName>style.visibility</p:attrName>
                                        </p:attrNameLst>
                                      </p:cBhvr>
                                      <p:to>
                                        <p:strVal val="visible"/>
                                      </p:to>
                                    </p:set>
                                    <p:animEffect transition="in" filter="blinds(vertical)">
                                      <p:cBhvr>
                                        <p:cTn id="22" dur="500"/>
                                        <p:tgtEl>
                                          <p:spTgt spid="668678"/>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5" fill="hold" grpId="0" nodeType="clickEffect">
                                  <p:stCondLst>
                                    <p:cond delay="0"/>
                                  </p:stCondLst>
                                  <p:childTnLst>
                                    <p:set>
                                      <p:cBhvr>
                                        <p:cTn id="26" dur="1" fill="hold">
                                          <p:stCondLst>
                                            <p:cond delay="0"/>
                                          </p:stCondLst>
                                        </p:cTn>
                                        <p:tgtEl>
                                          <p:spTgt spid="668679"/>
                                        </p:tgtEl>
                                        <p:attrNameLst>
                                          <p:attrName>style.visibility</p:attrName>
                                        </p:attrNameLst>
                                      </p:cBhvr>
                                      <p:to>
                                        <p:strVal val="visible"/>
                                      </p:to>
                                    </p:set>
                                    <p:animEffect transition="in" filter="blinds(vertical)">
                                      <p:cBhvr>
                                        <p:cTn id="27" dur="500"/>
                                        <p:tgtEl>
                                          <p:spTgt spid="668679"/>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5" fill="hold" grpId="0" nodeType="clickEffect">
                                  <p:stCondLst>
                                    <p:cond delay="0"/>
                                  </p:stCondLst>
                                  <p:childTnLst>
                                    <p:set>
                                      <p:cBhvr>
                                        <p:cTn id="31" dur="1" fill="hold">
                                          <p:stCondLst>
                                            <p:cond delay="0"/>
                                          </p:stCondLst>
                                        </p:cTn>
                                        <p:tgtEl>
                                          <p:spTgt spid="668680"/>
                                        </p:tgtEl>
                                        <p:attrNameLst>
                                          <p:attrName>style.visibility</p:attrName>
                                        </p:attrNameLst>
                                      </p:cBhvr>
                                      <p:to>
                                        <p:strVal val="visible"/>
                                      </p:to>
                                    </p:set>
                                    <p:animEffect transition="in" filter="blinds(vertical)">
                                      <p:cBhvr>
                                        <p:cTn id="32" dur="500"/>
                                        <p:tgtEl>
                                          <p:spTgt spid="6686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8675" grpId="0" bldLvl="0" animBg="1"/>
      <p:bldP spid="668676" grpId="0" bldLvl="0" animBg="1"/>
      <p:bldP spid="668677" grpId="0" bldLvl="0" animBg="1"/>
      <p:bldP spid="668678" grpId="0" bldLvl="0" animBg="1"/>
      <p:bldP spid="668679" grpId="0" bldLvl="0" animBg="1"/>
      <p:bldP spid="668680" grpId="0" bldLvl="0" animBg="1"/>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9698" name="Text Box 2"/>
          <p:cNvSpPr txBox="1">
            <a:spLocks noChangeArrowheads="1"/>
          </p:cNvSpPr>
          <p:nvPr/>
        </p:nvSpPr>
        <p:spPr bwMode="auto">
          <a:xfrm>
            <a:off x="755650" y="1196975"/>
            <a:ext cx="7777163" cy="3681413"/>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R="0" defTabSz="914400">
              <a:lnSpc>
                <a:spcPct val="120000"/>
              </a:lnSpc>
              <a:buClr>
                <a:schemeClr val="accent1"/>
              </a:buClr>
              <a:buSzTx/>
              <a:buFont typeface="Wingdings" panose="05000000000000000000" pitchFamily="2" charset="2"/>
              <a:buChar char="u"/>
              <a:defRPr/>
            </a:pPr>
            <a:r>
              <a:rPr kumimoji="0" lang="zh-CN" altLang="en-US" sz="2800" b="1" kern="1200" cap="none" spc="0" normalizeH="0" baseline="0" noProof="0">
                <a:effectLst>
                  <a:outerShdw blurRad="38100" dist="38100" dir="2700000" algn="tl">
                    <a:srgbClr val="FFFFFF"/>
                  </a:outerShdw>
                </a:effectLst>
                <a:latin typeface="Times New Roman" panose="02020603050405020304" pitchFamily="18" charset="0"/>
                <a:ea typeface="黑体" panose="02010609060101010101" pitchFamily="2" charset="-122"/>
                <a:cs typeface="+mn-cs"/>
              </a:rPr>
              <a:t>  </a:t>
            </a:r>
            <a:r>
              <a:rPr kumimoji="0" lang="zh-CN" altLang="en-US" sz="2800" b="1" kern="1200" cap="none" spc="0" normalizeH="0" baseline="0" noProof="0">
                <a:effectLst>
                  <a:outerShdw blurRad="38100" dist="38100" dir="2700000" algn="tl">
                    <a:srgbClr val="FFFFFF"/>
                  </a:outerShdw>
                </a:effectLst>
                <a:latin typeface="Times New Roman" panose="02020603050405020304" pitchFamily="18" charset="0"/>
                <a:ea typeface="楷体_GB2312" panose="02010609030101010101" pitchFamily="49" charset="-122"/>
                <a:cs typeface="+mn-cs"/>
              </a:rPr>
              <a:t>练习</a:t>
            </a:r>
            <a:r>
              <a:rPr kumimoji="0" lang="en-US" altLang="zh-CN" sz="2800" b="1" kern="1200" cap="none" spc="0" normalizeH="0" baseline="0" noProof="0">
                <a:effectLst>
                  <a:outerShdw blurRad="38100" dist="38100" dir="2700000" algn="tl">
                    <a:srgbClr val="FFFFFF"/>
                  </a:outerShdw>
                </a:effectLst>
                <a:latin typeface="Times New Roman" panose="02020603050405020304" pitchFamily="18" charset="0"/>
                <a:ea typeface="黑体" panose="02010609060101010101" pitchFamily="2" charset="-122"/>
                <a:cs typeface="+mn-cs"/>
              </a:rPr>
              <a:t>4 </a:t>
            </a:r>
            <a:endParaRPr kumimoji="0" lang="en-US" altLang="zh-CN" sz="2800" b="1" kern="1200" cap="none" spc="0" normalizeH="0" baseline="0" noProof="0">
              <a:effectLst>
                <a:outerShdw blurRad="38100" dist="38100" dir="2700000" algn="tl">
                  <a:srgbClr val="FFFFFF"/>
                </a:outerShdw>
              </a:effectLst>
              <a:latin typeface="Times New Roman" panose="02020603050405020304" pitchFamily="18" charset="0"/>
              <a:ea typeface="黑体" panose="02010609060101010101" pitchFamily="2" charset="-122"/>
              <a:cs typeface="+mn-cs"/>
            </a:endParaRPr>
          </a:p>
          <a:p>
            <a:pPr marR="0" defTabSz="914400">
              <a:lnSpc>
                <a:spcPct val="120000"/>
              </a:lnSpc>
              <a:buClr>
                <a:schemeClr val="folHlink"/>
              </a:buClr>
              <a:buSzTx/>
              <a:buFont typeface="Wingdings" panose="05000000000000000000" pitchFamily="2" charset="2"/>
              <a:buNone/>
              <a:defRPr/>
            </a:pPr>
            <a:r>
              <a:rPr kumimoji="0" lang="en-US" altLang="zh-CN" sz="2800" b="1" kern="1200" cap="none" spc="0" normalizeH="0" baseline="0" noProof="0">
                <a:effectLst>
                  <a:outerShdw blurRad="38100" dist="38100" dir="2700000" algn="tl">
                    <a:srgbClr val="FFFFFF"/>
                  </a:outerShdw>
                </a:effectLst>
                <a:latin typeface="Times New Roman" panose="02020603050405020304" pitchFamily="18" charset="0"/>
                <a:ea typeface="黑体" panose="02010609060101010101" pitchFamily="2" charset="-122"/>
                <a:cs typeface="+mn-cs"/>
              </a:rPr>
              <a:t>         for(i=1;i&lt;n;i++)</a:t>
            </a:r>
            <a:endParaRPr kumimoji="0" lang="en-US" altLang="zh-CN" sz="2800" b="1" kern="1200" cap="none" spc="0" normalizeH="0" baseline="0" noProof="0">
              <a:effectLst>
                <a:outerShdw blurRad="38100" dist="38100" dir="2700000" algn="tl">
                  <a:srgbClr val="FFFFFF"/>
                </a:outerShdw>
              </a:effectLst>
              <a:latin typeface="Times New Roman" panose="02020603050405020304" pitchFamily="18" charset="0"/>
              <a:ea typeface="黑体" panose="02010609060101010101" pitchFamily="2" charset="-122"/>
              <a:cs typeface="+mn-cs"/>
            </a:endParaRPr>
          </a:p>
          <a:p>
            <a:pPr marR="0" defTabSz="914400">
              <a:lnSpc>
                <a:spcPct val="120000"/>
              </a:lnSpc>
              <a:buClr>
                <a:schemeClr val="folHlink"/>
              </a:buClr>
              <a:buSzTx/>
              <a:buFont typeface="Wingdings" panose="05000000000000000000" pitchFamily="2" charset="2"/>
              <a:buNone/>
              <a:defRPr/>
            </a:pPr>
            <a:r>
              <a:rPr kumimoji="0" lang="en-US" altLang="zh-CN" sz="2800" b="1" kern="1200" cap="none" spc="0" normalizeH="0" baseline="0" noProof="0">
                <a:effectLst>
                  <a:outerShdw blurRad="38100" dist="38100" dir="2700000" algn="tl">
                    <a:srgbClr val="FFFFFF"/>
                  </a:outerShdw>
                </a:effectLst>
                <a:latin typeface="Times New Roman" panose="02020603050405020304" pitchFamily="18" charset="0"/>
                <a:ea typeface="黑体" panose="02010609060101010101" pitchFamily="2" charset="-122"/>
                <a:cs typeface="+mn-cs"/>
              </a:rPr>
              <a:t>         {</a:t>
            </a:r>
            <a:endParaRPr kumimoji="0" lang="en-US" altLang="zh-CN" sz="2800" b="1" kern="1200" cap="none" spc="0" normalizeH="0" baseline="0" noProof="0">
              <a:effectLst>
                <a:outerShdw blurRad="38100" dist="38100" dir="2700000" algn="tl">
                  <a:srgbClr val="FFFFFF"/>
                </a:outerShdw>
              </a:effectLst>
              <a:latin typeface="Times New Roman" panose="02020603050405020304" pitchFamily="18" charset="0"/>
              <a:ea typeface="黑体" panose="02010609060101010101" pitchFamily="2" charset="-122"/>
              <a:cs typeface="+mn-cs"/>
            </a:endParaRPr>
          </a:p>
          <a:p>
            <a:pPr marR="0" defTabSz="914400">
              <a:lnSpc>
                <a:spcPct val="120000"/>
              </a:lnSpc>
              <a:buClr>
                <a:schemeClr val="folHlink"/>
              </a:buClr>
              <a:buSzTx/>
              <a:buFont typeface="Wingdings" panose="05000000000000000000" pitchFamily="2" charset="2"/>
              <a:buNone/>
              <a:defRPr/>
            </a:pPr>
            <a:r>
              <a:rPr kumimoji="0" lang="en-US" altLang="zh-CN" sz="2800" b="1" kern="1200" cap="none" spc="0" normalizeH="0" baseline="0" noProof="0">
                <a:effectLst>
                  <a:outerShdw blurRad="38100" dist="38100" dir="2700000" algn="tl">
                    <a:srgbClr val="FFFFFF"/>
                  </a:outerShdw>
                </a:effectLst>
                <a:latin typeface="Times New Roman" panose="02020603050405020304" pitchFamily="18" charset="0"/>
                <a:ea typeface="黑体" panose="02010609060101010101" pitchFamily="2" charset="-122"/>
                <a:cs typeface="+mn-cs"/>
              </a:rPr>
              <a:t>               y=y+1;    </a:t>
            </a:r>
            <a:endParaRPr kumimoji="0" lang="en-US" altLang="zh-CN" sz="2800" b="1" kern="1200" cap="none" spc="0" normalizeH="0" baseline="0" noProof="0">
              <a:effectLst>
                <a:outerShdw blurRad="38100" dist="38100" dir="2700000" algn="tl">
                  <a:srgbClr val="FFFFFF"/>
                </a:outerShdw>
              </a:effectLst>
              <a:latin typeface="Times New Roman" panose="02020603050405020304" pitchFamily="18" charset="0"/>
              <a:ea typeface="黑体" panose="02010609060101010101" pitchFamily="2" charset="-122"/>
              <a:cs typeface="+mn-cs"/>
            </a:endParaRPr>
          </a:p>
          <a:p>
            <a:pPr marR="0" defTabSz="914400">
              <a:lnSpc>
                <a:spcPct val="120000"/>
              </a:lnSpc>
              <a:buClr>
                <a:schemeClr val="folHlink"/>
              </a:buClr>
              <a:buSzTx/>
              <a:buFont typeface="Wingdings" panose="05000000000000000000" pitchFamily="2" charset="2"/>
              <a:buNone/>
              <a:defRPr/>
            </a:pPr>
            <a:r>
              <a:rPr kumimoji="0" lang="en-US" altLang="zh-CN" sz="2800" b="1" kern="1200" cap="none" spc="0" normalizeH="0" baseline="0" noProof="0">
                <a:effectLst>
                  <a:outerShdw blurRad="38100" dist="38100" dir="2700000" algn="tl">
                    <a:srgbClr val="FFFFFF"/>
                  </a:outerShdw>
                </a:effectLst>
                <a:latin typeface="Times New Roman" panose="02020603050405020304" pitchFamily="18" charset="0"/>
                <a:ea typeface="黑体" panose="02010609060101010101" pitchFamily="2" charset="-122"/>
                <a:cs typeface="+mn-cs"/>
              </a:rPr>
              <a:t>               for(j=0;j&lt;=2*n;j++)</a:t>
            </a:r>
            <a:endParaRPr kumimoji="0" lang="en-US" altLang="zh-CN" sz="2800" b="1" kern="1200" cap="none" spc="0" normalizeH="0" baseline="0" noProof="0">
              <a:effectLst>
                <a:outerShdw blurRad="38100" dist="38100" dir="2700000" algn="tl">
                  <a:srgbClr val="FFFFFF"/>
                </a:outerShdw>
              </a:effectLst>
              <a:latin typeface="Times New Roman" panose="02020603050405020304" pitchFamily="18" charset="0"/>
              <a:ea typeface="黑体" panose="02010609060101010101" pitchFamily="2" charset="-122"/>
              <a:cs typeface="+mn-cs"/>
            </a:endParaRPr>
          </a:p>
          <a:p>
            <a:pPr marR="0" defTabSz="914400">
              <a:lnSpc>
                <a:spcPct val="120000"/>
              </a:lnSpc>
              <a:buClr>
                <a:schemeClr val="folHlink"/>
              </a:buClr>
              <a:buSzTx/>
              <a:buFont typeface="Wingdings" panose="05000000000000000000" pitchFamily="2" charset="2"/>
              <a:buNone/>
              <a:defRPr/>
            </a:pPr>
            <a:r>
              <a:rPr kumimoji="0" lang="en-US" altLang="zh-CN" sz="2800" b="1" kern="1200" cap="none" spc="0" normalizeH="0" baseline="0" noProof="0">
                <a:effectLst>
                  <a:outerShdw blurRad="38100" dist="38100" dir="2700000" algn="tl">
                    <a:srgbClr val="FFFFFF"/>
                  </a:outerShdw>
                </a:effectLst>
                <a:latin typeface="Times New Roman" panose="02020603050405020304" pitchFamily="18" charset="0"/>
                <a:ea typeface="黑体" panose="02010609060101010101" pitchFamily="2" charset="-122"/>
                <a:cs typeface="+mn-cs"/>
              </a:rPr>
              <a:t>                    </a:t>
            </a:r>
            <a:r>
              <a:rPr kumimoji="0" lang="en-US" altLang="zh-CN" sz="2800" b="1" kern="1200" cap="none" spc="0" normalizeH="0" baseline="0" noProof="0">
                <a:solidFill>
                  <a:srgbClr val="FF0000"/>
                </a:solidFill>
                <a:effectLst>
                  <a:outerShdw blurRad="38100" dist="38100" dir="2700000" algn="tl">
                    <a:srgbClr val="000000"/>
                  </a:outerShdw>
                </a:effectLst>
                <a:latin typeface="Times New Roman" panose="02020603050405020304" pitchFamily="18" charset="0"/>
                <a:ea typeface="黑体" panose="02010609060101010101" pitchFamily="2" charset="-122"/>
                <a:cs typeface="+mn-cs"/>
              </a:rPr>
              <a:t>x++;</a:t>
            </a:r>
            <a:r>
              <a:rPr kumimoji="0" lang="en-US" altLang="zh-CN" sz="2800" b="1" kern="1200" cap="none" spc="0" normalizeH="0" baseline="0" noProof="0">
                <a:effectLst>
                  <a:outerShdw blurRad="38100" dist="38100" dir="2700000" algn="tl">
                    <a:srgbClr val="FFFFFF"/>
                  </a:outerShdw>
                </a:effectLst>
                <a:latin typeface="Times New Roman" panose="02020603050405020304" pitchFamily="18" charset="0"/>
                <a:ea typeface="黑体" panose="02010609060101010101" pitchFamily="2" charset="-122"/>
                <a:cs typeface="+mn-cs"/>
              </a:rPr>
              <a:t>              </a:t>
            </a:r>
            <a:endParaRPr kumimoji="0" lang="en-US" altLang="zh-CN" sz="2800" b="1" kern="1200" cap="none" spc="0" normalizeH="0" baseline="0" noProof="0">
              <a:effectLst>
                <a:outerShdw blurRad="38100" dist="38100" dir="2700000" algn="tl">
                  <a:srgbClr val="FFFFFF"/>
                </a:outerShdw>
              </a:effectLst>
              <a:latin typeface="Times New Roman" panose="02020603050405020304" pitchFamily="18" charset="0"/>
              <a:ea typeface="黑体" panose="02010609060101010101" pitchFamily="2" charset="-122"/>
              <a:cs typeface="+mn-cs"/>
            </a:endParaRPr>
          </a:p>
          <a:p>
            <a:pPr marR="0" defTabSz="914400">
              <a:lnSpc>
                <a:spcPct val="120000"/>
              </a:lnSpc>
              <a:buClr>
                <a:schemeClr val="folHlink"/>
              </a:buClr>
              <a:buSzTx/>
              <a:buFont typeface="Wingdings" panose="05000000000000000000" pitchFamily="2" charset="2"/>
              <a:buNone/>
              <a:defRPr/>
            </a:pPr>
            <a:r>
              <a:rPr kumimoji="0" lang="en-US" altLang="zh-CN" sz="2800" b="1" kern="1200" cap="none" spc="0" normalizeH="0" baseline="0" noProof="0">
                <a:effectLst>
                  <a:outerShdw blurRad="38100" dist="38100" dir="2700000" algn="tl">
                    <a:srgbClr val="FFFFFF"/>
                  </a:outerShdw>
                </a:effectLst>
                <a:latin typeface="Times New Roman" panose="02020603050405020304" pitchFamily="18" charset="0"/>
                <a:ea typeface="黑体" panose="02010609060101010101" pitchFamily="2" charset="-122"/>
                <a:cs typeface="+mn-cs"/>
              </a:rPr>
              <a:t>	}</a:t>
            </a:r>
            <a:endParaRPr kumimoji="0" lang="en-US" altLang="zh-CN" sz="2800" b="1" kern="1200" cap="none" spc="0" normalizeH="0" baseline="0" noProof="0">
              <a:effectLst>
                <a:outerShdw blurRad="38100" dist="38100" dir="2700000" algn="tl">
                  <a:srgbClr val="FFFFFF"/>
                </a:outerShdw>
              </a:effectLst>
              <a:latin typeface="Times New Roman" panose="02020603050405020304" pitchFamily="18" charset="0"/>
              <a:ea typeface="黑体" panose="02010609060101010101" pitchFamily="2" charset="-122"/>
              <a:cs typeface="+mn-cs"/>
            </a:endParaRPr>
          </a:p>
        </p:txBody>
      </p:sp>
      <p:sp>
        <p:nvSpPr>
          <p:cNvPr id="669699" name="Text Box 3"/>
          <p:cNvSpPr txBox="1">
            <a:spLocks noChangeArrowheads="1"/>
          </p:cNvSpPr>
          <p:nvPr/>
        </p:nvSpPr>
        <p:spPr bwMode="auto">
          <a:xfrm>
            <a:off x="468313" y="5013325"/>
            <a:ext cx="7848600"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R="0" defTabSz="914400">
              <a:lnSpc>
                <a:spcPct val="130000"/>
              </a:lnSpc>
              <a:buClr>
                <a:schemeClr val="tx1"/>
              </a:buClr>
              <a:buSzTx/>
              <a:buFontTx/>
              <a:buNone/>
              <a:defRPr/>
            </a:pPr>
            <a:r>
              <a:rPr kumimoji="0" lang="zh-CN" altLang="en-US" sz="2800" b="1" kern="1200" cap="none" spc="0" normalizeH="0" baseline="0" noProof="0">
                <a:effectLst>
                  <a:outerShdw blurRad="38100" dist="38100" dir="2700000" algn="tl">
                    <a:srgbClr val="C0C0C0"/>
                  </a:outerShdw>
                </a:effectLst>
                <a:latin typeface="Times New Roman" panose="02020603050405020304" pitchFamily="18" charset="0"/>
                <a:ea typeface="楷体_GB2312" panose="02010609030101010101" pitchFamily="49" charset="-122"/>
                <a:cs typeface="+mn-cs"/>
              </a:rPr>
              <a:t>解：语句</a:t>
            </a:r>
            <a:r>
              <a:rPr kumimoji="0" lang="en-US" altLang="zh-CN" sz="2800" b="1" kern="1200" cap="none" spc="0" normalizeH="0" baseline="0" noProof="0">
                <a:effectLst>
                  <a:outerShdw blurRad="38100" dist="38100" dir="2700000" algn="tl">
                    <a:srgbClr val="C0C0C0"/>
                  </a:outerShdw>
                </a:effectLst>
                <a:latin typeface="Times New Roman" panose="02020603050405020304" pitchFamily="18" charset="0"/>
                <a:ea typeface="楷体_GB2312" panose="02010609030101010101" pitchFamily="49" charset="-122"/>
                <a:cs typeface="+mn-cs"/>
              </a:rPr>
              <a:t>x++</a:t>
            </a:r>
            <a:r>
              <a:rPr kumimoji="0" lang="zh-CN" altLang="en-US" sz="2800" b="1" kern="1200" cap="none" spc="0" normalizeH="0" baseline="0" noProof="0">
                <a:effectLst>
                  <a:outerShdw blurRad="38100" dist="38100" dir="2700000" algn="tl">
                    <a:srgbClr val="C0C0C0"/>
                  </a:outerShdw>
                </a:effectLst>
                <a:latin typeface="Times New Roman" panose="02020603050405020304" pitchFamily="18" charset="0"/>
                <a:ea typeface="楷体_GB2312" panose="02010609030101010101" pitchFamily="49" charset="-122"/>
                <a:cs typeface="+mn-cs"/>
              </a:rPr>
              <a:t>的执行次数是</a:t>
            </a:r>
            <a:r>
              <a:rPr kumimoji="0" lang="zh-CN" altLang="en-US" sz="2800" b="1" kern="1200" cap="none" spc="0" normalizeH="0" baseline="0" noProof="0">
                <a:effectLst>
                  <a:outerShdw blurRad="38100" dist="38100" dir="2700000" algn="tl">
                    <a:srgbClr val="C0C0C0"/>
                  </a:outerShdw>
                </a:effectLst>
                <a:latin typeface="Times New Roman" panose="02020603050405020304" pitchFamily="18" charset="0"/>
                <a:ea typeface="黑体" panose="02010609060101010101" pitchFamily="2" charset="-122"/>
                <a:cs typeface="+mn-cs"/>
              </a:rPr>
              <a:t>：</a:t>
            </a:r>
            <a:r>
              <a:rPr kumimoji="0" lang="en-US" altLang="zh-CN" sz="2800" b="1" kern="1200" cap="none" spc="0" normalizeH="0" baseline="0" noProof="0">
                <a:effectLst>
                  <a:outerShdw blurRad="38100" dist="38100" dir="2700000" algn="tl">
                    <a:srgbClr val="C0C0C0"/>
                  </a:outerShdw>
                </a:effectLst>
                <a:latin typeface="Times New Roman" panose="02020603050405020304" pitchFamily="18" charset="0"/>
                <a:ea typeface="黑体" panose="02010609060101010101" pitchFamily="2" charset="-122"/>
                <a:cs typeface="+mn-cs"/>
              </a:rPr>
              <a:t>(n-1)(2n+1)=2n</a:t>
            </a:r>
            <a:r>
              <a:rPr kumimoji="0" lang="en-US" altLang="zh-CN" sz="2800" b="1" kern="1200" cap="none" spc="0" normalizeH="0" baseline="30000" noProof="0">
                <a:effectLst>
                  <a:outerShdw blurRad="38100" dist="38100" dir="2700000" algn="tl">
                    <a:srgbClr val="C0C0C0"/>
                  </a:outerShdw>
                </a:effectLst>
                <a:latin typeface="Times New Roman" panose="02020603050405020304" pitchFamily="18" charset="0"/>
                <a:ea typeface="黑体" panose="02010609060101010101" pitchFamily="2" charset="-122"/>
                <a:cs typeface="+mn-cs"/>
              </a:rPr>
              <a:t>2</a:t>
            </a:r>
            <a:r>
              <a:rPr kumimoji="0" lang="en-US" altLang="zh-CN" sz="2800" b="1" kern="1200" cap="none" spc="0" normalizeH="0" baseline="0" noProof="0">
                <a:effectLst>
                  <a:outerShdw blurRad="38100" dist="38100" dir="2700000" algn="tl">
                    <a:srgbClr val="C0C0C0"/>
                  </a:outerShdw>
                </a:effectLst>
                <a:latin typeface="Times New Roman" panose="02020603050405020304" pitchFamily="18" charset="0"/>
                <a:ea typeface="黑体" panose="02010609060101010101" pitchFamily="2" charset="-122"/>
                <a:cs typeface="+mn-cs"/>
              </a:rPr>
              <a:t>-n-1</a:t>
            </a:r>
            <a:endParaRPr kumimoji="0" lang="en-US" altLang="zh-CN" sz="2800" b="1" kern="1200" cap="none" spc="0" normalizeH="0" baseline="0" noProof="0">
              <a:effectLst>
                <a:outerShdw blurRad="38100" dist="38100" dir="2700000" algn="tl">
                  <a:srgbClr val="C0C0C0"/>
                </a:outerShdw>
              </a:effectLst>
              <a:latin typeface="Times New Roman" panose="02020603050405020304" pitchFamily="18" charset="0"/>
              <a:ea typeface="黑体" panose="02010609060101010101" pitchFamily="2" charset="-122"/>
              <a:cs typeface="+mn-cs"/>
            </a:endParaRPr>
          </a:p>
        </p:txBody>
      </p:sp>
      <p:sp>
        <p:nvSpPr>
          <p:cNvPr id="669700" name="Text Box 4"/>
          <p:cNvSpPr txBox="1">
            <a:spLocks noChangeArrowheads="1"/>
          </p:cNvSpPr>
          <p:nvPr/>
        </p:nvSpPr>
        <p:spPr bwMode="auto">
          <a:xfrm>
            <a:off x="1189038" y="5661025"/>
            <a:ext cx="7270750"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R="0" defTabSz="914400">
              <a:lnSpc>
                <a:spcPct val="130000"/>
              </a:lnSpc>
              <a:buClr>
                <a:schemeClr val="tx1"/>
              </a:buClr>
              <a:buSzTx/>
              <a:buFontTx/>
              <a:buNone/>
              <a:defRPr/>
            </a:pPr>
            <a:r>
              <a:rPr kumimoji="0" lang="zh-CN" altLang="en-US" sz="2800" b="1" kern="1200" cap="none" spc="0" normalizeH="0" baseline="0" noProof="0">
                <a:effectLst>
                  <a:outerShdw blurRad="38100" dist="38100" dir="2700000" algn="tl">
                    <a:srgbClr val="C0C0C0"/>
                  </a:outerShdw>
                </a:effectLst>
                <a:latin typeface="Times New Roman" panose="02020603050405020304" pitchFamily="18" charset="0"/>
                <a:ea typeface="楷体_GB2312" panose="02010609030101010101" pitchFamily="49" charset="-122"/>
                <a:cs typeface="+mn-cs"/>
              </a:rPr>
              <a:t>该程序段的渐进时间复杂度为</a:t>
            </a:r>
            <a:r>
              <a:rPr kumimoji="0" lang="zh-CN" altLang="en-US" sz="2800" b="1" kern="1200" cap="none" spc="0" normalizeH="0" baseline="0" noProof="0">
                <a:effectLst>
                  <a:outerShdw blurRad="38100" dist="38100" dir="2700000" algn="tl">
                    <a:srgbClr val="C0C0C0"/>
                  </a:outerShdw>
                </a:effectLst>
                <a:latin typeface="Times New Roman" panose="02020603050405020304" pitchFamily="18" charset="0"/>
                <a:ea typeface="黑体" panose="02010609060101010101" pitchFamily="2" charset="-122"/>
                <a:cs typeface="+mn-cs"/>
              </a:rPr>
              <a:t>：</a:t>
            </a:r>
            <a:r>
              <a:rPr kumimoji="0" lang="en-US" altLang="zh-CN" sz="2800" b="1" kern="1200" cap="none" spc="0" normalizeH="0" baseline="0" noProof="0">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2" charset="-122"/>
                <a:cs typeface="+mn-cs"/>
              </a:rPr>
              <a:t>T(n)=O(n</a:t>
            </a:r>
            <a:r>
              <a:rPr kumimoji="0" lang="en-US" altLang="zh-CN" sz="2800" b="1" kern="1200" cap="none" spc="0" normalizeH="0" baseline="30000" noProof="0">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2" charset="-122"/>
                <a:cs typeface="+mn-cs"/>
              </a:rPr>
              <a:t>2</a:t>
            </a:r>
            <a:r>
              <a:rPr kumimoji="0" lang="en-US" altLang="zh-CN" sz="2800" b="1" kern="1200" cap="none" spc="0" normalizeH="0" baseline="0" noProof="0">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2" charset="-122"/>
                <a:cs typeface="+mn-cs"/>
              </a:rPr>
              <a:t>)</a:t>
            </a:r>
            <a:endParaRPr kumimoji="0" lang="en-US" altLang="zh-CN" sz="2800" b="1" kern="1200" cap="none" spc="0" normalizeH="0" baseline="0" noProof="0">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2" charset="-122"/>
              <a:cs typeface="+mn-cs"/>
            </a:endParaRPr>
          </a:p>
        </p:txBody>
      </p:sp>
      <p:sp>
        <p:nvSpPr>
          <p:cNvPr id="2" name="日期占位符 1"/>
          <p:cNvSpPr>
            <a:spLocks noGrp="1"/>
          </p:cNvSpPr>
          <p:nvPr>
            <p:ph type="dt" sz="half" idx="10"/>
          </p:nvPr>
        </p:nvSpPr>
        <p:spPr/>
        <p:txBody>
          <a:bodyPr/>
          <a:lstStyle/>
          <a:p>
            <a:r>
              <a:rPr lang="en-US" altLang="zh-CN"/>
              <a:t>Data Structures and algorithms</a:t>
            </a:r>
            <a:endParaRPr lang="zh-CN" altLang="en-US"/>
          </a:p>
        </p:txBody>
      </p:sp>
      <p:sp>
        <p:nvSpPr>
          <p:cNvPr id="3" name="页脚占位符 2"/>
          <p:cNvSpPr>
            <a:spLocks noGrp="1"/>
          </p:cNvSpPr>
          <p:nvPr>
            <p:ph type="ftr" sz="quarter" idx="11"/>
          </p:nvPr>
        </p:nvSpPr>
        <p:spPr/>
        <p:txBody>
          <a:bodyPr/>
          <a:lstStyle/>
          <a:p>
            <a:r>
              <a:rPr lang="en-US" altLang="zh-CN"/>
              <a:t>Software College Northeastern University</a:t>
            </a:r>
            <a:endParaRPr lang="zh-CN" altLang="en-US"/>
          </a:p>
        </p:txBody>
      </p:sp>
      <p:sp>
        <p:nvSpPr>
          <p:cNvPr id="4" name="灯片编号占位符 3"/>
          <p:cNvSpPr>
            <a:spLocks noGrp="1"/>
          </p:cNvSpPr>
          <p:nvPr>
            <p:ph type="sldNum" sz="quarter" idx="12"/>
          </p:nvPr>
        </p:nvSpPr>
        <p:spPr/>
        <p:txBody>
          <a:bodyPr/>
          <a:lstStyle/>
          <a:p>
            <a:fld id="{6E1C0148-8E4B-4B2F-95CE-20B4709700AE}" type="slidenum">
              <a:rPr lang="zh-CN" altLang="en-US" smtClean="0"/>
            </a:fld>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grpId="0" nodeType="clickEffect">
                                  <p:stCondLst>
                                    <p:cond delay="0"/>
                                  </p:stCondLst>
                                  <p:childTnLst>
                                    <p:set>
                                      <p:cBhvr>
                                        <p:cTn id="6" dur="1" fill="hold">
                                          <p:stCondLst>
                                            <p:cond delay="0"/>
                                          </p:stCondLst>
                                        </p:cTn>
                                        <p:tgtEl>
                                          <p:spTgt spid="669699"/>
                                        </p:tgtEl>
                                        <p:attrNameLst>
                                          <p:attrName>style.visibility</p:attrName>
                                        </p:attrNameLst>
                                      </p:cBhvr>
                                      <p:to>
                                        <p:strVal val="visible"/>
                                      </p:to>
                                    </p:set>
                                    <p:animEffect transition="in" filter="blinds(vertical)">
                                      <p:cBhvr>
                                        <p:cTn id="7" dur="500"/>
                                        <p:tgtEl>
                                          <p:spTgt spid="66969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grpId="0" nodeType="clickEffect">
                                  <p:stCondLst>
                                    <p:cond delay="0"/>
                                  </p:stCondLst>
                                  <p:childTnLst>
                                    <p:set>
                                      <p:cBhvr>
                                        <p:cTn id="11" dur="1" fill="hold">
                                          <p:stCondLst>
                                            <p:cond delay="0"/>
                                          </p:stCondLst>
                                        </p:cTn>
                                        <p:tgtEl>
                                          <p:spTgt spid="669700"/>
                                        </p:tgtEl>
                                        <p:attrNameLst>
                                          <p:attrName>style.visibility</p:attrName>
                                        </p:attrNameLst>
                                      </p:cBhvr>
                                      <p:to>
                                        <p:strVal val="visible"/>
                                      </p:to>
                                    </p:set>
                                    <p:animEffect transition="in" filter="blinds(vertical)">
                                      <p:cBhvr>
                                        <p:cTn id="12" dur="500"/>
                                        <p:tgtEl>
                                          <p:spTgt spid="6697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9699" grpId="0" bldLvl="0" animBg="1"/>
      <p:bldP spid="669700" grpId="0" bldLvl="0" animBg="1"/>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0722" name="Text Box 2"/>
          <p:cNvSpPr txBox="1">
            <a:spLocks noChangeArrowheads="1"/>
          </p:cNvSpPr>
          <p:nvPr/>
        </p:nvSpPr>
        <p:spPr bwMode="auto">
          <a:xfrm>
            <a:off x="611188" y="1238250"/>
            <a:ext cx="6624638" cy="2314575"/>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R="0" defTabSz="914400">
              <a:lnSpc>
                <a:spcPct val="130000"/>
              </a:lnSpc>
              <a:buClr>
                <a:schemeClr val="tx2"/>
              </a:buClr>
              <a:buSzTx/>
              <a:buFont typeface="Wingdings" panose="05000000000000000000" pitchFamily="2" charset="2"/>
              <a:buChar char="u"/>
              <a:defRPr/>
            </a:pPr>
            <a:r>
              <a:rPr kumimoji="0" lang="zh-CN" altLang="en-US" sz="2800" b="1" kern="1200" cap="none" spc="0" normalizeH="0" baseline="0" noProof="0" dirty="0">
                <a:effectLst>
                  <a:outerShdw blurRad="38100" dist="38100" dir="2700000" algn="tl">
                    <a:srgbClr val="FFFFFF"/>
                  </a:outerShdw>
                </a:effectLst>
                <a:latin typeface="Times New Roman" panose="02020603050405020304" pitchFamily="18" charset="0"/>
                <a:ea typeface="楷体_GB2312" panose="02010609030101010101" pitchFamily="49" charset="-122"/>
                <a:cs typeface="+mn-cs"/>
              </a:rPr>
              <a:t> 练习 </a:t>
            </a:r>
            <a:r>
              <a:rPr kumimoji="0" lang="en-US" altLang="zh-CN" sz="2800" b="1" kern="1200" cap="none" spc="0" normalizeH="0" baseline="0" noProof="0" dirty="0">
                <a:effectLst>
                  <a:outerShdw blurRad="38100" dist="38100" dir="2700000" algn="tl">
                    <a:srgbClr val="FFFFFF"/>
                  </a:outerShdw>
                </a:effectLst>
                <a:latin typeface="Times New Roman" panose="02020603050405020304" pitchFamily="18" charset="0"/>
                <a:ea typeface="楷体_GB2312" panose="02010609030101010101" pitchFamily="49" charset="-122"/>
                <a:cs typeface="+mn-cs"/>
              </a:rPr>
              <a:t>5 </a:t>
            </a:r>
            <a:endParaRPr kumimoji="0" lang="en-US" altLang="zh-CN" sz="2800" b="1" kern="1200" cap="none" spc="0" normalizeH="0" baseline="0" noProof="0" dirty="0">
              <a:effectLst>
                <a:outerShdw blurRad="38100" dist="38100" dir="2700000" algn="tl">
                  <a:srgbClr val="FFFFFF"/>
                </a:outerShdw>
              </a:effectLst>
              <a:latin typeface="Times New Roman" panose="02020603050405020304" pitchFamily="18" charset="0"/>
              <a:ea typeface="楷体_GB2312" panose="02010609030101010101" pitchFamily="49" charset="-122"/>
              <a:cs typeface="+mn-cs"/>
            </a:endParaRPr>
          </a:p>
          <a:p>
            <a:pPr marR="0" defTabSz="914400">
              <a:lnSpc>
                <a:spcPct val="130000"/>
              </a:lnSpc>
              <a:buClr>
                <a:schemeClr val="folHlink"/>
              </a:buClr>
              <a:buSzTx/>
              <a:buFont typeface="Wingdings" panose="05000000000000000000" pitchFamily="2" charset="2"/>
              <a:buNone/>
              <a:defRPr/>
            </a:pPr>
            <a:r>
              <a:rPr kumimoji="0" lang="en-US" altLang="zh-CN" sz="2800" b="1" kern="1200" cap="none" spc="0" normalizeH="0" baseline="0" noProof="0" dirty="0">
                <a:effectLst>
                  <a:outerShdw blurRad="38100" dist="38100" dir="2700000" algn="tl">
                    <a:srgbClr val="FFFFFF"/>
                  </a:outerShdw>
                </a:effectLst>
                <a:latin typeface="Times New Roman" panose="02020603050405020304" pitchFamily="18" charset="0"/>
                <a:ea typeface="楷体_GB2312" panose="02010609030101010101" pitchFamily="49" charset="-122"/>
                <a:cs typeface="+mn-cs"/>
              </a:rPr>
              <a:t>         </a:t>
            </a:r>
            <a:r>
              <a:rPr kumimoji="0" lang="en-US" altLang="zh-CN" sz="2800" b="1" kern="1200" cap="none" spc="0" normalizeH="0" baseline="0" noProof="0" dirty="0" err="1">
                <a:effectLst>
                  <a:outerShdw blurRad="38100" dist="38100" dir="2700000" algn="tl">
                    <a:srgbClr val="FFFFFF"/>
                  </a:outerShdw>
                </a:effectLst>
                <a:latin typeface="Times New Roman" panose="02020603050405020304" pitchFamily="18" charset="0"/>
                <a:ea typeface="楷体_GB2312" panose="02010609030101010101" pitchFamily="49" charset="-122"/>
                <a:cs typeface="+mn-cs"/>
              </a:rPr>
              <a:t>i</a:t>
            </a:r>
            <a:r>
              <a:rPr kumimoji="0" lang="en-US" altLang="zh-CN" sz="2800" b="1" kern="1200" cap="none" spc="0" normalizeH="0" baseline="0" noProof="0" dirty="0">
                <a:effectLst>
                  <a:outerShdw blurRad="38100" dist="38100" dir="2700000" algn="tl">
                    <a:srgbClr val="FFFFFF"/>
                  </a:outerShdw>
                </a:effectLst>
                <a:latin typeface="Times New Roman" panose="02020603050405020304" pitchFamily="18" charset="0"/>
                <a:ea typeface="楷体_GB2312" panose="02010609030101010101" pitchFamily="49" charset="-122"/>
                <a:cs typeface="+mn-cs"/>
              </a:rPr>
              <a:t>=1;		    /*</a:t>
            </a:r>
            <a:r>
              <a:rPr kumimoji="0" lang="zh-CN" altLang="en-US" sz="2800" b="1" kern="1200" cap="none" spc="0" normalizeH="0" baseline="0" noProof="0" dirty="0">
                <a:effectLst>
                  <a:outerShdw blurRad="38100" dist="38100" dir="2700000" algn="tl">
                    <a:srgbClr val="FFFFFF"/>
                  </a:outerShdw>
                </a:effectLst>
                <a:latin typeface="Times New Roman" panose="02020603050405020304" pitchFamily="18" charset="0"/>
                <a:ea typeface="楷体_GB2312" panose="02010609030101010101" pitchFamily="49" charset="-122"/>
                <a:cs typeface="+mn-cs"/>
              </a:rPr>
              <a:t>语句</a:t>
            </a:r>
            <a:r>
              <a:rPr kumimoji="0" lang="en-US" altLang="zh-CN" sz="2800" b="1" kern="1200" cap="none" spc="0" normalizeH="0" baseline="0" noProof="0" dirty="0">
                <a:effectLst>
                  <a:outerShdw blurRad="38100" dist="38100" dir="2700000" algn="tl">
                    <a:srgbClr val="FFFFFF"/>
                  </a:outerShdw>
                </a:effectLst>
                <a:latin typeface="Times New Roman" panose="02020603050405020304" pitchFamily="18" charset="0"/>
                <a:ea typeface="楷体_GB2312" panose="02010609030101010101" pitchFamily="49" charset="-122"/>
                <a:cs typeface="+mn-cs"/>
              </a:rPr>
              <a:t>1*/</a:t>
            </a:r>
            <a:endParaRPr kumimoji="0" lang="en-US" altLang="zh-CN" sz="2800" b="1" kern="1200" cap="none" spc="0" normalizeH="0" baseline="0" noProof="0" dirty="0">
              <a:effectLst>
                <a:outerShdw blurRad="38100" dist="38100" dir="2700000" algn="tl">
                  <a:srgbClr val="FFFFFF"/>
                </a:outerShdw>
              </a:effectLst>
              <a:latin typeface="Times New Roman" panose="02020603050405020304" pitchFamily="18" charset="0"/>
              <a:ea typeface="楷体_GB2312" panose="02010609030101010101" pitchFamily="49" charset="-122"/>
              <a:cs typeface="+mn-cs"/>
            </a:endParaRPr>
          </a:p>
          <a:p>
            <a:pPr marR="0" defTabSz="914400">
              <a:lnSpc>
                <a:spcPct val="130000"/>
              </a:lnSpc>
              <a:buClr>
                <a:schemeClr val="folHlink"/>
              </a:buClr>
              <a:buSzTx/>
              <a:buFont typeface="Wingdings" panose="05000000000000000000" pitchFamily="2" charset="2"/>
              <a:buNone/>
              <a:defRPr/>
            </a:pPr>
            <a:r>
              <a:rPr kumimoji="0" lang="en-US" altLang="zh-CN" sz="2800" b="1" kern="1200" cap="none" spc="0" normalizeH="0" baseline="0" noProof="0" dirty="0">
                <a:effectLst>
                  <a:outerShdw blurRad="38100" dist="38100" dir="2700000" algn="tl">
                    <a:srgbClr val="FFFFFF"/>
                  </a:outerShdw>
                </a:effectLst>
                <a:latin typeface="Times New Roman" panose="02020603050405020304" pitchFamily="18" charset="0"/>
                <a:ea typeface="楷体_GB2312" panose="02010609030101010101" pitchFamily="49" charset="-122"/>
                <a:cs typeface="+mn-cs"/>
              </a:rPr>
              <a:t>         while(</a:t>
            </a:r>
            <a:r>
              <a:rPr kumimoji="0" lang="en-US" altLang="zh-CN" sz="2800" b="1" kern="1200" cap="none" spc="0" normalizeH="0" baseline="0" noProof="0" dirty="0" err="1">
                <a:effectLst>
                  <a:outerShdw blurRad="38100" dist="38100" dir="2700000" algn="tl">
                    <a:srgbClr val="FFFFFF"/>
                  </a:outerShdw>
                </a:effectLst>
                <a:latin typeface="Times New Roman" panose="02020603050405020304" pitchFamily="18" charset="0"/>
                <a:ea typeface="楷体_GB2312" panose="02010609030101010101" pitchFamily="49" charset="-122"/>
                <a:cs typeface="+mn-cs"/>
              </a:rPr>
              <a:t>i</a:t>
            </a:r>
            <a:r>
              <a:rPr kumimoji="0" lang="en-US" altLang="zh-CN" sz="2800" b="1" kern="1200" cap="none" spc="0" normalizeH="0" baseline="0" noProof="0" dirty="0">
                <a:effectLst>
                  <a:outerShdw blurRad="38100" dist="38100" dir="2700000" algn="tl">
                    <a:srgbClr val="FFFFFF"/>
                  </a:outerShdw>
                </a:effectLst>
                <a:latin typeface="Times New Roman" panose="02020603050405020304" pitchFamily="18" charset="0"/>
                <a:ea typeface="楷体_GB2312" panose="02010609030101010101" pitchFamily="49" charset="-122"/>
                <a:cs typeface="+mn-cs"/>
              </a:rPr>
              <a:t>&lt;=n) </a:t>
            </a:r>
            <a:endParaRPr kumimoji="0" lang="en-US" altLang="zh-CN" sz="2800" b="1" kern="1200" cap="none" spc="0" normalizeH="0" baseline="0" noProof="0" dirty="0">
              <a:effectLst>
                <a:outerShdw blurRad="38100" dist="38100" dir="2700000" algn="tl">
                  <a:srgbClr val="FFFFFF"/>
                </a:outerShdw>
              </a:effectLst>
              <a:latin typeface="Times New Roman" panose="02020603050405020304" pitchFamily="18" charset="0"/>
              <a:ea typeface="楷体_GB2312" panose="02010609030101010101" pitchFamily="49" charset="-122"/>
              <a:cs typeface="+mn-cs"/>
            </a:endParaRPr>
          </a:p>
          <a:p>
            <a:pPr marR="0" defTabSz="914400">
              <a:lnSpc>
                <a:spcPct val="130000"/>
              </a:lnSpc>
              <a:buClr>
                <a:schemeClr val="folHlink"/>
              </a:buClr>
              <a:buSzTx/>
              <a:buFont typeface="Wingdings" panose="05000000000000000000" pitchFamily="2" charset="2"/>
              <a:buNone/>
              <a:defRPr/>
            </a:pPr>
            <a:r>
              <a:rPr kumimoji="0" lang="en-US" altLang="zh-CN" sz="2800" b="1" kern="1200" cap="none" spc="0" normalizeH="0" baseline="0" noProof="0" dirty="0">
                <a:effectLst>
                  <a:outerShdw blurRad="38100" dist="38100" dir="2700000" algn="tl">
                    <a:srgbClr val="FFFFFF"/>
                  </a:outerShdw>
                </a:effectLst>
                <a:latin typeface="Times New Roman" panose="02020603050405020304" pitchFamily="18" charset="0"/>
                <a:ea typeface="楷体_GB2312" panose="02010609030101010101" pitchFamily="49" charset="-122"/>
                <a:cs typeface="+mn-cs"/>
              </a:rPr>
              <a:t>              </a:t>
            </a:r>
            <a:r>
              <a:rPr kumimoji="0" lang="en-US" altLang="zh-CN" sz="2800" b="1" kern="1200" cap="none" spc="0" normalizeH="0" baseline="0" noProof="0" dirty="0" err="1">
                <a:solidFill>
                  <a:srgbClr val="FF0000"/>
                </a:solidFill>
                <a:effectLst>
                  <a:outerShdw blurRad="38100" dist="38100" dir="2700000" algn="tl">
                    <a:srgbClr val="000000"/>
                  </a:outerShdw>
                </a:effectLst>
                <a:latin typeface="Times New Roman" panose="02020603050405020304" pitchFamily="18" charset="0"/>
                <a:ea typeface="楷体_GB2312" panose="02010609030101010101" pitchFamily="49" charset="-122"/>
                <a:cs typeface="+mn-cs"/>
              </a:rPr>
              <a:t>i</a:t>
            </a:r>
            <a:r>
              <a:rPr kumimoji="0" lang="en-US" altLang="zh-CN" sz="2800" b="1" kern="1200" cap="none" spc="0" normalizeH="0" baseline="0" noProof="0" dirty="0">
                <a:solidFill>
                  <a:srgbClr val="FF0000"/>
                </a:solidFill>
                <a:effectLst>
                  <a:outerShdw blurRad="38100" dist="38100" dir="2700000" algn="tl">
                    <a:srgbClr val="000000"/>
                  </a:outerShdw>
                </a:effectLst>
                <a:latin typeface="Times New Roman" panose="02020603050405020304" pitchFamily="18" charset="0"/>
                <a:ea typeface="楷体_GB2312" panose="02010609030101010101" pitchFamily="49" charset="-122"/>
                <a:cs typeface="+mn-cs"/>
              </a:rPr>
              <a:t>=</a:t>
            </a:r>
            <a:r>
              <a:rPr kumimoji="0" lang="en-US" altLang="zh-CN" sz="2800" b="1" kern="1200" cap="none" spc="0" normalizeH="0" baseline="0" noProof="0" dirty="0" err="1">
                <a:solidFill>
                  <a:srgbClr val="FF0000"/>
                </a:solidFill>
                <a:effectLst>
                  <a:outerShdw blurRad="38100" dist="38100" dir="2700000" algn="tl">
                    <a:srgbClr val="000000"/>
                  </a:outerShdw>
                </a:effectLst>
                <a:latin typeface="Times New Roman" panose="02020603050405020304" pitchFamily="18" charset="0"/>
                <a:ea typeface="楷体_GB2312" panose="02010609030101010101" pitchFamily="49" charset="-122"/>
                <a:cs typeface="+mn-cs"/>
              </a:rPr>
              <a:t>i</a:t>
            </a:r>
            <a:r>
              <a:rPr kumimoji="0" lang="en-US" altLang="zh-CN" sz="2800" b="1" kern="1200" cap="none" spc="0" normalizeH="0" baseline="0" noProof="0" dirty="0">
                <a:solidFill>
                  <a:srgbClr val="FF0000"/>
                </a:solidFill>
                <a:effectLst>
                  <a:outerShdw blurRad="38100" dist="38100" dir="2700000" algn="tl">
                    <a:srgbClr val="000000"/>
                  </a:outerShdw>
                </a:effectLst>
                <a:latin typeface="Times New Roman" panose="02020603050405020304" pitchFamily="18" charset="0"/>
                <a:ea typeface="楷体_GB2312" panose="02010609030101010101" pitchFamily="49" charset="-122"/>
                <a:cs typeface="+mn-cs"/>
              </a:rPr>
              <a:t>*2;           /*</a:t>
            </a:r>
            <a:r>
              <a:rPr kumimoji="0" lang="zh-CN" altLang="en-US" sz="2800" b="1" kern="1200" cap="none" spc="0" normalizeH="0" baseline="0" noProof="0" dirty="0">
                <a:solidFill>
                  <a:srgbClr val="FF0000"/>
                </a:solidFill>
                <a:effectLst>
                  <a:outerShdw blurRad="38100" dist="38100" dir="2700000" algn="tl">
                    <a:srgbClr val="000000"/>
                  </a:outerShdw>
                </a:effectLst>
                <a:latin typeface="Times New Roman" panose="02020603050405020304" pitchFamily="18" charset="0"/>
                <a:ea typeface="楷体_GB2312" panose="02010609030101010101" pitchFamily="49" charset="-122"/>
                <a:cs typeface="+mn-cs"/>
              </a:rPr>
              <a:t>语句</a:t>
            </a:r>
            <a:r>
              <a:rPr kumimoji="0" lang="en-US" altLang="zh-CN" sz="2800" b="1" kern="1200" cap="none" spc="0" normalizeH="0" baseline="0" noProof="0" dirty="0">
                <a:solidFill>
                  <a:srgbClr val="FF0000"/>
                </a:solidFill>
                <a:effectLst>
                  <a:outerShdw blurRad="38100" dist="38100" dir="2700000" algn="tl">
                    <a:srgbClr val="000000"/>
                  </a:outerShdw>
                </a:effectLst>
                <a:latin typeface="Times New Roman" panose="02020603050405020304" pitchFamily="18" charset="0"/>
                <a:ea typeface="楷体_GB2312" panose="02010609030101010101" pitchFamily="49" charset="-122"/>
                <a:cs typeface="+mn-cs"/>
              </a:rPr>
              <a:t>2*/</a:t>
            </a:r>
            <a:endParaRPr kumimoji="0" lang="en-US" altLang="zh-CN" sz="2800" b="1" kern="1200" cap="none" spc="0" normalizeH="0" baseline="0" noProof="0" dirty="0">
              <a:solidFill>
                <a:srgbClr val="FF0000"/>
              </a:solidFill>
              <a:effectLst>
                <a:outerShdw blurRad="38100" dist="38100" dir="2700000" algn="tl">
                  <a:srgbClr val="000000"/>
                </a:outerShdw>
              </a:effectLst>
              <a:latin typeface="Times New Roman" panose="02020603050405020304" pitchFamily="18" charset="0"/>
              <a:ea typeface="楷体_GB2312" panose="02010609030101010101" pitchFamily="49" charset="-122"/>
              <a:cs typeface="+mn-cs"/>
            </a:endParaRPr>
          </a:p>
        </p:txBody>
      </p:sp>
      <p:sp>
        <p:nvSpPr>
          <p:cNvPr id="670723" name="Text Box 3"/>
          <p:cNvSpPr txBox="1">
            <a:spLocks noChangeArrowheads="1"/>
          </p:cNvSpPr>
          <p:nvPr/>
        </p:nvSpPr>
        <p:spPr bwMode="auto">
          <a:xfrm>
            <a:off x="215900" y="3789363"/>
            <a:ext cx="8748713" cy="175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R="0" defTabSz="914400">
              <a:lnSpc>
                <a:spcPct val="130000"/>
              </a:lnSpc>
              <a:buClr>
                <a:schemeClr val="tx1"/>
              </a:buClr>
              <a:buSzTx/>
              <a:buFontTx/>
              <a:buNone/>
              <a:defRPr/>
            </a:pPr>
            <a:r>
              <a:rPr kumimoji="0" lang="zh-CN" altLang="en-US" sz="2800" b="1" kern="1200" cap="none" spc="0" normalizeH="0" baseline="0" noProof="0">
                <a:effectLst>
                  <a:outerShdw blurRad="38100" dist="38100" dir="2700000" algn="tl">
                    <a:srgbClr val="C0C0C0"/>
                  </a:outerShdw>
                </a:effectLst>
                <a:latin typeface="Times New Roman" panose="02020603050405020304" pitchFamily="18" charset="0"/>
                <a:ea typeface="楷体_GB2312" panose="02010609030101010101" pitchFamily="49" charset="-122"/>
                <a:cs typeface="+mn-cs"/>
              </a:rPr>
              <a:t>解： 设语句</a:t>
            </a:r>
            <a:r>
              <a:rPr kumimoji="0" lang="en-US" altLang="zh-CN" sz="2800" b="1" kern="1200" cap="none" spc="0" normalizeH="0" baseline="0" noProof="0">
                <a:effectLst>
                  <a:outerShdw blurRad="38100" dist="38100" dir="2700000" algn="tl">
                    <a:srgbClr val="C0C0C0"/>
                  </a:outerShdw>
                </a:effectLst>
                <a:latin typeface="Times New Roman" panose="02020603050405020304" pitchFamily="18" charset="0"/>
                <a:ea typeface="楷体_GB2312" panose="02010609030101010101" pitchFamily="49" charset="-122"/>
                <a:cs typeface="+mn-cs"/>
              </a:rPr>
              <a:t>2</a:t>
            </a:r>
            <a:r>
              <a:rPr kumimoji="0" lang="zh-CN" altLang="en-US" sz="2800" b="1" kern="1200" cap="none" spc="0" normalizeH="0" baseline="0" noProof="0">
                <a:effectLst>
                  <a:outerShdw blurRad="38100" dist="38100" dir="2700000" algn="tl">
                    <a:srgbClr val="C0C0C0"/>
                  </a:outerShdw>
                </a:effectLst>
                <a:latin typeface="Times New Roman" panose="02020603050405020304" pitchFamily="18" charset="0"/>
                <a:ea typeface="楷体_GB2312" panose="02010609030101010101" pitchFamily="49" charset="-122"/>
                <a:cs typeface="+mn-cs"/>
              </a:rPr>
              <a:t>的执行次数是：</a:t>
            </a:r>
            <a:r>
              <a:rPr kumimoji="0" lang="en-US" altLang="zh-CN" sz="2800" b="1" kern="1200" cap="none" spc="0" normalizeH="0" baseline="0" noProof="0">
                <a:effectLst>
                  <a:outerShdw blurRad="38100" dist="38100" dir="2700000" algn="tl">
                    <a:srgbClr val="C0C0C0"/>
                  </a:outerShdw>
                </a:effectLst>
                <a:latin typeface="Times New Roman" panose="02020603050405020304" pitchFamily="18" charset="0"/>
                <a:ea typeface="楷体_GB2312" panose="02010609030101010101" pitchFamily="49" charset="-122"/>
                <a:cs typeface="+mn-cs"/>
              </a:rPr>
              <a:t>f(n)</a:t>
            </a:r>
            <a:r>
              <a:rPr kumimoji="0" lang="zh-CN" altLang="en-US" sz="2800" b="1" kern="1200" cap="none" spc="0" normalizeH="0" baseline="0" noProof="0">
                <a:effectLst>
                  <a:outerShdw blurRad="38100" dist="38100" dir="2700000" algn="tl">
                    <a:srgbClr val="C0C0C0"/>
                  </a:outerShdw>
                </a:effectLst>
                <a:latin typeface="Times New Roman" panose="02020603050405020304" pitchFamily="18" charset="0"/>
                <a:ea typeface="楷体_GB2312" panose="02010609030101010101" pitchFamily="49" charset="-122"/>
                <a:cs typeface="+mn-cs"/>
              </a:rPr>
              <a:t>，</a:t>
            </a:r>
            <a:endParaRPr kumimoji="0" lang="zh-CN" altLang="en-US" sz="2800" b="1" kern="1200" cap="none" spc="0" normalizeH="0" baseline="0" noProof="0">
              <a:effectLst>
                <a:outerShdw blurRad="38100" dist="38100" dir="2700000" algn="tl">
                  <a:srgbClr val="C0C0C0"/>
                </a:outerShdw>
              </a:effectLst>
              <a:latin typeface="Times New Roman" panose="02020603050405020304" pitchFamily="18" charset="0"/>
              <a:ea typeface="楷体_GB2312" panose="02010609030101010101" pitchFamily="49" charset="-122"/>
              <a:cs typeface="+mn-cs"/>
            </a:endParaRPr>
          </a:p>
          <a:p>
            <a:pPr marR="0" defTabSz="914400">
              <a:lnSpc>
                <a:spcPct val="130000"/>
              </a:lnSpc>
              <a:buClr>
                <a:schemeClr val="tx1"/>
              </a:buClr>
              <a:buSzTx/>
              <a:buFontTx/>
              <a:buNone/>
              <a:defRPr/>
            </a:pPr>
            <a:r>
              <a:rPr kumimoji="0" lang="zh-CN" altLang="en-US" sz="2800" b="1" kern="1200" cap="none" spc="0" normalizeH="0" baseline="0" noProof="0">
                <a:effectLst>
                  <a:outerShdw blurRad="38100" dist="38100" dir="2700000" algn="tl">
                    <a:srgbClr val="C0C0C0"/>
                  </a:outerShdw>
                </a:effectLst>
                <a:latin typeface="Times New Roman" panose="02020603050405020304" pitchFamily="18" charset="0"/>
                <a:ea typeface="楷体_GB2312" panose="02010609030101010101" pitchFamily="49" charset="-122"/>
                <a:cs typeface="+mn-cs"/>
              </a:rPr>
              <a:t>          则有</a:t>
            </a:r>
            <a:r>
              <a:rPr kumimoji="0" lang="en-US" altLang="zh-CN" sz="2800" b="1" kern="1200" cap="none" spc="0" normalizeH="0" baseline="0" noProof="0">
                <a:effectLst>
                  <a:outerShdw blurRad="38100" dist="38100" dir="2700000" algn="tl">
                    <a:srgbClr val="C0C0C0"/>
                  </a:outerShdw>
                </a:effectLst>
                <a:latin typeface="Times New Roman" panose="02020603050405020304" pitchFamily="18" charset="0"/>
                <a:ea typeface="楷体_GB2312" panose="02010609030101010101" pitchFamily="49" charset="-122"/>
                <a:cs typeface="+mn-cs"/>
              </a:rPr>
              <a:t>2</a:t>
            </a:r>
            <a:r>
              <a:rPr kumimoji="0" lang="en-US" altLang="zh-CN" sz="2800" b="1" kern="1200" cap="none" spc="0" normalizeH="0" baseline="30000" noProof="0">
                <a:effectLst>
                  <a:outerShdw blurRad="38100" dist="38100" dir="2700000" algn="tl">
                    <a:srgbClr val="C0C0C0"/>
                  </a:outerShdw>
                </a:effectLst>
                <a:latin typeface="Times New Roman" panose="02020603050405020304" pitchFamily="18" charset="0"/>
                <a:ea typeface="楷体_GB2312" panose="02010609030101010101" pitchFamily="49" charset="-122"/>
                <a:cs typeface="+mn-cs"/>
              </a:rPr>
              <a:t>f(n)</a:t>
            </a:r>
            <a:r>
              <a:rPr kumimoji="0" lang="en-US" altLang="zh-CN" sz="2800" b="1" kern="1200" cap="none" spc="0" normalizeH="0" baseline="0" noProof="0">
                <a:effectLst>
                  <a:outerShdw blurRad="38100" dist="38100" dir="2700000" algn="tl">
                    <a:srgbClr val="C0C0C0"/>
                  </a:outerShdw>
                </a:effectLst>
                <a:latin typeface="Times New Roman" panose="02020603050405020304" pitchFamily="18" charset="0"/>
                <a:ea typeface="楷体_GB2312" panose="02010609030101010101" pitchFamily="49" charset="-122"/>
                <a:cs typeface="Times New Roman" panose="02020603050405020304" pitchFamily="18" charset="0"/>
              </a:rPr>
              <a:t>≤n</a:t>
            </a:r>
            <a:r>
              <a:rPr kumimoji="0" lang="zh-CN" altLang="en-US" sz="2800" b="1" kern="1200" cap="none" spc="0" normalizeH="0" baseline="0" noProof="0">
                <a:effectLst>
                  <a:outerShdw blurRad="38100" dist="38100" dir="2700000" algn="tl">
                    <a:srgbClr val="C0C0C0"/>
                  </a:outerShdw>
                </a:effectLst>
                <a:latin typeface="Times New Roman" panose="02020603050405020304" pitchFamily="18" charset="0"/>
                <a:ea typeface="楷体_GB2312" panose="02010609030101010101" pitchFamily="49" charset="-122"/>
                <a:cs typeface="Times New Roman" panose="02020603050405020304" pitchFamily="18" charset="0"/>
              </a:rPr>
              <a:t>，</a:t>
            </a:r>
            <a:endParaRPr kumimoji="0" lang="zh-CN" altLang="en-US" sz="2800" b="1" kern="1200" cap="none" spc="0" normalizeH="0" baseline="0" noProof="0">
              <a:effectLst>
                <a:outerShdw blurRad="38100" dist="38100" dir="2700000" algn="tl">
                  <a:srgbClr val="C0C0C0"/>
                </a:outerShdw>
              </a:effectLst>
              <a:latin typeface="Times New Roman" panose="02020603050405020304" pitchFamily="18" charset="0"/>
              <a:ea typeface="楷体_GB2312" panose="02010609030101010101" pitchFamily="49" charset="-122"/>
              <a:cs typeface="Times New Roman" panose="02020603050405020304" pitchFamily="18" charset="0"/>
            </a:endParaRPr>
          </a:p>
          <a:p>
            <a:pPr marR="0" defTabSz="914400">
              <a:lnSpc>
                <a:spcPct val="130000"/>
              </a:lnSpc>
              <a:buClr>
                <a:schemeClr val="tx1"/>
              </a:buClr>
              <a:buSzTx/>
              <a:buFontTx/>
              <a:buNone/>
              <a:defRPr/>
            </a:pPr>
            <a:r>
              <a:rPr kumimoji="0" lang="zh-CN" altLang="en-US" sz="2800" b="1" kern="1200" cap="none" spc="0" normalizeH="0" baseline="0" noProof="0">
                <a:effectLst>
                  <a:outerShdw blurRad="38100" dist="38100" dir="2700000" algn="tl">
                    <a:srgbClr val="C0C0C0"/>
                  </a:outerShdw>
                </a:effectLst>
                <a:latin typeface="Times New Roman" panose="02020603050405020304" pitchFamily="18" charset="0"/>
                <a:ea typeface="楷体_GB2312" panose="02010609030101010101" pitchFamily="49" charset="-122"/>
                <a:cs typeface="Times New Roman" panose="02020603050405020304" pitchFamily="18" charset="0"/>
              </a:rPr>
              <a:t>	即</a:t>
            </a:r>
            <a:r>
              <a:rPr kumimoji="0" lang="en-US" altLang="zh-CN" sz="2800" b="1" kern="1200" cap="none" spc="0" normalizeH="0" baseline="0" noProof="0">
                <a:effectLst>
                  <a:outerShdw blurRad="38100" dist="38100" dir="2700000" algn="tl">
                    <a:srgbClr val="C0C0C0"/>
                  </a:outerShdw>
                </a:effectLst>
                <a:latin typeface="Times New Roman" panose="02020603050405020304" pitchFamily="18" charset="0"/>
                <a:ea typeface="楷体_GB2312" panose="02010609030101010101" pitchFamily="49" charset="-122"/>
                <a:cs typeface="Times New Roman" panose="02020603050405020304" pitchFamily="18" charset="0"/>
              </a:rPr>
              <a:t>f(n) ≤log</a:t>
            </a:r>
            <a:r>
              <a:rPr kumimoji="0" lang="en-US" altLang="zh-CN" sz="2800" b="1" kern="1200" cap="none" spc="0" normalizeH="0" baseline="-25000" noProof="0">
                <a:effectLst>
                  <a:outerShdw blurRad="38100" dist="38100" dir="2700000" algn="tl">
                    <a:srgbClr val="C0C0C0"/>
                  </a:outerShdw>
                </a:effectLst>
                <a:latin typeface="Times New Roman" panose="02020603050405020304" pitchFamily="18" charset="0"/>
                <a:ea typeface="楷体_GB2312" panose="02010609030101010101" pitchFamily="49" charset="-122"/>
                <a:cs typeface="Times New Roman" panose="02020603050405020304" pitchFamily="18" charset="0"/>
              </a:rPr>
              <a:t>2</a:t>
            </a:r>
            <a:r>
              <a:rPr kumimoji="0" lang="en-US" altLang="zh-CN" sz="2800" b="1" kern="1200" cap="none" spc="0" normalizeH="0" baseline="0" noProof="0">
                <a:effectLst>
                  <a:outerShdw blurRad="38100" dist="38100" dir="2700000" algn="tl">
                    <a:srgbClr val="C0C0C0"/>
                  </a:outerShdw>
                </a:effectLst>
                <a:latin typeface="Times New Roman" panose="02020603050405020304" pitchFamily="18" charset="0"/>
                <a:ea typeface="楷体_GB2312" panose="02010609030101010101" pitchFamily="49" charset="-122"/>
                <a:cs typeface="Times New Roman" panose="02020603050405020304" pitchFamily="18" charset="0"/>
              </a:rPr>
              <a:t>n</a:t>
            </a:r>
            <a:r>
              <a:rPr kumimoji="0" lang="en-US" altLang="zh-CN" sz="2800" b="1" kern="1200" cap="none" spc="0" normalizeH="0" baseline="0" noProof="0">
                <a:effectLst>
                  <a:outerShdw blurRad="38100" dist="38100" dir="2700000" algn="tl">
                    <a:srgbClr val="C0C0C0"/>
                  </a:outerShdw>
                </a:effectLst>
                <a:latin typeface="Times New Roman" panose="02020603050405020304" pitchFamily="18" charset="0"/>
                <a:ea typeface="楷体_GB2312" panose="02010609030101010101" pitchFamily="49" charset="-122"/>
                <a:cs typeface="+mn-cs"/>
              </a:rPr>
              <a:t>≤c*log</a:t>
            </a:r>
            <a:r>
              <a:rPr kumimoji="0" lang="en-US" altLang="zh-CN" sz="2800" b="1" kern="1200" cap="none" spc="0" normalizeH="0" baseline="-25000" noProof="0">
                <a:effectLst>
                  <a:outerShdw blurRad="38100" dist="38100" dir="2700000" algn="tl">
                    <a:srgbClr val="C0C0C0"/>
                  </a:outerShdw>
                </a:effectLst>
                <a:latin typeface="Times New Roman" panose="02020603050405020304" pitchFamily="18" charset="0"/>
                <a:ea typeface="楷体_GB2312" panose="02010609030101010101" pitchFamily="49" charset="-122"/>
                <a:cs typeface="+mn-cs"/>
              </a:rPr>
              <a:t>2</a:t>
            </a:r>
            <a:r>
              <a:rPr kumimoji="0" lang="en-US" altLang="zh-CN" sz="2800" b="1" kern="1200" cap="none" spc="0" normalizeH="0" baseline="0" noProof="0">
                <a:effectLst>
                  <a:outerShdw blurRad="38100" dist="38100" dir="2700000" algn="tl">
                    <a:srgbClr val="C0C0C0"/>
                  </a:outerShdw>
                </a:effectLst>
                <a:latin typeface="Times New Roman" panose="02020603050405020304" pitchFamily="18" charset="0"/>
                <a:ea typeface="楷体_GB2312" panose="02010609030101010101" pitchFamily="49" charset="-122"/>
                <a:cs typeface="+mn-cs"/>
              </a:rPr>
              <a:t>n</a:t>
            </a:r>
            <a:r>
              <a:rPr kumimoji="0" lang="zh-CN" altLang="en-US" sz="2800" b="1" kern="1200" cap="none" spc="0" normalizeH="0" baseline="0" noProof="0">
                <a:effectLst>
                  <a:outerShdw blurRad="38100" dist="38100" dir="2700000" algn="tl">
                    <a:srgbClr val="C0C0C0"/>
                  </a:outerShdw>
                </a:effectLst>
                <a:latin typeface="Times New Roman" panose="02020603050405020304" pitchFamily="18" charset="0"/>
                <a:ea typeface="楷体_GB2312" panose="02010609030101010101" pitchFamily="49" charset="-122"/>
                <a:cs typeface="+mn-cs"/>
              </a:rPr>
              <a:t>，</a:t>
            </a:r>
            <a:r>
              <a:rPr kumimoji="0" lang="en-US" altLang="zh-CN" sz="2800" b="1" kern="1200" cap="none" spc="0" normalizeH="0" baseline="0" noProof="0">
                <a:effectLst>
                  <a:outerShdw blurRad="38100" dist="38100" dir="2700000" algn="tl">
                    <a:srgbClr val="C0C0C0"/>
                  </a:outerShdw>
                </a:effectLst>
                <a:latin typeface="Times New Roman" panose="02020603050405020304" pitchFamily="18" charset="0"/>
                <a:ea typeface="楷体_GB2312" panose="02010609030101010101" pitchFamily="49" charset="-122"/>
                <a:cs typeface="+mn-cs"/>
              </a:rPr>
              <a:t>c</a:t>
            </a:r>
            <a:r>
              <a:rPr kumimoji="0" lang="zh-CN" altLang="en-US" sz="2800" b="1" kern="1200" cap="none" spc="0" normalizeH="0" baseline="0" noProof="0">
                <a:effectLst>
                  <a:outerShdw blurRad="38100" dist="38100" dir="2700000" algn="tl">
                    <a:srgbClr val="C0C0C0"/>
                  </a:outerShdw>
                </a:effectLst>
                <a:latin typeface="Times New Roman" panose="02020603050405020304" pitchFamily="18" charset="0"/>
                <a:ea typeface="楷体_GB2312" panose="02010609030101010101" pitchFamily="49" charset="-122"/>
                <a:cs typeface="+mn-cs"/>
              </a:rPr>
              <a:t>为正常数</a:t>
            </a:r>
            <a:endParaRPr kumimoji="0" lang="zh-CN" altLang="en-US" sz="2800" b="1" kern="1200" cap="none" spc="0" normalizeH="0" baseline="0" noProof="0">
              <a:effectLst>
                <a:outerShdw blurRad="38100" dist="38100" dir="2700000" algn="tl">
                  <a:srgbClr val="C0C0C0"/>
                </a:outerShdw>
              </a:effectLst>
              <a:latin typeface="Times New Roman" panose="02020603050405020304" pitchFamily="18" charset="0"/>
              <a:ea typeface="楷体_GB2312" panose="02010609030101010101" pitchFamily="49" charset="-122"/>
              <a:cs typeface="+mn-cs"/>
            </a:endParaRPr>
          </a:p>
        </p:txBody>
      </p:sp>
      <p:sp>
        <p:nvSpPr>
          <p:cNvPr id="670724" name="Rectangle 4"/>
          <p:cNvSpPr>
            <a:spLocks noChangeArrowheads="1"/>
          </p:cNvSpPr>
          <p:nvPr/>
        </p:nvSpPr>
        <p:spPr bwMode="auto">
          <a:xfrm>
            <a:off x="1114425" y="5661025"/>
            <a:ext cx="80295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342900" marR="0" lvl="0" indent="-342900" algn="l" defTabSz="914400" rtl="0" eaLnBrk="1" fontAlgn="base" latinLnBrk="0" hangingPunct="1">
              <a:lnSpc>
                <a:spcPct val="100000"/>
              </a:lnSpc>
              <a:spcBef>
                <a:spcPct val="30000"/>
              </a:spcBef>
              <a:spcAft>
                <a:spcPct val="0"/>
              </a:spcAft>
              <a:buClrTx/>
              <a:buSzPct val="80000"/>
              <a:buFont typeface="Wingdings" panose="05000000000000000000" pitchFamily="2" charset="2"/>
              <a:buNone/>
              <a:defRPr/>
            </a:pPr>
            <a:r>
              <a:rPr kumimoji="0" lang="zh-CN" altLang="en-US" sz="28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楷体_GB2312" panose="02010609030101010101" pitchFamily="49" charset="-122"/>
                <a:cs typeface="+mn-cs"/>
              </a:rPr>
              <a:t>所以，该程序段的渐进时间复杂度为：</a:t>
            </a:r>
            <a:r>
              <a:rPr kumimoji="0" lang="en-US" altLang="zh-CN" sz="2800" b="1" i="0" u="none" strike="noStrike" kern="1200" cap="none" spc="0" normalizeH="0" baseline="0" noProof="0">
                <a:ln>
                  <a:noFill/>
                </a:ln>
                <a:solidFill>
                  <a:srgbClr val="FF0000"/>
                </a:solidFill>
                <a:effectLst>
                  <a:outerShdw blurRad="38100" dist="38100" dir="2700000" algn="tl">
                    <a:srgbClr val="C0C0C0"/>
                  </a:outerShdw>
                </a:effectLst>
                <a:uLnTx/>
                <a:uFillTx/>
                <a:latin typeface="Times New Roman" panose="02020603050405020304" pitchFamily="18" charset="0"/>
                <a:ea typeface="楷体_GB2312" panose="02010609030101010101" pitchFamily="49" charset="-122"/>
                <a:cs typeface="+mn-cs"/>
              </a:rPr>
              <a:t>O</a:t>
            </a:r>
            <a:r>
              <a:rPr kumimoji="0" lang="en-US" altLang="zh-CN" sz="2800" b="1" i="0" u="none" strike="noStrike" kern="1200" cap="none" spc="0" normalizeH="0" baseline="0" noProof="0">
                <a:ln>
                  <a:noFill/>
                </a:ln>
                <a:solidFill>
                  <a:srgbClr val="FF0000"/>
                </a:solidFill>
                <a:effectLst>
                  <a:outerShdw blurRad="38100" dist="38100" dir="2700000" algn="tl">
                    <a:srgbClr val="C0C0C0"/>
                  </a:outerShdw>
                </a:effectLst>
                <a:uLnTx/>
                <a:uFillTx/>
                <a:latin typeface="Times New Roman" panose="02020603050405020304" pitchFamily="18" charset="0"/>
                <a:ea typeface="黑体" panose="02010609060101010101" pitchFamily="2" charset="-122"/>
                <a:cs typeface="+mn-cs"/>
              </a:rPr>
              <a:t> (log</a:t>
            </a:r>
            <a:r>
              <a:rPr kumimoji="0" lang="en-US" altLang="zh-CN" sz="2800" b="1" i="0" u="none" strike="noStrike" kern="1200" cap="none" spc="0" normalizeH="0" baseline="-25000" noProof="0">
                <a:ln>
                  <a:noFill/>
                </a:ln>
                <a:solidFill>
                  <a:srgbClr val="FF0000"/>
                </a:solidFill>
                <a:effectLst>
                  <a:outerShdw blurRad="38100" dist="38100" dir="2700000" algn="tl">
                    <a:srgbClr val="C0C0C0"/>
                  </a:outerShdw>
                </a:effectLst>
                <a:uLnTx/>
                <a:uFillTx/>
                <a:latin typeface="Times New Roman" panose="02020603050405020304" pitchFamily="18" charset="0"/>
                <a:ea typeface="黑体" panose="02010609060101010101" pitchFamily="2" charset="-122"/>
                <a:cs typeface="+mn-cs"/>
              </a:rPr>
              <a:t>2</a:t>
            </a:r>
            <a:r>
              <a:rPr kumimoji="0" lang="en-US" altLang="zh-CN" sz="2800" b="1" i="0" u="none" strike="noStrike" kern="1200" cap="none" spc="0" normalizeH="0" baseline="0" noProof="0">
                <a:ln>
                  <a:noFill/>
                </a:ln>
                <a:solidFill>
                  <a:srgbClr val="FF0000"/>
                </a:solidFill>
                <a:effectLst>
                  <a:outerShdw blurRad="38100" dist="38100" dir="2700000" algn="tl">
                    <a:srgbClr val="C0C0C0"/>
                  </a:outerShdw>
                </a:effectLst>
                <a:uLnTx/>
                <a:uFillTx/>
                <a:latin typeface="Times New Roman" panose="02020603050405020304" pitchFamily="18" charset="0"/>
                <a:ea typeface="黑体" panose="02010609060101010101" pitchFamily="2" charset="-122"/>
                <a:cs typeface="+mn-cs"/>
              </a:rPr>
              <a:t>n)</a:t>
            </a:r>
            <a:endParaRPr kumimoji="0" lang="en-US" altLang="zh-CN" sz="2800" b="1" i="0" u="none" strike="noStrike" kern="1200" cap="none" spc="0" normalizeH="0" baseline="0" noProof="0">
              <a:ln>
                <a:noFill/>
              </a:ln>
              <a:solidFill>
                <a:srgbClr val="FF0000"/>
              </a:solidFill>
              <a:effectLst>
                <a:outerShdw blurRad="38100" dist="38100" dir="2700000" algn="tl">
                  <a:srgbClr val="C0C0C0"/>
                </a:outerShdw>
              </a:effectLst>
              <a:uLnTx/>
              <a:uFillTx/>
              <a:latin typeface="Times New Roman" panose="02020603050405020304" pitchFamily="18" charset="0"/>
              <a:ea typeface="黑体" panose="02010609060101010101" pitchFamily="2" charset="-122"/>
              <a:cs typeface="+mn-cs"/>
            </a:endParaRPr>
          </a:p>
        </p:txBody>
      </p:sp>
      <p:sp>
        <p:nvSpPr>
          <p:cNvPr id="2" name="日期占位符 1"/>
          <p:cNvSpPr>
            <a:spLocks noGrp="1"/>
          </p:cNvSpPr>
          <p:nvPr>
            <p:ph type="dt" sz="half" idx="10"/>
          </p:nvPr>
        </p:nvSpPr>
        <p:spPr/>
        <p:txBody>
          <a:bodyPr/>
          <a:lstStyle/>
          <a:p>
            <a:r>
              <a:rPr lang="en-US" altLang="zh-CN"/>
              <a:t>Data Structures and algorithms</a:t>
            </a:r>
            <a:endParaRPr lang="zh-CN" altLang="en-US"/>
          </a:p>
        </p:txBody>
      </p:sp>
      <p:sp>
        <p:nvSpPr>
          <p:cNvPr id="3" name="页脚占位符 2"/>
          <p:cNvSpPr>
            <a:spLocks noGrp="1"/>
          </p:cNvSpPr>
          <p:nvPr>
            <p:ph type="ftr" sz="quarter" idx="11"/>
          </p:nvPr>
        </p:nvSpPr>
        <p:spPr/>
        <p:txBody>
          <a:bodyPr/>
          <a:lstStyle/>
          <a:p>
            <a:r>
              <a:rPr lang="en-US" altLang="zh-CN"/>
              <a:t>Software College Northeastern University</a:t>
            </a:r>
            <a:endParaRPr lang="zh-CN" altLang="en-US"/>
          </a:p>
        </p:txBody>
      </p:sp>
      <p:sp>
        <p:nvSpPr>
          <p:cNvPr id="4" name="灯片编号占位符 3"/>
          <p:cNvSpPr>
            <a:spLocks noGrp="1"/>
          </p:cNvSpPr>
          <p:nvPr>
            <p:ph type="sldNum" sz="quarter" idx="12"/>
          </p:nvPr>
        </p:nvSpPr>
        <p:spPr/>
        <p:txBody>
          <a:bodyPr/>
          <a:lstStyle/>
          <a:p>
            <a:fld id="{6E1C0148-8E4B-4B2F-95CE-20B4709700AE}" type="slidenum">
              <a:rPr lang="zh-CN" altLang="en-US" smtClean="0"/>
            </a:fld>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grpId="0" nodeType="clickEffect">
                                  <p:stCondLst>
                                    <p:cond delay="0"/>
                                  </p:stCondLst>
                                  <p:childTnLst>
                                    <p:set>
                                      <p:cBhvr>
                                        <p:cTn id="6" dur="1" fill="hold">
                                          <p:stCondLst>
                                            <p:cond delay="0"/>
                                          </p:stCondLst>
                                        </p:cTn>
                                        <p:tgtEl>
                                          <p:spTgt spid="670723"/>
                                        </p:tgtEl>
                                        <p:attrNameLst>
                                          <p:attrName>style.visibility</p:attrName>
                                        </p:attrNameLst>
                                      </p:cBhvr>
                                      <p:to>
                                        <p:strVal val="visible"/>
                                      </p:to>
                                    </p:set>
                                    <p:animEffect transition="in" filter="blinds(vertical)">
                                      <p:cBhvr>
                                        <p:cTn id="7" dur="500"/>
                                        <p:tgtEl>
                                          <p:spTgt spid="67072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grpId="0" nodeType="clickEffect">
                                  <p:stCondLst>
                                    <p:cond delay="0"/>
                                  </p:stCondLst>
                                  <p:childTnLst>
                                    <p:set>
                                      <p:cBhvr>
                                        <p:cTn id="11" dur="1" fill="hold">
                                          <p:stCondLst>
                                            <p:cond delay="0"/>
                                          </p:stCondLst>
                                        </p:cTn>
                                        <p:tgtEl>
                                          <p:spTgt spid="670724"/>
                                        </p:tgtEl>
                                        <p:attrNameLst>
                                          <p:attrName>style.visibility</p:attrName>
                                        </p:attrNameLst>
                                      </p:cBhvr>
                                      <p:to>
                                        <p:strVal val="visible"/>
                                      </p:to>
                                    </p:set>
                                    <p:animEffect transition="in" filter="blinds(vertical)">
                                      <p:cBhvr>
                                        <p:cTn id="12" dur="500"/>
                                        <p:tgtEl>
                                          <p:spTgt spid="6707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0723" grpId="0" bldLvl="0" animBg="1"/>
      <p:bldP spid="670724" grpId="0" bldLvl="0" animBg="1"/>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Text Box 2"/>
          <p:cNvSpPr txBox="1"/>
          <p:nvPr/>
        </p:nvSpPr>
        <p:spPr>
          <a:xfrm>
            <a:off x="1371600" y="228600"/>
            <a:ext cx="7126288" cy="762000"/>
          </a:xfrm>
          <a:prstGeom prst="rect">
            <a:avLst/>
          </a:prstGeom>
          <a:noFill/>
          <a:ln w="9525">
            <a:noFill/>
          </a:ln>
        </p:spPr>
        <p:txBody>
          <a:bodyPr>
            <a:spAutoFit/>
          </a:bodyPr>
          <a:lstStyle/>
          <a:p>
            <a:r>
              <a:rPr lang="zh-CN" altLang="en-US" sz="4400" b="1" dirty="0">
                <a:solidFill>
                  <a:srgbClr val="660066"/>
                </a:solidFill>
                <a:latin typeface="楷体_GB2312" panose="02010609030101010101" pitchFamily="49" charset="-122"/>
                <a:ea typeface="楷体_GB2312" panose="02010609030101010101" pitchFamily="49" charset="-122"/>
              </a:rPr>
              <a:t>四、算法的存储空间需求</a:t>
            </a:r>
            <a:endParaRPr lang="zh-CN" altLang="en-US" sz="2400" b="1" dirty="0">
              <a:latin typeface="楷体_GB2312" panose="02010609030101010101" pitchFamily="49" charset="-122"/>
              <a:ea typeface="楷体_GB2312" panose="02010609030101010101" pitchFamily="49" charset="-122"/>
            </a:endParaRPr>
          </a:p>
        </p:txBody>
      </p:sp>
      <p:sp>
        <p:nvSpPr>
          <p:cNvPr id="98307" name="Text Box 3"/>
          <p:cNvSpPr txBox="1"/>
          <p:nvPr/>
        </p:nvSpPr>
        <p:spPr>
          <a:xfrm>
            <a:off x="1127125" y="1309688"/>
            <a:ext cx="5508239" cy="646331"/>
          </a:xfrm>
          <a:prstGeom prst="rect">
            <a:avLst/>
          </a:prstGeom>
          <a:noFill/>
          <a:ln w="9525">
            <a:noFill/>
          </a:ln>
        </p:spPr>
        <p:txBody>
          <a:bodyPr wrap="none">
            <a:spAutoFit/>
          </a:bodyPr>
          <a:lstStyle/>
          <a:p>
            <a:r>
              <a:rPr lang="zh-CN" altLang="en-US" sz="3600" dirty="0">
                <a:latin typeface="楷体_GB2312" panose="02010609030101010101" pitchFamily="49" charset="-122"/>
                <a:ea typeface="楷体_GB2312" panose="02010609030101010101" pitchFamily="49" charset="-122"/>
              </a:rPr>
              <a:t>算法的</a:t>
            </a:r>
            <a:r>
              <a:rPr lang="zh-CN" altLang="en-US" sz="3600" b="1" dirty="0">
                <a:latin typeface="楷体_GB2312" panose="02010609030101010101" pitchFamily="49" charset="-122"/>
                <a:ea typeface="楷体_GB2312" panose="02010609030101010101" pitchFamily="49" charset="-122"/>
              </a:rPr>
              <a:t>空间复杂度定义为</a:t>
            </a:r>
            <a:r>
              <a:rPr lang="en-US" altLang="zh-CN" sz="3600" b="1" dirty="0">
                <a:latin typeface="楷体_GB2312" panose="02010609030101010101" pitchFamily="49" charset="-122"/>
                <a:ea typeface="楷体_GB2312" panose="02010609030101010101" pitchFamily="49" charset="-122"/>
              </a:rPr>
              <a:t>:</a:t>
            </a:r>
            <a:endParaRPr lang="en-US" altLang="zh-CN" sz="3600" b="1" dirty="0">
              <a:latin typeface="楷体_GB2312" panose="02010609030101010101" pitchFamily="49" charset="-122"/>
              <a:ea typeface="楷体_GB2312" panose="02010609030101010101" pitchFamily="49" charset="-122"/>
            </a:endParaRPr>
          </a:p>
        </p:txBody>
      </p:sp>
      <p:sp>
        <p:nvSpPr>
          <p:cNvPr id="98308" name="Text Box 4"/>
          <p:cNvSpPr txBox="1"/>
          <p:nvPr/>
        </p:nvSpPr>
        <p:spPr>
          <a:xfrm>
            <a:off x="923925" y="3505200"/>
            <a:ext cx="6692858" cy="2175467"/>
          </a:xfrm>
          <a:prstGeom prst="rect">
            <a:avLst/>
          </a:prstGeom>
          <a:noFill/>
          <a:ln w="9525">
            <a:noFill/>
          </a:ln>
        </p:spPr>
        <p:txBody>
          <a:bodyPr wrap="none">
            <a:spAutoFit/>
          </a:bodyPr>
          <a:lstStyle/>
          <a:p>
            <a:pPr>
              <a:lnSpc>
                <a:spcPct val="130000"/>
              </a:lnSpc>
            </a:pPr>
            <a:r>
              <a:rPr lang="zh-CN" altLang="en-US" sz="3600" dirty="0">
                <a:latin typeface="Times New Roman" panose="02020603050405020304" pitchFamily="18" charset="0"/>
                <a:ea typeface="楷体_GB2312" panose="02010609030101010101" pitchFamily="49" charset="-122"/>
              </a:rPr>
              <a:t>    </a:t>
            </a:r>
            <a:r>
              <a:rPr lang="zh-CN" altLang="en-US" sz="3600" b="1" dirty="0">
                <a:solidFill>
                  <a:schemeClr val="tx2"/>
                </a:solidFill>
                <a:latin typeface="Times New Roman" panose="02020603050405020304" pitchFamily="18" charset="0"/>
                <a:ea typeface="楷体_GB2312" panose="02010609030101010101" pitchFamily="49" charset="-122"/>
              </a:rPr>
              <a:t>表示</a:t>
            </a:r>
            <a:r>
              <a:rPr lang="zh-CN" altLang="en-US" sz="3600" b="1" dirty="0">
                <a:solidFill>
                  <a:srgbClr val="FF0000"/>
                </a:solidFill>
                <a:latin typeface="Times New Roman" panose="02020603050405020304" pitchFamily="18" charset="0"/>
                <a:ea typeface="楷体_GB2312" panose="02010609030101010101" pitchFamily="49" charset="-122"/>
              </a:rPr>
              <a:t>随着问题规模 </a:t>
            </a:r>
            <a:r>
              <a:rPr lang="en-US" altLang="zh-CN" sz="3600" b="1" dirty="0">
                <a:solidFill>
                  <a:srgbClr val="FF0000"/>
                </a:solidFill>
                <a:latin typeface="Times New Roman" panose="02020603050405020304" pitchFamily="18" charset="0"/>
                <a:ea typeface="楷体_GB2312" panose="02010609030101010101" pitchFamily="49" charset="-122"/>
              </a:rPr>
              <a:t>n </a:t>
            </a:r>
            <a:r>
              <a:rPr lang="zh-CN" altLang="en-US" sz="3600" b="1" dirty="0">
                <a:solidFill>
                  <a:srgbClr val="FF0000"/>
                </a:solidFill>
                <a:latin typeface="Times New Roman" panose="02020603050405020304" pitchFamily="18" charset="0"/>
                <a:ea typeface="楷体_GB2312" panose="02010609030101010101" pitchFamily="49" charset="-122"/>
              </a:rPr>
              <a:t>的增大，</a:t>
            </a:r>
            <a:endParaRPr lang="zh-CN" altLang="en-US" sz="3600" b="1" dirty="0">
              <a:solidFill>
                <a:srgbClr val="FF0000"/>
              </a:solidFill>
              <a:latin typeface="Times New Roman" panose="02020603050405020304" pitchFamily="18" charset="0"/>
              <a:ea typeface="楷体_GB2312" panose="02010609030101010101" pitchFamily="49" charset="-122"/>
            </a:endParaRPr>
          </a:p>
          <a:p>
            <a:pPr>
              <a:lnSpc>
                <a:spcPct val="130000"/>
              </a:lnSpc>
            </a:pPr>
            <a:r>
              <a:rPr lang="zh-CN" altLang="en-US" sz="3600" b="1" dirty="0">
                <a:solidFill>
                  <a:srgbClr val="FF0000"/>
                </a:solidFill>
                <a:latin typeface="Times New Roman" panose="02020603050405020304" pitchFamily="18" charset="0"/>
                <a:ea typeface="楷体_GB2312" panose="02010609030101010101" pitchFamily="49" charset="-122"/>
              </a:rPr>
              <a:t>算法运行所需存储量的增长率</a:t>
            </a:r>
            <a:endParaRPr lang="zh-CN" altLang="en-US" sz="3600" b="1" dirty="0">
              <a:solidFill>
                <a:srgbClr val="FF0000"/>
              </a:solidFill>
              <a:latin typeface="Times New Roman" panose="02020603050405020304" pitchFamily="18" charset="0"/>
              <a:ea typeface="楷体_GB2312" panose="02010609030101010101" pitchFamily="49" charset="-122"/>
            </a:endParaRPr>
          </a:p>
          <a:p>
            <a:pPr>
              <a:lnSpc>
                <a:spcPct val="130000"/>
              </a:lnSpc>
            </a:pPr>
            <a:r>
              <a:rPr lang="zh-CN" altLang="en-US" sz="3600" b="1" dirty="0">
                <a:solidFill>
                  <a:srgbClr val="FF0000"/>
                </a:solidFill>
                <a:latin typeface="Times New Roman" panose="02020603050405020304" pitchFamily="18" charset="0"/>
                <a:ea typeface="楷体_GB2312" panose="02010609030101010101" pitchFamily="49" charset="-122"/>
              </a:rPr>
              <a:t>与 </a:t>
            </a:r>
            <a:r>
              <a:rPr lang="en-US" altLang="zh-CN" sz="3600" b="1" dirty="0">
                <a:solidFill>
                  <a:srgbClr val="FF0000"/>
                </a:solidFill>
                <a:latin typeface="Times New Roman" panose="02020603050405020304" pitchFamily="18" charset="0"/>
                <a:ea typeface="楷体_GB2312" panose="02010609030101010101" pitchFamily="49" charset="-122"/>
              </a:rPr>
              <a:t>g(n) </a:t>
            </a:r>
            <a:r>
              <a:rPr lang="zh-CN" altLang="en-US" sz="3600" b="1" dirty="0">
                <a:solidFill>
                  <a:srgbClr val="FF0000"/>
                </a:solidFill>
                <a:latin typeface="Times New Roman" panose="02020603050405020304" pitchFamily="18" charset="0"/>
                <a:ea typeface="楷体_GB2312" panose="02010609030101010101" pitchFamily="49" charset="-122"/>
              </a:rPr>
              <a:t>的增长率相同</a:t>
            </a:r>
            <a:r>
              <a:rPr lang="zh-CN" altLang="en-US" sz="3600" b="1" dirty="0">
                <a:solidFill>
                  <a:schemeClr val="tx2"/>
                </a:solidFill>
                <a:latin typeface="Times New Roman" panose="02020603050405020304" pitchFamily="18" charset="0"/>
                <a:ea typeface="楷体_GB2312" panose="02010609030101010101" pitchFamily="49" charset="-122"/>
              </a:rPr>
              <a:t>。</a:t>
            </a:r>
            <a:endParaRPr lang="zh-CN" altLang="en-US" sz="3600" dirty="0">
              <a:solidFill>
                <a:schemeClr val="tx2"/>
              </a:solidFill>
              <a:latin typeface="Times New Roman" panose="02020603050405020304" pitchFamily="18" charset="0"/>
              <a:ea typeface="楷体_GB2312" panose="02010609030101010101" pitchFamily="49" charset="-122"/>
            </a:endParaRPr>
          </a:p>
        </p:txBody>
      </p:sp>
      <p:sp>
        <p:nvSpPr>
          <p:cNvPr id="98309" name="Text Box 5"/>
          <p:cNvSpPr txBox="1"/>
          <p:nvPr/>
        </p:nvSpPr>
        <p:spPr>
          <a:xfrm>
            <a:off x="2546350" y="2362200"/>
            <a:ext cx="2961067" cy="646331"/>
          </a:xfrm>
          <a:prstGeom prst="rect">
            <a:avLst/>
          </a:prstGeom>
          <a:noFill/>
          <a:ln w="9525">
            <a:noFill/>
          </a:ln>
        </p:spPr>
        <p:txBody>
          <a:bodyPr wrap="none">
            <a:spAutoFit/>
          </a:bodyPr>
          <a:lstStyle/>
          <a:p>
            <a:r>
              <a:rPr lang="en-US" altLang="zh-CN" sz="3600" b="1" dirty="0">
                <a:solidFill>
                  <a:srgbClr val="FF0000"/>
                </a:solidFill>
                <a:highlight>
                  <a:srgbClr val="FFFF00"/>
                </a:highlight>
                <a:latin typeface="Times New Roman" panose="02020603050405020304" pitchFamily="18" charset="0"/>
                <a:ea typeface="楷体_GB2312" panose="02010609030101010101" pitchFamily="49" charset="-122"/>
              </a:rPr>
              <a:t>S(n) = O(g(n))</a:t>
            </a:r>
            <a:endParaRPr lang="en-US" altLang="zh-CN" sz="3600" b="1" dirty="0">
              <a:solidFill>
                <a:srgbClr val="FF0000"/>
              </a:solidFill>
              <a:highlight>
                <a:srgbClr val="FFFF00"/>
              </a:highlight>
              <a:latin typeface="Times New Roman" panose="02020603050405020304" pitchFamily="18" charset="0"/>
              <a:ea typeface="楷体_GB2312" panose="02010609030101010101" pitchFamily="49" charset="-122"/>
            </a:endParaRPr>
          </a:p>
        </p:txBody>
      </p:sp>
      <p:sp>
        <p:nvSpPr>
          <p:cNvPr id="2" name="日期占位符 1"/>
          <p:cNvSpPr>
            <a:spLocks noGrp="1"/>
          </p:cNvSpPr>
          <p:nvPr>
            <p:ph type="dt" sz="half" idx="10"/>
          </p:nvPr>
        </p:nvSpPr>
        <p:spPr/>
        <p:txBody>
          <a:bodyPr/>
          <a:lstStyle/>
          <a:p>
            <a:r>
              <a:rPr lang="en-US" altLang="zh-CN"/>
              <a:t>Data Structures and algorithms</a:t>
            </a:r>
            <a:endParaRPr lang="zh-CN" altLang="en-US"/>
          </a:p>
        </p:txBody>
      </p:sp>
      <p:sp>
        <p:nvSpPr>
          <p:cNvPr id="3" name="页脚占位符 2"/>
          <p:cNvSpPr>
            <a:spLocks noGrp="1"/>
          </p:cNvSpPr>
          <p:nvPr>
            <p:ph type="ftr" sz="quarter" idx="11"/>
          </p:nvPr>
        </p:nvSpPr>
        <p:spPr/>
        <p:txBody>
          <a:bodyPr/>
          <a:lstStyle/>
          <a:p>
            <a:r>
              <a:rPr lang="en-US" altLang="zh-CN"/>
              <a:t>Software College Northeastern University</a:t>
            </a:r>
            <a:endParaRPr lang="zh-CN" altLang="en-US"/>
          </a:p>
        </p:txBody>
      </p:sp>
      <p:sp>
        <p:nvSpPr>
          <p:cNvPr id="4" name="灯片编号占位符 3"/>
          <p:cNvSpPr>
            <a:spLocks noGrp="1"/>
          </p:cNvSpPr>
          <p:nvPr>
            <p:ph type="sldNum" sz="quarter" idx="12"/>
          </p:nvPr>
        </p:nvSpPr>
        <p:spPr/>
        <p:txBody>
          <a:bodyPr/>
          <a:lstStyle/>
          <a:p>
            <a:fld id="{6E1C0148-8E4B-4B2F-95CE-20B4709700AE}" type="slidenum">
              <a:rPr lang="zh-CN" altLang="en-US" smtClean="0"/>
            </a:fld>
            <a:endParaRPr lang="zh-CN" altLang="en-US"/>
          </a:p>
        </p:txBody>
      </p:sp>
    </p:spTree>
  </p:cSld>
  <p:clrMapOvr>
    <a:masterClrMapping/>
  </p:clrMapOvr>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Text Box 2"/>
          <p:cNvSpPr txBox="1"/>
          <p:nvPr/>
        </p:nvSpPr>
        <p:spPr>
          <a:xfrm>
            <a:off x="1600200" y="74613"/>
            <a:ext cx="5859463" cy="914400"/>
          </a:xfrm>
          <a:prstGeom prst="rect">
            <a:avLst/>
          </a:prstGeom>
          <a:noFill/>
          <a:ln w="9525">
            <a:noFill/>
          </a:ln>
        </p:spPr>
        <p:txBody>
          <a:bodyPr wrap="none">
            <a:spAutoFit/>
          </a:bodyPr>
          <a:lstStyle/>
          <a:p>
            <a:r>
              <a:rPr lang="zh-CN" altLang="en-US" sz="5400" b="1" dirty="0">
                <a:solidFill>
                  <a:srgbClr val="9900CC"/>
                </a:solidFill>
                <a:latin typeface="Times New Roman" panose="02020603050405020304" pitchFamily="18" charset="0"/>
                <a:ea typeface="楷体_GB2312" panose="02010609030101010101" pitchFamily="49" charset="-122"/>
              </a:rPr>
              <a:t>算法的存储量</a:t>
            </a:r>
            <a:r>
              <a:rPr lang="zh-CN" altLang="en-US" sz="5400" dirty="0">
                <a:solidFill>
                  <a:srgbClr val="9900CC"/>
                </a:solidFill>
                <a:latin typeface="Times New Roman" panose="02020603050405020304" pitchFamily="18" charset="0"/>
                <a:ea typeface="楷体_GB2312" panose="02010609030101010101" pitchFamily="49" charset="-122"/>
              </a:rPr>
              <a:t>包括</a:t>
            </a:r>
            <a:r>
              <a:rPr lang="en-US" altLang="zh-CN" sz="4800" dirty="0">
                <a:solidFill>
                  <a:srgbClr val="9900CC"/>
                </a:solidFill>
                <a:latin typeface="Times New Roman" panose="02020603050405020304" pitchFamily="18" charset="0"/>
                <a:ea typeface="楷体_GB2312" panose="02010609030101010101" pitchFamily="49" charset="-122"/>
              </a:rPr>
              <a:t>:</a:t>
            </a:r>
            <a:endParaRPr lang="en-US" altLang="zh-CN" dirty="0">
              <a:latin typeface="Times New Roman" panose="02020603050405020304" pitchFamily="18" charset="0"/>
              <a:ea typeface="楷体_GB2312" panose="02010609030101010101" pitchFamily="49" charset="-122"/>
            </a:endParaRPr>
          </a:p>
        </p:txBody>
      </p:sp>
      <p:sp>
        <p:nvSpPr>
          <p:cNvPr id="99331" name="矩形 1"/>
          <p:cNvSpPr/>
          <p:nvPr/>
        </p:nvSpPr>
        <p:spPr>
          <a:xfrm>
            <a:off x="304800" y="1447800"/>
            <a:ext cx="8229600" cy="3540125"/>
          </a:xfrm>
          <a:prstGeom prst="rect">
            <a:avLst/>
          </a:prstGeom>
          <a:noFill/>
          <a:ln w="9525">
            <a:noFill/>
          </a:ln>
        </p:spPr>
        <p:txBody>
          <a:bodyPr>
            <a:spAutoFit/>
          </a:bodyPr>
          <a:lstStyle/>
          <a:p>
            <a:pPr marL="533400" lvl="1" indent="0" eaLnBrk="1" hangingPunct="1"/>
            <a:r>
              <a:rPr lang="zh-CN" altLang="en-US" sz="3200" b="1" dirty="0">
                <a:latin typeface="华文楷体" panose="02010600040101010101" charset="-122"/>
                <a:ea typeface="华文楷体" panose="02010600040101010101" charset="-122"/>
              </a:rPr>
              <a:t> 指令常数变量所占用的存储空间</a:t>
            </a:r>
            <a:r>
              <a:rPr lang="en-US" altLang="zh-CN" sz="3200" b="1" dirty="0">
                <a:latin typeface="华文楷体" panose="02010600040101010101" charset="-122"/>
                <a:ea typeface="华文楷体" panose="02010600040101010101" charset="-122"/>
              </a:rPr>
              <a:t>;</a:t>
            </a:r>
            <a:endParaRPr lang="en-US" altLang="zh-CN" sz="3200" b="1" dirty="0">
              <a:latin typeface="华文楷体" panose="02010600040101010101" charset="-122"/>
              <a:ea typeface="华文楷体" panose="02010600040101010101" charset="-122"/>
            </a:endParaRPr>
          </a:p>
          <a:p>
            <a:pPr marL="533400" lvl="1" indent="0" eaLnBrk="1" hangingPunct="1"/>
            <a:r>
              <a:rPr lang="en-US" altLang="zh-CN" sz="3200" b="1" dirty="0">
                <a:latin typeface="华文楷体" panose="02010600040101010101" charset="-122"/>
                <a:ea typeface="华文楷体" panose="02010600040101010101" charset="-122"/>
              </a:rPr>
              <a:t> </a:t>
            </a:r>
            <a:r>
              <a:rPr lang="zh-CN" altLang="en-US" sz="3200" b="1" dirty="0">
                <a:latin typeface="华文楷体" panose="02010600040101010101" charset="-122"/>
                <a:ea typeface="华文楷体" panose="02010600040101010101" charset="-122"/>
              </a:rPr>
              <a:t>输入数据所占用的存储空间</a:t>
            </a:r>
            <a:r>
              <a:rPr lang="en-US" altLang="zh-CN" sz="3200" b="1" dirty="0">
                <a:latin typeface="华文楷体" panose="02010600040101010101" charset="-122"/>
                <a:ea typeface="华文楷体" panose="02010600040101010101" charset="-122"/>
              </a:rPr>
              <a:t>;</a:t>
            </a:r>
            <a:endParaRPr lang="en-US" altLang="zh-CN" sz="3200" b="1" dirty="0">
              <a:latin typeface="华文楷体" panose="02010600040101010101" charset="-122"/>
              <a:ea typeface="华文楷体" panose="02010600040101010101" charset="-122"/>
            </a:endParaRPr>
          </a:p>
          <a:p>
            <a:pPr marL="533400" lvl="1" indent="0" eaLnBrk="1" hangingPunct="1"/>
            <a:r>
              <a:rPr lang="en-US" altLang="zh-CN" sz="3200" b="1" dirty="0">
                <a:latin typeface="华文楷体" panose="02010600040101010101" charset="-122"/>
                <a:ea typeface="华文楷体" panose="02010600040101010101" charset="-122"/>
              </a:rPr>
              <a:t> </a:t>
            </a:r>
            <a:r>
              <a:rPr lang="zh-CN" altLang="en-US" sz="3200" b="1" dirty="0">
                <a:latin typeface="华文楷体" panose="02010600040101010101" charset="-122"/>
                <a:ea typeface="华文楷体" panose="02010600040101010101" charset="-122"/>
              </a:rPr>
              <a:t>辅助</a:t>
            </a:r>
            <a:r>
              <a:rPr lang="en-US" altLang="zh-CN" sz="3200" b="1" dirty="0">
                <a:latin typeface="华文楷体" panose="02010600040101010101" charset="-122"/>
                <a:ea typeface="华文楷体" panose="02010600040101010101" charset="-122"/>
              </a:rPr>
              <a:t>(</a:t>
            </a:r>
            <a:r>
              <a:rPr lang="zh-CN" altLang="en-US" sz="3200" b="1" dirty="0">
                <a:latin typeface="华文楷体" panose="02010600040101010101" charset="-122"/>
                <a:ea typeface="华文楷体" panose="02010600040101010101" charset="-122"/>
              </a:rPr>
              <a:t>存储</a:t>
            </a:r>
            <a:r>
              <a:rPr lang="en-US" altLang="zh-CN" sz="3200" b="1" dirty="0">
                <a:latin typeface="华文楷体" panose="02010600040101010101" charset="-122"/>
                <a:ea typeface="华文楷体" panose="02010600040101010101" charset="-122"/>
              </a:rPr>
              <a:t>)</a:t>
            </a:r>
            <a:r>
              <a:rPr lang="zh-CN" altLang="en-US" sz="3200" b="1" dirty="0">
                <a:latin typeface="华文楷体" panose="02010600040101010101" charset="-122"/>
                <a:ea typeface="华文楷体" panose="02010600040101010101" charset="-122"/>
              </a:rPr>
              <a:t>空间。</a:t>
            </a:r>
            <a:endParaRPr lang="zh-CN" altLang="en-US" sz="3200" b="1" dirty="0">
              <a:latin typeface="华文楷体" panose="02010600040101010101" charset="-122"/>
              <a:ea typeface="华文楷体" panose="02010600040101010101" charset="-122"/>
            </a:endParaRPr>
          </a:p>
          <a:p>
            <a:pPr>
              <a:buFont typeface="Wingdings" panose="05000000000000000000" pitchFamily="2" charset="2"/>
              <a:buNone/>
            </a:pPr>
            <a:r>
              <a:rPr lang="zh-CN" altLang="en-US" sz="3200" b="1" dirty="0">
                <a:latin typeface="华文楷体" panose="02010600040101010101" charset="-122"/>
                <a:ea typeface="华文楷体" panose="02010600040101010101" charset="-122"/>
              </a:rPr>
              <a:t>        一般地，算法的</a:t>
            </a:r>
            <a:r>
              <a:rPr lang="zh-CN" altLang="en-US" sz="3200" b="1" dirty="0">
                <a:solidFill>
                  <a:srgbClr val="FF0000"/>
                </a:solidFill>
                <a:latin typeface="华文楷体" panose="02010600040101010101" charset="-122"/>
                <a:ea typeface="华文楷体" panose="02010600040101010101" charset="-122"/>
              </a:rPr>
              <a:t>空间复杂度</a:t>
            </a:r>
            <a:r>
              <a:rPr lang="zh-CN" altLang="en-US" sz="3200" b="1" dirty="0">
                <a:latin typeface="华文楷体" panose="02010600040101010101" charset="-122"/>
                <a:ea typeface="华文楷体" panose="02010600040101010101" charset="-122"/>
              </a:rPr>
              <a:t>指的是</a:t>
            </a:r>
            <a:r>
              <a:rPr lang="zh-CN" altLang="en-US" sz="3200" b="1" dirty="0">
                <a:solidFill>
                  <a:srgbClr val="DE580E"/>
                </a:solidFill>
                <a:latin typeface="华文楷体" panose="02010600040101010101" charset="-122"/>
                <a:ea typeface="华文楷体" panose="02010600040101010101" charset="-122"/>
              </a:rPr>
              <a:t>辅助空间</a:t>
            </a:r>
            <a:r>
              <a:rPr lang="zh-CN" altLang="en-US" sz="3200" b="1" dirty="0">
                <a:latin typeface="华文楷体" panose="02010600040101010101" charset="-122"/>
                <a:ea typeface="华文楷体" panose="02010600040101010101" charset="-122"/>
              </a:rPr>
              <a:t>。</a:t>
            </a:r>
            <a:endParaRPr lang="zh-CN" altLang="en-US" sz="3200" b="1" dirty="0">
              <a:latin typeface="华文楷体" panose="02010600040101010101" charset="-122"/>
              <a:ea typeface="华文楷体" panose="02010600040101010101" charset="-122"/>
            </a:endParaRPr>
          </a:p>
          <a:p>
            <a:pPr marL="533400" lvl="1" indent="0" eaLnBrk="1" hangingPunct="1"/>
            <a:r>
              <a:rPr lang="zh-CN" altLang="en-US" sz="3200" dirty="0">
                <a:latin typeface="华文楷体" panose="02010600040101010101" charset="-122"/>
                <a:ea typeface="华文楷体" panose="02010600040101010101" charset="-122"/>
              </a:rPr>
              <a:t>  </a:t>
            </a:r>
            <a:r>
              <a:rPr lang="zh-CN" altLang="en-US" sz="3200" b="1" dirty="0">
                <a:latin typeface="华文楷体" panose="02010600040101010101" charset="-122"/>
                <a:ea typeface="华文楷体" panose="02010600040101010101" charset="-122"/>
              </a:rPr>
              <a:t>一维数组</a:t>
            </a:r>
            <a:r>
              <a:rPr lang="en-US" altLang="zh-CN" sz="3200" b="1" dirty="0">
                <a:latin typeface="华文楷体" panose="02010600040101010101" charset="-122"/>
                <a:ea typeface="华文楷体" panose="02010600040101010101" charset="-122"/>
              </a:rPr>
              <a:t>a[n]</a:t>
            </a:r>
            <a:r>
              <a:rPr lang="zh-CN" altLang="en-US" sz="3200" b="1" dirty="0">
                <a:latin typeface="华文楷体" panose="02010600040101010101" charset="-122"/>
                <a:ea typeface="华文楷体" panose="02010600040101010101" charset="-122"/>
              </a:rPr>
              <a:t>： 空间复杂度  </a:t>
            </a:r>
            <a:r>
              <a:rPr lang="en-US" altLang="zh-CN" sz="3200" b="1" dirty="0">
                <a:latin typeface="华文楷体" panose="02010600040101010101" charset="-122"/>
                <a:ea typeface="华文楷体" panose="02010600040101010101" charset="-122"/>
              </a:rPr>
              <a:t>O(n)</a:t>
            </a:r>
            <a:endParaRPr lang="en-US" altLang="zh-CN" sz="3200" b="1" dirty="0">
              <a:latin typeface="华文楷体" panose="02010600040101010101" charset="-122"/>
              <a:ea typeface="华文楷体" panose="02010600040101010101" charset="-122"/>
            </a:endParaRPr>
          </a:p>
          <a:p>
            <a:pPr marL="533400" lvl="1" indent="0" eaLnBrk="1" hangingPunct="1"/>
            <a:r>
              <a:rPr lang="en-US" altLang="zh-CN" sz="3200" b="1" dirty="0">
                <a:latin typeface="华文楷体" panose="02010600040101010101" charset="-122"/>
                <a:ea typeface="华文楷体" panose="02010600040101010101" charset="-122"/>
              </a:rPr>
              <a:t>  </a:t>
            </a:r>
            <a:r>
              <a:rPr lang="zh-CN" altLang="en-US" sz="3200" b="1" dirty="0">
                <a:latin typeface="华文楷体" panose="02010600040101010101" charset="-122"/>
                <a:ea typeface="华文楷体" panose="02010600040101010101" charset="-122"/>
              </a:rPr>
              <a:t>二维数组</a:t>
            </a:r>
            <a:r>
              <a:rPr lang="en-US" altLang="zh-CN" sz="3200" b="1" dirty="0">
                <a:latin typeface="华文楷体" panose="02010600040101010101" charset="-122"/>
                <a:ea typeface="华文楷体" panose="02010600040101010101" charset="-122"/>
              </a:rPr>
              <a:t>a[n][m]</a:t>
            </a:r>
            <a:r>
              <a:rPr lang="zh-CN" altLang="en-US" sz="3200" b="1" dirty="0">
                <a:latin typeface="华文楷体" panose="02010600040101010101" charset="-122"/>
                <a:ea typeface="华文楷体" panose="02010600040101010101" charset="-122"/>
              </a:rPr>
              <a:t>： 空间复杂度  </a:t>
            </a:r>
            <a:r>
              <a:rPr lang="en-US" altLang="zh-CN" sz="3200" b="1" dirty="0">
                <a:latin typeface="华文楷体" panose="02010600040101010101" charset="-122"/>
                <a:ea typeface="华文楷体" panose="02010600040101010101" charset="-122"/>
              </a:rPr>
              <a:t>O(n*m)</a:t>
            </a:r>
            <a:endParaRPr lang="zh-CN" altLang="en-US" sz="3200" dirty="0">
              <a:latin typeface="华文楷体" panose="02010600040101010101" charset="-122"/>
              <a:ea typeface="华文楷体" panose="02010600040101010101" charset="-122"/>
            </a:endParaRPr>
          </a:p>
        </p:txBody>
      </p:sp>
      <p:sp>
        <p:nvSpPr>
          <p:cNvPr id="2" name="日期占位符 1"/>
          <p:cNvSpPr>
            <a:spLocks noGrp="1"/>
          </p:cNvSpPr>
          <p:nvPr>
            <p:ph type="dt" sz="half" idx="10"/>
          </p:nvPr>
        </p:nvSpPr>
        <p:spPr/>
        <p:txBody>
          <a:bodyPr/>
          <a:lstStyle/>
          <a:p>
            <a:r>
              <a:rPr lang="en-US" altLang="zh-CN"/>
              <a:t>Data Structures and algorithms</a:t>
            </a:r>
            <a:endParaRPr lang="zh-CN" altLang="en-US"/>
          </a:p>
        </p:txBody>
      </p:sp>
      <p:sp>
        <p:nvSpPr>
          <p:cNvPr id="3" name="页脚占位符 2"/>
          <p:cNvSpPr>
            <a:spLocks noGrp="1"/>
          </p:cNvSpPr>
          <p:nvPr>
            <p:ph type="ftr" sz="quarter" idx="11"/>
          </p:nvPr>
        </p:nvSpPr>
        <p:spPr/>
        <p:txBody>
          <a:bodyPr/>
          <a:lstStyle/>
          <a:p>
            <a:r>
              <a:rPr lang="en-US" altLang="zh-CN"/>
              <a:t>Software College Northeastern University</a:t>
            </a:r>
            <a:endParaRPr lang="zh-CN" altLang="en-US"/>
          </a:p>
        </p:txBody>
      </p:sp>
      <p:sp>
        <p:nvSpPr>
          <p:cNvPr id="4" name="灯片编号占位符 3"/>
          <p:cNvSpPr>
            <a:spLocks noGrp="1"/>
          </p:cNvSpPr>
          <p:nvPr>
            <p:ph type="sldNum" sz="quarter" idx="12"/>
          </p:nvPr>
        </p:nvSpPr>
        <p:spPr/>
        <p:txBody>
          <a:bodyPr/>
          <a:lstStyle/>
          <a:p>
            <a:fld id="{6E1C0148-8E4B-4B2F-95CE-20B4709700AE}" type="slidenum">
              <a:rPr lang="zh-CN" altLang="en-US" smtClean="0"/>
            </a:fld>
            <a:endParaRPr lang="zh-CN" altLang="en-US"/>
          </a:p>
        </p:txBody>
      </p:sp>
    </p:spTree>
  </p:cSld>
  <p:clrMapOvr>
    <a:masterClrMapping/>
  </p:clrMapOvr>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5666" name="Text Box 2"/>
          <p:cNvSpPr txBox="1"/>
          <p:nvPr/>
        </p:nvSpPr>
        <p:spPr>
          <a:xfrm>
            <a:off x="609600" y="990600"/>
            <a:ext cx="7924800" cy="1808572"/>
          </a:xfrm>
          <a:prstGeom prst="rect">
            <a:avLst/>
          </a:prstGeom>
          <a:noFill/>
          <a:ln w="9525">
            <a:noFill/>
          </a:ln>
        </p:spPr>
        <p:txBody>
          <a:bodyPr wrap="square">
            <a:spAutoFit/>
          </a:bodyPr>
          <a:lstStyle/>
          <a:p>
            <a:pPr>
              <a:lnSpc>
                <a:spcPct val="120000"/>
              </a:lnSpc>
            </a:pPr>
            <a:r>
              <a:rPr lang="zh-CN" altLang="en-US" sz="3200" dirty="0">
                <a:latin typeface="Times New Roman" panose="02020603050405020304" pitchFamily="18" charset="0"/>
                <a:ea typeface="楷体_GB2312" panose="02010609030101010101" pitchFamily="49" charset="-122"/>
              </a:rPr>
              <a:t>       若</a:t>
            </a:r>
            <a:r>
              <a:rPr lang="zh-CN" altLang="en-US" sz="3200" b="1" dirty="0">
                <a:latin typeface="Times New Roman" panose="02020603050405020304" pitchFamily="18" charset="0"/>
                <a:ea typeface="楷体_GB2312" panose="02010609030101010101" pitchFamily="49" charset="-122"/>
              </a:rPr>
              <a:t>输入数据</a:t>
            </a:r>
            <a:r>
              <a:rPr lang="zh-CN" altLang="en-US" sz="3200" dirty="0">
                <a:latin typeface="Times New Roman" panose="02020603050405020304" pitchFamily="18" charset="0"/>
                <a:ea typeface="楷体_GB2312" panose="02010609030101010101" pitchFamily="49" charset="-122"/>
              </a:rPr>
              <a:t>所占空间只取决于问题本身，</a:t>
            </a:r>
            <a:r>
              <a:rPr lang="zh-CN" altLang="en-US" sz="3200" b="1" dirty="0">
                <a:latin typeface="Times New Roman" panose="02020603050405020304" pitchFamily="18" charset="0"/>
                <a:ea typeface="楷体_GB2312" panose="02010609030101010101" pitchFamily="49" charset="-122"/>
              </a:rPr>
              <a:t>和算法无关</a:t>
            </a:r>
            <a:r>
              <a:rPr lang="zh-CN" altLang="en-US" sz="3200" dirty="0">
                <a:latin typeface="Times New Roman" panose="02020603050405020304" pitchFamily="18" charset="0"/>
                <a:ea typeface="楷体_GB2312" panose="02010609030101010101" pitchFamily="49" charset="-122"/>
              </a:rPr>
              <a:t>，则只需要分析</a:t>
            </a:r>
            <a:r>
              <a:rPr lang="zh-CN" altLang="en-US" sz="3200" dirty="0">
                <a:solidFill>
                  <a:srgbClr val="FF0000"/>
                </a:solidFill>
                <a:latin typeface="Times New Roman" panose="02020603050405020304" pitchFamily="18" charset="0"/>
                <a:ea typeface="楷体_GB2312" panose="02010609030101010101" pitchFamily="49" charset="-122"/>
              </a:rPr>
              <a:t>除输入和程序之外的</a:t>
            </a:r>
            <a:r>
              <a:rPr lang="zh-CN" altLang="en-US" sz="3200" b="1" dirty="0">
                <a:solidFill>
                  <a:srgbClr val="FF0000"/>
                </a:solidFill>
                <a:latin typeface="Times New Roman" panose="02020603050405020304" pitchFamily="18" charset="0"/>
                <a:ea typeface="楷体_GB2312" panose="02010609030101010101" pitchFamily="49" charset="-122"/>
              </a:rPr>
              <a:t>辅助变量</a:t>
            </a:r>
            <a:r>
              <a:rPr lang="zh-CN" altLang="en-US" sz="3200" dirty="0">
                <a:solidFill>
                  <a:srgbClr val="FF0000"/>
                </a:solidFill>
                <a:latin typeface="Times New Roman" panose="02020603050405020304" pitchFamily="18" charset="0"/>
                <a:ea typeface="楷体_GB2312" panose="02010609030101010101" pitchFamily="49" charset="-122"/>
              </a:rPr>
              <a:t>所占</a:t>
            </a:r>
            <a:r>
              <a:rPr lang="zh-CN" altLang="en-US" sz="3200" b="1" dirty="0">
                <a:solidFill>
                  <a:srgbClr val="FF0000"/>
                </a:solidFill>
                <a:latin typeface="Times New Roman" panose="02020603050405020304" pitchFamily="18" charset="0"/>
                <a:ea typeface="楷体_GB2312" panose="02010609030101010101" pitchFamily="49" charset="-122"/>
              </a:rPr>
              <a:t>额外空间</a:t>
            </a:r>
            <a:r>
              <a:rPr lang="zh-CN" altLang="en-US" sz="3200" dirty="0">
                <a:latin typeface="Times New Roman" panose="02020603050405020304" pitchFamily="18" charset="0"/>
                <a:ea typeface="楷体_GB2312" panose="02010609030101010101" pitchFamily="49" charset="-122"/>
              </a:rPr>
              <a:t>。</a:t>
            </a:r>
            <a:endParaRPr lang="zh-CN" altLang="en-US" sz="3200" dirty="0">
              <a:latin typeface="Times New Roman" panose="02020603050405020304" pitchFamily="18" charset="0"/>
              <a:ea typeface="楷体_GB2312" panose="02010609030101010101" pitchFamily="49" charset="-122"/>
            </a:endParaRPr>
          </a:p>
        </p:txBody>
      </p:sp>
      <p:sp>
        <p:nvSpPr>
          <p:cNvPr id="625667" name="Text Box 3"/>
          <p:cNvSpPr txBox="1"/>
          <p:nvPr/>
        </p:nvSpPr>
        <p:spPr>
          <a:xfrm>
            <a:off x="304800" y="2768667"/>
            <a:ext cx="8534400" cy="1217641"/>
          </a:xfrm>
          <a:prstGeom prst="rect">
            <a:avLst/>
          </a:prstGeom>
          <a:noFill/>
          <a:ln w="9525">
            <a:noFill/>
          </a:ln>
        </p:spPr>
        <p:txBody>
          <a:bodyPr>
            <a:spAutoFit/>
          </a:bodyPr>
          <a:lstStyle/>
          <a:p>
            <a:pPr>
              <a:lnSpc>
                <a:spcPct val="120000"/>
              </a:lnSpc>
            </a:pPr>
            <a:r>
              <a:rPr lang="zh-CN" altLang="en-US" sz="3200" dirty="0">
                <a:latin typeface="Times New Roman" panose="02020603050405020304" pitchFamily="18" charset="0"/>
                <a:ea typeface="楷体_GB2312" panose="02010609030101010101" pitchFamily="49" charset="-122"/>
              </a:rPr>
              <a:t>        若所需额外空间相对于输入数据量</a:t>
            </a:r>
            <a:endParaRPr lang="zh-CN" altLang="en-US" sz="3200" dirty="0">
              <a:latin typeface="Times New Roman" panose="02020603050405020304" pitchFamily="18" charset="0"/>
              <a:ea typeface="楷体_GB2312" panose="02010609030101010101" pitchFamily="49" charset="-122"/>
            </a:endParaRPr>
          </a:p>
          <a:p>
            <a:pPr>
              <a:lnSpc>
                <a:spcPct val="120000"/>
              </a:lnSpc>
            </a:pPr>
            <a:r>
              <a:rPr lang="zh-CN" altLang="en-US" sz="3200" dirty="0">
                <a:latin typeface="Times New Roman" panose="02020603050405020304" pitchFamily="18" charset="0"/>
                <a:ea typeface="楷体_GB2312" panose="02010609030101010101" pitchFamily="49" charset="-122"/>
              </a:rPr>
              <a:t>   来说是常数，则称此算法为</a:t>
            </a:r>
            <a:r>
              <a:rPr lang="zh-CN" altLang="en-US" sz="3200" b="1" dirty="0">
                <a:solidFill>
                  <a:srgbClr val="FF0000"/>
                </a:solidFill>
                <a:latin typeface="Times New Roman" panose="02020603050405020304" pitchFamily="18" charset="0"/>
                <a:ea typeface="楷体_GB2312" panose="02010609030101010101" pitchFamily="49" charset="-122"/>
              </a:rPr>
              <a:t>原地工作</a:t>
            </a:r>
            <a:r>
              <a:rPr lang="zh-CN" altLang="en-US" sz="3200" dirty="0">
                <a:latin typeface="Times New Roman" panose="02020603050405020304" pitchFamily="18" charset="0"/>
                <a:ea typeface="楷体_GB2312" panose="02010609030101010101" pitchFamily="49" charset="-122"/>
              </a:rPr>
              <a:t>。</a:t>
            </a:r>
            <a:endParaRPr lang="zh-CN" altLang="en-US" sz="3200" dirty="0">
              <a:latin typeface="Times New Roman" panose="02020603050405020304" pitchFamily="18" charset="0"/>
              <a:ea typeface="楷体_GB2312" panose="02010609030101010101" pitchFamily="49" charset="-122"/>
            </a:endParaRPr>
          </a:p>
        </p:txBody>
      </p:sp>
      <p:sp>
        <p:nvSpPr>
          <p:cNvPr id="625668" name="Text Box 4"/>
          <p:cNvSpPr txBox="1"/>
          <p:nvPr/>
        </p:nvSpPr>
        <p:spPr>
          <a:xfrm>
            <a:off x="539070" y="4035002"/>
            <a:ext cx="6853158" cy="1217641"/>
          </a:xfrm>
          <a:prstGeom prst="rect">
            <a:avLst/>
          </a:prstGeom>
          <a:noFill/>
          <a:ln w="9525">
            <a:noFill/>
          </a:ln>
        </p:spPr>
        <p:txBody>
          <a:bodyPr wrap="none">
            <a:spAutoFit/>
          </a:bodyPr>
          <a:lstStyle/>
          <a:p>
            <a:pPr>
              <a:lnSpc>
                <a:spcPct val="120000"/>
              </a:lnSpc>
            </a:pPr>
            <a:r>
              <a:rPr lang="zh-CN" altLang="en-US" sz="3200" dirty="0">
                <a:latin typeface="Times New Roman" panose="02020603050405020304" pitchFamily="18" charset="0"/>
                <a:ea typeface="楷体_GB2312" panose="02010609030101010101" pitchFamily="49" charset="-122"/>
              </a:rPr>
              <a:t>     若所需存储量依赖于特定的输入，</a:t>
            </a:r>
            <a:endParaRPr lang="zh-CN" altLang="en-US" sz="3200" dirty="0">
              <a:latin typeface="Times New Roman" panose="02020603050405020304" pitchFamily="18" charset="0"/>
              <a:ea typeface="楷体_GB2312" panose="02010609030101010101" pitchFamily="49" charset="-122"/>
            </a:endParaRPr>
          </a:p>
          <a:p>
            <a:pPr>
              <a:lnSpc>
                <a:spcPct val="120000"/>
              </a:lnSpc>
            </a:pPr>
            <a:r>
              <a:rPr lang="zh-CN" altLang="en-US" sz="3200" dirty="0">
                <a:latin typeface="Times New Roman" panose="02020603050405020304" pitchFamily="18" charset="0"/>
                <a:ea typeface="楷体_GB2312" panose="02010609030101010101" pitchFamily="49" charset="-122"/>
              </a:rPr>
              <a:t>则通常按最坏情况考虑。</a:t>
            </a:r>
            <a:endParaRPr lang="zh-CN" altLang="en-US" sz="3200" dirty="0">
              <a:latin typeface="Times New Roman" panose="02020603050405020304" pitchFamily="18" charset="0"/>
              <a:ea typeface="楷体_GB2312" panose="02010609030101010101" pitchFamily="49" charset="-122"/>
            </a:endParaRPr>
          </a:p>
        </p:txBody>
      </p:sp>
      <p:sp>
        <p:nvSpPr>
          <p:cNvPr id="625669" name="AutoShape 5">
            <a:hlinkClick r:id="rId1" action="ppaction://hlinksldjump"/>
          </p:cNvPr>
          <p:cNvSpPr/>
          <p:nvPr/>
        </p:nvSpPr>
        <p:spPr>
          <a:xfrm>
            <a:off x="8534400" y="6248400"/>
            <a:ext cx="381000" cy="381000"/>
          </a:xfrm>
          <a:prstGeom prst="actionButtonBackPrevious">
            <a:avLst/>
          </a:prstGeom>
          <a:solidFill>
            <a:schemeClr val="bg2"/>
          </a:solidFill>
          <a:ln w="9525" cap="flat" cmpd="sng">
            <a:solidFill>
              <a:schemeClr val="tx1"/>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2" name="日期占位符 1"/>
          <p:cNvSpPr>
            <a:spLocks noGrp="1"/>
          </p:cNvSpPr>
          <p:nvPr>
            <p:ph type="dt" sz="half" idx="10"/>
          </p:nvPr>
        </p:nvSpPr>
        <p:spPr/>
        <p:txBody>
          <a:bodyPr/>
          <a:lstStyle/>
          <a:p>
            <a:r>
              <a:rPr lang="en-US" altLang="zh-CN"/>
              <a:t>Data Structures and algorithms</a:t>
            </a:r>
            <a:endParaRPr lang="zh-CN" altLang="en-US"/>
          </a:p>
        </p:txBody>
      </p:sp>
      <p:sp>
        <p:nvSpPr>
          <p:cNvPr id="3" name="页脚占位符 2"/>
          <p:cNvSpPr>
            <a:spLocks noGrp="1"/>
          </p:cNvSpPr>
          <p:nvPr>
            <p:ph type="ftr" sz="quarter" idx="11"/>
          </p:nvPr>
        </p:nvSpPr>
        <p:spPr/>
        <p:txBody>
          <a:bodyPr/>
          <a:lstStyle/>
          <a:p>
            <a:r>
              <a:rPr lang="en-US" altLang="zh-CN"/>
              <a:t>Software College Northeastern University</a:t>
            </a:r>
            <a:endParaRPr lang="zh-CN" altLang="en-US"/>
          </a:p>
        </p:txBody>
      </p:sp>
      <p:sp>
        <p:nvSpPr>
          <p:cNvPr id="4" name="灯片编号占位符 3"/>
          <p:cNvSpPr>
            <a:spLocks noGrp="1"/>
          </p:cNvSpPr>
          <p:nvPr>
            <p:ph type="sldNum" sz="quarter" idx="12"/>
          </p:nvPr>
        </p:nvSpPr>
        <p:spPr/>
        <p:txBody>
          <a:bodyPr/>
          <a:lstStyle/>
          <a:p>
            <a:fld id="{6E1C0148-8E4B-4B2F-95CE-20B4709700AE}" type="slidenum">
              <a:rPr lang="zh-CN" altLang="en-US" smtClean="0"/>
            </a:fld>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afterEffect">
                                  <p:stCondLst>
                                    <p:cond delay="0"/>
                                  </p:stCondLst>
                                  <p:childTnLst>
                                    <p:set>
                                      <p:cBhvr>
                                        <p:cTn id="6" dur="1" fill="hold">
                                          <p:stCondLst>
                                            <p:cond delay="0"/>
                                          </p:stCondLst>
                                        </p:cTn>
                                        <p:tgtEl>
                                          <p:spTgt spid="625666"/>
                                        </p:tgtEl>
                                        <p:attrNameLst>
                                          <p:attrName>style.visibility</p:attrName>
                                        </p:attrNameLst>
                                      </p:cBhvr>
                                      <p:to>
                                        <p:strVal val="visible"/>
                                      </p:to>
                                    </p:set>
                                    <p:animEffect transition="in" filter="barn(outVertical)">
                                      <p:cBhvr>
                                        <p:cTn id="7" dur="500"/>
                                        <p:tgtEl>
                                          <p:spTgt spid="625666"/>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37" fill="hold" grpId="0" nodeType="clickEffect">
                                  <p:stCondLst>
                                    <p:cond delay="0"/>
                                  </p:stCondLst>
                                  <p:childTnLst>
                                    <p:set>
                                      <p:cBhvr>
                                        <p:cTn id="11" dur="1" fill="hold">
                                          <p:stCondLst>
                                            <p:cond delay="0"/>
                                          </p:stCondLst>
                                        </p:cTn>
                                        <p:tgtEl>
                                          <p:spTgt spid="625667"/>
                                        </p:tgtEl>
                                        <p:attrNameLst>
                                          <p:attrName>style.visibility</p:attrName>
                                        </p:attrNameLst>
                                      </p:cBhvr>
                                      <p:to>
                                        <p:strVal val="visible"/>
                                      </p:to>
                                    </p:set>
                                    <p:animEffect transition="in" filter="barn(outVertical)">
                                      <p:cBhvr>
                                        <p:cTn id="12" dur="500"/>
                                        <p:tgtEl>
                                          <p:spTgt spid="625667"/>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37" fill="hold" grpId="0" nodeType="clickEffect">
                                  <p:stCondLst>
                                    <p:cond delay="0"/>
                                  </p:stCondLst>
                                  <p:childTnLst>
                                    <p:set>
                                      <p:cBhvr>
                                        <p:cTn id="16" dur="1" fill="hold">
                                          <p:stCondLst>
                                            <p:cond delay="0"/>
                                          </p:stCondLst>
                                        </p:cTn>
                                        <p:tgtEl>
                                          <p:spTgt spid="625668"/>
                                        </p:tgtEl>
                                        <p:attrNameLst>
                                          <p:attrName>style.visibility</p:attrName>
                                        </p:attrNameLst>
                                      </p:cBhvr>
                                      <p:to>
                                        <p:strVal val="visible"/>
                                      </p:to>
                                    </p:set>
                                    <p:animEffect transition="in" filter="barn(outVertical)">
                                      <p:cBhvr>
                                        <p:cTn id="17" dur="500"/>
                                        <p:tgtEl>
                                          <p:spTgt spid="625668"/>
                                        </p:tgtEl>
                                      </p:cBhvr>
                                    </p:animEffect>
                                  </p:childTnLst>
                                </p:cTn>
                              </p:par>
                            </p:childTnLst>
                          </p:cTn>
                        </p:par>
                        <p:par>
                          <p:cTn id="18" fill="hold">
                            <p:stCondLst>
                              <p:cond delay="500"/>
                            </p:stCondLst>
                            <p:childTnLst>
                              <p:par>
                                <p:cTn id="19" presetID="2" presetClass="entr" presetSubtype="6" fill="hold" grpId="0" nodeType="afterEffect">
                                  <p:stCondLst>
                                    <p:cond delay="0"/>
                                  </p:stCondLst>
                                  <p:childTnLst>
                                    <p:set>
                                      <p:cBhvr>
                                        <p:cTn id="20" dur="1" fill="hold">
                                          <p:stCondLst>
                                            <p:cond delay="0"/>
                                          </p:stCondLst>
                                        </p:cTn>
                                        <p:tgtEl>
                                          <p:spTgt spid="625669"/>
                                        </p:tgtEl>
                                        <p:attrNameLst>
                                          <p:attrName>style.visibility</p:attrName>
                                        </p:attrNameLst>
                                      </p:cBhvr>
                                      <p:to>
                                        <p:strVal val="visible"/>
                                      </p:to>
                                    </p:set>
                                    <p:anim calcmode="lin" valueType="num">
                                      <p:cBhvr additive="base">
                                        <p:cTn id="21" dur="500" fill="hold"/>
                                        <p:tgtEl>
                                          <p:spTgt spid="625669"/>
                                        </p:tgtEl>
                                        <p:attrNameLst>
                                          <p:attrName>ppt_x</p:attrName>
                                        </p:attrNameLst>
                                      </p:cBhvr>
                                      <p:tavLst>
                                        <p:tav tm="0">
                                          <p:val>
                                            <p:strVal val="1+#ppt_w/2"/>
                                          </p:val>
                                        </p:tav>
                                        <p:tav tm="100000">
                                          <p:val>
                                            <p:strVal val="#ppt_x"/>
                                          </p:val>
                                        </p:tav>
                                      </p:tavLst>
                                    </p:anim>
                                    <p:anim calcmode="lin" valueType="num">
                                      <p:cBhvr additive="base">
                                        <p:cTn id="22" dur="500" fill="hold"/>
                                        <p:tgtEl>
                                          <p:spTgt spid="62566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5666" grpId="0"/>
      <p:bldP spid="625667" grpId="0"/>
      <p:bldP spid="625668" grpId="0"/>
      <p:bldP spid="625669" grpId="0" bldLvl="0" animBg="1"/>
    </p:bldLst>
  </p:timing>
</p:sld>
</file>

<file path=ppt/tags/tag1.xml><?xml version="1.0" encoding="utf-8"?>
<p:tagLst xmlns:p="http://schemas.openxmlformats.org/presentationml/2006/main">
  <p:tag name="KSO_WM_UNIT_TABLE_BEAUTIFY" val="smartTable{86ee2dd5-a63b-4318-9bfd-4071236d456f}"/>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聚合">
  <a:themeElements>
    <a:clrScheme name="聚合">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聚合">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inorFont>
    </a:fontScheme>
    <a:fmtScheme name="聚合">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20851</Words>
  <Application>WPS 演示</Application>
  <PresentationFormat>全屏显示(4:3)</PresentationFormat>
  <Paragraphs>2221</Paragraphs>
  <Slides>112</Slides>
  <Notes>30</Notes>
  <HiddenSlides>0</HiddenSlides>
  <MMClips>0</MMClips>
  <ScaleCrop>false</ScaleCrop>
  <HeadingPairs>
    <vt:vector size="8" baseType="variant">
      <vt:variant>
        <vt:lpstr>已用的字体</vt:lpstr>
      </vt:variant>
      <vt:variant>
        <vt:i4>26</vt:i4>
      </vt:variant>
      <vt:variant>
        <vt:lpstr>主题</vt:lpstr>
      </vt:variant>
      <vt:variant>
        <vt:i4>1</vt:i4>
      </vt:variant>
      <vt:variant>
        <vt:lpstr>嵌入 OLE 服务器</vt:lpstr>
      </vt:variant>
      <vt:variant>
        <vt:i4>13</vt:i4>
      </vt:variant>
      <vt:variant>
        <vt:lpstr>幻灯片标题</vt:lpstr>
      </vt:variant>
      <vt:variant>
        <vt:i4>112</vt:i4>
      </vt:variant>
    </vt:vector>
  </HeadingPairs>
  <TitlesOfParts>
    <vt:vector size="152" baseType="lpstr">
      <vt:lpstr>Arial</vt:lpstr>
      <vt:lpstr>宋体</vt:lpstr>
      <vt:lpstr>Wingdings</vt:lpstr>
      <vt:lpstr>方正楷体_GB2312</vt:lpstr>
      <vt:lpstr>Wingdings 3</vt:lpstr>
      <vt:lpstr>Verdana</vt:lpstr>
      <vt:lpstr>Wingdings 2</vt:lpstr>
      <vt:lpstr>华文楷体</vt:lpstr>
      <vt:lpstr>Monotype Sorts</vt:lpstr>
      <vt:lpstr>Wingdings</vt:lpstr>
      <vt:lpstr>Tahoma</vt:lpstr>
      <vt:lpstr>Times New Roman</vt:lpstr>
      <vt:lpstr>黑体</vt:lpstr>
      <vt:lpstr>楷体_GB2312</vt:lpstr>
      <vt:lpstr>Lucida Sans Unicode</vt:lpstr>
      <vt:lpstr>微软雅黑</vt:lpstr>
      <vt:lpstr>Arial Unicode MS</vt:lpstr>
      <vt:lpstr>Calibri</vt:lpstr>
      <vt:lpstr>Comic Sans MS</vt:lpstr>
      <vt:lpstr>隶书</vt:lpstr>
      <vt:lpstr>Symbol</vt:lpstr>
      <vt:lpstr>Courier New</vt:lpstr>
      <vt:lpstr>굴림</vt:lpstr>
      <vt:lpstr>长城新魏碑体</vt:lpstr>
      <vt:lpstr>Times New Roman</vt:lpstr>
      <vt:lpstr>Malgun Gothic</vt:lpstr>
      <vt:lpstr>聚合</vt:lpstr>
      <vt:lpstr>Word.Document.8</vt:lpstr>
      <vt:lpstr>Equation.3</vt:lpstr>
      <vt:lpstr>Equation.3</vt:lpstr>
      <vt:lpstr>Equation.3</vt:lpstr>
      <vt:lpstr>Word.Document.8</vt:lpstr>
      <vt:lpstr>Word.Document.8</vt:lpstr>
      <vt:lpstr>Word.Document.8</vt:lpstr>
      <vt:lpstr>Word.Document.8</vt:lpstr>
      <vt:lpstr>Equation.3</vt:lpstr>
      <vt:lpstr>Equation.3</vt:lpstr>
      <vt:lpstr>Equation.3</vt:lpstr>
      <vt:lpstr>Equation.3</vt:lpstr>
      <vt:lpstr>Equation.3</vt:lpstr>
      <vt:lpstr>数据结构与算法</vt:lpstr>
      <vt:lpstr>PowerPoint 演示文稿</vt:lpstr>
      <vt:lpstr>为什么学习数据结构?</vt:lpstr>
      <vt:lpstr>课程简介</vt:lpstr>
      <vt:lpstr>课程简介</vt:lpstr>
      <vt:lpstr>课程简介</vt:lpstr>
      <vt:lpstr>参考教材</vt:lpstr>
      <vt:lpstr>2 章节目录</vt:lpstr>
      <vt:lpstr>PowerPoint 演示文稿</vt:lpstr>
      <vt:lpstr>PowerPoint 演示文稿</vt:lpstr>
      <vt:lpstr>PowerPoint 演示文稿</vt:lpstr>
      <vt:lpstr>PowerPoint 演示文稿</vt:lpstr>
      <vt:lpstr>PowerPoint 演示文稿</vt:lpstr>
      <vt:lpstr>PowerPoint 演示文稿</vt:lpstr>
      <vt:lpstr>例二：网络连通性问题</vt:lpstr>
      <vt:lpstr>PowerPoint 演示文稿</vt:lpstr>
      <vt:lpstr> 例三 书的摆放</vt:lpstr>
      <vt:lpstr> 例三 书的摆放</vt:lpstr>
      <vt:lpstr>  例三 书的摆放</vt:lpstr>
      <vt:lpstr>  例三 书的摆放</vt:lpstr>
      <vt:lpstr>   例三 书的摆放</vt:lpstr>
      <vt:lpstr> 例三 书的摆放</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数据的逻辑结构</vt:lpstr>
      <vt:lpstr>PowerPoint 演示文稿</vt:lpstr>
      <vt:lpstr>PowerPoint 演示文稿</vt:lpstr>
      <vt:lpstr>PowerPoint 演示文稿</vt:lpstr>
      <vt:lpstr>PowerPoint 演示文稿</vt:lpstr>
      <vt:lpstr>PowerPoint 演示文稿</vt:lpstr>
      <vt:lpstr>基本的存储方法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ADT 与数据类型的关系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算法的描述</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有效的算法</vt:lpstr>
      <vt:lpstr>PowerPoint 演示文稿</vt:lpstr>
      <vt:lpstr>PowerPoint 演示文稿</vt:lpstr>
      <vt:lpstr>PowerPoint 演示文稿</vt:lpstr>
      <vt:lpstr>PowerPoint 演示文稿</vt:lpstr>
      <vt:lpstr>PowerPoint 演示文稿</vt:lpstr>
      <vt:lpstr>渐进分析法</vt:lpstr>
      <vt:lpstr> 函数f(n)=n2+100n+log10n+1000中各项的增长速度</vt:lpstr>
      <vt:lpstr>(渐近)时间复杂度</vt:lpstr>
      <vt:lpstr>PowerPoint 演示文稿</vt:lpstr>
      <vt:lpstr>(渐近)时间复杂度</vt:lpstr>
      <vt:lpstr>(渐近)时间复杂度</vt:lpstr>
      <vt:lpstr>PowerPoint 演示文稿</vt:lpstr>
      <vt:lpstr>PowerPoint 演示文稿</vt:lpstr>
      <vt:lpstr>(渐近)时间复杂度</vt:lpstr>
      <vt:lpstr>(渐近)时间复杂度</vt:lpstr>
      <vt:lpstr>(渐近)时间复杂度</vt:lpstr>
      <vt:lpstr>(渐近)时间复杂度</vt:lpstr>
      <vt:lpstr>(渐近)时间复杂度</vt:lpstr>
      <vt:lpstr>PowerPoint 演示文稿</vt:lpstr>
      <vt:lpstr>PowerPoint 演示文稿</vt:lpstr>
      <vt:lpstr>PowerPoint 演示文稿</vt:lpstr>
      <vt:lpstr>PowerPoint 演示文稿</vt:lpstr>
      <vt:lpstr>PowerPoint 演示文稿</vt:lpstr>
      <vt:lpstr>PowerPoint 演示文稿</vt:lpstr>
      <vt:lpstr>-常用的渐进函数</vt:lpstr>
      <vt:lpstr>PowerPoint 演示文稿</vt:lpstr>
      <vt:lpstr>-小结：程序（算法）渐进时间复杂度的计算</vt:lpstr>
      <vt:lpstr>PowerPoint 演示文稿</vt:lpstr>
      <vt:lpstr>【课堂练习】渐进时间复杂度分析</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Structures in C</dc:title>
  <dc:creator>zl</dc:creator>
  <cp:lastModifiedBy>鲍建华</cp:lastModifiedBy>
  <cp:revision>97</cp:revision>
  <dcterms:created xsi:type="dcterms:W3CDTF">2022-08-30T02:55:00Z</dcterms:created>
  <dcterms:modified xsi:type="dcterms:W3CDTF">2026-09-22T13:18:10Z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CADF6424C67F4878824CBAFDDE4F69C5</vt:lpwstr>
  </property>
  <property fmtid="{D5CDD505-2E9C-101B-9397-08002B2CF9AE}" pid="3" name="KSOProductBuildVer">
    <vt:lpwstr>2052-12.1.0.22175</vt:lpwstr>
  </property>
</Properties>
</file>